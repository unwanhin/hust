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notesSlides/notesSlide2.xml" ContentType="application/vnd.openxmlformats-officedocument.presentationml.notesSlide+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tags/tag13.xml" ContentType="application/vnd.openxmlformats-officedocument.presentationml.tags+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6" r:id="rId1"/>
  </p:sldMasterIdLst>
  <p:notesMasterIdLst>
    <p:notesMasterId r:id="rId135"/>
  </p:notesMasterIdLst>
  <p:sldIdLst>
    <p:sldId id="472" r:id="rId2"/>
    <p:sldId id="317" r:id="rId3"/>
    <p:sldId id="295" r:id="rId4"/>
    <p:sldId id="408" r:id="rId5"/>
    <p:sldId id="297" r:id="rId6"/>
    <p:sldId id="343" r:id="rId7"/>
    <p:sldId id="362" r:id="rId8"/>
    <p:sldId id="298" r:id="rId9"/>
    <p:sldId id="409" r:id="rId10"/>
    <p:sldId id="299" r:id="rId11"/>
    <p:sldId id="410" r:id="rId12"/>
    <p:sldId id="300" r:id="rId13"/>
    <p:sldId id="412" r:id="rId14"/>
    <p:sldId id="411" r:id="rId15"/>
    <p:sldId id="301" r:id="rId16"/>
    <p:sldId id="447" r:id="rId17"/>
    <p:sldId id="413" r:id="rId18"/>
    <p:sldId id="427" r:id="rId19"/>
    <p:sldId id="306" r:id="rId20"/>
    <p:sldId id="307" r:id="rId21"/>
    <p:sldId id="346" r:id="rId22"/>
    <p:sldId id="309" r:id="rId23"/>
    <p:sldId id="414" r:id="rId24"/>
    <p:sldId id="415" r:id="rId25"/>
    <p:sldId id="416" r:id="rId26"/>
    <p:sldId id="417" r:id="rId27"/>
    <p:sldId id="319" r:id="rId28"/>
    <p:sldId id="372" r:id="rId29"/>
    <p:sldId id="324" r:id="rId30"/>
    <p:sldId id="325" r:id="rId31"/>
    <p:sldId id="326" r:id="rId32"/>
    <p:sldId id="329" r:id="rId33"/>
    <p:sldId id="328" r:id="rId34"/>
    <p:sldId id="448" r:id="rId35"/>
    <p:sldId id="473" r:id="rId36"/>
    <p:sldId id="474" r:id="rId37"/>
    <p:sldId id="475" r:id="rId38"/>
    <p:sldId id="476" r:id="rId39"/>
    <p:sldId id="477" r:id="rId40"/>
    <p:sldId id="478" r:id="rId41"/>
    <p:sldId id="479" r:id="rId42"/>
    <p:sldId id="449" r:id="rId43"/>
    <p:sldId id="450" r:id="rId44"/>
    <p:sldId id="451" r:id="rId45"/>
    <p:sldId id="452" r:id="rId46"/>
    <p:sldId id="330" r:id="rId47"/>
    <p:sldId id="331" r:id="rId48"/>
    <p:sldId id="341" r:id="rId49"/>
    <p:sldId id="375" r:id="rId50"/>
    <p:sldId id="376" r:id="rId51"/>
    <p:sldId id="377" r:id="rId52"/>
    <p:sldId id="378" r:id="rId53"/>
    <p:sldId id="419" r:id="rId54"/>
    <p:sldId id="420" r:id="rId55"/>
    <p:sldId id="421" r:id="rId56"/>
    <p:sldId id="423" r:id="rId57"/>
    <p:sldId id="422" r:id="rId58"/>
    <p:sldId id="424" r:id="rId59"/>
    <p:sldId id="428" r:id="rId60"/>
    <p:sldId id="426" r:id="rId61"/>
    <p:sldId id="425" r:id="rId62"/>
    <p:sldId id="440" r:id="rId63"/>
    <p:sldId id="429" r:id="rId64"/>
    <p:sldId id="430" r:id="rId65"/>
    <p:sldId id="480" r:id="rId66"/>
    <p:sldId id="482" r:id="rId67"/>
    <p:sldId id="431" r:id="rId68"/>
    <p:sldId id="432" r:id="rId69"/>
    <p:sldId id="433" r:id="rId70"/>
    <p:sldId id="464" r:id="rId71"/>
    <p:sldId id="466" r:id="rId72"/>
    <p:sldId id="436" r:id="rId73"/>
    <p:sldId id="437" r:id="rId74"/>
    <p:sldId id="481" r:id="rId75"/>
    <p:sldId id="438" r:id="rId76"/>
    <p:sldId id="435" r:id="rId77"/>
    <p:sldId id="439" r:id="rId78"/>
    <p:sldId id="456" r:id="rId79"/>
    <p:sldId id="441" r:id="rId80"/>
    <p:sldId id="442" r:id="rId81"/>
    <p:sldId id="443" r:id="rId82"/>
    <p:sldId id="444" r:id="rId83"/>
    <p:sldId id="446" r:id="rId84"/>
    <p:sldId id="445" r:id="rId85"/>
    <p:sldId id="457" r:id="rId86"/>
    <p:sldId id="458" r:id="rId87"/>
    <p:sldId id="459" r:id="rId88"/>
    <p:sldId id="460" r:id="rId89"/>
    <p:sldId id="321" r:id="rId90"/>
    <p:sldId id="348" r:id="rId91"/>
    <p:sldId id="366" r:id="rId92"/>
    <p:sldId id="347" r:id="rId93"/>
    <p:sldId id="349" r:id="rId94"/>
    <p:sldId id="350" r:id="rId95"/>
    <p:sldId id="467" r:id="rId96"/>
    <p:sldId id="351" r:id="rId97"/>
    <p:sldId id="381" r:id="rId98"/>
    <p:sldId id="355" r:id="rId99"/>
    <p:sldId id="354" r:id="rId100"/>
    <p:sldId id="455" r:id="rId101"/>
    <p:sldId id="382" r:id="rId102"/>
    <p:sldId id="486" r:id="rId103"/>
    <p:sldId id="323" r:id="rId104"/>
    <p:sldId id="356" r:id="rId105"/>
    <p:sldId id="357" r:id="rId106"/>
    <p:sldId id="358" r:id="rId107"/>
    <p:sldId id="359" r:id="rId108"/>
    <p:sldId id="483" r:id="rId109"/>
    <p:sldId id="484" r:id="rId110"/>
    <p:sldId id="485" r:id="rId111"/>
    <p:sldId id="360" r:id="rId112"/>
    <p:sldId id="468" r:id="rId113"/>
    <p:sldId id="384" r:id="rId114"/>
    <p:sldId id="453" r:id="rId115"/>
    <p:sldId id="361" r:id="rId116"/>
    <p:sldId id="364" r:id="rId117"/>
    <p:sldId id="385" r:id="rId118"/>
    <p:sldId id="386" r:id="rId119"/>
    <p:sldId id="461" r:id="rId120"/>
    <p:sldId id="462" r:id="rId121"/>
    <p:sldId id="365" r:id="rId122"/>
    <p:sldId id="387" r:id="rId123"/>
    <p:sldId id="388" r:id="rId124"/>
    <p:sldId id="389" r:id="rId125"/>
    <p:sldId id="390" r:id="rId126"/>
    <p:sldId id="391" r:id="rId127"/>
    <p:sldId id="392" r:id="rId128"/>
    <p:sldId id="393" r:id="rId129"/>
    <p:sldId id="397" r:id="rId130"/>
    <p:sldId id="398" r:id="rId131"/>
    <p:sldId id="400" r:id="rId132"/>
    <p:sldId id="399" r:id="rId133"/>
    <p:sldId id="401" r:id="rId13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37A3177A-4259-4C36-91F1-D101B0C7A54C}">
          <p14:sldIdLst>
            <p14:sldId id="472"/>
          </p14:sldIdLst>
        </p14:section>
        <p14:section name="2.1 关系及其性质" id="{A83C82F1-DD29-4CD4-B18C-B6833693B5FA}">
          <p14:sldIdLst>
            <p14:sldId id="317"/>
            <p14:sldId id="295"/>
            <p14:sldId id="408"/>
            <p14:sldId id="297"/>
            <p14:sldId id="343"/>
            <p14:sldId id="362"/>
            <p14:sldId id="298"/>
            <p14:sldId id="409"/>
            <p14:sldId id="299"/>
            <p14:sldId id="410"/>
            <p14:sldId id="300"/>
            <p14:sldId id="412"/>
            <p14:sldId id="411"/>
            <p14:sldId id="301"/>
            <p14:sldId id="447"/>
            <p14:sldId id="413"/>
            <p14:sldId id="427"/>
            <p14:sldId id="306"/>
            <p14:sldId id="307"/>
            <p14:sldId id="346"/>
            <p14:sldId id="309"/>
            <p14:sldId id="414"/>
          </p14:sldIdLst>
        </p14:section>
        <p14:section name="2.2 n元关系及其应用" id="{7810BB36-C8CF-4D35-B7BB-E44DC928D0F0}">
          <p14:sldIdLst>
            <p14:sldId id="415"/>
            <p14:sldId id="416"/>
            <p14:sldId id="417"/>
          </p14:sldIdLst>
        </p14:section>
        <p14:section name="2.3 关系的表示" id="{1AA0C8C2-84D4-4759-B70C-4A542FE726A3}">
          <p14:sldIdLst>
            <p14:sldId id="319"/>
            <p14:sldId id="372"/>
            <p14:sldId id="324"/>
            <p14:sldId id="325"/>
            <p14:sldId id="326"/>
            <p14:sldId id="329"/>
            <p14:sldId id="328"/>
            <p14:sldId id="448"/>
            <p14:sldId id="473"/>
            <p14:sldId id="474"/>
            <p14:sldId id="475"/>
            <p14:sldId id="476"/>
            <p14:sldId id="477"/>
            <p14:sldId id="478"/>
            <p14:sldId id="479"/>
            <p14:sldId id="449"/>
            <p14:sldId id="450"/>
            <p14:sldId id="451"/>
            <p14:sldId id="452"/>
            <p14:sldId id="330"/>
            <p14:sldId id="331"/>
            <p14:sldId id="341"/>
            <p14:sldId id="375"/>
            <p14:sldId id="376"/>
            <p14:sldId id="377"/>
            <p14:sldId id="378"/>
          </p14:sldIdLst>
        </p14:section>
        <p14:section name="2.4 关系的闭包" id="{C6E11E3A-4FA8-4E2B-A189-1C5057D455F9}">
          <p14:sldIdLst>
            <p14:sldId id="419"/>
            <p14:sldId id="420"/>
            <p14:sldId id="421"/>
            <p14:sldId id="423"/>
            <p14:sldId id="422"/>
            <p14:sldId id="424"/>
            <p14:sldId id="428"/>
            <p14:sldId id="426"/>
            <p14:sldId id="425"/>
            <p14:sldId id="440"/>
            <p14:sldId id="429"/>
            <p14:sldId id="430"/>
            <p14:sldId id="480"/>
            <p14:sldId id="482"/>
            <p14:sldId id="431"/>
            <p14:sldId id="432"/>
            <p14:sldId id="433"/>
            <p14:sldId id="464"/>
            <p14:sldId id="466"/>
            <p14:sldId id="436"/>
            <p14:sldId id="437"/>
            <p14:sldId id="481"/>
            <p14:sldId id="438"/>
            <p14:sldId id="435"/>
            <p14:sldId id="439"/>
            <p14:sldId id="456"/>
            <p14:sldId id="441"/>
            <p14:sldId id="442"/>
            <p14:sldId id="443"/>
            <p14:sldId id="444"/>
            <p14:sldId id="446"/>
            <p14:sldId id="445"/>
            <p14:sldId id="457"/>
            <p14:sldId id="458"/>
            <p14:sldId id="459"/>
            <p14:sldId id="460"/>
          </p14:sldIdLst>
        </p14:section>
        <p14:section name="2.5 等价关系" id="{886FC8BE-F999-41A8-B4ED-CE53F690CD7A}">
          <p14:sldIdLst>
            <p14:sldId id="321"/>
            <p14:sldId id="348"/>
            <p14:sldId id="366"/>
            <p14:sldId id="347"/>
            <p14:sldId id="349"/>
            <p14:sldId id="350"/>
            <p14:sldId id="467"/>
            <p14:sldId id="351"/>
            <p14:sldId id="381"/>
            <p14:sldId id="355"/>
            <p14:sldId id="354"/>
            <p14:sldId id="455"/>
            <p14:sldId id="382"/>
            <p14:sldId id="486"/>
          </p14:sldIdLst>
        </p14:section>
        <p14:section name="2.6 偏序" id="{86ED834B-CDCB-44BE-9B2B-BE58BED35FA9}">
          <p14:sldIdLst>
            <p14:sldId id="323"/>
            <p14:sldId id="356"/>
            <p14:sldId id="357"/>
            <p14:sldId id="358"/>
            <p14:sldId id="359"/>
            <p14:sldId id="483"/>
            <p14:sldId id="484"/>
            <p14:sldId id="485"/>
            <p14:sldId id="360"/>
            <p14:sldId id="468"/>
            <p14:sldId id="384"/>
            <p14:sldId id="453"/>
            <p14:sldId id="361"/>
            <p14:sldId id="364"/>
            <p14:sldId id="385"/>
            <p14:sldId id="386"/>
            <p14:sldId id="461"/>
            <p14:sldId id="462"/>
            <p14:sldId id="365"/>
            <p14:sldId id="387"/>
            <p14:sldId id="388"/>
            <p14:sldId id="389"/>
            <p14:sldId id="390"/>
            <p14:sldId id="391"/>
            <p14:sldId id="392"/>
            <p14:sldId id="393"/>
            <p14:sldId id="397"/>
            <p14:sldId id="398"/>
            <p14:sldId id="400"/>
            <p14:sldId id="399"/>
            <p14:sldId id="401"/>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01559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36" autoAdjust="0"/>
    <p:restoredTop sz="89039" autoAdjust="0"/>
  </p:normalViewPr>
  <p:slideViewPr>
    <p:cSldViewPr>
      <p:cViewPr varScale="1">
        <p:scale>
          <a:sx n="124" d="100"/>
          <a:sy n="124" d="100"/>
        </p:scale>
        <p:origin x="91" y="158"/>
      </p:cViewPr>
      <p:guideLst>
        <p:guide orient="horz" pos="2160"/>
        <p:guide pos="3840"/>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theme" Target="theme/theme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tableStyles" Target="tableStyle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notesMaster" Target="notesMasters/notesMaster1.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presProps" Target="pres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51.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62EE97F-2327-4FE9-8874-2C0F3581839A}" type="datetimeFigureOut">
              <a:rPr lang="en-US" smtClean="0"/>
              <a:pPr/>
              <a:t>3/14/2025</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A6B134D-0EB3-42CB-9322-AA369738187D}" type="slidenum">
              <a:rPr lang="en-US" smtClean="0"/>
              <a:pPr/>
              <a:t>‹#›</a:t>
            </a:fld>
            <a:endParaRPr lang="en-US"/>
          </a:p>
        </p:txBody>
      </p:sp>
    </p:spTree>
    <p:extLst>
      <p:ext uri="{BB962C8B-B14F-4D97-AF65-F5344CB8AC3E}">
        <p14:creationId xmlns:p14="http://schemas.microsoft.com/office/powerpoint/2010/main" val="24188401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900" dirty="0" smtClean="0"/>
          </a:p>
        </p:txBody>
      </p:sp>
      <p:sp>
        <p:nvSpPr>
          <p:cNvPr id="4" name="灯片编号占位符 3"/>
          <p:cNvSpPr>
            <a:spLocks noGrp="1"/>
          </p:cNvSpPr>
          <p:nvPr>
            <p:ph type="sldNum" sz="quarter" idx="10"/>
          </p:nvPr>
        </p:nvSpPr>
        <p:spPr/>
        <p:txBody>
          <a:bodyPr/>
          <a:lstStyle/>
          <a:p>
            <a:fld id="{F1CB8912-F0BA-4AD8-8415-DA1F26BCB09F}" type="slidenum">
              <a:rPr lang="zh-CN" altLang="en-US" smtClean="0"/>
              <a:t>1</a:t>
            </a:fld>
            <a:endParaRPr lang="zh-CN" altLang="en-US"/>
          </a:p>
        </p:txBody>
      </p:sp>
    </p:spTree>
    <p:extLst>
      <p:ext uri="{BB962C8B-B14F-4D97-AF65-F5344CB8AC3E}">
        <p14:creationId xmlns:p14="http://schemas.microsoft.com/office/powerpoint/2010/main" val="42653076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8A6B134D-0EB3-42CB-9322-AA369738187D}" type="slidenum">
              <a:rPr lang="en-US" smtClean="0"/>
              <a:pPr/>
              <a:t>33</a:t>
            </a:fld>
            <a:endParaRPr lang="en-US"/>
          </a:p>
        </p:txBody>
      </p:sp>
    </p:spTree>
    <p:extLst>
      <p:ext uri="{BB962C8B-B14F-4D97-AF65-F5344CB8AC3E}">
        <p14:creationId xmlns:p14="http://schemas.microsoft.com/office/powerpoint/2010/main" val="12977377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14:m>
                  <m:oMath xmlns:m="http://schemas.openxmlformats.org/officeDocument/2006/math">
                    <m:r>
                      <a:rPr lang="en-US" altLang="zh-CN" i="1" smtClean="0">
                        <a:latin typeface="Cambria Math" panose="02040503050406030204" pitchFamily="18" charset="0"/>
                        <a:ea typeface="Cambria Math" panose="02040503050406030204" pitchFamily="18" charset="0"/>
                      </a:rPr>
                      <m:t>△</m:t>
                    </m:r>
                  </m:oMath>
                </a14:m>
                <a:r>
                  <a:rPr lang="zh-CN" altLang="en-US" sz="1200" b="0" i="0" kern="1200" dirty="0" smtClean="0">
                    <a:solidFill>
                      <a:schemeClr val="tx1"/>
                    </a:solidFill>
                    <a:effectLst/>
                    <a:latin typeface="+mn-lt"/>
                    <a:ea typeface="+mn-ea"/>
                    <a:cs typeface="+mn-cs"/>
                  </a:rPr>
                  <a:t>德尔塔</a:t>
                </a:r>
                <a:endParaRPr lang="zh-CN" altLang="en-US" dirty="0"/>
              </a:p>
            </p:txBody>
          </p:sp>
        </mc:Choice>
        <mc:Fallback xmlns="">
          <p:sp>
            <p:nvSpPr>
              <p:cNvPr id="3" name="备注占位符 2"/>
              <p:cNvSpPr>
                <a:spLocks noGrp="1"/>
              </p:cNvSpPr>
              <p:nvPr>
                <p:ph type="body" idx="1"/>
              </p:nvPr>
            </p:nvSpPr>
            <p:spPr/>
            <p:txBody>
              <a:bodyPr/>
              <a:lstStyle/>
              <a:p>
                <a:r>
                  <a:rPr lang="en-US" altLang="zh-CN" i="0" smtClean="0">
                    <a:latin typeface="Cambria Math" panose="02040503050406030204" pitchFamily="18" charset="0"/>
                    <a:ea typeface="Cambria Math" panose="02040503050406030204" pitchFamily="18" charset="0"/>
                  </a:rPr>
                  <a:t>△</a:t>
                </a:r>
                <a:r>
                  <a:rPr lang="zh-CN" altLang="en-US" sz="1200" b="0" i="0" kern="1200" dirty="0" smtClean="0">
                    <a:solidFill>
                      <a:schemeClr val="tx1"/>
                    </a:solidFill>
                    <a:effectLst/>
                    <a:latin typeface="+mn-lt"/>
                    <a:ea typeface="+mn-ea"/>
                    <a:cs typeface="+mn-cs"/>
                  </a:rPr>
                  <a:t>德尔塔</a:t>
                </a:r>
                <a:endParaRPr lang="zh-CN" altLang="en-US" dirty="0"/>
              </a:p>
            </p:txBody>
          </p:sp>
        </mc:Fallback>
      </mc:AlternateContent>
      <p:sp>
        <p:nvSpPr>
          <p:cNvPr id="4" name="灯片编号占位符 3"/>
          <p:cNvSpPr>
            <a:spLocks noGrp="1"/>
          </p:cNvSpPr>
          <p:nvPr>
            <p:ph type="sldNum" sz="quarter" idx="10"/>
          </p:nvPr>
        </p:nvSpPr>
        <p:spPr/>
        <p:txBody>
          <a:bodyPr/>
          <a:lstStyle/>
          <a:p>
            <a:fld id="{8A6B134D-0EB3-42CB-9322-AA369738187D}" type="slidenum">
              <a:rPr lang="en-US" smtClean="0"/>
              <a:pPr/>
              <a:t>56</a:t>
            </a:fld>
            <a:endParaRPr lang="en-US"/>
          </a:p>
        </p:txBody>
      </p:sp>
    </p:spTree>
    <p:extLst>
      <p:ext uri="{BB962C8B-B14F-4D97-AF65-F5344CB8AC3E}">
        <p14:creationId xmlns:p14="http://schemas.microsoft.com/office/powerpoint/2010/main" val="26596808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r</a:t>
            </a:r>
            <a:r>
              <a:rPr lang="zh-CN" altLang="en-US" dirty="0" smtClean="0"/>
              <a:t>次布尔幂</a:t>
            </a:r>
            <a:r>
              <a:rPr lang="en-US" altLang="zh-CN" dirty="0" smtClean="0"/>
              <a:t>=r</a:t>
            </a:r>
            <a:r>
              <a:rPr lang="zh-CN" altLang="en-US" dirty="0" smtClean="0"/>
              <a:t>个布尔积</a:t>
            </a:r>
            <a:endParaRPr lang="en-US" altLang="zh-CN" dirty="0" smtClean="0"/>
          </a:p>
        </p:txBody>
      </p:sp>
      <p:sp>
        <p:nvSpPr>
          <p:cNvPr id="4" name="灯片编号占位符 3"/>
          <p:cNvSpPr>
            <a:spLocks noGrp="1"/>
          </p:cNvSpPr>
          <p:nvPr>
            <p:ph type="sldNum" sz="quarter" idx="10"/>
          </p:nvPr>
        </p:nvSpPr>
        <p:spPr/>
        <p:txBody>
          <a:bodyPr/>
          <a:lstStyle/>
          <a:p>
            <a:fld id="{8A6B134D-0EB3-42CB-9322-AA369738187D}" type="slidenum">
              <a:rPr lang="en-US" smtClean="0"/>
              <a:pPr/>
              <a:t>76</a:t>
            </a:fld>
            <a:endParaRPr lang="en-US"/>
          </a:p>
        </p:txBody>
      </p:sp>
    </p:spTree>
    <p:extLst>
      <p:ext uri="{BB962C8B-B14F-4D97-AF65-F5344CB8AC3E}">
        <p14:creationId xmlns:p14="http://schemas.microsoft.com/office/powerpoint/2010/main" val="34580440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引言</a:t>
            </a:r>
            <a:r>
              <a:rPr lang="en-US" altLang="zh-CN" dirty="0" smtClean="0"/>
              <a:t>:</a:t>
            </a:r>
            <a:r>
              <a:rPr lang="zh-CN" altLang="en-US" dirty="0" smtClean="0"/>
              <a:t>根据设定密码的要求，有些不同的密码认定是相同的</a:t>
            </a:r>
            <a:r>
              <a:rPr lang="en-US" altLang="zh-CN" dirty="0" smtClean="0"/>
              <a:t>.</a:t>
            </a:r>
            <a:endParaRPr lang="zh-CN" altLang="en-US" dirty="0"/>
          </a:p>
        </p:txBody>
      </p:sp>
      <p:sp>
        <p:nvSpPr>
          <p:cNvPr id="4" name="灯片编号占位符 3"/>
          <p:cNvSpPr>
            <a:spLocks noGrp="1"/>
          </p:cNvSpPr>
          <p:nvPr>
            <p:ph type="sldNum" sz="quarter" idx="10"/>
          </p:nvPr>
        </p:nvSpPr>
        <p:spPr/>
        <p:txBody>
          <a:bodyPr/>
          <a:lstStyle/>
          <a:p>
            <a:fld id="{8A6B134D-0EB3-42CB-9322-AA369738187D}" type="slidenum">
              <a:rPr lang="en-US" smtClean="0"/>
              <a:pPr/>
              <a:t>89</a:t>
            </a:fld>
            <a:endParaRPr lang="en-US"/>
          </a:p>
        </p:txBody>
      </p:sp>
    </p:spTree>
    <p:extLst>
      <p:ext uri="{BB962C8B-B14F-4D97-AF65-F5344CB8AC3E}">
        <p14:creationId xmlns:p14="http://schemas.microsoft.com/office/powerpoint/2010/main" val="13353822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A6B134D-0EB3-42CB-9322-AA369738187D}" type="slidenum">
              <a:rPr lang="en-US" smtClean="0"/>
              <a:pPr/>
              <a:t>107</a:t>
            </a:fld>
            <a:endParaRPr lang="en-US"/>
          </a:p>
        </p:txBody>
      </p:sp>
    </p:spTree>
    <p:extLst>
      <p:ext uri="{BB962C8B-B14F-4D97-AF65-F5344CB8AC3E}">
        <p14:creationId xmlns:p14="http://schemas.microsoft.com/office/powerpoint/2010/main" val="13720881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kern="1200" dirty="0" smtClean="0">
                <a:solidFill>
                  <a:schemeClr val="tx1"/>
                </a:solidFill>
                <a:effectLst/>
                <a:latin typeface="+mn-lt"/>
                <a:ea typeface="+mn-ea"/>
                <a:cs typeface="+mn-cs"/>
              </a:rPr>
              <a:t>least upper bound</a:t>
            </a:r>
          </a:p>
          <a:p>
            <a:r>
              <a:rPr lang="en-US" altLang="zh-CN" sz="1200" b="0" i="0" kern="1200" dirty="0" smtClean="0">
                <a:solidFill>
                  <a:schemeClr val="tx1"/>
                </a:solidFill>
                <a:effectLst/>
                <a:latin typeface="+mn-lt"/>
                <a:ea typeface="+mn-ea"/>
                <a:cs typeface="+mn-cs"/>
              </a:rPr>
              <a:t>greatest lower bound</a:t>
            </a:r>
            <a:endParaRPr lang="zh-CN" altLang="en-US" dirty="0"/>
          </a:p>
        </p:txBody>
      </p:sp>
      <p:sp>
        <p:nvSpPr>
          <p:cNvPr id="4" name="灯片编号占位符 3"/>
          <p:cNvSpPr>
            <a:spLocks noGrp="1"/>
          </p:cNvSpPr>
          <p:nvPr>
            <p:ph type="sldNum" sz="quarter" idx="10"/>
          </p:nvPr>
        </p:nvSpPr>
        <p:spPr/>
        <p:txBody>
          <a:bodyPr/>
          <a:lstStyle/>
          <a:p>
            <a:fld id="{8A6B134D-0EB3-42CB-9322-AA369738187D}" type="slidenum">
              <a:rPr lang="en-US" smtClean="0"/>
              <a:pPr/>
              <a:t>127</a:t>
            </a:fld>
            <a:endParaRPr lang="en-US"/>
          </a:p>
        </p:txBody>
      </p:sp>
    </p:spTree>
    <p:extLst>
      <p:ext uri="{BB962C8B-B14F-4D97-AF65-F5344CB8AC3E}">
        <p14:creationId xmlns:p14="http://schemas.microsoft.com/office/powerpoint/2010/main" val="115703463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7" name="标题 1"/>
          <p:cNvSpPr>
            <a:spLocks noGrp="1"/>
          </p:cNvSpPr>
          <p:nvPr>
            <p:ph type="ctrTitle"/>
          </p:nvPr>
        </p:nvSpPr>
        <p:spPr>
          <a:xfrm>
            <a:off x="1524000" y="1122363"/>
            <a:ext cx="9144000" cy="2387600"/>
          </a:xfrm>
          <a:prstGeom prst="rect">
            <a:avLst/>
          </a:prstGeom>
        </p:spPr>
        <p:txBody>
          <a:bodyPr anchor="b"/>
          <a:lstStyle>
            <a:lvl1pPr algn="ctr">
              <a:defRPr sz="6000">
                <a:latin typeface="微软雅黑" panose="020B0503020204020204" pitchFamily="34" charset="-122"/>
                <a:ea typeface="微软雅黑" panose="020B0503020204020204" pitchFamily="34" charset="-122"/>
              </a:defRPr>
            </a:lvl1pPr>
          </a:lstStyle>
          <a:p>
            <a:r>
              <a:rPr lang="zh-CN" altLang="en-US" dirty="0" smtClean="0"/>
              <a:t>单击此处编辑母版标题样式</a:t>
            </a:r>
            <a:endParaRPr lang="zh-CN" altLang="en-US" dirty="0"/>
          </a:p>
        </p:txBody>
      </p:sp>
      <p:sp>
        <p:nvSpPr>
          <p:cNvPr id="8" name="副标题 2"/>
          <p:cNvSpPr>
            <a:spLocks noGrp="1"/>
          </p:cNvSpPr>
          <p:nvPr>
            <p:ph type="subTitle" idx="1"/>
          </p:nvPr>
        </p:nvSpPr>
        <p:spPr>
          <a:xfrm>
            <a:off x="1524000" y="3602038"/>
            <a:ext cx="9144000" cy="1655762"/>
          </a:xfrm>
          <a:prstGeom prst="rect">
            <a:avLst/>
          </a:prstGeom>
        </p:spPr>
        <p:txBody>
          <a:bodyPr/>
          <a:lstStyle>
            <a:lvl1pPr marL="0" indent="0" algn="ctr">
              <a:buNone/>
              <a:defRPr sz="2400">
                <a:latin typeface="微软雅黑" panose="020B0503020204020204" pitchFamily="34" charset="-122"/>
                <a:ea typeface="微软雅黑" panose="020B0503020204020204" pitchFamily="34"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smtClean="0"/>
              <a:t>单击以编辑母版副标题样式</a:t>
            </a:r>
            <a:endParaRPr lang="zh-CN" altLang="en-US" dirty="0"/>
          </a:p>
        </p:txBody>
      </p:sp>
      <p:sp>
        <p:nvSpPr>
          <p:cNvPr id="9" name="TextBox 6">
            <a:extLst>
              <a:ext uri="{FF2B5EF4-FFF2-40B4-BE49-F238E27FC236}">
                <a16:creationId xmlns:a16="http://schemas.microsoft.com/office/drawing/2014/main" xmlns="" id="{AD80F0C0-3B46-41BB-A648-38F3DB9C0483}"/>
              </a:ext>
            </a:extLst>
          </p:cNvPr>
          <p:cNvSpPr txBox="1"/>
          <p:nvPr userDrawn="1"/>
        </p:nvSpPr>
        <p:spPr>
          <a:xfrm>
            <a:off x="3523347" y="3438257"/>
            <a:ext cx="7179935" cy="1487651"/>
          </a:xfrm>
          <a:prstGeom prst="rect">
            <a:avLst/>
          </a:prstGeom>
          <a:noFill/>
        </p:spPr>
        <p:txBody>
          <a:bodyPr wrap="square" rtlCol="0">
            <a:spAutoFit/>
          </a:bodyPr>
          <a:lstStyle/>
          <a:p>
            <a:r>
              <a:rPr lang="zh-CN" altLang="en-US" sz="5867" b="1" dirty="0" smtClean="0">
                <a:solidFill>
                  <a:schemeClr val="bg1"/>
                </a:solidFill>
                <a:latin typeface="微软雅黑" panose="020B0503020204020204" pitchFamily="34" charset="-122"/>
                <a:ea typeface="微软雅黑" panose="020B0503020204020204" pitchFamily="34" charset="-122"/>
              </a:rPr>
              <a:t>数据与大数据</a:t>
            </a:r>
            <a:endParaRPr lang="en-US" altLang="zh-CN" sz="5867" b="1" dirty="0">
              <a:solidFill>
                <a:schemeClr val="bg1"/>
              </a:solidFill>
              <a:latin typeface="微软雅黑" panose="020B0503020204020204" pitchFamily="34" charset="-122"/>
              <a:ea typeface="微软雅黑" panose="020B0503020204020204" pitchFamily="34" charset="-122"/>
            </a:endParaRPr>
          </a:p>
          <a:p>
            <a:r>
              <a:rPr lang="en-US" altLang="zh-CN" sz="3200" dirty="0" smtClean="0">
                <a:solidFill>
                  <a:schemeClr val="bg1"/>
                </a:solidFill>
              </a:rPr>
              <a:t>data and big data</a:t>
            </a:r>
            <a:endParaRPr lang="zh-CN" altLang="en-US" sz="3200" dirty="0">
              <a:solidFill>
                <a:schemeClr val="bg1"/>
              </a:solidFill>
            </a:endParaRPr>
          </a:p>
        </p:txBody>
      </p:sp>
      <p:grpSp>
        <p:nvGrpSpPr>
          <p:cNvPr id="10" name="组合 9"/>
          <p:cNvGrpSpPr/>
          <p:nvPr userDrawn="1"/>
        </p:nvGrpSpPr>
        <p:grpSpPr>
          <a:xfrm>
            <a:off x="-1" y="0"/>
            <a:ext cx="12192001" cy="6858000"/>
            <a:chOff x="-1" y="0"/>
            <a:chExt cx="12192001" cy="6858000"/>
          </a:xfrm>
        </p:grpSpPr>
        <p:sp>
          <p:nvSpPr>
            <p:cNvPr id="11" name="矩形 10"/>
            <p:cNvSpPr/>
            <p:nvPr/>
          </p:nvSpPr>
          <p:spPr>
            <a:xfrm>
              <a:off x="0" y="0"/>
              <a:ext cx="12192000" cy="3440784"/>
            </a:xfrm>
            <a:prstGeom prst="rect">
              <a:avLst/>
            </a:prstGeom>
            <a:solidFill>
              <a:srgbClr val="01559D">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1" y="3440783"/>
              <a:ext cx="12192001" cy="3417217"/>
            </a:xfrm>
            <a:prstGeom prst="rect">
              <a:avLst/>
            </a:prstGeom>
            <a:solidFill>
              <a:schemeClr val="accent4">
                <a:alpha val="80000"/>
              </a:schemeClr>
            </a:solidFill>
            <a:ln>
              <a:noFill/>
            </a:ln>
            <a:effectLst>
              <a:outerShdw blurRad="190500" sx="102000" sy="102000" algn="ctr"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109369" y="164054"/>
              <a:ext cx="11973262" cy="6529891"/>
            </a:xfrm>
            <a:prstGeom prst="rect">
              <a:avLst/>
            </a:prstGeom>
            <a:solidFill>
              <a:schemeClr val="bg2">
                <a:lumMod val="40000"/>
                <a:lumOff val="60000"/>
              </a:schemeClr>
            </a:solidFill>
            <a:ln>
              <a:noFill/>
            </a:ln>
            <a:effectLst>
              <a:outerShdw blurRad="190500" sx="102000" sy="102000" algn="ctr"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14" name="组合 13"/>
            <p:cNvGrpSpPr/>
            <p:nvPr/>
          </p:nvGrpSpPr>
          <p:grpSpPr>
            <a:xfrm>
              <a:off x="335393" y="399255"/>
              <a:ext cx="360000" cy="360000"/>
              <a:chOff x="2117558" y="3758627"/>
              <a:chExt cx="360000" cy="360000"/>
            </a:xfrm>
          </p:grpSpPr>
          <p:cxnSp>
            <p:nvCxnSpPr>
              <p:cNvPr id="24" name="直接连接符 23"/>
              <p:cNvCxnSpPr/>
              <p:nvPr/>
            </p:nvCxnSpPr>
            <p:spPr>
              <a:xfrm>
                <a:off x="2117558" y="3765884"/>
                <a:ext cx="360000" cy="0"/>
              </a:xfrm>
              <a:prstGeom prst="line">
                <a:avLst/>
              </a:prstGeom>
              <a:ln w="19050">
                <a:solidFill>
                  <a:srgbClr val="01559D"/>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flipH="1">
                <a:off x="2125904" y="3758627"/>
                <a:ext cx="0" cy="360000"/>
              </a:xfrm>
              <a:prstGeom prst="line">
                <a:avLst/>
              </a:prstGeom>
              <a:ln w="19050">
                <a:solidFill>
                  <a:srgbClr val="01559D"/>
                </a:solidFill>
              </a:ln>
            </p:spPr>
            <p:style>
              <a:lnRef idx="1">
                <a:schemeClr val="accent1"/>
              </a:lnRef>
              <a:fillRef idx="0">
                <a:schemeClr val="accent1"/>
              </a:fillRef>
              <a:effectRef idx="0">
                <a:schemeClr val="accent1"/>
              </a:effectRef>
              <a:fontRef idx="minor">
                <a:schemeClr val="tx1"/>
              </a:fontRef>
            </p:style>
          </p:cxnSp>
        </p:grpSp>
        <p:grpSp>
          <p:nvGrpSpPr>
            <p:cNvPr id="15" name="组合 14"/>
            <p:cNvGrpSpPr/>
            <p:nvPr/>
          </p:nvGrpSpPr>
          <p:grpSpPr>
            <a:xfrm>
              <a:off x="11492431" y="399255"/>
              <a:ext cx="360000" cy="360000"/>
              <a:chOff x="2269958" y="3918284"/>
              <a:chExt cx="360000" cy="360000"/>
            </a:xfrm>
          </p:grpSpPr>
          <p:cxnSp>
            <p:nvCxnSpPr>
              <p:cNvPr id="22" name="直接连接符 21"/>
              <p:cNvCxnSpPr/>
              <p:nvPr/>
            </p:nvCxnSpPr>
            <p:spPr>
              <a:xfrm>
                <a:off x="2269958" y="3918284"/>
                <a:ext cx="360000" cy="0"/>
              </a:xfrm>
              <a:prstGeom prst="line">
                <a:avLst/>
              </a:prstGeom>
              <a:ln w="19050">
                <a:solidFill>
                  <a:srgbClr val="01559D"/>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flipH="1">
                <a:off x="2618852" y="3918284"/>
                <a:ext cx="0" cy="360000"/>
              </a:xfrm>
              <a:prstGeom prst="line">
                <a:avLst/>
              </a:prstGeom>
              <a:ln w="19050">
                <a:solidFill>
                  <a:srgbClr val="01559D"/>
                </a:solidFill>
              </a:ln>
            </p:spPr>
            <p:style>
              <a:lnRef idx="1">
                <a:schemeClr val="accent1"/>
              </a:lnRef>
              <a:fillRef idx="0">
                <a:schemeClr val="accent1"/>
              </a:fillRef>
              <a:effectRef idx="0">
                <a:schemeClr val="accent1"/>
              </a:effectRef>
              <a:fontRef idx="minor">
                <a:schemeClr val="tx1"/>
              </a:fontRef>
            </p:style>
          </p:cxnSp>
        </p:grpSp>
        <p:grpSp>
          <p:nvGrpSpPr>
            <p:cNvPr id="16" name="组合 15"/>
            <p:cNvGrpSpPr/>
            <p:nvPr/>
          </p:nvGrpSpPr>
          <p:grpSpPr>
            <a:xfrm>
              <a:off x="324634" y="6129564"/>
              <a:ext cx="368148" cy="360000"/>
              <a:chOff x="2430704" y="4063427"/>
              <a:chExt cx="368148" cy="360000"/>
            </a:xfrm>
          </p:grpSpPr>
          <p:cxnSp>
            <p:nvCxnSpPr>
              <p:cNvPr id="20" name="直接连接符 19"/>
              <p:cNvCxnSpPr/>
              <p:nvPr/>
            </p:nvCxnSpPr>
            <p:spPr>
              <a:xfrm>
                <a:off x="2438852" y="4413178"/>
                <a:ext cx="360000" cy="0"/>
              </a:xfrm>
              <a:prstGeom prst="line">
                <a:avLst/>
              </a:prstGeom>
              <a:ln w="19050">
                <a:solidFill>
                  <a:srgbClr val="01559D"/>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flipH="1">
                <a:off x="2430704" y="4063427"/>
                <a:ext cx="0" cy="360000"/>
              </a:xfrm>
              <a:prstGeom prst="line">
                <a:avLst/>
              </a:prstGeom>
              <a:ln w="19050">
                <a:solidFill>
                  <a:srgbClr val="01559D"/>
                </a:solidFill>
              </a:ln>
            </p:spPr>
            <p:style>
              <a:lnRef idx="1">
                <a:schemeClr val="accent1"/>
              </a:lnRef>
              <a:fillRef idx="0">
                <a:schemeClr val="accent1"/>
              </a:fillRef>
              <a:effectRef idx="0">
                <a:schemeClr val="accent1"/>
              </a:effectRef>
              <a:fontRef idx="minor">
                <a:schemeClr val="tx1"/>
              </a:fontRef>
            </p:style>
          </p:cxnSp>
        </p:grpSp>
        <p:grpSp>
          <p:nvGrpSpPr>
            <p:cNvPr id="17" name="组合 16"/>
            <p:cNvGrpSpPr/>
            <p:nvPr/>
          </p:nvGrpSpPr>
          <p:grpSpPr>
            <a:xfrm>
              <a:off x="11503314" y="6122307"/>
              <a:ext cx="360000" cy="360000"/>
              <a:chOff x="2574758" y="3873751"/>
              <a:chExt cx="360000" cy="360000"/>
            </a:xfrm>
          </p:grpSpPr>
          <p:cxnSp>
            <p:nvCxnSpPr>
              <p:cNvPr id="18" name="直接连接符 17"/>
              <p:cNvCxnSpPr/>
              <p:nvPr/>
            </p:nvCxnSpPr>
            <p:spPr>
              <a:xfrm>
                <a:off x="2574758" y="4223084"/>
                <a:ext cx="360000" cy="0"/>
              </a:xfrm>
              <a:prstGeom prst="line">
                <a:avLst/>
              </a:prstGeom>
              <a:ln w="19050">
                <a:solidFill>
                  <a:srgbClr val="01559D"/>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flipH="1">
                <a:off x="2924643" y="3873751"/>
                <a:ext cx="0" cy="360000"/>
              </a:xfrm>
              <a:prstGeom prst="line">
                <a:avLst/>
              </a:prstGeom>
              <a:ln w="19050">
                <a:solidFill>
                  <a:srgbClr val="01559D"/>
                </a:solidFill>
              </a:ln>
            </p:spPr>
            <p:style>
              <a:lnRef idx="1">
                <a:schemeClr val="accent1"/>
              </a:lnRef>
              <a:fillRef idx="0">
                <a:schemeClr val="accent1"/>
              </a:fillRef>
              <a:effectRef idx="0">
                <a:schemeClr val="accent1"/>
              </a:effectRef>
              <a:fontRef idx="minor">
                <a:schemeClr val="tx1"/>
              </a:fontRef>
            </p:style>
          </p:cxnSp>
        </p:grpSp>
      </p:grpSp>
      <p:pic>
        <p:nvPicPr>
          <p:cNvPr id="26" name="图片 2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68640" y="417184"/>
            <a:ext cx="1115730" cy="878638"/>
          </a:xfrm>
          <a:prstGeom prst="rect">
            <a:avLst/>
          </a:prstGeom>
        </p:spPr>
      </p:pic>
      <p:sp>
        <p:nvSpPr>
          <p:cNvPr id="27" name="Freeform 7"/>
          <p:cNvSpPr>
            <a:spLocks noChangeArrowheads="1"/>
          </p:cNvSpPr>
          <p:nvPr userDrawn="1"/>
        </p:nvSpPr>
        <p:spPr bwMode="auto">
          <a:xfrm>
            <a:off x="1600678" y="2118577"/>
            <a:ext cx="8229600" cy="914400"/>
          </a:xfrm>
          <a:custGeom>
            <a:avLst/>
            <a:gdLst>
              <a:gd name="T0" fmla="*/ 0 w 1000"/>
              <a:gd name="T1" fmla="*/ 2147483647 h 1000"/>
              <a:gd name="T2" fmla="*/ 0 w 1000"/>
              <a:gd name="T3" fmla="*/ 0 h 1000"/>
              <a:gd name="T4" fmla="*/ 2147483647 w 1000"/>
              <a:gd name="T5" fmla="*/ 0 h 1000"/>
              <a:gd name="T6" fmla="*/ 0 60000 65536"/>
              <a:gd name="T7" fmla="*/ 0 60000 65536"/>
              <a:gd name="T8" fmla="*/ 0 60000 65536"/>
            </a:gdLst>
            <a:ahLst/>
            <a:cxnLst>
              <a:cxn ang="T6">
                <a:pos x="T0" y="T1"/>
              </a:cxn>
              <a:cxn ang="T7">
                <a:pos x="T2" y="T3"/>
              </a:cxn>
              <a:cxn ang="T8">
                <a:pos x="T4" y="T5"/>
              </a:cxn>
            </a:cxnLst>
            <a:rect l="0" t="0" r="r" b="b"/>
            <a:pathLst>
              <a:path w="1000" h="1000">
                <a:moveTo>
                  <a:pt x="0" y="1000"/>
                </a:moveTo>
                <a:lnTo>
                  <a:pt x="0" y="0"/>
                </a:lnTo>
                <a:lnTo>
                  <a:pt x="1000" y="0"/>
                </a:lnTo>
              </a:path>
            </a:pathLst>
          </a:custGeom>
          <a:noFill/>
          <a:ln w="25400" cap="flat" cmpd="sng">
            <a:solidFill>
              <a:schemeClr val="accent4"/>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28" name="组合 27"/>
          <p:cNvGrpSpPr/>
          <p:nvPr userDrawn="1"/>
        </p:nvGrpSpPr>
        <p:grpSpPr>
          <a:xfrm>
            <a:off x="1618966" y="2547953"/>
            <a:ext cx="8229600" cy="914400"/>
            <a:chOff x="1618966" y="2547953"/>
            <a:chExt cx="8229600" cy="914400"/>
          </a:xfrm>
        </p:grpSpPr>
        <p:sp>
          <p:nvSpPr>
            <p:cNvPr id="29" name="Line 10"/>
            <p:cNvSpPr>
              <a:spLocks noChangeShapeType="1"/>
            </p:cNvSpPr>
            <p:nvPr/>
          </p:nvSpPr>
          <p:spPr bwMode="auto">
            <a:xfrm>
              <a:off x="9848566" y="2547953"/>
              <a:ext cx="0" cy="914400"/>
            </a:xfrm>
            <a:prstGeom prst="line">
              <a:avLst/>
            </a:prstGeom>
            <a:noFill/>
            <a:ln w="25400">
              <a:solidFill>
                <a:schemeClr val="accent4"/>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 name="Line 8"/>
            <p:cNvSpPr>
              <a:spLocks noChangeShapeType="1"/>
            </p:cNvSpPr>
            <p:nvPr/>
          </p:nvSpPr>
          <p:spPr bwMode="auto">
            <a:xfrm>
              <a:off x="1618966" y="3462353"/>
              <a:ext cx="8229600" cy="0"/>
            </a:xfrm>
            <a:prstGeom prst="line">
              <a:avLst/>
            </a:prstGeom>
            <a:noFill/>
            <a:ln w="25400">
              <a:solidFill>
                <a:schemeClr val="accent4"/>
              </a:solidFill>
              <a:round/>
              <a:headEnd/>
              <a:tailEnd/>
            </a:ln>
            <a:extLst>
              <a:ext uri="{909E8E84-426E-40DD-AFC4-6F175D3DCCD1}">
                <a14:hiddenFill xmlns:a14="http://schemas.microsoft.com/office/drawing/2010/main">
                  <a:noFill/>
                </a14:hiddenFill>
              </a:ext>
            </a:extLst>
          </p:spPr>
          <p:txBody>
            <a:bodyPr/>
            <a:lstStyle/>
            <a:p>
              <a:endParaRPr lang="en-US"/>
            </a:p>
          </p:txBody>
        </p:sp>
      </p:grpSp>
      <p:pic>
        <p:nvPicPr>
          <p:cNvPr id="31" name="图片 3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264286" y="5444795"/>
            <a:ext cx="1562460" cy="1562460"/>
          </a:xfrm>
          <a:prstGeom prst="rect">
            <a:avLst/>
          </a:prstGeom>
        </p:spPr>
      </p:pic>
    </p:spTree>
    <p:extLst>
      <p:ext uri="{BB962C8B-B14F-4D97-AF65-F5344CB8AC3E}">
        <p14:creationId xmlns:p14="http://schemas.microsoft.com/office/powerpoint/2010/main" val="1929811583"/>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7" name="标题 1"/>
          <p:cNvSpPr>
            <a:spLocks noGrp="1"/>
          </p:cNvSpPr>
          <p:nvPr>
            <p:ph type="title"/>
          </p:nvPr>
        </p:nvSpPr>
        <p:spPr>
          <a:xfrm>
            <a:off x="595087" y="268889"/>
            <a:ext cx="10987314" cy="635771"/>
          </a:xfrm>
          <a:prstGeom prst="rect">
            <a:avLst/>
          </a:prstGeom>
        </p:spPr>
        <p:txBody>
          <a:bodyPr>
            <a:noAutofit/>
          </a:bodyPr>
          <a:lstStyle>
            <a:lvl1pPr>
              <a:defRPr sz="3600">
                <a:solidFill>
                  <a:srgbClr val="01559D"/>
                </a:solidFill>
                <a:latin typeface="微软雅黑" panose="020B0503020204020204" pitchFamily="34" charset="-122"/>
                <a:ea typeface="微软雅黑" panose="020B0503020204020204" pitchFamily="34" charset="-122"/>
              </a:defRPr>
            </a:lvl1pPr>
          </a:lstStyle>
          <a:p>
            <a:r>
              <a:rPr lang="zh-CN" altLang="en-US" dirty="0" smtClean="0"/>
              <a:t>单击此处编辑母版标题样式</a:t>
            </a:r>
            <a:endParaRPr lang="zh-CN" altLang="en-US" dirty="0"/>
          </a:p>
        </p:txBody>
      </p:sp>
      <p:sp>
        <p:nvSpPr>
          <p:cNvPr id="8" name="内容占位符 2"/>
          <p:cNvSpPr>
            <a:spLocks noGrp="1"/>
          </p:cNvSpPr>
          <p:nvPr>
            <p:ph idx="1"/>
          </p:nvPr>
        </p:nvSpPr>
        <p:spPr>
          <a:xfrm>
            <a:off x="595086" y="1088824"/>
            <a:ext cx="10987316" cy="5121481"/>
          </a:xfrm>
          <a:prstGeom prst="rect">
            <a:avLst/>
          </a:prstGeom>
        </p:spPr>
        <p:txBody>
          <a:bodyPr/>
          <a:lstStyle>
            <a:lvl1pPr marL="274320" indent="-274320">
              <a:buClr>
                <a:srgbClr val="CEA524"/>
              </a:buClr>
              <a:buSzPct val="100000"/>
              <a:buFont typeface="Wingdings" panose="05000000000000000000" pitchFamily="2" charset="2"/>
              <a:buChar char="q"/>
              <a:defRPr>
                <a:latin typeface="微软雅黑" panose="020B0503020204020204" pitchFamily="34" charset="-122"/>
                <a:ea typeface="微软雅黑" panose="020B0503020204020204" pitchFamily="34" charset="-122"/>
              </a:defRPr>
            </a:lvl1pPr>
            <a:lvl2pPr marL="640080" indent="-246888">
              <a:buClr>
                <a:srgbClr val="01559D"/>
              </a:buClr>
              <a:buFont typeface="Wingdings" panose="05000000000000000000" pitchFamily="2" charset="2"/>
              <a:buChar char="Ø"/>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a:r>
              <a:rPr lang="zh-CN" altLang="en-US" dirty="0" smtClean="0"/>
              <a:t>编辑母版文本样式</a:t>
            </a:r>
          </a:p>
          <a:p>
            <a:pPr lvl="1"/>
            <a:r>
              <a:rPr lang="zh-CN" altLang="en-US" dirty="0" smtClean="0"/>
              <a:t>第二级</a:t>
            </a:r>
          </a:p>
        </p:txBody>
      </p:sp>
      <p:sp>
        <p:nvSpPr>
          <p:cNvPr id="9" name="日期占位符 9"/>
          <p:cNvSpPr>
            <a:spLocks noGrp="1"/>
          </p:cNvSpPr>
          <p:nvPr>
            <p:ph type="dt" sz="half" idx="10"/>
          </p:nvPr>
        </p:nvSpPr>
        <p:spPr>
          <a:xfrm>
            <a:off x="457200" y="6400799"/>
            <a:ext cx="2895600" cy="370917"/>
          </a:xfrm>
          <a:prstGeom prst="rect">
            <a:avLst/>
          </a:prstGeom>
        </p:spPr>
        <p:txBody>
          <a:bodyPr/>
          <a:lstStyle>
            <a:lvl1pPr>
              <a:defRPr sz="1800" b="0">
                <a:solidFill>
                  <a:schemeClr val="tx1"/>
                </a:solidFill>
                <a:latin typeface="微软雅黑" panose="020B0503020204020204" pitchFamily="34" charset="-122"/>
                <a:ea typeface="微软雅黑" panose="020B0503020204020204" pitchFamily="34" charset="-122"/>
              </a:defRPr>
            </a:lvl1pPr>
          </a:lstStyle>
          <a:p>
            <a:fld id="{0D46DF6E-377E-448D-A717-DA302A896C31}" type="datetime1">
              <a:rPr lang="zh-CN" altLang="en-US" smtClean="0"/>
              <a:t>2025/3/14</a:t>
            </a:fld>
            <a:endParaRPr lang="zh-CN" altLang="en-US" dirty="0"/>
          </a:p>
        </p:txBody>
      </p:sp>
      <p:sp>
        <p:nvSpPr>
          <p:cNvPr id="10" name="页脚占位符 10"/>
          <p:cNvSpPr>
            <a:spLocks noGrp="1"/>
          </p:cNvSpPr>
          <p:nvPr>
            <p:ph type="ftr" sz="quarter" idx="11"/>
          </p:nvPr>
        </p:nvSpPr>
        <p:spPr>
          <a:xfrm>
            <a:off x="7086600" y="6400799"/>
            <a:ext cx="4724400" cy="380965"/>
          </a:xfrm>
          <a:prstGeom prst="rect">
            <a:avLst/>
          </a:prstGeom>
        </p:spPr>
        <p:txBody>
          <a:bodyPr/>
          <a:lstStyle>
            <a:lvl1pPr>
              <a:defRPr sz="1800">
                <a:solidFill>
                  <a:schemeClr val="tx1"/>
                </a:solidFill>
                <a:latin typeface="微软雅黑" panose="020B0503020204020204" pitchFamily="34" charset="-122"/>
                <a:ea typeface="微软雅黑" panose="020B0503020204020204" pitchFamily="34" charset="-122"/>
              </a:defRPr>
            </a:lvl1pPr>
          </a:lstStyle>
          <a:p>
            <a:pPr algn="r"/>
            <a:r>
              <a:rPr lang="zh-CN" altLang="en-US" smtClean="0"/>
              <a:t>华中科技大学人机物系统与安全实验室</a:t>
            </a:r>
            <a:endParaRPr lang="zh-CN" altLang="en-US" dirty="0"/>
          </a:p>
        </p:txBody>
      </p:sp>
      <p:sp>
        <p:nvSpPr>
          <p:cNvPr id="11" name="灯片编号占位符 11"/>
          <p:cNvSpPr>
            <a:spLocks noGrp="1"/>
          </p:cNvSpPr>
          <p:nvPr>
            <p:ph type="sldNum" sz="quarter" idx="12"/>
          </p:nvPr>
        </p:nvSpPr>
        <p:spPr>
          <a:xfrm>
            <a:off x="4267200" y="6406591"/>
            <a:ext cx="3657600" cy="365125"/>
          </a:xfrm>
          <a:prstGeom prst="rect">
            <a:avLst/>
          </a:prstGeom>
        </p:spPr>
        <p:txBody>
          <a:bodyPr/>
          <a:lstStyle>
            <a:lvl1pPr algn="ctr">
              <a:defRPr sz="1800">
                <a:solidFill>
                  <a:schemeClr val="tx1"/>
                </a:solidFill>
                <a:latin typeface="微软雅黑" panose="020B0503020204020204" pitchFamily="34" charset="-122"/>
                <a:ea typeface="微软雅黑" panose="020B0503020204020204" pitchFamily="34" charset="-122"/>
              </a:defRPr>
            </a:lvl1pPr>
          </a:lstStyle>
          <a:p>
            <a:fld id="{67913A8A-9EFB-4B5F-9CCB-3D21173FAA85}" type="slidenum">
              <a:rPr lang="zh-CN" altLang="en-US" smtClean="0"/>
              <a:pPr/>
              <a:t>‹#›</a:t>
            </a:fld>
            <a:endParaRPr lang="zh-CN" altLang="en-US" dirty="0"/>
          </a:p>
        </p:txBody>
      </p:sp>
      <p:sp>
        <p:nvSpPr>
          <p:cNvPr id="12" name="Line 1032">
            <a:extLst>
              <a:ext uri="{FF2B5EF4-FFF2-40B4-BE49-F238E27FC236}">
                <a16:creationId xmlns:a16="http://schemas.microsoft.com/office/drawing/2014/main" xmlns="" id="{84905974-26AA-1845-8C01-E86327ED24C4}"/>
              </a:ext>
            </a:extLst>
          </p:cNvPr>
          <p:cNvSpPr>
            <a:spLocks noChangeShapeType="1"/>
          </p:cNvSpPr>
          <p:nvPr userDrawn="1"/>
        </p:nvSpPr>
        <p:spPr bwMode="auto">
          <a:xfrm>
            <a:off x="457200" y="6324600"/>
            <a:ext cx="11277600" cy="6815"/>
          </a:xfrm>
          <a:prstGeom prst="line">
            <a:avLst/>
          </a:prstGeom>
          <a:noFill/>
          <a:ln w="19050">
            <a:solidFill>
              <a:srgbClr val="CC99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endParaRPr>
          </a:p>
        </p:txBody>
      </p:sp>
      <p:sp>
        <p:nvSpPr>
          <p:cNvPr id="13" name="Line 1032">
            <a:extLst>
              <a:ext uri="{FF2B5EF4-FFF2-40B4-BE49-F238E27FC236}">
                <a16:creationId xmlns:a16="http://schemas.microsoft.com/office/drawing/2014/main" xmlns="" id="{84905974-26AA-1845-8C01-E86327ED24C4}"/>
              </a:ext>
            </a:extLst>
          </p:cNvPr>
          <p:cNvSpPr>
            <a:spLocks noChangeShapeType="1"/>
          </p:cNvSpPr>
          <p:nvPr userDrawn="1"/>
        </p:nvSpPr>
        <p:spPr bwMode="auto">
          <a:xfrm>
            <a:off x="457200" y="914400"/>
            <a:ext cx="11277600" cy="6815"/>
          </a:xfrm>
          <a:prstGeom prst="line">
            <a:avLst/>
          </a:prstGeom>
          <a:noFill/>
          <a:ln w="19050">
            <a:solidFill>
              <a:srgbClr val="CC99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2861523654"/>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36252373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401349073"/>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smtClean="0"/>
              <a:t>单击此处编辑母版标题样式</a:t>
            </a:r>
            <a:endParaRPr lang="zh-CN" altLang="en-US" dirty="0"/>
          </a:p>
        </p:txBody>
      </p:sp>
      <p:sp>
        <p:nvSpPr>
          <p:cNvPr id="8"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smtClean="0"/>
              <a:t>编辑母版文本样式</a:t>
            </a:r>
          </a:p>
          <a:p>
            <a:pPr lvl="1"/>
            <a:r>
              <a:rPr lang="zh-CN" altLang="en-US" dirty="0" smtClean="0"/>
              <a:t>第二级</a:t>
            </a:r>
          </a:p>
        </p:txBody>
      </p:sp>
    </p:spTree>
    <p:extLst>
      <p:ext uri="{BB962C8B-B14F-4D97-AF65-F5344CB8AC3E}">
        <p14:creationId xmlns:p14="http://schemas.microsoft.com/office/powerpoint/2010/main" val="4130011215"/>
      </p:ext>
    </p:extLst>
  </p:cSld>
  <p:clrMap bg1="lt1" tx1="dk1" bg2="lt2" tx2="dk2" accent1="accent1" accent2="accent2" accent3="accent3" accent4="accent4" accent5="accent5" accent6="accent6" hlink="hlink" folHlink="folHlink"/>
  <p:sldLayoutIdLst>
    <p:sldLayoutId id="2147483677" r:id="rId1"/>
    <p:sldLayoutId id="2147483678" r:id="rId2"/>
    <p:sldLayoutId id="2147483675" r:id="rId3"/>
    <p:sldLayoutId id="2147483679" r:id="rId4"/>
  </p:sldLayoutIdLst>
  <p:hf hdr="0"/>
  <p:txStyles>
    <p:titleStyle>
      <a:lvl1pPr algn="l" defTabSz="914400" rtl="0" eaLnBrk="1" latinLnBrk="0" hangingPunct="1">
        <a:lnSpc>
          <a:spcPct val="90000"/>
        </a:lnSpc>
        <a:spcBef>
          <a:spcPct val="0"/>
        </a:spcBef>
        <a:buNone/>
        <a:defRPr sz="4400" kern="1200">
          <a:solidFill>
            <a:srgbClr val="01559D"/>
          </a:solidFill>
          <a:latin typeface="微软雅黑" panose="020B0503020204020204" pitchFamily="34" charset="-122"/>
          <a:ea typeface="微软雅黑" panose="020B0503020204020204" pitchFamily="34" charset="-122"/>
          <a:cs typeface="+mj-cs"/>
        </a:defRPr>
      </a:lvl1pPr>
    </p:titleStyle>
    <p:bodyStyle>
      <a:lvl1pPr marL="228600" indent="-228600" algn="l" defTabSz="914400" rtl="0" eaLnBrk="1" latinLnBrk="0" hangingPunct="1">
        <a:lnSpc>
          <a:spcPct val="100000"/>
        </a:lnSpc>
        <a:spcBef>
          <a:spcPts val="1000"/>
        </a:spcBef>
        <a:buClr>
          <a:srgbClr val="CEA524"/>
        </a:buClr>
        <a:buFont typeface="Wingdings" panose="05000000000000000000" pitchFamily="2" charset="2"/>
        <a:buChar char="q"/>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Clr>
          <a:srgbClr val="01559D"/>
        </a:buClr>
        <a:buSzPct val="97000"/>
        <a:buFont typeface="Wingdings" panose="05000000000000000000" pitchFamily="2" charset="2"/>
        <a:buChar char="Ø"/>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zgmeng@hust.edu.cn" TargetMode="External"/><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41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0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slideLayout" Target="../slideLayouts/slideLayout2.xml"/><Relationship Id="rId1" Type="http://schemas.openxmlformats.org/officeDocument/2006/relationships/tags" Target="../tags/tag1.xml"/><Relationship Id="rId4" Type="http://schemas.openxmlformats.org/officeDocument/2006/relationships/image" Target="../media/image7.png"/></Relationships>
</file>

<file path=ppt/slides/_rels/slide32.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25.png"/><Relationship Id="rId1" Type="http://schemas.openxmlformats.org/officeDocument/2006/relationships/slideLayout" Target="../slideLayouts/slideLayout2.xml"/><Relationship Id="rId4" Type="http://schemas.openxmlformats.org/officeDocument/2006/relationships/image" Target="../media/image9.jpeg"/></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2.xml"/><Relationship Id="rId4" Type="http://schemas.openxmlformats.org/officeDocument/2006/relationships/image" Target="../media/image20.png"/></Relationships>
</file>

<file path=ppt/slides/_rels/slide3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tags" Target="../tags/tag5.xml"/><Relationship Id="rId7" Type="http://schemas.openxmlformats.org/officeDocument/2006/relationships/image" Target="../media/image28.png"/><Relationship Id="rId2" Type="http://schemas.openxmlformats.org/officeDocument/2006/relationships/tags" Target="../tags/tag4.xml"/><Relationship Id="rId1" Type="http://schemas.openxmlformats.org/officeDocument/2006/relationships/tags" Target="../tags/tag3.xml"/><Relationship Id="rId6" Type="http://schemas.openxmlformats.org/officeDocument/2006/relationships/image" Target="../media/image24.png"/><Relationship Id="rId5" Type="http://schemas.openxmlformats.org/officeDocument/2006/relationships/slideLayout" Target="../slideLayouts/slideLayout2.xml"/><Relationship Id="rId4" Type="http://schemas.openxmlformats.org/officeDocument/2006/relationships/tags" Target="../tags/tag6.xml"/><Relationship Id="rId9" Type="http://schemas.openxmlformats.org/officeDocument/2006/relationships/image" Target="../media/image31.png"/></Relationships>
</file>

<file path=ppt/slides/_rels/slide38.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tags" Target="../tags/tag9.xml"/><Relationship Id="rId7" Type="http://schemas.openxmlformats.org/officeDocument/2006/relationships/image" Target="../media/image32.png"/><Relationship Id="rId2" Type="http://schemas.openxmlformats.org/officeDocument/2006/relationships/tags" Target="../tags/tag8.xml"/><Relationship Id="rId1" Type="http://schemas.openxmlformats.org/officeDocument/2006/relationships/tags" Target="../tags/tag7.xml"/><Relationship Id="rId6" Type="http://schemas.openxmlformats.org/officeDocument/2006/relationships/slideLayout" Target="../slideLayouts/slideLayout2.xml"/><Relationship Id="rId11" Type="http://schemas.openxmlformats.org/officeDocument/2006/relationships/image" Target="../media/image37.png"/><Relationship Id="rId5" Type="http://schemas.openxmlformats.org/officeDocument/2006/relationships/tags" Target="../tags/tag11.xml"/><Relationship Id="rId10" Type="http://schemas.openxmlformats.org/officeDocument/2006/relationships/image" Target="../media/image36.png"/><Relationship Id="rId4" Type="http://schemas.openxmlformats.org/officeDocument/2006/relationships/tags" Target="../tags/tag10.xml"/><Relationship Id="rId9" Type="http://schemas.openxmlformats.org/officeDocument/2006/relationships/image" Target="../media/image35.png"/></Relationships>
</file>

<file path=ppt/slides/_rels/slide40.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slideLayout" Target="../slideLayouts/slideLayout2.xml"/><Relationship Id="rId1" Type="http://schemas.openxmlformats.org/officeDocument/2006/relationships/tags" Target="../tags/tag12.xml"/><Relationship Id="rId4" Type="http://schemas.openxmlformats.org/officeDocument/2006/relationships/image" Target="../media/image38.png"/></Relationships>
</file>

<file path=ppt/slides/_rels/slide42.xml.rels><?xml version="1.0" encoding="UTF-8" standalone="yes"?>
<Relationships xmlns="http://schemas.openxmlformats.org/package/2006/relationships"><Relationship Id="rId2" Type="http://schemas.openxmlformats.org/officeDocument/2006/relationships/image" Target="../media/image280.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10.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9.jpe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321.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320.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330.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300.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340.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350.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41.emf"/><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360.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371.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370.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380.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390.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411.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420.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401.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430.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45.emf"/><Relationship Id="rId2" Type="http://schemas.openxmlformats.org/officeDocument/2006/relationships/image" Target="../media/image440.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45.emf"/><Relationship Id="rId2" Type="http://schemas.openxmlformats.org/officeDocument/2006/relationships/image" Target="../media/image460.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45.emf"/><Relationship Id="rId2" Type="http://schemas.openxmlformats.org/officeDocument/2006/relationships/image" Target="../media/image470.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45.emf"/><Relationship Id="rId2" Type="http://schemas.openxmlformats.org/officeDocument/2006/relationships/image" Target="../media/image480.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451.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490.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450.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0.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500.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550.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slideLayout" Target="../slideLayouts/slideLayout2.xml"/><Relationship Id="rId1" Type="http://schemas.openxmlformats.org/officeDocument/2006/relationships/tags" Target="../tags/tag13.xml"/><Relationship Id="rId5" Type="http://schemas.openxmlformats.org/officeDocument/2006/relationships/image" Target="../media/image50.jpeg"/><Relationship Id="rId4" Type="http://schemas.openxmlformats.org/officeDocument/2006/relationships/image" Target="../media/image49.png"/></Relationships>
</file>

<file path=ppt/slides/_rels/slide99.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600.pn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51.wmf"/></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image" Target="../media/image622.png"/><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3" Type="http://schemas.openxmlformats.org/officeDocument/2006/relationships/image" Target="../media/image59.jpeg"/><Relationship Id="rId2" Type="http://schemas.openxmlformats.org/officeDocument/2006/relationships/image" Target="../media/image621.png"/><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3" Type="http://schemas.openxmlformats.org/officeDocument/2006/relationships/image" Target="../media/image60.emf"/><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3" Type="http://schemas.openxmlformats.org/officeDocument/2006/relationships/image" Target="../media/image62.emf"/><Relationship Id="rId2" Type="http://schemas.openxmlformats.org/officeDocument/2006/relationships/image" Target="../media/image61.emf"/><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image" Target="../media/image63.emf"/><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2" Type="http://schemas.openxmlformats.org/officeDocument/2006/relationships/image" Target="../media/image64.emf"/><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2" Type="http://schemas.openxmlformats.org/officeDocument/2006/relationships/image" Target="../media/image65.emf"/><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3" Type="http://schemas.openxmlformats.org/officeDocument/2006/relationships/image" Target="../media/image65.emf"/><Relationship Id="rId2" Type="http://schemas.openxmlformats.org/officeDocument/2006/relationships/image" Target="../media/image630.png"/><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2" Type="http://schemas.openxmlformats.org/officeDocument/2006/relationships/image" Target="../media/image68.emf"/><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3" Type="http://schemas.openxmlformats.org/officeDocument/2006/relationships/image" Target="../media/image70.emf"/><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2" Type="http://schemas.openxmlformats.org/officeDocument/2006/relationships/image" Target="../media/image71.em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标题 1"/>
          <p:cNvSpPr txBox="1">
            <a:spLocks/>
          </p:cNvSpPr>
          <p:nvPr/>
        </p:nvSpPr>
        <p:spPr>
          <a:xfrm>
            <a:off x="1752600" y="762000"/>
            <a:ext cx="8211312" cy="1325563"/>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zh-CN" altLang="en-US" b="1" dirty="0" smtClean="0">
                <a:solidFill>
                  <a:srgbClr val="C55A11"/>
                </a:solidFill>
                <a:latin typeface="微软雅黑" panose="020B0503020204020204" pitchFamily="34" charset="-122"/>
                <a:ea typeface="微软雅黑" panose="020B0503020204020204" pitchFamily="34" charset="-122"/>
              </a:rPr>
              <a:t>第</a:t>
            </a:r>
            <a:r>
              <a:rPr lang="en-US" altLang="zh-CN" b="1" dirty="0">
                <a:solidFill>
                  <a:srgbClr val="C55A11"/>
                </a:solidFill>
                <a:latin typeface="微软雅黑" panose="020B0503020204020204" pitchFamily="34" charset="-122"/>
                <a:ea typeface="微软雅黑" panose="020B0503020204020204" pitchFamily="34" charset="-122"/>
              </a:rPr>
              <a:t>2</a:t>
            </a:r>
            <a:r>
              <a:rPr lang="zh-CN" altLang="en-US" b="1" dirty="0" smtClean="0">
                <a:solidFill>
                  <a:srgbClr val="C55A11"/>
                </a:solidFill>
                <a:latin typeface="微软雅黑" panose="020B0503020204020204" pitchFamily="34" charset="-122"/>
                <a:ea typeface="微软雅黑" panose="020B0503020204020204" pitchFamily="34" charset="-122"/>
              </a:rPr>
              <a:t>章 关系</a:t>
            </a:r>
            <a:endParaRPr lang="zh-CN" altLang="en-US" b="1" dirty="0">
              <a:solidFill>
                <a:srgbClr val="C55A11"/>
              </a:solidFill>
              <a:latin typeface="微软雅黑" panose="020B0503020204020204" pitchFamily="34" charset="-122"/>
              <a:ea typeface="微软雅黑" panose="020B0503020204020204" pitchFamily="34" charset="-122"/>
            </a:endParaRPr>
          </a:p>
        </p:txBody>
      </p:sp>
      <p:sp>
        <p:nvSpPr>
          <p:cNvPr id="4" name="矩形 1"/>
          <p:cNvSpPr>
            <a:spLocks noChangeArrowheads="1"/>
          </p:cNvSpPr>
          <p:nvPr/>
        </p:nvSpPr>
        <p:spPr bwMode="auto">
          <a:xfrm>
            <a:off x="1524000" y="2514600"/>
            <a:ext cx="8991600" cy="35086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charset="0"/>
              <a:buChar char="•"/>
              <a:defRPr sz="2800">
                <a:solidFill>
                  <a:schemeClr val="tx1"/>
                </a:solidFill>
                <a:latin typeface="Calibri" charset="0"/>
                <a:ea typeface="宋体" charset="-122"/>
                <a:sym typeface="Calibri" charset="0"/>
              </a:defRPr>
            </a:lvl1pPr>
            <a:lvl2pPr marL="742950" indent="-285750">
              <a:lnSpc>
                <a:spcPct val="90000"/>
              </a:lnSpc>
              <a:spcBef>
                <a:spcPts val="500"/>
              </a:spcBef>
              <a:buFont typeface="Arial" charset="0"/>
              <a:buChar char="•"/>
              <a:defRPr sz="2400">
                <a:solidFill>
                  <a:schemeClr val="tx1"/>
                </a:solidFill>
                <a:latin typeface="Calibri" charset="0"/>
                <a:ea typeface="宋体" charset="-122"/>
                <a:sym typeface="Calibri" charset="0"/>
              </a:defRPr>
            </a:lvl2pPr>
            <a:lvl3pPr>
              <a:lnSpc>
                <a:spcPct val="90000"/>
              </a:lnSpc>
              <a:spcBef>
                <a:spcPts val="500"/>
              </a:spcBef>
              <a:buFont typeface="Arial" charset="0"/>
              <a:buChar char="•"/>
              <a:defRPr sz="2000">
                <a:solidFill>
                  <a:schemeClr val="tx1"/>
                </a:solidFill>
                <a:latin typeface="Calibri" charset="0"/>
                <a:ea typeface="宋体" charset="-122"/>
                <a:sym typeface="Calibri" charset="0"/>
              </a:defRPr>
            </a:lvl3pPr>
            <a:lvl4pPr marL="1600200" indent="-228600">
              <a:lnSpc>
                <a:spcPct val="90000"/>
              </a:lnSpc>
              <a:spcBef>
                <a:spcPts val="500"/>
              </a:spcBef>
              <a:buFont typeface="Arial" charset="0"/>
              <a:buChar char="•"/>
              <a:defRPr sz="2000">
                <a:solidFill>
                  <a:schemeClr val="tx1"/>
                </a:solidFill>
                <a:latin typeface="Calibri" charset="0"/>
                <a:ea typeface="宋体" charset="-122"/>
                <a:sym typeface="Calibri" charset="0"/>
              </a:defRPr>
            </a:lvl4pPr>
            <a:lvl5pPr marL="2057400" indent="-228600">
              <a:lnSpc>
                <a:spcPct val="90000"/>
              </a:lnSpc>
              <a:spcBef>
                <a:spcPts val="500"/>
              </a:spcBef>
              <a:buFont typeface="Arial" charset="0"/>
              <a:buChar char="•"/>
              <a:defRPr sz="2000">
                <a:solidFill>
                  <a:schemeClr val="tx1"/>
                </a:solidFill>
                <a:latin typeface="Calibri" charset="0"/>
                <a:ea typeface="宋体" charset="-122"/>
                <a:sym typeface="Calibri" charset="0"/>
              </a:defRPr>
            </a:lvl5pPr>
            <a:lvl6pPr marL="2514600" indent="-228600" eaLnBrk="0" fontAlgn="base" hangingPunct="0">
              <a:lnSpc>
                <a:spcPct val="90000"/>
              </a:lnSpc>
              <a:spcBef>
                <a:spcPts val="500"/>
              </a:spcBef>
              <a:spcAft>
                <a:spcPct val="0"/>
              </a:spcAft>
              <a:buFont typeface="Arial" charset="0"/>
              <a:buChar char="•"/>
              <a:defRPr sz="2000">
                <a:solidFill>
                  <a:schemeClr val="tx1"/>
                </a:solidFill>
                <a:latin typeface="Calibri" charset="0"/>
                <a:ea typeface="宋体" charset="-122"/>
                <a:sym typeface="Calibri" charset="0"/>
              </a:defRPr>
            </a:lvl6pPr>
            <a:lvl7pPr marL="2971800" indent="-228600" eaLnBrk="0" fontAlgn="base" hangingPunct="0">
              <a:lnSpc>
                <a:spcPct val="90000"/>
              </a:lnSpc>
              <a:spcBef>
                <a:spcPts val="500"/>
              </a:spcBef>
              <a:spcAft>
                <a:spcPct val="0"/>
              </a:spcAft>
              <a:buFont typeface="Arial" charset="0"/>
              <a:buChar char="•"/>
              <a:defRPr sz="2000">
                <a:solidFill>
                  <a:schemeClr val="tx1"/>
                </a:solidFill>
                <a:latin typeface="Calibri" charset="0"/>
                <a:ea typeface="宋体" charset="-122"/>
                <a:sym typeface="Calibri" charset="0"/>
              </a:defRPr>
            </a:lvl7pPr>
            <a:lvl8pPr marL="3429000" indent="-228600" eaLnBrk="0" fontAlgn="base" hangingPunct="0">
              <a:lnSpc>
                <a:spcPct val="90000"/>
              </a:lnSpc>
              <a:spcBef>
                <a:spcPts val="500"/>
              </a:spcBef>
              <a:spcAft>
                <a:spcPct val="0"/>
              </a:spcAft>
              <a:buFont typeface="Arial" charset="0"/>
              <a:buChar char="•"/>
              <a:defRPr sz="2000">
                <a:solidFill>
                  <a:schemeClr val="tx1"/>
                </a:solidFill>
                <a:latin typeface="Calibri" charset="0"/>
                <a:ea typeface="宋体" charset="-122"/>
                <a:sym typeface="Calibri" charset="0"/>
              </a:defRPr>
            </a:lvl8pPr>
            <a:lvl9pPr marL="3886200" indent="-228600" eaLnBrk="0" fontAlgn="base" hangingPunct="0">
              <a:lnSpc>
                <a:spcPct val="90000"/>
              </a:lnSpc>
              <a:spcBef>
                <a:spcPts val="500"/>
              </a:spcBef>
              <a:spcAft>
                <a:spcPct val="0"/>
              </a:spcAft>
              <a:buFont typeface="Arial" charset="0"/>
              <a:buChar char="•"/>
              <a:defRPr sz="2000">
                <a:solidFill>
                  <a:schemeClr val="tx1"/>
                </a:solidFill>
                <a:latin typeface="Calibri" charset="0"/>
                <a:ea typeface="宋体" charset="-122"/>
                <a:sym typeface="Calibri" charset="0"/>
              </a:defRPr>
            </a:lvl9pPr>
          </a:lstStyle>
          <a:p>
            <a:pPr algn="ctr" eaLnBrk="1" hangingPunct="1">
              <a:lnSpc>
                <a:spcPct val="150000"/>
              </a:lnSpc>
              <a:spcBef>
                <a:spcPct val="0"/>
              </a:spcBef>
              <a:buFont typeface="Arial" charset="0"/>
              <a:buNone/>
            </a:pPr>
            <a:r>
              <a:rPr lang="zh-CN" altLang="en-US" sz="3600" b="1" dirty="0" smtClean="0">
                <a:solidFill>
                  <a:srgbClr val="01559D"/>
                </a:solidFill>
                <a:latin typeface="微软雅黑" panose="020B0503020204020204" pitchFamily="34" charset="-122"/>
                <a:ea typeface="微软雅黑" panose="020B0503020204020204" pitchFamily="34" charset="-122"/>
                <a:cs typeface="Microsoft YaHei Light" charset="-122"/>
              </a:rPr>
              <a:t>张猛</a:t>
            </a:r>
            <a:endParaRPr lang="en-US" altLang="zh-CN" sz="3600" b="1" dirty="0" smtClean="0">
              <a:solidFill>
                <a:srgbClr val="01559D"/>
              </a:solidFill>
              <a:latin typeface="微软雅黑" panose="020B0503020204020204" pitchFamily="34" charset="-122"/>
              <a:ea typeface="微软雅黑" panose="020B0503020204020204" pitchFamily="34" charset="-122"/>
              <a:cs typeface="Microsoft YaHei Light" charset="-122"/>
            </a:endParaRPr>
          </a:p>
          <a:p>
            <a:pPr algn="ctr" eaLnBrk="1" hangingPunct="1">
              <a:lnSpc>
                <a:spcPct val="150000"/>
              </a:lnSpc>
              <a:spcBef>
                <a:spcPct val="0"/>
              </a:spcBef>
              <a:buFont typeface="Arial" charset="0"/>
              <a:buNone/>
            </a:pPr>
            <a:r>
              <a:rPr lang="zh-CN" altLang="en-US" dirty="0">
                <a:solidFill>
                  <a:srgbClr val="01559D"/>
                </a:solidFill>
                <a:latin typeface="微软雅黑" panose="020B0503020204020204" pitchFamily="34" charset="-122"/>
                <a:ea typeface="微软雅黑" panose="020B0503020204020204" pitchFamily="34" charset="-122"/>
                <a:cs typeface="Microsoft YaHei Light" charset="-122"/>
              </a:rPr>
              <a:t>华中科技大学计算机科学与技术学院</a:t>
            </a:r>
            <a:endParaRPr lang="en-US" altLang="zh-CN" dirty="0">
              <a:solidFill>
                <a:srgbClr val="01559D"/>
              </a:solidFill>
              <a:latin typeface="微软雅黑" panose="020B0503020204020204" pitchFamily="34" charset="-122"/>
              <a:ea typeface="微软雅黑" panose="020B0503020204020204" pitchFamily="34" charset="-122"/>
              <a:cs typeface="Microsoft YaHei Light" charset="-122"/>
            </a:endParaRPr>
          </a:p>
          <a:p>
            <a:pPr algn="ctr" eaLnBrk="1" hangingPunct="1">
              <a:lnSpc>
                <a:spcPct val="150000"/>
              </a:lnSpc>
              <a:spcBef>
                <a:spcPct val="0"/>
              </a:spcBef>
              <a:buFont typeface="Arial" charset="0"/>
              <a:buNone/>
            </a:pPr>
            <a:r>
              <a:rPr lang="zh-CN" altLang="en-US" dirty="0" smtClean="0">
                <a:solidFill>
                  <a:srgbClr val="01559D"/>
                </a:solidFill>
                <a:latin typeface="微软雅黑" panose="020B0503020204020204" pitchFamily="34" charset="-122"/>
                <a:ea typeface="微软雅黑" panose="020B0503020204020204" pitchFamily="34" charset="-122"/>
                <a:cs typeface="Microsoft YaHei Light" charset="-122"/>
              </a:rPr>
              <a:t>新型非易失存储系统实验室（</a:t>
            </a:r>
            <a:r>
              <a:rPr lang="en-US" altLang="zh-CN" dirty="0" smtClean="0">
                <a:solidFill>
                  <a:srgbClr val="01559D"/>
                </a:solidFill>
                <a:latin typeface="微软雅黑" panose="020B0503020204020204" pitchFamily="34" charset="-122"/>
                <a:ea typeface="微软雅黑" panose="020B0503020204020204" pitchFamily="34" charset="-122"/>
                <a:cs typeface="Microsoft YaHei Light" charset="-122"/>
              </a:rPr>
              <a:t>NNSS</a:t>
            </a:r>
            <a:r>
              <a:rPr lang="zh-CN" altLang="en-US" dirty="0" smtClean="0">
                <a:solidFill>
                  <a:srgbClr val="01559D"/>
                </a:solidFill>
                <a:latin typeface="微软雅黑" panose="020B0503020204020204" pitchFamily="34" charset="-122"/>
                <a:ea typeface="微软雅黑" panose="020B0503020204020204" pitchFamily="34" charset="-122"/>
                <a:cs typeface="Microsoft YaHei Light" charset="-122"/>
              </a:rPr>
              <a:t>）</a:t>
            </a:r>
            <a:endParaRPr lang="en-US" altLang="zh-CN" dirty="0" smtClean="0">
              <a:solidFill>
                <a:srgbClr val="01559D"/>
              </a:solidFill>
              <a:latin typeface="微软雅黑" panose="020B0503020204020204" pitchFamily="34" charset="-122"/>
              <a:ea typeface="微软雅黑" panose="020B0503020204020204" pitchFamily="34" charset="-122"/>
              <a:cs typeface="Microsoft YaHei Light" charset="-122"/>
            </a:endParaRPr>
          </a:p>
          <a:p>
            <a:pPr algn="ctr" eaLnBrk="1" hangingPunct="1">
              <a:lnSpc>
                <a:spcPct val="150000"/>
              </a:lnSpc>
              <a:spcBef>
                <a:spcPct val="0"/>
              </a:spcBef>
              <a:buFont typeface="Arial" charset="0"/>
              <a:buNone/>
            </a:pPr>
            <a:r>
              <a:rPr lang="en-US" altLang="zh-CN" dirty="0" smtClean="0">
                <a:solidFill>
                  <a:srgbClr val="01559D"/>
                </a:solidFill>
                <a:latin typeface="微软雅黑" panose="020B0503020204020204" pitchFamily="34" charset="-122"/>
                <a:ea typeface="微软雅黑" panose="020B0503020204020204" pitchFamily="34" charset="-122"/>
                <a:cs typeface="Microsoft YaHei Light" charset="-122"/>
                <a:hlinkClick r:id="rId3"/>
              </a:rPr>
              <a:t>zgmeng</a:t>
            </a:r>
            <a:r>
              <a:rPr lang="en-US" altLang="zh-Hans" dirty="0" smtClean="0">
                <a:solidFill>
                  <a:srgbClr val="01559D"/>
                </a:solidFill>
                <a:latin typeface="微软雅黑" panose="020B0503020204020204" pitchFamily="34" charset="-122"/>
                <a:ea typeface="微软雅黑" panose="020B0503020204020204" pitchFamily="34" charset="-122"/>
                <a:cs typeface="Microsoft YaHei Light" charset="-122"/>
                <a:hlinkClick r:id="rId3"/>
              </a:rPr>
              <a:t>@hust.edu.cn</a:t>
            </a:r>
            <a:endParaRPr lang="en-US" altLang="zh-Hans" dirty="0" smtClean="0">
              <a:solidFill>
                <a:srgbClr val="01559D"/>
              </a:solidFill>
              <a:latin typeface="微软雅黑" panose="020B0503020204020204" pitchFamily="34" charset="-122"/>
              <a:ea typeface="微软雅黑" panose="020B0503020204020204" pitchFamily="34" charset="-122"/>
              <a:cs typeface="Microsoft YaHei Light" charset="-122"/>
            </a:endParaRPr>
          </a:p>
          <a:p>
            <a:pPr algn="ctr" eaLnBrk="1" hangingPunct="1">
              <a:lnSpc>
                <a:spcPct val="150000"/>
              </a:lnSpc>
              <a:spcBef>
                <a:spcPct val="0"/>
              </a:spcBef>
              <a:buFont typeface="Arial" charset="0"/>
              <a:buNone/>
            </a:pPr>
            <a:r>
              <a:rPr lang="en-US" altLang="zh-CN" dirty="0" smtClean="0">
                <a:solidFill>
                  <a:srgbClr val="01559D"/>
                </a:solidFill>
                <a:latin typeface="微软雅黑" panose="020B0503020204020204" pitchFamily="34" charset="-122"/>
                <a:ea typeface="微软雅黑" panose="020B0503020204020204" pitchFamily="34" charset="-122"/>
                <a:cs typeface="Microsoft YaHei Light" charset="-122"/>
              </a:rPr>
              <a:t>2024</a:t>
            </a:r>
            <a:r>
              <a:rPr lang="zh-CN" altLang="en-US" dirty="0" smtClean="0">
                <a:solidFill>
                  <a:srgbClr val="01559D"/>
                </a:solidFill>
                <a:latin typeface="微软雅黑" panose="020B0503020204020204" pitchFamily="34" charset="-122"/>
                <a:ea typeface="微软雅黑" panose="020B0503020204020204" pitchFamily="34" charset="-122"/>
                <a:cs typeface="Microsoft YaHei Light" charset="-122"/>
              </a:rPr>
              <a:t>年</a:t>
            </a:r>
            <a:r>
              <a:rPr lang="en-US" altLang="zh-CN" dirty="0">
                <a:solidFill>
                  <a:srgbClr val="01559D"/>
                </a:solidFill>
                <a:latin typeface="微软雅黑" panose="020B0503020204020204" pitchFamily="34" charset="-122"/>
                <a:ea typeface="微软雅黑" panose="020B0503020204020204" pitchFamily="34" charset="-122"/>
                <a:cs typeface="Microsoft YaHei Light" charset="-122"/>
              </a:rPr>
              <a:t>3</a:t>
            </a:r>
            <a:r>
              <a:rPr lang="zh-CN" altLang="en-US" dirty="0" smtClean="0">
                <a:solidFill>
                  <a:srgbClr val="01559D"/>
                </a:solidFill>
                <a:latin typeface="微软雅黑" panose="020B0503020204020204" pitchFamily="34" charset="-122"/>
                <a:ea typeface="微软雅黑" panose="020B0503020204020204" pitchFamily="34" charset="-122"/>
                <a:cs typeface="Microsoft YaHei Light" charset="-122"/>
              </a:rPr>
              <a:t>月</a:t>
            </a:r>
            <a:r>
              <a:rPr lang="en-US" altLang="zh-CN" dirty="0" smtClean="0">
                <a:solidFill>
                  <a:srgbClr val="01559D"/>
                </a:solidFill>
                <a:latin typeface="微软雅黑" panose="020B0503020204020204" pitchFamily="34" charset="-122"/>
                <a:ea typeface="微软雅黑" panose="020B0503020204020204" pitchFamily="34" charset="-122"/>
                <a:cs typeface="Microsoft YaHei Light" charset="-122"/>
              </a:rPr>
              <a:t>4</a:t>
            </a:r>
            <a:r>
              <a:rPr lang="zh-CN" altLang="en-US" dirty="0" smtClean="0">
                <a:solidFill>
                  <a:srgbClr val="01559D"/>
                </a:solidFill>
                <a:latin typeface="微软雅黑" panose="020B0503020204020204" pitchFamily="34" charset="-122"/>
                <a:ea typeface="微软雅黑" panose="020B0503020204020204" pitchFamily="34" charset="-122"/>
                <a:cs typeface="Microsoft YaHei Light" charset="-122"/>
              </a:rPr>
              <a:t>日</a:t>
            </a:r>
            <a:endParaRPr lang="en-US" altLang="zh-CN" dirty="0">
              <a:solidFill>
                <a:srgbClr val="01559D"/>
              </a:solidFill>
              <a:latin typeface="微软雅黑" panose="020B0503020204020204" pitchFamily="34" charset="-122"/>
              <a:ea typeface="微软雅黑" panose="020B0503020204020204" pitchFamily="34" charset="-122"/>
              <a:cs typeface="Microsoft YaHei Light" charset="-122"/>
            </a:endParaRPr>
          </a:p>
        </p:txBody>
      </p:sp>
    </p:spTree>
    <p:extLst>
      <p:ext uri="{BB962C8B-B14F-4D97-AF65-F5344CB8AC3E}">
        <p14:creationId xmlns:p14="http://schemas.microsoft.com/office/powerpoint/2010/main" val="36124055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第</a:t>
            </a:r>
            <a:r>
              <a:rPr lang="en-US" altLang="zh-CN" dirty="0"/>
              <a:t>2.1</a:t>
            </a:r>
            <a:r>
              <a:rPr lang="zh-CN" altLang="en-US" dirty="0" smtClean="0"/>
              <a:t>节 关系</a:t>
            </a:r>
            <a:r>
              <a:rPr lang="zh-CN" altLang="en-US" dirty="0"/>
              <a:t>及其</a:t>
            </a:r>
            <a:r>
              <a:rPr lang="zh-CN" altLang="en-US" dirty="0" smtClean="0"/>
              <a:t>性质</a:t>
            </a:r>
            <a:endParaRPr lang="en-US" dirty="0"/>
          </a:p>
        </p:txBody>
      </p:sp>
      <p:sp>
        <p:nvSpPr>
          <p:cNvPr id="3" name="Content Placeholder 2"/>
          <p:cNvSpPr>
            <a:spLocks noGrp="1"/>
          </p:cNvSpPr>
          <p:nvPr>
            <p:ph idx="1"/>
          </p:nvPr>
        </p:nvSpPr>
        <p:spPr/>
        <p:txBody>
          <a:bodyPr/>
          <a:lstStyle/>
          <a:p>
            <a:r>
              <a:rPr lang="zh-CN" altLang="en-US" dirty="0" smtClean="0"/>
              <a:t>关系</a:t>
            </a:r>
            <a:endParaRPr lang="en-US" dirty="0" smtClean="0"/>
          </a:p>
          <a:p>
            <a:r>
              <a:rPr lang="zh-CN" altLang="en-US" dirty="0" smtClean="0"/>
              <a:t>关系的性质</a:t>
            </a:r>
            <a:endParaRPr lang="en-US" dirty="0" smtClean="0"/>
          </a:p>
          <a:p>
            <a:pPr lvl="1"/>
            <a:r>
              <a:rPr lang="zh-CN" altLang="en-US" dirty="0" smtClean="0"/>
              <a:t>自反</a:t>
            </a:r>
            <a:endParaRPr lang="en-US" dirty="0" smtClean="0"/>
          </a:p>
          <a:p>
            <a:pPr lvl="1"/>
            <a:r>
              <a:rPr lang="zh-CN" altLang="en-US" dirty="0" smtClean="0"/>
              <a:t>对称和反对称</a:t>
            </a:r>
            <a:endParaRPr lang="en-US" altLang="zh-CN" dirty="0" smtClean="0"/>
          </a:p>
          <a:p>
            <a:pPr lvl="1"/>
            <a:r>
              <a:rPr lang="zh-CN" altLang="en-US" dirty="0" smtClean="0"/>
              <a:t>传递</a:t>
            </a:r>
            <a:endParaRPr lang="en-US" dirty="0" smtClean="0"/>
          </a:p>
          <a:p>
            <a:r>
              <a:rPr lang="zh-CN" altLang="en-US" dirty="0" smtClean="0"/>
              <a:t>关系的组合</a:t>
            </a:r>
            <a:endParaRPr lang="en-US" dirty="0" smtClean="0"/>
          </a:p>
        </p:txBody>
      </p:sp>
      <p:sp>
        <p:nvSpPr>
          <p:cNvPr id="6" name="日期占位符 5"/>
          <p:cNvSpPr>
            <a:spLocks noGrp="1"/>
          </p:cNvSpPr>
          <p:nvPr>
            <p:ph type="dt" sz="half" idx="10"/>
          </p:nvPr>
        </p:nvSpPr>
        <p:spPr/>
        <p:txBody>
          <a:bodyPr/>
          <a:lstStyle/>
          <a:p>
            <a:fld id="{E01B9435-17C9-40CA-AB63-C7A6EF0F1785}" type="datetime1">
              <a:rPr lang="zh-CN" altLang="en-US" smtClean="0"/>
              <a:t>2025/3/14</a:t>
            </a:fld>
            <a:endParaRPr lang="zh-CN" altLang="en-US" dirty="0"/>
          </a:p>
        </p:txBody>
      </p:sp>
      <p:sp>
        <p:nvSpPr>
          <p:cNvPr id="7" name="页脚占位符 6"/>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8" name="灯片编号占位符 7"/>
          <p:cNvSpPr>
            <a:spLocks noGrp="1"/>
          </p:cNvSpPr>
          <p:nvPr>
            <p:ph type="sldNum" sz="quarter" idx="12"/>
          </p:nvPr>
        </p:nvSpPr>
        <p:spPr/>
        <p:txBody>
          <a:bodyPr/>
          <a:lstStyle/>
          <a:p>
            <a:fld id="{67913A8A-9EFB-4B5F-9CCB-3D21173FAA85}" type="slidenum">
              <a:rPr lang="zh-CN" altLang="en-US" smtClean="0"/>
              <a:pPr/>
              <a:t>2</a:t>
            </a:fld>
            <a:endParaRPr lang="zh-CN" alt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p:cNvSpPr/>
          <p:nvPr/>
        </p:nvSpPr>
        <p:spPr>
          <a:xfrm>
            <a:off x="457200" y="1143000"/>
            <a:ext cx="11277599" cy="838200"/>
          </a:xfrm>
          <a:prstGeom prst="rect">
            <a:avLst/>
          </a:prstGeom>
          <a:solidFill>
            <a:schemeClr val="accent5">
              <a:lumMod val="40000"/>
              <a:lumOff val="6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itle 1"/>
          <p:cNvSpPr>
            <a:spLocks noGrp="1"/>
          </p:cNvSpPr>
          <p:nvPr>
            <p:ph type="title"/>
          </p:nvPr>
        </p:nvSpPr>
        <p:spPr/>
        <p:txBody>
          <a:bodyPr/>
          <a:lstStyle/>
          <a:p>
            <a:r>
              <a:rPr lang="zh-CN" altLang="en-US" dirty="0" smtClean="0"/>
              <a:t>二元关系</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zh-CN" altLang="en-US" dirty="0" smtClean="0"/>
                  <a:t>定义</a:t>
                </a:r>
                <a:r>
                  <a:rPr lang="en-US" altLang="zh-CN" dirty="0" smtClean="0"/>
                  <a:t>: </a:t>
                </a:r>
                <a:r>
                  <a:rPr lang="zh-CN" altLang="en-US" dirty="0" smtClean="0"/>
                  <a:t>设</a:t>
                </a:r>
                <a:r>
                  <a:rPr lang="en-US" altLang="zh-CN" dirty="0" smtClean="0"/>
                  <a:t>A</a:t>
                </a:r>
                <a:r>
                  <a:rPr lang="zh-CN" altLang="en-US" dirty="0" smtClean="0"/>
                  <a:t>和</a:t>
                </a:r>
                <a:r>
                  <a:rPr lang="en-US" altLang="zh-CN" dirty="0" smtClean="0"/>
                  <a:t>B</a:t>
                </a:r>
                <a:r>
                  <a:rPr lang="zh-CN" altLang="en-US" dirty="0" smtClean="0"/>
                  <a:t>是集合</a:t>
                </a:r>
                <a:r>
                  <a:rPr lang="en-US" altLang="zh-CN" dirty="0" smtClean="0"/>
                  <a:t>, </a:t>
                </a:r>
                <a:r>
                  <a:rPr lang="zh-CN" altLang="en-US" dirty="0" smtClean="0"/>
                  <a:t>一个从</a:t>
                </a:r>
                <a:r>
                  <a:rPr lang="en-US" altLang="zh-CN" dirty="0" smtClean="0"/>
                  <a:t>A</a:t>
                </a:r>
                <a:r>
                  <a:rPr lang="zh-CN" altLang="en-US" dirty="0" smtClean="0"/>
                  <a:t>到</a:t>
                </a:r>
                <a:r>
                  <a:rPr lang="en-US" altLang="zh-CN" dirty="0" smtClean="0"/>
                  <a:t>B</a:t>
                </a:r>
                <a:r>
                  <a:rPr lang="zh-CN" altLang="en-US" dirty="0" smtClean="0"/>
                  <a:t>的</a:t>
                </a:r>
                <a:r>
                  <a:rPr lang="zh-CN" altLang="en-US" b="1" dirty="0" smtClean="0">
                    <a:solidFill>
                      <a:srgbClr val="C00000"/>
                    </a:solidFill>
                  </a:rPr>
                  <a:t>二元关系</a:t>
                </a:r>
                <a:r>
                  <a:rPr lang="en-US" altLang="zh-CN" dirty="0" smtClean="0"/>
                  <a:t>R</a:t>
                </a:r>
                <a:r>
                  <a:rPr lang="zh-CN" altLang="en-US" dirty="0" smtClean="0"/>
                  <a:t>是</a:t>
                </a:r>
                <a:r>
                  <a:rPr lang="en-US" altLang="zh-CN" dirty="0"/>
                  <a:t>A × B </a:t>
                </a:r>
                <a:r>
                  <a:rPr lang="zh-CN" altLang="en-US" dirty="0" smtClean="0"/>
                  <a:t>的子集</a:t>
                </a:r>
                <a:r>
                  <a:rPr lang="en-US" altLang="zh-CN" dirty="0" smtClean="0"/>
                  <a:t>, </a:t>
                </a:r>
                <a:r>
                  <a:rPr lang="en-US" dirty="0" smtClean="0"/>
                  <a:t>R ⊆ A × B.</a:t>
                </a:r>
              </a:p>
              <a:p>
                <a:pPr lvl="1"/>
                <a:r>
                  <a:rPr lang="zh-CN" altLang="en-US" dirty="0" smtClean="0"/>
                  <a:t>一</a:t>
                </a:r>
                <a:r>
                  <a:rPr lang="zh-CN" altLang="en-US" dirty="0"/>
                  <a:t>个从</a:t>
                </a:r>
                <a:r>
                  <a:rPr lang="en-US" altLang="zh-CN" dirty="0"/>
                  <a:t>A</a:t>
                </a:r>
                <a:r>
                  <a:rPr lang="zh-CN" altLang="en-US" dirty="0"/>
                  <a:t>到</a:t>
                </a:r>
                <a:r>
                  <a:rPr lang="en-US" altLang="zh-CN" dirty="0"/>
                  <a:t>B</a:t>
                </a:r>
                <a:r>
                  <a:rPr lang="zh-CN" altLang="en-US" dirty="0"/>
                  <a:t>的二元</a:t>
                </a:r>
                <a:r>
                  <a:rPr lang="zh-CN" altLang="en-US" dirty="0" smtClean="0"/>
                  <a:t>关系是集合</a:t>
                </a:r>
                <a:r>
                  <a:rPr lang="en-US" altLang="zh-CN" dirty="0" smtClean="0"/>
                  <a:t>R, </a:t>
                </a:r>
                <a:r>
                  <a:rPr lang="zh-CN" altLang="en-US" dirty="0" smtClean="0"/>
                  <a:t>其中每个有序对的第一个元素取自</a:t>
                </a:r>
                <a:r>
                  <a:rPr lang="en-US" altLang="zh-CN" dirty="0" smtClean="0"/>
                  <a:t>A</a:t>
                </a:r>
                <a:r>
                  <a:rPr lang="zh-CN" altLang="en-US" dirty="0" smtClean="0"/>
                  <a:t>，第二个元素取自</a:t>
                </a:r>
                <a:r>
                  <a:rPr lang="en-US" altLang="zh-CN" dirty="0" smtClean="0"/>
                  <a:t>B.</a:t>
                </a:r>
              </a:p>
              <a:p>
                <a:pPr lvl="1"/>
                <a:r>
                  <a:rPr lang="zh-CN" altLang="en-US" dirty="0" smtClean="0"/>
                  <a:t>使用记号</a:t>
                </a:r>
                <a:r>
                  <a:rPr lang="en-US" altLang="zh-CN" dirty="0" err="1" smtClean="0"/>
                  <a:t>aRb</a:t>
                </a:r>
                <a:r>
                  <a:rPr lang="en-US" altLang="zh-CN" dirty="0" smtClean="0"/>
                  <a:t>, </a:t>
                </a:r>
                <a:r>
                  <a:rPr lang="zh-CN" altLang="en-US" dirty="0" smtClean="0"/>
                  <a:t>表示</a:t>
                </a:r>
                <a:r>
                  <a:rPr lang="en-US" altLang="zh-CN" dirty="0" smtClean="0"/>
                  <a:t>(</a:t>
                </a:r>
                <a:r>
                  <a:rPr lang="en-US" altLang="zh-CN" dirty="0" err="1" smtClean="0"/>
                  <a:t>a,b</a:t>
                </a:r>
                <a:r>
                  <a:rPr lang="en-US" altLang="zh-CN" dirty="0" smtClean="0"/>
                  <a:t>)</a:t>
                </a:r>
                <a14:m>
                  <m:oMath xmlns:m="http://schemas.openxmlformats.org/officeDocument/2006/math">
                    <m:r>
                      <a:rPr lang="en-US" altLang="zh-CN" i="1" smtClean="0">
                        <a:latin typeface="Cambria Math" panose="02040503050406030204" pitchFamily="18" charset="0"/>
                        <a:ea typeface="Cambria Math" panose="02040503050406030204" pitchFamily="18" charset="0"/>
                      </a:rPr>
                      <m:t>∈</m:t>
                    </m:r>
                  </m:oMath>
                </a14:m>
                <a:r>
                  <a:rPr lang="en-US" altLang="zh-CN" dirty="0" smtClean="0"/>
                  <a:t>R; </a:t>
                </a:r>
              </a:p>
              <a:p>
                <a:pPr lvl="1"/>
                <a:r>
                  <a:rPr lang="zh-CN" altLang="en-US" dirty="0"/>
                  <a:t>使用记号</a:t>
                </a:r>
                <a:r>
                  <a:rPr lang="en-US" altLang="zh-CN" dirty="0" err="1"/>
                  <a:t>a</a:t>
                </a:r>
                <a14:m>
                  <m:oMath xmlns:m="http://schemas.openxmlformats.org/officeDocument/2006/math">
                    <m:r>
                      <a:rPr lang="en-US" altLang="zh-CN" i="1" dirty="0" smtClean="0">
                        <a:latin typeface="Cambria Math" panose="02040503050406030204" pitchFamily="18" charset="0"/>
                      </a:rPr>
                      <m:t>𝑅</m:t>
                    </m:r>
                  </m:oMath>
                </a14:m>
                <a:r>
                  <a:rPr lang="en-US" altLang="zh-CN" dirty="0" err="1"/>
                  <a:t>b</a:t>
                </a:r>
                <a:r>
                  <a:rPr lang="en-US" altLang="zh-CN" dirty="0"/>
                  <a:t>, </a:t>
                </a:r>
                <a:r>
                  <a:rPr lang="zh-CN" altLang="en-US" dirty="0"/>
                  <a:t>表示</a:t>
                </a:r>
                <a:r>
                  <a:rPr lang="en-US" altLang="zh-CN" dirty="0"/>
                  <a:t>(</a:t>
                </a:r>
                <a:r>
                  <a:rPr lang="en-US" altLang="zh-CN" dirty="0" err="1"/>
                  <a:t>a,b</a:t>
                </a:r>
                <a:r>
                  <a:rPr lang="en-US" altLang="zh-CN" dirty="0"/>
                  <a:t>)</a:t>
                </a:r>
                <a14:m>
                  <m:oMath xmlns:m="http://schemas.openxmlformats.org/officeDocument/2006/math">
                    <m:r>
                      <a:rPr lang="en-US" altLang="zh-CN" i="1" smtClean="0">
                        <a:latin typeface="Cambria Math" panose="02040503050406030204" pitchFamily="18" charset="0"/>
                        <a:ea typeface="Cambria Math" panose="02040503050406030204" pitchFamily="18" charset="0"/>
                      </a:rPr>
                      <m:t>∉</m:t>
                    </m:r>
                  </m:oMath>
                </a14:m>
                <a:r>
                  <a:rPr lang="en-US" altLang="zh-CN" dirty="0"/>
                  <a:t>R; </a:t>
                </a:r>
              </a:p>
              <a:p>
                <a:pPr lvl="1"/>
                <a:r>
                  <a:rPr lang="zh-CN" altLang="en-US" dirty="0" smtClean="0"/>
                  <a:t>当</a:t>
                </a:r>
                <a:r>
                  <a:rPr lang="en-US" altLang="zh-CN" dirty="0" smtClean="0"/>
                  <a:t>(</a:t>
                </a:r>
                <a:r>
                  <a:rPr lang="en-US" altLang="zh-CN" dirty="0" err="1" smtClean="0"/>
                  <a:t>a,b</a:t>
                </a:r>
                <a:r>
                  <a:rPr lang="en-US" altLang="zh-CN" dirty="0" smtClean="0"/>
                  <a:t>)</a:t>
                </a:r>
                <a:r>
                  <a:rPr lang="zh-CN" altLang="en-US" dirty="0" smtClean="0"/>
                  <a:t>属于</a:t>
                </a:r>
                <a:r>
                  <a:rPr lang="en-US" altLang="zh-CN" dirty="0" smtClean="0"/>
                  <a:t>R</a:t>
                </a:r>
                <a:r>
                  <a:rPr lang="zh-CN" altLang="en-US" dirty="0" smtClean="0"/>
                  <a:t>时，称</a:t>
                </a:r>
                <a:r>
                  <a:rPr lang="en-US" altLang="zh-CN" dirty="0" smtClean="0"/>
                  <a:t>a</a:t>
                </a:r>
                <a:r>
                  <a:rPr lang="zh-CN" altLang="en-US" dirty="0" smtClean="0"/>
                  <a:t>与</a:t>
                </a:r>
                <a:r>
                  <a:rPr lang="en-US" altLang="zh-CN" dirty="0" smtClean="0"/>
                  <a:t>b</a:t>
                </a:r>
                <a:r>
                  <a:rPr lang="zh-CN" altLang="en-US" dirty="0" smtClean="0"/>
                  <a:t>有关系</a:t>
                </a:r>
                <a:r>
                  <a:rPr lang="en-US" altLang="zh-CN" dirty="0" smtClean="0"/>
                  <a:t>R.</a:t>
                </a:r>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999" t="-1310" r="-499"/>
                </a:stretch>
              </a:blipFill>
            </p:spPr>
            <p:txBody>
              <a:bodyPr/>
              <a:lstStyle/>
              <a:p>
                <a:r>
                  <a:rPr lang="zh-CN" altLang="en-US">
                    <a:noFill/>
                  </a:rPr>
                  <a:t> </a:t>
                </a:r>
              </a:p>
            </p:txBody>
          </p:sp>
        </mc:Fallback>
      </mc:AlternateContent>
      <p:sp>
        <p:nvSpPr>
          <p:cNvPr id="8" name="日期占位符 7"/>
          <p:cNvSpPr>
            <a:spLocks noGrp="1"/>
          </p:cNvSpPr>
          <p:nvPr>
            <p:ph type="dt" sz="half" idx="10"/>
          </p:nvPr>
        </p:nvSpPr>
        <p:spPr/>
        <p:txBody>
          <a:bodyPr/>
          <a:lstStyle/>
          <a:p>
            <a:fld id="{4D34D57D-CDE0-4864-B015-AB3CD47EAE04}" type="datetime1">
              <a:rPr lang="zh-CN" altLang="en-US" smtClean="0"/>
              <a:t>2025/3/14</a:t>
            </a:fld>
            <a:endParaRPr lang="zh-CN" altLang="en-US" dirty="0"/>
          </a:p>
        </p:txBody>
      </p:sp>
      <p:sp>
        <p:nvSpPr>
          <p:cNvPr id="9" name="页脚占位符 8"/>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10" name="灯片编号占位符 9"/>
          <p:cNvSpPr>
            <a:spLocks noGrp="1"/>
          </p:cNvSpPr>
          <p:nvPr>
            <p:ph type="sldNum" sz="quarter" idx="12"/>
          </p:nvPr>
        </p:nvSpPr>
        <p:spPr/>
        <p:txBody>
          <a:bodyPr/>
          <a:lstStyle/>
          <a:p>
            <a:fld id="{67913A8A-9EFB-4B5F-9CCB-3D21173FAA85}" type="slidenum">
              <a:rPr lang="zh-CN" altLang="en-US" smtClean="0"/>
              <a:pPr/>
              <a:t>3</a:t>
            </a:fld>
            <a:endParaRPr lang="zh-CN" altLang="en-US" dirty="0"/>
          </a:p>
        </p:txBody>
      </p:sp>
      <p:cxnSp>
        <p:nvCxnSpPr>
          <p:cNvPr id="7" name="直接连接符 6"/>
          <p:cNvCxnSpPr/>
          <p:nvPr/>
        </p:nvCxnSpPr>
        <p:spPr>
          <a:xfrm flipH="1">
            <a:off x="2743200" y="3200400"/>
            <a:ext cx="152400" cy="228600"/>
          </a:xfrm>
          <a:prstGeom prst="line">
            <a:avLst/>
          </a:prstGeom>
          <a:ln w="25400"/>
        </p:spPr>
        <p:style>
          <a:lnRef idx="1">
            <a:schemeClr val="dk1"/>
          </a:lnRef>
          <a:fillRef idx="0">
            <a:schemeClr val="dk1"/>
          </a:fillRef>
          <a:effectRef idx="0">
            <a:schemeClr val="dk1"/>
          </a:effectRef>
          <a:fontRef idx="minor">
            <a:schemeClr val="tx1"/>
          </a:fontRef>
        </p:style>
      </p:cxn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smtClean="0"/>
              <a:t>二元关系</a:t>
            </a:r>
            <a:endParaRPr lang="en-US" dirty="0"/>
          </a:p>
        </p:txBody>
      </p:sp>
      <p:sp>
        <p:nvSpPr>
          <p:cNvPr id="3" name="Content Placeholder 2"/>
          <p:cNvSpPr>
            <a:spLocks noGrp="1"/>
          </p:cNvSpPr>
          <p:nvPr>
            <p:ph idx="1"/>
          </p:nvPr>
        </p:nvSpPr>
        <p:spPr/>
        <p:txBody>
          <a:bodyPr/>
          <a:lstStyle/>
          <a:p>
            <a:r>
              <a:rPr lang="zh-CN" altLang="en-US" dirty="0" smtClean="0"/>
              <a:t>例</a:t>
            </a:r>
            <a:r>
              <a:rPr lang="en-US" altLang="zh-CN" dirty="0" smtClean="0"/>
              <a:t>:</a:t>
            </a:r>
            <a:endParaRPr lang="en-US" dirty="0" smtClean="0"/>
          </a:p>
          <a:p>
            <a:pPr lvl="1"/>
            <a:r>
              <a:rPr lang="zh-CN" altLang="en-US" dirty="0" smtClean="0"/>
              <a:t>令</a:t>
            </a:r>
            <a:r>
              <a:rPr lang="en-US" dirty="0" smtClean="0"/>
              <a:t> A = {0,1,2}</a:t>
            </a:r>
            <a:r>
              <a:rPr lang="en-US" altLang="zh-CN" dirty="0" smtClean="0"/>
              <a:t>, </a:t>
            </a:r>
            <a:r>
              <a:rPr lang="en-US" dirty="0" smtClean="0"/>
              <a:t>B = {</a:t>
            </a:r>
            <a:r>
              <a:rPr lang="en-US" dirty="0" err="1" smtClean="0"/>
              <a:t>a,b</a:t>
            </a:r>
            <a:r>
              <a:rPr lang="en-US" dirty="0" smtClean="0"/>
              <a:t>} </a:t>
            </a:r>
          </a:p>
          <a:p>
            <a:pPr lvl="1"/>
            <a:r>
              <a:rPr lang="en-US" dirty="0" smtClean="0"/>
              <a:t>{(0, a), (0, b), (1,a) , (2, b)} </a:t>
            </a:r>
            <a:r>
              <a:rPr lang="zh-CN" altLang="en-US" dirty="0" smtClean="0"/>
              <a:t>是一个从</a:t>
            </a:r>
            <a:r>
              <a:rPr lang="en-US" altLang="zh-CN" dirty="0" smtClean="0"/>
              <a:t>A</a:t>
            </a:r>
            <a:r>
              <a:rPr lang="zh-CN" altLang="en-US" dirty="0" smtClean="0"/>
              <a:t>到</a:t>
            </a:r>
            <a:r>
              <a:rPr lang="en-US" altLang="zh-CN" dirty="0" smtClean="0"/>
              <a:t>B</a:t>
            </a:r>
            <a:r>
              <a:rPr lang="zh-CN" altLang="en-US" dirty="0" smtClean="0"/>
              <a:t>的关系</a:t>
            </a:r>
            <a:r>
              <a:rPr lang="en-US" altLang="zh-CN" dirty="0" smtClean="0"/>
              <a:t>.</a:t>
            </a:r>
          </a:p>
          <a:p>
            <a:pPr lvl="1"/>
            <a:r>
              <a:rPr lang="zh-CN" altLang="en-US" dirty="0" smtClean="0"/>
              <a:t>关系可以用图、表来表示</a:t>
            </a:r>
            <a:r>
              <a:rPr lang="en-US" dirty="0" smtClean="0"/>
              <a:t>:</a:t>
            </a:r>
          </a:p>
          <a:p>
            <a:endParaRPr lang="en-US" dirty="0"/>
          </a:p>
        </p:txBody>
      </p:sp>
      <p:pic>
        <p:nvPicPr>
          <p:cNvPr id="4" name="Picture 3" descr="0801.jpg"/>
          <p:cNvPicPr>
            <a:picLocks noChangeAspect="1"/>
          </p:cNvPicPr>
          <p:nvPr/>
        </p:nvPicPr>
        <p:blipFill>
          <a:blip r:embed="rId2" cstate="print"/>
          <a:stretch>
            <a:fillRect/>
          </a:stretch>
        </p:blipFill>
        <p:spPr>
          <a:xfrm>
            <a:off x="1295400" y="3048000"/>
            <a:ext cx="4114800" cy="2300988"/>
          </a:xfrm>
          <a:prstGeom prst="rect">
            <a:avLst/>
          </a:prstGeom>
        </p:spPr>
      </p:pic>
      <p:sp>
        <p:nvSpPr>
          <p:cNvPr id="5" name="TextBox 4"/>
          <p:cNvSpPr txBox="1"/>
          <p:nvPr/>
        </p:nvSpPr>
        <p:spPr>
          <a:xfrm>
            <a:off x="5975621" y="4953000"/>
            <a:ext cx="5067300" cy="646331"/>
          </a:xfrm>
          <a:prstGeom prst="rect">
            <a:avLst/>
          </a:prstGeom>
          <a:noFill/>
          <a:ln>
            <a:noFill/>
          </a:ln>
        </p:spPr>
        <p:txBody>
          <a:bodyPr wrap="square" rtlCol="0">
            <a:spAutoFit/>
          </a:bodyPr>
          <a:lstStyle/>
          <a:p>
            <a:r>
              <a:rPr lang="zh-CN" altLang="en-US" dirty="0" smtClean="0">
                <a:latin typeface="微软雅黑" panose="020B0503020204020204" pitchFamily="34" charset="-122"/>
                <a:ea typeface="微软雅黑" panose="020B0503020204020204" pitchFamily="34" charset="-122"/>
              </a:rPr>
              <a:t>关系通常比函数更通用</a:t>
            </a:r>
            <a:r>
              <a:rPr lang="en-US" altLang="zh-CN" dirty="0" smtClean="0">
                <a:latin typeface="微软雅黑" panose="020B0503020204020204" pitchFamily="34" charset="-122"/>
                <a:ea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rPr>
              <a:t>函数是一个</a:t>
            </a:r>
            <a:r>
              <a:rPr lang="en-US" altLang="zh-CN" dirty="0" smtClean="0">
                <a:latin typeface="微软雅黑" panose="020B0503020204020204" pitchFamily="34" charset="-122"/>
                <a:ea typeface="微软雅黑" panose="020B0503020204020204" pitchFamily="34" charset="-122"/>
              </a:rPr>
              <a:t>B</a:t>
            </a:r>
            <a:r>
              <a:rPr lang="zh-CN" altLang="en-US" dirty="0" smtClean="0">
                <a:latin typeface="微软雅黑" panose="020B0503020204020204" pitchFamily="34" charset="-122"/>
                <a:ea typeface="微软雅黑" panose="020B0503020204020204" pitchFamily="34" charset="-122"/>
              </a:rPr>
              <a:t>中某个元素对应</a:t>
            </a:r>
            <a:r>
              <a:rPr lang="en-US" altLang="zh-CN" dirty="0" smtClean="0">
                <a:latin typeface="微软雅黑" panose="020B0503020204020204" pitchFamily="34" charset="-122"/>
                <a:ea typeface="微软雅黑" panose="020B0503020204020204" pitchFamily="34" charset="-122"/>
              </a:rPr>
              <a:t>A</a:t>
            </a:r>
            <a:r>
              <a:rPr lang="zh-CN" altLang="en-US" dirty="0" smtClean="0">
                <a:latin typeface="微软雅黑" panose="020B0503020204020204" pitchFamily="34" charset="-122"/>
                <a:ea typeface="微软雅黑" panose="020B0503020204020204" pitchFamily="34" charset="-122"/>
              </a:rPr>
              <a:t>中某个元素的关系</a:t>
            </a:r>
            <a:r>
              <a:rPr lang="en-US" altLang="zh-CN" dirty="0" smtClean="0">
                <a:latin typeface="微软雅黑" panose="020B0503020204020204" pitchFamily="34" charset="-122"/>
                <a:ea typeface="微软雅黑" panose="020B0503020204020204" pitchFamily="34" charset="-122"/>
              </a:rPr>
              <a:t>.</a:t>
            </a:r>
            <a:endParaRPr lang="en-US" dirty="0">
              <a:latin typeface="微软雅黑" panose="020B0503020204020204" pitchFamily="34" charset="-122"/>
              <a:ea typeface="微软雅黑" panose="020B0503020204020204" pitchFamily="34" charset="-122"/>
            </a:endParaRPr>
          </a:p>
        </p:txBody>
      </p:sp>
      <p:sp>
        <p:nvSpPr>
          <p:cNvPr id="8" name="日期占位符 7"/>
          <p:cNvSpPr>
            <a:spLocks noGrp="1"/>
          </p:cNvSpPr>
          <p:nvPr>
            <p:ph type="dt" sz="half" idx="10"/>
          </p:nvPr>
        </p:nvSpPr>
        <p:spPr/>
        <p:txBody>
          <a:bodyPr/>
          <a:lstStyle/>
          <a:p>
            <a:fld id="{A9463648-CFC6-4827-85AF-9C71D93C048A}" type="datetime1">
              <a:rPr lang="zh-CN" altLang="en-US" smtClean="0"/>
              <a:t>2025/3/14</a:t>
            </a:fld>
            <a:endParaRPr lang="zh-CN" altLang="en-US" dirty="0"/>
          </a:p>
        </p:txBody>
      </p:sp>
      <p:sp>
        <p:nvSpPr>
          <p:cNvPr id="9" name="页脚占位符 8"/>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10" name="灯片编号占位符 9"/>
          <p:cNvSpPr>
            <a:spLocks noGrp="1"/>
          </p:cNvSpPr>
          <p:nvPr>
            <p:ph type="sldNum" sz="quarter" idx="12"/>
          </p:nvPr>
        </p:nvSpPr>
        <p:spPr/>
        <p:txBody>
          <a:bodyPr/>
          <a:lstStyle/>
          <a:p>
            <a:fld id="{67913A8A-9EFB-4B5F-9CCB-3D21173FAA85}" type="slidenum">
              <a:rPr lang="zh-CN" altLang="en-US" smtClean="0"/>
              <a:pPr/>
              <a:t>4</a:t>
            </a:fld>
            <a:endParaRPr lang="zh-CN" altLang="en-US" dirty="0"/>
          </a:p>
        </p:txBody>
      </p:sp>
    </p:spTree>
    <p:extLst>
      <p:ext uri="{BB962C8B-B14F-4D97-AF65-F5344CB8AC3E}">
        <p14:creationId xmlns:p14="http://schemas.microsoft.com/office/powerpoint/2010/main" val="223556857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457200" y="1143000"/>
            <a:ext cx="11277599" cy="838200"/>
          </a:xfrm>
          <a:prstGeom prst="rect">
            <a:avLst/>
          </a:prstGeom>
          <a:solidFill>
            <a:schemeClr val="accent5">
              <a:lumMod val="40000"/>
              <a:lumOff val="6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itle 1"/>
          <p:cNvSpPr>
            <a:spLocks noGrp="1"/>
          </p:cNvSpPr>
          <p:nvPr>
            <p:ph type="title"/>
          </p:nvPr>
        </p:nvSpPr>
        <p:spPr/>
        <p:txBody>
          <a:bodyPr/>
          <a:lstStyle/>
          <a:p>
            <a:r>
              <a:rPr lang="zh-CN" altLang="en-US" dirty="0" smtClean="0"/>
              <a:t>集合的关系</a:t>
            </a:r>
            <a:endParaRPr lang="en-US" dirty="0"/>
          </a:p>
        </p:txBody>
      </p:sp>
      <p:sp>
        <p:nvSpPr>
          <p:cNvPr id="3" name="Content Placeholder 2"/>
          <p:cNvSpPr>
            <a:spLocks noGrp="1"/>
          </p:cNvSpPr>
          <p:nvPr>
            <p:ph idx="1"/>
          </p:nvPr>
        </p:nvSpPr>
        <p:spPr/>
        <p:txBody>
          <a:bodyPr>
            <a:normAutofit/>
          </a:bodyPr>
          <a:lstStyle/>
          <a:p>
            <a:r>
              <a:rPr lang="zh-CN" altLang="en-US" dirty="0" smtClean="0"/>
              <a:t>定义</a:t>
            </a:r>
            <a:r>
              <a:rPr lang="en-US" altLang="zh-CN" dirty="0" smtClean="0"/>
              <a:t>: </a:t>
            </a:r>
            <a:r>
              <a:rPr lang="zh-CN" altLang="en-US" dirty="0" smtClean="0"/>
              <a:t>集合</a:t>
            </a:r>
            <a:r>
              <a:rPr lang="en-US" altLang="zh-CN" dirty="0" smtClean="0"/>
              <a:t>A</a:t>
            </a:r>
            <a:r>
              <a:rPr lang="zh-CN" altLang="en-US" dirty="0" smtClean="0"/>
              <a:t>上的</a:t>
            </a:r>
            <a:r>
              <a:rPr lang="zh-CN" altLang="en-US" b="1" dirty="0" smtClean="0">
                <a:solidFill>
                  <a:srgbClr val="C00000"/>
                </a:solidFill>
              </a:rPr>
              <a:t>关系</a:t>
            </a:r>
            <a:r>
              <a:rPr lang="zh-CN" altLang="en-US" dirty="0" smtClean="0"/>
              <a:t>是从</a:t>
            </a:r>
            <a:r>
              <a:rPr lang="en-US" altLang="zh-CN" dirty="0" smtClean="0"/>
              <a:t>A</a:t>
            </a:r>
            <a:r>
              <a:rPr lang="zh-CN" altLang="en-US" dirty="0" smtClean="0"/>
              <a:t>到</a:t>
            </a:r>
            <a:r>
              <a:rPr lang="en-US" altLang="zh-CN" dirty="0" smtClean="0"/>
              <a:t>A</a:t>
            </a:r>
            <a:r>
              <a:rPr lang="zh-CN" altLang="en-US" dirty="0" smtClean="0"/>
              <a:t>的关系</a:t>
            </a:r>
            <a:r>
              <a:rPr lang="en-US" altLang="zh-CN" dirty="0" smtClean="0"/>
              <a:t>. </a:t>
            </a:r>
            <a:r>
              <a:rPr lang="zh-CN" altLang="en-US" dirty="0" smtClean="0"/>
              <a:t>换言之</a:t>
            </a:r>
            <a:r>
              <a:rPr lang="en-US" altLang="zh-CN" dirty="0" smtClean="0"/>
              <a:t>, </a:t>
            </a:r>
            <a:r>
              <a:rPr lang="zh-CN" altLang="en-US" dirty="0" smtClean="0"/>
              <a:t>集合</a:t>
            </a:r>
            <a:r>
              <a:rPr lang="en-US" altLang="zh-CN" dirty="0" smtClean="0"/>
              <a:t>A</a:t>
            </a:r>
            <a:r>
              <a:rPr lang="zh-CN" altLang="en-US" dirty="0" smtClean="0"/>
              <a:t>上的关系是</a:t>
            </a:r>
            <a:r>
              <a:rPr lang="en-US" altLang="zh-CN" dirty="0"/>
              <a:t>A </a:t>
            </a:r>
            <a:r>
              <a:rPr lang="en-US" altLang="zh-CN" dirty="0" smtClean="0"/>
              <a:t>×A </a:t>
            </a:r>
            <a:r>
              <a:rPr lang="zh-CN" altLang="en-US" dirty="0" smtClean="0"/>
              <a:t>的子集</a:t>
            </a:r>
            <a:r>
              <a:rPr lang="en-US" altLang="zh-CN" dirty="0" smtClean="0"/>
              <a:t>.</a:t>
            </a:r>
          </a:p>
          <a:p>
            <a:endParaRPr lang="en-US" dirty="0" smtClean="0"/>
          </a:p>
          <a:p>
            <a:r>
              <a:rPr lang="zh-CN" altLang="en-US" dirty="0" smtClean="0"/>
              <a:t>例</a:t>
            </a:r>
            <a:r>
              <a:rPr lang="en-US" altLang="zh-CN" dirty="0" smtClean="0"/>
              <a:t>: </a:t>
            </a:r>
            <a:r>
              <a:rPr lang="zh-CN" altLang="en-US" dirty="0" smtClean="0"/>
              <a:t>令</a:t>
            </a:r>
            <a:r>
              <a:rPr lang="en-US" dirty="0" smtClean="0"/>
              <a:t>A={</a:t>
            </a:r>
            <a:r>
              <a:rPr lang="en-US" dirty="0" err="1" smtClean="0"/>
              <a:t>a,b,c</a:t>
            </a:r>
            <a:r>
              <a:rPr lang="en-US" dirty="0" smtClean="0"/>
              <a:t>}. </a:t>
            </a:r>
            <a:r>
              <a:rPr lang="zh-CN" altLang="en-US" dirty="0" smtClean="0"/>
              <a:t>判断</a:t>
            </a:r>
            <a:r>
              <a:rPr lang="en-US" dirty="0" smtClean="0"/>
              <a:t>R={(</a:t>
            </a:r>
            <a:r>
              <a:rPr lang="en-US" dirty="0" err="1" smtClean="0"/>
              <a:t>a,a</a:t>
            </a:r>
            <a:r>
              <a:rPr lang="en-US" dirty="0" smtClean="0"/>
              <a:t>),(</a:t>
            </a:r>
            <a:r>
              <a:rPr lang="en-US" dirty="0" err="1" smtClean="0"/>
              <a:t>a,b</a:t>
            </a:r>
            <a:r>
              <a:rPr lang="en-US" dirty="0" smtClean="0"/>
              <a:t>),(</a:t>
            </a:r>
            <a:r>
              <a:rPr lang="en-US" dirty="0" err="1" smtClean="0"/>
              <a:t>a,c</a:t>
            </a:r>
            <a:r>
              <a:rPr lang="en-US" dirty="0" smtClean="0"/>
              <a:t>)} </a:t>
            </a:r>
            <a:r>
              <a:rPr lang="zh-CN" altLang="en-US" dirty="0" smtClean="0"/>
              <a:t>是不是集合</a:t>
            </a:r>
            <a:r>
              <a:rPr lang="en-US" altLang="zh-CN" dirty="0" smtClean="0"/>
              <a:t>A</a:t>
            </a:r>
            <a:r>
              <a:rPr lang="zh-CN" altLang="en-US" dirty="0" smtClean="0"/>
              <a:t>上的关系？</a:t>
            </a:r>
            <a:endParaRPr lang="en-US" altLang="zh-CN" dirty="0" smtClean="0"/>
          </a:p>
          <a:p>
            <a:r>
              <a:rPr lang="zh-CN" altLang="en-US" dirty="0" smtClean="0"/>
              <a:t>解</a:t>
            </a:r>
            <a:r>
              <a:rPr lang="en-US" altLang="zh-CN" dirty="0" smtClean="0"/>
              <a:t>: </a:t>
            </a:r>
            <a:r>
              <a:rPr lang="zh-CN" altLang="en-US" dirty="0" smtClean="0"/>
              <a:t>因为</a:t>
            </a:r>
            <a:r>
              <a:rPr lang="en-US" altLang="zh-CN" dirty="0" smtClean="0"/>
              <a:t>R</a:t>
            </a:r>
            <a:r>
              <a:rPr lang="zh-CN" altLang="en-US" dirty="0" smtClean="0"/>
              <a:t>中元素都来自于</a:t>
            </a:r>
            <a:r>
              <a:rPr lang="en-US" altLang="zh-CN" dirty="0" smtClean="0"/>
              <a:t>A</a:t>
            </a:r>
            <a:r>
              <a:rPr lang="zh-CN" altLang="en-US" dirty="0" smtClean="0"/>
              <a:t>集合中</a:t>
            </a:r>
            <a:r>
              <a:rPr lang="en-US" altLang="zh-CN" dirty="0" smtClean="0"/>
              <a:t>, </a:t>
            </a:r>
            <a:r>
              <a:rPr lang="zh-CN" altLang="en-US" dirty="0" smtClean="0"/>
              <a:t>因此</a:t>
            </a:r>
            <a:r>
              <a:rPr lang="en-US" altLang="zh-CN" dirty="0" smtClean="0"/>
              <a:t>R</a:t>
            </a:r>
            <a:r>
              <a:rPr lang="zh-CN" altLang="en-US" dirty="0" smtClean="0"/>
              <a:t>是集合</a:t>
            </a:r>
            <a:r>
              <a:rPr lang="en-US" altLang="zh-CN" dirty="0" smtClean="0"/>
              <a:t>A</a:t>
            </a:r>
            <a:r>
              <a:rPr lang="zh-CN" altLang="en-US" dirty="0" smtClean="0"/>
              <a:t>上的关系</a:t>
            </a:r>
            <a:r>
              <a:rPr lang="en-US" altLang="zh-CN" dirty="0" smtClean="0"/>
              <a:t>.</a:t>
            </a:r>
          </a:p>
          <a:p>
            <a:endParaRPr lang="en-US" altLang="zh-CN" dirty="0"/>
          </a:p>
        </p:txBody>
      </p:sp>
      <p:sp>
        <p:nvSpPr>
          <p:cNvPr id="6" name="日期占位符 5"/>
          <p:cNvSpPr>
            <a:spLocks noGrp="1"/>
          </p:cNvSpPr>
          <p:nvPr>
            <p:ph type="dt" sz="half" idx="10"/>
          </p:nvPr>
        </p:nvSpPr>
        <p:spPr/>
        <p:txBody>
          <a:bodyPr/>
          <a:lstStyle/>
          <a:p>
            <a:fld id="{9F5DB75E-AB9F-48E9-910D-F9854CA46CDD}" type="datetime1">
              <a:rPr lang="zh-CN" altLang="en-US" smtClean="0"/>
              <a:t>2025/3/14</a:t>
            </a:fld>
            <a:endParaRPr lang="zh-CN" altLang="en-US" dirty="0"/>
          </a:p>
        </p:txBody>
      </p:sp>
      <p:sp>
        <p:nvSpPr>
          <p:cNvPr id="7" name="页脚占位符 6"/>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8" name="灯片编号占位符 7"/>
          <p:cNvSpPr>
            <a:spLocks noGrp="1"/>
          </p:cNvSpPr>
          <p:nvPr>
            <p:ph type="sldNum" sz="quarter" idx="12"/>
          </p:nvPr>
        </p:nvSpPr>
        <p:spPr/>
        <p:txBody>
          <a:bodyPr/>
          <a:lstStyle/>
          <a:p>
            <a:fld id="{67913A8A-9EFB-4B5F-9CCB-3D21173FAA85}" type="slidenum">
              <a:rPr lang="zh-CN" altLang="en-US" smtClean="0"/>
              <a:pPr/>
              <a:t>5</a:t>
            </a:fld>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wipe(down)">
                                      <p:cBhvr>
                                        <p:cTn id="7"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集合的关系</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zh-CN" altLang="en-US" dirty="0" smtClean="0"/>
                  <a:t>例</a:t>
                </a:r>
                <a:r>
                  <a:rPr lang="en-US" altLang="zh-CN" dirty="0" smtClean="0"/>
                  <a:t>: </a:t>
                </a:r>
                <a:r>
                  <a:rPr lang="zh-CN" altLang="en-US" dirty="0" smtClean="0"/>
                  <a:t>考虑下面这些整数集合上的关系</a:t>
                </a:r>
                <a:r>
                  <a:rPr lang="en-US" altLang="zh-CN" dirty="0" smtClean="0"/>
                  <a:t>, </a:t>
                </a:r>
                <a:r>
                  <a:rPr lang="zh-CN" altLang="en-US" dirty="0" smtClean="0"/>
                  <a:t>其中哪些关系包含了有序对</a:t>
                </a:r>
                <a:r>
                  <a:rPr lang="en-US" altLang="zh-CN" dirty="0" smtClean="0"/>
                  <a:t>(1,1), (1, 2), (2, 1), (1, </a:t>
                </a:r>
                <a:r>
                  <a:rPr lang="en-US" altLang="zh-CN" dirty="0"/>
                  <a:t>−</a:t>
                </a:r>
                <a:r>
                  <a:rPr lang="en-US" altLang="zh-CN" dirty="0" smtClean="0"/>
                  <a:t>1), (2, 2)?</a:t>
                </a:r>
                <a:endParaRPr lang="en-US" dirty="0" smtClean="0"/>
              </a:p>
              <a:p>
                <a:pPr lvl="1"/>
                <a14:m>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𝑅</m:t>
                        </m:r>
                      </m:e>
                      <m:sub>
                        <m:r>
                          <a:rPr lang="en-US" altLang="zh-CN" b="0" i="1" smtClean="0">
                            <a:latin typeface="Cambria Math" panose="02040503050406030204" pitchFamily="18" charset="0"/>
                          </a:rPr>
                          <m:t>1</m:t>
                        </m:r>
                      </m:sub>
                    </m:sSub>
                  </m:oMath>
                </a14:m>
                <a:r>
                  <a:rPr lang="en-US" dirty="0" smtClean="0"/>
                  <a:t> = {(</a:t>
                </a:r>
                <a:r>
                  <a:rPr lang="en-US" dirty="0" err="1" smtClean="0"/>
                  <a:t>a,b</a:t>
                </a:r>
                <a:r>
                  <a:rPr lang="en-US" dirty="0" smtClean="0"/>
                  <a:t>) | a ≤ b},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𝑅</m:t>
                        </m:r>
                      </m:e>
                      <m:sub>
                        <m:r>
                          <a:rPr lang="en-US" altLang="zh-CN" b="0" i="1" smtClean="0">
                            <a:latin typeface="Cambria Math" panose="02040503050406030204" pitchFamily="18" charset="0"/>
                          </a:rPr>
                          <m:t>4</m:t>
                        </m:r>
                      </m:sub>
                    </m:sSub>
                  </m:oMath>
                </a14:m>
                <a:r>
                  <a:rPr lang="en-US" dirty="0" smtClean="0"/>
                  <a:t> = {(</a:t>
                </a:r>
                <a:r>
                  <a:rPr lang="en-US" dirty="0" err="1" smtClean="0"/>
                  <a:t>a,b</a:t>
                </a:r>
                <a:r>
                  <a:rPr lang="en-US" dirty="0" smtClean="0"/>
                  <a:t>) | a = b},</a:t>
                </a:r>
              </a:p>
              <a:p>
                <a:pPr lvl="1"/>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𝑅</m:t>
                        </m:r>
                      </m:e>
                      <m:sub>
                        <m:r>
                          <a:rPr lang="en-US" altLang="zh-CN" b="0" i="1" smtClean="0">
                            <a:latin typeface="Cambria Math" panose="02040503050406030204" pitchFamily="18" charset="0"/>
                          </a:rPr>
                          <m:t>2</m:t>
                        </m:r>
                      </m:sub>
                    </m:sSub>
                  </m:oMath>
                </a14:m>
                <a:r>
                  <a:rPr lang="en-US" dirty="0" smtClean="0"/>
                  <a:t> = {(</a:t>
                </a:r>
                <a:r>
                  <a:rPr lang="en-US" dirty="0" err="1" smtClean="0"/>
                  <a:t>a,b</a:t>
                </a:r>
                <a:r>
                  <a:rPr lang="en-US" dirty="0" smtClean="0"/>
                  <a:t>) | a &gt; b},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𝑅</m:t>
                        </m:r>
                      </m:e>
                      <m:sub>
                        <m:r>
                          <a:rPr lang="en-US" altLang="zh-CN" b="0" i="1" smtClean="0">
                            <a:latin typeface="Cambria Math" panose="02040503050406030204" pitchFamily="18" charset="0"/>
                          </a:rPr>
                          <m:t>5</m:t>
                        </m:r>
                      </m:sub>
                    </m:sSub>
                  </m:oMath>
                </a14:m>
                <a:r>
                  <a:rPr lang="en-US" dirty="0" smtClean="0"/>
                  <a:t> = {(</a:t>
                </a:r>
                <a:r>
                  <a:rPr lang="en-US" dirty="0" err="1" smtClean="0"/>
                  <a:t>a,b</a:t>
                </a:r>
                <a:r>
                  <a:rPr lang="en-US" dirty="0" smtClean="0"/>
                  <a:t>) | a = b + 1},</a:t>
                </a:r>
              </a:p>
              <a:p>
                <a:pPr lvl="1"/>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𝑅</m:t>
                        </m:r>
                      </m:e>
                      <m:sub>
                        <m:r>
                          <a:rPr lang="en-US" altLang="zh-CN" b="0" i="1" smtClean="0">
                            <a:latin typeface="Cambria Math" panose="02040503050406030204" pitchFamily="18" charset="0"/>
                          </a:rPr>
                          <m:t>3</m:t>
                        </m:r>
                      </m:sub>
                    </m:sSub>
                  </m:oMath>
                </a14:m>
                <a:r>
                  <a:rPr lang="en-US" dirty="0" smtClean="0"/>
                  <a:t> = {(</a:t>
                </a:r>
                <a:r>
                  <a:rPr lang="en-US" dirty="0" err="1" smtClean="0"/>
                  <a:t>a,b</a:t>
                </a:r>
                <a:r>
                  <a:rPr lang="en-US" dirty="0" smtClean="0"/>
                  <a:t>) | a = b </a:t>
                </a:r>
                <a:r>
                  <a:rPr lang="zh-CN" altLang="en-US" dirty="0" smtClean="0"/>
                  <a:t>或</a:t>
                </a:r>
                <a:r>
                  <a:rPr lang="en-US" dirty="0" smtClean="0"/>
                  <a:t>a = −b},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𝑅</m:t>
                        </m:r>
                      </m:e>
                      <m:sub>
                        <m:r>
                          <a:rPr lang="en-US" altLang="zh-CN" b="0" i="1" smtClean="0">
                            <a:latin typeface="Cambria Math" panose="02040503050406030204" pitchFamily="18" charset="0"/>
                          </a:rPr>
                          <m:t>6</m:t>
                        </m:r>
                      </m:sub>
                    </m:sSub>
                  </m:oMath>
                </a14:m>
                <a:r>
                  <a:rPr lang="en-US" dirty="0" smtClean="0"/>
                  <a:t> = {(</a:t>
                </a:r>
                <a:r>
                  <a:rPr lang="en-US" dirty="0" err="1" smtClean="0"/>
                  <a:t>a,b</a:t>
                </a:r>
                <a:r>
                  <a:rPr lang="en-US" dirty="0" smtClean="0"/>
                  <a:t>) | a + b ≤ 3}.           </a:t>
                </a:r>
              </a:p>
              <a:p>
                <a:r>
                  <a:rPr lang="zh-CN" altLang="en-US" dirty="0" smtClean="0"/>
                  <a:t>解</a:t>
                </a:r>
                <a:r>
                  <a:rPr lang="en-US" altLang="zh-CN" dirty="0" smtClean="0"/>
                  <a:t>:</a:t>
                </a:r>
              </a:p>
              <a:p>
                <a:pPr lvl="1">
                  <a:lnSpc>
                    <a:spcPct val="100000"/>
                  </a:lnSpc>
                </a:pPr>
                <a:r>
                  <a:rPr lang="zh-CN" altLang="en-US" dirty="0"/>
                  <a:t>有序</a:t>
                </a:r>
                <a:r>
                  <a:rPr lang="zh-CN" altLang="en-US" dirty="0" smtClean="0"/>
                  <a:t>对</a:t>
                </a:r>
                <a:r>
                  <a:rPr lang="en-US" dirty="0" smtClean="0"/>
                  <a:t>(1,1) </a:t>
                </a:r>
                <a:r>
                  <a:rPr lang="zh-CN" altLang="en-US" dirty="0"/>
                  <a:t>在</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𝑅</m:t>
                        </m:r>
                      </m:e>
                      <m:sub>
                        <m:r>
                          <a:rPr lang="en-US" altLang="zh-CN" i="1">
                            <a:latin typeface="Cambria Math" panose="02040503050406030204" pitchFamily="18" charset="0"/>
                          </a:rPr>
                          <m:t>1</m:t>
                        </m:r>
                      </m:sub>
                    </m:sSub>
                  </m:oMath>
                </a14:m>
                <a:r>
                  <a:rPr lang="en-US" dirty="0" smtClean="0"/>
                  <a:t>,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𝑅</m:t>
                        </m:r>
                      </m:e>
                      <m:sub>
                        <m:r>
                          <a:rPr lang="en-US" altLang="zh-CN" i="1">
                            <a:latin typeface="Cambria Math" panose="02040503050406030204" pitchFamily="18" charset="0"/>
                          </a:rPr>
                          <m:t>3</m:t>
                        </m:r>
                      </m:sub>
                    </m:sSub>
                  </m:oMath>
                </a14:m>
                <a:r>
                  <a:rPr lang="en-US" dirty="0" smtClean="0"/>
                  <a:t>,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𝑅</m:t>
                        </m:r>
                      </m:e>
                      <m:sub>
                        <m:r>
                          <a:rPr lang="en-US" altLang="zh-CN" i="1">
                            <a:latin typeface="Cambria Math" panose="02040503050406030204" pitchFamily="18" charset="0"/>
                          </a:rPr>
                          <m:t>4</m:t>
                        </m:r>
                      </m:sub>
                    </m:sSub>
                  </m:oMath>
                </a14:m>
                <a:r>
                  <a:rPr lang="en-US" dirty="0" smtClean="0"/>
                  <a:t>,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𝑅</m:t>
                        </m:r>
                      </m:e>
                      <m:sub>
                        <m:r>
                          <a:rPr lang="en-US" altLang="zh-CN" i="1">
                            <a:latin typeface="Cambria Math" panose="02040503050406030204" pitchFamily="18" charset="0"/>
                          </a:rPr>
                          <m:t>6</m:t>
                        </m:r>
                      </m:sub>
                    </m:sSub>
                  </m:oMath>
                </a14:m>
                <a:r>
                  <a:rPr lang="zh-CN" altLang="en-US" dirty="0"/>
                  <a:t>中；</a:t>
                </a:r>
                <a:endParaRPr lang="en-US" altLang="zh-CN" dirty="0"/>
              </a:p>
              <a:p>
                <a:pPr lvl="1">
                  <a:lnSpc>
                    <a:spcPct val="100000"/>
                  </a:lnSpc>
                </a:pPr>
                <a:r>
                  <a:rPr lang="zh-CN" altLang="en-US" dirty="0"/>
                  <a:t>有序对</a:t>
                </a:r>
                <a:r>
                  <a:rPr lang="en-US" dirty="0" smtClean="0"/>
                  <a:t>(1,2) </a:t>
                </a:r>
                <a:r>
                  <a:rPr lang="zh-CN" altLang="en-US" dirty="0"/>
                  <a:t>在</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𝑅</m:t>
                        </m:r>
                      </m:e>
                      <m:sub>
                        <m:r>
                          <a:rPr lang="en-US" altLang="zh-CN" i="1">
                            <a:latin typeface="Cambria Math" panose="02040503050406030204" pitchFamily="18" charset="0"/>
                          </a:rPr>
                          <m:t>1</m:t>
                        </m:r>
                      </m:sub>
                    </m:sSub>
                  </m:oMath>
                </a14:m>
                <a:r>
                  <a:rPr lang="en-US" altLang="zh-CN" dirty="0" smtClean="0"/>
                  <a:t>,</a:t>
                </a:r>
                <a:r>
                  <a:rPr lang="en-US" altLang="zh-CN" dirty="0"/>
                  <a:t>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𝑅</m:t>
                        </m:r>
                      </m:e>
                      <m:sub>
                        <m:r>
                          <a:rPr lang="en-US" altLang="zh-CN" i="1">
                            <a:latin typeface="Cambria Math" panose="02040503050406030204" pitchFamily="18" charset="0"/>
                          </a:rPr>
                          <m:t>6</m:t>
                        </m:r>
                      </m:sub>
                    </m:sSub>
                  </m:oMath>
                </a14:m>
                <a:r>
                  <a:rPr lang="zh-CN" altLang="en-US" dirty="0"/>
                  <a:t>中；</a:t>
                </a:r>
                <a:endParaRPr lang="en-US" altLang="zh-CN" dirty="0"/>
              </a:p>
              <a:p>
                <a:pPr lvl="1">
                  <a:lnSpc>
                    <a:spcPct val="100000"/>
                  </a:lnSpc>
                </a:pPr>
                <a:r>
                  <a:rPr lang="zh-CN" altLang="en-US" dirty="0"/>
                  <a:t>有序对</a:t>
                </a:r>
                <a:r>
                  <a:rPr lang="en-US" dirty="0" smtClean="0"/>
                  <a:t>(2,1) </a:t>
                </a:r>
                <a:r>
                  <a:rPr lang="zh-CN" altLang="en-US" dirty="0"/>
                  <a:t>在</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𝑅</m:t>
                        </m:r>
                      </m:e>
                      <m:sub>
                        <m:r>
                          <a:rPr lang="en-US" altLang="zh-CN" i="1">
                            <a:latin typeface="Cambria Math" panose="02040503050406030204" pitchFamily="18" charset="0"/>
                          </a:rPr>
                          <m:t>2</m:t>
                        </m:r>
                      </m:sub>
                    </m:sSub>
                  </m:oMath>
                </a14:m>
                <a:r>
                  <a:rPr lang="en-US" dirty="0" smtClean="0"/>
                  <a:t>,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𝑅</m:t>
                        </m:r>
                      </m:e>
                      <m:sub>
                        <m:r>
                          <a:rPr lang="en-US" altLang="zh-CN" i="1">
                            <a:latin typeface="Cambria Math" panose="02040503050406030204" pitchFamily="18" charset="0"/>
                          </a:rPr>
                          <m:t>5</m:t>
                        </m:r>
                      </m:sub>
                    </m:sSub>
                  </m:oMath>
                </a14:m>
                <a:r>
                  <a:rPr lang="en-US" dirty="0" smtClean="0"/>
                  <a:t>,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𝑅</m:t>
                        </m:r>
                      </m:e>
                      <m:sub>
                        <m:r>
                          <a:rPr lang="en-US" altLang="zh-CN" i="1">
                            <a:latin typeface="Cambria Math" panose="02040503050406030204" pitchFamily="18" charset="0"/>
                          </a:rPr>
                          <m:t>6</m:t>
                        </m:r>
                      </m:sub>
                    </m:sSub>
                  </m:oMath>
                </a14:m>
                <a:r>
                  <a:rPr lang="zh-CN" altLang="en-US" dirty="0"/>
                  <a:t>中；</a:t>
                </a:r>
                <a:r>
                  <a:rPr lang="en-US" dirty="0"/>
                  <a:t> </a:t>
                </a:r>
              </a:p>
              <a:p>
                <a:pPr lvl="1">
                  <a:lnSpc>
                    <a:spcPct val="100000"/>
                  </a:lnSpc>
                </a:pPr>
                <a:r>
                  <a:rPr lang="zh-CN" altLang="en-US" dirty="0"/>
                  <a:t>有序对</a:t>
                </a:r>
                <a:r>
                  <a:rPr lang="en-US" dirty="0" smtClean="0"/>
                  <a:t>(1, </a:t>
                </a:r>
                <a:r>
                  <a:rPr lang="en-US" dirty="0"/>
                  <a:t>−</a:t>
                </a:r>
                <a:r>
                  <a:rPr lang="en-US" dirty="0" smtClean="0"/>
                  <a:t>1)</a:t>
                </a:r>
                <a:r>
                  <a:rPr lang="zh-CN" altLang="en-US" dirty="0" smtClean="0"/>
                  <a:t>在</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𝑅</m:t>
                        </m:r>
                      </m:e>
                      <m:sub>
                        <m:r>
                          <a:rPr lang="en-US" altLang="zh-CN" i="1">
                            <a:latin typeface="Cambria Math" panose="02040503050406030204" pitchFamily="18" charset="0"/>
                          </a:rPr>
                          <m:t>2</m:t>
                        </m:r>
                      </m:sub>
                    </m:sSub>
                  </m:oMath>
                </a14:m>
                <a:r>
                  <a:rPr lang="en-US" dirty="0" smtClean="0"/>
                  <a:t>,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𝑅</m:t>
                        </m:r>
                      </m:e>
                      <m:sub>
                        <m:r>
                          <a:rPr lang="en-US" altLang="zh-CN" i="1">
                            <a:latin typeface="Cambria Math" panose="02040503050406030204" pitchFamily="18" charset="0"/>
                          </a:rPr>
                          <m:t>3</m:t>
                        </m:r>
                      </m:sub>
                    </m:sSub>
                  </m:oMath>
                </a14:m>
                <a:r>
                  <a:rPr lang="en-US" dirty="0" smtClean="0"/>
                  <a:t>,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𝑅</m:t>
                        </m:r>
                      </m:e>
                      <m:sub>
                        <m:r>
                          <a:rPr lang="en-US" altLang="zh-CN" i="1">
                            <a:latin typeface="Cambria Math" panose="02040503050406030204" pitchFamily="18" charset="0"/>
                          </a:rPr>
                          <m:t>6</m:t>
                        </m:r>
                      </m:sub>
                    </m:sSub>
                  </m:oMath>
                </a14:m>
                <a:r>
                  <a:rPr lang="zh-CN" altLang="en-US" dirty="0"/>
                  <a:t>中；</a:t>
                </a:r>
                <a:r>
                  <a:rPr lang="en-US" dirty="0"/>
                  <a:t> </a:t>
                </a:r>
              </a:p>
              <a:p>
                <a:pPr lvl="1">
                  <a:lnSpc>
                    <a:spcPct val="100000"/>
                  </a:lnSpc>
                </a:pPr>
                <a:r>
                  <a:rPr lang="zh-CN" altLang="en-US" dirty="0"/>
                  <a:t>有序对</a:t>
                </a:r>
                <a:r>
                  <a:rPr lang="en-US" dirty="0" smtClean="0"/>
                  <a:t>(2,2) </a:t>
                </a:r>
                <a:r>
                  <a:rPr lang="zh-CN" altLang="en-US" dirty="0"/>
                  <a:t>在</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𝑅</m:t>
                        </m:r>
                      </m:e>
                      <m:sub>
                        <m:r>
                          <a:rPr lang="en-US" altLang="zh-CN" i="1">
                            <a:latin typeface="Cambria Math" panose="02040503050406030204" pitchFamily="18" charset="0"/>
                          </a:rPr>
                          <m:t>1</m:t>
                        </m:r>
                      </m:sub>
                    </m:sSub>
                  </m:oMath>
                </a14:m>
                <a:r>
                  <a:rPr lang="en-US" dirty="0" smtClean="0"/>
                  <a:t>,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𝑅</m:t>
                        </m:r>
                      </m:e>
                      <m:sub>
                        <m:r>
                          <a:rPr lang="en-US" altLang="zh-CN" i="1">
                            <a:latin typeface="Cambria Math" panose="02040503050406030204" pitchFamily="18" charset="0"/>
                          </a:rPr>
                          <m:t>3</m:t>
                        </m:r>
                      </m:sub>
                    </m:sSub>
                  </m:oMath>
                </a14:m>
                <a:r>
                  <a:rPr lang="en-US" dirty="0" smtClean="0"/>
                  <a:t>,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𝑅</m:t>
                        </m:r>
                      </m:e>
                      <m:sub>
                        <m:r>
                          <a:rPr lang="en-US" altLang="zh-CN" i="1">
                            <a:latin typeface="Cambria Math" panose="02040503050406030204" pitchFamily="18" charset="0"/>
                          </a:rPr>
                          <m:t>4</m:t>
                        </m:r>
                      </m:sub>
                    </m:sSub>
                  </m:oMath>
                </a14:m>
                <a:r>
                  <a:rPr lang="zh-CN" altLang="en-US" dirty="0"/>
                  <a:t>中</a:t>
                </a:r>
                <a:r>
                  <a:rPr lang="en-US" dirty="0"/>
                  <a:t>.</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999" t="-1310"/>
                </a:stretch>
              </a:blipFill>
            </p:spPr>
            <p:txBody>
              <a:bodyPr/>
              <a:lstStyle/>
              <a:p>
                <a:r>
                  <a:rPr lang="zh-CN" altLang="en-US">
                    <a:noFill/>
                  </a:rPr>
                  <a:t> </a:t>
                </a:r>
              </a:p>
            </p:txBody>
          </p:sp>
        </mc:Fallback>
      </mc:AlternateContent>
      <p:sp>
        <p:nvSpPr>
          <p:cNvPr id="7" name="日期占位符 6"/>
          <p:cNvSpPr>
            <a:spLocks noGrp="1"/>
          </p:cNvSpPr>
          <p:nvPr>
            <p:ph type="dt" sz="half" idx="10"/>
          </p:nvPr>
        </p:nvSpPr>
        <p:spPr/>
        <p:txBody>
          <a:bodyPr/>
          <a:lstStyle/>
          <a:p>
            <a:fld id="{FF8C8BA8-1269-4329-BF2C-5EB9B2FF1E2A}" type="datetime1">
              <a:rPr lang="zh-CN" altLang="en-US" smtClean="0"/>
              <a:t>2025/3/14</a:t>
            </a:fld>
            <a:endParaRPr lang="zh-CN" altLang="en-US" dirty="0"/>
          </a:p>
        </p:txBody>
      </p:sp>
      <p:sp>
        <p:nvSpPr>
          <p:cNvPr id="8" name="页脚占位符 7"/>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9" name="灯片编号占位符 8"/>
          <p:cNvSpPr>
            <a:spLocks noGrp="1"/>
          </p:cNvSpPr>
          <p:nvPr>
            <p:ph type="sldNum" sz="quarter" idx="12"/>
          </p:nvPr>
        </p:nvSpPr>
        <p:spPr/>
        <p:txBody>
          <a:bodyPr/>
          <a:lstStyle/>
          <a:p>
            <a:fld id="{67913A8A-9EFB-4B5F-9CCB-3D21173FAA85}" type="slidenum">
              <a:rPr lang="zh-CN" altLang="en-US" smtClean="0"/>
              <a:pPr/>
              <a:t>6</a:t>
            </a:fld>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Effect transition="in" filter="wipe(down)">
                                      <p:cBhvr>
                                        <p:cTn id="7" dur="500"/>
                                        <p:tgtEl>
                                          <p:spTgt spid="3">
                                            <p:txEl>
                                              <p:pRg st="4" end="4"/>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3">
                                            <p:txEl>
                                              <p:pRg st="5" end="5"/>
                                            </p:txEl>
                                          </p:spTgt>
                                        </p:tgtEl>
                                        <p:attrNameLst>
                                          <p:attrName>style.visibility</p:attrName>
                                        </p:attrNameLst>
                                      </p:cBhvr>
                                      <p:to>
                                        <p:strVal val="visible"/>
                                      </p:to>
                                    </p:set>
                                    <p:animEffect transition="in" filter="wipe(down)">
                                      <p:cBhvr>
                                        <p:cTn id="10" dur="500"/>
                                        <p:tgtEl>
                                          <p:spTgt spid="3">
                                            <p:txEl>
                                              <p:pRg st="5" end="5"/>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animEffect transition="in" filter="wipe(down)">
                                      <p:cBhvr>
                                        <p:cTn id="13" dur="500"/>
                                        <p:tgtEl>
                                          <p:spTgt spid="3">
                                            <p:txEl>
                                              <p:pRg st="6" end="6"/>
                                            </p:txEl>
                                          </p:spTgt>
                                        </p:tgtEl>
                                      </p:cBhvr>
                                    </p:animEffect>
                                  </p:childTnLst>
                                </p:cTn>
                              </p:par>
                              <p:par>
                                <p:cTn id="14" presetID="22" presetClass="entr" presetSubtype="4" fill="hold" nodeType="withEffect">
                                  <p:stCondLst>
                                    <p:cond delay="0"/>
                                  </p:stCondLst>
                                  <p:childTnLst>
                                    <p:set>
                                      <p:cBhvr>
                                        <p:cTn id="15" dur="1" fill="hold">
                                          <p:stCondLst>
                                            <p:cond delay="0"/>
                                          </p:stCondLst>
                                        </p:cTn>
                                        <p:tgtEl>
                                          <p:spTgt spid="3">
                                            <p:txEl>
                                              <p:pRg st="7" end="7"/>
                                            </p:txEl>
                                          </p:spTgt>
                                        </p:tgtEl>
                                        <p:attrNameLst>
                                          <p:attrName>style.visibility</p:attrName>
                                        </p:attrNameLst>
                                      </p:cBhvr>
                                      <p:to>
                                        <p:strVal val="visible"/>
                                      </p:to>
                                    </p:set>
                                    <p:animEffect transition="in" filter="wipe(down)">
                                      <p:cBhvr>
                                        <p:cTn id="16" dur="500"/>
                                        <p:tgtEl>
                                          <p:spTgt spid="3">
                                            <p:txEl>
                                              <p:pRg st="7" end="7"/>
                                            </p:txEl>
                                          </p:spTgt>
                                        </p:tgtEl>
                                      </p:cBhvr>
                                    </p:animEffect>
                                  </p:childTnLst>
                                </p:cTn>
                              </p:par>
                              <p:par>
                                <p:cTn id="17" presetID="22" presetClass="entr" presetSubtype="4" fill="hold" nodeType="with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animEffect transition="in" filter="wipe(down)">
                                      <p:cBhvr>
                                        <p:cTn id="19" dur="500"/>
                                        <p:tgtEl>
                                          <p:spTgt spid="3">
                                            <p:txEl>
                                              <p:pRg st="8" end="8"/>
                                            </p:txEl>
                                          </p:spTgt>
                                        </p:tgtEl>
                                      </p:cBhvr>
                                    </p:animEffect>
                                  </p:childTnLst>
                                </p:cTn>
                              </p:par>
                              <p:par>
                                <p:cTn id="20" presetID="22" presetClass="entr" presetSubtype="4" fill="hold" nodeType="withEffect">
                                  <p:stCondLst>
                                    <p:cond delay="0"/>
                                  </p:stCondLst>
                                  <p:childTnLst>
                                    <p:set>
                                      <p:cBhvr>
                                        <p:cTn id="21" dur="1" fill="hold">
                                          <p:stCondLst>
                                            <p:cond delay="0"/>
                                          </p:stCondLst>
                                        </p:cTn>
                                        <p:tgtEl>
                                          <p:spTgt spid="3">
                                            <p:txEl>
                                              <p:pRg st="9" end="9"/>
                                            </p:txEl>
                                          </p:spTgt>
                                        </p:tgtEl>
                                        <p:attrNameLst>
                                          <p:attrName>style.visibility</p:attrName>
                                        </p:attrNameLst>
                                      </p:cBhvr>
                                      <p:to>
                                        <p:strVal val="visible"/>
                                      </p:to>
                                    </p:set>
                                    <p:animEffect transition="in" filter="wipe(down)">
                                      <p:cBhvr>
                                        <p:cTn id="22"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集合的关系</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zh-CN" altLang="en-US" dirty="0" smtClean="0"/>
                  <a:t>例</a:t>
                </a:r>
                <a:r>
                  <a:rPr lang="en-US" altLang="zh-CN" dirty="0" smtClean="0"/>
                  <a:t>:</a:t>
                </a:r>
                <a14:m>
                  <m:oMath xmlns:m="http://schemas.openxmlformats.org/officeDocument/2006/math">
                    <m:r>
                      <a:rPr lang="en-US" altLang="zh-CN" b="0" i="0" smtClean="0">
                        <a:latin typeface="Cambria Math" panose="02040503050406030204" pitchFamily="18" charset="0"/>
                      </a:rPr>
                      <m:t> </m:t>
                    </m:r>
                    <m:r>
                      <a:rPr lang="en-US" altLang="zh-CN" i="1">
                        <a:latin typeface="Cambria Math" panose="02040503050406030204" pitchFamily="18" charset="0"/>
                      </a:rPr>
                      <m:t>𝑛</m:t>
                    </m:r>
                  </m:oMath>
                </a14:m>
                <a:r>
                  <a:rPr lang="zh-CN" altLang="en-US" dirty="0" smtClean="0"/>
                  <a:t>元素的集合</a:t>
                </a:r>
                <a:r>
                  <a:rPr lang="en-US" altLang="zh-CN" dirty="0" smtClean="0"/>
                  <a:t>A</a:t>
                </a:r>
                <a:r>
                  <a:rPr lang="zh-CN" altLang="en-US" dirty="0" smtClean="0"/>
                  <a:t>上有多少不同的关系？</a:t>
                </a:r>
                <a:endParaRPr lang="en-US" altLang="zh-CN" dirty="0" smtClean="0"/>
              </a:p>
              <a:p>
                <a:r>
                  <a:rPr lang="zh-CN" altLang="en-US" dirty="0" smtClean="0"/>
                  <a:t>解</a:t>
                </a:r>
                <a:r>
                  <a:rPr lang="en-US" altLang="zh-CN" dirty="0" smtClean="0"/>
                  <a:t>: </a:t>
                </a:r>
                <a:r>
                  <a:rPr lang="zh-CN" altLang="en-US" dirty="0" smtClean="0"/>
                  <a:t>集合</a:t>
                </a:r>
                <a:r>
                  <a:rPr lang="en-US" altLang="zh-CN" dirty="0" smtClean="0"/>
                  <a:t>A</a:t>
                </a:r>
                <a:r>
                  <a:rPr lang="zh-CN" altLang="en-US" dirty="0" smtClean="0"/>
                  <a:t>上的关系是</a:t>
                </a:r>
                <a:r>
                  <a:rPr lang="en-US" altLang="zh-CN" dirty="0" smtClean="0"/>
                  <a:t> A×A</a:t>
                </a:r>
                <a:r>
                  <a:rPr lang="zh-CN" altLang="en-US" dirty="0" smtClean="0"/>
                  <a:t>的子集</a:t>
                </a:r>
                <a:r>
                  <a:rPr lang="en-US" altLang="zh-CN" dirty="0" smtClean="0"/>
                  <a:t>. </a:t>
                </a:r>
                <a:r>
                  <a:rPr lang="zh-CN" altLang="en-US" dirty="0" smtClean="0"/>
                  <a:t>当</a:t>
                </a:r>
                <a:r>
                  <a:rPr lang="en-US" altLang="zh-CN" dirty="0" smtClean="0"/>
                  <a:t>A</a:t>
                </a:r>
                <a:r>
                  <a:rPr lang="zh-CN" altLang="en-US" dirty="0" smtClean="0"/>
                  <a:t>是</a:t>
                </a:r>
                <a14:m>
                  <m:oMath xmlns:m="http://schemas.openxmlformats.org/officeDocument/2006/math">
                    <m:r>
                      <a:rPr lang="en-US" altLang="zh-CN" i="1">
                        <a:latin typeface="Cambria Math" panose="02040503050406030204" pitchFamily="18" charset="0"/>
                      </a:rPr>
                      <m:t>𝑛</m:t>
                    </m:r>
                  </m:oMath>
                </a14:m>
                <a:r>
                  <a:rPr lang="zh-CN" altLang="en-US" dirty="0" smtClean="0"/>
                  <a:t>元素集合时</a:t>
                </a:r>
                <a:r>
                  <a:rPr lang="en-US" altLang="zh-CN" dirty="0" smtClean="0"/>
                  <a:t>, </a:t>
                </a:r>
                <a:r>
                  <a:rPr lang="en-US" altLang="zh-CN" dirty="0"/>
                  <a:t>A × </a:t>
                </a:r>
                <a:r>
                  <a:rPr lang="en-US" altLang="zh-CN" dirty="0" smtClean="0"/>
                  <a:t>A</a:t>
                </a:r>
                <a:r>
                  <a:rPr lang="zh-CN" altLang="en-US" dirty="0" smtClean="0"/>
                  <a:t>有</a:t>
                </a:r>
                <a14:m>
                  <m:oMath xmlns:m="http://schemas.openxmlformats.org/officeDocument/2006/math">
                    <m:sSup>
                      <m:sSupPr>
                        <m:ctrlPr>
                          <a:rPr lang="en-US" altLang="zh-CN" i="1" smtClean="0">
                            <a:latin typeface="Cambria Math" panose="02040503050406030204" pitchFamily="18" charset="0"/>
                          </a:rPr>
                        </m:ctrlPr>
                      </m:sSupPr>
                      <m:e>
                        <m:r>
                          <a:rPr lang="en-US" altLang="zh-CN" b="0" i="1" smtClean="0">
                            <a:latin typeface="Cambria Math" panose="02040503050406030204" pitchFamily="18" charset="0"/>
                          </a:rPr>
                          <m:t>𝑛</m:t>
                        </m:r>
                      </m:e>
                      <m:sup>
                        <m:r>
                          <a:rPr lang="en-US" altLang="zh-CN" b="0" i="1" smtClean="0">
                            <a:latin typeface="Cambria Math" panose="02040503050406030204" pitchFamily="18" charset="0"/>
                          </a:rPr>
                          <m:t>2</m:t>
                        </m:r>
                      </m:sup>
                    </m:sSup>
                  </m:oMath>
                </a14:m>
                <a:r>
                  <a:rPr lang="zh-CN" altLang="en-US" dirty="0" smtClean="0"/>
                  <a:t>个元素</a:t>
                </a:r>
                <a:r>
                  <a:rPr lang="en-US" altLang="zh-CN" dirty="0" smtClean="0"/>
                  <a:t>. </a:t>
                </a:r>
                <a14:m>
                  <m:oMath xmlns:m="http://schemas.openxmlformats.org/officeDocument/2006/math">
                    <m:r>
                      <a:rPr lang="en-US" altLang="zh-CN" i="1">
                        <a:latin typeface="Cambria Math" panose="02040503050406030204" pitchFamily="18" charset="0"/>
                      </a:rPr>
                      <m:t>𝑚</m:t>
                    </m:r>
                  </m:oMath>
                </a14:m>
                <a:r>
                  <a:rPr lang="zh-CN" altLang="en-US" dirty="0" smtClean="0"/>
                  <a:t>个元素的集合有</a:t>
                </a:r>
                <a14:m>
                  <m:oMath xmlns:m="http://schemas.openxmlformats.org/officeDocument/2006/math">
                    <m:sSup>
                      <m:sSupPr>
                        <m:ctrlPr>
                          <a:rPr lang="en-US" altLang="zh-CN" i="1">
                            <a:latin typeface="Cambria Math" panose="02040503050406030204" pitchFamily="18" charset="0"/>
                          </a:rPr>
                        </m:ctrlPr>
                      </m:sSupPr>
                      <m:e>
                        <m:r>
                          <a:rPr lang="en-US" altLang="zh-CN" b="0" i="1" smtClean="0">
                            <a:latin typeface="Cambria Math" panose="02040503050406030204" pitchFamily="18" charset="0"/>
                          </a:rPr>
                          <m:t>2</m:t>
                        </m:r>
                      </m:e>
                      <m:sup>
                        <m:r>
                          <a:rPr lang="en-US" altLang="zh-CN" b="0" i="1" smtClean="0">
                            <a:latin typeface="Cambria Math" panose="02040503050406030204" pitchFamily="18" charset="0"/>
                          </a:rPr>
                          <m:t>𝑚</m:t>
                        </m:r>
                      </m:sup>
                    </m:sSup>
                  </m:oMath>
                </a14:m>
                <a:r>
                  <a:rPr lang="zh-CN" altLang="en-US" dirty="0" smtClean="0"/>
                  <a:t>个子集</a:t>
                </a:r>
                <a:r>
                  <a:rPr lang="en-US" altLang="zh-CN" dirty="0" smtClean="0"/>
                  <a:t>. </a:t>
                </a:r>
                <a:r>
                  <a:rPr lang="zh-CN" altLang="en-US" dirty="0" smtClean="0"/>
                  <a:t>所以</a:t>
                </a:r>
                <a:r>
                  <a:rPr lang="en-US" altLang="zh-CN" dirty="0" smtClean="0"/>
                  <a:t>A×A</a:t>
                </a:r>
                <a:r>
                  <a:rPr lang="zh-CN" altLang="en-US" dirty="0" smtClean="0"/>
                  <a:t>的子集有</a:t>
                </a:r>
                <a14:m>
                  <m:oMath xmlns:m="http://schemas.openxmlformats.org/officeDocument/2006/math">
                    <m:sSup>
                      <m:sSupPr>
                        <m:ctrlPr>
                          <a:rPr lang="en-US" altLang="zh-CN" i="1">
                            <a:latin typeface="Cambria Math" panose="02040503050406030204" pitchFamily="18" charset="0"/>
                          </a:rPr>
                        </m:ctrlPr>
                      </m:sSupPr>
                      <m:e>
                        <m:r>
                          <a:rPr lang="en-US" altLang="zh-CN" i="1">
                            <a:latin typeface="Cambria Math" panose="02040503050406030204" pitchFamily="18" charset="0"/>
                          </a:rPr>
                          <m:t>2</m:t>
                        </m:r>
                      </m:e>
                      <m:sup>
                        <m:sSup>
                          <m:sSupPr>
                            <m:ctrlPr>
                              <a:rPr lang="en-US" altLang="zh-CN" i="1">
                                <a:latin typeface="Cambria Math" panose="02040503050406030204" pitchFamily="18" charset="0"/>
                              </a:rPr>
                            </m:ctrlPr>
                          </m:sSupPr>
                          <m:e>
                            <m:r>
                              <a:rPr lang="en-US" altLang="zh-CN" i="1">
                                <a:latin typeface="Cambria Math" panose="02040503050406030204" pitchFamily="18" charset="0"/>
                              </a:rPr>
                              <m:t>𝑛</m:t>
                            </m:r>
                          </m:e>
                          <m:sup>
                            <m:r>
                              <a:rPr lang="en-US" altLang="zh-CN" i="1">
                                <a:latin typeface="Cambria Math" panose="02040503050406030204" pitchFamily="18" charset="0"/>
                              </a:rPr>
                              <m:t>2</m:t>
                            </m:r>
                          </m:sup>
                        </m:sSup>
                      </m:sup>
                    </m:sSup>
                  </m:oMath>
                </a14:m>
                <a:r>
                  <a:rPr lang="zh-CN" altLang="en-US" dirty="0" smtClean="0"/>
                  <a:t>个</a:t>
                </a:r>
                <a:r>
                  <a:rPr lang="en-US" altLang="zh-CN" dirty="0" smtClean="0"/>
                  <a:t>. </a:t>
                </a:r>
                <a:r>
                  <a:rPr lang="zh-CN" altLang="en-US" dirty="0" smtClean="0"/>
                  <a:t>对应的</a:t>
                </a:r>
                <a14:m>
                  <m:oMath xmlns:m="http://schemas.openxmlformats.org/officeDocument/2006/math">
                    <m:r>
                      <a:rPr lang="en-US" altLang="zh-CN" i="1">
                        <a:latin typeface="Cambria Math" panose="02040503050406030204" pitchFamily="18" charset="0"/>
                      </a:rPr>
                      <m:t>𝑛</m:t>
                    </m:r>
                  </m:oMath>
                </a14:m>
                <a:r>
                  <a:rPr lang="zh-CN" altLang="en-US" dirty="0" smtClean="0"/>
                  <a:t>元素集合有</a:t>
                </a:r>
                <a14:m>
                  <m:oMath xmlns:m="http://schemas.openxmlformats.org/officeDocument/2006/math">
                    <m:sSup>
                      <m:sSupPr>
                        <m:ctrlPr>
                          <a:rPr lang="en-US" altLang="zh-CN" i="1">
                            <a:latin typeface="Cambria Math" panose="02040503050406030204" pitchFamily="18" charset="0"/>
                          </a:rPr>
                        </m:ctrlPr>
                      </m:sSupPr>
                      <m:e>
                        <m:r>
                          <a:rPr lang="en-US" altLang="zh-CN" i="1">
                            <a:latin typeface="Cambria Math" panose="02040503050406030204" pitchFamily="18" charset="0"/>
                          </a:rPr>
                          <m:t>2</m:t>
                        </m:r>
                      </m:e>
                      <m:sup>
                        <m:sSup>
                          <m:sSupPr>
                            <m:ctrlPr>
                              <a:rPr lang="en-US" altLang="zh-CN" i="1">
                                <a:latin typeface="Cambria Math" panose="02040503050406030204" pitchFamily="18" charset="0"/>
                              </a:rPr>
                            </m:ctrlPr>
                          </m:sSupPr>
                          <m:e>
                            <m:r>
                              <a:rPr lang="en-US" altLang="zh-CN" i="1">
                                <a:latin typeface="Cambria Math" panose="02040503050406030204" pitchFamily="18" charset="0"/>
                              </a:rPr>
                              <m:t>𝑛</m:t>
                            </m:r>
                          </m:e>
                          <m:sup>
                            <m:r>
                              <a:rPr lang="en-US" altLang="zh-CN" i="1">
                                <a:latin typeface="Cambria Math" panose="02040503050406030204" pitchFamily="18" charset="0"/>
                              </a:rPr>
                              <m:t>2</m:t>
                            </m:r>
                          </m:sup>
                        </m:sSup>
                      </m:sup>
                    </m:sSup>
                  </m:oMath>
                </a14:m>
                <a:r>
                  <a:rPr lang="zh-CN" altLang="en-US" dirty="0" smtClean="0"/>
                  <a:t>个关系</a:t>
                </a:r>
                <a:r>
                  <a:rPr lang="en-US" altLang="zh-CN" dirty="0" smtClean="0"/>
                  <a:t>.</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999" t="-1310" r="-333"/>
                </a:stretch>
              </a:blipFill>
            </p:spPr>
            <p:txBody>
              <a:bodyPr/>
              <a:lstStyle/>
              <a:p>
                <a:r>
                  <a:rPr lang="zh-CN" altLang="en-US">
                    <a:noFill/>
                  </a:rPr>
                  <a:t> </a:t>
                </a:r>
              </a:p>
            </p:txBody>
          </p:sp>
        </mc:Fallback>
      </mc:AlternateContent>
      <p:sp>
        <p:nvSpPr>
          <p:cNvPr id="6" name="日期占位符 5"/>
          <p:cNvSpPr>
            <a:spLocks noGrp="1"/>
          </p:cNvSpPr>
          <p:nvPr>
            <p:ph type="dt" sz="half" idx="10"/>
          </p:nvPr>
        </p:nvSpPr>
        <p:spPr/>
        <p:txBody>
          <a:bodyPr/>
          <a:lstStyle/>
          <a:p>
            <a:fld id="{B08C599A-CA70-4123-A865-8F272075548D}" type="datetime1">
              <a:rPr lang="zh-CN" altLang="en-US" smtClean="0"/>
              <a:t>2025/3/14</a:t>
            </a:fld>
            <a:endParaRPr lang="zh-CN" altLang="en-US" dirty="0"/>
          </a:p>
        </p:txBody>
      </p:sp>
      <p:sp>
        <p:nvSpPr>
          <p:cNvPr id="7" name="页脚占位符 6"/>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8" name="灯片编号占位符 7"/>
          <p:cNvSpPr>
            <a:spLocks noGrp="1"/>
          </p:cNvSpPr>
          <p:nvPr>
            <p:ph type="sldNum" sz="quarter" idx="12"/>
          </p:nvPr>
        </p:nvSpPr>
        <p:spPr/>
        <p:txBody>
          <a:bodyPr/>
          <a:lstStyle/>
          <a:p>
            <a:fld id="{67913A8A-9EFB-4B5F-9CCB-3D21173FAA85}" type="slidenum">
              <a:rPr lang="zh-CN" altLang="en-US" smtClean="0"/>
              <a:pPr/>
              <a:t>7</a:t>
            </a:fld>
            <a:endParaRPr lang="zh-CN" altLang="en-US"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457200" y="1143000"/>
            <a:ext cx="11277599" cy="838200"/>
          </a:xfrm>
          <a:prstGeom prst="rect">
            <a:avLst/>
          </a:prstGeom>
          <a:solidFill>
            <a:schemeClr val="accent5">
              <a:lumMod val="40000"/>
              <a:lumOff val="6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itle 1"/>
          <p:cNvSpPr>
            <a:spLocks noGrp="1"/>
          </p:cNvSpPr>
          <p:nvPr>
            <p:ph type="title"/>
          </p:nvPr>
        </p:nvSpPr>
        <p:spPr/>
        <p:txBody>
          <a:bodyPr/>
          <a:lstStyle/>
          <a:p>
            <a:r>
              <a:rPr lang="zh-CN" altLang="en-US" dirty="0" smtClean="0"/>
              <a:t>关系的性质</a:t>
            </a:r>
            <a:r>
              <a:rPr lang="en-US" altLang="zh-CN" dirty="0" smtClean="0"/>
              <a:t>:</a:t>
            </a:r>
            <a:r>
              <a:rPr lang="zh-CN" altLang="en-US" dirty="0" smtClean="0"/>
              <a:t>自反关系</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fontScale="92500" lnSpcReduction="10000"/>
              </a:bodyPr>
              <a:lstStyle/>
              <a:p>
                <a:r>
                  <a:rPr lang="zh-CN" altLang="en-US" dirty="0" smtClean="0"/>
                  <a:t>定义</a:t>
                </a:r>
                <a:r>
                  <a:rPr lang="en-US" altLang="zh-CN" dirty="0" smtClean="0"/>
                  <a:t>: </a:t>
                </a:r>
                <a:r>
                  <a:rPr lang="zh-CN" altLang="en-US" dirty="0" smtClean="0"/>
                  <a:t>若对每个元素</a:t>
                </a:r>
                <a:r>
                  <a:rPr lang="en-US" altLang="zh-CN" dirty="0" err="1" smtClean="0"/>
                  <a:t>a∊A</a:t>
                </a:r>
                <a:r>
                  <a:rPr lang="zh-CN" altLang="en-US" dirty="0" smtClean="0"/>
                  <a:t>有</a:t>
                </a:r>
                <a:r>
                  <a:rPr lang="en-US" altLang="zh-CN" dirty="0" smtClean="0"/>
                  <a:t>(</a:t>
                </a:r>
                <a:r>
                  <a:rPr lang="en-US" altLang="zh-CN" dirty="0" err="1" smtClean="0"/>
                  <a:t>a,a</a:t>
                </a:r>
                <a:r>
                  <a:rPr lang="en-US" altLang="zh-CN" dirty="0" smtClean="0"/>
                  <a:t>)∊R, </a:t>
                </a:r>
                <a:r>
                  <a:rPr lang="zh-CN" altLang="en-US" dirty="0" smtClean="0"/>
                  <a:t>那么定义在集合</a:t>
                </a:r>
                <a:r>
                  <a:rPr lang="en-US" altLang="zh-CN" dirty="0" smtClean="0"/>
                  <a:t>A</a:t>
                </a:r>
                <a:r>
                  <a:rPr lang="zh-CN" altLang="en-US" dirty="0" smtClean="0"/>
                  <a:t>上的关系</a:t>
                </a:r>
                <a:r>
                  <a:rPr lang="en-US" altLang="zh-CN" dirty="0" smtClean="0"/>
                  <a:t>R</a:t>
                </a:r>
                <a:r>
                  <a:rPr lang="zh-CN" altLang="en-US" dirty="0" smtClean="0"/>
                  <a:t>是</a:t>
                </a:r>
                <a:r>
                  <a:rPr lang="zh-CN" altLang="en-US" b="1" dirty="0" smtClean="0">
                    <a:solidFill>
                      <a:srgbClr val="C00000"/>
                    </a:solidFill>
                  </a:rPr>
                  <a:t>自反</a:t>
                </a:r>
                <a:r>
                  <a:rPr lang="zh-CN" altLang="en-US" dirty="0" smtClean="0"/>
                  <a:t>的</a:t>
                </a:r>
                <a:r>
                  <a:rPr lang="en-US" altLang="zh-CN" dirty="0" smtClean="0"/>
                  <a:t>. </a:t>
                </a:r>
              </a:p>
              <a:p>
                <a:r>
                  <a:rPr lang="zh-CN" altLang="en-US" dirty="0"/>
                  <a:t>定义</a:t>
                </a:r>
                <a:r>
                  <a:rPr lang="en-US" altLang="zh-CN" dirty="0"/>
                  <a:t>: </a:t>
                </a:r>
                <a:r>
                  <a:rPr lang="zh-CN" altLang="en-US" dirty="0"/>
                  <a:t>若对每个元素</a:t>
                </a:r>
                <a:r>
                  <a:rPr lang="en-US" altLang="zh-CN" dirty="0" err="1"/>
                  <a:t>a∊A</a:t>
                </a:r>
                <a:r>
                  <a:rPr lang="zh-CN" altLang="en-US" dirty="0"/>
                  <a:t>有</a:t>
                </a:r>
                <a:r>
                  <a:rPr lang="en-US" altLang="zh-CN" dirty="0"/>
                  <a:t>(</a:t>
                </a:r>
                <a:r>
                  <a:rPr lang="en-US" altLang="zh-CN" dirty="0" err="1"/>
                  <a:t>a,a</a:t>
                </a:r>
                <a:r>
                  <a:rPr lang="en-US" altLang="zh-CN" dirty="0"/>
                  <a:t>)</a:t>
                </a:r>
                <a:r>
                  <a:rPr lang="zh-CN" altLang="en-US" dirty="0"/>
                  <a:t>不属于</a:t>
                </a:r>
                <a:r>
                  <a:rPr lang="en-US" altLang="zh-CN" dirty="0"/>
                  <a:t>R, </a:t>
                </a:r>
                <a:r>
                  <a:rPr lang="zh-CN" altLang="en-US" dirty="0"/>
                  <a:t>那么定义在集合</a:t>
                </a:r>
                <a:r>
                  <a:rPr lang="en-US" altLang="zh-CN" dirty="0"/>
                  <a:t>A</a:t>
                </a:r>
                <a:r>
                  <a:rPr lang="zh-CN" altLang="en-US" dirty="0"/>
                  <a:t>上的关系</a:t>
                </a:r>
                <a:r>
                  <a:rPr lang="en-US" altLang="zh-CN" dirty="0"/>
                  <a:t>R</a:t>
                </a:r>
                <a:r>
                  <a:rPr lang="zh-CN" altLang="en-US" dirty="0"/>
                  <a:t>是</a:t>
                </a:r>
                <a:r>
                  <a:rPr lang="zh-CN" altLang="en-US" b="1" dirty="0">
                    <a:solidFill>
                      <a:srgbClr val="C00000"/>
                    </a:solidFill>
                  </a:rPr>
                  <a:t>反自反</a:t>
                </a:r>
                <a:r>
                  <a:rPr lang="zh-CN" altLang="en-US" dirty="0"/>
                  <a:t>的</a:t>
                </a:r>
                <a:r>
                  <a:rPr lang="en-US" altLang="zh-CN" dirty="0"/>
                  <a:t>. </a:t>
                </a:r>
              </a:p>
              <a:p>
                <a:pPr marL="0" indent="0">
                  <a:buNone/>
                </a:pPr>
                <a:endParaRPr lang="en-US" altLang="zh-CN" dirty="0" smtClean="0"/>
              </a:p>
              <a:p>
                <a:endParaRPr lang="en-US" altLang="zh-CN" dirty="0" smtClean="0"/>
              </a:p>
              <a:p>
                <a:r>
                  <a:rPr lang="zh-CN" altLang="en-US" dirty="0" smtClean="0"/>
                  <a:t>例</a:t>
                </a:r>
                <a:r>
                  <a:rPr lang="en-US" dirty="0" smtClean="0"/>
                  <a:t>: </a:t>
                </a:r>
                <a:r>
                  <a:rPr lang="zh-CN" altLang="en-US" dirty="0" smtClean="0"/>
                  <a:t>在集合</a:t>
                </a:r>
                <a:r>
                  <a:rPr lang="en-US" altLang="zh-CN" dirty="0" smtClean="0"/>
                  <a:t>A={1, 2, 3, 4}</a:t>
                </a:r>
                <a:r>
                  <a:rPr lang="zh-CN" altLang="en-US" dirty="0" smtClean="0"/>
                  <a:t>上的哪些关系是自反的？</a:t>
                </a:r>
                <a:endParaRPr lang="en-US" dirty="0" smtClean="0"/>
              </a:p>
              <a:p>
                <a:pPr lvl="1"/>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𝑅</m:t>
                        </m:r>
                      </m:e>
                      <m:sub>
                        <m:r>
                          <a:rPr lang="en-US" altLang="zh-CN" i="1">
                            <a:latin typeface="Cambria Math" panose="02040503050406030204" pitchFamily="18" charset="0"/>
                          </a:rPr>
                          <m:t>1</m:t>
                        </m:r>
                      </m:sub>
                    </m:sSub>
                  </m:oMath>
                </a14:m>
                <a:r>
                  <a:rPr lang="en-US" dirty="0" smtClean="0"/>
                  <a:t> = {(1,1), (1,2), (2,1), (2,2), (3,4), (4,1), (4,4)}</a:t>
                </a:r>
              </a:p>
              <a:p>
                <a:pPr lvl="1"/>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𝑅</m:t>
                        </m:r>
                      </m:e>
                      <m:sub>
                        <m:r>
                          <a:rPr lang="en-US" altLang="zh-CN" i="1">
                            <a:latin typeface="Cambria Math" panose="02040503050406030204" pitchFamily="18" charset="0"/>
                          </a:rPr>
                          <m:t>2</m:t>
                        </m:r>
                      </m:sub>
                    </m:sSub>
                  </m:oMath>
                </a14:m>
                <a:r>
                  <a:rPr lang="en-US" altLang="zh-CN" dirty="0"/>
                  <a:t> = </a:t>
                </a:r>
                <a:r>
                  <a:rPr lang="en-US" altLang="zh-CN" dirty="0" smtClean="0"/>
                  <a:t>{(1,1), (1,2), (2,1)}</a:t>
                </a:r>
              </a:p>
              <a:p>
                <a:pPr lvl="1"/>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𝑅</m:t>
                        </m:r>
                      </m:e>
                      <m:sub>
                        <m:r>
                          <a:rPr lang="en-US" altLang="zh-CN" i="1">
                            <a:latin typeface="Cambria Math" panose="02040503050406030204" pitchFamily="18" charset="0"/>
                          </a:rPr>
                          <m:t>3</m:t>
                        </m:r>
                      </m:sub>
                    </m:sSub>
                  </m:oMath>
                </a14:m>
                <a:r>
                  <a:rPr lang="en-US" dirty="0" smtClean="0"/>
                  <a:t> = {(1,1), (1,2), (1,4), (2,1), (2,2), (3,3), (4,1), (4,4)}</a:t>
                </a:r>
              </a:p>
              <a:p>
                <a:pPr lvl="1"/>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𝑅</m:t>
                        </m:r>
                      </m:e>
                      <m:sub>
                        <m:r>
                          <a:rPr lang="en-US" altLang="zh-CN" i="1">
                            <a:latin typeface="Cambria Math" panose="02040503050406030204" pitchFamily="18" charset="0"/>
                          </a:rPr>
                          <m:t>4</m:t>
                        </m:r>
                      </m:sub>
                    </m:sSub>
                  </m:oMath>
                </a14:m>
                <a:r>
                  <a:rPr lang="en-US" dirty="0" smtClean="0"/>
                  <a:t> = {(2,1), (3,1), (3,2), (4,1), (4,2), (4,3)}</a:t>
                </a:r>
              </a:p>
              <a:p>
                <a:pPr lvl="1"/>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𝑅</m:t>
                        </m:r>
                      </m:e>
                      <m:sub>
                        <m:r>
                          <a:rPr lang="en-US" altLang="zh-CN" i="1">
                            <a:latin typeface="Cambria Math" panose="02040503050406030204" pitchFamily="18" charset="0"/>
                          </a:rPr>
                          <m:t>5</m:t>
                        </m:r>
                      </m:sub>
                    </m:sSub>
                  </m:oMath>
                </a14:m>
                <a:r>
                  <a:rPr lang="en-US" dirty="0" smtClean="0"/>
                  <a:t> = {(1,1), (1,2), (1,3), (1,4), (2,2), (2,3), (2,4), (3,3), (3,4), (4,4)}</a:t>
                </a:r>
              </a:p>
              <a:p>
                <a:pPr lvl="1"/>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𝑅</m:t>
                        </m:r>
                      </m:e>
                      <m:sub>
                        <m:r>
                          <a:rPr lang="en-US" altLang="zh-CN" i="1">
                            <a:latin typeface="Cambria Math" panose="02040503050406030204" pitchFamily="18" charset="0"/>
                          </a:rPr>
                          <m:t>6</m:t>
                        </m:r>
                      </m:sub>
                    </m:sSub>
                  </m:oMath>
                </a14:m>
                <a:r>
                  <a:rPr lang="en-US" dirty="0" smtClean="0"/>
                  <a:t> = {(3,4)}</a:t>
                </a:r>
              </a:p>
              <a:p>
                <a:pPr marL="360363" lvl="1" indent="-360363">
                  <a:buClr>
                    <a:srgbClr val="CEA524"/>
                  </a:buClr>
                  <a:buSzPct val="100000"/>
                  <a:buFont typeface="Wingdings" panose="05000000000000000000" pitchFamily="2" charset="2"/>
                  <a:buChar char="q"/>
                </a:pPr>
                <a:r>
                  <a:rPr lang="zh-CN" altLang="en-US" sz="2800" dirty="0" smtClean="0"/>
                  <a:t>解</a:t>
                </a:r>
                <a:r>
                  <a:rPr lang="en-US" altLang="zh-CN" sz="2800" dirty="0" smtClean="0"/>
                  <a:t>:</a:t>
                </a:r>
                <a14:m>
                  <m:oMath xmlns:m="http://schemas.openxmlformats.org/officeDocument/2006/math">
                    <m:sSub>
                      <m:sSubPr>
                        <m:ctrlPr>
                          <a:rPr lang="en-US" altLang="zh-CN" sz="2800" i="1">
                            <a:latin typeface="Cambria Math" panose="02040503050406030204" pitchFamily="18" charset="0"/>
                          </a:rPr>
                        </m:ctrlPr>
                      </m:sSubPr>
                      <m:e>
                        <m:r>
                          <a:rPr lang="en-US" altLang="zh-CN" sz="2800" b="0" i="1" smtClean="0">
                            <a:latin typeface="Cambria Math" panose="02040503050406030204" pitchFamily="18" charset="0"/>
                          </a:rPr>
                          <m:t> </m:t>
                        </m:r>
                        <m:r>
                          <a:rPr lang="en-US" altLang="zh-CN" sz="2800" i="1">
                            <a:latin typeface="Cambria Math" panose="02040503050406030204" pitchFamily="18" charset="0"/>
                          </a:rPr>
                          <m:t>𝑅</m:t>
                        </m:r>
                      </m:e>
                      <m:sub>
                        <m:r>
                          <a:rPr lang="en-US" altLang="zh-CN" sz="2800" i="1">
                            <a:latin typeface="Cambria Math" panose="02040503050406030204" pitchFamily="18" charset="0"/>
                          </a:rPr>
                          <m:t>3</m:t>
                        </m:r>
                      </m:sub>
                    </m:sSub>
                  </m:oMath>
                </a14:m>
                <a:r>
                  <a:rPr lang="en-US" altLang="zh-CN" sz="2800" dirty="0" smtClean="0"/>
                  <a:t>,</a:t>
                </a:r>
                <a:r>
                  <a:rPr lang="en-US" altLang="zh-CN" sz="2800" dirty="0"/>
                  <a:t> </a:t>
                </a:r>
                <a14:m>
                  <m:oMath xmlns:m="http://schemas.openxmlformats.org/officeDocument/2006/math">
                    <m:sSub>
                      <m:sSubPr>
                        <m:ctrlPr>
                          <a:rPr lang="en-US" altLang="zh-CN" sz="2800" i="1">
                            <a:latin typeface="Cambria Math" panose="02040503050406030204" pitchFamily="18" charset="0"/>
                          </a:rPr>
                        </m:ctrlPr>
                      </m:sSubPr>
                      <m:e>
                        <m:r>
                          <a:rPr lang="en-US" altLang="zh-CN" sz="2800" i="1">
                            <a:latin typeface="Cambria Math" panose="02040503050406030204" pitchFamily="18" charset="0"/>
                          </a:rPr>
                          <m:t>𝑅</m:t>
                        </m:r>
                      </m:e>
                      <m:sub>
                        <m:r>
                          <a:rPr lang="en-US" altLang="zh-CN" sz="2800" i="1">
                            <a:latin typeface="Cambria Math" panose="02040503050406030204" pitchFamily="18" charset="0"/>
                          </a:rPr>
                          <m:t>5</m:t>
                        </m:r>
                      </m:sub>
                    </m:sSub>
                  </m:oMath>
                </a14:m>
                <a:r>
                  <a:rPr lang="zh-CN" altLang="en-US" sz="2800" dirty="0" smtClean="0"/>
                  <a:t>是自反的</a:t>
                </a:r>
                <a:r>
                  <a:rPr lang="en-US" altLang="zh-CN" sz="2800" dirty="0" smtClean="0"/>
                  <a:t>, </a:t>
                </a:r>
                <a:r>
                  <a:rPr lang="zh-CN" altLang="en-US" sz="2800" dirty="0" smtClean="0"/>
                  <a:t>其他都不是自反</a:t>
                </a:r>
                <a:r>
                  <a:rPr lang="zh-CN" altLang="en-US" dirty="0" smtClean="0"/>
                  <a:t>的</a:t>
                </a:r>
                <a:r>
                  <a:rPr lang="en-US" altLang="zh-CN" dirty="0" smtClean="0"/>
                  <a:t>.</a:t>
                </a:r>
                <a:endParaRPr lang="en-US" dirty="0" smtClean="0"/>
              </a:p>
              <a:p>
                <a:pPr lvl="1"/>
                <a:endParaRPr lang="en-US" dirty="0" smtClean="0"/>
              </a:p>
              <a:p>
                <a:pPr lvl="1"/>
                <a:endParaRPr lang="en-US" dirty="0" smtClean="0"/>
              </a:p>
              <a:p>
                <a:endParaRPr lang="en-US" dirty="0" smtClean="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2"/>
                <a:stretch>
                  <a:fillRect l="-888" t="-2262" r="-1165" b="-2738"/>
                </a:stretch>
              </a:blipFill>
            </p:spPr>
            <p:txBody>
              <a:bodyPr/>
              <a:lstStyle/>
              <a:p>
                <a:r>
                  <a:rPr lang="zh-CN" altLang="en-US">
                    <a:noFill/>
                  </a:rPr>
                  <a:t> </a:t>
                </a:r>
              </a:p>
            </p:txBody>
          </p:sp>
        </mc:Fallback>
      </mc:AlternateContent>
      <p:sp>
        <p:nvSpPr>
          <p:cNvPr id="5" name="TextBox 4"/>
          <p:cNvSpPr txBox="1"/>
          <p:nvPr/>
        </p:nvSpPr>
        <p:spPr>
          <a:xfrm>
            <a:off x="7387771" y="1979154"/>
            <a:ext cx="4495800" cy="707886"/>
          </a:xfrm>
          <a:prstGeom prst="rect">
            <a:avLst/>
          </a:prstGeom>
          <a:noFill/>
          <a:ln>
            <a:noFill/>
          </a:ln>
        </p:spPr>
        <p:txBody>
          <a:bodyPr wrap="square" rtlCol="0">
            <a:spAutoFit/>
          </a:bodyPr>
          <a:lstStyle/>
          <a:p>
            <a:r>
              <a:rPr lang="zh-CN" altLang="en-US" sz="2000" dirty="0" smtClean="0">
                <a:latin typeface="微软雅黑" panose="020B0503020204020204" pitchFamily="34" charset="-122"/>
                <a:ea typeface="微软雅黑" panose="020B0503020204020204" pitchFamily="34" charset="-122"/>
              </a:rPr>
              <a:t>若集合</a:t>
            </a:r>
            <a:r>
              <a:rPr lang="en-US" altLang="zh-CN" sz="2000" dirty="0" smtClean="0">
                <a:latin typeface="微软雅黑" panose="020B0503020204020204" pitchFamily="34" charset="-122"/>
                <a:ea typeface="微软雅黑" panose="020B0503020204020204" pitchFamily="34" charset="-122"/>
              </a:rPr>
              <a:t>A</a:t>
            </a:r>
            <a:r>
              <a:rPr lang="zh-CN" altLang="en-US" sz="2000" dirty="0" smtClean="0">
                <a:latin typeface="微软雅黑" panose="020B0503020204020204" pitchFamily="34" charset="-122"/>
                <a:ea typeface="微软雅黑" panose="020B0503020204020204" pitchFamily="34" charset="-122"/>
              </a:rPr>
              <a:t>为空集</a:t>
            </a:r>
            <a:r>
              <a:rPr lang="en-US" altLang="zh-CN" sz="2000" dirty="0" smtClean="0">
                <a:latin typeface="微软雅黑" panose="020B0503020204020204" pitchFamily="34" charset="-122"/>
                <a:ea typeface="微软雅黑" panose="020B0503020204020204" pitchFamily="34" charset="-122"/>
              </a:rPr>
              <a:t>(</a:t>
            </a:r>
            <a:r>
              <a:rPr lang="en-US" sz="2000" i="1" dirty="0" smtClean="0">
                <a:latin typeface="微软雅黑" panose="020B0503020204020204" pitchFamily="34" charset="-122"/>
                <a:ea typeface="微软雅黑" panose="020B0503020204020204" pitchFamily="34" charset="-122"/>
              </a:rPr>
              <a:t>A</a:t>
            </a:r>
            <a:r>
              <a:rPr lang="en-US" sz="2000" dirty="0" smtClean="0">
                <a:latin typeface="微软雅黑" panose="020B0503020204020204" pitchFamily="34" charset="-122"/>
                <a:ea typeface="微软雅黑" panose="020B0503020204020204" pitchFamily="34" charset="-122"/>
              </a:rPr>
              <a:t> </a:t>
            </a:r>
            <a:r>
              <a:rPr lang="en-US" sz="2000" dirty="0">
                <a:latin typeface="微软雅黑" panose="020B0503020204020204" pitchFamily="34" charset="-122"/>
                <a:ea typeface="微软雅黑" panose="020B0503020204020204" pitchFamily="34" charset="-122"/>
              </a:rPr>
              <a:t>= </a:t>
            </a:r>
            <a:r>
              <a:rPr lang="en-US" sz="2000" dirty="0" smtClean="0">
                <a:latin typeface="微软雅黑" panose="020B0503020204020204" pitchFamily="34" charset="-122"/>
                <a:ea typeface="微软雅黑" panose="020B0503020204020204" pitchFamily="34" charset="-122"/>
              </a:rPr>
              <a:t>∅)</a:t>
            </a:r>
            <a:r>
              <a:rPr lang="en-US" altLang="zh-CN" sz="2000" dirty="0" smtClean="0">
                <a:latin typeface="微软雅黑" panose="020B0503020204020204" pitchFamily="34" charset="-122"/>
                <a:ea typeface="微软雅黑" panose="020B0503020204020204" pitchFamily="34" charset="-122"/>
              </a:rPr>
              <a:t>, </a:t>
            </a:r>
            <a:r>
              <a:rPr lang="zh-CN" altLang="en-US" sz="2000" dirty="0" smtClean="0">
                <a:latin typeface="微软雅黑" panose="020B0503020204020204" pitchFamily="34" charset="-122"/>
                <a:ea typeface="微软雅黑" panose="020B0503020204020204" pitchFamily="34" charset="-122"/>
              </a:rPr>
              <a:t>空集上的关系</a:t>
            </a:r>
            <a:r>
              <a:rPr lang="en-US" altLang="zh-CN" sz="2000" dirty="0" smtClean="0">
                <a:latin typeface="微软雅黑" panose="020B0503020204020204" pitchFamily="34" charset="-122"/>
                <a:ea typeface="微软雅黑" panose="020B0503020204020204" pitchFamily="34" charset="-122"/>
              </a:rPr>
              <a:t>R</a:t>
            </a:r>
            <a:r>
              <a:rPr lang="zh-CN" altLang="en-US" sz="2000" dirty="0" smtClean="0">
                <a:latin typeface="微软雅黑" panose="020B0503020204020204" pitchFamily="34" charset="-122"/>
                <a:ea typeface="微软雅黑" panose="020B0503020204020204" pitchFamily="34" charset="-122"/>
              </a:rPr>
              <a:t>是自反的吗？</a:t>
            </a:r>
            <a:endParaRPr lang="en-US" sz="2000" dirty="0">
              <a:latin typeface="微软雅黑" panose="020B0503020204020204" pitchFamily="34" charset="-122"/>
              <a:ea typeface="微软雅黑" panose="020B0503020204020204" pitchFamily="34" charset="-122"/>
            </a:endParaRPr>
          </a:p>
        </p:txBody>
      </p:sp>
      <p:sp>
        <p:nvSpPr>
          <p:cNvPr id="7" name="日期占位符 6"/>
          <p:cNvSpPr>
            <a:spLocks noGrp="1"/>
          </p:cNvSpPr>
          <p:nvPr>
            <p:ph type="dt" sz="half" idx="10"/>
          </p:nvPr>
        </p:nvSpPr>
        <p:spPr/>
        <p:txBody>
          <a:bodyPr/>
          <a:lstStyle/>
          <a:p>
            <a:fld id="{E44B09F1-BBC9-4CCF-AF70-42E772286E40}" type="datetime1">
              <a:rPr lang="zh-CN" altLang="en-US" smtClean="0"/>
              <a:t>2025/3/14</a:t>
            </a:fld>
            <a:endParaRPr lang="zh-CN" altLang="en-US" dirty="0"/>
          </a:p>
        </p:txBody>
      </p:sp>
      <p:sp>
        <p:nvSpPr>
          <p:cNvPr id="8" name="页脚占位符 7"/>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9" name="灯片编号占位符 8"/>
          <p:cNvSpPr>
            <a:spLocks noGrp="1"/>
          </p:cNvSpPr>
          <p:nvPr>
            <p:ph type="sldNum" sz="quarter" idx="12"/>
          </p:nvPr>
        </p:nvSpPr>
        <p:spPr/>
        <p:txBody>
          <a:bodyPr/>
          <a:lstStyle/>
          <a:p>
            <a:fld id="{67913A8A-9EFB-4B5F-9CCB-3D21173FAA85}" type="slidenum">
              <a:rPr lang="zh-CN" altLang="en-US" smtClean="0"/>
              <a:pPr/>
              <a:t>8</a:t>
            </a:fld>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11" end="11"/>
                                            </p:txEl>
                                          </p:spTgt>
                                        </p:tgtEl>
                                        <p:attrNameLst>
                                          <p:attrName>style.visibility</p:attrName>
                                        </p:attrNameLst>
                                      </p:cBhvr>
                                      <p:to>
                                        <p:strVal val="visible"/>
                                      </p:to>
                                    </p:set>
                                    <p:animEffect transition="in" filter="wipe(down)">
                                      <p:cBhvr>
                                        <p:cTn id="7" dur="500"/>
                                        <p:tgtEl>
                                          <p:spTgt spid="3">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smtClean="0"/>
              <a:t>关系的性质</a:t>
            </a:r>
            <a:r>
              <a:rPr lang="en-US" altLang="zh-CN" dirty="0" smtClean="0"/>
              <a:t>:</a:t>
            </a:r>
            <a:r>
              <a:rPr lang="zh-CN" altLang="en-US" dirty="0" smtClean="0"/>
              <a:t>自反关系</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zh-CN" altLang="en-US" dirty="0" smtClean="0"/>
                  <a:t>例</a:t>
                </a:r>
                <a:r>
                  <a:rPr lang="en-US" dirty="0" smtClean="0"/>
                  <a:t>: </a:t>
                </a:r>
                <a:r>
                  <a:rPr lang="zh-CN" altLang="en-US" dirty="0" smtClean="0"/>
                  <a:t>下面在整数集合上的哪些关系是自反的？</a:t>
                </a:r>
                <a:endParaRPr lang="en-US" dirty="0" smtClean="0"/>
              </a:p>
              <a:p>
                <a:pPr lvl="1"/>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𝑅</m:t>
                        </m:r>
                      </m:e>
                      <m:sub>
                        <m:r>
                          <a:rPr lang="en-US" altLang="zh-CN" i="1">
                            <a:latin typeface="Cambria Math" panose="02040503050406030204" pitchFamily="18" charset="0"/>
                          </a:rPr>
                          <m:t>1</m:t>
                        </m:r>
                      </m:sub>
                    </m:sSub>
                  </m:oMath>
                </a14:m>
                <a:r>
                  <a:rPr lang="en-US" dirty="0" smtClean="0"/>
                  <a:t> = {(</a:t>
                </a:r>
                <a:r>
                  <a:rPr lang="en-US" dirty="0" err="1" smtClean="0"/>
                  <a:t>a,b</a:t>
                </a:r>
                <a:r>
                  <a:rPr lang="en-US" dirty="0" smtClean="0"/>
                  <a:t>) | a ≤ b}</a:t>
                </a:r>
              </a:p>
              <a:p>
                <a:pPr lvl="1"/>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𝑅</m:t>
                        </m:r>
                      </m:e>
                      <m:sub>
                        <m:r>
                          <a:rPr lang="en-US" altLang="zh-CN" i="1">
                            <a:latin typeface="Cambria Math" panose="02040503050406030204" pitchFamily="18" charset="0"/>
                          </a:rPr>
                          <m:t>2</m:t>
                        </m:r>
                      </m:sub>
                    </m:sSub>
                  </m:oMath>
                </a14:m>
                <a:r>
                  <a:rPr lang="en-US" altLang="zh-CN" dirty="0"/>
                  <a:t> = {(</a:t>
                </a:r>
                <a:r>
                  <a:rPr lang="en-US" altLang="zh-CN" dirty="0" err="1"/>
                  <a:t>a,b</a:t>
                </a:r>
                <a:r>
                  <a:rPr lang="en-US" altLang="zh-CN" dirty="0"/>
                  <a:t>) | a &gt; b} </a:t>
                </a:r>
              </a:p>
              <a:p>
                <a:pPr lvl="1"/>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𝑅</m:t>
                        </m:r>
                      </m:e>
                      <m:sub>
                        <m:r>
                          <a:rPr lang="en-US" altLang="zh-CN" i="1">
                            <a:latin typeface="Cambria Math" panose="02040503050406030204" pitchFamily="18" charset="0"/>
                          </a:rPr>
                          <m:t>3</m:t>
                        </m:r>
                      </m:sub>
                    </m:sSub>
                  </m:oMath>
                </a14:m>
                <a:r>
                  <a:rPr lang="en-US" altLang="zh-CN" dirty="0"/>
                  <a:t> = {(</a:t>
                </a:r>
                <a:r>
                  <a:rPr lang="en-US" altLang="zh-CN" dirty="0" err="1"/>
                  <a:t>a,b</a:t>
                </a:r>
                <a:r>
                  <a:rPr lang="en-US" altLang="zh-CN" dirty="0"/>
                  <a:t>) | a = </a:t>
                </a:r>
                <a:r>
                  <a:rPr lang="en-US" altLang="zh-CN" dirty="0" smtClean="0"/>
                  <a:t>b</a:t>
                </a:r>
                <a:r>
                  <a:rPr lang="zh-CN" altLang="en-US" dirty="0" smtClean="0"/>
                  <a:t>或</a:t>
                </a:r>
                <a:r>
                  <a:rPr lang="en-US" altLang="zh-CN" dirty="0" smtClean="0"/>
                  <a:t>a =−</a:t>
                </a:r>
                <a:r>
                  <a:rPr lang="en-US" altLang="zh-CN" dirty="0"/>
                  <a:t>b</a:t>
                </a:r>
                <a:r>
                  <a:rPr lang="en-US" altLang="zh-CN" dirty="0" smtClean="0"/>
                  <a:t>}</a:t>
                </a:r>
                <a:endParaRPr lang="en-US" altLang="zh-CN" dirty="0"/>
              </a:p>
              <a:p>
                <a:pPr lvl="1"/>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𝑅</m:t>
                        </m:r>
                      </m:e>
                      <m:sub>
                        <m:r>
                          <a:rPr lang="en-US" altLang="zh-CN" i="1">
                            <a:latin typeface="Cambria Math" panose="02040503050406030204" pitchFamily="18" charset="0"/>
                          </a:rPr>
                          <m:t>4</m:t>
                        </m:r>
                      </m:sub>
                    </m:sSub>
                  </m:oMath>
                </a14:m>
                <a:r>
                  <a:rPr lang="en-US" altLang="zh-CN" dirty="0"/>
                  <a:t> = {(</a:t>
                </a:r>
                <a:r>
                  <a:rPr lang="en-US" altLang="zh-CN" dirty="0" err="1"/>
                  <a:t>a,b</a:t>
                </a:r>
                <a:r>
                  <a:rPr lang="en-US" altLang="zh-CN" dirty="0"/>
                  <a:t>) | a = b</a:t>
                </a:r>
                <a:r>
                  <a:rPr lang="en-US" altLang="zh-CN" dirty="0" smtClean="0"/>
                  <a:t>}</a:t>
                </a:r>
                <a:endParaRPr lang="en-US" altLang="zh-CN" dirty="0"/>
              </a:p>
              <a:p>
                <a:pPr lvl="1"/>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𝑅</m:t>
                        </m:r>
                      </m:e>
                      <m:sub>
                        <m:r>
                          <a:rPr lang="en-US" altLang="zh-CN" i="1">
                            <a:latin typeface="Cambria Math" panose="02040503050406030204" pitchFamily="18" charset="0"/>
                          </a:rPr>
                          <m:t>5</m:t>
                        </m:r>
                      </m:sub>
                    </m:sSub>
                  </m:oMath>
                </a14:m>
                <a:r>
                  <a:rPr lang="en-US" altLang="zh-CN" dirty="0"/>
                  <a:t> = {(</a:t>
                </a:r>
                <a:r>
                  <a:rPr lang="en-US" altLang="zh-CN" dirty="0" err="1"/>
                  <a:t>a,b</a:t>
                </a:r>
                <a:r>
                  <a:rPr lang="en-US" altLang="zh-CN" dirty="0"/>
                  <a:t>) | a = b + 1} </a:t>
                </a:r>
              </a:p>
              <a:p>
                <a:pPr lvl="1"/>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𝑅</m:t>
                        </m:r>
                      </m:e>
                      <m:sub>
                        <m:r>
                          <a:rPr lang="en-US" altLang="zh-CN" i="1">
                            <a:latin typeface="Cambria Math" panose="02040503050406030204" pitchFamily="18" charset="0"/>
                          </a:rPr>
                          <m:t>6</m:t>
                        </m:r>
                      </m:sub>
                    </m:sSub>
                  </m:oMath>
                </a14:m>
                <a:r>
                  <a:rPr lang="en-US" altLang="zh-CN" dirty="0"/>
                  <a:t> = {(</a:t>
                </a:r>
                <a:r>
                  <a:rPr lang="en-US" altLang="zh-CN" dirty="0" err="1"/>
                  <a:t>a,b</a:t>
                </a:r>
                <a:r>
                  <a:rPr lang="en-US" altLang="zh-CN" dirty="0"/>
                  <a:t>) | a + b ≤ 3}  </a:t>
                </a:r>
              </a:p>
              <a:p>
                <a:pPr marL="360363" lvl="1" indent="-360363">
                  <a:buClr>
                    <a:srgbClr val="CEA524"/>
                  </a:buClr>
                  <a:buSzPct val="100000"/>
                  <a:buFont typeface="Wingdings" panose="05000000000000000000" pitchFamily="2" charset="2"/>
                  <a:buChar char="q"/>
                </a:pPr>
                <a:r>
                  <a:rPr lang="zh-CN" altLang="en-US" sz="2800" dirty="0" smtClean="0"/>
                  <a:t>解</a:t>
                </a:r>
                <a:r>
                  <a:rPr lang="en-US" altLang="zh-CN" sz="2800" dirty="0" smtClean="0"/>
                  <a:t>:</a:t>
                </a:r>
                <a:endParaRPr lang="en-US" dirty="0" smtClean="0"/>
              </a:p>
              <a:p>
                <a:pPr lvl="1"/>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𝑅</m:t>
                        </m:r>
                      </m:e>
                      <m:sub>
                        <m:r>
                          <a:rPr lang="en-US" altLang="zh-CN" i="1">
                            <a:latin typeface="Cambria Math" panose="02040503050406030204" pitchFamily="18" charset="0"/>
                          </a:rPr>
                          <m:t>1</m:t>
                        </m:r>
                      </m:sub>
                    </m:sSub>
                  </m:oMath>
                </a14:m>
                <a:r>
                  <a:rPr lang="en-US" altLang="zh-CN" dirty="0"/>
                  <a:t>,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𝑅</m:t>
                        </m:r>
                      </m:e>
                      <m:sub>
                        <m:r>
                          <a:rPr lang="en-US" altLang="zh-CN" i="1">
                            <a:latin typeface="Cambria Math" panose="02040503050406030204" pitchFamily="18" charset="0"/>
                          </a:rPr>
                          <m:t>3</m:t>
                        </m:r>
                      </m:sub>
                    </m:sSub>
                  </m:oMath>
                </a14:m>
                <a:r>
                  <a:rPr lang="en-US" altLang="zh-CN" dirty="0"/>
                  <a:t>,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𝑅</m:t>
                        </m:r>
                      </m:e>
                      <m:sub>
                        <m:r>
                          <a:rPr lang="en-US" altLang="zh-CN" i="1">
                            <a:latin typeface="Cambria Math" panose="02040503050406030204" pitchFamily="18" charset="0"/>
                          </a:rPr>
                          <m:t>4</m:t>
                        </m:r>
                      </m:sub>
                    </m:sSub>
                  </m:oMath>
                </a14:m>
                <a:r>
                  <a:rPr lang="zh-CN" altLang="en-US" dirty="0"/>
                  <a:t>是自反的</a:t>
                </a:r>
                <a:endParaRPr lang="en-US" dirty="0" smtClean="0"/>
              </a:p>
              <a:p>
                <a:pPr lvl="1"/>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𝑅</m:t>
                        </m:r>
                      </m:e>
                      <m:sub>
                        <m:r>
                          <a:rPr lang="en-US" altLang="zh-CN" i="1">
                            <a:latin typeface="Cambria Math" panose="02040503050406030204" pitchFamily="18" charset="0"/>
                          </a:rPr>
                          <m:t>2</m:t>
                        </m:r>
                      </m:sub>
                    </m:sSub>
                  </m:oMath>
                </a14:m>
                <a:r>
                  <a:rPr lang="zh-CN" altLang="en-US" dirty="0" smtClean="0"/>
                  <a:t>不是</a:t>
                </a:r>
                <a:r>
                  <a:rPr lang="zh-CN" altLang="en-US" dirty="0"/>
                  <a:t>自反</a:t>
                </a:r>
                <a:r>
                  <a:rPr lang="zh-CN" altLang="en-US" dirty="0" smtClean="0"/>
                  <a:t>的</a:t>
                </a:r>
                <a:r>
                  <a:rPr lang="en-US" altLang="zh-CN" dirty="0" smtClean="0"/>
                  <a:t>, </a:t>
                </a:r>
                <a:r>
                  <a:rPr lang="zh-CN" altLang="en-US" dirty="0" smtClean="0"/>
                  <a:t>例如</a:t>
                </a:r>
                <a:r>
                  <a:rPr lang="en-US" altLang="zh-CN" dirty="0"/>
                  <a:t>3≯3</a:t>
                </a:r>
              </a:p>
              <a:p>
                <a:pPr lvl="1"/>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𝑅</m:t>
                        </m:r>
                      </m:e>
                      <m:sub>
                        <m:r>
                          <a:rPr lang="en-US" altLang="zh-CN" i="1">
                            <a:latin typeface="Cambria Math" panose="02040503050406030204" pitchFamily="18" charset="0"/>
                          </a:rPr>
                          <m:t>5</m:t>
                        </m:r>
                      </m:sub>
                    </m:sSub>
                  </m:oMath>
                </a14:m>
                <a:r>
                  <a:rPr lang="zh-CN" altLang="en-US" dirty="0" smtClean="0"/>
                  <a:t>不是</a:t>
                </a:r>
                <a:r>
                  <a:rPr lang="zh-CN" altLang="en-US" dirty="0"/>
                  <a:t>自反</a:t>
                </a:r>
                <a:r>
                  <a:rPr lang="zh-CN" altLang="en-US" dirty="0" smtClean="0"/>
                  <a:t>的</a:t>
                </a:r>
                <a:r>
                  <a:rPr lang="en-US" altLang="zh-CN" dirty="0" smtClean="0"/>
                  <a:t>, </a:t>
                </a:r>
                <a:r>
                  <a:rPr lang="zh-CN" altLang="en-US" dirty="0" smtClean="0"/>
                  <a:t>例如</a:t>
                </a:r>
                <a:r>
                  <a:rPr lang="en-US" altLang="zh-CN" dirty="0"/>
                  <a:t>3≠3+1</a:t>
                </a:r>
                <a:endParaRPr lang="en-US" altLang="zh-CN" dirty="0" smtClean="0"/>
              </a:p>
              <a:p>
                <a:pPr lvl="1"/>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𝑅</m:t>
                        </m:r>
                      </m:e>
                      <m:sub>
                        <m:r>
                          <a:rPr lang="en-US" altLang="zh-CN" i="1">
                            <a:latin typeface="Cambria Math" panose="02040503050406030204" pitchFamily="18" charset="0"/>
                          </a:rPr>
                          <m:t>6</m:t>
                        </m:r>
                      </m:sub>
                    </m:sSub>
                  </m:oMath>
                </a14:m>
                <a:r>
                  <a:rPr lang="zh-CN" altLang="en-US" dirty="0"/>
                  <a:t>不是自反</a:t>
                </a:r>
                <a:r>
                  <a:rPr lang="zh-CN" altLang="en-US" dirty="0" smtClean="0"/>
                  <a:t>的</a:t>
                </a:r>
                <a:r>
                  <a:rPr lang="en-US" altLang="zh-CN" dirty="0"/>
                  <a:t>, </a:t>
                </a:r>
                <a:r>
                  <a:rPr lang="zh-CN" altLang="en-US" dirty="0" smtClean="0"/>
                  <a:t>例如</a:t>
                </a:r>
                <a:r>
                  <a:rPr lang="en-US" altLang="zh-CN" dirty="0"/>
                  <a:t>4+4≰3</a:t>
                </a:r>
                <a:endParaRPr lang="en-US" dirty="0" smtClean="0"/>
              </a:p>
              <a:p>
                <a:endParaRPr lang="en-US" dirty="0" smtClean="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999" t="-1310"/>
                </a:stretch>
              </a:blipFill>
            </p:spPr>
            <p:txBody>
              <a:bodyPr/>
              <a:lstStyle/>
              <a:p>
                <a:r>
                  <a:rPr lang="zh-CN" altLang="en-US">
                    <a:noFill/>
                  </a:rPr>
                  <a:t> </a:t>
                </a:r>
              </a:p>
            </p:txBody>
          </p:sp>
        </mc:Fallback>
      </mc:AlternateContent>
      <p:sp>
        <p:nvSpPr>
          <p:cNvPr id="7" name="日期占位符 6"/>
          <p:cNvSpPr>
            <a:spLocks noGrp="1"/>
          </p:cNvSpPr>
          <p:nvPr>
            <p:ph type="dt" sz="half" idx="10"/>
          </p:nvPr>
        </p:nvSpPr>
        <p:spPr/>
        <p:txBody>
          <a:bodyPr/>
          <a:lstStyle/>
          <a:p>
            <a:fld id="{8D0BF338-8492-415C-8F60-1F760688397B}" type="datetime1">
              <a:rPr lang="zh-CN" altLang="en-US" smtClean="0"/>
              <a:t>2025/3/14</a:t>
            </a:fld>
            <a:endParaRPr lang="zh-CN" altLang="en-US" dirty="0"/>
          </a:p>
        </p:txBody>
      </p:sp>
      <p:sp>
        <p:nvSpPr>
          <p:cNvPr id="8" name="页脚占位符 7"/>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9" name="灯片编号占位符 8"/>
          <p:cNvSpPr>
            <a:spLocks noGrp="1"/>
          </p:cNvSpPr>
          <p:nvPr>
            <p:ph type="sldNum" sz="quarter" idx="12"/>
          </p:nvPr>
        </p:nvSpPr>
        <p:spPr/>
        <p:txBody>
          <a:bodyPr/>
          <a:lstStyle/>
          <a:p>
            <a:fld id="{67913A8A-9EFB-4B5F-9CCB-3D21173FAA85}" type="slidenum">
              <a:rPr lang="zh-CN" altLang="en-US" smtClean="0"/>
              <a:pPr/>
              <a:t>9</a:t>
            </a:fld>
            <a:endParaRPr lang="zh-CN" altLang="en-US" dirty="0"/>
          </a:p>
        </p:txBody>
      </p:sp>
    </p:spTree>
    <p:extLst>
      <p:ext uri="{BB962C8B-B14F-4D97-AF65-F5344CB8AC3E}">
        <p14:creationId xmlns:p14="http://schemas.microsoft.com/office/powerpoint/2010/main" val="15810588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7" end="7"/>
                                            </p:txEl>
                                          </p:spTgt>
                                        </p:tgtEl>
                                        <p:attrNameLst>
                                          <p:attrName>style.visibility</p:attrName>
                                        </p:attrNameLst>
                                      </p:cBhvr>
                                      <p:to>
                                        <p:strVal val="visible"/>
                                      </p:to>
                                    </p:set>
                                    <p:animEffect transition="in" filter="wipe(down)">
                                      <p:cBhvr>
                                        <p:cTn id="7" dur="500"/>
                                        <p:tgtEl>
                                          <p:spTgt spid="3">
                                            <p:txEl>
                                              <p:pRg st="7" end="7"/>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3">
                                            <p:txEl>
                                              <p:pRg st="8" end="8"/>
                                            </p:txEl>
                                          </p:spTgt>
                                        </p:tgtEl>
                                        <p:attrNameLst>
                                          <p:attrName>style.visibility</p:attrName>
                                        </p:attrNameLst>
                                      </p:cBhvr>
                                      <p:to>
                                        <p:strVal val="visible"/>
                                      </p:to>
                                    </p:set>
                                    <p:animEffect transition="in" filter="wipe(down)">
                                      <p:cBhvr>
                                        <p:cTn id="10" dur="500"/>
                                        <p:tgtEl>
                                          <p:spTgt spid="3">
                                            <p:txEl>
                                              <p:pRg st="8" end="8"/>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3">
                                            <p:txEl>
                                              <p:pRg st="9" end="9"/>
                                            </p:txEl>
                                          </p:spTgt>
                                        </p:tgtEl>
                                        <p:attrNameLst>
                                          <p:attrName>style.visibility</p:attrName>
                                        </p:attrNameLst>
                                      </p:cBhvr>
                                      <p:to>
                                        <p:strVal val="visible"/>
                                      </p:to>
                                    </p:set>
                                    <p:animEffect transition="in" filter="wipe(down)">
                                      <p:cBhvr>
                                        <p:cTn id="13" dur="500"/>
                                        <p:tgtEl>
                                          <p:spTgt spid="3">
                                            <p:txEl>
                                              <p:pRg st="9" end="9"/>
                                            </p:txEl>
                                          </p:spTgt>
                                        </p:tgtEl>
                                      </p:cBhvr>
                                    </p:animEffect>
                                  </p:childTnLst>
                                </p:cTn>
                              </p:par>
                              <p:par>
                                <p:cTn id="14" presetID="22" presetClass="entr" presetSubtype="4" fill="hold" nodeType="withEffect">
                                  <p:stCondLst>
                                    <p:cond delay="0"/>
                                  </p:stCondLst>
                                  <p:childTnLst>
                                    <p:set>
                                      <p:cBhvr>
                                        <p:cTn id="15" dur="1" fill="hold">
                                          <p:stCondLst>
                                            <p:cond delay="0"/>
                                          </p:stCondLst>
                                        </p:cTn>
                                        <p:tgtEl>
                                          <p:spTgt spid="3">
                                            <p:txEl>
                                              <p:pRg st="10" end="10"/>
                                            </p:txEl>
                                          </p:spTgt>
                                        </p:tgtEl>
                                        <p:attrNameLst>
                                          <p:attrName>style.visibility</p:attrName>
                                        </p:attrNameLst>
                                      </p:cBhvr>
                                      <p:to>
                                        <p:strVal val="visible"/>
                                      </p:to>
                                    </p:set>
                                    <p:animEffect transition="in" filter="wipe(down)">
                                      <p:cBhvr>
                                        <p:cTn id="16" dur="500"/>
                                        <p:tgtEl>
                                          <p:spTgt spid="3">
                                            <p:txEl>
                                              <p:pRg st="10" end="10"/>
                                            </p:txEl>
                                          </p:spTgt>
                                        </p:tgtEl>
                                      </p:cBhvr>
                                    </p:animEffect>
                                  </p:childTnLst>
                                </p:cTn>
                              </p:par>
                              <p:par>
                                <p:cTn id="17" presetID="22" presetClass="entr" presetSubtype="4" fill="hold" nodeType="withEffect">
                                  <p:stCondLst>
                                    <p:cond delay="0"/>
                                  </p:stCondLst>
                                  <p:childTnLst>
                                    <p:set>
                                      <p:cBhvr>
                                        <p:cTn id="18" dur="1" fill="hold">
                                          <p:stCondLst>
                                            <p:cond delay="0"/>
                                          </p:stCondLst>
                                        </p:cTn>
                                        <p:tgtEl>
                                          <p:spTgt spid="3">
                                            <p:txEl>
                                              <p:pRg st="11" end="11"/>
                                            </p:txEl>
                                          </p:spTgt>
                                        </p:tgtEl>
                                        <p:attrNameLst>
                                          <p:attrName>style.visibility</p:attrName>
                                        </p:attrNameLst>
                                      </p:cBhvr>
                                      <p:to>
                                        <p:strVal val="visible"/>
                                      </p:to>
                                    </p:set>
                                    <p:animEffect transition="in" filter="wipe(down)">
                                      <p:cBhvr>
                                        <p:cTn id="19" dur="500"/>
                                        <p:tgtEl>
                                          <p:spTgt spid="3">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457200" y="1143000"/>
            <a:ext cx="11277599" cy="838200"/>
          </a:xfrm>
          <a:prstGeom prst="rect">
            <a:avLst/>
          </a:prstGeom>
          <a:solidFill>
            <a:schemeClr val="accent5">
              <a:lumMod val="40000"/>
              <a:lumOff val="6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itle 1"/>
          <p:cNvSpPr>
            <a:spLocks noGrp="1"/>
          </p:cNvSpPr>
          <p:nvPr>
            <p:ph type="title"/>
          </p:nvPr>
        </p:nvSpPr>
        <p:spPr/>
        <p:txBody>
          <a:bodyPr/>
          <a:lstStyle/>
          <a:p>
            <a:r>
              <a:rPr lang="zh-CN" altLang="en-US" dirty="0"/>
              <a:t>关系的性质</a:t>
            </a:r>
            <a:r>
              <a:rPr lang="en-US" altLang="zh-CN" dirty="0"/>
              <a:t>:</a:t>
            </a:r>
            <a:r>
              <a:rPr lang="zh-CN" altLang="en-US" dirty="0" smtClean="0"/>
              <a:t>对称关系</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lnSpcReduction="10000"/>
              </a:bodyPr>
              <a:lstStyle/>
              <a:p>
                <a:r>
                  <a:rPr lang="zh-CN" altLang="en-US" dirty="0" smtClean="0"/>
                  <a:t>定义</a:t>
                </a:r>
                <a:r>
                  <a:rPr lang="en-US" dirty="0" smtClean="0"/>
                  <a:t>: </a:t>
                </a:r>
                <a:r>
                  <a:rPr lang="zh-CN" altLang="en-US" dirty="0" smtClean="0"/>
                  <a:t>对于任意</a:t>
                </a:r>
                <a:r>
                  <a:rPr lang="en-US" altLang="zh-CN" dirty="0" err="1" smtClean="0"/>
                  <a:t>a,b</a:t>
                </a:r>
                <a:r>
                  <a:rPr lang="en-US" altLang="zh-CN" dirty="0" smtClean="0"/>
                  <a:t>∊ </a:t>
                </a:r>
                <a:r>
                  <a:rPr lang="en-US" altLang="zh-CN" dirty="0"/>
                  <a:t>A </a:t>
                </a:r>
                <a:r>
                  <a:rPr lang="en-US" altLang="zh-CN" dirty="0" smtClean="0"/>
                  <a:t>,</a:t>
                </a:r>
                <a:r>
                  <a:rPr lang="zh-CN" altLang="en-US" dirty="0" smtClean="0"/>
                  <a:t>若只要</a:t>
                </a:r>
                <a:r>
                  <a:rPr lang="en-US" altLang="zh-CN" dirty="0" smtClean="0"/>
                  <a:t>(</a:t>
                </a:r>
                <a:r>
                  <a:rPr lang="en-US" altLang="zh-CN" dirty="0" err="1" smtClean="0"/>
                  <a:t>a,b</a:t>
                </a:r>
                <a:r>
                  <a:rPr lang="en-US" altLang="zh-CN" dirty="0" smtClean="0"/>
                  <a:t>)∊R, </a:t>
                </a:r>
                <a:r>
                  <a:rPr lang="zh-CN" altLang="en-US" dirty="0" smtClean="0"/>
                  <a:t>就有</a:t>
                </a:r>
                <a:r>
                  <a:rPr lang="en-US" altLang="zh-CN" dirty="0" smtClean="0"/>
                  <a:t>(</a:t>
                </a:r>
                <a:r>
                  <a:rPr lang="en-US" altLang="zh-CN" dirty="0" err="1" smtClean="0"/>
                  <a:t>b,a</a:t>
                </a:r>
                <a:r>
                  <a:rPr lang="en-US" altLang="zh-CN" dirty="0" smtClean="0"/>
                  <a:t>)∊R, </a:t>
                </a:r>
                <a:r>
                  <a:rPr lang="zh-CN" altLang="en-US" dirty="0" smtClean="0"/>
                  <a:t>则称定义在集合</a:t>
                </a:r>
                <a:r>
                  <a:rPr lang="en-US" altLang="zh-CN" dirty="0" smtClean="0"/>
                  <a:t>A</a:t>
                </a:r>
                <a:r>
                  <a:rPr lang="zh-CN" altLang="en-US" dirty="0" smtClean="0"/>
                  <a:t>上的关系</a:t>
                </a:r>
                <a:r>
                  <a:rPr lang="en-US" dirty="0" smtClean="0"/>
                  <a:t>R</a:t>
                </a:r>
                <a:r>
                  <a:rPr lang="zh-CN" altLang="en-US" dirty="0" smtClean="0"/>
                  <a:t>是</a:t>
                </a:r>
                <a:r>
                  <a:rPr lang="zh-CN" altLang="en-US" b="1" dirty="0" smtClean="0">
                    <a:solidFill>
                      <a:srgbClr val="C00000"/>
                    </a:solidFill>
                  </a:rPr>
                  <a:t>对称</a:t>
                </a:r>
                <a:r>
                  <a:rPr lang="zh-CN" altLang="en-US" dirty="0" smtClean="0"/>
                  <a:t>的</a:t>
                </a:r>
                <a:r>
                  <a:rPr lang="en-US" altLang="zh-CN" dirty="0" smtClean="0"/>
                  <a:t>.</a:t>
                </a:r>
              </a:p>
              <a:p>
                <a:r>
                  <a:rPr lang="en-US" altLang="zh-CN" dirty="0" smtClean="0"/>
                  <a:t>R</a:t>
                </a:r>
                <a:r>
                  <a:rPr lang="zh-CN" altLang="en-US" dirty="0" smtClean="0"/>
                  <a:t>关系是对称的</a:t>
                </a:r>
                <a:r>
                  <a:rPr lang="en-US" altLang="zh-CN" dirty="0" smtClean="0"/>
                  <a:t>, </a:t>
                </a:r>
                <a:r>
                  <a:rPr lang="zh-CN" altLang="en-US" dirty="0" smtClean="0"/>
                  <a:t>当且仅当若</a:t>
                </a:r>
                <a:r>
                  <a:rPr lang="en-US" altLang="zh-CN" dirty="0" smtClean="0"/>
                  <a:t>a</a:t>
                </a:r>
                <a:r>
                  <a:rPr lang="zh-CN" altLang="en-US" dirty="0" smtClean="0"/>
                  <a:t>和</a:t>
                </a:r>
                <a:r>
                  <a:rPr lang="en-US" altLang="zh-CN" dirty="0" smtClean="0"/>
                  <a:t>b</a:t>
                </a:r>
                <a:r>
                  <a:rPr lang="zh-CN" altLang="en-US" dirty="0" smtClean="0"/>
                  <a:t>有关系</a:t>
                </a:r>
                <a:r>
                  <a:rPr lang="en-US" altLang="zh-CN" dirty="0" smtClean="0"/>
                  <a:t>, </a:t>
                </a:r>
                <a:r>
                  <a:rPr lang="zh-CN" altLang="en-US" dirty="0" smtClean="0"/>
                  <a:t>则</a:t>
                </a:r>
                <a:r>
                  <a:rPr lang="en-US" altLang="zh-CN" dirty="0" smtClean="0"/>
                  <a:t>b</a:t>
                </a:r>
                <a:r>
                  <a:rPr lang="zh-CN" altLang="en-US" dirty="0" smtClean="0"/>
                  <a:t>和</a:t>
                </a:r>
                <a:r>
                  <a:rPr lang="en-US" altLang="zh-CN" dirty="0" smtClean="0"/>
                  <a:t>a</a:t>
                </a:r>
                <a:r>
                  <a:rPr lang="zh-CN" altLang="en-US" dirty="0" smtClean="0"/>
                  <a:t>也有关系</a:t>
                </a:r>
                <a:endParaRPr lang="en-US" altLang="zh-CN" dirty="0" smtClean="0"/>
              </a:p>
              <a:p>
                <a:endParaRPr lang="en-US" altLang="zh-CN" dirty="0" smtClean="0"/>
              </a:p>
              <a:p>
                <a:r>
                  <a:rPr lang="zh-CN" altLang="en-US" dirty="0" smtClean="0"/>
                  <a:t>例</a:t>
                </a:r>
                <a:r>
                  <a:rPr lang="en-US" altLang="zh-CN" dirty="0" smtClean="0"/>
                  <a:t>: </a:t>
                </a:r>
                <a:r>
                  <a:rPr lang="zh-CN" altLang="en-US" dirty="0"/>
                  <a:t>在集合</a:t>
                </a:r>
                <a:r>
                  <a:rPr lang="en-US" altLang="zh-CN" dirty="0"/>
                  <a:t>A={1, 2, 3, 4}</a:t>
                </a:r>
                <a:r>
                  <a:rPr lang="zh-CN" altLang="en-US" dirty="0"/>
                  <a:t>上的哪些关系</a:t>
                </a:r>
                <a:r>
                  <a:rPr lang="zh-CN" altLang="en-US" dirty="0" smtClean="0"/>
                  <a:t>是</a:t>
                </a:r>
                <a:r>
                  <a:rPr lang="zh-CN" altLang="en-US" dirty="0"/>
                  <a:t>对称</a:t>
                </a:r>
                <a:r>
                  <a:rPr lang="zh-CN" altLang="en-US" dirty="0" smtClean="0"/>
                  <a:t>的</a:t>
                </a:r>
                <a:r>
                  <a:rPr lang="zh-CN" altLang="en-US" dirty="0"/>
                  <a:t>？</a:t>
                </a:r>
                <a:endParaRPr lang="en-US" altLang="zh-CN" dirty="0"/>
              </a:p>
              <a:p>
                <a:pPr lvl="1"/>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𝑅</m:t>
                        </m:r>
                      </m:e>
                      <m:sub>
                        <m:r>
                          <a:rPr lang="en-US" altLang="zh-CN" i="1">
                            <a:latin typeface="Cambria Math" panose="02040503050406030204" pitchFamily="18" charset="0"/>
                          </a:rPr>
                          <m:t>1</m:t>
                        </m:r>
                      </m:sub>
                    </m:sSub>
                  </m:oMath>
                </a14:m>
                <a:r>
                  <a:rPr lang="en-US" altLang="zh-CN" dirty="0"/>
                  <a:t> = {(1,1), (1,2), (2,1), (2,2), (3,4), (4,1), (4,4)}</a:t>
                </a:r>
              </a:p>
              <a:p>
                <a:pPr lvl="1"/>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𝑅</m:t>
                        </m:r>
                      </m:e>
                      <m:sub>
                        <m:r>
                          <a:rPr lang="en-US" altLang="zh-CN" i="1">
                            <a:latin typeface="Cambria Math" panose="02040503050406030204" pitchFamily="18" charset="0"/>
                          </a:rPr>
                          <m:t>2</m:t>
                        </m:r>
                      </m:sub>
                    </m:sSub>
                  </m:oMath>
                </a14:m>
                <a:r>
                  <a:rPr lang="en-US" altLang="zh-CN" dirty="0"/>
                  <a:t> = {(1,1), (1,2), (2,1)}</a:t>
                </a:r>
              </a:p>
              <a:p>
                <a:pPr lvl="1"/>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𝑅</m:t>
                        </m:r>
                      </m:e>
                      <m:sub>
                        <m:r>
                          <a:rPr lang="en-US" altLang="zh-CN" i="1">
                            <a:latin typeface="Cambria Math" panose="02040503050406030204" pitchFamily="18" charset="0"/>
                          </a:rPr>
                          <m:t>3</m:t>
                        </m:r>
                      </m:sub>
                    </m:sSub>
                  </m:oMath>
                </a14:m>
                <a:r>
                  <a:rPr lang="en-US" altLang="zh-CN" dirty="0"/>
                  <a:t> = {(1,1), (1,2), (1,4), (2,1), (2,2), (3,3), (4,1), (4,4)}</a:t>
                </a:r>
              </a:p>
              <a:p>
                <a:pPr lvl="1"/>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𝑅</m:t>
                        </m:r>
                      </m:e>
                      <m:sub>
                        <m:r>
                          <a:rPr lang="en-US" altLang="zh-CN" i="1">
                            <a:latin typeface="Cambria Math" panose="02040503050406030204" pitchFamily="18" charset="0"/>
                          </a:rPr>
                          <m:t>4</m:t>
                        </m:r>
                      </m:sub>
                    </m:sSub>
                  </m:oMath>
                </a14:m>
                <a:r>
                  <a:rPr lang="en-US" altLang="zh-CN" dirty="0"/>
                  <a:t> </a:t>
                </a:r>
                <a:r>
                  <a:rPr lang="en-US" altLang="zh-CN" dirty="0" smtClean="0"/>
                  <a:t>= {(2,1), (3,1), (3,2), (4,1), (4,2), (4,3)}</a:t>
                </a:r>
              </a:p>
              <a:p>
                <a:pPr lvl="1"/>
                <a14:m>
                  <m:oMath xmlns:m="http://schemas.openxmlformats.org/officeDocument/2006/math">
                    <m:sSub>
                      <m:sSubPr>
                        <m:ctrlPr>
                          <a:rPr lang="en-US" altLang="zh-CN" i="1" smtClean="0">
                            <a:latin typeface="Cambria Math" panose="02040503050406030204" pitchFamily="18" charset="0"/>
                          </a:rPr>
                        </m:ctrlPr>
                      </m:sSubPr>
                      <m:e>
                        <m:r>
                          <a:rPr lang="en-US" altLang="zh-CN" i="1">
                            <a:latin typeface="Cambria Math" panose="02040503050406030204" pitchFamily="18" charset="0"/>
                          </a:rPr>
                          <m:t>𝑅</m:t>
                        </m:r>
                      </m:e>
                      <m:sub>
                        <m:r>
                          <a:rPr lang="en-US" altLang="zh-CN" i="1">
                            <a:latin typeface="Cambria Math" panose="02040503050406030204" pitchFamily="18" charset="0"/>
                          </a:rPr>
                          <m:t>5</m:t>
                        </m:r>
                      </m:sub>
                    </m:sSub>
                  </m:oMath>
                </a14:m>
                <a:r>
                  <a:rPr lang="en-US" altLang="zh-CN" dirty="0"/>
                  <a:t> = {(1,1), (1,2), (1,3), (1,4), (2,2), (2,3), (2,4), (3,3), (3,4), (4,4)}</a:t>
                </a:r>
              </a:p>
              <a:p>
                <a:pPr lvl="1"/>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𝑅</m:t>
                        </m:r>
                      </m:e>
                      <m:sub>
                        <m:r>
                          <a:rPr lang="en-US" altLang="zh-CN" i="1">
                            <a:latin typeface="Cambria Math" panose="02040503050406030204" pitchFamily="18" charset="0"/>
                          </a:rPr>
                          <m:t>6</m:t>
                        </m:r>
                      </m:sub>
                    </m:sSub>
                  </m:oMath>
                </a14:m>
                <a:r>
                  <a:rPr lang="en-US" altLang="zh-CN" dirty="0"/>
                  <a:t> = {(3,4)}</a:t>
                </a:r>
              </a:p>
              <a:p>
                <a:pPr marL="360363" lvl="1" indent="-360363">
                  <a:buClr>
                    <a:srgbClr val="CEA524"/>
                  </a:buClr>
                  <a:buSzPct val="100000"/>
                  <a:buFont typeface="Wingdings" panose="05000000000000000000" pitchFamily="2" charset="2"/>
                  <a:buChar char="q"/>
                </a:pPr>
                <a:r>
                  <a:rPr lang="zh-CN" altLang="en-US" sz="2800" dirty="0"/>
                  <a:t>解</a:t>
                </a:r>
                <a:r>
                  <a:rPr lang="en-US" altLang="zh-CN" sz="2800" dirty="0"/>
                  <a:t>:</a:t>
                </a:r>
                <a14:m>
                  <m:oMath xmlns:m="http://schemas.openxmlformats.org/officeDocument/2006/math">
                    <m:sSub>
                      <m:sSubPr>
                        <m:ctrlPr>
                          <a:rPr lang="en-US" altLang="zh-CN" sz="2800" i="1">
                            <a:latin typeface="Cambria Math" panose="02040503050406030204" pitchFamily="18" charset="0"/>
                          </a:rPr>
                        </m:ctrlPr>
                      </m:sSubPr>
                      <m:e>
                        <m:r>
                          <a:rPr lang="en-US" altLang="zh-CN" sz="2800" b="0" i="1" smtClean="0">
                            <a:latin typeface="Cambria Math" panose="02040503050406030204" pitchFamily="18" charset="0"/>
                          </a:rPr>
                          <m:t> </m:t>
                        </m:r>
                        <m:r>
                          <a:rPr lang="en-US" altLang="zh-CN" sz="2800" i="1">
                            <a:latin typeface="Cambria Math" panose="02040503050406030204" pitchFamily="18" charset="0"/>
                          </a:rPr>
                          <m:t>𝑅</m:t>
                        </m:r>
                      </m:e>
                      <m:sub>
                        <m:r>
                          <a:rPr lang="en-US" altLang="zh-CN" sz="2800" b="0" i="1" smtClean="0">
                            <a:latin typeface="Cambria Math" panose="02040503050406030204" pitchFamily="18" charset="0"/>
                          </a:rPr>
                          <m:t>2</m:t>
                        </m:r>
                      </m:sub>
                    </m:sSub>
                  </m:oMath>
                </a14:m>
                <a:r>
                  <a:rPr lang="en-US" altLang="zh-CN" sz="2800" dirty="0"/>
                  <a:t>, </a:t>
                </a:r>
                <a14:m>
                  <m:oMath xmlns:m="http://schemas.openxmlformats.org/officeDocument/2006/math">
                    <m:sSub>
                      <m:sSubPr>
                        <m:ctrlPr>
                          <a:rPr lang="en-US" altLang="zh-CN" sz="2800" i="1">
                            <a:latin typeface="Cambria Math" panose="02040503050406030204" pitchFamily="18" charset="0"/>
                          </a:rPr>
                        </m:ctrlPr>
                      </m:sSubPr>
                      <m:e>
                        <m:r>
                          <a:rPr lang="en-US" altLang="zh-CN" sz="2800" i="1">
                            <a:latin typeface="Cambria Math" panose="02040503050406030204" pitchFamily="18" charset="0"/>
                          </a:rPr>
                          <m:t>𝑅</m:t>
                        </m:r>
                      </m:e>
                      <m:sub>
                        <m:r>
                          <a:rPr lang="en-US" altLang="zh-CN" sz="2800" b="0" i="1" smtClean="0">
                            <a:latin typeface="Cambria Math" panose="02040503050406030204" pitchFamily="18" charset="0"/>
                          </a:rPr>
                          <m:t>3</m:t>
                        </m:r>
                      </m:sub>
                    </m:sSub>
                  </m:oMath>
                </a14:m>
                <a:r>
                  <a:rPr lang="zh-CN" altLang="en-US" sz="2800" dirty="0" smtClean="0"/>
                  <a:t>是</a:t>
                </a:r>
                <a:r>
                  <a:rPr lang="zh-CN" altLang="en-US" sz="2800" dirty="0"/>
                  <a:t>对称</a:t>
                </a:r>
                <a:r>
                  <a:rPr lang="zh-CN" altLang="en-US" sz="2800" dirty="0" smtClean="0"/>
                  <a:t>的</a:t>
                </a:r>
                <a:r>
                  <a:rPr lang="en-US" altLang="zh-CN" sz="2800" dirty="0"/>
                  <a:t>, </a:t>
                </a:r>
                <a:r>
                  <a:rPr lang="zh-CN" altLang="en-US" sz="2800" dirty="0"/>
                  <a:t>其他都</a:t>
                </a:r>
                <a:r>
                  <a:rPr lang="zh-CN" altLang="en-US" sz="2800" dirty="0" smtClean="0"/>
                  <a:t>不是</a:t>
                </a:r>
                <a:r>
                  <a:rPr lang="zh-CN" altLang="en-US" sz="2800" dirty="0"/>
                  <a:t>对称</a:t>
                </a:r>
                <a:r>
                  <a:rPr lang="zh-CN" altLang="en-US" sz="2800" dirty="0" smtClean="0"/>
                  <a:t>的</a:t>
                </a:r>
                <a:r>
                  <a:rPr lang="en-US" altLang="zh-CN" dirty="0" smtClean="0"/>
                  <a:t>.</a:t>
                </a:r>
                <a:endParaRPr lang="en-US" dirty="0" smtClean="0"/>
              </a:p>
              <a:p>
                <a:pPr lvl="1"/>
                <a:endParaRPr lang="en-US" dirty="0" smtClean="0"/>
              </a:p>
              <a:p>
                <a:pPr lvl="1"/>
                <a:endParaRPr lang="en-US" dirty="0" smtClean="0"/>
              </a:p>
              <a:p>
                <a:pPr lvl="1"/>
                <a:endParaRPr lang="en-US" dirty="0" smtClean="0"/>
              </a:p>
              <a:p>
                <a:pPr lvl="1"/>
                <a:endParaRPr lang="en-US" dirty="0" smtClean="0"/>
              </a:p>
              <a:p>
                <a:pPr lvl="1"/>
                <a:endParaRPr lang="en-US" dirty="0" smtClean="0"/>
              </a:p>
              <a:p>
                <a:endParaRPr lang="en-US" dirty="0" smtClean="0"/>
              </a:p>
              <a:p>
                <a:pPr lvl="1"/>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999" t="-2500"/>
                </a:stretch>
              </a:blipFill>
            </p:spPr>
            <p:txBody>
              <a:bodyPr/>
              <a:lstStyle/>
              <a:p>
                <a:r>
                  <a:rPr lang="zh-CN" altLang="en-US">
                    <a:noFill/>
                  </a:rPr>
                  <a:t> </a:t>
                </a:r>
              </a:p>
            </p:txBody>
          </p:sp>
        </mc:Fallback>
      </mc:AlternateContent>
      <p:sp>
        <p:nvSpPr>
          <p:cNvPr id="6" name="日期占位符 5"/>
          <p:cNvSpPr>
            <a:spLocks noGrp="1"/>
          </p:cNvSpPr>
          <p:nvPr>
            <p:ph type="dt" sz="half" idx="10"/>
          </p:nvPr>
        </p:nvSpPr>
        <p:spPr/>
        <p:txBody>
          <a:bodyPr/>
          <a:lstStyle/>
          <a:p>
            <a:fld id="{3A0B7DD9-5EA2-4836-BA54-9D21B316BA28}" type="datetime1">
              <a:rPr lang="zh-CN" altLang="en-US" smtClean="0"/>
              <a:t>2025/3/14</a:t>
            </a:fld>
            <a:endParaRPr lang="zh-CN" altLang="en-US" dirty="0"/>
          </a:p>
        </p:txBody>
      </p:sp>
      <p:sp>
        <p:nvSpPr>
          <p:cNvPr id="7" name="页脚占位符 6"/>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8" name="灯片编号占位符 7"/>
          <p:cNvSpPr>
            <a:spLocks noGrp="1"/>
          </p:cNvSpPr>
          <p:nvPr>
            <p:ph type="sldNum" sz="quarter" idx="12"/>
          </p:nvPr>
        </p:nvSpPr>
        <p:spPr/>
        <p:txBody>
          <a:bodyPr/>
          <a:lstStyle/>
          <a:p>
            <a:fld id="{67913A8A-9EFB-4B5F-9CCB-3D21173FAA85}" type="slidenum">
              <a:rPr lang="zh-CN" altLang="en-US" smtClean="0"/>
              <a:pPr/>
              <a:t>10</a:t>
            </a:fld>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10" end="10"/>
                                            </p:txEl>
                                          </p:spTgt>
                                        </p:tgtEl>
                                        <p:attrNameLst>
                                          <p:attrName>style.visibility</p:attrName>
                                        </p:attrNameLst>
                                      </p:cBhvr>
                                      <p:to>
                                        <p:strVal val="visible"/>
                                      </p:to>
                                    </p:set>
                                    <p:animEffect transition="in" filter="wipe(down)">
                                      <p:cBhvr>
                                        <p:cTn id="7"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关系的性质</a:t>
            </a:r>
            <a:r>
              <a:rPr lang="en-US" altLang="zh-CN" dirty="0"/>
              <a:t>:</a:t>
            </a:r>
            <a:r>
              <a:rPr lang="zh-CN" altLang="en-US" dirty="0" smtClean="0"/>
              <a:t>对称关系</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zh-CN" altLang="en-US" dirty="0" smtClean="0"/>
                  <a:t>例</a:t>
                </a:r>
                <a:r>
                  <a:rPr lang="en-US" dirty="0" smtClean="0"/>
                  <a:t>:</a:t>
                </a:r>
                <a:r>
                  <a:rPr lang="zh-CN" altLang="en-US" dirty="0" smtClean="0"/>
                  <a:t>下面</a:t>
                </a:r>
                <a:r>
                  <a:rPr lang="zh-CN" altLang="en-US" dirty="0"/>
                  <a:t>在整数集合上的哪些关系</a:t>
                </a:r>
                <a:r>
                  <a:rPr lang="zh-CN" altLang="en-US" dirty="0" smtClean="0"/>
                  <a:t>是</a:t>
                </a:r>
                <a:r>
                  <a:rPr lang="zh-CN" altLang="en-US" dirty="0"/>
                  <a:t>对称</a:t>
                </a:r>
                <a:r>
                  <a:rPr lang="zh-CN" altLang="en-US" dirty="0" smtClean="0"/>
                  <a:t>的</a:t>
                </a:r>
                <a:r>
                  <a:rPr lang="zh-CN" altLang="en-US" dirty="0"/>
                  <a:t>？</a:t>
                </a:r>
                <a:endParaRPr lang="en-US" altLang="zh-CN" dirty="0"/>
              </a:p>
              <a:p>
                <a:pPr lvl="1"/>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𝑅</m:t>
                        </m:r>
                      </m:e>
                      <m:sub>
                        <m:r>
                          <a:rPr lang="en-US" altLang="zh-CN" i="1">
                            <a:latin typeface="Cambria Math" panose="02040503050406030204" pitchFamily="18" charset="0"/>
                          </a:rPr>
                          <m:t>1</m:t>
                        </m:r>
                      </m:sub>
                    </m:sSub>
                  </m:oMath>
                </a14:m>
                <a:r>
                  <a:rPr lang="en-US" altLang="zh-CN" dirty="0"/>
                  <a:t> = {(</a:t>
                </a:r>
                <a:r>
                  <a:rPr lang="en-US" altLang="zh-CN" dirty="0" err="1"/>
                  <a:t>a,b</a:t>
                </a:r>
                <a:r>
                  <a:rPr lang="en-US" altLang="zh-CN" dirty="0"/>
                  <a:t>) | a ≤ b}</a:t>
                </a:r>
              </a:p>
              <a:p>
                <a:pPr lvl="1"/>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𝑅</m:t>
                        </m:r>
                      </m:e>
                      <m:sub>
                        <m:r>
                          <a:rPr lang="en-US" altLang="zh-CN" i="1">
                            <a:latin typeface="Cambria Math" panose="02040503050406030204" pitchFamily="18" charset="0"/>
                          </a:rPr>
                          <m:t>2</m:t>
                        </m:r>
                      </m:sub>
                    </m:sSub>
                  </m:oMath>
                </a14:m>
                <a:r>
                  <a:rPr lang="en-US" altLang="zh-CN" dirty="0"/>
                  <a:t> = {(</a:t>
                </a:r>
                <a:r>
                  <a:rPr lang="en-US" altLang="zh-CN" dirty="0" err="1"/>
                  <a:t>a,b</a:t>
                </a:r>
                <a:r>
                  <a:rPr lang="en-US" altLang="zh-CN" dirty="0"/>
                  <a:t>) | a &gt; b} </a:t>
                </a:r>
              </a:p>
              <a:p>
                <a:pPr lvl="1"/>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𝑅</m:t>
                        </m:r>
                      </m:e>
                      <m:sub>
                        <m:r>
                          <a:rPr lang="en-US" altLang="zh-CN" i="1">
                            <a:latin typeface="Cambria Math" panose="02040503050406030204" pitchFamily="18" charset="0"/>
                          </a:rPr>
                          <m:t>3</m:t>
                        </m:r>
                      </m:sub>
                    </m:sSub>
                  </m:oMath>
                </a14:m>
                <a:r>
                  <a:rPr lang="en-US" altLang="zh-CN" dirty="0"/>
                  <a:t> = {(</a:t>
                </a:r>
                <a:r>
                  <a:rPr lang="en-US" altLang="zh-CN" dirty="0" err="1"/>
                  <a:t>a,b</a:t>
                </a:r>
                <a:r>
                  <a:rPr lang="en-US" altLang="zh-CN" dirty="0"/>
                  <a:t>) | a = b</a:t>
                </a:r>
                <a:r>
                  <a:rPr lang="zh-CN" altLang="en-US" dirty="0"/>
                  <a:t>或</a:t>
                </a:r>
                <a:r>
                  <a:rPr lang="en-US" altLang="zh-CN" dirty="0"/>
                  <a:t>a =−b}</a:t>
                </a:r>
              </a:p>
              <a:p>
                <a:pPr lvl="1"/>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𝑅</m:t>
                        </m:r>
                      </m:e>
                      <m:sub>
                        <m:r>
                          <a:rPr lang="en-US" altLang="zh-CN" i="1">
                            <a:latin typeface="Cambria Math" panose="02040503050406030204" pitchFamily="18" charset="0"/>
                          </a:rPr>
                          <m:t>4</m:t>
                        </m:r>
                      </m:sub>
                    </m:sSub>
                  </m:oMath>
                </a14:m>
                <a:r>
                  <a:rPr lang="en-US" altLang="zh-CN" dirty="0"/>
                  <a:t> = {(</a:t>
                </a:r>
                <a:r>
                  <a:rPr lang="en-US" altLang="zh-CN" dirty="0" err="1"/>
                  <a:t>a,b</a:t>
                </a:r>
                <a:r>
                  <a:rPr lang="en-US" altLang="zh-CN" dirty="0"/>
                  <a:t>) | a = b}</a:t>
                </a:r>
              </a:p>
              <a:p>
                <a:pPr lvl="1"/>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𝑅</m:t>
                        </m:r>
                      </m:e>
                      <m:sub>
                        <m:r>
                          <a:rPr lang="en-US" altLang="zh-CN" i="1">
                            <a:latin typeface="Cambria Math" panose="02040503050406030204" pitchFamily="18" charset="0"/>
                          </a:rPr>
                          <m:t>5</m:t>
                        </m:r>
                      </m:sub>
                    </m:sSub>
                  </m:oMath>
                </a14:m>
                <a:r>
                  <a:rPr lang="en-US" altLang="zh-CN" dirty="0"/>
                  <a:t> = {(</a:t>
                </a:r>
                <a:r>
                  <a:rPr lang="en-US" altLang="zh-CN" dirty="0" err="1"/>
                  <a:t>a,b</a:t>
                </a:r>
                <a:r>
                  <a:rPr lang="en-US" altLang="zh-CN" dirty="0"/>
                  <a:t>) | a = b + 1} </a:t>
                </a:r>
              </a:p>
              <a:p>
                <a:pPr lvl="1"/>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𝑅</m:t>
                        </m:r>
                      </m:e>
                      <m:sub>
                        <m:r>
                          <a:rPr lang="en-US" altLang="zh-CN" i="1">
                            <a:latin typeface="Cambria Math" panose="02040503050406030204" pitchFamily="18" charset="0"/>
                          </a:rPr>
                          <m:t>6</m:t>
                        </m:r>
                      </m:sub>
                    </m:sSub>
                  </m:oMath>
                </a14:m>
                <a:r>
                  <a:rPr lang="en-US" altLang="zh-CN" dirty="0"/>
                  <a:t> = {(</a:t>
                </a:r>
                <a:r>
                  <a:rPr lang="en-US" altLang="zh-CN" dirty="0" err="1"/>
                  <a:t>a,b</a:t>
                </a:r>
                <a:r>
                  <a:rPr lang="en-US" altLang="zh-CN" dirty="0"/>
                  <a:t>) | a + b ≤ 3}  </a:t>
                </a:r>
              </a:p>
              <a:p>
                <a:pPr marL="360363" lvl="1" indent="-360363">
                  <a:buClr>
                    <a:srgbClr val="CEA524"/>
                  </a:buClr>
                  <a:buSzPct val="100000"/>
                  <a:buFont typeface="Wingdings" panose="05000000000000000000" pitchFamily="2" charset="2"/>
                  <a:buChar char="q"/>
                </a:pPr>
                <a:r>
                  <a:rPr lang="zh-CN" altLang="en-US" sz="2800" dirty="0"/>
                  <a:t>解</a:t>
                </a:r>
                <a:r>
                  <a:rPr lang="en-US" altLang="zh-CN" sz="2800" dirty="0"/>
                  <a:t>:</a:t>
                </a:r>
                <a:endParaRPr lang="en-US" altLang="zh-CN" dirty="0"/>
              </a:p>
              <a:p>
                <a:pPr lvl="1"/>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𝑅</m:t>
                        </m:r>
                      </m:e>
                      <m:sub>
                        <m:r>
                          <a:rPr lang="en-US" altLang="zh-CN" i="1">
                            <a:latin typeface="Cambria Math" panose="02040503050406030204" pitchFamily="18" charset="0"/>
                          </a:rPr>
                          <m:t>3</m:t>
                        </m:r>
                      </m:sub>
                    </m:sSub>
                  </m:oMath>
                </a14:m>
                <a:r>
                  <a:rPr lang="en-US" altLang="zh-CN" dirty="0"/>
                  <a:t>,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𝑅</m:t>
                        </m:r>
                      </m:e>
                      <m:sub>
                        <m:r>
                          <a:rPr lang="en-US" altLang="zh-CN" i="1">
                            <a:latin typeface="Cambria Math" panose="02040503050406030204" pitchFamily="18" charset="0"/>
                          </a:rPr>
                          <m:t>4</m:t>
                        </m:r>
                      </m:sub>
                    </m:sSub>
                    <m:sSub>
                      <m:sSubPr>
                        <m:ctrlPr>
                          <a:rPr lang="en-US" altLang="zh-CN" i="1">
                            <a:latin typeface="Cambria Math" panose="02040503050406030204" pitchFamily="18" charset="0"/>
                          </a:rPr>
                        </m:ctrlPr>
                      </m:sSubPr>
                      <m:e>
                        <m:r>
                          <a:rPr lang="en-US" altLang="zh-CN" b="0" i="1" smtClean="0">
                            <a:latin typeface="Cambria Math" panose="02040503050406030204" pitchFamily="18" charset="0"/>
                          </a:rPr>
                          <m:t>,</m:t>
                        </m:r>
                        <m:r>
                          <a:rPr lang="en-US" altLang="zh-CN" i="1">
                            <a:latin typeface="Cambria Math" panose="02040503050406030204" pitchFamily="18" charset="0"/>
                          </a:rPr>
                          <m:t>𝑅</m:t>
                        </m:r>
                      </m:e>
                      <m:sub>
                        <m:r>
                          <a:rPr lang="en-US" altLang="zh-CN" i="1">
                            <a:latin typeface="Cambria Math" panose="02040503050406030204" pitchFamily="18" charset="0"/>
                          </a:rPr>
                          <m:t>6</m:t>
                        </m:r>
                      </m:sub>
                    </m:sSub>
                  </m:oMath>
                </a14:m>
                <a:r>
                  <a:rPr lang="zh-CN" altLang="en-US" dirty="0" smtClean="0"/>
                  <a:t>是</a:t>
                </a:r>
                <a:r>
                  <a:rPr lang="zh-CN" altLang="en-US" dirty="0"/>
                  <a:t>对称</a:t>
                </a:r>
                <a:r>
                  <a:rPr lang="zh-CN" altLang="en-US" dirty="0" smtClean="0"/>
                  <a:t>的</a:t>
                </a:r>
                <a:endParaRPr lang="en-US" altLang="zh-CN" dirty="0"/>
              </a:p>
              <a:p>
                <a:pPr lvl="1"/>
                <a14:m>
                  <m:oMath xmlns:m="http://schemas.openxmlformats.org/officeDocument/2006/math">
                    <m:sSub>
                      <m:sSubPr>
                        <m:ctrlPr>
                          <a:rPr lang="en-US" altLang="zh-CN" i="1" smtClean="0">
                            <a:solidFill>
                              <a:schemeClr val="tx1"/>
                            </a:solidFill>
                            <a:latin typeface="Cambria Math" panose="02040503050406030204" pitchFamily="18" charset="0"/>
                          </a:rPr>
                        </m:ctrlPr>
                      </m:sSubPr>
                      <m:e>
                        <m:r>
                          <a:rPr lang="en-US" altLang="zh-CN" i="1">
                            <a:solidFill>
                              <a:schemeClr val="tx1"/>
                            </a:solidFill>
                            <a:latin typeface="Cambria Math" panose="02040503050406030204" pitchFamily="18" charset="0"/>
                          </a:rPr>
                          <m:t>𝑅</m:t>
                        </m:r>
                      </m:e>
                      <m:sub>
                        <m:r>
                          <a:rPr lang="en-US" altLang="zh-CN" b="0" i="1" smtClean="0">
                            <a:solidFill>
                              <a:schemeClr val="tx1"/>
                            </a:solidFill>
                            <a:latin typeface="Cambria Math" panose="02040503050406030204" pitchFamily="18" charset="0"/>
                          </a:rPr>
                          <m:t>1</m:t>
                        </m:r>
                      </m:sub>
                    </m:sSub>
                  </m:oMath>
                </a14:m>
                <a:r>
                  <a:rPr lang="en-US" altLang="zh-CN" dirty="0" smtClean="0">
                    <a:solidFill>
                      <a:schemeClr val="tx1"/>
                    </a:solidFill>
                  </a:rPr>
                  <a:t>,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𝑅</m:t>
                        </m:r>
                      </m:e>
                      <m:sub>
                        <m:r>
                          <a:rPr lang="en-US" altLang="zh-CN" i="1">
                            <a:latin typeface="Cambria Math" panose="02040503050406030204" pitchFamily="18" charset="0"/>
                          </a:rPr>
                          <m:t>2</m:t>
                        </m:r>
                      </m:sub>
                    </m:sSub>
                  </m:oMath>
                </a14:m>
                <a:r>
                  <a:rPr lang="en-US" altLang="zh-CN" dirty="0" smtClean="0">
                    <a:solidFill>
                      <a:schemeClr val="tx1"/>
                    </a:solidFill>
                  </a:rPr>
                  <a:t>,</a:t>
                </a:r>
                <a:r>
                  <a:rPr lang="en-US" altLang="zh-CN" dirty="0"/>
                  <a:t>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𝑅</m:t>
                        </m:r>
                      </m:e>
                      <m:sub>
                        <m:r>
                          <a:rPr lang="en-US" altLang="zh-CN" i="1">
                            <a:latin typeface="Cambria Math" panose="02040503050406030204" pitchFamily="18" charset="0"/>
                          </a:rPr>
                          <m:t>5</m:t>
                        </m:r>
                      </m:sub>
                    </m:sSub>
                  </m:oMath>
                </a14:m>
                <a:r>
                  <a:rPr lang="zh-CN" altLang="en-US" dirty="0" smtClean="0">
                    <a:solidFill>
                      <a:schemeClr val="tx1"/>
                    </a:solidFill>
                  </a:rPr>
                  <a:t>不是</a:t>
                </a:r>
                <a:r>
                  <a:rPr lang="zh-CN" altLang="en-US" dirty="0">
                    <a:solidFill>
                      <a:schemeClr val="tx1"/>
                    </a:solidFill>
                  </a:rPr>
                  <a:t>对称</a:t>
                </a:r>
                <a:r>
                  <a:rPr lang="zh-CN" altLang="en-US" dirty="0" smtClean="0">
                    <a:solidFill>
                      <a:schemeClr val="tx1"/>
                    </a:solidFill>
                  </a:rPr>
                  <a:t>的</a:t>
                </a:r>
                <a:endParaRPr lang="en-US" dirty="0" smtClean="0"/>
              </a:p>
              <a:p>
                <a:pPr lvl="1"/>
                <a:endParaRPr lang="en-US" dirty="0" smtClean="0"/>
              </a:p>
              <a:p>
                <a:pPr lvl="1"/>
                <a:endParaRPr lang="en-US" dirty="0" smtClean="0"/>
              </a:p>
              <a:p>
                <a:pPr lvl="1"/>
                <a:endParaRPr lang="en-US" dirty="0" smtClean="0"/>
              </a:p>
              <a:p>
                <a:pPr lvl="1"/>
                <a:endParaRPr lang="en-US" dirty="0" smtClean="0"/>
              </a:p>
              <a:p>
                <a:endParaRPr lang="en-US" dirty="0" smtClean="0"/>
              </a:p>
              <a:p>
                <a:pPr lvl="1"/>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999" t="-1310"/>
                </a:stretch>
              </a:blipFill>
            </p:spPr>
            <p:txBody>
              <a:bodyPr/>
              <a:lstStyle/>
              <a:p>
                <a:r>
                  <a:rPr lang="zh-CN" altLang="en-US">
                    <a:noFill/>
                  </a:rPr>
                  <a:t> </a:t>
                </a:r>
              </a:p>
            </p:txBody>
          </p:sp>
        </mc:Fallback>
      </mc:AlternateContent>
      <p:sp>
        <p:nvSpPr>
          <p:cNvPr id="6" name="日期占位符 5"/>
          <p:cNvSpPr>
            <a:spLocks noGrp="1"/>
          </p:cNvSpPr>
          <p:nvPr>
            <p:ph type="dt" sz="half" idx="10"/>
          </p:nvPr>
        </p:nvSpPr>
        <p:spPr/>
        <p:txBody>
          <a:bodyPr/>
          <a:lstStyle/>
          <a:p>
            <a:fld id="{B31A6E82-65F6-4FA2-8BF2-47E4848EB539}" type="datetime1">
              <a:rPr lang="zh-CN" altLang="en-US" smtClean="0"/>
              <a:t>2025/3/14</a:t>
            </a:fld>
            <a:endParaRPr lang="zh-CN" altLang="en-US" dirty="0"/>
          </a:p>
        </p:txBody>
      </p:sp>
      <p:sp>
        <p:nvSpPr>
          <p:cNvPr id="7" name="页脚占位符 6"/>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8" name="灯片编号占位符 7"/>
          <p:cNvSpPr>
            <a:spLocks noGrp="1"/>
          </p:cNvSpPr>
          <p:nvPr>
            <p:ph type="sldNum" sz="quarter" idx="12"/>
          </p:nvPr>
        </p:nvSpPr>
        <p:spPr/>
        <p:txBody>
          <a:bodyPr/>
          <a:lstStyle/>
          <a:p>
            <a:fld id="{67913A8A-9EFB-4B5F-9CCB-3D21173FAA85}" type="slidenum">
              <a:rPr lang="zh-CN" altLang="en-US" smtClean="0"/>
              <a:pPr/>
              <a:t>11</a:t>
            </a:fld>
            <a:endParaRPr lang="zh-CN" altLang="en-US" dirty="0"/>
          </a:p>
        </p:txBody>
      </p:sp>
    </p:spTree>
    <p:extLst>
      <p:ext uri="{BB962C8B-B14F-4D97-AF65-F5344CB8AC3E}">
        <p14:creationId xmlns:p14="http://schemas.microsoft.com/office/powerpoint/2010/main" val="42486480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7" end="7"/>
                                            </p:txEl>
                                          </p:spTgt>
                                        </p:tgtEl>
                                        <p:attrNameLst>
                                          <p:attrName>style.visibility</p:attrName>
                                        </p:attrNameLst>
                                      </p:cBhvr>
                                      <p:to>
                                        <p:strVal val="visible"/>
                                      </p:to>
                                    </p:set>
                                    <p:animEffect transition="in" filter="wipe(down)">
                                      <p:cBhvr>
                                        <p:cTn id="7" dur="500"/>
                                        <p:tgtEl>
                                          <p:spTgt spid="3">
                                            <p:txEl>
                                              <p:pRg st="7" end="7"/>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3">
                                            <p:txEl>
                                              <p:pRg st="8" end="8"/>
                                            </p:txEl>
                                          </p:spTgt>
                                        </p:tgtEl>
                                        <p:attrNameLst>
                                          <p:attrName>style.visibility</p:attrName>
                                        </p:attrNameLst>
                                      </p:cBhvr>
                                      <p:to>
                                        <p:strVal val="visible"/>
                                      </p:to>
                                    </p:set>
                                    <p:animEffect transition="in" filter="wipe(down)">
                                      <p:cBhvr>
                                        <p:cTn id="10" dur="500"/>
                                        <p:tgtEl>
                                          <p:spTgt spid="3">
                                            <p:txEl>
                                              <p:pRg st="8" end="8"/>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3">
                                            <p:txEl>
                                              <p:pRg st="9" end="9"/>
                                            </p:txEl>
                                          </p:spTgt>
                                        </p:tgtEl>
                                        <p:attrNameLst>
                                          <p:attrName>style.visibility</p:attrName>
                                        </p:attrNameLst>
                                      </p:cBhvr>
                                      <p:to>
                                        <p:strVal val="visible"/>
                                      </p:to>
                                    </p:set>
                                    <p:animEffect transition="in" filter="wipe(down)">
                                      <p:cBhvr>
                                        <p:cTn id="13"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457200" y="1143000"/>
            <a:ext cx="11277599" cy="838200"/>
          </a:xfrm>
          <a:prstGeom prst="rect">
            <a:avLst/>
          </a:prstGeom>
          <a:solidFill>
            <a:schemeClr val="accent5">
              <a:lumMod val="40000"/>
              <a:lumOff val="6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itle 1"/>
          <p:cNvSpPr>
            <a:spLocks noGrp="1"/>
          </p:cNvSpPr>
          <p:nvPr>
            <p:ph type="title"/>
          </p:nvPr>
        </p:nvSpPr>
        <p:spPr/>
        <p:txBody>
          <a:bodyPr/>
          <a:lstStyle/>
          <a:p>
            <a:r>
              <a:rPr lang="zh-CN" altLang="en-US" dirty="0"/>
              <a:t>关系的性质</a:t>
            </a:r>
            <a:r>
              <a:rPr lang="en-US" altLang="zh-CN" dirty="0"/>
              <a:t>:</a:t>
            </a:r>
            <a:r>
              <a:rPr lang="zh-CN" altLang="en-US" dirty="0" smtClean="0"/>
              <a:t>反对称关系</a:t>
            </a:r>
            <a:endParaRPr lang="en-US" dirty="0"/>
          </a:p>
        </p:txBody>
      </p:sp>
      <p:sp>
        <p:nvSpPr>
          <p:cNvPr id="3" name="Content Placeholder 2"/>
          <p:cNvSpPr>
            <a:spLocks noGrp="1"/>
          </p:cNvSpPr>
          <p:nvPr>
            <p:ph idx="1"/>
          </p:nvPr>
        </p:nvSpPr>
        <p:spPr/>
        <p:txBody>
          <a:bodyPr>
            <a:normAutofit/>
          </a:bodyPr>
          <a:lstStyle/>
          <a:p>
            <a:r>
              <a:rPr lang="zh-CN" altLang="en-US" dirty="0" smtClean="0"/>
              <a:t>定义</a:t>
            </a:r>
            <a:r>
              <a:rPr lang="en-US" dirty="0" smtClean="0"/>
              <a:t>:</a:t>
            </a:r>
            <a:r>
              <a:rPr lang="zh-CN" altLang="en-US" dirty="0" smtClean="0"/>
              <a:t>对于任意</a:t>
            </a:r>
            <a:r>
              <a:rPr lang="en-US" altLang="zh-CN" dirty="0" err="1" smtClean="0"/>
              <a:t>a,b</a:t>
            </a:r>
            <a:r>
              <a:rPr lang="en-US" altLang="zh-CN" dirty="0" smtClean="0"/>
              <a:t> </a:t>
            </a:r>
            <a:r>
              <a:rPr lang="en-US" altLang="zh-CN" dirty="0"/>
              <a:t>∊ </a:t>
            </a:r>
            <a:r>
              <a:rPr lang="en-US" altLang="zh-CN" dirty="0" smtClean="0"/>
              <a:t>A, </a:t>
            </a:r>
            <a:r>
              <a:rPr lang="zh-CN" altLang="en-US" dirty="0" smtClean="0"/>
              <a:t>若</a:t>
            </a:r>
            <a:r>
              <a:rPr lang="en-US" altLang="zh-CN" dirty="0" smtClean="0"/>
              <a:t>(</a:t>
            </a:r>
            <a:r>
              <a:rPr lang="en-US" altLang="zh-CN" dirty="0" err="1" smtClean="0"/>
              <a:t>a,b</a:t>
            </a:r>
            <a:r>
              <a:rPr lang="en-US" altLang="zh-CN" dirty="0" smtClean="0"/>
              <a:t>) </a:t>
            </a:r>
            <a:r>
              <a:rPr lang="en-US" altLang="zh-CN" dirty="0"/>
              <a:t>∊ </a:t>
            </a:r>
            <a:r>
              <a:rPr lang="en-US" altLang="zh-CN" dirty="0" smtClean="0"/>
              <a:t>R, </a:t>
            </a:r>
            <a:r>
              <a:rPr lang="zh-CN" altLang="en-US" dirty="0" smtClean="0"/>
              <a:t>且</a:t>
            </a:r>
            <a:r>
              <a:rPr lang="en-US" altLang="zh-CN" dirty="0" smtClean="0"/>
              <a:t>(</a:t>
            </a:r>
            <a:r>
              <a:rPr lang="en-US" altLang="zh-CN" dirty="0" err="1" smtClean="0"/>
              <a:t>b,a</a:t>
            </a:r>
            <a:r>
              <a:rPr lang="en-US" altLang="zh-CN" dirty="0" smtClean="0"/>
              <a:t>) </a:t>
            </a:r>
            <a:r>
              <a:rPr lang="en-US" altLang="zh-CN" dirty="0"/>
              <a:t>∊ </a:t>
            </a:r>
            <a:r>
              <a:rPr lang="en-US" altLang="zh-CN" dirty="0" smtClean="0"/>
              <a:t>R, </a:t>
            </a:r>
            <a:r>
              <a:rPr lang="zh-CN" altLang="en-US" dirty="0" smtClean="0"/>
              <a:t>一定有</a:t>
            </a:r>
            <a:r>
              <a:rPr lang="en-US" altLang="zh-CN" dirty="0"/>
              <a:t>a = </a:t>
            </a:r>
            <a:r>
              <a:rPr lang="en-US" altLang="zh-CN" dirty="0" smtClean="0"/>
              <a:t>b, </a:t>
            </a:r>
            <a:r>
              <a:rPr lang="zh-CN" altLang="en-US" dirty="0" smtClean="0"/>
              <a:t>则定义在集合</a:t>
            </a:r>
            <a:r>
              <a:rPr lang="en-US" altLang="zh-CN" dirty="0" smtClean="0"/>
              <a:t>A</a:t>
            </a:r>
            <a:r>
              <a:rPr lang="zh-CN" altLang="en-US" dirty="0" smtClean="0"/>
              <a:t>上的关系为</a:t>
            </a:r>
            <a:r>
              <a:rPr lang="zh-CN" altLang="en-US" b="1" dirty="0" smtClean="0">
                <a:solidFill>
                  <a:srgbClr val="C00000"/>
                </a:solidFill>
              </a:rPr>
              <a:t>反对称</a:t>
            </a:r>
            <a:r>
              <a:rPr lang="zh-CN" altLang="en-US" dirty="0" smtClean="0"/>
              <a:t>的</a:t>
            </a:r>
            <a:r>
              <a:rPr lang="en-US" altLang="zh-CN" dirty="0" smtClean="0"/>
              <a:t>.</a:t>
            </a:r>
          </a:p>
          <a:p>
            <a:r>
              <a:rPr lang="zh-CN" altLang="en-US" dirty="0" smtClean="0"/>
              <a:t>关系</a:t>
            </a:r>
            <a:r>
              <a:rPr lang="en-US" altLang="zh-CN" dirty="0" smtClean="0"/>
              <a:t>R</a:t>
            </a:r>
            <a:r>
              <a:rPr lang="zh-CN" altLang="en-US" dirty="0" smtClean="0"/>
              <a:t>是反对称的</a:t>
            </a:r>
            <a:r>
              <a:rPr lang="en-US" altLang="zh-CN" dirty="0" smtClean="0"/>
              <a:t>, </a:t>
            </a:r>
            <a:r>
              <a:rPr lang="zh-CN" altLang="en-US" dirty="0" smtClean="0"/>
              <a:t>当且仅当不存在由不同元素</a:t>
            </a:r>
            <a:r>
              <a:rPr lang="en-US" altLang="zh-CN" dirty="0" smtClean="0"/>
              <a:t>a</a:t>
            </a:r>
            <a:r>
              <a:rPr lang="zh-CN" altLang="en-US" dirty="0" smtClean="0"/>
              <a:t>和</a:t>
            </a:r>
            <a:r>
              <a:rPr lang="en-US" altLang="zh-CN" dirty="0" smtClean="0"/>
              <a:t>b</a:t>
            </a:r>
            <a:r>
              <a:rPr lang="zh-CN" altLang="en-US" dirty="0" smtClean="0"/>
              <a:t>构成的有序对，使得</a:t>
            </a:r>
            <a:r>
              <a:rPr lang="en-US" altLang="zh-CN" dirty="0" smtClean="0"/>
              <a:t>a</a:t>
            </a:r>
            <a:r>
              <a:rPr lang="zh-CN" altLang="en-US" dirty="0" smtClean="0"/>
              <a:t>和</a:t>
            </a:r>
            <a:r>
              <a:rPr lang="en-US" altLang="zh-CN" dirty="0" smtClean="0"/>
              <a:t>b</a:t>
            </a:r>
            <a:r>
              <a:rPr lang="zh-CN" altLang="en-US" dirty="0" smtClean="0"/>
              <a:t>有关系</a:t>
            </a:r>
            <a:r>
              <a:rPr lang="en-US" altLang="zh-CN" dirty="0" smtClean="0"/>
              <a:t>, </a:t>
            </a:r>
            <a:r>
              <a:rPr lang="zh-CN" altLang="en-US" dirty="0" smtClean="0"/>
              <a:t>并且</a:t>
            </a:r>
            <a:r>
              <a:rPr lang="en-US" altLang="zh-CN" dirty="0" smtClean="0"/>
              <a:t>b</a:t>
            </a:r>
            <a:r>
              <a:rPr lang="zh-CN" altLang="en-US" dirty="0" smtClean="0"/>
              <a:t>和</a:t>
            </a:r>
            <a:r>
              <a:rPr lang="en-US" altLang="zh-CN" dirty="0" smtClean="0"/>
              <a:t>a</a:t>
            </a:r>
            <a:r>
              <a:rPr lang="zh-CN" altLang="en-US" dirty="0" smtClean="0"/>
              <a:t>也有关系</a:t>
            </a:r>
            <a:r>
              <a:rPr lang="en-US" altLang="zh-CN" dirty="0" smtClean="0"/>
              <a:t>.</a:t>
            </a:r>
          </a:p>
          <a:p>
            <a:r>
              <a:rPr lang="zh-CN" altLang="en-US" dirty="0" smtClean="0"/>
              <a:t>对称和反对称不是对立的概念</a:t>
            </a:r>
            <a:r>
              <a:rPr lang="en-US" altLang="zh-CN" dirty="0" smtClean="0"/>
              <a:t>, </a:t>
            </a:r>
            <a:r>
              <a:rPr lang="zh-CN" altLang="en-US" dirty="0" smtClean="0"/>
              <a:t>一个关系可以同时有这两种性质，也可以两种性质都没有</a:t>
            </a:r>
            <a:r>
              <a:rPr lang="en-US" altLang="zh-CN" dirty="0" smtClean="0"/>
              <a:t>, </a:t>
            </a:r>
            <a:r>
              <a:rPr lang="zh-CN" altLang="en-US" dirty="0" smtClean="0"/>
              <a:t>也可以只有其中一种性质</a:t>
            </a:r>
            <a:r>
              <a:rPr lang="en-US" altLang="zh-CN" dirty="0" smtClean="0"/>
              <a:t>. </a:t>
            </a:r>
            <a:endParaRPr lang="en-US" dirty="0" smtClean="0"/>
          </a:p>
          <a:p>
            <a:pPr lvl="1"/>
            <a:endParaRPr lang="en-US" dirty="0" smtClean="0"/>
          </a:p>
          <a:p>
            <a:endParaRPr lang="en-US" dirty="0"/>
          </a:p>
        </p:txBody>
      </p:sp>
      <p:sp>
        <p:nvSpPr>
          <p:cNvPr id="7" name="日期占位符 6"/>
          <p:cNvSpPr>
            <a:spLocks noGrp="1"/>
          </p:cNvSpPr>
          <p:nvPr>
            <p:ph type="dt" sz="half" idx="10"/>
          </p:nvPr>
        </p:nvSpPr>
        <p:spPr/>
        <p:txBody>
          <a:bodyPr/>
          <a:lstStyle/>
          <a:p>
            <a:fld id="{39D47DFB-3A08-48C8-8C16-B69752D31C2C}" type="datetime1">
              <a:rPr lang="zh-CN" altLang="en-US" smtClean="0"/>
              <a:t>2025/3/14</a:t>
            </a:fld>
            <a:endParaRPr lang="zh-CN" altLang="en-US" dirty="0"/>
          </a:p>
        </p:txBody>
      </p:sp>
      <p:sp>
        <p:nvSpPr>
          <p:cNvPr id="8" name="页脚占位符 7"/>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9" name="灯片编号占位符 8"/>
          <p:cNvSpPr>
            <a:spLocks noGrp="1"/>
          </p:cNvSpPr>
          <p:nvPr>
            <p:ph type="sldNum" sz="quarter" idx="12"/>
          </p:nvPr>
        </p:nvSpPr>
        <p:spPr/>
        <p:txBody>
          <a:bodyPr/>
          <a:lstStyle/>
          <a:p>
            <a:fld id="{67913A8A-9EFB-4B5F-9CCB-3D21173FAA85}" type="slidenum">
              <a:rPr lang="zh-CN" altLang="en-US" smtClean="0"/>
              <a:pPr/>
              <a:t>12</a:t>
            </a:fld>
            <a:endParaRPr lang="zh-CN" altLang="en-US"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68889"/>
            <a:ext cx="11125201" cy="635771"/>
          </a:xfrm>
        </p:spPr>
        <p:txBody>
          <a:bodyPr/>
          <a:lstStyle/>
          <a:p>
            <a:r>
              <a:rPr lang="zh-CN" altLang="en-US" dirty="0"/>
              <a:t>关系的性质</a:t>
            </a:r>
            <a:r>
              <a:rPr lang="en-US" altLang="zh-CN" dirty="0"/>
              <a:t>:</a:t>
            </a:r>
            <a:r>
              <a:rPr lang="zh-CN" altLang="en-US" dirty="0" smtClean="0"/>
              <a:t>反对称关系</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zh-CN" altLang="en-US" dirty="0" smtClean="0"/>
                  <a:t>例</a:t>
                </a:r>
                <a:r>
                  <a:rPr lang="en-US" altLang="zh-CN" dirty="0" smtClean="0"/>
                  <a:t>: </a:t>
                </a:r>
                <a:r>
                  <a:rPr lang="zh-CN" altLang="en-US" dirty="0"/>
                  <a:t>在集合</a:t>
                </a:r>
                <a:r>
                  <a:rPr lang="en-US" altLang="zh-CN" dirty="0"/>
                  <a:t>A={1, 2, 3, 4}</a:t>
                </a:r>
                <a:r>
                  <a:rPr lang="zh-CN" altLang="en-US" dirty="0"/>
                  <a:t>上的哪些关系</a:t>
                </a:r>
                <a:r>
                  <a:rPr lang="zh-CN" altLang="en-US" dirty="0" smtClean="0"/>
                  <a:t>是反对称</a:t>
                </a:r>
                <a:r>
                  <a:rPr lang="zh-CN" altLang="en-US" dirty="0"/>
                  <a:t>的？</a:t>
                </a:r>
                <a:endParaRPr lang="en-US" altLang="zh-CN" dirty="0"/>
              </a:p>
              <a:p>
                <a:pPr lvl="1"/>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𝑅</m:t>
                        </m:r>
                      </m:e>
                      <m:sub>
                        <m:r>
                          <a:rPr lang="en-US" altLang="zh-CN" i="1">
                            <a:latin typeface="Cambria Math" panose="02040503050406030204" pitchFamily="18" charset="0"/>
                          </a:rPr>
                          <m:t>1</m:t>
                        </m:r>
                      </m:sub>
                    </m:sSub>
                  </m:oMath>
                </a14:m>
                <a:r>
                  <a:rPr lang="en-US" altLang="zh-CN" dirty="0"/>
                  <a:t> = {(1,1), (1,2), (2,1), (2,2), (3,4), (4,1), (4,4)}</a:t>
                </a:r>
              </a:p>
              <a:p>
                <a:pPr lvl="1"/>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𝑅</m:t>
                        </m:r>
                      </m:e>
                      <m:sub>
                        <m:r>
                          <a:rPr lang="en-US" altLang="zh-CN" i="1">
                            <a:latin typeface="Cambria Math" panose="02040503050406030204" pitchFamily="18" charset="0"/>
                          </a:rPr>
                          <m:t>2</m:t>
                        </m:r>
                      </m:sub>
                    </m:sSub>
                  </m:oMath>
                </a14:m>
                <a:r>
                  <a:rPr lang="en-US" altLang="zh-CN" dirty="0"/>
                  <a:t> = {(1,1), (1,2), (2,1)}</a:t>
                </a:r>
              </a:p>
              <a:p>
                <a:pPr lvl="1"/>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𝑅</m:t>
                        </m:r>
                      </m:e>
                      <m:sub>
                        <m:r>
                          <a:rPr lang="en-US" altLang="zh-CN" i="1">
                            <a:latin typeface="Cambria Math" panose="02040503050406030204" pitchFamily="18" charset="0"/>
                          </a:rPr>
                          <m:t>3</m:t>
                        </m:r>
                      </m:sub>
                    </m:sSub>
                  </m:oMath>
                </a14:m>
                <a:r>
                  <a:rPr lang="en-US" altLang="zh-CN" dirty="0"/>
                  <a:t> = {(1,1), (1,2), (1,4), (2,1), (2,2), (3,3), (4,1), (4,4)}</a:t>
                </a:r>
              </a:p>
              <a:p>
                <a:pPr lvl="1"/>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𝑅</m:t>
                        </m:r>
                      </m:e>
                      <m:sub>
                        <m:r>
                          <a:rPr lang="en-US" altLang="zh-CN" i="1">
                            <a:latin typeface="Cambria Math" panose="02040503050406030204" pitchFamily="18" charset="0"/>
                          </a:rPr>
                          <m:t>4</m:t>
                        </m:r>
                      </m:sub>
                    </m:sSub>
                  </m:oMath>
                </a14:m>
                <a:r>
                  <a:rPr lang="en-US" altLang="zh-CN" dirty="0"/>
                  <a:t> = {(2,1), (3,1), (3,2), (4,1), (4,2), (4,3)}</a:t>
                </a:r>
              </a:p>
              <a:p>
                <a:pPr lvl="1"/>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𝑅</m:t>
                        </m:r>
                      </m:e>
                      <m:sub>
                        <m:r>
                          <a:rPr lang="en-US" altLang="zh-CN" i="1">
                            <a:latin typeface="Cambria Math" panose="02040503050406030204" pitchFamily="18" charset="0"/>
                          </a:rPr>
                          <m:t>5</m:t>
                        </m:r>
                      </m:sub>
                    </m:sSub>
                  </m:oMath>
                </a14:m>
                <a:r>
                  <a:rPr lang="en-US" altLang="zh-CN" dirty="0"/>
                  <a:t> = {(1,1), (1,2), (1,3), (1,4), (2,2), (2,3), (2,4), (3,3), (3,4), (4,4)}</a:t>
                </a:r>
              </a:p>
              <a:p>
                <a:pPr lvl="1"/>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𝑅</m:t>
                        </m:r>
                      </m:e>
                      <m:sub>
                        <m:r>
                          <a:rPr lang="en-US" altLang="zh-CN" i="1">
                            <a:latin typeface="Cambria Math" panose="02040503050406030204" pitchFamily="18" charset="0"/>
                          </a:rPr>
                          <m:t>6</m:t>
                        </m:r>
                      </m:sub>
                    </m:sSub>
                  </m:oMath>
                </a14:m>
                <a:r>
                  <a:rPr lang="en-US" altLang="zh-CN" dirty="0"/>
                  <a:t> = {(3,4)}</a:t>
                </a:r>
              </a:p>
              <a:p>
                <a:pPr marL="360363" lvl="1" indent="-360363">
                  <a:buClr>
                    <a:srgbClr val="CEA524"/>
                  </a:buClr>
                  <a:buSzPct val="100000"/>
                  <a:buFont typeface="Wingdings" panose="05000000000000000000" pitchFamily="2" charset="2"/>
                  <a:buChar char="q"/>
                </a:pPr>
                <a:r>
                  <a:rPr lang="zh-CN" altLang="en-US" sz="2800" dirty="0"/>
                  <a:t>解</a:t>
                </a:r>
                <a:r>
                  <a:rPr lang="en-US" altLang="zh-CN" sz="2800" dirty="0"/>
                  <a:t>:</a:t>
                </a:r>
                <a14:m>
                  <m:oMath xmlns:m="http://schemas.openxmlformats.org/officeDocument/2006/math">
                    <m:sSub>
                      <m:sSubPr>
                        <m:ctrlPr>
                          <a:rPr lang="en-US" altLang="zh-CN" sz="2800" i="1">
                            <a:latin typeface="Cambria Math" panose="02040503050406030204" pitchFamily="18" charset="0"/>
                          </a:rPr>
                        </m:ctrlPr>
                      </m:sSubPr>
                      <m:e>
                        <m:r>
                          <a:rPr lang="en-US" altLang="zh-CN" sz="2800" i="1">
                            <a:latin typeface="Cambria Math" panose="02040503050406030204" pitchFamily="18" charset="0"/>
                          </a:rPr>
                          <m:t>𝑅</m:t>
                        </m:r>
                      </m:e>
                      <m:sub>
                        <m:r>
                          <a:rPr lang="en-US" altLang="zh-CN" sz="2800" b="0" i="1" smtClean="0">
                            <a:latin typeface="Cambria Math" panose="02040503050406030204" pitchFamily="18" charset="0"/>
                          </a:rPr>
                          <m:t>4</m:t>
                        </m:r>
                      </m:sub>
                    </m:sSub>
                  </m:oMath>
                </a14:m>
                <a:r>
                  <a:rPr lang="en-US" altLang="zh-CN" sz="2800" dirty="0"/>
                  <a:t>, </a:t>
                </a:r>
                <a14:m>
                  <m:oMath xmlns:m="http://schemas.openxmlformats.org/officeDocument/2006/math">
                    <m:sSub>
                      <m:sSubPr>
                        <m:ctrlPr>
                          <a:rPr lang="en-US" altLang="zh-CN" sz="2800" i="1">
                            <a:latin typeface="Cambria Math" panose="02040503050406030204" pitchFamily="18" charset="0"/>
                          </a:rPr>
                        </m:ctrlPr>
                      </m:sSubPr>
                      <m:e>
                        <m:r>
                          <a:rPr lang="en-US" altLang="zh-CN" sz="2800" i="1">
                            <a:latin typeface="Cambria Math" panose="02040503050406030204" pitchFamily="18" charset="0"/>
                          </a:rPr>
                          <m:t>𝑅</m:t>
                        </m:r>
                      </m:e>
                      <m:sub>
                        <m:r>
                          <a:rPr lang="en-US" altLang="zh-CN" sz="2800" b="0" i="1" smtClean="0">
                            <a:latin typeface="Cambria Math" panose="02040503050406030204" pitchFamily="18" charset="0"/>
                          </a:rPr>
                          <m:t>5</m:t>
                        </m:r>
                      </m:sub>
                    </m:sSub>
                  </m:oMath>
                </a14:m>
                <a:r>
                  <a:rPr lang="en-US" altLang="zh-CN" sz="2800" dirty="0" smtClean="0"/>
                  <a:t>, </a:t>
                </a:r>
                <a14:m>
                  <m:oMath xmlns:m="http://schemas.openxmlformats.org/officeDocument/2006/math">
                    <m:sSub>
                      <m:sSubPr>
                        <m:ctrlPr>
                          <a:rPr lang="en-US" altLang="zh-CN" sz="2800" i="1">
                            <a:latin typeface="Cambria Math" panose="02040503050406030204" pitchFamily="18" charset="0"/>
                          </a:rPr>
                        </m:ctrlPr>
                      </m:sSubPr>
                      <m:e>
                        <m:r>
                          <a:rPr lang="en-US" altLang="zh-CN" sz="2800" i="1">
                            <a:latin typeface="Cambria Math" panose="02040503050406030204" pitchFamily="18" charset="0"/>
                          </a:rPr>
                          <m:t>𝑅</m:t>
                        </m:r>
                      </m:e>
                      <m:sub>
                        <m:r>
                          <a:rPr lang="en-US" altLang="zh-CN" sz="2800" i="1">
                            <a:latin typeface="Cambria Math" panose="02040503050406030204" pitchFamily="18" charset="0"/>
                          </a:rPr>
                          <m:t>6</m:t>
                        </m:r>
                      </m:sub>
                    </m:sSub>
                  </m:oMath>
                </a14:m>
                <a:r>
                  <a:rPr lang="zh-CN" altLang="en-US" sz="2800" dirty="0" smtClean="0"/>
                  <a:t>是</a:t>
                </a:r>
                <a:r>
                  <a:rPr lang="zh-CN" altLang="en-US" sz="2800" dirty="0"/>
                  <a:t>反</a:t>
                </a:r>
                <a:r>
                  <a:rPr lang="zh-CN" altLang="en-US" sz="2800" dirty="0" smtClean="0"/>
                  <a:t>对称</a:t>
                </a:r>
                <a:r>
                  <a:rPr lang="zh-CN" altLang="en-US" sz="2800" dirty="0"/>
                  <a:t>的</a:t>
                </a:r>
                <a:r>
                  <a:rPr lang="en-US" altLang="zh-CN" sz="2800" dirty="0"/>
                  <a:t>, </a:t>
                </a:r>
                <a:r>
                  <a:rPr lang="zh-CN" altLang="en-US" sz="2800" dirty="0"/>
                  <a:t>其他都</a:t>
                </a:r>
                <a:r>
                  <a:rPr lang="zh-CN" altLang="en-US" sz="2800" dirty="0" smtClean="0"/>
                  <a:t>不是</a:t>
                </a:r>
                <a:r>
                  <a:rPr lang="zh-CN" altLang="en-US" sz="2800" dirty="0"/>
                  <a:t>反</a:t>
                </a:r>
                <a:r>
                  <a:rPr lang="zh-CN" altLang="en-US" sz="2800" dirty="0" smtClean="0"/>
                  <a:t>对称</a:t>
                </a:r>
                <a:r>
                  <a:rPr lang="zh-CN" altLang="en-US" sz="2800" dirty="0"/>
                  <a:t>的</a:t>
                </a:r>
                <a:r>
                  <a:rPr lang="en-US" altLang="zh-CN" dirty="0"/>
                  <a:t>.</a:t>
                </a:r>
              </a:p>
              <a:p>
                <a:endParaRPr lang="en-US" dirty="0" smtClean="0"/>
              </a:p>
              <a:p>
                <a:pPr lvl="1"/>
                <a:endParaRPr lang="en-US" dirty="0" smtClean="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999" t="-1310"/>
                </a:stretch>
              </a:blipFill>
            </p:spPr>
            <p:txBody>
              <a:bodyPr/>
              <a:lstStyle/>
              <a:p>
                <a:r>
                  <a:rPr lang="zh-CN" altLang="en-US">
                    <a:noFill/>
                  </a:rPr>
                  <a:t> </a:t>
                </a:r>
              </a:p>
            </p:txBody>
          </p:sp>
        </mc:Fallback>
      </mc:AlternateContent>
      <p:sp>
        <p:nvSpPr>
          <p:cNvPr id="7" name="日期占位符 6"/>
          <p:cNvSpPr>
            <a:spLocks noGrp="1"/>
          </p:cNvSpPr>
          <p:nvPr>
            <p:ph type="dt" sz="half" idx="10"/>
          </p:nvPr>
        </p:nvSpPr>
        <p:spPr/>
        <p:txBody>
          <a:bodyPr/>
          <a:lstStyle/>
          <a:p>
            <a:fld id="{9C678ED8-DD3D-4BB8-A590-B1AC45F6EEF3}" type="datetime1">
              <a:rPr lang="zh-CN" altLang="en-US" smtClean="0"/>
              <a:t>2025/3/14</a:t>
            </a:fld>
            <a:endParaRPr lang="zh-CN" altLang="en-US" dirty="0"/>
          </a:p>
        </p:txBody>
      </p:sp>
      <p:sp>
        <p:nvSpPr>
          <p:cNvPr id="8" name="页脚占位符 7"/>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9" name="灯片编号占位符 8"/>
          <p:cNvSpPr>
            <a:spLocks noGrp="1"/>
          </p:cNvSpPr>
          <p:nvPr>
            <p:ph type="sldNum" sz="quarter" idx="12"/>
          </p:nvPr>
        </p:nvSpPr>
        <p:spPr/>
        <p:txBody>
          <a:bodyPr/>
          <a:lstStyle/>
          <a:p>
            <a:fld id="{67913A8A-9EFB-4B5F-9CCB-3D21173FAA85}" type="slidenum">
              <a:rPr lang="zh-CN" altLang="en-US" smtClean="0"/>
              <a:pPr/>
              <a:t>13</a:t>
            </a:fld>
            <a:endParaRPr lang="zh-CN" altLang="en-US" dirty="0"/>
          </a:p>
        </p:txBody>
      </p:sp>
    </p:spTree>
    <p:extLst>
      <p:ext uri="{BB962C8B-B14F-4D97-AF65-F5344CB8AC3E}">
        <p14:creationId xmlns:p14="http://schemas.microsoft.com/office/powerpoint/2010/main" val="29725486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7" end="7"/>
                                            </p:txEl>
                                          </p:spTgt>
                                        </p:tgtEl>
                                        <p:attrNameLst>
                                          <p:attrName>style.visibility</p:attrName>
                                        </p:attrNameLst>
                                      </p:cBhvr>
                                      <p:to>
                                        <p:strVal val="visible"/>
                                      </p:to>
                                    </p:set>
                                    <p:animEffect transition="in" filter="wipe(down)">
                                      <p:cBhvr>
                                        <p:cTn id="7"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关系的性质</a:t>
            </a:r>
            <a:r>
              <a:rPr lang="en-US" altLang="zh-CN" dirty="0"/>
              <a:t>:</a:t>
            </a:r>
            <a:r>
              <a:rPr lang="zh-CN" altLang="en-US" dirty="0" smtClean="0"/>
              <a:t>反对称关系</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zh-CN" altLang="en-US" dirty="0" smtClean="0"/>
                  <a:t>例</a:t>
                </a:r>
                <a:r>
                  <a:rPr lang="en-US" altLang="zh-CN" dirty="0" smtClean="0"/>
                  <a:t>:</a:t>
                </a:r>
                <a:r>
                  <a:rPr lang="zh-CN" altLang="en-US" dirty="0" smtClean="0"/>
                  <a:t>以下</a:t>
                </a:r>
                <a:r>
                  <a:rPr lang="zh-CN" altLang="en-US" dirty="0"/>
                  <a:t>哪些关系</a:t>
                </a:r>
                <a:r>
                  <a:rPr lang="zh-CN" altLang="en-US" dirty="0" smtClean="0"/>
                  <a:t>是反对称</a:t>
                </a:r>
                <a:r>
                  <a:rPr lang="zh-CN" altLang="en-US" dirty="0"/>
                  <a:t>的？</a:t>
                </a:r>
                <a:endParaRPr lang="en-US" altLang="zh-CN" dirty="0"/>
              </a:p>
              <a:p>
                <a:pPr lvl="1"/>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𝑅</m:t>
                        </m:r>
                      </m:e>
                      <m:sub>
                        <m:r>
                          <a:rPr lang="en-US" altLang="zh-CN" i="1">
                            <a:latin typeface="Cambria Math" panose="02040503050406030204" pitchFamily="18" charset="0"/>
                          </a:rPr>
                          <m:t>1</m:t>
                        </m:r>
                      </m:sub>
                    </m:sSub>
                  </m:oMath>
                </a14:m>
                <a:r>
                  <a:rPr lang="en-US" altLang="zh-CN" dirty="0"/>
                  <a:t> = {(</a:t>
                </a:r>
                <a:r>
                  <a:rPr lang="en-US" altLang="zh-CN" dirty="0" err="1"/>
                  <a:t>a,b</a:t>
                </a:r>
                <a:r>
                  <a:rPr lang="en-US" altLang="zh-CN" dirty="0"/>
                  <a:t>) | a ≤ b}</a:t>
                </a:r>
              </a:p>
              <a:p>
                <a:pPr lvl="1"/>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𝑅</m:t>
                        </m:r>
                      </m:e>
                      <m:sub>
                        <m:r>
                          <a:rPr lang="en-US" altLang="zh-CN" i="1">
                            <a:latin typeface="Cambria Math" panose="02040503050406030204" pitchFamily="18" charset="0"/>
                          </a:rPr>
                          <m:t>2</m:t>
                        </m:r>
                      </m:sub>
                    </m:sSub>
                  </m:oMath>
                </a14:m>
                <a:r>
                  <a:rPr lang="en-US" altLang="zh-CN" dirty="0"/>
                  <a:t> = {(</a:t>
                </a:r>
                <a:r>
                  <a:rPr lang="en-US" altLang="zh-CN" dirty="0" err="1"/>
                  <a:t>a,b</a:t>
                </a:r>
                <a:r>
                  <a:rPr lang="en-US" altLang="zh-CN" dirty="0"/>
                  <a:t>) | a &gt; b} </a:t>
                </a:r>
              </a:p>
              <a:p>
                <a:pPr lvl="1"/>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𝑅</m:t>
                        </m:r>
                      </m:e>
                      <m:sub>
                        <m:r>
                          <a:rPr lang="en-US" altLang="zh-CN" i="1">
                            <a:latin typeface="Cambria Math" panose="02040503050406030204" pitchFamily="18" charset="0"/>
                          </a:rPr>
                          <m:t>3</m:t>
                        </m:r>
                      </m:sub>
                    </m:sSub>
                  </m:oMath>
                </a14:m>
                <a:r>
                  <a:rPr lang="en-US" altLang="zh-CN" dirty="0"/>
                  <a:t> = {(</a:t>
                </a:r>
                <a:r>
                  <a:rPr lang="en-US" altLang="zh-CN" dirty="0" err="1"/>
                  <a:t>a,b</a:t>
                </a:r>
                <a:r>
                  <a:rPr lang="en-US" altLang="zh-CN" dirty="0"/>
                  <a:t>) | a = b</a:t>
                </a:r>
                <a:r>
                  <a:rPr lang="zh-CN" altLang="en-US" dirty="0"/>
                  <a:t>或</a:t>
                </a:r>
                <a:r>
                  <a:rPr lang="en-US" altLang="zh-CN" dirty="0"/>
                  <a:t>a =−b}</a:t>
                </a:r>
              </a:p>
              <a:p>
                <a:pPr lvl="1"/>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𝑅</m:t>
                        </m:r>
                      </m:e>
                      <m:sub>
                        <m:r>
                          <a:rPr lang="en-US" altLang="zh-CN" i="1">
                            <a:latin typeface="Cambria Math" panose="02040503050406030204" pitchFamily="18" charset="0"/>
                          </a:rPr>
                          <m:t>4</m:t>
                        </m:r>
                      </m:sub>
                    </m:sSub>
                  </m:oMath>
                </a14:m>
                <a:r>
                  <a:rPr lang="en-US" altLang="zh-CN" dirty="0"/>
                  <a:t> = {(</a:t>
                </a:r>
                <a:r>
                  <a:rPr lang="en-US" altLang="zh-CN" dirty="0" err="1"/>
                  <a:t>a,b</a:t>
                </a:r>
                <a:r>
                  <a:rPr lang="en-US" altLang="zh-CN" dirty="0"/>
                  <a:t>) | a = b}</a:t>
                </a:r>
              </a:p>
              <a:p>
                <a:pPr lvl="1"/>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𝑅</m:t>
                        </m:r>
                      </m:e>
                      <m:sub>
                        <m:r>
                          <a:rPr lang="en-US" altLang="zh-CN" i="1">
                            <a:latin typeface="Cambria Math" panose="02040503050406030204" pitchFamily="18" charset="0"/>
                          </a:rPr>
                          <m:t>5</m:t>
                        </m:r>
                      </m:sub>
                    </m:sSub>
                  </m:oMath>
                </a14:m>
                <a:r>
                  <a:rPr lang="en-US" altLang="zh-CN" dirty="0"/>
                  <a:t> = {(</a:t>
                </a:r>
                <a:r>
                  <a:rPr lang="en-US" altLang="zh-CN" dirty="0" err="1"/>
                  <a:t>a,b</a:t>
                </a:r>
                <a:r>
                  <a:rPr lang="en-US" altLang="zh-CN" dirty="0"/>
                  <a:t>) | a = b + 1} </a:t>
                </a:r>
              </a:p>
              <a:p>
                <a:pPr lvl="1"/>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𝑅</m:t>
                        </m:r>
                      </m:e>
                      <m:sub>
                        <m:r>
                          <a:rPr lang="en-US" altLang="zh-CN" i="1">
                            <a:latin typeface="Cambria Math" panose="02040503050406030204" pitchFamily="18" charset="0"/>
                          </a:rPr>
                          <m:t>6</m:t>
                        </m:r>
                      </m:sub>
                    </m:sSub>
                  </m:oMath>
                </a14:m>
                <a:r>
                  <a:rPr lang="en-US" altLang="zh-CN" dirty="0"/>
                  <a:t> = {(</a:t>
                </a:r>
                <a:r>
                  <a:rPr lang="en-US" altLang="zh-CN" dirty="0" err="1"/>
                  <a:t>a,b</a:t>
                </a:r>
                <a:r>
                  <a:rPr lang="en-US" altLang="zh-CN" dirty="0"/>
                  <a:t>) | a + b ≤ 3} </a:t>
                </a:r>
                <a:endParaRPr lang="en-US" altLang="zh-CN" dirty="0" smtClean="0"/>
              </a:p>
              <a:p>
                <a:r>
                  <a:rPr lang="zh-CN" altLang="en-US" dirty="0" smtClean="0"/>
                  <a:t>解</a:t>
                </a:r>
                <a:r>
                  <a:rPr lang="en-US" altLang="zh-CN" dirty="0" smtClean="0"/>
                  <a:t>:</a:t>
                </a:r>
                <a:endParaRPr lang="en-US" altLang="zh-CN" i="1" dirty="0" smtClean="0">
                  <a:latin typeface="Cambria Math" panose="02040503050406030204" pitchFamily="18" charset="0"/>
                </a:endParaRPr>
              </a:p>
              <a:p>
                <a:pPr lvl="1"/>
                <a14:m>
                  <m:oMath xmlns:m="http://schemas.openxmlformats.org/officeDocument/2006/math">
                    <m:sSub>
                      <m:sSubPr>
                        <m:ctrlPr>
                          <a:rPr lang="en-US" altLang="zh-CN" i="1">
                            <a:latin typeface="Cambria Math" panose="02040503050406030204" pitchFamily="18" charset="0"/>
                          </a:rPr>
                        </m:ctrlPr>
                      </m:sSubPr>
                      <m:e>
                        <m:r>
                          <m:rPr>
                            <m:sty m:val="p"/>
                          </m:rPr>
                          <a:rPr lang="en-US" altLang="zh-CN" i="0">
                            <a:latin typeface="Cambria Math" panose="02040503050406030204" pitchFamily="18" charset="0"/>
                          </a:rPr>
                          <m:t>R</m:t>
                        </m:r>
                      </m:e>
                      <m:sub>
                        <m:r>
                          <a:rPr lang="en-US" altLang="zh-CN" i="0">
                            <a:latin typeface="Cambria Math" panose="02040503050406030204" pitchFamily="18" charset="0"/>
                          </a:rPr>
                          <m:t>1</m:t>
                        </m:r>
                      </m:sub>
                    </m:sSub>
                  </m:oMath>
                </a14:m>
                <a:r>
                  <a:rPr lang="en-US" altLang="zh-CN" dirty="0">
                    <a:latin typeface="Cambria Math" panose="02040503050406030204" pitchFamily="18" charset="0"/>
                  </a:rPr>
                  <a:t>, </a:t>
                </a:r>
                <a14:m>
                  <m:oMath xmlns:m="http://schemas.openxmlformats.org/officeDocument/2006/math">
                    <m:sSub>
                      <m:sSubPr>
                        <m:ctrlPr>
                          <a:rPr lang="en-US" altLang="zh-CN" i="1">
                            <a:latin typeface="Cambria Math" panose="02040503050406030204" pitchFamily="18" charset="0"/>
                          </a:rPr>
                        </m:ctrlPr>
                      </m:sSubPr>
                      <m:e>
                        <m:r>
                          <m:rPr>
                            <m:sty m:val="p"/>
                          </m:rPr>
                          <a:rPr lang="en-US" altLang="zh-CN" i="0">
                            <a:latin typeface="Cambria Math" panose="02040503050406030204" pitchFamily="18" charset="0"/>
                          </a:rPr>
                          <m:t>R</m:t>
                        </m:r>
                      </m:e>
                      <m:sub>
                        <m:r>
                          <a:rPr lang="en-US" altLang="zh-CN" i="0">
                            <a:latin typeface="Cambria Math" panose="02040503050406030204" pitchFamily="18" charset="0"/>
                          </a:rPr>
                          <m:t>2</m:t>
                        </m:r>
                      </m:sub>
                    </m:sSub>
                  </m:oMath>
                </a14:m>
                <a:r>
                  <a:rPr lang="en-US" altLang="zh-CN" dirty="0">
                    <a:latin typeface="Cambria Math" panose="02040503050406030204" pitchFamily="18" charset="0"/>
                  </a:rPr>
                  <a:t>, </a:t>
                </a:r>
                <a14:m>
                  <m:oMath xmlns:m="http://schemas.openxmlformats.org/officeDocument/2006/math">
                    <m:sSub>
                      <m:sSubPr>
                        <m:ctrlPr>
                          <a:rPr lang="en-US" altLang="zh-CN" i="1">
                            <a:latin typeface="Cambria Math" panose="02040503050406030204" pitchFamily="18" charset="0"/>
                          </a:rPr>
                        </m:ctrlPr>
                      </m:sSubPr>
                      <m:e>
                        <m:r>
                          <m:rPr>
                            <m:sty m:val="p"/>
                          </m:rPr>
                          <a:rPr lang="en-US" altLang="zh-CN" i="0">
                            <a:latin typeface="Cambria Math" panose="02040503050406030204" pitchFamily="18" charset="0"/>
                          </a:rPr>
                          <m:t>R</m:t>
                        </m:r>
                      </m:e>
                      <m:sub>
                        <m:r>
                          <a:rPr lang="en-US" altLang="zh-CN" i="0">
                            <a:latin typeface="Cambria Math" panose="02040503050406030204" pitchFamily="18" charset="0"/>
                          </a:rPr>
                          <m:t>4</m:t>
                        </m:r>
                      </m:sub>
                    </m:sSub>
                  </m:oMath>
                </a14:m>
                <a:r>
                  <a:rPr lang="en-US" altLang="zh-CN" dirty="0">
                    <a:latin typeface="Cambria Math" panose="02040503050406030204" pitchFamily="18" charset="0"/>
                  </a:rPr>
                  <a:t>, </a:t>
                </a:r>
                <a14:m>
                  <m:oMath xmlns:m="http://schemas.openxmlformats.org/officeDocument/2006/math">
                    <m:sSub>
                      <m:sSubPr>
                        <m:ctrlPr>
                          <a:rPr lang="en-US" altLang="zh-CN" i="1">
                            <a:latin typeface="Cambria Math" panose="02040503050406030204" pitchFamily="18" charset="0"/>
                          </a:rPr>
                        </m:ctrlPr>
                      </m:sSubPr>
                      <m:e>
                        <m:r>
                          <m:rPr>
                            <m:sty m:val="p"/>
                          </m:rPr>
                          <a:rPr lang="en-US" altLang="zh-CN" i="0">
                            <a:latin typeface="Cambria Math" panose="02040503050406030204" pitchFamily="18" charset="0"/>
                          </a:rPr>
                          <m:t>R</m:t>
                        </m:r>
                      </m:e>
                      <m:sub>
                        <m:r>
                          <a:rPr lang="en-US" altLang="zh-CN" i="0">
                            <a:latin typeface="Cambria Math" panose="02040503050406030204" pitchFamily="18" charset="0"/>
                          </a:rPr>
                          <m:t>5</m:t>
                        </m:r>
                      </m:sub>
                    </m:sSub>
                  </m:oMath>
                </a14:m>
                <a:r>
                  <a:rPr lang="zh-CN" altLang="en-US" dirty="0">
                    <a:latin typeface="Cambria Math" panose="02040503050406030204" pitchFamily="18" charset="0"/>
                  </a:rPr>
                  <a:t>是反对称的</a:t>
                </a:r>
                <a:endParaRPr lang="en-US" altLang="zh-CN" dirty="0">
                  <a:latin typeface="Cambria Math" panose="02040503050406030204" pitchFamily="18" charset="0"/>
                </a:endParaRPr>
              </a:p>
              <a:p>
                <a:pPr lvl="1"/>
                <a14:m>
                  <m:oMath xmlns:m="http://schemas.openxmlformats.org/officeDocument/2006/math">
                    <m:sSub>
                      <m:sSubPr>
                        <m:ctrlPr>
                          <a:rPr lang="en-US" altLang="zh-CN" i="1">
                            <a:latin typeface="Cambria Math" panose="02040503050406030204" pitchFamily="18" charset="0"/>
                          </a:rPr>
                        </m:ctrlPr>
                      </m:sSubPr>
                      <m:e>
                        <m:r>
                          <m:rPr>
                            <m:sty m:val="p"/>
                          </m:rPr>
                          <a:rPr lang="en-US" altLang="zh-CN" i="0">
                            <a:latin typeface="Cambria Math" panose="02040503050406030204" pitchFamily="18" charset="0"/>
                          </a:rPr>
                          <m:t>R</m:t>
                        </m:r>
                      </m:e>
                      <m:sub>
                        <m:r>
                          <a:rPr lang="en-US" altLang="zh-CN" i="0">
                            <a:latin typeface="Cambria Math" panose="02040503050406030204" pitchFamily="18" charset="0"/>
                          </a:rPr>
                          <m:t>3</m:t>
                        </m:r>
                      </m:sub>
                    </m:sSub>
                  </m:oMath>
                </a14:m>
                <a:r>
                  <a:rPr lang="zh-CN" altLang="en-US" dirty="0">
                    <a:latin typeface="Cambria Math" panose="02040503050406030204" pitchFamily="18" charset="0"/>
                  </a:rPr>
                  <a:t>不是反对称的</a:t>
                </a:r>
                <a:r>
                  <a:rPr lang="en-US" altLang="zh-CN" dirty="0">
                    <a:latin typeface="Cambria Math" panose="02040503050406030204" pitchFamily="18" charset="0"/>
                  </a:rPr>
                  <a:t>, </a:t>
                </a:r>
                <a:r>
                  <a:rPr lang="zh-CN" altLang="en-US" dirty="0">
                    <a:latin typeface="Cambria Math" panose="02040503050406030204" pitchFamily="18" charset="0"/>
                  </a:rPr>
                  <a:t>例如</a:t>
                </a:r>
                <a:r>
                  <a:rPr lang="en-US" altLang="zh-CN" dirty="0">
                    <a:latin typeface="Cambria Math" panose="02040503050406030204" pitchFamily="18" charset="0"/>
                  </a:rPr>
                  <a:t>(1,−1) , (−1,1)</a:t>
                </a:r>
                <a:r>
                  <a:rPr lang="zh-CN" altLang="en-US" dirty="0">
                    <a:latin typeface="Cambria Math" panose="02040503050406030204" pitchFamily="18" charset="0"/>
                  </a:rPr>
                  <a:t>都属于</a:t>
                </a:r>
                <a14:m>
                  <m:oMath xmlns:m="http://schemas.openxmlformats.org/officeDocument/2006/math">
                    <m:sSub>
                      <m:sSubPr>
                        <m:ctrlPr>
                          <a:rPr lang="en-US" altLang="zh-CN" i="1">
                            <a:latin typeface="Cambria Math" panose="02040503050406030204" pitchFamily="18" charset="0"/>
                          </a:rPr>
                        </m:ctrlPr>
                      </m:sSubPr>
                      <m:e>
                        <m:r>
                          <m:rPr>
                            <m:sty m:val="p"/>
                          </m:rPr>
                          <a:rPr lang="en-US" altLang="zh-CN" i="0">
                            <a:latin typeface="Cambria Math" panose="02040503050406030204" pitchFamily="18" charset="0"/>
                          </a:rPr>
                          <m:t>R</m:t>
                        </m:r>
                      </m:e>
                      <m:sub>
                        <m:r>
                          <a:rPr lang="en-US" altLang="zh-CN" i="0">
                            <a:latin typeface="Cambria Math" panose="02040503050406030204" pitchFamily="18" charset="0"/>
                          </a:rPr>
                          <m:t>3</m:t>
                        </m:r>
                      </m:sub>
                    </m:sSub>
                  </m:oMath>
                </a14:m>
                <a:endParaRPr lang="en-US" altLang="zh-CN" dirty="0">
                  <a:latin typeface="Cambria Math" panose="02040503050406030204" pitchFamily="18" charset="0"/>
                </a:endParaRPr>
              </a:p>
              <a:p>
                <a:pPr lvl="1"/>
                <a14:m>
                  <m:oMath xmlns:m="http://schemas.openxmlformats.org/officeDocument/2006/math">
                    <m:sSub>
                      <m:sSubPr>
                        <m:ctrlPr>
                          <a:rPr lang="en-US" altLang="zh-CN" i="1">
                            <a:latin typeface="Cambria Math" panose="02040503050406030204" pitchFamily="18" charset="0"/>
                          </a:rPr>
                        </m:ctrlPr>
                      </m:sSubPr>
                      <m:e>
                        <m:r>
                          <m:rPr>
                            <m:sty m:val="p"/>
                          </m:rPr>
                          <a:rPr lang="en-US" altLang="zh-CN" i="0">
                            <a:latin typeface="Cambria Math" panose="02040503050406030204" pitchFamily="18" charset="0"/>
                          </a:rPr>
                          <m:t>R</m:t>
                        </m:r>
                      </m:e>
                      <m:sub>
                        <m:r>
                          <a:rPr lang="en-US" altLang="zh-CN" i="0">
                            <a:latin typeface="Cambria Math" panose="02040503050406030204" pitchFamily="18" charset="0"/>
                          </a:rPr>
                          <m:t>6</m:t>
                        </m:r>
                      </m:sub>
                    </m:sSub>
                  </m:oMath>
                </a14:m>
                <a:r>
                  <a:rPr lang="zh-CN" altLang="en-US" dirty="0">
                    <a:latin typeface="Cambria Math" panose="02040503050406030204" pitchFamily="18" charset="0"/>
                  </a:rPr>
                  <a:t>不是反对称的</a:t>
                </a:r>
                <a:r>
                  <a:rPr lang="en-US" altLang="zh-CN" dirty="0">
                    <a:latin typeface="Cambria Math" panose="02040503050406030204" pitchFamily="18" charset="0"/>
                  </a:rPr>
                  <a:t>, </a:t>
                </a:r>
                <a:r>
                  <a:rPr lang="zh-CN" altLang="en-US" dirty="0">
                    <a:latin typeface="Cambria Math" panose="02040503050406030204" pitchFamily="18" charset="0"/>
                  </a:rPr>
                  <a:t>例如</a:t>
                </a:r>
                <a:r>
                  <a:rPr lang="en-US" altLang="zh-CN" dirty="0">
                    <a:latin typeface="Cambria Math" panose="02040503050406030204" pitchFamily="18" charset="0"/>
                  </a:rPr>
                  <a:t>(1,2),(2,1)</a:t>
                </a:r>
                <a:r>
                  <a:rPr lang="zh-CN" altLang="en-US" dirty="0">
                    <a:latin typeface="Cambria Math" panose="02040503050406030204" pitchFamily="18" charset="0"/>
                  </a:rPr>
                  <a:t>都属于</a:t>
                </a:r>
                <a14:m>
                  <m:oMath xmlns:m="http://schemas.openxmlformats.org/officeDocument/2006/math">
                    <m:sSub>
                      <m:sSubPr>
                        <m:ctrlPr>
                          <a:rPr lang="en-US" altLang="zh-CN" i="1">
                            <a:latin typeface="Cambria Math" panose="02040503050406030204" pitchFamily="18" charset="0"/>
                          </a:rPr>
                        </m:ctrlPr>
                      </m:sSubPr>
                      <m:e>
                        <m:r>
                          <m:rPr>
                            <m:sty m:val="p"/>
                          </m:rPr>
                          <a:rPr lang="en-US" altLang="zh-CN" i="0">
                            <a:latin typeface="Cambria Math" panose="02040503050406030204" pitchFamily="18" charset="0"/>
                          </a:rPr>
                          <m:t>R</m:t>
                        </m:r>
                      </m:e>
                      <m:sub>
                        <m:r>
                          <a:rPr lang="en-US" altLang="zh-CN" i="0">
                            <a:latin typeface="Cambria Math" panose="02040503050406030204" pitchFamily="18" charset="0"/>
                          </a:rPr>
                          <m:t>6</m:t>
                        </m:r>
                      </m:sub>
                    </m:sSub>
                  </m:oMath>
                </a14:m>
                <a:endParaRPr lang="en-US" dirty="0">
                  <a:latin typeface="Cambria Math" panose="02040503050406030204" pitchFamily="18" charset="0"/>
                </a:endParaRPr>
              </a:p>
              <a:p>
                <a:pPr lvl="1"/>
                <a:endParaRPr lang="en-US" dirty="0" smtClean="0"/>
              </a:p>
              <a:p>
                <a:pPr lvl="1"/>
                <a:endParaRPr lang="en-US" dirty="0" smtClean="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999" t="-1310"/>
                </a:stretch>
              </a:blipFill>
            </p:spPr>
            <p:txBody>
              <a:bodyPr/>
              <a:lstStyle/>
              <a:p>
                <a:r>
                  <a:rPr lang="zh-CN" altLang="en-US">
                    <a:noFill/>
                  </a:rPr>
                  <a:t> </a:t>
                </a:r>
              </a:p>
            </p:txBody>
          </p:sp>
        </mc:Fallback>
      </mc:AlternateContent>
      <p:sp>
        <p:nvSpPr>
          <p:cNvPr id="7" name="日期占位符 6"/>
          <p:cNvSpPr>
            <a:spLocks noGrp="1"/>
          </p:cNvSpPr>
          <p:nvPr>
            <p:ph type="dt" sz="half" idx="10"/>
          </p:nvPr>
        </p:nvSpPr>
        <p:spPr/>
        <p:txBody>
          <a:bodyPr/>
          <a:lstStyle/>
          <a:p>
            <a:fld id="{95689ABF-C123-42C0-A1BD-8254FFC65F0A}" type="datetime1">
              <a:rPr lang="zh-CN" altLang="en-US" smtClean="0"/>
              <a:t>2025/3/14</a:t>
            </a:fld>
            <a:endParaRPr lang="zh-CN" altLang="en-US" dirty="0"/>
          </a:p>
        </p:txBody>
      </p:sp>
      <p:sp>
        <p:nvSpPr>
          <p:cNvPr id="8" name="页脚占位符 7"/>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9" name="灯片编号占位符 8"/>
          <p:cNvSpPr>
            <a:spLocks noGrp="1"/>
          </p:cNvSpPr>
          <p:nvPr>
            <p:ph type="sldNum" sz="quarter" idx="12"/>
          </p:nvPr>
        </p:nvSpPr>
        <p:spPr/>
        <p:txBody>
          <a:bodyPr/>
          <a:lstStyle/>
          <a:p>
            <a:fld id="{67913A8A-9EFB-4B5F-9CCB-3D21173FAA85}" type="slidenum">
              <a:rPr lang="zh-CN" altLang="en-US" smtClean="0"/>
              <a:pPr/>
              <a:t>14</a:t>
            </a:fld>
            <a:endParaRPr lang="zh-CN" altLang="en-US" dirty="0"/>
          </a:p>
        </p:txBody>
      </p:sp>
    </p:spTree>
    <p:extLst>
      <p:ext uri="{BB962C8B-B14F-4D97-AF65-F5344CB8AC3E}">
        <p14:creationId xmlns:p14="http://schemas.microsoft.com/office/powerpoint/2010/main" val="17410023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7" end="7"/>
                                            </p:txEl>
                                          </p:spTgt>
                                        </p:tgtEl>
                                        <p:attrNameLst>
                                          <p:attrName>style.visibility</p:attrName>
                                        </p:attrNameLst>
                                      </p:cBhvr>
                                      <p:to>
                                        <p:strVal val="visible"/>
                                      </p:to>
                                    </p:set>
                                    <p:animEffect transition="in" filter="wipe(down)">
                                      <p:cBhvr>
                                        <p:cTn id="7" dur="500"/>
                                        <p:tgtEl>
                                          <p:spTgt spid="3">
                                            <p:txEl>
                                              <p:pRg st="7" end="7"/>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3">
                                            <p:txEl>
                                              <p:pRg st="8" end="8"/>
                                            </p:txEl>
                                          </p:spTgt>
                                        </p:tgtEl>
                                        <p:attrNameLst>
                                          <p:attrName>style.visibility</p:attrName>
                                        </p:attrNameLst>
                                      </p:cBhvr>
                                      <p:to>
                                        <p:strVal val="visible"/>
                                      </p:to>
                                    </p:set>
                                    <p:animEffect transition="in" filter="wipe(down)">
                                      <p:cBhvr>
                                        <p:cTn id="10" dur="500"/>
                                        <p:tgtEl>
                                          <p:spTgt spid="3">
                                            <p:txEl>
                                              <p:pRg st="8" end="8"/>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3">
                                            <p:txEl>
                                              <p:pRg st="9" end="9"/>
                                            </p:txEl>
                                          </p:spTgt>
                                        </p:tgtEl>
                                        <p:attrNameLst>
                                          <p:attrName>style.visibility</p:attrName>
                                        </p:attrNameLst>
                                      </p:cBhvr>
                                      <p:to>
                                        <p:strVal val="visible"/>
                                      </p:to>
                                    </p:set>
                                    <p:animEffect transition="in" filter="wipe(down)">
                                      <p:cBhvr>
                                        <p:cTn id="13" dur="500"/>
                                        <p:tgtEl>
                                          <p:spTgt spid="3">
                                            <p:txEl>
                                              <p:pRg st="9" end="9"/>
                                            </p:txEl>
                                          </p:spTgt>
                                        </p:tgtEl>
                                      </p:cBhvr>
                                    </p:animEffect>
                                  </p:childTnLst>
                                </p:cTn>
                              </p:par>
                              <p:par>
                                <p:cTn id="14" presetID="22" presetClass="entr" presetSubtype="4" fill="hold" nodeType="withEffect">
                                  <p:stCondLst>
                                    <p:cond delay="0"/>
                                  </p:stCondLst>
                                  <p:childTnLst>
                                    <p:set>
                                      <p:cBhvr>
                                        <p:cTn id="15" dur="1" fill="hold">
                                          <p:stCondLst>
                                            <p:cond delay="0"/>
                                          </p:stCondLst>
                                        </p:cTn>
                                        <p:tgtEl>
                                          <p:spTgt spid="3">
                                            <p:txEl>
                                              <p:pRg st="10" end="10"/>
                                            </p:txEl>
                                          </p:spTgt>
                                        </p:tgtEl>
                                        <p:attrNameLst>
                                          <p:attrName>style.visibility</p:attrName>
                                        </p:attrNameLst>
                                      </p:cBhvr>
                                      <p:to>
                                        <p:strVal val="visible"/>
                                      </p:to>
                                    </p:set>
                                    <p:animEffect transition="in" filter="wipe(down)">
                                      <p:cBhvr>
                                        <p:cTn id="16"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457200" y="1143000"/>
            <a:ext cx="11277599" cy="838200"/>
          </a:xfrm>
          <a:prstGeom prst="rect">
            <a:avLst/>
          </a:prstGeom>
          <a:solidFill>
            <a:schemeClr val="accent5">
              <a:lumMod val="40000"/>
              <a:lumOff val="6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itle 1"/>
          <p:cNvSpPr>
            <a:spLocks noGrp="1"/>
          </p:cNvSpPr>
          <p:nvPr>
            <p:ph type="title"/>
          </p:nvPr>
        </p:nvSpPr>
        <p:spPr/>
        <p:txBody>
          <a:bodyPr/>
          <a:lstStyle/>
          <a:p>
            <a:r>
              <a:rPr lang="zh-CN" altLang="en-US" dirty="0"/>
              <a:t>关系的性质</a:t>
            </a:r>
            <a:r>
              <a:rPr lang="en-US" altLang="zh-CN" dirty="0"/>
              <a:t>:</a:t>
            </a:r>
            <a:r>
              <a:rPr lang="zh-CN" altLang="en-US" dirty="0" smtClean="0"/>
              <a:t>传递关系</a:t>
            </a:r>
            <a:endParaRPr lang="en-US" dirty="0"/>
          </a:p>
        </p:txBody>
      </p:sp>
      <p:sp>
        <p:nvSpPr>
          <p:cNvPr id="3" name="Content Placeholder 2"/>
          <p:cNvSpPr>
            <a:spLocks noGrp="1"/>
          </p:cNvSpPr>
          <p:nvPr>
            <p:ph idx="1"/>
          </p:nvPr>
        </p:nvSpPr>
        <p:spPr/>
        <p:txBody>
          <a:bodyPr>
            <a:normAutofit/>
          </a:bodyPr>
          <a:lstStyle/>
          <a:p>
            <a:r>
              <a:rPr lang="zh-CN" altLang="en-US" dirty="0" smtClean="0"/>
              <a:t>定义</a:t>
            </a:r>
            <a:r>
              <a:rPr lang="en-US" dirty="0" smtClean="0"/>
              <a:t>: </a:t>
            </a:r>
            <a:r>
              <a:rPr lang="zh-CN" altLang="en-US" dirty="0" smtClean="0"/>
              <a:t>若对任意</a:t>
            </a:r>
            <a:r>
              <a:rPr lang="en-US" altLang="zh-CN" dirty="0" err="1" smtClean="0"/>
              <a:t>a,b,c</a:t>
            </a:r>
            <a:r>
              <a:rPr lang="en-US" altLang="zh-CN" dirty="0" smtClean="0"/>
              <a:t> </a:t>
            </a:r>
            <a:r>
              <a:rPr lang="en-US" altLang="zh-CN" dirty="0"/>
              <a:t>∊ </a:t>
            </a:r>
            <a:r>
              <a:rPr lang="en-US" altLang="zh-CN" dirty="0" smtClean="0"/>
              <a:t>A,</a:t>
            </a:r>
            <a:r>
              <a:rPr lang="en-US" dirty="0" smtClean="0"/>
              <a:t> (</a:t>
            </a:r>
            <a:r>
              <a:rPr lang="en-US" dirty="0" err="1" smtClean="0"/>
              <a:t>a,b</a:t>
            </a:r>
            <a:r>
              <a:rPr lang="en-US" dirty="0" smtClean="0"/>
              <a:t>) ∊ R </a:t>
            </a:r>
            <a:r>
              <a:rPr lang="zh-CN" altLang="en-US" dirty="0" smtClean="0"/>
              <a:t>并且</a:t>
            </a:r>
            <a:r>
              <a:rPr lang="en-US" dirty="0" smtClean="0"/>
              <a:t> (</a:t>
            </a:r>
            <a:r>
              <a:rPr lang="en-US" dirty="0" err="1" smtClean="0"/>
              <a:t>b,c</a:t>
            </a:r>
            <a:r>
              <a:rPr lang="en-US" dirty="0" smtClean="0"/>
              <a:t>) ∊ R, </a:t>
            </a:r>
            <a:r>
              <a:rPr lang="zh-CN" altLang="en-US" dirty="0" smtClean="0"/>
              <a:t>则</a:t>
            </a:r>
            <a:r>
              <a:rPr lang="en-US" dirty="0" smtClean="0"/>
              <a:t>(</a:t>
            </a:r>
            <a:r>
              <a:rPr lang="en-US" dirty="0" err="1" smtClean="0"/>
              <a:t>a,c</a:t>
            </a:r>
            <a:r>
              <a:rPr lang="en-US" dirty="0" smtClean="0"/>
              <a:t>) ∊ R, </a:t>
            </a:r>
            <a:r>
              <a:rPr lang="zh-CN" altLang="en-US" dirty="0" smtClean="0"/>
              <a:t>那么定义在集合</a:t>
            </a:r>
            <a:r>
              <a:rPr lang="en-US" altLang="zh-CN" dirty="0" smtClean="0"/>
              <a:t>A</a:t>
            </a:r>
            <a:r>
              <a:rPr lang="zh-CN" altLang="en-US" dirty="0" smtClean="0"/>
              <a:t>上的关系</a:t>
            </a:r>
            <a:r>
              <a:rPr lang="en-US" altLang="zh-CN" dirty="0" smtClean="0"/>
              <a:t>R</a:t>
            </a:r>
            <a:r>
              <a:rPr lang="zh-CN" altLang="en-US" dirty="0" smtClean="0"/>
              <a:t>是</a:t>
            </a:r>
            <a:r>
              <a:rPr lang="zh-CN" altLang="en-US" b="1" dirty="0" smtClean="0">
                <a:solidFill>
                  <a:srgbClr val="C00000"/>
                </a:solidFill>
              </a:rPr>
              <a:t>传递</a:t>
            </a:r>
            <a:r>
              <a:rPr lang="zh-CN" altLang="en-US" dirty="0" smtClean="0"/>
              <a:t>的</a:t>
            </a:r>
            <a:r>
              <a:rPr lang="en-US" altLang="zh-CN" dirty="0" smtClean="0"/>
              <a:t>.</a:t>
            </a:r>
          </a:p>
        </p:txBody>
      </p:sp>
      <p:sp>
        <p:nvSpPr>
          <p:cNvPr id="8" name="日期占位符 7"/>
          <p:cNvSpPr>
            <a:spLocks noGrp="1"/>
          </p:cNvSpPr>
          <p:nvPr>
            <p:ph type="dt" sz="half" idx="10"/>
          </p:nvPr>
        </p:nvSpPr>
        <p:spPr/>
        <p:txBody>
          <a:bodyPr/>
          <a:lstStyle/>
          <a:p>
            <a:fld id="{0BD4FCCD-676C-4CFA-BF81-13B55E65B91A}" type="datetime1">
              <a:rPr lang="zh-CN" altLang="en-US" smtClean="0"/>
              <a:t>2025/3/14</a:t>
            </a:fld>
            <a:endParaRPr lang="zh-CN" altLang="en-US" dirty="0"/>
          </a:p>
        </p:txBody>
      </p:sp>
      <p:sp>
        <p:nvSpPr>
          <p:cNvPr id="9" name="页脚占位符 8"/>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10" name="灯片编号占位符 9"/>
          <p:cNvSpPr>
            <a:spLocks noGrp="1"/>
          </p:cNvSpPr>
          <p:nvPr>
            <p:ph type="sldNum" sz="quarter" idx="12"/>
          </p:nvPr>
        </p:nvSpPr>
        <p:spPr/>
        <p:txBody>
          <a:bodyPr/>
          <a:lstStyle/>
          <a:p>
            <a:fld id="{67913A8A-9EFB-4B5F-9CCB-3D21173FAA85}" type="slidenum">
              <a:rPr lang="zh-CN" altLang="en-US" smtClean="0"/>
              <a:pPr/>
              <a:t>15</a:t>
            </a:fld>
            <a:endParaRPr lang="zh-CN" altLang="en-US"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关系的性质</a:t>
            </a:r>
            <a:r>
              <a:rPr lang="en-US" altLang="zh-CN" dirty="0"/>
              <a:t>:</a:t>
            </a:r>
            <a:r>
              <a:rPr lang="zh-CN" altLang="en-US" dirty="0" smtClean="0"/>
              <a:t>传递关系</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lnSpcReduction="10000"/>
              </a:bodyPr>
              <a:lstStyle/>
              <a:p>
                <a:r>
                  <a:rPr lang="zh-CN" altLang="en-US" dirty="0" smtClean="0"/>
                  <a:t>例</a:t>
                </a:r>
                <a:r>
                  <a:rPr lang="en-US" altLang="zh-CN" dirty="0" smtClean="0"/>
                  <a:t>:</a:t>
                </a:r>
                <a:r>
                  <a:rPr lang="zh-CN" altLang="en-US" dirty="0"/>
                  <a:t>在集合</a:t>
                </a:r>
                <a:r>
                  <a:rPr lang="en-US" altLang="zh-CN" dirty="0"/>
                  <a:t>A={1, 2, 3, 4}</a:t>
                </a:r>
                <a:r>
                  <a:rPr lang="zh-CN" altLang="en-US" dirty="0"/>
                  <a:t>上的哪些关系</a:t>
                </a:r>
                <a:r>
                  <a:rPr lang="zh-CN" altLang="en-US" dirty="0" smtClean="0"/>
                  <a:t>是传递的</a:t>
                </a:r>
                <a:r>
                  <a:rPr lang="zh-CN" altLang="en-US" dirty="0"/>
                  <a:t>？</a:t>
                </a:r>
                <a:endParaRPr lang="en-US" altLang="zh-CN" dirty="0"/>
              </a:p>
              <a:p>
                <a:pPr lvl="1"/>
                <a14:m>
                  <m:oMath xmlns:m="http://schemas.openxmlformats.org/officeDocument/2006/math">
                    <m:sSub>
                      <m:sSubPr>
                        <m:ctrlPr>
                          <a:rPr lang="en-US" altLang="zh-CN" i="1" smtClean="0">
                            <a:solidFill>
                              <a:schemeClr val="tx1"/>
                            </a:solidFill>
                            <a:latin typeface="Cambria Math" panose="02040503050406030204" pitchFamily="18" charset="0"/>
                          </a:rPr>
                        </m:ctrlPr>
                      </m:sSubPr>
                      <m:e>
                        <m:r>
                          <a:rPr lang="en-US" altLang="zh-CN" i="1">
                            <a:solidFill>
                              <a:schemeClr val="tx1"/>
                            </a:solidFill>
                            <a:latin typeface="Cambria Math" panose="02040503050406030204" pitchFamily="18" charset="0"/>
                          </a:rPr>
                          <m:t>𝑅</m:t>
                        </m:r>
                      </m:e>
                      <m:sub>
                        <m:r>
                          <a:rPr lang="en-US" altLang="zh-CN" i="1">
                            <a:solidFill>
                              <a:schemeClr val="tx1"/>
                            </a:solidFill>
                            <a:latin typeface="Cambria Math" panose="02040503050406030204" pitchFamily="18" charset="0"/>
                          </a:rPr>
                          <m:t>1</m:t>
                        </m:r>
                      </m:sub>
                    </m:sSub>
                  </m:oMath>
                </a14:m>
                <a:r>
                  <a:rPr lang="en-US" altLang="zh-CN" dirty="0">
                    <a:solidFill>
                      <a:schemeClr val="tx1"/>
                    </a:solidFill>
                  </a:rPr>
                  <a:t> = {(1,1), (1,2), (2,1), (2,2), </a:t>
                </a:r>
                <a:r>
                  <a:rPr lang="en-US" altLang="zh-CN" b="1" dirty="0">
                    <a:solidFill>
                      <a:srgbClr val="C00000"/>
                    </a:solidFill>
                  </a:rPr>
                  <a:t>(3,4), (4,1</a:t>
                </a:r>
                <a:r>
                  <a:rPr lang="en-US" altLang="zh-CN" b="1" dirty="0" smtClean="0">
                    <a:solidFill>
                      <a:srgbClr val="C00000"/>
                    </a:solidFill>
                  </a:rPr>
                  <a:t>)</a:t>
                </a:r>
                <a:r>
                  <a:rPr lang="zh-CN" altLang="en-US" b="1" dirty="0" smtClean="0"/>
                  <a:t>，</a:t>
                </a:r>
                <a:r>
                  <a:rPr lang="en-US" altLang="zh-CN" b="1" dirty="0" smtClean="0">
                    <a:solidFill>
                      <a:srgbClr val="C00000"/>
                    </a:solidFill>
                  </a:rPr>
                  <a:t> </a:t>
                </a:r>
                <a:r>
                  <a:rPr lang="en-US" altLang="zh-CN" dirty="0">
                    <a:solidFill>
                      <a:schemeClr val="tx1"/>
                    </a:solidFill>
                  </a:rPr>
                  <a:t>(4,4)}</a:t>
                </a:r>
              </a:p>
              <a:p>
                <a:pPr lvl="1"/>
                <a14:m>
                  <m:oMath xmlns:m="http://schemas.openxmlformats.org/officeDocument/2006/math">
                    <m:sSub>
                      <m:sSubPr>
                        <m:ctrlPr>
                          <a:rPr lang="en-US" altLang="zh-CN" i="1">
                            <a:solidFill>
                              <a:schemeClr val="tx1"/>
                            </a:solidFill>
                            <a:latin typeface="Cambria Math" panose="02040503050406030204" pitchFamily="18" charset="0"/>
                          </a:rPr>
                        </m:ctrlPr>
                      </m:sSubPr>
                      <m:e>
                        <m:r>
                          <a:rPr lang="en-US" altLang="zh-CN" i="1">
                            <a:solidFill>
                              <a:schemeClr val="tx1"/>
                            </a:solidFill>
                            <a:latin typeface="Cambria Math" panose="02040503050406030204" pitchFamily="18" charset="0"/>
                          </a:rPr>
                          <m:t>𝑅</m:t>
                        </m:r>
                      </m:e>
                      <m:sub>
                        <m:r>
                          <a:rPr lang="en-US" altLang="zh-CN" i="1">
                            <a:solidFill>
                              <a:schemeClr val="tx1"/>
                            </a:solidFill>
                            <a:latin typeface="Cambria Math" panose="02040503050406030204" pitchFamily="18" charset="0"/>
                          </a:rPr>
                          <m:t>2</m:t>
                        </m:r>
                      </m:sub>
                    </m:sSub>
                  </m:oMath>
                </a14:m>
                <a:r>
                  <a:rPr lang="en-US" altLang="zh-CN" dirty="0">
                    <a:solidFill>
                      <a:schemeClr val="tx1"/>
                    </a:solidFill>
                  </a:rPr>
                  <a:t> = {(1,1), </a:t>
                </a:r>
                <a:r>
                  <a:rPr lang="en-US" altLang="zh-CN" b="1" dirty="0">
                    <a:solidFill>
                      <a:srgbClr val="C00000"/>
                    </a:solidFill>
                  </a:rPr>
                  <a:t>(1,2), (2,1)</a:t>
                </a:r>
                <a:r>
                  <a:rPr lang="en-US" altLang="zh-CN" b="1" dirty="0"/>
                  <a:t>}</a:t>
                </a:r>
              </a:p>
              <a:p>
                <a:pPr lvl="1"/>
                <a14:m>
                  <m:oMath xmlns:m="http://schemas.openxmlformats.org/officeDocument/2006/math">
                    <m:sSub>
                      <m:sSubPr>
                        <m:ctrlPr>
                          <a:rPr lang="en-US" altLang="zh-CN" i="1">
                            <a:solidFill>
                              <a:schemeClr val="tx1"/>
                            </a:solidFill>
                            <a:latin typeface="Cambria Math" panose="02040503050406030204" pitchFamily="18" charset="0"/>
                          </a:rPr>
                        </m:ctrlPr>
                      </m:sSubPr>
                      <m:e>
                        <m:r>
                          <a:rPr lang="en-US" altLang="zh-CN" i="1">
                            <a:solidFill>
                              <a:schemeClr val="tx1"/>
                            </a:solidFill>
                            <a:latin typeface="Cambria Math" panose="02040503050406030204" pitchFamily="18" charset="0"/>
                          </a:rPr>
                          <m:t>𝑅</m:t>
                        </m:r>
                      </m:e>
                      <m:sub>
                        <m:r>
                          <a:rPr lang="en-US" altLang="zh-CN" i="1">
                            <a:solidFill>
                              <a:schemeClr val="tx1"/>
                            </a:solidFill>
                            <a:latin typeface="Cambria Math" panose="02040503050406030204" pitchFamily="18" charset="0"/>
                          </a:rPr>
                          <m:t>3</m:t>
                        </m:r>
                      </m:sub>
                    </m:sSub>
                  </m:oMath>
                </a14:m>
                <a:r>
                  <a:rPr lang="en-US" altLang="zh-CN" dirty="0">
                    <a:solidFill>
                      <a:schemeClr val="tx1"/>
                    </a:solidFill>
                  </a:rPr>
                  <a:t> = {(1,1), </a:t>
                </a:r>
                <a:r>
                  <a:rPr lang="en-US" altLang="zh-CN" b="1" dirty="0">
                    <a:solidFill>
                      <a:srgbClr val="C00000"/>
                    </a:solidFill>
                  </a:rPr>
                  <a:t>(1,2), (1,4)</a:t>
                </a:r>
                <a:r>
                  <a:rPr lang="en-US" altLang="zh-CN" b="1" dirty="0"/>
                  <a:t>,</a:t>
                </a:r>
                <a:r>
                  <a:rPr lang="en-US" altLang="zh-CN" b="1" dirty="0">
                    <a:solidFill>
                      <a:srgbClr val="C00000"/>
                    </a:solidFill>
                  </a:rPr>
                  <a:t> </a:t>
                </a:r>
                <a:r>
                  <a:rPr lang="en-US" altLang="zh-CN" dirty="0">
                    <a:solidFill>
                      <a:schemeClr val="tx1"/>
                    </a:solidFill>
                  </a:rPr>
                  <a:t>(2,1), (2,2), (3,3), (4,1), (4,4)}</a:t>
                </a:r>
              </a:p>
              <a:p>
                <a:pPr lvl="1"/>
                <a14:m>
                  <m:oMath xmlns:m="http://schemas.openxmlformats.org/officeDocument/2006/math">
                    <m:sSub>
                      <m:sSubPr>
                        <m:ctrlPr>
                          <a:rPr lang="en-US" altLang="zh-CN" i="1">
                            <a:solidFill>
                              <a:schemeClr val="tx1"/>
                            </a:solidFill>
                            <a:latin typeface="Cambria Math" panose="02040503050406030204" pitchFamily="18" charset="0"/>
                          </a:rPr>
                        </m:ctrlPr>
                      </m:sSubPr>
                      <m:e>
                        <m:r>
                          <a:rPr lang="en-US" altLang="zh-CN" i="1">
                            <a:solidFill>
                              <a:schemeClr val="tx1"/>
                            </a:solidFill>
                            <a:latin typeface="Cambria Math" panose="02040503050406030204" pitchFamily="18" charset="0"/>
                          </a:rPr>
                          <m:t>𝑅</m:t>
                        </m:r>
                      </m:e>
                      <m:sub>
                        <m:r>
                          <a:rPr lang="en-US" altLang="zh-CN" i="1">
                            <a:solidFill>
                              <a:schemeClr val="tx1"/>
                            </a:solidFill>
                            <a:latin typeface="Cambria Math" panose="02040503050406030204" pitchFamily="18" charset="0"/>
                          </a:rPr>
                          <m:t>4</m:t>
                        </m:r>
                      </m:sub>
                    </m:sSub>
                  </m:oMath>
                </a14:m>
                <a:r>
                  <a:rPr lang="en-US" altLang="zh-CN" dirty="0">
                    <a:solidFill>
                      <a:schemeClr val="tx1"/>
                    </a:solidFill>
                  </a:rPr>
                  <a:t> = {(2,1), (3,1), (3,2), (4,1), (4,2), (4,3)}</a:t>
                </a:r>
              </a:p>
              <a:p>
                <a:pPr lvl="1"/>
                <a14:m>
                  <m:oMath xmlns:m="http://schemas.openxmlformats.org/officeDocument/2006/math">
                    <m:sSub>
                      <m:sSubPr>
                        <m:ctrlPr>
                          <a:rPr lang="en-US" altLang="zh-CN" i="1">
                            <a:solidFill>
                              <a:schemeClr val="tx1"/>
                            </a:solidFill>
                            <a:latin typeface="Cambria Math" panose="02040503050406030204" pitchFamily="18" charset="0"/>
                          </a:rPr>
                        </m:ctrlPr>
                      </m:sSubPr>
                      <m:e>
                        <m:r>
                          <a:rPr lang="en-US" altLang="zh-CN" i="1">
                            <a:solidFill>
                              <a:schemeClr val="tx1"/>
                            </a:solidFill>
                            <a:latin typeface="Cambria Math" panose="02040503050406030204" pitchFamily="18" charset="0"/>
                          </a:rPr>
                          <m:t>𝑅</m:t>
                        </m:r>
                      </m:e>
                      <m:sub>
                        <m:r>
                          <a:rPr lang="en-US" altLang="zh-CN" i="1">
                            <a:solidFill>
                              <a:schemeClr val="tx1"/>
                            </a:solidFill>
                            <a:latin typeface="Cambria Math" panose="02040503050406030204" pitchFamily="18" charset="0"/>
                          </a:rPr>
                          <m:t>5</m:t>
                        </m:r>
                      </m:sub>
                    </m:sSub>
                  </m:oMath>
                </a14:m>
                <a:r>
                  <a:rPr lang="en-US" altLang="zh-CN" dirty="0">
                    <a:solidFill>
                      <a:schemeClr val="tx1"/>
                    </a:solidFill>
                  </a:rPr>
                  <a:t> = {(1,1), (1,2), (1,3), (1,4), (2,2), (2,3), (2,4), (3,3), (3,4), (4,4)}</a:t>
                </a:r>
              </a:p>
              <a:p>
                <a:pPr lvl="1"/>
                <a14:m>
                  <m:oMath xmlns:m="http://schemas.openxmlformats.org/officeDocument/2006/math">
                    <m:sSub>
                      <m:sSubPr>
                        <m:ctrlPr>
                          <a:rPr lang="en-US" altLang="zh-CN" i="1">
                            <a:solidFill>
                              <a:schemeClr val="tx1"/>
                            </a:solidFill>
                            <a:latin typeface="Cambria Math" panose="02040503050406030204" pitchFamily="18" charset="0"/>
                          </a:rPr>
                        </m:ctrlPr>
                      </m:sSubPr>
                      <m:e>
                        <m:r>
                          <a:rPr lang="en-US" altLang="zh-CN" i="1">
                            <a:solidFill>
                              <a:schemeClr val="tx1"/>
                            </a:solidFill>
                            <a:latin typeface="Cambria Math" panose="02040503050406030204" pitchFamily="18" charset="0"/>
                          </a:rPr>
                          <m:t>𝑅</m:t>
                        </m:r>
                      </m:e>
                      <m:sub>
                        <m:r>
                          <a:rPr lang="en-US" altLang="zh-CN" i="1">
                            <a:solidFill>
                              <a:schemeClr val="tx1"/>
                            </a:solidFill>
                            <a:latin typeface="Cambria Math" panose="02040503050406030204" pitchFamily="18" charset="0"/>
                          </a:rPr>
                          <m:t>6</m:t>
                        </m:r>
                      </m:sub>
                    </m:sSub>
                  </m:oMath>
                </a14:m>
                <a:r>
                  <a:rPr lang="en-US" altLang="zh-CN" dirty="0">
                    <a:solidFill>
                      <a:schemeClr val="tx1"/>
                    </a:solidFill>
                  </a:rPr>
                  <a:t> = {(3,4)}</a:t>
                </a:r>
              </a:p>
              <a:p>
                <a:r>
                  <a:rPr lang="zh-CN" altLang="en-US" dirty="0" smtClean="0"/>
                  <a:t>解</a:t>
                </a:r>
                <a:r>
                  <a:rPr lang="en-US" altLang="zh-CN" dirty="0" smtClean="0"/>
                  <a:t>:</a:t>
                </a:r>
                <a:endParaRPr lang="en-US" altLang="zh-CN" i="1" dirty="0" smtClean="0">
                  <a:latin typeface="Cambria Math" panose="02040503050406030204" pitchFamily="18" charset="0"/>
                </a:endParaRPr>
              </a:p>
              <a:p>
                <a:pPr lvl="1">
                  <a:lnSpc>
                    <a:spcPct val="100000"/>
                  </a:lnSpc>
                </a:pPr>
                <a14:m>
                  <m:oMath xmlns:m="http://schemas.openxmlformats.org/officeDocument/2006/math">
                    <m:sSub>
                      <m:sSubPr>
                        <m:ctrlPr>
                          <a:rPr lang="en-US" altLang="zh-CN" i="1">
                            <a:latin typeface="Cambria Math" panose="02040503050406030204" pitchFamily="18" charset="0"/>
                          </a:rPr>
                        </m:ctrlPr>
                      </m:sSubPr>
                      <m:e>
                        <m:r>
                          <m:rPr>
                            <m:sty m:val="p"/>
                          </m:rPr>
                          <a:rPr lang="en-US" altLang="zh-CN" i="0">
                            <a:latin typeface="Cambria Math" panose="02040503050406030204" pitchFamily="18" charset="0"/>
                          </a:rPr>
                          <m:t>R</m:t>
                        </m:r>
                      </m:e>
                      <m:sub>
                        <m:r>
                          <a:rPr lang="en-US" altLang="zh-CN" i="0">
                            <a:latin typeface="Cambria Math" panose="02040503050406030204" pitchFamily="18" charset="0"/>
                          </a:rPr>
                          <m:t>4</m:t>
                        </m:r>
                      </m:sub>
                    </m:sSub>
                  </m:oMath>
                </a14:m>
                <a:r>
                  <a:rPr lang="en-US" altLang="zh-CN" dirty="0">
                    <a:latin typeface="Cambria Math" panose="02040503050406030204" pitchFamily="18" charset="0"/>
                  </a:rPr>
                  <a:t>, </a:t>
                </a:r>
                <a14:m>
                  <m:oMath xmlns:m="http://schemas.openxmlformats.org/officeDocument/2006/math">
                    <m:sSub>
                      <m:sSubPr>
                        <m:ctrlPr>
                          <a:rPr lang="en-US" altLang="zh-CN" i="1">
                            <a:latin typeface="Cambria Math" panose="02040503050406030204" pitchFamily="18" charset="0"/>
                          </a:rPr>
                        </m:ctrlPr>
                      </m:sSubPr>
                      <m:e>
                        <m:r>
                          <m:rPr>
                            <m:sty m:val="p"/>
                          </m:rPr>
                          <a:rPr lang="en-US" altLang="zh-CN" i="0">
                            <a:latin typeface="Cambria Math" panose="02040503050406030204" pitchFamily="18" charset="0"/>
                          </a:rPr>
                          <m:t>R</m:t>
                        </m:r>
                      </m:e>
                      <m:sub>
                        <m:r>
                          <a:rPr lang="en-US" altLang="zh-CN" i="0">
                            <a:latin typeface="Cambria Math" panose="02040503050406030204" pitchFamily="18" charset="0"/>
                          </a:rPr>
                          <m:t>5</m:t>
                        </m:r>
                      </m:sub>
                    </m:sSub>
                  </m:oMath>
                </a14:m>
                <a:r>
                  <a:rPr lang="en-US" altLang="zh-CN" dirty="0">
                    <a:latin typeface="Cambria Math" panose="02040503050406030204" pitchFamily="18" charset="0"/>
                  </a:rPr>
                  <a:t>, </a:t>
                </a:r>
                <a14:m>
                  <m:oMath xmlns:m="http://schemas.openxmlformats.org/officeDocument/2006/math">
                    <m:sSub>
                      <m:sSubPr>
                        <m:ctrlPr>
                          <a:rPr lang="en-US" altLang="zh-CN" i="1">
                            <a:latin typeface="Cambria Math" panose="02040503050406030204" pitchFamily="18" charset="0"/>
                          </a:rPr>
                        </m:ctrlPr>
                      </m:sSubPr>
                      <m:e>
                        <m:r>
                          <m:rPr>
                            <m:sty m:val="p"/>
                          </m:rPr>
                          <a:rPr lang="en-US" altLang="zh-CN" i="0">
                            <a:latin typeface="Cambria Math" panose="02040503050406030204" pitchFamily="18" charset="0"/>
                          </a:rPr>
                          <m:t>R</m:t>
                        </m:r>
                      </m:e>
                      <m:sub>
                        <m:r>
                          <a:rPr lang="en-US" altLang="zh-CN" i="0">
                            <a:latin typeface="Cambria Math" panose="02040503050406030204" pitchFamily="18" charset="0"/>
                          </a:rPr>
                          <m:t>6</m:t>
                        </m:r>
                      </m:sub>
                    </m:sSub>
                  </m:oMath>
                </a14:m>
                <a:r>
                  <a:rPr lang="zh-CN" altLang="en-US" dirty="0">
                    <a:latin typeface="Cambria Math" panose="02040503050406030204" pitchFamily="18" charset="0"/>
                  </a:rPr>
                  <a:t>是传递的</a:t>
                </a:r>
                <a:r>
                  <a:rPr lang="en-US" altLang="zh-CN" dirty="0">
                    <a:latin typeface="Cambria Math" panose="02040503050406030204" pitchFamily="18" charset="0"/>
                  </a:rPr>
                  <a:t>,</a:t>
                </a:r>
              </a:p>
              <a:p>
                <a:pPr lvl="1">
                  <a:lnSpc>
                    <a:spcPct val="100000"/>
                  </a:lnSpc>
                </a:pPr>
                <a:r>
                  <a:rPr lang="en-US" altLang="zh-CN" dirty="0">
                    <a:latin typeface="Cambria Math" panose="02040503050406030204" pitchFamily="18" charset="0"/>
                  </a:rPr>
                  <a:t> </a:t>
                </a:r>
                <a14:m>
                  <m:oMath xmlns:m="http://schemas.openxmlformats.org/officeDocument/2006/math">
                    <m:sSub>
                      <m:sSubPr>
                        <m:ctrlPr>
                          <a:rPr lang="en-US" altLang="zh-CN" i="1">
                            <a:latin typeface="Cambria Math" panose="02040503050406030204" pitchFamily="18" charset="0"/>
                          </a:rPr>
                        </m:ctrlPr>
                      </m:sSubPr>
                      <m:e>
                        <m:r>
                          <m:rPr>
                            <m:sty m:val="p"/>
                          </m:rPr>
                          <a:rPr lang="en-US" altLang="zh-CN" i="0">
                            <a:latin typeface="Cambria Math" panose="02040503050406030204" pitchFamily="18" charset="0"/>
                          </a:rPr>
                          <m:t>R</m:t>
                        </m:r>
                      </m:e>
                      <m:sub>
                        <m:r>
                          <a:rPr lang="en-US" altLang="zh-CN" i="0">
                            <a:latin typeface="Cambria Math" panose="02040503050406030204" pitchFamily="18" charset="0"/>
                          </a:rPr>
                          <m:t>1</m:t>
                        </m:r>
                      </m:sub>
                    </m:sSub>
                  </m:oMath>
                </a14:m>
                <a:r>
                  <a:rPr lang="zh-CN" altLang="en-US" dirty="0">
                    <a:latin typeface="Cambria Math" panose="02040503050406030204" pitchFamily="18" charset="0"/>
                  </a:rPr>
                  <a:t>不是传递的</a:t>
                </a:r>
                <a:r>
                  <a:rPr lang="en-US" altLang="zh-CN" dirty="0">
                    <a:latin typeface="Cambria Math" panose="02040503050406030204" pitchFamily="18" charset="0"/>
                  </a:rPr>
                  <a:t>, </a:t>
                </a:r>
                <a:r>
                  <a:rPr lang="zh-CN" altLang="en-US" dirty="0">
                    <a:latin typeface="Cambria Math" panose="02040503050406030204" pitchFamily="18" charset="0"/>
                  </a:rPr>
                  <a:t>因为</a:t>
                </a:r>
                <a:r>
                  <a:rPr lang="en-US" altLang="zh-CN" dirty="0">
                    <a:latin typeface="Cambria Math" panose="02040503050406030204" pitchFamily="18" charset="0"/>
                  </a:rPr>
                  <a:t>(3,4),(4,1)</a:t>
                </a:r>
                <a:r>
                  <a:rPr lang="zh-CN" altLang="en-US" dirty="0">
                    <a:latin typeface="Cambria Math" panose="02040503050406030204" pitchFamily="18" charset="0"/>
                  </a:rPr>
                  <a:t>在关系中，</a:t>
                </a:r>
                <a:r>
                  <a:rPr lang="zh-CN" altLang="en-US" dirty="0" smtClean="0">
                    <a:latin typeface="Cambria Math" panose="02040503050406030204" pitchFamily="18" charset="0"/>
                  </a:rPr>
                  <a:t>但</a:t>
                </a:r>
                <a:r>
                  <a:rPr lang="en-US" altLang="zh-CN" dirty="0" smtClean="0">
                    <a:latin typeface="Cambria Math" panose="02040503050406030204" pitchFamily="18" charset="0"/>
                  </a:rPr>
                  <a:t>(</a:t>
                </a:r>
                <a:r>
                  <a:rPr lang="en-US" altLang="zh-CN" dirty="0">
                    <a:latin typeface="Cambria Math" panose="02040503050406030204" pitchFamily="18" charset="0"/>
                  </a:rPr>
                  <a:t>3,1)</a:t>
                </a:r>
                <a:r>
                  <a:rPr lang="zh-CN" altLang="en-US" dirty="0">
                    <a:latin typeface="Cambria Math" panose="02040503050406030204" pitchFamily="18" charset="0"/>
                  </a:rPr>
                  <a:t>不在关系中</a:t>
                </a:r>
                <a:endParaRPr lang="en-US" altLang="zh-CN" dirty="0">
                  <a:latin typeface="Cambria Math" panose="02040503050406030204" pitchFamily="18" charset="0"/>
                </a:endParaRPr>
              </a:p>
              <a:p>
                <a:pPr lvl="1">
                  <a:lnSpc>
                    <a:spcPct val="100000"/>
                  </a:lnSpc>
                </a:pPr>
                <a14:m>
                  <m:oMath xmlns:m="http://schemas.openxmlformats.org/officeDocument/2006/math">
                    <m:sSub>
                      <m:sSubPr>
                        <m:ctrlPr>
                          <a:rPr lang="en-US" altLang="zh-CN" i="1">
                            <a:latin typeface="Cambria Math" panose="02040503050406030204" pitchFamily="18" charset="0"/>
                          </a:rPr>
                        </m:ctrlPr>
                      </m:sSubPr>
                      <m:e>
                        <m:r>
                          <m:rPr>
                            <m:sty m:val="p"/>
                          </m:rPr>
                          <a:rPr lang="en-US" altLang="zh-CN" i="0">
                            <a:latin typeface="Cambria Math" panose="02040503050406030204" pitchFamily="18" charset="0"/>
                          </a:rPr>
                          <m:t>R</m:t>
                        </m:r>
                      </m:e>
                      <m:sub>
                        <m:r>
                          <a:rPr lang="en-US" altLang="zh-CN" i="0">
                            <a:latin typeface="Cambria Math" panose="02040503050406030204" pitchFamily="18" charset="0"/>
                          </a:rPr>
                          <m:t>2</m:t>
                        </m:r>
                      </m:sub>
                    </m:sSub>
                  </m:oMath>
                </a14:m>
                <a:r>
                  <a:rPr lang="zh-CN" altLang="en-US" dirty="0">
                    <a:latin typeface="Cambria Math" panose="02040503050406030204" pitchFamily="18" charset="0"/>
                  </a:rPr>
                  <a:t>不是传递的</a:t>
                </a:r>
                <a:r>
                  <a:rPr lang="en-US" altLang="zh-CN" dirty="0">
                    <a:latin typeface="Cambria Math" panose="02040503050406030204" pitchFamily="18" charset="0"/>
                  </a:rPr>
                  <a:t>, </a:t>
                </a:r>
                <a:r>
                  <a:rPr lang="zh-CN" altLang="en-US" dirty="0">
                    <a:latin typeface="Cambria Math" panose="02040503050406030204" pitchFamily="18" charset="0"/>
                  </a:rPr>
                  <a:t>因为</a:t>
                </a:r>
                <a:r>
                  <a:rPr lang="en-US" dirty="0">
                    <a:latin typeface="Cambria Math" panose="02040503050406030204" pitchFamily="18" charset="0"/>
                  </a:rPr>
                  <a:t>(2,1),(1,2</a:t>
                </a:r>
                <a:r>
                  <a:rPr lang="en-US" dirty="0" smtClean="0">
                    <a:latin typeface="Cambria Math" panose="02040503050406030204" pitchFamily="18" charset="0"/>
                  </a:rPr>
                  <a:t>), </a:t>
                </a:r>
                <a:r>
                  <a:rPr lang="zh-CN" altLang="en-US" dirty="0" smtClean="0">
                    <a:latin typeface="Cambria Math" panose="02040503050406030204" pitchFamily="18" charset="0"/>
                  </a:rPr>
                  <a:t>但</a:t>
                </a:r>
                <a:r>
                  <a:rPr lang="en-US" altLang="zh-CN" dirty="0">
                    <a:latin typeface="Cambria Math" panose="02040503050406030204" pitchFamily="18" charset="0"/>
                  </a:rPr>
                  <a:t>( </a:t>
                </a:r>
                <a:r>
                  <a:rPr lang="en-US" altLang="zh-CN" dirty="0" smtClean="0">
                    <a:latin typeface="Cambria Math" panose="02040503050406030204" pitchFamily="18" charset="0"/>
                  </a:rPr>
                  <a:t>2,2)</a:t>
                </a:r>
                <a:r>
                  <a:rPr lang="zh-CN" altLang="en-US" dirty="0" smtClean="0">
                    <a:latin typeface="Cambria Math" panose="02040503050406030204" pitchFamily="18" charset="0"/>
                  </a:rPr>
                  <a:t>不在</a:t>
                </a:r>
                <a:r>
                  <a:rPr lang="zh-CN" altLang="en-US" dirty="0">
                    <a:latin typeface="Cambria Math" panose="02040503050406030204" pitchFamily="18" charset="0"/>
                  </a:rPr>
                  <a:t>关系中</a:t>
                </a:r>
                <a:endParaRPr lang="en-US" altLang="zh-CN" dirty="0">
                  <a:latin typeface="Cambria Math" panose="02040503050406030204" pitchFamily="18" charset="0"/>
                </a:endParaRPr>
              </a:p>
              <a:p>
                <a:pPr lvl="1">
                  <a:lnSpc>
                    <a:spcPct val="100000"/>
                  </a:lnSpc>
                </a:pPr>
                <a14:m>
                  <m:oMath xmlns:m="http://schemas.openxmlformats.org/officeDocument/2006/math">
                    <m:sSub>
                      <m:sSubPr>
                        <m:ctrlPr>
                          <a:rPr lang="en-US" altLang="zh-CN" i="1">
                            <a:latin typeface="Cambria Math" panose="02040503050406030204" pitchFamily="18" charset="0"/>
                          </a:rPr>
                        </m:ctrlPr>
                      </m:sSubPr>
                      <m:e>
                        <m:r>
                          <m:rPr>
                            <m:sty m:val="p"/>
                          </m:rPr>
                          <a:rPr lang="en-US" altLang="zh-CN" i="0">
                            <a:latin typeface="Cambria Math" panose="02040503050406030204" pitchFamily="18" charset="0"/>
                          </a:rPr>
                          <m:t>R</m:t>
                        </m:r>
                      </m:e>
                      <m:sub>
                        <m:r>
                          <a:rPr lang="en-US" altLang="zh-CN" i="0">
                            <a:latin typeface="Cambria Math" panose="02040503050406030204" pitchFamily="18" charset="0"/>
                          </a:rPr>
                          <m:t>3</m:t>
                        </m:r>
                      </m:sub>
                    </m:sSub>
                  </m:oMath>
                </a14:m>
                <a:r>
                  <a:rPr lang="zh-CN" altLang="en-US" dirty="0">
                    <a:latin typeface="Cambria Math" panose="02040503050406030204" pitchFamily="18" charset="0"/>
                  </a:rPr>
                  <a:t>不是传递的</a:t>
                </a:r>
                <a:r>
                  <a:rPr lang="en-US" altLang="zh-CN" dirty="0">
                    <a:latin typeface="Cambria Math" panose="02040503050406030204" pitchFamily="18" charset="0"/>
                  </a:rPr>
                  <a:t>, </a:t>
                </a:r>
                <a:r>
                  <a:rPr lang="zh-CN" altLang="en-US" dirty="0">
                    <a:latin typeface="Cambria Math" panose="02040503050406030204" pitchFamily="18" charset="0"/>
                  </a:rPr>
                  <a:t>因为</a:t>
                </a:r>
                <a:r>
                  <a:rPr lang="en-US" dirty="0">
                    <a:latin typeface="Cambria Math" panose="02040503050406030204" pitchFamily="18" charset="0"/>
                  </a:rPr>
                  <a:t>(4,1)(1,2</a:t>
                </a:r>
                <a:r>
                  <a:rPr lang="en-US" dirty="0" smtClean="0">
                    <a:latin typeface="Cambria Math" panose="02040503050406030204" pitchFamily="18" charset="0"/>
                  </a:rPr>
                  <a:t>), </a:t>
                </a:r>
                <a:r>
                  <a:rPr lang="zh-CN" altLang="en-US" dirty="0" smtClean="0">
                    <a:latin typeface="Cambria Math" panose="02040503050406030204" pitchFamily="18" charset="0"/>
                  </a:rPr>
                  <a:t>但</a:t>
                </a:r>
                <a:r>
                  <a:rPr lang="en-US" altLang="zh-CN" dirty="0" smtClean="0">
                    <a:latin typeface="Cambria Math" panose="02040503050406030204" pitchFamily="18" charset="0"/>
                  </a:rPr>
                  <a:t>(4,2)</a:t>
                </a:r>
                <a:r>
                  <a:rPr lang="zh-CN" altLang="en-US" dirty="0" smtClean="0">
                    <a:latin typeface="Cambria Math" panose="02040503050406030204" pitchFamily="18" charset="0"/>
                  </a:rPr>
                  <a:t>不在</a:t>
                </a:r>
                <a:r>
                  <a:rPr lang="zh-CN" altLang="en-US" dirty="0">
                    <a:latin typeface="Cambria Math" panose="02040503050406030204" pitchFamily="18" charset="0"/>
                  </a:rPr>
                  <a:t>关系中</a:t>
                </a:r>
                <a:endParaRPr lang="en-US" altLang="zh-CN" dirty="0">
                  <a:latin typeface="Cambria Math" panose="02040503050406030204" pitchFamily="18" charset="0"/>
                </a:endParaRPr>
              </a:p>
              <a:p>
                <a:endParaRPr lang="en-US" dirty="0" smtClean="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2"/>
                <a:stretch>
                  <a:fillRect l="-999" t="-2143"/>
                </a:stretch>
              </a:blipFill>
            </p:spPr>
            <p:txBody>
              <a:bodyPr/>
              <a:lstStyle/>
              <a:p>
                <a:r>
                  <a:rPr lang="zh-CN" altLang="en-US">
                    <a:noFill/>
                  </a:rPr>
                  <a:t> </a:t>
                </a:r>
              </a:p>
            </p:txBody>
          </p:sp>
        </mc:Fallback>
      </mc:AlternateContent>
      <p:sp>
        <p:nvSpPr>
          <p:cNvPr id="8" name="日期占位符 7"/>
          <p:cNvSpPr>
            <a:spLocks noGrp="1"/>
          </p:cNvSpPr>
          <p:nvPr>
            <p:ph type="dt" sz="half" idx="10"/>
          </p:nvPr>
        </p:nvSpPr>
        <p:spPr/>
        <p:txBody>
          <a:bodyPr/>
          <a:lstStyle/>
          <a:p>
            <a:fld id="{B167EE27-8E3A-4F77-8F86-6001F0D65000}" type="datetime1">
              <a:rPr lang="zh-CN" altLang="en-US" smtClean="0"/>
              <a:t>2025/3/14</a:t>
            </a:fld>
            <a:endParaRPr lang="zh-CN" altLang="en-US" dirty="0"/>
          </a:p>
        </p:txBody>
      </p:sp>
      <p:sp>
        <p:nvSpPr>
          <p:cNvPr id="9" name="页脚占位符 8"/>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10" name="灯片编号占位符 9"/>
          <p:cNvSpPr>
            <a:spLocks noGrp="1"/>
          </p:cNvSpPr>
          <p:nvPr>
            <p:ph type="sldNum" sz="quarter" idx="12"/>
          </p:nvPr>
        </p:nvSpPr>
        <p:spPr/>
        <p:txBody>
          <a:bodyPr/>
          <a:lstStyle/>
          <a:p>
            <a:fld id="{67913A8A-9EFB-4B5F-9CCB-3D21173FAA85}" type="slidenum">
              <a:rPr lang="zh-CN" altLang="en-US" smtClean="0"/>
              <a:pPr/>
              <a:t>16</a:t>
            </a:fld>
            <a:endParaRPr lang="zh-CN" altLang="en-US" dirty="0"/>
          </a:p>
        </p:txBody>
      </p:sp>
    </p:spTree>
    <p:extLst>
      <p:ext uri="{BB962C8B-B14F-4D97-AF65-F5344CB8AC3E}">
        <p14:creationId xmlns:p14="http://schemas.microsoft.com/office/powerpoint/2010/main" val="24040147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7" end="7"/>
                                            </p:txEl>
                                          </p:spTgt>
                                        </p:tgtEl>
                                        <p:attrNameLst>
                                          <p:attrName>style.visibility</p:attrName>
                                        </p:attrNameLst>
                                      </p:cBhvr>
                                      <p:to>
                                        <p:strVal val="visible"/>
                                      </p:to>
                                    </p:set>
                                    <p:animEffect transition="in" filter="wipe(down)">
                                      <p:cBhvr>
                                        <p:cTn id="7" dur="500"/>
                                        <p:tgtEl>
                                          <p:spTgt spid="3">
                                            <p:txEl>
                                              <p:pRg st="7" end="7"/>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3">
                                            <p:txEl>
                                              <p:pRg st="8" end="8"/>
                                            </p:txEl>
                                          </p:spTgt>
                                        </p:tgtEl>
                                        <p:attrNameLst>
                                          <p:attrName>style.visibility</p:attrName>
                                        </p:attrNameLst>
                                      </p:cBhvr>
                                      <p:to>
                                        <p:strVal val="visible"/>
                                      </p:to>
                                    </p:set>
                                    <p:animEffect transition="in" filter="wipe(down)">
                                      <p:cBhvr>
                                        <p:cTn id="10" dur="500"/>
                                        <p:tgtEl>
                                          <p:spTgt spid="3">
                                            <p:txEl>
                                              <p:pRg st="8" end="8"/>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3">
                                            <p:txEl>
                                              <p:pRg st="9" end="9"/>
                                            </p:txEl>
                                          </p:spTgt>
                                        </p:tgtEl>
                                        <p:attrNameLst>
                                          <p:attrName>style.visibility</p:attrName>
                                        </p:attrNameLst>
                                      </p:cBhvr>
                                      <p:to>
                                        <p:strVal val="visible"/>
                                      </p:to>
                                    </p:set>
                                    <p:animEffect transition="in" filter="wipe(down)">
                                      <p:cBhvr>
                                        <p:cTn id="13" dur="500"/>
                                        <p:tgtEl>
                                          <p:spTgt spid="3">
                                            <p:txEl>
                                              <p:pRg st="9" end="9"/>
                                            </p:txEl>
                                          </p:spTgt>
                                        </p:tgtEl>
                                      </p:cBhvr>
                                    </p:animEffect>
                                  </p:childTnLst>
                                </p:cTn>
                              </p:par>
                              <p:par>
                                <p:cTn id="14" presetID="22" presetClass="entr" presetSubtype="4" fill="hold" nodeType="withEffect">
                                  <p:stCondLst>
                                    <p:cond delay="0"/>
                                  </p:stCondLst>
                                  <p:childTnLst>
                                    <p:set>
                                      <p:cBhvr>
                                        <p:cTn id="15" dur="1" fill="hold">
                                          <p:stCondLst>
                                            <p:cond delay="0"/>
                                          </p:stCondLst>
                                        </p:cTn>
                                        <p:tgtEl>
                                          <p:spTgt spid="3">
                                            <p:txEl>
                                              <p:pRg st="10" end="10"/>
                                            </p:txEl>
                                          </p:spTgt>
                                        </p:tgtEl>
                                        <p:attrNameLst>
                                          <p:attrName>style.visibility</p:attrName>
                                        </p:attrNameLst>
                                      </p:cBhvr>
                                      <p:to>
                                        <p:strVal val="visible"/>
                                      </p:to>
                                    </p:set>
                                    <p:animEffect transition="in" filter="wipe(down)">
                                      <p:cBhvr>
                                        <p:cTn id="16" dur="500"/>
                                        <p:tgtEl>
                                          <p:spTgt spid="3">
                                            <p:txEl>
                                              <p:pRg st="10" end="10"/>
                                            </p:txEl>
                                          </p:spTgt>
                                        </p:tgtEl>
                                      </p:cBhvr>
                                    </p:animEffect>
                                  </p:childTnLst>
                                </p:cTn>
                              </p:par>
                              <p:par>
                                <p:cTn id="17" presetID="22" presetClass="entr" presetSubtype="4" fill="hold" nodeType="withEffect">
                                  <p:stCondLst>
                                    <p:cond delay="0"/>
                                  </p:stCondLst>
                                  <p:childTnLst>
                                    <p:set>
                                      <p:cBhvr>
                                        <p:cTn id="18" dur="1" fill="hold">
                                          <p:stCondLst>
                                            <p:cond delay="0"/>
                                          </p:stCondLst>
                                        </p:cTn>
                                        <p:tgtEl>
                                          <p:spTgt spid="3">
                                            <p:txEl>
                                              <p:pRg st="11" end="11"/>
                                            </p:txEl>
                                          </p:spTgt>
                                        </p:tgtEl>
                                        <p:attrNameLst>
                                          <p:attrName>style.visibility</p:attrName>
                                        </p:attrNameLst>
                                      </p:cBhvr>
                                      <p:to>
                                        <p:strVal val="visible"/>
                                      </p:to>
                                    </p:set>
                                    <p:animEffect transition="in" filter="wipe(down)">
                                      <p:cBhvr>
                                        <p:cTn id="19" dur="500"/>
                                        <p:tgtEl>
                                          <p:spTgt spid="3">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关系的性质</a:t>
            </a:r>
            <a:r>
              <a:rPr lang="en-US" altLang="zh-CN" dirty="0"/>
              <a:t>:</a:t>
            </a:r>
            <a:r>
              <a:rPr lang="zh-CN" altLang="en-US" dirty="0" smtClean="0"/>
              <a:t>传递关系</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zh-CN" altLang="en-US" dirty="0" smtClean="0"/>
                  <a:t>例</a:t>
                </a:r>
                <a:r>
                  <a:rPr lang="en-US" altLang="zh-CN" dirty="0" smtClean="0"/>
                  <a:t>: </a:t>
                </a:r>
                <a:r>
                  <a:rPr lang="zh-CN" altLang="en-US" dirty="0" smtClean="0"/>
                  <a:t>哪些关系是传递的</a:t>
                </a:r>
                <a:r>
                  <a:rPr lang="en-US" altLang="zh-CN" dirty="0" smtClean="0"/>
                  <a:t>?</a:t>
                </a:r>
              </a:p>
              <a:p>
                <a:pPr lvl="1"/>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𝑅</m:t>
                        </m:r>
                      </m:e>
                      <m:sub>
                        <m:r>
                          <a:rPr lang="en-US" altLang="zh-CN" i="1">
                            <a:latin typeface="Cambria Math" panose="02040503050406030204" pitchFamily="18" charset="0"/>
                          </a:rPr>
                          <m:t>1</m:t>
                        </m:r>
                      </m:sub>
                    </m:sSub>
                  </m:oMath>
                </a14:m>
                <a:r>
                  <a:rPr lang="en-US" altLang="zh-CN" dirty="0"/>
                  <a:t> = {(</a:t>
                </a:r>
                <a:r>
                  <a:rPr lang="en-US" altLang="zh-CN" dirty="0" err="1"/>
                  <a:t>a,b</a:t>
                </a:r>
                <a:r>
                  <a:rPr lang="en-US" altLang="zh-CN" dirty="0"/>
                  <a:t>) | a ≤ b}</a:t>
                </a:r>
              </a:p>
              <a:p>
                <a:pPr lvl="1"/>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𝑅</m:t>
                        </m:r>
                      </m:e>
                      <m:sub>
                        <m:r>
                          <a:rPr lang="en-US" altLang="zh-CN" i="1">
                            <a:latin typeface="Cambria Math" panose="02040503050406030204" pitchFamily="18" charset="0"/>
                          </a:rPr>
                          <m:t>2</m:t>
                        </m:r>
                      </m:sub>
                    </m:sSub>
                  </m:oMath>
                </a14:m>
                <a:r>
                  <a:rPr lang="en-US" altLang="zh-CN" dirty="0"/>
                  <a:t> = {(</a:t>
                </a:r>
                <a:r>
                  <a:rPr lang="en-US" altLang="zh-CN" dirty="0" err="1"/>
                  <a:t>a,b</a:t>
                </a:r>
                <a:r>
                  <a:rPr lang="en-US" altLang="zh-CN" dirty="0"/>
                  <a:t>) | a &gt; b} </a:t>
                </a:r>
              </a:p>
              <a:p>
                <a:pPr lvl="1"/>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𝑅</m:t>
                        </m:r>
                      </m:e>
                      <m:sub>
                        <m:r>
                          <a:rPr lang="en-US" altLang="zh-CN" i="1">
                            <a:latin typeface="Cambria Math" panose="02040503050406030204" pitchFamily="18" charset="0"/>
                          </a:rPr>
                          <m:t>3</m:t>
                        </m:r>
                      </m:sub>
                    </m:sSub>
                  </m:oMath>
                </a14:m>
                <a:r>
                  <a:rPr lang="en-US" altLang="zh-CN" dirty="0"/>
                  <a:t> = {(</a:t>
                </a:r>
                <a:r>
                  <a:rPr lang="en-US" altLang="zh-CN" dirty="0" err="1"/>
                  <a:t>a,b</a:t>
                </a:r>
                <a:r>
                  <a:rPr lang="en-US" altLang="zh-CN" dirty="0"/>
                  <a:t>) | a = b</a:t>
                </a:r>
                <a:r>
                  <a:rPr lang="zh-CN" altLang="en-US" dirty="0"/>
                  <a:t>或</a:t>
                </a:r>
                <a:r>
                  <a:rPr lang="en-US" altLang="zh-CN" dirty="0"/>
                  <a:t>a =−b}</a:t>
                </a:r>
              </a:p>
              <a:p>
                <a:pPr lvl="1"/>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𝑅</m:t>
                        </m:r>
                      </m:e>
                      <m:sub>
                        <m:r>
                          <a:rPr lang="en-US" altLang="zh-CN" i="1">
                            <a:latin typeface="Cambria Math" panose="02040503050406030204" pitchFamily="18" charset="0"/>
                          </a:rPr>
                          <m:t>4</m:t>
                        </m:r>
                      </m:sub>
                    </m:sSub>
                  </m:oMath>
                </a14:m>
                <a:r>
                  <a:rPr lang="en-US" altLang="zh-CN" dirty="0"/>
                  <a:t> = {(</a:t>
                </a:r>
                <a:r>
                  <a:rPr lang="en-US" altLang="zh-CN" dirty="0" err="1"/>
                  <a:t>a,b</a:t>
                </a:r>
                <a:r>
                  <a:rPr lang="en-US" altLang="zh-CN" dirty="0"/>
                  <a:t>) | a = b}</a:t>
                </a:r>
              </a:p>
              <a:p>
                <a:pPr lvl="1"/>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𝑅</m:t>
                        </m:r>
                      </m:e>
                      <m:sub>
                        <m:r>
                          <a:rPr lang="en-US" altLang="zh-CN" i="1">
                            <a:latin typeface="Cambria Math" panose="02040503050406030204" pitchFamily="18" charset="0"/>
                          </a:rPr>
                          <m:t>5</m:t>
                        </m:r>
                      </m:sub>
                    </m:sSub>
                  </m:oMath>
                </a14:m>
                <a:r>
                  <a:rPr lang="en-US" altLang="zh-CN" dirty="0"/>
                  <a:t> = {(</a:t>
                </a:r>
                <a:r>
                  <a:rPr lang="en-US" altLang="zh-CN" dirty="0" err="1"/>
                  <a:t>a,b</a:t>
                </a:r>
                <a:r>
                  <a:rPr lang="en-US" altLang="zh-CN" dirty="0"/>
                  <a:t>) | a = b + 1} </a:t>
                </a:r>
              </a:p>
              <a:p>
                <a:pPr lvl="1"/>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𝑅</m:t>
                        </m:r>
                      </m:e>
                      <m:sub>
                        <m:r>
                          <a:rPr lang="en-US" altLang="zh-CN" i="1">
                            <a:latin typeface="Cambria Math" panose="02040503050406030204" pitchFamily="18" charset="0"/>
                          </a:rPr>
                          <m:t>6</m:t>
                        </m:r>
                      </m:sub>
                    </m:sSub>
                  </m:oMath>
                </a14:m>
                <a:r>
                  <a:rPr lang="en-US" altLang="zh-CN" dirty="0"/>
                  <a:t> = {(</a:t>
                </a:r>
                <a:r>
                  <a:rPr lang="en-US" altLang="zh-CN" dirty="0" err="1"/>
                  <a:t>a,b</a:t>
                </a:r>
                <a:r>
                  <a:rPr lang="en-US" altLang="zh-CN" dirty="0"/>
                  <a:t>) | a + b ≤ 3} </a:t>
                </a:r>
              </a:p>
              <a:p>
                <a:r>
                  <a:rPr lang="zh-CN" altLang="en-US" dirty="0" smtClean="0"/>
                  <a:t>解</a:t>
                </a:r>
                <a:r>
                  <a:rPr lang="en-US" altLang="zh-CN" dirty="0" smtClean="0"/>
                  <a:t>:</a:t>
                </a:r>
              </a:p>
              <a:p>
                <a:pPr lvl="1"/>
                <a14:m>
                  <m:oMath xmlns:m="http://schemas.openxmlformats.org/officeDocument/2006/math">
                    <m:sSub>
                      <m:sSubPr>
                        <m:ctrlPr>
                          <a:rPr lang="en-US" altLang="zh-CN" i="1">
                            <a:latin typeface="Cambria Math" panose="02040503050406030204" pitchFamily="18" charset="0"/>
                          </a:rPr>
                        </m:ctrlPr>
                      </m:sSubPr>
                      <m:e>
                        <m:r>
                          <m:rPr>
                            <m:sty m:val="p"/>
                          </m:rPr>
                          <a:rPr lang="en-US" altLang="zh-CN" i="0">
                            <a:latin typeface="Cambria Math" panose="02040503050406030204" pitchFamily="18" charset="0"/>
                          </a:rPr>
                          <m:t>R</m:t>
                        </m:r>
                      </m:e>
                      <m:sub>
                        <m:r>
                          <a:rPr lang="en-US" altLang="zh-CN" i="0">
                            <a:latin typeface="Cambria Math" panose="02040503050406030204" pitchFamily="18" charset="0"/>
                          </a:rPr>
                          <m:t>1</m:t>
                        </m:r>
                      </m:sub>
                    </m:sSub>
                  </m:oMath>
                </a14:m>
                <a:r>
                  <a:rPr lang="en-US" altLang="zh-CN" dirty="0">
                    <a:latin typeface="Cambria Math" panose="02040503050406030204" pitchFamily="18" charset="0"/>
                  </a:rPr>
                  <a:t>, </a:t>
                </a:r>
                <a14:m>
                  <m:oMath xmlns:m="http://schemas.openxmlformats.org/officeDocument/2006/math">
                    <m:sSub>
                      <m:sSubPr>
                        <m:ctrlPr>
                          <a:rPr lang="en-US" altLang="zh-CN" i="1">
                            <a:latin typeface="Cambria Math" panose="02040503050406030204" pitchFamily="18" charset="0"/>
                          </a:rPr>
                        </m:ctrlPr>
                      </m:sSubPr>
                      <m:e>
                        <m:r>
                          <m:rPr>
                            <m:sty m:val="p"/>
                          </m:rPr>
                          <a:rPr lang="en-US" altLang="zh-CN" i="0">
                            <a:latin typeface="Cambria Math" panose="02040503050406030204" pitchFamily="18" charset="0"/>
                          </a:rPr>
                          <m:t>R</m:t>
                        </m:r>
                      </m:e>
                      <m:sub>
                        <m:r>
                          <a:rPr lang="en-US" altLang="zh-CN" i="0">
                            <a:latin typeface="Cambria Math" panose="02040503050406030204" pitchFamily="18" charset="0"/>
                          </a:rPr>
                          <m:t>2</m:t>
                        </m:r>
                      </m:sub>
                    </m:sSub>
                  </m:oMath>
                </a14:m>
                <a:r>
                  <a:rPr lang="en-US" altLang="zh-CN" dirty="0">
                    <a:latin typeface="Cambria Math" panose="02040503050406030204" pitchFamily="18" charset="0"/>
                  </a:rPr>
                  <a:t>, </a:t>
                </a:r>
                <a14:m>
                  <m:oMath xmlns:m="http://schemas.openxmlformats.org/officeDocument/2006/math">
                    <m:sSub>
                      <m:sSubPr>
                        <m:ctrlPr>
                          <a:rPr lang="en-US" altLang="zh-CN" i="1">
                            <a:latin typeface="Cambria Math" panose="02040503050406030204" pitchFamily="18" charset="0"/>
                          </a:rPr>
                        </m:ctrlPr>
                      </m:sSubPr>
                      <m:e>
                        <m:r>
                          <m:rPr>
                            <m:sty m:val="p"/>
                          </m:rPr>
                          <a:rPr lang="en-US" altLang="zh-CN" i="0">
                            <a:latin typeface="Cambria Math" panose="02040503050406030204" pitchFamily="18" charset="0"/>
                          </a:rPr>
                          <m:t>R</m:t>
                        </m:r>
                      </m:e>
                      <m:sub>
                        <m:r>
                          <a:rPr lang="en-US" altLang="zh-CN" i="0">
                            <a:latin typeface="Cambria Math" panose="02040503050406030204" pitchFamily="18" charset="0"/>
                          </a:rPr>
                          <m:t>3</m:t>
                        </m:r>
                      </m:sub>
                    </m:sSub>
                  </m:oMath>
                </a14:m>
                <a:r>
                  <a:rPr lang="en-US" altLang="zh-CN" dirty="0">
                    <a:latin typeface="Cambria Math" panose="02040503050406030204" pitchFamily="18" charset="0"/>
                  </a:rPr>
                  <a:t>, </a:t>
                </a:r>
                <a14:m>
                  <m:oMath xmlns:m="http://schemas.openxmlformats.org/officeDocument/2006/math">
                    <m:sSub>
                      <m:sSubPr>
                        <m:ctrlPr>
                          <a:rPr lang="en-US" altLang="zh-CN" i="1">
                            <a:latin typeface="Cambria Math" panose="02040503050406030204" pitchFamily="18" charset="0"/>
                          </a:rPr>
                        </m:ctrlPr>
                      </m:sSubPr>
                      <m:e>
                        <m:r>
                          <m:rPr>
                            <m:sty m:val="p"/>
                          </m:rPr>
                          <a:rPr lang="en-US" altLang="zh-CN" i="0">
                            <a:latin typeface="Cambria Math" panose="02040503050406030204" pitchFamily="18" charset="0"/>
                          </a:rPr>
                          <m:t>R</m:t>
                        </m:r>
                      </m:e>
                      <m:sub>
                        <m:r>
                          <a:rPr lang="en-US" altLang="zh-CN" i="0">
                            <a:latin typeface="Cambria Math" panose="02040503050406030204" pitchFamily="18" charset="0"/>
                          </a:rPr>
                          <m:t>4</m:t>
                        </m:r>
                      </m:sub>
                    </m:sSub>
                  </m:oMath>
                </a14:m>
                <a:r>
                  <a:rPr lang="zh-CN" altLang="en-US" dirty="0">
                    <a:latin typeface="Cambria Math" panose="02040503050406030204" pitchFamily="18" charset="0"/>
                  </a:rPr>
                  <a:t>是传递的</a:t>
                </a:r>
                <a:r>
                  <a:rPr lang="en-US" altLang="zh-CN" dirty="0">
                    <a:latin typeface="Cambria Math" panose="02040503050406030204" pitchFamily="18" charset="0"/>
                  </a:rPr>
                  <a:t>.</a:t>
                </a:r>
              </a:p>
              <a:p>
                <a:pPr lvl="1"/>
                <a14:m>
                  <m:oMath xmlns:m="http://schemas.openxmlformats.org/officeDocument/2006/math">
                    <m:sSub>
                      <m:sSubPr>
                        <m:ctrlPr>
                          <a:rPr lang="en-US" altLang="zh-CN" i="1">
                            <a:latin typeface="Cambria Math" panose="02040503050406030204" pitchFamily="18" charset="0"/>
                          </a:rPr>
                        </m:ctrlPr>
                      </m:sSubPr>
                      <m:e>
                        <m:r>
                          <m:rPr>
                            <m:sty m:val="p"/>
                          </m:rPr>
                          <a:rPr lang="en-US" altLang="zh-CN" i="0">
                            <a:latin typeface="Cambria Math" panose="02040503050406030204" pitchFamily="18" charset="0"/>
                          </a:rPr>
                          <m:t>R</m:t>
                        </m:r>
                      </m:e>
                      <m:sub>
                        <m:r>
                          <a:rPr lang="en-US" altLang="zh-CN" i="0">
                            <a:latin typeface="Cambria Math" panose="02040503050406030204" pitchFamily="18" charset="0"/>
                          </a:rPr>
                          <m:t>5</m:t>
                        </m:r>
                      </m:sub>
                    </m:sSub>
                  </m:oMath>
                </a14:m>
                <a:r>
                  <a:rPr lang="zh-CN" altLang="en-US" dirty="0">
                    <a:latin typeface="Cambria Math" panose="02040503050406030204" pitchFamily="18" charset="0"/>
                  </a:rPr>
                  <a:t>不是传递的</a:t>
                </a:r>
                <a:r>
                  <a:rPr lang="en-US" altLang="zh-CN" dirty="0">
                    <a:latin typeface="Cambria Math" panose="02040503050406030204" pitchFamily="18" charset="0"/>
                  </a:rPr>
                  <a:t>, (3,2) </a:t>
                </a:r>
                <a:r>
                  <a:rPr lang="en-US" altLang="zh-CN" dirty="0" smtClean="0">
                    <a:latin typeface="Cambria Math" panose="02040503050406030204" pitchFamily="18" charset="0"/>
                  </a:rPr>
                  <a:t>,(2,1) </a:t>
                </a:r>
                <a:r>
                  <a:rPr lang="zh-CN" altLang="en-US" dirty="0">
                    <a:latin typeface="Cambria Math" panose="02040503050406030204" pitchFamily="18" charset="0"/>
                  </a:rPr>
                  <a:t>属于</a:t>
                </a:r>
                <a14:m>
                  <m:oMath xmlns:m="http://schemas.openxmlformats.org/officeDocument/2006/math">
                    <m:sSub>
                      <m:sSubPr>
                        <m:ctrlPr>
                          <a:rPr lang="en-US" altLang="zh-CN" i="1">
                            <a:latin typeface="Cambria Math" panose="02040503050406030204" pitchFamily="18" charset="0"/>
                          </a:rPr>
                        </m:ctrlPr>
                      </m:sSubPr>
                      <m:e>
                        <m:r>
                          <m:rPr>
                            <m:sty m:val="p"/>
                          </m:rPr>
                          <a:rPr lang="en-US" altLang="zh-CN" i="0">
                            <a:latin typeface="Cambria Math" panose="02040503050406030204" pitchFamily="18" charset="0"/>
                          </a:rPr>
                          <m:t>R</m:t>
                        </m:r>
                      </m:e>
                      <m:sub>
                        <m:r>
                          <a:rPr lang="en-US" altLang="zh-CN" i="0">
                            <a:latin typeface="Cambria Math" panose="02040503050406030204" pitchFamily="18" charset="0"/>
                          </a:rPr>
                          <m:t>5</m:t>
                        </m:r>
                      </m:sub>
                    </m:sSub>
                  </m:oMath>
                </a14:m>
                <a:r>
                  <a:rPr lang="en-US" altLang="zh-CN" dirty="0">
                    <a:latin typeface="Cambria Math" panose="02040503050406030204" pitchFamily="18" charset="0"/>
                  </a:rPr>
                  <a:t>, </a:t>
                </a:r>
                <a:r>
                  <a:rPr lang="zh-CN" altLang="en-US" dirty="0">
                    <a:latin typeface="Cambria Math" panose="02040503050406030204" pitchFamily="18" charset="0"/>
                  </a:rPr>
                  <a:t>但</a:t>
                </a:r>
                <a:r>
                  <a:rPr lang="en-US" altLang="zh-CN" dirty="0" smtClean="0">
                    <a:latin typeface="Cambria Math" panose="02040503050406030204" pitchFamily="18" charset="0"/>
                  </a:rPr>
                  <a:t>(3,1)</a:t>
                </a:r>
                <a:r>
                  <a:rPr lang="zh-CN" altLang="en-US" dirty="0">
                    <a:latin typeface="Cambria Math" panose="02040503050406030204" pitchFamily="18" charset="0"/>
                  </a:rPr>
                  <a:t>不属于</a:t>
                </a:r>
                <a14:m>
                  <m:oMath xmlns:m="http://schemas.openxmlformats.org/officeDocument/2006/math">
                    <m:sSub>
                      <m:sSubPr>
                        <m:ctrlPr>
                          <a:rPr lang="en-US" altLang="zh-CN" i="1">
                            <a:latin typeface="Cambria Math" panose="02040503050406030204" pitchFamily="18" charset="0"/>
                          </a:rPr>
                        </m:ctrlPr>
                      </m:sSubPr>
                      <m:e>
                        <m:r>
                          <m:rPr>
                            <m:sty m:val="p"/>
                          </m:rPr>
                          <a:rPr lang="en-US" altLang="zh-CN" i="0">
                            <a:latin typeface="Cambria Math" panose="02040503050406030204" pitchFamily="18" charset="0"/>
                          </a:rPr>
                          <m:t>R</m:t>
                        </m:r>
                      </m:e>
                      <m:sub>
                        <m:r>
                          <a:rPr lang="en-US" altLang="zh-CN" i="0">
                            <a:latin typeface="Cambria Math" panose="02040503050406030204" pitchFamily="18" charset="0"/>
                          </a:rPr>
                          <m:t>5</m:t>
                        </m:r>
                      </m:sub>
                    </m:sSub>
                  </m:oMath>
                </a14:m>
                <a:endParaRPr lang="en-US" altLang="zh-CN" dirty="0">
                  <a:latin typeface="Cambria Math" panose="02040503050406030204" pitchFamily="18" charset="0"/>
                </a:endParaRPr>
              </a:p>
              <a:p>
                <a:pPr lvl="1"/>
                <a14:m>
                  <m:oMath xmlns:m="http://schemas.openxmlformats.org/officeDocument/2006/math">
                    <m:sSub>
                      <m:sSubPr>
                        <m:ctrlPr>
                          <a:rPr lang="en-US" altLang="zh-CN" i="1">
                            <a:latin typeface="Cambria Math" panose="02040503050406030204" pitchFamily="18" charset="0"/>
                          </a:rPr>
                        </m:ctrlPr>
                      </m:sSubPr>
                      <m:e>
                        <m:r>
                          <m:rPr>
                            <m:sty m:val="p"/>
                          </m:rPr>
                          <a:rPr lang="en-US" altLang="zh-CN" i="0">
                            <a:latin typeface="Cambria Math" panose="02040503050406030204" pitchFamily="18" charset="0"/>
                          </a:rPr>
                          <m:t>R</m:t>
                        </m:r>
                      </m:e>
                      <m:sub>
                        <m:r>
                          <a:rPr lang="en-US" altLang="zh-CN" i="0">
                            <a:latin typeface="Cambria Math" panose="02040503050406030204" pitchFamily="18" charset="0"/>
                          </a:rPr>
                          <m:t>6</m:t>
                        </m:r>
                      </m:sub>
                    </m:sSub>
                  </m:oMath>
                </a14:m>
                <a:r>
                  <a:rPr lang="zh-CN" altLang="en-US" dirty="0">
                    <a:latin typeface="Cambria Math" panose="02040503050406030204" pitchFamily="18" charset="0"/>
                  </a:rPr>
                  <a:t>不是传递的</a:t>
                </a:r>
                <a:r>
                  <a:rPr lang="en-US" altLang="zh-CN" dirty="0">
                    <a:latin typeface="Cambria Math" panose="02040503050406030204" pitchFamily="18" charset="0"/>
                  </a:rPr>
                  <a:t>, (2,1) , (1,2) </a:t>
                </a:r>
                <a:r>
                  <a:rPr lang="zh-CN" altLang="en-US" dirty="0">
                    <a:latin typeface="Cambria Math" panose="02040503050406030204" pitchFamily="18" charset="0"/>
                  </a:rPr>
                  <a:t>属于</a:t>
                </a:r>
                <a14:m>
                  <m:oMath xmlns:m="http://schemas.openxmlformats.org/officeDocument/2006/math">
                    <m:sSub>
                      <m:sSubPr>
                        <m:ctrlPr>
                          <a:rPr lang="en-US" altLang="zh-CN" i="1">
                            <a:latin typeface="Cambria Math" panose="02040503050406030204" pitchFamily="18" charset="0"/>
                          </a:rPr>
                        </m:ctrlPr>
                      </m:sSubPr>
                      <m:e>
                        <m:r>
                          <m:rPr>
                            <m:sty m:val="p"/>
                          </m:rPr>
                          <a:rPr lang="en-US" altLang="zh-CN" i="0">
                            <a:latin typeface="Cambria Math" panose="02040503050406030204" pitchFamily="18" charset="0"/>
                          </a:rPr>
                          <m:t>R</m:t>
                        </m:r>
                      </m:e>
                      <m:sub>
                        <m:r>
                          <a:rPr lang="en-US" altLang="zh-CN" i="0">
                            <a:latin typeface="Cambria Math" panose="02040503050406030204" pitchFamily="18" charset="0"/>
                          </a:rPr>
                          <m:t>6</m:t>
                        </m:r>
                      </m:sub>
                    </m:sSub>
                  </m:oMath>
                </a14:m>
                <a:r>
                  <a:rPr lang="en-US" altLang="zh-CN" dirty="0">
                    <a:latin typeface="Cambria Math" panose="02040503050406030204" pitchFamily="18" charset="0"/>
                  </a:rPr>
                  <a:t>, </a:t>
                </a:r>
                <a:r>
                  <a:rPr lang="zh-CN" altLang="en-US" dirty="0">
                    <a:latin typeface="Cambria Math" panose="02040503050406030204" pitchFamily="18" charset="0"/>
                  </a:rPr>
                  <a:t>但</a:t>
                </a:r>
                <a:r>
                  <a:rPr lang="en-US" altLang="zh-CN" dirty="0">
                    <a:latin typeface="Cambria Math" panose="02040503050406030204" pitchFamily="18" charset="0"/>
                  </a:rPr>
                  <a:t>(2,2)</a:t>
                </a:r>
                <a:r>
                  <a:rPr lang="zh-CN" altLang="en-US" dirty="0">
                    <a:latin typeface="Cambria Math" panose="02040503050406030204" pitchFamily="18" charset="0"/>
                  </a:rPr>
                  <a:t>不属于</a:t>
                </a:r>
                <a14:m>
                  <m:oMath xmlns:m="http://schemas.openxmlformats.org/officeDocument/2006/math">
                    <m:sSub>
                      <m:sSubPr>
                        <m:ctrlPr>
                          <a:rPr lang="en-US" altLang="zh-CN" i="1">
                            <a:latin typeface="Cambria Math" panose="02040503050406030204" pitchFamily="18" charset="0"/>
                          </a:rPr>
                        </m:ctrlPr>
                      </m:sSubPr>
                      <m:e>
                        <m:r>
                          <m:rPr>
                            <m:sty m:val="p"/>
                          </m:rPr>
                          <a:rPr lang="en-US" altLang="zh-CN" i="0">
                            <a:latin typeface="Cambria Math" panose="02040503050406030204" pitchFamily="18" charset="0"/>
                          </a:rPr>
                          <m:t>R</m:t>
                        </m:r>
                      </m:e>
                      <m:sub>
                        <m:r>
                          <a:rPr lang="en-US" altLang="zh-CN" i="0">
                            <a:latin typeface="Cambria Math" panose="02040503050406030204" pitchFamily="18" charset="0"/>
                          </a:rPr>
                          <m:t>6</m:t>
                        </m:r>
                      </m:sub>
                    </m:sSub>
                  </m:oMath>
                </a14:m>
                <a:endParaRPr lang="en-US" altLang="zh-CN" dirty="0">
                  <a:latin typeface="Cambria Math" panose="02040503050406030204" pitchFamily="18" charset="0"/>
                </a:endParaRPr>
              </a:p>
              <a:p>
                <a:endParaRPr lang="en-US" dirty="0" smtClean="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999" t="-1310"/>
                </a:stretch>
              </a:blipFill>
            </p:spPr>
            <p:txBody>
              <a:bodyPr/>
              <a:lstStyle/>
              <a:p>
                <a:r>
                  <a:rPr lang="zh-CN" altLang="en-US">
                    <a:noFill/>
                  </a:rPr>
                  <a:t> </a:t>
                </a:r>
              </a:p>
            </p:txBody>
          </p:sp>
        </mc:Fallback>
      </mc:AlternateContent>
      <p:sp>
        <p:nvSpPr>
          <p:cNvPr id="8" name="日期占位符 7"/>
          <p:cNvSpPr>
            <a:spLocks noGrp="1"/>
          </p:cNvSpPr>
          <p:nvPr>
            <p:ph type="dt" sz="half" idx="10"/>
          </p:nvPr>
        </p:nvSpPr>
        <p:spPr/>
        <p:txBody>
          <a:bodyPr/>
          <a:lstStyle/>
          <a:p>
            <a:fld id="{8FB7B74D-5C3E-461C-BC6F-2D5258574A7A}" type="datetime1">
              <a:rPr lang="zh-CN" altLang="en-US" smtClean="0"/>
              <a:t>2025/3/14</a:t>
            </a:fld>
            <a:endParaRPr lang="zh-CN" altLang="en-US" dirty="0"/>
          </a:p>
        </p:txBody>
      </p:sp>
      <p:sp>
        <p:nvSpPr>
          <p:cNvPr id="9" name="页脚占位符 8"/>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10" name="灯片编号占位符 9"/>
          <p:cNvSpPr>
            <a:spLocks noGrp="1"/>
          </p:cNvSpPr>
          <p:nvPr>
            <p:ph type="sldNum" sz="quarter" idx="12"/>
          </p:nvPr>
        </p:nvSpPr>
        <p:spPr/>
        <p:txBody>
          <a:bodyPr/>
          <a:lstStyle/>
          <a:p>
            <a:fld id="{67913A8A-9EFB-4B5F-9CCB-3D21173FAA85}" type="slidenum">
              <a:rPr lang="zh-CN" altLang="en-US" smtClean="0"/>
              <a:pPr/>
              <a:t>17</a:t>
            </a:fld>
            <a:endParaRPr lang="zh-CN" altLang="en-US" dirty="0"/>
          </a:p>
        </p:txBody>
      </p:sp>
    </p:spTree>
    <p:extLst>
      <p:ext uri="{BB962C8B-B14F-4D97-AF65-F5344CB8AC3E}">
        <p14:creationId xmlns:p14="http://schemas.microsoft.com/office/powerpoint/2010/main" val="25420985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7" end="7"/>
                                            </p:txEl>
                                          </p:spTgt>
                                        </p:tgtEl>
                                        <p:attrNameLst>
                                          <p:attrName>style.visibility</p:attrName>
                                        </p:attrNameLst>
                                      </p:cBhvr>
                                      <p:to>
                                        <p:strVal val="visible"/>
                                      </p:to>
                                    </p:set>
                                    <p:animEffect transition="in" filter="wipe(down)">
                                      <p:cBhvr>
                                        <p:cTn id="7" dur="500"/>
                                        <p:tgtEl>
                                          <p:spTgt spid="3">
                                            <p:txEl>
                                              <p:pRg st="7" end="7"/>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3">
                                            <p:txEl>
                                              <p:pRg st="8" end="8"/>
                                            </p:txEl>
                                          </p:spTgt>
                                        </p:tgtEl>
                                        <p:attrNameLst>
                                          <p:attrName>style.visibility</p:attrName>
                                        </p:attrNameLst>
                                      </p:cBhvr>
                                      <p:to>
                                        <p:strVal val="visible"/>
                                      </p:to>
                                    </p:set>
                                    <p:animEffect transition="in" filter="wipe(down)">
                                      <p:cBhvr>
                                        <p:cTn id="10" dur="500"/>
                                        <p:tgtEl>
                                          <p:spTgt spid="3">
                                            <p:txEl>
                                              <p:pRg st="8" end="8"/>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3">
                                            <p:txEl>
                                              <p:pRg st="9" end="9"/>
                                            </p:txEl>
                                          </p:spTgt>
                                        </p:tgtEl>
                                        <p:attrNameLst>
                                          <p:attrName>style.visibility</p:attrName>
                                        </p:attrNameLst>
                                      </p:cBhvr>
                                      <p:to>
                                        <p:strVal val="visible"/>
                                      </p:to>
                                    </p:set>
                                    <p:animEffect transition="in" filter="wipe(down)">
                                      <p:cBhvr>
                                        <p:cTn id="13" dur="500"/>
                                        <p:tgtEl>
                                          <p:spTgt spid="3">
                                            <p:txEl>
                                              <p:pRg st="9" end="9"/>
                                            </p:txEl>
                                          </p:spTgt>
                                        </p:tgtEl>
                                      </p:cBhvr>
                                    </p:animEffect>
                                  </p:childTnLst>
                                </p:cTn>
                              </p:par>
                              <p:par>
                                <p:cTn id="14" presetID="22" presetClass="entr" presetSubtype="4" fill="hold" nodeType="withEffect">
                                  <p:stCondLst>
                                    <p:cond delay="0"/>
                                  </p:stCondLst>
                                  <p:childTnLst>
                                    <p:set>
                                      <p:cBhvr>
                                        <p:cTn id="15" dur="1" fill="hold">
                                          <p:stCondLst>
                                            <p:cond delay="0"/>
                                          </p:stCondLst>
                                        </p:cTn>
                                        <p:tgtEl>
                                          <p:spTgt spid="3">
                                            <p:txEl>
                                              <p:pRg st="10" end="10"/>
                                            </p:txEl>
                                          </p:spTgt>
                                        </p:tgtEl>
                                        <p:attrNameLst>
                                          <p:attrName>style.visibility</p:attrName>
                                        </p:attrNameLst>
                                      </p:cBhvr>
                                      <p:to>
                                        <p:strVal val="visible"/>
                                      </p:to>
                                    </p:set>
                                    <p:animEffect transition="in" filter="wipe(down)">
                                      <p:cBhvr>
                                        <p:cTn id="16"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457200" y="1676400"/>
            <a:ext cx="11277599" cy="838200"/>
          </a:xfrm>
          <a:prstGeom prst="rect">
            <a:avLst/>
          </a:prstGeom>
          <a:solidFill>
            <a:schemeClr val="accent5">
              <a:lumMod val="40000"/>
              <a:lumOff val="6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itle 1"/>
          <p:cNvSpPr>
            <a:spLocks noGrp="1"/>
          </p:cNvSpPr>
          <p:nvPr>
            <p:ph type="title"/>
          </p:nvPr>
        </p:nvSpPr>
        <p:spPr/>
        <p:txBody>
          <a:bodyPr/>
          <a:lstStyle/>
          <a:p>
            <a:r>
              <a:rPr lang="zh-CN" altLang="en-US" dirty="0"/>
              <a:t>关系的性质</a:t>
            </a:r>
            <a:r>
              <a:rPr lang="en-US" altLang="zh-CN" dirty="0" smtClean="0"/>
              <a:t>:</a:t>
            </a:r>
            <a:r>
              <a:rPr lang="zh-CN" altLang="en-US" dirty="0" smtClean="0"/>
              <a:t>逆关系</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zh-CN" altLang="en-US" dirty="0" smtClean="0"/>
                  <a:t>补充知识</a:t>
                </a:r>
                <a:r>
                  <a:rPr lang="en-US" altLang="zh-CN" dirty="0" smtClean="0"/>
                  <a:t>:</a:t>
                </a:r>
              </a:p>
              <a:p>
                <a:r>
                  <a:rPr lang="zh-CN" altLang="en-US" dirty="0" smtClean="0"/>
                  <a:t>定义</a:t>
                </a:r>
                <a:r>
                  <a:rPr lang="en-US" altLang="zh-CN" dirty="0" smtClean="0"/>
                  <a:t>: </a:t>
                </a:r>
                <a:r>
                  <a:rPr lang="zh-CN" altLang="en-US" dirty="0" smtClean="0"/>
                  <a:t>设</a:t>
                </a:r>
                <a:r>
                  <a:rPr lang="en-US" altLang="zh-CN" dirty="0" smtClean="0"/>
                  <a:t>R</a:t>
                </a:r>
                <a:r>
                  <a:rPr lang="zh-CN" altLang="en-US" dirty="0" smtClean="0"/>
                  <a:t>是从集合</a:t>
                </a:r>
                <a:r>
                  <a:rPr lang="en-US" altLang="zh-CN" dirty="0" smtClean="0"/>
                  <a:t>A</a:t>
                </a:r>
                <a:r>
                  <a:rPr lang="zh-CN" altLang="en-US" dirty="0" smtClean="0"/>
                  <a:t>到集合</a:t>
                </a:r>
                <a:r>
                  <a:rPr lang="en-US" altLang="zh-CN" dirty="0" smtClean="0"/>
                  <a:t>B</a:t>
                </a:r>
                <a:r>
                  <a:rPr lang="zh-CN" altLang="en-US" dirty="0" smtClean="0"/>
                  <a:t>的关系</a:t>
                </a:r>
                <a:r>
                  <a:rPr lang="en-US" altLang="zh-CN" dirty="0" smtClean="0"/>
                  <a:t>. </a:t>
                </a:r>
                <a:r>
                  <a:rPr lang="zh-CN" altLang="en-US" dirty="0" smtClean="0"/>
                  <a:t>从集合</a:t>
                </a:r>
                <a:r>
                  <a:rPr lang="en-US" altLang="zh-CN" dirty="0" smtClean="0"/>
                  <a:t>B</a:t>
                </a:r>
                <a:r>
                  <a:rPr lang="zh-CN" altLang="en-US" dirty="0" smtClean="0"/>
                  <a:t>到集合</a:t>
                </a:r>
                <a:r>
                  <a:rPr lang="en-US" altLang="zh-CN" dirty="0" smtClean="0"/>
                  <a:t>A</a:t>
                </a:r>
                <a:r>
                  <a:rPr lang="zh-CN" altLang="en-US" dirty="0" smtClean="0"/>
                  <a:t>的</a:t>
                </a:r>
                <a:r>
                  <a:rPr lang="zh-CN" altLang="en-US" b="1" dirty="0" smtClean="0">
                    <a:solidFill>
                      <a:srgbClr val="C00000"/>
                    </a:solidFill>
                  </a:rPr>
                  <a:t>逆关系</a:t>
                </a:r>
                <a:r>
                  <a:rPr lang="zh-CN" altLang="en-US" dirty="0" smtClean="0"/>
                  <a:t>，记作</a:t>
                </a:r>
                <a14:m>
                  <m:oMath xmlns:m="http://schemas.openxmlformats.org/officeDocument/2006/math">
                    <m:sSup>
                      <m:sSupPr>
                        <m:ctrlPr>
                          <a:rPr lang="en-US" altLang="zh-CN" i="1" smtClean="0">
                            <a:latin typeface="Cambria Math" panose="02040503050406030204" pitchFamily="18" charset="0"/>
                          </a:rPr>
                        </m:ctrlPr>
                      </m:sSupPr>
                      <m:e>
                        <m:r>
                          <a:rPr lang="en-US" altLang="zh-CN" b="0" i="1" smtClean="0">
                            <a:latin typeface="Cambria Math" panose="02040503050406030204" pitchFamily="18" charset="0"/>
                          </a:rPr>
                          <m:t>𝑅</m:t>
                        </m:r>
                      </m:e>
                      <m:sup>
                        <m:r>
                          <a:rPr lang="en-US" altLang="zh-CN" b="0" i="1" smtClean="0">
                            <a:latin typeface="Cambria Math" panose="02040503050406030204" pitchFamily="18" charset="0"/>
                          </a:rPr>
                          <m:t>−1</m:t>
                        </m:r>
                      </m:sup>
                    </m:sSup>
                  </m:oMath>
                </a14:m>
                <a:r>
                  <a:rPr lang="zh-CN" altLang="en-US" dirty="0" smtClean="0"/>
                  <a:t>，是有序对</a:t>
                </a:r>
                <a:r>
                  <a:rPr lang="en-US" altLang="zh-CN" dirty="0" smtClean="0"/>
                  <a:t>{(</a:t>
                </a:r>
                <a:r>
                  <a:rPr lang="en-US" altLang="zh-CN" dirty="0" err="1" smtClean="0"/>
                  <a:t>b,a</a:t>
                </a:r>
                <a:r>
                  <a:rPr lang="en-US" altLang="zh-CN" dirty="0" smtClean="0"/>
                  <a:t>)|(</a:t>
                </a:r>
                <a:r>
                  <a:rPr lang="en-US" altLang="zh-CN" dirty="0" err="1" smtClean="0"/>
                  <a:t>a,b</a:t>
                </a:r>
                <a:r>
                  <a:rPr lang="en-US" altLang="zh-CN" dirty="0" smtClean="0"/>
                  <a:t>)</a:t>
                </a:r>
                <a14:m>
                  <m:oMath xmlns:m="http://schemas.openxmlformats.org/officeDocument/2006/math">
                    <m:r>
                      <a:rPr lang="en-US" altLang="zh-CN"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𝑅</m:t>
                    </m:r>
                  </m:oMath>
                </a14:m>
                <a:r>
                  <a:rPr lang="en-US" altLang="zh-CN" dirty="0" smtClean="0"/>
                  <a:t>}</a:t>
                </a:r>
                <a:r>
                  <a:rPr lang="zh-CN" altLang="en-US" dirty="0" smtClean="0"/>
                  <a:t>的集合</a:t>
                </a:r>
                <a:r>
                  <a:rPr lang="en-US" altLang="zh-CN" dirty="0" smtClean="0"/>
                  <a:t>.</a:t>
                </a:r>
              </a:p>
              <a:p>
                <a:endParaRPr lang="en-US" altLang="zh-CN" dirty="0">
                  <a:latin typeface="Cambria Math" panose="02040503050406030204" pitchFamily="18" charset="0"/>
                </a:endParaRPr>
              </a:p>
              <a:p>
                <a:r>
                  <a:rPr lang="zh-CN" altLang="en-US" dirty="0" smtClean="0">
                    <a:latin typeface="Cambria Math" panose="02040503050406030204" pitchFamily="18" charset="0"/>
                  </a:rPr>
                  <a:t>例</a:t>
                </a:r>
                <a:r>
                  <a:rPr lang="en-US" altLang="zh-CN" dirty="0" smtClean="0">
                    <a:latin typeface="Cambria Math" panose="02040503050406030204" pitchFamily="18" charset="0"/>
                  </a:rPr>
                  <a:t>: </a:t>
                </a:r>
                <a:r>
                  <a:rPr lang="zh-CN" altLang="en-US" dirty="0" smtClean="0"/>
                  <a:t>在</a:t>
                </a:r>
                <a:r>
                  <a:rPr lang="zh-CN" altLang="en-US" dirty="0"/>
                  <a:t>集合</a:t>
                </a:r>
                <a:r>
                  <a:rPr lang="en-US" altLang="zh-CN" dirty="0"/>
                  <a:t>A={1, 2, 3, 4}</a:t>
                </a:r>
                <a:r>
                  <a:rPr lang="zh-CN" altLang="en-US" dirty="0"/>
                  <a:t>上</a:t>
                </a:r>
                <a:r>
                  <a:rPr lang="zh-CN" altLang="en-US" dirty="0" smtClean="0"/>
                  <a:t>的关系</a:t>
                </a:r>
                <a14:m>
                  <m:oMath xmlns:m="http://schemas.openxmlformats.org/officeDocument/2006/math">
                    <m:r>
                      <m:rPr>
                        <m:sty m:val="p"/>
                      </m:rPr>
                      <a:rPr lang="en-US" altLang="zh-CN" i="1" dirty="0">
                        <a:latin typeface="Cambria Math" panose="02040503050406030204" pitchFamily="18" charset="0"/>
                      </a:rPr>
                      <m:t>R</m:t>
                    </m:r>
                  </m:oMath>
                </a14:m>
                <a:r>
                  <a:rPr lang="en-US" altLang="zh-CN" dirty="0"/>
                  <a:t> = {(1,1), (1,2</a:t>
                </a:r>
                <a:r>
                  <a:rPr lang="en-US" altLang="zh-CN" dirty="0" smtClean="0"/>
                  <a:t>)}</a:t>
                </a:r>
                <a:r>
                  <a:rPr lang="zh-CN" altLang="en-US" dirty="0" smtClean="0"/>
                  <a:t>的逆关系是什么</a:t>
                </a:r>
                <a:r>
                  <a:rPr lang="en-US" altLang="zh-CN" dirty="0" smtClean="0"/>
                  <a:t>?</a:t>
                </a:r>
              </a:p>
              <a:p>
                <a:r>
                  <a:rPr lang="zh-CN" altLang="en-US" dirty="0" smtClean="0"/>
                  <a:t>解</a:t>
                </a:r>
                <a:r>
                  <a:rPr lang="en-US" altLang="zh-CN" dirty="0" smtClean="0"/>
                  <a:t>: </a:t>
                </a:r>
                <a14:m>
                  <m:oMath xmlns:m="http://schemas.openxmlformats.org/officeDocument/2006/math">
                    <m:sSup>
                      <m:sSupPr>
                        <m:ctrlPr>
                          <a:rPr lang="en-US" altLang="zh-CN" i="1">
                            <a:latin typeface="Cambria Math" panose="02040503050406030204" pitchFamily="18" charset="0"/>
                          </a:rPr>
                        </m:ctrlPr>
                      </m:sSupPr>
                      <m:e>
                        <m:r>
                          <a:rPr lang="en-US" altLang="zh-CN" i="1">
                            <a:latin typeface="Cambria Math" panose="02040503050406030204" pitchFamily="18" charset="0"/>
                          </a:rPr>
                          <m:t>𝑅</m:t>
                        </m:r>
                      </m:e>
                      <m:sup>
                        <m:r>
                          <a:rPr lang="en-US" altLang="zh-CN" i="1">
                            <a:latin typeface="Cambria Math" panose="02040503050406030204" pitchFamily="18" charset="0"/>
                          </a:rPr>
                          <m:t>−1</m:t>
                        </m:r>
                      </m:sup>
                    </m:sSup>
                  </m:oMath>
                </a14:m>
                <a:r>
                  <a:rPr lang="en-US" altLang="zh-CN" dirty="0" smtClean="0"/>
                  <a:t>={(1,1),(2,1)}</a:t>
                </a:r>
                <a:endParaRPr lang="en-US" altLang="zh-CN" dirty="0"/>
              </a:p>
              <a:p>
                <a:endParaRPr lang="en-US" altLang="zh-CN" dirty="0">
                  <a:latin typeface="Cambria Math" panose="02040503050406030204" pitchFamily="18" charset="0"/>
                </a:endParaRPr>
              </a:p>
              <a:p>
                <a:endParaRPr lang="en-US" dirty="0" smtClean="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999" t="-1310" r="-555"/>
                </a:stretch>
              </a:blipFill>
            </p:spPr>
            <p:txBody>
              <a:bodyPr/>
              <a:lstStyle/>
              <a:p>
                <a:r>
                  <a:rPr lang="zh-CN" altLang="en-US">
                    <a:noFill/>
                  </a:rPr>
                  <a:t> </a:t>
                </a:r>
              </a:p>
            </p:txBody>
          </p:sp>
        </mc:Fallback>
      </mc:AlternateContent>
      <p:sp>
        <p:nvSpPr>
          <p:cNvPr id="8" name="日期占位符 7"/>
          <p:cNvSpPr>
            <a:spLocks noGrp="1"/>
          </p:cNvSpPr>
          <p:nvPr>
            <p:ph type="dt" sz="half" idx="10"/>
          </p:nvPr>
        </p:nvSpPr>
        <p:spPr/>
        <p:txBody>
          <a:bodyPr/>
          <a:lstStyle/>
          <a:p>
            <a:fld id="{42A65800-9CDF-4D1A-A9C9-15641D5E6B7A}" type="datetime1">
              <a:rPr lang="zh-CN" altLang="en-US" smtClean="0"/>
              <a:t>2025/3/14</a:t>
            </a:fld>
            <a:endParaRPr lang="zh-CN" altLang="en-US" dirty="0"/>
          </a:p>
        </p:txBody>
      </p:sp>
      <p:sp>
        <p:nvSpPr>
          <p:cNvPr id="9" name="页脚占位符 8"/>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10" name="灯片编号占位符 9"/>
          <p:cNvSpPr>
            <a:spLocks noGrp="1"/>
          </p:cNvSpPr>
          <p:nvPr>
            <p:ph type="sldNum" sz="quarter" idx="12"/>
          </p:nvPr>
        </p:nvSpPr>
        <p:spPr/>
        <p:txBody>
          <a:bodyPr/>
          <a:lstStyle/>
          <a:p>
            <a:fld id="{67913A8A-9EFB-4B5F-9CCB-3D21173FAA85}" type="slidenum">
              <a:rPr lang="zh-CN" altLang="en-US" smtClean="0"/>
              <a:pPr/>
              <a:t>18</a:t>
            </a:fld>
            <a:endParaRPr lang="zh-CN" altLang="en-US" dirty="0"/>
          </a:p>
        </p:txBody>
      </p:sp>
    </p:spTree>
    <p:extLst>
      <p:ext uri="{BB962C8B-B14F-4D97-AF65-F5344CB8AC3E}">
        <p14:creationId xmlns:p14="http://schemas.microsoft.com/office/powerpoint/2010/main" val="12920677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Effect transition="in" filter="wipe(down)">
                                      <p:cBhvr>
                                        <p:cTn id="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smtClean="0"/>
              <a:t>关系的组合</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Autofit/>
              </a:bodyPr>
              <a:lstStyle/>
              <a:p>
                <a:r>
                  <a:rPr lang="zh-CN" altLang="en-US" dirty="0" smtClean="0"/>
                  <a:t>给定两个关系</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𝑅</m:t>
                        </m:r>
                      </m:e>
                      <m:sub>
                        <m:r>
                          <a:rPr lang="en-US" altLang="zh-CN" i="1">
                            <a:latin typeface="Cambria Math" panose="02040503050406030204" pitchFamily="18" charset="0"/>
                          </a:rPr>
                          <m:t>1</m:t>
                        </m:r>
                      </m:sub>
                    </m:sSub>
                  </m:oMath>
                </a14:m>
                <a:r>
                  <a:rPr lang="en-US" altLang="zh-CN" dirty="0" smtClean="0"/>
                  <a:t>,</a:t>
                </a:r>
                <a:r>
                  <a:rPr lang="en-US" altLang="zh-CN" dirty="0"/>
                  <a:t>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𝑅</m:t>
                        </m:r>
                      </m:e>
                      <m:sub>
                        <m:r>
                          <a:rPr lang="en-US" altLang="zh-CN" i="1">
                            <a:latin typeface="Cambria Math" panose="02040503050406030204" pitchFamily="18" charset="0"/>
                          </a:rPr>
                          <m:t>2</m:t>
                        </m:r>
                      </m:sub>
                    </m:sSub>
                  </m:oMath>
                </a14:m>
                <a:r>
                  <a:rPr lang="en-US" dirty="0" smtClean="0"/>
                  <a:t>, </a:t>
                </a:r>
                <a:r>
                  <a:rPr lang="zh-CN" altLang="en-US" dirty="0" smtClean="0"/>
                  <a:t>我们可以用基本的集合操作来组合成新的关系</a:t>
                </a:r>
                <a:r>
                  <a:rPr lang="en-US" altLang="zh-CN" dirty="0" smtClean="0"/>
                  <a:t>,</a:t>
                </a:r>
                <a:r>
                  <a:rPr lang="zh-CN" altLang="en-US" dirty="0" smtClean="0"/>
                  <a:t>例如</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𝑅</m:t>
                        </m:r>
                      </m:e>
                      <m:sub>
                        <m:r>
                          <a:rPr lang="en-US" altLang="zh-CN" i="1">
                            <a:latin typeface="Cambria Math" panose="02040503050406030204" pitchFamily="18" charset="0"/>
                          </a:rPr>
                          <m:t>1</m:t>
                        </m:r>
                      </m:sub>
                    </m:sSub>
                  </m:oMath>
                </a14:m>
                <a:r>
                  <a:rPr lang="en-US" dirty="0" smtClean="0"/>
                  <a:t>∪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𝑅</m:t>
                        </m:r>
                      </m:e>
                      <m:sub>
                        <m:r>
                          <a:rPr lang="en-US" altLang="zh-CN" i="1">
                            <a:latin typeface="Cambria Math" panose="02040503050406030204" pitchFamily="18" charset="0"/>
                          </a:rPr>
                          <m:t>2</m:t>
                        </m:r>
                      </m:sub>
                    </m:sSub>
                  </m:oMath>
                </a14:m>
                <a:r>
                  <a:rPr lang="en-US" dirty="0" smtClean="0"/>
                  <a:t>,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𝑅</m:t>
                        </m:r>
                      </m:e>
                      <m:sub>
                        <m:r>
                          <a:rPr lang="en-US" altLang="zh-CN" i="1">
                            <a:latin typeface="Cambria Math" panose="02040503050406030204" pitchFamily="18" charset="0"/>
                          </a:rPr>
                          <m:t>1</m:t>
                        </m:r>
                      </m:sub>
                    </m:sSub>
                  </m:oMath>
                </a14:m>
                <a:r>
                  <a:rPr lang="en-US" dirty="0" smtClean="0"/>
                  <a:t>∩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𝑅</m:t>
                        </m:r>
                      </m:e>
                      <m:sub>
                        <m:r>
                          <a:rPr lang="en-US" altLang="zh-CN" i="1">
                            <a:latin typeface="Cambria Math" panose="02040503050406030204" pitchFamily="18" charset="0"/>
                          </a:rPr>
                          <m:t>2</m:t>
                        </m:r>
                      </m:sub>
                    </m:sSub>
                  </m:oMath>
                </a14:m>
                <a:r>
                  <a:rPr lang="en-US" dirty="0" smtClean="0"/>
                  <a:t>,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𝑅</m:t>
                        </m:r>
                      </m:e>
                      <m:sub>
                        <m:r>
                          <a:rPr lang="en-US" altLang="zh-CN" i="1">
                            <a:latin typeface="Cambria Math" panose="02040503050406030204" pitchFamily="18" charset="0"/>
                          </a:rPr>
                          <m:t>1</m:t>
                        </m:r>
                      </m:sub>
                    </m:sSub>
                  </m:oMath>
                </a14:m>
                <a:r>
                  <a:rPr lang="en-US" dirty="0" smtClean="0"/>
                  <a:t> −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𝑅</m:t>
                        </m:r>
                      </m:e>
                      <m:sub>
                        <m:r>
                          <a:rPr lang="en-US" altLang="zh-CN" i="1">
                            <a:latin typeface="Cambria Math" panose="02040503050406030204" pitchFamily="18" charset="0"/>
                          </a:rPr>
                          <m:t>2</m:t>
                        </m:r>
                      </m:sub>
                    </m:sSub>
                  </m:oMath>
                </a14:m>
                <a:r>
                  <a:rPr lang="en-US" dirty="0" smtClean="0"/>
                  <a:t>,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𝑅</m:t>
                        </m:r>
                      </m:e>
                      <m:sub>
                        <m:r>
                          <a:rPr lang="en-US" altLang="zh-CN" i="1">
                            <a:latin typeface="Cambria Math" panose="02040503050406030204" pitchFamily="18" charset="0"/>
                          </a:rPr>
                          <m:t>2</m:t>
                        </m:r>
                      </m:sub>
                    </m:sSub>
                  </m:oMath>
                </a14:m>
                <a:r>
                  <a:rPr lang="en-US" dirty="0" smtClean="0"/>
                  <a:t> −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𝑅</m:t>
                        </m:r>
                      </m:e>
                      <m:sub>
                        <m:r>
                          <a:rPr lang="en-US" altLang="zh-CN" i="1">
                            <a:latin typeface="Cambria Math" panose="02040503050406030204" pitchFamily="18" charset="0"/>
                          </a:rPr>
                          <m:t>1</m:t>
                        </m:r>
                      </m:sub>
                    </m:sSub>
                  </m:oMath>
                </a14:m>
                <a:r>
                  <a:rPr lang="en-US" dirty="0" smtClean="0"/>
                  <a:t>.</a:t>
                </a:r>
              </a:p>
              <a:p>
                <a:endParaRPr lang="en-US" dirty="0" smtClean="0"/>
              </a:p>
              <a:p>
                <a:r>
                  <a:rPr lang="zh-CN" altLang="en-US" dirty="0" smtClean="0"/>
                  <a:t>例</a:t>
                </a:r>
                <a:r>
                  <a:rPr lang="en-US" dirty="0" smtClean="0"/>
                  <a:t>: </a:t>
                </a:r>
                <a:r>
                  <a:rPr lang="zh-CN" altLang="en-US" dirty="0" smtClean="0"/>
                  <a:t>令</a:t>
                </a:r>
                <a:r>
                  <a:rPr lang="en-US" dirty="0" smtClean="0"/>
                  <a:t>A = {1,2,3} </a:t>
                </a:r>
                <a:r>
                  <a:rPr lang="en-US" altLang="zh-CN" dirty="0" smtClean="0"/>
                  <a:t>,</a:t>
                </a:r>
                <a:r>
                  <a:rPr lang="en-US" dirty="0" smtClean="0"/>
                  <a:t> B = {1,2,3,4}. </a:t>
                </a:r>
                <a:r>
                  <a:rPr lang="zh-CN" altLang="en-US" dirty="0" smtClean="0"/>
                  <a:t>关系</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𝑅</m:t>
                        </m:r>
                      </m:e>
                      <m:sub>
                        <m:r>
                          <a:rPr lang="en-US" altLang="zh-CN" i="1">
                            <a:latin typeface="Cambria Math" panose="02040503050406030204" pitchFamily="18" charset="0"/>
                          </a:rPr>
                          <m:t>1</m:t>
                        </m:r>
                      </m:sub>
                    </m:sSub>
                  </m:oMath>
                </a14:m>
                <a:r>
                  <a:rPr lang="en-US" dirty="0" smtClean="0"/>
                  <a:t> = {(1,1),(2,2),(3,3)} </a:t>
                </a:r>
                <a:r>
                  <a:rPr lang="en-US" altLang="zh-CN" dirty="0" smtClean="0"/>
                  <a:t>,</a:t>
                </a:r>
                <a:r>
                  <a:rPr lang="en-US" dirty="0" smtClean="0"/>
                  <a:t> </a:t>
                </a:r>
                <a:r>
                  <a:rPr lang="zh-CN" altLang="en-US" dirty="0" smtClean="0"/>
                  <a:t>关系</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𝑅</m:t>
                        </m:r>
                      </m:e>
                      <m:sub>
                        <m:r>
                          <a:rPr lang="en-US" altLang="zh-CN" i="1">
                            <a:latin typeface="Cambria Math" panose="02040503050406030204" pitchFamily="18" charset="0"/>
                          </a:rPr>
                          <m:t>2</m:t>
                        </m:r>
                      </m:sub>
                    </m:sSub>
                  </m:oMath>
                </a14:m>
                <a:r>
                  <a:rPr lang="en-US" dirty="0" smtClean="0"/>
                  <a:t> = {(1,1),(1,2),(1,3),(1,4)}</a:t>
                </a:r>
                <a:r>
                  <a:rPr lang="en-US" altLang="zh-CN" dirty="0" smtClean="0"/>
                  <a:t>, </a:t>
                </a:r>
                <a:r>
                  <a:rPr lang="zh-CN" altLang="en-US" dirty="0" smtClean="0"/>
                  <a:t>那么</a:t>
                </a:r>
                <a:r>
                  <a:rPr lang="en-US" altLang="zh-CN" dirty="0" smtClean="0"/>
                  <a:t>:</a:t>
                </a: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999" t="-1310" r="-721"/>
                </a:stretch>
              </a:blipFill>
            </p:spPr>
            <p:txBody>
              <a:bodyPr/>
              <a:lstStyle/>
              <a:p>
                <a:r>
                  <a:rPr lang="zh-CN" altLang="en-US">
                    <a:noFill/>
                  </a:rPr>
                  <a:t> </a:t>
                </a:r>
              </a:p>
            </p:txBody>
          </p:sp>
        </mc:Fallback>
      </mc:AlternateContent>
      <p:sp>
        <p:nvSpPr>
          <p:cNvPr id="8" name="TextBox 7"/>
          <p:cNvSpPr txBox="1"/>
          <p:nvPr/>
        </p:nvSpPr>
        <p:spPr>
          <a:xfrm>
            <a:off x="974387" y="3651185"/>
            <a:ext cx="7086600" cy="523220"/>
          </a:xfrm>
          <a:prstGeom prst="rect">
            <a:avLst/>
          </a:prstGeom>
          <a:noFill/>
        </p:spPr>
        <p:txBody>
          <a:bodyPr wrap="square" rtlCol="0">
            <a:spAutoFit/>
          </a:bodyPr>
          <a:lstStyle/>
          <a:p>
            <a:r>
              <a:rPr lang="en-US" sz="2800" i="1" dirty="0"/>
              <a:t>R</a:t>
            </a:r>
            <a:r>
              <a:rPr lang="en-US" sz="2800" baseline="-25000" dirty="0">
                <a:latin typeface="Cambria Math" pitchFamily="18" charset="0"/>
                <a:ea typeface="Cambria Math" pitchFamily="18" charset="0"/>
              </a:rPr>
              <a:t>1</a:t>
            </a:r>
            <a:r>
              <a:rPr lang="en-US" sz="2800" dirty="0"/>
              <a:t> </a:t>
            </a:r>
            <a:r>
              <a:rPr lang="en-US" sz="2800" dirty="0">
                <a:latin typeface="Cambria Math"/>
                <a:ea typeface="Cambria Math"/>
              </a:rPr>
              <a:t>∪</a:t>
            </a:r>
            <a:r>
              <a:rPr lang="en-US" sz="2800" dirty="0"/>
              <a:t> </a:t>
            </a:r>
            <a:r>
              <a:rPr lang="en-US" sz="2800" i="1" dirty="0"/>
              <a:t>R</a:t>
            </a:r>
            <a:r>
              <a:rPr lang="en-US" sz="2800" baseline="-25000" dirty="0">
                <a:latin typeface="Cambria Math" pitchFamily="18" charset="0"/>
                <a:ea typeface="Cambria Math" pitchFamily="18" charset="0"/>
              </a:rPr>
              <a:t>2 </a:t>
            </a:r>
            <a:r>
              <a:rPr lang="en-US" sz="2800" dirty="0" smtClean="0"/>
              <a:t>={(</a:t>
            </a:r>
            <a:r>
              <a:rPr lang="en-US" sz="2800" dirty="0" smtClean="0">
                <a:latin typeface="Cambria Math" pitchFamily="18" charset="0"/>
                <a:ea typeface="Cambria Math" pitchFamily="18" charset="0"/>
              </a:rPr>
              <a:t>1,1</a:t>
            </a:r>
            <a:r>
              <a:rPr lang="en-US" sz="2800" dirty="0" smtClean="0"/>
              <a:t>),(</a:t>
            </a:r>
            <a:r>
              <a:rPr lang="en-US" sz="2800" dirty="0" smtClean="0">
                <a:latin typeface="Cambria Math" pitchFamily="18" charset="0"/>
                <a:ea typeface="Cambria Math" pitchFamily="18" charset="0"/>
              </a:rPr>
              <a:t>1,2</a:t>
            </a:r>
            <a:r>
              <a:rPr lang="en-US" sz="2800" dirty="0" smtClean="0"/>
              <a:t>),(</a:t>
            </a:r>
            <a:r>
              <a:rPr lang="en-US" sz="2800" dirty="0" smtClean="0">
                <a:latin typeface="Cambria Math" pitchFamily="18" charset="0"/>
                <a:ea typeface="Cambria Math" pitchFamily="18" charset="0"/>
              </a:rPr>
              <a:t>1,3</a:t>
            </a:r>
            <a:r>
              <a:rPr lang="en-US" sz="2800" dirty="0" smtClean="0"/>
              <a:t>),(</a:t>
            </a:r>
            <a:r>
              <a:rPr lang="en-US" sz="2800" dirty="0" smtClean="0">
                <a:latin typeface="Cambria Math" pitchFamily="18" charset="0"/>
                <a:ea typeface="Cambria Math" pitchFamily="18" charset="0"/>
              </a:rPr>
              <a:t>1,4</a:t>
            </a:r>
            <a:r>
              <a:rPr lang="en-US" sz="2800" dirty="0" smtClean="0"/>
              <a:t>),(</a:t>
            </a:r>
            <a:r>
              <a:rPr lang="en-US" sz="2800" dirty="0" smtClean="0">
                <a:latin typeface="Cambria Math" pitchFamily="18" charset="0"/>
                <a:ea typeface="Cambria Math" pitchFamily="18" charset="0"/>
              </a:rPr>
              <a:t>2,2</a:t>
            </a:r>
            <a:r>
              <a:rPr lang="en-US" sz="2800" dirty="0" smtClean="0"/>
              <a:t>),(</a:t>
            </a:r>
            <a:r>
              <a:rPr lang="en-US" sz="2800" dirty="0" smtClean="0">
                <a:latin typeface="Cambria Math" pitchFamily="18" charset="0"/>
                <a:ea typeface="Cambria Math" pitchFamily="18" charset="0"/>
              </a:rPr>
              <a:t>3,3</a:t>
            </a:r>
            <a:r>
              <a:rPr lang="en-US" sz="2800" dirty="0" smtClean="0"/>
              <a:t>)} </a:t>
            </a:r>
            <a:endParaRPr lang="en-US" sz="2800" dirty="0"/>
          </a:p>
        </p:txBody>
      </p:sp>
      <p:sp>
        <p:nvSpPr>
          <p:cNvPr id="9" name="TextBox 8"/>
          <p:cNvSpPr txBox="1"/>
          <p:nvPr/>
        </p:nvSpPr>
        <p:spPr>
          <a:xfrm>
            <a:off x="974387" y="4174405"/>
            <a:ext cx="2590800" cy="523220"/>
          </a:xfrm>
          <a:prstGeom prst="rect">
            <a:avLst/>
          </a:prstGeom>
          <a:noFill/>
        </p:spPr>
        <p:txBody>
          <a:bodyPr wrap="square" rtlCol="0">
            <a:spAutoFit/>
          </a:bodyPr>
          <a:lstStyle/>
          <a:p>
            <a:r>
              <a:rPr lang="en-US" sz="2800" i="1" dirty="0"/>
              <a:t>R</a:t>
            </a:r>
            <a:r>
              <a:rPr lang="en-US" sz="2800" baseline="-25000" dirty="0">
                <a:latin typeface="Cambria Math" pitchFamily="18" charset="0"/>
                <a:ea typeface="Cambria Math" pitchFamily="18" charset="0"/>
              </a:rPr>
              <a:t>1</a:t>
            </a:r>
            <a:r>
              <a:rPr lang="en-US" sz="2800" dirty="0"/>
              <a:t> </a:t>
            </a:r>
            <a:r>
              <a:rPr lang="en-US" sz="2800" dirty="0">
                <a:latin typeface="Cambria Math"/>
                <a:ea typeface="Cambria Math"/>
              </a:rPr>
              <a:t>∩</a:t>
            </a:r>
            <a:r>
              <a:rPr lang="en-US" sz="2800" dirty="0"/>
              <a:t> </a:t>
            </a:r>
            <a:r>
              <a:rPr lang="en-US" sz="2800" i="1" dirty="0"/>
              <a:t>R</a:t>
            </a:r>
            <a:r>
              <a:rPr lang="en-US" sz="2800" baseline="-25000" dirty="0">
                <a:latin typeface="Cambria Math" pitchFamily="18" charset="0"/>
                <a:ea typeface="Cambria Math" pitchFamily="18" charset="0"/>
              </a:rPr>
              <a:t>2 </a:t>
            </a:r>
            <a:r>
              <a:rPr lang="en-US" sz="2800" dirty="0" smtClean="0"/>
              <a:t>={(</a:t>
            </a:r>
            <a:r>
              <a:rPr lang="en-US" sz="2800" dirty="0" smtClean="0">
                <a:latin typeface="Cambria Math" pitchFamily="18" charset="0"/>
                <a:ea typeface="Cambria Math" pitchFamily="18" charset="0"/>
              </a:rPr>
              <a:t>1,1</a:t>
            </a:r>
            <a:r>
              <a:rPr lang="en-US" sz="2800" dirty="0" smtClean="0"/>
              <a:t>)} </a:t>
            </a:r>
            <a:endParaRPr lang="en-US" sz="2800" dirty="0"/>
          </a:p>
        </p:txBody>
      </p:sp>
      <p:sp>
        <p:nvSpPr>
          <p:cNvPr id="10" name="TextBox 9"/>
          <p:cNvSpPr txBox="1"/>
          <p:nvPr/>
        </p:nvSpPr>
        <p:spPr>
          <a:xfrm>
            <a:off x="974387" y="4636257"/>
            <a:ext cx="3733800" cy="523220"/>
          </a:xfrm>
          <a:prstGeom prst="rect">
            <a:avLst/>
          </a:prstGeom>
          <a:noFill/>
        </p:spPr>
        <p:txBody>
          <a:bodyPr wrap="square" rtlCol="0">
            <a:spAutoFit/>
          </a:bodyPr>
          <a:lstStyle/>
          <a:p>
            <a:r>
              <a:rPr lang="en-US" sz="2800" i="1" dirty="0"/>
              <a:t>R</a:t>
            </a:r>
            <a:r>
              <a:rPr lang="en-US" sz="2800" baseline="-25000" dirty="0">
                <a:latin typeface="Cambria Math" pitchFamily="18" charset="0"/>
                <a:ea typeface="Cambria Math" pitchFamily="18" charset="0"/>
              </a:rPr>
              <a:t>1</a:t>
            </a:r>
            <a:r>
              <a:rPr lang="en-US" sz="2800" dirty="0"/>
              <a:t> </a:t>
            </a:r>
            <a:r>
              <a:rPr lang="en-US" sz="2800" dirty="0">
                <a:latin typeface="Cambria Math"/>
                <a:ea typeface="Cambria Math"/>
              </a:rPr>
              <a:t>− </a:t>
            </a:r>
            <a:r>
              <a:rPr lang="en-US" sz="2800" i="1" dirty="0"/>
              <a:t>R</a:t>
            </a:r>
            <a:r>
              <a:rPr lang="en-US" sz="2800" baseline="-25000" dirty="0">
                <a:latin typeface="Cambria Math" pitchFamily="18" charset="0"/>
                <a:ea typeface="Cambria Math" pitchFamily="18" charset="0"/>
              </a:rPr>
              <a:t>2 </a:t>
            </a:r>
            <a:r>
              <a:rPr lang="en-US" sz="2800" dirty="0" smtClean="0"/>
              <a:t>={(</a:t>
            </a:r>
            <a:r>
              <a:rPr lang="en-US" sz="2800" dirty="0" smtClean="0">
                <a:latin typeface="Cambria Math" pitchFamily="18" charset="0"/>
                <a:ea typeface="Cambria Math" pitchFamily="18" charset="0"/>
              </a:rPr>
              <a:t>2,2</a:t>
            </a:r>
            <a:r>
              <a:rPr lang="en-US" sz="2800" dirty="0" smtClean="0"/>
              <a:t>),(</a:t>
            </a:r>
            <a:r>
              <a:rPr lang="en-US" sz="2800" dirty="0" smtClean="0">
                <a:latin typeface="Cambria Math" pitchFamily="18" charset="0"/>
                <a:ea typeface="Cambria Math" pitchFamily="18" charset="0"/>
              </a:rPr>
              <a:t>3,3</a:t>
            </a:r>
            <a:r>
              <a:rPr lang="en-US" sz="2800" dirty="0" smtClean="0"/>
              <a:t>)} </a:t>
            </a:r>
            <a:endParaRPr lang="en-US" sz="2800" dirty="0"/>
          </a:p>
        </p:txBody>
      </p:sp>
      <p:sp>
        <p:nvSpPr>
          <p:cNvPr id="11" name="TextBox 10"/>
          <p:cNvSpPr txBox="1"/>
          <p:nvPr/>
        </p:nvSpPr>
        <p:spPr>
          <a:xfrm>
            <a:off x="974387" y="5220845"/>
            <a:ext cx="6019800" cy="523220"/>
          </a:xfrm>
          <a:prstGeom prst="rect">
            <a:avLst/>
          </a:prstGeom>
          <a:noFill/>
        </p:spPr>
        <p:txBody>
          <a:bodyPr wrap="square" rtlCol="0">
            <a:spAutoFit/>
          </a:bodyPr>
          <a:lstStyle/>
          <a:p>
            <a:r>
              <a:rPr lang="en-US" sz="2800" i="1" dirty="0"/>
              <a:t>R</a:t>
            </a:r>
            <a:r>
              <a:rPr lang="en-US" sz="2800" baseline="-25000" dirty="0">
                <a:latin typeface="Cambria Math" pitchFamily="18" charset="0"/>
                <a:ea typeface="Cambria Math" pitchFamily="18" charset="0"/>
              </a:rPr>
              <a:t>2</a:t>
            </a:r>
            <a:r>
              <a:rPr lang="en-US" sz="2800" dirty="0"/>
              <a:t> </a:t>
            </a:r>
            <a:r>
              <a:rPr lang="en-US" sz="2800" dirty="0">
                <a:latin typeface="Cambria Math"/>
                <a:ea typeface="Cambria Math"/>
              </a:rPr>
              <a:t>−</a:t>
            </a:r>
            <a:r>
              <a:rPr lang="en-US" sz="2800" dirty="0"/>
              <a:t> </a:t>
            </a:r>
            <a:r>
              <a:rPr lang="en-US" sz="2800" i="1" dirty="0"/>
              <a:t>R</a:t>
            </a:r>
            <a:r>
              <a:rPr lang="en-US" sz="2800" baseline="-25000" dirty="0">
                <a:latin typeface="Cambria Math" pitchFamily="18" charset="0"/>
                <a:ea typeface="Cambria Math" pitchFamily="18" charset="0"/>
              </a:rPr>
              <a:t>1 </a:t>
            </a:r>
            <a:r>
              <a:rPr lang="en-US" sz="2800" dirty="0" smtClean="0"/>
              <a:t>={(</a:t>
            </a:r>
            <a:r>
              <a:rPr lang="en-US" sz="2800" dirty="0" smtClean="0">
                <a:latin typeface="Cambria Math" pitchFamily="18" charset="0"/>
                <a:ea typeface="Cambria Math" pitchFamily="18" charset="0"/>
              </a:rPr>
              <a:t>1,2</a:t>
            </a:r>
            <a:r>
              <a:rPr lang="en-US" sz="2800" dirty="0" smtClean="0"/>
              <a:t>),(</a:t>
            </a:r>
            <a:r>
              <a:rPr lang="en-US" sz="2800" dirty="0" smtClean="0">
                <a:latin typeface="Cambria Math" pitchFamily="18" charset="0"/>
                <a:ea typeface="Cambria Math" pitchFamily="18" charset="0"/>
              </a:rPr>
              <a:t>1,3</a:t>
            </a:r>
            <a:r>
              <a:rPr lang="en-US" sz="2800" dirty="0" smtClean="0"/>
              <a:t>),(</a:t>
            </a:r>
            <a:r>
              <a:rPr lang="en-US" sz="2800" dirty="0" smtClean="0">
                <a:latin typeface="Cambria Math" pitchFamily="18" charset="0"/>
                <a:ea typeface="Cambria Math" pitchFamily="18" charset="0"/>
              </a:rPr>
              <a:t>1,4</a:t>
            </a:r>
            <a:r>
              <a:rPr lang="en-US" sz="2800" dirty="0" smtClean="0"/>
              <a:t>)} </a:t>
            </a:r>
            <a:endParaRPr lang="en-US" sz="2800" dirty="0"/>
          </a:p>
        </p:txBody>
      </p:sp>
      <p:sp>
        <p:nvSpPr>
          <p:cNvPr id="6" name="日期占位符 5"/>
          <p:cNvSpPr>
            <a:spLocks noGrp="1"/>
          </p:cNvSpPr>
          <p:nvPr>
            <p:ph type="dt" sz="half" idx="10"/>
          </p:nvPr>
        </p:nvSpPr>
        <p:spPr/>
        <p:txBody>
          <a:bodyPr/>
          <a:lstStyle/>
          <a:p>
            <a:fld id="{A403E46C-4914-4119-B69A-C56D4B1682A9}" type="datetime1">
              <a:rPr lang="zh-CN" altLang="en-US" smtClean="0"/>
              <a:t>2025/3/14</a:t>
            </a:fld>
            <a:endParaRPr lang="zh-CN" altLang="en-US" dirty="0"/>
          </a:p>
        </p:txBody>
      </p:sp>
      <p:sp>
        <p:nvSpPr>
          <p:cNvPr id="7" name="页脚占位符 6"/>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12" name="灯片编号占位符 11"/>
          <p:cNvSpPr>
            <a:spLocks noGrp="1"/>
          </p:cNvSpPr>
          <p:nvPr>
            <p:ph type="sldNum" sz="quarter" idx="12"/>
          </p:nvPr>
        </p:nvSpPr>
        <p:spPr/>
        <p:txBody>
          <a:bodyPr/>
          <a:lstStyle/>
          <a:p>
            <a:fld id="{67913A8A-9EFB-4B5F-9CCB-3D21173FAA85}" type="slidenum">
              <a:rPr lang="zh-CN" altLang="en-US" smtClean="0"/>
              <a:pPr/>
              <a:t>19</a:t>
            </a:fld>
            <a:endParaRPr lang="zh-CN" altLang="en-US"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457200" y="1143000"/>
            <a:ext cx="11277599" cy="1752600"/>
          </a:xfrm>
          <a:prstGeom prst="rect">
            <a:avLst/>
          </a:prstGeom>
          <a:solidFill>
            <a:schemeClr val="accent5">
              <a:lumMod val="40000"/>
              <a:lumOff val="6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itle 1"/>
          <p:cNvSpPr>
            <a:spLocks noGrp="1"/>
          </p:cNvSpPr>
          <p:nvPr>
            <p:ph type="title"/>
          </p:nvPr>
        </p:nvSpPr>
        <p:spPr/>
        <p:txBody>
          <a:bodyPr/>
          <a:lstStyle/>
          <a:p>
            <a:r>
              <a:rPr lang="zh-CN" altLang="en-US" dirty="0"/>
              <a:t>关系的组合</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zh-CN" altLang="en-US" dirty="0" smtClean="0"/>
                  <a:t>定义</a:t>
                </a:r>
                <a:r>
                  <a:rPr lang="en-US" altLang="zh-CN" dirty="0" smtClean="0"/>
                  <a:t>: </a:t>
                </a:r>
                <a:r>
                  <a:rPr lang="zh-CN" altLang="en-US" dirty="0" smtClean="0"/>
                  <a:t>设</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𝑅</m:t>
                        </m:r>
                      </m:e>
                      <m:sub>
                        <m:r>
                          <a:rPr lang="en-US" altLang="zh-CN" i="1">
                            <a:latin typeface="Cambria Math" panose="02040503050406030204" pitchFamily="18" charset="0"/>
                          </a:rPr>
                          <m:t>1</m:t>
                        </m:r>
                      </m:sub>
                    </m:sSub>
                  </m:oMath>
                </a14:m>
                <a:r>
                  <a:rPr lang="zh-CN" altLang="en-US" dirty="0" smtClean="0"/>
                  <a:t>是集合</a:t>
                </a:r>
                <a:r>
                  <a:rPr lang="en-US" altLang="zh-CN" dirty="0" smtClean="0"/>
                  <a:t>A</a:t>
                </a:r>
                <a:r>
                  <a:rPr lang="zh-CN" altLang="en-US" dirty="0" smtClean="0"/>
                  <a:t>到集合</a:t>
                </a:r>
                <a:r>
                  <a:rPr lang="en-US" altLang="zh-CN" dirty="0" smtClean="0"/>
                  <a:t>B</a:t>
                </a:r>
                <a:r>
                  <a:rPr lang="zh-CN" altLang="en-US" dirty="0" smtClean="0"/>
                  <a:t>的关系</a:t>
                </a:r>
                <a:r>
                  <a:rPr lang="en-US" altLang="zh-CN" dirty="0" smtClean="0"/>
                  <a:t>,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𝑅</m:t>
                        </m:r>
                      </m:e>
                      <m:sub>
                        <m:r>
                          <a:rPr lang="en-US" altLang="zh-CN" i="1">
                            <a:latin typeface="Cambria Math" panose="02040503050406030204" pitchFamily="18" charset="0"/>
                          </a:rPr>
                          <m:t>2</m:t>
                        </m:r>
                      </m:sub>
                    </m:sSub>
                  </m:oMath>
                </a14:m>
                <a:r>
                  <a:rPr lang="zh-CN" altLang="en-US" dirty="0" smtClean="0"/>
                  <a:t>是集合</a:t>
                </a:r>
                <a:r>
                  <a:rPr lang="en-US" altLang="zh-CN" dirty="0" smtClean="0"/>
                  <a:t>B</a:t>
                </a:r>
                <a:r>
                  <a:rPr lang="zh-CN" altLang="en-US" dirty="0" smtClean="0"/>
                  <a:t>到集合</a:t>
                </a:r>
                <a:r>
                  <a:rPr lang="en-US" altLang="zh-CN" dirty="0" smtClean="0"/>
                  <a:t>C</a:t>
                </a:r>
                <a:r>
                  <a:rPr lang="zh-CN" altLang="en-US" dirty="0" smtClean="0"/>
                  <a:t>的关系</a:t>
                </a:r>
                <a:r>
                  <a:rPr lang="en-US" altLang="zh-CN" dirty="0" smtClean="0"/>
                  <a:t>.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𝑅</m:t>
                        </m:r>
                      </m:e>
                      <m:sub>
                        <m:r>
                          <a:rPr lang="en-US" altLang="zh-CN" i="1">
                            <a:latin typeface="Cambria Math" panose="02040503050406030204" pitchFamily="18" charset="0"/>
                          </a:rPr>
                          <m:t>1</m:t>
                        </m:r>
                      </m:sub>
                    </m:sSub>
                  </m:oMath>
                </a14:m>
                <a:r>
                  <a:rPr lang="zh-CN" altLang="en-US" dirty="0" smtClean="0"/>
                  <a:t>和</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𝑅</m:t>
                        </m:r>
                      </m:e>
                      <m:sub>
                        <m:r>
                          <a:rPr lang="en-US" altLang="zh-CN" i="1">
                            <a:latin typeface="Cambria Math" panose="02040503050406030204" pitchFamily="18" charset="0"/>
                          </a:rPr>
                          <m:t>2</m:t>
                        </m:r>
                      </m:sub>
                    </m:sSub>
                  </m:oMath>
                </a14:m>
                <a:r>
                  <a:rPr lang="zh-CN" altLang="en-US" dirty="0" smtClean="0"/>
                  <a:t>的</a:t>
                </a:r>
                <a:r>
                  <a:rPr lang="zh-CN" altLang="en-US" b="1" dirty="0" smtClean="0">
                    <a:solidFill>
                      <a:srgbClr val="C00000"/>
                    </a:solidFill>
                  </a:rPr>
                  <a:t>合成</a:t>
                </a:r>
                <a:r>
                  <a:rPr lang="zh-CN" altLang="en-US" dirty="0" smtClean="0"/>
                  <a:t>是由有序对</a:t>
                </a:r>
                <a:r>
                  <a:rPr lang="en-US" altLang="zh-CN" dirty="0" smtClean="0"/>
                  <a:t>(</a:t>
                </a:r>
                <a:r>
                  <a:rPr lang="en-US" altLang="zh-CN" dirty="0" err="1" smtClean="0"/>
                  <a:t>a,c</a:t>
                </a:r>
                <a:r>
                  <a:rPr lang="en-US" altLang="zh-CN" dirty="0" smtClean="0"/>
                  <a:t>)</a:t>
                </a:r>
                <a:r>
                  <a:rPr lang="zh-CN" altLang="en-US" dirty="0" smtClean="0"/>
                  <a:t>的集合构成的关系</a:t>
                </a:r>
                <a:r>
                  <a:rPr lang="en-US" altLang="zh-CN" dirty="0" smtClean="0"/>
                  <a:t>, </a:t>
                </a:r>
                <a:r>
                  <a:rPr lang="zh-CN" altLang="en-US" dirty="0" smtClean="0"/>
                  <a:t>其中</a:t>
                </a:r>
                <a:r>
                  <a:rPr lang="en-US" altLang="zh-CN" dirty="0" smtClean="0"/>
                  <a:t>a</a:t>
                </a:r>
                <a:r>
                  <a:rPr lang="en-US" altLang="zh-CN" dirty="0"/>
                  <a:t> ∊ </a:t>
                </a:r>
                <a:r>
                  <a:rPr lang="en-US" altLang="zh-CN" dirty="0" smtClean="0"/>
                  <a:t>A, c </a:t>
                </a:r>
                <a:r>
                  <a:rPr lang="en-US" altLang="zh-CN" dirty="0"/>
                  <a:t>∊ </a:t>
                </a:r>
                <a:r>
                  <a:rPr lang="en-US" altLang="zh-CN" dirty="0" smtClean="0"/>
                  <a:t>C, </a:t>
                </a:r>
                <a:r>
                  <a:rPr lang="zh-CN" altLang="en-US" dirty="0" smtClean="0"/>
                  <a:t>并且存在一个</a:t>
                </a:r>
                <a:r>
                  <a:rPr lang="en-US" altLang="zh-CN" dirty="0" smtClean="0"/>
                  <a:t>b</a:t>
                </a:r>
                <a:r>
                  <a:rPr lang="en-US" altLang="zh-CN" dirty="0"/>
                  <a:t> ∊ </a:t>
                </a:r>
                <a:r>
                  <a:rPr lang="en-US" altLang="zh-CN" dirty="0" smtClean="0"/>
                  <a:t>B</a:t>
                </a:r>
                <a:r>
                  <a:rPr lang="zh-CN" altLang="en-US" dirty="0" smtClean="0"/>
                  <a:t>的元素</a:t>
                </a:r>
                <a:r>
                  <a:rPr lang="en-US" altLang="zh-CN" dirty="0" smtClean="0"/>
                  <a:t>, </a:t>
                </a:r>
                <a:r>
                  <a:rPr lang="zh-CN" altLang="en-US" dirty="0" smtClean="0"/>
                  <a:t>使得</a:t>
                </a:r>
                <a:r>
                  <a:rPr lang="en-US" altLang="zh-CN" dirty="0" smtClean="0"/>
                  <a:t>(</a:t>
                </a:r>
                <a:r>
                  <a:rPr lang="en-US" altLang="zh-CN" dirty="0" err="1" smtClean="0"/>
                  <a:t>a,b</a:t>
                </a:r>
                <a:r>
                  <a:rPr lang="en-US" altLang="zh-CN" dirty="0" smtClean="0"/>
                  <a:t>)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𝑅</m:t>
                        </m:r>
                      </m:e>
                      <m:sub>
                        <m:r>
                          <a:rPr lang="en-US" altLang="zh-CN" i="1">
                            <a:latin typeface="Cambria Math" panose="02040503050406030204" pitchFamily="18" charset="0"/>
                          </a:rPr>
                          <m:t>1</m:t>
                        </m:r>
                      </m:sub>
                    </m:sSub>
                  </m:oMath>
                </a14:m>
                <a:r>
                  <a:rPr lang="en-US" altLang="zh-CN" dirty="0" smtClean="0"/>
                  <a:t>, </a:t>
                </a:r>
                <a:r>
                  <a:rPr lang="zh-CN" altLang="en-US" dirty="0" smtClean="0"/>
                  <a:t>且</a:t>
                </a:r>
                <a:r>
                  <a:rPr lang="en-US" altLang="zh-CN" dirty="0" smtClean="0"/>
                  <a:t>(</a:t>
                </a:r>
                <a:r>
                  <a:rPr lang="en-US" altLang="zh-CN" dirty="0" err="1" smtClean="0"/>
                  <a:t>b,c</a:t>
                </a:r>
                <a:r>
                  <a:rPr lang="en-US" altLang="zh-CN" dirty="0" smtClean="0"/>
                  <a:t>)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𝑅</m:t>
                        </m:r>
                      </m:e>
                      <m:sub>
                        <m:r>
                          <a:rPr lang="en-US" altLang="zh-CN" i="1">
                            <a:latin typeface="Cambria Math" panose="02040503050406030204" pitchFamily="18" charset="0"/>
                          </a:rPr>
                          <m:t>2</m:t>
                        </m:r>
                      </m:sub>
                    </m:sSub>
                  </m:oMath>
                </a14:m>
                <a:r>
                  <a:rPr lang="en-US" altLang="zh-CN" dirty="0" smtClean="0"/>
                  <a:t>. </a:t>
                </a:r>
                <a:r>
                  <a:rPr lang="zh-CN" altLang="en-US" dirty="0" smtClean="0"/>
                  <a:t>我们用</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𝑅</m:t>
                        </m:r>
                      </m:e>
                      <m:sub>
                        <m:r>
                          <a:rPr lang="en-US" altLang="zh-CN" b="0" i="1" smtClean="0">
                            <a:latin typeface="Cambria Math" panose="02040503050406030204" pitchFamily="18" charset="0"/>
                          </a:rPr>
                          <m:t>1</m:t>
                        </m:r>
                      </m:sub>
                    </m:sSub>
                  </m:oMath>
                </a14:m>
                <a:r>
                  <a:rPr lang="en-US" altLang="zh-CN" dirty="0" smtClean="0"/>
                  <a:t>∘</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𝑅</m:t>
                        </m:r>
                      </m:e>
                      <m:sub>
                        <m:r>
                          <a:rPr lang="en-US" altLang="zh-CN" b="0" i="1" smtClean="0">
                            <a:latin typeface="Cambria Math" panose="02040503050406030204" pitchFamily="18" charset="0"/>
                          </a:rPr>
                          <m:t>2</m:t>
                        </m:r>
                      </m:sub>
                    </m:sSub>
                  </m:oMath>
                </a14:m>
                <a:r>
                  <a:rPr lang="zh-CN" altLang="en-US" dirty="0" smtClean="0"/>
                  <a:t>来表示</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𝑅</m:t>
                        </m:r>
                      </m:e>
                      <m:sub>
                        <m:r>
                          <a:rPr lang="en-US" altLang="zh-CN" i="1">
                            <a:latin typeface="Cambria Math" panose="02040503050406030204" pitchFamily="18" charset="0"/>
                          </a:rPr>
                          <m:t>1</m:t>
                        </m:r>
                      </m:sub>
                    </m:sSub>
                  </m:oMath>
                </a14:m>
                <a:r>
                  <a:rPr lang="zh-CN" altLang="en-US" dirty="0" smtClean="0"/>
                  <a:t>和</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𝑅</m:t>
                        </m:r>
                      </m:e>
                      <m:sub>
                        <m:r>
                          <a:rPr lang="en-US" altLang="zh-CN" i="1">
                            <a:latin typeface="Cambria Math" panose="02040503050406030204" pitchFamily="18" charset="0"/>
                          </a:rPr>
                          <m:t>2</m:t>
                        </m:r>
                      </m:sub>
                    </m:sSub>
                  </m:oMath>
                </a14:m>
                <a:r>
                  <a:rPr lang="zh-CN" altLang="en-US" dirty="0" smtClean="0"/>
                  <a:t>的合成</a:t>
                </a:r>
                <a:r>
                  <a:rPr lang="en-US" altLang="zh-CN" dirty="0" smtClean="0"/>
                  <a:t>.</a:t>
                </a:r>
              </a:p>
              <a:p>
                <a:r>
                  <a:rPr lang="zh-CN" altLang="en-US" dirty="0" smtClean="0"/>
                  <a:t>关系的合成类似于函数的合成运算</a:t>
                </a:r>
                <a:r>
                  <a:rPr lang="en-US" altLang="zh-CN" dirty="0" smtClean="0"/>
                  <a:t>.</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2"/>
                <a:stretch>
                  <a:fillRect l="-999" t="-1310" r="-943"/>
                </a:stretch>
              </a:blipFill>
            </p:spPr>
            <p:txBody>
              <a:bodyPr/>
              <a:lstStyle/>
              <a:p>
                <a:r>
                  <a:rPr lang="zh-CN" altLang="en-US">
                    <a:noFill/>
                  </a:rPr>
                  <a:t> </a:t>
                </a:r>
              </a:p>
            </p:txBody>
          </p:sp>
        </mc:Fallback>
      </mc:AlternateContent>
      <p:sp>
        <p:nvSpPr>
          <p:cNvPr id="6" name="日期占位符 5"/>
          <p:cNvSpPr>
            <a:spLocks noGrp="1"/>
          </p:cNvSpPr>
          <p:nvPr>
            <p:ph type="dt" sz="half" idx="10"/>
          </p:nvPr>
        </p:nvSpPr>
        <p:spPr/>
        <p:txBody>
          <a:bodyPr/>
          <a:lstStyle/>
          <a:p>
            <a:fld id="{50C0E22D-F91D-4163-B3A9-4BB5FCF604A7}" type="datetime1">
              <a:rPr lang="zh-CN" altLang="en-US" smtClean="0"/>
              <a:t>2025/3/14</a:t>
            </a:fld>
            <a:endParaRPr lang="zh-CN" altLang="en-US" dirty="0"/>
          </a:p>
        </p:txBody>
      </p:sp>
      <p:sp>
        <p:nvSpPr>
          <p:cNvPr id="7" name="页脚占位符 6"/>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8" name="灯片编号占位符 7"/>
          <p:cNvSpPr>
            <a:spLocks noGrp="1"/>
          </p:cNvSpPr>
          <p:nvPr>
            <p:ph type="sldNum" sz="quarter" idx="12"/>
          </p:nvPr>
        </p:nvSpPr>
        <p:spPr/>
        <p:txBody>
          <a:bodyPr/>
          <a:lstStyle/>
          <a:p>
            <a:fld id="{67913A8A-9EFB-4B5F-9CCB-3D21173FAA85}" type="slidenum">
              <a:rPr lang="zh-CN" altLang="en-US" smtClean="0"/>
              <a:pPr/>
              <a:t>20</a:t>
            </a:fld>
            <a:endParaRPr lang="zh-CN" altLang="en-US"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关系的组合</a:t>
            </a:r>
            <a:endParaRPr lang="en-US" dirty="0"/>
          </a:p>
        </p:txBody>
      </p:sp>
      <p:sp>
        <p:nvSpPr>
          <p:cNvPr id="4" name="Oval 3"/>
          <p:cNvSpPr/>
          <p:nvPr/>
        </p:nvSpPr>
        <p:spPr>
          <a:xfrm>
            <a:off x="3733800" y="2209800"/>
            <a:ext cx="4572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p:cNvSpPr/>
          <p:nvPr/>
        </p:nvSpPr>
        <p:spPr>
          <a:xfrm>
            <a:off x="3733800" y="3124200"/>
            <a:ext cx="4572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p:cNvSpPr/>
          <p:nvPr/>
        </p:nvSpPr>
        <p:spPr>
          <a:xfrm>
            <a:off x="3733800" y="4191000"/>
            <a:ext cx="4572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p:cNvSpPr txBox="1"/>
          <p:nvPr/>
        </p:nvSpPr>
        <p:spPr>
          <a:xfrm>
            <a:off x="2895600" y="2133600"/>
            <a:ext cx="381000" cy="523220"/>
          </a:xfrm>
          <a:prstGeom prst="rect">
            <a:avLst/>
          </a:prstGeom>
          <a:noFill/>
        </p:spPr>
        <p:txBody>
          <a:bodyPr wrap="square" rtlCol="0">
            <a:spAutoFit/>
          </a:bodyPr>
          <a:lstStyle/>
          <a:p>
            <a:r>
              <a:rPr lang="en-US" sz="2800" i="1" dirty="0"/>
              <a:t>a</a:t>
            </a:r>
          </a:p>
        </p:txBody>
      </p:sp>
      <p:sp>
        <p:nvSpPr>
          <p:cNvPr id="10" name="Oval 9"/>
          <p:cNvSpPr/>
          <p:nvPr/>
        </p:nvSpPr>
        <p:spPr>
          <a:xfrm>
            <a:off x="6019800" y="2057400"/>
            <a:ext cx="4572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p:cNvSpPr/>
          <p:nvPr/>
        </p:nvSpPr>
        <p:spPr>
          <a:xfrm>
            <a:off x="6096000" y="2895600"/>
            <a:ext cx="4572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p:cNvSpPr/>
          <p:nvPr/>
        </p:nvSpPr>
        <p:spPr>
          <a:xfrm>
            <a:off x="6096000" y="3886200"/>
            <a:ext cx="4572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p:cNvSpPr/>
          <p:nvPr/>
        </p:nvSpPr>
        <p:spPr>
          <a:xfrm>
            <a:off x="6172200" y="4724400"/>
            <a:ext cx="4572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p:cNvSpPr/>
          <p:nvPr/>
        </p:nvSpPr>
        <p:spPr>
          <a:xfrm>
            <a:off x="8229600" y="1676400"/>
            <a:ext cx="4572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p:cNvSpPr/>
          <p:nvPr/>
        </p:nvSpPr>
        <p:spPr>
          <a:xfrm>
            <a:off x="8229600" y="2514600"/>
            <a:ext cx="4572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p:cNvSpPr/>
          <p:nvPr/>
        </p:nvSpPr>
        <p:spPr>
          <a:xfrm>
            <a:off x="8229600" y="3352800"/>
            <a:ext cx="4572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p:cNvSpPr/>
          <p:nvPr/>
        </p:nvSpPr>
        <p:spPr>
          <a:xfrm>
            <a:off x="8229600" y="4724400"/>
            <a:ext cx="4572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p:cNvSpPr txBox="1"/>
          <p:nvPr/>
        </p:nvSpPr>
        <p:spPr>
          <a:xfrm>
            <a:off x="2971800" y="3048000"/>
            <a:ext cx="381000" cy="523220"/>
          </a:xfrm>
          <a:prstGeom prst="rect">
            <a:avLst/>
          </a:prstGeom>
          <a:noFill/>
        </p:spPr>
        <p:txBody>
          <a:bodyPr wrap="square" rtlCol="0">
            <a:spAutoFit/>
          </a:bodyPr>
          <a:lstStyle/>
          <a:p>
            <a:r>
              <a:rPr lang="en-US" sz="2800" i="1" dirty="0"/>
              <a:t>b</a:t>
            </a:r>
          </a:p>
        </p:txBody>
      </p:sp>
      <p:sp>
        <p:nvSpPr>
          <p:cNvPr id="19" name="TextBox 18"/>
          <p:cNvSpPr txBox="1"/>
          <p:nvPr/>
        </p:nvSpPr>
        <p:spPr>
          <a:xfrm>
            <a:off x="3048000" y="4114800"/>
            <a:ext cx="381000" cy="523220"/>
          </a:xfrm>
          <a:prstGeom prst="rect">
            <a:avLst/>
          </a:prstGeom>
          <a:noFill/>
        </p:spPr>
        <p:txBody>
          <a:bodyPr wrap="square" rtlCol="0">
            <a:spAutoFit/>
          </a:bodyPr>
          <a:lstStyle/>
          <a:p>
            <a:r>
              <a:rPr lang="en-US" sz="2800" i="1" dirty="0"/>
              <a:t>c</a:t>
            </a:r>
          </a:p>
        </p:txBody>
      </p:sp>
      <p:sp>
        <p:nvSpPr>
          <p:cNvPr id="20" name="TextBox 19"/>
          <p:cNvSpPr txBox="1"/>
          <p:nvPr/>
        </p:nvSpPr>
        <p:spPr>
          <a:xfrm>
            <a:off x="8991600" y="1676400"/>
            <a:ext cx="381000" cy="523220"/>
          </a:xfrm>
          <a:prstGeom prst="rect">
            <a:avLst/>
          </a:prstGeom>
          <a:noFill/>
        </p:spPr>
        <p:txBody>
          <a:bodyPr wrap="square" rtlCol="0">
            <a:spAutoFit/>
          </a:bodyPr>
          <a:lstStyle/>
          <a:p>
            <a:r>
              <a:rPr lang="en-US" sz="2800" i="1" dirty="0"/>
              <a:t>w</a:t>
            </a:r>
          </a:p>
        </p:txBody>
      </p:sp>
      <p:sp>
        <p:nvSpPr>
          <p:cNvPr id="21" name="TextBox 20"/>
          <p:cNvSpPr txBox="1"/>
          <p:nvPr/>
        </p:nvSpPr>
        <p:spPr>
          <a:xfrm>
            <a:off x="9067800" y="2514600"/>
            <a:ext cx="381000" cy="523220"/>
          </a:xfrm>
          <a:prstGeom prst="rect">
            <a:avLst/>
          </a:prstGeom>
          <a:noFill/>
        </p:spPr>
        <p:txBody>
          <a:bodyPr wrap="square" rtlCol="0">
            <a:spAutoFit/>
          </a:bodyPr>
          <a:lstStyle/>
          <a:p>
            <a:r>
              <a:rPr lang="en-US" sz="2800" i="1" dirty="0"/>
              <a:t>x</a:t>
            </a:r>
          </a:p>
        </p:txBody>
      </p:sp>
      <p:sp>
        <p:nvSpPr>
          <p:cNvPr id="22" name="TextBox 21"/>
          <p:cNvSpPr txBox="1"/>
          <p:nvPr/>
        </p:nvSpPr>
        <p:spPr>
          <a:xfrm>
            <a:off x="9067800" y="3276600"/>
            <a:ext cx="381000" cy="523220"/>
          </a:xfrm>
          <a:prstGeom prst="rect">
            <a:avLst/>
          </a:prstGeom>
          <a:noFill/>
        </p:spPr>
        <p:txBody>
          <a:bodyPr wrap="square" rtlCol="0">
            <a:spAutoFit/>
          </a:bodyPr>
          <a:lstStyle/>
          <a:p>
            <a:r>
              <a:rPr lang="en-US" sz="2800" i="1" dirty="0"/>
              <a:t>y</a:t>
            </a:r>
          </a:p>
        </p:txBody>
      </p:sp>
      <p:sp>
        <p:nvSpPr>
          <p:cNvPr id="23" name="TextBox 22"/>
          <p:cNvSpPr txBox="1"/>
          <p:nvPr/>
        </p:nvSpPr>
        <p:spPr>
          <a:xfrm>
            <a:off x="9067800" y="4648200"/>
            <a:ext cx="381000" cy="523220"/>
          </a:xfrm>
          <a:prstGeom prst="rect">
            <a:avLst/>
          </a:prstGeom>
          <a:noFill/>
        </p:spPr>
        <p:txBody>
          <a:bodyPr wrap="square" rtlCol="0">
            <a:spAutoFit/>
          </a:bodyPr>
          <a:lstStyle/>
          <a:p>
            <a:r>
              <a:rPr lang="en-US" sz="2800" i="1" dirty="0"/>
              <a:t>z</a:t>
            </a:r>
          </a:p>
        </p:txBody>
      </p:sp>
      <p:sp>
        <p:nvSpPr>
          <p:cNvPr id="24" name="TextBox 23"/>
          <p:cNvSpPr txBox="1"/>
          <p:nvPr/>
        </p:nvSpPr>
        <p:spPr>
          <a:xfrm>
            <a:off x="4572000" y="1600200"/>
            <a:ext cx="762000" cy="523220"/>
          </a:xfrm>
          <a:prstGeom prst="rect">
            <a:avLst/>
          </a:prstGeom>
          <a:noFill/>
          <a:ln>
            <a:solidFill>
              <a:srgbClr val="FF0000"/>
            </a:solidFill>
          </a:ln>
        </p:spPr>
        <p:txBody>
          <a:bodyPr wrap="square" rtlCol="0">
            <a:spAutoFit/>
          </a:bodyPr>
          <a:lstStyle/>
          <a:p>
            <a:r>
              <a:rPr lang="en-US" sz="2800" i="1" dirty="0"/>
              <a:t>R</a:t>
            </a:r>
            <a:r>
              <a:rPr lang="en-US" sz="2800" baseline="-25000" dirty="0">
                <a:latin typeface="Cambria Math" pitchFamily="18" charset="0"/>
                <a:ea typeface="Cambria Math" pitchFamily="18" charset="0"/>
              </a:rPr>
              <a:t>1</a:t>
            </a:r>
          </a:p>
        </p:txBody>
      </p:sp>
      <p:sp>
        <p:nvSpPr>
          <p:cNvPr id="25" name="TextBox 24"/>
          <p:cNvSpPr txBox="1"/>
          <p:nvPr/>
        </p:nvSpPr>
        <p:spPr>
          <a:xfrm>
            <a:off x="7010400" y="1600200"/>
            <a:ext cx="762000" cy="523220"/>
          </a:xfrm>
          <a:prstGeom prst="rect">
            <a:avLst/>
          </a:prstGeom>
          <a:noFill/>
          <a:ln>
            <a:solidFill>
              <a:srgbClr val="FFC000"/>
            </a:solidFill>
          </a:ln>
        </p:spPr>
        <p:txBody>
          <a:bodyPr wrap="square" rtlCol="0">
            <a:spAutoFit/>
          </a:bodyPr>
          <a:lstStyle/>
          <a:p>
            <a:r>
              <a:rPr lang="en-US" sz="2800" i="1" dirty="0"/>
              <a:t>R</a:t>
            </a:r>
            <a:r>
              <a:rPr lang="en-US" sz="2800" baseline="-25000" dirty="0">
                <a:latin typeface="Cambria Math" pitchFamily="18" charset="0"/>
                <a:ea typeface="Cambria Math" pitchFamily="18" charset="0"/>
              </a:rPr>
              <a:t>2</a:t>
            </a:r>
          </a:p>
        </p:txBody>
      </p:sp>
      <p:cxnSp>
        <p:nvCxnSpPr>
          <p:cNvPr id="27" name="Straight Arrow Connector 26"/>
          <p:cNvCxnSpPr/>
          <p:nvPr/>
        </p:nvCxnSpPr>
        <p:spPr>
          <a:xfrm flipV="1">
            <a:off x="4267200" y="2438400"/>
            <a:ext cx="1676400" cy="91440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rot="16200000" flipH="1">
            <a:off x="4152900" y="2705100"/>
            <a:ext cx="2057400" cy="198120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p:nvPr/>
        </p:nvCxnSpPr>
        <p:spPr>
          <a:xfrm flipV="1">
            <a:off x="6629400" y="2057400"/>
            <a:ext cx="1371600" cy="99060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p:nvPr/>
        </p:nvCxnSpPr>
        <p:spPr>
          <a:xfrm>
            <a:off x="6553200" y="2286000"/>
            <a:ext cx="1600200" cy="45720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p:nvPr/>
        </p:nvCxnSpPr>
        <p:spPr>
          <a:xfrm rot="16200000" flipH="1">
            <a:off x="6248400" y="2819400"/>
            <a:ext cx="2209800" cy="160020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8" name="TextBox 37"/>
          <p:cNvSpPr txBox="1"/>
          <p:nvPr/>
        </p:nvSpPr>
        <p:spPr>
          <a:xfrm>
            <a:off x="3505200" y="5638801"/>
            <a:ext cx="4724400" cy="584775"/>
          </a:xfrm>
          <a:prstGeom prst="rect">
            <a:avLst/>
          </a:prstGeom>
          <a:noFill/>
        </p:spPr>
        <p:txBody>
          <a:bodyPr wrap="square" rtlCol="0">
            <a:spAutoFit/>
          </a:bodyPr>
          <a:lstStyle/>
          <a:p>
            <a:r>
              <a:rPr lang="en-US" b="1" dirty="0"/>
              <a:t> </a:t>
            </a:r>
            <a:r>
              <a:rPr lang="en-US" sz="3200" i="1" dirty="0" smtClean="0"/>
              <a:t>R</a:t>
            </a:r>
            <a:r>
              <a:rPr lang="en-US" sz="3200" baseline="-25000" dirty="0">
                <a:latin typeface="Cambria Math" pitchFamily="18" charset="0"/>
                <a:ea typeface="Cambria Math" pitchFamily="18" charset="0"/>
              </a:rPr>
              <a:t>1</a:t>
            </a:r>
            <a:r>
              <a:rPr lang="en-US" sz="3200" b="1" dirty="0" smtClean="0">
                <a:latin typeface="Cambria Math"/>
                <a:ea typeface="Cambria Math"/>
              </a:rPr>
              <a:t>∘</a:t>
            </a:r>
            <a:r>
              <a:rPr lang="en-US" sz="3200" dirty="0" smtClean="0"/>
              <a:t> </a:t>
            </a:r>
            <a:r>
              <a:rPr lang="en-US" sz="3200" i="1" dirty="0" smtClean="0"/>
              <a:t>R</a:t>
            </a:r>
            <a:r>
              <a:rPr lang="en-US" sz="3200" baseline="-25000" dirty="0">
                <a:latin typeface="Cambria Math" pitchFamily="18" charset="0"/>
                <a:ea typeface="Cambria Math" pitchFamily="18" charset="0"/>
              </a:rPr>
              <a:t>2</a:t>
            </a:r>
            <a:r>
              <a:rPr lang="en-US" sz="3200" b="1" baseline="-25000" dirty="0" smtClean="0"/>
              <a:t>  </a:t>
            </a:r>
            <a:r>
              <a:rPr lang="en-US" sz="3200" b="1" dirty="0"/>
              <a:t>= </a:t>
            </a:r>
            <a:r>
              <a:rPr lang="en-US" sz="3200" dirty="0" smtClean="0"/>
              <a:t>{(</a:t>
            </a:r>
            <a:r>
              <a:rPr lang="en-US" sz="3200" i="1" dirty="0" err="1" smtClean="0"/>
              <a:t>b</a:t>
            </a:r>
            <a:r>
              <a:rPr lang="en-US" sz="3200" dirty="0" err="1" smtClean="0"/>
              <a:t>,</a:t>
            </a:r>
            <a:r>
              <a:rPr lang="en-US" altLang="zh-CN" sz="3200" i="1" dirty="0" err="1" smtClean="0"/>
              <a:t>x</a:t>
            </a:r>
            <a:r>
              <a:rPr lang="en-US" sz="3200" dirty="0" smtClean="0"/>
              <a:t>),(</a:t>
            </a:r>
            <a:r>
              <a:rPr lang="en-US" sz="3200" i="1" dirty="0" err="1" smtClean="0"/>
              <a:t>b</a:t>
            </a:r>
            <a:r>
              <a:rPr lang="en-US" sz="3200" dirty="0" err="1" smtClean="0"/>
              <a:t>,</a:t>
            </a:r>
            <a:r>
              <a:rPr lang="en-US" sz="3200" i="1" dirty="0" err="1" smtClean="0"/>
              <a:t>z</a:t>
            </a:r>
            <a:r>
              <a:rPr lang="en-US" sz="3200" dirty="0" smtClean="0"/>
              <a:t>)}</a:t>
            </a:r>
            <a:endParaRPr lang="en-US" sz="3200" dirty="0"/>
          </a:p>
        </p:txBody>
      </p:sp>
      <p:sp>
        <p:nvSpPr>
          <p:cNvPr id="34" name="Right Brace 33"/>
          <p:cNvSpPr/>
          <p:nvPr/>
        </p:nvSpPr>
        <p:spPr>
          <a:xfrm>
            <a:off x="6629400" y="1676400"/>
            <a:ext cx="609600" cy="3733800"/>
          </a:xfrm>
          <a:prstGeom prst="rightBrace">
            <a:avLst/>
          </a:prstGeom>
          <a:ln>
            <a:solidFill>
              <a:srgbClr val="FF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36" name="Left Brace 35"/>
          <p:cNvSpPr/>
          <p:nvPr/>
        </p:nvSpPr>
        <p:spPr>
          <a:xfrm>
            <a:off x="2438400" y="1600200"/>
            <a:ext cx="533400" cy="3810000"/>
          </a:xfrm>
          <a:prstGeom prst="leftBrace">
            <a:avLst/>
          </a:prstGeom>
          <a:ln>
            <a:solidFill>
              <a:srgbClr val="FF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37" name="Right Brace 36"/>
          <p:cNvSpPr/>
          <p:nvPr/>
        </p:nvSpPr>
        <p:spPr>
          <a:xfrm>
            <a:off x="9753600" y="1752600"/>
            <a:ext cx="609600" cy="3657600"/>
          </a:xfrm>
          <a:prstGeom prst="rightBrace">
            <a:avLst/>
          </a:prstGeom>
          <a:ln>
            <a:solidFill>
              <a:srgbClr val="FFC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39" name="Left Brace 38"/>
          <p:cNvSpPr/>
          <p:nvPr/>
        </p:nvSpPr>
        <p:spPr>
          <a:xfrm>
            <a:off x="5257800" y="1676400"/>
            <a:ext cx="609600" cy="3733800"/>
          </a:xfrm>
          <a:prstGeom prst="leftBrace">
            <a:avLst/>
          </a:prstGeom>
          <a:ln>
            <a:solidFill>
              <a:srgbClr val="FFC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40" name="TextBox 39"/>
          <p:cNvSpPr txBox="1"/>
          <p:nvPr/>
        </p:nvSpPr>
        <p:spPr>
          <a:xfrm>
            <a:off x="5638800" y="2819400"/>
            <a:ext cx="381000" cy="523220"/>
          </a:xfrm>
          <a:prstGeom prst="rect">
            <a:avLst/>
          </a:prstGeom>
          <a:noFill/>
        </p:spPr>
        <p:txBody>
          <a:bodyPr wrap="square" rtlCol="0">
            <a:spAutoFit/>
          </a:bodyPr>
          <a:lstStyle/>
          <a:p>
            <a:r>
              <a:rPr lang="en-US" sz="2800" i="1" dirty="0"/>
              <a:t>n</a:t>
            </a:r>
          </a:p>
        </p:txBody>
      </p:sp>
      <p:sp>
        <p:nvSpPr>
          <p:cNvPr id="41" name="TextBox 40"/>
          <p:cNvSpPr txBox="1"/>
          <p:nvPr/>
        </p:nvSpPr>
        <p:spPr>
          <a:xfrm>
            <a:off x="5638800" y="1752600"/>
            <a:ext cx="381000" cy="523220"/>
          </a:xfrm>
          <a:prstGeom prst="rect">
            <a:avLst/>
          </a:prstGeom>
          <a:noFill/>
        </p:spPr>
        <p:txBody>
          <a:bodyPr wrap="square" rtlCol="0">
            <a:spAutoFit/>
          </a:bodyPr>
          <a:lstStyle/>
          <a:p>
            <a:r>
              <a:rPr lang="en-US" sz="2800" i="1" dirty="0"/>
              <a:t>m</a:t>
            </a:r>
          </a:p>
        </p:txBody>
      </p:sp>
      <p:sp>
        <p:nvSpPr>
          <p:cNvPr id="42" name="TextBox 41"/>
          <p:cNvSpPr txBox="1"/>
          <p:nvPr/>
        </p:nvSpPr>
        <p:spPr>
          <a:xfrm>
            <a:off x="5638800" y="3581400"/>
            <a:ext cx="381000" cy="523220"/>
          </a:xfrm>
          <a:prstGeom prst="rect">
            <a:avLst/>
          </a:prstGeom>
          <a:noFill/>
        </p:spPr>
        <p:txBody>
          <a:bodyPr wrap="square" rtlCol="0">
            <a:spAutoFit/>
          </a:bodyPr>
          <a:lstStyle/>
          <a:p>
            <a:r>
              <a:rPr lang="en-US" sz="2800" i="1" dirty="0"/>
              <a:t>o</a:t>
            </a:r>
          </a:p>
        </p:txBody>
      </p:sp>
      <p:sp>
        <p:nvSpPr>
          <p:cNvPr id="43" name="TextBox 42"/>
          <p:cNvSpPr txBox="1"/>
          <p:nvPr/>
        </p:nvSpPr>
        <p:spPr>
          <a:xfrm>
            <a:off x="5715000" y="4648200"/>
            <a:ext cx="381000" cy="523220"/>
          </a:xfrm>
          <a:prstGeom prst="rect">
            <a:avLst/>
          </a:prstGeom>
          <a:noFill/>
        </p:spPr>
        <p:txBody>
          <a:bodyPr wrap="square" rtlCol="0">
            <a:spAutoFit/>
          </a:bodyPr>
          <a:lstStyle/>
          <a:p>
            <a:r>
              <a:rPr lang="en-US" sz="2800" i="1" dirty="0"/>
              <a:t>p</a:t>
            </a:r>
          </a:p>
        </p:txBody>
      </p:sp>
      <p:sp>
        <p:nvSpPr>
          <p:cNvPr id="9" name="日期占位符 8"/>
          <p:cNvSpPr>
            <a:spLocks noGrp="1"/>
          </p:cNvSpPr>
          <p:nvPr>
            <p:ph type="dt" sz="half" idx="10"/>
          </p:nvPr>
        </p:nvSpPr>
        <p:spPr/>
        <p:txBody>
          <a:bodyPr/>
          <a:lstStyle/>
          <a:p>
            <a:fld id="{516E11F6-9049-4961-85B4-C287189B9FEB}" type="datetime1">
              <a:rPr lang="zh-CN" altLang="en-US" smtClean="0"/>
              <a:t>2025/3/14</a:t>
            </a:fld>
            <a:endParaRPr lang="zh-CN" altLang="en-US" dirty="0"/>
          </a:p>
        </p:txBody>
      </p:sp>
      <p:sp>
        <p:nvSpPr>
          <p:cNvPr id="26" name="页脚占位符 25"/>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28" name="灯片编号占位符 27"/>
          <p:cNvSpPr>
            <a:spLocks noGrp="1"/>
          </p:cNvSpPr>
          <p:nvPr>
            <p:ph type="sldNum" sz="quarter" idx="12"/>
          </p:nvPr>
        </p:nvSpPr>
        <p:spPr/>
        <p:txBody>
          <a:bodyPr/>
          <a:lstStyle/>
          <a:p>
            <a:fld id="{67913A8A-9EFB-4B5F-9CCB-3D21173FAA85}" type="slidenum">
              <a:rPr lang="zh-CN" altLang="en-US" smtClean="0"/>
              <a:pPr/>
              <a:t>21</a:t>
            </a:fld>
            <a:endParaRPr lang="zh-CN" altLang="en-US" dirty="0"/>
          </a:p>
        </p:txBody>
      </p:sp>
      <mc:AlternateContent xmlns:mc="http://schemas.openxmlformats.org/markup-compatibility/2006" xmlns:a14="http://schemas.microsoft.com/office/drawing/2010/main">
        <mc:Choice Requires="a14">
          <p:sp>
            <p:nvSpPr>
              <p:cNvPr id="44" name="Content Placeholder 2"/>
              <p:cNvSpPr>
                <a:spLocks noGrp="1"/>
              </p:cNvSpPr>
              <p:nvPr>
                <p:ph idx="1"/>
              </p:nvPr>
            </p:nvSpPr>
            <p:spPr>
              <a:xfrm>
                <a:off x="595086" y="1088824"/>
                <a:ext cx="10987316" cy="4549977"/>
              </a:xfrm>
            </p:spPr>
            <p:txBody>
              <a:bodyPr/>
              <a:lstStyle/>
              <a:p>
                <a:r>
                  <a:rPr lang="zh-CN" altLang="en-US" dirty="0" smtClean="0"/>
                  <a:t>例</a:t>
                </a:r>
                <a:r>
                  <a:rPr lang="en-US" altLang="zh-CN" dirty="0" smtClean="0"/>
                  <a:t>: </a:t>
                </a:r>
                <a:r>
                  <a:rPr lang="zh-CN" altLang="en-US" dirty="0" smtClean="0"/>
                  <a:t>求下图的</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𝑅</m:t>
                        </m:r>
                      </m:e>
                      <m:sub>
                        <m:r>
                          <a:rPr lang="en-US" altLang="zh-CN" b="0" i="1" smtClean="0">
                            <a:latin typeface="Cambria Math" panose="02040503050406030204" pitchFamily="18" charset="0"/>
                          </a:rPr>
                          <m:t>1</m:t>
                        </m:r>
                      </m:sub>
                    </m:sSub>
                  </m:oMath>
                </a14:m>
                <a:r>
                  <a:rPr lang="en-US" altLang="zh-CN" dirty="0" smtClean="0"/>
                  <a:t>∘</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𝑅</m:t>
                        </m:r>
                      </m:e>
                      <m:sub>
                        <m:r>
                          <a:rPr lang="en-US" altLang="zh-CN" b="0" i="1" smtClean="0">
                            <a:latin typeface="Cambria Math" panose="02040503050406030204" pitchFamily="18" charset="0"/>
                          </a:rPr>
                          <m:t>2</m:t>
                        </m:r>
                      </m:sub>
                    </m:sSub>
                  </m:oMath>
                </a14:m>
                <a:r>
                  <a:rPr lang="en-US" altLang="zh-CN" dirty="0" smtClean="0"/>
                  <a:t>.</a:t>
                </a:r>
              </a:p>
            </p:txBody>
          </p:sp>
        </mc:Choice>
        <mc:Fallback xmlns="">
          <p:sp>
            <p:nvSpPr>
              <p:cNvPr id="44" name="Content Placeholder 2"/>
              <p:cNvSpPr>
                <a:spLocks noGrp="1" noRot="1" noChangeAspect="1" noMove="1" noResize="1" noEditPoints="1" noAdjustHandles="1" noChangeArrowheads="1" noChangeShapeType="1" noTextEdit="1"/>
              </p:cNvSpPr>
              <p:nvPr>
                <p:ph idx="1"/>
              </p:nvPr>
            </p:nvSpPr>
            <p:spPr>
              <a:xfrm>
                <a:off x="595086" y="1088824"/>
                <a:ext cx="10987316" cy="4549977"/>
              </a:xfrm>
              <a:blipFill rotWithShape="0">
                <a:blip r:embed="rId2"/>
                <a:stretch>
                  <a:fillRect l="-999" t="-1877"/>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8">
                                            <p:txEl>
                                              <p:pRg st="0" end="0"/>
                                            </p:txEl>
                                          </p:spTgt>
                                        </p:tgtEl>
                                        <p:attrNameLst>
                                          <p:attrName>style.visibility</p:attrName>
                                        </p:attrNameLst>
                                      </p:cBhvr>
                                      <p:to>
                                        <p:strVal val="visible"/>
                                      </p:to>
                                    </p:set>
                                    <p:animEffect transition="in" filter="wipe(down)">
                                      <p:cBhvr>
                                        <p:cTn id="7" dur="500"/>
                                        <p:tgtEl>
                                          <p:spTgt spid="3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457200" y="2667000"/>
            <a:ext cx="11277599" cy="838200"/>
          </a:xfrm>
          <a:prstGeom prst="rect">
            <a:avLst/>
          </a:prstGeom>
          <a:solidFill>
            <a:schemeClr val="accent5">
              <a:lumMod val="40000"/>
              <a:lumOff val="6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457200" y="1143000"/>
            <a:ext cx="11277599" cy="838200"/>
          </a:xfrm>
          <a:prstGeom prst="rect">
            <a:avLst/>
          </a:prstGeom>
          <a:solidFill>
            <a:schemeClr val="accent5">
              <a:lumMod val="40000"/>
              <a:lumOff val="6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itle 1"/>
          <p:cNvSpPr>
            <a:spLocks noGrp="1"/>
          </p:cNvSpPr>
          <p:nvPr>
            <p:ph type="title"/>
          </p:nvPr>
        </p:nvSpPr>
        <p:spPr/>
        <p:txBody>
          <a:bodyPr/>
          <a:lstStyle/>
          <a:p>
            <a:r>
              <a:rPr lang="zh-CN" altLang="en-US" dirty="0"/>
              <a:t>关系的组合</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fontScale="85000" lnSpcReduction="10000"/>
              </a:bodyPr>
              <a:lstStyle/>
              <a:p>
                <a:r>
                  <a:rPr lang="zh-CN" altLang="en-US" dirty="0" smtClean="0"/>
                  <a:t>定义</a:t>
                </a:r>
                <a:r>
                  <a:rPr lang="en-US" dirty="0" smtClean="0"/>
                  <a:t>:</a:t>
                </a:r>
                <a:r>
                  <a:rPr lang="zh-CN" altLang="en-US" dirty="0" smtClean="0"/>
                  <a:t>设</a:t>
                </a:r>
                <a:r>
                  <a:rPr lang="en-US" altLang="zh-CN" dirty="0" smtClean="0"/>
                  <a:t>R</a:t>
                </a:r>
                <a:r>
                  <a:rPr lang="zh-CN" altLang="en-US" dirty="0" smtClean="0"/>
                  <a:t>是集合</a:t>
                </a:r>
                <a:r>
                  <a:rPr lang="en-US" altLang="zh-CN" dirty="0" smtClean="0"/>
                  <a:t>A</a:t>
                </a:r>
                <a:r>
                  <a:rPr lang="zh-CN" altLang="en-US" dirty="0" smtClean="0"/>
                  <a:t>上的关系</a:t>
                </a:r>
                <a:r>
                  <a:rPr lang="en-US" altLang="zh-CN" dirty="0" smtClean="0"/>
                  <a:t>, R</a:t>
                </a:r>
                <a:r>
                  <a:rPr lang="zh-CN" altLang="en-US" dirty="0" smtClean="0"/>
                  <a:t>的</a:t>
                </a:r>
                <a:r>
                  <a:rPr lang="en-US" altLang="zh-CN" b="1" dirty="0" smtClean="0">
                    <a:solidFill>
                      <a:srgbClr val="C00000"/>
                    </a:solidFill>
                  </a:rPr>
                  <a:t>n</a:t>
                </a:r>
                <a:r>
                  <a:rPr lang="zh-CN" altLang="en-US" b="1" dirty="0" smtClean="0">
                    <a:solidFill>
                      <a:srgbClr val="C00000"/>
                    </a:solidFill>
                  </a:rPr>
                  <a:t>次幂</a:t>
                </a:r>
                <a14:m>
                  <m:oMath xmlns:m="http://schemas.openxmlformats.org/officeDocument/2006/math">
                    <m:sSup>
                      <m:sSupPr>
                        <m:ctrlPr>
                          <a:rPr lang="en-US" altLang="zh-CN" i="1" smtClean="0">
                            <a:latin typeface="Cambria Math" panose="02040503050406030204" pitchFamily="18" charset="0"/>
                          </a:rPr>
                        </m:ctrlPr>
                      </m:sSupPr>
                      <m:e>
                        <m:r>
                          <a:rPr lang="en-US" altLang="zh-CN" b="0" i="1" smtClean="0">
                            <a:latin typeface="Cambria Math" panose="02040503050406030204" pitchFamily="18" charset="0"/>
                          </a:rPr>
                          <m:t>𝑅</m:t>
                        </m:r>
                      </m:e>
                      <m:sup>
                        <m:r>
                          <a:rPr lang="en-US" altLang="zh-CN" b="0" i="1" smtClean="0">
                            <a:latin typeface="Cambria Math" panose="02040503050406030204" pitchFamily="18" charset="0"/>
                          </a:rPr>
                          <m:t>𝑛</m:t>
                        </m:r>
                      </m:sup>
                    </m:sSup>
                    <m:r>
                      <a:rPr lang="en-US" altLang="zh-CN" b="0" i="1" smtClean="0">
                        <a:latin typeface="Cambria Math" panose="02040503050406030204" pitchFamily="18" charset="0"/>
                      </a:rPr>
                      <m:t>(</m:t>
                    </m:r>
                    <m:r>
                      <a:rPr lang="en-US" altLang="zh-CN" b="0" i="1" smtClean="0">
                        <a:latin typeface="Cambria Math" panose="02040503050406030204" pitchFamily="18" charset="0"/>
                      </a:rPr>
                      <m:t>𝑛</m:t>
                    </m:r>
                    <m:r>
                      <a:rPr lang="en-US" altLang="zh-CN" b="0" i="1" smtClean="0">
                        <a:latin typeface="Cambria Math" panose="02040503050406030204" pitchFamily="18" charset="0"/>
                      </a:rPr>
                      <m:t>=1,2,3,…)</m:t>
                    </m:r>
                  </m:oMath>
                </a14:m>
                <a:r>
                  <a:rPr lang="en-US" dirty="0" smtClean="0"/>
                  <a:t>  </a:t>
                </a:r>
                <a:r>
                  <a:rPr lang="zh-CN" altLang="en-US" dirty="0" smtClean="0"/>
                  <a:t>递归定义为</a:t>
                </a:r>
                <a14:m>
                  <m:oMath xmlns:m="http://schemas.openxmlformats.org/officeDocument/2006/math">
                    <m:sSup>
                      <m:sSupPr>
                        <m:ctrlPr>
                          <a:rPr lang="en-US" altLang="zh-CN" i="1">
                            <a:latin typeface="Cambria Math" panose="02040503050406030204" pitchFamily="18" charset="0"/>
                          </a:rPr>
                        </m:ctrlPr>
                      </m:sSupPr>
                      <m:e>
                        <m:r>
                          <a:rPr lang="en-US" altLang="zh-CN" i="1">
                            <a:latin typeface="Cambria Math" panose="02040503050406030204" pitchFamily="18" charset="0"/>
                          </a:rPr>
                          <m:t>𝑅</m:t>
                        </m:r>
                      </m:e>
                      <m:sup>
                        <m:r>
                          <a:rPr lang="en-US" altLang="zh-CN" i="1">
                            <a:latin typeface="Cambria Math" panose="02040503050406030204" pitchFamily="18" charset="0"/>
                          </a:rPr>
                          <m:t>1</m:t>
                        </m:r>
                      </m:sup>
                    </m:sSup>
                    <m:r>
                      <a:rPr lang="en-US" altLang="zh-CN" i="1">
                        <a:latin typeface="Cambria Math" panose="02040503050406030204" pitchFamily="18" charset="0"/>
                      </a:rPr>
                      <m:t>=</m:t>
                    </m:r>
                    <m:r>
                      <m:rPr>
                        <m:nor/>
                      </m:rPr>
                      <a:rPr lang="en-US" altLang="zh-CN" i="1" dirty="0">
                        <a:latin typeface="Cambria Math" panose="02040503050406030204" pitchFamily="18" charset="0"/>
                      </a:rPr>
                      <m:t>R</m:t>
                    </m:r>
                  </m:oMath>
                </a14:m>
                <a:r>
                  <a:rPr lang="en-US" dirty="0" smtClean="0"/>
                  <a:t>, </a:t>
                </a:r>
                <a14:m>
                  <m:oMath xmlns:m="http://schemas.openxmlformats.org/officeDocument/2006/math">
                    <m:sSup>
                      <m:sSupPr>
                        <m:ctrlPr>
                          <a:rPr lang="en-US" altLang="zh-CN" i="1">
                            <a:latin typeface="Cambria Math" panose="02040503050406030204" pitchFamily="18" charset="0"/>
                          </a:rPr>
                        </m:ctrlPr>
                      </m:sSupPr>
                      <m:e>
                        <m:r>
                          <a:rPr lang="en-US" altLang="zh-CN" i="1">
                            <a:latin typeface="Cambria Math" panose="02040503050406030204" pitchFamily="18" charset="0"/>
                          </a:rPr>
                          <m:t>𝑅</m:t>
                        </m:r>
                      </m:e>
                      <m:sup>
                        <m:r>
                          <a:rPr lang="en-US" altLang="zh-CN" b="0" i="1" smtClean="0">
                            <a:latin typeface="Cambria Math" panose="02040503050406030204" pitchFamily="18" charset="0"/>
                          </a:rPr>
                          <m:t>𝑛</m:t>
                        </m:r>
                        <m:r>
                          <a:rPr lang="en-US" altLang="zh-CN" b="0" i="1" smtClean="0">
                            <a:latin typeface="Cambria Math" panose="02040503050406030204" pitchFamily="18" charset="0"/>
                          </a:rPr>
                          <m:t>+1</m:t>
                        </m:r>
                      </m:sup>
                    </m:sSup>
                    <m:r>
                      <a:rPr lang="en-US" altLang="zh-CN" i="1">
                        <a:latin typeface="Cambria Math" panose="02040503050406030204" pitchFamily="18" charset="0"/>
                      </a:rPr>
                      <m:t>=</m:t>
                    </m:r>
                    <m:r>
                      <m:rPr>
                        <m:nor/>
                      </m:rPr>
                      <a:rPr lang="en-US" altLang="zh-CN" i="1" dirty="0">
                        <a:latin typeface="Cambria Math" panose="02040503050406030204" pitchFamily="18" charset="0"/>
                      </a:rPr>
                      <m:t>R</m:t>
                    </m:r>
                    <m:sSup>
                      <m:sSupPr>
                        <m:ctrlPr>
                          <a:rPr lang="en-US" altLang="zh-CN" i="1">
                            <a:latin typeface="Cambria Math" panose="02040503050406030204" pitchFamily="18" charset="0"/>
                          </a:rPr>
                        </m:ctrlPr>
                      </m:sSupPr>
                      <m:e>
                        <m:r>
                          <m:rPr>
                            <m:nor/>
                          </m:rPr>
                          <a:rPr lang="en-US" altLang="zh-CN" dirty="0"/>
                          <m:t>∘</m:t>
                        </m:r>
                        <m:r>
                          <a:rPr lang="en-US" altLang="zh-CN" i="1">
                            <a:latin typeface="Cambria Math" panose="02040503050406030204" pitchFamily="18" charset="0"/>
                          </a:rPr>
                          <m:t>𝑅</m:t>
                        </m:r>
                      </m:e>
                      <m:sup>
                        <m:r>
                          <a:rPr lang="en-US" altLang="zh-CN" i="1">
                            <a:latin typeface="Cambria Math" panose="02040503050406030204" pitchFamily="18" charset="0"/>
                          </a:rPr>
                          <m:t>𝑛</m:t>
                        </m:r>
                      </m:sup>
                    </m:sSup>
                  </m:oMath>
                </a14:m>
                <a:endParaRPr lang="en-US" dirty="0" smtClean="0"/>
              </a:p>
              <a:p>
                <a:pPr marL="0" indent="0">
                  <a:buNone/>
                </a:pPr>
                <a:endParaRPr lang="en-US" altLang="zh-CN" dirty="0" smtClean="0"/>
              </a:p>
              <a:p>
                <a:r>
                  <a:rPr lang="zh-CN" altLang="en-US" dirty="0" smtClean="0"/>
                  <a:t>定理</a:t>
                </a:r>
                <a:r>
                  <a:rPr lang="en-US" altLang="zh-CN" dirty="0" smtClean="0"/>
                  <a:t>1</a:t>
                </a:r>
                <a:r>
                  <a:rPr lang="en-US" dirty="0" smtClean="0"/>
                  <a:t>: </a:t>
                </a:r>
                <a:r>
                  <a:rPr lang="zh-CN" altLang="en-US" dirty="0" smtClean="0"/>
                  <a:t>集合</a:t>
                </a:r>
                <a:r>
                  <a:rPr lang="en-US" altLang="zh-CN" dirty="0" smtClean="0"/>
                  <a:t>A</a:t>
                </a:r>
                <a:r>
                  <a:rPr lang="zh-CN" altLang="en-US" dirty="0" smtClean="0"/>
                  <a:t>上的关系</a:t>
                </a:r>
                <a:r>
                  <a:rPr lang="en-US" altLang="zh-CN" dirty="0" smtClean="0"/>
                  <a:t>R</a:t>
                </a:r>
                <a:r>
                  <a:rPr lang="zh-CN" altLang="en-US" dirty="0" smtClean="0"/>
                  <a:t>是传递的</a:t>
                </a:r>
                <a:r>
                  <a:rPr lang="en-US" altLang="zh-CN" dirty="0" smtClean="0"/>
                  <a:t>, </a:t>
                </a:r>
                <a:r>
                  <a:rPr lang="zh-CN" altLang="en-US" dirty="0" smtClean="0"/>
                  <a:t>当且仅当对于</a:t>
                </a:r>
                <a:r>
                  <a:rPr lang="en-US" altLang="zh-CN" dirty="0"/>
                  <a:t>n = </a:t>
                </a:r>
                <a:r>
                  <a:rPr lang="en-US" altLang="zh-CN" dirty="0" smtClean="0"/>
                  <a:t>1,2,3 ….</a:t>
                </a:r>
                <a:r>
                  <a:rPr lang="zh-CN" altLang="en-US" dirty="0" smtClean="0"/>
                  <a:t>有</a:t>
                </a:r>
                <a14:m>
                  <m:oMath xmlns:m="http://schemas.openxmlformats.org/officeDocument/2006/math">
                    <m:sSup>
                      <m:sSupPr>
                        <m:ctrlPr>
                          <a:rPr lang="en-US" altLang="zh-CN" i="1" smtClean="0">
                            <a:latin typeface="Cambria Math" panose="02040503050406030204" pitchFamily="18" charset="0"/>
                          </a:rPr>
                        </m:ctrlPr>
                      </m:sSupPr>
                      <m:e>
                        <m:r>
                          <m:rPr>
                            <m:sty m:val="p"/>
                          </m:rPr>
                          <a:rPr lang="en-US" altLang="zh-CN" i="1">
                            <a:latin typeface="Cambria Math" panose="02040503050406030204" pitchFamily="18" charset="0"/>
                          </a:rPr>
                          <m:t>R</m:t>
                        </m:r>
                      </m:e>
                      <m:sup>
                        <m:r>
                          <m:rPr>
                            <m:sty m:val="p"/>
                          </m:rPr>
                          <a:rPr lang="en-US" altLang="zh-CN" i="1">
                            <a:latin typeface="Cambria Math" panose="02040503050406030204" pitchFamily="18" charset="0"/>
                          </a:rPr>
                          <m:t>n</m:t>
                        </m:r>
                      </m:sup>
                    </m:sSup>
                    <m:r>
                      <a:rPr lang="en-US" altLang="zh-CN" i="1" smtClean="0">
                        <a:latin typeface="Cambria Math" panose="02040503050406030204" pitchFamily="18" charset="0"/>
                        <a:ea typeface="Cambria Math" panose="02040503050406030204" pitchFamily="18" charset="0"/>
                      </a:rPr>
                      <m:t>⊆</m:t>
                    </m:r>
                    <m:r>
                      <m:rPr>
                        <m:sty m:val="p"/>
                      </m:rPr>
                      <a:rPr lang="en-US" altLang="zh-CN" i="1">
                        <a:latin typeface="Cambria Math" panose="02040503050406030204" pitchFamily="18" charset="0"/>
                        <a:ea typeface="Cambria Math" panose="02040503050406030204" pitchFamily="18" charset="0"/>
                      </a:rPr>
                      <m:t>R</m:t>
                    </m:r>
                  </m:oMath>
                </a14:m>
                <a:endParaRPr lang="en-US" dirty="0" smtClean="0"/>
              </a:p>
              <a:p>
                <a:r>
                  <a:rPr lang="zh-CN" altLang="en-US" dirty="0" smtClean="0"/>
                  <a:t>证明（从右到左），若</a:t>
                </a:r>
                <a14:m>
                  <m:oMath xmlns:m="http://schemas.openxmlformats.org/officeDocument/2006/math">
                    <m:sSup>
                      <m:sSupPr>
                        <m:ctrlPr>
                          <a:rPr lang="en-US" altLang="zh-CN" i="1">
                            <a:latin typeface="Cambria Math" panose="02040503050406030204" pitchFamily="18" charset="0"/>
                          </a:rPr>
                        </m:ctrlPr>
                      </m:sSupPr>
                      <m:e>
                        <m:r>
                          <m:rPr>
                            <m:sty m:val="p"/>
                          </m:rPr>
                          <a:rPr lang="en-US" altLang="zh-CN" i="1">
                            <a:latin typeface="Cambria Math" panose="02040503050406030204" pitchFamily="18" charset="0"/>
                          </a:rPr>
                          <m:t>R</m:t>
                        </m:r>
                      </m:e>
                      <m:sup>
                        <m:r>
                          <m:rPr>
                            <m:sty m:val="p"/>
                          </m:rPr>
                          <a:rPr lang="en-US" altLang="zh-CN" i="1">
                            <a:latin typeface="Cambria Math" panose="02040503050406030204" pitchFamily="18" charset="0"/>
                          </a:rPr>
                          <m:t>n</m:t>
                        </m:r>
                      </m:sup>
                    </m:sSup>
                    <m:r>
                      <a:rPr lang="en-US" altLang="zh-CN" i="1">
                        <a:latin typeface="Cambria Math" panose="02040503050406030204" pitchFamily="18" charset="0"/>
                        <a:ea typeface="Cambria Math" panose="02040503050406030204" pitchFamily="18" charset="0"/>
                      </a:rPr>
                      <m:t>⊆</m:t>
                    </m:r>
                    <m:r>
                      <m:rPr>
                        <m:sty m:val="p"/>
                      </m:rPr>
                      <a:rPr lang="en-US" altLang="zh-CN" i="1">
                        <a:latin typeface="Cambria Math" panose="02040503050406030204" pitchFamily="18" charset="0"/>
                        <a:ea typeface="Cambria Math" panose="02040503050406030204" pitchFamily="18" charset="0"/>
                      </a:rPr>
                      <m:t>R</m:t>
                    </m:r>
                  </m:oMath>
                </a14:m>
                <a:r>
                  <a:rPr lang="zh-CN" altLang="en-US" dirty="0" smtClean="0"/>
                  <a:t>，知</a:t>
                </a:r>
                <a14:m>
                  <m:oMath xmlns:m="http://schemas.openxmlformats.org/officeDocument/2006/math">
                    <m:sSup>
                      <m:sSupPr>
                        <m:ctrlPr>
                          <a:rPr lang="en-US" altLang="zh-CN" i="1">
                            <a:latin typeface="Cambria Math" panose="02040503050406030204" pitchFamily="18" charset="0"/>
                          </a:rPr>
                        </m:ctrlPr>
                      </m:sSupPr>
                      <m:e>
                        <m:r>
                          <m:rPr>
                            <m:sty m:val="p"/>
                          </m:rPr>
                          <a:rPr lang="en-US" altLang="zh-CN" i="1">
                            <a:latin typeface="Cambria Math" panose="02040503050406030204" pitchFamily="18" charset="0"/>
                          </a:rPr>
                          <m:t>R</m:t>
                        </m:r>
                      </m:e>
                      <m:sup>
                        <m:r>
                          <a:rPr lang="en-US" altLang="zh-CN" b="0" i="1" smtClean="0">
                            <a:latin typeface="Cambria Math" panose="02040503050406030204" pitchFamily="18" charset="0"/>
                          </a:rPr>
                          <m:t>2</m:t>
                        </m:r>
                      </m:sup>
                    </m:sSup>
                    <m:r>
                      <a:rPr lang="en-US" altLang="zh-CN" i="1">
                        <a:latin typeface="Cambria Math" panose="02040503050406030204" pitchFamily="18" charset="0"/>
                        <a:ea typeface="Cambria Math" panose="02040503050406030204" pitchFamily="18" charset="0"/>
                      </a:rPr>
                      <m:t>⊆</m:t>
                    </m:r>
                    <m:r>
                      <m:rPr>
                        <m:sty m:val="p"/>
                      </m:rPr>
                      <a:rPr lang="en-US" altLang="zh-CN" i="1">
                        <a:latin typeface="Cambria Math" panose="02040503050406030204" pitchFamily="18" charset="0"/>
                        <a:ea typeface="Cambria Math" panose="02040503050406030204" pitchFamily="18" charset="0"/>
                      </a:rPr>
                      <m:t>R</m:t>
                    </m:r>
                    <m:r>
                      <a:rPr lang="en-US" altLang="zh-CN" b="0" i="0" smtClean="0">
                        <a:latin typeface="Cambria Math" panose="02040503050406030204" pitchFamily="18" charset="0"/>
                        <a:ea typeface="Cambria Math" panose="02040503050406030204" pitchFamily="18" charset="0"/>
                      </a:rPr>
                      <m:t>,</m:t>
                    </m:r>
                    <m:r>
                      <a:rPr lang="zh-CN" altLang="en-US" i="1">
                        <a:latin typeface="Cambria Math" panose="02040503050406030204" pitchFamily="18" charset="0"/>
                        <a:ea typeface="Cambria Math" panose="02040503050406030204" pitchFamily="18" charset="0"/>
                      </a:rPr>
                      <m:t>若</m:t>
                    </m:r>
                    <m:sSup>
                      <m:sSupPr>
                        <m:ctrlPr>
                          <a:rPr lang="en-US" altLang="zh-CN" i="1" smtClean="0">
                            <a:latin typeface="Cambria Math" panose="02040503050406030204" pitchFamily="18" charset="0"/>
                          </a:rPr>
                        </m:ctrlPr>
                      </m:sSupPr>
                      <m:e>
                        <m:r>
                          <a:rPr lang="en-US" altLang="zh-CN" b="0" i="1" smtClean="0">
                            <a:latin typeface="Cambria Math" panose="02040503050406030204" pitchFamily="18" charset="0"/>
                          </a:rPr>
                          <m:t>(</m:t>
                        </m:r>
                        <m:r>
                          <a:rPr lang="en-US" altLang="zh-CN" b="0" i="1" smtClean="0">
                            <a:latin typeface="Cambria Math" panose="02040503050406030204" pitchFamily="18" charset="0"/>
                          </a:rPr>
                          <m:t>𝑎</m:t>
                        </m:r>
                        <m:r>
                          <a:rPr lang="en-US" altLang="zh-CN" b="0" i="1" smtClean="0">
                            <a:latin typeface="Cambria Math" panose="02040503050406030204" pitchFamily="18" charset="0"/>
                          </a:rPr>
                          <m:t>,</m:t>
                        </m:r>
                        <m:r>
                          <a:rPr lang="en-US" altLang="zh-CN" b="0" i="1" smtClean="0">
                            <a:latin typeface="Cambria Math" panose="02040503050406030204" pitchFamily="18" charset="0"/>
                          </a:rPr>
                          <m:t>𝑏</m:t>
                        </m:r>
                        <m:r>
                          <a:rPr lang="en-US" altLang="zh-CN" b="0" i="1" smtClean="0">
                            <a:latin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𝑅</m:t>
                        </m:r>
                      </m:e>
                      <m:sup/>
                    </m:sSup>
                  </m:oMath>
                </a14:m>
                <a:r>
                  <a:rPr lang="zh-CN" altLang="en-US" dirty="0" smtClean="0"/>
                  <a:t>且</a:t>
                </a:r>
                <a14:m>
                  <m:oMath xmlns:m="http://schemas.openxmlformats.org/officeDocument/2006/math">
                    <m:r>
                      <a:rPr lang="en-US" altLang="zh-CN" i="1">
                        <a:latin typeface="Cambria Math" panose="02040503050406030204" pitchFamily="18" charset="0"/>
                      </a:rPr>
                      <m:t>(</m:t>
                    </m:r>
                    <m:r>
                      <m:rPr>
                        <m:sty m:val="p"/>
                      </m:rPr>
                      <a:rPr lang="en-US" altLang="zh-CN" i="1" smtClean="0">
                        <a:latin typeface="Cambria Math" panose="02040503050406030204" pitchFamily="18" charset="0"/>
                      </a:rPr>
                      <m:t>b</m:t>
                    </m:r>
                    <m:r>
                      <a:rPr lang="en-US" altLang="zh-CN" i="1">
                        <a:latin typeface="Cambria Math" panose="02040503050406030204" pitchFamily="18" charset="0"/>
                      </a:rPr>
                      <m:t>,</m:t>
                    </m:r>
                    <m:r>
                      <a:rPr lang="en-US" altLang="zh-CN" b="0" i="1" smtClean="0">
                        <a:latin typeface="Cambria Math" panose="02040503050406030204" pitchFamily="18" charset="0"/>
                      </a:rPr>
                      <m:t>𝑐</m:t>
                    </m:r>
                    <m:r>
                      <a:rPr lang="en-US" altLang="zh-CN" i="1">
                        <a:latin typeface="Cambria Math" panose="02040503050406030204" pitchFamily="18" charset="0"/>
                      </a:rPr>
                      <m:t>)∈</m:t>
                    </m:r>
                    <m:r>
                      <a:rPr lang="en-US" altLang="zh-CN" i="1">
                        <a:latin typeface="Cambria Math" panose="02040503050406030204" pitchFamily="18" charset="0"/>
                        <a:ea typeface="Cambria Math" panose="02040503050406030204" pitchFamily="18" charset="0"/>
                      </a:rPr>
                      <m:t>𝑅</m:t>
                    </m:r>
                  </m:oMath>
                </a14:m>
                <a:endParaRPr lang="en-US" dirty="0" smtClean="0"/>
              </a:p>
              <a:p>
                <a:pPr marL="0" indent="0">
                  <a:buNone/>
                </a:pPr>
                <a:r>
                  <a:rPr lang="zh-CN" altLang="en-US" dirty="0" smtClean="0"/>
                  <a:t>根据合成的定义知</a:t>
                </a:r>
                <a14:m>
                  <m:oMath xmlns:m="http://schemas.openxmlformats.org/officeDocument/2006/math">
                    <m:sSup>
                      <m:sSupPr>
                        <m:ctrlPr>
                          <a:rPr lang="en-US" altLang="zh-CN" i="1">
                            <a:latin typeface="Cambria Math" panose="02040503050406030204" pitchFamily="18" charset="0"/>
                          </a:rPr>
                        </m:ctrlPr>
                      </m:sSupPr>
                      <m:e>
                        <m:r>
                          <a:rPr lang="en-US" altLang="zh-CN" i="1">
                            <a:latin typeface="Cambria Math" panose="02040503050406030204" pitchFamily="18" charset="0"/>
                          </a:rPr>
                          <m:t>(</m:t>
                        </m:r>
                        <m:r>
                          <a:rPr lang="en-US" altLang="zh-CN" i="1">
                            <a:latin typeface="Cambria Math" panose="02040503050406030204" pitchFamily="18" charset="0"/>
                          </a:rPr>
                          <m:t>𝑎</m:t>
                        </m:r>
                        <m:r>
                          <a:rPr lang="en-US" altLang="zh-CN" i="1">
                            <a:latin typeface="Cambria Math" panose="02040503050406030204" pitchFamily="18" charset="0"/>
                          </a:rPr>
                          <m:t>,</m:t>
                        </m:r>
                        <m:r>
                          <m:rPr>
                            <m:sty m:val="p"/>
                          </m:rPr>
                          <a:rPr lang="en-US" altLang="zh-CN" i="1" smtClean="0">
                            <a:latin typeface="Cambria Math" panose="02040503050406030204" pitchFamily="18" charset="0"/>
                          </a:rPr>
                          <m:t>c</m:t>
                        </m:r>
                        <m:r>
                          <a:rPr lang="en-US" altLang="zh-CN" i="1">
                            <a:latin typeface="Cambria Math" panose="02040503050406030204" pitchFamily="18" charset="0"/>
                          </a:rPr>
                          <m:t>)∈</m:t>
                        </m:r>
                        <m:r>
                          <a:rPr lang="en-US" altLang="zh-CN" i="1">
                            <a:latin typeface="Cambria Math" panose="02040503050406030204" pitchFamily="18" charset="0"/>
                            <a:ea typeface="Cambria Math" panose="02040503050406030204" pitchFamily="18" charset="0"/>
                          </a:rPr>
                          <m:t>𝑅</m:t>
                        </m:r>
                      </m:e>
                      <m:sup>
                        <m:r>
                          <a:rPr lang="en-US" altLang="zh-CN" b="0" i="1" smtClean="0">
                            <a:latin typeface="Cambria Math" panose="02040503050406030204" pitchFamily="18" charset="0"/>
                            <a:ea typeface="Cambria Math" panose="02040503050406030204" pitchFamily="18" charset="0"/>
                          </a:rPr>
                          <m:t>2</m:t>
                        </m:r>
                      </m:sup>
                    </m:sSup>
                    <m:r>
                      <a:rPr lang="zh-CN" altLang="en-US" i="1" smtClean="0">
                        <a:latin typeface="Cambria Math" panose="02040503050406030204" pitchFamily="18" charset="0"/>
                        <a:ea typeface="Cambria Math" panose="02040503050406030204" pitchFamily="18" charset="0"/>
                      </a:rPr>
                      <m:t>，</m:t>
                    </m:r>
                  </m:oMath>
                </a14:m>
                <a:r>
                  <a:rPr lang="zh-CN" altLang="en-US" dirty="0" smtClean="0"/>
                  <a:t>因为</a:t>
                </a:r>
                <a14:m>
                  <m:oMath xmlns:m="http://schemas.openxmlformats.org/officeDocument/2006/math">
                    <m:sSup>
                      <m:sSupPr>
                        <m:ctrlPr>
                          <a:rPr lang="en-US" altLang="zh-CN" i="1">
                            <a:latin typeface="Cambria Math" panose="02040503050406030204" pitchFamily="18" charset="0"/>
                          </a:rPr>
                        </m:ctrlPr>
                      </m:sSupPr>
                      <m:e>
                        <m:r>
                          <m:rPr>
                            <m:sty m:val="p"/>
                          </m:rPr>
                          <a:rPr lang="en-US" altLang="zh-CN" i="1">
                            <a:latin typeface="Cambria Math" panose="02040503050406030204" pitchFamily="18" charset="0"/>
                          </a:rPr>
                          <m:t>R</m:t>
                        </m:r>
                      </m:e>
                      <m:sup>
                        <m:r>
                          <a:rPr lang="en-US" altLang="zh-CN" i="1">
                            <a:latin typeface="Cambria Math" panose="02040503050406030204" pitchFamily="18" charset="0"/>
                          </a:rPr>
                          <m:t>2</m:t>
                        </m:r>
                      </m:sup>
                    </m:sSup>
                    <m:r>
                      <a:rPr lang="en-US" altLang="zh-CN" i="1">
                        <a:latin typeface="Cambria Math" panose="02040503050406030204" pitchFamily="18" charset="0"/>
                        <a:ea typeface="Cambria Math" panose="02040503050406030204" pitchFamily="18" charset="0"/>
                      </a:rPr>
                      <m:t>⊆</m:t>
                    </m:r>
                    <m:r>
                      <m:rPr>
                        <m:sty m:val="p"/>
                      </m:rPr>
                      <a:rPr lang="en-US" altLang="zh-CN" i="1">
                        <a:latin typeface="Cambria Math" panose="02040503050406030204" pitchFamily="18" charset="0"/>
                        <a:ea typeface="Cambria Math" panose="02040503050406030204" pitchFamily="18" charset="0"/>
                      </a:rPr>
                      <m:t>R</m:t>
                    </m:r>
                  </m:oMath>
                </a14:m>
                <a:r>
                  <a:rPr lang="zh-CN" altLang="en-US" dirty="0" smtClean="0"/>
                  <a:t>，则</a:t>
                </a:r>
                <a14:m>
                  <m:oMath xmlns:m="http://schemas.openxmlformats.org/officeDocument/2006/math">
                    <m:sSup>
                      <m:sSupPr>
                        <m:ctrlPr>
                          <a:rPr lang="en-US" altLang="zh-CN" i="1">
                            <a:latin typeface="Cambria Math" panose="02040503050406030204" pitchFamily="18" charset="0"/>
                          </a:rPr>
                        </m:ctrlPr>
                      </m:sSupPr>
                      <m:e>
                        <m:r>
                          <a:rPr lang="en-US" altLang="zh-CN" i="1">
                            <a:latin typeface="Cambria Math" panose="02040503050406030204" pitchFamily="18" charset="0"/>
                          </a:rPr>
                          <m:t>(</m:t>
                        </m:r>
                        <m:r>
                          <a:rPr lang="en-US" altLang="zh-CN" i="1">
                            <a:latin typeface="Cambria Math" panose="02040503050406030204" pitchFamily="18" charset="0"/>
                          </a:rPr>
                          <m:t>𝑎</m:t>
                        </m:r>
                        <m:r>
                          <a:rPr lang="en-US" altLang="zh-CN" i="1">
                            <a:latin typeface="Cambria Math" panose="02040503050406030204" pitchFamily="18" charset="0"/>
                          </a:rPr>
                          <m:t>,</m:t>
                        </m:r>
                        <m:r>
                          <m:rPr>
                            <m:sty m:val="p"/>
                          </m:rPr>
                          <a:rPr lang="en-US" altLang="zh-CN" i="1" smtClean="0">
                            <a:latin typeface="Cambria Math" panose="02040503050406030204" pitchFamily="18" charset="0"/>
                          </a:rPr>
                          <m:t>c</m:t>
                        </m:r>
                        <m:r>
                          <a:rPr lang="en-US" altLang="zh-CN" i="1">
                            <a:latin typeface="Cambria Math" panose="02040503050406030204" pitchFamily="18" charset="0"/>
                          </a:rPr>
                          <m:t>)∈</m:t>
                        </m:r>
                        <m:r>
                          <a:rPr lang="en-US" altLang="zh-CN" i="1">
                            <a:latin typeface="Cambria Math" panose="02040503050406030204" pitchFamily="18" charset="0"/>
                            <a:ea typeface="Cambria Math" panose="02040503050406030204" pitchFamily="18" charset="0"/>
                          </a:rPr>
                          <m:t>𝑅</m:t>
                        </m:r>
                      </m:e>
                      <m:sup/>
                    </m:sSup>
                  </m:oMath>
                </a14:m>
                <a:r>
                  <a:rPr lang="en-US" altLang="zh-CN" dirty="0" smtClean="0"/>
                  <a:t>,</a:t>
                </a:r>
                <a:r>
                  <a:rPr lang="zh-CN" altLang="en-US" dirty="0" smtClean="0"/>
                  <a:t>推出</a:t>
                </a:r>
                <a:r>
                  <a:rPr lang="en-US" altLang="zh-CN" dirty="0" smtClean="0"/>
                  <a:t>R</a:t>
                </a:r>
                <a:r>
                  <a:rPr lang="zh-CN" altLang="en-US" dirty="0" smtClean="0"/>
                  <a:t>是传递的。再证（从左到右），利用数学归纳法进行证明，</a:t>
                </a:r>
                <a:r>
                  <a:rPr lang="en-US" altLang="zh-CN" dirty="0" smtClean="0"/>
                  <a:t>n=1</a:t>
                </a:r>
                <a:r>
                  <a:rPr lang="zh-CN" altLang="en-US" dirty="0" smtClean="0"/>
                  <a:t>显然成立。假设</a:t>
                </a:r>
                <a14:m>
                  <m:oMath xmlns:m="http://schemas.openxmlformats.org/officeDocument/2006/math">
                    <m:sSup>
                      <m:sSupPr>
                        <m:ctrlPr>
                          <a:rPr lang="en-US" altLang="zh-CN" i="1">
                            <a:latin typeface="Cambria Math" panose="02040503050406030204" pitchFamily="18" charset="0"/>
                          </a:rPr>
                        </m:ctrlPr>
                      </m:sSupPr>
                      <m:e>
                        <m:r>
                          <m:rPr>
                            <m:sty m:val="p"/>
                          </m:rPr>
                          <a:rPr lang="en-US" altLang="zh-CN" i="1">
                            <a:latin typeface="Cambria Math" panose="02040503050406030204" pitchFamily="18" charset="0"/>
                          </a:rPr>
                          <m:t>R</m:t>
                        </m:r>
                      </m:e>
                      <m:sup>
                        <m:r>
                          <m:rPr>
                            <m:sty m:val="p"/>
                          </m:rPr>
                          <a:rPr lang="en-US" altLang="zh-CN" i="1">
                            <a:latin typeface="Cambria Math" panose="02040503050406030204" pitchFamily="18" charset="0"/>
                          </a:rPr>
                          <m:t>n</m:t>
                        </m:r>
                      </m:sup>
                    </m:sSup>
                    <m:r>
                      <a:rPr lang="en-US" altLang="zh-CN" i="1">
                        <a:latin typeface="Cambria Math" panose="02040503050406030204" pitchFamily="18" charset="0"/>
                        <a:ea typeface="Cambria Math" panose="02040503050406030204" pitchFamily="18" charset="0"/>
                      </a:rPr>
                      <m:t>⊆</m:t>
                    </m:r>
                    <m:r>
                      <m:rPr>
                        <m:sty m:val="p"/>
                      </m:rPr>
                      <a:rPr lang="en-US" altLang="zh-CN" i="1">
                        <a:latin typeface="Cambria Math" panose="02040503050406030204" pitchFamily="18" charset="0"/>
                        <a:ea typeface="Cambria Math" panose="02040503050406030204" pitchFamily="18" charset="0"/>
                      </a:rPr>
                      <m:t>R</m:t>
                    </m:r>
                  </m:oMath>
                </a14:m>
                <a:r>
                  <a:rPr lang="zh-CN" altLang="en-US" dirty="0" smtClean="0"/>
                  <a:t>，必须证明</a:t>
                </a:r>
                <a14:m>
                  <m:oMath xmlns:m="http://schemas.openxmlformats.org/officeDocument/2006/math">
                    <m:sSup>
                      <m:sSupPr>
                        <m:ctrlPr>
                          <a:rPr lang="en-US" altLang="zh-CN" i="1">
                            <a:latin typeface="Cambria Math" panose="02040503050406030204" pitchFamily="18" charset="0"/>
                          </a:rPr>
                        </m:ctrlPr>
                      </m:sSupPr>
                      <m:e>
                        <m:r>
                          <m:rPr>
                            <m:sty m:val="p"/>
                          </m:rPr>
                          <a:rPr lang="en-US" altLang="zh-CN" i="1">
                            <a:latin typeface="Cambria Math" panose="02040503050406030204" pitchFamily="18" charset="0"/>
                          </a:rPr>
                          <m:t>R</m:t>
                        </m:r>
                      </m:e>
                      <m:sup>
                        <m:r>
                          <m:rPr>
                            <m:sty m:val="p"/>
                          </m:rPr>
                          <a:rPr lang="en-US" altLang="zh-CN" i="1">
                            <a:latin typeface="Cambria Math" panose="02040503050406030204" pitchFamily="18" charset="0"/>
                          </a:rPr>
                          <m:t>n</m:t>
                        </m:r>
                        <m:r>
                          <a:rPr lang="en-US" altLang="zh-CN" i="1">
                            <a:latin typeface="Cambria Math" panose="02040503050406030204" pitchFamily="18" charset="0"/>
                          </a:rPr>
                          <m:t>+1</m:t>
                        </m:r>
                      </m:sup>
                    </m:sSup>
                    <m:r>
                      <a:rPr lang="en-US" altLang="zh-CN" i="1">
                        <a:latin typeface="Cambria Math" panose="02040503050406030204" pitchFamily="18" charset="0"/>
                        <a:ea typeface="Cambria Math" panose="02040503050406030204" pitchFamily="18" charset="0"/>
                      </a:rPr>
                      <m:t>⊆</m:t>
                    </m:r>
                    <m:r>
                      <m:rPr>
                        <m:sty m:val="p"/>
                      </m:rPr>
                      <a:rPr lang="en-US" altLang="zh-CN" i="1">
                        <a:latin typeface="Cambria Math" panose="02040503050406030204" pitchFamily="18" charset="0"/>
                        <a:ea typeface="Cambria Math" panose="02040503050406030204" pitchFamily="18" charset="0"/>
                      </a:rPr>
                      <m:t>R</m:t>
                    </m:r>
                  </m:oMath>
                </a14:m>
                <a:r>
                  <a:rPr lang="zh-CN" altLang="en-US" dirty="0" smtClean="0"/>
                  <a:t>，假设</a:t>
                </a:r>
                <a14:m>
                  <m:oMath xmlns:m="http://schemas.openxmlformats.org/officeDocument/2006/math">
                    <m:sSup>
                      <m:sSupPr>
                        <m:ctrlPr>
                          <a:rPr lang="en-US" altLang="zh-CN" i="1">
                            <a:latin typeface="Cambria Math" panose="02040503050406030204" pitchFamily="18" charset="0"/>
                          </a:rPr>
                        </m:ctrlPr>
                      </m:sSupPr>
                      <m:e>
                        <m:r>
                          <a:rPr lang="en-US" altLang="zh-CN" i="1">
                            <a:latin typeface="Cambria Math" panose="02040503050406030204" pitchFamily="18" charset="0"/>
                          </a:rPr>
                          <m:t>(</m:t>
                        </m:r>
                        <m:r>
                          <a:rPr lang="en-US" altLang="zh-CN" i="1">
                            <a:latin typeface="Cambria Math" panose="02040503050406030204" pitchFamily="18" charset="0"/>
                          </a:rPr>
                          <m:t>𝑎</m:t>
                        </m:r>
                        <m:r>
                          <a:rPr lang="en-US" altLang="zh-CN" i="1">
                            <a:latin typeface="Cambria Math" panose="02040503050406030204" pitchFamily="18" charset="0"/>
                          </a:rPr>
                          <m:t>,</m:t>
                        </m:r>
                        <m:r>
                          <a:rPr lang="en-US" altLang="zh-CN" i="1">
                            <a:latin typeface="Cambria Math" panose="02040503050406030204" pitchFamily="18" charset="0"/>
                          </a:rPr>
                          <m:t>𝑏</m:t>
                        </m:r>
                        <m:r>
                          <a:rPr lang="en-US" altLang="zh-CN" i="1">
                            <a:latin typeface="Cambria Math" panose="02040503050406030204" pitchFamily="18" charset="0"/>
                          </a:rPr>
                          <m:t>)∈</m:t>
                        </m:r>
                        <m:r>
                          <a:rPr lang="en-US" altLang="zh-CN" i="1">
                            <a:latin typeface="Cambria Math" panose="02040503050406030204" pitchFamily="18" charset="0"/>
                            <a:ea typeface="Cambria Math" panose="02040503050406030204" pitchFamily="18" charset="0"/>
                          </a:rPr>
                          <m:t>𝑅</m:t>
                        </m:r>
                      </m:e>
                      <m:sup>
                        <m:r>
                          <m:rPr>
                            <m:sty m:val="p"/>
                          </m:rPr>
                          <a:rPr lang="en-US" altLang="zh-CN" i="1" smtClean="0">
                            <a:latin typeface="Cambria Math" panose="02040503050406030204" pitchFamily="18" charset="0"/>
                            <a:ea typeface="Cambria Math" panose="02040503050406030204" pitchFamily="18" charset="0"/>
                          </a:rPr>
                          <m:t>n</m:t>
                        </m:r>
                        <m:r>
                          <a:rPr lang="en-US" altLang="zh-CN" i="1" smtClean="0">
                            <a:latin typeface="Cambria Math" panose="02040503050406030204" pitchFamily="18" charset="0"/>
                            <a:ea typeface="Cambria Math" panose="02040503050406030204" pitchFamily="18" charset="0"/>
                          </a:rPr>
                          <m:t>+1</m:t>
                        </m:r>
                      </m:sup>
                    </m:sSup>
                  </m:oMath>
                </a14:m>
                <a:r>
                  <a:rPr lang="en-US" altLang="zh-CN" dirty="0" smtClean="0"/>
                  <a:t>,</a:t>
                </a:r>
                <a:r>
                  <a:rPr lang="zh-CN" altLang="en-US" dirty="0" smtClean="0"/>
                  <a:t>因为</a:t>
                </a:r>
                <a14:m>
                  <m:oMath xmlns:m="http://schemas.openxmlformats.org/officeDocument/2006/math">
                    <m:sSup>
                      <m:sSupPr>
                        <m:ctrlPr>
                          <a:rPr lang="en-US" altLang="zh-CN" i="1">
                            <a:latin typeface="Cambria Math" panose="02040503050406030204" pitchFamily="18" charset="0"/>
                          </a:rPr>
                        </m:ctrlPr>
                      </m:sSupPr>
                      <m:e>
                        <m:r>
                          <a:rPr lang="en-US" altLang="zh-CN" i="1">
                            <a:latin typeface="Cambria Math" panose="02040503050406030204" pitchFamily="18" charset="0"/>
                            <a:ea typeface="Cambria Math" panose="02040503050406030204" pitchFamily="18" charset="0"/>
                          </a:rPr>
                          <m:t>𝑅</m:t>
                        </m:r>
                      </m:e>
                      <m:sup>
                        <m:r>
                          <m:rPr>
                            <m:sty m:val="p"/>
                          </m:rPr>
                          <a:rPr lang="en-US" altLang="zh-CN" i="1" smtClean="0">
                            <a:latin typeface="Cambria Math" panose="02040503050406030204" pitchFamily="18" charset="0"/>
                            <a:ea typeface="Cambria Math" panose="02040503050406030204" pitchFamily="18" charset="0"/>
                          </a:rPr>
                          <m:t>n</m:t>
                        </m:r>
                        <m:r>
                          <a:rPr lang="en-US" altLang="zh-CN" i="1" smtClean="0">
                            <a:latin typeface="Cambria Math" panose="02040503050406030204" pitchFamily="18" charset="0"/>
                            <a:ea typeface="Cambria Math" panose="02040503050406030204" pitchFamily="18" charset="0"/>
                          </a:rPr>
                          <m:t>+1</m:t>
                        </m:r>
                      </m:sup>
                    </m:sSup>
                  </m:oMath>
                </a14:m>
                <a:r>
                  <a:rPr lang="en-US" altLang="zh-CN" dirty="0" smtClean="0"/>
                  <a:t>=</a:t>
                </a:r>
                <a14:m>
                  <m:oMath xmlns:m="http://schemas.openxmlformats.org/officeDocument/2006/math">
                    <m:sSup>
                      <m:sSupPr>
                        <m:ctrlPr>
                          <a:rPr lang="en-US" altLang="zh-CN" i="1">
                            <a:latin typeface="Cambria Math" panose="02040503050406030204" pitchFamily="18" charset="0"/>
                          </a:rPr>
                        </m:ctrlPr>
                      </m:sSupPr>
                      <m:e>
                        <m:r>
                          <a:rPr lang="en-US" altLang="zh-CN" i="1">
                            <a:latin typeface="Cambria Math" panose="02040503050406030204" pitchFamily="18" charset="0"/>
                            <a:ea typeface="Cambria Math" panose="02040503050406030204" pitchFamily="18" charset="0"/>
                          </a:rPr>
                          <m:t>𝑅</m:t>
                        </m:r>
                      </m:e>
                      <m:sup>
                        <m:r>
                          <a:rPr lang="en-US" altLang="zh-CN" b="0" i="1" smtClean="0">
                            <a:latin typeface="Cambria Math" panose="02040503050406030204" pitchFamily="18" charset="0"/>
                            <a:ea typeface="Cambria Math" panose="02040503050406030204" pitchFamily="18" charset="0"/>
                          </a:rPr>
                          <m:t>𝑛</m:t>
                        </m:r>
                      </m:sup>
                    </m:sSup>
                    <m:r>
                      <m:rPr>
                        <m:sty m:val="p"/>
                      </m:rPr>
                      <a:rPr lang="en-US" altLang="zh-CN" i="1" smtClean="0">
                        <a:latin typeface="Cambria Math" panose="02040503050406030204" pitchFamily="18" charset="0"/>
                        <a:ea typeface="Cambria Math" panose="02040503050406030204" pitchFamily="18" charset="0"/>
                      </a:rPr>
                      <m:t>o</m:t>
                    </m:r>
                  </m:oMath>
                </a14:m>
                <a:r>
                  <a:rPr lang="en-US" altLang="zh-CN" dirty="0">
                    <a:ea typeface="Cambria Math" panose="02040503050406030204" pitchFamily="18" charset="0"/>
                  </a:rPr>
                  <a:t> </a:t>
                </a:r>
                <a14:m>
                  <m:oMath xmlns:m="http://schemas.openxmlformats.org/officeDocument/2006/math">
                    <m:r>
                      <a:rPr lang="en-US" altLang="zh-CN" i="1">
                        <a:latin typeface="Cambria Math" panose="02040503050406030204" pitchFamily="18" charset="0"/>
                        <a:ea typeface="Cambria Math" panose="02040503050406030204" pitchFamily="18" charset="0"/>
                      </a:rPr>
                      <m:t>𝑅</m:t>
                    </m:r>
                  </m:oMath>
                </a14:m>
                <a:r>
                  <a:rPr lang="en-US" altLang="zh-CN" dirty="0" smtClean="0"/>
                  <a:t>,</a:t>
                </a:r>
                <a:r>
                  <a:rPr lang="zh-CN" altLang="en-US" dirty="0" smtClean="0"/>
                  <a:t>因此存在元素信息</a:t>
                </a:r>
                <a14:m>
                  <m:oMath xmlns:m="http://schemas.openxmlformats.org/officeDocument/2006/math">
                    <m:r>
                      <m:rPr>
                        <m:sty m:val="p"/>
                      </m:rPr>
                      <a:rPr lang="en-US" altLang="zh-CN" i="1" dirty="0">
                        <a:latin typeface="Cambria Math" panose="02040503050406030204" pitchFamily="18" charset="0"/>
                      </a:rPr>
                      <m:t>x</m:t>
                    </m:r>
                    <m:r>
                      <a:rPr lang="en-US" altLang="zh-CN" i="1">
                        <a:latin typeface="Cambria Math" panose="02040503050406030204" pitchFamily="18" charset="0"/>
                      </a:rPr>
                      <m:t>∈</m:t>
                    </m:r>
                    <m:r>
                      <a:rPr lang="en-US" altLang="zh-CN" b="0" i="1" smtClean="0">
                        <a:latin typeface="Cambria Math" panose="02040503050406030204" pitchFamily="18" charset="0"/>
                      </a:rPr>
                      <m:t>𝐴</m:t>
                    </m:r>
                  </m:oMath>
                </a14:m>
                <a:endParaRPr lang="en-US" altLang="zh-CN" dirty="0"/>
              </a:p>
              <a:p>
                <a:pPr marL="0" indent="0">
                  <a:buNone/>
                </a:pPr>
                <a14:m>
                  <m:oMath xmlns:m="http://schemas.openxmlformats.org/officeDocument/2006/math">
                    <m:r>
                      <a:rPr lang="en-US" altLang="zh-CN" b="0" i="0" smtClean="0">
                        <a:latin typeface="Cambria Math" panose="02040503050406030204" pitchFamily="18" charset="0"/>
                      </a:rPr>
                      <m:t>, </m:t>
                    </m:r>
                    <m:r>
                      <a:rPr lang="zh-CN" altLang="en-US" i="1">
                        <a:latin typeface="Cambria Math" panose="02040503050406030204" pitchFamily="18" charset="0"/>
                      </a:rPr>
                      <m:t>使得</m:t>
                    </m:r>
                    <m:sSup>
                      <m:sSupPr>
                        <m:ctrlPr>
                          <a:rPr lang="en-US" altLang="zh-CN" i="1">
                            <a:latin typeface="Cambria Math" panose="02040503050406030204" pitchFamily="18" charset="0"/>
                          </a:rPr>
                        </m:ctrlPr>
                      </m:sSupPr>
                      <m:e>
                        <m:r>
                          <a:rPr lang="en-US" altLang="zh-CN" i="1">
                            <a:latin typeface="Cambria Math" panose="02040503050406030204" pitchFamily="18" charset="0"/>
                          </a:rPr>
                          <m:t>(</m:t>
                        </m:r>
                        <m:r>
                          <m:rPr>
                            <m:sty m:val="p"/>
                          </m:rPr>
                          <a:rPr lang="en-US" altLang="zh-CN" i="1">
                            <a:latin typeface="Cambria Math" panose="02040503050406030204" pitchFamily="18" charset="0"/>
                          </a:rPr>
                          <m:t>a</m:t>
                        </m:r>
                        <m:r>
                          <a:rPr lang="en-US" altLang="zh-CN" i="1">
                            <a:latin typeface="Cambria Math" panose="02040503050406030204" pitchFamily="18" charset="0"/>
                          </a:rPr>
                          <m:t>,</m:t>
                        </m:r>
                        <m:r>
                          <a:rPr lang="en-US" altLang="zh-CN" b="0" i="1" smtClean="0">
                            <a:latin typeface="Cambria Math" panose="02040503050406030204" pitchFamily="18" charset="0"/>
                          </a:rPr>
                          <m:t>𝑥</m:t>
                        </m:r>
                        <m:r>
                          <a:rPr lang="en-US" altLang="zh-CN" i="1">
                            <a:latin typeface="Cambria Math" panose="02040503050406030204" pitchFamily="18" charset="0"/>
                          </a:rPr>
                          <m:t>)∈</m:t>
                        </m:r>
                        <m:r>
                          <a:rPr lang="en-US" altLang="zh-CN" i="1">
                            <a:latin typeface="Cambria Math" panose="02040503050406030204" pitchFamily="18" charset="0"/>
                            <a:ea typeface="Cambria Math" panose="02040503050406030204" pitchFamily="18" charset="0"/>
                          </a:rPr>
                          <m:t>𝑅</m:t>
                        </m:r>
                      </m:e>
                      <m:sup>
                        <m:r>
                          <a:rPr lang="en-US" altLang="zh-CN" b="0" i="1" smtClean="0">
                            <a:latin typeface="Cambria Math" panose="02040503050406030204" pitchFamily="18" charset="0"/>
                            <a:ea typeface="Cambria Math" panose="02040503050406030204" pitchFamily="18" charset="0"/>
                          </a:rPr>
                          <m:t>𝑛</m:t>
                        </m:r>
                      </m:sup>
                    </m:sSup>
                    <m:r>
                      <a:rPr lang="zh-CN" altLang="en-US" i="1">
                        <a:latin typeface="Cambria Math" panose="02040503050406030204" pitchFamily="18" charset="0"/>
                        <a:ea typeface="Cambria Math" panose="02040503050406030204" pitchFamily="18" charset="0"/>
                      </a:rPr>
                      <m:t>且</m:t>
                    </m:r>
                    <m:r>
                      <a:rPr lang="en-US" altLang="zh-CN" i="1">
                        <a:latin typeface="Cambria Math" panose="02040503050406030204" pitchFamily="18" charset="0"/>
                      </a:rPr>
                      <m:t>(</m:t>
                    </m:r>
                    <m:r>
                      <a:rPr lang="en-US" altLang="zh-CN" i="1">
                        <a:latin typeface="Cambria Math" panose="02040503050406030204" pitchFamily="18" charset="0"/>
                      </a:rPr>
                      <m:t>𝑥</m:t>
                    </m:r>
                    <m:r>
                      <a:rPr lang="en-US" altLang="zh-CN" i="1">
                        <a:latin typeface="Cambria Math" panose="02040503050406030204" pitchFamily="18" charset="0"/>
                      </a:rPr>
                      <m:t>,</m:t>
                    </m:r>
                    <m:r>
                      <a:rPr lang="en-US" altLang="zh-CN" i="1">
                        <a:latin typeface="Cambria Math" panose="02040503050406030204" pitchFamily="18" charset="0"/>
                      </a:rPr>
                      <m:t>𝑏</m:t>
                    </m:r>
                    <m:r>
                      <a:rPr lang="en-US" altLang="zh-CN" i="1">
                        <a:latin typeface="Cambria Math" panose="02040503050406030204" pitchFamily="18" charset="0"/>
                      </a:rPr>
                      <m:t>)∈</m:t>
                    </m:r>
                    <m:r>
                      <a:rPr lang="en-US" altLang="zh-CN" i="1">
                        <a:latin typeface="Cambria Math" panose="02040503050406030204" pitchFamily="18" charset="0"/>
                        <a:ea typeface="Cambria Math" panose="02040503050406030204" pitchFamily="18" charset="0"/>
                      </a:rPr>
                      <m:t>𝑅</m:t>
                    </m:r>
                  </m:oMath>
                </a14:m>
                <a:r>
                  <a:rPr lang="zh-CN" altLang="en-US" dirty="0" smtClean="0"/>
                  <a:t>由归纳假设可知，</a:t>
                </a:r>
                <a14:m>
                  <m:oMath xmlns:m="http://schemas.openxmlformats.org/officeDocument/2006/math">
                    <m:sSup>
                      <m:sSupPr>
                        <m:ctrlPr>
                          <a:rPr lang="en-US" altLang="zh-CN" i="1">
                            <a:latin typeface="Cambria Math" panose="02040503050406030204" pitchFamily="18" charset="0"/>
                          </a:rPr>
                        </m:ctrlPr>
                      </m:sSupPr>
                      <m:e>
                        <m:r>
                          <m:rPr>
                            <m:sty m:val="p"/>
                          </m:rPr>
                          <a:rPr lang="en-US" altLang="zh-CN" i="1">
                            <a:latin typeface="Cambria Math" panose="02040503050406030204" pitchFamily="18" charset="0"/>
                          </a:rPr>
                          <m:t>R</m:t>
                        </m:r>
                      </m:e>
                      <m:sup>
                        <m:r>
                          <m:rPr>
                            <m:sty m:val="p"/>
                          </m:rPr>
                          <a:rPr lang="en-US" altLang="zh-CN" i="1">
                            <a:latin typeface="Cambria Math" panose="02040503050406030204" pitchFamily="18" charset="0"/>
                          </a:rPr>
                          <m:t>n</m:t>
                        </m:r>
                      </m:sup>
                    </m:sSup>
                    <m:r>
                      <a:rPr lang="en-US" altLang="zh-CN" i="1">
                        <a:latin typeface="Cambria Math" panose="02040503050406030204" pitchFamily="18" charset="0"/>
                        <a:ea typeface="Cambria Math" panose="02040503050406030204" pitchFamily="18" charset="0"/>
                      </a:rPr>
                      <m:t>⊆</m:t>
                    </m:r>
                    <m:r>
                      <m:rPr>
                        <m:sty m:val="p"/>
                      </m:rPr>
                      <a:rPr lang="en-US" altLang="zh-CN" i="1">
                        <a:latin typeface="Cambria Math" panose="02040503050406030204" pitchFamily="18" charset="0"/>
                        <a:ea typeface="Cambria Math" panose="02040503050406030204" pitchFamily="18" charset="0"/>
                      </a:rPr>
                      <m:t>R</m:t>
                    </m:r>
                  </m:oMath>
                </a14:m>
                <a:r>
                  <a:rPr lang="zh-CN" altLang="en-US" dirty="0" smtClean="0"/>
                  <a:t>，所以</a:t>
                </a:r>
                <a14:m>
                  <m:oMath xmlns:m="http://schemas.openxmlformats.org/officeDocument/2006/math">
                    <m:sSup>
                      <m:sSupPr>
                        <m:ctrlPr>
                          <a:rPr lang="en-US" altLang="zh-CN" i="1">
                            <a:latin typeface="Cambria Math" panose="02040503050406030204" pitchFamily="18" charset="0"/>
                          </a:rPr>
                        </m:ctrlPr>
                      </m:sSupPr>
                      <m:e>
                        <m:r>
                          <a:rPr lang="en-US" altLang="zh-CN" i="1">
                            <a:latin typeface="Cambria Math" panose="02040503050406030204" pitchFamily="18" charset="0"/>
                          </a:rPr>
                          <m:t>(</m:t>
                        </m:r>
                        <m:r>
                          <m:rPr>
                            <m:sty m:val="p"/>
                          </m:rPr>
                          <a:rPr lang="en-US" altLang="zh-CN" i="1">
                            <a:latin typeface="Cambria Math" panose="02040503050406030204" pitchFamily="18" charset="0"/>
                          </a:rPr>
                          <m:t>a</m:t>
                        </m:r>
                        <m:r>
                          <a:rPr lang="en-US" altLang="zh-CN" i="1">
                            <a:latin typeface="Cambria Math" panose="02040503050406030204" pitchFamily="18" charset="0"/>
                          </a:rPr>
                          <m:t>,</m:t>
                        </m:r>
                        <m:r>
                          <a:rPr lang="en-US" altLang="zh-CN" b="0" i="1" smtClean="0">
                            <a:latin typeface="Cambria Math" panose="02040503050406030204" pitchFamily="18" charset="0"/>
                          </a:rPr>
                          <m:t>𝑥</m:t>
                        </m:r>
                        <m:r>
                          <a:rPr lang="en-US" altLang="zh-CN" i="1">
                            <a:latin typeface="Cambria Math" panose="02040503050406030204" pitchFamily="18" charset="0"/>
                          </a:rPr>
                          <m:t>)∈</m:t>
                        </m:r>
                        <m:r>
                          <a:rPr lang="en-US" altLang="zh-CN" i="1">
                            <a:latin typeface="Cambria Math" panose="02040503050406030204" pitchFamily="18" charset="0"/>
                            <a:ea typeface="Cambria Math" panose="02040503050406030204" pitchFamily="18" charset="0"/>
                          </a:rPr>
                          <m:t>𝑅</m:t>
                        </m:r>
                      </m:e>
                      <m:sup/>
                    </m:sSup>
                  </m:oMath>
                </a14:m>
                <a:r>
                  <a:rPr lang="zh-CN" altLang="en-US" dirty="0" smtClean="0"/>
                  <a:t>，又因为</a:t>
                </a:r>
                <a:r>
                  <a:rPr lang="en-US" altLang="zh-CN" dirty="0" smtClean="0"/>
                  <a:t>R</a:t>
                </a:r>
                <a:r>
                  <a:rPr lang="zh-CN" altLang="en-US" dirty="0" smtClean="0"/>
                  <a:t>是传递的，</a:t>
                </a:r>
                <a14:m>
                  <m:oMath xmlns:m="http://schemas.openxmlformats.org/officeDocument/2006/math">
                    <m:r>
                      <a:rPr lang="en-US" altLang="zh-CN" i="1">
                        <a:latin typeface="Cambria Math" panose="02040503050406030204" pitchFamily="18" charset="0"/>
                      </a:rPr>
                      <m:t>(</m:t>
                    </m:r>
                    <m:r>
                      <a:rPr lang="en-US" altLang="zh-CN" i="1">
                        <a:latin typeface="Cambria Math" panose="02040503050406030204" pitchFamily="18" charset="0"/>
                      </a:rPr>
                      <m:t>𝑎</m:t>
                    </m:r>
                    <m:r>
                      <a:rPr lang="en-US" altLang="zh-CN" i="1">
                        <a:latin typeface="Cambria Math" panose="02040503050406030204" pitchFamily="18" charset="0"/>
                      </a:rPr>
                      <m:t>,</m:t>
                    </m:r>
                    <m:r>
                      <a:rPr lang="en-US" altLang="zh-CN" i="1">
                        <a:latin typeface="Cambria Math" panose="02040503050406030204" pitchFamily="18" charset="0"/>
                      </a:rPr>
                      <m:t>𝑥</m:t>
                    </m:r>
                    <m:r>
                      <a:rPr lang="en-US" altLang="zh-CN" i="1">
                        <a:latin typeface="Cambria Math" panose="02040503050406030204" pitchFamily="18" charset="0"/>
                      </a:rPr>
                      <m:t>)∈</m:t>
                    </m:r>
                    <m:r>
                      <a:rPr lang="en-US" altLang="zh-CN" i="1">
                        <a:latin typeface="Cambria Math" panose="02040503050406030204" pitchFamily="18" charset="0"/>
                        <a:ea typeface="Cambria Math" panose="02040503050406030204" pitchFamily="18" charset="0"/>
                      </a:rPr>
                      <m:t>𝑅</m:t>
                    </m:r>
                  </m:oMath>
                </a14:m>
                <a:r>
                  <a:rPr lang="zh-CN" altLang="en-US" dirty="0" smtClean="0"/>
                  <a:t>且</a:t>
                </a:r>
                <a14:m>
                  <m:oMath xmlns:m="http://schemas.openxmlformats.org/officeDocument/2006/math">
                    <m:sSup>
                      <m:sSupPr>
                        <m:ctrlPr>
                          <a:rPr lang="en-US" altLang="zh-CN" i="1">
                            <a:latin typeface="Cambria Math" panose="02040503050406030204" pitchFamily="18" charset="0"/>
                          </a:rPr>
                        </m:ctrlPr>
                      </m:sSupPr>
                      <m:e>
                        <m:r>
                          <a:rPr lang="en-US" altLang="zh-CN" i="1">
                            <a:latin typeface="Cambria Math" panose="02040503050406030204" pitchFamily="18" charset="0"/>
                          </a:rPr>
                          <m:t>(</m:t>
                        </m:r>
                        <m:r>
                          <m:rPr>
                            <m:sty m:val="p"/>
                          </m:rPr>
                          <a:rPr lang="en-US" altLang="zh-CN" i="1">
                            <a:latin typeface="Cambria Math" panose="02040503050406030204" pitchFamily="18" charset="0"/>
                          </a:rPr>
                          <m:t>x</m:t>
                        </m:r>
                        <m:r>
                          <a:rPr lang="en-US" altLang="zh-CN" i="1">
                            <a:latin typeface="Cambria Math" panose="02040503050406030204" pitchFamily="18" charset="0"/>
                          </a:rPr>
                          <m:t>,</m:t>
                        </m:r>
                        <m:r>
                          <a:rPr lang="en-US" altLang="zh-CN" i="1">
                            <a:latin typeface="Cambria Math" panose="02040503050406030204" pitchFamily="18" charset="0"/>
                          </a:rPr>
                          <m:t>𝑏</m:t>
                        </m:r>
                        <m:r>
                          <a:rPr lang="en-US" altLang="zh-CN" i="1">
                            <a:latin typeface="Cambria Math" panose="02040503050406030204" pitchFamily="18" charset="0"/>
                          </a:rPr>
                          <m:t>)∈</m:t>
                        </m:r>
                        <m:r>
                          <a:rPr lang="en-US" altLang="zh-CN" i="1">
                            <a:latin typeface="Cambria Math" panose="02040503050406030204" pitchFamily="18" charset="0"/>
                            <a:ea typeface="Cambria Math" panose="02040503050406030204" pitchFamily="18" charset="0"/>
                          </a:rPr>
                          <m:t>𝑅</m:t>
                        </m:r>
                      </m:e>
                      <m:sup/>
                    </m:sSup>
                  </m:oMath>
                </a14:m>
                <a:r>
                  <a:rPr lang="zh-CN" altLang="en-US" dirty="0" smtClean="0"/>
                  <a:t>，证明了</a:t>
                </a:r>
                <a14:m>
                  <m:oMath xmlns:m="http://schemas.openxmlformats.org/officeDocument/2006/math">
                    <m:sSup>
                      <m:sSupPr>
                        <m:ctrlPr>
                          <a:rPr lang="en-US" altLang="zh-CN" i="1">
                            <a:latin typeface="Cambria Math" panose="02040503050406030204" pitchFamily="18" charset="0"/>
                          </a:rPr>
                        </m:ctrlPr>
                      </m:sSupPr>
                      <m:e>
                        <m:r>
                          <m:rPr>
                            <m:sty m:val="p"/>
                          </m:rPr>
                          <a:rPr lang="en-US" altLang="zh-CN" i="1">
                            <a:latin typeface="Cambria Math" panose="02040503050406030204" pitchFamily="18" charset="0"/>
                          </a:rPr>
                          <m:t>R</m:t>
                        </m:r>
                      </m:e>
                      <m:sup>
                        <m:r>
                          <m:rPr>
                            <m:sty m:val="p"/>
                          </m:rPr>
                          <a:rPr lang="en-US" altLang="zh-CN" i="1">
                            <a:latin typeface="Cambria Math" panose="02040503050406030204" pitchFamily="18" charset="0"/>
                          </a:rPr>
                          <m:t>n</m:t>
                        </m:r>
                        <m:r>
                          <a:rPr lang="en-US" altLang="zh-CN" i="1">
                            <a:latin typeface="Cambria Math" panose="02040503050406030204" pitchFamily="18" charset="0"/>
                          </a:rPr>
                          <m:t>+1</m:t>
                        </m:r>
                      </m:sup>
                    </m:sSup>
                    <m:r>
                      <a:rPr lang="en-US" altLang="zh-CN" i="1">
                        <a:latin typeface="Cambria Math" panose="02040503050406030204" pitchFamily="18" charset="0"/>
                        <a:ea typeface="Cambria Math" panose="02040503050406030204" pitchFamily="18" charset="0"/>
                      </a:rPr>
                      <m:t>⊆</m:t>
                    </m:r>
                    <m:r>
                      <m:rPr>
                        <m:sty m:val="p"/>
                      </m:rPr>
                      <a:rPr lang="en-US" altLang="zh-CN" i="1">
                        <a:latin typeface="Cambria Math" panose="02040503050406030204" pitchFamily="18" charset="0"/>
                        <a:ea typeface="Cambria Math" panose="02040503050406030204" pitchFamily="18" charset="0"/>
                      </a:rPr>
                      <m:t>R</m:t>
                    </m:r>
                  </m:oMath>
                </a14:m>
                <a:r>
                  <a:rPr lang="zh-CN" altLang="en-US" dirty="0" smtClean="0"/>
                  <a:t>，完成证明。</a:t>
                </a:r>
                <a:endParaRPr lang="en-US" altLang="zh-CN" dirty="0" smtClean="0"/>
              </a:p>
              <a:p>
                <a:pPr marL="0" indent="0">
                  <a:buNone/>
                </a:pPr>
                <a:endParaRPr lang="en-US" altLang="zh-CN" dirty="0" smtClean="0"/>
              </a:p>
              <a:p>
                <a:pPr marL="0" indent="0">
                  <a:buNone/>
                </a:pPr>
                <a:r>
                  <a:rPr lang="zh-CN" altLang="en-US" b="1" dirty="0" smtClean="0"/>
                  <a:t>定理说明</a:t>
                </a:r>
                <a:r>
                  <a:rPr lang="en-US" altLang="zh-CN" b="1" dirty="0" smtClean="0"/>
                  <a:t>, </a:t>
                </a:r>
                <a:r>
                  <a:rPr lang="zh-CN" altLang="en-US" b="1" dirty="0" smtClean="0"/>
                  <a:t>一</a:t>
                </a:r>
                <a:r>
                  <a:rPr lang="zh-CN" altLang="en-US" b="1" dirty="0"/>
                  <a:t>个传递关系的幂是该关系的子集</a:t>
                </a:r>
                <a:r>
                  <a:rPr lang="en-US" altLang="zh-CN" b="1" dirty="0" smtClean="0"/>
                  <a:t>.</a:t>
                </a:r>
                <a:endParaRPr lang="en-US" b="1" dirty="0" smtClean="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2"/>
                <a:stretch>
                  <a:fillRect l="-888" t="-1667" r="-222" b="-1190"/>
                </a:stretch>
              </a:blipFill>
            </p:spPr>
            <p:txBody>
              <a:bodyPr/>
              <a:lstStyle/>
              <a:p>
                <a:r>
                  <a:rPr lang="zh-CN" altLang="en-US">
                    <a:noFill/>
                  </a:rPr>
                  <a:t> </a:t>
                </a:r>
              </a:p>
            </p:txBody>
          </p:sp>
        </mc:Fallback>
      </mc:AlternateContent>
      <p:sp>
        <p:nvSpPr>
          <p:cNvPr id="6" name="日期占位符 5"/>
          <p:cNvSpPr>
            <a:spLocks noGrp="1"/>
          </p:cNvSpPr>
          <p:nvPr>
            <p:ph type="dt" sz="half" idx="10"/>
          </p:nvPr>
        </p:nvSpPr>
        <p:spPr/>
        <p:txBody>
          <a:bodyPr/>
          <a:lstStyle/>
          <a:p>
            <a:fld id="{CC6C5E77-9572-45D7-91D3-95E8DAB182A4}" type="datetime1">
              <a:rPr lang="zh-CN" altLang="en-US" smtClean="0"/>
              <a:t>2025/3/14</a:t>
            </a:fld>
            <a:endParaRPr lang="zh-CN" altLang="en-US" dirty="0"/>
          </a:p>
        </p:txBody>
      </p:sp>
      <p:sp>
        <p:nvSpPr>
          <p:cNvPr id="7" name="页脚占位符 6"/>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8" name="灯片编号占位符 7"/>
          <p:cNvSpPr>
            <a:spLocks noGrp="1"/>
          </p:cNvSpPr>
          <p:nvPr>
            <p:ph type="sldNum" sz="quarter" idx="12"/>
          </p:nvPr>
        </p:nvSpPr>
        <p:spPr/>
        <p:txBody>
          <a:bodyPr/>
          <a:lstStyle/>
          <a:p>
            <a:fld id="{67913A8A-9EFB-4B5F-9CCB-3D21173FAA85}" type="slidenum">
              <a:rPr lang="zh-CN" altLang="en-US" smtClean="0"/>
              <a:pPr/>
              <a:t>22</a:t>
            </a:fld>
            <a:endParaRPr lang="zh-CN" altLang="en-US" dirty="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关系的组合</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zh-CN" altLang="en-US" dirty="0" smtClean="0"/>
                  <a:t>例</a:t>
                </a:r>
                <a:r>
                  <a:rPr lang="en-US" dirty="0" smtClean="0"/>
                  <a:t>:</a:t>
                </a:r>
                <a:r>
                  <a:rPr lang="en-US" altLang="zh-CN" dirty="0" smtClean="0"/>
                  <a:t>R={(1,1), (2,1), (3,2), (4,3)}, </a:t>
                </a:r>
                <a:r>
                  <a:rPr lang="zh-CN" altLang="en-US" dirty="0" smtClean="0"/>
                  <a:t>求</a:t>
                </a:r>
                <a14:m>
                  <m:oMath xmlns:m="http://schemas.openxmlformats.org/officeDocument/2006/math">
                    <m:sSup>
                      <m:sSupPr>
                        <m:ctrlPr>
                          <a:rPr lang="en-US" altLang="zh-CN" i="1" smtClean="0">
                            <a:latin typeface="Cambria Math" panose="02040503050406030204" pitchFamily="18" charset="0"/>
                          </a:rPr>
                        </m:ctrlPr>
                      </m:sSupPr>
                      <m:e>
                        <m:r>
                          <a:rPr lang="en-US" altLang="zh-CN" b="0" i="1" smtClean="0">
                            <a:latin typeface="Cambria Math" panose="02040503050406030204" pitchFamily="18" charset="0"/>
                          </a:rPr>
                          <m:t>𝑅</m:t>
                        </m:r>
                      </m:e>
                      <m:sup>
                        <m:r>
                          <a:rPr lang="en-US" altLang="zh-CN" b="0" i="1" smtClean="0">
                            <a:latin typeface="Cambria Math" panose="02040503050406030204" pitchFamily="18" charset="0"/>
                          </a:rPr>
                          <m:t>𝑛</m:t>
                        </m:r>
                      </m:sup>
                    </m:sSup>
                    <m:r>
                      <a:rPr lang="en-US" altLang="zh-CN" b="0" i="1" smtClean="0">
                        <a:latin typeface="Cambria Math" panose="02040503050406030204" pitchFamily="18" charset="0"/>
                      </a:rPr>
                      <m:t>(</m:t>
                    </m:r>
                    <m:r>
                      <a:rPr lang="en-US" altLang="zh-CN" b="0" i="1" smtClean="0">
                        <a:latin typeface="Cambria Math" panose="02040503050406030204" pitchFamily="18" charset="0"/>
                      </a:rPr>
                      <m:t>𝑛</m:t>
                    </m:r>
                    <m:r>
                      <a:rPr lang="en-US" altLang="zh-CN" b="0" i="1" smtClean="0">
                        <a:latin typeface="Cambria Math" panose="02040503050406030204" pitchFamily="18" charset="0"/>
                      </a:rPr>
                      <m:t>=1,2,3,…)</m:t>
                    </m:r>
                  </m:oMath>
                </a14:m>
                <a:endParaRPr lang="en-US" dirty="0" smtClean="0"/>
              </a:p>
              <a:p>
                <a:r>
                  <a:rPr lang="zh-CN" altLang="en-US" dirty="0" smtClean="0"/>
                  <a:t>解</a:t>
                </a:r>
                <a:r>
                  <a:rPr lang="en-US" altLang="zh-CN" dirty="0" smtClean="0"/>
                  <a:t>:</a:t>
                </a:r>
              </a:p>
              <a:p>
                <a:pPr lvl="1"/>
                <a14:m>
                  <m:oMath xmlns:m="http://schemas.openxmlformats.org/officeDocument/2006/math">
                    <m:sSup>
                      <m:sSupPr>
                        <m:ctrlPr>
                          <a:rPr lang="en-US" altLang="zh-CN" i="1">
                            <a:latin typeface="Cambria Math" panose="02040503050406030204" pitchFamily="18" charset="0"/>
                          </a:rPr>
                        </m:ctrlPr>
                      </m:sSupPr>
                      <m:e>
                        <m:r>
                          <a:rPr lang="en-US" altLang="zh-CN">
                            <a:latin typeface="Cambria Math" panose="02040503050406030204" pitchFamily="18" charset="0"/>
                          </a:rPr>
                          <m:t>𝑅</m:t>
                        </m:r>
                      </m:e>
                      <m:sup>
                        <m:r>
                          <a:rPr lang="en-US" altLang="zh-CN">
                            <a:latin typeface="Cambria Math" panose="02040503050406030204" pitchFamily="18" charset="0"/>
                          </a:rPr>
                          <m:t>1</m:t>
                        </m:r>
                      </m:sup>
                    </m:sSup>
                  </m:oMath>
                </a14:m>
                <a:r>
                  <a:rPr lang="en-US" altLang="zh-CN" dirty="0">
                    <a:latin typeface="Cambria Math" panose="02040503050406030204" pitchFamily="18" charset="0"/>
                  </a:rPr>
                  <a:t>=R</a:t>
                </a:r>
              </a:p>
              <a:p>
                <a:pPr lvl="1"/>
                <a14:m>
                  <m:oMath xmlns:m="http://schemas.openxmlformats.org/officeDocument/2006/math">
                    <m:sSup>
                      <m:sSupPr>
                        <m:ctrlPr>
                          <a:rPr lang="en-US" altLang="zh-CN" i="1">
                            <a:latin typeface="Cambria Math" panose="02040503050406030204" pitchFamily="18" charset="0"/>
                          </a:rPr>
                        </m:ctrlPr>
                      </m:sSupPr>
                      <m:e>
                        <m:r>
                          <a:rPr lang="en-US" altLang="zh-CN">
                            <a:latin typeface="Cambria Math" panose="02040503050406030204" pitchFamily="18" charset="0"/>
                          </a:rPr>
                          <m:t>𝑅</m:t>
                        </m:r>
                      </m:e>
                      <m:sup>
                        <m:r>
                          <a:rPr lang="en-US" altLang="zh-CN">
                            <a:latin typeface="Cambria Math" panose="02040503050406030204" pitchFamily="18" charset="0"/>
                          </a:rPr>
                          <m:t>2</m:t>
                        </m:r>
                      </m:sup>
                    </m:sSup>
                  </m:oMath>
                </a14:m>
                <a:r>
                  <a:rPr lang="en-US" altLang="zh-CN" dirty="0">
                    <a:latin typeface="Cambria Math" panose="02040503050406030204" pitchFamily="18" charset="0"/>
                  </a:rPr>
                  <a:t>=</a:t>
                </a:r>
                <a14:m>
                  <m:oMath xmlns:m="http://schemas.openxmlformats.org/officeDocument/2006/math">
                    <m:sSup>
                      <m:sSupPr>
                        <m:ctrlPr>
                          <a:rPr lang="en-US" altLang="zh-CN" i="1">
                            <a:latin typeface="Cambria Math" panose="02040503050406030204" pitchFamily="18" charset="0"/>
                          </a:rPr>
                        </m:ctrlPr>
                      </m:sSupPr>
                      <m:e>
                        <m:r>
                          <m:rPr>
                            <m:nor/>
                          </m:rPr>
                          <a:rPr lang="en-US" altLang="zh-CN" dirty="0">
                            <a:latin typeface="Cambria Math" panose="02040503050406030204" pitchFamily="18" charset="0"/>
                          </a:rPr>
                          <m:t>R</m:t>
                        </m:r>
                        <m:r>
                          <a:rPr lang="en-US" altLang="zh-CN">
                            <a:latin typeface="Cambria Math" panose="02040503050406030204" pitchFamily="18" charset="0"/>
                          </a:rPr>
                          <m:t>°</m:t>
                        </m:r>
                        <m:r>
                          <a:rPr lang="en-US" altLang="zh-CN">
                            <a:latin typeface="Cambria Math" panose="02040503050406030204" pitchFamily="18" charset="0"/>
                          </a:rPr>
                          <m:t>𝑅</m:t>
                        </m:r>
                      </m:e>
                      <m:sup>
                        <m:r>
                          <a:rPr lang="en-US" altLang="zh-CN">
                            <a:latin typeface="Cambria Math" panose="02040503050406030204" pitchFamily="18" charset="0"/>
                          </a:rPr>
                          <m:t>1</m:t>
                        </m:r>
                      </m:sup>
                    </m:sSup>
                  </m:oMath>
                </a14:m>
                <a:r>
                  <a:rPr lang="en-US" altLang="zh-CN" dirty="0" smtClean="0">
                    <a:latin typeface="Cambria Math" panose="02040503050406030204" pitchFamily="18" charset="0"/>
                  </a:rPr>
                  <a:t>={(</a:t>
                </a:r>
                <a:r>
                  <a:rPr lang="en-US" altLang="zh-CN" dirty="0">
                    <a:latin typeface="Cambria Math" panose="02040503050406030204" pitchFamily="18" charset="0"/>
                  </a:rPr>
                  <a:t>1,1), (2,1),(3,1), (4,2)}</a:t>
                </a:r>
              </a:p>
              <a:p>
                <a:pPr lvl="1"/>
                <a14:m>
                  <m:oMath xmlns:m="http://schemas.openxmlformats.org/officeDocument/2006/math">
                    <m:sSup>
                      <m:sSupPr>
                        <m:ctrlPr>
                          <a:rPr lang="en-US" altLang="zh-CN" i="1">
                            <a:latin typeface="Cambria Math" panose="02040503050406030204" pitchFamily="18" charset="0"/>
                          </a:rPr>
                        </m:ctrlPr>
                      </m:sSupPr>
                      <m:e>
                        <m:r>
                          <a:rPr lang="en-US" altLang="zh-CN">
                            <a:latin typeface="Cambria Math" panose="02040503050406030204" pitchFamily="18" charset="0"/>
                          </a:rPr>
                          <m:t>𝑅</m:t>
                        </m:r>
                      </m:e>
                      <m:sup>
                        <m:r>
                          <a:rPr lang="en-US" altLang="zh-CN">
                            <a:latin typeface="Cambria Math" panose="02040503050406030204" pitchFamily="18" charset="0"/>
                          </a:rPr>
                          <m:t>3</m:t>
                        </m:r>
                      </m:sup>
                    </m:sSup>
                  </m:oMath>
                </a14:m>
                <a:r>
                  <a:rPr lang="en-US" altLang="zh-CN" dirty="0">
                    <a:latin typeface="Cambria Math" panose="02040503050406030204" pitchFamily="18" charset="0"/>
                  </a:rPr>
                  <a:t>=</a:t>
                </a:r>
                <a14:m>
                  <m:oMath xmlns:m="http://schemas.openxmlformats.org/officeDocument/2006/math">
                    <m:sSup>
                      <m:sSupPr>
                        <m:ctrlPr>
                          <a:rPr lang="en-US" altLang="zh-CN" i="1">
                            <a:latin typeface="Cambria Math" panose="02040503050406030204" pitchFamily="18" charset="0"/>
                          </a:rPr>
                        </m:ctrlPr>
                      </m:sSupPr>
                      <m:e>
                        <m:r>
                          <m:rPr>
                            <m:nor/>
                          </m:rPr>
                          <a:rPr lang="en-US" altLang="zh-CN" dirty="0">
                            <a:latin typeface="Cambria Math" panose="02040503050406030204" pitchFamily="18" charset="0"/>
                          </a:rPr>
                          <m:t>R</m:t>
                        </m:r>
                        <m:r>
                          <a:rPr lang="en-US" altLang="zh-CN">
                            <a:latin typeface="Cambria Math" panose="02040503050406030204" pitchFamily="18" charset="0"/>
                          </a:rPr>
                          <m:t>°</m:t>
                        </m:r>
                        <m:r>
                          <a:rPr lang="en-US" altLang="zh-CN">
                            <a:latin typeface="Cambria Math" panose="02040503050406030204" pitchFamily="18" charset="0"/>
                          </a:rPr>
                          <m:t>𝑅</m:t>
                        </m:r>
                      </m:e>
                      <m:sup>
                        <m:r>
                          <a:rPr lang="en-US" altLang="zh-CN">
                            <a:latin typeface="Cambria Math" panose="02040503050406030204" pitchFamily="18" charset="0"/>
                          </a:rPr>
                          <m:t>2</m:t>
                        </m:r>
                      </m:sup>
                    </m:sSup>
                  </m:oMath>
                </a14:m>
                <a:r>
                  <a:rPr lang="en-US" altLang="zh-CN" dirty="0" smtClean="0">
                    <a:latin typeface="Cambria Math" panose="02040503050406030204" pitchFamily="18" charset="0"/>
                  </a:rPr>
                  <a:t>={(</a:t>
                </a:r>
                <a:r>
                  <a:rPr lang="en-US" altLang="zh-CN" dirty="0">
                    <a:latin typeface="Cambria Math" panose="02040503050406030204" pitchFamily="18" charset="0"/>
                  </a:rPr>
                  <a:t>1,1),(2,1),(3,1), (4,1)}</a:t>
                </a:r>
              </a:p>
              <a:p>
                <a:pPr lvl="1"/>
                <a14:m>
                  <m:oMath xmlns:m="http://schemas.openxmlformats.org/officeDocument/2006/math">
                    <m:sSup>
                      <m:sSupPr>
                        <m:ctrlPr>
                          <a:rPr lang="en-US" altLang="zh-CN" i="1">
                            <a:latin typeface="Cambria Math" panose="02040503050406030204" pitchFamily="18" charset="0"/>
                          </a:rPr>
                        </m:ctrlPr>
                      </m:sSupPr>
                      <m:e>
                        <m:r>
                          <a:rPr lang="en-US" altLang="zh-CN">
                            <a:latin typeface="Cambria Math" panose="02040503050406030204" pitchFamily="18" charset="0"/>
                          </a:rPr>
                          <m:t>𝑅</m:t>
                        </m:r>
                      </m:e>
                      <m:sup>
                        <m:r>
                          <a:rPr lang="en-US" altLang="zh-CN">
                            <a:latin typeface="Cambria Math" panose="02040503050406030204" pitchFamily="18" charset="0"/>
                          </a:rPr>
                          <m:t>4</m:t>
                        </m:r>
                      </m:sup>
                    </m:sSup>
                  </m:oMath>
                </a14:m>
                <a:r>
                  <a:rPr lang="en-US" altLang="zh-CN" dirty="0">
                    <a:latin typeface="Cambria Math" panose="02040503050406030204" pitchFamily="18" charset="0"/>
                  </a:rPr>
                  <a:t>=</a:t>
                </a:r>
                <a14:m>
                  <m:oMath xmlns:m="http://schemas.openxmlformats.org/officeDocument/2006/math">
                    <m:sSup>
                      <m:sSupPr>
                        <m:ctrlPr>
                          <a:rPr lang="en-US" altLang="zh-CN" i="1">
                            <a:latin typeface="Cambria Math" panose="02040503050406030204" pitchFamily="18" charset="0"/>
                          </a:rPr>
                        </m:ctrlPr>
                      </m:sSupPr>
                      <m:e>
                        <m:r>
                          <m:rPr>
                            <m:nor/>
                          </m:rPr>
                          <a:rPr lang="en-US" altLang="zh-CN" dirty="0">
                            <a:latin typeface="Cambria Math" panose="02040503050406030204" pitchFamily="18" charset="0"/>
                          </a:rPr>
                          <m:t>R</m:t>
                        </m:r>
                        <m:r>
                          <a:rPr lang="en-US" altLang="zh-CN">
                            <a:latin typeface="Cambria Math" panose="02040503050406030204" pitchFamily="18" charset="0"/>
                          </a:rPr>
                          <m:t>°</m:t>
                        </m:r>
                        <m:r>
                          <a:rPr lang="en-US" altLang="zh-CN">
                            <a:latin typeface="Cambria Math" panose="02040503050406030204" pitchFamily="18" charset="0"/>
                          </a:rPr>
                          <m:t>𝑅</m:t>
                        </m:r>
                      </m:e>
                      <m:sup>
                        <m:r>
                          <a:rPr lang="en-US" altLang="zh-CN">
                            <a:latin typeface="Cambria Math" panose="02040503050406030204" pitchFamily="18" charset="0"/>
                          </a:rPr>
                          <m:t>3</m:t>
                        </m:r>
                      </m:sup>
                    </m:sSup>
                  </m:oMath>
                </a14:m>
                <a:r>
                  <a:rPr lang="en-US" altLang="zh-CN" dirty="0" smtClean="0">
                    <a:latin typeface="Cambria Math" panose="02040503050406030204" pitchFamily="18" charset="0"/>
                  </a:rPr>
                  <a:t>=</a:t>
                </a:r>
                <a14:m>
                  <m:oMath xmlns:m="http://schemas.openxmlformats.org/officeDocument/2006/math">
                    <m:sSup>
                      <m:sSupPr>
                        <m:ctrlPr>
                          <a:rPr lang="en-US" altLang="zh-CN" i="1">
                            <a:latin typeface="Cambria Math" panose="02040503050406030204" pitchFamily="18" charset="0"/>
                          </a:rPr>
                        </m:ctrlPr>
                      </m:sSupPr>
                      <m:e>
                        <m:r>
                          <a:rPr lang="en-US" altLang="zh-CN">
                            <a:latin typeface="Cambria Math" panose="02040503050406030204" pitchFamily="18" charset="0"/>
                          </a:rPr>
                          <m:t>𝑅</m:t>
                        </m:r>
                      </m:e>
                      <m:sup>
                        <m:r>
                          <a:rPr lang="en-US" altLang="zh-CN">
                            <a:latin typeface="Cambria Math" panose="02040503050406030204" pitchFamily="18" charset="0"/>
                          </a:rPr>
                          <m:t>3</m:t>
                        </m:r>
                      </m:sup>
                    </m:sSup>
                  </m:oMath>
                </a14:m>
                <a:r>
                  <a:rPr lang="en-US" altLang="zh-CN" dirty="0">
                    <a:latin typeface="Cambria Math" panose="02040503050406030204" pitchFamily="18" charset="0"/>
                  </a:rPr>
                  <a:t>={(1,1),(2,1),(3,1), (4,1)}</a:t>
                </a:r>
              </a:p>
              <a:p>
                <a:pPr lvl="1"/>
                <a14:m>
                  <m:oMath xmlns:m="http://schemas.openxmlformats.org/officeDocument/2006/math">
                    <m:sSup>
                      <m:sSupPr>
                        <m:ctrlPr>
                          <a:rPr lang="en-US" altLang="zh-CN" i="1">
                            <a:latin typeface="Cambria Math" panose="02040503050406030204" pitchFamily="18" charset="0"/>
                          </a:rPr>
                        </m:ctrlPr>
                      </m:sSupPr>
                      <m:e>
                        <m:r>
                          <a:rPr lang="en-US" altLang="zh-CN">
                            <a:latin typeface="Cambria Math" panose="02040503050406030204" pitchFamily="18" charset="0"/>
                          </a:rPr>
                          <m:t>𝑅</m:t>
                        </m:r>
                      </m:e>
                      <m:sup>
                        <m:r>
                          <a:rPr lang="en-US" altLang="zh-CN">
                            <a:latin typeface="Cambria Math" panose="02040503050406030204" pitchFamily="18" charset="0"/>
                          </a:rPr>
                          <m:t>5</m:t>
                        </m:r>
                      </m:sup>
                    </m:sSup>
                  </m:oMath>
                </a14:m>
                <a:r>
                  <a:rPr lang="en-US" altLang="zh-CN" dirty="0">
                    <a:latin typeface="Cambria Math" panose="02040503050406030204" pitchFamily="18" charset="0"/>
                  </a:rPr>
                  <a:t>=</a:t>
                </a:r>
                <a14:m>
                  <m:oMath xmlns:m="http://schemas.openxmlformats.org/officeDocument/2006/math">
                    <m:sSup>
                      <m:sSupPr>
                        <m:ctrlPr>
                          <a:rPr lang="en-US" altLang="zh-CN" i="1">
                            <a:latin typeface="Cambria Math" panose="02040503050406030204" pitchFamily="18" charset="0"/>
                          </a:rPr>
                        </m:ctrlPr>
                      </m:sSupPr>
                      <m:e>
                        <m:r>
                          <m:rPr>
                            <m:nor/>
                          </m:rPr>
                          <a:rPr lang="en-US" altLang="zh-CN" dirty="0">
                            <a:latin typeface="Cambria Math" panose="02040503050406030204" pitchFamily="18" charset="0"/>
                          </a:rPr>
                          <m:t>R</m:t>
                        </m:r>
                        <m:r>
                          <a:rPr lang="en-US" altLang="zh-CN">
                            <a:latin typeface="Cambria Math" panose="02040503050406030204" pitchFamily="18" charset="0"/>
                          </a:rPr>
                          <m:t>°</m:t>
                        </m:r>
                        <m:r>
                          <a:rPr lang="en-US" altLang="zh-CN">
                            <a:latin typeface="Cambria Math" panose="02040503050406030204" pitchFamily="18" charset="0"/>
                          </a:rPr>
                          <m:t>𝑅</m:t>
                        </m:r>
                      </m:e>
                      <m:sup>
                        <m:r>
                          <a:rPr lang="en-US" altLang="zh-CN">
                            <a:latin typeface="Cambria Math" panose="02040503050406030204" pitchFamily="18" charset="0"/>
                          </a:rPr>
                          <m:t>4</m:t>
                        </m:r>
                      </m:sup>
                    </m:sSup>
                  </m:oMath>
                </a14:m>
                <a:r>
                  <a:rPr lang="en-US" altLang="zh-CN" dirty="0" smtClean="0">
                    <a:latin typeface="Cambria Math" panose="02040503050406030204" pitchFamily="18" charset="0"/>
                  </a:rPr>
                  <a:t>=</a:t>
                </a:r>
                <a14:m>
                  <m:oMath xmlns:m="http://schemas.openxmlformats.org/officeDocument/2006/math">
                    <m:sSup>
                      <m:sSupPr>
                        <m:ctrlPr>
                          <a:rPr lang="en-US" altLang="zh-CN" i="1">
                            <a:latin typeface="Cambria Math" panose="02040503050406030204" pitchFamily="18" charset="0"/>
                          </a:rPr>
                        </m:ctrlPr>
                      </m:sSupPr>
                      <m:e>
                        <m:r>
                          <a:rPr lang="en-US" altLang="zh-CN">
                            <a:latin typeface="Cambria Math" panose="02040503050406030204" pitchFamily="18" charset="0"/>
                          </a:rPr>
                          <m:t>𝑅</m:t>
                        </m:r>
                      </m:e>
                      <m:sup>
                        <m:r>
                          <a:rPr lang="en-US" altLang="zh-CN">
                            <a:latin typeface="Cambria Math" panose="02040503050406030204" pitchFamily="18" charset="0"/>
                          </a:rPr>
                          <m:t>3</m:t>
                        </m:r>
                      </m:sup>
                    </m:sSup>
                  </m:oMath>
                </a14:m>
                <a:r>
                  <a:rPr lang="en-US" altLang="zh-CN" dirty="0">
                    <a:latin typeface="Cambria Math" panose="02040503050406030204" pitchFamily="18" charset="0"/>
                  </a:rPr>
                  <a:t>={(1,1),(2,1),(3,1), (4,1)}</a:t>
                </a:r>
              </a:p>
              <a:p>
                <a:pPr lvl="1"/>
                <a14:m>
                  <m:oMath xmlns:m="http://schemas.openxmlformats.org/officeDocument/2006/math">
                    <m:sSup>
                      <m:sSupPr>
                        <m:ctrlPr>
                          <a:rPr lang="en-US" altLang="zh-CN" i="1">
                            <a:latin typeface="Cambria Math" panose="02040503050406030204" pitchFamily="18" charset="0"/>
                          </a:rPr>
                        </m:ctrlPr>
                      </m:sSupPr>
                      <m:e>
                        <m:r>
                          <a:rPr lang="en-US" altLang="zh-CN">
                            <a:latin typeface="Cambria Math" panose="02040503050406030204" pitchFamily="18" charset="0"/>
                          </a:rPr>
                          <m:t>𝑅</m:t>
                        </m:r>
                      </m:e>
                      <m:sup>
                        <m:r>
                          <a:rPr lang="en-US" altLang="zh-CN">
                            <a:latin typeface="Cambria Math" panose="02040503050406030204" pitchFamily="18" charset="0"/>
                          </a:rPr>
                          <m:t>𝑛</m:t>
                        </m:r>
                      </m:sup>
                    </m:sSup>
                  </m:oMath>
                </a14:m>
                <a:r>
                  <a:rPr lang="en-US" altLang="zh-CN" dirty="0">
                    <a:latin typeface="Cambria Math" panose="02040503050406030204" pitchFamily="18" charset="0"/>
                  </a:rPr>
                  <a:t>=</a:t>
                </a:r>
                <a14:m>
                  <m:oMath xmlns:m="http://schemas.openxmlformats.org/officeDocument/2006/math">
                    <m:sSup>
                      <m:sSupPr>
                        <m:ctrlPr>
                          <a:rPr lang="en-US" altLang="zh-CN" i="1">
                            <a:latin typeface="Cambria Math" panose="02040503050406030204" pitchFamily="18" charset="0"/>
                          </a:rPr>
                        </m:ctrlPr>
                      </m:sSupPr>
                      <m:e>
                        <m:r>
                          <a:rPr lang="en-US" altLang="zh-CN">
                            <a:latin typeface="Cambria Math" panose="02040503050406030204" pitchFamily="18" charset="0"/>
                          </a:rPr>
                          <m:t>𝑅</m:t>
                        </m:r>
                      </m:e>
                      <m:sup>
                        <m:r>
                          <a:rPr lang="en-US" altLang="zh-CN">
                            <a:latin typeface="Cambria Math" panose="02040503050406030204" pitchFamily="18" charset="0"/>
                          </a:rPr>
                          <m:t>3</m:t>
                        </m:r>
                      </m:sup>
                    </m:sSup>
                  </m:oMath>
                </a14:m>
                <a:r>
                  <a:rPr lang="en-US" altLang="zh-CN" dirty="0">
                    <a:latin typeface="Cambria Math" panose="02040503050406030204" pitchFamily="18" charset="0"/>
                  </a:rPr>
                  <a:t>, n=5,6,7…</a:t>
                </a:r>
              </a:p>
              <a:p>
                <a:endParaRPr lang="en-US" altLang="zh-CN"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2"/>
                <a:stretch>
                  <a:fillRect l="-999" t="-1310"/>
                </a:stretch>
              </a:blipFill>
            </p:spPr>
            <p:txBody>
              <a:bodyPr/>
              <a:lstStyle/>
              <a:p>
                <a:r>
                  <a:rPr lang="zh-CN" altLang="en-US">
                    <a:noFill/>
                  </a:rPr>
                  <a:t> </a:t>
                </a:r>
              </a:p>
            </p:txBody>
          </p:sp>
        </mc:Fallback>
      </mc:AlternateContent>
      <p:sp>
        <p:nvSpPr>
          <p:cNvPr id="6" name="日期占位符 5"/>
          <p:cNvSpPr>
            <a:spLocks noGrp="1"/>
          </p:cNvSpPr>
          <p:nvPr>
            <p:ph type="dt" sz="half" idx="10"/>
          </p:nvPr>
        </p:nvSpPr>
        <p:spPr/>
        <p:txBody>
          <a:bodyPr/>
          <a:lstStyle/>
          <a:p>
            <a:fld id="{49645B11-7A9A-49F6-84AF-316A30D308D4}" type="datetime1">
              <a:rPr lang="zh-CN" altLang="en-US" smtClean="0"/>
              <a:t>2025/3/14</a:t>
            </a:fld>
            <a:endParaRPr lang="zh-CN" altLang="en-US" dirty="0"/>
          </a:p>
        </p:txBody>
      </p:sp>
      <p:sp>
        <p:nvSpPr>
          <p:cNvPr id="7" name="页脚占位符 6"/>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8" name="灯片编号占位符 7"/>
          <p:cNvSpPr>
            <a:spLocks noGrp="1"/>
          </p:cNvSpPr>
          <p:nvPr>
            <p:ph type="sldNum" sz="quarter" idx="12"/>
          </p:nvPr>
        </p:nvSpPr>
        <p:spPr/>
        <p:txBody>
          <a:bodyPr/>
          <a:lstStyle/>
          <a:p>
            <a:fld id="{67913A8A-9EFB-4B5F-9CCB-3D21173FAA85}" type="slidenum">
              <a:rPr lang="zh-CN" altLang="en-US" smtClean="0"/>
              <a:pPr/>
              <a:t>23</a:t>
            </a:fld>
            <a:endParaRPr lang="zh-CN" altLang="en-US" dirty="0"/>
          </a:p>
        </p:txBody>
      </p:sp>
    </p:spTree>
    <p:extLst>
      <p:ext uri="{BB962C8B-B14F-4D97-AF65-F5344CB8AC3E}">
        <p14:creationId xmlns:p14="http://schemas.microsoft.com/office/powerpoint/2010/main" val="32666921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wipe(down)">
                                      <p:cBhvr>
                                        <p:cTn id="7" dur="500"/>
                                        <p:tgtEl>
                                          <p:spTgt spid="3">
                                            <p:txEl>
                                              <p:pRg st="1" end="1"/>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wipe(down)">
                                      <p:cBhvr>
                                        <p:cTn id="10" dur="500"/>
                                        <p:tgtEl>
                                          <p:spTgt spid="3">
                                            <p:txEl>
                                              <p:pRg st="2" end="2"/>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wipe(down)">
                                      <p:cBhvr>
                                        <p:cTn id="13" dur="500"/>
                                        <p:tgtEl>
                                          <p:spTgt spid="3">
                                            <p:txEl>
                                              <p:pRg st="3" end="3"/>
                                            </p:txEl>
                                          </p:spTgt>
                                        </p:tgtEl>
                                      </p:cBhvr>
                                    </p:animEffect>
                                  </p:childTnLst>
                                </p:cTn>
                              </p:par>
                              <p:par>
                                <p:cTn id="14" presetID="22" presetClass="entr" presetSubtype="4" fill="hold" nodeType="withEffect">
                                  <p:stCondLst>
                                    <p:cond delay="0"/>
                                  </p:stCondLst>
                                  <p:childTnLst>
                                    <p:set>
                                      <p:cBhvr>
                                        <p:cTn id="15" dur="1" fill="hold">
                                          <p:stCondLst>
                                            <p:cond delay="0"/>
                                          </p:stCondLst>
                                        </p:cTn>
                                        <p:tgtEl>
                                          <p:spTgt spid="3">
                                            <p:txEl>
                                              <p:pRg st="4" end="4"/>
                                            </p:txEl>
                                          </p:spTgt>
                                        </p:tgtEl>
                                        <p:attrNameLst>
                                          <p:attrName>style.visibility</p:attrName>
                                        </p:attrNameLst>
                                      </p:cBhvr>
                                      <p:to>
                                        <p:strVal val="visible"/>
                                      </p:to>
                                    </p:set>
                                    <p:animEffect transition="in" filter="wipe(down)">
                                      <p:cBhvr>
                                        <p:cTn id="16" dur="500"/>
                                        <p:tgtEl>
                                          <p:spTgt spid="3">
                                            <p:txEl>
                                              <p:pRg st="4" end="4"/>
                                            </p:txEl>
                                          </p:spTgt>
                                        </p:tgtEl>
                                      </p:cBhvr>
                                    </p:animEffect>
                                  </p:childTnLst>
                                </p:cTn>
                              </p:par>
                              <p:par>
                                <p:cTn id="17" presetID="22" presetClass="entr" presetSubtype="4"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animEffect transition="in" filter="wipe(down)">
                                      <p:cBhvr>
                                        <p:cTn id="19" dur="500"/>
                                        <p:tgtEl>
                                          <p:spTgt spid="3">
                                            <p:txEl>
                                              <p:pRg st="5" end="5"/>
                                            </p:txEl>
                                          </p:spTgt>
                                        </p:tgtEl>
                                      </p:cBhvr>
                                    </p:animEffect>
                                  </p:childTnLst>
                                </p:cTn>
                              </p:par>
                              <p:par>
                                <p:cTn id="20" presetID="22" presetClass="entr" presetSubtype="4" fill="hold" nodeType="with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animEffect transition="in" filter="wipe(down)">
                                      <p:cBhvr>
                                        <p:cTn id="22" dur="500"/>
                                        <p:tgtEl>
                                          <p:spTgt spid="3">
                                            <p:txEl>
                                              <p:pRg st="6" end="6"/>
                                            </p:txEl>
                                          </p:spTgt>
                                        </p:tgtEl>
                                      </p:cBhvr>
                                    </p:animEffect>
                                  </p:childTnLst>
                                </p:cTn>
                              </p:par>
                              <p:par>
                                <p:cTn id="23" presetID="22" presetClass="entr" presetSubtype="4" fill="hold"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animEffect transition="in" filter="wipe(down)">
                                      <p:cBhvr>
                                        <p:cTn id="25"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457200" y="1143000"/>
            <a:ext cx="11277599" cy="1295400"/>
          </a:xfrm>
          <a:prstGeom prst="rect">
            <a:avLst/>
          </a:prstGeom>
          <a:solidFill>
            <a:schemeClr val="accent5">
              <a:lumMod val="40000"/>
              <a:lumOff val="6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zh-CN" altLang="en-US" dirty="0"/>
              <a:t>第</a:t>
            </a:r>
            <a:r>
              <a:rPr lang="en-US" altLang="zh-CN" dirty="0"/>
              <a:t>2.2</a:t>
            </a:r>
            <a:r>
              <a:rPr lang="zh-CN" altLang="en-US" dirty="0"/>
              <a:t>节 </a:t>
            </a:r>
            <a:r>
              <a:rPr lang="en-US" altLang="zh-CN" dirty="0"/>
              <a:t>n</a:t>
            </a:r>
            <a:r>
              <a:rPr lang="zh-CN" altLang="en-US" dirty="0"/>
              <a:t>元关系及其</a:t>
            </a:r>
            <a:r>
              <a:rPr lang="zh-CN" altLang="en-US" dirty="0" smtClean="0"/>
              <a:t>应用</a:t>
            </a:r>
            <a:endParaRPr lang="zh-CN" altLang="en-US" dirty="0"/>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zh-CN" altLang="en-US" dirty="0" smtClean="0"/>
                  <a:t>定义</a:t>
                </a:r>
                <a:r>
                  <a:rPr lang="en-US" altLang="zh-CN" dirty="0" smtClean="0"/>
                  <a:t>:</a:t>
                </a:r>
                <a:r>
                  <a:rPr lang="zh-CN" altLang="en-US" dirty="0" smtClean="0"/>
                  <a:t>设</a:t>
                </a:r>
                <a14:m>
                  <m:oMath xmlns:m="http://schemas.openxmlformats.org/officeDocument/2006/math">
                    <m:sSub>
                      <m:sSubPr>
                        <m:ctrlPr>
                          <a:rPr lang="en-US" altLang="zh-CN" i="1" smtClean="0">
                            <a:latin typeface="Cambria Math" panose="02040503050406030204" pitchFamily="18" charset="0"/>
                          </a:rPr>
                        </m:ctrlPr>
                      </m:sSubPr>
                      <m:e>
                        <m:r>
                          <m:rPr>
                            <m:sty m:val="p"/>
                          </m:rPr>
                          <a:rPr lang="en-US" altLang="zh-CN" i="1">
                            <a:latin typeface="Cambria Math" panose="02040503050406030204" pitchFamily="18" charset="0"/>
                          </a:rPr>
                          <m:t>A</m:t>
                        </m:r>
                      </m:e>
                      <m:sub>
                        <m:r>
                          <a:rPr lang="en-US" altLang="zh-CN" b="0" i="1" smtClean="0">
                            <a:latin typeface="Cambria Math" panose="02040503050406030204" pitchFamily="18" charset="0"/>
                          </a:rPr>
                          <m:t>1</m:t>
                        </m:r>
                      </m:sub>
                    </m:sSub>
                  </m:oMath>
                </a14:m>
                <a:r>
                  <a:rPr lang="en-US" altLang="zh-CN" dirty="0" smtClean="0"/>
                  <a:t>,</a:t>
                </a:r>
                <a:r>
                  <a:rPr lang="en-US" altLang="zh-CN" dirty="0"/>
                  <a:t> </a:t>
                </a:r>
                <a14:m>
                  <m:oMath xmlns:m="http://schemas.openxmlformats.org/officeDocument/2006/math">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A</m:t>
                        </m:r>
                      </m:e>
                      <m:sub>
                        <m:r>
                          <a:rPr lang="en-US" altLang="zh-CN" b="0" i="1" smtClean="0">
                            <a:latin typeface="Cambria Math" panose="02040503050406030204" pitchFamily="18" charset="0"/>
                          </a:rPr>
                          <m:t>2</m:t>
                        </m:r>
                      </m:sub>
                    </m:sSub>
                    <m:r>
                      <a:rPr lang="en-US" altLang="zh-CN" b="0" i="1" smtClean="0">
                        <a:latin typeface="Cambria Math" panose="02040503050406030204" pitchFamily="18" charset="0"/>
                      </a:rPr>
                      <m:t>, </m:t>
                    </m:r>
                    <m:sSub>
                      <m:sSubPr>
                        <m:ctrlPr>
                          <a:rPr lang="en-US" altLang="zh-CN" i="1">
                            <a:latin typeface="Cambria Math" panose="02040503050406030204" pitchFamily="18" charset="0"/>
                          </a:rPr>
                        </m:ctrlPr>
                      </m:sSubPr>
                      <m:e>
                        <m:r>
                          <a:rPr lang="en-US" altLang="zh-CN" b="0" i="1" smtClean="0">
                            <a:latin typeface="Cambria Math" panose="02040503050406030204" pitchFamily="18" charset="0"/>
                          </a:rPr>
                          <m:t>…,</m:t>
                        </m:r>
                        <m:r>
                          <m:rPr>
                            <m:sty m:val="p"/>
                          </m:rPr>
                          <a:rPr lang="en-US" altLang="zh-CN" i="1">
                            <a:latin typeface="Cambria Math" panose="02040503050406030204" pitchFamily="18" charset="0"/>
                          </a:rPr>
                          <m:t>A</m:t>
                        </m:r>
                      </m:e>
                      <m:sub>
                        <m:r>
                          <a:rPr lang="en-US" altLang="zh-CN" b="0" i="1" smtClean="0">
                            <a:latin typeface="Cambria Math" panose="02040503050406030204" pitchFamily="18" charset="0"/>
                          </a:rPr>
                          <m:t>𝑛</m:t>
                        </m:r>
                      </m:sub>
                    </m:sSub>
                  </m:oMath>
                </a14:m>
                <a:r>
                  <a:rPr lang="zh-CN" altLang="en-US" dirty="0" smtClean="0"/>
                  <a:t>是集合</a:t>
                </a:r>
                <a:r>
                  <a:rPr lang="en-US" altLang="zh-CN" dirty="0" smtClean="0"/>
                  <a:t>, </a:t>
                </a:r>
                <a:r>
                  <a:rPr lang="zh-CN" altLang="en-US" dirty="0" smtClean="0"/>
                  <a:t>定义</a:t>
                </a:r>
                <a14:m>
                  <m:oMath xmlns:m="http://schemas.openxmlformats.org/officeDocument/2006/math">
                    <m:r>
                      <a:rPr lang="zh-CN" altLang="en-US" i="1">
                        <a:latin typeface="Cambria Math" panose="02040503050406030204" pitchFamily="18" charset="0"/>
                      </a:rPr>
                      <m:t>在</m:t>
                    </m:r>
                    <m:r>
                      <a:rPr lang="zh-CN" altLang="en-US" i="1" smtClean="0">
                        <a:latin typeface="Cambria Math" panose="02040503050406030204" pitchFamily="18" charset="0"/>
                      </a:rPr>
                      <m:t>这些</m:t>
                    </m:r>
                    <m:r>
                      <a:rPr lang="zh-CN" altLang="en-US" i="1">
                        <a:latin typeface="Cambria Math" panose="02040503050406030204" pitchFamily="18" charset="0"/>
                      </a:rPr>
                      <m:t>集合</m:t>
                    </m:r>
                    <m:r>
                      <a:rPr lang="zh-CN" altLang="en-US" i="1" smtClean="0">
                        <a:latin typeface="Cambria Math" panose="02040503050406030204" pitchFamily="18" charset="0"/>
                      </a:rPr>
                      <m:t>上</m:t>
                    </m:r>
                    <m:r>
                      <a:rPr lang="zh-CN" altLang="en-US" i="1">
                        <a:latin typeface="Cambria Math" panose="02040503050406030204" pitchFamily="18" charset="0"/>
                      </a:rPr>
                      <m:t>的</m:t>
                    </m:r>
                    <m:r>
                      <a:rPr lang="en-US" altLang="zh-CN" b="1" i="0" smtClean="0">
                        <a:solidFill>
                          <a:srgbClr val="C00000"/>
                        </a:solidFill>
                        <a:latin typeface="Cambria Math" panose="02040503050406030204" pitchFamily="18" charset="0"/>
                      </a:rPr>
                      <m:t>𝐧</m:t>
                    </m:r>
                    <m:r>
                      <a:rPr lang="zh-CN" altLang="en-US" b="1" i="0">
                        <a:solidFill>
                          <a:srgbClr val="C00000"/>
                        </a:solidFill>
                        <a:latin typeface="Cambria Math" panose="02040503050406030204" pitchFamily="18" charset="0"/>
                      </a:rPr>
                      <m:t>元</m:t>
                    </m:r>
                    <m:r>
                      <a:rPr lang="zh-CN" altLang="en-US" b="1" i="0" smtClean="0">
                        <a:solidFill>
                          <a:srgbClr val="C00000"/>
                        </a:solidFill>
                        <a:latin typeface="Cambria Math" panose="02040503050406030204" pitchFamily="18" charset="0"/>
                      </a:rPr>
                      <m:t>关系</m:t>
                    </m:r>
                    <m:r>
                      <a:rPr lang="zh-CN" altLang="en-US" i="1">
                        <a:latin typeface="Cambria Math" panose="02040503050406030204" pitchFamily="18" charset="0"/>
                      </a:rPr>
                      <m:t>是</m:t>
                    </m:r>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A</m:t>
                        </m:r>
                      </m:e>
                      <m:sub>
                        <m:r>
                          <a:rPr lang="en-US" altLang="zh-CN" i="1">
                            <a:latin typeface="Cambria Math" panose="02040503050406030204" pitchFamily="18" charset="0"/>
                          </a:rPr>
                          <m:t>1</m:t>
                        </m:r>
                      </m:sub>
                    </m:sSub>
                    <m:r>
                      <a:rPr lang="en-US" altLang="zh-CN" i="1" smtClean="0">
                        <a:latin typeface="Cambria Math" panose="02040503050406030204" pitchFamily="18" charset="0"/>
                        <a:ea typeface="Cambria Math" panose="02040503050406030204" pitchFamily="18" charset="0"/>
                      </a:rPr>
                      <m:t>×</m:t>
                    </m:r>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A</m:t>
                        </m:r>
                      </m:e>
                      <m:sub>
                        <m:r>
                          <a:rPr lang="en-US" altLang="zh-CN" b="0" i="1" smtClean="0">
                            <a:latin typeface="Cambria Math" panose="02040503050406030204" pitchFamily="18" charset="0"/>
                          </a:rPr>
                          <m:t>2</m:t>
                        </m:r>
                      </m:sub>
                    </m:sSub>
                    <m:sSub>
                      <m:sSubPr>
                        <m:ctrlPr>
                          <a:rPr lang="en-US" altLang="zh-CN" i="1">
                            <a:latin typeface="Cambria Math" panose="02040503050406030204" pitchFamily="18" charset="0"/>
                          </a:rPr>
                        </m:ctrlPr>
                      </m:sSubPr>
                      <m:e>
                        <m:r>
                          <a:rPr lang="en-US" altLang="zh-CN"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m:t>
                        </m:r>
                        <m:r>
                          <a:rPr lang="en-US" altLang="zh-CN" i="1" smtClean="0">
                            <a:latin typeface="Cambria Math" panose="02040503050406030204" pitchFamily="18" charset="0"/>
                            <a:ea typeface="Cambria Math" panose="02040503050406030204" pitchFamily="18" charset="0"/>
                          </a:rPr>
                          <m:t>×</m:t>
                        </m:r>
                        <m:r>
                          <m:rPr>
                            <m:sty m:val="p"/>
                          </m:rPr>
                          <a:rPr lang="en-US" altLang="zh-CN" i="1">
                            <a:latin typeface="Cambria Math" panose="02040503050406030204" pitchFamily="18" charset="0"/>
                          </a:rPr>
                          <m:t>A</m:t>
                        </m:r>
                      </m:e>
                      <m:sub>
                        <m:r>
                          <a:rPr lang="en-US" altLang="zh-CN" b="0" i="1" smtClean="0">
                            <a:latin typeface="Cambria Math" panose="02040503050406030204" pitchFamily="18" charset="0"/>
                          </a:rPr>
                          <m:t>𝑛</m:t>
                        </m:r>
                      </m:sub>
                    </m:sSub>
                  </m:oMath>
                </a14:m>
                <a:r>
                  <a:rPr lang="zh-CN" altLang="en-US" dirty="0" smtClean="0"/>
                  <a:t> 的子集</a:t>
                </a:r>
                <a:r>
                  <a:rPr lang="en-US" altLang="zh-CN" dirty="0" smtClean="0"/>
                  <a:t>, </a:t>
                </a:r>
                <a:r>
                  <a:rPr lang="zh-CN" altLang="en-US" dirty="0" smtClean="0"/>
                  <a:t>这些集合</a:t>
                </a:r>
                <a14:m>
                  <m:oMath xmlns:m="http://schemas.openxmlformats.org/officeDocument/2006/math">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A</m:t>
                        </m:r>
                      </m:e>
                      <m:sub>
                        <m:r>
                          <a:rPr lang="en-US" altLang="zh-CN" i="1">
                            <a:latin typeface="Cambria Math" panose="02040503050406030204" pitchFamily="18" charset="0"/>
                          </a:rPr>
                          <m:t>1</m:t>
                        </m:r>
                      </m:sub>
                    </m:sSub>
                  </m:oMath>
                </a14:m>
                <a:r>
                  <a:rPr lang="en-US" altLang="zh-CN" dirty="0"/>
                  <a:t>, </a:t>
                </a:r>
                <a14:m>
                  <m:oMath xmlns:m="http://schemas.openxmlformats.org/officeDocument/2006/math">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A</m:t>
                        </m:r>
                      </m:e>
                      <m:sub>
                        <m:r>
                          <a:rPr lang="en-US" altLang="zh-CN" i="1">
                            <a:latin typeface="Cambria Math" panose="02040503050406030204" pitchFamily="18" charset="0"/>
                          </a:rPr>
                          <m:t>2</m:t>
                        </m:r>
                      </m:sub>
                    </m:sSub>
                    <m:r>
                      <a:rPr lang="en-US" altLang="zh-CN" i="1">
                        <a:latin typeface="Cambria Math" panose="02040503050406030204" pitchFamily="18" charset="0"/>
                      </a:rPr>
                      <m:t>, </m:t>
                    </m:r>
                    <m:sSub>
                      <m:sSubPr>
                        <m:ctrlPr>
                          <a:rPr lang="en-US" altLang="zh-CN" i="1">
                            <a:latin typeface="Cambria Math" panose="02040503050406030204" pitchFamily="18" charset="0"/>
                          </a:rPr>
                        </m:ctrlPr>
                      </m:sSubPr>
                      <m:e>
                        <m:r>
                          <a:rPr lang="en-US" altLang="zh-CN" i="1">
                            <a:latin typeface="Cambria Math" panose="02040503050406030204" pitchFamily="18" charset="0"/>
                          </a:rPr>
                          <m:t>…,</m:t>
                        </m:r>
                        <m:r>
                          <m:rPr>
                            <m:sty m:val="p"/>
                          </m:rPr>
                          <a:rPr lang="en-US" altLang="zh-CN" i="1">
                            <a:latin typeface="Cambria Math" panose="02040503050406030204" pitchFamily="18" charset="0"/>
                          </a:rPr>
                          <m:t>A</m:t>
                        </m:r>
                      </m:e>
                      <m:sub>
                        <m:r>
                          <a:rPr lang="en-US" altLang="zh-CN" i="1">
                            <a:latin typeface="Cambria Math" panose="02040503050406030204" pitchFamily="18" charset="0"/>
                          </a:rPr>
                          <m:t>𝑛</m:t>
                        </m:r>
                      </m:sub>
                    </m:sSub>
                  </m:oMath>
                </a14:m>
                <a:r>
                  <a:rPr lang="zh-CN" altLang="en-US" dirty="0" smtClean="0"/>
                  <a:t>称为关系的域</a:t>
                </a:r>
                <a:r>
                  <a:rPr lang="en-US" altLang="zh-CN" dirty="0" smtClean="0"/>
                  <a:t>, n</a:t>
                </a:r>
                <a:r>
                  <a:rPr lang="zh-CN" altLang="en-US" dirty="0" smtClean="0"/>
                  <a:t>称为关系的阶</a:t>
                </a:r>
                <a:r>
                  <a:rPr lang="en-US" altLang="zh-CN" dirty="0" smtClean="0"/>
                  <a:t>.</a:t>
                </a:r>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t="-1190"/>
                </a:stretch>
              </a:blipFill>
            </p:spPr>
            <p:txBody>
              <a:bodyPr/>
              <a:lstStyle/>
              <a:p>
                <a:r>
                  <a:rPr lang="zh-CN" altLang="en-US">
                    <a:noFill/>
                  </a:rPr>
                  <a:t> </a:t>
                </a:r>
              </a:p>
            </p:txBody>
          </p:sp>
        </mc:Fallback>
      </mc:AlternateContent>
      <p:sp>
        <p:nvSpPr>
          <p:cNvPr id="4" name="日期占位符 3"/>
          <p:cNvSpPr>
            <a:spLocks noGrp="1"/>
          </p:cNvSpPr>
          <p:nvPr>
            <p:ph type="dt" sz="half" idx="10"/>
          </p:nvPr>
        </p:nvSpPr>
        <p:spPr/>
        <p:txBody>
          <a:bodyPr/>
          <a:lstStyle/>
          <a:p>
            <a:fld id="{8609EEC1-8EB9-4916-8844-7B46ACCFC8F2}" type="datetime1">
              <a:rPr lang="zh-CN" altLang="en-US" smtClean="0"/>
              <a:t>2025/3/14</a:t>
            </a:fld>
            <a:endParaRPr lang="zh-CN" altLang="en-US" dirty="0"/>
          </a:p>
        </p:txBody>
      </p:sp>
      <p:sp>
        <p:nvSpPr>
          <p:cNvPr id="5" name="页脚占位符 4"/>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6" name="灯片编号占位符 5"/>
          <p:cNvSpPr>
            <a:spLocks noGrp="1"/>
          </p:cNvSpPr>
          <p:nvPr>
            <p:ph type="sldNum" sz="quarter" idx="12"/>
          </p:nvPr>
        </p:nvSpPr>
        <p:spPr/>
        <p:txBody>
          <a:bodyPr/>
          <a:lstStyle/>
          <a:p>
            <a:fld id="{67913A8A-9EFB-4B5F-9CCB-3D21173FAA85}" type="slidenum">
              <a:rPr lang="zh-CN" altLang="en-US" smtClean="0"/>
              <a:pPr/>
              <a:t>24</a:t>
            </a:fld>
            <a:endParaRPr lang="zh-CN" altLang="en-US" dirty="0"/>
          </a:p>
        </p:txBody>
      </p:sp>
    </p:spTree>
    <p:extLst>
      <p:ext uri="{BB962C8B-B14F-4D97-AF65-F5344CB8AC3E}">
        <p14:creationId xmlns:p14="http://schemas.microsoft.com/office/powerpoint/2010/main" val="3394207714"/>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n</a:t>
            </a:r>
            <a:r>
              <a:rPr lang="zh-CN" altLang="en-US" dirty="0" smtClean="0"/>
              <a:t>元关系</a:t>
            </a:r>
            <a:endParaRPr lang="zh-CN" altLang="en-US" dirty="0"/>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zh-CN" altLang="en-US" dirty="0" smtClean="0"/>
                  <a:t>例</a:t>
                </a:r>
                <a:r>
                  <a:rPr lang="en-US" altLang="zh-CN" dirty="0" smtClean="0"/>
                  <a:t>: R</a:t>
                </a:r>
                <a:r>
                  <a:rPr lang="zh-CN" altLang="en-US" dirty="0" smtClean="0"/>
                  <a:t>是</a:t>
                </a:r>
                <a14:m>
                  <m:oMath xmlns:m="http://schemas.openxmlformats.org/officeDocument/2006/math">
                    <m:r>
                      <a:rPr lang="en-US" altLang="zh-CN" i="1">
                        <a:latin typeface="Cambria Math" panose="02040503050406030204" pitchFamily="18" charset="0"/>
                        <a:ea typeface="Cambria Math" panose="02040503050406030204" pitchFamily="18" charset="0"/>
                      </a:rPr>
                      <m:t>𝑍</m:t>
                    </m:r>
                    <m:r>
                      <a:rPr lang="en-US" altLang="zh-CN" i="1">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𝑍</m:t>
                    </m:r>
                    <m:r>
                      <a:rPr lang="en-US" altLang="zh-CN" i="1">
                        <a:latin typeface="Cambria Math" panose="02040503050406030204" pitchFamily="18" charset="0"/>
                        <a:ea typeface="Cambria Math" panose="02040503050406030204" pitchFamily="18" charset="0"/>
                      </a:rPr>
                      <m:t>×</m:t>
                    </m:r>
                  </m:oMath>
                </a14:m>
                <a:r>
                  <a:rPr lang="en-US" altLang="zh-CN" dirty="0">
                    <a:ea typeface="Cambria Math" panose="02040503050406030204" pitchFamily="18" charset="0"/>
                  </a:rPr>
                  <a:t> </a:t>
                </a:r>
                <a14:m>
                  <m:oMath xmlns:m="http://schemas.openxmlformats.org/officeDocument/2006/math">
                    <m:r>
                      <a:rPr lang="en-US" altLang="zh-CN" i="1">
                        <a:latin typeface="Cambria Math" panose="02040503050406030204" pitchFamily="18" charset="0"/>
                        <a:ea typeface="Cambria Math" panose="02040503050406030204" pitchFamily="18" charset="0"/>
                      </a:rPr>
                      <m:t>𝑍</m:t>
                    </m:r>
                  </m:oMath>
                </a14:m>
                <a:r>
                  <a:rPr lang="zh-CN" altLang="en-US" dirty="0" smtClean="0"/>
                  <a:t>上的三元组</a:t>
                </a:r>
                <a:r>
                  <a:rPr lang="en-US" altLang="zh-CN" dirty="0" smtClean="0"/>
                  <a:t>(</a:t>
                </a:r>
                <a:r>
                  <a:rPr lang="en-US" altLang="zh-CN" dirty="0" err="1" smtClean="0"/>
                  <a:t>a,b,c</a:t>
                </a:r>
                <a:r>
                  <a:rPr lang="en-US" altLang="zh-CN" dirty="0" smtClean="0"/>
                  <a:t>)</a:t>
                </a:r>
                <a:r>
                  <a:rPr lang="zh-CN" altLang="en-US" dirty="0" smtClean="0"/>
                  <a:t>组成的关系</a:t>
                </a:r>
                <a:r>
                  <a:rPr lang="en-US" altLang="zh-CN" dirty="0" smtClean="0"/>
                  <a:t>, </a:t>
                </a:r>
                <a:r>
                  <a:rPr lang="zh-CN" altLang="en-US" dirty="0" smtClean="0"/>
                  <a:t>其中</a:t>
                </a:r>
                <a:r>
                  <a:rPr lang="en-US" altLang="zh-CN" dirty="0" smtClean="0"/>
                  <a:t>a</a:t>
                </a:r>
                <a:r>
                  <a:rPr lang="zh-CN" altLang="en-US" dirty="0" smtClean="0"/>
                  <a:t>，</a:t>
                </a:r>
                <a:r>
                  <a:rPr lang="en-US" altLang="zh-CN" dirty="0" smtClean="0"/>
                  <a:t>b</a:t>
                </a:r>
                <a:r>
                  <a:rPr lang="zh-CN" altLang="en-US" dirty="0" smtClean="0"/>
                  <a:t>，</a:t>
                </a:r>
                <a:r>
                  <a:rPr lang="en-US" altLang="zh-CN" dirty="0" smtClean="0"/>
                  <a:t>c</a:t>
                </a:r>
                <a:r>
                  <a:rPr lang="zh-CN" altLang="en-US" dirty="0" smtClean="0"/>
                  <a:t>构成等差数列</a:t>
                </a:r>
                <a:r>
                  <a:rPr lang="en-US" altLang="zh-CN" dirty="0" smtClean="0"/>
                  <a:t>, </a:t>
                </a:r>
                <a:r>
                  <a:rPr lang="zh-CN" altLang="en-US" dirty="0" smtClean="0"/>
                  <a:t>即</a:t>
                </a:r>
                <a:r>
                  <a:rPr lang="en-US" altLang="zh-CN" dirty="0" smtClean="0"/>
                  <a:t>(</a:t>
                </a:r>
                <a:r>
                  <a:rPr lang="en-US" altLang="zh-CN" dirty="0" err="1" smtClean="0"/>
                  <a:t>a,b,c</a:t>
                </a:r>
                <a:r>
                  <a:rPr lang="en-US" altLang="zh-CN" dirty="0"/>
                  <a:t>)</a:t>
                </a:r>
                <a14:m>
                  <m:oMath xmlns:m="http://schemas.openxmlformats.org/officeDocument/2006/math">
                    <m:r>
                      <a:rPr lang="zh-CN" altLang="en-US" i="1" smtClean="0">
                        <a:latin typeface="Cambria Math" panose="02040503050406030204" pitchFamily="18" charset="0"/>
                      </a:rPr>
                      <m:t>∈</m:t>
                    </m:r>
                  </m:oMath>
                </a14:m>
                <a:r>
                  <a:rPr lang="en-US" altLang="zh-CN" dirty="0" smtClean="0"/>
                  <a:t>R</a:t>
                </a:r>
                <a:r>
                  <a:rPr lang="zh-CN" altLang="en-US" dirty="0" smtClean="0"/>
                  <a:t>当且仅当存在一个整数</a:t>
                </a:r>
                <a:r>
                  <a:rPr lang="en-US" altLang="zh-CN" dirty="0" smtClean="0"/>
                  <a:t>k, </a:t>
                </a:r>
                <a:r>
                  <a:rPr lang="zh-CN" altLang="en-US" dirty="0" smtClean="0"/>
                  <a:t>使得</a:t>
                </a:r>
                <a:r>
                  <a:rPr lang="en-US" altLang="zh-CN" dirty="0" smtClean="0"/>
                  <a:t>b=</a:t>
                </a:r>
                <a:r>
                  <a:rPr lang="en-US" altLang="zh-CN" dirty="0" err="1" smtClean="0"/>
                  <a:t>a+k</a:t>
                </a:r>
                <a:r>
                  <a:rPr lang="en-US" altLang="zh-CN" dirty="0" smtClean="0"/>
                  <a:t>, c=a+2k, </a:t>
                </a:r>
                <a:r>
                  <a:rPr lang="zh-CN" altLang="en-US" dirty="0" smtClean="0"/>
                  <a:t>或者</a:t>
                </a:r>
                <a:r>
                  <a:rPr lang="en-US" altLang="zh-CN" dirty="0" smtClean="0"/>
                  <a:t>b-a=k, c-b=k. </a:t>
                </a:r>
                <a:r>
                  <a:rPr lang="zh-CN" altLang="en-US" dirty="0" smtClean="0"/>
                  <a:t>例如</a:t>
                </a:r>
                <a:r>
                  <a:rPr lang="en-US" altLang="zh-CN" dirty="0" smtClean="0"/>
                  <a:t>(1,3,5 </a:t>
                </a:r>
                <a:r>
                  <a:rPr lang="en-US" altLang="zh-CN" dirty="0"/>
                  <a:t>)</a:t>
                </a:r>
                <a14:m>
                  <m:oMath xmlns:m="http://schemas.openxmlformats.org/officeDocument/2006/math">
                    <m:r>
                      <a:rPr lang="zh-CN" altLang="en-US" i="1">
                        <a:latin typeface="Cambria Math" panose="02040503050406030204" pitchFamily="18" charset="0"/>
                      </a:rPr>
                      <m:t>∈</m:t>
                    </m:r>
                  </m:oMath>
                </a14:m>
                <a:r>
                  <a:rPr lang="en-US" altLang="zh-CN" dirty="0" smtClean="0"/>
                  <a:t>R, </a:t>
                </a:r>
                <a:r>
                  <a:rPr lang="zh-CN" altLang="en-US" dirty="0" smtClean="0"/>
                  <a:t>但</a:t>
                </a:r>
                <a:r>
                  <a:rPr lang="en-US" altLang="zh-CN" dirty="0" smtClean="0"/>
                  <a:t>(2,5,9</a:t>
                </a:r>
                <a:r>
                  <a:rPr lang="en-US" altLang="zh-CN" dirty="0"/>
                  <a:t>)</a:t>
                </a:r>
                <a14:m>
                  <m:oMath xmlns:m="http://schemas.openxmlformats.org/officeDocument/2006/math">
                    <m:r>
                      <a:rPr lang="zh-CN" altLang="en-US" i="1" smtClean="0">
                        <a:latin typeface="Cambria Math" panose="02040503050406030204" pitchFamily="18" charset="0"/>
                      </a:rPr>
                      <m:t>∉</m:t>
                    </m:r>
                  </m:oMath>
                </a14:m>
                <a:r>
                  <a:rPr lang="en-US" altLang="zh-CN" dirty="0" smtClean="0"/>
                  <a:t>R. </a:t>
                </a:r>
                <a:r>
                  <a:rPr lang="zh-CN" altLang="en-US" dirty="0" smtClean="0"/>
                  <a:t>关系</a:t>
                </a:r>
                <a:r>
                  <a:rPr lang="en-US" altLang="zh-CN" dirty="0" smtClean="0"/>
                  <a:t>R</a:t>
                </a:r>
                <a:r>
                  <a:rPr lang="zh-CN" altLang="en-US" dirty="0" smtClean="0"/>
                  <a:t>的阶为</a:t>
                </a:r>
                <a:r>
                  <a:rPr lang="en-US" altLang="zh-CN" dirty="0" smtClean="0"/>
                  <a:t>3, </a:t>
                </a:r>
                <a:r>
                  <a:rPr lang="zh-CN" altLang="en-US" dirty="0" smtClean="0"/>
                  <a:t>它的所有域均为整数集</a:t>
                </a:r>
                <a:r>
                  <a:rPr lang="en-US" altLang="zh-CN" dirty="0" smtClean="0"/>
                  <a:t>.</a:t>
                </a: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l="-999" t="-1310" r="-888"/>
                </a:stretch>
              </a:blipFill>
            </p:spPr>
            <p:txBody>
              <a:bodyPr/>
              <a:lstStyle/>
              <a:p>
                <a:r>
                  <a:rPr lang="zh-CN" altLang="en-US">
                    <a:noFill/>
                  </a:rPr>
                  <a:t> </a:t>
                </a:r>
              </a:p>
            </p:txBody>
          </p:sp>
        </mc:Fallback>
      </mc:AlternateContent>
      <p:sp>
        <p:nvSpPr>
          <p:cNvPr id="4" name="日期占位符 3"/>
          <p:cNvSpPr>
            <a:spLocks noGrp="1"/>
          </p:cNvSpPr>
          <p:nvPr>
            <p:ph type="dt" sz="half" idx="10"/>
          </p:nvPr>
        </p:nvSpPr>
        <p:spPr/>
        <p:txBody>
          <a:bodyPr/>
          <a:lstStyle/>
          <a:p>
            <a:fld id="{08E961B4-3B72-4526-8F52-D879B845552D}" type="datetime1">
              <a:rPr lang="zh-CN" altLang="en-US" smtClean="0"/>
              <a:t>2025/3/14</a:t>
            </a:fld>
            <a:endParaRPr lang="zh-CN" altLang="en-US" dirty="0"/>
          </a:p>
        </p:txBody>
      </p:sp>
      <p:sp>
        <p:nvSpPr>
          <p:cNvPr id="5" name="页脚占位符 4"/>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6" name="灯片编号占位符 5"/>
          <p:cNvSpPr>
            <a:spLocks noGrp="1"/>
          </p:cNvSpPr>
          <p:nvPr>
            <p:ph type="sldNum" sz="quarter" idx="12"/>
          </p:nvPr>
        </p:nvSpPr>
        <p:spPr/>
        <p:txBody>
          <a:bodyPr/>
          <a:lstStyle/>
          <a:p>
            <a:fld id="{67913A8A-9EFB-4B5F-9CCB-3D21173FAA85}" type="slidenum">
              <a:rPr lang="zh-CN" altLang="en-US" smtClean="0"/>
              <a:pPr/>
              <a:t>25</a:t>
            </a:fld>
            <a:endParaRPr lang="zh-CN" altLang="en-US" dirty="0"/>
          </a:p>
        </p:txBody>
      </p:sp>
    </p:spTree>
    <p:extLst>
      <p:ext uri="{BB962C8B-B14F-4D97-AF65-F5344CB8AC3E}">
        <p14:creationId xmlns:p14="http://schemas.microsoft.com/office/powerpoint/2010/main" val="3662738232"/>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n</a:t>
            </a:r>
            <a:r>
              <a:rPr lang="zh-CN" altLang="en-US" dirty="0" smtClean="0"/>
              <a:t>元关系</a:t>
            </a:r>
            <a:endParaRPr lang="zh-CN" altLang="en-US" dirty="0"/>
          </a:p>
        </p:txBody>
      </p:sp>
      <p:sp>
        <p:nvSpPr>
          <p:cNvPr id="3" name="内容占位符 2"/>
          <p:cNvSpPr>
            <a:spLocks noGrp="1"/>
          </p:cNvSpPr>
          <p:nvPr>
            <p:ph idx="1"/>
          </p:nvPr>
        </p:nvSpPr>
        <p:spPr/>
        <p:txBody>
          <a:bodyPr/>
          <a:lstStyle/>
          <a:p>
            <a:r>
              <a:rPr lang="zh-CN" altLang="en-US" dirty="0" smtClean="0"/>
              <a:t>例</a:t>
            </a:r>
            <a:r>
              <a:rPr lang="en-US" altLang="zh-CN" dirty="0"/>
              <a:t>:</a:t>
            </a:r>
            <a:r>
              <a:rPr lang="en-US" altLang="zh-CN" dirty="0" smtClean="0"/>
              <a:t> R</a:t>
            </a:r>
            <a:r>
              <a:rPr lang="zh-CN" altLang="en-US" dirty="0" smtClean="0"/>
              <a:t>是由五元组</a:t>
            </a:r>
            <a:r>
              <a:rPr lang="en-US" altLang="zh-CN" dirty="0" smtClean="0"/>
              <a:t>(A,N,S,D,T)</a:t>
            </a:r>
            <a:r>
              <a:rPr lang="zh-CN" altLang="en-US" dirty="0" smtClean="0"/>
              <a:t>组成的表示飞机航班的关系</a:t>
            </a:r>
            <a:r>
              <a:rPr lang="en-US" altLang="zh-CN" dirty="0" smtClean="0"/>
              <a:t>, </a:t>
            </a:r>
            <a:r>
              <a:rPr lang="zh-CN" altLang="en-US" dirty="0" smtClean="0"/>
              <a:t>其中</a:t>
            </a:r>
            <a:r>
              <a:rPr lang="en-US" altLang="zh-CN" dirty="0" smtClean="0"/>
              <a:t>A</a:t>
            </a:r>
            <a:r>
              <a:rPr lang="zh-CN" altLang="en-US" dirty="0" smtClean="0"/>
              <a:t>表示航空公司的集合，</a:t>
            </a:r>
            <a:r>
              <a:rPr lang="en-US" altLang="zh-CN" dirty="0" smtClean="0"/>
              <a:t>N</a:t>
            </a:r>
            <a:r>
              <a:rPr lang="zh-CN" altLang="en-US" dirty="0" smtClean="0"/>
              <a:t>表示航班号的集合</a:t>
            </a:r>
            <a:r>
              <a:rPr lang="en-US" altLang="zh-CN" dirty="0" smtClean="0"/>
              <a:t>, S</a:t>
            </a:r>
            <a:r>
              <a:rPr lang="zh-CN" altLang="en-US" dirty="0" smtClean="0"/>
              <a:t>是出发地的集合</a:t>
            </a:r>
            <a:r>
              <a:rPr lang="en-US" altLang="zh-CN" dirty="0" smtClean="0"/>
              <a:t>, D</a:t>
            </a:r>
            <a:r>
              <a:rPr lang="zh-CN" altLang="en-US" dirty="0" smtClean="0"/>
              <a:t>是目的地的集合</a:t>
            </a:r>
            <a:r>
              <a:rPr lang="en-US" altLang="zh-CN" dirty="0" smtClean="0"/>
              <a:t>,T</a:t>
            </a:r>
            <a:r>
              <a:rPr lang="zh-CN" altLang="en-US" dirty="0" smtClean="0"/>
              <a:t>是起飞时间的集合</a:t>
            </a:r>
            <a:r>
              <a:rPr lang="en-US" altLang="zh-CN" dirty="0" smtClean="0"/>
              <a:t>. </a:t>
            </a:r>
            <a:r>
              <a:rPr lang="zh-CN" altLang="en-US" dirty="0" smtClean="0"/>
              <a:t>例如</a:t>
            </a:r>
            <a:r>
              <a:rPr lang="en-US" altLang="zh-CN" dirty="0" smtClean="0"/>
              <a:t>Nadir</a:t>
            </a:r>
            <a:r>
              <a:rPr lang="zh-CN" altLang="en-US" dirty="0" smtClean="0"/>
              <a:t>航空公司的</a:t>
            </a:r>
            <a:r>
              <a:rPr lang="en-US" altLang="zh-CN" dirty="0" smtClean="0"/>
              <a:t>963</a:t>
            </a:r>
            <a:r>
              <a:rPr lang="zh-CN" altLang="en-US" dirty="0" smtClean="0"/>
              <a:t>航班</a:t>
            </a:r>
            <a:r>
              <a:rPr lang="en-US" altLang="zh-CN" dirty="0" smtClean="0"/>
              <a:t>15:00</a:t>
            </a:r>
            <a:r>
              <a:rPr lang="zh-CN" altLang="en-US" dirty="0" smtClean="0"/>
              <a:t>从</a:t>
            </a:r>
            <a:r>
              <a:rPr lang="en-US" altLang="zh-CN" dirty="0" smtClean="0"/>
              <a:t>Newark</a:t>
            </a:r>
            <a:r>
              <a:rPr lang="zh-CN" altLang="en-US" dirty="0" smtClean="0"/>
              <a:t>到</a:t>
            </a:r>
            <a:r>
              <a:rPr lang="en-US" altLang="zh-CN" dirty="0" smtClean="0"/>
              <a:t>Bangor, </a:t>
            </a:r>
            <a:r>
              <a:rPr lang="zh-CN" altLang="en-US" dirty="0" smtClean="0"/>
              <a:t>那么（</a:t>
            </a:r>
            <a:r>
              <a:rPr lang="en-US" altLang="zh-CN" dirty="0" smtClean="0"/>
              <a:t>Nadir, 963, Newark</a:t>
            </a:r>
            <a:r>
              <a:rPr lang="zh-CN" altLang="en-US" dirty="0" smtClean="0"/>
              <a:t>，</a:t>
            </a:r>
            <a:r>
              <a:rPr lang="en-US" altLang="zh-CN" dirty="0" smtClean="0"/>
              <a:t>Bangor, 15:00</a:t>
            </a:r>
            <a:r>
              <a:rPr lang="zh-CN" altLang="en-US" dirty="0" smtClean="0"/>
              <a:t>）属于</a:t>
            </a:r>
            <a:r>
              <a:rPr lang="en-US" altLang="zh-CN" dirty="0" smtClean="0"/>
              <a:t>R. </a:t>
            </a:r>
            <a:r>
              <a:rPr lang="zh-CN" altLang="en-US" dirty="0" smtClean="0"/>
              <a:t>关系</a:t>
            </a:r>
            <a:r>
              <a:rPr lang="en-US" altLang="zh-CN" dirty="0" smtClean="0"/>
              <a:t>R</a:t>
            </a:r>
            <a:r>
              <a:rPr lang="zh-CN" altLang="en-US" dirty="0" smtClean="0"/>
              <a:t>的阶为</a:t>
            </a:r>
            <a:r>
              <a:rPr lang="en-US" altLang="zh-CN" dirty="0" smtClean="0"/>
              <a:t>5</a:t>
            </a:r>
            <a:r>
              <a:rPr lang="zh-CN" altLang="en-US" dirty="0" smtClean="0"/>
              <a:t>，它的域是航空公司</a:t>
            </a:r>
            <a:r>
              <a:rPr lang="zh-CN" altLang="en-US" dirty="0"/>
              <a:t>的集合</a:t>
            </a:r>
            <a:r>
              <a:rPr lang="zh-CN" altLang="en-US" dirty="0" smtClean="0"/>
              <a:t>，航班</a:t>
            </a:r>
            <a:r>
              <a:rPr lang="zh-CN" altLang="en-US" dirty="0"/>
              <a:t>号的集合</a:t>
            </a:r>
            <a:r>
              <a:rPr lang="en-US" altLang="zh-CN" dirty="0"/>
              <a:t>, </a:t>
            </a:r>
            <a:r>
              <a:rPr lang="zh-CN" altLang="en-US" dirty="0" smtClean="0"/>
              <a:t>城市的</a:t>
            </a:r>
            <a:r>
              <a:rPr lang="zh-CN" altLang="en-US" dirty="0"/>
              <a:t>集合</a:t>
            </a:r>
            <a:r>
              <a:rPr lang="en-US" altLang="zh-CN" dirty="0"/>
              <a:t>, </a:t>
            </a:r>
            <a:r>
              <a:rPr lang="zh-CN" altLang="en-US" dirty="0" smtClean="0"/>
              <a:t>城市的</a:t>
            </a:r>
            <a:r>
              <a:rPr lang="zh-CN" altLang="en-US" dirty="0"/>
              <a:t>集合</a:t>
            </a:r>
            <a:r>
              <a:rPr lang="en-US" altLang="zh-CN" dirty="0" smtClean="0"/>
              <a:t>, </a:t>
            </a:r>
            <a:r>
              <a:rPr lang="zh-CN" altLang="en-US" dirty="0" smtClean="0"/>
              <a:t>时间</a:t>
            </a:r>
            <a:r>
              <a:rPr lang="zh-CN" altLang="en-US" dirty="0"/>
              <a:t>的</a:t>
            </a:r>
            <a:r>
              <a:rPr lang="zh-CN" altLang="en-US" dirty="0" smtClean="0"/>
              <a:t>集合</a:t>
            </a:r>
            <a:r>
              <a:rPr lang="en-US" altLang="zh-CN" dirty="0" smtClean="0"/>
              <a:t>.</a:t>
            </a:r>
          </a:p>
        </p:txBody>
      </p:sp>
      <p:sp>
        <p:nvSpPr>
          <p:cNvPr id="4" name="日期占位符 3"/>
          <p:cNvSpPr>
            <a:spLocks noGrp="1"/>
          </p:cNvSpPr>
          <p:nvPr>
            <p:ph type="dt" sz="half" idx="10"/>
          </p:nvPr>
        </p:nvSpPr>
        <p:spPr/>
        <p:txBody>
          <a:bodyPr/>
          <a:lstStyle/>
          <a:p>
            <a:fld id="{163C064E-E66C-4993-B9DC-1BE3D0A315C3}" type="datetime1">
              <a:rPr lang="zh-CN" altLang="en-US" smtClean="0"/>
              <a:t>2025/3/14</a:t>
            </a:fld>
            <a:endParaRPr lang="zh-CN" altLang="en-US" dirty="0"/>
          </a:p>
        </p:txBody>
      </p:sp>
      <p:sp>
        <p:nvSpPr>
          <p:cNvPr id="5" name="页脚占位符 4"/>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6" name="灯片编号占位符 5"/>
          <p:cNvSpPr>
            <a:spLocks noGrp="1"/>
          </p:cNvSpPr>
          <p:nvPr>
            <p:ph type="sldNum" sz="quarter" idx="12"/>
          </p:nvPr>
        </p:nvSpPr>
        <p:spPr/>
        <p:txBody>
          <a:bodyPr/>
          <a:lstStyle/>
          <a:p>
            <a:fld id="{67913A8A-9EFB-4B5F-9CCB-3D21173FAA85}" type="slidenum">
              <a:rPr lang="zh-CN" altLang="en-US" smtClean="0"/>
              <a:pPr/>
              <a:t>26</a:t>
            </a:fld>
            <a:endParaRPr lang="zh-CN" altLang="en-US" dirty="0"/>
          </a:p>
        </p:txBody>
      </p:sp>
    </p:spTree>
    <p:extLst>
      <p:ext uri="{BB962C8B-B14F-4D97-AF65-F5344CB8AC3E}">
        <p14:creationId xmlns:p14="http://schemas.microsoft.com/office/powerpoint/2010/main" val="3476972143"/>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第</a:t>
            </a:r>
            <a:r>
              <a:rPr lang="en-US" altLang="zh-CN" dirty="0"/>
              <a:t>2.3</a:t>
            </a:r>
            <a:r>
              <a:rPr lang="zh-CN" altLang="en-US" dirty="0" smtClean="0"/>
              <a:t>节 关系</a:t>
            </a:r>
            <a:r>
              <a:rPr lang="zh-CN" altLang="en-US" dirty="0"/>
              <a:t>的表示</a:t>
            </a:r>
            <a:endParaRPr lang="en-US" dirty="0"/>
          </a:p>
        </p:txBody>
      </p:sp>
      <p:sp>
        <p:nvSpPr>
          <p:cNvPr id="3" name="Content Placeholder 2"/>
          <p:cNvSpPr>
            <a:spLocks noGrp="1"/>
          </p:cNvSpPr>
          <p:nvPr>
            <p:ph idx="1"/>
          </p:nvPr>
        </p:nvSpPr>
        <p:spPr/>
        <p:txBody>
          <a:bodyPr/>
          <a:lstStyle/>
          <a:p>
            <a:r>
              <a:rPr lang="zh-CN" altLang="en-US" dirty="0" smtClean="0"/>
              <a:t>用矩阵表示关系</a:t>
            </a:r>
            <a:endParaRPr lang="en-US" altLang="zh-CN" dirty="0" smtClean="0"/>
          </a:p>
          <a:p>
            <a:r>
              <a:rPr lang="zh-CN" altLang="en-US" dirty="0" smtClean="0"/>
              <a:t>用图表示关系</a:t>
            </a:r>
            <a:endParaRPr lang="en-US" dirty="0" smtClean="0"/>
          </a:p>
        </p:txBody>
      </p:sp>
      <p:sp>
        <p:nvSpPr>
          <p:cNvPr id="6" name="日期占位符 5"/>
          <p:cNvSpPr>
            <a:spLocks noGrp="1"/>
          </p:cNvSpPr>
          <p:nvPr>
            <p:ph type="dt" sz="half" idx="10"/>
          </p:nvPr>
        </p:nvSpPr>
        <p:spPr/>
        <p:txBody>
          <a:bodyPr/>
          <a:lstStyle/>
          <a:p>
            <a:fld id="{F2C91633-C050-4264-AEAE-CB9FBD102ED4}" type="datetime1">
              <a:rPr lang="zh-CN" altLang="en-US" smtClean="0"/>
              <a:t>2025/3/14</a:t>
            </a:fld>
            <a:endParaRPr lang="zh-CN" altLang="en-US" dirty="0"/>
          </a:p>
        </p:txBody>
      </p:sp>
      <p:sp>
        <p:nvSpPr>
          <p:cNvPr id="7" name="页脚占位符 6"/>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8" name="灯片编号占位符 7"/>
          <p:cNvSpPr>
            <a:spLocks noGrp="1"/>
          </p:cNvSpPr>
          <p:nvPr>
            <p:ph type="sldNum" sz="quarter" idx="12"/>
          </p:nvPr>
        </p:nvSpPr>
        <p:spPr/>
        <p:txBody>
          <a:bodyPr/>
          <a:lstStyle/>
          <a:p>
            <a:fld id="{67913A8A-9EFB-4B5F-9CCB-3D21173FAA85}" type="slidenum">
              <a:rPr lang="zh-CN" altLang="en-US" smtClean="0"/>
              <a:pPr/>
              <a:t>27</a:t>
            </a:fld>
            <a:endParaRPr lang="zh-CN" altLang="en-US" dirty="0"/>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smtClean="0"/>
              <a:t>关系的表示</a:t>
            </a:r>
            <a:endParaRPr lang="en-US" dirty="0"/>
          </a:p>
        </p:txBody>
      </p:sp>
      <p:sp>
        <p:nvSpPr>
          <p:cNvPr id="3" name="Content Placeholder 2"/>
          <p:cNvSpPr>
            <a:spLocks noGrp="1"/>
          </p:cNvSpPr>
          <p:nvPr>
            <p:ph idx="1"/>
          </p:nvPr>
        </p:nvSpPr>
        <p:spPr/>
        <p:txBody>
          <a:bodyPr>
            <a:normAutofit/>
          </a:bodyPr>
          <a:lstStyle/>
          <a:p>
            <a:r>
              <a:rPr lang="zh-CN" altLang="en-US" dirty="0" smtClean="0"/>
              <a:t>这儿我们研究的所有关系均为二元关系</a:t>
            </a:r>
            <a:r>
              <a:rPr lang="en-US" altLang="zh-CN" dirty="0" smtClean="0"/>
              <a:t>.</a:t>
            </a:r>
          </a:p>
          <a:p>
            <a:r>
              <a:rPr lang="zh-CN" altLang="en-US" dirty="0" smtClean="0"/>
              <a:t>有多种方式能够表示有穷集之间的关系</a:t>
            </a:r>
            <a:r>
              <a:rPr lang="en-US" altLang="zh-CN" dirty="0" smtClean="0"/>
              <a:t>:</a:t>
            </a:r>
          </a:p>
          <a:p>
            <a:pPr lvl="1">
              <a:lnSpc>
                <a:spcPct val="80000"/>
              </a:lnSpc>
            </a:pPr>
            <a:r>
              <a:rPr lang="zh-CN" altLang="en-US" dirty="0"/>
              <a:t>列出它的有序</a:t>
            </a:r>
            <a:r>
              <a:rPr lang="zh-CN" altLang="en-US" dirty="0" smtClean="0"/>
              <a:t>对</a:t>
            </a:r>
            <a:r>
              <a:rPr lang="en-US" altLang="zh-CN" dirty="0" smtClean="0"/>
              <a:t>(</a:t>
            </a:r>
            <a:r>
              <a:rPr lang="zh-CN" altLang="en-US" dirty="0" smtClean="0"/>
              <a:t>前面</a:t>
            </a:r>
            <a:r>
              <a:rPr lang="zh-CN" altLang="en-US" dirty="0"/>
              <a:t>已</a:t>
            </a:r>
            <a:r>
              <a:rPr lang="zh-CN" altLang="en-US" dirty="0" smtClean="0"/>
              <a:t>涉及</a:t>
            </a:r>
            <a:r>
              <a:rPr lang="en-US" altLang="zh-CN" dirty="0" smtClean="0"/>
              <a:t>)</a:t>
            </a:r>
            <a:endParaRPr lang="en-US" altLang="zh-CN" dirty="0"/>
          </a:p>
          <a:p>
            <a:pPr lvl="1">
              <a:lnSpc>
                <a:spcPct val="80000"/>
              </a:lnSpc>
            </a:pPr>
            <a:r>
              <a:rPr lang="zh-CN" altLang="en-US" dirty="0"/>
              <a:t>使用</a:t>
            </a:r>
            <a:r>
              <a:rPr lang="zh-CN" altLang="en-US" dirty="0" smtClean="0"/>
              <a:t>表</a:t>
            </a:r>
            <a:r>
              <a:rPr lang="en-US" altLang="zh-CN" dirty="0" smtClean="0"/>
              <a:t>(</a:t>
            </a:r>
            <a:r>
              <a:rPr lang="zh-CN" altLang="en-US" dirty="0" smtClean="0"/>
              <a:t>前面</a:t>
            </a:r>
            <a:r>
              <a:rPr lang="zh-CN" altLang="en-US" dirty="0"/>
              <a:t>已</a:t>
            </a:r>
            <a:r>
              <a:rPr lang="zh-CN" altLang="en-US" dirty="0" smtClean="0"/>
              <a:t>涉及</a:t>
            </a:r>
            <a:r>
              <a:rPr lang="en-US" altLang="zh-CN" dirty="0" smtClean="0"/>
              <a:t>)</a:t>
            </a:r>
            <a:endParaRPr lang="en-US" altLang="zh-CN" dirty="0"/>
          </a:p>
          <a:p>
            <a:pPr lvl="1">
              <a:lnSpc>
                <a:spcPct val="80000"/>
              </a:lnSpc>
            </a:pPr>
            <a:r>
              <a:rPr lang="zh-CN" altLang="en-US" dirty="0"/>
              <a:t>使用</a:t>
            </a:r>
            <a:r>
              <a:rPr lang="en-US" altLang="zh-CN" dirty="0"/>
              <a:t>0-1</a:t>
            </a:r>
            <a:r>
              <a:rPr lang="zh-CN" altLang="en-US" dirty="0" smtClean="0"/>
              <a:t>矩阵</a:t>
            </a:r>
            <a:r>
              <a:rPr lang="en-US" altLang="zh-CN" dirty="0" smtClean="0"/>
              <a:t>(</a:t>
            </a:r>
            <a:r>
              <a:rPr lang="zh-CN" altLang="en-US" dirty="0" smtClean="0"/>
              <a:t>本</a:t>
            </a:r>
            <a:r>
              <a:rPr lang="zh-CN" altLang="en-US" dirty="0"/>
              <a:t>节的</a:t>
            </a:r>
            <a:r>
              <a:rPr lang="zh-CN" altLang="en-US" dirty="0" smtClean="0"/>
              <a:t>内容</a:t>
            </a:r>
            <a:r>
              <a:rPr lang="en-US" altLang="zh-CN" dirty="0" smtClean="0"/>
              <a:t>)</a:t>
            </a:r>
            <a:endParaRPr lang="en-US" altLang="zh-CN" dirty="0"/>
          </a:p>
          <a:p>
            <a:pPr lvl="1">
              <a:lnSpc>
                <a:spcPct val="80000"/>
              </a:lnSpc>
            </a:pPr>
            <a:r>
              <a:rPr lang="zh-CN" altLang="en-US" dirty="0"/>
              <a:t>使用称为有向图的图形</a:t>
            </a:r>
            <a:r>
              <a:rPr lang="zh-CN" altLang="en-US" dirty="0" smtClean="0"/>
              <a:t>表达方式</a:t>
            </a:r>
            <a:r>
              <a:rPr lang="en-US" altLang="zh-CN" dirty="0" smtClean="0"/>
              <a:t>(</a:t>
            </a:r>
            <a:r>
              <a:rPr lang="zh-CN" altLang="en-US" dirty="0" smtClean="0"/>
              <a:t>本</a:t>
            </a:r>
            <a:r>
              <a:rPr lang="zh-CN" altLang="en-US" dirty="0"/>
              <a:t>节</a:t>
            </a:r>
            <a:r>
              <a:rPr lang="zh-CN" altLang="en-US" dirty="0" smtClean="0"/>
              <a:t>内容</a:t>
            </a:r>
            <a:r>
              <a:rPr lang="en-US" altLang="zh-CN" dirty="0" smtClean="0"/>
              <a:t>)</a:t>
            </a:r>
            <a:endParaRPr lang="en-US" altLang="zh-CN" dirty="0"/>
          </a:p>
        </p:txBody>
      </p:sp>
      <p:sp>
        <p:nvSpPr>
          <p:cNvPr id="7" name="日期占位符 6"/>
          <p:cNvSpPr>
            <a:spLocks noGrp="1"/>
          </p:cNvSpPr>
          <p:nvPr>
            <p:ph type="dt" sz="half" idx="10"/>
          </p:nvPr>
        </p:nvSpPr>
        <p:spPr/>
        <p:txBody>
          <a:bodyPr/>
          <a:lstStyle/>
          <a:p>
            <a:fld id="{5EF3F5FF-331B-4336-A606-C83E3C3EC81B}" type="datetime1">
              <a:rPr lang="zh-CN" altLang="en-US" smtClean="0"/>
              <a:t>2025/3/14</a:t>
            </a:fld>
            <a:endParaRPr lang="zh-CN" altLang="en-US" dirty="0"/>
          </a:p>
        </p:txBody>
      </p:sp>
      <p:sp>
        <p:nvSpPr>
          <p:cNvPr id="8" name="页脚占位符 7"/>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9" name="灯片编号占位符 8"/>
          <p:cNvSpPr>
            <a:spLocks noGrp="1"/>
          </p:cNvSpPr>
          <p:nvPr>
            <p:ph type="sldNum" sz="quarter" idx="12"/>
          </p:nvPr>
        </p:nvSpPr>
        <p:spPr/>
        <p:txBody>
          <a:bodyPr/>
          <a:lstStyle/>
          <a:p>
            <a:fld id="{67913A8A-9EFB-4B5F-9CCB-3D21173FAA85}" type="slidenum">
              <a:rPr lang="zh-CN" altLang="en-US" smtClean="0"/>
              <a:pPr/>
              <a:t>28</a:t>
            </a:fld>
            <a:endParaRPr lang="zh-CN" altLang="en-US" dirty="0"/>
          </a:p>
        </p:txBody>
      </p:sp>
    </p:spTree>
    <p:extLst>
      <p:ext uri="{BB962C8B-B14F-4D97-AF65-F5344CB8AC3E}">
        <p14:creationId xmlns:p14="http://schemas.microsoft.com/office/powerpoint/2010/main" val="703833238"/>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457200" y="1676400"/>
            <a:ext cx="11277599" cy="2895600"/>
          </a:xfrm>
          <a:prstGeom prst="rect">
            <a:avLst/>
          </a:prstGeom>
          <a:solidFill>
            <a:schemeClr val="accent5">
              <a:lumMod val="40000"/>
              <a:lumOff val="6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itle 1"/>
          <p:cNvSpPr>
            <a:spLocks noGrp="1"/>
          </p:cNvSpPr>
          <p:nvPr>
            <p:ph type="title"/>
          </p:nvPr>
        </p:nvSpPr>
        <p:spPr/>
        <p:txBody>
          <a:bodyPr/>
          <a:lstStyle/>
          <a:p>
            <a:r>
              <a:rPr lang="zh-CN" altLang="en-US" dirty="0" smtClean="0"/>
              <a:t>用矩阵表示关系</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Autofit/>
              </a:bodyPr>
              <a:lstStyle/>
              <a:p>
                <a:r>
                  <a:rPr lang="en-US" b="1" dirty="0" smtClean="0">
                    <a:solidFill>
                      <a:srgbClr val="C00000"/>
                    </a:solidFill>
                  </a:rPr>
                  <a:t>0-1</a:t>
                </a:r>
                <a:r>
                  <a:rPr lang="zh-CN" altLang="en-US" b="1" dirty="0" smtClean="0">
                    <a:solidFill>
                      <a:srgbClr val="C00000"/>
                    </a:solidFill>
                  </a:rPr>
                  <a:t>矩阵</a:t>
                </a:r>
                <a:r>
                  <a:rPr lang="zh-CN" altLang="en-US" dirty="0" smtClean="0"/>
                  <a:t>可以表示一个有穷集之间的关系</a:t>
                </a:r>
                <a:r>
                  <a:rPr lang="en-US" dirty="0" smtClean="0"/>
                  <a:t>. </a:t>
                </a:r>
              </a:p>
              <a:p>
                <a:r>
                  <a:rPr lang="zh-CN" altLang="en-US" dirty="0" smtClean="0"/>
                  <a:t>假设</a:t>
                </a:r>
                <a:r>
                  <a:rPr lang="en-US" altLang="zh-CN" dirty="0" smtClean="0"/>
                  <a:t>R</a:t>
                </a:r>
                <a:r>
                  <a:rPr lang="zh-CN" altLang="en-US" dirty="0" smtClean="0"/>
                  <a:t>是一个从集合</a:t>
                </a:r>
                <a:r>
                  <a:rPr lang="en-US" dirty="0" smtClean="0"/>
                  <a:t>A = {</a:t>
                </a:r>
                <a14:m>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𝑎</m:t>
                        </m:r>
                      </m:e>
                      <m:sub>
                        <m:r>
                          <a:rPr lang="en-US" altLang="zh-CN" b="0" i="1" smtClean="0">
                            <a:latin typeface="Cambria Math" panose="02040503050406030204" pitchFamily="18" charset="0"/>
                          </a:rPr>
                          <m:t>1</m:t>
                        </m:r>
                      </m:sub>
                    </m:sSub>
                  </m:oMath>
                </a14:m>
                <a:r>
                  <a:rPr lang="en-US" dirty="0" smtClean="0"/>
                  <a:t>,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𝑎</m:t>
                        </m:r>
                      </m:e>
                      <m:sub>
                        <m:r>
                          <a:rPr lang="en-US" altLang="zh-CN" b="0" i="1" smtClean="0">
                            <a:latin typeface="Cambria Math" panose="02040503050406030204" pitchFamily="18" charset="0"/>
                          </a:rPr>
                          <m:t>2</m:t>
                        </m:r>
                      </m:sub>
                    </m:sSub>
                  </m:oMath>
                </a14:m>
                <a:r>
                  <a:rPr lang="en-US" dirty="0" smtClean="0"/>
                  <a:t>, …,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𝑎</m:t>
                        </m:r>
                      </m:e>
                      <m:sub>
                        <m:r>
                          <a:rPr lang="en-US" altLang="zh-CN" b="0" i="1" smtClean="0">
                            <a:latin typeface="Cambria Math" panose="02040503050406030204" pitchFamily="18" charset="0"/>
                          </a:rPr>
                          <m:t>𝑚</m:t>
                        </m:r>
                      </m:sub>
                    </m:sSub>
                  </m:oMath>
                </a14:m>
                <a:r>
                  <a:rPr lang="en-US" dirty="0" smtClean="0"/>
                  <a:t>} </a:t>
                </a:r>
                <a:r>
                  <a:rPr lang="zh-CN" altLang="en-US" dirty="0" smtClean="0"/>
                  <a:t>到集合</a:t>
                </a:r>
                <a:r>
                  <a:rPr lang="en-US" altLang="zh-CN" dirty="0" smtClean="0"/>
                  <a:t>B</a:t>
                </a:r>
                <a:r>
                  <a:rPr lang="en-US" dirty="0" smtClean="0"/>
                  <a:t> = {</a:t>
                </a:r>
                <a14:m>
                  <m:oMath xmlns:m="http://schemas.openxmlformats.org/officeDocument/2006/math">
                    <m:sSub>
                      <m:sSubPr>
                        <m:ctrlPr>
                          <a:rPr lang="en-US" altLang="zh-CN" i="1">
                            <a:latin typeface="Cambria Math" panose="02040503050406030204" pitchFamily="18" charset="0"/>
                          </a:rPr>
                        </m:ctrlPr>
                      </m:sSubPr>
                      <m:e>
                        <m:r>
                          <a:rPr lang="en-US" altLang="zh-CN" b="0" i="1" smtClean="0">
                            <a:latin typeface="Cambria Math" panose="02040503050406030204" pitchFamily="18" charset="0"/>
                          </a:rPr>
                          <m:t>𝑏</m:t>
                        </m:r>
                      </m:e>
                      <m:sub>
                        <m:r>
                          <a:rPr lang="en-US" altLang="zh-CN" i="1">
                            <a:latin typeface="Cambria Math" panose="02040503050406030204" pitchFamily="18" charset="0"/>
                          </a:rPr>
                          <m:t>1</m:t>
                        </m:r>
                      </m:sub>
                    </m:sSub>
                  </m:oMath>
                </a14:m>
                <a:r>
                  <a:rPr lang="en-US" dirty="0" smtClean="0"/>
                  <a:t>, </a:t>
                </a:r>
                <a14:m>
                  <m:oMath xmlns:m="http://schemas.openxmlformats.org/officeDocument/2006/math">
                    <m:sSub>
                      <m:sSubPr>
                        <m:ctrlPr>
                          <a:rPr lang="en-US" altLang="zh-CN" i="1">
                            <a:latin typeface="Cambria Math" panose="02040503050406030204" pitchFamily="18" charset="0"/>
                          </a:rPr>
                        </m:ctrlPr>
                      </m:sSubPr>
                      <m:e>
                        <m:r>
                          <a:rPr lang="en-US" altLang="zh-CN" b="0" i="1" smtClean="0">
                            <a:latin typeface="Cambria Math" panose="02040503050406030204" pitchFamily="18" charset="0"/>
                          </a:rPr>
                          <m:t>𝑏</m:t>
                        </m:r>
                      </m:e>
                      <m:sub>
                        <m:r>
                          <a:rPr lang="en-US" altLang="zh-CN" i="1">
                            <a:latin typeface="Cambria Math" panose="02040503050406030204" pitchFamily="18" charset="0"/>
                          </a:rPr>
                          <m:t>2</m:t>
                        </m:r>
                      </m:sub>
                    </m:sSub>
                  </m:oMath>
                </a14:m>
                <a:r>
                  <a:rPr lang="en-US" dirty="0" smtClean="0"/>
                  <a:t>, …, </a:t>
                </a:r>
                <a14:m>
                  <m:oMath xmlns:m="http://schemas.openxmlformats.org/officeDocument/2006/math">
                    <m:sSub>
                      <m:sSubPr>
                        <m:ctrlPr>
                          <a:rPr lang="en-US" altLang="zh-CN" i="1">
                            <a:latin typeface="Cambria Math" panose="02040503050406030204" pitchFamily="18" charset="0"/>
                          </a:rPr>
                        </m:ctrlPr>
                      </m:sSubPr>
                      <m:e>
                        <m:r>
                          <a:rPr lang="en-US" altLang="zh-CN" b="0" i="1" smtClean="0">
                            <a:latin typeface="Cambria Math" panose="02040503050406030204" pitchFamily="18" charset="0"/>
                          </a:rPr>
                          <m:t>𝑏</m:t>
                        </m:r>
                      </m:e>
                      <m:sub>
                        <m:r>
                          <a:rPr lang="en-US" altLang="zh-CN" b="0" i="1" smtClean="0">
                            <a:latin typeface="Cambria Math" panose="02040503050406030204" pitchFamily="18" charset="0"/>
                          </a:rPr>
                          <m:t>𝑛</m:t>
                        </m:r>
                      </m:sub>
                    </m:sSub>
                  </m:oMath>
                </a14:m>
                <a:r>
                  <a:rPr lang="en-US" dirty="0" smtClean="0"/>
                  <a:t>}</a:t>
                </a:r>
                <a:r>
                  <a:rPr lang="zh-CN" altLang="en-US" dirty="0" smtClean="0"/>
                  <a:t>的关系</a:t>
                </a:r>
                <a:r>
                  <a:rPr lang="en-US" altLang="zh-CN" dirty="0" smtClean="0"/>
                  <a:t>(A</a:t>
                </a:r>
                <a:r>
                  <a:rPr lang="zh-CN" altLang="en-US" dirty="0" smtClean="0"/>
                  <a:t>和</a:t>
                </a:r>
                <a:r>
                  <a:rPr lang="en-US" altLang="zh-CN" dirty="0" smtClean="0"/>
                  <a:t>B</a:t>
                </a:r>
                <a:r>
                  <a:rPr lang="zh-CN" altLang="en-US" dirty="0" smtClean="0"/>
                  <a:t>的元素已经按照某一个特定的次序列出</a:t>
                </a:r>
                <a:r>
                  <a:rPr lang="en-US" altLang="zh-CN" dirty="0" smtClean="0"/>
                  <a:t>, </a:t>
                </a:r>
                <a:r>
                  <a:rPr lang="zh-CN" altLang="en-US" dirty="0" smtClean="0"/>
                  <a:t>该次序是任意的</a:t>
                </a:r>
                <a:r>
                  <a:rPr lang="en-US" altLang="zh-CN" dirty="0" smtClean="0"/>
                  <a:t>.</a:t>
                </a:r>
                <a:r>
                  <a:rPr lang="zh-CN" altLang="en-US" dirty="0" smtClean="0"/>
                  <a:t>此外</a:t>
                </a:r>
                <a:r>
                  <a:rPr lang="en-US" altLang="zh-CN" dirty="0" smtClean="0"/>
                  <a:t>A=B</a:t>
                </a:r>
                <a:r>
                  <a:rPr lang="zh-CN" altLang="en-US" dirty="0" smtClean="0"/>
                  <a:t>时我们对</a:t>
                </a:r>
                <a:r>
                  <a:rPr lang="en-US" altLang="zh-CN" dirty="0" smtClean="0"/>
                  <a:t>A</a:t>
                </a:r>
                <a:r>
                  <a:rPr lang="zh-CN" altLang="en-US" dirty="0" smtClean="0"/>
                  <a:t>和</a:t>
                </a:r>
                <a:r>
                  <a:rPr lang="en-US" altLang="zh-CN" dirty="0" smtClean="0"/>
                  <a:t>B</a:t>
                </a:r>
                <a:r>
                  <a:rPr lang="zh-CN" altLang="en-US" dirty="0" smtClean="0"/>
                  <a:t>使用同样的次序</a:t>
                </a:r>
                <a:r>
                  <a:rPr lang="en-US" altLang="zh-CN" dirty="0" smtClean="0"/>
                  <a:t>)</a:t>
                </a:r>
                <a:r>
                  <a:rPr lang="en-US" dirty="0" smtClean="0"/>
                  <a:t>. </a:t>
                </a:r>
                <a:r>
                  <a:rPr lang="zh-CN" altLang="en-US" dirty="0" smtClean="0"/>
                  <a:t>关系</a:t>
                </a:r>
                <a:r>
                  <a:rPr lang="en-US" altLang="zh-CN" dirty="0" smtClean="0"/>
                  <a:t>R</a:t>
                </a:r>
                <a:r>
                  <a:rPr lang="zh-CN" altLang="en-US" dirty="0" smtClean="0"/>
                  <a:t>则可以用</a:t>
                </a:r>
                <a14:m>
                  <m:oMath xmlns:m="http://schemas.openxmlformats.org/officeDocument/2006/math">
                    <m:r>
                      <a:rPr lang="en-US" altLang="zh-CN" i="1">
                        <a:latin typeface="Cambria Math" panose="02040503050406030204" pitchFamily="18" charset="0"/>
                      </a:rPr>
                      <m:t>𝑚</m:t>
                    </m:r>
                    <m:r>
                      <a:rPr lang="en-US" altLang="zh-CN"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rPr>
                      <m:t>𝑛</m:t>
                    </m:r>
                  </m:oMath>
                </a14:m>
                <a:r>
                  <a:rPr lang="zh-CN" altLang="en-US" dirty="0" smtClean="0"/>
                  <a:t>的</a:t>
                </a:r>
                <a:r>
                  <a:rPr lang="en-US" altLang="zh-CN" dirty="0" smtClean="0"/>
                  <a:t>0-1</a:t>
                </a:r>
                <a:r>
                  <a:rPr lang="zh-CN" altLang="en-US" dirty="0" smtClean="0"/>
                  <a:t>矩阵</a:t>
                </a:r>
                <a14:m>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𝑀</m:t>
                        </m:r>
                      </m:e>
                      <m:sub>
                        <m:r>
                          <a:rPr lang="en-US" altLang="zh-CN" b="0" i="1" smtClean="0">
                            <a:latin typeface="Cambria Math" panose="02040503050406030204" pitchFamily="18" charset="0"/>
                          </a:rPr>
                          <m:t>𝑅</m:t>
                        </m:r>
                      </m:sub>
                    </m:sSub>
                    <m:r>
                      <a:rPr lang="en-US" altLang="zh-CN"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m:t>
                    </m:r>
                    <m:sSub>
                      <m:sSubPr>
                        <m:ctrlPr>
                          <a:rPr lang="en-US" altLang="zh-CN"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𝑚</m:t>
                        </m:r>
                      </m:e>
                      <m:sub>
                        <m:r>
                          <a:rPr lang="en-US" altLang="zh-CN" b="0" i="1" smtClean="0">
                            <a:latin typeface="Cambria Math" panose="02040503050406030204" pitchFamily="18" charset="0"/>
                            <a:ea typeface="Cambria Math" panose="02040503050406030204" pitchFamily="18" charset="0"/>
                          </a:rPr>
                          <m:t>𝑖𝑗</m:t>
                        </m:r>
                      </m:sub>
                    </m:sSub>
                    <m:r>
                      <a:rPr lang="en-US" altLang="zh-CN" b="0" i="1" smtClean="0">
                        <a:latin typeface="Cambria Math" panose="02040503050406030204" pitchFamily="18" charset="0"/>
                        <a:ea typeface="Cambria Math" panose="02040503050406030204" pitchFamily="18" charset="0"/>
                      </a:rPr>
                      <m:t>]</m:t>
                    </m:r>
                  </m:oMath>
                </a14:m>
                <a:r>
                  <a:rPr lang="zh-CN" altLang="en-US" dirty="0" smtClean="0"/>
                  <a:t> 来表示</a:t>
                </a:r>
                <a:r>
                  <a:rPr lang="en-US" altLang="zh-CN" dirty="0" smtClean="0"/>
                  <a:t>, </a:t>
                </a:r>
                <a:r>
                  <a:rPr lang="zh-CN" altLang="en-US" dirty="0" smtClean="0"/>
                  <a:t>其中</a:t>
                </a:r>
                <a:endParaRPr lang="en-US" altLang="zh-CN" i="1" dirty="0" smtClean="0">
                  <a:latin typeface="Cambria Math" panose="02040503050406030204" pitchFamily="18" charset="0"/>
                  <a:ea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d>
                        <m:dPr>
                          <m:begChr m:val="["/>
                          <m:endChr m:val="]"/>
                          <m:ctrlPr>
                            <a:rPr lang="en-US" altLang="zh-CN" i="1">
                              <a:latin typeface="Cambria Math" panose="02040503050406030204" pitchFamily="18" charset="0"/>
                              <a:ea typeface="Cambria Math" panose="02040503050406030204" pitchFamily="18" charset="0"/>
                            </a:rPr>
                          </m:ctrlPr>
                        </m:dPr>
                        <m:e>
                          <m:sSub>
                            <m:sSubPr>
                              <m:ctrlPr>
                                <a:rPr lang="en-US" altLang="zh-CN" i="1">
                                  <a:latin typeface="Cambria Math" panose="02040503050406030204" pitchFamily="18" charset="0"/>
                                  <a:ea typeface="Cambria Math" panose="02040503050406030204" pitchFamily="18" charset="0"/>
                                </a:rPr>
                              </m:ctrlPr>
                            </m:sSubPr>
                            <m:e>
                              <m:r>
                                <a:rPr lang="en-US" altLang="zh-CN" i="1">
                                  <a:latin typeface="Cambria Math" panose="02040503050406030204" pitchFamily="18" charset="0"/>
                                  <a:ea typeface="Cambria Math" panose="02040503050406030204" pitchFamily="18" charset="0"/>
                                </a:rPr>
                                <m:t>𝑚</m:t>
                              </m:r>
                            </m:e>
                            <m:sub>
                              <m:r>
                                <a:rPr lang="en-US" altLang="zh-CN" i="1">
                                  <a:latin typeface="Cambria Math" panose="02040503050406030204" pitchFamily="18" charset="0"/>
                                  <a:ea typeface="Cambria Math" panose="02040503050406030204" pitchFamily="18" charset="0"/>
                                </a:rPr>
                                <m:t>𝑖𝑗</m:t>
                              </m:r>
                            </m:sub>
                          </m:sSub>
                        </m:e>
                      </m:d>
                      <m:r>
                        <a:rPr lang="en-US" altLang="zh-CN" b="0" i="1" smtClean="0">
                          <a:latin typeface="Cambria Math" panose="02040503050406030204" pitchFamily="18" charset="0"/>
                          <a:ea typeface="Cambria Math" panose="02040503050406030204" pitchFamily="18" charset="0"/>
                        </a:rPr>
                        <m:t>=</m:t>
                      </m:r>
                      <m:d>
                        <m:dPr>
                          <m:begChr m:val="{"/>
                          <m:endChr m:val=""/>
                          <m:ctrlPr>
                            <a:rPr lang="en-US" altLang="zh-CN" b="0" i="1" smtClean="0">
                              <a:latin typeface="Cambria Math" panose="02040503050406030204" pitchFamily="18" charset="0"/>
                              <a:ea typeface="Cambria Math" panose="02040503050406030204" pitchFamily="18" charset="0"/>
                            </a:rPr>
                          </m:ctrlPr>
                        </m:dPr>
                        <m:e>
                          <m:eqArr>
                            <m:eqArrPr>
                              <m:ctrlPr>
                                <a:rPr lang="en-US" altLang="zh-CN" b="0" i="1" smtClean="0">
                                  <a:latin typeface="Cambria Math" panose="02040503050406030204" pitchFamily="18" charset="0"/>
                                  <a:ea typeface="Cambria Math" panose="02040503050406030204" pitchFamily="18" charset="0"/>
                                </a:rPr>
                              </m:ctrlPr>
                            </m:eqArrPr>
                            <m:e>
                              <m:r>
                                <a:rPr lang="en-US" altLang="zh-CN" b="0" i="1" smtClean="0">
                                  <a:latin typeface="Cambria Math" panose="02040503050406030204" pitchFamily="18" charset="0"/>
                                  <a:ea typeface="Cambria Math" panose="02040503050406030204" pitchFamily="18" charset="0"/>
                                </a:rPr>
                                <m:t>1  (</m:t>
                              </m:r>
                              <m:sSub>
                                <m:sSubPr>
                                  <m:ctrlPr>
                                    <a:rPr lang="en-US" altLang="zh-CN" i="1">
                                      <a:latin typeface="Cambria Math" panose="02040503050406030204" pitchFamily="18" charset="0"/>
                                    </a:rPr>
                                  </m:ctrlPr>
                                </m:sSubPr>
                                <m:e>
                                  <m:r>
                                    <a:rPr lang="en-US" altLang="zh-CN" i="1">
                                      <a:latin typeface="Cambria Math" panose="02040503050406030204" pitchFamily="18" charset="0"/>
                                    </a:rPr>
                                    <m:t>𝑎</m:t>
                                  </m:r>
                                </m:e>
                                <m:sub>
                                  <m:r>
                                    <a:rPr lang="en-US" altLang="zh-CN" b="0" i="1" smtClean="0">
                                      <a:latin typeface="Cambria Math" panose="02040503050406030204" pitchFamily="18" charset="0"/>
                                    </a:rPr>
                                    <m:t>𝑖</m:t>
                                  </m:r>
                                </m:sub>
                              </m:sSub>
                              <m:r>
                                <a:rPr lang="en-US" altLang="zh-CN" b="0" i="1" smtClean="0">
                                  <a:latin typeface="Cambria Math" panose="02040503050406030204" pitchFamily="18" charset="0"/>
                                </a:rPr>
                                <m:t>,</m:t>
                              </m:r>
                              <m:sSub>
                                <m:sSubPr>
                                  <m:ctrlPr>
                                    <a:rPr lang="en-US" altLang="zh-CN" i="1">
                                      <a:latin typeface="Cambria Math" panose="02040503050406030204" pitchFamily="18" charset="0"/>
                                    </a:rPr>
                                  </m:ctrlPr>
                                </m:sSubPr>
                                <m:e>
                                  <m:r>
                                    <a:rPr lang="en-US" altLang="zh-CN" b="0" i="1" smtClean="0">
                                      <a:latin typeface="Cambria Math" panose="02040503050406030204" pitchFamily="18" charset="0"/>
                                    </a:rPr>
                                    <m:t>𝑏</m:t>
                                  </m:r>
                                </m:e>
                                <m:sub>
                                  <m:r>
                                    <a:rPr lang="en-US" altLang="zh-CN" b="0" i="1" smtClean="0">
                                      <a:latin typeface="Cambria Math" panose="02040503050406030204" pitchFamily="18" charset="0"/>
                                    </a:rPr>
                                    <m:t>𝑗</m:t>
                                  </m:r>
                                </m:sub>
                              </m:sSub>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𝑅</m:t>
                              </m:r>
                            </m:e>
                            <m:e>
                              <m:r>
                                <a:rPr lang="en-US" altLang="zh-CN" b="0" i="1" smtClean="0">
                                  <a:latin typeface="Cambria Math" panose="02040503050406030204" pitchFamily="18" charset="0"/>
                                  <a:ea typeface="Cambria Math" panose="02040503050406030204" pitchFamily="18" charset="0"/>
                                </a:rPr>
                                <m:t>0  </m:t>
                              </m:r>
                              <m:r>
                                <a:rPr lang="en-US" altLang="zh-CN" i="1">
                                  <a:latin typeface="Cambria Math" panose="02040503050406030204" pitchFamily="18" charset="0"/>
                                  <a:ea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𝑎</m:t>
                                  </m:r>
                                </m:e>
                                <m:sub>
                                  <m:r>
                                    <a:rPr lang="en-US" altLang="zh-CN" i="1">
                                      <a:latin typeface="Cambria Math" panose="02040503050406030204" pitchFamily="18" charset="0"/>
                                    </a:rPr>
                                    <m:t>𝑖</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𝑏</m:t>
                                  </m:r>
                                </m:e>
                                <m:sub>
                                  <m:r>
                                    <a:rPr lang="en-US" altLang="zh-CN" i="1">
                                      <a:latin typeface="Cambria Math" panose="02040503050406030204" pitchFamily="18" charset="0"/>
                                    </a:rPr>
                                    <m:t>𝑗</m:t>
                                  </m:r>
                                </m:sub>
                              </m:sSub>
                              <m:r>
                                <a:rPr lang="en-US" altLang="zh-CN" i="1">
                                  <a:latin typeface="Cambria Math" panose="02040503050406030204" pitchFamily="18" charset="0"/>
                                  <a:ea typeface="Cambria Math" panose="02040503050406030204" pitchFamily="18" charset="0"/>
                                </a:rPr>
                                <m:t>)</m:t>
                              </m:r>
                              <m:r>
                                <a:rPr lang="en-US" altLang="zh-CN" i="1" smtClean="0">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𝑅</m:t>
                              </m:r>
                            </m:e>
                          </m:eqArr>
                        </m:e>
                      </m:d>
                    </m:oMath>
                  </m:oMathPara>
                </a14:m>
                <a:endParaRPr lang="en-US" dirty="0" smtClean="0"/>
              </a:p>
              <a:p>
                <a:pPr marL="0" indent="0">
                  <a:buNone/>
                </a:pPr>
                <a:r>
                  <a:rPr lang="en-US" dirty="0" smtClean="0"/>
                  <a:t>   </a:t>
                </a:r>
                <a:r>
                  <a:rPr lang="zh-CN" altLang="en-US" dirty="0" smtClean="0"/>
                  <a:t>这儿</a:t>
                </a:r>
                <a:r>
                  <a:rPr lang="en-US" altLang="zh-CN" dirty="0" smtClean="0"/>
                  <a:t>, </a:t>
                </a:r>
                <a:r>
                  <a:rPr lang="zh-CN" altLang="en-US" dirty="0" smtClean="0"/>
                  <a:t>当</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𝑎</m:t>
                        </m:r>
                      </m:e>
                      <m:sub>
                        <m:r>
                          <a:rPr lang="en-US" altLang="zh-CN" i="1">
                            <a:latin typeface="Cambria Math" panose="02040503050406030204" pitchFamily="18" charset="0"/>
                          </a:rPr>
                          <m:t>𝑖</m:t>
                        </m:r>
                      </m:sub>
                    </m:sSub>
                  </m:oMath>
                </a14:m>
                <a:r>
                  <a:rPr lang="zh-CN" altLang="en-US" dirty="0" smtClean="0"/>
                  <a:t>和</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𝑏</m:t>
                        </m:r>
                      </m:e>
                      <m:sub>
                        <m:r>
                          <a:rPr lang="en-US" altLang="zh-CN" i="1">
                            <a:latin typeface="Cambria Math" panose="02040503050406030204" pitchFamily="18" charset="0"/>
                          </a:rPr>
                          <m:t>𝑗</m:t>
                        </m:r>
                      </m:sub>
                    </m:sSub>
                  </m:oMath>
                </a14:m>
                <a:r>
                  <a:rPr lang="zh-CN" altLang="en-US" dirty="0" smtClean="0"/>
                  <a:t>有关系时表示</a:t>
                </a:r>
                <a:r>
                  <a:rPr lang="en-US" altLang="zh-CN" dirty="0" smtClean="0"/>
                  <a:t>R</a:t>
                </a:r>
                <a:r>
                  <a:rPr lang="zh-CN" altLang="en-US" dirty="0" smtClean="0"/>
                  <a:t>的</a:t>
                </a:r>
                <a:r>
                  <a:rPr lang="en-US" altLang="zh-CN" dirty="0" smtClean="0"/>
                  <a:t>0-1</a:t>
                </a:r>
                <a:r>
                  <a:rPr lang="zh-CN" altLang="en-US" dirty="0" smtClean="0"/>
                  <a:t>矩阵的</a:t>
                </a:r>
                <a:r>
                  <a:rPr lang="en-US" altLang="zh-CN" dirty="0" smtClean="0"/>
                  <a:t>(</a:t>
                </a:r>
                <a14:m>
                  <m:oMath xmlns:m="http://schemas.openxmlformats.org/officeDocument/2006/math">
                    <m:r>
                      <a:rPr lang="en-US" altLang="zh-CN" i="1">
                        <a:latin typeface="Cambria Math" panose="02040503050406030204" pitchFamily="18" charset="0"/>
                      </a:rPr>
                      <m:t>𝑖</m:t>
                    </m:r>
                  </m:oMath>
                </a14:m>
                <a:r>
                  <a:rPr lang="en-US" altLang="zh-CN" dirty="0" smtClean="0"/>
                  <a:t>,</a:t>
                </a:r>
                <a:r>
                  <a:rPr lang="en-US" altLang="zh-CN" dirty="0"/>
                  <a:t> </a:t>
                </a:r>
                <a14:m>
                  <m:oMath xmlns:m="http://schemas.openxmlformats.org/officeDocument/2006/math">
                    <m:r>
                      <a:rPr lang="en-US" altLang="zh-CN" i="1">
                        <a:latin typeface="Cambria Math" panose="02040503050406030204" pitchFamily="18" charset="0"/>
                      </a:rPr>
                      <m:t>𝑗</m:t>
                    </m:r>
                  </m:oMath>
                </a14:m>
                <a:r>
                  <a:rPr lang="en-US" altLang="zh-CN" dirty="0" smtClean="0"/>
                  <a:t>)</a:t>
                </a:r>
                <a:r>
                  <a:rPr lang="zh-CN" altLang="en-US" dirty="0" smtClean="0"/>
                  <a:t>项是</a:t>
                </a:r>
                <a:r>
                  <a:rPr lang="en-US" altLang="zh-CN" dirty="0" smtClean="0"/>
                  <a:t>1; </a:t>
                </a:r>
                <a:r>
                  <a:rPr lang="zh-CN" altLang="en-US" dirty="0" smtClean="0"/>
                  <a:t>否则该项是</a:t>
                </a:r>
                <a:r>
                  <a:rPr lang="en-US" altLang="zh-CN" dirty="0" smtClean="0"/>
                  <a:t>0.</a:t>
                </a: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999" t="-1310" r="-777"/>
                </a:stretch>
              </a:blipFill>
            </p:spPr>
            <p:txBody>
              <a:bodyPr/>
              <a:lstStyle/>
              <a:p>
                <a:r>
                  <a:rPr lang="zh-CN" altLang="en-US">
                    <a:noFill/>
                  </a:rPr>
                  <a:t> </a:t>
                </a:r>
              </a:p>
            </p:txBody>
          </p:sp>
        </mc:Fallback>
      </mc:AlternateContent>
      <p:sp>
        <p:nvSpPr>
          <p:cNvPr id="7" name="日期占位符 6"/>
          <p:cNvSpPr>
            <a:spLocks noGrp="1"/>
          </p:cNvSpPr>
          <p:nvPr>
            <p:ph type="dt" sz="half" idx="10"/>
          </p:nvPr>
        </p:nvSpPr>
        <p:spPr/>
        <p:txBody>
          <a:bodyPr/>
          <a:lstStyle/>
          <a:p>
            <a:fld id="{7349FA58-A338-4021-A735-FA6F4E9CE048}" type="datetime1">
              <a:rPr lang="zh-CN" altLang="en-US" smtClean="0"/>
              <a:t>2025/3/14</a:t>
            </a:fld>
            <a:endParaRPr lang="zh-CN" altLang="en-US" dirty="0"/>
          </a:p>
        </p:txBody>
      </p:sp>
      <p:sp>
        <p:nvSpPr>
          <p:cNvPr id="8" name="页脚占位符 7"/>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9" name="灯片编号占位符 8"/>
          <p:cNvSpPr>
            <a:spLocks noGrp="1"/>
          </p:cNvSpPr>
          <p:nvPr>
            <p:ph type="sldNum" sz="quarter" idx="12"/>
          </p:nvPr>
        </p:nvSpPr>
        <p:spPr/>
        <p:txBody>
          <a:bodyPr/>
          <a:lstStyle/>
          <a:p>
            <a:fld id="{67913A8A-9EFB-4B5F-9CCB-3D21173FAA85}" type="slidenum">
              <a:rPr lang="zh-CN" altLang="en-US" smtClean="0"/>
              <a:pPr/>
              <a:t>29</a:t>
            </a:fld>
            <a:endParaRPr lang="zh-CN" altLang="en-US" dirty="0"/>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用矩阵表示关系</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zh-CN" altLang="en-US" dirty="0" smtClean="0"/>
                  <a:t>例</a:t>
                </a:r>
                <a:r>
                  <a:rPr lang="en-US" altLang="zh-CN" dirty="0" smtClean="0"/>
                  <a:t>:</a:t>
                </a:r>
                <a:r>
                  <a:rPr lang="zh-CN" altLang="en-US" dirty="0" smtClean="0"/>
                  <a:t>设</a:t>
                </a:r>
                <a:r>
                  <a:rPr lang="en-US" dirty="0" smtClean="0"/>
                  <a:t>A = {1,2,3}</a:t>
                </a:r>
                <a:r>
                  <a:rPr lang="en-US" altLang="zh-CN" dirty="0" smtClean="0"/>
                  <a:t>, </a:t>
                </a:r>
                <a:r>
                  <a:rPr lang="en-US" dirty="0" smtClean="0"/>
                  <a:t>B = {1,2}. </a:t>
                </a:r>
                <a:r>
                  <a:rPr lang="zh-CN" altLang="en-US" dirty="0" smtClean="0"/>
                  <a:t>令</a:t>
                </a:r>
                <a:r>
                  <a:rPr lang="en-US" dirty="0" smtClean="0"/>
                  <a:t>R</a:t>
                </a:r>
                <a:r>
                  <a:rPr lang="zh-CN" altLang="en-US" dirty="0" smtClean="0"/>
                  <a:t>是一个从</a:t>
                </a:r>
                <a:r>
                  <a:rPr lang="en-US" altLang="zh-CN" dirty="0" smtClean="0"/>
                  <a:t>A</a:t>
                </a:r>
                <a:r>
                  <a:rPr lang="zh-CN" altLang="en-US" dirty="0" smtClean="0"/>
                  <a:t>到</a:t>
                </a:r>
                <a:r>
                  <a:rPr lang="en-US" altLang="zh-CN" dirty="0" smtClean="0"/>
                  <a:t>B</a:t>
                </a:r>
                <a:r>
                  <a:rPr lang="zh-CN" altLang="en-US" dirty="0" smtClean="0"/>
                  <a:t>的关系</a:t>
                </a:r>
                <a:r>
                  <a:rPr lang="en-US" altLang="zh-CN" dirty="0" smtClean="0"/>
                  <a:t>: </a:t>
                </a:r>
                <a:r>
                  <a:rPr lang="zh-CN" altLang="en-US" dirty="0" smtClean="0"/>
                  <a:t>如果</a:t>
                </a:r>
                <a:r>
                  <a:rPr lang="en-US" dirty="0" smtClean="0"/>
                  <a:t>a</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smtClean="0"/>
                  <a:t>A,  b</a:t>
                </a:r>
                <a14:m>
                  <m:oMath xmlns:m="http://schemas.openxmlformats.org/officeDocument/2006/math">
                    <m:r>
                      <a:rPr lang="en-US" altLang="zh-CN" i="1">
                        <a:latin typeface="Cambria Math" panose="02040503050406030204" pitchFamily="18" charset="0"/>
                        <a:ea typeface="Cambria Math" panose="02040503050406030204" pitchFamily="18" charset="0"/>
                      </a:rPr>
                      <m:t>∈</m:t>
                    </m:r>
                  </m:oMath>
                </a14:m>
                <a:r>
                  <a:rPr lang="en-US" dirty="0" smtClean="0"/>
                  <a:t>B, </a:t>
                </a:r>
                <a:r>
                  <a:rPr lang="zh-CN" altLang="en-US" dirty="0" smtClean="0"/>
                  <a:t>且</a:t>
                </a:r>
                <a:r>
                  <a:rPr lang="en-US" dirty="0" smtClean="0"/>
                  <a:t>a&gt;b</a:t>
                </a:r>
                <a:r>
                  <a:rPr lang="en-US" altLang="zh-CN" dirty="0" smtClean="0"/>
                  <a:t>, </a:t>
                </a:r>
                <a:r>
                  <a:rPr lang="zh-CN" altLang="en-US" dirty="0" smtClean="0"/>
                  <a:t>则</a:t>
                </a:r>
                <a:r>
                  <a:rPr lang="en-US" altLang="zh-CN" dirty="0" smtClean="0"/>
                  <a:t>R</a:t>
                </a:r>
                <a:r>
                  <a:rPr lang="zh-CN" altLang="en-US" dirty="0" smtClean="0"/>
                  <a:t>包含</a:t>
                </a:r>
                <a:r>
                  <a:rPr lang="en-US" altLang="zh-CN" dirty="0" smtClean="0"/>
                  <a:t>(</a:t>
                </a:r>
                <a:r>
                  <a:rPr lang="en-US" altLang="zh-CN" dirty="0" err="1" smtClean="0"/>
                  <a:t>a,b</a:t>
                </a:r>
                <a:r>
                  <a:rPr lang="en-US" altLang="zh-CN" dirty="0" smtClean="0"/>
                  <a:t>)</a:t>
                </a:r>
                <a:r>
                  <a:rPr lang="en-US" dirty="0" smtClean="0"/>
                  <a:t>. </a:t>
                </a:r>
                <a:r>
                  <a:rPr lang="zh-CN" altLang="en-US" dirty="0" smtClean="0"/>
                  <a:t>求表示</a:t>
                </a:r>
                <a:r>
                  <a:rPr lang="en-US" altLang="zh-CN" dirty="0" smtClean="0"/>
                  <a:t>R</a:t>
                </a:r>
                <a:r>
                  <a:rPr lang="zh-CN" altLang="en-US" dirty="0" smtClean="0"/>
                  <a:t>的矩阵是多少？</a:t>
                </a:r>
                <a:endParaRPr lang="en-US" altLang="zh-CN" dirty="0" smtClean="0"/>
              </a:p>
              <a:p>
                <a:r>
                  <a:rPr lang="zh-CN" altLang="en-US" dirty="0" smtClean="0"/>
                  <a:t>解</a:t>
                </a:r>
                <a:r>
                  <a:rPr lang="en-US" dirty="0" smtClean="0"/>
                  <a:t>:</a:t>
                </a:r>
                <a:r>
                  <a:rPr lang="zh-CN" altLang="en-US" dirty="0" smtClean="0"/>
                  <a:t>根据</a:t>
                </a:r>
                <a:r>
                  <a:rPr lang="en-US" altLang="zh-CN" dirty="0" smtClean="0"/>
                  <a:t>R</a:t>
                </a:r>
                <a:r>
                  <a:rPr lang="zh-CN" altLang="en-US" dirty="0" smtClean="0"/>
                  <a:t>的要求</a:t>
                </a:r>
                <a:r>
                  <a:rPr lang="en-US" altLang="zh-CN" dirty="0" smtClean="0"/>
                  <a:t>, </a:t>
                </a:r>
                <a:r>
                  <a:rPr lang="zh-CN" altLang="en-US" dirty="0" smtClean="0"/>
                  <a:t>可得</a:t>
                </a:r>
                <a:r>
                  <a:rPr lang="en-US" dirty="0" smtClean="0"/>
                  <a:t>R = {(2,1), (3,1),(3,2)}, </a:t>
                </a:r>
                <a:r>
                  <a:rPr lang="zh-CN" altLang="en-US" dirty="0" smtClean="0"/>
                  <a:t>那么矩阵是</a:t>
                </a:r>
                <a:endParaRPr lang="en-US" altLang="zh-CN" dirty="0" smtClean="0"/>
              </a:p>
              <a:p>
                <a:pPr marL="0" indent="0">
                  <a:buNone/>
                </a:pPr>
                <a14:m>
                  <m:oMathPara xmlns:m="http://schemas.openxmlformats.org/officeDocument/2006/math">
                    <m:oMathParaPr>
                      <m:jc m:val="centerGroup"/>
                    </m:oMathParaPr>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𝑀</m:t>
                          </m:r>
                        </m:e>
                        <m:sub>
                          <m:r>
                            <a:rPr lang="en-US" altLang="zh-CN" i="1">
                              <a:latin typeface="Cambria Math" panose="02040503050406030204" pitchFamily="18" charset="0"/>
                            </a:rPr>
                            <m:t>𝑅</m:t>
                          </m:r>
                        </m:sub>
                      </m:sSub>
                      <m:r>
                        <a:rPr lang="en-US" altLang="zh-CN" i="1">
                          <a:latin typeface="Cambria Math" panose="02040503050406030204" pitchFamily="18" charset="0"/>
                          <a:ea typeface="Cambria Math" panose="02040503050406030204" pitchFamily="18" charset="0"/>
                        </a:rPr>
                        <m:t>=</m:t>
                      </m:r>
                      <m:d>
                        <m:dPr>
                          <m:begChr m:val="["/>
                          <m:endChr m:val="]"/>
                          <m:ctrlPr>
                            <a:rPr lang="en-US" altLang="zh-CN" i="1" smtClean="0">
                              <a:latin typeface="Cambria Math" panose="02040503050406030204" pitchFamily="18" charset="0"/>
                              <a:ea typeface="Cambria Math" panose="02040503050406030204" pitchFamily="18" charset="0"/>
                            </a:rPr>
                          </m:ctrlPr>
                        </m:dPr>
                        <m:e>
                          <m:m>
                            <m:mPr>
                              <m:mcs>
                                <m:mc>
                                  <m:mcPr>
                                    <m:count m:val="2"/>
                                    <m:mcJc m:val="center"/>
                                  </m:mcPr>
                                </m:mc>
                              </m:mcs>
                              <m:ctrlPr>
                                <a:rPr lang="en-US" altLang="zh-CN" i="1" smtClean="0">
                                  <a:latin typeface="Cambria Math" panose="02040503050406030204" pitchFamily="18" charset="0"/>
                                  <a:ea typeface="Cambria Math" panose="02040503050406030204" pitchFamily="18" charset="0"/>
                                </a:rPr>
                              </m:ctrlPr>
                            </m:mPr>
                            <m:mr>
                              <m:e>
                                <m:r>
                                  <m:rPr>
                                    <m:brk m:alnAt="7"/>
                                  </m:rPr>
                                  <a:rPr lang="en-US" altLang="zh-CN" b="0" i="1" smtClean="0">
                                    <a:latin typeface="Cambria Math" panose="02040503050406030204" pitchFamily="18" charset="0"/>
                                    <a:ea typeface="Cambria Math" panose="02040503050406030204" pitchFamily="18" charset="0"/>
                                  </a:rPr>
                                  <m:t>0</m:t>
                                </m:r>
                              </m:e>
                              <m:e>
                                <m:r>
                                  <a:rPr lang="en-US" altLang="zh-CN" b="0" i="1" smtClean="0">
                                    <a:latin typeface="Cambria Math" panose="02040503050406030204" pitchFamily="18" charset="0"/>
                                    <a:ea typeface="Cambria Math" panose="02040503050406030204" pitchFamily="18" charset="0"/>
                                  </a:rPr>
                                  <m:t>0</m:t>
                                </m:r>
                              </m:e>
                            </m:mr>
                            <m:mr>
                              <m:e>
                                <m:r>
                                  <a:rPr lang="en-US" altLang="zh-CN" b="0" i="1" smtClean="0">
                                    <a:latin typeface="Cambria Math" panose="02040503050406030204" pitchFamily="18" charset="0"/>
                                    <a:ea typeface="Cambria Math" panose="02040503050406030204" pitchFamily="18" charset="0"/>
                                  </a:rPr>
                                  <m:t>1</m:t>
                                </m:r>
                              </m:e>
                              <m:e>
                                <m:r>
                                  <a:rPr lang="en-US" altLang="zh-CN" b="0" i="1" smtClean="0">
                                    <a:latin typeface="Cambria Math" panose="02040503050406030204" pitchFamily="18" charset="0"/>
                                    <a:ea typeface="Cambria Math" panose="02040503050406030204" pitchFamily="18" charset="0"/>
                                  </a:rPr>
                                  <m:t>0</m:t>
                                </m:r>
                              </m:e>
                            </m:mr>
                            <m:mr>
                              <m:e>
                                <m:r>
                                  <a:rPr lang="en-US" altLang="zh-CN" b="0" i="1" smtClean="0">
                                    <a:latin typeface="Cambria Math" panose="02040503050406030204" pitchFamily="18" charset="0"/>
                                    <a:ea typeface="Cambria Math" panose="02040503050406030204" pitchFamily="18" charset="0"/>
                                  </a:rPr>
                                  <m:t>1</m:t>
                                </m:r>
                              </m:e>
                              <m:e>
                                <m:r>
                                  <a:rPr lang="en-US" altLang="zh-CN" b="0" i="1" smtClean="0">
                                    <a:latin typeface="Cambria Math" panose="02040503050406030204" pitchFamily="18" charset="0"/>
                                    <a:ea typeface="Cambria Math" panose="02040503050406030204" pitchFamily="18" charset="0"/>
                                  </a:rPr>
                                  <m:t>1</m:t>
                                </m:r>
                              </m:e>
                            </m:mr>
                          </m:m>
                        </m:e>
                      </m:d>
                    </m:oMath>
                  </m:oMathPara>
                </a14:m>
                <a:endParaRPr lang="en-US" altLang="zh-CN" dirty="0" smtClean="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999" t="-1310"/>
                </a:stretch>
              </a:blipFill>
            </p:spPr>
            <p:txBody>
              <a:bodyPr/>
              <a:lstStyle/>
              <a:p>
                <a:r>
                  <a:rPr lang="zh-CN" altLang="en-US">
                    <a:noFill/>
                  </a:rPr>
                  <a:t> </a:t>
                </a:r>
              </a:p>
            </p:txBody>
          </p:sp>
        </mc:Fallback>
      </mc:AlternateContent>
      <p:sp>
        <p:nvSpPr>
          <p:cNvPr id="6" name="日期占位符 5"/>
          <p:cNvSpPr>
            <a:spLocks noGrp="1"/>
          </p:cNvSpPr>
          <p:nvPr>
            <p:ph type="dt" sz="half" idx="10"/>
          </p:nvPr>
        </p:nvSpPr>
        <p:spPr/>
        <p:txBody>
          <a:bodyPr/>
          <a:lstStyle/>
          <a:p>
            <a:fld id="{23620F3F-77F3-4DF6-8370-81171384001A}" type="datetime1">
              <a:rPr lang="zh-CN" altLang="en-US" smtClean="0"/>
              <a:t>2025/3/14</a:t>
            </a:fld>
            <a:endParaRPr lang="zh-CN" altLang="en-US" dirty="0"/>
          </a:p>
        </p:txBody>
      </p:sp>
      <p:sp>
        <p:nvSpPr>
          <p:cNvPr id="8" name="页脚占位符 7"/>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9" name="灯片编号占位符 8"/>
          <p:cNvSpPr>
            <a:spLocks noGrp="1"/>
          </p:cNvSpPr>
          <p:nvPr>
            <p:ph type="sldNum" sz="quarter" idx="12"/>
          </p:nvPr>
        </p:nvSpPr>
        <p:spPr/>
        <p:txBody>
          <a:bodyPr/>
          <a:lstStyle/>
          <a:p>
            <a:fld id="{67913A8A-9EFB-4B5F-9CCB-3D21173FAA85}" type="slidenum">
              <a:rPr lang="zh-CN" altLang="en-US" smtClean="0"/>
              <a:pPr/>
              <a:t>30</a:t>
            </a:fld>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wipe(down)">
                                      <p:cBhvr>
                                        <p:cTn id="7" dur="500"/>
                                        <p:tgtEl>
                                          <p:spTgt spid="3">
                                            <p:txEl>
                                              <p:pRg st="1" end="1"/>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wipe(down)">
                                      <p:cBhvr>
                                        <p:cTn id="10"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用矩阵表示关系</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zh-CN" altLang="en-US" dirty="0" smtClean="0"/>
                  <a:t>例</a:t>
                </a:r>
                <a:r>
                  <a:rPr lang="en-US" dirty="0" smtClean="0"/>
                  <a:t>: </a:t>
                </a:r>
                <a:r>
                  <a:rPr lang="zh-CN" altLang="en-US" dirty="0" smtClean="0"/>
                  <a:t>假设</a:t>
                </a:r>
                <a:r>
                  <a:rPr lang="en-US" dirty="0" smtClean="0"/>
                  <a:t>A =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𝑎</m:t>
                        </m:r>
                      </m:e>
                      <m:sub>
                        <m:r>
                          <a:rPr lang="en-US" altLang="zh-CN" i="1">
                            <a:latin typeface="Cambria Math" panose="02040503050406030204" pitchFamily="18" charset="0"/>
                          </a:rPr>
                          <m:t>1</m:t>
                        </m:r>
                      </m:sub>
                    </m:sSub>
                  </m:oMath>
                </a14:m>
                <a:r>
                  <a:rPr lang="en-US" dirty="0" smtClean="0"/>
                  <a:t>,</a:t>
                </a:r>
                <a:r>
                  <a:rPr lang="en-US" altLang="zh-CN" dirty="0"/>
                  <a:t>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𝑎</m:t>
                        </m:r>
                      </m:e>
                      <m:sub>
                        <m:r>
                          <a:rPr lang="en-US" altLang="zh-CN" b="0" i="1" smtClean="0">
                            <a:latin typeface="Cambria Math" panose="02040503050406030204" pitchFamily="18" charset="0"/>
                          </a:rPr>
                          <m:t>2</m:t>
                        </m:r>
                      </m:sub>
                    </m:sSub>
                  </m:oMath>
                </a14:m>
                <a:r>
                  <a:rPr lang="en-US" dirty="0" smtClean="0"/>
                  <a:t>,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𝑎</m:t>
                        </m:r>
                      </m:e>
                      <m:sub>
                        <m:r>
                          <a:rPr lang="en-US" altLang="zh-CN" b="0" i="1" smtClean="0">
                            <a:latin typeface="Cambria Math" panose="02040503050406030204" pitchFamily="18" charset="0"/>
                          </a:rPr>
                          <m:t>3</m:t>
                        </m:r>
                      </m:sub>
                    </m:sSub>
                  </m:oMath>
                </a14:m>
                <a:r>
                  <a:rPr lang="en-US" dirty="0" smtClean="0"/>
                  <a:t>} </a:t>
                </a:r>
                <a:r>
                  <a:rPr lang="en-US" altLang="zh-CN" dirty="0" smtClean="0"/>
                  <a:t>,</a:t>
                </a:r>
                <a:r>
                  <a:rPr lang="en-US" dirty="0" smtClean="0"/>
                  <a:t> B = {</a:t>
                </a:r>
                <a14:m>
                  <m:oMath xmlns:m="http://schemas.openxmlformats.org/officeDocument/2006/math">
                    <m:sSub>
                      <m:sSubPr>
                        <m:ctrlPr>
                          <a:rPr lang="en-US" altLang="zh-CN" i="1">
                            <a:latin typeface="Cambria Math" panose="02040503050406030204" pitchFamily="18" charset="0"/>
                          </a:rPr>
                        </m:ctrlPr>
                      </m:sSubPr>
                      <m:e>
                        <m:r>
                          <a:rPr lang="en-US" altLang="zh-CN" b="0" i="1" smtClean="0">
                            <a:latin typeface="Cambria Math" panose="02040503050406030204" pitchFamily="18" charset="0"/>
                          </a:rPr>
                          <m:t>𝑏</m:t>
                        </m:r>
                      </m:e>
                      <m:sub>
                        <m:r>
                          <a:rPr lang="en-US" altLang="zh-CN" b="0" i="1" smtClean="0">
                            <a:latin typeface="Cambria Math" panose="02040503050406030204" pitchFamily="18" charset="0"/>
                          </a:rPr>
                          <m:t>1</m:t>
                        </m:r>
                      </m:sub>
                    </m:sSub>
                  </m:oMath>
                </a14:m>
                <a:r>
                  <a:rPr lang="en-US" dirty="0" smtClean="0"/>
                  <a:t>,</a:t>
                </a:r>
                <a:r>
                  <a:rPr lang="en-US" altLang="zh-CN" dirty="0"/>
                  <a:t>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𝑏</m:t>
                        </m:r>
                      </m:e>
                      <m:sub>
                        <m:r>
                          <a:rPr lang="en-US" altLang="zh-CN" b="0" i="1" smtClean="0">
                            <a:latin typeface="Cambria Math" panose="02040503050406030204" pitchFamily="18" charset="0"/>
                          </a:rPr>
                          <m:t>2</m:t>
                        </m:r>
                      </m:sub>
                    </m:sSub>
                  </m:oMath>
                </a14:m>
                <a:r>
                  <a:rPr lang="en-US" dirty="0" smtClean="0"/>
                  <a:t>,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𝑏</m:t>
                        </m:r>
                      </m:e>
                      <m:sub>
                        <m:r>
                          <a:rPr lang="en-US" altLang="zh-CN" b="0" i="1" smtClean="0">
                            <a:latin typeface="Cambria Math" panose="02040503050406030204" pitchFamily="18" charset="0"/>
                          </a:rPr>
                          <m:t>3</m:t>
                        </m:r>
                      </m:sub>
                    </m:sSub>
                  </m:oMath>
                </a14:m>
                <a:r>
                  <a:rPr lang="en-US" dirty="0" smtClean="0"/>
                  <a:t>,</a:t>
                </a:r>
                <a:r>
                  <a:rPr lang="en-US" altLang="zh-CN" dirty="0"/>
                  <a:t>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𝑏</m:t>
                        </m:r>
                      </m:e>
                      <m:sub>
                        <m:r>
                          <a:rPr lang="en-US" altLang="zh-CN" b="0" i="1" smtClean="0">
                            <a:latin typeface="Cambria Math" panose="02040503050406030204" pitchFamily="18" charset="0"/>
                          </a:rPr>
                          <m:t>4</m:t>
                        </m:r>
                      </m:sub>
                    </m:sSub>
                  </m:oMath>
                </a14:m>
                <a:r>
                  <a:rPr lang="en-US" dirty="0" smtClean="0"/>
                  <a:t>,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𝑏</m:t>
                        </m:r>
                      </m:e>
                      <m:sub>
                        <m:r>
                          <a:rPr lang="en-US" altLang="zh-CN" b="0" i="1" smtClean="0">
                            <a:latin typeface="Cambria Math" panose="02040503050406030204" pitchFamily="18" charset="0"/>
                          </a:rPr>
                          <m:t>5</m:t>
                        </m:r>
                      </m:sub>
                    </m:sSub>
                  </m:oMath>
                </a14:m>
                <a:r>
                  <a:rPr lang="en-US" dirty="0" smtClean="0"/>
                  <a:t>}. </a:t>
                </a:r>
                <a:r>
                  <a:rPr lang="zh-CN" altLang="en-US" dirty="0" smtClean="0"/>
                  <a:t>哪些有序对在下面的矩阵所表示的关系</a:t>
                </a:r>
                <a:r>
                  <a:rPr lang="en-US" altLang="zh-CN" dirty="0" smtClean="0"/>
                  <a:t>R</a:t>
                </a:r>
                <a:r>
                  <a:rPr lang="zh-CN" altLang="en-US" dirty="0" smtClean="0"/>
                  <a:t>中？</a:t>
                </a:r>
                <a:endParaRPr lang="en-US" dirty="0" smtClean="0"/>
              </a:p>
              <a:p>
                <a:endParaRPr lang="en-US" dirty="0" smtClean="0"/>
              </a:p>
              <a:p>
                <a:endParaRPr lang="en-US" dirty="0" smtClean="0"/>
              </a:p>
              <a:p>
                <a:r>
                  <a:rPr lang="zh-CN" altLang="en-US" dirty="0" smtClean="0"/>
                  <a:t>解</a:t>
                </a:r>
                <a:r>
                  <a:rPr lang="en-US" altLang="zh-CN" dirty="0" smtClean="0"/>
                  <a:t>:</a:t>
                </a:r>
                <a:r>
                  <a:rPr lang="zh-CN" altLang="en-US" dirty="0" smtClean="0"/>
                  <a:t>因为</a:t>
                </a:r>
                <a:r>
                  <a:rPr lang="en-US" altLang="zh-CN" dirty="0" smtClean="0"/>
                  <a:t>R</a:t>
                </a:r>
                <a:r>
                  <a:rPr lang="zh-CN" altLang="en-US" dirty="0" smtClean="0"/>
                  <a:t>由</a:t>
                </a:r>
                <a14:m>
                  <m:oMath xmlns:m="http://schemas.openxmlformats.org/officeDocument/2006/math">
                    <m:sSub>
                      <m:sSubPr>
                        <m:ctrlPr>
                          <a:rPr lang="en-US" altLang="zh-CN" i="1">
                            <a:latin typeface="Cambria Math" panose="02040503050406030204" pitchFamily="18" charset="0"/>
                            <a:ea typeface="Cambria Math" panose="02040503050406030204" pitchFamily="18" charset="0"/>
                          </a:rPr>
                        </m:ctrlPr>
                      </m:sSubPr>
                      <m:e>
                        <m:r>
                          <a:rPr lang="en-US" altLang="zh-CN" i="1">
                            <a:latin typeface="Cambria Math" panose="02040503050406030204" pitchFamily="18" charset="0"/>
                            <a:ea typeface="Cambria Math" panose="02040503050406030204" pitchFamily="18" charset="0"/>
                          </a:rPr>
                          <m:t>𝑚</m:t>
                        </m:r>
                      </m:e>
                      <m:sub>
                        <m:r>
                          <a:rPr lang="en-US" altLang="zh-CN" i="1">
                            <a:latin typeface="Cambria Math" panose="02040503050406030204" pitchFamily="18" charset="0"/>
                            <a:ea typeface="Cambria Math" panose="02040503050406030204" pitchFamily="18" charset="0"/>
                          </a:rPr>
                          <m:t>𝑖𝑗</m:t>
                        </m:r>
                      </m:sub>
                    </m:sSub>
                  </m:oMath>
                </a14:m>
                <a:r>
                  <a:rPr lang="en-US" altLang="zh-CN" dirty="0"/>
                  <a:t> = </a:t>
                </a:r>
                <a:r>
                  <a:rPr lang="en-US" altLang="zh-CN" dirty="0" smtClean="0"/>
                  <a:t>1</a:t>
                </a:r>
                <a:r>
                  <a:rPr lang="zh-CN" altLang="en-US" dirty="0" smtClean="0"/>
                  <a:t>的有序对</a:t>
                </a:r>
                <a:r>
                  <a:rPr lang="en-US" dirty="0" smtClean="0"/>
                  <a:t>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𝑎</m:t>
                        </m:r>
                      </m:e>
                      <m:sub>
                        <m:r>
                          <a:rPr lang="en-US" altLang="zh-CN" i="1">
                            <a:latin typeface="Cambria Math" panose="02040503050406030204" pitchFamily="18" charset="0"/>
                          </a:rPr>
                          <m:t>𝑖</m:t>
                        </m:r>
                      </m:sub>
                    </m:sSub>
                  </m:oMath>
                </a14:m>
                <a:r>
                  <a:rPr lang="en-US" dirty="0" smtClean="0"/>
                  <a:t>,</a:t>
                </a:r>
                <a:r>
                  <a:rPr lang="en-US" altLang="zh-CN" dirty="0"/>
                  <a:t>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𝑏</m:t>
                        </m:r>
                      </m:e>
                      <m:sub>
                        <m:r>
                          <a:rPr lang="en-US" altLang="zh-CN" i="1">
                            <a:latin typeface="Cambria Math" panose="02040503050406030204" pitchFamily="18" charset="0"/>
                          </a:rPr>
                          <m:t>𝑗</m:t>
                        </m:r>
                      </m:sub>
                    </m:sSub>
                  </m:oMath>
                </a14:m>
                <a:r>
                  <a:rPr lang="en-US" dirty="0" smtClean="0"/>
                  <a:t>)</a:t>
                </a:r>
                <a:r>
                  <a:rPr lang="zh-CN" altLang="en-US" dirty="0" smtClean="0"/>
                  <a:t>构成的</a:t>
                </a:r>
                <a:r>
                  <a:rPr lang="en-US" altLang="zh-CN" dirty="0" smtClean="0"/>
                  <a:t>, </a:t>
                </a:r>
                <a:r>
                  <a:rPr lang="zh-CN" altLang="en-US" dirty="0" smtClean="0"/>
                  <a:t>所以</a:t>
                </a:r>
                <a:r>
                  <a:rPr lang="en-US" dirty="0" smtClean="0"/>
                  <a:t>R =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𝑎</m:t>
                        </m:r>
                      </m:e>
                      <m:sub>
                        <m:r>
                          <a:rPr lang="en-US" altLang="zh-CN" i="1">
                            <a:latin typeface="Cambria Math" panose="02040503050406030204" pitchFamily="18" charset="0"/>
                          </a:rPr>
                          <m:t>1</m:t>
                        </m:r>
                      </m:sub>
                    </m:sSub>
                  </m:oMath>
                </a14:m>
                <a:r>
                  <a:rPr lang="en-US" dirty="0" smtClean="0"/>
                  <a:t>,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𝑏</m:t>
                        </m:r>
                      </m:e>
                      <m:sub>
                        <m:r>
                          <a:rPr lang="en-US" altLang="zh-CN" i="1">
                            <a:latin typeface="Cambria Math" panose="02040503050406030204" pitchFamily="18" charset="0"/>
                          </a:rPr>
                          <m:t>2</m:t>
                        </m:r>
                      </m:sub>
                    </m:sSub>
                  </m:oMath>
                </a14:m>
                <a:r>
                  <a:rPr lang="en-US" dirty="0" smtClean="0"/>
                  <a:t>),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𝑎</m:t>
                        </m:r>
                      </m:e>
                      <m:sub>
                        <m:r>
                          <a:rPr lang="en-US" altLang="zh-CN" i="1">
                            <a:latin typeface="Cambria Math" panose="02040503050406030204" pitchFamily="18" charset="0"/>
                          </a:rPr>
                          <m:t>2</m:t>
                        </m:r>
                      </m:sub>
                    </m:sSub>
                  </m:oMath>
                </a14:m>
                <a:r>
                  <a:rPr lang="en-US" dirty="0" smtClean="0"/>
                  <a:t>,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𝑏</m:t>
                        </m:r>
                      </m:e>
                      <m:sub>
                        <m:r>
                          <a:rPr lang="en-US" altLang="zh-CN" i="1">
                            <a:latin typeface="Cambria Math" panose="02040503050406030204" pitchFamily="18" charset="0"/>
                          </a:rPr>
                          <m:t>1</m:t>
                        </m:r>
                      </m:sub>
                    </m:sSub>
                  </m:oMath>
                </a14:m>
                <a:r>
                  <a:rPr lang="en-US" dirty="0" smtClean="0"/>
                  <a:t>),(</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𝑎</m:t>
                        </m:r>
                      </m:e>
                      <m:sub>
                        <m:r>
                          <a:rPr lang="en-US" altLang="zh-CN" i="1">
                            <a:latin typeface="Cambria Math" panose="02040503050406030204" pitchFamily="18" charset="0"/>
                          </a:rPr>
                          <m:t>2</m:t>
                        </m:r>
                      </m:sub>
                    </m:sSub>
                  </m:oMath>
                </a14:m>
                <a:r>
                  <a:rPr lang="en-US" dirty="0" smtClean="0"/>
                  <a:t>,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𝑏</m:t>
                        </m:r>
                      </m:e>
                      <m:sub>
                        <m:r>
                          <a:rPr lang="en-US" altLang="zh-CN" i="1">
                            <a:latin typeface="Cambria Math" panose="02040503050406030204" pitchFamily="18" charset="0"/>
                          </a:rPr>
                          <m:t>3</m:t>
                        </m:r>
                      </m:sub>
                    </m:sSub>
                  </m:oMath>
                </a14:m>
                <a:r>
                  <a:rPr lang="en-US" dirty="0" smtClean="0"/>
                  <a:t>),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𝑎</m:t>
                        </m:r>
                      </m:e>
                      <m:sub>
                        <m:r>
                          <a:rPr lang="en-US" altLang="zh-CN" i="1">
                            <a:latin typeface="Cambria Math" panose="02040503050406030204" pitchFamily="18" charset="0"/>
                          </a:rPr>
                          <m:t>2</m:t>
                        </m:r>
                      </m:sub>
                    </m:sSub>
                  </m:oMath>
                </a14:m>
                <a:r>
                  <a:rPr lang="en-US" dirty="0" smtClean="0"/>
                  <a:t>,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𝑏</m:t>
                        </m:r>
                      </m:e>
                      <m:sub>
                        <m:r>
                          <a:rPr lang="en-US" altLang="zh-CN" i="1">
                            <a:latin typeface="Cambria Math" panose="02040503050406030204" pitchFamily="18" charset="0"/>
                          </a:rPr>
                          <m:t>4</m:t>
                        </m:r>
                      </m:sub>
                    </m:sSub>
                  </m:oMath>
                </a14:m>
                <a:r>
                  <a:rPr lang="en-US" dirty="0" smtClean="0"/>
                  <a:t>),(</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𝑎</m:t>
                        </m:r>
                      </m:e>
                      <m:sub>
                        <m:r>
                          <a:rPr lang="en-US" altLang="zh-CN" i="1">
                            <a:latin typeface="Cambria Math" panose="02040503050406030204" pitchFamily="18" charset="0"/>
                          </a:rPr>
                          <m:t>3</m:t>
                        </m:r>
                      </m:sub>
                    </m:sSub>
                  </m:oMath>
                </a14:m>
                <a:r>
                  <a:rPr lang="en-US" dirty="0" smtClean="0"/>
                  <a:t>,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𝑏</m:t>
                        </m:r>
                      </m:e>
                      <m:sub>
                        <m:r>
                          <a:rPr lang="en-US" altLang="zh-CN" i="1">
                            <a:latin typeface="Cambria Math" panose="02040503050406030204" pitchFamily="18" charset="0"/>
                          </a:rPr>
                          <m:t>1</m:t>
                        </m:r>
                      </m:sub>
                    </m:sSub>
                  </m:oMath>
                </a14:m>
                <a:r>
                  <a:rPr lang="en-US" dirty="0" smtClean="0"/>
                  <a:t>),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𝑎</m:t>
                        </m:r>
                      </m:e>
                      <m:sub>
                        <m:r>
                          <a:rPr lang="en-US" altLang="zh-CN" i="1">
                            <a:latin typeface="Cambria Math" panose="02040503050406030204" pitchFamily="18" charset="0"/>
                          </a:rPr>
                          <m:t>3</m:t>
                        </m:r>
                      </m:sub>
                    </m:sSub>
                  </m:oMath>
                </a14:m>
                <a:r>
                  <a:rPr lang="en-US" dirty="0" smtClean="0"/>
                  <a:t>,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𝑏</m:t>
                        </m:r>
                      </m:e>
                      <m:sub>
                        <m:r>
                          <a:rPr lang="en-US" altLang="zh-CN" i="1">
                            <a:latin typeface="Cambria Math" panose="02040503050406030204" pitchFamily="18" charset="0"/>
                          </a:rPr>
                          <m:t>3</m:t>
                        </m:r>
                      </m:sub>
                    </m:sSub>
                  </m:oMath>
                </a14:m>
                <a:r>
                  <a:rPr lang="en-US" dirty="0" smtClean="0"/>
                  <a:t>),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𝑎</m:t>
                        </m:r>
                      </m:e>
                      <m:sub>
                        <m:r>
                          <a:rPr lang="en-US" altLang="zh-CN" i="1">
                            <a:latin typeface="Cambria Math" panose="02040503050406030204" pitchFamily="18" charset="0"/>
                          </a:rPr>
                          <m:t>3</m:t>
                        </m:r>
                      </m:sub>
                    </m:sSub>
                  </m:oMath>
                </a14:m>
                <a:r>
                  <a:rPr lang="en-US" dirty="0" smtClean="0"/>
                  <a:t>,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𝑏</m:t>
                        </m:r>
                      </m:e>
                      <m:sub>
                        <m:r>
                          <a:rPr lang="en-US" altLang="zh-CN" i="1">
                            <a:latin typeface="Cambria Math" panose="02040503050406030204" pitchFamily="18" charset="0"/>
                          </a:rPr>
                          <m:t>5</m:t>
                        </m:r>
                      </m:sub>
                    </m:sSub>
                  </m:oMath>
                </a14:m>
                <a:r>
                  <a:rPr lang="en-US" dirty="0" smtClean="0"/>
                  <a:t>)}. </a:t>
                </a: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3"/>
                <a:stretch>
                  <a:fillRect l="-999" t="-1310" r="-555"/>
                </a:stretch>
              </a:blipFill>
            </p:spPr>
            <p:txBody>
              <a:bodyPr/>
              <a:lstStyle/>
              <a:p>
                <a:r>
                  <a:rPr lang="zh-CN" altLang="en-US">
                    <a:noFill/>
                  </a:rPr>
                  <a:t> </a:t>
                </a:r>
              </a:p>
            </p:txBody>
          </p:sp>
        </mc:Fallback>
      </mc:AlternateContent>
      <p:pic>
        <p:nvPicPr>
          <p:cNvPr id="6" name="Picture 5" descr="addin_tmp.png"/>
          <p:cNvPicPr>
            <a:picLocks noChangeAspect="1"/>
          </p:cNvPicPr>
          <p:nvPr>
            <p:custDataLst>
              <p:tags r:id="rId1"/>
            </p:custDataLst>
          </p:nvPr>
        </p:nvPicPr>
        <p:blipFill>
          <a:blip r:embed="rId4" cstate="print"/>
          <a:stretch>
            <a:fillRect/>
          </a:stretch>
        </p:blipFill>
        <p:spPr>
          <a:xfrm>
            <a:off x="3886200" y="2133600"/>
            <a:ext cx="3082290" cy="912495"/>
          </a:xfrm>
          <a:prstGeom prst="rect">
            <a:avLst/>
          </a:prstGeom>
        </p:spPr>
      </p:pic>
      <p:sp>
        <p:nvSpPr>
          <p:cNvPr id="7" name="日期占位符 6"/>
          <p:cNvSpPr>
            <a:spLocks noGrp="1"/>
          </p:cNvSpPr>
          <p:nvPr>
            <p:ph type="dt" sz="half" idx="10"/>
          </p:nvPr>
        </p:nvSpPr>
        <p:spPr/>
        <p:txBody>
          <a:bodyPr/>
          <a:lstStyle/>
          <a:p>
            <a:fld id="{CCB1E2D6-1BB9-4ABE-A71C-F0F78C06F888}" type="datetime1">
              <a:rPr lang="zh-CN" altLang="en-US" smtClean="0"/>
              <a:t>2025/3/14</a:t>
            </a:fld>
            <a:endParaRPr lang="zh-CN" altLang="en-US" dirty="0"/>
          </a:p>
        </p:txBody>
      </p:sp>
      <p:sp>
        <p:nvSpPr>
          <p:cNvPr id="8" name="页脚占位符 7"/>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9" name="灯片编号占位符 8"/>
          <p:cNvSpPr>
            <a:spLocks noGrp="1"/>
          </p:cNvSpPr>
          <p:nvPr>
            <p:ph type="sldNum" sz="quarter" idx="12"/>
          </p:nvPr>
        </p:nvSpPr>
        <p:spPr/>
        <p:txBody>
          <a:bodyPr/>
          <a:lstStyle/>
          <a:p>
            <a:fld id="{67913A8A-9EFB-4B5F-9CCB-3D21173FAA85}" type="slidenum">
              <a:rPr lang="zh-CN" altLang="en-US" smtClean="0"/>
              <a:pPr/>
              <a:t>31</a:t>
            </a:fld>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wipe(down)">
                                      <p:cBhvr>
                                        <p:cTn id="7"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smtClean="0"/>
              <a:t>用矩阵表示关系时</a:t>
            </a:r>
            <a:r>
              <a:rPr lang="en-US" altLang="zh-CN" dirty="0" smtClean="0"/>
              <a:t>,</a:t>
            </a:r>
            <a:r>
              <a:rPr lang="zh-CN" altLang="en-US" dirty="0" smtClean="0"/>
              <a:t>确定关系的性质</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zh-CN" altLang="en-US" u="sng" dirty="0" smtClean="0">
                    <a:solidFill>
                      <a:srgbClr val="C00000"/>
                    </a:solidFill>
                  </a:rPr>
                  <a:t>自反性判断</a:t>
                </a:r>
                <a:r>
                  <a:rPr lang="en-US" altLang="zh-CN" dirty="0" smtClean="0"/>
                  <a:t>: </a:t>
                </a:r>
                <a:r>
                  <a:rPr lang="zh-CN" altLang="en-US" dirty="0" smtClean="0"/>
                  <a:t>如果矩阵中主对角线上全为</a:t>
                </a:r>
                <a:r>
                  <a:rPr lang="en-US" altLang="zh-CN" dirty="0" smtClean="0"/>
                  <a:t>1, </a:t>
                </a:r>
                <a:r>
                  <a:rPr lang="zh-CN" altLang="en-US" dirty="0" smtClean="0"/>
                  <a:t>那么关系是自反的</a:t>
                </a:r>
                <a:r>
                  <a:rPr lang="en-US" dirty="0" smtClean="0"/>
                  <a:t>.</a:t>
                </a:r>
              </a:p>
              <a:p>
                <a:endParaRPr lang="en-US" dirty="0" smtClean="0"/>
              </a:p>
              <a:p>
                <a:endParaRPr lang="en-US" dirty="0" smtClean="0"/>
              </a:p>
              <a:p>
                <a:r>
                  <a:rPr lang="zh-CN" altLang="en-US" u="sng" dirty="0" smtClean="0">
                    <a:solidFill>
                      <a:srgbClr val="C00000"/>
                    </a:solidFill>
                  </a:rPr>
                  <a:t>对称性判断</a:t>
                </a:r>
                <a:r>
                  <a:rPr lang="en-US" altLang="zh-CN" dirty="0" smtClean="0"/>
                  <a:t>: </a:t>
                </a:r>
                <a:r>
                  <a:rPr lang="zh-CN" altLang="en-US" dirty="0" smtClean="0"/>
                  <a:t>如果矩阵中</a:t>
                </a:r>
                <a14:m>
                  <m:oMath xmlns:m="http://schemas.openxmlformats.org/officeDocument/2006/math">
                    <m:sSub>
                      <m:sSubPr>
                        <m:ctrlPr>
                          <a:rPr lang="en-US" altLang="zh-CN" i="1">
                            <a:latin typeface="Cambria Math" panose="02040503050406030204" pitchFamily="18" charset="0"/>
                            <a:ea typeface="Cambria Math" panose="02040503050406030204" pitchFamily="18" charset="0"/>
                          </a:rPr>
                        </m:ctrlPr>
                      </m:sSubPr>
                      <m:e>
                        <m:r>
                          <a:rPr lang="en-US" altLang="zh-CN" i="1">
                            <a:latin typeface="Cambria Math" panose="02040503050406030204" pitchFamily="18" charset="0"/>
                            <a:ea typeface="Cambria Math" panose="02040503050406030204" pitchFamily="18" charset="0"/>
                          </a:rPr>
                          <m:t>𝑚</m:t>
                        </m:r>
                      </m:e>
                      <m:sub>
                        <m:r>
                          <a:rPr lang="en-US" altLang="zh-CN" i="1">
                            <a:latin typeface="Cambria Math" panose="02040503050406030204" pitchFamily="18" charset="0"/>
                            <a:ea typeface="Cambria Math" panose="02040503050406030204" pitchFamily="18" charset="0"/>
                          </a:rPr>
                          <m:t>𝑖𝑗</m:t>
                        </m:r>
                      </m:sub>
                    </m:sSub>
                  </m:oMath>
                </a14:m>
                <a:r>
                  <a:rPr lang="en-US" altLang="zh-CN" dirty="0"/>
                  <a:t> = </a:t>
                </a:r>
                <a14:m>
                  <m:oMath xmlns:m="http://schemas.openxmlformats.org/officeDocument/2006/math">
                    <m:sSub>
                      <m:sSubPr>
                        <m:ctrlPr>
                          <a:rPr lang="en-US" altLang="zh-CN" i="1">
                            <a:latin typeface="Cambria Math" panose="02040503050406030204" pitchFamily="18" charset="0"/>
                            <a:ea typeface="Cambria Math" panose="02040503050406030204" pitchFamily="18" charset="0"/>
                          </a:rPr>
                        </m:ctrlPr>
                      </m:sSubPr>
                      <m:e>
                        <m:r>
                          <a:rPr lang="en-US" altLang="zh-CN" i="1">
                            <a:latin typeface="Cambria Math" panose="02040503050406030204" pitchFamily="18" charset="0"/>
                            <a:ea typeface="Cambria Math" panose="02040503050406030204" pitchFamily="18" charset="0"/>
                          </a:rPr>
                          <m:t>𝑚</m:t>
                        </m:r>
                      </m:e>
                      <m:sub>
                        <m:r>
                          <a:rPr lang="en-US" altLang="zh-CN" i="1">
                            <a:latin typeface="Cambria Math" panose="02040503050406030204" pitchFamily="18" charset="0"/>
                            <a:ea typeface="Cambria Math" panose="02040503050406030204" pitchFamily="18" charset="0"/>
                          </a:rPr>
                          <m:t>𝑗</m:t>
                        </m:r>
                        <m:r>
                          <a:rPr lang="en-US" altLang="zh-CN" b="0" i="1" smtClean="0">
                            <a:latin typeface="Cambria Math" panose="02040503050406030204" pitchFamily="18" charset="0"/>
                            <a:ea typeface="Cambria Math" panose="02040503050406030204" pitchFamily="18" charset="0"/>
                          </a:rPr>
                          <m:t>𝑖</m:t>
                        </m:r>
                      </m:sub>
                    </m:sSub>
                  </m:oMath>
                </a14:m>
                <a:r>
                  <a:rPr lang="en-US" altLang="zh-CN" dirty="0" smtClean="0"/>
                  <a:t>, </a:t>
                </a:r>
                <a:r>
                  <a:rPr lang="zh-CN" altLang="en-US" dirty="0" smtClean="0"/>
                  <a:t>那么关系是对称的</a:t>
                </a:r>
                <a:r>
                  <a:rPr lang="en-US" altLang="zh-CN" dirty="0" smtClean="0"/>
                  <a:t>.</a:t>
                </a:r>
              </a:p>
              <a:p>
                <a:endParaRPr lang="en-US" altLang="zh-CN" dirty="0" smtClean="0"/>
              </a:p>
              <a:p>
                <a:endParaRPr lang="en-US" altLang="zh-CN" dirty="0"/>
              </a:p>
              <a:p>
                <a:endParaRPr lang="en-US" altLang="zh-CN" dirty="0" smtClean="0"/>
              </a:p>
              <a:p>
                <a:r>
                  <a:rPr lang="zh-CN" altLang="en-US" u="sng" dirty="0" smtClean="0">
                    <a:solidFill>
                      <a:srgbClr val="C00000"/>
                    </a:solidFill>
                  </a:rPr>
                  <a:t>反对称性判断</a:t>
                </a:r>
                <a:r>
                  <a:rPr lang="en-US" altLang="zh-CN" dirty="0" smtClean="0"/>
                  <a:t>: </a:t>
                </a:r>
                <a:r>
                  <a:rPr lang="zh-CN" altLang="en-US" dirty="0" smtClean="0"/>
                  <a:t>如果</a:t>
                </a:r>
                <a:r>
                  <a:rPr lang="zh-CN" altLang="en-US" dirty="0"/>
                  <a:t>矩阵</a:t>
                </a:r>
                <a:r>
                  <a:rPr lang="zh-CN" altLang="en-US" dirty="0" smtClean="0"/>
                  <a:t>中的</a:t>
                </a:r>
                <a14:m>
                  <m:oMath xmlns:m="http://schemas.openxmlformats.org/officeDocument/2006/math">
                    <m:sSub>
                      <m:sSubPr>
                        <m:ctrlPr>
                          <a:rPr lang="en-US" altLang="zh-CN" i="1">
                            <a:latin typeface="Cambria Math" panose="02040503050406030204" pitchFamily="18" charset="0"/>
                            <a:ea typeface="Cambria Math" panose="02040503050406030204" pitchFamily="18" charset="0"/>
                          </a:rPr>
                        </m:ctrlPr>
                      </m:sSubPr>
                      <m:e>
                        <m:r>
                          <a:rPr lang="en-US" altLang="zh-CN" i="1">
                            <a:latin typeface="Cambria Math" panose="02040503050406030204" pitchFamily="18" charset="0"/>
                            <a:ea typeface="Cambria Math" panose="02040503050406030204" pitchFamily="18" charset="0"/>
                          </a:rPr>
                          <m:t>𝑚</m:t>
                        </m:r>
                      </m:e>
                      <m:sub>
                        <m:r>
                          <a:rPr lang="en-US" altLang="zh-CN" i="1">
                            <a:latin typeface="Cambria Math" panose="02040503050406030204" pitchFamily="18" charset="0"/>
                            <a:ea typeface="Cambria Math" panose="02040503050406030204" pitchFamily="18" charset="0"/>
                          </a:rPr>
                          <m:t>𝑖𝑗</m:t>
                        </m:r>
                      </m:sub>
                    </m:sSub>
                  </m:oMath>
                </a14:m>
                <a:r>
                  <a:rPr lang="en-US" altLang="zh-CN" dirty="0" smtClean="0"/>
                  <a:t>=1</a:t>
                </a:r>
                <a:r>
                  <a:rPr lang="zh-CN" altLang="en-US" dirty="0" smtClean="0"/>
                  <a:t>，</a:t>
                </a:r>
                <a14:m>
                  <m:oMath xmlns:m="http://schemas.openxmlformats.org/officeDocument/2006/math">
                    <m:r>
                      <a:rPr lang="en-US" altLang="zh-CN" i="1">
                        <a:latin typeface="Cambria Math" panose="02040503050406030204" pitchFamily="18" charset="0"/>
                        <a:ea typeface="Cambria Math" panose="02040503050406030204" pitchFamily="18" charset="0"/>
                      </a:rPr>
                      <m:t>𝑖</m:t>
                    </m:r>
                    <m:r>
                      <a:rPr lang="en-US" altLang="zh-CN"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𝑗</m:t>
                    </m:r>
                  </m:oMath>
                </a14:m>
                <a:r>
                  <a:rPr lang="en-US" altLang="zh-CN" dirty="0" smtClean="0"/>
                  <a:t>, </a:t>
                </a:r>
                <a:r>
                  <a:rPr lang="zh-CN" altLang="en-US" dirty="0" smtClean="0"/>
                  <a:t>则</a:t>
                </a:r>
                <a14:m>
                  <m:oMath xmlns:m="http://schemas.openxmlformats.org/officeDocument/2006/math">
                    <m:sSub>
                      <m:sSubPr>
                        <m:ctrlPr>
                          <a:rPr lang="en-US" altLang="zh-CN" i="1">
                            <a:latin typeface="Cambria Math" panose="02040503050406030204" pitchFamily="18" charset="0"/>
                            <a:ea typeface="Cambria Math" panose="02040503050406030204" pitchFamily="18" charset="0"/>
                          </a:rPr>
                        </m:ctrlPr>
                      </m:sSubPr>
                      <m:e>
                        <m:r>
                          <a:rPr lang="en-US" altLang="zh-CN" i="1">
                            <a:latin typeface="Cambria Math" panose="02040503050406030204" pitchFamily="18" charset="0"/>
                            <a:ea typeface="Cambria Math" panose="02040503050406030204" pitchFamily="18" charset="0"/>
                          </a:rPr>
                          <m:t>𝑚</m:t>
                        </m:r>
                      </m:e>
                      <m:sub>
                        <m:r>
                          <a:rPr lang="en-US" altLang="zh-CN" i="1">
                            <a:latin typeface="Cambria Math" panose="02040503050406030204" pitchFamily="18" charset="0"/>
                            <a:ea typeface="Cambria Math" panose="02040503050406030204" pitchFamily="18" charset="0"/>
                          </a:rPr>
                          <m:t>𝑗𝑖</m:t>
                        </m:r>
                      </m:sub>
                    </m:sSub>
                    <m:r>
                      <a:rPr lang="en-US" altLang="zh-CN" i="1">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0</m:t>
                    </m:r>
                  </m:oMath>
                </a14:m>
                <a:r>
                  <a:rPr lang="en-US" altLang="zh-CN" dirty="0" smtClean="0"/>
                  <a:t>, </a:t>
                </a:r>
                <a:r>
                  <a:rPr lang="zh-CN" altLang="en-US" dirty="0" smtClean="0"/>
                  <a:t>那么关系是反对称</a:t>
                </a:r>
                <a:r>
                  <a:rPr lang="zh-CN" altLang="en-US" dirty="0"/>
                  <a:t>的</a:t>
                </a:r>
                <a:r>
                  <a:rPr lang="en-US" altLang="zh-CN" dirty="0" smtClean="0"/>
                  <a:t>. </a:t>
                </a:r>
                <a:r>
                  <a:rPr lang="zh-CN" altLang="en-US" dirty="0" smtClean="0"/>
                  <a:t>或者说</a:t>
                </a:r>
                <a14:m>
                  <m:oMath xmlns:m="http://schemas.openxmlformats.org/officeDocument/2006/math">
                    <m:r>
                      <a:rPr lang="en-US" altLang="zh-CN" i="1">
                        <a:latin typeface="Cambria Math" panose="02040503050406030204" pitchFamily="18" charset="0"/>
                        <a:ea typeface="Cambria Math" panose="02040503050406030204" pitchFamily="18" charset="0"/>
                      </a:rPr>
                      <m:t>𝑖</m:t>
                    </m:r>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𝑗</m:t>
                    </m:r>
                  </m:oMath>
                </a14:m>
                <a:r>
                  <a:rPr lang="zh-CN" altLang="en-US" dirty="0" smtClean="0"/>
                  <a:t>时，</a:t>
                </a:r>
                <a14:m>
                  <m:oMath xmlns:m="http://schemas.openxmlformats.org/officeDocument/2006/math">
                    <m:sSub>
                      <m:sSubPr>
                        <m:ctrlPr>
                          <a:rPr lang="en-US" altLang="zh-CN" i="1">
                            <a:latin typeface="Cambria Math" panose="02040503050406030204" pitchFamily="18" charset="0"/>
                            <a:ea typeface="Cambria Math" panose="02040503050406030204" pitchFamily="18" charset="0"/>
                          </a:rPr>
                        </m:ctrlPr>
                      </m:sSubPr>
                      <m:e>
                        <m:r>
                          <a:rPr lang="en-US" altLang="zh-CN" i="1">
                            <a:latin typeface="Cambria Math" panose="02040503050406030204" pitchFamily="18" charset="0"/>
                            <a:ea typeface="Cambria Math" panose="02040503050406030204" pitchFamily="18" charset="0"/>
                          </a:rPr>
                          <m:t>𝑚</m:t>
                        </m:r>
                      </m:e>
                      <m:sub>
                        <m:r>
                          <a:rPr lang="en-US" altLang="zh-CN" i="1">
                            <a:latin typeface="Cambria Math" panose="02040503050406030204" pitchFamily="18" charset="0"/>
                            <a:ea typeface="Cambria Math" panose="02040503050406030204" pitchFamily="18" charset="0"/>
                          </a:rPr>
                          <m:t>𝑖𝑗</m:t>
                        </m:r>
                      </m:sub>
                    </m:sSub>
                  </m:oMath>
                </a14:m>
                <a:r>
                  <a:rPr lang="zh-CN" altLang="en-US" dirty="0" smtClean="0"/>
                  <a:t>和</a:t>
                </a:r>
                <a14:m>
                  <m:oMath xmlns:m="http://schemas.openxmlformats.org/officeDocument/2006/math">
                    <m:sSub>
                      <m:sSubPr>
                        <m:ctrlPr>
                          <a:rPr lang="en-US" altLang="zh-CN" i="1">
                            <a:latin typeface="Cambria Math" panose="02040503050406030204" pitchFamily="18" charset="0"/>
                            <a:ea typeface="Cambria Math" panose="02040503050406030204" pitchFamily="18" charset="0"/>
                          </a:rPr>
                        </m:ctrlPr>
                      </m:sSubPr>
                      <m:e>
                        <m:r>
                          <a:rPr lang="en-US" altLang="zh-CN" i="1">
                            <a:latin typeface="Cambria Math" panose="02040503050406030204" pitchFamily="18" charset="0"/>
                            <a:ea typeface="Cambria Math" panose="02040503050406030204" pitchFamily="18" charset="0"/>
                          </a:rPr>
                          <m:t>𝑚</m:t>
                        </m:r>
                      </m:e>
                      <m:sub>
                        <m:r>
                          <a:rPr lang="en-US" altLang="zh-CN" i="1">
                            <a:latin typeface="Cambria Math" panose="02040503050406030204" pitchFamily="18" charset="0"/>
                            <a:ea typeface="Cambria Math" panose="02040503050406030204" pitchFamily="18" charset="0"/>
                          </a:rPr>
                          <m:t>𝑗𝑖</m:t>
                        </m:r>
                      </m:sub>
                    </m:sSub>
                  </m:oMath>
                </a14:m>
                <a:r>
                  <a:rPr lang="zh-CN" altLang="en-US" dirty="0" smtClean="0"/>
                  <a:t>不能同时为</a:t>
                </a:r>
                <a:r>
                  <a:rPr lang="en-US" altLang="zh-CN" dirty="0" smtClean="0"/>
                  <a:t>1.</a:t>
                </a:r>
                <a:endParaRPr lang="en-US" altLang="zh-CN" dirty="0"/>
              </a:p>
              <a:p>
                <a:pPr marL="0" indent="0">
                  <a:buNone/>
                </a:pPr>
                <a:endParaRPr lang="en-US" dirty="0" smtClean="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999" t="-1310"/>
                </a:stretch>
              </a:blipFill>
            </p:spPr>
            <p:txBody>
              <a:bodyPr/>
              <a:lstStyle/>
              <a:p>
                <a:r>
                  <a:rPr lang="zh-CN" altLang="en-US">
                    <a:noFill/>
                  </a:rPr>
                  <a:t> </a:t>
                </a:r>
              </a:p>
            </p:txBody>
          </p:sp>
        </mc:Fallback>
      </mc:AlternateContent>
      <p:pic>
        <p:nvPicPr>
          <p:cNvPr id="4" name="Content Placeholder 3" descr="0803.jpg"/>
          <p:cNvPicPr>
            <a:picLocks noChangeAspect="1"/>
          </p:cNvPicPr>
          <p:nvPr/>
        </p:nvPicPr>
        <p:blipFill>
          <a:blip r:embed="rId3" cstate="print"/>
          <a:stretch>
            <a:fillRect/>
          </a:stretch>
        </p:blipFill>
        <p:spPr>
          <a:xfrm>
            <a:off x="5320862" y="1524000"/>
            <a:ext cx="1234562" cy="1254085"/>
          </a:xfrm>
          <a:prstGeom prst="rect">
            <a:avLst/>
          </a:prstGeom>
        </p:spPr>
      </p:pic>
      <p:pic>
        <p:nvPicPr>
          <p:cNvPr id="5" name="Content Placeholder 5" descr="0804.jpg"/>
          <p:cNvPicPr>
            <a:picLocks noChangeAspect="1"/>
          </p:cNvPicPr>
          <p:nvPr/>
        </p:nvPicPr>
        <p:blipFill rotWithShape="1">
          <a:blip r:embed="rId4" cstate="print"/>
          <a:srcRect r="55890" b="19505"/>
          <a:stretch/>
        </p:blipFill>
        <p:spPr>
          <a:xfrm>
            <a:off x="2485482" y="3429000"/>
            <a:ext cx="1507761" cy="1386532"/>
          </a:xfrm>
          <a:prstGeom prst="rect">
            <a:avLst/>
          </a:prstGeom>
        </p:spPr>
      </p:pic>
      <p:sp>
        <p:nvSpPr>
          <p:cNvPr id="8" name="日期占位符 7"/>
          <p:cNvSpPr>
            <a:spLocks noGrp="1"/>
          </p:cNvSpPr>
          <p:nvPr>
            <p:ph type="dt" sz="half" idx="10"/>
          </p:nvPr>
        </p:nvSpPr>
        <p:spPr/>
        <p:txBody>
          <a:bodyPr/>
          <a:lstStyle/>
          <a:p>
            <a:fld id="{6F966988-A59E-4DA2-9797-F40D9C3E3B37}" type="datetime1">
              <a:rPr lang="zh-CN" altLang="en-US" smtClean="0"/>
              <a:t>2025/3/14</a:t>
            </a:fld>
            <a:endParaRPr lang="zh-CN" altLang="en-US" dirty="0"/>
          </a:p>
        </p:txBody>
      </p:sp>
      <p:sp>
        <p:nvSpPr>
          <p:cNvPr id="9" name="页脚占位符 8"/>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10" name="灯片编号占位符 9"/>
          <p:cNvSpPr>
            <a:spLocks noGrp="1"/>
          </p:cNvSpPr>
          <p:nvPr>
            <p:ph type="sldNum" sz="quarter" idx="12"/>
          </p:nvPr>
        </p:nvSpPr>
        <p:spPr/>
        <p:txBody>
          <a:bodyPr/>
          <a:lstStyle/>
          <a:p>
            <a:fld id="{67913A8A-9EFB-4B5F-9CCB-3D21173FAA85}" type="slidenum">
              <a:rPr lang="zh-CN" altLang="en-US" smtClean="0"/>
              <a:pPr/>
              <a:t>32</a:t>
            </a:fld>
            <a:endParaRPr lang="zh-CN" altLang="en-US" dirty="0"/>
          </a:p>
        </p:txBody>
      </p:sp>
      <p:sp>
        <p:nvSpPr>
          <p:cNvPr id="6" name="文本框 5"/>
          <p:cNvSpPr txBox="1"/>
          <p:nvPr/>
        </p:nvSpPr>
        <p:spPr>
          <a:xfrm>
            <a:off x="7543214" y="5977578"/>
            <a:ext cx="4544834" cy="400110"/>
          </a:xfrm>
          <a:prstGeom prst="rect">
            <a:avLst/>
          </a:prstGeom>
          <a:noFill/>
        </p:spPr>
        <p:txBody>
          <a:bodyPr wrap="none" rtlCol="0">
            <a:spAutoFit/>
          </a:bodyPr>
          <a:lstStyle/>
          <a:p>
            <a:r>
              <a:rPr lang="zh-CN" altLang="en-US" sz="2000" dirty="0" smtClean="0">
                <a:latin typeface="微软雅黑" panose="020B0503020204020204" pitchFamily="34" charset="-122"/>
                <a:ea typeface="微软雅黑" panose="020B0503020204020204" pitchFamily="34" charset="-122"/>
              </a:rPr>
              <a:t>思考：矩阵中如何看出是否是传递呢？</a:t>
            </a:r>
            <a:endParaRPr lang="zh-CN" altLang="en-US" sz="2000" dirty="0">
              <a:latin typeface="微软雅黑" panose="020B0503020204020204" pitchFamily="34" charset="-122"/>
              <a:ea typeface="微软雅黑" panose="020B0503020204020204" pitchFamily="34" charset="-122"/>
            </a:endParaRPr>
          </a:p>
        </p:txBody>
      </p:sp>
      <p:pic>
        <p:nvPicPr>
          <p:cNvPr id="11" name="Content Placeholder 5" descr="0804.jpg"/>
          <p:cNvPicPr>
            <a:picLocks noChangeAspect="1"/>
          </p:cNvPicPr>
          <p:nvPr/>
        </p:nvPicPr>
        <p:blipFill rotWithShape="1">
          <a:blip r:embed="rId4" cstate="print"/>
          <a:srcRect l="53349" b="19505"/>
          <a:stretch/>
        </p:blipFill>
        <p:spPr>
          <a:xfrm>
            <a:off x="7391400" y="3505200"/>
            <a:ext cx="1594573" cy="1386532"/>
          </a:xfrm>
          <a:prstGeom prst="rect">
            <a:avLst/>
          </a:prstGeom>
        </p:spPr>
      </p:pic>
      <p:sp>
        <p:nvSpPr>
          <p:cNvPr id="7" name="文本框 6"/>
          <p:cNvSpPr txBox="1"/>
          <p:nvPr/>
        </p:nvSpPr>
        <p:spPr>
          <a:xfrm>
            <a:off x="6553200" y="2382615"/>
            <a:ext cx="1980029" cy="400110"/>
          </a:xfrm>
          <a:prstGeom prst="rect">
            <a:avLst/>
          </a:prstGeom>
          <a:noFill/>
        </p:spPr>
        <p:txBody>
          <a:bodyPr wrap="none" rtlCol="0">
            <a:spAutoFit/>
          </a:bodyPr>
          <a:lstStyle/>
          <a:p>
            <a:r>
              <a:rPr lang="zh-CN" altLang="en-US" sz="2000" dirty="0" smtClean="0">
                <a:latin typeface="微软雅黑" panose="020B0503020204020204" pitchFamily="34" charset="-122"/>
                <a:ea typeface="微软雅黑" panose="020B0503020204020204" pitchFamily="34" charset="-122"/>
              </a:rPr>
              <a:t>自反的关系矩阵</a:t>
            </a:r>
            <a:endParaRPr lang="zh-CN" altLang="en-US" sz="2000" dirty="0">
              <a:latin typeface="微软雅黑" panose="020B0503020204020204" pitchFamily="34" charset="-122"/>
              <a:ea typeface="微软雅黑" panose="020B0503020204020204" pitchFamily="34" charset="-122"/>
            </a:endParaRPr>
          </a:p>
        </p:txBody>
      </p:sp>
      <p:sp>
        <p:nvSpPr>
          <p:cNvPr id="12" name="文本框 11"/>
          <p:cNvSpPr txBox="1"/>
          <p:nvPr/>
        </p:nvSpPr>
        <p:spPr>
          <a:xfrm>
            <a:off x="3958114" y="4310614"/>
            <a:ext cx="1980029" cy="400110"/>
          </a:xfrm>
          <a:prstGeom prst="rect">
            <a:avLst/>
          </a:prstGeom>
          <a:noFill/>
        </p:spPr>
        <p:txBody>
          <a:bodyPr wrap="none" rtlCol="0">
            <a:spAutoFit/>
          </a:bodyPr>
          <a:lstStyle/>
          <a:p>
            <a:r>
              <a:rPr lang="zh-CN" altLang="en-US" sz="2000" dirty="0" smtClean="0">
                <a:latin typeface="微软雅黑" panose="020B0503020204020204" pitchFamily="34" charset="-122"/>
                <a:ea typeface="微软雅黑" panose="020B0503020204020204" pitchFamily="34" charset="-122"/>
              </a:rPr>
              <a:t>对称的关系矩阵</a:t>
            </a:r>
            <a:endParaRPr lang="zh-CN" altLang="en-US" sz="2000" dirty="0">
              <a:latin typeface="微软雅黑" panose="020B0503020204020204" pitchFamily="34" charset="-122"/>
              <a:ea typeface="微软雅黑" panose="020B0503020204020204" pitchFamily="34" charset="-122"/>
            </a:endParaRPr>
          </a:p>
        </p:txBody>
      </p:sp>
      <p:sp>
        <p:nvSpPr>
          <p:cNvPr id="13" name="文本框 12"/>
          <p:cNvSpPr txBox="1"/>
          <p:nvPr/>
        </p:nvSpPr>
        <p:spPr>
          <a:xfrm>
            <a:off x="8989193" y="4420076"/>
            <a:ext cx="2236510" cy="400110"/>
          </a:xfrm>
          <a:prstGeom prst="rect">
            <a:avLst/>
          </a:prstGeom>
          <a:noFill/>
        </p:spPr>
        <p:txBody>
          <a:bodyPr wrap="none" rtlCol="0">
            <a:spAutoFit/>
          </a:bodyPr>
          <a:lstStyle/>
          <a:p>
            <a:r>
              <a:rPr lang="zh-CN" altLang="en-US" sz="2000" dirty="0" smtClean="0">
                <a:latin typeface="微软雅黑" panose="020B0503020204020204" pitchFamily="34" charset="-122"/>
                <a:ea typeface="微软雅黑" panose="020B0503020204020204" pitchFamily="34" charset="-122"/>
              </a:rPr>
              <a:t>反对称的关系矩阵</a:t>
            </a:r>
            <a:endParaRPr lang="zh-CN" altLang="en-US" sz="2000" dirty="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wipe(down)">
                                      <p:cBhvr>
                                        <p:cTn id="7" dur="500"/>
                                        <p:tgtEl>
                                          <p:spTgt spid="3">
                                            <p:txEl>
                                              <p:pRg st="3" end="3"/>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wipe(down)">
                                      <p:cBhvr>
                                        <p:cTn id="10" dur="500"/>
                                        <p:tgtEl>
                                          <p:spTgt spid="5"/>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wipe(down)">
                                      <p:cBhvr>
                                        <p:cTn id="13" dur="500"/>
                                        <p:tgtEl>
                                          <p:spTgt spid="12"/>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nodeType="clickEffect">
                                  <p:stCondLst>
                                    <p:cond delay="0"/>
                                  </p:stCondLst>
                                  <p:childTnLst>
                                    <p:set>
                                      <p:cBhvr>
                                        <p:cTn id="17" dur="1" fill="hold">
                                          <p:stCondLst>
                                            <p:cond delay="0"/>
                                          </p:stCondLst>
                                        </p:cTn>
                                        <p:tgtEl>
                                          <p:spTgt spid="3">
                                            <p:txEl>
                                              <p:pRg st="7" end="7"/>
                                            </p:txEl>
                                          </p:spTgt>
                                        </p:tgtEl>
                                        <p:attrNameLst>
                                          <p:attrName>style.visibility</p:attrName>
                                        </p:attrNameLst>
                                      </p:cBhvr>
                                      <p:to>
                                        <p:strVal val="visible"/>
                                      </p:to>
                                    </p:set>
                                    <p:animEffect transition="in" filter="wipe(down)">
                                      <p:cBhvr>
                                        <p:cTn id="18" dur="500"/>
                                        <p:tgtEl>
                                          <p:spTgt spid="3">
                                            <p:txEl>
                                              <p:pRg st="7" end="7"/>
                                            </p:txEl>
                                          </p:spTgt>
                                        </p:tgtEl>
                                      </p:cBhvr>
                                    </p:animEffect>
                                  </p:childTnLst>
                                </p:cTn>
                              </p:par>
                              <p:par>
                                <p:cTn id="19" presetID="22" presetClass="entr" presetSubtype="4" fill="hold" nodeType="with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wipe(down)">
                                      <p:cBhvr>
                                        <p:cTn id="21" dur="500"/>
                                        <p:tgtEl>
                                          <p:spTgt spid="11"/>
                                        </p:tgtEl>
                                      </p:cBhvr>
                                    </p:animEffect>
                                  </p:childTnLst>
                                </p:cTn>
                              </p:par>
                              <p:par>
                                <p:cTn id="22" presetID="22" presetClass="entr" presetSubtype="4" fill="hold" grpId="0" nodeType="with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wipe(down)">
                                      <p:cBhvr>
                                        <p:cTn id="24" dur="500"/>
                                        <p:tgtEl>
                                          <p:spTgt spid="13"/>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4" fill="hold" nodeType="clickEffect">
                                  <p:stCondLst>
                                    <p:cond delay="0"/>
                                  </p:stCondLst>
                                  <p:childTnLst>
                                    <p:set>
                                      <p:cBhvr>
                                        <p:cTn id="28" dur="1" fill="hold">
                                          <p:stCondLst>
                                            <p:cond delay="0"/>
                                          </p:stCondLst>
                                        </p:cTn>
                                        <p:tgtEl>
                                          <p:spTgt spid="6">
                                            <p:txEl>
                                              <p:pRg st="0" end="0"/>
                                            </p:txEl>
                                          </p:spTgt>
                                        </p:tgtEl>
                                        <p:attrNameLst>
                                          <p:attrName>style.visibility</p:attrName>
                                        </p:attrNameLst>
                                      </p:cBhvr>
                                      <p:to>
                                        <p:strVal val="visible"/>
                                      </p:to>
                                    </p:set>
                                    <p:animEffect transition="in" filter="wipe(down)">
                                      <p:cBhvr>
                                        <p:cTn id="29" dur="50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用矩阵表示关系</a:t>
            </a:r>
            <a:r>
              <a:rPr lang="zh-CN" altLang="en-US" dirty="0" smtClean="0"/>
              <a:t>时</a:t>
            </a:r>
            <a:r>
              <a:rPr lang="en-US" altLang="zh-CN" dirty="0" smtClean="0"/>
              <a:t>,</a:t>
            </a:r>
            <a:r>
              <a:rPr lang="zh-CN" altLang="en-US" dirty="0" smtClean="0"/>
              <a:t>确定</a:t>
            </a:r>
            <a:r>
              <a:rPr lang="zh-CN" altLang="en-US" dirty="0"/>
              <a:t>关系的性质</a:t>
            </a:r>
            <a:endParaRPr lang="en-US" dirty="0"/>
          </a:p>
        </p:txBody>
      </p:sp>
      <p:sp>
        <p:nvSpPr>
          <p:cNvPr id="7" name="Content Placeholder 6"/>
          <p:cNvSpPr>
            <a:spLocks noGrp="1"/>
          </p:cNvSpPr>
          <p:nvPr>
            <p:ph idx="1"/>
          </p:nvPr>
        </p:nvSpPr>
        <p:spPr/>
        <p:txBody>
          <a:bodyPr/>
          <a:lstStyle/>
          <a:p>
            <a:r>
              <a:rPr lang="zh-CN" altLang="en-US" dirty="0" smtClean="0"/>
              <a:t>例</a:t>
            </a:r>
            <a:r>
              <a:rPr lang="en-US" dirty="0" smtClean="0"/>
              <a:t>: </a:t>
            </a:r>
            <a:r>
              <a:rPr lang="zh-CN" altLang="en-US" dirty="0" smtClean="0"/>
              <a:t>关系</a:t>
            </a:r>
            <a:r>
              <a:rPr lang="en-US" altLang="zh-CN" dirty="0" smtClean="0"/>
              <a:t>R</a:t>
            </a:r>
            <a:r>
              <a:rPr lang="zh-CN" altLang="en-US" dirty="0" smtClean="0"/>
              <a:t>可以用如下矩阵表示</a:t>
            </a:r>
            <a:r>
              <a:rPr lang="en-US" altLang="zh-CN" dirty="0" smtClean="0"/>
              <a:t>, </a:t>
            </a:r>
            <a:r>
              <a:rPr lang="zh-CN" altLang="en-US" dirty="0" smtClean="0"/>
              <a:t>那么关系</a:t>
            </a:r>
            <a:r>
              <a:rPr lang="en-US" altLang="zh-CN" dirty="0" smtClean="0"/>
              <a:t>R</a:t>
            </a:r>
            <a:r>
              <a:rPr lang="zh-CN" altLang="en-US" dirty="0" smtClean="0"/>
              <a:t>是自反的</a:t>
            </a:r>
            <a:r>
              <a:rPr lang="en-US" altLang="zh-CN" dirty="0" smtClean="0"/>
              <a:t>, </a:t>
            </a:r>
            <a:r>
              <a:rPr lang="zh-CN" altLang="en-US" dirty="0" smtClean="0"/>
              <a:t>对称的</a:t>
            </a:r>
            <a:r>
              <a:rPr lang="en-US" altLang="zh-CN" dirty="0" smtClean="0"/>
              <a:t>, </a:t>
            </a:r>
            <a:r>
              <a:rPr lang="zh-CN" altLang="en-US" dirty="0" smtClean="0"/>
              <a:t>反对称的么？</a:t>
            </a:r>
            <a:endParaRPr lang="en-US" dirty="0" smtClean="0"/>
          </a:p>
          <a:p>
            <a:endParaRPr lang="en-US" dirty="0" smtClean="0"/>
          </a:p>
          <a:p>
            <a:endParaRPr lang="en-US" dirty="0" smtClean="0"/>
          </a:p>
          <a:p>
            <a:r>
              <a:rPr lang="zh-CN" altLang="en-US" dirty="0" smtClean="0"/>
              <a:t>解</a:t>
            </a:r>
            <a:r>
              <a:rPr lang="en-US" dirty="0" smtClean="0"/>
              <a:t>: </a:t>
            </a:r>
          </a:p>
          <a:p>
            <a:pPr lvl="1">
              <a:lnSpc>
                <a:spcPct val="80000"/>
              </a:lnSpc>
            </a:pPr>
            <a:r>
              <a:rPr lang="zh-CN" altLang="en-US" dirty="0"/>
              <a:t>因为矩阵中主对角线上的元素都是</a:t>
            </a:r>
            <a:r>
              <a:rPr lang="en-US" altLang="zh-CN" dirty="0"/>
              <a:t>1</a:t>
            </a:r>
            <a:r>
              <a:rPr lang="en-US" altLang="zh-CN" dirty="0" smtClean="0"/>
              <a:t>, </a:t>
            </a:r>
            <a:r>
              <a:rPr lang="zh-CN" altLang="en-US" dirty="0" smtClean="0"/>
              <a:t>所以</a:t>
            </a:r>
            <a:r>
              <a:rPr lang="zh-CN" altLang="en-US" dirty="0"/>
              <a:t>关系</a:t>
            </a:r>
            <a:r>
              <a:rPr lang="en-US" altLang="zh-CN" dirty="0"/>
              <a:t>R</a:t>
            </a:r>
            <a:r>
              <a:rPr lang="zh-CN" altLang="en-US" dirty="0"/>
              <a:t>是自反的；</a:t>
            </a:r>
            <a:endParaRPr lang="en-US" altLang="zh-CN" dirty="0"/>
          </a:p>
          <a:p>
            <a:pPr lvl="1">
              <a:lnSpc>
                <a:spcPct val="80000"/>
              </a:lnSpc>
            </a:pPr>
            <a:r>
              <a:rPr lang="zh-CN" altLang="en-US" dirty="0"/>
              <a:t>因为矩阵很容易看出是对称的</a:t>
            </a:r>
            <a:r>
              <a:rPr lang="en-US" altLang="zh-CN" dirty="0" smtClean="0"/>
              <a:t>, </a:t>
            </a:r>
            <a:r>
              <a:rPr lang="zh-CN" altLang="en-US" dirty="0" smtClean="0"/>
              <a:t>所以</a:t>
            </a:r>
            <a:r>
              <a:rPr lang="zh-CN" altLang="en-US" dirty="0"/>
              <a:t>关系</a:t>
            </a:r>
            <a:r>
              <a:rPr lang="en-US" altLang="zh-CN" dirty="0"/>
              <a:t>R</a:t>
            </a:r>
            <a:r>
              <a:rPr lang="zh-CN" altLang="en-US" dirty="0"/>
              <a:t>是对称的；</a:t>
            </a:r>
            <a:endParaRPr lang="en-US" altLang="zh-CN" dirty="0"/>
          </a:p>
          <a:p>
            <a:pPr lvl="1">
              <a:lnSpc>
                <a:spcPct val="80000"/>
              </a:lnSpc>
            </a:pPr>
            <a:r>
              <a:rPr lang="zh-CN" altLang="en-US" dirty="0"/>
              <a:t>也容易看出关系</a:t>
            </a:r>
            <a:r>
              <a:rPr lang="en-US" altLang="zh-CN" dirty="0"/>
              <a:t>R</a:t>
            </a:r>
            <a:r>
              <a:rPr lang="zh-CN" altLang="en-US" dirty="0"/>
              <a:t>不是反对称的</a:t>
            </a:r>
            <a:r>
              <a:rPr lang="en-US" altLang="zh-CN" dirty="0"/>
              <a:t>.</a:t>
            </a:r>
            <a:endParaRPr lang="en-US" dirty="0"/>
          </a:p>
        </p:txBody>
      </p:sp>
      <p:pic>
        <p:nvPicPr>
          <p:cNvPr id="10" name="Picture 9" descr="addin_tmp.png"/>
          <p:cNvPicPr>
            <a:picLocks noChangeAspect="1"/>
          </p:cNvPicPr>
          <p:nvPr>
            <p:custDataLst>
              <p:tags r:id="rId1"/>
            </p:custDataLst>
          </p:nvPr>
        </p:nvPicPr>
        <p:blipFill>
          <a:blip r:embed="rId4" cstate="print"/>
          <a:stretch>
            <a:fillRect/>
          </a:stretch>
        </p:blipFill>
        <p:spPr>
          <a:xfrm>
            <a:off x="4724400" y="1905000"/>
            <a:ext cx="2308860" cy="912495"/>
          </a:xfrm>
          <a:prstGeom prst="rect">
            <a:avLst/>
          </a:prstGeom>
        </p:spPr>
      </p:pic>
      <p:sp>
        <p:nvSpPr>
          <p:cNvPr id="5" name="日期占位符 4"/>
          <p:cNvSpPr>
            <a:spLocks noGrp="1"/>
          </p:cNvSpPr>
          <p:nvPr>
            <p:ph type="dt" sz="half" idx="10"/>
          </p:nvPr>
        </p:nvSpPr>
        <p:spPr/>
        <p:txBody>
          <a:bodyPr/>
          <a:lstStyle/>
          <a:p>
            <a:fld id="{EE61DD8B-7896-4B49-B5F2-CB11E4575498}" type="datetime1">
              <a:rPr lang="zh-CN" altLang="en-US" smtClean="0"/>
              <a:t>2025/3/14</a:t>
            </a:fld>
            <a:endParaRPr lang="zh-CN" altLang="en-US" dirty="0"/>
          </a:p>
        </p:txBody>
      </p:sp>
      <p:sp>
        <p:nvSpPr>
          <p:cNvPr id="6" name="页脚占位符 5"/>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8" name="灯片编号占位符 7"/>
          <p:cNvSpPr>
            <a:spLocks noGrp="1"/>
          </p:cNvSpPr>
          <p:nvPr>
            <p:ph type="sldNum" sz="quarter" idx="12"/>
          </p:nvPr>
        </p:nvSpPr>
        <p:spPr/>
        <p:txBody>
          <a:bodyPr/>
          <a:lstStyle/>
          <a:p>
            <a:fld id="{67913A8A-9EFB-4B5F-9CCB-3D21173FAA85}" type="slidenum">
              <a:rPr lang="zh-CN" altLang="en-US" smtClean="0"/>
              <a:pPr/>
              <a:t>33</a:t>
            </a:fld>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7">
                                            <p:txEl>
                                              <p:pRg st="3" end="3"/>
                                            </p:txEl>
                                          </p:spTgt>
                                        </p:tgtEl>
                                        <p:attrNameLst>
                                          <p:attrName>style.visibility</p:attrName>
                                        </p:attrNameLst>
                                      </p:cBhvr>
                                      <p:to>
                                        <p:strVal val="visible"/>
                                      </p:to>
                                    </p:set>
                                    <p:animEffect transition="in" filter="wipe(down)">
                                      <p:cBhvr>
                                        <p:cTn id="7" dur="500"/>
                                        <p:tgtEl>
                                          <p:spTgt spid="7">
                                            <p:txEl>
                                              <p:pRg st="3" end="3"/>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7">
                                            <p:txEl>
                                              <p:pRg st="4" end="4"/>
                                            </p:txEl>
                                          </p:spTgt>
                                        </p:tgtEl>
                                        <p:attrNameLst>
                                          <p:attrName>style.visibility</p:attrName>
                                        </p:attrNameLst>
                                      </p:cBhvr>
                                      <p:to>
                                        <p:strVal val="visible"/>
                                      </p:to>
                                    </p:set>
                                    <p:animEffect transition="in" filter="wipe(down)">
                                      <p:cBhvr>
                                        <p:cTn id="10" dur="500"/>
                                        <p:tgtEl>
                                          <p:spTgt spid="7">
                                            <p:txEl>
                                              <p:pRg st="4" end="4"/>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7">
                                            <p:txEl>
                                              <p:pRg st="5" end="5"/>
                                            </p:txEl>
                                          </p:spTgt>
                                        </p:tgtEl>
                                        <p:attrNameLst>
                                          <p:attrName>style.visibility</p:attrName>
                                        </p:attrNameLst>
                                      </p:cBhvr>
                                      <p:to>
                                        <p:strVal val="visible"/>
                                      </p:to>
                                    </p:set>
                                    <p:animEffect transition="in" filter="wipe(down)">
                                      <p:cBhvr>
                                        <p:cTn id="13" dur="500"/>
                                        <p:tgtEl>
                                          <p:spTgt spid="7">
                                            <p:txEl>
                                              <p:pRg st="5" end="5"/>
                                            </p:txEl>
                                          </p:spTgt>
                                        </p:tgtEl>
                                      </p:cBhvr>
                                    </p:animEffect>
                                  </p:childTnLst>
                                </p:cTn>
                              </p:par>
                              <p:par>
                                <p:cTn id="14" presetID="22" presetClass="entr" presetSubtype="4" fill="hold" nodeType="withEffect">
                                  <p:stCondLst>
                                    <p:cond delay="0"/>
                                  </p:stCondLst>
                                  <p:childTnLst>
                                    <p:set>
                                      <p:cBhvr>
                                        <p:cTn id="15" dur="1" fill="hold">
                                          <p:stCondLst>
                                            <p:cond delay="0"/>
                                          </p:stCondLst>
                                        </p:cTn>
                                        <p:tgtEl>
                                          <p:spTgt spid="7">
                                            <p:txEl>
                                              <p:pRg st="6" end="6"/>
                                            </p:txEl>
                                          </p:spTgt>
                                        </p:tgtEl>
                                        <p:attrNameLst>
                                          <p:attrName>style.visibility</p:attrName>
                                        </p:attrNameLst>
                                      </p:cBhvr>
                                      <p:to>
                                        <p:strVal val="visible"/>
                                      </p:to>
                                    </p:set>
                                    <p:animEffect transition="in" filter="wipe(down)">
                                      <p:cBhvr>
                                        <p:cTn id="16" dur="500"/>
                                        <p:tgtEl>
                                          <p:spTgt spid="7">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用矩阵表示关系</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zh-CN" altLang="en-US" dirty="0" smtClean="0"/>
                  <a:t>两个关系的并和交的矩阵表示</a:t>
                </a:r>
                <a:r>
                  <a:rPr lang="en-US" altLang="zh-CN" dirty="0" smtClean="0"/>
                  <a:t>:</a:t>
                </a:r>
              </a:p>
              <a:p>
                <a:r>
                  <a:rPr lang="zh-CN" altLang="en-US" dirty="0" smtClean="0"/>
                  <a:t>布尔运算</a:t>
                </a:r>
                <a:r>
                  <a:rPr lang="zh-CN" altLang="en-US" dirty="0"/>
                  <a:t>的</a:t>
                </a:r>
                <a:r>
                  <a:rPr lang="zh-CN" altLang="en-US" dirty="0" smtClean="0"/>
                  <a:t>并</a:t>
                </a:r>
                <a:r>
                  <a:rPr lang="en-US" altLang="zh-CN" dirty="0" smtClean="0"/>
                  <a:t>(</a:t>
                </a:r>
                <a14:m>
                  <m:oMath xmlns:m="http://schemas.openxmlformats.org/officeDocument/2006/math">
                    <m:r>
                      <a:rPr lang="en-US" altLang="zh-CN">
                        <a:latin typeface="Cambria Math" panose="02040503050406030204" pitchFamily="18" charset="0"/>
                      </a:rPr>
                      <m:t>∨</m:t>
                    </m:r>
                    <m:r>
                      <a:rPr lang="en-US" altLang="zh-CN" b="0" i="0" smtClean="0">
                        <a:latin typeface="Cambria Math" panose="02040503050406030204" pitchFamily="18" charset="0"/>
                      </a:rPr>
                      <m:t>,</m:t>
                    </m:r>
                  </m:oMath>
                </a14:m>
                <a:r>
                  <a:rPr lang="zh-CN" altLang="en-US" dirty="0" smtClean="0"/>
                  <a:t> 或</a:t>
                </a:r>
                <a:r>
                  <a:rPr lang="en-US" altLang="zh-CN" dirty="0" smtClean="0"/>
                  <a:t>)</a:t>
                </a:r>
                <a:r>
                  <a:rPr lang="zh-CN" altLang="en-US" dirty="0" smtClean="0"/>
                  <a:t>和交</a:t>
                </a:r>
                <a:r>
                  <a:rPr lang="en-US" altLang="zh-CN" dirty="0" smtClean="0"/>
                  <a:t>(</a:t>
                </a:r>
                <a14:m>
                  <m:oMath xmlns:m="http://schemas.openxmlformats.org/officeDocument/2006/math">
                    <m:r>
                      <a:rPr lang="en-US" altLang="zh-CN">
                        <a:latin typeface="Cambria Math" panose="02040503050406030204" pitchFamily="18" charset="0"/>
                      </a:rPr>
                      <m:t>∧</m:t>
                    </m:r>
                  </m:oMath>
                </a14:m>
                <a:r>
                  <a:rPr lang="en-US" altLang="zh-CN" dirty="0" smtClean="0"/>
                  <a:t>, </a:t>
                </a:r>
                <a:r>
                  <a:rPr lang="zh-CN" altLang="en-US" dirty="0" smtClean="0"/>
                  <a:t>与</a:t>
                </a:r>
                <a:r>
                  <a:rPr lang="en-US" altLang="zh-CN" dirty="0" smtClean="0"/>
                  <a:t>)</a:t>
                </a:r>
                <a:r>
                  <a:rPr lang="zh-CN" altLang="en-US" dirty="0" smtClean="0"/>
                  <a:t>可以用来求两</a:t>
                </a:r>
                <a:r>
                  <a:rPr lang="zh-CN" altLang="en-US" dirty="0"/>
                  <a:t>个关系的并和交的</a:t>
                </a:r>
                <a:r>
                  <a:rPr lang="zh-CN" altLang="en-US" dirty="0" smtClean="0"/>
                  <a:t>矩阵的表示</a:t>
                </a:r>
                <a:r>
                  <a:rPr lang="en-US" altLang="zh-CN" dirty="0" smtClean="0"/>
                  <a:t>. </a:t>
                </a:r>
                <a:r>
                  <a:rPr lang="zh-CN" altLang="en-US" dirty="0" smtClean="0"/>
                  <a:t>如果集合</a:t>
                </a:r>
                <a:r>
                  <a:rPr lang="en-US" altLang="zh-CN" dirty="0" smtClean="0"/>
                  <a:t>A</a:t>
                </a:r>
                <a:r>
                  <a:rPr lang="zh-CN" altLang="en-US" dirty="0" smtClean="0"/>
                  <a:t>上的关系</a:t>
                </a:r>
                <a14:m>
                  <m:oMath xmlns:m="http://schemas.openxmlformats.org/officeDocument/2006/math">
                    <m:sSub>
                      <m:sSubPr>
                        <m:ctrlPr>
                          <a:rPr lang="en-US" altLang="zh-CN" i="1" smtClean="0">
                            <a:latin typeface="Cambria Math" panose="02040503050406030204" pitchFamily="18" charset="0"/>
                          </a:rPr>
                        </m:ctrlPr>
                      </m:sSubPr>
                      <m:e>
                        <m:r>
                          <m:rPr>
                            <m:sty m:val="p"/>
                          </m:rPr>
                          <a:rPr lang="en-US" altLang="zh-CN" i="1">
                            <a:latin typeface="Cambria Math" panose="02040503050406030204" pitchFamily="18" charset="0"/>
                          </a:rPr>
                          <m:t>R</m:t>
                        </m:r>
                      </m:e>
                      <m:sub>
                        <m:r>
                          <a:rPr lang="en-US" altLang="zh-CN" b="0" i="1" smtClean="0">
                            <a:latin typeface="Cambria Math" panose="02040503050406030204" pitchFamily="18" charset="0"/>
                          </a:rPr>
                          <m:t>1</m:t>
                        </m:r>
                      </m:sub>
                    </m:sSub>
                  </m:oMath>
                </a14:m>
                <a:r>
                  <a:rPr lang="zh-CN" altLang="en-US" dirty="0" smtClean="0"/>
                  <a:t>和</a:t>
                </a:r>
                <a14:m>
                  <m:oMath xmlns:m="http://schemas.openxmlformats.org/officeDocument/2006/math">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R</m:t>
                        </m:r>
                      </m:e>
                      <m:sub>
                        <m:r>
                          <a:rPr lang="en-US" altLang="zh-CN" b="0" i="1" smtClean="0">
                            <a:latin typeface="Cambria Math" panose="02040503050406030204" pitchFamily="18" charset="0"/>
                          </a:rPr>
                          <m:t>2</m:t>
                        </m:r>
                      </m:sub>
                    </m:sSub>
                    <m:r>
                      <a:rPr lang="zh-CN" altLang="en-US" i="1" smtClean="0">
                        <a:latin typeface="Cambria Math" panose="02040503050406030204" pitchFamily="18" charset="0"/>
                      </a:rPr>
                      <m:t>分别</m:t>
                    </m:r>
                  </m:oMath>
                </a14:m>
                <a:r>
                  <a:rPr lang="zh-CN" altLang="en-US" dirty="0" smtClean="0"/>
                  <a:t>由矩阵</a:t>
                </a:r>
                <a14:m>
                  <m:oMath xmlns:m="http://schemas.openxmlformats.org/officeDocument/2006/math">
                    <m:sSub>
                      <m:sSubPr>
                        <m:ctrlPr>
                          <a:rPr lang="en-US" altLang="zh-CN" i="1" smtClean="0">
                            <a:latin typeface="Cambria Math" panose="02040503050406030204" pitchFamily="18" charset="0"/>
                          </a:rPr>
                        </m:ctrlPr>
                      </m:sSubPr>
                      <m:e>
                        <m:r>
                          <m:rPr>
                            <m:sty m:val="p"/>
                          </m:rPr>
                          <a:rPr lang="en-US" altLang="zh-CN" i="1">
                            <a:latin typeface="Cambria Math" panose="02040503050406030204" pitchFamily="18" charset="0"/>
                          </a:rPr>
                          <m:t>M</m:t>
                        </m:r>
                      </m:e>
                      <m:sub>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R</m:t>
                            </m:r>
                          </m:e>
                          <m:sub>
                            <m:r>
                              <a:rPr lang="en-US" altLang="zh-CN" i="1">
                                <a:latin typeface="Cambria Math" panose="02040503050406030204" pitchFamily="18" charset="0"/>
                              </a:rPr>
                              <m:t>1</m:t>
                            </m:r>
                          </m:sub>
                        </m:sSub>
                      </m:sub>
                    </m:sSub>
                  </m:oMath>
                </a14:m>
                <a:r>
                  <a:rPr lang="zh-CN" altLang="en-US" dirty="0" smtClean="0"/>
                  <a:t>和</a:t>
                </a:r>
                <a14:m>
                  <m:oMath xmlns:m="http://schemas.openxmlformats.org/officeDocument/2006/math">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M</m:t>
                        </m:r>
                      </m:e>
                      <m:sub>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R</m:t>
                            </m:r>
                          </m:e>
                          <m:sub>
                            <m:r>
                              <a:rPr lang="en-US" altLang="zh-CN" b="0" i="1" smtClean="0">
                                <a:latin typeface="Cambria Math" panose="02040503050406030204" pitchFamily="18" charset="0"/>
                              </a:rPr>
                              <m:t>2</m:t>
                            </m:r>
                          </m:sub>
                        </m:sSub>
                      </m:sub>
                    </m:sSub>
                  </m:oMath>
                </a14:m>
                <a:r>
                  <a:rPr lang="zh-CN" altLang="en-US" dirty="0" smtClean="0"/>
                  <a:t>表示</a:t>
                </a:r>
                <a:r>
                  <a:rPr lang="en-US" altLang="zh-CN" dirty="0" smtClean="0"/>
                  <a:t>.</a:t>
                </a:r>
              </a:p>
              <a:p>
                <a:pPr lvl="1">
                  <a:lnSpc>
                    <a:spcPct val="100000"/>
                  </a:lnSpc>
                </a:pPr>
                <a:r>
                  <a:rPr lang="zh-CN" altLang="en-US" dirty="0"/>
                  <a:t>关系的并</a:t>
                </a:r>
                <a:r>
                  <a:rPr lang="en-US" altLang="zh-CN" dirty="0"/>
                  <a:t>:</a:t>
                </a:r>
                <a14:m>
                  <m:oMath xmlns:m="http://schemas.openxmlformats.org/officeDocument/2006/math">
                    <m:sSub>
                      <m:sSubPr>
                        <m:ctrlPr>
                          <a:rPr lang="en-US" altLang="zh-CN" i="1">
                            <a:latin typeface="Cambria Math" panose="02040503050406030204" pitchFamily="18" charset="0"/>
                          </a:rPr>
                        </m:ctrlPr>
                      </m:sSubPr>
                      <m:e>
                        <m:r>
                          <m:rPr>
                            <m:sty m:val="p"/>
                          </m:rPr>
                          <a:rPr lang="en-US" altLang="zh-CN">
                            <a:latin typeface="Cambria Math" panose="02040503050406030204" pitchFamily="18" charset="0"/>
                          </a:rPr>
                          <m:t>M</m:t>
                        </m:r>
                      </m:e>
                      <m:sub>
                        <m:sSub>
                          <m:sSubPr>
                            <m:ctrlPr>
                              <a:rPr lang="en-US" altLang="zh-CN" i="1">
                                <a:latin typeface="Cambria Math" panose="02040503050406030204" pitchFamily="18" charset="0"/>
                              </a:rPr>
                            </m:ctrlPr>
                          </m:sSubPr>
                          <m:e>
                            <m:r>
                              <m:rPr>
                                <m:sty m:val="p"/>
                              </m:rPr>
                              <a:rPr lang="en-US" altLang="zh-CN">
                                <a:latin typeface="Cambria Math" panose="02040503050406030204" pitchFamily="18" charset="0"/>
                              </a:rPr>
                              <m:t>R</m:t>
                            </m:r>
                          </m:e>
                          <m:sub>
                            <m:r>
                              <a:rPr lang="en-US" altLang="zh-CN">
                                <a:latin typeface="Cambria Math" panose="02040503050406030204" pitchFamily="18" charset="0"/>
                              </a:rPr>
                              <m:t>1</m:t>
                            </m:r>
                          </m:sub>
                        </m:sSub>
                      </m:sub>
                    </m:sSub>
                  </m:oMath>
                </a14:m>
                <a:r>
                  <a:rPr lang="zh-CN" altLang="en-US" dirty="0"/>
                  <a:t>或</a:t>
                </a:r>
                <a14:m>
                  <m:oMath xmlns:m="http://schemas.openxmlformats.org/officeDocument/2006/math">
                    <m:sSub>
                      <m:sSubPr>
                        <m:ctrlPr>
                          <a:rPr lang="en-US" altLang="zh-CN" i="1">
                            <a:latin typeface="Cambria Math" panose="02040503050406030204" pitchFamily="18" charset="0"/>
                          </a:rPr>
                        </m:ctrlPr>
                      </m:sSubPr>
                      <m:e>
                        <m:r>
                          <m:rPr>
                            <m:sty m:val="p"/>
                          </m:rPr>
                          <a:rPr lang="en-US" altLang="zh-CN">
                            <a:latin typeface="Cambria Math" panose="02040503050406030204" pitchFamily="18" charset="0"/>
                          </a:rPr>
                          <m:t>M</m:t>
                        </m:r>
                      </m:e>
                      <m:sub>
                        <m:sSub>
                          <m:sSubPr>
                            <m:ctrlPr>
                              <a:rPr lang="en-US" altLang="zh-CN" i="1">
                                <a:latin typeface="Cambria Math" panose="02040503050406030204" pitchFamily="18" charset="0"/>
                              </a:rPr>
                            </m:ctrlPr>
                          </m:sSubPr>
                          <m:e>
                            <m:r>
                              <m:rPr>
                                <m:sty m:val="p"/>
                              </m:rPr>
                              <a:rPr lang="en-US" altLang="zh-CN">
                                <a:latin typeface="Cambria Math" panose="02040503050406030204" pitchFamily="18" charset="0"/>
                              </a:rPr>
                              <m:t>R</m:t>
                            </m:r>
                          </m:e>
                          <m:sub>
                            <m:r>
                              <a:rPr lang="en-US" altLang="zh-CN">
                                <a:latin typeface="Cambria Math" panose="02040503050406030204" pitchFamily="18" charset="0"/>
                              </a:rPr>
                              <m:t>2</m:t>
                            </m:r>
                          </m:sub>
                        </m:sSub>
                      </m:sub>
                    </m:sSub>
                  </m:oMath>
                </a14:m>
                <a:r>
                  <a:rPr lang="zh-CN" altLang="en-US" dirty="0"/>
                  <a:t>在某个位置上为</a:t>
                </a:r>
                <a:r>
                  <a:rPr lang="en-US" altLang="zh-CN" dirty="0" smtClean="0"/>
                  <a:t>1, </a:t>
                </a:r>
                <a:r>
                  <a:rPr lang="zh-CN" altLang="en-US" dirty="0" smtClean="0"/>
                  <a:t>那么</a:t>
                </a:r>
                <a:r>
                  <a:rPr lang="zh-CN" altLang="en-US" dirty="0"/>
                  <a:t>关系的并的矩阵对应的位置为</a:t>
                </a:r>
                <a:r>
                  <a:rPr lang="en-US" altLang="zh-CN" dirty="0"/>
                  <a:t>1. </a:t>
                </a:r>
                <a14:m>
                  <m:oMath xmlns:m="http://schemas.openxmlformats.org/officeDocument/2006/math">
                    <m:sSub>
                      <m:sSubPr>
                        <m:ctrlPr>
                          <a:rPr lang="en-US" altLang="zh-CN" i="1">
                            <a:latin typeface="Cambria Math" panose="02040503050406030204" pitchFamily="18" charset="0"/>
                          </a:rPr>
                        </m:ctrlPr>
                      </m:sSubPr>
                      <m:e>
                        <m:r>
                          <m:rPr>
                            <m:sty m:val="p"/>
                          </m:rPr>
                          <a:rPr lang="en-US" altLang="zh-CN">
                            <a:latin typeface="Cambria Math" panose="02040503050406030204" pitchFamily="18" charset="0"/>
                          </a:rPr>
                          <m:t>M</m:t>
                        </m:r>
                      </m:e>
                      <m:sub>
                        <m:sSub>
                          <m:sSubPr>
                            <m:ctrlPr>
                              <a:rPr lang="en-US" altLang="zh-CN" i="1">
                                <a:latin typeface="Cambria Math" panose="02040503050406030204" pitchFamily="18" charset="0"/>
                              </a:rPr>
                            </m:ctrlPr>
                          </m:sSubPr>
                          <m:e>
                            <m:r>
                              <m:rPr>
                                <m:sty m:val="p"/>
                              </m:rPr>
                              <a:rPr lang="en-US" altLang="zh-CN">
                                <a:latin typeface="Cambria Math" panose="02040503050406030204" pitchFamily="18" charset="0"/>
                              </a:rPr>
                              <m:t>R</m:t>
                            </m:r>
                          </m:e>
                          <m:sub>
                            <m:r>
                              <a:rPr lang="en-US" altLang="zh-CN">
                                <a:latin typeface="Cambria Math" panose="02040503050406030204" pitchFamily="18" charset="0"/>
                              </a:rPr>
                              <m:t>1</m:t>
                            </m:r>
                          </m:sub>
                        </m:sSub>
                        <m:r>
                          <a:rPr lang="en-US" altLang="zh-CN">
                            <a:latin typeface="Cambria Math" panose="02040503050406030204" pitchFamily="18" charset="0"/>
                          </a:rPr>
                          <m:t>∪</m:t>
                        </m:r>
                        <m:sSub>
                          <m:sSubPr>
                            <m:ctrlPr>
                              <a:rPr lang="en-US" altLang="zh-CN" i="1">
                                <a:latin typeface="Cambria Math" panose="02040503050406030204" pitchFamily="18" charset="0"/>
                              </a:rPr>
                            </m:ctrlPr>
                          </m:sSubPr>
                          <m:e>
                            <m:r>
                              <m:rPr>
                                <m:sty m:val="p"/>
                              </m:rPr>
                              <a:rPr lang="en-US" altLang="zh-CN">
                                <a:latin typeface="Cambria Math" panose="02040503050406030204" pitchFamily="18" charset="0"/>
                              </a:rPr>
                              <m:t>R</m:t>
                            </m:r>
                          </m:e>
                          <m:sub>
                            <m:r>
                              <a:rPr lang="en-US" altLang="zh-CN">
                                <a:latin typeface="Cambria Math" panose="02040503050406030204" pitchFamily="18" charset="0"/>
                              </a:rPr>
                              <m:t>2</m:t>
                            </m:r>
                          </m:sub>
                        </m:sSub>
                      </m:sub>
                    </m:sSub>
                    <m:r>
                      <a:rPr lang="en-US" altLang="zh-CN">
                        <a:latin typeface="Cambria Math" panose="02040503050406030204" pitchFamily="18" charset="0"/>
                      </a:rPr>
                      <m:t>=</m:t>
                    </m:r>
                    <m:sSub>
                      <m:sSubPr>
                        <m:ctrlPr>
                          <a:rPr lang="en-US" altLang="zh-CN" i="1">
                            <a:latin typeface="Cambria Math" panose="02040503050406030204" pitchFamily="18" charset="0"/>
                          </a:rPr>
                        </m:ctrlPr>
                      </m:sSubPr>
                      <m:e>
                        <m:r>
                          <m:rPr>
                            <m:sty m:val="p"/>
                          </m:rPr>
                          <a:rPr lang="en-US" altLang="zh-CN">
                            <a:latin typeface="Cambria Math" panose="02040503050406030204" pitchFamily="18" charset="0"/>
                          </a:rPr>
                          <m:t>M</m:t>
                        </m:r>
                      </m:e>
                      <m:sub>
                        <m:sSub>
                          <m:sSubPr>
                            <m:ctrlPr>
                              <a:rPr lang="en-US" altLang="zh-CN" i="1">
                                <a:latin typeface="Cambria Math" panose="02040503050406030204" pitchFamily="18" charset="0"/>
                              </a:rPr>
                            </m:ctrlPr>
                          </m:sSubPr>
                          <m:e>
                            <m:r>
                              <m:rPr>
                                <m:sty m:val="p"/>
                              </m:rPr>
                              <a:rPr lang="en-US" altLang="zh-CN">
                                <a:latin typeface="Cambria Math" panose="02040503050406030204" pitchFamily="18" charset="0"/>
                              </a:rPr>
                              <m:t>R</m:t>
                            </m:r>
                          </m:e>
                          <m:sub>
                            <m:r>
                              <a:rPr lang="en-US" altLang="zh-CN">
                                <a:latin typeface="Cambria Math" panose="02040503050406030204" pitchFamily="18" charset="0"/>
                              </a:rPr>
                              <m:t>1</m:t>
                            </m:r>
                          </m:sub>
                        </m:sSub>
                      </m:sub>
                    </m:sSub>
                    <m:r>
                      <a:rPr lang="en-US" altLang="zh-CN">
                        <a:latin typeface="Cambria Math" panose="02040503050406030204" pitchFamily="18" charset="0"/>
                      </a:rPr>
                      <m:t>∨</m:t>
                    </m:r>
                    <m:sSub>
                      <m:sSubPr>
                        <m:ctrlPr>
                          <a:rPr lang="en-US" altLang="zh-CN" i="1">
                            <a:latin typeface="Cambria Math" panose="02040503050406030204" pitchFamily="18" charset="0"/>
                          </a:rPr>
                        </m:ctrlPr>
                      </m:sSubPr>
                      <m:e>
                        <m:r>
                          <m:rPr>
                            <m:sty m:val="p"/>
                          </m:rPr>
                          <a:rPr lang="en-US" altLang="zh-CN">
                            <a:latin typeface="Cambria Math" panose="02040503050406030204" pitchFamily="18" charset="0"/>
                          </a:rPr>
                          <m:t>M</m:t>
                        </m:r>
                      </m:e>
                      <m:sub>
                        <m:sSub>
                          <m:sSubPr>
                            <m:ctrlPr>
                              <a:rPr lang="en-US" altLang="zh-CN" i="1">
                                <a:latin typeface="Cambria Math" panose="02040503050406030204" pitchFamily="18" charset="0"/>
                              </a:rPr>
                            </m:ctrlPr>
                          </m:sSubPr>
                          <m:e>
                            <m:r>
                              <m:rPr>
                                <m:sty m:val="p"/>
                              </m:rPr>
                              <a:rPr lang="en-US" altLang="zh-CN">
                                <a:latin typeface="Cambria Math" panose="02040503050406030204" pitchFamily="18" charset="0"/>
                              </a:rPr>
                              <m:t>R</m:t>
                            </m:r>
                          </m:e>
                          <m:sub>
                            <m:r>
                              <a:rPr lang="en-US" altLang="zh-CN">
                                <a:latin typeface="Cambria Math" panose="02040503050406030204" pitchFamily="18" charset="0"/>
                              </a:rPr>
                              <m:t>2</m:t>
                            </m:r>
                          </m:sub>
                        </m:sSub>
                      </m:sub>
                    </m:sSub>
                  </m:oMath>
                </a14:m>
                <a:endParaRPr lang="en-US" altLang="zh-CN" dirty="0"/>
              </a:p>
              <a:p>
                <a:pPr lvl="1">
                  <a:lnSpc>
                    <a:spcPct val="100000"/>
                  </a:lnSpc>
                </a:pPr>
                <a:r>
                  <a:rPr lang="zh-CN" altLang="en-US" dirty="0"/>
                  <a:t>关系的交</a:t>
                </a:r>
                <a:r>
                  <a:rPr lang="en-US" altLang="zh-CN" dirty="0"/>
                  <a:t>:</a:t>
                </a:r>
                <a14:m>
                  <m:oMath xmlns:m="http://schemas.openxmlformats.org/officeDocument/2006/math">
                    <m:sSub>
                      <m:sSubPr>
                        <m:ctrlPr>
                          <a:rPr lang="en-US" altLang="zh-CN" i="1">
                            <a:latin typeface="Cambria Math" panose="02040503050406030204" pitchFamily="18" charset="0"/>
                          </a:rPr>
                        </m:ctrlPr>
                      </m:sSubPr>
                      <m:e>
                        <m:r>
                          <m:rPr>
                            <m:sty m:val="p"/>
                          </m:rPr>
                          <a:rPr lang="en-US" altLang="zh-CN">
                            <a:latin typeface="Cambria Math" panose="02040503050406030204" pitchFamily="18" charset="0"/>
                          </a:rPr>
                          <m:t>M</m:t>
                        </m:r>
                      </m:e>
                      <m:sub>
                        <m:sSub>
                          <m:sSubPr>
                            <m:ctrlPr>
                              <a:rPr lang="en-US" altLang="zh-CN" i="1">
                                <a:latin typeface="Cambria Math" panose="02040503050406030204" pitchFamily="18" charset="0"/>
                              </a:rPr>
                            </m:ctrlPr>
                          </m:sSubPr>
                          <m:e>
                            <m:r>
                              <m:rPr>
                                <m:sty m:val="p"/>
                              </m:rPr>
                              <a:rPr lang="en-US" altLang="zh-CN">
                                <a:latin typeface="Cambria Math" panose="02040503050406030204" pitchFamily="18" charset="0"/>
                              </a:rPr>
                              <m:t>R</m:t>
                            </m:r>
                          </m:e>
                          <m:sub>
                            <m:r>
                              <a:rPr lang="en-US" altLang="zh-CN">
                                <a:latin typeface="Cambria Math" panose="02040503050406030204" pitchFamily="18" charset="0"/>
                              </a:rPr>
                              <m:t>1</m:t>
                            </m:r>
                          </m:sub>
                        </m:sSub>
                      </m:sub>
                    </m:sSub>
                    <m:r>
                      <a:rPr lang="zh-CN" altLang="en-US">
                        <a:latin typeface="Cambria Math" panose="02040503050406030204" pitchFamily="18" charset="0"/>
                      </a:rPr>
                      <m:t>和</m:t>
                    </m:r>
                    <m:sSub>
                      <m:sSubPr>
                        <m:ctrlPr>
                          <a:rPr lang="en-US" altLang="zh-CN" i="1">
                            <a:latin typeface="Cambria Math" panose="02040503050406030204" pitchFamily="18" charset="0"/>
                          </a:rPr>
                        </m:ctrlPr>
                      </m:sSubPr>
                      <m:e>
                        <m:r>
                          <m:rPr>
                            <m:sty m:val="p"/>
                          </m:rPr>
                          <a:rPr lang="en-US" altLang="zh-CN">
                            <a:latin typeface="Cambria Math" panose="02040503050406030204" pitchFamily="18" charset="0"/>
                          </a:rPr>
                          <m:t>M</m:t>
                        </m:r>
                      </m:e>
                      <m:sub>
                        <m:sSub>
                          <m:sSubPr>
                            <m:ctrlPr>
                              <a:rPr lang="en-US" altLang="zh-CN" i="1">
                                <a:latin typeface="Cambria Math" panose="02040503050406030204" pitchFamily="18" charset="0"/>
                              </a:rPr>
                            </m:ctrlPr>
                          </m:sSubPr>
                          <m:e>
                            <m:r>
                              <m:rPr>
                                <m:sty m:val="p"/>
                              </m:rPr>
                              <a:rPr lang="en-US" altLang="zh-CN">
                                <a:latin typeface="Cambria Math" panose="02040503050406030204" pitchFamily="18" charset="0"/>
                              </a:rPr>
                              <m:t>R</m:t>
                            </m:r>
                          </m:e>
                          <m:sub>
                            <m:r>
                              <a:rPr lang="en-US" altLang="zh-CN">
                                <a:latin typeface="Cambria Math" panose="02040503050406030204" pitchFamily="18" charset="0"/>
                              </a:rPr>
                              <m:t>2</m:t>
                            </m:r>
                          </m:sub>
                        </m:sSub>
                      </m:sub>
                    </m:sSub>
                  </m:oMath>
                </a14:m>
                <a:r>
                  <a:rPr lang="zh-CN" altLang="en-US" dirty="0"/>
                  <a:t>在某个位置上都同时为</a:t>
                </a:r>
                <a:r>
                  <a:rPr lang="en-US" altLang="zh-CN" dirty="0" smtClean="0"/>
                  <a:t>1, </a:t>
                </a:r>
                <a:r>
                  <a:rPr lang="zh-CN" altLang="en-US" dirty="0" smtClean="0"/>
                  <a:t>那么</a:t>
                </a:r>
                <a:r>
                  <a:rPr lang="zh-CN" altLang="en-US" dirty="0"/>
                  <a:t>关系的交的矩阵对应的位置为</a:t>
                </a:r>
                <a:r>
                  <a:rPr lang="en-US" altLang="zh-CN" dirty="0"/>
                  <a:t>1. </a:t>
                </a:r>
                <a14:m>
                  <m:oMath xmlns:m="http://schemas.openxmlformats.org/officeDocument/2006/math">
                    <m:sSub>
                      <m:sSubPr>
                        <m:ctrlPr>
                          <a:rPr lang="en-US" altLang="zh-CN" i="1">
                            <a:latin typeface="Cambria Math" panose="02040503050406030204" pitchFamily="18" charset="0"/>
                          </a:rPr>
                        </m:ctrlPr>
                      </m:sSubPr>
                      <m:e>
                        <m:r>
                          <m:rPr>
                            <m:sty m:val="p"/>
                          </m:rPr>
                          <a:rPr lang="en-US" altLang="zh-CN">
                            <a:latin typeface="Cambria Math" panose="02040503050406030204" pitchFamily="18" charset="0"/>
                          </a:rPr>
                          <m:t>M</m:t>
                        </m:r>
                      </m:e>
                      <m:sub>
                        <m:sSub>
                          <m:sSubPr>
                            <m:ctrlPr>
                              <a:rPr lang="en-US" altLang="zh-CN" i="1">
                                <a:latin typeface="Cambria Math" panose="02040503050406030204" pitchFamily="18" charset="0"/>
                              </a:rPr>
                            </m:ctrlPr>
                          </m:sSubPr>
                          <m:e>
                            <m:r>
                              <m:rPr>
                                <m:sty m:val="p"/>
                              </m:rPr>
                              <a:rPr lang="en-US" altLang="zh-CN">
                                <a:latin typeface="Cambria Math" panose="02040503050406030204" pitchFamily="18" charset="0"/>
                              </a:rPr>
                              <m:t>R</m:t>
                            </m:r>
                          </m:e>
                          <m:sub>
                            <m:r>
                              <a:rPr lang="en-US" altLang="zh-CN">
                                <a:latin typeface="Cambria Math" panose="02040503050406030204" pitchFamily="18" charset="0"/>
                              </a:rPr>
                              <m:t>1</m:t>
                            </m:r>
                          </m:sub>
                        </m:sSub>
                        <m:r>
                          <a:rPr lang="en-US" altLang="zh-CN">
                            <a:latin typeface="Cambria Math" panose="02040503050406030204" pitchFamily="18" charset="0"/>
                          </a:rPr>
                          <m:t>∩</m:t>
                        </m:r>
                        <m:sSub>
                          <m:sSubPr>
                            <m:ctrlPr>
                              <a:rPr lang="en-US" altLang="zh-CN" i="1">
                                <a:latin typeface="Cambria Math" panose="02040503050406030204" pitchFamily="18" charset="0"/>
                              </a:rPr>
                            </m:ctrlPr>
                          </m:sSubPr>
                          <m:e>
                            <m:r>
                              <m:rPr>
                                <m:sty m:val="p"/>
                              </m:rPr>
                              <a:rPr lang="en-US" altLang="zh-CN">
                                <a:latin typeface="Cambria Math" panose="02040503050406030204" pitchFamily="18" charset="0"/>
                              </a:rPr>
                              <m:t>R</m:t>
                            </m:r>
                          </m:e>
                          <m:sub>
                            <m:r>
                              <a:rPr lang="en-US" altLang="zh-CN">
                                <a:latin typeface="Cambria Math" panose="02040503050406030204" pitchFamily="18" charset="0"/>
                              </a:rPr>
                              <m:t>2</m:t>
                            </m:r>
                          </m:sub>
                        </m:sSub>
                      </m:sub>
                    </m:sSub>
                    <m:r>
                      <a:rPr lang="en-US" altLang="zh-CN">
                        <a:latin typeface="Cambria Math" panose="02040503050406030204" pitchFamily="18" charset="0"/>
                      </a:rPr>
                      <m:t>=</m:t>
                    </m:r>
                    <m:sSub>
                      <m:sSubPr>
                        <m:ctrlPr>
                          <a:rPr lang="en-US" altLang="zh-CN" i="1">
                            <a:latin typeface="Cambria Math" panose="02040503050406030204" pitchFamily="18" charset="0"/>
                          </a:rPr>
                        </m:ctrlPr>
                      </m:sSubPr>
                      <m:e>
                        <m:r>
                          <m:rPr>
                            <m:sty m:val="p"/>
                          </m:rPr>
                          <a:rPr lang="en-US" altLang="zh-CN">
                            <a:latin typeface="Cambria Math" panose="02040503050406030204" pitchFamily="18" charset="0"/>
                          </a:rPr>
                          <m:t>M</m:t>
                        </m:r>
                      </m:e>
                      <m:sub>
                        <m:sSub>
                          <m:sSubPr>
                            <m:ctrlPr>
                              <a:rPr lang="en-US" altLang="zh-CN" i="1">
                                <a:latin typeface="Cambria Math" panose="02040503050406030204" pitchFamily="18" charset="0"/>
                              </a:rPr>
                            </m:ctrlPr>
                          </m:sSubPr>
                          <m:e>
                            <m:r>
                              <m:rPr>
                                <m:sty m:val="p"/>
                              </m:rPr>
                              <a:rPr lang="en-US" altLang="zh-CN">
                                <a:latin typeface="Cambria Math" panose="02040503050406030204" pitchFamily="18" charset="0"/>
                              </a:rPr>
                              <m:t>R</m:t>
                            </m:r>
                          </m:e>
                          <m:sub>
                            <m:r>
                              <a:rPr lang="en-US" altLang="zh-CN">
                                <a:latin typeface="Cambria Math" panose="02040503050406030204" pitchFamily="18" charset="0"/>
                              </a:rPr>
                              <m:t>1</m:t>
                            </m:r>
                          </m:sub>
                        </m:sSub>
                      </m:sub>
                    </m:sSub>
                    <m:r>
                      <a:rPr lang="en-US" altLang="zh-CN">
                        <a:latin typeface="Cambria Math" panose="02040503050406030204" pitchFamily="18" charset="0"/>
                      </a:rPr>
                      <m:t>∧</m:t>
                    </m:r>
                    <m:sSub>
                      <m:sSubPr>
                        <m:ctrlPr>
                          <a:rPr lang="en-US" altLang="zh-CN" i="1">
                            <a:latin typeface="Cambria Math" panose="02040503050406030204" pitchFamily="18" charset="0"/>
                          </a:rPr>
                        </m:ctrlPr>
                      </m:sSubPr>
                      <m:e>
                        <m:r>
                          <m:rPr>
                            <m:sty m:val="p"/>
                          </m:rPr>
                          <a:rPr lang="en-US" altLang="zh-CN">
                            <a:latin typeface="Cambria Math" panose="02040503050406030204" pitchFamily="18" charset="0"/>
                          </a:rPr>
                          <m:t>M</m:t>
                        </m:r>
                      </m:e>
                      <m:sub>
                        <m:sSub>
                          <m:sSubPr>
                            <m:ctrlPr>
                              <a:rPr lang="en-US" altLang="zh-CN" i="1">
                                <a:latin typeface="Cambria Math" panose="02040503050406030204" pitchFamily="18" charset="0"/>
                              </a:rPr>
                            </m:ctrlPr>
                          </m:sSubPr>
                          <m:e>
                            <m:r>
                              <m:rPr>
                                <m:sty m:val="p"/>
                              </m:rPr>
                              <a:rPr lang="en-US" altLang="zh-CN">
                                <a:latin typeface="Cambria Math" panose="02040503050406030204" pitchFamily="18" charset="0"/>
                              </a:rPr>
                              <m:t>R</m:t>
                            </m:r>
                          </m:e>
                          <m:sub>
                            <m:r>
                              <a:rPr lang="en-US" altLang="zh-CN">
                                <a:latin typeface="Cambria Math" panose="02040503050406030204" pitchFamily="18" charset="0"/>
                              </a:rPr>
                              <m:t>2</m:t>
                            </m:r>
                          </m:sub>
                        </m:sSub>
                      </m:sub>
                    </m:sSub>
                  </m:oMath>
                </a14:m>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999" t="-1310"/>
                </a:stretch>
              </a:blipFill>
            </p:spPr>
            <p:txBody>
              <a:bodyPr/>
              <a:lstStyle/>
              <a:p>
                <a:r>
                  <a:rPr lang="zh-CN" altLang="en-US">
                    <a:noFill/>
                  </a:rPr>
                  <a:t> </a:t>
                </a:r>
              </a:p>
            </p:txBody>
          </p:sp>
        </mc:Fallback>
      </mc:AlternateContent>
      <p:sp>
        <p:nvSpPr>
          <p:cNvPr id="7" name="日期占位符 6"/>
          <p:cNvSpPr>
            <a:spLocks noGrp="1"/>
          </p:cNvSpPr>
          <p:nvPr>
            <p:ph type="dt" sz="half" idx="10"/>
          </p:nvPr>
        </p:nvSpPr>
        <p:spPr/>
        <p:txBody>
          <a:bodyPr/>
          <a:lstStyle/>
          <a:p>
            <a:fld id="{6D6FA5DA-200C-4352-9081-B836D688D79C}" type="datetime1">
              <a:rPr lang="zh-CN" altLang="en-US" smtClean="0"/>
              <a:t>2025/3/14</a:t>
            </a:fld>
            <a:endParaRPr lang="zh-CN" altLang="en-US" dirty="0"/>
          </a:p>
        </p:txBody>
      </p:sp>
      <p:sp>
        <p:nvSpPr>
          <p:cNvPr id="8" name="页脚占位符 7"/>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9" name="灯片编号占位符 8"/>
          <p:cNvSpPr>
            <a:spLocks noGrp="1"/>
          </p:cNvSpPr>
          <p:nvPr>
            <p:ph type="sldNum" sz="quarter" idx="12"/>
          </p:nvPr>
        </p:nvSpPr>
        <p:spPr/>
        <p:txBody>
          <a:bodyPr/>
          <a:lstStyle/>
          <a:p>
            <a:fld id="{67913A8A-9EFB-4B5F-9CCB-3D21173FAA85}" type="slidenum">
              <a:rPr lang="zh-CN" altLang="en-US" smtClean="0"/>
              <a:pPr/>
              <a:t>34</a:t>
            </a:fld>
            <a:endParaRPr lang="zh-CN" altLang="en-US" dirty="0"/>
          </a:p>
        </p:txBody>
      </p:sp>
    </p:spTree>
    <p:extLst>
      <p:ext uri="{BB962C8B-B14F-4D97-AF65-F5344CB8AC3E}">
        <p14:creationId xmlns:p14="http://schemas.microsoft.com/office/powerpoint/2010/main" val="328164887"/>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0-1</a:t>
            </a:r>
            <a:r>
              <a:rPr lang="zh-CN" altLang="en-US" dirty="0" smtClean="0"/>
              <a:t>矩阵</a:t>
            </a:r>
            <a:endParaRPr lang="zh-CN" altLang="en-US" dirty="0"/>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zh-CN" altLang="en-US" dirty="0" smtClean="0"/>
                  <a:t>定义</a:t>
                </a:r>
                <a:r>
                  <a:rPr lang="en-US" altLang="zh-CN" dirty="0" smtClean="0"/>
                  <a:t>: </a:t>
                </a:r>
                <a:r>
                  <a:rPr lang="zh-CN" altLang="en-US" dirty="0" smtClean="0"/>
                  <a:t>矩阵中所有元素非</a:t>
                </a:r>
                <a:r>
                  <a:rPr lang="en-US" altLang="zh-CN" dirty="0" smtClean="0"/>
                  <a:t>0</a:t>
                </a:r>
                <a:r>
                  <a:rPr lang="zh-CN" altLang="en-US" dirty="0" smtClean="0"/>
                  <a:t>即</a:t>
                </a:r>
                <a:r>
                  <a:rPr lang="en-US" altLang="zh-CN" dirty="0" smtClean="0"/>
                  <a:t>1, </a:t>
                </a:r>
                <a:r>
                  <a:rPr lang="zh-CN" altLang="en-US" dirty="0" smtClean="0"/>
                  <a:t>称为</a:t>
                </a:r>
                <a:r>
                  <a:rPr lang="en-US" altLang="zh-CN" b="1" dirty="0" smtClean="0">
                    <a:solidFill>
                      <a:srgbClr val="C00000"/>
                    </a:solidFill>
                  </a:rPr>
                  <a:t>0-1</a:t>
                </a:r>
                <a:r>
                  <a:rPr lang="zh-CN" altLang="en-US" b="1" dirty="0" smtClean="0">
                    <a:solidFill>
                      <a:srgbClr val="C00000"/>
                    </a:solidFill>
                  </a:rPr>
                  <a:t>矩阵</a:t>
                </a:r>
                <a:r>
                  <a:rPr lang="en-US" altLang="zh-CN" dirty="0" smtClean="0"/>
                  <a:t>.</a:t>
                </a:r>
              </a:p>
              <a:p>
                <a:endParaRPr lang="en-US" altLang="zh-CN" dirty="0"/>
              </a:p>
              <a:p>
                <a:r>
                  <a:rPr lang="zh-CN" altLang="en-US" dirty="0" smtClean="0"/>
                  <a:t>使用这些结构的算法是基于</a:t>
                </a:r>
                <a:r>
                  <a:rPr lang="en-US" altLang="zh-CN" dirty="0"/>
                  <a:t>0-1</a:t>
                </a:r>
                <a:r>
                  <a:rPr lang="zh-CN" altLang="en-US" dirty="0" smtClean="0"/>
                  <a:t>矩阵的布尔算术</a:t>
                </a:r>
                <a:r>
                  <a:rPr lang="en-US" altLang="zh-CN" dirty="0" smtClean="0"/>
                  <a:t>. </a:t>
                </a:r>
                <a:r>
                  <a:rPr lang="zh-CN" altLang="en-US" dirty="0" smtClean="0"/>
                  <a:t>该算术运算基于布尔运算</a:t>
                </a:r>
                <a14:m>
                  <m:oMath xmlns:m="http://schemas.openxmlformats.org/officeDocument/2006/math">
                    <m:r>
                      <a:rPr lang="zh-CN" altLang="en-US">
                        <a:latin typeface="Cambria Math" panose="02040503050406030204" pitchFamily="18" charset="0"/>
                      </a:rPr>
                      <m:t>∧</m:t>
                    </m:r>
                    <m:d>
                      <m:dPr>
                        <m:ctrlPr>
                          <a:rPr lang="en-US" altLang="zh-CN" i="1">
                            <a:latin typeface="Cambria Math" panose="02040503050406030204" pitchFamily="18" charset="0"/>
                          </a:rPr>
                        </m:ctrlPr>
                      </m:dPr>
                      <m:e>
                        <m:r>
                          <a:rPr lang="zh-CN" altLang="en-US">
                            <a:latin typeface="Cambria Math" panose="02040503050406030204" pitchFamily="18" charset="0"/>
                          </a:rPr>
                          <m:t>与</m:t>
                        </m:r>
                      </m:e>
                    </m:d>
                    <m:r>
                      <a:rPr lang="en-US" altLang="zh-CN" b="0" i="0" smtClean="0">
                        <a:latin typeface="Cambria Math" panose="02040503050406030204" pitchFamily="18" charset="0"/>
                      </a:rPr>
                      <m:t>,  </m:t>
                    </m:r>
                    <m:r>
                      <a:rPr lang="zh-CN" altLang="en-US">
                        <a:latin typeface="Cambria Math" panose="02040503050406030204" pitchFamily="18" charset="0"/>
                      </a:rPr>
                      <m:t>∨</m:t>
                    </m:r>
                    <m:r>
                      <a:rPr lang="en-US" altLang="zh-CN">
                        <a:latin typeface="Cambria Math" panose="02040503050406030204" pitchFamily="18" charset="0"/>
                      </a:rPr>
                      <m:t>(</m:t>
                    </m:r>
                    <m:r>
                      <a:rPr lang="zh-CN" altLang="en-US">
                        <a:latin typeface="Cambria Math" panose="02040503050406030204" pitchFamily="18" charset="0"/>
                      </a:rPr>
                      <m:t>或</m:t>
                    </m:r>
                    <m:r>
                      <a:rPr lang="en-US" altLang="zh-CN">
                        <a:latin typeface="Cambria Math" panose="02040503050406030204" pitchFamily="18" charset="0"/>
                      </a:rPr>
                      <m:t>), </m:t>
                    </m:r>
                    <m:r>
                      <a:rPr lang="zh-CN" altLang="en-US">
                        <a:latin typeface="Cambria Math" panose="02040503050406030204" pitchFamily="18" charset="0"/>
                      </a:rPr>
                      <m:t>他们</m:t>
                    </m:r>
                  </m:oMath>
                </a14:m>
                <a:r>
                  <a:rPr lang="zh-CN" altLang="en-US" dirty="0" smtClean="0"/>
                  <a:t>作用在成对的位上，定义如下</a:t>
                </a:r>
                <a:r>
                  <a:rPr lang="en-US" altLang="zh-CN" dirty="0" smtClean="0"/>
                  <a:t>:</a:t>
                </a:r>
              </a:p>
              <a:p>
                <a:pPr marL="0" indent="0">
                  <a:buNone/>
                </a:pPr>
                <a14:m>
                  <m:oMathPara xmlns:m="http://schemas.openxmlformats.org/officeDocument/2006/math">
                    <m:oMathParaPr>
                      <m:jc m:val="centerGroup"/>
                    </m:oMathParaPr>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𝑏</m:t>
                          </m:r>
                        </m:e>
                        <m:sub>
                          <m:r>
                            <a:rPr lang="en-US" altLang="zh-CN" i="1">
                              <a:latin typeface="Cambria Math" panose="02040503050406030204" pitchFamily="18" charset="0"/>
                            </a:rPr>
                            <m:t>1</m:t>
                          </m:r>
                        </m:sub>
                      </m:sSub>
                      <m:r>
                        <a:rPr lang="en-US" altLang="zh-CN" i="1">
                          <a:latin typeface="Cambria Math" panose="02040503050406030204" pitchFamily="18" charset="0"/>
                          <a:ea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𝑏</m:t>
                          </m:r>
                        </m:e>
                        <m:sub>
                          <m:r>
                            <a:rPr lang="en-US" altLang="zh-CN" i="1">
                              <a:latin typeface="Cambria Math" panose="02040503050406030204" pitchFamily="18" charset="0"/>
                            </a:rPr>
                            <m:t>2</m:t>
                          </m:r>
                        </m:sub>
                      </m:sSub>
                      <m:r>
                        <a:rPr lang="en-US" altLang="zh-CN" i="1">
                          <a:latin typeface="Cambria Math" panose="02040503050406030204" pitchFamily="18" charset="0"/>
                        </a:rPr>
                        <m:t>=</m:t>
                      </m:r>
                      <m:d>
                        <m:dPr>
                          <m:begChr m:val="{"/>
                          <m:endChr m:val=""/>
                          <m:ctrlPr>
                            <a:rPr lang="en-US" altLang="zh-CN" i="1">
                              <a:latin typeface="Cambria Math" panose="02040503050406030204" pitchFamily="18" charset="0"/>
                            </a:rPr>
                          </m:ctrlPr>
                        </m:dPr>
                        <m:e>
                          <m:eqArr>
                            <m:eqArrPr>
                              <m:ctrlPr>
                                <a:rPr lang="en-US" altLang="zh-CN" i="1">
                                  <a:latin typeface="Cambria Math" panose="02040503050406030204" pitchFamily="18" charset="0"/>
                                </a:rPr>
                              </m:ctrlPr>
                            </m:eqArrPr>
                            <m:e>
                              <m:r>
                                <a:rPr lang="en-US" altLang="zh-CN" i="1">
                                  <a:latin typeface="Cambria Math" panose="02040503050406030204" pitchFamily="18" charset="0"/>
                                </a:rPr>
                                <m:t>1, </m:t>
                              </m:r>
                              <m:r>
                                <a:rPr lang="zh-CN" altLang="en-US" i="1">
                                  <a:latin typeface="Cambria Math" panose="02040503050406030204" pitchFamily="18" charset="0"/>
                                </a:rPr>
                                <m:t>如果</m:t>
                              </m:r>
                              <m:sSub>
                                <m:sSubPr>
                                  <m:ctrlPr>
                                    <a:rPr lang="en-US" altLang="zh-CN" i="1">
                                      <a:latin typeface="Cambria Math" panose="02040503050406030204" pitchFamily="18" charset="0"/>
                                    </a:rPr>
                                  </m:ctrlPr>
                                </m:sSubPr>
                                <m:e>
                                  <m:sSub>
                                    <m:sSubPr>
                                      <m:ctrlPr>
                                        <a:rPr lang="en-US" altLang="zh-CN" i="1">
                                          <a:latin typeface="Cambria Math" panose="02040503050406030204" pitchFamily="18" charset="0"/>
                                        </a:rPr>
                                      </m:ctrlPr>
                                    </m:sSubPr>
                                    <m:e>
                                      <m:r>
                                        <a:rPr lang="en-US" altLang="zh-CN" i="1">
                                          <a:latin typeface="Cambria Math" panose="02040503050406030204" pitchFamily="18" charset="0"/>
                                        </a:rPr>
                                        <m:t>𝑏</m:t>
                                      </m:r>
                                    </m:e>
                                    <m:sub>
                                      <m:r>
                                        <a:rPr lang="en-US" altLang="zh-CN" i="1">
                                          <a:latin typeface="Cambria Math" panose="02040503050406030204" pitchFamily="18" charset="0"/>
                                        </a:rPr>
                                        <m:t>1</m:t>
                                      </m:r>
                                    </m:sub>
                                  </m:sSub>
                                  <m:r>
                                    <a:rPr lang="en-US" altLang="zh-CN" i="1">
                                      <a:latin typeface="Cambria Math" panose="02040503050406030204" pitchFamily="18" charset="0"/>
                                    </a:rPr>
                                    <m:t>=</m:t>
                                  </m:r>
                                  <m:r>
                                    <a:rPr lang="en-US" altLang="zh-CN" i="1">
                                      <a:latin typeface="Cambria Math" panose="02040503050406030204" pitchFamily="18" charset="0"/>
                                    </a:rPr>
                                    <m:t>𝑏</m:t>
                                  </m:r>
                                </m:e>
                                <m:sub>
                                  <m:r>
                                    <a:rPr lang="en-US" altLang="zh-CN" i="1">
                                      <a:latin typeface="Cambria Math" panose="02040503050406030204" pitchFamily="18" charset="0"/>
                                    </a:rPr>
                                    <m:t>2</m:t>
                                  </m:r>
                                </m:sub>
                              </m:sSub>
                              <m:r>
                                <a:rPr lang="en-US" altLang="zh-CN" i="1">
                                  <a:latin typeface="Cambria Math" panose="02040503050406030204" pitchFamily="18" charset="0"/>
                                </a:rPr>
                                <m:t>=1</m:t>
                              </m:r>
                            </m:e>
                            <m:e>
                              <m:r>
                                <a:rPr lang="en-US" altLang="zh-CN" i="1">
                                  <a:latin typeface="Cambria Math" panose="02040503050406030204" pitchFamily="18" charset="0"/>
                                </a:rPr>
                                <m:t>0, </m:t>
                              </m:r>
                              <m:r>
                                <a:rPr lang="zh-CN" altLang="en-US" i="1">
                                  <a:latin typeface="Cambria Math" panose="02040503050406030204" pitchFamily="18" charset="0"/>
                                </a:rPr>
                                <m:t>否则</m:t>
                              </m:r>
                              <m:r>
                                <a:rPr lang="en-US" altLang="zh-CN" i="1">
                                  <a:latin typeface="Cambria Math" panose="02040503050406030204" pitchFamily="18" charset="0"/>
                                </a:rPr>
                                <m:t>                       </m:t>
                              </m:r>
                            </m:e>
                          </m:eqArr>
                        </m:e>
                      </m:d>
                    </m:oMath>
                  </m:oMathPara>
                </a14:m>
                <a:endParaRPr lang="en-US" altLang="zh-CN" dirty="0"/>
              </a:p>
              <a:p>
                <a:pPr marL="0" indent="0">
                  <a:buNone/>
                </a:pPr>
                <a:r>
                  <a:rPr lang="en-US" altLang="zh-CN" dirty="0" smtClean="0"/>
                  <a:t>                              </a:t>
                </a:r>
                <a14:m>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𝑏</m:t>
                        </m:r>
                      </m:e>
                      <m:sub>
                        <m:r>
                          <a:rPr lang="en-US" altLang="zh-CN" b="0" i="1" smtClean="0">
                            <a:latin typeface="Cambria Math" panose="02040503050406030204" pitchFamily="18" charset="0"/>
                          </a:rPr>
                          <m:t>1</m:t>
                        </m:r>
                      </m:sub>
                    </m:sSub>
                    <m:r>
                      <a:rPr lang="en-US" altLang="zh-CN" b="0" i="1" smtClean="0">
                        <a:latin typeface="Cambria Math" panose="02040503050406030204" pitchFamily="18" charset="0"/>
                        <a:ea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𝑏</m:t>
                        </m:r>
                      </m:e>
                      <m:sub>
                        <m:r>
                          <a:rPr lang="en-US" altLang="zh-CN" b="0" i="1" smtClean="0">
                            <a:latin typeface="Cambria Math" panose="02040503050406030204" pitchFamily="18" charset="0"/>
                          </a:rPr>
                          <m:t>2</m:t>
                        </m:r>
                      </m:sub>
                    </m:sSub>
                    <m:r>
                      <a:rPr lang="en-US" altLang="zh-CN" b="0" i="1" smtClean="0">
                        <a:latin typeface="Cambria Math" panose="02040503050406030204" pitchFamily="18" charset="0"/>
                      </a:rPr>
                      <m:t>=</m:t>
                    </m:r>
                    <m:d>
                      <m:dPr>
                        <m:begChr m:val="{"/>
                        <m:endChr m:val=""/>
                        <m:ctrlPr>
                          <a:rPr lang="en-US" altLang="zh-CN" b="0" i="1" smtClean="0">
                            <a:latin typeface="Cambria Math" panose="02040503050406030204" pitchFamily="18" charset="0"/>
                          </a:rPr>
                        </m:ctrlPr>
                      </m:dPr>
                      <m:e>
                        <m:eqArr>
                          <m:eqArrPr>
                            <m:ctrlPr>
                              <a:rPr lang="en-US" altLang="zh-CN" b="0" i="1" smtClean="0">
                                <a:latin typeface="Cambria Math" panose="02040503050406030204" pitchFamily="18" charset="0"/>
                              </a:rPr>
                            </m:ctrlPr>
                          </m:eqArrPr>
                          <m:e>
                            <m:r>
                              <a:rPr lang="en-US" altLang="zh-CN" b="0" i="1" smtClean="0">
                                <a:latin typeface="Cambria Math" panose="02040503050406030204" pitchFamily="18" charset="0"/>
                              </a:rPr>
                              <m:t>1, </m:t>
                            </m:r>
                            <m:r>
                              <a:rPr lang="zh-CN" altLang="en-US" i="1">
                                <a:latin typeface="Cambria Math" panose="02040503050406030204" pitchFamily="18" charset="0"/>
                              </a:rPr>
                              <m:t>如果</m:t>
                            </m:r>
                            <m:sSub>
                              <m:sSubPr>
                                <m:ctrlPr>
                                  <a:rPr lang="en-US" altLang="zh-CN" i="1">
                                    <a:latin typeface="Cambria Math" panose="02040503050406030204" pitchFamily="18" charset="0"/>
                                  </a:rPr>
                                </m:ctrlPr>
                              </m:sSubPr>
                              <m:e>
                                <m:sSub>
                                  <m:sSubPr>
                                    <m:ctrlPr>
                                      <a:rPr lang="en-US" altLang="zh-CN" i="1">
                                        <a:latin typeface="Cambria Math" panose="02040503050406030204" pitchFamily="18" charset="0"/>
                                      </a:rPr>
                                    </m:ctrlPr>
                                  </m:sSubPr>
                                  <m:e>
                                    <m:r>
                                      <a:rPr lang="en-US" altLang="zh-CN" i="1">
                                        <a:latin typeface="Cambria Math" panose="02040503050406030204" pitchFamily="18" charset="0"/>
                                      </a:rPr>
                                      <m:t>𝑏</m:t>
                                    </m:r>
                                  </m:e>
                                  <m:sub>
                                    <m:r>
                                      <a:rPr lang="en-US" altLang="zh-CN" b="0" i="1" smtClean="0">
                                        <a:latin typeface="Cambria Math" panose="02040503050406030204" pitchFamily="18" charset="0"/>
                                      </a:rPr>
                                      <m:t>1</m:t>
                                    </m:r>
                                  </m:sub>
                                </m:sSub>
                                <m:r>
                                  <a:rPr lang="en-US" altLang="zh-CN" i="1" smtClean="0">
                                    <a:latin typeface="Cambria Math" panose="02040503050406030204" pitchFamily="18" charset="0"/>
                                  </a:rPr>
                                  <m:t>=</m:t>
                                </m:r>
                                <m:r>
                                  <a:rPr lang="en-US" altLang="zh-CN" b="0" i="1" smtClean="0">
                                    <a:latin typeface="Cambria Math" panose="02040503050406030204" pitchFamily="18" charset="0"/>
                                  </a:rPr>
                                  <m:t>1</m:t>
                                </m:r>
                                <m:r>
                                  <a:rPr lang="zh-CN" altLang="en-US" i="1">
                                    <a:latin typeface="Cambria Math" panose="02040503050406030204" pitchFamily="18" charset="0"/>
                                  </a:rPr>
                                  <m:t>或者</m:t>
                                </m:r>
                                <m:r>
                                  <a:rPr lang="en-US" altLang="zh-CN" i="1">
                                    <a:latin typeface="Cambria Math" panose="02040503050406030204" pitchFamily="18" charset="0"/>
                                  </a:rPr>
                                  <m:t>𝑏</m:t>
                                </m:r>
                              </m:e>
                              <m:sub>
                                <m:r>
                                  <a:rPr lang="en-US" altLang="zh-CN" i="1">
                                    <a:latin typeface="Cambria Math" panose="02040503050406030204" pitchFamily="18" charset="0"/>
                                  </a:rPr>
                                  <m:t>2</m:t>
                                </m:r>
                              </m:sub>
                            </m:sSub>
                            <m:r>
                              <a:rPr lang="en-US" altLang="zh-CN" i="1" smtClean="0">
                                <a:latin typeface="Cambria Math" panose="02040503050406030204" pitchFamily="18" charset="0"/>
                              </a:rPr>
                              <m:t>=</m:t>
                            </m:r>
                            <m:r>
                              <a:rPr lang="en-US" altLang="zh-CN" b="0" i="1" smtClean="0">
                                <a:latin typeface="Cambria Math" panose="02040503050406030204" pitchFamily="18" charset="0"/>
                              </a:rPr>
                              <m:t>1</m:t>
                            </m:r>
                          </m:e>
                          <m:e>
                            <m:r>
                              <a:rPr lang="en-US" altLang="zh-CN" b="0" i="1" smtClean="0">
                                <a:latin typeface="Cambria Math" panose="02040503050406030204" pitchFamily="18" charset="0"/>
                              </a:rPr>
                              <m:t>0, </m:t>
                            </m:r>
                            <m:r>
                              <a:rPr lang="zh-CN" altLang="en-US" i="1" smtClean="0">
                                <a:latin typeface="Cambria Math" panose="02040503050406030204" pitchFamily="18" charset="0"/>
                              </a:rPr>
                              <m:t>否则</m:t>
                            </m:r>
                            <m:r>
                              <a:rPr lang="en-US" altLang="zh-CN" b="0" i="1" smtClean="0">
                                <a:latin typeface="Cambria Math" panose="02040503050406030204" pitchFamily="18" charset="0"/>
                              </a:rPr>
                              <m:t>                                   </m:t>
                            </m:r>
                          </m:e>
                        </m:eqArr>
                      </m:e>
                    </m:d>
                  </m:oMath>
                </a14:m>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rotWithShape="0">
                <a:blip r:embed="rId2"/>
                <a:stretch>
                  <a:fillRect l="-999" t="-1310"/>
                </a:stretch>
              </a:blipFill>
            </p:spPr>
            <p:txBody>
              <a:bodyPr/>
              <a:lstStyle/>
              <a:p>
                <a:r>
                  <a:rPr lang="zh-CN" altLang="en-US">
                    <a:noFill/>
                  </a:rPr>
                  <a:t> </a:t>
                </a:r>
              </a:p>
            </p:txBody>
          </p:sp>
        </mc:Fallback>
      </mc:AlternateContent>
      <p:sp>
        <p:nvSpPr>
          <p:cNvPr id="4" name="日期占位符 3"/>
          <p:cNvSpPr>
            <a:spLocks noGrp="1"/>
          </p:cNvSpPr>
          <p:nvPr>
            <p:ph type="dt" sz="half" idx="10"/>
          </p:nvPr>
        </p:nvSpPr>
        <p:spPr/>
        <p:txBody>
          <a:bodyPr/>
          <a:lstStyle/>
          <a:p>
            <a:fld id="{5A149797-BC5E-4177-B6C4-25F18B8243F9}" type="datetime1">
              <a:rPr lang="zh-CN" altLang="en-US" smtClean="0"/>
              <a:t>2025/3/14</a:t>
            </a:fld>
            <a:endParaRPr lang="zh-CN" altLang="en-US" dirty="0"/>
          </a:p>
        </p:txBody>
      </p:sp>
      <p:sp>
        <p:nvSpPr>
          <p:cNvPr id="5" name="页脚占位符 4"/>
          <p:cNvSpPr>
            <a:spLocks noGrp="1"/>
          </p:cNvSpPr>
          <p:nvPr>
            <p:ph type="ftr" sz="quarter" idx="11"/>
          </p:nvPr>
        </p:nvSpPr>
        <p:spPr/>
        <p:txBody>
          <a:bodyPr/>
          <a:lstStyle/>
          <a:p>
            <a:pPr algn="r"/>
            <a:r>
              <a:rPr lang="zh-CN" altLang="en-US" dirty="0" smtClean="0"/>
              <a:t>        华中科技大学</a:t>
            </a:r>
            <a:r>
              <a:rPr lang="en-US" altLang="zh-CN" dirty="0" smtClean="0"/>
              <a:t>NNSS</a:t>
            </a:r>
            <a:r>
              <a:rPr lang="zh-CN" altLang="en-US" dirty="0" smtClean="0"/>
              <a:t>实验室</a:t>
            </a:r>
            <a:endParaRPr lang="zh-CN" altLang="en-US" dirty="0"/>
          </a:p>
        </p:txBody>
      </p:sp>
      <p:sp>
        <p:nvSpPr>
          <p:cNvPr id="6" name="灯片编号占位符 5"/>
          <p:cNvSpPr>
            <a:spLocks noGrp="1"/>
          </p:cNvSpPr>
          <p:nvPr>
            <p:ph type="sldNum" sz="quarter" idx="12"/>
          </p:nvPr>
        </p:nvSpPr>
        <p:spPr/>
        <p:txBody>
          <a:bodyPr/>
          <a:lstStyle/>
          <a:p>
            <a:fld id="{67913A8A-9EFB-4B5F-9CCB-3D21173FAA85}" type="slidenum">
              <a:rPr lang="zh-CN" altLang="en-US" smtClean="0"/>
              <a:pPr/>
              <a:t>35</a:t>
            </a:fld>
            <a:endParaRPr lang="zh-CN" altLang="en-US" dirty="0"/>
          </a:p>
        </p:txBody>
      </p:sp>
    </p:spTree>
    <p:extLst>
      <p:ext uri="{BB962C8B-B14F-4D97-AF65-F5344CB8AC3E}">
        <p14:creationId xmlns:p14="http://schemas.microsoft.com/office/powerpoint/2010/main" val="953498115"/>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0-1</a:t>
            </a:r>
            <a:r>
              <a:rPr lang="zh-CN" altLang="en-US" dirty="0" smtClean="0"/>
              <a:t>矩阵</a:t>
            </a:r>
            <a:endParaRPr lang="zh-CN" altLang="en-US" dirty="0"/>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zh-CN" altLang="en-US" dirty="0" smtClean="0"/>
                  <a:t>定义</a:t>
                </a:r>
                <a:r>
                  <a:rPr lang="en-US" altLang="zh-CN" dirty="0" smtClean="0"/>
                  <a:t>: </a:t>
                </a:r>
                <a:r>
                  <a:rPr lang="zh-CN" altLang="en-US" dirty="0" smtClean="0"/>
                  <a:t>令</a:t>
                </a:r>
                <a14:m>
                  <m:oMath xmlns:m="http://schemas.openxmlformats.org/officeDocument/2006/math">
                    <m:r>
                      <m:rPr>
                        <m:sty m:val="p"/>
                      </m:rPr>
                      <a:rPr lang="en-US" altLang="zh-CN" i="1" dirty="0">
                        <a:latin typeface="Cambria Math" panose="02040503050406030204" pitchFamily="18" charset="0"/>
                      </a:rPr>
                      <m:t>A</m:t>
                    </m:r>
                    <m:r>
                      <a:rPr lang="en-US" altLang="zh-CN" i="1">
                        <a:latin typeface="Cambria Math" panose="02040503050406030204" pitchFamily="18" charset="0"/>
                      </a:rPr>
                      <m:t>=</m:t>
                    </m:r>
                    <m:d>
                      <m:dPr>
                        <m:begChr m:val="["/>
                        <m:endChr m:val="]"/>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𝑎</m:t>
                            </m:r>
                          </m:e>
                          <m:sub>
                            <m:r>
                              <a:rPr lang="en-US" altLang="zh-CN" i="1">
                                <a:latin typeface="Cambria Math" panose="02040503050406030204" pitchFamily="18" charset="0"/>
                              </a:rPr>
                              <m:t>𝑖𝑗</m:t>
                            </m:r>
                          </m:sub>
                        </m:sSub>
                      </m:e>
                    </m:d>
                  </m:oMath>
                </a14:m>
                <a:r>
                  <a:rPr lang="zh-CN" altLang="en-US" dirty="0" smtClean="0"/>
                  <a:t>和</a:t>
                </a:r>
                <a14:m>
                  <m:oMath xmlns:m="http://schemas.openxmlformats.org/officeDocument/2006/math">
                    <m:r>
                      <m:rPr>
                        <m:sty m:val="p"/>
                      </m:rPr>
                      <a:rPr lang="en-US" altLang="zh-CN" i="1" dirty="0">
                        <a:latin typeface="Cambria Math" panose="02040503050406030204" pitchFamily="18" charset="0"/>
                      </a:rPr>
                      <m:t>B</m:t>
                    </m:r>
                    <m:r>
                      <a:rPr lang="en-US" altLang="zh-CN" i="1">
                        <a:latin typeface="Cambria Math" panose="02040503050406030204" pitchFamily="18" charset="0"/>
                      </a:rPr>
                      <m:t>=</m:t>
                    </m:r>
                    <m:d>
                      <m:dPr>
                        <m:begChr m:val="["/>
                        <m:endChr m:val="]"/>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b="0" i="1" smtClean="0">
                                <a:latin typeface="Cambria Math" panose="02040503050406030204" pitchFamily="18" charset="0"/>
                              </a:rPr>
                              <m:t>𝑏</m:t>
                            </m:r>
                          </m:e>
                          <m:sub>
                            <m:r>
                              <a:rPr lang="en-US" altLang="zh-CN" i="1">
                                <a:latin typeface="Cambria Math" panose="02040503050406030204" pitchFamily="18" charset="0"/>
                              </a:rPr>
                              <m:t>𝑖𝑗</m:t>
                            </m:r>
                          </m:sub>
                        </m:sSub>
                      </m:e>
                    </m:d>
                  </m:oMath>
                </a14:m>
                <a:r>
                  <a:rPr lang="zh-CN" altLang="en-US" dirty="0"/>
                  <a:t>为</a:t>
                </a:r>
                <a14:m>
                  <m:oMath xmlns:m="http://schemas.openxmlformats.org/officeDocument/2006/math">
                    <m:r>
                      <a:rPr lang="en-US" altLang="zh-CN" i="1">
                        <a:latin typeface="Cambria Math" panose="02040503050406030204" pitchFamily="18" charset="0"/>
                      </a:rPr>
                      <m:t>𝑚</m:t>
                    </m:r>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𝑛</m:t>
                    </m:r>
                    <m:r>
                      <a:rPr lang="en-US" altLang="zh-CN" i="1">
                        <a:latin typeface="Cambria Math" panose="02040503050406030204" pitchFamily="18" charset="0"/>
                        <a:ea typeface="Cambria Math" panose="02040503050406030204" pitchFamily="18" charset="0"/>
                      </a:rPr>
                      <m:t> </m:t>
                    </m:r>
                  </m:oMath>
                </a14:m>
                <a:r>
                  <a:rPr lang="zh-CN" altLang="en-US" dirty="0" smtClean="0"/>
                  <a:t>阶</a:t>
                </a:r>
                <a:r>
                  <a:rPr lang="en-US" altLang="zh-CN" dirty="0" smtClean="0"/>
                  <a:t>0-1</a:t>
                </a:r>
                <a:r>
                  <a:rPr lang="zh-CN" altLang="en-US" dirty="0" smtClean="0"/>
                  <a:t>矩阵</a:t>
                </a:r>
                <a:r>
                  <a:rPr lang="en-US" altLang="zh-CN" dirty="0" smtClean="0"/>
                  <a:t>. A</a:t>
                </a:r>
                <a:r>
                  <a:rPr lang="zh-CN" altLang="en-US" dirty="0" smtClean="0"/>
                  <a:t>和</a:t>
                </a:r>
                <a:r>
                  <a:rPr lang="en-US" altLang="zh-CN" dirty="0" smtClean="0"/>
                  <a:t>B</a:t>
                </a:r>
                <a:r>
                  <a:rPr lang="zh-CN" altLang="en-US" dirty="0" smtClean="0"/>
                  <a:t>的</a:t>
                </a:r>
                <a:r>
                  <a:rPr lang="zh-CN" altLang="en-US" b="1" dirty="0" smtClean="0">
                    <a:solidFill>
                      <a:srgbClr val="C00000"/>
                    </a:solidFill>
                  </a:rPr>
                  <a:t>并</a:t>
                </a:r>
                <a:r>
                  <a:rPr lang="zh-CN" altLang="en-US" dirty="0" smtClean="0"/>
                  <a:t>记作</a:t>
                </a:r>
                <a:r>
                  <a:rPr lang="en-US" altLang="zh-CN" dirty="0" smtClean="0"/>
                  <a:t>A</a:t>
                </a:r>
                <a14:m>
                  <m:oMath xmlns:m="http://schemas.openxmlformats.org/officeDocument/2006/math">
                    <m:r>
                      <a:rPr lang="en-US" altLang="zh-CN" i="1">
                        <a:latin typeface="Cambria Math" panose="02040503050406030204" pitchFamily="18" charset="0"/>
                        <a:ea typeface="Cambria Math" panose="02040503050406030204" pitchFamily="18" charset="0"/>
                      </a:rPr>
                      <m:t>∨</m:t>
                    </m:r>
                  </m:oMath>
                </a14:m>
                <a:r>
                  <a:rPr lang="en-US" altLang="zh-CN" dirty="0" smtClean="0"/>
                  <a:t>B, </a:t>
                </a:r>
                <a:r>
                  <a:rPr lang="zh-CN" altLang="en-US" dirty="0" smtClean="0"/>
                  <a:t>是一个</a:t>
                </a:r>
                <a14:m>
                  <m:oMath xmlns:m="http://schemas.openxmlformats.org/officeDocument/2006/math">
                    <m:r>
                      <a:rPr lang="en-US" altLang="zh-CN" i="1">
                        <a:latin typeface="Cambria Math" panose="02040503050406030204" pitchFamily="18" charset="0"/>
                      </a:rPr>
                      <m:t>𝑚</m:t>
                    </m:r>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𝑛</m:t>
                    </m:r>
                    <m:r>
                      <a:rPr lang="en-US" altLang="zh-CN" i="1">
                        <a:latin typeface="Cambria Math" panose="02040503050406030204" pitchFamily="18" charset="0"/>
                        <a:ea typeface="Cambria Math" panose="02040503050406030204" pitchFamily="18" charset="0"/>
                      </a:rPr>
                      <m:t> </m:t>
                    </m:r>
                  </m:oMath>
                </a14:m>
                <a:r>
                  <a:rPr lang="zh-CN" altLang="en-US" dirty="0"/>
                  <a:t>阶</a:t>
                </a:r>
                <a:r>
                  <a:rPr lang="en-US" altLang="zh-CN" dirty="0"/>
                  <a:t>0-1</a:t>
                </a:r>
                <a:r>
                  <a:rPr lang="zh-CN" altLang="en-US" dirty="0" smtClean="0"/>
                  <a:t>矩阵</a:t>
                </a:r>
                <a:r>
                  <a:rPr lang="en-US" altLang="zh-CN" dirty="0" smtClean="0"/>
                  <a:t>, </a:t>
                </a:r>
                <a:r>
                  <a:rPr lang="zh-CN" altLang="en-US" dirty="0" smtClean="0"/>
                  <a:t>其</a:t>
                </a:r>
                <a14:m>
                  <m:oMath xmlns:m="http://schemas.openxmlformats.org/officeDocument/2006/math">
                    <m:r>
                      <a:rPr lang="zh-CN" altLang="en-US" i="1" dirty="0">
                        <a:latin typeface="Cambria Math" panose="02040503050406030204" pitchFamily="18" charset="0"/>
                      </a:rPr>
                      <m:t>（</m:t>
                    </m:r>
                    <m:r>
                      <a:rPr lang="en-US" altLang="zh-CN" b="0" i="1" dirty="0" smtClean="0">
                        <a:latin typeface="Cambria Math" panose="02040503050406030204" pitchFamily="18" charset="0"/>
                      </a:rPr>
                      <m:t>𝑖</m:t>
                    </m:r>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𝑗</m:t>
                    </m:r>
                    <m:r>
                      <a:rPr lang="zh-CN" altLang="en-US" i="1" dirty="0">
                        <a:latin typeface="Cambria Math" panose="02040503050406030204" pitchFamily="18" charset="0"/>
                      </a:rPr>
                      <m:t>）</m:t>
                    </m:r>
                    <m:r>
                      <a:rPr lang="zh-CN" altLang="en-US" i="1" dirty="0" smtClean="0">
                        <a:latin typeface="Cambria Math" panose="02040503050406030204" pitchFamily="18" charset="0"/>
                      </a:rPr>
                      <m:t>元素</m:t>
                    </m:r>
                  </m:oMath>
                </a14:m>
                <a:r>
                  <a:rPr lang="zh-CN" altLang="en-US" dirty="0" smtClean="0"/>
                  <a:t>为</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𝑎</m:t>
                        </m:r>
                      </m:e>
                      <m:sub>
                        <m:r>
                          <a:rPr lang="en-US" altLang="zh-CN" i="1">
                            <a:latin typeface="Cambria Math" panose="02040503050406030204" pitchFamily="18" charset="0"/>
                          </a:rPr>
                          <m:t>𝑖𝑗</m:t>
                        </m:r>
                      </m:sub>
                    </m:sSub>
                  </m:oMath>
                </a14:m>
                <a:r>
                  <a:rPr lang="en-US" altLang="zh-CN" dirty="0">
                    <a:ea typeface="Cambria Math" panose="02040503050406030204" pitchFamily="18" charset="0"/>
                  </a:rPr>
                  <a:t> </a:t>
                </a:r>
                <a14:m>
                  <m:oMath xmlns:m="http://schemas.openxmlformats.org/officeDocument/2006/math">
                    <m:r>
                      <a:rPr lang="en-US" altLang="zh-CN" i="1">
                        <a:latin typeface="Cambria Math" panose="02040503050406030204" pitchFamily="18" charset="0"/>
                        <a:ea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𝑏</m:t>
                        </m:r>
                      </m:e>
                      <m:sub>
                        <m:r>
                          <a:rPr lang="en-US" altLang="zh-CN" i="1">
                            <a:latin typeface="Cambria Math" panose="02040503050406030204" pitchFamily="18" charset="0"/>
                          </a:rPr>
                          <m:t>𝑖𝑗</m:t>
                        </m:r>
                      </m:sub>
                    </m:sSub>
                    <m:r>
                      <a:rPr lang="en-US" altLang="zh-CN" b="0" i="0" smtClean="0">
                        <a:latin typeface="Cambria Math" panose="02040503050406030204" pitchFamily="18" charset="0"/>
                      </a:rPr>
                      <m:t>.    </m:t>
                    </m:r>
                  </m:oMath>
                </a14:m>
                <a:r>
                  <a:rPr lang="en-US" altLang="zh-CN" dirty="0" smtClean="0"/>
                  <a:t>A</a:t>
                </a:r>
                <a:r>
                  <a:rPr lang="zh-CN" altLang="en-US" dirty="0"/>
                  <a:t>和</a:t>
                </a:r>
                <a:r>
                  <a:rPr lang="en-US" altLang="zh-CN" dirty="0"/>
                  <a:t>B</a:t>
                </a:r>
                <a:r>
                  <a:rPr lang="zh-CN" altLang="en-US" dirty="0" smtClean="0"/>
                  <a:t>的</a:t>
                </a:r>
                <a:r>
                  <a:rPr lang="zh-CN" altLang="en-US" b="1" dirty="0">
                    <a:solidFill>
                      <a:srgbClr val="C00000"/>
                    </a:solidFill>
                  </a:rPr>
                  <a:t>交</a:t>
                </a:r>
                <a:r>
                  <a:rPr lang="zh-CN" altLang="en-US" dirty="0" smtClean="0"/>
                  <a:t>记</a:t>
                </a:r>
                <a:r>
                  <a:rPr lang="zh-CN" altLang="en-US" dirty="0"/>
                  <a:t>作</a:t>
                </a:r>
                <a:r>
                  <a:rPr lang="en-US" altLang="zh-CN" dirty="0"/>
                  <a:t>A</a:t>
                </a:r>
                <a:r>
                  <a:rPr lang="en-US" altLang="zh-CN" dirty="0">
                    <a:ea typeface="Cambria Math" panose="02040503050406030204" pitchFamily="18" charset="0"/>
                  </a:rPr>
                  <a:t> </a:t>
                </a:r>
                <a14:m>
                  <m:oMath xmlns:m="http://schemas.openxmlformats.org/officeDocument/2006/math">
                    <m:r>
                      <a:rPr lang="en-US" altLang="zh-CN"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 </m:t>
                    </m:r>
                  </m:oMath>
                </a14:m>
                <a:r>
                  <a:rPr lang="en-US" altLang="zh-CN" dirty="0"/>
                  <a:t>B, </a:t>
                </a:r>
                <a:r>
                  <a:rPr lang="zh-CN" altLang="en-US" dirty="0"/>
                  <a:t>是一个</a:t>
                </a:r>
                <a14:m>
                  <m:oMath xmlns:m="http://schemas.openxmlformats.org/officeDocument/2006/math">
                    <m:r>
                      <a:rPr lang="en-US" altLang="zh-CN" i="1">
                        <a:latin typeface="Cambria Math" panose="02040503050406030204" pitchFamily="18" charset="0"/>
                      </a:rPr>
                      <m:t>𝑚</m:t>
                    </m:r>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𝑛</m:t>
                    </m:r>
                    <m:r>
                      <a:rPr lang="en-US" altLang="zh-CN" i="1">
                        <a:latin typeface="Cambria Math" panose="02040503050406030204" pitchFamily="18" charset="0"/>
                        <a:ea typeface="Cambria Math" panose="02040503050406030204" pitchFamily="18" charset="0"/>
                      </a:rPr>
                      <m:t> </m:t>
                    </m:r>
                  </m:oMath>
                </a14:m>
                <a:r>
                  <a:rPr lang="zh-CN" altLang="en-US" dirty="0"/>
                  <a:t>阶</a:t>
                </a:r>
                <a:r>
                  <a:rPr lang="en-US" altLang="zh-CN" dirty="0"/>
                  <a:t>0-1</a:t>
                </a:r>
                <a:r>
                  <a:rPr lang="zh-CN" altLang="en-US" dirty="0"/>
                  <a:t>矩阵</a:t>
                </a:r>
                <a:r>
                  <a:rPr lang="en-US" altLang="zh-CN" dirty="0"/>
                  <a:t>, </a:t>
                </a:r>
                <a:r>
                  <a:rPr lang="zh-CN" altLang="en-US" dirty="0"/>
                  <a:t>其</a:t>
                </a:r>
                <a14:m>
                  <m:oMath xmlns:m="http://schemas.openxmlformats.org/officeDocument/2006/math">
                    <m:r>
                      <a:rPr lang="zh-CN" altLang="en-US" i="1" dirty="0">
                        <a:latin typeface="Cambria Math" panose="02040503050406030204" pitchFamily="18" charset="0"/>
                      </a:rPr>
                      <m:t>（</m:t>
                    </m:r>
                    <m:r>
                      <a:rPr lang="en-US" altLang="zh-CN" i="1" dirty="0">
                        <a:latin typeface="Cambria Math" panose="02040503050406030204" pitchFamily="18" charset="0"/>
                      </a:rPr>
                      <m:t>𝑖</m:t>
                    </m:r>
                    <m:r>
                      <a:rPr lang="en-US" altLang="zh-CN" i="1" dirty="0">
                        <a:latin typeface="Cambria Math" panose="02040503050406030204" pitchFamily="18" charset="0"/>
                      </a:rPr>
                      <m:t>,</m:t>
                    </m:r>
                    <m:r>
                      <a:rPr lang="en-US" altLang="zh-CN" i="1" dirty="0">
                        <a:latin typeface="Cambria Math" panose="02040503050406030204" pitchFamily="18" charset="0"/>
                      </a:rPr>
                      <m:t>𝑗</m:t>
                    </m:r>
                    <m:r>
                      <a:rPr lang="zh-CN" altLang="en-US" i="1" dirty="0">
                        <a:latin typeface="Cambria Math" panose="02040503050406030204" pitchFamily="18" charset="0"/>
                      </a:rPr>
                      <m:t>）元素</m:t>
                    </m:r>
                  </m:oMath>
                </a14:m>
                <a:r>
                  <a:rPr lang="zh-CN" altLang="en-US" dirty="0"/>
                  <a:t>为</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𝑎</m:t>
                        </m:r>
                      </m:e>
                      <m:sub>
                        <m:r>
                          <a:rPr lang="en-US" altLang="zh-CN" i="1">
                            <a:latin typeface="Cambria Math" panose="02040503050406030204" pitchFamily="18" charset="0"/>
                          </a:rPr>
                          <m:t>𝑖𝑗</m:t>
                        </m:r>
                      </m:sub>
                    </m:sSub>
                  </m:oMath>
                </a14:m>
                <a:r>
                  <a:rPr lang="en-US" altLang="zh-CN" dirty="0">
                    <a:ea typeface="Cambria Math" panose="02040503050406030204" pitchFamily="18" charset="0"/>
                  </a:rPr>
                  <a:t> </a:t>
                </a:r>
                <a14:m>
                  <m:oMath xmlns:m="http://schemas.openxmlformats.org/officeDocument/2006/math">
                    <m:r>
                      <a:rPr lang="en-US" altLang="zh-CN" i="1" smtClean="0">
                        <a:latin typeface="Cambria Math" panose="02040503050406030204" pitchFamily="18" charset="0"/>
                        <a:ea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𝑏</m:t>
                        </m:r>
                      </m:e>
                      <m:sub>
                        <m:r>
                          <a:rPr lang="en-US" altLang="zh-CN" i="1">
                            <a:latin typeface="Cambria Math" panose="02040503050406030204" pitchFamily="18" charset="0"/>
                          </a:rPr>
                          <m:t>𝑖𝑗</m:t>
                        </m:r>
                      </m:sub>
                    </m:sSub>
                    <m:r>
                      <a:rPr lang="en-US" altLang="zh-CN">
                        <a:latin typeface="Cambria Math" panose="02040503050406030204" pitchFamily="18" charset="0"/>
                      </a:rPr>
                      <m:t>.</m:t>
                    </m:r>
                  </m:oMath>
                </a14:m>
                <a:endParaRPr lang="en-US" altLang="zh-CN" dirty="0" smtClean="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rotWithShape="0">
                <a:blip r:embed="rId2"/>
                <a:stretch>
                  <a:fillRect l="-999" t="-833" r="-2886"/>
                </a:stretch>
              </a:blipFill>
            </p:spPr>
            <p:txBody>
              <a:bodyPr/>
              <a:lstStyle/>
              <a:p>
                <a:r>
                  <a:rPr lang="zh-CN" altLang="en-US">
                    <a:noFill/>
                  </a:rPr>
                  <a:t> </a:t>
                </a:r>
              </a:p>
            </p:txBody>
          </p:sp>
        </mc:Fallback>
      </mc:AlternateContent>
      <p:sp>
        <p:nvSpPr>
          <p:cNvPr id="4" name="日期占位符 3"/>
          <p:cNvSpPr>
            <a:spLocks noGrp="1"/>
          </p:cNvSpPr>
          <p:nvPr>
            <p:ph type="dt" sz="half" idx="10"/>
          </p:nvPr>
        </p:nvSpPr>
        <p:spPr/>
        <p:txBody>
          <a:bodyPr/>
          <a:lstStyle/>
          <a:p>
            <a:fld id="{079FDEE4-9917-422A-B18A-641C96D0E4E2}" type="datetime1">
              <a:rPr lang="zh-CN" altLang="en-US" smtClean="0"/>
              <a:t>2025/3/14</a:t>
            </a:fld>
            <a:endParaRPr lang="zh-CN" altLang="en-US" dirty="0"/>
          </a:p>
        </p:txBody>
      </p:sp>
      <p:sp>
        <p:nvSpPr>
          <p:cNvPr id="5" name="页脚占位符 4"/>
          <p:cNvSpPr>
            <a:spLocks noGrp="1"/>
          </p:cNvSpPr>
          <p:nvPr>
            <p:ph type="ftr" sz="quarter" idx="11"/>
          </p:nvPr>
        </p:nvSpPr>
        <p:spPr/>
        <p:txBody>
          <a:bodyPr/>
          <a:lstStyle/>
          <a:p>
            <a:pPr algn="r"/>
            <a:r>
              <a:rPr lang="zh-CN" altLang="en-US" dirty="0" smtClean="0"/>
              <a:t>        华中科技大学</a:t>
            </a:r>
            <a:r>
              <a:rPr lang="en-US" altLang="zh-CN" dirty="0" smtClean="0"/>
              <a:t>NNSS</a:t>
            </a:r>
            <a:r>
              <a:rPr lang="zh-CN" altLang="en-US" dirty="0" smtClean="0"/>
              <a:t>实验室</a:t>
            </a:r>
            <a:endParaRPr lang="zh-CN" altLang="en-US" dirty="0"/>
          </a:p>
        </p:txBody>
      </p:sp>
      <p:sp>
        <p:nvSpPr>
          <p:cNvPr id="6" name="灯片编号占位符 5"/>
          <p:cNvSpPr>
            <a:spLocks noGrp="1"/>
          </p:cNvSpPr>
          <p:nvPr>
            <p:ph type="sldNum" sz="quarter" idx="12"/>
          </p:nvPr>
        </p:nvSpPr>
        <p:spPr/>
        <p:txBody>
          <a:bodyPr/>
          <a:lstStyle/>
          <a:p>
            <a:fld id="{67913A8A-9EFB-4B5F-9CCB-3D21173FAA85}" type="slidenum">
              <a:rPr lang="zh-CN" altLang="en-US" smtClean="0"/>
              <a:pPr/>
              <a:t>36</a:t>
            </a:fld>
            <a:endParaRPr lang="zh-CN" altLang="en-US" dirty="0"/>
          </a:p>
        </p:txBody>
      </p:sp>
    </p:spTree>
    <p:extLst>
      <p:ext uri="{BB962C8B-B14F-4D97-AF65-F5344CB8AC3E}">
        <p14:creationId xmlns:p14="http://schemas.microsoft.com/office/powerpoint/2010/main" val="1416997144"/>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0-1</a:t>
            </a:r>
            <a:r>
              <a:rPr lang="zh-CN" altLang="en-US" dirty="0" smtClean="0"/>
              <a:t>矩阵</a:t>
            </a:r>
            <a:endParaRPr lang="zh-CN" altLang="en-US" dirty="0"/>
          </a:p>
        </p:txBody>
      </p:sp>
      <p:sp>
        <p:nvSpPr>
          <p:cNvPr id="3" name="内容占位符 2"/>
          <p:cNvSpPr>
            <a:spLocks noGrp="1"/>
          </p:cNvSpPr>
          <p:nvPr>
            <p:ph idx="1"/>
          </p:nvPr>
        </p:nvSpPr>
        <p:spPr/>
        <p:txBody>
          <a:bodyPr/>
          <a:lstStyle/>
          <a:p>
            <a:r>
              <a:rPr lang="zh-CN" altLang="en-US" dirty="0" smtClean="0"/>
              <a:t>例</a:t>
            </a:r>
            <a:r>
              <a:rPr lang="en-US" altLang="zh-CN" dirty="0" smtClean="0"/>
              <a:t>: </a:t>
            </a:r>
            <a:r>
              <a:rPr lang="zh-CN" altLang="en-US" dirty="0" smtClean="0"/>
              <a:t>求以下两个矩阵的并和交</a:t>
            </a:r>
            <a:endParaRPr lang="en-US" altLang="zh-CN" dirty="0"/>
          </a:p>
          <a:p>
            <a:endParaRPr lang="en-US" altLang="zh-CN" dirty="0"/>
          </a:p>
          <a:p>
            <a:pPr marL="0" indent="0">
              <a:buNone/>
            </a:pPr>
            <a:r>
              <a:rPr lang="en-US" altLang="zh-CN" dirty="0"/>
              <a:t>  </a:t>
            </a:r>
            <a:endParaRPr lang="en-US" altLang="zh-CN" dirty="0" smtClean="0"/>
          </a:p>
          <a:p>
            <a:r>
              <a:rPr lang="zh-CN" altLang="en-US" dirty="0" smtClean="0"/>
              <a:t>解</a:t>
            </a:r>
            <a:r>
              <a:rPr lang="en-US" altLang="zh-CN" dirty="0" smtClean="0"/>
              <a:t>: A</a:t>
            </a:r>
            <a:r>
              <a:rPr lang="zh-CN" altLang="en-US" dirty="0" smtClean="0"/>
              <a:t>和</a:t>
            </a:r>
            <a:r>
              <a:rPr lang="en-US" altLang="zh-CN" dirty="0" smtClean="0"/>
              <a:t>B</a:t>
            </a:r>
            <a:r>
              <a:rPr lang="zh-CN" altLang="en-US" dirty="0" smtClean="0"/>
              <a:t>的并为</a:t>
            </a:r>
            <a:endParaRPr lang="en-US" altLang="zh-CN" dirty="0" smtClean="0"/>
          </a:p>
          <a:p>
            <a:endParaRPr lang="en-US" altLang="zh-CN" dirty="0"/>
          </a:p>
          <a:p>
            <a:endParaRPr lang="en-US" altLang="zh-CN" dirty="0" smtClean="0"/>
          </a:p>
          <a:p>
            <a:pPr marL="0" indent="0">
              <a:buNone/>
            </a:pPr>
            <a:r>
              <a:rPr lang="en-US" altLang="zh-CN" dirty="0" smtClean="0"/>
              <a:t>        A</a:t>
            </a:r>
            <a:r>
              <a:rPr lang="zh-CN" altLang="en-US" dirty="0" smtClean="0"/>
              <a:t>和</a:t>
            </a:r>
            <a:r>
              <a:rPr lang="en-US" altLang="zh-CN" dirty="0" smtClean="0"/>
              <a:t>B</a:t>
            </a:r>
            <a:r>
              <a:rPr lang="zh-CN" altLang="en-US" dirty="0" smtClean="0"/>
              <a:t>的交为</a:t>
            </a:r>
            <a:endParaRPr lang="en-US" altLang="zh-CN" dirty="0"/>
          </a:p>
          <a:p>
            <a:endParaRPr lang="en-US" altLang="zh-CN" dirty="0"/>
          </a:p>
          <a:p>
            <a:endParaRPr lang="zh-CN" altLang="en-US" dirty="0"/>
          </a:p>
        </p:txBody>
      </p:sp>
      <p:sp>
        <p:nvSpPr>
          <p:cNvPr id="4" name="日期占位符 3"/>
          <p:cNvSpPr>
            <a:spLocks noGrp="1"/>
          </p:cNvSpPr>
          <p:nvPr>
            <p:ph type="dt" sz="half" idx="10"/>
          </p:nvPr>
        </p:nvSpPr>
        <p:spPr/>
        <p:txBody>
          <a:bodyPr/>
          <a:lstStyle/>
          <a:p>
            <a:fld id="{8A17B57B-CAFA-4A64-99DF-D6C5DE0521B8}" type="datetime1">
              <a:rPr lang="zh-CN" altLang="en-US" smtClean="0"/>
              <a:t>2025/3/14</a:t>
            </a:fld>
            <a:endParaRPr lang="zh-CN" altLang="en-US" dirty="0"/>
          </a:p>
        </p:txBody>
      </p:sp>
      <p:sp>
        <p:nvSpPr>
          <p:cNvPr id="5" name="页脚占位符 4"/>
          <p:cNvSpPr>
            <a:spLocks noGrp="1"/>
          </p:cNvSpPr>
          <p:nvPr>
            <p:ph type="ftr" sz="quarter" idx="11"/>
          </p:nvPr>
        </p:nvSpPr>
        <p:spPr/>
        <p:txBody>
          <a:bodyPr/>
          <a:lstStyle/>
          <a:p>
            <a:pPr algn="r"/>
            <a:r>
              <a:rPr lang="zh-CN" altLang="en-US" dirty="0" smtClean="0"/>
              <a:t>        华中科技大学</a:t>
            </a:r>
            <a:r>
              <a:rPr lang="en-US" altLang="zh-CN" dirty="0" smtClean="0"/>
              <a:t>NNSS</a:t>
            </a:r>
            <a:r>
              <a:rPr lang="zh-CN" altLang="en-US" dirty="0" smtClean="0"/>
              <a:t>实验室</a:t>
            </a:r>
            <a:endParaRPr lang="zh-CN" altLang="en-US" dirty="0"/>
          </a:p>
        </p:txBody>
      </p:sp>
      <p:sp>
        <p:nvSpPr>
          <p:cNvPr id="6" name="灯片编号占位符 5"/>
          <p:cNvSpPr>
            <a:spLocks noGrp="1"/>
          </p:cNvSpPr>
          <p:nvPr>
            <p:ph type="sldNum" sz="quarter" idx="12"/>
          </p:nvPr>
        </p:nvSpPr>
        <p:spPr/>
        <p:txBody>
          <a:bodyPr/>
          <a:lstStyle/>
          <a:p>
            <a:fld id="{67913A8A-9EFB-4B5F-9CCB-3D21173FAA85}" type="slidenum">
              <a:rPr lang="zh-CN" altLang="en-US" smtClean="0"/>
              <a:pPr/>
              <a:t>37</a:t>
            </a:fld>
            <a:endParaRPr lang="zh-CN" altLang="en-US" dirty="0"/>
          </a:p>
        </p:txBody>
      </p:sp>
      <p:pic>
        <p:nvPicPr>
          <p:cNvPr id="7" name="Picture 6" descr="addin_tmp.png"/>
          <p:cNvPicPr>
            <a:picLocks noChangeAspect="1"/>
          </p:cNvPicPr>
          <p:nvPr>
            <p:custDataLst>
              <p:tags r:id="rId1"/>
            </p:custDataLst>
          </p:nvPr>
        </p:nvPicPr>
        <p:blipFill>
          <a:blip r:embed="rId6" cstate="print"/>
          <a:stretch>
            <a:fillRect/>
          </a:stretch>
        </p:blipFill>
        <p:spPr>
          <a:xfrm>
            <a:off x="1828800" y="1819060"/>
            <a:ext cx="2047875" cy="609600"/>
          </a:xfrm>
          <a:prstGeom prst="rect">
            <a:avLst/>
          </a:prstGeom>
        </p:spPr>
      </p:pic>
      <p:pic>
        <p:nvPicPr>
          <p:cNvPr id="8" name="Picture 9" descr="addin_tmp.png"/>
          <p:cNvPicPr>
            <a:picLocks noChangeAspect="1"/>
          </p:cNvPicPr>
          <p:nvPr>
            <p:custDataLst>
              <p:tags r:id="rId2"/>
            </p:custDataLst>
          </p:nvPr>
        </p:nvPicPr>
        <p:blipFill>
          <a:blip r:embed="rId7" cstate="print"/>
          <a:stretch>
            <a:fillRect/>
          </a:stretch>
        </p:blipFill>
        <p:spPr>
          <a:xfrm>
            <a:off x="4495800" y="1752600"/>
            <a:ext cx="2034540" cy="609600"/>
          </a:xfrm>
          <a:prstGeom prst="rect">
            <a:avLst/>
          </a:prstGeom>
        </p:spPr>
      </p:pic>
      <p:pic>
        <p:nvPicPr>
          <p:cNvPr id="9" name="Picture 12" descr="addin_tmp.png"/>
          <p:cNvPicPr>
            <a:picLocks noChangeAspect="1"/>
          </p:cNvPicPr>
          <p:nvPr>
            <p:custDataLst>
              <p:tags r:id="rId3"/>
            </p:custDataLst>
          </p:nvPr>
        </p:nvPicPr>
        <p:blipFill>
          <a:blip r:embed="rId8" cstate="print"/>
          <a:stretch>
            <a:fillRect/>
          </a:stretch>
        </p:blipFill>
        <p:spPr>
          <a:xfrm>
            <a:off x="2286000" y="3630895"/>
            <a:ext cx="5501640" cy="609600"/>
          </a:xfrm>
          <a:prstGeom prst="rect">
            <a:avLst/>
          </a:prstGeom>
        </p:spPr>
      </p:pic>
      <p:pic>
        <p:nvPicPr>
          <p:cNvPr id="10" name="Picture 14" descr="addin_tmp.png"/>
          <p:cNvPicPr>
            <a:picLocks noChangeAspect="1"/>
          </p:cNvPicPr>
          <p:nvPr>
            <p:custDataLst>
              <p:tags r:id="rId4"/>
            </p:custDataLst>
          </p:nvPr>
        </p:nvPicPr>
        <p:blipFill>
          <a:blip r:embed="rId9" cstate="print"/>
          <a:stretch>
            <a:fillRect/>
          </a:stretch>
        </p:blipFill>
        <p:spPr>
          <a:xfrm>
            <a:off x="2559611" y="5181600"/>
            <a:ext cx="5501640" cy="609600"/>
          </a:xfrm>
          <a:prstGeom prst="rect">
            <a:avLst/>
          </a:prstGeom>
        </p:spPr>
      </p:pic>
    </p:spTree>
    <p:extLst>
      <p:ext uri="{BB962C8B-B14F-4D97-AF65-F5344CB8AC3E}">
        <p14:creationId xmlns:p14="http://schemas.microsoft.com/office/powerpoint/2010/main" val="26884331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wipe(down)">
                                      <p:cBhvr>
                                        <p:cTn id="7" dur="500"/>
                                        <p:tgtEl>
                                          <p:spTgt spid="3">
                                            <p:txEl>
                                              <p:pRg st="3" end="3"/>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3">
                                            <p:txEl>
                                              <p:pRg st="6" end="6"/>
                                            </p:txEl>
                                          </p:spTgt>
                                        </p:tgtEl>
                                        <p:attrNameLst>
                                          <p:attrName>style.visibility</p:attrName>
                                        </p:attrNameLst>
                                      </p:cBhvr>
                                      <p:to>
                                        <p:strVal val="visible"/>
                                      </p:to>
                                    </p:set>
                                    <p:animEffect transition="in" filter="wipe(down)">
                                      <p:cBhvr>
                                        <p:cTn id="10" dur="500"/>
                                        <p:tgtEl>
                                          <p:spTgt spid="3">
                                            <p:txEl>
                                              <p:pRg st="6" end="6"/>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wipe(down)">
                                      <p:cBhvr>
                                        <p:cTn id="13" dur="500"/>
                                        <p:tgtEl>
                                          <p:spTgt spid="10"/>
                                        </p:tgtEl>
                                      </p:cBhvr>
                                    </p:animEffect>
                                  </p:childTnLst>
                                </p:cTn>
                              </p:par>
                              <p:par>
                                <p:cTn id="14" presetID="22" presetClass="entr" presetSubtype="4" fill="hold"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wipe(down)">
                                      <p:cBhvr>
                                        <p:cTn id="16"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0-1</a:t>
            </a:r>
            <a:r>
              <a:rPr lang="zh-CN" altLang="en-US" dirty="0" smtClean="0"/>
              <a:t>矩阵</a:t>
            </a:r>
            <a:endParaRPr lang="zh-CN" altLang="en-US" dirty="0"/>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zh-CN" altLang="en-US" dirty="0" smtClean="0"/>
                  <a:t>定义</a:t>
                </a:r>
                <a:r>
                  <a:rPr lang="en-US" altLang="zh-CN" dirty="0" smtClean="0"/>
                  <a:t>:</a:t>
                </a:r>
                <a:r>
                  <a:rPr lang="zh-CN" altLang="en-US" dirty="0"/>
                  <a:t>令</a:t>
                </a:r>
                <a14:m>
                  <m:oMath xmlns:m="http://schemas.openxmlformats.org/officeDocument/2006/math">
                    <m:r>
                      <m:rPr>
                        <m:sty m:val="p"/>
                      </m:rPr>
                      <a:rPr lang="en-US" altLang="zh-CN" i="1" dirty="0">
                        <a:latin typeface="Cambria Math" panose="02040503050406030204" pitchFamily="18" charset="0"/>
                      </a:rPr>
                      <m:t>A</m:t>
                    </m:r>
                    <m:r>
                      <a:rPr lang="en-US" altLang="zh-CN" i="1">
                        <a:latin typeface="Cambria Math" panose="02040503050406030204" pitchFamily="18" charset="0"/>
                      </a:rPr>
                      <m:t>=</m:t>
                    </m:r>
                    <m:d>
                      <m:dPr>
                        <m:begChr m:val="["/>
                        <m:endChr m:val="]"/>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𝑎</m:t>
                            </m:r>
                          </m:e>
                          <m:sub>
                            <m:r>
                              <a:rPr lang="en-US" altLang="zh-CN" i="1">
                                <a:latin typeface="Cambria Math" panose="02040503050406030204" pitchFamily="18" charset="0"/>
                              </a:rPr>
                              <m:t>𝑖𝑗</m:t>
                            </m:r>
                          </m:sub>
                        </m:sSub>
                      </m:e>
                    </m:d>
                  </m:oMath>
                </a14:m>
                <a:r>
                  <a:rPr lang="zh-CN" altLang="en-US" dirty="0" smtClean="0"/>
                  <a:t>为</a:t>
                </a:r>
                <a14:m>
                  <m:oMath xmlns:m="http://schemas.openxmlformats.org/officeDocument/2006/math">
                    <m:r>
                      <a:rPr lang="en-US" altLang="zh-CN" i="1">
                        <a:latin typeface="Cambria Math" panose="02040503050406030204" pitchFamily="18" charset="0"/>
                      </a:rPr>
                      <m:t>𝑚</m:t>
                    </m:r>
                    <m:r>
                      <a:rPr lang="en-US" altLang="zh-CN" i="1">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𝑘</m:t>
                    </m:r>
                    <m:r>
                      <a:rPr lang="en-US" altLang="zh-CN" i="1">
                        <a:latin typeface="Cambria Math" panose="02040503050406030204" pitchFamily="18" charset="0"/>
                        <a:ea typeface="Cambria Math" panose="02040503050406030204" pitchFamily="18" charset="0"/>
                      </a:rPr>
                      <m:t> </m:t>
                    </m:r>
                  </m:oMath>
                </a14:m>
                <a:r>
                  <a:rPr lang="zh-CN" altLang="en-US" dirty="0"/>
                  <a:t>阶</a:t>
                </a:r>
                <a:r>
                  <a:rPr lang="en-US" altLang="zh-CN" dirty="0"/>
                  <a:t>0-1</a:t>
                </a:r>
                <a:r>
                  <a:rPr lang="zh-CN" altLang="en-US" dirty="0" smtClean="0"/>
                  <a:t>矩阵</a:t>
                </a:r>
                <a:r>
                  <a:rPr lang="en-US" altLang="zh-CN" dirty="0" smtClean="0"/>
                  <a:t>,</a:t>
                </a:r>
                <a:r>
                  <a:rPr lang="zh-CN" altLang="en-US" dirty="0" smtClean="0"/>
                  <a:t> </a:t>
                </a:r>
                <a14:m>
                  <m:oMath xmlns:m="http://schemas.openxmlformats.org/officeDocument/2006/math">
                    <m:r>
                      <m:rPr>
                        <m:sty m:val="p"/>
                      </m:rPr>
                      <a:rPr lang="en-US" altLang="zh-CN" i="1" dirty="0">
                        <a:latin typeface="Cambria Math" panose="02040503050406030204" pitchFamily="18" charset="0"/>
                      </a:rPr>
                      <m:t>B</m:t>
                    </m:r>
                    <m:r>
                      <a:rPr lang="en-US" altLang="zh-CN" i="1">
                        <a:latin typeface="Cambria Math" panose="02040503050406030204" pitchFamily="18" charset="0"/>
                      </a:rPr>
                      <m:t>=</m:t>
                    </m:r>
                    <m:d>
                      <m:dPr>
                        <m:begChr m:val="["/>
                        <m:endChr m:val="]"/>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𝑏</m:t>
                            </m:r>
                          </m:e>
                          <m:sub>
                            <m:r>
                              <a:rPr lang="en-US" altLang="zh-CN" i="1">
                                <a:latin typeface="Cambria Math" panose="02040503050406030204" pitchFamily="18" charset="0"/>
                              </a:rPr>
                              <m:t>𝑖𝑗</m:t>
                            </m:r>
                          </m:sub>
                        </m:sSub>
                      </m:e>
                    </m:d>
                  </m:oMath>
                </a14:m>
                <a:r>
                  <a:rPr lang="zh-CN" altLang="en-US" dirty="0"/>
                  <a:t>为</a:t>
                </a:r>
                <a14:m>
                  <m:oMath xmlns:m="http://schemas.openxmlformats.org/officeDocument/2006/math">
                    <m:r>
                      <a:rPr lang="en-US" altLang="zh-CN" b="0" i="1" smtClean="0">
                        <a:latin typeface="Cambria Math" panose="02040503050406030204" pitchFamily="18" charset="0"/>
                      </a:rPr>
                      <m:t>𝑘</m:t>
                    </m:r>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𝑛</m:t>
                    </m:r>
                    <m:r>
                      <a:rPr lang="en-US" altLang="zh-CN" i="1">
                        <a:latin typeface="Cambria Math" panose="02040503050406030204" pitchFamily="18" charset="0"/>
                        <a:ea typeface="Cambria Math" panose="02040503050406030204" pitchFamily="18" charset="0"/>
                      </a:rPr>
                      <m:t> </m:t>
                    </m:r>
                  </m:oMath>
                </a14:m>
                <a:r>
                  <a:rPr lang="zh-CN" altLang="en-US" dirty="0"/>
                  <a:t>阶</a:t>
                </a:r>
                <a:r>
                  <a:rPr lang="en-US" altLang="zh-CN" dirty="0"/>
                  <a:t>0-1</a:t>
                </a:r>
                <a:r>
                  <a:rPr lang="zh-CN" altLang="en-US" dirty="0"/>
                  <a:t>矩阵</a:t>
                </a:r>
                <a:r>
                  <a:rPr lang="en-US" altLang="zh-CN" dirty="0" smtClean="0"/>
                  <a:t>. A</a:t>
                </a:r>
                <a:r>
                  <a:rPr lang="zh-CN" altLang="en-US" dirty="0" smtClean="0"/>
                  <a:t>和</a:t>
                </a:r>
                <a:r>
                  <a:rPr lang="en-US" altLang="zh-CN" dirty="0" smtClean="0"/>
                  <a:t>B</a:t>
                </a:r>
                <a:r>
                  <a:rPr lang="zh-CN" altLang="en-US" dirty="0" smtClean="0"/>
                  <a:t>的</a:t>
                </a:r>
                <a:r>
                  <a:rPr lang="zh-CN" altLang="en-US" b="1" dirty="0" smtClean="0">
                    <a:solidFill>
                      <a:srgbClr val="C00000"/>
                    </a:solidFill>
                  </a:rPr>
                  <a:t>布尔积</a:t>
                </a:r>
                <a:r>
                  <a:rPr lang="zh-CN" altLang="en-US" dirty="0" smtClean="0"/>
                  <a:t>记作</a:t>
                </a:r>
                <a:r>
                  <a:rPr lang="en-US" altLang="zh-CN" dirty="0" smtClean="0"/>
                  <a:t>A </a:t>
                </a:r>
                <a14:m>
                  <m:oMath xmlns:m="http://schemas.openxmlformats.org/officeDocument/2006/math">
                    <m:r>
                      <a:rPr lang="en-US" altLang="zh-CN" i="1" smtClean="0">
                        <a:latin typeface="Cambria Math" panose="02040503050406030204" pitchFamily="18" charset="0"/>
                        <a:ea typeface="Cambria Math" panose="02040503050406030204" pitchFamily="18" charset="0"/>
                      </a:rPr>
                      <m:t>⨀</m:t>
                    </m:r>
                  </m:oMath>
                </a14:m>
                <a:r>
                  <a:rPr lang="en-US" altLang="zh-CN" dirty="0" smtClean="0"/>
                  <a:t> B, </a:t>
                </a:r>
                <a:r>
                  <a:rPr lang="zh-CN" altLang="en-US" dirty="0" smtClean="0"/>
                  <a:t>是</a:t>
                </a:r>
                <a:r>
                  <a:rPr lang="en-US" altLang="zh-CN" dirty="0" smtClean="0"/>
                  <a:t> </a:t>
                </a:r>
                <a14:m>
                  <m:oMath xmlns:m="http://schemas.openxmlformats.org/officeDocument/2006/math">
                    <m:r>
                      <a:rPr lang="en-US" altLang="zh-CN" b="0" i="1" dirty="0" smtClean="0">
                        <a:latin typeface="Cambria Math" panose="02040503050406030204" pitchFamily="18" charset="0"/>
                      </a:rPr>
                      <m:t>𝑚</m:t>
                    </m:r>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𝑛</m:t>
                    </m:r>
                    <m:r>
                      <a:rPr lang="en-US" altLang="zh-CN" i="1">
                        <a:latin typeface="Cambria Math" panose="02040503050406030204" pitchFamily="18" charset="0"/>
                        <a:ea typeface="Cambria Math" panose="02040503050406030204" pitchFamily="18" charset="0"/>
                      </a:rPr>
                      <m:t> </m:t>
                    </m:r>
                  </m:oMath>
                </a14:m>
                <a:r>
                  <a:rPr lang="zh-CN" altLang="en-US" dirty="0"/>
                  <a:t>阶</a:t>
                </a:r>
                <a:r>
                  <a:rPr lang="en-US" altLang="zh-CN" dirty="0"/>
                  <a:t>0-1</a:t>
                </a:r>
                <a:r>
                  <a:rPr lang="zh-CN" altLang="en-US" dirty="0" smtClean="0"/>
                  <a:t>矩阵</a:t>
                </a:r>
                <a14:m>
                  <m:oMath xmlns:m="http://schemas.openxmlformats.org/officeDocument/2006/math">
                    <m:d>
                      <m:dPr>
                        <m:begChr m:val="["/>
                        <m:endChr m:val="]"/>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b="0" i="1" smtClean="0">
                                <a:latin typeface="Cambria Math" panose="02040503050406030204" pitchFamily="18" charset="0"/>
                              </a:rPr>
                              <m:t>𝑐</m:t>
                            </m:r>
                          </m:e>
                          <m:sub>
                            <m:r>
                              <a:rPr lang="en-US" altLang="zh-CN" i="1">
                                <a:latin typeface="Cambria Math" panose="02040503050406030204" pitchFamily="18" charset="0"/>
                              </a:rPr>
                              <m:t>𝑖𝑗</m:t>
                            </m:r>
                          </m:sub>
                        </m:sSub>
                      </m:e>
                    </m:d>
                  </m:oMath>
                </a14:m>
                <a:r>
                  <a:rPr lang="en-US" altLang="zh-CN" dirty="0" smtClean="0"/>
                  <a:t>, </a:t>
                </a:r>
                <a:r>
                  <a:rPr lang="zh-CN" altLang="en-US" dirty="0" smtClean="0"/>
                  <a:t>其中</a:t>
                </a:r>
                <a:endParaRPr lang="en-US" altLang="zh-CN" dirty="0" smtClean="0"/>
              </a:p>
              <a:p>
                <a:pPr marL="0" indent="0">
                  <a:buNone/>
                </a:pPr>
                <a14:m>
                  <m:oMath xmlns:m="http://schemas.openxmlformats.org/officeDocument/2006/math">
                    <m:sSub>
                      <m:sSubPr>
                        <m:ctrlPr>
                          <a:rPr lang="en-US" altLang="zh-CN" i="1">
                            <a:latin typeface="Cambria Math" panose="02040503050406030204" pitchFamily="18" charset="0"/>
                          </a:rPr>
                        </m:ctrlPr>
                      </m:sSubPr>
                      <m:e>
                        <m:r>
                          <a:rPr lang="en-US" altLang="zh-CN" b="0" i="1" smtClean="0">
                            <a:latin typeface="Cambria Math" panose="02040503050406030204" pitchFamily="18" charset="0"/>
                          </a:rPr>
                          <m:t>                       </m:t>
                        </m:r>
                        <m:r>
                          <a:rPr lang="en-US" altLang="zh-CN" i="1">
                            <a:latin typeface="Cambria Math" panose="02040503050406030204" pitchFamily="18" charset="0"/>
                          </a:rPr>
                          <m:t>𝑐</m:t>
                        </m:r>
                      </m:e>
                      <m:sub>
                        <m:r>
                          <a:rPr lang="en-US" altLang="zh-CN" i="1">
                            <a:latin typeface="Cambria Math" panose="02040503050406030204" pitchFamily="18" charset="0"/>
                          </a:rPr>
                          <m:t>𝑖𝑗</m:t>
                        </m:r>
                      </m:sub>
                    </m:sSub>
                  </m:oMath>
                </a14:m>
                <a:r>
                  <a:rPr lang="en-US" altLang="zh-CN" dirty="0" smtClean="0"/>
                  <a:t>=(</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𝑎</m:t>
                        </m:r>
                      </m:e>
                      <m:sub>
                        <m:r>
                          <a:rPr lang="en-US" altLang="zh-CN" i="1">
                            <a:latin typeface="Cambria Math" panose="02040503050406030204" pitchFamily="18" charset="0"/>
                          </a:rPr>
                          <m:t>𝑖</m:t>
                        </m:r>
                        <m:r>
                          <a:rPr lang="en-US" altLang="zh-CN" b="0" i="1" smtClean="0">
                            <a:latin typeface="Cambria Math" panose="02040503050406030204" pitchFamily="18" charset="0"/>
                          </a:rPr>
                          <m:t>1</m:t>
                        </m:r>
                      </m:sub>
                    </m:sSub>
                    <m:r>
                      <a:rPr lang="en-US" altLang="zh-CN" i="1" smtClean="0">
                        <a:latin typeface="Cambria Math" panose="02040503050406030204" pitchFamily="18" charset="0"/>
                        <a:ea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𝑏</m:t>
                        </m:r>
                      </m:e>
                      <m:sub>
                        <m:r>
                          <a:rPr lang="en-US" altLang="zh-CN" b="0" i="1" smtClean="0">
                            <a:latin typeface="Cambria Math" panose="02040503050406030204" pitchFamily="18" charset="0"/>
                          </a:rPr>
                          <m:t>1</m:t>
                        </m:r>
                        <m:r>
                          <a:rPr lang="en-US" altLang="zh-CN" i="1">
                            <a:latin typeface="Cambria Math" panose="02040503050406030204" pitchFamily="18" charset="0"/>
                          </a:rPr>
                          <m:t>𝑗</m:t>
                        </m:r>
                      </m:sub>
                    </m:sSub>
                    <m:r>
                      <a:rPr lang="en-US" altLang="zh-CN" b="0" i="1" smtClean="0">
                        <a:latin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m:t>
                    </m:r>
                  </m:oMath>
                </a14:m>
                <a:r>
                  <a:rPr lang="en-US" altLang="zh-CN" dirty="0"/>
                  <a:t> </a:t>
                </a:r>
                <a:r>
                  <a:rPr lang="en-US" altLang="zh-CN" dirty="0" smtClean="0"/>
                  <a:t>(</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𝑎</m:t>
                        </m:r>
                      </m:e>
                      <m:sub>
                        <m:r>
                          <a:rPr lang="en-US" altLang="zh-CN" i="1">
                            <a:latin typeface="Cambria Math" panose="02040503050406030204" pitchFamily="18" charset="0"/>
                          </a:rPr>
                          <m:t>𝑖</m:t>
                        </m:r>
                        <m:r>
                          <a:rPr lang="en-US" altLang="zh-CN" b="0" i="1" smtClean="0">
                            <a:latin typeface="Cambria Math" panose="02040503050406030204" pitchFamily="18" charset="0"/>
                          </a:rPr>
                          <m:t>2</m:t>
                        </m:r>
                      </m:sub>
                    </m:sSub>
                    <m:r>
                      <a:rPr lang="en-US" altLang="zh-CN" i="1">
                        <a:latin typeface="Cambria Math" panose="02040503050406030204" pitchFamily="18" charset="0"/>
                        <a:ea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𝑏</m:t>
                        </m:r>
                      </m:e>
                      <m:sub>
                        <m:r>
                          <a:rPr lang="en-US" altLang="zh-CN" b="0" i="1" smtClean="0">
                            <a:latin typeface="Cambria Math" panose="02040503050406030204" pitchFamily="18" charset="0"/>
                          </a:rPr>
                          <m:t>2</m:t>
                        </m:r>
                        <m:r>
                          <a:rPr lang="en-US" altLang="zh-CN" i="1">
                            <a:latin typeface="Cambria Math" panose="02040503050406030204" pitchFamily="18" charset="0"/>
                          </a:rPr>
                          <m:t>𝑗</m:t>
                        </m:r>
                      </m:sub>
                    </m:sSub>
                    <m:r>
                      <a:rPr lang="en-US" altLang="zh-CN" i="1">
                        <a:latin typeface="Cambria Math" panose="02040503050406030204" pitchFamily="18" charset="0"/>
                      </a:rPr>
                      <m:t>)</m:t>
                    </m:r>
                  </m:oMath>
                </a14:m>
                <a:r>
                  <a:rPr lang="en-US" altLang="zh-CN" dirty="0">
                    <a:ea typeface="Cambria Math" panose="02040503050406030204" pitchFamily="18" charset="0"/>
                  </a:rPr>
                  <a:t> </a:t>
                </a:r>
                <a14:m>
                  <m:oMath xmlns:m="http://schemas.openxmlformats.org/officeDocument/2006/math">
                    <m:r>
                      <a:rPr lang="en-US" altLang="zh-CN" i="1">
                        <a:latin typeface="Cambria Math" panose="02040503050406030204" pitchFamily="18" charset="0"/>
                        <a:ea typeface="Cambria Math" panose="02040503050406030204" pitchFamily="18" charset="0"/>
                      </a:rPr>
                      <m:t>∨ </m:t>
                    </m:r>
                    <m:r>
                      <a:rPr lang="en-US" altLang="zh-CN" b="0" i="1" smtClean="0">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m:t>
                    </m:r>
                  </m:oMath>
                </a14:m>
                <a:r>
                  <a:rPr lang="en-US" altLang="zh-CN" dirty="0"/>
                  <a:t>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𝑎</m:t>
                        </m:r>
                      </m:e>
                      <m:sub>
                        <m:r>
                          <a:rPr lang="en-US" altLang="zh-CN" i="1">
                            <a:latin typeface="Cambria Math" panose="02040503050406030204" pitchFamily="18" charset="0"/>
                          </a:rPr>
                          <m:t>𝑖</m:t>
                        </m:r>
                        <m:r>
                          <a:rPr lang="en-US" altLang="zh-CN" b="0" i="1" smtClean="0">
                            <a:latin typeface="Cambria Math" panose="02040503050406030204" pitchFamily="18" charset="0"/>
                          </a:rPr>
                          <m:t>𝑘</m:t>
                        </m:r>
                      </m:sub>
                    </m:sSub>
                    <m:r>
                      <a:rPr lang="en-US" altLang="zh-CN" i="1">
                        <a:latin typeface="Cambria Math" panose="02040503050406030204" pitchFamily="18" charset="0"/>
                        <a:ea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𝑏</m:t>
                        </m:r>
                      </m:e>
                      <m:sub>
                        <m:r>
                          <a:rPr lang="en-US" altLang="zh-CN" b="0" i="1" smtClean="0">
                            <a:latin typeface="Cambria Math" panose="02040503050406030204" pitchFamily="18" charset="0"/>
                          </a:rPr>
                          <m:t>𝑘</m:t>
                        </m:r>
                        <m:r>
                          <a:rPr lang="en-US" altLang="zh-CN" i="1">
                            <a:latin typeface="Cambria Math" panose="02040503050406030204" pitchFamily="18" charset="0"/>
                          </a:rPr>
                          <m:t>𝑗</m:t>
                        </m:r>
                      </m:sub>
                    </m:sSub>
                    <m:r>
                      <a:rPr lang="en-US" altLang="zh-CN" i="1">
                        <a:latin typeface="Cambria Math" panose="02040503050406030204" pitchFamily="18" charset="0"/>
                      </a:rPr>
                      <m:t>)</m:t>
                    </m:r>
                  </m:oMath>
                </a14:m>
                <a:endParaRPr lang="en-US" altLang="zh-CN" dirty="0"/>
              </a:p>
              <a:p>
                <a:endParaRPr lang="en-US" altLang="zh-CN" dirty="0" smtClean="0"/>
              </a:p>
              <a:p>
                <a:r>
                  <a:rPr lang="en-US" altLang="zh-CN" dirty="0" smtClean="0"/>
                  <a:t>A</a:t>
                </a:r>
                <a:r>
                  <a:rPr lang="zh-CN" altLang="en-US" dirty="0" smtClean="0"/>
                  <a:t>和</a:t>
                </a:r>
                <a:r>
                  <a:rPr lang="en-US" altLang="zh-CN" dirty="0" smtClean="0"/>
                  <a:t>B</a:t>
                </a:r>
                <a:r>
                  <a:rPr lang="zh-CN" altLang="en-US" dirty="0" smtClean="0"/>
                  <a:t>的布尔积的计算方法类似于这两个矩阵的普通乘积</a:t>
                </a:r>
                <a:r>
                  <a:rPr lang="en-US" altLang="zh-CN" dirty="0" smtClean="0"/>
                  <a:t>,</a:t>
                </a:r>
                <a:r>
                  <a:rPr lang="zh-CN" altLang="en-US" dirty="0" smtClean="0"/>
                  <a:t>但用运算</a:t>
                </a:r>
                <a14:m>
                  <m:oMath xmlns:m="http://schemas.openxmlformats.org/officeDocument/2006/math">
                    <m:r>
                      <a:rPr lang="en-US" altLang="zh-CN" i="1">
                        <a:latin typeface="Cambria Math" panose="02040503050406030204" pitchFamily="18" charset="0"/>
                        <a:ea typeface="Cambria Math" panose="02040503050406030204" pitchFamily="18" charset="0"/>
                      </a:rPr>
                      <m:t>∨</m:t>
                    </m:r>
                  </m:oMath>
                </a14:m>
                <a:r>
                  <a:rPr lang="zh-CN" altLang="en-US" dirty="0" smtClean="0"/>
                  <a:t>代替加法，用</a:t>
                </a:r>
                <a14:m>
                  <m:oMath xmlns:m="http://schemas.openxmlformats.org/officeDocument/2006/math">
                    <m:r>
                      <a:rPr lang="en-US" altLang="zh-CN" i="1">
                        <a:latin typeface="Cambria Math" panose="02040503050406030204" pitchFamily="18" charset="0"/>
                        <a:ea typeface="Cambria Math" panose="02040503050406030204" pitchFamily="18" charset="0"/>
                      </a:rPr>
                      <m:t>∧</m:t>
                    </m:r>
                  </m:oMath>
                </a14:m>
                <a:r>
                  <a:rPr lang="zh-CN" altLang="en-US" dirty="0" smtClean="0"/>
                  <a:t>代替乘法</a:t>
                </a:r>
                <a:r>
                  <a:rPr lang="en-US" altLang="zh-CN" dirty="0" smtClean="0"/>
                  <a:t>.</a:t>
                </a: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rotWithShape="0">
                <a:blip r:embed="rId2"/>
                <a:stretch>
                  <a:fillRect l="-999" t="-833" r="-333"/>
                </a:stretch>
              </a:blipFill>
            </p:spPr>
            <p:txBody>
              <a:bodyPr/>
              <a:lstStyle/>
              <a:p>
                <a:r>
                  <a:rPr lang="zh-CN" altLang="en-US">
                    <a:noFill/>
                  </a:rPr>
                  <a:t> </a:t>
                </a:r>
              </a:p>
            </p:txBody>
          </p:sp>
        </mc:Fallback>
      </mc:AlternateContent>
      <p:sp>
        <p:nvSpPr>
          <p:cNvPr id="4" name="日期占位符 3"/>
          <p:cNvSpPr>
            <a:spLocks noGrp="1"/>
          </p:cNvSpPr>
          <p:nvPr>
            <p:ph type="dt" sz="half" idx="10"/>
          </p:nvPr>
        </p:nvSpPr>
        <p:spPr/>
        <p:txBody>
          <a:bodyPr/>
          <a:lstStyle/>
          <a:p>
            <a:fld id="{417B0B27-FFE1-41FC-BE89-16F4528B1180}" type="datetime1">
              <a:rPr lang="zh-CN" altLang="en-US" smtClean="0"/>
              <a:t>2025/3/14</a:t>
            </a:fld>
            <a:endParaRPr lang="zh-CN" altLang="en-US" dirty="0"/>
          </a:p>
        </p:txBody>
      </p:sp>
      <p:sp>
        <p:nvSpPr>
          <p:cNvPr id="5" name="页脚占位符 4"/>
          <p:cNvSpPr>
            <a:spLocks noGrp="1"/>
          </p:cNvSpPr>
          <p:nvPr>
            <p:ph type="ftr" sz="quarter" idx="11"/>
          </p:nvPr>
        </p:nvSpPr>
        <p:spPr/>
        <p:txBody>
          <a:bodyPr/>
          <a:lstStyle/>
          <a:p>
            <a:pPr algn="r"/>
            <a:r>
              <a:rPr lang="zh-CN" altLang="en-US" dirty="0" smtClean="0"/>
              <a:t>        华中科技大学</a:t>
            </a:r>
            <a:r>
              <a:rPr lang="en-US" altLang="zh-CN" dirty="0" smtClean="0"/>
              <a:t>NNSS</a:t>
            </a:r>
            <a:r>
              <a:rPr lang="zh-CN" altLang="en-US" dirty="0" smtClean="0"/>
              <a:t>实验室</a:t>
            </a:r>
            <a:endParaRPr lang="zh-CN" altLang="en-US" dirty="0"/>
          </a:p>
        </p:txBody>
      </p:sp>
      <p:sp>
        <p:nvSpPr>
          <p:cNvPr id="6" name="灯片编号占位符 5"/>
          <p:cNvSpPr>
            <a:spLocks noGrp="1"/>
          </p:cNvSpPr>
          <p:nvPr>
            <p:ph type="sldNum" sz="quarter" idx="12"/>
          </p:nvPr>
        </p:nvSpPr>
        <p:spPr/>
        <p:txBody>
          <a:bodyPr/>
          <a:lstStyle/>
          <a:p>
            <a:fld id="{67913A8A-9EFB-4B5F-9CCB-3D21173FAA85}" type="slidenum">
              <a:rPr lang="zh-CN" altLang="en-US" smtClean="0"/>
              <a:pPr/>
              <a:t>38</a:t>
            </a:fld>
            <a:endParaRPr lang="zh-CN" altLang="en-US" dirty="0"/>
          </a:p>
        </p:txBody>
      </p:sp>
    </p:spTree>
    <p:extLst>
      <p:ext uri="{BB962C8B-B14F-4D97-AF65-F5344CB8AC3E}">
        <p14:creationId xmlns:p14="http://schemas.microsoft.com/office/powerpoint/2010/main" val="1639815058"/>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0-1</a:t>
            </a:r>
            <a:r>
              <a:rPr lang="zh-CN" altLang="en-US" dirty="0"/>
              <a:t>矩阵</a:t>
            </a:r>
          </a:p>
        </p:txBody>
      </p:sp>
      <p:sp>
        <p:nvSpPr>
          <p:cNvPr id="3" name="内容占位符 2"/>
          <p:cNvSpPr>
            <a:spLocks noGrp="1"/>
          </p:cNvSpPr>
          <p:nvPr>
            <p:ph idx="1"/>
          </p:nvPr>
        </p:nvSpPr>
        <p:spPr/>
        <p:txBody>
          <a:bodyPr/>
          <a:lstStyle/>
          <a:p>
            <a:r>
              <a:rPr lang="zh-CN" altLang="en-US" dirty="0" smtClean="0"/>
              <a:t>例</a:t>
            </a:r>
            <a:r>
              <a:rPr lang="en-US" altLang="zh-CN" dirty="0" smtClean="0"/>
              <a:t>: </a:t>
            </a:r>
            <a:r>
              <a:rPr lang="zh-CN" altLang="en-US" dirty="0" smtClean="0"/>
              <a:t>求以下两个矩阵的布尔积</a:t>
            </a:r>
            <a:endParaRPr lang="en-US" altLang="zh-CN" dirty="0" smtClean="0"/>
          </a:p>
          <a:p>
            <a:endParaRPr lang="en-US" altLang="zh-CN" dirty="0"/>
          </a:p>
          <a:p>
            <a:endParaRPr lang="en-US" altLang="zh-CN" dirty="0" smtClean="0"/>
          </a:p>
          <a:p>
            <a:r>
              <a:rPr lang="zh-CN" altLang="en-US" dirty="0" smtClean="0"/>
              <a:t>解</a:t>
            </a:r>
            <a:r>
              <a:rPr lang="en-US" altLang="zh-CN" dirty="0" smtClean="0"/>
              <a:t>: A</a:t>
            </a:r>
            <a:r>
              <a:rPr lang="zh-CN" altLang="en-US" dirty="0" smtClean="0"/>
              <a:t>和</a:t>
            </a:r>
            <a:r>
              <a:rPr lang="en-US" altLang="zh-CN" dirty="0" smtClean="0"/>
              <a:t>B</a:t>
            </a:r>
            <a:r>
              <a:rPr lang="zh-CN" altLang="en-US" dirty="0" smtClean="0"/>
              <a:t>的布尔积为</a:t>
            </a:r>
            <a:endParaRPr lang="en-US" altLang="zh-CN" dirty="0"/>
          </a:p>
        </p:txBody>
      </p:sp>
      <p:sp>
        <p:nvSpPr>
          <p:cNvPr id="4" name="日期占位符 3"/>
          <p:cNvSpPr>
            <a:spLocks noGrp="1"/>
          </p:cNvSpPr>
          <p:nvPr>
            <p:ph type="dt" sz="half" idx="10"/>
          </p:nvPr>
        </p:nvSpPr>
        <p:spPr/>
        <p:txBody>
          <a:bodyPr/>
          <a:lstStyle/>
          <a:p>
            <a:fld id="{3C1FC1C2-320C-4BE8-8203-D4F724540C52}" type="datetime1">
              <a:rPr lang="zh-CN" altLang="en-US" smtClean="0"/>
              <a:t>2025/3/14</a:t>
            </a:fld>
            <a:endParaRPr lang="zh-CN" altLang="en-US" dirty="0"/>
          </a:p>
        </p:txBody>
      </p:sp>
      <p:sp>
        <p:nvSpPr>
          <p:cNvPr id="5" name="页脚占位符 4"/>
          <p:cNvSpPr>
            <a:spLocks noGrp="1"/>
          </p:cNvSpPr>
          <p:nvPr>
            <p:ph type="ftr" sz="quarter" idx="11"/>
          </p:nvPr>
        </p:nvSpPr>
        <p:spPr/>
        <p:txBody>
          <a:bodyPr/>
          <a:lstStyle/>
          <a:p>
            <a:pPr algn="r"/>
            <a:r>
              <a:rPr lang="zh-CN" altLang="en-US" dirty="0" smtClean="0"/>
              <a:t>        华中科技大学</a:t>
            </a:r>
            <a:r>
              <a:rPr lang="en-US" altLang="zh-CN" dirty="0" smtClean="0"/>
              <a:t>NNSS</a:t>
            </a:r>
            <a:r>
              <a:rPr lang="zh-CN" altLang="en-US" dirty="0" smtClean="0"/>
              <a:t>实验室</a:t>
            </a:r>
            <a:endParaRPr lang="zh-CN" altLang="en-US" dirty="0"/>
          </a:p>
        </p:txBody>
      </p:sp>
      <p:sp>
        <p:nvSpPr>
          <p:cNvPr id="6" name="灯片编号占位符 5"/>
          <p:cNvSpPr>
            <a:spLocks noGrp="1"/>
          </p:cNvSpPr>
          <p:nvPr>
            <p:ph type="sldNum" sz="quarter" idx="12"/>
          </p:nvPr>
        </p:nvSpPr>
        <p:spPr/>
        <p:txBody>
          <a:bodyPr/>
          <a:lstStyle/>
          <a:p>
            <a:fld id="{67913A8A-9EFB-4B5F-9CCB-3D21173FAA85}" type="slidenum">
              <a:rPr lang="zh-CN" altLang="en-US" smtClean="0"/>
              <a:pPr/>
              <a:t>39</a:t>
            </a:fld>
            <a:endParaRPr lang="zh-CN" altLang="en-US" dirty="0"/>
          </a:p>
        </p:txBody>
      </p:sp>
      <p:pic>
        <p:nvPicPr>
          <p:cNvPr id="7" name="Picture 11" descr="addin_tmp.png"/>
          <p:cNvPicPr>
            <a:picLocks noChangeAspect="1"/>
          </p:cNvPicPr>
          <p:nvPr>
            <p:custDataLst>
              <p:tags r:id="rId1"/>
            </p:custDataLst>
          </p:nvPr>
        </p:nvPicPr>
        <p:blipFill>
          <a:blip r:embed="rId7" cstate="print"/>
          <a:stretch>
            <a:fillRect/>
          </a:stretch>
        </p:blipFill>
        <p:spPr>
          <a:xfrm>
            <a:off x="5615940" y="4933914"/>
            <a:ext cx="1821180" cy="912495"/>
          </a:xfrm>
          <a:prstGeom prst="rect">
            <a:avLst/>
          </a:prstGeom>
        </p:spPr>
      </p:pic>
      <p:pic>
        <p:nvPicPr>
          <p:cNvPr id="8" name="Picture 16" descr="addin_tmp.png"/>
          <p:cNvPicPr>
            <a:picLocks noChangeAspect="1"/>
          </p:cNvPicPr>
          <p:nvPr>
            <p:custDataLst>
              <p:tags r:id="rId2"/>
            </p:custDataLst>
          </p:nvPr>
        </p:nvPicPr>
        <p:blipFill>
          <a:blip r:embed="rId8" cstate="print"/>
          <a:stretch>
            <a:fillRect/>
          </a:stretch>
        </p:blipFill>
        <p:spPr>
          <a:xfrm>
            <a:off x="2410808" y="4933914"/>
            <a:ext cx="2872740" cy="912495"/>
          </a:xfrm>
          <a:prstGeom prst="rect">
            <a:avLst/>
          </a:prstGeom>
        </p:spPr>
      </p:pic>
      <p:pic>
        <p:nvPicPr>
          <p:cNvPr id="9" name="Picture 19" descr="addin_tmp.png"/>
          <p:cNvPicPr>
            <a:picLocks noChangeAspect="1"/>
          </p:cNvPicPr>
          <p:nvPr>
            <p:custDataLst>
              <p:tags r:id="rId3"/>
            </p:custDataLst>
          </p:nvPr>
        </p:nvPicPr>
        <p:blipFill>
          <a:blip r:embed="rId9" cstate="print"/>
          <a:stretch>
            <a:fillRect/>
          </a:stretch>
        </p:blipFill>
        <p:spPr>
          <a:xfrm>
            <a:off x="1592826" y="3485535"/>
            <a:ext cx="7311390" cy="912495"/>
          </a:xfrm>
          <a:prstGeom prst="rect">
            <a:avLst/>
          </a:prstGeom>
        </p:spPr>
      </p:pic>
      <p:pic>
        <p:nvPicPr>
          <p:cNvPr id="10" name="Picture 5" descr="addin_tmp.png"/>
          <p:cNvPicPr>
            <a:picLocks noChangeAspect="1"/>
          </p:cNvPicPr>
          <p:nvPr>
            <p:custDataLst>
              <p:tags r:id="rId4"/>
            </p:custDataLst>
          </p:nvPr>
        </p:nvPicPr>
        <p:blipFill>
          <a:blip r:embed="rId10" cstate="print"/>
          <a:stretch>
            <a:fillRect/>
          </a:stretch>
        </p:blipFill>
        <p:spPr>
          <a:xfrm>
            <a:off x="1600200" y="1658306"/>
            <a:ext cx="1739265" cy="912495"/>
          </a:xfrm>
          <a:prstGeom prst="rect">
            <a:avLst/>
          </a:prstGeom>
        </p:spPr>
      </p:pic>
      <p:pic>
        <p:nvPicPr>
          <p:cNvPr id="11" name="Picture 6" descr="addin_tmp.png"/>
          <p:cNvPicPr>
            <a:picLocks noChangeAspect="1"/>
          </p:cNvPicPr>
          <p:nvPr>
            <p:custDataLst>
              <p:tags r:id="rId5"/>
            </p:custDataLst>
          </p:nvPr>
        </p:nvPicPr>
        <p:blipFill>
          <a:blip r:embed="rId11" cstate="print"/>
          <a:stretch>
            <a:fillRect/>
          </a:stretch>
        </p:blipFill>
        <p:spPr>
          <a:xfrm>
            <a:off x="3581400" y="1789748"/>
            <a:ext cx="2034540" cy="609600"/>
          </a:xfrm>
          <a:prstGeom prst="rect">
            <a:avLst/>
          </a:prstGeom>
        </p:spPr>
      </p:pic>
    </p:spTree>
    <p:extLst>
      <p:ext uri="{BB962C8B-B14F-4D97-AF65-F5344CB8AC3E}">
        <p14:creationId xmlns:p14="http://schemas.microsoft.com/office/powerpoint/2010/main" val="40618985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wipe(down)">
                                      <p:cBhvr>
                                        <p:cTn id="7" dur="500"/>
                                        <p:tgtEl>
                                          <p:spTgt spid="3">
                                            <p:txEl>
                                              <p:pRg st="3" end="3"/>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wipe(down)">
                                      <p:cBhvr>
                                        <p:cTn id="10" dur="500"/>
                                        <p:tgtEl>
                                          <p:spTgt spid="9"/>
                                        </p:tgtEl>
                                      </p:cBhvr>
                                    </p:animEffect>
                                  </p:childTnLst>
                                </p:cTn>
                              </p:par>
                              <p:par>
                                <p:cTn id="11" presetID="22" presetClass="entr" presetSubtype="4" fill="hold"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wipe(down)">
                                      <p:cBhvr>
                                        <p:cTn id="13" dur="500"/>
                                        <p:tgtEl>
                                          <p:spTgt spid="8"/>
                                        </p:tgtEl>
                                      </p:cBhvr>
                                    </p:animEffect>
                                  </p:childTnLst>
                                </p:cTn>
                              </p:par>
                              <p:par>
                                <p:cTn id="14" presetID="22" presetClass="entr" presetSubtype="4" fill="hold"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wipe(down)">
                                      <p:cBhvr>
                                        <p:cTn id="16"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0-1</a:t>
            </a:r>
            <a:r>
              <a:rPr lang="zh-CN" altLang="en-US" dirty="0"/>
              <a:t>矩阵</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zh-CN" altLang="en-US" dirty="0" smtClean="0"/>
                  <a:t>定义</a:t>
                </a:r>
                <a:r>
                  <a:rPr lang="en-US" altLang="zh-CN" dirty="0" smtClean="0"/>
                  <a:t>: </a:t>
                </a:r>
                <a:r>
                  <a:rPr lang="zh-CN" altLang="en-US" dirty="0" smtClean="0"/>
                  <a:t>令</a:t>
                </a:r>
                <a:r>
                  <a:rPr lang="en-US" altLang="zh-CN" dirty="0" smtClean="0"/>
                  <a:t>A</a:t>
                </a:r>
                <a:r>
                  <a:rPr lang="zh-CN" altLang="en-US" dirty="0" smtClean="0"/>
                  <a:t>为</a:t>
                </a:r>
                <a:r>
                  <a:rPr lang="en-US" altLang="zh-CN" dirty="0" smtClean="0"/>
                  <a:t>0-1</a:t>
                </a:r>
                <a:r>
                  <a:rPr lang="zh-CN" altLang="en-US" dirty="0" smtClean="0"/>
                  <a:t>方阵</a:t>
                </a:r>
                <a:r>
                  <a:rPr lang="en-US" altLang="zh-CN" dirty="0" smtClean="0"/>
                  <a:t>,r</a:t>
                </a:r>
                <a:r>
                  <a:rPr lang="zh-CN" altLang="en-US" dirty="0" smtClean="0"/>
                  <a:t>为正整数</a:t>
                </a:r>
                <a:r>
                  <a:rPr lang="en-US" altLang="zh-CN" dirty="0" smtClean="0"/>
                  <a:t>. </a:t>
                </a:r>
                <a:r>
                  <a:rPr lang="en-US" altLang="zh-CN" b="1" dirty="0" smtClean="0">
                    <a:solidFill>
                      <a:srgbClr val="C00000"/>
                    </a:solidFill>
                  </a:rPr>
                  <a:t>A</a:t>
                </a:r>
                <a:r>
                  <a:rPr lang="zh-CN" altLang="en-US" b="1" dirty="0" smtClean="0">
                    <a:solidFill>
                      <a:srgbClr val="C00000"/>
                    </a:solidFill>
                  </a:rPr>
                  <a:t>的</a:t>
                </a:r>
                <a:r>
                  <a:rPr lang="en-US" altLang="zh-CN" b="1" dirty="0" smtClean="0">
                    <a:solidFill>
                      <a:srgbClr val="C00000"/>
                    </a:solidFill>
                  </a:rPr>
                  <a:t>r</a:t>
                </a:r>
                <a:r>
                  <a:rPr lang="zh-CN" altLang="en-US" b="1" dirty="0" smtClean="0">
                    <a:solidFill>
                      <a:srgbClr val="C00000"/>
                    </a:solidFill>
                  </a:rPr>
                  <a:t>次布尔幂</a:t>
                </a:r>
                <a:r>
                  <a:rPr lang="zh-CN" altLang="en-US" dirty="0" smtClean="0"/>
                  <a:t>是</a:t>
                </a:r>
                <a:r>
                  <a:rPr lang="en-US" altLang="zh-CN" dirty="0" smtClean="0"/>
                  <a:t>r</a:t>
                </a:r>
                <a:r>
                  <a:rPr lang="zh-CN" altLang="en-US" dirty="0" smtClean="0"/>
                  <a:t>个</a:t>
                </a:r>
                <a:r>
                  <a:rPr lang="en-US" altLang="zh-CN" dirty="0" smtClean="0"/>
                  <a:t>A</a:t>
                </a:r>
                <a:r>
                  <a:rPr lang="zh-CN" altLang="en-US" dirty="0" smtClean="0"/>
                  <a:t>的布尔积</a:t>
                </a:r>
                <a:r>
                  <a:rPr lang="en-US" altLang="zh-CN" dirty="0" smtClean="0"/>
                  <a:t>. A</a:t>
                </a:r>
                <a:r>
                  <a:rPr lang="zh-CN" altLang="en-US" dirty="0" smtClean="0"/>
                  <a:t>的</a:t>
                </a:r>
                <a:r>
                  <a:rPr lang="en-US" altLang="zh-CN" dirty="0" smtClean="0"/>
                  <a:t>r</a:t>
                </a:r>
                <a:r>
                  <a:rPr lang="zh-CN" altLang="en-US" dirty="0" smtClean="0"/>
                  <a:t>次布尔幂记作</a:t>
                </a:r>
                <a14:m>
                  <m:oMath xmlns:m="http://schemas.openxmlformats.org/officeDocument/2006/math">
                    <m:sSup>
                      <m:sSupPr>
                        <m:ctrlPr>
                          <a:rPr lang="en-US" altLang="zh-CN" i="1" smtClean="0">
                            <a:latin typeface="Cambria Math" panose="02040503050406030204" pitchFamily="18" charset="0"/>
                          </a:rPr>
                        </m:ctrlPr>
                      </m:sSupPr>
                      <m:e>
                        <m:r>
                          <a:rPr lang="en-US" altLang="zh-CN" b="0" i="1" smtClean="0">
                            <a:latin typeface="Cambria Math" panose="02040503050406030204" pitchFamily="18" charset="0"/>
                          </a:rPr>
                          <m:t>𝐴</m:t>
                        </m:r>
                      </m:e>
                      <m:sup>
                        <m:d>
                          <m:dPr>
                            <m:begChr m:val="["/>
                            <m:endChr m:val="]"/>
                            <m:ctrlPr>
                              <a:rPr lang="en-US" altLang="zh-CN" i="1" smtClean="0">
                                <a:latin typeface="Cambria Math" panose="02040503050406030204" pitchFamily="18" charset="0"/>
                              </a:rPr>
                            </m:ctrlPr>
                          </m:dPr>
                          <m:e>
                            <m:r>
                              <a:rPr lang="en-US" altLang="zh-CN" b="0" i="1" smtClean="0">
                                <a:latin typeface="Cambria Math" panose="02040503050406030204" pitchFamily="18" charset="0"/>
                              </a:rPr>
                              <m:t>𝑟</m:t>
                            </m:r>
                          </m:e>
                        </m:d>
                      </m:sup>
                    </m:sSup>
                  </m:oMath>
                </a14:m>
                <a:r>
                  <a:rPr lang="en-US" altLang="zh-CN" dirty="0" smtClean="0"/>
                  <a:t>, </a:t>
                </a:r>
                <a:r>
                  <a:rPr lang="zh-CN" altLang="en-US" dirty="0" smtClean="0"/>
                  <a:t>因此</a:t>
                </a:r>
                <a:endParaRPr lang="en-US" altLang="zh-CN" dirty="0" smtClean="0"/>
              </a:p>
              <a:p>
                <a:pPr marL="0" indent="0">
                  <a:buNone/>
                </a:pPr>
                <a14:m>
                  <m:oMathPara xmlns:m="http://schemas.openxmlformats.org/officeDocument/2006/math">
                    <m:oMathParaPr>
                      <m:jc m:val="centerGroup"/>
                    </m:oMathParaPr>
                    <m:oMath xmlns:m="http://schemas.openxmlformats.org/officeDocument/2006/math">
                      <m:sSup>
                        <m:sSupPr>
                          <m:ctrlPr>
                            <a:rPr lang="en-US" altLang="zh-CN" i="1">
                              <a:latin typeface="Cambria Math" panose="02040503050406030204" pitchFamily="18" charset="0"/>
                            </a:rPr>
                          </m:ctrlPr>
                        </m:sSupPr>
                        <m:e>
                          <m:r>
                            <a:rPr lang="en-US" altLang="zh-CN" i="1">
                              <a:latin typeface="Cambria Math" panose="02040503050406030204" pitchFamily="18" charset="0"/>
                            </a:rPr>
                            <m:t>𝐴</m:t>
                          </m:r>
                        </m:e>
                        <m:sup>
                          <m:d>
                            <m:dPr>
                              <m:begChr m:val="["/>
                              <m:endChr m:val="]"/>
                              <m:ctrlPr>
                                <a:rPr lang="en-US" altLang="zh-CN" i="1">
                                  <a:latin typeface="Cambria Math" panose="02040503050406030204" pitchFamily="18" charset="0"/>
                                </a:rPr>
                              </m:ctrlPr>
                            </m:dPr>
                            <m:e>
                              <m:r>
                                <a:rPr lang="en-US" altLang="zh-CN" i="1">
                                  <a:latin typeface="Cambria Math" panose="02040503050406030204" pitchFamily="18" charset="0"/>
                                </a:rPr>
                                <m:t>𝑟</m:t>
                              </m:r>
                            </m:e>
                          </m:d>
                        </m:sup>
                      </m:sSup>
                      <m:r>
                        <a:rPr lang="en-US" altLang="zh-CN" b="0" i="1" smtClean="0">
                          <a:latin typeface="Cambria Math" panose="02040503050406030204" pitchFamily="18" charset="0"/>
                        </a:rPr>
                        <m:t>=</m:t>
                      </m:r>
                      <m:r>
                        <a:rPr lang="en-US" altLang="zh-CN" b="0" i="1" smtClean="0">
                          <a:latin typeface="Cambria Math" panose="02040503050406030204" pitchFamily="18" charset="0"/>
                        </a:rPr>
                        <m:t>𝐴</m:t>
                      </m:r>
                      <m:r>
                        <a:rPr lang="en-US" altLang="zh-CN"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𝐴</m:t>
                      </m:r>
                      <m:r>
                        <a:rPr lang="en-US" altLang="zh-CN"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𝐴</m:t>
                      </m:r>
                      <m:r>
                        <a:rPr lang="en-US" altLang="zh-CN" i="1">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m:t>
                      </m:r>
                      <m:r>
                        <a:rPr lang="en-US" altLang="zh-CN"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𝐴</m:t>
                      </m:r>
                    </m:oMath>
                  </m:oMathPara>
                </a14:m>
                <a:endParaRPr lang="en-US" altLang="zh-CN" dirty="0" smtClean="0"/>
              </a:p>
              <a:p>
                <a:pPr marL="0" indent="0">
                  <a:buNone/>
                </a:pPr>
                <a:endParaRPr lang="en-US" altLang="zh-CN" dirty="0"/>
              </a:p>
              <a:p>
                <a:pPr marL="0" indent="0">
                  <a:buNone/>
                </a:pPr>
                <a:endParaRPr lang="en-US" altLang="zh-CN" dirty="0" smtClean="0"/>
              </a:p>
              <a:p>
                <a:pPr marL="0" indent="0">
                  <a:buNone/>
                </a:pPr>
                <a:r>
                  <a:rPr lang="zh-CN" altLang="en-US" dirty="0" smtClean="0"/>
                  <a:t>   其中我们定义</a:t>
                </a:r>
                <a14:m>
                  <m:oMath xmlns:m="http://schemas.openxmlformats.org/officeDocument/2006/math">
                    <m:sSup>
                      <m:sSupPr>
                        <m:ctrlPr>
                          <a:rPr lang="en-US" altLang="zh-CN" i="1">
                            <a:latin typeface="Cambria Math" panose="02040503050406030204" pitchFamily="18" charset="0"/>
                          </a:rPr>
                        </m:ctrlPr>
                      </m:sSupPr>
                      <m:e>
                        <m:r>
                          <a:rPr lang="en-US" altLang="zh-CN" i="1">
                            <a:latin typeface="Cambria Math" panose="02040503050406030204" pitchFamily="18" charset="0"/>
                          </a:rPr>
                          <m:t>𝐴</m:t>
                        </m:r>
                      </m:e>
                      <m:sup>
                        <m:d>
                          <m:dPr>
                            <m:begChr m:val="["/>
                            <m:endChr m:val="]"/>
                            <m:ctrlPr>
                              <a:rPr lang="en-US" altLang="zh-CN" i="1">
                                <a:latin typeface="Cambria Math" panose="02040503050406030204" pitchFamily="18" charset="0"/>
                              </a:rPr>
                            </m:ctrlPr>
                          </m:dPr>
                          <m:e>
                            <m:r>
                              <a:rPr lang="en-US" altLang="zh-CN" b="0" i="1" smtClean="0">
                                <a:latin typeface="Cambria Math" panose="02040503050406030204" pitchFamily="18" charset="0"/>
                              </a:rPr>
                              <m:t>0</m:t>
                            </m:r>
                          </m:e>
                        </m:d>
                      </m:sup>
                    </m:sSup>
                    <m:r>
                      <a:rPr lang="en-US" altLang="zh-CN" i="1">
                        <a:latin typeface="Cambria Math" panose="02040503050406030204" pitchFamily="18" charset="0"/>
                      </a:rPr>
                      <m:t>=</m:t>
                    </m:r>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𝐼</m:t>
                        </m:r>
                      </m:e>
                      <m:sub>
                        <m:r>
                          <a:rPr lang="en-US" altLang="zh-CN" b="0" i="1" smtClean="0">
                            <a:latin typeface="Cambria Math" panose="02040503050406030204" pitchFamily="18" charset="0"/>
                          </a:rPr>
                          <m:t>𝑛</m:t>
                        </m:r>
                      </m:sub>
                    </m:sSub>
                  </m:oMath>
                </a14:m>
                <a:endParaRPr lang="en-US" altLang="zh-CN" dirty="0" smtClean="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rotWithShape="0">
                <a:blip r:embed="rId2"/>
                <a:stretch>
                  <a:fillRect l="-999" t="-1310"/>
                </a:stretch>
              </a:blipFill>
            </p:spPr>
            <p:txBody>
              <a:bodyPr/>
              <a:lstStyle/>
              <a:p>
                <a:r>
                  <a:rPr lang="zh-CN" altLang="en-US">
                    <a:noFill/>
                  </a:rPr>
                  <a:t> </a:t>
                </a:r>
              </a:p>
            </p:txBody>
          </p:sp>
        </mc:Fallback>
      </mc:AlternateContent>
      <p:sp>
        <p:nvSpPr>
          <p:cNvPr id="4" name="日期占位符 3"/>
          <p:cNvSpPr>
            <a:spLocks noGrp="1"/>
          </p:cNvSpPr>
          <p:nvPr>
            <p:ph type="dt" sz="half" idx="10"/>
          </p:nvPr>
        </p:nvSpPr>
        <p:spPr/>
        <p:txBody>
          <a:bodyPr/>
          <a:lstStyle/>
          <a:p>
            <a:fld id="{1A10ACC0-3595-4238-9435-CCD41C3D0978}" type="datetime1">
              <a:rPr lang="zh-CN" altLang="en-US" smtClean="0"/>
              <a:t>2025/3/14</a:t>
            </a:fld>
            <a:endParaRPr lang="zh-CN" altLang="en-US" dirty="0"/>
          </a:p>
        </p:txBody>
      </p:sp>
      <p:sp>
        <p:nvSpPr>
          <p:cNvPr id="5" name="页脚占位符 4"/>
          <p:cNvSpPr>
            <a:spLocks noGrp="1"/>
          </p:cNvSpPr>
          <p:nvPr>
            <p:ph type="ftr" sz="quarter" idx="11"/>
          </p:nvPr>
        </p:nvSpPr>
        <p:spPr/>
        <p:txBody>
          <a:bodyPr/>
          <a:lstStyle/>
          <a:p>
            <a:pPr algn="r"/>
            <a:r>
              <a:rPr lang="zh-CN" altLang="en-US" dirty="0" smtClean="0"/>
              <a:t>        华中科技大学</a:t>
            </a:r>
            <a:r>
              <a:rPr lang="en-US" altLang="zh-CN" dirty="0" smtClean="0"/>
              <a:t>NNSS</a:t>
            </a:r>
            <a:r>
              <a:rPr lang="zh-CN" altLang="en-US" dirty="0" smtClean="0"/>
              <a:t>实验室</a:t>
            </a:r>
            <a:endParaRPr lang="zh-CN" altLang="en-US" dirty="0"/>
          </a:p>
        </p:txBody>
      </p:sp>
      <p:sp>
        <p:nvSpPr>
          <p:cNvPr id="6" name="灯片编号占位符 5"/>
          <p:cNvSpPr>
            <a:spLocks noGrp="1"/>
          </p:cNvSpPr>
          <p:nvPr>
            <p:ph type="sldNum" sz="quarter" idx="12"/>
          </p:nvPr>
        </p:nvSpPr>
        <p:spPr/>
        <p:txBody>
          <a:bodyPr/>
          <a:lstStyle/>
          <a:p>
            <a:fld id="{67913A8A-9EFB-4B5F-9CCB-3D21173FAA85}" type="slidenum">
              <a:rPr lang="zh-CN" altLang="en-US" smtClean="0"/>
              <a:pPr/>
              <a:t>40</a:t>
            </a:fld>
            <a:endParaRPr lang="zh-CN" altLang="en-US" dirty="0"/>
          </a:p>
        </p:txBody>
      </p:sp>
      <p:sp>
        <p:nvSpPr>
          <p:cNvPr id="8" name="左大括号 7"/>
          <p:cNvSpPr/>
          <p:nvPr/>
        </p:nvSpPr>
        <p:spPr>
          <a:xfrm rot="16200000">
            <a:off x="6510898" y="1413903"/>
            <a:ext cx="160805" cy="2362200"/>
          </a:xfrm>
          <a:prstGeom prst="leftBrace">
            <a:avLst>
              <a:gd name="adj1" fmla="val 25000"/>
              <a:gd name="adj2" fmla="val 50000"/>
            </a:avLst>
          </a:prstGeom>
          <a:ln w="25400"/>
        </p:spPr>
        <p:style>
          <a:lnRef idx="1">
            <a:schemeClr val="dk1"/>
          </a:lnRef>
          <a:fillRef idx="0">
            <a:schemeClr val="dk1"/>
          </a:fillRef>
          <a:effectRef idx="0">
            <a:schemeClr val="dk1"/>
          </a:effectRef>
          <a:fontRef idx="minor">
            <a:schemeClr val="tx1"/>
          </a:fontRef>
        </p:style>
        <p:txBody>
          <a:bodyPr rtlCol="0" anchor="ctr"/>
          <a:lstStyle/>
          <a:p>
            <a:pPr algn="ctr"/>
            <a:endParaRPr lang="zh-CN" altLang="en-US"/>
          </a:p>
        </p:txBody>
      </p:sp>
      <p:sp>
        <p:nvSpPr>
          <p:cNvPr id="9" name="文本框 8"/>
          <p:cNvSpPr txBox="1"/>
          <p:nvPr/>
        </p:nvSpPr>
        <p:spPr>
          <a:xfrm>
            <a:off x="6086972" y="2822356"/>
            <a:ext cx="934871" cy="523220"/>
          </a:xfrm>
          <a:prstGeom prst="rect">
            <a:avLst/>
          </a:prstGeom>
          <a:noFill/>
        </p:spPr>
        <p:txBody>
          <a:bodyPr wrap="none" rtlCol="0">
            <a:spAutoFit/>
          </a:bodyPr>
          <a:lstStyle/>
          <a:p>
            <a:r>
              <a:rPr lang="en-US" altLang="zh-CN" sz="2800" dirty="0">
                <a:latin typeface="微软雅黑" panose="020B0503020204020204" pitchFamily="34" charset="-122"/>
                <a:ea typeface="微软雅黑" panose="020B0503020204020204" pitchFamily="34" charset="-122"/>
              </a:rPr>
              <a:t>r</a:t>
            </a:r>
            <a:r>
              <a:rPr lang="zh-CN" altLang="en-US" sz="2800" dirty="0" smtClean="0">
                <a:latin typeface="微软雅黑" panose="020B0503020204020204" pitchFamily="34" charset="-122"/>
                <a:ea typeface="微软雅黑" panose="020B0503020204020204" pitchFamily="34" charset="-122"/>
              </a:rPr>
              <a:t>个</a:t>
            </a:r>
            <a:r>
              <a:rPr lang="en-US" altLang="zh-CN" sz="2800" dirty="0" smtClean="0">
                <a:latin typeface="微软雅黑" panose="020B0503020204020204" pitchFamily="34" charset="-122"/>
                <a:ea typeface="微软雅黑" panose="020B0503020204020204" pitchFamily="34" charset="-122"/>
              </a:rPr>
              <a:t>A</a:t>
            </a:r>
            <a:endParaRPr lang="zh-CN" altLang="en-US" sz="28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809100020"/>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0-1</a:t>
            </a:r>
            <a:r>
              <a:rPr lang="zh-CN" altLang="en-US" dirty="0"/>
              <a:t>矩阵</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zh-CN" altLang="en-US" dirty="0" smtClean="0"/>
                  <a:t>例</a:t>
                </a:r>
                <a:r>
                  <a:rPr lang="en-US" altLang="zh-CN" dirty="0" smtClean="0"/>
                  <a:t>: </a:t>
                </a:r>
                <a:r>
                  <a:rPr lang="zh-CN" altLang="en-US" dirty="0" smtClean="0"/>
                  <a:t>求对所有正整数求</a:t>
                </a:r>
                <a14:m>
                  <m:oMath xmlns:m="http://schemas.openxmlformats.org/officeDocument/2006/math">
                    <m:sSup>
                      <m:sSupPr>
                        <m:ctrlPr>
                          <a:rPr lang="en-US" altLang="zh-CN" i="1">
                            <a:latin typeface="Cambria Math" panose="02040503050406030204" pitchFamily="18" charset="0"/>
                          </a:rPr>
                        </m:ctrlPr>
                      </m:sSupPr>
                      <m:e>
                        <m:r>
                          <a:rPr lang="en-US" altLang="zh-CN" i="1">
                            <a:latin typeface="Cambria Math" panose="02040503050406030204" pitchFamily="18" charset="0"/>
                          </a:rPr>
                          <m:t>𝐴</m:t>
                        </m:r>
                      </m:e>
                      <m:sup>
                        <m:d>
                          <m:dPr>
                            <m:begChr m:val="["/>
                            <m:endChr m:val="]"/>
                            <m:ctrlPr>
                              <a:rPr lang="en-US" altLang="zh-CN" i="1">
                                <a:latin typeface="Cambria Math" panose="02040503050406030204" pitchFamily="18" charset="0"/>
                              </a:rPr>
                            </m:ctrlPr>
                          </m:dPr>
                          <m:e>
                            <m:r>
                              <a:rPr lang="en-US" altLang="zh-CN" b="0" i="1" smtClean="0">
                                <a:latin typeface="Cambria Math" panose="02040503050406030204" pitchFamily="18" charset="0"/>
                              </a:rPr>
                              <m:t>𝑛</m:t>
                            </m:r>
                          </m:e>
                        </m:d>
                      </m:sup>
                    </m:sSup>
                  </m:oMath>
                </a14:m>
                <a:endParaRPr lang="en-US" altLang="zh-CN" dirty="0"/>
              </a:p>
              <a:p>
                <a:endParaRPr lang="en-US" altLang="zh-CN" dirty="0"/>
              </a:p>
              <a:p>
                <a:r>
                  <a:rPr lang="zh-CN" altLang="en-US" dirty="0" smtClean="0"/>
                  <a:t>解</a:t>
                </a:r>
                <a:r>
                  <a:rPr lang="en-US" altLang="zh-CN" dirty="0" smtClean="0"/>
                  <a:t>: </a:t>
                </a:r>
                <a14:m>
                  <m:oMath xmlns:m="http://schemas.openxmlformats.org/officeDocument/2006/math">
                    <m:sSup>
                      <m:sSupPr>
                        <m:ctrlPr>
                          <a:rPr lang="en-US" altLang="zh-CN" i="1" smtClean="0">
                            <a:latin typeface="Cambria Math" panose="02040503050406030204" pitchFamily="18" charset="0"/>
                          </a:rPr>
                        </m:ctrlPr>
                      </m:sSupPr>
                      <m:e>
                        <m:r>
                          <a:rPr lang="en-US" altLang="zh-CN" b="0" i="1" smtClean="0">
                            <a:latin typeface="Cambria Math" panose="02040503050406030204" pitchFamily="18" charset="0"/>
                          </a:rPr>
                          <m:t>𝐴</m:t>
                        </m:r>
                      </m:e>
                      <m:sup>
                        <m:r>
                          <a:rPr lang="en-US" altLang="zh-CN" b="0" i="1" smtClean="0">
                            <a:latin typeface="Cambria Math" panose="02040503050406030204" pitchFamily="18" charset="0"/>
                          </a:rPr>
                          <m:t>[2]</m:t>
                        </m:r>
                      </m:sup>
                    </m:sSup>
                    <m:r>
                      <a:rPr lang="en-US" altLang="zh-CN" b="0" i="1" smtClean="0">
                        <a:latin typeface="Cambria Math" panose="02040503050406030204" pitchFamily="18" charset="0"/>
                      </a:rPr>
                      <m:t>=</m:t>
                    </m:r>
                    <m:r>
                      <a:rPr lang="en-US" altLang="zh-CN" b="0" i="1" smtClean="0">
                        <a:latin typeface="Cambria Math" panose="02040503050406030204" pitchFamily="18" charset="0"/>
                      </a:rPr>
                      <m:t>𝐴</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𝐴</m:t>
                    </m:r>
                    <m:r>
                      <a:rPr lang="en-US" altLang="zh-CN" b="0" i="1" smtClean="0">
                        <a:latin typeface="Cambria Math" panose="02040503050406030204" pitchFamily="18" charset="0"/>
                        <a:ea typeface="Cambria Math" panose="02040503050406030204" pitchFamily="18" charset="0"/>
                      </a:rPr>
                      <m:t>=</m:t>
                    </m:r>
                    <m:d>
                      <m:dPr>
                        <m:begChr m:val="["/>
                        <m:endChr m:val="]"/>
                        <m:ctrlPr>
                          <a:rPr lang="en-US" altLang="zh-CN" b="0" i="1" smtClean="0">
                            <a:latin typeface="Cambria Math" panose="02040503050406030204" pitchFamily="18" charset="0"/>
                            <a:ea typeface="Cambria Math" panose="02040503050406030204" pitchFamily="18" charset="0"/>
                          </a:rPr>
                        </m:ctrlPr>
                      </m:dPr>
                      <m:e>
                        <m:m>
                          <m:mPr>
                            <m:mcs>
                              <m:mc>
                                <m:mcPr>
                                  <m:count m:val="3"/>
                                  <m:mcJc m:val="center"/>
                                </m:mcPr>
                              </m:mc>
                            </m:mcs>
                            <m:ctrlPr>
                              <a:rPr lang="en-US" altLang="zh-CN" i="1">
                                <a:latin typeface="Cambria Math" panose="02040503050406030204" pitchFamily="18" charset="0"/>
                                <a:ea typeface="Cambria Math" panose="02040503050406030204" pitchFamily="18" charset="0"/>
                              </a:rPr>
                            </m:ctrlPr>
                          </m:mPr>
                          <m:mr>
                            <m:e>
                              <m:r>
                                <m:rPr>
                                  <m:brk m:alnAt="7"/>
                                </m:rPr>
                                <a:rPr lang="en-US" altLang="zh-CN" i="1">
                                  <a:latin typeface="Cambria Math" panose="02040503050406030204" pitchFamily="18" charset="0"/>
                                  <a:ea typeface="Cambria Math" panose="02040503050406030204" pitchFamily="18" charset="0"/>
                                </a:rPr>
                                <m:t>1</m:t>
                              </m:r>
                            </m:e>
                            <m:e>
                              <m:r>
                                <a:rPr lang="en-US" altLang="zh-CN" i="1">
                                  <a:latin typeface="Cambria Math" panose="02040503050406030204" pitchFamily="18" charset="0"/>
                                  <a:ea typeface="Cambria Math" panose="02040503050406030204" pitchFamily="18" charset="0"/>
                                </a:rPr>
                                <m:t>1</m:t>
                              </m:r>
                            </m:e>
                            <m:e>
                              <m:r>
                                <a:rPr lang="en-US" altLang="zh-CN" i="1">
                                  <a:latin typeface="Cambria Math" panose="02040503050406030204" pitchFamily="18" charset="0"/>
                                  <a:ea typeface="Cambria Math" panose="02040503050406030204" pitchFamily="18" charset="0"/>
                                </a:rPr>
                                <m:t>0</m:t>
                              </m:r>
                            </m:e>
                          </m:mr>
                          <m:mr>
                            <m:e>
                              <m:r>
                                <a:rPr lang="en-US" altLang="zh-CN" i="1">
                                  <a:latin typeface="Cambria Math" panose="02040503050406030204" pitchFamily="18" charset="0"/>
                                  <a:ea typeface="Cambria Math" panose="02040503050406030204" pitchFamily="18" charset="0"/>
                                </a:rPr>
                                <m:t>0</m:t>
                              </m:r>
                            </m:e>
                            <m:e>
                              <m:r>
                                <a:rPr lang="en-US" altLang="zh-CN" i="1">
                                  <a:latin typeface="Cambria Math" panose="02040503050406030204" pitchFamily="18" charset="0"/>
                                  <a:ea typeface="Cambria Math" panose="02040503050406030204" pitchFamily="18" charset="0"/>
                                </a:rPr>
                                <m:t>0</m:t>
                              </m:r>
                            </m:e>
                            <m:e>
                              <m:r>
                                <a:rPr lang="en-US" altLang="zh-CN" i="1">
                                  <a:latin typeface="Cambria Math" panose="02040503050406030204" pitchFamily="18" charset="0"/>
                                  <a:ea typeface="Cambria Math" panose="02040503050406030204" pitchFamily="18" charset="0"/>
                                </a:rPr>
                                <m:t>1</m:t>
                              </m:r>
                            </m:e>
                          </m:mr>
                          <m:mr>
                            <m:e>
                              <m:r>
                                <a:rPr lang="en-US" altLang="zh-CN" i="1">
                                  <a:latin typeface="Cambria Math" panose="02040503050406030204" pitchFamily="18" charset="0"/>
                                  <a:ea typeface="Cambria Math" panose="02040503050406030204" pitchFamily="18" charset="0"/>
                                </a:rPr>
                                <m:t>1</m:t>
                              </m:r>
                            </m:e>
                            <m:e>
                              <m:r>
                                <a:rPr lang="en-US" altLang="zh-CN" i="1">
                                  <a:latin typeface="Cambria Math" panose="02040503050406030204" pitchFamily="18" charset="0"/>
                                  <a:ea typeface="Cambria Math" panose="02040503050406030204" pitchFamily="18" charset="0"/>
                                </a:rPr>
                                <m:t>0</m:t>
                              </m:r>
                            </m:e>
                            <m:e>
                              <m:r>
                                <a:rPr lang="en-US" altLang="zh-CN" i="1">
                                  <a:latin typeface="Cambria Math" panose="02040503050406030204" pitchFamily="18" charset="0"/>
                                  <a:ea typeface="Cambria Math" panose="02040503050406030204" pitchFamily="18" charset="0"/>
                                </a:rPr>
                                <m:t>1</m:t>
                              </m:r>
                            </m:e>
                          </m:mr>
                        </m:m>
                      </m:e>
                    </m:d>
                    <m:r>
                      <a:rPr lang="en-US" altLang="zh-CN" b="0" i="1" smtClean="0">
                        <a:latin typeface="Cambria Math" panose="02040503050406030204" pitchFamily="18" charset="0"/>
                        <a:ea typeface="Cambria Math" panose="02040503050406030204" pitchFamily="18" charset="0"/>
                      </a:rPr>
                      <m:t>                  </m:t>
                    </m:r>
                    <m:sSup>
                      <m:sSupPr>
                        <m:ctrlPr>
                          <a:rPr lang="en-US" altLang="zh-CN" i="1">
                            <a:latin typeface="Cambria Math" panose="02040503050406030204" pitchFamily="18" charset="0"/>
                          </a:rPr>
                        </m:ctrlPr>
                      </m:sSupPr>
                      <m:e>
                        <m:r>
                          <a:rPr lang="en-US" altLang="zh-CN" i="1">
                            <a:latin typeface="Cambria Math" panose="02040503050406030204" pitchFamily="18" charset="0"/>
                          </a:rPr>
                          <m:t>𝐴</m:t>
                        </m:r>
                      </m:e>
                      <m:sup>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3</m:t>
                            </m:r>
                          </m:e>
                        </m:d>
                      </m:sup>
                    </m:sSup>
                    <m:r>
                      <a:rPr lang="en-US" altLang="zh-CN" i="1">
                        <a:latin typeface="Cambria Math" panose="02040503050406030204" pitchFamily="18" charset="0"/>
                      </a:rPr>
                      <m:t>=</m:t>
                    </m:r>
                    <m:sSup>
                      <m:sSupPr>
                        <m:ctrlPr>
                          <a:rPr lang="en-US" altLang="zh-CN" i="1">
                            <a:latin typeface="Cambria Math" panose="02040503050406030204" pitchFamily="18" charset="0"/>
                          </a:rPr>
                        </m:ctrlPr>
                      </m:sSupPr>
                      <m:e>
                        <m:r>
                          <a:rPr lang="en-US" altLang="zh-CN" i="1">
                            <a:latin typeface="Cambria Math" panose="02040503050406030204" pitchFamily="18" charset="0"/>
                          </a:rPr>
                          <m:t>𝐴</m:t>
                        </m:r>
                      </m:e>
                      <m:sup>
                        <m:d>
                          <m:dPr>
                            <m:begChr m:val="["/>
                            <m:endChr m:val="]"/>
                            <m:ctrlPr>
                              <a:rPr lang="en-US" altLang="zh-CN" i="1">
                                <a:latin typeface="Cambria Math" panose="02040503050406030204" pitchFamily="18" charset="0"/>
                              </a:rPr>
                            </m:ctrlPr>
                          </m:dPr>
                          <m:e>
                            <m:r>
                              <a:rPr lang="en-US" altLang="zh-CN" i="1">
                                <a:latin typeface="Cambria Math" panose="02040503050406030204" pitchFamily="18" charset="0"/>
                              </a:rPr>
                              <m:t>2</m:t>
                            </m:r>
                          </m:e>
                        </m:d>
                      </m:sup>
                    </m:sSup>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𝐴</m:t>
                    </m:r>
                    <m:r>
                      <a:rPr lang="en-US" altLang="zh-CN" i="1">
                        <a:latin typeface="Cambria Math" panose="02040503050406030204" pitchFamily="18" charset="0"/>
                        <a:ea typeface="Cambria Math" panose="02040503050406030204" pitchFamily="18" charset="0"/>
                      </a:rPr>
                      <m:t>=</m:t>
                    </m:r>
                    <m:d>
                      <m:dPr>
                        <m:begChr m:val="["/>
                        <m:endChr m:val="]"/>
                        <m:ctrlPr>
                          <a:rPr lang="en-US" altLang="zh-CN" i="1">
                            <a:latin typeface="Cambria Math" panose="02040503050406030204" pitchFamily="18" charset="0"/>
                            <a:ea typeface="Cambria Math" panose="02040503050406030204" pitchFamily="18" charset="0"/>
                          </a:rPr>
                        </m:ctrlPr>
                      </m:dPr>
                      <m:e>
                        <m:m>
                          <m:mPr>
                            <m:mcs>
                              <m:mc>
                                <m:mcPr>
                                  <m:count m:val="3"/>
                                  <m:mcJc m:val="center"/>
                                </m:mcPr>
                              </m:mc>
                            </m:mcs>
                            <m:ctrlPr>
                              <a:rPr lang="en-US" altLang="zh-CN" i="1">
                                <a:latin typeface="Cambria Math" panose="02040503050406030204" pitchFamily="18" charset="0"/>
                                <a:ea typeface="Cambria Math" panose="02040503050406030204" pitchFamily="18" charset="0"/>
                              </a:rPr>
                            </m:ctrlPr>
                          </m:mPr>
                          <m:mr>
                            <m:e>
                              <m:r>
                                <m:rPr>
                                  <m:brk m:alnAt="7"/>
                                </m:rPr>
                                <a:rPr lang="en-US" altLang="zh-CN" i="1">
                                  <a:latin typeface="Cambria Math" panose="02040503050406030204" pitchFamily="18" charset="0"/>
                                  <a:ea typeface="Cambria Math" panose="02040503050406030204" pitchFamily="18" charset="0"/>
                                </a:rPr>
                                <m:t>1</m:t>
                              </m:r>
                            </m:e>
                            <m:e>
                              <m:r>
                                <a:rPr lang="en-US" altLang="zh-CN" b="0" i="1" smtClean="0">
                                  <a:latin typeface="Cambria Math" panose="02040503050406030204" pitchFamily="18" charset="0"/>
                                  <a:ea typeface="Cambria Math" panose="02040503050406030204" pitchFamily="18" charset="0"/>
                                </a:rPr>
                                <m:t>0</m:t>
                              </m:r>
                            </m:e>
                            <m:e>
                              <m:r>
                                <a:rPr lang="en-US" altLang="zh-CN" b="0" i="1" smtClean="0">
                                  <a:latin typeface="Cambria Math" panose="02040503050406030204" pitchFamily="18" charset="0"/>
                                  <a:ea typeface="Cambria Math" panose="02040503050406030204" pitchFamily="18" charset="0"/>
                                </a:rPr>
                                <m:t>1</m:t>
                              </m:r>
                            </m:e>
                          </m:mr>
                          <m:mr>
                            <m:e>
                              <m:r>
                                <a:rPr lang="en-US" altLang="zh-CN" b="0" i="1" smtClean="0">
                                  <a:latin typeface="Cambria Math" panose="02040503050406030204" pitchFamily="18" charset="0"/>
                                  <a:ea typeface="Cambria Math" panose="02040503050406030204" pitchFamily="18" charset="0"/>
                                </a:rPr>
                                <m:t>1</m:t>
                              </m:r>
                            </m:e>
                            <m:e>
                              <m:r>
                                <a:rPr lang="en-US" altLang="zh-CN" b="0" i="1" smtClean="0">
                                  <a:latin typeface="Cambria Math" panose="02040503050406030204" pitchFamily="18" charset="0"/>
                                  <a:ea typeface="Cambria Math" panose="02040503050406030204" pitchFamily="18" charset="0"/>
                                </a:rPr>
                                <m:t>1</m:t>
                              </m:r>
                            </m:e>
                            <m:e>
                              <m:r>
                                <a:rPr lang="en-US" altLang="zh-CN" b="0" i="1" smtClean="0">
                                  <a:latin typeface="Cambria Math" panose="02040503050406030204" pitchFamily="18" charset="0"/>
                                  <a:ea typeface="Cambria Math" panose="02040503050406030204" pitchFamily="18" charset="0"/>
                                </a:rPr>
                                <m:t>0</m:t>
                              </m:r>
                            </m:e>
                          </m:mr>
                          <m:mr>
                            <m:e>
                              <m:r>
                                <a:rPr lang="en-US" altLang="zh-CN" i="1">
                                  <a:latin typeface="Cambria Math" panose="02040503050406030204" pitchFamily="18" charset="0"/>
                                  <a:ea typeface="Cambria Math" panose="02040503050406030204" pitchFamily="18" charset="0"/>
                                </a:rPr>
                                <m:t>1</m:t>
                              </m:r>
                            </m:e>
                            <m:e>
                              <m:r>
                                <a:rPr lang="en-US" altLang="zh-CN" b="0" i="1" smtClean="0">
                                  <a:latin typeface="Cambria Math" panose="02040503050406030204" pitchFamily="18" charset="0"/>
                                  <a:ea typeface="Cambria Math" panose="02040503050406030204" pitchFamily="18" charset="0"/>
                                </a:rPr>
                                <m:t>1</m:t>
                              </m:r>
                            </m:e>
                            <m:e>
                              <m:r>
                                <a:rPr lang="en-US" altLang="zh-CN" i="1">
                                  <a:latin typeface="Cambria Math" panose="02040503050406030204" pitchFamily="18" charset="0"/>
                                  <a:ea typeface="Cambria Math" panose="02040503050406030204" pitchFamily="18" charset="0"/>
                                </a:rPr>
                                <m:t>1</m:t>
                              </m:r>
                            </m:e>
                          </m:mr>
                        </m:m>
                      </m:e>
                    </m:d>
                  </m:oMath>
                </a14:m>
                <a:endParaRPr lang="en-US" altLang="zh-CN" i="1" dirty="0" smtClean="0">
                  <a:latin typeface="Cambria Math" panose="02040503050406030204" pitchFamily="18" charset="0"/>
                  <a:ea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sSup>
                        <m:sSupPr>
                          <m:ctrlPr>
                            <a:rPr lang="en-US" altLang="zh-CN" i="1">
                              <a:latin typeface="Cambria Math" panose="02040503050406030204" pitchFamily="18" charset="0"/>
                            </a:rPr>
                          </m:ctrlPr>
                        </m:sSupPr>
                        <m:e>
                          <m:r>
                            <a:rPr lang="en-US" altLang="zh-CN" i="1">
                              <a:latin typeface="Cambria Math" panose="02040503050406030204" pitchFamily="18" charset="0"/>
                            </a:rPr>
                            <m:t>𝐴</m:t>
                          </m:r>
                        </m:e>
                        <m:sup>
                          <m:r>
                            <a:rPr lang="en-US" altLang="zh-CN" i="1">
                              <a:latin typeface="Cambria Math" panose="02040503050406030204" pitchFamily="18" charset="0"/>
                            </a:rPr>
                            <m:t>[</m:t>
                          </m:r>
                          <m:r>
                            <a:rPr lang="en-US" altLang="zh-CN" b="0" i="1" smtClean="0">
                              <a:latin typeface="Cambria Math" panose="02040503050406030204" pitchFamily="18" charset="0"/>
                            </a:rPr>
                            <m:t>4</m:t>
                          </m:r>
                          <m:r>
                            <a:rPr lang="en-US" altLang="zh-CN" i="1">
                              <a:latin typeface="Cambria Math" panose="02040503050406030204" pitchFamily="18" charset="0"/>
                            </a:rPr>
                            <m:t>]</m:t>
                          </m:r>
                        </m:sup>
                      </m:sSup>
                      <m:r>
                        <a:rPr lang="en-US" altLang="zh-CN" i="1">
                          <a:latin typeface="Cambria Math" panose="02040503050406030204" pitchFamily="18" charset="0"/>
                        </a:rPr>
                        <m:t>=</m:t>
                      </m:r>
                      <m:sSup>
                        <m:sSupPr>
                          <m:ctrlPr>
                            <a:rPr lang="en-US" altLang="zh-CN" i="1">
                              <a:latin typeface="Cambria Math" panose="02040503050406030204" pitchFamily="18" charset="0"/>
                            </a:rPr>
                          </m:ctrlPr>
                        </m:sSupPr>
                        <m:e>
                          <m:r>
                            <a:rPr lang="en-US" altLang="zh-CN" i="1">
                              <a:latin typeface="Cambria Math" panose="02040503050406030204" pitchFamily="18" charset="0"/>
                            </a:rPr>
                            <m:t>𝐴</m:t>
                          </m:r>
                        </m:e>
                        <m:sup>
                          <m:r>
                            <a:rPr lang="en-US" altLang="zh-CN" i="1">
                              <a:latin typeface="Cambria Math" panose="02040503050406030204" pitchFamily="18" charset="0"/>
                            </a:rPr>
                            <m:t>[</m:t>
                          </m:r>
                          <m:r>
                            <a:rPr lang="en-US" altLang="zh-CN" b="0" i="1" smtClean="0">
                              <a:latin typeface="Cambria Math" panose="02040503050406030204" pitchFamily="18" charset="0"/>
                            </a:rPr>
                            <m:t>3</m:t>
                          </m:r>
                          <m:r>
                            <a:rPr lang="en-US" altLang="zh-CN" i="1">
                              <a:latin typeface="Cambria Math" panose="02040503050406030204" pitchFamily="18" charset="0"/>
                            </a:rPr>
                            <m:t>]</m:t>
                          </m:r>
                        </m:sup>
                      </m:sSup>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𝐴</m:t>
                      </m:r>
                      <m:r>
                        <a:rPr lang="en-US" altLang="zh-CN" i="1">
                          <a:latin typeface="Cambria Math" panose="02040503050406030204" pitchFamily="18" charset="0"/>
                          <a:ea typeface="Cambria Math" panose="02040503050406030204" pitchFamily="18" charset="0"/>
                        </a:rPr>
                        <m:t>=</m:t>
                      </m:r>
                      <m:d>
                        <m:dPr>
                          <m:begChr m:val="["/>
                          <m:endChr m:val="]"/>
                          <m:ctrlPr>
                            <a:rPr lang="en-US" altLang="zh-CN" i="1">
                              <a:latin typeface="Cambria Math" panose="02040503050406030204" pitchFamily="18" charset="0"/>
                              <a:ea typeface="Cambria Math" panose="02040503050406030204" pitchFamily="18" charset="0"/>
                            </a:rPr>
                          </m:ctrlPr>
                        </m:dPr>
                        <m:e>
                          <m:m>
                            <m:mPr>
                              <m:mcs>
                                <m:mc>
                                  <m:mcPr>
                                    <m:count m:val="3"/>
                                    <m:mcJc m:val="center"/>
                                  </m:mcPr>
                                </m:mc>
                              </m:mcs>
                              <m:ctrlPr>
                                <a:rPr lang="en-US" altLang="zh-CN" i="1">
                                  <a:latin typeface="Cambria Math" panose="02040503050406030204" pitchFamily="18" charset="0"/>
                                  <a:ea typeface="Cambria Math" panose="02040503050406030204" pitchFamily="18" charset="0"/>
                                </a:rPr>
                              </m:ctrlPr>
                            </m:mPr>
                            <m:mr>
                              <m:e>
                                <m:r>
                                  <m:rPr>
                                    <m:brk m:alnAt="7"/>
                                  </m:rPr>
                                  <a:rPr lang="en-US" altLang="zh-CN" i="1">
                                    <a:latin typeface="Cambria Math" panose="02040503050406030204" pitchFamily="18" charset="0"/>
                                    <a:ea typeface="Cambria Math" panose="02040503050406030204" pitchFamily="18" charset="0"/>
                                  </a:rPr>
                                  <m:t>1</m:t>
                                </m:r>
                              </m:e>
                              <m:e>
                                <m:r>
                                  <a:rPr lang="en-US" altLang="zh-CN" b="0" i="1" smtClean="0">
                                    <a:latin typeface="Cambria Math" panose="02040503050406030204" pitchFamily="18" charset="0"/>
                                    <a:ea typeface="Cambria Math" panose="02040503050406030204" pitchFamily="18" charset="0"/>
                                  </a:rPr>
                                  <m:t>1</m:t>
                                </m:r>
                              </m:e>
                              <m:e>
                                <m:r>
                                  <a:rPr lang="en-US" altLang="zh-CN" i="1">
                                    <a:latin typeface="Cambria Math" panose="02040503050406030204" pitchFamily="18" charset="0"/>
                                    <a:ea typeface="Cambria Math" panose="02040503050406030204" pitchFamily="18" charset="0"/>
                                  </a:rPr>
                                  <m:t>1</m:t>
                                </m:r>
                              </m:e>
                            </m:mr>
                            <m:mr>
                              <m:e>
                                <m:r>
                                  <a:rPr lang="en-US" altLang="zh-CN" i="1">
                                    <a:latin typeface="Cambria Math" panose="02040503050406030204" pitchFamily="18" charset="0"/>
                                    <a:ea typeface="Cambria Math" panose="02040503050406030204" pitchFamily="18" charset="0"/>
                                  </a:rPr>
                                  <m:t>1</m:t>
                                </m:r>
                              </m:e>
                              <m:e>
                                <m:r>
                                  <a:rPr lang="en-US" altLang="zh-CN" b="0" i="1" smtClean="0">
                                    <a:latin typeface="Cambria Math" panose="02040503050406030204" pitchFamily="18" charset="0"/>
                                    <a:ea typeface="Cambria Math" panose="02040503050406030204" pitchFamily="18" charset="0"/>
                                  </a:rPr>
                                  <m:t>0</m:t>
                                </m:r>
                              </m:e>
                              <m:e>
                                <m:r>
                                  <a:rPr lang="en-US" altLang="zh-CN" b="0" i="1" smtClean="0">
                                    <a:latin typeface="Cambria Math" panose="02040503050406030204" pitchFamily="18" charset="0"/>
                                    <a:ea typeface="Cambria Math" panose="02040503050406030204" pitchFamily="18" charset="0"/>
                                  </a:rPr>
                                  <m:t>1</m:t>
                                </m:r>
                              </m:e>
                            </m:mr>
                            <m:mr>
                              <m:e>
                                <m:r>
                                  <a:rPr lang="en-US" altLang="zh-CN" i="1">
                                    <a:latin typeface="Cambria Math" panose="02040503050406030204" pitchFamily="18" charset="0"/>
                                    <a:ea typeface="Cambria Math" panose="02040503050406030204" pitchFamily="18" charset="0"/>
                                  </a:rPr>
                                  <m:t>1</m:t>
                                </m:r>
                              </m:e>
                              <m:e>
                                <m:r>
                                  <a:rPr lang="en-US" altLang="zh-CN" i="1">
                                    <a:latin typeface="Cambria Math" panose="02040503050406030204" pitchFamily="18" charset="0"/>
                                    <a:ea typeface="Cambria Math" panose="02040503050406030204" pitchFamily="18" charset="0"/>
                                  </a:rPr>
                                  <m:t>1</m:t>
                                </m:r>
                              </m:e>
                              <m:e>
                                <m:r>
                                  <a:rPr lang="en-US" altLang="zh-CN" i="1">
                                    <a:latin typeface="Cambria Math" panose="02040503050406030204" pitchFamily="18" charset="0"/>
                                    <a:ea typeface="Cambria Math" panose="02040503050406030204" pitchFamily="18" charset="0"/>
                                  </a:rPr>
                                  <m:t>1</m:t>
                                </m:r>
                              </m:e>
                            </m:mr>
                          </m:m>
                        </m:e>
                      </m:d>
                      <m:r>
                        <a:rPr lang="en-US" altLang="zh-CN" b="0" i="1" smtClean="0">
                          <a:latin typeface="Cambria Math" panose="02040503050406030204" pitchFamily="18" charset="0"/>
                          <a:ea typeface="Cambria Math" panose="02040503050406030204" pitchFamily="18" charset="0"/>
                        </a:rPr>
                        <m:t>           </m:t>
                      </m:r>
                      <m:sSup>
                        <m:sSupPr>
                          <m:ctrlPr>
                            <a:rPr lang="en-US" altLang="zh-CN" i="1">
                              <a:latin typeface="Cambria Math" panose="02040503050406030204" pitchFamily="18" charset="0"/>
                            </a:rPr>
                          </m:ctrlPr>
                        </m:sSupPr>
                        <m:e>
                          <m:r>
                            <a:rPr lang="en-US" altLang="zh-CN" i="1">
                              <a:latin typeface="Cambria Math" panose="02040503050406030204" pitchFamily="18" charset="0"/>
                            </a:rPr>
                            <m:t>𝐴</m:t>
                          </m:r>
                        </m:e>
                        <m:sup>
                          <m:r>
                            <a:rPr lang="en-US" altLang="zh-CN" i="1">
                              <a:latin typeface="Cambria Math" panose="02040503050406030204" pitchFamily="18" charset="0"/>
                            </a:rPr>
                            <m:t>[</m:t>
                          </m:r>
                          <m:r>
                            <a:rPr lang="en-US" altLang="zh-CN" b="0" i="1" smtClean="0">
                              <a:latin typeface="Cambria Math" panose="02040503050406030204" pitchFamily="18" charset="0"/>
                            </a:rPr>
                            <m:t>5</m:t>
                          </m:r>
                          <m:r>
                            <a:rPr lang="en-US" altLang="zh-CN" i="1">
                              <a:latin typeface="Cambria Math" panose="02040503050406030204" pitchFamily="18" charset="0"/>
                            </a:rPr>
                            <m:t>]</m:t>
                          </m:r>
                        </m:sup>
                      </m:sSup>
                      <m:r>
                        <a:rPr lang="en-US" altLang="zh-CN" i="1">
                          <a:latin typeface="Cambria Math" panose="02040503050406030204" pitchFamily="18" charset="0"/>
                        </a:rPr>
                        <m:t>=</m:t>
                      </m:r>
                      <m:sSup>
                        <m:sSupPr>
                          <m:ctrlPr>
                            <a:rPr lang="en-US" altLang="zh-CN" i="1">
                              <a:latin typeface="Cambria Math" panose="02040503050406030204" pitchFamily="18" charset="0"/>
                            </a:rPr>
                          </m:ctrlPr>
                        </m:sSupPr>
                        <m:e>
                          <m:r>
                            <a:rPr lang="en-US" altLang="zh-CN" i="1">
                              <a:latin typeface="Cambria Math" panose="02040503050406030204" pitchFamily="18" charset="0"/>
                            </a:rPr>
                            <m:t>𝐴</m:t>
                          </m:r>
                        </m:e>
                        <m:sup>
                          <m:r>
                            <a:rPr lang="en-US" altLang="zh-CN" i="1">
                              <a:latin typeface="Cambria Math" panose="02040503050406030204" pitchFamily="18" charset="0"/>
                            </a:rPr>
                            <m:t>[</m:t>
                          </m:r>
                          <m:r>
                            <a:rPr lang="en-US" altLang="zh-CN" b="0" i="1" smtClean="0">
                              <a:latin typeface="Cambria Math" panose="02040503050406030204" pitchFamily="18" charset="0"/>
                            </a:rPr>
                            <m:t>4</m:t>
                          </m:r>
                          <m:r>
                            <a:rPr lang="en-US" altLang="zh-CN" i="1">
                              <a:latin typeface="Cambria Math" panose="02040503050406030204" pitchFamily="18" charset="0"/>
                            </a:rPr>
                            <m:t>]</m:t>
                          </m:r>
                        </m:sup>
                      </m:sSup>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𝐴</m:t>
                      </m:r>
                      <m:r>
                        <a:rPr lang="en-US" altLang="zh-CN" i="1">
                          <a:latin typeface="Cambria Math" panose="02040503050406030204" pitchFamily="18" charset="0"/>
                          <a:ea typeface="Cambria Math" panose="02040503050406030204" pitchFamily="18" charset="0"/>
                        </a:rPr>
                        <m:t>=</m:t>
                      </m:r>
                      <m:d>
                        <m:dPr>
                          <m:begChr m:val="["/>
                          <m:endChr m:val="]"/>
                          <m:ctrlPr>
                            <a:rPr lang="en-US" altLang="zh-CN" i="1">
                              <a:latin typeface="Cambria Math" panose="02040503050406030204" pitchFamily="18" charset="0"/>
                              <a:ea typeface="Cambria Math" panose="02040503050406030204" pitchFamily="18" charset="0"/>
                            </a:rPr>
                          </m:ctrlPr>
                        </m:dPr>
                        <m:e>
                          <m:m>
                            <m:mPr>
                              <m:mcs>
                                <m:mc>
                                  <m:mcPr>
                                    <m:count m:val="3"/>
                                    <m:mcJc m:val="center"/>
                                  </m:mcPr>
                                </m:mc>
                              </m:mcs>
                              <m:ctrlPr>
                                <a:rPr lang="en-US" altLang="zh-CN" i="1">
                                  <a:latin typeface="Cambria Math" panose="02040503050406030204" pitchFamily="18" charset="0"/>
                                  <a:ea typeface="Cambria Math" panose="02040503050406030204" pitchFamily="18" charset="0"/>
                                </a:rPr>
                              </m:ctrlPr>
                            </m:mPr>
                            <m:mr>
                              <m:e>
                                <m:r>
                                  <m:rPr>
                                    <m:brk m:alnAt="7"/>
                                  </m:rPr>
                                  <a:rPr lang="en-US" altLang="zh-CN" i="1">
                                    <a:latin typeface="Cambria Math" panose="02040503050406030204" pitchFamily="18" charset="0"/>
                                    <a:ea typeface="Cambria Math" panose="02040503050406030204" pitchFamily="18" charset="0"/>
                                  </a:rPr>
                                  <m:t>1</m:t>
                                </m:r>
                              </m:e>
                              <m:e>
                                <m:r>
                                  <a:rPr lang="en-US" altLang="zh-CN" i="1">
                                    <a:latin typeface="Cambria Math" panose="02040503050406030204" pitchFamily="18" charset="0"/>
                                    <a:ea typeface="Cambria Math" panose="02040503050406030204" pitchFamily="18" charset="0"/>
                                  </a:rPr>
                                  <m:t>1</m:t>
                                </m:r>
                              </m:e>
                              <m:e>
                                <m:r>
                                  <a:rPr lang="en-US" altLang="zh-CN" i="1">
                                    <a:latin typeface="Cambria Math" panose="02040503050406030204" pitchFamily="18" charset="0"/>
                                    <a:ea typeface="Cambria Math" panose="02040503050406030204" pitchFamily="18" charset="0"/>
                                  </a:rPr>
                                  <m:t>1</m:t>
                                </m:r>
                              </m:e>
                            </m:mr>
                            <m:mr>
                              <m:e>
                                <m:r>
                                  <a:rPr lang="en-US" altLang="zh-CN" i="1">
                                    <a:latin typeface="Cambria Math" panose="02040503050406030204" pitchFamily="18" charset="0"/>
                                    <a:ea typeface="Cambria Math" panose="02040503050406030204" pitchFamily="18" charset="0"/>
                                  </a:rPr>
                                  <m:t>1</m:t>
                                </m:r>
                              </m:e>
                              <m:e>
                                <m:r>
                                  <a:rPr lang="en-US" altLang="zh-CN" b="0" i="1" smtClean="0">
                                    <a:latin typeface="Cambria Math" panose="02040503050406030204" pitchFamily="18" charset="0"/>
                                    <a:ea typeface="Cambria Math" panose="02040503050406030204" pitchFamily="18" charset="0"/>
                                  </a:rPr>
                                  <m:t>1</m:t>
                                </m:r>
                              </m:e>
                              <m:e>
                                <m:r>
                                  <a:rPr lang="en-US" altLang="zh-CN" i="1">
                                    <a:latin typeface="Cambria Math" panose="02040503050406030204" pitchFamily="18" charset="0"/>
                                    <a:ea typeface="Cambria Math" panose="02040503050406030204" pitchFamily="18" charset="0"/>
                                  </a:rPr>
                                  <m:t>1</m:t>
                                </m:r>
                              </m:e>
                            </m:mr>
                            <m:mr>
                              <m:e>
                                <m:r>
                                  <a:rPr lang="en-US" altLang="zh-CN" i="1">
                                    <a:latin typeface="Cambria Math" panose="02040503050406030204" pitchFamily="18" charset="0"/>
                                    <a:ea typeface="Cambria Math" panose="02040503050406030204" pitchFamily="18" charset="0"/>
                                  </a:rPr>
                                  <m:t>1</m:t>
                                </m:r>
                              </m:e>
                              <m:e>
                                <m:r>
                                  <a:rPr lang="en-US" altLang="zh-CN" i="1">
                                    <a:latin typeface="Cambria Math" panose="02040503050406030204" pitchFamily="18" charset="0"/>
                                    <a:ea typeface="Cambria Math" panose="02040503050406030204" pitchFamily="18" charset="0"/>
                                  </a:rPr>
                                  <m:t>1</m:t>
                                </m:r>
                              </m:e>
                              <m:e>
                                <m:r>
                                  <a:rPr lang="en-US" altLang="zh-CN" i="1">
                                    <a:latin typeface="Cambria Math" panose="02040503050406030204" pitchFamily="18" charset="0"/>
                                    <a:ea typeface="Cambria Math" panose="02040503050406030204" pitchFamily="18" charset="0"/>
                                  </a:rPr>
                                  <m:t>1</m:t>
                                </m:r>
                              </m:e>
                            </m:mr>
                          </m:m>
                        </m:e>
                      </m:d>
                    </m:oMath>
                  </m:oMathPara>
                </a14:m>
                <a:endParaRPr lang="en-US" altLang="zh-CN" dirty="0" smtClean="0"/>
              </a:p>
              <a:p>
                <a:pPr marL="0" indent="0">
                  <a:buNone/>
                </a:pPr>
                <a:r>
                  <a:rPr lang="zh-CN" altLang="en-US" dirty="0" smtClean="0"/>
                  <a:t>      对所有的正整数</a:t>
                </a:r>
                <a:r>
                  <a:rPr lang="en-US" altLang="zh-CN" dirty="0" smtClean="0"/>
                  <a:t>n,</a:t>
                </a:r>
                <a14:m>
                  <m:oMath xmlns:m="http://schemas.openxmlformats.org/officeDocument/2006/math">
                    <m:r>
                      <a:rPr lang="en-US" altLang="zh-CN" b="0" i="1" smtClean="0">
                        <a:latin typeface="Cambria Math" panose="02040503050406030204" pitchFamily="18" charset="0"/>
                        <a:ea typeface="Cambria Math" panose="02040503050406030204" pitchFamily="18" charset="0"/>
                      </a:rPr>
                      <m:t> </m:t>
                    </m:r>
                    <m:r>
                      <m:rPr>
                        <m:sty m:val="p"/>
                      </m:rPr>
                      <a:rPr lang="en-US" altLang="zh-CN" b="0" i="0" smtClean="0">
                        <a:latin typeface="Cambria Math" panose="02040503050406030204" pitchFamily="18" charset="0"/>
                        <a:ea typeface="Cambria Math" panose="02040503050406030204" pitchFamily="18" charset="0"/>
                      </a:rPr>
                      <m:t>n</m:t>
                    </m:r>
                    <m:r>
                      <a:rPr lang="en-US" altLang="zh-CN"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5</m:t>
                    </m:r>
                  </m:oMath>
                </a14:m>
                <a:r>
                  <a:rPr lang="en-US" altLang="zh-CN" dirty="0" smtClean="0"/>
                  <a:t>, </a:t>
                </a:r>
                <a:r>
                  <a:rPr lang="zh-CN" altLang="en-US" dirty="0" smtClean="0"/>
                  <a:t>有</a:t>
                </a:r>
                <a14:m>
                  <m:oMath xmlns:m="http://schemas.openxmlformats.org/officeDocument/2006/math">
                    <m:sSup>
                      <m:sSupPr>
                        <m:ctrlPr>
                          <a:rPr lang="en-US" altLang="zh-CN" i="1">
                            <a:latin typeface="Cambria Math" panose="02040503050406030204" pitchFamily="18" charset="0"/>
                          </a:rPr>
                        </m:ctrlPr>
                      </m:sSupPr>
                      <m:e>
                        <m:sSup>
                          <m:sSupPr>
                            <m:ctrlPr>
                              <a:rPr lang="en-US" altLang="zh-CN" i="1">
                                <a:latin typeface="Cambria Math" panose="02040503050406030204" pitchFamily="18" charset="0"/>
                              </a:rPr>
                            </m:ctrlPr>
                          </m:sSupPr>
                          <m:e>
                            <m:r>
                              <a:rPr lang="en-US" altLang="zh-CN" i="1">
                                <a:latin typeface="Cambria Math" panose="02040503050406030204" pitchFamily="18" charset="0"/>
                              </a:rPr>
                              <m:t>𝐴</m:t>
                            </m:r>
                          </m:e>
                          <m:sup>
                            <m:r>
                              <a:rPr lang="en-US" altLang="zh-CN" i="1">
                                <a:latin typeface="Cambria Math" panose="02040503050406030204" pitchFamily="18" charset="0"/>
                              </a:rPr>
                              <m:t>[</m:t>
                            </m:r>
                            <m:r>
                              <m:rPr>
                                <m:sty m:val="p"/>
                              </m:rPr>
                              <a:rPr lang="en-US" altLang="zh-CN" i="1">
                                <a:latin typeface="Cambria Math" panose="02040503050406030204" pitchFamily="18" charset="0"/>
                              </a:rPr>
                              <m:t>n</m:t>
                            </m:r>
                            <m:r>
                              <a:rPr lang="en-US" altLang="zh-CN" i="1">
                                <a:latin typeface="Cambria Math" panose="02040503050406030204" pitchFamily="18" charset="0"/>
                              </a:rPr>
                              <m:t>]</m:t>
                            </m:r>
                          </m:sup>
                        </m:sSup>
                        <m:r>
                          <a:rPr lang="en-US" altLang="zh-CN" i="1">
                            <a:latin typeface="Cambria Math" panose="02040503050406030204" pitchFamily="18" charset="0"/>
                          </a:rPr>
                          <m:t>=</m:t>
                        </m:r>
                        <m:r>
                          <a:rPr lang="en-US" altLang="zh-CN" i="1">
                            <a:latin typeface="Cambria Math" panose="02040503050406030204" pitchFamily="18" charset="0"/>
                          </a:rPr>
                          <m:t>𝐴</m:t>
                        </m:r>
                      </m:e>
                      <m:sup>
                        <m:r>
                          <a:rPr lang="en-US" altLang="zh-CN" i="1">
                            <a:latin typeface="Cambria Math" panose="02040503050406030204" pitchFamily="18" charset="0"/>
                          </a:rPr>
                          <m:t>[5]</m:t>
                        </m:r>
                      </m:sup>
                    </m:sSup>
                  </m:oMath>
                </a14:m>
                <a:endParaRPr lang="en-US" altLang="zh-CN" dirty="0" smtClean="0"/>
              </a:p>
              <a:p>
                <a:endParaRPr lang="en-US" altLang="zh-CN" dirty="0" smtClean="0"/>
              </a:p>
              <a:p>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rotWithShape="0">
                <a:blip r:embed="rId3"/>
                <a:stretch>
                  <a:fillRect l="-999" t="-714"/>
                </a:stretch>
              </a:blipFill>
            </p:spPr>
            <p:txBody>
              <a:bodyPr/>
              <a:lstStyle/>
              <a:p>
                <a:r>
                  <a:rPr lang="zh-CN" altLang="en-US">
                    <a:noFill/>
                  </a:rPr>
                  <a:t> </a:t>
                </a:r>
              </a:p>
            </p:txBody>
          </p:sp>
        </mc:Fallback>
      </mc:AlternateContent>
      <p:sp>
        <p:nvSpPr>
          <p:cNvPr id="4" name="日期占位符 3"/>
          <p:cNvSpPr>
            <a:spLocks noGrp="1"/>
          </p:cNvSpPr>
          <p:nvPr>
            <p:ph type="dt" sz="half" idx="10"/>
          </p:nvPr>
        </p:nvSpPr>
        <p:spPr/>
        <p:txBody>
          <a:bodyPr/>
          <a:lstStyle/>
          <a:p>
            <a:fld id="{99BF3D14-84EC-4D0E-840A-717A6FC4338D}" type="datetime1">
              <a:rPr lang="zh-CN" altLang="en-US" smtClean="0"/>
              <a:t>2025/3/14</a:t>
            </a:fld>
            <a:endParaRPr lang="zh-CN" altLang="en-US" dirty="0"/>
          </a:p>
        </p:txBody>
      </p:sp>
      <p:sp>
        <p:nvSpPr>
          <p:cNvPr id="5" name="页脚占位符 4"/>
          <p:cNvSpPr>
            <a:spLocks noGrp="1"/>
          </p:cNvSpPr>
          <p:nvPr>
            <p:ph type="ftr" sz="quarter" idx="11"/>
          </p:nvPr>
        </p:nvSpPr>
        <p:spPr/>
        <p:txBody>
          <a:bodyPr/>
          <a:lstStyle/>
          <a:p>
            <a:pPr algn="r"/>
            <a:r>
              <a:rPr lang="zh-CN" altLang="en-US" dirty="0" smtClean="0"/>
              <a:t>        华中科技大学</a:t>
            </a:r>
            <a:r>
              <a:rPr lang="en-US" altLang="zh-CN" dirty="0" smtClean="0"/>
              <a:t>NNSS</a:t>
            </a:r>
            <a:r>
              <a:rPr lang="zh-CN" altLang="en-US" dirty="0" smtClean="0"/>
              <a:t>实验室</a:t>
            </a:r>
            <a:endParaRPr lang="zh-CN" altLang="en-US" dirty="0"/>
          </a:p>
        </p:txBody>
      </p:sp>
      <p:sp>
        <p:nvSpPr>
          <p:cNvPr id="6" name="灯片编号占位符 5"/>
          <p:cNvSpPr>
            <a:spLocks noGrp="1"/>
          </p:cNvSpPr>
          <p:nvPr>
            <p:ph type="sldNum" sz="quarter" idx="12"/>
          </p:nvPr>
        </p:nvSpPr>
        <p:spPr/>
        <p:txBody>
          <a:bodyPr/>
          <a:lstStyle/>
          <a:p>
            <a:fld id="{67913A8A-9EFB-4B5F-9CCB-3D21173FAA85}" type="slidenum">
              <a:rPr lang="zh-CN" altLang="en-US" smtClean="0"/>
              <a:pPr/>
              <a:t>41</a:t>
            </a:fld>
            <a:endParaRPr lang="zh-CN" altLang="en-US" dirty="0"/>
          </a:p>
        </p:txBody>
      </p:sp>
      <p:pic>
        <p:nvPicPr>
          <p:cNvPr id="7" name="Picture 19" descr="addin_tmp.png"/>
          <p:cNvPicPr>
            <a:picLocks noChangeAspect="1"/>
          </p:cNvPicPr>
          <p:nvPr>
            <p:custDataLst>
              <p:tags r:id="rId1"/>
            </p:custDataLst>
          </p:nvPr>
        </p:nvPicPr>
        <p:blipFill>
          <a:blip r:embed="rId4" cstate="print"/>
          <a:stretch>
            <a:fillRect/>
          </a:stretch>
        </p:blipFill>
        <p:spPr>
          <a:xfrm>
            <a:off x="1676400" y="1828800"/>
            <a:ext cx="1481519" cy="638747"/>
          </a:xfrm>
          <a:prstGeom prst="rect">
            <a:avLst/>
          </a:prstGeom>
        </p:spPr>
      </p:pic>
    </p:spTree>
    <p:extLst>
      <p:ext uri="{BB962C8B-B14F-4D97-AF65-F5344CB8AC3E}">
        <p14:creationId xmlns:p14="http://schemas.microsoft.com/office/powerpoint/2010/main" val="874022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wipe(down)">
                                      <p:cBhvr>
                                        <p:cTn id="7" dur="500"/>
                                        <p:tgtEl>
                                          <p:spTgt spid="3">
                                            <p:txEl>
                                              <p:pRg st="2" end="2"/>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3">
                                            <p:txEl>
                                              <p:pRg st="3" end="3"/>
                                            </p:txEl>
                                          </p:spTgt>
                                        </p:tgtEl>
                                        <p:attrNameLst>
                                          <p:attrName>style.visibility</p:attrName>
                                        </p:attrNameLst>
                                      </p:cBhvr>
                                      <p:to>
                                        <p:strVal val="visible"/>
                                      </p:to>
                                    </p:set>
                                    <p:animEffect transition="in" filter="wipe(down)">
                                      <p:cBhvr>
                                        <p:cTn id="10" dur="500"/>
                                        <p:tgtEl>
                                          <p:spTgt spid="3">
                                            <p:txEl>
                                              <p:pRg st="3" end="3"/>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animEffect transition="in" filter="wipe(down)">
                                      <p:cBhvr>
                                        <p:cTn id="13"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用矩阵表示关系</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lnSpcReduction="10000"/>
              </a:bodyPr>
              <a:lstStyle/>
              <a:p>
                <a:r>
                  <a:rPr lang="zh-CN" altLang="en-US" dirty="0" smtClean="0"/>
                  <a:t>例</a:t>
                </a:r>
                <a:r>
                  <a:rPr lang="en-US" altLang="zh-CN" dirty="0" smtClean="0"/>
                  <a:t>:</a:t>
                </a:r>
                <a:r>
                  <a:rPr lang="zh-CN" altLang="en-US" dirty="0" smtClean="0"/>
                  <a:t>假设集合</a:t>
                </a:r>
                <a:r>
                  <a:rPr lang="en-US" altLang="zh-CN" dirty="0" smtClean="0"/>
                  <a:t>A</a:t>
                </a:r>
                <a:r>
                  <a:rPr lang="zh-CN" altLang="en-US" dirty="0" smtClean="0"/>
                  <a:t>上的关系</a:t>
                </a:r>
                <a14:m>
                  <m:oMath xmlns:m="http://schemas.openxmlformats.org/officeDocument/2006/math">
                    <m:sSub>
                      <m:sSubPr>
                        <m:ctrlPr>
                          <a:rPr lang="en-US" altLang="zh-CN" i="1" smtClean="0">
                            <a:latin typeface="Cambria Math" panose="02040503050406030204" pitchFamily="18" charset="0"/>
                          </a:rPr>
                        </m:ctrlPr>
                      </m:sSubPr>
                      <m:e>
                        <m:r>
                          <m:rPr>
                            <m:sty m:val="p"/>
                          </m:rPr>
                          <a:rPr lang="en-US" altLang="zh-CN" i="1">
                            <a:latin typeface="Cambria Math" panose="02040503050406030204" pitchFamily="18" charset="0"/>
                          </a:rPr>
                          <m:t>R</m:t>
                        </m:r>
                      </m:e>
                      <m:sub>
                        <m:r>
                          <a:rPr lang="en-US" altLang="zh-CN" b="0" i="1" smtClean="0">
                            <a:latin typeface="Cambria Math" panose="02040503050406030204" pitchFamily="18" charset="0"/>
                          </a:rPr>
                          <m:t>1</m:t>
                        </m:r>
                      </m:sub>
                    </m:sSub>
                  </m:oMath>
                </a14:m>
                <a:r>
                  <a:rPr lang="zh-CN" altLang="en-US" dirty="0" smtClean="0"/>
                  <a:t>和</a:t>
                </a:r>
                <a14:m>
                  <m:oMath xmlns:m="http://schemas.openxmlformats.org/officeDocument/2006/math">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R</m:t>
                        </m:r>
                      </m:e>
                      <m:sub>
                        <m:r>
                          <a:rPr lang="en-US" altLang="zh-CN" b="0" i="1" smtClean="0">
                            <a:latin typeface="Cambria Math" panose="02040503050406030204" pitchFamily="18" charset="0"/>
                          </a:rPr>
                          <m:t>2</m:t>
                        </m:r>
                      </m:sub>
                    </m:sSub>
                    <m:r>
                      <a:rPr lang="zh-CN" altLang="en-US" i="1" smtClean="0">
                        <a:latin typeface="Cambria Math" panose="02040503050406030204" pitchFamily="18" charset="0"/>
                      </a:rPr>
                      <m:t>分别</m:t>
                    </m:r>
                  </m:oMath>
                </a14:m>
                <a:r>
                  <a:rPr lang="zh-CN" altLang="en-US" dirty="0" smtClean="0"/>
                  <a:t>由如下的矩阵</a:t>
                </a:r>
                <a14:m>
                  <m:oMath xmlns:m="http://schemas.openxmlformats.org/officeDocument/2006/math">
                    <m:sSub>
                      <m:sSubPr>
                        <m:ctrlPr>
                          <a:rPr lang="en-US" altLang="zh-CN" i="1" smtClean="0">
                            <a:latin typeface="Cambria Math" panose="02040503050406030204" pitchFamily="18" charset="0"/>
                          </a:rPr>
                        </m:ctrlPr>
                      </m:sSubPr>
                      <m:e>
                        <m:r>
                          <m:rPr>
                            <m:sty m:val="p"/>
                          </m:rPr>
                          <a:rPr lang="en-US" altLang="zh-CN" i="1">
                            <a:latin typeface="Cambria Math" panose="02040503050406030204" pitchFamily="18" charset="0"/>
                          </a:rPr>
                          <m:t>M</m:t>
                        </m:r>
                      </m:e>
                      <m:sub>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R</m:t>
                            </m:r>
                          </m:e>
                          <m:sub>
                            <m:r>
                              <a:rPr lang="en-US" altLang="zh-CN" i="1">
                                <a:latin typeface="Cambria Math" panose="02040503050406030204" pitchFamily="18" charset="0"/>
                              </a:rPr>
                              <m:t>1</m:t>
                            </m:r>
                          </m:sub>
                        </m:sSub>
                      </m:sub>
                    </m:sSub>
                  </m:oMath>
                </a14:m>
                <a:r>
                  <a:rPr lang="zh-CN" altLang="en-US" dirty="0" smtClean="0"/>
                  <a:t>和</a:t>
                </a:r>
                <a14:m>
                  <m:oMath xmlns:m="http://schemas.openxmlformats.org/officeDocument/2006/math">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M</m:t>
                        </m:r>
                      </m:e>
                      <m:sub>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R</m:t>
                            </m:r>
                          </m:e>
                          <m:sub>
                            <m:r>
                              <a:rPr lang="en-US" altLang="zh-CN" b="0" i="1" smtClean="0">
                                <a:latin typeface="Cambria Math" panose="02040503050406030204" pitchFamily="18" charset="0"/>
                              </a:rPr>
                              <m:t>2</m:t>
                            </m:r>
                          </m:sub>
                        </m:sSub>
                      </m:sub>
                    </m:sSub>
                  </m:oMath>
                </a14:m>
                <a:r>
                  <a:rPr lang="zh-CN" altLang="en-US" dirty="0" smtClean="0"/>
                  <a:t>表示</a:t>
                </a:r>
                <a:r>
                  <a:rPr lang="en-US" altLang="zh-CN" dirty="0" smtClean="0"/>
                  <a:t>, </a:t>
                </a:r>
                <a:r>
                  <a:rPr lang="zh-CN" altLang="en-US" dirty="0"/>
                  <a:t>求</a:t>
                </a:r>
                <a14:m>
                  <m:oMath xmlns:m="http://schemas.openxmlformats.org/officeDocument/2006/math">
                    <m:sSub>
                      <m:sSubPr>
                        <m:ctrlPr>
                          <a:rPr lang="en-US" altLang="zh-CN" i="1">
                            <a:latin typeface="Cambria Math" panose="02040503050406030204" pitchFamily="18" charset="0"/>
                          </a:rPr>
                        </m:ctrlPr>
                      </m:sSubPr>
                      <m:e>
                        <m:r>
                          <m:rPr>
                            <m:sty m:val="p"/>
                          </m:rPr>
                          <a:rPr lang="en-US" altLang="zh-CN">
                            <a:latin typeface="Cambria Math" panose="02040503050406030204" pitchFamily="18" charset="0"/>
                          </a:rPr>
                          <m:t>R</m:t>
                        </m:r>
                      </m:e>
                      <m:sub>
                        <m:r>
                          <a:rPr lang="en-US" altLang="zh-CN">
                            <a:latin typeface="Cambria Math" panose="02040503050406030204" pitchFamily="18" charset="0"/>
                          </a:rPr>
                          <m:t>1</m:t>
                        </m:r>
                      </m:sub>
                    </m:sSub>
                    <m:r>
                      <a:rPr lang="en-US" altLang="zh-CN">
                        <a:latin typeface="Cambria Math" panose="02040503050406030204" pitchFamily="18" charset="0"/>
                      </a:rPr>
                      <m:t>∪</m:t>
                    </m:r>
                    <m:sSub>
                      <m:sSubPr>
                        <m:ctrlPr>
                          <a:rPr lang="en-US" altLang="zh-CN" i="1">
                            <a:latin typeface="Cambria Math" panose="02040503050406030204" pitchFamily="18" charset="0"/>
                          </a:rPr>
                        </m:ctrlPr>
                      </m:sSubPr>
                      <m:e>
                        <m:r>
                          <m:rPr>
                            <m:sty m:val="p"/>
                          </m:rPr>
                          <a:rPr lang="en-US" altLang="zh-CN">
                            <a:latin typeface="Cambria Math" panose="02040503050406030204" pitchFamily="18" charset="0"/>
                          </a:rPr>
                          <m:t>R</m:t>
                        </m:r>
                      </m:e>
                      <m:sub>
                        <m:r>
                          <a:rPr lang="en-US" altLang="zh-CN">
                            <a:latin typeface="Cambria Math" panose="02040503050406030204" pitchFamily="18" charset="0"/>
                          </a:rPr>
                          <m:t>2</m:t>
                        </m:r>
                      </m:sub>
                    </m:sSub>
                    <m:r>
                      <a:rPr lang="zh-CN" altLang="en-US" i="1">
                        <a:latin typeface="Cambria Math" panose="02040503050406030204" pitchFamily="18" charset="0"/>
                      </a:rPr>
                      <m:t>和</m:t>
                    </m:r>
                    <m:sSub>
                      <m:sSubPr>
                        <m:ctrlPr>
                          <a:rPr lang="en-US" altLang="zh-CN" i="1">
                            <a:latin typeface="Cambria Math" panose="02040503050406030204" pitchFamily="18" charset="0"/>
                          </a:rPr>
                        </m:ctrlPr>
                      </m:sSubPr>
                      <m:e>
                        <m:r>
                          <m:rPr>
                            <m:sty m:val="p"/>
                          </m:rPr>
                          <a:rPr lang="en-US" altLang="zh-CN">
                            <a:latin typeface="Cambria Math" panose="02040503050406030204" pitchFamily="18" charset="0"/>
                          </a:rPr>
                          <m:t>R</m:t>
                        </m:r>
                      </m:e>
                      <m:sub>
                        <m:r>
                          <a:rPr lang="en-US" altLang="zh-CN">
                            <a:latin typeface="Cambria Math" panose="02040503050406030204" pitchFamily="18" charset="0"/>
                          </a:rPr>
                          <m:t>1</m:t>
                        </m:r>
                      </m:sub>
                    </m:sSub>
                    <m:r>
                      <a:rPr lang="en-US" altLang="zh-CN">
                        <a:latin typeface="Cambria Math" panose="02040503050406030204" pitchFamily="18" charset="0"/>
                      </a:rPr>
                      <m:t>∩</m:t>
                    </m:r>
                    <m:sSub>
                      <m:sSubPr>
                        <m:ctrlPr>
                          <a:rPr lang="en-US" altLang="zh-CN" i="1">
                            <a:latin typeface="Cambria Math" panose="02040503050406030204" pitchFamily="18" charset="0"/>
                          </a:rPr>
                        </m:ctrlPr>
                      </m:sSubPr>
                      <m:e>
                        <m:r>
                          <m:rPr>
                            <m:sty m:val="p"/>
                          </m:rPr>
                          <a:rPr lang="en-US" altLang="zh-CN">
                            <a:latin typeface="Cambria Math" panose="02040503050406030204" pitchFamily="18" charset="0"/>
                          </a:rPr>
                          <m:t>R</m:t>
                        </m:r>
                      </m:e>
                      <m:sub>
                        <m:r>
                          <a:rPr lang="en-US" altLang="zh-CN">
                            <a:latin typeface="Cambria Math" panose="02040503050406030204" pitchFamily="18" charset="0"/>
                          </a:rPr>
                          <m:t>2</m:t>
                        </m:r>
                      </m:sub>
                    </m:sSub>
                  </m:oMath>
                </a14:m>
                <a:r>
                  <a:rPr lang="zh-CN" altLang="en-US" dirty="0" smtClean="0"/>
                  <a:t>的矩阵表示</a:t>
                </a:r>
                <a:r>
                  <a:rPr lang="en-US" altLang="zh-CN" dirty="0" smtClean="0"/>
                  <a:t>.</a:t>
                </a:r>
              </a:p>
              <a:p>
                <a:pPr marL="0" indent="0">
                  <a:buNone/>
                </a:pPr>
                <a14:m>
                  <m:oMathPara xmlns:m="http://schemas.openxmlformats.org/officeDocument/2006/math">
                    <m:oMathParaPr>
                      <m:jc m:val="centerGroup"/>
                    </m:oMathParaPr>
                    <m:oMath xmlns:m="http://schemas.openxmlformats.org/officeDocument/2006/math">
                      <m:sSub>
                        <m:sSubPr>
                          <m:ctrlPr>
                            <a:rPr lang="en-US" altLang="zh-CN" i="1">
                              <a:latin typeface="Cambria Math" panose="02040503050406030204" pitchFamily="18" charset="0"/>
                            </a:rPr>
                          </m:ctrlPr>
                        </m:sSubPr>
                        <m:e>
                          <m:r>
                            <m:rPr>
                              <m:sty m:val="p"/>
                            </m:rPr>
                            <a:rPr lang="en-US" altLang="zh-CN">
                              <a:latin typeface="Cambria Math" panose="02040503050406030204" pitchFamily="18" charset="0"/>
                            </a:rPr>
                            <m:t>M</m:t>
                          </m:r>
                        </m:e>
                        <m:sub>
                          <m:sSub>
                            <m:sSubPr>
                              <m:ctrlPr>
                                <a:rPr lang="en-US" altLang="zh-CN" i="1">
                                  <a:latin typeface="Cambria Math" panose="02040503050406030204" pitchFamily="18" charset="0"/>
                                </a:rPr>
                              </m:ctrlPr>
                            </m:sSubPr>
                            <m:e>
                              <m:r>
                                <m:rPr>
                                  <m:sty m:val="p"/>
                                </m:rPr>
                                <a:rPr lang="en-US" altLang="zh-CN">
                                  <a:latin typeface="Cambria Math" panose="02040503050406030204" pitchFamily="18" charset="0"/>
                                </a:rPr>
                                <m:t>R</m:t>
                              </m:r>
                            </m:e>
                            <m:sub>
                              <m:r>
                                <a:rPr lang="en-US" altLang="zh-CN">
                                  <a:latin typeface="Cambria Math" panose="02040503050406030204" pitchFamily="18" charset="0"/>
                                </a:rPr>
                                <m:t>1</m:t>
                              </m:r>
                            </m:sub>
                          </m:sSub>
                        </m:sub>
                      </m:sSub>
                      <m:r>
                        <a:rPr lang="en-US" altLang="zh-CN" b="0" i="1" smtClean="0">
                          <a:latin typeface="Cambria Math" panose="02040503050406030204" pitchFamily="18" charset="0"/>
                        </a:rPr>
                        <m:t>=</m:t>
                      </m:r>
                      <m:d>
                        <m:dPr>
                          <m:begChr m:val="["/>
                          <m:endChr m:val="]"/>
                          <m:ctrlPr>
                            <a:rPr lang="en-US" altLang="zh-CN" b="0" i="1" smtClean="0">
                              <a:latin typeface="Cambria Math" panose="02040503050406030204" pitchFamily="18" charset="0"/>
                            </a:rPr>
                          </m:ctrlPr>
                        </m:dPr>
                        <m:e>
                          <m:eqArr>
                            <m:eqArrPr>
                              <m:ctrlPr>
                                <a:rPr lang="en-US" altLang="zh-CN" b="0" i="1" smtClean="0">
                                  <a:latin typeface="Cambria Math" panose="02040503050406030204" pitchFamily="18" charset="0"/>
                                </a:rPr>
                              </m:ctrlPr>
                            </m:eqArrPr>
                            <m:e>
                              <m:r>
                                <a:rPr lang="en-US" altLang="zh-CN" b="0" i="1" smtClean="0">
                                  <a:latin typeface="Cambria Math" panose="02040503050406030204" pitchFamily="18" charset="0"/>
                                </a:rPr>
                                <m:t>101</m:t>
                              </m:r>
                            </m:e>
                            <m:e>
                              <m:r>
                                <a:rPr lang="en-US" altLang="zh-CN" b="0" i="1" smtClean="0">
                                  <a:latin typeface="Cambria Math" panose="02040503050406030204" pitchFamily="18" charset="0"/>
                                </a:rPr>
                                <m:t>110</m:t>
                              </m:r>
                            </m:e>
                            <m:e>
                              <m:r>
                                <a:rPr lang="en-US" altLang="zh-CN" b="0" i="1" smtClean="0">
                                  <a:latin typeface="Cambria Math" panose="02040503050406030204" pitchFamily="18" charset="0"/>
                                </a:rPr>
                                <m:t>010</m:t>
                              </m:r>
                            </m:e>
                          </m:eqArr>
                        </m:e>
                      </m:d>
                      <m:sSub>
                        <m:sSubPr>
                          <m:ctrlPr>
                            <a:rPr lang="en-US" altLang="zh-CN" i="1">
                              <a:latin typeface="Cambria Math" panose="02040503050406030204" pitchFamily="18" charset="0"/>
                            </a:rPr>
                          </m:ctrlPr>
                        </m:sSubPr>
                        <m:e>
                          <m:r>
                            <a:rPr lang="en-US" altLang="zh-CN" b="0" i="1" smtClean="0">
                              <a:latin typeface="Cambria Math" panose="02040503050406030204" pitchFamily="18" charset="0"/>
                            </a:rPr>
                            <m:t>                            </m:t>
                          </m:r>
                          <m:r>
                            <m:rPr>
                              <m:sty m:val="p"/>
                            </m:rPr>
                            <a:rPr lang="en-US" altLang="zh-CN">
                              <a:latin typeface="Cambria Math" panose="02040503050406030204" pitchFamily="18" charset="0"/>
                            </a:rPr>
                            <m:t>M</m:t>
                          </m:r>
                        </m:e>
                        <m:sub>
                          <m:sSub>
                            <m:sSubPr>
                              <m:ctrlPr>
                                <a:rPr lang="en-US" altLang="zh-CN" i="1">
                                  <a:latin typeface="Cambria Math" panose="02040503050406030204" pitchFamily="18" charset="0"/>
                                </a:rPr>
                              </m:ctrlPr>
                            </m:sSubPr>
                            <m:e>
                              <m:r>
                                <m:rPr>
                                  <m:sty m:val="p"/>
                                </m:rPr>
                                <a:rPr lang="en-US" altLang="zh-CN">
                                  <a:latin typeface="Cambria Math" panose="02040503050406030204" pitchFamily="18" charset="0"/>
                                </a:rPr>
                                <m:t>R</m:t>
                              </m:r>
                            </m:e>
                            <m:sub>
                              <m:r>
                                <a:rPr lang="en-US" altLang="zh-CN" b="0" i="0" smtClean="0">
                                  <a:latin typeface="Cambria Math" panose="02040503050406030204" pitchFamily="18" charset="0"/>
                                </a:rPr>
                                <m:t>2</m:t>
                              </m:r>
                            </m:sub>
                          </m:sSub>
                        </m:sub>
                      </m:sSub>
                      <m:r>
                        <a:rPr lang="en-US" altLang="zh-CN" i="1">
                          <a:latin typeface="Cambria Math" panose="02040503050406030204" pitchFamily="18" charset="0"/>
                        </a:rPr>
                        <m:t>=</m:t>
                      </m:r>
                      <m:d>
                        <m:dPr>
                          <m:begChr m:val="["/>
                          <m:endChr m:val="]"/>
                          <m:ctrlPr>
                            <a:rPr lang="en-US" altLang="zh-CN" i="1">
                              <a:latin typeface="Cambria Math" panose="02040503050406030204" pitchFamily="18" charset="0"/>
                            </a:rPr>
                          </m:ctrlPr>
                        </m:dPr>
                        <m:e>
                          <m:eqArr>
                            <m:eqArrPr>
                              <m:ctrlPr>
                                <a:rPr lang="en-US" altLang="zh-CN" i="1">
                                  <a:latin typeface="Cambria Math" panose="02040503050406030204" pitchFamily="18" charset="0"/>
                                </a:rPr>
                              </m:ctrlPr>
                            </m:eqArrPr>
                            <m:e>
                              <m:r>
                                <a:rPr lang="en-US" altLang="zh-CN" i="1">
                                  <a:latin typeface="Cambria Math" panose="02040503050406030204" pitchFamily="18" charset="0"/>
                                </a:rPr>
                                <m:t>101</m:t>
                              </m:r>
                            </m:e>
                            <m:e>
                              <m:r>
                                <a:rPr lang="en-US" altLang="zh-CN" b="0" i="1" smtClean="0">
                                  <a:latin typeface="Cambria Math" panose="02040503050406030204" pitchFamily="18" charset="0"/>
                                </a:rPr>
                                <m:t>011</m:t>
                              </m:r>
                            </m:e>
                            <m:e>
                              <m:r>
                                <a:rPr lang="en-US" altLang="zh-CN" b="0" i="1" smtClean="0">
                                  <a:latin typeface="Cambria Math" panose="02040503050406030204" pitchFamily="18" charset="0"/>
                                </a:rPr>
                                <m:t>100</m:t>
                              </m:r>
                            </m:e>
                          </m:eqArr>
                        </m:e>
                      </m:d>
                    </m:oMath>
                  </m:oMathPara>
                </a14:m>
                <a:endParaRPr lang="en-US" altLang="zh-CN" dirty="0" smtClean="0"/>
              </a:p>
              <a:p>
                <a:r>
                  <a:rPr lang="zh-CN" altLang="en-US" dirty="0" smtClean="0"/>
                  <a:t>解</a:t>
                </a:r>
                <a:r>
                  <a:rPr lang="en-US" altLang="zh-CN" dirty="0" smtClean="0"/>
                  <a:t>:</a:t>
                </a:r>
              </a:p>
              <a:p>
                <a:pPr marL="0" indent="0">
                  <a:buNone/>
                </a:pPr>
                <a14:m>
                  <m:oMath xmlns:m="http://schemas.openxmlformats.org/officeDocument/2006/math">
                    <m:sSub>
                      <m:sSubPr>
                        <m:ctrlPr>
                          <a:rPr lang="en-US" altLang="zh-CN" i="1">
                            <a:latin typeface="Cambria Math" panose="02040503050406030204" pitchFamily="18" charset="0"/>
                          </a:rPr>
                        </m:ctrlPr>
                      </m:sSubPr>
                      <m:e>
                        <m:r>
                          <a:rPr lang="en-US" altLang="zh-CN" b="0" i="0" smtClean="0">
                            <a:latin typeface="Cambria Math" panose="02040503050406030204" pitchFamily="18" charset="0"/>
                          </a:rPr>
                          <m:t>        </m:t>
                        </m:r>
                        <m:r>
                          <m:rPr>
                            <m:sty m:val="p"/>
                          </m:rPr>
                          <a:rPr lang="en-US" altLang="zh-CN">
                            <a:latin typeface="Cambria Math" panose="02040503050406030204" pitchFamily="18" charset="0"/>
                          </a:rPr>
                          <m:t>M</m:t>
                        </m:r>
                      </m:e>
                      <m:sub>
                        <m:sSub>
                          <m:sSubPr>
                            <m:ctrlPr>
                              <a:rPr lang="en-US" altLang="zh-CN" i="1">
                                <a:latin typeface="Cambria Math" panose="02040503050406030204" pitchFamily="18" charset="0"/>
                              </a:rPr>
                            </m:ctrlPr>
                          </m:sSubPr>
                          <m:e>
                            <m:r>
                              <m:rPr>
                                <m:sty m:val="p"/>
                              </m:rPr>
                              <a:rPr lang="en-US" altLang="zh-CN">
                                <a:latin typeface="Cambria Math" panose="02040503050406030204" pitchFamily="18" charset="0"/>
                              </a:rPr>
                              <m:t>R</m:t>
                            </m:r>
                          </m:e>
                          <m:sub>
                            <m:r>
                              <a:rPr lang="en-US" altLang="zh-CN">
                                <a:latin typeface="Cambria Math" panose="02040503050406030204" pitchFamily="18" charset="0"/>
                              </a:rPr>
                              <m:t>1</m:t>
                            </m:r>
                          </m:sub>
                        </m:sSub>
                        <m:r>
                          <a:rPr lang="en-US" altLang="zh-CN">
                            <a:latin typeface="Cambria Math" panose="02040503050406030204" pitchFamily="18" charset="0"/>
                          </a:rPr>
                          <m:t>∪</m:t>
                        </m:r>
                        <m:sSub>
                          <m:sSubPr>
                            <m:ctrlPr>
                              <a:rPr lang="en-US" altLang="zh-CN" i="1">
                                <a:latin typeface="Cambria Math" panose="02040503050406030204" pitchFamily="18" charset="0"/>
                              </a:rPr>
                            </m:ctrlPr>
                          </m:sSubPr>
                          <m:e>
                            <m:r>
                              <m:rPr>
                                <m:sty m:val="p"/>
                              </m:rPr>
                              <a:rPr lang="en-US" altLang="zh-CN">
                                <a:latin typeface="Cambria Math" panose="02040503050406030204" pitchFamily="18" charset="0"/>
                              </a:rPr>
                              <m:t>R</m:t>
                            </m:r>
                          </m:e>
                          <m:sub>
                            <m:r>
                              <a:rPr lang="en-US" altLang="zh-CN">
                                <a:latin typeface="Cambria Math" panose="02040503050406030204" pitchFamily="18" charset="0"/>
                              </a:rPr>
                              <m:t>2</m:t>
                            </m:r>
                          </m:sub>
                        </m:sSub>
                      </m:sub>
                    </m:sSub>
                    <m:r>
                      <a:rPr lang="en-US" altLang="zh-CN">
                        <a:latin typeface="Cambria Math" panose="02040503050406030204" pitchFamily="18" charset="0"/>
                      </a:rPr>
                      <m:t>=</m:t>
                    </m:r>
                    <m:sSub>
                      <m:sSubPr>
                        <m:ctrlPr>
                          <a:rPr lang="en-US" altLang="zh-CN" i="1">
                            <a:latin typeface="Cambria Math" panose="02040503050406030204" pitchFamily="18" charset="0"/>
                          </a:rPr>
                        </m:ctrlPr>
                      </m:sSubPr>
                      <m:e>
                        <m:r>
                          <m:rPr>
                            <m:sty m:val="p"/>
                          </m:rPr>
                          <a:rPr lang="en-US" altLang="zh-CN">
                            <a:latin typeface="Cambria Math" panose="02040503050406030204" pitchFamily="18" charset="0"/>
                          </a:rPr>
                          <m:t>M</m:t>
                        </m:r>
                      </m:e>
                      <m:sub>
                        <m:sSub>
                          <m:sSubPr>
                            <m:ctrlPr>
                              <a:rPr lang="en-US" altLang="zh-CN" i="1">
                                <a:latin typeface="Cambria Math" panose="02040503050406030204" pitchFamily="18" charset="0"/>
                              </a:rPr>
                            </m:ctrlPr>
                          </m:sSubPr>
                          <m:e>
                            <m:r>
                              <m:rPr>
                                <m:sty m:val="p"/>
                              </m:rPr>
                              <a:rPr lang="en-US" altLang="zh-CN">
                                <a:latin typeface="Cambria Math" panose="02040503050406030204" pitchFamily="18" charset="0"/>
                              </a:rPr>
                              <m:t>R</m:t>
                            </m:r>
                          </m:e>
                          <m:sub>
                            <m:r>
                              <a:rPr lang="en-US" altLang="zh-CN">
                                <a:latin typeface="Cambria Math" panose="02040503050406030204" pitchFamily="18" charset="0"/>
                              </a:rPr>
                              <m:t>1</m:t>
                            </m:r>
                          </m:sub>
                        </m:sSub>
                      </m:sub>
                    </m:sSub>
                    <m:r>
                      <a:rPr lang="en-US" altLang="zh-CN">
                        <a:latin typeface="Cambria Math" panose="02040503050406030204" pitchFamily="18" charset="0"/>
                      </a:rPr>
                      <m:t>∨</m:t>
                    </m:r>
                    <m:sSub>
                      <m:sSubPr>
                        <m:ctrlPr>
                          <a:rPr lang="en-US" altLang="zh-CN" i="1">
                            <a:latin typeface="Cambria Math" panose="02040503050406030204" pitchFamily="18" charset="0"/>
                          </a:rPr>
                        </m:ctrlPr>
                      </m:sSubPr>
                      <m:e>
                        <m:r>
                          <m:rPr>
                            <m:sty m:val="p"/>
                          </m:rPr>
                          <a:rPr lang="en-US" altLang="zh-CN">
                            <a:latin typeface="Cambria Math" panose="02040503050406030204" pitchFamily="18" charset="0"/>
                          </a:rPr>
                          <m:t>M</m:t>
                        </m:r>
                      </m:e>
                      <m:sub>
                        <m:sSub>
                          <m:sSubPr>
                            <m:ctrlPr>
                              <a:rPr lang="en-US" altLang="zh-CN" i="1">
                                <a:latin typeface="Cambria Math" panose="02040503050406030204" pitchFamily="18" charset="0"/>
                              </a:rPr>
                            </m:ctrlPr>
                          </m:sSubPr>
                          <m:e>
                            <m:r>
                              <m:rPr>
                                <m:sty m:val="p"/>
                              </m:rPr>
                              <a:rPr lang="en-US" altLang="zh-CN">
                                <a:latin typeface="Cambria Math" panose="02040503050406030204" pitchFamily="18" charset="0"/>
                              </a:rPr>
                              <m:t>R</m:t>
                            </m:r>
                          </m:e>
                          <m:sub>
                            <m:r>
                              <a:rPr lang="en-US" altLang="zh-CN">
                                <a:latin typeface="Cambria Math" panose="02040503050406030204" pitchFamily="18" charset="0"/>
                              </a:rPr>
                              <m:t>2</m:t>
                            </m:r>
                          </m:sub>
                        </m:sSub>
                      </m:sub>
                    </m:sSub>
                  </m:oMath>
                </a14:m>
                <a:r>
                  <a:rPr lang="en-US" altLang="zh-CN" dirty="0" smtClean="0"/>
                  <a:t>=</a:t>
                </a:r>
                <a14:m>
                  <m:oMath xmlns:m="http://schemas.openxmlformats.org/officeDocument/2006/math">
                    <m:d>
                      <m:dPr>
                        <m:begChr m:val="["/>
                        <m:endChr m:val="]"/>
                        <m:ctrlPr>
                          <a:rPr lang="en-US" altLang="zh-CN" i="1">
                            <a:latin typeface="Cambria Math" panose="02040503050406030204" pitchFamily="18" charset="0"/>
                          </a:rPr>
                        </m:ctrlPr>
                      </m:dPr>
                      <m:e>
                        <m:eqArr>
                          <m:eqArrPr>
                            <m:ctrlPr>
                              <a:rPr lang="en-US" altLang="zh-CN" i="1">
                                <a:latin typeface="Cambria Math" panose="02040503050406030204" pitchFamily="18" charset="0"/>
                              </a:rPr>
                            </m:ctrlPr>
                          </m:eqArrPr>
                          <m:e>
                            <m:r>
                              <a:rPr lang="en-US" altLang="zh-CN" i="1">
                                <a:latin typeface="Cambria Math" panose="02040503050406030204" pitchFamily="18" charset="0"/>
                              </a:rPr>
                              <m:t>101</m:t>
                            </m:r>
                          </m:e>
                          <m:e>
                            <m:r>
                              <a:rPr lang="en-US" altLang="zh-CN" i="1">
                                <a:latin typeface="Cambria Math" panose="02040503050406030204" pitchFamily="18" charset="0"/>
                              </a:rPr>
                              <m:t>11</m:t>
                            </m:r>
                            <m:r>
                              <a:rPr lang="en-US" altLang="zh-CN" b="0" i="1" smtClean="0">
                                <a:latin typeface="Cambria Math" panose="02040503050406030204" pitchFamily="18" charset="0"/>
                              </a:rPr>
                              <m:t>1</m:t>
                            </m:r>
                          </m:e>
                          <m:e>
                            <m:r>
                              <a:rPr lang="en-US" altLang="zh-CN" b="0" i="1" smtClean="0">
                                <a:latin typeface="Cambria Math" panose="02040503050406030204" pitchFamily="18" charset="0"/>
                              </a:rPr>
                              <m:t>1</m:t>
                            </m:r>
                            <m:r>
                              <a:rPr lang="en-US" altLang="zh-CN" i="1">
                                <a:latin typeface="Cambria Math" panose="02040503050406030204" pitchFamily="18" charset="0"/>
                              </a:rPr>
                              <m:t>10</m:t>
                            </m:r>
                          </m:e>
                        </m:eqArr>
                      </m:e>
                    </m:d>
                  </m:oMath>
                </a14:m>
                <a:endParaRPr lang="en-US" altLang="zh-CN" dirty="0" smtClean="0"/>
              </a:p>
              <a:p>
                <a:pPr marL="0" indent="0">
                  <a:buNone/>
                </a:pPr>
                <a14:m>
                  <m:oMath xmlns:m="http://schemas.openxmlformats.org/officeDocument/2006/math">
                    <m:sSub>
                      <m:sSubPr>
                        <m:ctrlPr>
                          <a:rPr lang="en-US" altLang="zh-CN" i="1">
                            <a:latin typeface="Cambria Math" panose="02040503050406030204" pitchFamily="18" charset="0"/>
                          </a:rPr>
                        </m:ctrlPr>
                      </m:sSubPr>
                      <m:e>
                        <m:r>
                          <a:rPr lang="en-US" altLang="zh-CN" b="0" i="0" smtClean="0">
                            <a:latin typeface="Cambria Math" panose="02040503050406030204" pitchFamily="18" charset="0"/>
                          </a:rPr>
                          <m:t>        </m:t>
                        </m:r>
                        <m:r>
                          <m:rPr>
                            <m:sty m:val="p"/>
                          </m:rPr>
                          <a:rPr lang="en-US" altLang="zh-CN">
                            <a:latin typeface="Cambria Math" panose="02040503050406030204" pitchFamily="18" charset="0"/>
                          </a:rPr>
                          <m:t>M</m:t>
                        </m:r>
                      </m:e>
                      <m:sub>
                        <m:sSub>
                          <m:sSubPr>
                            <m:ctrlPr>
                              <a:rPr lang="en-US" altLang="zh-CN" i="1">
                                <a:latin typeface="Cambria Math" panose="02040503050406030204" pitchFamily="18" charset="0"/>
                              </a:rPr>
                            </m:ctrlPr>
                          </m:sSubPr>
                          <m:e>
                            <m:r>
                              <m:rPr>
                                <m:sty m:val="p"/>
                              </m:rPr>
                              <a:rPr lang="en-US" altLang="zh-CN">
                                <a:latin typeface="Cambria Math" panose="02040503050406030204" pitchFamily="18" charset="0"/>
                              </a:rPr>
                              <m:t>R</m:t>
                            </m:r>
                          </m:e>
                          <m:sub>
                            <m:r>
                              <a:rPr lang="en-US" altLang="zh-CN">
                                <a:latin typeface="Cambria Math" panose="02040503050406030204" pitchFamily="18" charset="0"/>
                              </a:rPr>
                              <m:t>1</m:t>
                            </m:r>
                          </m:sub>
                        </m:sSub>
                        <m:r>
                          <a:rPr lang="en-US" altLang="zh-CN">
                            <a:latin typeface="Cambria Math" panose="02040503050406030204" pitchFamily="18" charset="0"/>
                          </a:rPr>
                          <m:t>∩</m:t>
                        </m:r>
                        <m:sSub>
                          <m:sSubPr>
                            <m:ctrlPr>
                              <a:rPr lang="en-US" altLang="zh-CN" i="1">
                                <a:latin typeface="Cambria Math" panose="02040503050406030204" pitchFamily="18" charset="0"/>
                              </a:rPr>
                            </m:ctrlPr>
                          </m:sSubPr>
                          <m:e>
                            <m:r>
                              <m:rPr>
                                <m:sty m:val="p"/>
                              </m:rPr>
                              <a:rPr lang="en-US" altLang="zh-CN">
                                <a:latin typeface="Cambria Math" panose="02040503050406030204" pitchFamily="18" charset="0"/>
                              </a:rPr>
                              <m:t>R</m:t>
                            </m:r>
                          </m:e>
                          <m:sub>
                            <m:r>
                              <a:rPr lang="en-US" altLang="zh-CN">
                                <a:latin typeface="Cambria Math" panose="02040503050406030204" pitchFamily="18" charset="0"/>
                              </a:rPr>
                              <m:t>2</m:t>
                            </m:r>
                          </m:sub>
                        </m:sSub>
                      </m:sub>
                    </m:sSub>
                    <m:r>
                      <a:rPr lang="en-US" altLang="zh-CN">
                        <a:latin typeface="Cambria Math" panose="02040503050406030204" pitchFamily="18" charset="0"/>
                      </a:rPr>
                      <m:t>=</m:t>
                    </m:r>
                    <m:sSub>
                      <m:sSubPr>
                        <m:ctrlPr>
                          <a:rPr lang="en-US" altLang="zh-CN" i="1">
                            <a:latin typeface="Cambria Math" panose="02040503050406030204" pitchFamily="18" charset="0"/>
                          </a:rPr>
                        </m:ctrlPr>
                      </m:sSubPr>
                      <m:e>
                        <m:r>
                          <m:rPr>
                            <m:sty m:val="p"/>
                          </m:rPr>
                          <a:rPr lang="en-US" altLang="zh-CN">
                            <a:latin typeface="Cambria Math" panose="02040503050406030204" pitchFamily="18" charset="0"/>
                          </a:rPr>
                          <m:t>M</m:t>
                        </m:r>
                      </m:e>
                      <m:sub>
                        <m:sSub>
                          <m:sSubPr>
                            <m:ctrlPr>
                              <a:rPr lang="en-US" altLang="zh-CN" i="1">
                                <a:latin typeface="Cambria Math" panose="02040503050406030204" pitchFamily="18" charset="0"/>
                              </a:rPr>
                            </m:ctrlPr>
                          </m:sSubPr>
                          <m:e>
                            <m:r>
                              <m:rPr>
                                <m:sty m:val="p"/>
                              </m:rPr>
                              <a:rPr lang="en-US" altLang="zh-CN">
                                <a:latin typeface="Cambria Math" panose="02040503050406030204" pitchFamily="18" charset="0"/>
                              </a:rPr>
                              <m:t>R</m:t>
                            </m:r>
                          </m:e>
                          <m:sub>
                            <m:r>
                              <a:rPr lang="en-US" altLang="zh-CN">
                                <a:latin typeface="Cambria Math" panose="02040503050406030204" pitchFamily="18" charset="0"/>
                              </a:rPr>
                              <m:t>1</m:t>
                            </m:r>
                          </m:sub>
                        </m:sSub>
                      </m:sub>
                    </m:sSub>
                    <m:r>
                      <a:rPr lang="en-US" altLang="zh-CN">
                        <a:latin typeface="Cambria Math" panose="02040503050406030204" pitchFamily="18" charset="0"/>
                      </a:rPr>
                      <m:t>∧</m:t>
                    </m:r>
                    <m:sSub>
                      <m:sSubPr>
                        <m:ctrlPr>
                          <a:rPr lang="en-US" altLang="zh-CN" i="1">
                            <a:latin typeface="Cambria Math" panose="02040503050406030204" pitchFamily="18" charset="0"/>
                          </a:rPr>
                        </m:ctrlPr>
                      </m:sSubPr>
                      <m:e>
                        <m:r>
                          <m:rPr>
                            <m:sty m:val="p"/>
                          </m:rPr>
                          <a:rPr lang="en-US" altLang="zh-CN">
                            <a:latin typeface="Cambria Math" panose="02040503050406030204" pitchFamily="18" charset="0"/>
                          </a:rPr>
                          <m:t>M</m:t>
                        </m:r>
                      </m:e>
                      <m:sub>
                        <m:sSub>
                          <m:sSubPr>
                            <m:ctrlPr>
                              <a:rPr lang="en-US" altLang="zh-CN" i="1">
                                <a:latin typeface="Cambria Math" panose="02040503050406030204" pitchFamily="18" charset="0"/>
                              </a:rPr>
                            </m:ctrlPr>
                          </m:sSubPr>
                          <m:e>
                            <m:r>
                              <m:rPr>
                                <m:sty m:val="p"/>
                              </m:rPr>
                              <a:rPr lang="en-US" altLang="zh-CN">
                                <a:latin typeface="Cambria Math" panose="02040503050406030204" pitchFamily="18" charset="0"/>
                              </a:rPr>
                              <m:t>R</m:t>
                            </m:r>
                          </m:e>
                          <m:sub>
                            <m:r>
                              <a:rPr lang="en-US" altLang="zh-CN">
                                <a:latin typeface="Cambria Math" panose="02040503050406030204" pitchFamily="18" charset="0"/>
                              </a:rPr>
                              <m:t>2</m:t>
                            </m:r>
                          </m:sub>
                        </m:sSub>
                      </m:sub>
                    </m:sSub>
                  </m:oMath>
                </a14:m>
                <a:r>
                  <a:rPr lang="en-US" dirty="0" smtClean="0"/>
                  <a:t>=</a:t>
                </a:r>
                <a14:m>
                  <m:oMath xmlns:m="http://schemas.openxmlformats.org/officeDocument/2006/math">
                    <m:d>
                      <m:dPr>
                        <m:begChr m:val="["/>
                        <m:endChr m:val="]"/>
                        <m:ctrlPr>
                          <a:rPr lang="en-US" altLang="zh-CN" i="1">
                            <a:latin typeface="Cambria Math" panose="02040503050406030204" pitchFamily="18" charset="0"/>
                          </a:rPr>
                        </m:ctrlPr>
                      </m:dPr>
                      <m:e>
                        <m:eqArr>
                          <m:eqArrPr>
                            <m:ctrlPr>
                              <a:rPr lang="en-US" altLang="zh-CN" i="1">
                                <a:latin typeface="Cambria Math" panose="02040503050406030204" pitchFamily="18" charset="0"/>
                              </a:rPr>
                            </m:ctrlPr>
                          </m:eqArrPr>
                          <m:e>
                            <m:r>
                              <a:rPr lang="en-US" altLang="zh-CN" i="1">
                                <a:latin typeface="Cambria Math" panose="02040503050406030204" pitchFamily="18" charset="0"/>
                              </a:rPr>
                              <m:t>101</m:t>
                            </m:r>
                          </m:e>
                          <m:e>
                            <m:r>
                              <a:rPr lang="en-US" altLang="zh-CN" b="0" i="1" smtClean="0">
                                <a:latin typeface="Cambria Math" panose="02040503050406030204" pitchFamily="18" charset="0"/>
                              </a:rPr>
                              <m:t>00</m:t>
                            </m:r>
                            <m:r>
                              <a:rPr lang="en-US" altLang="zh-CN" i="1">
                                <a:latin typeface="Cambria Math" panose="02040503050406030204" pitchFamily="18" charset="0"/>
                              </a:rPr>
                              <m:t>0</m:t>
                            </m:r>
                          </m:e>
                          <m:e>
                            <m:r>
                              <a:rPr lang="en-US" altLang="zh-CN" b="0" i="1" smtClean="0">
                                <a:latin typeface="Cambria Math" panose="02040503050406030204" pitchFamily="18" charset="0"/>
                              </a:rPr>
                              <m:t>000</m:t>
                            </m:r>
                          </m:e>
                        </m:eqArr>
                      </m:e>
                    </m:d>
                  </m:oMath>
                </a14:m>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999" t="-2024" r="-166"/>
                </a:stretch>
              </a:blipFill>
            </p:spPr>
            <p:txBody>
              <a:bodyPr/>
              <a:lstStyle/>
              <a:p>
                <a:r>
                  <a:rPr lang="zh-CN" altLang="en-US">
                    <a:noFill/>
                  </a:rPr>
                  <a:t> </a:t>
                </a:r>
              </a:p>
            </p:txBody>
          </p:sp>
        </mc:Fallback>
      </mc:AlternateContent>
      <p:sp>
        <p:nvSpPr>
          <p:cNvPr id="7" name="日期占位符 6"/>
          <p:cNvSpPr>
            <a:spLocks noGrp="1"/>
          </p:cNvSpPr>
          <p:nvPr>
            <p:ph type="dt" sz="half" idx="10"/>
          </p:nvPr>
        </p:nvSpPr>
        <p:spPr/>
        <p:txBody>
          <a:bodyPr/>
          <a:lstStyle/>
          <a:p>
            <a:fld id="{3E7DDC12-34AE-4985-A1CE-D57D41786DF9}" type="datetime1">
              <a:rPr lang="zh-CN" altLang="en-US" smtClean="0"/>
              <a:t>2025/3/14</a:t>
            </a:fld>
            <a:endParaRPr lang="zh-CN" altLang="en-US" dirty="0"/>
          </a:p>
        </p:txBody>
      </p:sp>
      <p:sp>
        <p:nvSpPr>
          <p:cNvPr id="8" name="页脚占位符 7"/>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9" name="灯片编号占位符 8"/>
          <p:cNvSpPr>
            <a:spLocks noGrp="1"/>
          </p:cNvSpPr>
          <p:nvPr>
            <p:ph type="sldNum" sz="quarter" idx="12"/>
          </p:nvPr>
        </p:nvSpPr>
        <p:spPr/>
        <p:txBody>
          <a:bodyPr/>
          <a:lstStyle/>
          <a:p>
            <a:fld id="{67913A8A-9EFB-4B5F-9CCB-3D21173FAA85}" type="slidenum">
              <a:rPr lang="zh-CN" altLang="en-US" smtClean="0"/>
              <a:pPr/>
              <a:t>42</a:t>
            </a:fld>
            <a:endParaRPr lang="zh-CN" altLang="en-US" dirty="0"/>
          </a:p>
        </p:txBody>
      </p:sp>
    </p:spTree>
    <p:extLst>
      <p:ext uri="{BB962C8B-B14F-4D97-AF65-F5344CB8AC3E}">
        <p14:creationId xmlns:p14="http://schemas.microsoft.com/office/powerpoint/2010/main" val="2566380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wipe(down)">
                                      <p:cBhvr>
                                        <p:cTn id="7" dur="500"/>
                                        <p:tgtEl>
                                          <p:spTgt spid="3">
                                            <p:txEl>
                                              <p:pRg st="2" end="2"/>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3">
                                            <p:txEl>
                                              <p:pRg st="3" end="3"/>
                                            </p:txEl>
                                          </p:spTgt>
                                        </p:tgtEl>
                                        <p:attrNameLst>
                                          <p:attrName>style.visibility</p:attrName>
                                        </p:attrNameLst>
                                      </p:cBhvr>
                                      <p:to>
                                        <p:strVal val="visible"/>
                                      </p:to>
                                    </p:set>
                                    <p:animEffect transition="in" filter="wipe(down)">
                                      <p:cBhvr>
                                        <p:cTn id="10" dur="500"/>
                                        <p:tgtEl>
                                          <p:spTgt spid="3">
                                            <p:txEl>
                                              <p:pRg st="3" end="3"/>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animEffect transition="in" filter="wipe(down)">
                                      <p:cBhvr>
                                        <p:cTn id="13"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用矩阵表示关系</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zh-CN" altLang="en-US" dirty="0" smtClean="0"/>
                  <a:t>两个关系的合成的矩阵表示</a:t>
                </a:r>
                <a:r>
                  <a:rPr lang="en-US" altLang="zh-CN" dirty="0" smtClean="0"/>
                  <a:t>:</a:t>
                </a:r>
              </a:p>
              <a:p>
                <a:r>
                  <a:rPr lang="zh-CN" altLang="en-US" dirty="0" smtClean="0"/>
                  <a:t>两</a:t>
                </a:r>
                <a:r>
                  <a:rPr lang="zh-CN" altLang="en-US" dirty="0"/>
                  <a:t>个关系</a:t>
                </a:r>
                <a:r>
                  <a:rPr lang="zh-CN" altLang="en-US" dirty="0" smtClean="0"/>
                  <a:t>的</a:t>
                </a:r>
                <a:r>
                  <a:rPr lang="zh-CN" altLang="en-US" dirty="0"/>
                  <a:t>合成</a:t>
                </a:r>
                <a:r>
                  <a:rPr lang="zh-CN" altLang="en-US" dirty="0" smtClean="0"/>
                  <a:t>的矩阵可以通过关系矩阵的布尔积</a:t>
                </a:r>
                <a14:m>
                  <m:oMath xmlns:m="http://schemas.openxmlformats.org/officeDocument/2006/math">
                    <m:r>
                      <a:rPr lang="en-US" altLang="zh-CN" i="1">
                        <a:latin typeface="Cambria Math" panose="02040503050406030204" pitchFamily="18" charset="0"/>
                        <a:ea typeface="Cambria Math" panose="02040503050406030204" pitchFamily="18" charset="0"/>
                      </a:rPr>
                      <m:t>⊙</m:t>
                    </m:r>
                  </m:oMath>
                </a14:m>
                <a:r>
                  <a:rPr lang="zh-CN" altLang="en-US" dirty="0" smtClean="0"/>
                  <a:t>得到</a:t>
                </a:r>
                <a:r>
                  <a:rPr lang="en-US" altLang="zh-CN" dirty="0" smtClean="0"/>
                  <a:t>. R</a:t>
                </a:r>
                <a:r>
                  <a:rPr lang="zh-CN" altLang="en-US" dirty="0" smtClean="0"/>
                  <a:t>是从集合</a:t>
                </a:r>
                <a:r>
                  <a:rPr lang="en-US" altLang="zh-CN" dirty="0" smtClean="0"/>
                  <a:t>A(</a:t>
                </a:r>
                <a14:m>
                  <m:oMath xmlns:m="http://schemas.openxmlformats.org/officeDocument/2006/math">
                    <m:r>
                      <a:rPr lang="en-US" altLang="zh-CN" i="1" dirty="0">
                        <a:latin typeface="Cambria Math" panose="02040503050406030204" pitchFamily="18" charset="0"/>
                      </a:rPr>
                      <m:t>𝑚</m:t>
                    </m:r>
                  </m:oMath>
                </a14:m>
                <a:r>
                  <a:rPr lang="zh-CN" altLang="en-US" dirty="0" smtClean="0"/>
                  <a:t>个元素</a:t>
                </a:r>
                <a:r>
                  <a:rPr lang="en-US" altLang="zh-CN" dirty="0" smtClean="0"/>
                  <a:t>)</a:t>
                </a:r>
                <a:r>
                  <a:rPr lang="zh-CN" altLang="en-US" dirty="0" smtClean="0"/>
                  <a:t>到集合</a:t>
                </a:r>
                <a:r>
                  <a:rPr lang="en-US" altLang="zh-CN" dirty="0" smtClean="0"/>
                  <a:t>B(</a:t>
                </a:r>
                <a14:m>
                  <m:oMath xmlns:m="http://schemas.openxmlformats.org/officeDocument/2006/math">
                    <m:r>
                      <a:rPr lang="en-US" altLang="zh-CN" i="1" dirty="0">
                        <a:latin typeface="Cambria Math" panose="02040503050406030204" pitchFamily="18" charset="0"/>
                        <a:ea typeface="Cambria Math" panose="02040503050406030204" pitchFamily="18" charset="0"/>
                      </a:rPr>
                      <m:t>𝑛</m:t>
                    </m:r>
                  </m:oMath>
                </a14:m>
                <a:r>
                  <a:rPr lang="zh-CN" altLang="en-US" dirty="0" smtClean="0"/>
                  <a:t>个元素</a:t>
                </a:r>
                <a:r>
                  <a:rPr lang="en-US" altLang="zh-CN" dirty="0" smtClean="0"/>
                  <a:t>)</a:t>
                </a:r>
                <a:r>
                  <a:rPr lang="zh-CN" altLang="en-US" dirty="0" smtClean="0"/>
                  <a:t>的关系</a:t>
                </a:r>
                <a:r>
                  <a:rPr lang="en-US" altLang="zh-CN" dirty="0" smtClean="0"/>
                  <a:t>, S</a:t>
                </a:r>
                <a:r>
                  <a:rPr lang="zh-CN" altLang="en-US" dirty="0" smtClean="0"/>
                  <a:t>是从集合</a:t>
                </a:r>
                <a:r>
                  <a:rPr lang="en-US" altLang="zh-CN" dirty="0" smtClean="0"/>
                  <a:t>B</a:t>
                </a:r>
                <a:r>
                  <a:rPr lang="zh-CN" altLang="en-US" dirty="0" smtClean="0"/>
                  <a:t>到集合</a:t>
                </a:r>
                <a:r>
                  <a:rPr lang="en-US" altLang="zh-CN" dirty="0" smtClean="0"/>
                  <a:t>C(</a:t>
                </a:r>
                <a14:m>
                  <m:oMath xmlns:m="http://schemas.openxmlformats.org/officeDocument/2006/math">
                    <m:r>
                      <a:rPr lang="en-US" altLang="zh-CN" i="1" dirty="0">
                        <a:latin typeface="Cambria Math" panose="02040503050406030204" pitchFamily="18" charset="0"/>
                        <a:ea typeface="Cambria Math" panose="02040503050406030204" pitchFamily="18" charset="0"/>
                      </a:rPr>
                      <m:t>𝑝</m:t>
                    </m:r>
                  </m:oMath>
                </a14:m>
                <a:r>
                  <a:rPr lang="zh-CN" altLang="en-US" dirty="0" smtClean="0"/>
                  <a:t>个元素</a:t>
                </a:r>
                <a:r>
                  <a:rPr lang="en-US" altLang="zh-CN" dirty="0" smtClean="0"/>
                  <a:t>)</a:t>
                </a:r>
                <a:r>
                  <a:rPr lang="zh-CN" altLang="en-US" dirty="0" smtClean="0"/>
                  <a:t>的关系</a:t>
                </a:r>
                <a:r>
                  <a:rPr lang="en-US" altLang="zh-CN" dirty="0" smtClean="0"/>
                  <a:t>. </a:t>
                </a:r>
                <a:r>
                  <a:rPr lang="zh-CN" altLang="en-US" dirty="0" smtClean="0"/>
                  <a:t>关系</a:t>
                </a:r>
                <a14:m>
                  <m:oMath xmlns:m="http://schemas.openxmlformats.org/officeDocument/2006/math">
                    <m:r>
                      <m:rPr>
                        <m:nor/>
                      </m:rPr>
                      <a:rPr lang="en-US" altLang="zh-CN" dirty="0"/>
                      <m:t>R</m:t>
                    </m:r>
                  </m:oMath>
                </a14:m>
                <a:r>
                  <a:rPr lang="zh-CN" altLang="en-US" dirty="0"/>
                  <a:t>和</a:t>
                </a:r>
                <a14:m>
                  <m:oMath xmlns:m="http://schemas.openxmlformats.org/officeDocument/2006/math">
                    <m:r>
                      <m:rPr>
                        <m:nor/>
                      </m:rPr>
                      <a:rPr lang="en-US" altLang="zh-CN" dirty="0"/>
                      <m:t>S</m:t>
                    </m:r>
                    <m:r>
                      <a:rPr lang="zh-CN" altLang="en-US" i="1">
                        <a:latin typeface="Cambria Math" panose="02040503050406030204" pitchFamily="18" charset="0"/>
                      </a:rPr>
                      <m:t>分别</m:t>
                    </m:r>
                  </m:oMath>
                </a14:m>
                <a:r>
                  <a:rPr lang="zh-CN" altLang="en-US" dirty="0" smtClean="0"/>
                  <a:t>由</a:t>
                </a:r>
                <a14:m>
                  <m:oMath xmlns:m="http://schemas.openxmlformats.org/officeDocument/2006/math">
                    <m:r>
                      <a:rPr lang="en-US" altLang="zh-CN" i="1" dirty="0">
                        <a:latin typeface="Cambria Math" panose="02040503050406030204" pitchFamily="18" charset="0"/>
                      </a:rPr>
                      <m:t>𝑚</m:t>
                    </m:r>
                    <m:r>
                      <a:rPr lang="en-US" altLang="zh-CN" i="1" dirty="0">
                        <a:latin typeface="Cambria Math" panose="02040503050406030204" pitchFamily="18" charset="0"/>
                        <a:ea typeface="Cambria Math" panose="02040503050406030204" pitchFamily="18" charset="0"/>
                      </a:rPr>
                      <m:t>×</m:t>
                    </m:r>
                    <m:r>
                      <a:rPr lang="en-US" altLang="zh-CN" b="0" i="1" dirty="0" smtClean="0">
                        <a:latin typeface="Cambria Math" panose="02040503050406030204" pitchFamily="18" charset="0"/>
                        <a:ea typeface="Cambria Math" panose="02040503050406030204" pitchFamily="18" charset="0"/>
                      </a:rPr>
                      <m:t>𝑛</m:t>
                    </m:r>
                  </m:oMath>
                </a14:m>
                <a:r>
                  <a:rPr lang="zh-CN" altLang="en-US" dirty="0" smtClean="0"/>
                  <a:t>矩阵</a:t>
                </a:r>
                <a14:m>
                  <m:oMath xmlns:m="http://schemas.openxmlformats.org/officeDocument/2006/math">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M</m:t>
                        </m:r>
                      </m:e>
                      <m:sub>
                        <m:r>
                          <m:rPr>
                            <m:sty m:val="p"/>
                          </m:rPr>
                          <a:rPr lang="en-US" altLang="zh-CN" i="1">
                            <a:latin typeface="Cambria Math" panose="02040503050406030204" pitchFamily="18" charset="0"/>
                          </a:rPr>
                          <m:t>R</m:t>
                        </m:r>
                      </m:sub>
                    </m:sSub>
                  </m:oMath>
                </a14:m>
                <a:r>
                  <a:rPr lang="en-US" altLang="zh-CN" dirty="0" smtClean="0"/>
                  <a:t>=[</a:t>
                </a:r>
                <a14:m>
                  <m:oMath xmlns:m="http://schemas.openxmlformats.org/officeDocument/2006/math">
                    <m:sSub>
                      <m:sSubPr>
                        <m:ctrlPr>
                          <a:rPr lang="en-US" altLang="zh-CN" i="1">
                            <a:latin typeface="Cambria Math" panose="02040503050406030204" pitchFamily="18" charset="0"/>
                          </a:rPr>
                        </m:ctrlPr>
                      </m:sSubPr>
                      <m:e>
                        <m:r>
                          <a:rPr lang="en-US" altLang="zh-CN" b="0" i="1" smtClean="0">
                            <a:latin typeface="Cambria Math" panose="02040503050406030204" pitchFamily="18" charset="0"/>
                          </a:rPr>
                          <m:t>𝑟</m:t>
                        </m:r>
                      </m:e>
                      <m:sub>
                        <m:r>
                          <a:rPr lang="en-US" altLang="zh-CN" b="0" i="1" smtClean="0">
                            <a:latin typeface="Cambria Math" panose="02040503050406030204" pitchFamily="18" charset="0"/>
                          </a:rPr>
                          <m:t>𝑖𝑗</m:t>
                        </m:r>
                      </m:sub>
                    </m:sSub>
                  </m:oMath>
                </a14:m>
                <a:r>
                  <a:rPr lang="en-US" altLang="zh-CN" dirty="0" smtClean="0"/>
                  <a:t>]</a:t>
                </a:r>
                <a:r>
                  <a:rPr lang="zh-CN" altLang="en-US" dirty="0" smtClean="0"/>
                  <a:t>和</a:t>
                </a:r>
                <a14:m>
                  <m:oMath xmlns:m="http://schemas.openxmlformats.org/officeDocument/2006/math">
                    <m:sSub>
                      <m:sSubPr>
                        <m:ctrlPr>
                          <a:rPr lang="en-US" altLang="zh-CN" i="1">
                            <a:latin typeface="Cambria Math" panose="02040503050406030204" pitchFamily="18" charset="0"/>
                          </a:rPr>
                        </m:ctrlPr>
                      </m:sSubPr>
                      <m:e>
                        <m:r>
                          <a:rPr lang="en-US" altLang="zh-CN" b="0" i="1" dirty="0" smtClean="0">
                            <a:latin typeface="Cambria Math" panose="02040503050406030204" pitchFamily="18" charset="0"/>
                          </a:rPr>
                          <m:t>𝑛</m:t>
                        </m:r>
                        <m:r>
                          <a:rPr lang="en-US" altLang="zh-CN" i="1" dirty="0">
                            <a:latin typeface="Cambria Math" panose="02040503050406030204" pitchFamily="18" charset="0"/>
                            <a:ea typeface="Cambria Math" panose="02040503050406030204" pitchFamily="18" charset="0"/>
                          </a:rPr>
                          <m:t>×</m:t>
                        </m:r>
                        <m:r>
                          <a:rPr lang="en-US" altLang="zh-CN" i="1" dirty="0">
                            <a:latin typeface="Cambria Math" panose="02040503050406030204" pitchFamily="18" charset="0"/>
                            <a:ea typeface="Cambria Math" panose="02040503050406030204" pitchFamily="18" charset="0"/>
                          </a:rPr>
                          <m:t>𝑝</m:t>
                        </m:r>
                        <m:r>
                          <m:rPr>
                            <m:nor/>
                          </m:rPr>
                          <a:rPr lang="zh-CN" altLang="en-US" dirty="0"/>
                          <m:t>矩阵</m:t>
                        </m:r>
                        <m:r>
                          <m:rPr>
                            <m:sty m:val="p"/>
                          </m:rPr>
                          <a:rPr lang="en-US" altLang="zh-CN" i="1">
                            <a:latin typeface="Cambria Math" panose="02040503050406030204" pitchFamily="18" charset="0"/>
                          </a:rPr>
                          <m:t>M</m:t>
                        </m:r>
                      </m:e>
                      <m:sub>
                        <m:r>
                          <a:rPr lang="en-US" altLang="zh-CN" b="0" i="1" smtClean="0">
                            <a:latin typeface="Cambria Math" panose="02040503050406030204" pitchFamily="18" charset="0"/>
                          </a:rPr>
                          <m:t>𝑆</m:t>
                        </m:r>
                      </m:sub>
                    </m:sSub>
                  </m:oMath>
                </a14:m>
                <a:r>
                  <a:rPr lang="en-US" altLang="zh-CN" dirty="0"/>
                  <a:t> =[</a:t>
                </a:r>
                <a14:m>
                  <m:oMath xmlns:m="http://schemas.openxmlformats.org/officeDocument/2006/math">
                    <m:sSub>
                      <m:sSubPr>
                        <m:ctrlPr>
                          <a:rPr lang="en-US" altLang="zh-CN" i="1">
                            <a:latin typeface="Cambria Math" panose="02040503050406030204" pitchFamily="18" charset="0"/>
                          </a:rPr>
                        </m:ctrlPr>
                      </m:sSubPr>
                      <m:e>
                        <m:r>
                          <a:rPr lang="en-US" altLang="zh-CN" b="0" i="1" smtClean="0">
                            <a:latin typeface="Cambria Math" panose="02040503050406030204" pitchFamily="18" charset="0"/>
                          </a:rPr>
                          <m:t>𝑠</m:t>
                        </m:r>
                      </m:e>
                      <m:sub>
                        <m:r>
                          <a:rPr lang="en-US" altLang="zh-CN" i="1">
                            <a:latin typeface="Cambria Math" panose="02040503050406030204" pitchFamily="18" charset="0"/>
                          </a:rPr>
                          <m:t>𝑖𝑗</m:t>
                        </m:r>
                      </m:sub>
                    </m:sSub>
                  </m:oMath>
                </a14:m>
                <a:r>
                  <a:rPr lang="en-US" altLang="zh-CN" dirty="0"/>
                  <a:t>]</a:t>
                </a:r>
                <a:r>
                  <a:rPr lang="zh-CN" altLang="en-US" dirty="0"/>
                  <a:t>表示</a:t>
                </a:r>
                <a:r>
                  <a:rPr lang="en-US" altLang="zh-CN" dirty="0" smtClean="0"/>
                  <a:t>. </a:t>
                </a:r>
                <a14:m>
                  <m:oMath xmlns:m="http://schemas.openxmlformats.org/officeDocument/2006/math">
                    <m:r>
                      <a:rPr lang="en-US" altLang="zh-CN" b="0" i="1" smtClean="0">
                        <a:latin typeface="Cambria Math" panose="02040503050406030204" pitchFamily="18" charset="0"/>
                        <a:ea typeface="Cambria Math" panose="02040503050406030204" pitchFamily="18" charset="0"/>
                      </a:rPr>
                      <m:t>𝑅</m:t>
                    </m:r>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rPr>
                      <m:t>𝑆</m:t>
                    </m:r>
                  </m:oMath>
                </a14:m>
                <a:r>
                  <a:rPr lang="zh-CN" altLang="en-US" dirty="0" smtClean="0"/>
                  <a:t>由</a:t>
                </a:r>
                <a14:m>
                  <m:oMath xmlns:m="http://schemas.openxmlformats.org/officeDocument/2006/math">
                    <m:r>
                      <a:rPr lang="en-US" altLang="zh-CN" b="0" i="1" dirty="0" smtClean="0">
                        <a:latin typeface="Cambria Math" panose="02040503050406030204" pitchFamily="18" charset="0"/>
                      </a:rPr>
                      <m:t>𝑚</m:t>
                    </m:r>
                    <m:r>
                      <a:rPr lang="en-US" altLang="zh-CN" b="0" i="1" dirty="0" smtClean="0">
                        <a:latin typeface="Cambria Math" panose="02040503050406030204" pitchFamily="18" charset="0"/>
                        <a:ea typeface="Cambria Math" panose="02040503050406030204" pitchFamily="18" charset="0"/>
                      </a:rPr>
                      <m:t>×</m:t>
                    </m:r>
                    <m:r>
                      <a:rPr lang="en-US" altLang="zh-CN" b="0" i="1" dirty="0" smtClean="0">
                        <a:latin typeface="Cambria Math" panose="02040503050406030204" pitchFamily="18" charset="0"/>
                        <a:ea typeface="Cambria Math" panose="02040503050406030204" pitchFamily="18" charset="0"/>
                      </a:rPr>
                      <m:t>𝑝</m:t>
                    </m:r>
                  </m:oMath>
                </a14:m>
                <a:r>
                  <a:rPr lang="zh-CN" altLang="en-US" dirty="0"/>
                  <a:t>矩阵</a:t>
                </a:r>
                <a14:m>
                  <m:oMath xmlns:m="http://schemas.openxmlformats.org/officeDocument/2006/math">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M</m:t>
                        </m:r>
                      </m:e>
                      <m:sub>
                        <m:r>
                          <a:rPr lang="en-US" altLang="zh-CN" i="1">
                            <a:latin typeface="Cambria Math" panose="02040503050406030204" pitchFamily="18" charset="0"/>
                            <a:ea typeface="Cambria Math" panose="02040503050406030204" pitchFamily="18" charset="0"/>
                          </a:rPr>
                          <m:t>𝑅</m:t>
                        </m:r>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rPr>
                          <m:t>𝑆</m:t>
                        </m:r>
                      </m:sub>
                    </m:sSub>
                  </m:oMath>
                </a14:m>
                <a:r>
                  <a:rPr lang="en-US" altLang="zh-CN" dirty="0"/>
                  <a:t>=[</a:t>
                </a:r>
                <a14:m>
                  <m:oMath xmlns:m="http://schemas.openxmlformats.org/officeDocument/2006/math">
                    <m:sSub>
                      <m:sSubPr>
                        <m:ctrlPr>
                          <a:rPr lang="en-US" altLang="zh-CN" i="1">
                            <a:latin typeface="Cambria Math" panose="02040503050406030204" pitchFamily="18" charset="0"/>
                          </a:rPr>
                        </m:ctrlPr>
                      </m:sSubPr>
                      <m:e>
                        <m:r>
                          <a:rPr lang="en-US" altLang="zh-CN" b="0" i="1" smtClean="0">
                            <a:latin typeface="Cambria Math" panose="02040503050406030204" pitchFamily="18" charset="0"/>
                          </a:rPr>
                          <m:t>𝑡</m:t>
                        </m:r>
                      </m:e>
                      <m:sub>
                        <m:r>
                          <a:rPr lang="en-US" altLang="zh-CN" i="1">
                            <a:latin typeface="Cambria Math" panose="02040503050406030204" pitchFamily="18" charset="0"/>
                          </a:rPr>
                          <m:t>𝑖𝑗</m:t>
                        </m:r>
                      </m:sub>
                    </m:sSub>
                  </m:oMath>
                </a14:m>
                <a:r>
                  <a:rPr lang="en-US" altLang="zh-CN" dirty="0" smtClean="0"/>
                  <a:t>]</a:t>
                </a:r>
                <a:r>
                  <a:rPr lang="zh-CN" altLang="en-US" dirty="0" smtClean="0"/>
                  <a:t>表示</a:t>
                </a:r>
                <a:r>
                  <a:rPr lang="en-US" altLang="zh-CN" dirty="0" smtClean="0"/>
                  <a:t>.</a:t>
                </a:r>
              </a:p>
              <a:p>
                <a:r>
                  <a:rPr lang="zh-CN" altLang="en-US" dirty="0"/>
                  <a:t>有序</a:t>
                </a:r>
                <a:r>
                  <a:rPr lang="zh-CN" altLang="en-US" dirty="0" smtClean="0"/>
                  <a:t>对</a:t>
                </a:r>
                <a14:m>
                  <m:oMath xmlns:m="http://schemas.openxmlformats.org/officeDocument/2006/math">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𝑎</m:t>
                        </m:r>
                      </m:e>
                      <m:sub>
                        <m:r>
                          <a:rPr lang="en-US" altLang="zh-CN" b="0" i="1" smtClean="0">
                            <a:latin typeface="Cambria Math" panose="02040503050406030204" pitchFamily="18" charset="0"/>
                          </a:rPr>
                          <m:t>𝑖</m:t>
                        </m:r>
                      </m:sub>
                    </m:sSub>
                    <m:r>
                      <a:rPr lang="en-US" altLang="zh-CN" b="0" i="1" smtClean="0">
                        <a:latin typeface="Cambria Math" panose="02040503050406030204" pitchFamily="18" charset="0"/>
                      </a:rPr>
                      <m:t>,</m:t>
                    </m:r>
                    <m:sSub>
                      <m:sSubPr>
                        <m:ctrlPr>
                          <a:rPr lang="en-US" altLang="zh-CN" i="1">
                            <a:latin typeface="Cambria Math" panose="02040503050406030204" pitchFamily="18" charset="0"/>
                          </a:rPr>
                        </m:ctrlPr>
                      </m:sSubPr>
                      <m:e>
                        <m:r>
                          <a:rPr lang="en-US" altLang="zh-CN" b="0" i="1" smtClean="0">
                            <a:latin typeface="Cambria Math" panose="02040503050406030204" pitchFamily="18" charset="0"/>
                          </a:rPr>
                          <m:t>𝑐</m:t>
                        </m:r>
                      </m:e>
                      <m:sub>
                        <m:r>
                          <a:rPr lang="en-US" altLang="zh-CN" b="0" i="1" smtClean="0">
                            <a:latin typeface="Cambria Math" panose="02040503050406030204" pitchFamily="18" charset="0"/>
                          </a:rPr>
                          <m:t>𝑗</m:t>
                        </m:r>
                      </m:sub>
                    </m:sSub>
                    <m:r>
                      <a:rPr lang="en-US" altLang="zh-CN" b="0" i="1" smtClean="0">
                        <a:latin typeface="Cambria Math" panose="02040503050406030204" pitchFamily="18" charset="0"/>
                      </a:rPr>
                      <m:t>)</m:t>
                    </m:r>
                    <m:r>
                      <a:rPr lang="zh-CN" altLang="en-US" i="1">
                        <a:latin typeface="Cambria Math" panose="02040503050406030204" pitchFamily="18" charset="0"/>
                      </a:rPr>
                      <m:t>属于</m:t>
                    </m:r>
                    <m:r>
                      <a:rPr lang="en-US" altLang="zh-CN" i="1">
                        <a:latin typeface="Cambria Math" panose="02040503050406030204" pitchFamily="18" charset="0"/>
                        <a:ea typeface="Cambria Math" panose="02040503050406030204" pitchFamily="18" charset="0"/>
                      </a:rPr>
                      <m:t>𝑅</m:t>
                    </m:r>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rPr>
                      <m:t>𝑆</m:t>
                    </m:r>
                  </m:oMath>
                </a14:m>
                <a:r>
                  <a:rPr lang="zh-CN" altLang="en-US" dirty="0" smtClean="0"/>
                  <a:t>，当且仅当存在元素</a:t>
                </a:r>
                <a14:m>
                  <m:oMath xmlns:m="http://schemas.openxmlformats.org/officeDocument/2006/math">
                    <m:sSub>
                      <m:sSubPr>
                        <m:ctrlPr>
                          <a:rPr lang="en-US" altLang="zh-CN" i="1">
                            <a:latin typeface="Cambria Math" panose="02040503050406030204" pitchFamily="18" charset="0"/>
                          </a:rPr>
                        </m:ctrlPr>
                      </m:sSubPr>
                      <m:e>
                        <m:r>
                          <a:rPr lang="en-US" altLang="zh-CN" b="0" i="1" smtClean="0">
                            <a:latin typeface="Cambria Math" panose="02040503050406030204" pitchFamily="18" charset="0"/>
                          </a:rPr>
                          <m:t>𝑏</m:t>
                        </m:r>
                      </m:e>
                      <m:sub>
                        <m:r>
                          <a:rPr lang="en-US" altLang="zh-CN" b="0" i="1" smtClean="0">
                            <a:latin typeface="Cambria Math" panose="02040503050406030204" pitchFamily="18" charset="0"/>
                          </a:rPr>
                          <m:t>𝑘</m:t>
                        </m:r>
                      </m:sub>
                    </m:sSub>
                    <m:r>
                      <a:rPr lang="zh-CN" altLang="en-US" i="1" smtClean="0">
                        <a:latin typeface="Cambria Math" panose="02040503050406030204" pitchFamily="18" charset="0"/>
                      </a:rPr>
                      <m:t>使得</m:t>
                    </m:r>
                    <m:d>
                      <m:dPr>
                        <m:ctrlPr>
                          <a:rPr lang="en-US" altLang="zh-CN" i="1" smtClean="0">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𝑎</m:t>
                            </m:r>
                          </m:e>
                          <m:sub>
                            <m:r>
                              <a:rPr lang="en-US" altLang="zh-CN" i="1">
                                <a:latin typeface="Cambria Math" panose="02040503050406030204" pitchFamily="18" charset="0"/>
                              </a:rPr>
                              <m:t>𝑖</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b="0" i="1" smtClean="0">
                                <a:latin typeface="Cambria Math" panose="02040503050406030204" pitchFamily="18" charset="0"/>
                              </a:rPr>
                              <m:t>𝑏</m:t>
                            </m:r>
                          </m:e>
                          <m:sub>
                            <m:r>
                              <a:rPr lang="en-US" altLang="zh-CN" b="0" i="1" smtClean="0">
                                <a:latin typeface="Cambria Math" panose="02040503050406030204" pitchFamily="18" charset="0"/>
                              </a:rPr>
                              <m:t>𝑘</m:t>
                            </m:r>
                          </m:sub>
                        </m:sSub>
                      </m:e>
                    </m:d>
                    <m:r>
                      <a:rPr lang="zh-CN" altLang="en-US" dirty="0">
                        <a:latin typeface="Cambria Math" panose="02040503050406030204" pitchFamily="18" charset="0"/>
                      </a:rPr>
                      <m:t>∈</m:t>
                    </m:r>
                    <m:r>
                      <m:rPr>
                        <m:sty m:val="p"/>
                      </m:rPr>
                      <a:rPr lang="en-US" altLang="zh-CN" i="1" dirty="0" smtClean="0">
                        <a:latin typeface="Cambria Math" panose="02040503050406030204" pitchFamily="18" charset="0"/>
                      </a:rPr>
                      <m:t>R</m:t>
                    </m:r>
                    <m:r>
                      <a:rPr lang="en-US" altLang="zh-CN" b="0" i="1" dirty="0" smtClean="0">
                        <a:latin typeface="Cambria Math" panose="02040503050406030204" pitchFamily="18" charset="0"/>
                      </a:rPr>
                      <m:t> </m:t>
                    </m:r>
                    <m:r>
                      <a:rPr lang="zh-CN" altLang="en-US" i="1" dirty="0">
                        <a:latin typeface="Cambria Math" panose="02040503050406030204" pitchFamily="18" charset="0"/>
                      </a:rPr>
                      <m:t>且</m:t>
                    </m:r>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𝑏</m:t>
                        </m:r>
                      </m:e>
                      <m:sub>
                        <m:r>
                          <a:rPr lang="en-US" altLang="zh-CN" i="1">
                            <a:latin typeface="Cambria Math" panose="02040503050406030204" pitchFamily="18" charset="0"/>
                          </a:rPr>
                          <m:t>𝑘</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𝑐</m:t>
                        </m:r>
                      </m:e>
                      <m:sub>
                        <m:r>
                          <a:rPr lang="en-US" altLang="zh-CN" i="1">
                            <a:latin typeface="Cambria Math" panose="02040503050406030204" pitchFamily="18" charset="0"/>
                          </a:rPr>
                          <m:t>𝑗</m:t>
                        </m:r>
                      </m:sub>
                    </m:sSub>
                    <m:r>
                      <a:rPr lang="en-US" altLang="zh-CN" i="1">
                        <a:latin typeface="Cambria Math" panose="02040503050406030204" pitchFamily="18" charset="0"/>
                      </a:rPr>
                      <m:t>)</m:t>
                    </m:r>
                    <m:r>
                      <a:rPr lang="zh-CN" altLang="en-US" dirty="0">
                        <a:latin typeface="Cambria Math" panose="02040503050406030204" pitchFamily="18" charset="0"/>
                      </a:rPr>
                      <m:t>∈</m:t>
                    </m:r>
                    <m:r>
                      <m:rPr>
                        <m:sty m:val="p"/>
                      </m:rPr>
                      <a:rPr lang="en-US" altLang="zh-CN" i="1" dirty="0">
                        <a:latin typeface="Cambria Math" panose="02040503050406030204" pitchFamily="18" charset="0"/>
                      </a:rPr>
                      <m:t>S</m:t>
                    </m:r>
                  </m:oMath>
                </a14:m>
                <a:r>
                  <a:rPr lang="en-US" dirty="0" smtClean="0"/>
                  <a:t>.</a:t>
                </a:r>
              </a:p>
              <a:p>
                <a:r>
                  <a:rPr lang="zh-CN" altLang="en-US" dirty="0" smtClean="0"/>
                  <a:t>换言之</a:t>
                </a:r>
                <a:r>
                  <a:rPr lang="en-US" altLang="zh-CN" dirty="0" smtClean="0"/>
                  <a:t>,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𝑡</m:t>
                        </m:r>
                      </m:e>
                      <m:sub>
                        <m:r>
                          <a:rPr lang="en-US" altLang="zh-CN" i="1">
                            <a:latin typeface="Cambria Math" panose="02040503050406030204" pitchFamily="18" charset="0"/>
                          </a:rPr>
                          <m:t>𝑖𝑗</m:t>
                        </m:r>
                      </m:sub>
                    </m:sSub>
                    <m:r>
                      <a:rPr lang="en-US" altLang="zh-CN" b="0" i="0" smtClean="0">
                        <a:latin typeface="Cambria Math" panose="02040503050406030204" pitchFamily="18" charset="0"/>
                      </a:rPr>
                      <m:t>=1</m:t>
                    </m:r>
                    <m:r>
                      <a:rPr lang="zh-CN" altLang="en-US" i="1">
                        <a:latin typeface="Cambria Math" panose="02040503050406030204" pitchFamily="18" charset="0"/>
                      </a:rPr>
                      <m:t>，</m:t>
                    </m:r>
                  </m:oMath>
                </a14:m>
                <a:r>
                  <a:rPr lang="zh-CN" altLang="en-US" dirty="0" smtClean="0"/>
                  <a:t>当且仅当存在某个</a:t>
                </a:r>
                <a14:m>
                  <m:oMath xmlns:m="http://schemas.openxmlformats.org/officeDocument/2006/math">
                    <m:r>
                      <a:rPr lang="en-US" altLang="zh-CN" i="1">
                        <a:latin typeface="Cambria Math" panose="02040503050406030204" pitchFamily="18" charset="0"/>
                      </a:rPr>
                      <m:t>𝑘</m:t>
                    </m:r>
                  </m:oMath>
                </a14:m>
                <a:r>
                  <a:rPr lang="zh-CN" altLang="en-US" dirty="0" smtClean="0"/>
                  <a:t>满足</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𝑟</m:t>
                        </m:r>
                      </m:e>
                      <m:sub>
                        <m:r>
                          <a:rPr lang="en-US" altLang="zh-CN" i="1" smtClean="0">
                            <a:latin typeface="Cambria Math" panose="02040503050406030204" pitchFamily="18" charset="0"/>
                          </a:rPr>
                          <m:t>𝑖</m:t>
                        </m:r>
                        <m:r>
                          <a:rPr lang="en-US" altLang="zh-CN" b="0" i="1" smtClean="0">
                            <a:latin typeface="Cambria Math" panose="02040503050406030204" pitchFamily="18" charset="0"/>
                          </a:rPr>
                          <m:t>𝑘</m:t>
                        </m:r>
                      </m:sub>
                    </m:sSub>
                  </m:oMath>
                </a14:m>
                <a:r>
                  <a:rPr lang="en-US" dirty="0" smtClean="0"/>
                  <a:t>=</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𝑠</m:t>
                        </m:r>
                      </m:e>
                      <m:sub>
                        <m:r>
                          <a:rPr lang="en-US" altLang="zh-CN" b="0" i="1" smtClean="0">
                            <a:latin typeface="Cambria Math" panose="02040503050406030204" pitchFamily="18" charset="0"/>
                          </a:rPr>
                          <m:t>𝑘</m:t>
                        </m:r>
                        <m:r>
                          <a:rPr lang="en-US" altLang="zh-CN" i="1">
                            <a:latin typeface="Cambria Math" panose="02040503050406030204" pitchFamily="18" charset="0"/>
                          </a:rPr>
                          <m:t>𝑗</m:t>
                        </m:r>
                      </m:sub>
                    </m:sSub>
                    <m:r>
                      <a:rPr lang="en-US" altLang="zh-CN" b="0" i="1" smtClean="0">
                        <a:latin typeface="Cambria Math" panose="02040503050406030204" pitchFamily="18" charset="0"/>
                      </a:rPr>
                      <m:t>=1.</m:t>
                    </m:r>
                  </m:oMath>
                </a14:m>
                <a:r>
                  <a:rPr lang="en-US" dirty="0" smtClean="0"/>
                  <a:t> </a:t>
                </a:r>
              </a:p>
              <a:p>
                <a14:m>
                  <m:oMath xmlns:m="http://schemas.openxmlformats.org/officeDocument/2006/math">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M</m:t>
                        </m:r>
                      </m:e>
                      <m:sub>
                        <m:r>
                          <a:rPr lang="en-US" altLang="zh-CN" i="1">
                            <a:latin typeface="Cambria Math" panose="02040503050406030204" pitchFamily="18" charset="0"/>
                            <a:ea typeface="Cambria Math" panose="02040503050406030204" pitchFamily="18" charset="0"/>
                          </a:rPr>
                          <m:t>𝑅</m:t>
                        </m:r>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rPr>
                          <m:t>𝑆</m:t>
                        </m:r>
                      </m:sub>
                    </m:sSub>
                  </m:oMath>
                </a14:m>
                <a:r>
                  <a:rPr lang="en-US" altLang="zh-CN" dirty="0"/>
                  <a:t>=</a:t>
                </a:r>
                <a14:m>
                  <m:oMath xmlns:m="http://schemas.openxmlformats.org/officeDocument/2006/math">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M</m:t>
                        </m:r>
                      </m:e>
                      <m:sub>
                        <m:r>
                          <m:rPr>
                            <m:sty m:val="p"/>
                          </m:rPr>
                          <a:rPr lang="en-US" altLang="zh-CN" i="1">
                            <a:latin typeface="Cambria Math" panose="02040503050406030204" pitchFamily="18" charset="0"/>
                          </a:rPr>
                          <m:t>R</m:t>
                        </m:r>
                      </m:sub>
                    </m:sSub>
                    <m:r>
                      <a:rPr lang="en-US" altLang="zh-CN" i="1" smtClean="0">
                        <a:latin typeface="Cambria Math" panose="02040503050406030204" pitchFamily="18" charset="0"/>
                        <a:ea typeface="Cambria Math" panose="02040503050406030204" pitchFamily="18" charset="0"/>
                      </a:rPr>
                      <m:t>⊙</m:t>
                    </m:r>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M</m:t>
                        </m:r>
                      </m:e>
                      <m:sub>
                        <m:r>
                          <a:rPr lang="en-US" altLang="zh-CN" i="1">
                            <a:latin typeface="Cambria Math" panose="02040503050406030204" pitchFamily="18" charset="0"/>
                          </a:rPr>
                          <m:t>𝑆</m:t>
                        </m:r>
                      </m:sub>
                    </m:sSub>
                  </m:oMath>
                </a14:m>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2"/>
                <a:stretch>
                  <a:fillRect l="-999" t="-1310" r="-2164"/>
                </a:stretch>
              </a:blipFill>
            </p:spPr>
            <p:txBody>
              <a:bodyPr/>
              <a:lstStyle/>
              <a:p>
                <a:r>
                  <a:rPr lang="zh-CN" altLang="en-US">
                    <a:noFill/>
                  </a:rPr>
                  <a:t> </a:t>
                </a:r>
              </a:p>
            </p:txBody>
          </p:sp>
        </mc:Fallback>
      </mc:AlternateContent>
      <p:sp>
        <p:nvSpPr>
          <p:cNvPr id="7" name="日期占位符 6"/>
          <p:cNvSpPr>
            <a:spLocks noGrp="1"/>
          </p:cNvSpPr>
          <p:nvPr>
            <p:ph type="dt" sz="half" idx="10"/>
          </p:nvPr>
        </p:nvSpPr>
        <p:spPr/>
        <p:txBody>
          <a:bodyPr/>
          <a:lstStyle/>
          <a:p>
            <a:fld id="{19509E93-FED7-4CFC-8611-F795029EC2C4}" type="datetime1">
              <a:rPr lang="zh-CN" altLang="en-US" smtClean="0"/>
              <a:t>2025/3/14</a:t>
            </a:fld>
            <a:endParaRPr lang="zh-CN" altLang="en-US" dirty="0"/>
          </a:p>
        </p:txBody>
      </p:sp>
      <p:sp>
        <p:nvSpPr>
          <p:cNvPr id="8" name="页脚占位符 7"/>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9" name="灯片编号占位符 8"/>
          <p:cNvSpPr>
            <a:spLocks noGrp="1"/>
          </p:cNvSpPr>
          <p:nvPr>
            <p:ph type="sldNum" sz="quarter" idx="12"/>
          </p:nvPr>
        </p:nvSpPr>
        <p:spPr/>
        <p:txBody>
          <a:bodyPr/>
          <a:lstStyle/>
          <a:p>
            <a:fld id="{67913A8A-9EFB-4B5F-9CCB-3D21173FAA85}" type="slidenum">
              <a:rPr lang="zh-CN" altLang="en-US" smtClean="0"/>
              <a:pPr/>
              <a:t>43</a:t>
            </a:fld>
            <a:endParaRPr lang="zh-CN" altLang="en-US" dirty="0"/>
          </a:p>
        </p:txBody>
      </p:sp>
    </p:spTree>
    <p:extLst>
      <p:ext uri="{BB962C8B-B14F-4D97-AF65-F5344CB8AC3E}">
        <p14:creationId xmlns:p14="http://schemas.microsoft.com/office/powerpoint/2010/main" val="535799165"/>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用矩阵表示关系</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zh-CN" altLang="en-US" dirty="0" smtClean="0"/>
                  <a:t>例</a:t>
                </a:r>
                <a:r>
                  <a:rPr lang="en-US" altLang="zh-CN" dirty="0" smtClean="0"/>
                  <a:t>:</a:t>
                </a:r>
                <a:r>
                  <a:rPr lang="zh-CN" altLang="en-US" dirty="0" smtClean="0"/>
                  <a:t>假设关系</a:t>
                </a:r>
                <a14:m>
                  <m:oMath xmlns:m="http://schemas.openxmlformats.org/officeDocument/2006/math">
                    <m:sSub>
                      <m:sSubPr>
                        <m:ctrlPr>
                          <a:rPr lang="en-US" altLang="zh-CN" i="1" smtClean="0">
                            <a:latin typeface="Cambria Math" panose="02040503050406030204" pitchFamily="18" charset="0"/>
                          </a:rPr>
                        </m:ctrlPr>
                      </m:sSubPr>
                      <m:e>
                        <m:r>
                          <m:rPr>
                            <m:sty m:val="p"/>
                          </m:rPr>
                          <a:rPr lang="en-US" altLang="zh-CN" i="1">
                            <a:latin typeface="Cambria Math" panose="02040503050406030204" pitchFamily="18" charset="0"/>
                          </a:rPr>
                          <m:t>R</m:t>
                        </m:r>
                      </m:e>
                      <m:sub>
                        <m:r>
                          <a:rPr lang="en-US" altLang="zh-CN" b="0" i="1" smtClean="0">
                            <a:latin typeface="Cambria Math" panose="02040503050406030204" pitchFamily="18" charset="0"/>
                          </a:rPr>
                          <m:t>1</m:t>
                        </m:r>
                      </m:sub>
                    </m:sSub>
                  </m:oMath>
                </a14:m>
                <a:r>
                  <a:rPr lang="zh-CN" altLang="en-US" dirty="0" smtClean="0"/>
                  <a:t>和</a:t>
                </a:r>
                <a14:m>
                  <m:oMath xmlns:m="http://schemas.openxmlformats.org/officeDocument/2006/math">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R</m:t>
                        </m:r>
                      </m:e>
                      <m:sub>
                        <m:r>
                          <a:rPr lang="en-US" altLang="zh-CN" b="0" i="1" smtClean="0">
                            <a:latin typeface="Cambria Math" panose="02040503050406030204" pitchFamily="18" charset="0"/>
                          </a:rPr>
                          <m:t>2</m:t>
                        </m:r>
                      </m:sub>
                    </m:sSub>
                    <m:r>
                      <a:rPr lang="zh-CN" altLang="en-US" i="1" smtClean="0">
                        <a:latin typeface="Cambria Math" panose="02040503050406030204" pitchFamily="18" charset="0"/>
                      </a:rPr>
                      <m:t>分别</m:t>
                    </m:r>
                  </m:oMath>
                </a14:m>
                <a:r>
                  <a:rPr lang="zh-CN" altLang="en-US" dirty="0" smtClean="0"/>
                  <a:t>由如下的矩阵</a:t>
                </a:r>
                <a14:m>
                  <m:oMath xmlns:m="http://schemas.openxmlformats.org/officeDocument/2006/math">
                    <m:sSub>
                      <m:sSubPr>
                        <m:ctrlPr>
                          <a:rPr lang="en-US" altLang="zh-CN" i="1" smtClean="0">
                            <a:latin typeface="Cambria Math" panose="02040503050406030204" pitchFamily="18" charset="0"/>
                          </a:rPr>
                        </m:ctrlPr>
                      </m:sSubPr>
                      <m:e>
                        <m:r>
                          <m:rPr>
                            <m:sty m:val="p"/>
                          </m:rPr>
                          <a:rPr lang="en-US" altLang="zh-CN" i="1">
                            <a:latin typeface="Cambria Math" panose="02040503050406030204" pitchFamily="18" charset="0"/>
                          </a:rPr>
                          <m:t>M</m:t>
                        </m:r>
                      </m:e>
                      <m:sub>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R</m:t>
                            </m:r>
                          </m:e>
                          <m:sub>
                            <m:r>
                              <a:rPr lang="en-US" altLang="zh-CN" i="1">
                                <a:latin typeface="Cambria Math" panose="02040503050406030204" pitchFamily="18" charset="0"/>
                              </a:rPr>
                              <m:t>1</m:t>
                            </m:r>
                          </m:sub>
                        </m:sSub>
                      </m:sub>
                    </m:sSub>
                  </m:oMath>
                </a14:m>
                <a:r>
                  <a:rPr lang="zh-CN" altLang="en-US" dirty="0" smtClean="0"/>
                  <a:t>和</a:t>
                </a:r>
                <a14:m>
                  <m:oMath xmlns:m="http://schemas.openxmlformats.org/officeDocument/2006/math">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M</m:t>
                        </m:r>
                      </m:e>
                      <m:sub>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R</m:t>
                            </m:r>
                          </m:e>
                          <m:sub>
                            <m:r>
                              <a:rPr lang="en-US" altLang="zh-CN" b="0" i="1" smtClean="0">
                                <a:latin typeface="Cambria Math" panose="02040503050406030204" pitchFamily="18" charset="0"/>
                              </a:rPr>
                              <m:t>2</m:t>
                            </m:r>
                          </m:sub>
                        </m:sSub>
                      </m:sub>
                    </m:sSub>
                  </m:oMath>
                </a14:m>
                <a:r>
                  <a:rPr lang="zh-CN" altLang="en-US" dirty="0" smtClean="0"/>
                  <a:t>表示</a:t>
                </a:r>
                <a:r>
                  <a:rPr lang="en-US" altLang="zh-CN" dirty="0" smtClean="0"/>
                  <a:t>, </a:t>
                </a:r>
                <a:r>
                  <a:rPr lang="zh-CN" altLang="en-US" dirty="0" smtClean="0"/>
                  <a:t>求</a:t>
                </a:r>
                <a14:m>
                  <m:oMath xmlns:m="http://schemas.openxmlformats.org/officeDocument/2006/math">
                    <m:sSub>
                      <m:sSubPr>
                        <m:ctrlPr>
                          <a:rPr lang="en-US" altLang="zh-CN" i="1">
                            <a:latin typeface="Cambria Math" panose="02040503050406030204" pitchFamily="18" charset="0"/>
                          </a:rPr>
                        </m:ctrlPr>
                      </m:sSubPr>
                      <m:e>
                        <m:sSub>
                          <m:sSubPr>
                            <m:ctrlPr>
                              <a:rPr lang="en-US" altLang="zh-CN" i="1">
                                <a:latin typeface="Cambria Math" panose="02040503050406030204" pitchFamily="18" charset="0"/>
                              </a:rPr>
                            </m:ctrlPr>
                          </m:sSubPr>
                          <m:e>
                            <m:r>
                              <m:rPr>
                                <m:sty m:val="p"/>
                              </m:rPr>
                              <a:rPr lang="en-US" altLang="zh-CN">
                                <a:latin typeface="Cambria Math" panose="02040503050406030204" pitchFamily="18" charset="0"/>
                              </a:rPr>
                              <m:t>R</m:t>
                            </m:r>
                          </m:e>
                          <m:sub>
                            <m:r>
                              <a:rPr lang="en-US" altLang="zh-CN">
                                <a:latin typeface="Cambria Math" panose="02040503050406030204" pitchFamily="18" charset="0"/>
                              </a:rPr>
                              <m:t>1</m:t>
                            </m:r>
                          </m:sub>
                        </m:sSub>
                        <m:r>
                          <a:rPr lang="en-US" altLang="zh-CN" i="1">
                            <a:latin typeface="Cambria Math" panose="02040503050406030204" pitchFamily="18" charset="0"/>
                            <a:ea typeface="Cambria Math" panose="02040503050406030204" pitchFamily="18" charset="0"/>
                          </a:rPr>
                          <m:t>∘</m:t>
                        </m:r>
                        <m:r>
                          <m:rPr>
                            <m:sty m:val="p"/>
                          </m:rPr>
                          <a:rPr lang="en-US" altLang="zh-CN">
                            <a:latin typeface="Cambria Math" panose="02040503050406030204" pitchFamily="18" charset="0"/>
                          </a:rPr>
                          <m:t>R</m:t>
                        </m:r>
                      </m:e>
                      <m:sub>
                        <m:r>
                          <a:rPr lang="en-US" altLang="zh-CN">
                            <a:latin typeface="Cambria Math" panose="02040503050406030204" pitchFamily="18" charset="0"/>
                          </a:rPr>
                          <m:t>2</m:t>
                        </m:r>
                      </m:sub>
                    </m:sSub>
                  </m:oMath>
                </a14:m>
                <a:r>
                  <a:rPr lang="en-US" altLang="zh-CN" dirty="0" smtClean="0"/>
                  <a:t>.</a:t>
                </a:r>
              </a:p>
              <a:p>
                <a:pPr marL="0" indent="0">
                  <a:buNone/>
                </a:pPr>
                <a14:m>
                  <m:oMathPara xmlns:m="http://schemas.openxmlformats.org/officeDocument/2006/math">
                    <m:oMathParaPr>
                      <m:jc m:val="centerGroup"/>
                    </m:oMathParaPr>
                    <m:oMath xmlns:m="http://schemas.openxmlformats.org/officeDocument/2006/math">
                      <m:sSub>
                        <m:sSubPr>
                          <m:ctrlPr>
                            <a:rPr lang="en-US" altLang="zh-CN" i="1">
                              <a:latin typeface="Cambria Math" panose="02040503050406030204" pitchFamily="18" charset="0"/>
                            </a:rPr>
                          </m:ctrlPr>
                        </m:sSubPr>
                        <m:e>
                          <m:r>
                            <m:rPr>
                              <m:sty m:val="p"/>
                            </m:rPr>
                            <a:rPr lang="en-US" altLang="zh-CN">
                              <a:latin typeface="Cambria Math" panose="02040503050406030204" pitchFamily="18" charset="0"/>
                            </a:rPr>
                            <m:t>M</m:t>
                          </m:r>
                        </m:e>
                        <m:sub>
                          <m:sSub>
                            <m:sSubPr>
                              <m:ctrlPr>
                                <a:rPr lang="en-US" altLang="zh-CN" i="1">
                                  <a:latin typeface="Cambria Math" panose="02040503050406030204" pitchFamily="18" charset="0"/>
                                </a:rPr>
                              </m:ctrlPr>
                            </m:sSubPr>
                            <m:e>
                              <m:r>
                                <m:rPr>
                                  <m:sty m:val="p"/>
                                </m:rPr>
                                <a:rPr lang="en-US" altLang="zh-CN">
                                  <a:latin typeface="Cambria Math" panose="02040503050406030204" pitchFamily="18" charset="0"/>
                                </a:rPr>
                                <m:t>R</m:t>
                              </m:r>
                            </m:e>
                            <m:sub>
                              <m:r>
                                <a:rPr lang="en-US" altLang="zh-CN">
                                  <a:latin typeface="Cambria Math" panose="02040503050406030204" pitchFamily="18" charset="0"/>
                                </a:rPr>
                                <m:t>1</m:t>
                              </m:r>
                            </m:sub>
                          </m:sSub>
                        </m:sub>
                      </m:sSub>
                      <m:r>
                        <a:rPr lang="en-US" altLang="zh-CN" b="0" i="1" smtClean="0">
                          <a:latin typeface="Cambria Math" panose="02040503050406030204" pitchFamily="18" charset="0"/>
                        </a:rPr>
                        <m:t>=</m:t>
                      </m:r>
                      <m:d>
                        <m:dPr>
                          <m:begChr m:val="["/>
                          <m:endChr m:val="]"/>
                          <m:ctrlPr>
                            <a:rPr lang="en-US" altLang="zh-CN" b="0" i="1" smtClean="0">
                              <a:latin typeface="Cambria Math" panose="02040503050406030204" pitchFamily="18" charset="0"/>
                            </a:rPr>
                          </m:ctrlPr>
                        </m:dPr>
                        <m:e>
                          <m:eqArr>
                            <m:eqArrPr>
                              <m:ctrlPr>
                                <a:rPr lang="en-US" altLang="zh-CN" b="0" i="1" smtClean="0">
                                  <a:latin typeface="Cambria Math" panose="02040503050406030204" pitchFamily="18" charset="0"/>
                                </a:rPr>
                              </m:ctrlPr>
                            </m:eqArrPr>
                            <m:e>
                              <m:r>
                                <a:rPr lang="en-US" altLang="zh-CN" b="0" i="1" smtClean="0">
                                  <a:latin typeface="Cambria Math" panose="02040503050406030204" pitchFamily="18" charset="0"/>
                                </a:rPr>
                                <m:t>101</m:t>
                              </m:r>
                            </m:e>
                            <m:e>
                              <m:r>
                                <a:rPr lang="en-US" altLang="zh-CN" b="0" i="1" smtClean="0">
                                  <a:latin typeface="Cambria Math" panose="02040503050406030204" pitchFamily="18" charset="0"/>
                                </a:rPr>
                                <m:t>110</m:t>
                              </m:r>
                            </m:e>
                            <m:e>
                              <m:r>
                                <a:rPr lang="en-US" altLang="zh-CN" b="0" i="1" smtClean="0">
                                  <a:latin typeface="Cambria Math" panose="02040503050406030204" pitchFamily="18" charset="0"/>
                                </a:rPr>
                                <m:t>000</m:t>
                              </m:r>
                            </m:e>
                          </m:eqArr>
                        </m:e>
                      </m:d>
                      <m:sSub>
                        <m:sSubPr>
                          <m:ctrlPr>
                            <a:rPr lang="en-US" altLang="zh-CN" i="1">
                              <a:latin typeface="Cambria Math" panose="02040503050406030204" pitchFamily="18" charset="0"/>
                            </a:rPr>
                          </m:ctrlPr>
                        </m:sSubPr>
                        <m:e>
                          <m:r>
                            <a:rPr lang="en-US" altLang="zh-CN" b="0" i="1" smtClean="0">
                              <a:latin typeface="Cambria Math" panose="02040503050406030204" pitchFamily="18" charset="0"/>
                            </a:rPr>
                            <m:t>                            </m:t>
                          </m:r>
                          <m:r>
                            <m:rPr>
                              <m:sty m:val="p"/>
                            </m:rPr>
                            <a:rPr lang="en-US" altLang="zh-CN">
                              <a:latin typeface="Cambria Math" panose="02040503050406030204" pitchFamily="18" charset="0"/>
                            </a:rPr>
                            <m:t>M</m:t>
                          </m:r>
                        </m:e>
                        <m:sub>
                          <m:sSub>
                            <m:sSubPr>
                              <m:ctrlPr>
                                <a:rPr lang="en-US" altLang="zh-CN" i="1">
                                  <a:latin typeface="Cambria Math" panose="02040503050406030204" pitchFamily="18" charset="0"/>
                                </a:rPr>
                              </m:ctrlPr>
                            </m:sSubPr>
                            <m:e>
                              <m:r>
                                <m:rPr>
                                  <m:sty m:val="p"/>
                                </m:rPr>
                                <a:rPr lang="en-US" altLang="zh-CN">
                                  <a:latin typeface="Cambria Math" panose="02040503050406030204" pitchFamily="18" charset="0"/>
                                </a:rPr>
                                <m:t>R</m:t>
                              </m:r>
                            </m:e>
                            <m:sub>
                              <m:r>
                                <a:rPr lang="en-US" altLang="zh-CN" b="0" i="0" smtClean="0">
                                  <a:latin typeface="Cambria Math" panose="02040503050406030204" pitchFamily="18" charset="0"/>
                                </a:rPr>
                                <m:t>2</m:t>
                              </m:r>
                            </m:sub>
                          </m:sSub>
                        </m:sub>
                      </m:sSub>
                      <m:r>
                        <a:rPr lang="en-US" altLang="zh-CN" i="1">
                          <a:latin typeface="Cambria Math" panose="02040503050406030204" pitchFamily="18" charset="0"/>
                        </a:rPr>
                        <m:t>=</m:t>
                      </m:r>
                      <m:d>
                        <m:dPr>
                          <m:begChr m:val="["/>
                          <m:endChr m:val="]"/>
                          <m:ctrlPr>
                            <a:rPr lang="en-US" altLang="zh-CN" i="1">
                              <a:latin typeface="Cambria Math" panose="02040503050406030204" pitchFamily="18" charset="0"/>
                            </a:rPr>
                          </m:ctrlPr>
                        </m:dPr>
                        <m:e>
                          <m:eqArr>
                            <m:eqArrPr>
                              <m:ctrlPr>
                                <a:rPr lang="en-US" altLang="zh-CN" i="1" smtClean="0">
                                  <a:latin typeface="Cambria Math" panose="02040503050406030204" pitchFamily="18" charset="0"/>
                                </a:rPr>
                              </m:ctrlPr>
                            </m:eqArrPr>
                            <m:e>
                              <m:r>
                                <a:rPr lang="en-US" altLang="zh-CN" i="1" smtClean="0">
                                  <a:latin typeface="Cambria Math" panose="02040503050406030204" pitchFamily="18" charset="0"/>
                                </a:rPr>
                                <m:t>0</m:t>
                              </m:r>
                              <m:r>
                                <a:rPr lang="en-US" altLang="zh-CN" b="0" i="1" smtClean="0">
                                  <a:latin typeface="Cambria Math" panose="02040503050406030204" pitchFamily="18" charset="0"/>
                                </a:rPr>
                                <m:t>10</m:t>
                              </m:r>
                            </m:e>
                            <m:e>
                              <m:r>
                                <a:rPr lang="en-US" altLang="zh-CN" b="0" i="1" smtClean="0">
                                  <a:latin typeface="Cambria Math" panose="02040503050406030204" pitchFamily="18" charset="0"/>
                                </a:rPr>
                                <m:t>001</m:t>
                              </m:r>
                            </m:e>
                            <m:e>
                              <m:r>
                                <a:rPr lang="en-US" altLang="zh-CN" b="0" i="1" smtClean="0">
                                  <a:latin typeface="Cambria Math" panose="02040503050406030204" pitchFamily="18" charset="0"/>
                                </a:rPr>
                                <m:t>101</m:t>
                              </m:r>
                            </m:e>
                          </m:eqArr>
                        </m:e>
                      </m:d>
                    </m:oMath>
                  </m:oMathPara>
                </a14:m>
                <a:endParaRPr lang="en-US" altLang="zh-CN" dirty="0" smtClean="0"/>
              </a:p>
              <a:p>
                <a:r>
                  <a:rPr lang="zh-CN" altLang="en-US" dirty="0" smtClean="0"/>
                  <a:t>解</a:t>
                </a:r>
                <a:r>
                  <a:rPr lang="en-US" altLang="zh-CN" dirty="0" smtClean="0"/>
                  <a:t>:</a:t>
                </a:r>
              </a:p>
              <a:p>
                <a:pPr marL="0" indent="0">
                  <a:buNone/>
                </a:pPr>
                <a14:m>
                  <m:oMath xmlns:m="http://schemas.openxmlformats.org/officeDocument/2006/math">
                    <m:sSub>
                      <m:sSubPr>
                        <m:ctrlPr>
                          <a:rPr lang="en-US" altLang="zh-CN" i="1">
                            <a:latin typeface="Cambria Math" panose="02040503050406030204" pitchFamily="18" charset="0"/>
                          </a:rPr>
                        </m:ctrlPr>
                      </m:sSubPr>
                      <m:e>
                        <m:r>
                          <a:rPr lang="en-US" altLang="zh-CN" b="0" i="1" smtClean="0">
                            <a:latin typeface="Cambria Math" panose="02040503050406030204" pitchFamily="18" charset="0"/>
                          </a:rPr>
                          <m:t>         </m:t>
                        </m:r>
                        <m:r>
                          <m:rPr>
                            <m:sty m:val="p"/>
                          </m:rPr>
                          <a:rPr lang="en-US" altLang="zh-CN" i="1">
                            <a:latin typeface="Cambria Math" panose="02040503050406030204" pitchFamily="18" charset="0"/>
                          </a:rPr>
                          <m:t>M</m:t>
                        </m:r>
                      </m:e>
                      <m:sub>
                        <m:sSub>
                          <m:sSubPr>
                            <m:ctrlPr>
                              <a:rPr lang="en-US" altLang="zh-CN" i="1">
                                <a:latin typeface="Cambria Math" panose="02040503050406030204" pitchFamily="18" charset="0"/>
                              </a:rPr>
                            </m:ctrlPr>
                          </m:sSubPr>
                          <m:e>
                            <m:sSub>
                              <m:sSubPr>
                                <m:ctrlPr>
                                  <a:rPr lang="en-US" altLang="zh-CN" i="1">
                                    <a:latin typeface="Cambria Math" panose="02040503050406030204" pitchFamily="18" charset="0"/>
                                  </a:rPr>
                                </m:ctrlPr>
                              </m:sSubPr>
                              <m:e>
                                <m:r>
                                  <m:rPr>
                                    <m:sty m:val="p"/>
                                  </m:rPr>
                                  <a:rPr lang="en-US" altLang="zh-CN">
                                    <a:latin typeface="Cambria Math" panose="02040503050406030204" pitchFamily="18" charset="0"/>
                                  </a:rPr>
                                  <m:t>R</m:t>
                                </m:r>
                              </m:e>
                              <m:sub>
                                <m:r>
                                  <a:rPr lang="en-US" altLang="zh-CN">
                                    <a:latin typeface="Cambria Math" panose="02040503050406030204" pitchFamily="18" charset="0"/>
                                  </a:rPr>
                                  <m:t>1</m:t>
                                </m:r>
                              </m:sub>
                            </m:sSub>
                            <m:r>
                              <a:rPr lang="en-US" altLang="zh-CN" i="1">
                                <a:latin typeface="Cambria Math" panose="02040503050406030204" pitchFamily="18" charset="0"/>
                                <a:ea typeface="Cambria Math" panose="02040503050406030204" pitchFamily="18" charset="0"/>
                              </a:rPr>
                              <m:t>∘</m:t>
                            </m:r>
                            <m:r>
                              <m:rPr>
                                <m:sty m:val="p"/>
                              </m:rPr>
                              <a:rPr lang="en-US" altLang="zh-CN">
                                <a:latin typeface="Cambria Math" panose="02040503050406030204" pitchFamily="18" charset="0"/>
                              </a:rPr>
                              <m:t>R</m:t>
                            </m:r>
                          </m:e>
                          <m:sub>
                            <m:r>
                              <a:rPr lang="en-US" altLang="zh-CN">
                                <a:latin typeface="Cambria Math" panose="02040503050406030204" pitchFamily="18" charset="0"/>
                              </a:rPr>
                              <m:t>2</m:t>
                            </m:r>
                          </m:sub>
                        </m:sSub>
                      </m:sub>
                    </m:sSub>
                  </m:oMath>
                </a14:m>
                <a:r>
                  <a:rPr lang="en-US" altLang="zh-CN" dirty="0"/>
                  <a:t>=</a:t>
                </a:r>
                <a14:m>
                  <m:oMath xmlns:m="http://schemas.openxmlformats.org/officeDocument/2006/math">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M</m:t>
                        </m:r>
                      </m:e>
                      <m:sub>
                        <m:sSub>
                          <m:sSubPr>
                            <m:ctrlPr>
                              <a:rPr lang="en-US" altLang="zh-CN" i="1">
                                <a:latin typeface="Cambria Math" panose="02040503050406030204" pitchFamily="18" charset="0"/>
                              </a:rPr>
                            </m:ctrlPr>
                          </m:sSubPr>
                          <m:e>
                            <m:r>
                              <m:rPr>
                                <m:sty m:val="p"/>
                              </m:rPr>
                              <a:rPr lang="en-US" altLang="zh-CN">
                                <a:latin typeface="Cambria Math" panose="02040503050406030204" pitchFamily="18" charset="0"/>
                              </a:rPr>
                              <m:t>R</m:t>
                            </m:r>
                          </m:e>
                          <m:sub>
                            <m:r>
                              <a:rPr lang="en-US" altLang="zh-CN">
                                <a:latin typeface="Cambria Math" panose="02040503050406030204" pitchFamily="18" charset="0"/>
                              </a:rPr>
                              <m:t>1</m:t>
                            </m:r>
                          </m:sub>
                        </m:sSub>
                      </m:sub>
                    </m:sSub>
                    <m:r>
                      <a:rPr lang="en-US" altLang="zh-CN" i="1">
                        <a:latin typeface="Cambria Math" panose="02040503050406030204" pitchFamily="18" charset="0"/>
                        <a:ea typeface="Cambria Math" panose="02040503050406030204" pitchFamily="18" charset="0"/>
                      </a:rPr>
                      <m:t>⊙</m:t>
                    </m:r>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M</m:t>
                        </m:r>
                      </m:e>
                      <m:sub>
                        <m:sSub>
                          <m:sSubPr>
                            <m:ctrlPr>
                              <a:rPr lang="en-US" altLang="zh-CN" i="1">
                                <a:latin typeface="Cambria Math" panose="02040503050406030204" pitchFamily="18" charset="0"/>
                              </a:rPr>
                            </m:ctrlPr>
                          </m:sSubPr>
                          <m:e>
                            <m:r>
                              <m:rPr>
                                <m:sty m:val="p"/>
                              </m:rPr>
                              <a:rPr lang="en-US" altLang="zh-CN">
                                <a:latin typeface="Cambria Math" panose="02040503050406030204" pitchFamily="18" charset="0"/>
                              </a:rPr>
                              <m:t>R</m:t>
                            </m:r>
                          </m:e>
                          <m:sub>
                            <m:r>
                              <a:rPr lang="en-US" altLang="zh-CN">
                                <a:latin typeface="Cambria Math" panose="02040503050406030204" pitchFamily="18" charset="0"/>
                              </a:rPr>
                              <m:t>2</m:t>
                            </m:r>
                          </m:sub>
                        </m:sSub>
                      </m:sub>
                    </m:sSub>
                    <m:r>
                      <a:rPr lang="en-US" altLang="zh-CN" i="1">
                        <a:latin typeface="Cambria Math" panose="02040503050406030204" pitchFamily="18" charset="0"/>
                      </a:rPr>
                      <m:t>=</m:t>
                    </m:r>
                    <m:d>
                      <m:dPr>
                        <m:begChr m:val="["/>
                        <m:endChr m:val="]"/>
                        <m:ctrlPr>
                          <a:rPr lang="en-US" altLang="zh-CN" i="1">
                            <a:latin typeface="Cambria Math" panose="02040503050406030204" pitchFamily="18" charset="0"/>
                          </a:rPr>
                        </m:ctrlPr>
                      </m:dPr>
                      <m:e>
                        <m:eqArr>
                          <m:eqArrPr>
                            <m:ctrlPr>
                              <a:rPr lang="en-US" altLang="zh-CN" b="0" i="1" smtClean="0">
                                <a:latin typeface="Cambria Math" panose="02040503050406030204" pitchFamily="18" charset="0"/>
                              </a:rPr>
                            </m:ctrlPr>
                          </m:eqArrPr>
                          <m:e>
                            <m:r>
                              <a:rPr lang="en-US" altLang="zh-CN" b="0" i="1" smtClean="0">
                                <a:latin typeface="Cambria Math" panose="02040503050406030204" pitchFamily="18" charset="0"/>
                              </a:rPr>
                              <m:t>111</m:t>
                            </m:r>
                          </m:e>
                          <m:e>
                            <m:r>
                              <a:rPr lang="en-US" altLang="zh-CN" b="0" i="1" smtClean="0">
                                <a:latin typeface="Cambria Math" panose="02040503050406030204" pitchFamily="18" charset="0"/>
                              </a:rPr>
                              <m:t>011</m:t>
                            </m:r>
                          </m:e>
                          <m:e>
                            <m:r>
                              <a:rPr lang="en-US" altLang="zh-CN" b="0" i="1" smtClean="0">
                                <a:latin typeface="Cambria Math" panose="02040503050406030204" pitchFamily="18" charset="0"/>
                              </a:rPr>
                              <m:t>000</m:t>
                            </m:r>
                          </m:e>
                        </m:eqArr>
                      </m:e>
                    </m:d>
                  </m:oMath>
                </a14:m>
                <a:endParaRPr lang="en-US" altLang="zh-CN" dirty="0" smtClean="0"/>
              </a:p>
              <a:p>
                <a:pPr marL="0" indent="0">
                  <a:buNone/>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2"/>
                <a:stretch>
                  <a:fillRect l="-999" t="-1310"/>
                </a:stretch>
              </a:blipFill>
            </p:spPr>
            <p:txBody>
              <a:bodyPr/>
              <a:lstStyle/>
              <a:p>
                <a:r>
                  <a:rPr lang="zh-CN" altLang="en-US">
                    <a:noFill/>
                  </a:rPr>
                  <a:t> </a:t>
                </a:r>
              </a:p>
            </p:txBody>
          </p:sp>
        </mc:Fallback>
      </mc:AlternateContent>
      <p:sp>
        <p:nvSpPr>
          <p:cNvPr id="7" name="日期占位符 6"/>
          <p:cNvSpPr>
            <a:spLocks noGrp="1"/>
          </p:cNvSpPr>
          <p:nvPr>
            <p:ph type="dt" sz="half" idx="10"/>
          </p:nvPr>
        </p:nvSpPr>
        <p:spPr/>
        <p:txBody>
          <a:bodyPr/>
          <a:lstStyle/>
          <a:p>
            <a:fld id="{E06F2B60-AE30-42E3-9909-AED90545FC42}" type="datetime1">
              <a:rPr lang="zh-CN" altLang="en-US" smtClean="0"/>
              <a:t>2025/3/14</a:t>
            </a:fld>
            <a:endParaRPr lang="zh-CN" altLang="en-US" dirty="0"/>
          </a:p>
        </p:txBody>
      </p:sp>
      <p:sp>
        <p:nvSpPr>
          <p:cNvPr id="8" name="页脚占位符 7"/>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9" name="灯片编号占位符 8"/>
          <p:cNvSpPr>
            <a:spLocks noGrp="1"/>
          </p:cNvSpPr>
          <p:nvPr>
            <p:ph type="sldNum" sz="quarter" idx="12"/>
          </p:nvPr>
        </p:nvSpPr>
        <p:spPr/>
        <p:txBody>
          <a:bodyPr/>
          <a:lstStyle/>
          <a:p>
            <a:fld id="{67913A8A-9EFB-4B5F-9CCB-3D21173FAA85}" type="slidenum">
              <a:rPr lang="zh-CN" altLang="en-US" smtClean="0"/>
              <a:pPr/>
              <a:t>44</a:t>
            </a:fld>
            <a:endParaRPr lang="zh-CN" altLang="en-US" dirty="0"/>
          </a:p>
        </p:txBody>
      </p:sp>
    </p:spTree>
    <p:extLst>
      <p:ext uri="{BB962C8B-B14F-4D97-AF65-F5344CB8AC3E}">
        <p14:creationId xmlns:p14="http://schemas.microsoft.com/office/powerpoint/2010/main" val="35707954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wipe(down)">
                                      <p:cBhvr>
                                        <p:cTn id="7" dur="500"/>
                                        <p:tgtEl>
                                          <p:spTgt spid="3">
                                            <p:txEl>
                                              <p:pRg st="2" end="2"/>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3">
                                            <p:txEl>
                                              <p:pRg st="3" end="3"/>
                                            </p:txEl>
                                          </p:spTgt>
                                        </p:tgtEl>
                                        <p:attrNameLst>
                                          <p:attrName>style.visibility</p:attrName>
                                        </p:attrNameLst>
                                      </p:cBhvr>
                                      <p:to>
                                        <p:strVal val="visible"/>
                                      </p:to>
                                    </p:set>
                                    <p:animEffect transition="in" filter="wipe(down)">
                                      <p:cBhvr>
                                        <p:cTn id="10"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用矩阵表示关系</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zh-CN" altLang="en-US" dirty="0" smtClean="0"/>
                  <a:t>关系的</a:t>
                </a:r>
                <a:r>
                  <a:rPr lang="en-US" altLang="zh-CN" dirty="0" smtClean="0"/>
                  <a:t>n</a:t>
                </a:r>
                <a:r>
                  <a:rPr lang="zh-CN" altLang="en-US" dirty="0" smtClean="0"/>
                  <a:t>次幂</a:t>
                </a:r>
                <a14:m>
                  <m:oMath xmlns:m="http://schemas.openxmlformats.org/officeDocument/2006/math">
                    <m:sSup>
                      <m:sSupPr>
                        <m:ctrlPr>
                          <a:rPr lang="en-US" altLang="zh-CN" i="1" smtClean="0">
                            <a:latin typeface="Cambria Math" panose="02040503050406030204" pitchFamily="18" charset="0"/>
                          </a:rPr>
                        </m:ctrlPr>
                      </m:sSupPr>
                      <m:e>
                        <m:r>
                          <m:rPr>
                            <m:sty m:val="p"/>
                          </m:rPr>
                          <a:rPr lang="en-US" altLang="zh-CN" i="1">
                            <a:latin typeface="Cambria Math" panose="02040503050406030204" pitchFamily="18" charset="0"/>
                          </a:rPr>
                          <m:t>R</m:t>
                        </m:r>
                      </m:e>
                      <m:sup>
                        <m:r>
                          <a:rPr lang="en-US" altLang="zh-CN" b="0" i="1" smtClean="0">
                            <a:latin typeface="Cambria Math" panose="02040503050406030204" pitchFamily="18" charset="0"/>
                          </a:rPr>
                          <m:t>𝑛</m:t>
                        </m:r>
                      </m:sup>
                    </m:sSup>
                  </m:oMath>
                </a14:m>
                <a:r>
                  <a:rPr lang="zh-CN" altLang="en-US" dirty="0" smtClean="0"/>
                  <a:t>的矩阵表示为</a:t>
                </a:r>
                <a14:m>
                  <m:oMath xmlns:m="http://schemas.openxmlformats.org/officeDocument/2006/math">
                    <m:sSub>
                      <m:sSubPr>
                        <m:ctrlPr>
                          <a:rPr lang="en-US" altLang="zh-CN" i="1">
                            <a:latin typeface="Cambria Math" panose="02040503050406030204" pitchFamily="18" charset="0"/>
                          </a:rPr>
                        </m:ctrlPr>
                      </m:sSubPr>
                      <m:e>
                        <m:r>
                          <m:rPr>
                            <m:sty m:val="p"/>
                          </m:rPr>
                          <a:rPr lang="en-US" altLang="zh-CN">
                            <a:latin typeface="Cambria Math" panose="02040503050406030204" pitchFamily="18" charset="0"/>
                          </a:rPr>
                          <m:t>M</m:t>
                        </m:r>
                      </m:e>
                      <m:sub>
                        <m:sSup>
                          <m:sSupPr>
                            <m:ctrlPr>
                              <a:rPr lang="en-US" altLang="zh-CN" i="1">
                                <a:latin typeface="Cambria Math" panose="02040503050406030204" pitchFamily="18" charset="0"/>
                              </a:rPr>
                            </m:ctrlPr>
                          </m:sSupPr>
                          <m:e>
                            <m:r>
                              <m:rPr>
                                <m:sty m:val="p"/>
                              </m:rPr>
                              <a:rPr lang="en-US" altLang="zh-CN" i="1">
                                <a:latin typeface="Cambria Math" panose="02040503050406030204" pitchFamily="18" charset="0"/>
                              </a:rPr>
                              <m:t>R</m:t>
                            </m:r>
                          </m:e>
                          <m:sup>
                            <m:r>
                              <a:rPr lang="en-US" altLang="zh-CN" i="1">
                                <a:latin typeface="Cambria Math" panose="02040503050406030204" pitchFamily="18" charset="0"/>
                              </a:rPr>
                              <m:t>𝑛</m:t>
                            </m:r>
                          </m:sup>
                        </m:sSup>
                      </m:sub>
                    </m:sSub>
                  </m:oMath>
                </a14:m>
                <a:r>
                  <a:rPr lang="zh-CN" altLang="en-US" dirty="0" smtClean="0"/>
                  <a:t>，可以</a:t>
                </a:r>
                <a:r>
                  <a:rPr lang="zh-CN" altLang="en-US" dirty="0"/>
                  <a:t>通过关系矩阵</a:t>
                </a:r>
                <a:r>
                  <a:rPr lang="zh-CN" altLang="en-US" dirty="0" smtClean="0"/>
                  <a:t>的</a:t>
                </a:r>
                <a:r>
                  <a:rPr lang="en-US" altLang="zh-CN" dirty="0" smtClean="0"/>
                  <a:t>n</a:t>
                </a:r>
                <a:r>
                  <a:rPr lang="zh-CN" altLang="en-US" dirty="0" smtClean="0"/>
                  <a:t>次布尔</a:t>
                </a:r>
                <a:r>
                  <a:rPr lang="zh-CN" altLang="en-US" dirty="0"/>
                  <a:t>幂</a:t>
                </a:r>
                <a:r>
                  <a:rPr lang="zh-CN" altLang="en-US" dirty="0" smtClean="0"/>
                  <a:t>积</a:t>
                </a:r>
                <a14:m>
                  <m:oMath xmlns:m="http://schemas.openxmlformats.org/officeDocument/2006/math">
                    <m:sSup>
                      <m:sSupPr>
                        <m:ctrlPr>
                          <a:rPr lang="en-US" altLang="zh-CN" i="1">
                            <a:latin typeface="Cambria Math" panose="02040503050406030204" pitchFamily="18" charset="0"/>
                          </a:rPr>
                        </m:ctrlPr>
                      </m:sSupPr>
                      <m:e>
                        <m:r>
                          <m:rPr>
                            <m:sty m:val="p"/>
                          </m:rPr>
                          <a:rPr lang="en-US" altLang="zh-CN" i="1">
                            <a:latin typeface="Cambria Math" panose="02040503050406030204" pitchFamily="18" charset="0"/>
                          </a:rPr>
                          <m:t>R</m:t>
                        </m:r>
                      </m:e>
                      <m:sup>
                        <m:r>
                          <a:rPr lang="en-US" altLang="zh-CN" b="0" i="1" smtClean="0">
                            <a:latin typeface="Cambria Math" panose="02040503050406030204" pitchFamily="18" charset="0"/>
                          </a:rPr>
                          <m:t>[</m:t>
                        </m:r>
                        <m:r>
                          <a:rPr lang="en-US" altLang="zh-CN" i="1">
                            <a:latin typeface="Cambria Math" panose="02040503050406030204" pitchFamily="18" charset="0"/>
                          </a:rPr>
                          <m:t>𝑛</m:t>
                        </m:r>
                        <m:r>
                          <a:rPr lang="en-US" altLang="zh-CN" b="0" i="1" smtClean="0">
                            <a:latin typeface="Cambria Math" panose="02040503050406030204" pitchFamily="18" charset="0"/>
                          </a:rPr>
                          <m:t>]</m:t>
                        </m:r>
                      </m:sup>
                    </m:sSup>
                  </m:oMath>
                </a14:m>
                <a:r>
                  <a:rPr lang="zh-CN" altLang="en-US" dirty="0"/>
                  <a:t>得到</a:t>
                </a:r>
                <a:r>
                  <a:rPr lang="en-US" altLang="zh-CN" dirty="0"/>
                  <a:t>. </a:t>
                </a:r>
                <a14:m>
                  <m:oMath xmlns:m="http://schemas.openxmlformats.org/officeDocument/2006/math">
                    <m:sSub>
                      <m:sSubPr>
                        <m:ctrlPr>
                          <a:rPr lang="en-US" altLang="zh-CN" i="1">
                            <a:latin typeface="Cambria Math" panose="02040503050406030204" pitchFamily="18" charset="0"/>
                          </a:rPr>
                        </m:ctrlPr>
                      </m:sSubPr>
                      <m:e>
                        <m:r>
                          <m:rPr>
                            <m:sty m:val="p"/>
                          </m:rPr>
                          <a:rPr lang="en-US" altLang="zh-CN">
                            <a:latin typeface="Cambria Math" panose="02040503050406030204" pitchFamily="18" charset="0"/>
                          </a:rPr>
                          <m:t>M</m:t>
                        </m:r>
                      </m:e>
                      <m:sub>
                        <m:sSup>
                          <m:sSupPr>
                            <m:ctrlPr>
                              <a:rPr lang="en-US" altLang="zh-CN" i="1">
                                <a:latin typeface="Cambria Math" panose="02040503050406030204" pitchFamily="18" charset="0"/>
                              </a:rPr>
                            </m:ctrlPr>
                          </m:sSupPr>
                          <m:e>
                            <m:r>
                              <m:rPr>
                                <m:sty m:val="p"/>
                              </m:rPr>
                              <a:rPr lang="en-US" altLang="zh-CN" i="1">
                                <a:latin typeface="Cambria Math" panose="02040503050406030204" pitchFamily="18" charset="0"/>
                              </a:rPr>
                              <m:t>R</m:t>
                            </m:r>
                          </m:e>
                          <m:sup>
                            <m:r>
                              <a:rPr lang="en-US" altLang="zh-CN" i="1">
                                <a:latin typeface="Cambria Math" panose="02040503050406030204" pitchFamily="18" charset="0"/>
                              </a:rPr>
                              <m:t>𝑛</m:t>
                            </m:r>
                          </m:sup>
                        </m:sSup>
                      </m:sub>
                    </m:sSub>
                  </m:oMath>
                </a14:m>
                <a:r>
                  <a:rPr lang="en-US" altLang="zh-CN" dirty="0" smtClean="0"/>
                  <a:t>=</a:t>
                </a:r>
                <a14:m>
                  <m:oMath xmlns:m="http://schemas.openxmlformats.org/officeDocument/2006/math">
                    <m:sSubSup>
                      <m:sSubSupPr>
                        <m:ctrlPr>
                          <a:rPr lang="en-US" altLang="zh-CN" i="1">
                            <a:latin typeface="Cambria Math" panose="02040503050406030204" pitchFamily="18" charset="0"/>
                          </a:rPr>
                        </m:ctrlPr>
                      </m:sSubSupPr>
                      <m:e>
                        <m:r>
                          <m:rPr>
                            <m:sty m:val="p"/>
                          </m:rPr>
                          <a:rPr lang="en-US" altLang="zh-CN">
                            <a:latin typeface="Cambria Math" panose="02040503050406030204" pitchFamily="18" charset="0"/>
                          </a:rPr>
                          <m:t>M</m:t>
                        </m:r>
                      </m:e>
                      <m:sub>
                        <m:r>
                          <m:rPr>
                            <m:sty m:val="p"/>
                          </m:rPr>
                          <a:rPr lang="en-US" altLang="zh-CN" i="1">
                            <a:latin typeface="Cambria Math" panose="02040503050406030204" pitchFamily="18" charset="0"/>
                          </a:rPr>
                          <m:t>R</m:t>
                        </m:r>
                      </m:sub>
                      <m:sup>
                        <m:r>
                          <a:rPr lang="en-US" altLang="zh-CN" i="1">
                            <a:latin typeface="Cambria Math" panose="02040503050406030204" pitchFamily="18" charset="0"/>
                          </a:rPr>
                          <m:t>[</m:t>
                        </m:r>
                        <m:r>
                          <a:rPr lang="en-US" altLang="zh-CN" i="1">
                            <a:latin typeface="Cambria Math" panose="02040503050406030204" pitchFamily="18" charset="0"/>
                          </a:rPr>
                          <m:t>𝑛</m:t>
                        </m:r>
                        <m:r>
                          <a:rPr lang="en-US" altLang="zh-CN" i="1">
                            <a:latin typeface="Cambria Math" panose="02040503050406030204" pitchFamily="18" charset="0"/>
                          </a:rPr>
                          <m:t>]</m:t>
                        </m:r>
                      </m:sup>
                    </m:sSubSup>
                  </m:oMath>
                </a14:m>
                <a:endParaRPr lang="en-US" altLang="zh-CN" dirty="0" smtClean="0"/>
              </a:p>
              <a:p>
                <a:endParaRPr lang="en-US" altLang="zh-CN" dirty="0"/>
              </a:p>
              <a:p>
                <a:r>
                  <a:rPr lang="zh-CN" altLang="en-US" dirty="0" smtClean="0"/>
                  <a:t>例</a:t>
                </a:r>
                <a:r>
                  <a:rPr lang="en-US" altLang="zh-CN" dirty="0" smtClean="0"/>
                  <a:t>:</a:t>
                </a:r>
                <a:r>
                  <a:rPr lang="zh-CN" altLang="en-US" dirty="0" smtClean="0"/>
                  <a:t>假设关系</a:t>
                </a:r>
                <a14:m>
                  <m:oMath xmlns:m="http://schemas.openxmlformats.org/officeDocument/2006/math">
                    <m:r>
                      <m:rPr>
                        <m:sty m:val="p"/>
                      </m:rPr>
                      <a:rPr lang="en-US" altLang="zh-CN" i="1" dirty="0">
                        <a:latin typeface="Cambria Math" panose="02040503050406030204" pitchFamily="18" charset="0"/>
                      </a:rPr>
                      <m:t>R</m:t>
                    </m:r>
                  </m:oMath>
                </a14:m>
                <a:r>
                  <a:rPr lang="zh-CN" altLang="en-US" dirty="0" smtClean="0"/>
                  <a:t>由如下的矩阵</a:t>
                </a:r>
                <a14:m>
                  <m:oMath xmlns:m="http://schemas.openxmlformats.org/officeDocument/2006/math">
                    <m:sSub>
                      <m:sSubPr>
                        <m:ctrlPr>
                          <a:rPr lang="en-US" altLang="zh-CN" i="1" smtClean="0">
                            <a:latin typeface="Cambria Math" panose="02040503050406030204" pitchFamily="18" charset="0"/>
                          </a:rPr>
                        </m:ctrlPr>
                      </m:sSubPr>
                      <m:e>
                        <m:r>
                          <m:rPr>
                            <m:sty m:val="p"/>
                          </m:rPr>
                          <a:rPr lang="en-US" altLang="zh-CN" i="1">
                            <a:latin typeface="Cambria Math" panose="02040503050406030204" pitchFamily="18" charset="0"/>
                          </a:rPr>
                          <m:t>M</m:t>
                        </m:r>
                      </m:e>
                      <m:sub>
                        <m:r>
                          <a:rPr lang="en-US" altLang="zh-CN" b="0" i="1" smtClean="0">
                            <a:latin typeface="Cambria Math" panose="02040503050406030204" pitchFamily="18" charset="0"/>
                          </a:rPr>
                          <m:t>𝑅</m:t>
                        </m:r>
                      </m:sub>
                    </m:sSub>
                  </m:oMath>
                </a14:m>
                <a:r>
                  <a:rPr lang="zh-CN" altLang="en-US" dirty="0" smtClean="0"/>
                  <a:t>表示</a:t>
                </a:r>
                <a:r>
                  <a:rPr lang="en-US" altLang="zh-CN" dirty="0" smtClean="0"/>
                  <a:t>, </a:t>
                </a:r>
                <a:r>
                  <a:rPr lang="zh-CN" altLang="en-US" dirty="0" smtClean="0"/>
                  <a:t>求</a:t>
                </a:r>
                <a14:m>
                  <m:oMath xmlns:m="http://schemas.openxmlformats.org/officeDocument/2006/math">
                    <m:sSup>
                      <m:sSupPr>
                        <m:ctrlPr>
                          <a:rPr lang="en-US" altLang="zh-CN" i="1">
                            <a:latin typeface="Cambria Math" panose="02040503050406030204" pitchFamily="18" charset="0"/>
                          </a:rPr>
                        </m:ctrlPr>
                      </m:sSupPr>
                      <m:e>
                        <m:r>
                          <m:rPr>
                            <m:sty m:val="p"/>
                          </m:rPr>
                          <a:rPr lang="en-US" altLang="zh-CN" i="1">
                            <a:latin typeface="Cambria Math" panose="02040503050406030204" pitchFamily="18" charset="0"/>
                          </a:rPr>
                          <m:t>R</m:t>
                        </m:r>
                      </m:e>
                      <m:sup>
                        <m:r>
                          <a:rPr lang="en-US" altLang="zh-CN" b="0" i="1" smtClean="0">
                            <a:latin typeface="Cambria Math" panose="02040503050406030204" pitchFamily="18" charset="0"/>
                          </a:rPr>
                          <m:t>2</m:t>
                        </m:r>
                      </m:sup>
                    </m:sSup>
                  </m:oMath>
                </a14:m>
                <a:r>
                  <a:rPr lang="en-US" altLang="zh-CN" dirty="0" smtClean="0"/>
                  <a:t>.</a:t>
                </a:r>
              </a:p>
              <a:p>
                <a:pPr marL="0" indent="0">
                  <a:buNone/>
                </a:pPr>
                <a14:m>
                  <m:oMathPara xmlns:m="http://schemas.openxmlformats.org/officeDocument/2006/math">
                    <m:oMathParaPr>
                      <m:jc m:val="centerGroup"/>
                    </m:oMathParaPr>
                    <m:oMath xmlns:m="http://schemas.openxmlformats.org/officeDocument/2006/math">
                      <m:sSub>
                        <m:sSubPr>
                          <m:ctrlPr>
                            <a:rPr lang="en-US" altLang="zh-CN" i="1">
                              <a:latin typeface="Cambria Math" panose="02040503050406030204" pitchFamily="18" charset="0"/>
                            </a:rPr>
                          </m:ctrlPr>
                        </m:sSubPr>
                        <m:e>
                          <m:r>
                            <m:rPr>
                              <m:sty m:val="p"/>
                            </m:rPr>
                            <a:rPr lang="en-US" altLang="zh-CN">
                              <a:latin typeface="Cambria Math" panose="02040503050406030204" pitchFamily="18" charset="0"/>
                            </a:rPr>
                            <m:t>M</m:t>
                          </m:r>
                        </m:e>
                        <m:sub>
                          <m:r>
                            <a:rPr lang="en-US" altLang="zh-CN" b="0" i="1" smtClean="0">
                              <a:latin typeface="Cambria Math" panose="02040503050406030204" pitchFamily="18" charset="0"/>
                            </a:rPr>
                            <m:t>𝑅</m:t>
                          </m:r>
                        </m:sub>
                      </m:sSub>
                      <m:r>
                        <a:rPr lang="en-US" altLang="zh-CN" b="0" i="1" smtClean="0">
                          <a:latin typeface="Cambria Math" panose="02040503050406030204" pitchFamily="18" charset="0"/>
                        </a:rPr>
                        <m:t>=</m:t>
                      </m:r>
                      <m:d>
                        <m:dPr>
                          <m:begChr m:val="["/>
                          <m:endChr m:val="]"/>
                          <m:ctrlPr>
                            <a:rPr lang="en-US" altLang="zh-CN" b="0" i="1" smtClean="0">
                              <a:latin typeface="Cambria Math" panose="02040503050406030204" pitchFamily="18" charset="0"/>
                            </a:rPr>
                          </m:ctrlPr>
                        </m:dPr>
                        <m:e>
                          <m:eqArr>
                            <m:eqArrPr>
                              <m:ctrlPr>
                                <a:rPr lang="en-US" altLang="zh-CN" b="0" i="1" smtClean="0">
                                  <a:latin typeface="Cambria Math" panose="02040503050406030204" pitchFamily="18" charset="0"/>
                                </a:rPr>
                              </m:ctrlPr>
                            </m:eqArrPr>
                            <m:e>
                              <m:r>
                                <a:rPr lang="en-US" altLang="zh-CN" b="0" i="1" smtClean="0">
                                  <a:latin typeface="Cambria Math" panose="02040503050406030204" pitchFamily="18" charset="0"/>
                                </a:rPr>
                                <m:t>010</m:t>
                              </m:r>
                            </m:e>
                            <m:e>
                              <m:r>
                                <a:rPr lang="en-US" altLang="zh-CN" b="0" i="1" smtClean="0">
                                  <a:latin typeface="Cambria Math" panose="02040503050406030204" pitchFamily="18" charset="0"/>
                                </a:rPr>
                                <m:t>011</m:t>
                              </m:r>
                            </m:e>
                            <m:e>
                              <m:r>
                                <a:rPr lang="en-US" altLang="zh-CN" b="0" i="1" smtClean="0">
                                  <a:latin typeface="Cambria Math" panose="02040503050406030204" pitchFamily="18" charset="0"/>
                                </a:rPr>
                                <m:t>100</m:t>
                              </m:r>
                            </m:e>
                          </m:eqArr>
                        </m:e>
                      </m:d>
                    </m:oMath>
                  </m:oMathPara>
                </a14:m>
                <a:endParaRPr lang="en-US" altLang="zh-CN" dirty="0" smtClean="0"/>
              </a:p>
              <a:p>
                <a:r>
                  <a:rPr lang="zh-CN" altLang="en-US" dirty="0" smtClean="0"/>
                  <a:t>解</a:t>
                </a:r>
                <a:r>
                  <a:rPr lang="en-US" altLang="zh-CN" dirty="0" smtClean="0"/>
                  <a:t>:</a:t>
                </a:r>
              </a:p>
              <a:p>
                <a:pPr marL="0" indent="0">
                  <a:buNone/>
                </a:pPr>
                <a14:m>
                  <m:oMath xmlns:m="http://schemas.openxmlformats.org/officeDocument/2006/math">
                    <m:sSub>
                      <m:sSubPr>
                        <m:ctrlPr>
                          <a:rPr lang="en-US" altLang="zh-CN" i="1">
                            <a:latin typeface="Cambria Math" panose="02040503050406030204" pitchFamily="18" charset="0"/>
                          </a:rPr>
                        </m:ctrlPr>
                      </m:sSubPr>
                      <m:e>
                        <m:r>
                          <a:rPr lang="en-US" altLang="zh-CN" b="0" i="0" smtClean="0">
                            <a:latin typeface="Cambria Math" panose="02040503050406030204" pitchFamily="18" charset="0"/>
                          </a:rPr>
                          <m:t>        </m:t>
                        </m:r>
                        <m:r>
                          <m:rPr>
                            <m:sty m:val="p"/>
                          </m:rPr>
                          <a:rPr lang="en-US" altLang="zh-CN">
                            <a:latin typeface="Cambria Math" panose="02040503050406030204" pitchFamily="18" charset="0"/>
                          </a:rPr>
                          <m:t>M</m:t>
                        </m:r>
                      </m:e>
                      <m:sub>
                        <m:sSup>
                          <m:sSupPr>
                            <m:ctrlPr>
                              <a:rPr lang="en-US" altLang="zh-CN" i="1">
                                <a:latin typeface="Cambria Math" panose="02040503050406030204" pitchFamily="18" charset="0"/>
                              </a:rPr>
                            </m:ctrlPr>
                          </m:sSupPr>
                          <m:e>
                            <m:r>
                              <m:rPr>
                                <m:sty m:val="p"/>
                              </m:rPr>
                              <a:rPr lang="en-US" altLang="zh-CN" i="1">
                                <a:latin typeface="Cambria Math" panose="02040503050406030204" pitchFamily="18" charset="0"/>
                              </a:rPr>
                              <m:t>R</m:t>
                            </m:r>
                          </m:e>
                          <m:sup>
                            <m:r>
                              <a:rPr lang="en-US" altLang="zh-CN" b="0" i="1" smtClean="0">
                                <a:latin typeface="Cambria Math" panose="02040503050406030204" pitchFamily="18" charset="0"/>
                              </a:rPr>
                              <m:t>2</m:t>
                            </m:r>
                          </m:sup>
                        </m:sSup>
                      </m:sub>
                    </m:sSub>
                  </m:oMath>
                </a14:m>
                <a:r>
                  <a:rPr lang="en-US" altLang="zh-CN" dirty="0"/>
                  <a:t>=</a:t>
                </a:r>
                <a14:m>
                  <m:oMath xmlns:m="http://schemas.openxmlformats.org/officeDocument/2006/math">
                    <m:sSubSup>
                      <m:sSubSupPr>
                        <m:ctrlPr>
                          <a:rPr lang="en-US" altLang="zh-CN" i="1">
                            <a:latin typeface="Cambria Math" panose="02040503050406030204" pitchFamily="18" charset="0"/>
                          </a:rPr>
                        </m:ctrlPr>
                      </m:sSubSupPr>
                      <m:e>
                        <m:r>
                          <m:rPr>
                            <m:sty m:val="p"/>
                          </m:rPr>
                          <a:rPr lang="en-US" altLang="zh-CN">
                            <a:latin typeface="Cambria Math" panose="02040503050406030204" pitchFamily="18" charset="0"/>
                          </a:rPr>
                          <m:t>M</m:t>
                        </m:r>
                      </m:e>
                      <m:sub>
                        <m:r>
                          <m:rPr>
                            <m:sty m:val="p"/>
                          </m:rPr>
                          <a:rPr lang="en-US" altLang="zh-CN" i="1">
                            <a:latin typeface="Cambria Math" panose="02040503050406030204" pitchFamily="18" charset="0"/>
                          </a:rPr>
                          <m:t>R</m:t>
                        </m:r>
                      </m:sub>
                      <m:sup>
                        <m:r>
                          <a:rPr lang="en-US" altLang="zh-CN" i="1">
                            <a:latin typeface="Cambria Math" panose="02040503050406030204" pitchFamily="18" charset="0"/>
                          </a:rPr>
                          <m:t>[</m:t>
                        </m:r>
                        <m:r>
                          <a:rPr lang="en-US" altLang="zh-CN" b="0" i="1" smtClean="0">
                            <a:latin typeface="Cambria Math" panose="02040503050406030204" pitchFamily="18" charset="0"/>
                          </a:rPr>
                          <m:t>2</m:t>
                        </m:r>
                        <m:r>
                          <a:rPr lang="en-US" altLang="zh-CN" i="1">
                            <a:latin typeface="Cambria Math" panose="02040503050406030204" pitchFamily="18" charset="0"/>
                          </a:rPr>
                          <m:t>]</m:t>
                        </m:r>
                      </m:sup>
                    </m:sSubSup>
                    <m:r>
                      <a:rPr lang="en-US" altLang="zh-CN" i="1">
                        <a:latin typeface="Cambria Math" panose="02040503050406030204" pitchFamily="18" charset="0"/>
                      </a:rPr>
                      <m:t>=</m:t>
                    </m:r>
                    <m:d>
                      <m:dPr>
                        <m:begChr m:val="["/>
                        <m:endChr m:val="]"/>
                        <m:ctrlPr>
                          <a:rPr lang="en-US" altLang="zh-CN" i="1">
                            <a:latin typeface="Cambria Math" panose="02040503050406030204" pitchFamily="18" charset="0"/>
                          </a:rPr>
                        </m:ctrlPr>
                      </m:dPr>
                      <m:e>
                        <m:eqArr>
                          <m:eqArrPr>
                            <m:ctrlPr>
                              <a:rPr lang="en-US" altLang="zh-CN" b="0" i="1" smtClean="0">
                                <a:latin typeface="Cambria Math" panose="02040503050406030204" pitchFamily="18" charset="0"/>
                              </a:rPr>
                            </m:ctrlPr>
                          </m:eqArrPr>
                          <m:e>
                            <m:r>
                              <a:rPr lang="en-US" altLang="zh-CN" b="0" i="1" smtClean="0">
                                <a:latin typeface="Cambria Math" panose="02040503050406030204" pitchFamily="18" charset="0"/>
                              </a:rPr>
                              <m:t>011</m:t>
                            </m:r>
                          </m:e>
                          <m:e>
                            <m:r>
                              <a:rPr lang="en-US" altLang="zh-CN" b="0" i="1" smtClean="0">
                                <a:latin typeface="Cambria Math" panose="02040503050406030204" pitchFamily="18" charset="0"/>
                              </a:rPr>
                              <m:t>111</m:t>
                            </m:r>
                          </m:e>
                          <m:e>
                            <m:r>
                              <a:rPr lang="en-US" altLang="zh-CN" b="0" i="1" smtClean="0">
                                <a:latin typeface="Cambria Math" panose="02040503050406030204" pitchFamily="18" charset="0"/>
                              </a:rPr>
                              <m:t>010</m:t>
                            </m:r>
                          </m:e>
                        </m:eqArr>
                      </m:e>
                    </m:d>
                  </m:oMath>
                </a14:m>
                <a:endParaRPr lang="en-US" altLang="zh-CN" dirty="0" smtClean="0"/>
              </a:p>
              <a:p>
                <a:pPr marL="0" indent="0">
                  <a:buNone/>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999" t="-1310"/>
                </a:stretch>
              </a:blipFill>
            </p:spPr>
            <p:txBody>
              <a:bodyPr/>
              <a:lstStyle/>
              <a:p>
                <a:r>
                  <a:rPr lang="zh-CN" altLang="en-US">
                    <a:noFill/>
                  </a:rPr>
                  <a:t> </a:t>
                </a:r>
              </a:p>
            </p:txBody>
          </p:sp>
        </mc:Fallback>
      </mc:AlternateContent>
      <p:sp>
        <p:nvSpPr>
          <p:cNvPr id="7" name="日期占位符 6"/>
          <p:cNvSpPr>
            <a:spLocks noGrp="1"/>
          </p:cNvSpPr>
          <p:nvPr>
            <p:ph type="dt" sz="half" idx="10"/>
          </p:nvPr>
        </p:nvSpPr>
        <p:spPr/>
        <p:txBody>
          <a:bodyPr/>
          <a:lstStyle/>
          <a:p>
            <a:fld id="{80C3630D-09D0-4AF6-91C4-19E6F353179C}" type="datetime1">
              <a:rPr lang="zh-CN" altLang="en-US" smtClean="0"/>
              <a:t>2025/3/14</a:t>
            </a:fld>
            <a:endParaRPr lang="zh-CN" altLang="en-US" dirty="0"/>
          </a:p>
        </p:txBody>
      </p:sp>
      <p:sp>
        <p:nvSpPr>
          <p:cNvPr id="8" name="页脚占位符 7"/>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9" name="灯片编号占位符 8"/>
          <p:cNvSpPr>
            <a:spLocks noGrp="1"/>
          </p:cNvSpPr>
          <p:nvPr>
            <p:ph type="sldNum" sz="quarter" idx="12"/>
          </p:nvPr>
        </p:nvSpPr>
        <p:spPr/>
        <p:txBody>
          <a:bodyPr/>
          <a:lstStyle/>
          <a:p>
            <a:fld id="{67913A8A-9EFB-4B5F-9CCB-3D21173FAA85}" type="slidenum">
              <a:rPr lang="zh-CN" altLang="en-US" smtClean="0"/>
              <a:pPr/>
              <a:t>45</a:t>
            </a:fld>
            <a:endParaRPr lang="zh-CN" altLang="en-US" dirty="0"/>
          </a:p>
        </p:txBody>
      </p:sp>
    </p:spTree>
    <p:extLst>
      <p:ext uri="{BB962C8B-B14F-4D97-AF65-F5344CB8AC3E}">
        <p14:creationId xmlns:p14="http://schemas.microsoft.com/office/powerpoint/2010/main" val="1492261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Effect transition="in" filter="wipe(down)">
                                      <p:cBhvr>
                                        <p:cTn id="7" dur="500"/>
                                        <p:tgtEl>
                                          <p:spTgt spid="3">
                                            <p:txEl>
                                              <p:pRg st="4" end="4"/>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3">
                                            <p:txEl>
                                              <p:pRg st="5" end="5"/>
                                            </p:txEl>
                                          </p:spTgt>
                                        </p:tgtEl>
                                        <p:attrNameLst>
                                          <p:attrName>style.visibility</p:attrName>
                                        </p:attrNameLst>
                                      </p:cBhvr>
                                      <p:to>
                                        <p:strVal val="visible"/>
                                      </p:to>
                                    </p:set>
                                    <p:animEffect transition="in" filter="wipe(down)">
                                      <p:cBhvr>
                                        <p:cTn id="10"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457200" y="2438400"/>
            <a:ext cx="11277599" cy="1295400"/>
          </a:xfrm>
          <a:prstGeom prst="rect">
            <a:avLst/>
          </a:prstGeom>
          <a:solidFill>
            <a:schemeClr val="accent5">
              <a:lumMod val="40000"/>
              <a:lumOff val="6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itle 1"/>
          <p:cNvSpPr>
            <a:spLocks noGrp="1"/>
          </p:cNvSpPr>
          <p:nvPr>
            <p:ph type="title"/>
          </p:nvPr>
        </p:nvSpPr>
        <p:spPr/>
        <p:txBody>
          <a:bodyPr/>
          <a:lstStyle/>
          <a:p>
            <a:r>
              <a:rPr lang="zh-CN" altLang="en-US" dirty="0" smtClean="0"/>
              <a:t>用图表示关系</a:t>
            </a:r>
            <a:endParaRPr lang="en-US" dirty="0"/>
          </a:p>
        </p:txBody>
      </p:sp>
      <p:sp>
        <p:nvSpPr>
          <p:cNvPr id="3" name="Content Placeholder 2"/>
          <p:cNvSpPr>
            <a:spLocks noGrp="1"/>
          </p:cNvSpPr>
          <p:nvPr>
            <p:ph idx="1"/>
          </p:nvPr>
        </p:nvSpPr>
        <p:spPr/>
        <p:txBody>
          <a:bodyPr>
            <a:normAutofit/>
          </a:bodyPr>
          <a:lstStyle/>
          <a:p>
            <a:r>
              <a:rPr lang="zh-CN" altLang="en-US" sz="2600" dirty="0" smtClean="0"/>
              <a:t>把集合中的每个元素表示成一个点</a:t>
            </a:r>
            <a:r>
              <a:rPr lang="en-US" altLang="zh-CN" sz="2600" dirty="0" smtClean="0"/>
              <a:t>, </a:t>
            </a:r>
            <a:r>
              <a:rPr lang="zh-CN" altLang="en-US" sz="2600" dirty="0" smtClean="0"/>
              <a:t>每个有序对表示成一条带有箭头的弧</a:t>
            </a:r>
            <a:r>
              <a:rPr lang="en-US" altLang="zh-CN" sz="2600" dirty="0" smtClean="0"/>
              <a:t>,</a:t>
            </a:r>
            <a:r>
              <a:rPr lang="zh-CN" altLang="en-US" sz="2600" dirty="0" smtClean="0"/>
              <a:t>弧上的箭头标明弧的方向</a:t>
            </a:r>
            <a:r>
              <a:rPr lang="en-US" altLang="zh-CN" sz="2600" dirty="0" smtClean="0"/>
              <a:t>. </a:t>
            </a:r>
            <a:r>
              <a:rPr lang="zh-CN" altLang="en-US" sz="2600" dirty="0" smtClean="0"/>
              <a:t>当我们把一个有穷集上的关系看作这样一个</a:t>
            </a:r>
            <a:r>
              <a:rPr lang="zh-CN" altLang="en-US" sz="2600" b="1" dirty="0" smtClean="0">
                <a:solidFill>
                  <a:srgbClr val="C00000"/>
                </a:solidFill>
              </a:rPr>
              <a:t>有向图</a:t>
            </a:r>
            <a:r>
              <a:rPr lang="zh-CN" altLang="en-US" sz="2600" dirty="0" smtClean="0"/>
              <a:t>时</a:t>
            </a:r>
            <a:r>
              <a:rPr lang="en-US" altLang="zh-CN" sz="2600" dirty="0" smtClean="0"/>
              <a:t>, </a:t>
            </a:r>
            <a:r>
              <a:rPr lang="zh-CN" altLang="en-US" sz="2600" dirty="0" smtClean="0"/>
              <a:t>就可以用图形来表示关系</a:t>
            </a:r>
            <a:r>
              <a:rPr lang="en-US" altLang="zh-CN" sz="2600" dirty="0" smtClean="0"/>
              <a:t>.</a:t>
            </a:r>
          </a:p>
          <a:p>
            <a:r>
              <a:rPr lang="zh-CN" altLang="en-US" sz="2600" dirty="0" smtClean="0"/>
              <a:t>定义</a:t>
            </a:r>
            <a:r>
              <a:rPr lang="en-US" sz="2600" dirty="0" smtClean="0"/>
              <a:t>: </a:t>
            </a:r>
            <a:r>
              <a:rPr lang="zh-CN" altLang="en-US" sz="2600" dirty="0" smtClean="0"/>
              <a:t>一个有向图由顶点</a:t>
            </a:r>
            <a:r>
              <a:rPr lang="en-US" altLang="zh-CN" sz="2600" dirty="0" smtClean="0"/>
              <a:t>(</a:t>
            </a:r>
            <a:r>
              <a:rPr lang="zh-CN" altLang="en-US" sz="2600" dirty="0" smtClean="0"/>
              <a:t>或结点</a:t>
            </a:r>
            <a:r>
              <a:rPr lang="en-US" altLang="zh-CN" sz="2600" dirty="0" smtClean="0"/>
              <a:t>)</a:t>
            </a:r>
            <a:r>
              <a:rPr lang="zh-CN" altLang="en-US" sz="2600" dirty="0" smtClean="0"/>
              <a:t>集</a:t>
            </a:r>
            <a:r>
              <a:rPr lang="en-US" altLang="zh-CN" sz="2600" dirty="0" smtClean="0"/>
              <a:t>V</a:t>
            </a:r>
            <a:r>
              <a:rPr lang="zh-CN" altLang="en-US" sz="2600" dirty="0" smtClean="0"/>
              <a:t>和边</a:t>
            </a:r>
            <a:r>
              <a:rPr lang="en-US" altLang="zh-CN" sz="2600" dirty="0" smtClean="0"/>
              <a:t>(</a:t>
            </a:r>
            <a:r>
              <a:rPr lang="zh-CN" altLang="en-US" sz="2600" dirty="0" smtClean="0"/>
              <a:t>或弧</a:t>
            </a:r>
            <a:r>
              <a:rPr lang="en-US" altLang="zh-CN" sz="2600" dirty="0" smtClean="0"/>
              <a:t>)</a:t>
            </a:r>
            <a:r>
              <a:rPr lang="zh-CN" altLang="en-US" sz="2600" dirty="0" smtClean="0"/>
              <a:t>集</a:t>
            </a:r>
            <a:r>
              <a:rPr lang="en-US" altLang="zh-CN" sz="2600" dirty="0" smtClean="0"/>
              <a:t>E</a:t>
            </a:r>
            <a:r>
              <a:rPr lang="zh-CN" altLang="en-US" sz="2600" dirty="0" smtClean="0"/>
              <a:t>组成</a:t>
            </a:r>
            <a:r>
              <a:rPr lang="en-US" altLang="zh-CN" sz="2600" dirty="0" smtClean="0"/>
              <a:t>, </a:t>
            </a:r>
            <a:r>
              <a:rPr lang="zh-CN" altLang="en-US" sz="2600" dirty="0" smtClean="0"/>
              <a:t>其中边集是</a:t>
            </a:r>
            <a:r>
              <a:rPr lang="en-US" altLang="zh-CN" sz="2600" dirty="0" smtClean="0"/>
              <a:t>V</a:t>
            </a:r>
            <a:r>
              <a:rPr lang="zh-CN" altLang="en-US" sz="2600" dirty="0" smtClean="0"/>
              <a:t>中元素的有序对的集合</a:t>
            </a:r>
            <a:r>
              <a:rPr lang="en-US" altLang="zh-CN" sz="2600" dirty="0" smtClean="0"/>
              <a:t>. </a:t>
            </a:r>
            <a:r>
              <a:rPr lang="zh-CN" altLang="en-US" sz="2600" dirty="0" smtClean="0"/>
              <a:t>顶点</a:t>
            </a:r>
            <a:r>
              <a:rPr lang="en-US" altLang="zh-CN" sz="2600" dirty="0" smtClean="0"/>
              <a:t>a</a:t>
            </a:r>
            <a:r>
              <a:rPr lang="zh-CN" altLang="en-US" sz="2600" dirty="0" smtClean="0"/>
              <a:t>叫做边</a:t>
            </a:r>
            <a:r>
              <a:rPr lang="en-US" altLang="zh-CN" sz="2600" dirty="0" smtClean="0"/>
              <a:t>(</a:t>
            </a:r>
            <a:r>
              <a:rPr lang="en-US" altLang="zh-CN" sz="2600" dirty="0" err="1" smtClean="0"/>
              <a:t>a,b</a:t>
            </a:r>
            <a:r>
              <a:rPr lang="en-US" altLang="zh-CN" sz="2600" dirty="0" smtClean="0"/>
              <a:t>)</a:t>
            </a:r>
            <a:r>
              <a:rPr lang="zh-CN" altLang="en-US" sz="2600" dirty="0" smtClean="0"/>
              <a:t>的始点</a:t>
            </a:r>
            <a:r>
              <a:rPr lang="en-US" altLang="zh-CN" sz="2600" dirty="0" smtClean="0"/>
              <a:t>, </a:t>
            </a:r>
            <a:r>
              <a:rPr lang="zh-CN" altLang="en-US" sz="2600" dirty="0" smtClean="0"/>
              <a:t>而顶点</a:t>
            </a:r>
            <a:r>
              <a:rPr lang="en-US" altLang="zh-CN" sz="2600" dirty="0" smtClean="0"/>
              <a:t>b</a:t>
            </a:r>
            <a:r>
              <a:rPr lang="zh-CN" altLang="en-US" sz="2600" dirty="0" smtClean="0"/>
              <a:t>叫做这条边的终点</a:t>
            </a:r>
            <a:r>
              <a:rPr lang="en-US" altLang="zh-CN" sz="2600" dirty="0" smtClean="0"/>
              <a:t>. </a:t>
            </a:r>
            <a:r>
              <a:rPr lang="zh-CN" altLang="en-US" sz="2600" dirty="0" smtClean="0"/>
              <a:t>形如</a:t>
            </a:r>
            <a:r>
              <a:rPr lang="en-US" altLang="zh-CN" sz="2600" dirty="0" smtClean="0"/>
              <a:t>(</a:t>
            </a:r>
            <a:r>
              <a:rPr lang="en-US" altLang="zh-CN" sz="2600" dirty="0" err="1" smtClean="0"/>
              <a:t>a,a</a:t>
            </a:r>
            <a:r>
              <a:rPr lang="en-US" altLang="zh-CN" sz="2600" dirty="0" smtClean="0"/>
              <a:t>)</a:t>
            </a:r>
            <a:r>
              <a:rPr lang="zh-CN" altLang="en-US" sz="2600" dirty="0" smtClean="0"/>
              <a:t>的边用一条从顶点</a:t>
            </a:r>
            <a:r>
              <a:rPr lang="en-US" altLang="zh-CN" sz="2600" dirty="0" smtClean="0"/>
              <a:t>a</a:t>
            </a:r>
            <a:r>
              <a:rPr lang="zh-CN" altLang="en-US" sz="2600" dirty="0" smtClean="0"/>
              <a:t>到自身的弧表示</a:t>
            </a:r>
            <a:r>
              <a:rPr lang="en-US" altLang="zh-CN" sz="2600" dirty="0" smtClean="0"/>
              <a:t>, </a:t>
            </a:r>
            <a:r>
              <a:rPr lang="zh-CN" altLang="en-US" sz="2600" dirty="0" smtClean="0"/>
              <a:t>这种边叫环</a:t>
            </a:r>
            <a:r>
              <a:rPr lang="en-US" altLang="zh-CN" sz="2600" dirty="0" smtClean="0"/>
              <a:t>.</a:t>
            </a:r>
          </a:p>
          <a:p>
            <a:pPr marL="0" indent="0">
              <a:buNone/>
            </a:pPr>
            <a:r>
              <a:rPr lang="en-US" sz="2600" dirty="0" smtClean="0"/>
              <a:t>   </a:t>
            </a:r>
          </a:p>
          <a:p>
            <a:r>
              <a:rPr lang="zh-CN" altLang="en-US" sz="2600" dirty="0" smtClean="0"/>
              <a:t>例</a:t>
            </a:r>
            <a:r>
              <a:rPr lang="en-US" sz="2600" dirty="0" smtClean="0"/>
              <a:t>: </a:t>
            </a:r>
            <a:r>
              <a:rPr lang="zh-CN" altLang="en-US" sz="2600" dirty="0" smtClean="0"/>
              <a:t>具有顶点</a:t>
            </a:r>
            <a:r>
              <a:rPr lang="en-US" sz="2600" dirty="0" smtClean="0"/>
              <a:t>a, b, c, d, </a:t>
            </a:r>
            <a:r>
              <a:rPr lang="zh-CN" altLang="en-US" sz="2600" dirty="0" smtClean="0"/>
              <a:t>边</a:t>
            </a:r>
            <a:r>
              <a:rPr lang="en-US" sz="2600" dirty="0" smtClean="0"/>
              <a:t>(a, b), (a, d), (b, b), (b, d), (c, a), (c, b), (d, b) </a:t>
            </a:r>
            <a:r>
              <a:rPr lang="zh-CN" altLang="en-US" sz="2600" dirty="0" smtClean="0"/>
              <a:t>的有向图如图所示</a:t>
            </a:r>
            <a:r>
              <a:rPr lang="en-US" sz="2600" dirty="0" smtClean="0"/>
              <a:t>. </a:t>
            </a:r>
            <a:endParaRPr lang="en-US" dirty="0"/>
          </a:p>
        </p:txBody>
      </p:sp>
      <p:sp>
        <p:nvSpPr>
          <p:cNvPr id="7" name="日期占位符 6"/>
          <p:cNvSpPr>
            <a:spLocks noGrp="1"/>
          </p:cNvSpPr>
          <p:nvPr>
            <p:ph type="dt" sz="half" idx="10"/>
          </p:nvPr>
        </p:nvSpPr>
        <p:spPr/>
        <p:txBody>
          <a:bodyPr/>
          <a:lstStyle/>
          <a:p>
            <a:fld id="{E3AE8AAB-62C2-46C3-A005-CB51CAE89143}" type="datetime1">
              <a:rPr lang="zh-CN" altLang="en-US" smtClean="0"/>
              <a:t>2025/3/14</a:t>
            </a:fld>
            <a:endParaRPr lang="zh-CN" altLang="en-US" dirty="0"/>
          </a:p>
        </p:txBody>
      </p:sp>
      <p:sp>
        <p:nvSpPr>
          <p:cNvPr id="8" name="页脚占位符 7"/>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9" name="灯片编号占位符 8"/>
          <p:cNvSpPr>
            <a:spLocks noGrp="1"/>
          </p:cNvSpPr>
          <p:nvPr>
            <p:ph type="sldNum" sz="quarter" idx="12"/>
          </p:nvPr>
        </p:nvSpPr>
        <p:spPr/>
        <p:txBody>
          <a:bodyPr/>
          <a:lstStyle/>
          <a:p>
            <a:fld id="{67913A8A-9EFB-4B5F-9CCB-3D21173FAA85}" type="slidenum">
              <a:rPr lang="zh-CN" altLang="en-US" smtClean="0"/>
              <a:pPr/>
              <a:t>46</a:t>
            </a:fld>
            <a:endParaRPr lang="zh-CN" altLang="en-US" dirty="0"/>
          </a:p>
        </p:txBody>
      </p:sp>
      <p:pic>
        <p:nvPicPr>
          <p:cNvPr id="4" name="Content Placeholder 3" descr="0805.jpg"/>
          <p:cNvPicPr>
            <a:picLocks noChangeAspect="1"/>
          </p:cNvPicPr>
          <p:nvPr/>
        </p:nvPicPr>
        <p:blipFill>
          <a:blip r:embed="rId2" cstate="print"/>
          <a:stretch>
            <a:fillRect/>
          </a:stretch>
        </p:blipFill>
        <p:spPr>
          <a:xfrm>
            <a:off x="6248400" y="4731073"/>
            <a:ext cx="1386191" cy="1574479"/>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用图表示关系</a:t>
            </a:r>
            <a:endParaRPr lang="en-US" dirty="0"/>
          </a:p>
        </p:txBody>
      </p:sp>
      <p:sp>
        <p:nvSpPr>
          <p:cNvPr id="3" name="Content Placeholder 2"/>
          <p:cNvSpPr>
            <a:spLocks noGrp="1"/>
          </p:cNvSpPr>
          <p:nvPr>
            <p:ph idx="1"/>
          </p:nvPr>
        </p:nvSpPr>
        <p:spPr/>
        <p:txBody>
          <a:bodyPr/>
          <a:lstStyle/>
          <a:p>
            <a:r>
              <a:rPr lang="zh-CN" altLang="en-US" dirty="0" smtClean="0"/>
              <a:t>例</a:t>
            </a:r>
            <a:r>
              <a:rPr lang="en-US" dirty="0" smtClean="0"/>
              <a:t>:</a:t>
            </a:r>
            <a:r>
              <a:rPr lang="zh-CN" altLang="en-US" dirty="0" smtClean="0"/>
              <a:t>如图所示的有向图表示的关系</a:t>
            </a:r>
            <a:r>
              <a:rPr lang="en-US" altLang="zh-CN" dirty="0" smtClean="0"/>
              <a:t>R</a:t>
            </a:r>
            <a:r>
              <a:rPr lang="zh-CN" altLang="en-US" dirty="0" smtClean="0"/>
              <a:t>中的有序对是什么？</a:t>
            </a:r>
            <a:endParaRPr lang="en-US" dirty="0" smtClean="0"/>
          </a:p>
          <a:p>
            <a:endParaRPr lang="en-US" dirty="0" smtClean="0"/>
          </a:p>
          <a:p>
            <a:endParaRPr lang="en-US" dirty="0" smtClean="0"/>
          </a:p>
          <a:p>
            <a:endParaRPr lang="en-US" dirty="0" smtClean="0"/>
          </a:p>
          <a:p>
            <a:r>
              <a:rPr lang="zh-CN" altLang="en-US" dirty="0" smtClean="0"/>
              <a:t>解</a:t>
            </a:r>
            <a:r>
              <a:rPr lang="en-US" dirty="0" smtClean="0"/>
              <a:t>: </a:t>
            </a:r>
            <a:r>
              <a:rPr lang="zh-CN" altLang="en-US" dirty="0" smtClean="0"/>
              <a:t>关系</a:t>
            </a:r>
            <a:r>
              <a:rPr lang="en-US" altLang="zh-CN" dirty="0" smtClean="0"/>
              <a:t>R</a:t>
            </a:r>
            <a:r>
              <a:rPr lang="zh-CN" altLang="en-US" dirty="0" smtClean="0"/>
              <a:t>中的有序对是</a:t>
            </a:r>
            <a:r>
              <a:rPr lang="en-US" dirty="0" smtClean="0"/>
              <a:t>(1, 3), (1, 4), (2, 1), (2, 2), (2, 3), (3, 1), (3, 3), (4, 1), (4, 3)</a:t>
            </a:r>
          </a:p>
          <a:p>
            <a:endParaRPr lang="en-US" dirty="0"/>
          </a:p>
        </p:txBody>
      </p:sp>
      <p:pic>
        <p:nvPicPr>
          <p:cNvPr id="6" name="Content Placeholder 5" descr="0807.jpg"/>
          <p:cNvPicPr>
            <a:picLocks noChangeAspect="1"/>
          </p:cNvPicPr>
          <p:nvPr/>
        </p:nvPicPr>
        <p:blipFill>
          <a:blip r:embed="rId2" cstate="print"/>
          <a:stretch>
            <a:fillRect/>
          </a:stretch>
        </p:blipFill>
        <p:spPr>
          <a:xfrm>
            <a:off x="5181599" y="1600200"/>
            <a:ext cx="1421601" cy="1524000"/>
          </a:xfrm>
          <a:prstGeom prst="rect">
            <a:avLst/>
          </a:prstGeom>
        </p:spPr>
      </p:pic>
      <p:sp>
        <p:nvSpPr>
          <p:cNvPr id="7" name="日期占位符 6"/>
          <p:cNvSpPr>
            <a:spLocks noGrp="1"/>
          </p:cNvSpPr>
          <p:nvPr>
            <p:ph type="dt" sz="half" idx="10"/>
          </p:nvPr>
        </p:nvSpPr>
        <p:spPr/>
        <p:txBody>
          <a:bodyPr/>
          <a:lstStyle/>
          <a:p>
            <a:fld id="{794DD1DF-5A78-4C0E-AF4F-AFEA77DDBBB7}" type="datetime1">
              <a:rPr lang="zh-CN" altLang="en-US" smtClean="0"/>
              <a:t>2025/3/14</a:t>
            </a:fld>
            <a:endParaRPr lang="zh-CN" altLang="en-US" dirty="0"/>
          </a:p>
        </p:txBody>
      </p:sp>
      <p:sp>
        <p:nvSpPr>
          <p:cNvPr id="8" name="页脚占位符 7"/>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9" name="灯片编号占位符 8"/>
          <p:cNvSpPr>
            <a:spLocks noGrp="1"/>
          </p:cNvSpPr>
          <p:nvPr>
            <p:ph type="sldNum" sz="quarter" idx="12"/>
          </p:nvPr>
        </p:nvSpPr>
        <p:spPr/>
        <p:txBody>
          <a:bodyPr/>
          <a:lstStyle/>
          <a:p>
            <a:fld id="{67913A8A-9EFB-4B5F-9CCB-3D21173FAA85}" type="slidenum">
              <a:rPr lang="zh-CN" altLang="en-US" smtClean="0"/>
              <a:pPr/>
              <a:t>47</a:t>
            </a:fld>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Effect transition="in" filter="wipe(down)">
                                      <p:cBhvr>
                                        <p:cTn id="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smtClean="0"/>
              <a:t>用图表示</a:t>
            </a:r>
            <a:r>
              <a:rPr lang="zh-CN" altLang="en-US" dirty="0"/>
              <a:t>关系</a:t>
            </a:r>
            <a:r>
              <a:rPr lang="zh-CN" altLang="en-US" dirty="0" smtClean="0"/>
              <a:t>时</a:t>
            </a:r>
            <a:r>
              <a:rPr lang="en-US" altLang="zh-CN" dirty="0" smtClean="0"/>
              <a:t>,</a:t>
            </a:r>
            <a:r>
              <a:rPr lang="zh-CN" altLang="en-US" dirty="0" smtClean="0"/>
              <a:t>确定</a:t>
            </a:r>
            <a:r>
              <a:rPr lang="zh-CN" altLang="en-US" dirty="0"/>
              <a:t>关系的性质</a:t>
            </a:r>
            <a:endParaRPr lang="en-US" dirty="0"/>
          </a:p>
        </p:txBody>
      </p:sp>
      <p:sp>
        <p:nvSpPr>
          <p:cNvPr id="3" name="Content Placeholder 2"/>
          <p:cNvSpPr>
            <a:spLocks noGrp="1"/>
          </p:cNvSpPr>
          <p:nvPr>
            <p:ph idx="1"/>
          </p:nvPr>
        </p:nvSpPr>
        <p:spPr/>
        <p:txBody>
          <a:bodyPr/>
          <a:lstStyle/>
          <a:p>
            <a:r>
              <a:rPr lang="zh-CN" altLang="en-US" u="sng" dirty="0" smtClean="0">
                <a:solidFill>
                  <a:srgbClr val="C00000"/>
                </a:solidFill>
              </a:rPr>
              <a:t>自反性判断</a:t>
            </a:r>
            <a:r>
              <a:rPr lang="en-US" dirty="0" smtClean="0"/>
              <a:t>: </a:t>
            </a:r>
            <a:r>
              <a:rPr lang="zh-CN" altLang="en-US" dirty="0" smtClean="0"/>
              <a:t>有向图中每个顶点都有环</a:t>
            </a:r>
            <a:r>
              <a:rPr lang="en-US" dirty="0" smtClean="0"/>
              <a:t>.</a:t>
            </a:r>
          </a:p>
          <a:p>
            <a:endParaRPr lang="en-US" dirty="0" smtClean="0"/>
          </a:p>
          <a:p>
            <a:r>
              <a:rPr lang="zh-CN" altLang="en-US" u="sng" dirty="0">
                <a:solidFill>
                  <a:srgbClr val="C00000"/>
                </a:solidFill>
              </a:rPr>
              <a:t>对称性判断</a:t>
            </a:r>
            <a:r>
              <a:rPr lang="en-US" dirty="0" smtClean="0"/>
              <a:t>: </a:t>
            </a:r>
            <a:r>
              <a:rPr lang="zh-CN" altLang="en-US" dirty="0" smtClean="0"/>
              <a:t>有向图中不同顶点之间的每一条边都存在一条方向相反的边</a:t>
            </a:r>
            <a:r>
              <a:rPr lang="en-US" dirty="0" smtClean="0"/>
              <a:t>.</a:t>
            </a:r>
          </a:p>
          <a:p>
            <a:endParaRPr lang="en-US" dirty="0" smtClean="0"/>
          </a:p>
          <a:p>
            <a:r>
              <a:rPr lang="zh-CN" altLang="en-US" u="sng" dirty="0">
                <a:solidFill>
                  <a:srgbClr val="C00000"/>
                </a:solidFill>
              </a:rPr>
              <a:t>反对称性判断</a:t>
            </a:r>
            <a:r>
              <a:rPr lang="en-US" dirty="0" smtClean="0"/>
              <a:t>: </a:t>
            </a:r>
            <a:r>
              <a:rPr lang="zh-CN" altLang="en-US" dirty="0" smtClean="0"/>
              <a:t>有向图中两个不同顶点之间不存在两条方向相反的边</a:t>
            </a:r>
            <a:r>
              <a:rPr lang="en-US" dirty="0" smtClean="0"/>
              <a:t>. </a:t>
            </a:r>
          </a:p>
          <a:p>
            <a:endParaRPr lang="en-US" dirty="0" smtClean="0"/>
          </a:p>
          <a:p>
            <a:r>
              <a:rPr lang="zh-CN" altLang="en-US" u="sng" dirty="0">
                <a:solidFill>
                  <a:srgbClr val="C00000"/>
                </a:solidFill>
              </a:rPr>
              <a:t>传递性判断</a:t>
            </a:r>
            <a:r>
              <a:rPr lang="en-US" dirty="0" smtClean="0"/>
              <a:t>: </a:t>
            </a:r>
            <a:r>
              <a:rPr lang="zh-CN" altLang="en-US" dirty="0" smtClean="0"/>
              <a:t>有向图中只要存在一条从顶点</a:t>
            </a:r>
            <a:r>
              <a:rPr lang="en-US" altLang="zh-CN" dirty="0" smtClean="0"/>
              <a:t>x</a:t>
            </a:r>
            <a:r>
              <a:rPr lang="zh-CN" altLang="en-US" dirty="0" smtClean="0"/>
              <a:t>到顶点</a:t>
            </a:r>
            <a:r>
              <a:rPr lang="en-US" altLang="zh-CN" dirty="0" smtClean="0"/>
              <a:t>y</a:t>
            </a:r>
            <a:r>
              <a:rPr lang="zh-CN" altLang="en-US" dirty="0" smtClean="0"/>
              <a:t>的边</a:t>
            </a:r>
            <a:r>
              <a:rPr lang="en-US" altLang="zh-CN" dirty="0" smtClean="0"/>
              <a:t>, </a:t>
            </a:r>
            <a:r>
              <a:rPr lang="zh-CN" altLang="en-US" dirty="0" smtClean="0"/>
              <a:t>一条从顶点</a:t>
            </a:r>
            <a:r>
              <a:rPr lang="en-US" altLang="zh-CN" dirty="0" smtClean="0"/>
              <a:t>y</a:t>
            </a:r>
            <a:r>
              <a:rPr lang="zh-CN" altLang="en-US" dirty="0" smtClean="0"/>
              <a:t>到顶点</a:t>
            </a:r>
            <a:r>
              <a:rPr lang="en-US" altLang="zh-CN" dirty="0" smtClean="0"/>
              <a:t>z</a:t>
            </a:r>
            <a:r>
              <a:rPr lang="zh-CN" altLang="en-US" dirty="0" smtClean="0"/>
              <a:t>的边</a:t>
            </a:r>
            <a:r>
              <a:rPr lang="en-US" altLang="zh-CN" dirty="0" smtClean="0"/>
              <a:t>, </a:t>
            </a:r>
            <a:r>
              <a:rPr lang="zh-CN" altLang="en-US" dirty="0" smtClean="0"/>
              <a:t>就有一条从顶点</a:t>
            </a:r>
            <a:r>
              <a:rPr lang="en-US" altLang="zh-CN" dirty="0" smtClean="0"/>
              <a:t>x</a:t>
            </a:r>
            <a:r>
              <a:rPr lang="zh-CN" altLang="en-US" dirty="0" smtClean="0"/>
              <a:t>到顶点</a:t>
            </a:r>
            <a:r>
              <a:rPr lang="en-US" altLang="zh-CN" dirty="0" smtClean="0"/>
              <a:t>z</a:t>
            </a:r>
            <a:r>
              <a:rPr lang="zh-CN" altLang="en-US" dirty="0" smtClean="0"/>
              <a:t>的边</a:t>
            </a:r>
            <a:r>
              <a:rPr lang="en-US" dirty="0" smtClean="0"/>
              <a:t>. </a:t>
            </a:r>
          </a:p>
          <a:p>
            <a:pPr lvl="1"/>
            <a:endParaRPr lang="en-US" dirty="0" smtClean="0"/>
          </a:p>
          <a:p>
            <a:pPr lvl="1"/>
            <a:endParaRPr lang="en-US" dirty="0" smtClean="0"/>
          </a:p>
          <a:p>
            <a:pPr lvl="1"/>
            <a:endParaRPr lang="en-US" dirty="0" smtClean="0"/>
          </a:p>
        </p:txBody>
      </p:sp>
      <p:sp>
        <p:nvSpPr>
          <p:cNvPr id="6" name="日期占位符 5"/>
          <p:cNvSpPr>
            <a:spLocks noGrp="1"/>
          </p:cNvSpPr>
          <p:nvPr>
            <p:ph type="dt" sz="half" idx="10"/>
          </p:nvPr>
        </p:nvSpPr>
        <p:spPr/>
        <p:txBody>
          <a:bodyPr/>
          <a:lstStyle/>
          <a:p>
            <a:fld id="{6017575C-3960-4672-8197-3B879571A3A0}" type="datetime1">
              <a:rPr lang="zh-CN" altLang="en-US" smtClean="0"/>
              <a:t>2025/3/14</a:t>
            </a:fld>
            <a:endParaRPr lang="zh-CN" altLang="en-US" dirty="0"/>
          </a:p>
        </p:txBody>
      </p:sp>
      <p:sp>
        <p:nvSpPr>
          <p:cNvPr id="7" name="页脚占位符 6"/>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8" name="灯片编号占位符 7"/>
          <p:cNvSpPr>
            <a:spLocks noGrp="1"/>
          </p:cNvSpPr>
          <p:nvPr>
            <p:ph type="sldNum" sz="quarter" idx="12"/>
          </p:nvPr>
        </p:nvSpPr>
        <p:spPr/>
        <p:txBody>
          <a:bodyPr/>
          <a:lstStyle/>
          <a:p>
            <a:fld id="{67913A8A-9EFB-4B5F-9CCB-3D21173FAA85}" type="slidenum">
              <a:rPr lang="zh-CN" altLang="en-US" smtClean="0"/>
              <a:pPr/>
              <a:t>48</a:t>
            </a:fld>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wipe(down)">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
                                            <p:txEl>
                                              <p:pRg st="4" end="4"/>
                                            </p:txEl>
                                          </p:spTgt>
                                        </p:tgtEl>
                                        <p:attrNameLst>
                                          <p:attrName>style.visibility</p:attrName>
                                        </p:attrNameLst>
                                      </p:cBhvr>
                                      <p:to>
                                        <p:strVal val="visible"/>
                                      </p:to>
                                    </p:set>
                                    <p:animEffect transition="in" filter="wipe(down)">
                                      <p:cBhvr>
                                        <p:cTn id="12" dur="500"/>
                                        <p:tgtEl>
                                          <p:spTgt spid="3">
                                            <p:txEl>
                                              <p:pRg st="4" end="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animEffect transition="in" filter="wipe(down)">
                                      <p:cBhvr>
                                        <p:cTn id="1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smtClean="0"/>
              <a:t>用图表示</a:t>
            </a:r>
            <a:r>
              <a:rPr lang="zh-CN" altLang="en-US" dirty="0"/>
              <a:t>关系</a:t>
            </a:r>
            <a:r>
              <a:rPr lang="zh-CN" altLang="en-US" dirty="0" smtClean="0"/>
              <a:t>时</a:t>
            </a:r>
            <a:r>
              <a:rPr lang="en-US" altLang="zh-CN" dirty="0" smtClean="0"/>
              <a:t>,</a:t>
            </a:r>
            <a:r>
              <a:rPr lang="zh-CN" altLang="en-US" dirty="0" smtClean="0"/>
              <a:t>确定</a:t>
            </a:r>
            <a:r>
              <a:rPr lang="zh-CN" altLang="en-US" dirty="0"/>
              <a:t>关系的性质</a:t>
            </a:r>
            <a:endParaRPr lang="en-US" dirty="0"/>
          </a:p>
        </p:txBody>
      </p:sp>
      <p:sp>
        <p:nvSpPr>
          <p:cNvPr id="3" name="Content Placeholder 2"/>
          <p:cNvSpPr>
            <a:spLocks noGrp="1"/>
          </p:cNvSpPr>
          <p:nvPr>
            <p:ph idx="1"/>
          </p:nvPr>
        </p:nvSpPr>
        <p:spPr/>
        <p:txBody>
          <a:bodyPr>
            <a:normAutofit/>
          </a:bodyPr>
          <a:lstStyle/>
          <a:p>
            <a:r>
              <a:rPr lang="zh-CN" altLang="en-US" dirty="0" smtClean="0"/>
              <a:t>例</a:t>
            </a:r>
            <a:r>
              <a:rPr lang="en-US" dirty="0" smtClean="0"/>
              <a:t>: </a:t>
            </a:r>
            <a:r>
              <a:rPr lang="zh-CN" altLang="en-US" dirty="0" smtClean="0"/>
              <a:t>判断所示有向图是否是自反的</a:t>
            </a:r>
            <a:r>
              <a:rPr lang="en-US" altLang="zh-CN" dirty="0" smtClean="0"/>
              <a:t>, </a:t>
            </a:r>
            <a:r>
              <a:rPr lang="zh-CN" altLang="en-US" dirty="0" smtClean="0"/>
              <a:t>对称的</a:t>
            </a:r>
            <a:r>
              <a:rPr lang="en-US" altLang="zh-CN" dirty="0" smtClean="0"/>
              <a:t>, </a:t>
            </a:r>
            <a:r>
              <a:rPr lang="zh-CN" altLang="en-US" dirty="0" smtClean="0"/>
              <a:t>反对称的</a:t>
            </a:r>
            <a:r>
              <a:rPr lang="en-US" altLang="zh-CN" dirty="0" smtClean="0"/>
              <a:t>, </a:t>
            </a:r>
            <a:r>
              <a:rPr lang="zh-CN" altLang="en-US" dirty="0" smtClean="0"/>
              <a:t>传递的</a:t>
            </a:r>
            <a:endParaRPr lang="en-US" altLang="zh-CN" dirty="0" smtClean="0"/>
          </a:p>
          <a:p>
            <a:endParaRPr lang="en-US" dirty="0"/>
          </a:p>
          <a:p>
            <a:endParaRPr lang="en-US" dirty="0" smtClean="0"/>
          </a:p>
          <a:p>
            <a:endParaRPr lang="en-US" dirty="0" smtClean="0"/>
          </a:p>
          <a:p>
            <a:endParaRPr lang="en-US" dirty="0"/>
          </a:p>
          <a:p>
            <a:r>
              <a:rPr lang="zh-CN" altLang="en-US" dirty="0" smtClean="0"/>
              <a:t>解</a:t>
            </a:r>
            <a:r>
              <a:rPr lang="en-US" altLang="zh-CN" dirty="0" smtClean="0"/>
              <a:t>:</a:t>
            </a:r>
          </a:p>
          <a:p>
            <a:pPr lvl="1"/>
            <a:r>
              <a:rPr lang="zh-CN" altLang="en-US" sz="2200" dirty="0"/>
              <a:t>因为图中不是每个顶点都有环</a:t>
            </a:r>
            <a:r>
              <a:rPr lang="en-US" altLang="zh-CN" sz="2200" dirty="0" smtClean="0"/>
              <a:t>, </a:t>
            </a:r>
            <a:r>
              <a:rPr lang="zh-CN" altLang="en-US" sz="2200" dirty="0" smtClean="0"/>
              <a:t>所以</a:t>
            </a:r>
            <a:r>
              <a:rPr lang="zh-CN" altLang="en-US" sz="2200" dirty="0"/>
              <a:t>不是自反的；</a:t>
            </a:r>
            <a:endParaRPr lang="en-US" altLang="zh-CN" sz="2200" dirty="0"/>
          </a:p>
          <a:p>
            <a:pPr lvl="1"/>
            <a:r>
              <a:rPr lang="zh-CN" altLang="en-US" sz="2200" dirty="0"/>
              <a:t>图中没有从一个顶点到另一个顶点的边</a:t>
            </a:r>
            <a:r>
              <a:rPr lang="en-US" altLang="zh-CN" sz="2200" dirty="0" smtClean="0"/>
              <a:t>, </a:t>
            </a:r>
            <a:r>
              <a:rPr lang="zh-CN" altLang="en-US" sz="2200" dirty="0" smtClean="0"/>
              <a:t>所以</a:t>
            </a:r>
            <a:r>
              <a:rPr lang="zh-CN" altLang="en-US" sz="2200" dirty="0"/>
              <a:t>是对称的；</a:t>
            </a:r>
            <a:endParaRPr lang="en-US" altLang="zh-CN" sz="2200" dirty="0"/>
          </a:p>
          <a:p>
            <a:pPr lvl="1"/>
            <a:r>
              <a:rPr lang="zh-CN" altLang="en-US" sz="2200" dirty="0"/>
              <a:t>图中没有从一个顶点到另一个顶点的边</a:t>
            </a:r>
            <a:r>
              <a:rPr lang="en-US" altLang="zh-CN" sz="2200" dirty="0" smtClean="0"/>
              <a:t>, </a:t>
            </a:r>
            <a:r>
              <a:rPr lang="zh-CN" altLang="en-US" sz="2200" dirty="0" smtClean="0"/>
              <a:t>所以</a:t>
            </a:r>
            <a:r>
              <a:rPr lang="zh-CN" altLang="en-US" sz="2200" dirty="0"/>
              <a:t>是反对称的；</a:t>
            </a:r>
            <a:endParaRPr lang="en-US" altLang="zh-CN" sz="2200" dirty="0"/>
          </a:p>
          <a:p>
            <a:pPr lvl="1"/>
            <a:r>
              <a:rPr lang="zh-CN" altLang="en-US" sz="2200" dirty="0"/>
              <a:t>图中没有从一个顶点到另一个顶点的边</a:t>
            </a:r>
            <a:r>
              <a:rPr lang="en-US" altLang="zh-CN" sz="2200" dirty="0" smtClean="0"/>
              <a:t>, </a:t>
            </a:r>
            <a:r>
              <a:rPr lang="zh-CN" altLang="en-US" sz="2200" dirty="0" smtClean="0"/>
              <a:t>所以</a:t>
            </a:r>
            <a:r>
              <a:rPr lang="zh-CN" altLang="en-US" sz="2200" dirty="0"/>
              <a:t>是传递的</a:t>
            </a:r>
            <a:r>
              <a:rPr lang="en-US" altLang="zh-CN" sz="2200" dirty="0"/>
              <a:t>.</a:t>
            </a:r>
            <a:endParaRPr lang="en-US" sz="2200" dirty="0"/>
          </a:p>
        </p:txBody>
      </p:sp>
      <p:sp>
        <p:nvSpPr>
          <p:cNvPr id="6" name="日期占位符 5"/>
          <p:cNvSpPr>
            <a:spLocks noGrp="1"/>
          </p:cNvSpPr>
          <p:nvPr>
            <p:ph type="dt" sz="half" idx="10"/>
          </p:nvPr>
        </p:nvSpPr>
        <p:spPr/>
        <p:txBody>
          <a:bodyPr/>
          <a:lstStyle/>
          <a:p>
            <a:fld id="{4C976645-C6D2-4E22-90A7-0550FEAAB001}" type="datetime1">
              <a:rPr lang="zh-CN" altLang="en-US" smtClean="0"/>
              <a:t>2025/3/14</a:t>
            </a:fld>
            <a:endParaRPr lang="zh-CN" altLang="en-US" dirty="0"/>
          </a:p>
        </p:txBody>
      </p:sp>
      <p:sp>
        <p:nvSpPr>
          <p:cNvPr id="7" name="页脚占位符 6"/>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8" name="灯片编号占位符 7"/>
          <p:cNvSpPr>
            <a:spLocks noGrp="1"/>
          </p:cNvSpPr>
          <p:nvPr>
            <p:ph type="sldNum" sz="quarter" idx="12"/>
          </p:nvPr>
        </p:nvSpPr>
        <p:spPr/>
        <p:txBody>
          <a:bodyPr/>
          <a:lstStyle/>
          <a:p>
            <a:fld id="{67913A8A-9EFB-4B5F-9CCB-3D21173FAA85}" type="slidenum">
              <a:rPr lang="zh-CN" altLang="en-US" smtClean="0"/>
              <a:pPr/>
              <a:t>49</a:t>
            </a:fld>
            <a:endParaRPr lang="zh-CN" altLang="en-US" dirty="0"/>
          </a:p>
        </p:txBody>
      </p:sp>
      <p:sp>
        <p:nvSpPr>
          <p:cNvPr id="9" name="Oval 3"/>
          <p:cNvSpPr/>
          <p:nvPr/>
        </p:nvSpPr>
        <p:spPr>
          <a:xfrm>
            <a:off x="4114800" y="1639431"/>
            <a:ext cx="304800" cy="304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6172200" y="1639431"/>
            <a:ext cx="304800" cy="304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2"/>
          <p:cNvSpPr/>
          <p:nvPr/>
        </p:nvSpPr>
        <p:spPr>
          <a:xfrm>
            <a:off x="6248400" y="3163431"/>
            <a:ext cx="304800" cy="304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20"/>
          <p:cNvSpPr/>
          <p:nvPr/>
        </p:nvSpPr>
        <p:spPr>
          <a:xfrm>
            <a:off x="4191000" y="3239631"/>
            <a:ext cx="304800" cy="304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38"/>
          <p:cNvSpPr/>
          <p:nvPr/>
        </p:nvSpPr>
        <p:spPr>
          <a:xfrm>
            <a:off x="3967217" y="1447800"/>
            <a:ext cx="382419" cy="353085"/>
          </a:xfrm>
          <a:custGeom>
            <a:avLst/>
            <a:gdLst>
              <a:gd name="connsiteX0" fmla="*/ 127968 w 382419"/>
              <a:gd name="connsiteY0" fmla="*/ 353085 h 353085"/>
              <a:gd name="connsiteX1" fmla="*/ 37434 w 382419"/>
              <a:gd name="connsiteY1" fmla="*/ 280658 h 353085"/>
              <a:gd name="connsiteX2" fmla="*/ 19327 w 382419"/>
              <a:gd name="connsiteY2" fmla="*/ 253497 h 353085"/>
              <a:gd name="connsiteX3" fmla="*/ 1220 w 382419"/>
              <a:gd name="connsiteY3" fmla="*/ 226337 h 353085"/>
              <a:gd name="connsiteX4" fmla="*/ 10273 w 382419"/>
              <a:gd name="connsiteY4" fmla="*/ 99588 h 353085"/>
              <a:gd name="connsiteX5" fmla="*/ 73647 w 382419"/>
              <a:gd name="connsiteY5" fmla="*/ 27161 h 353085"/>
              <a:gd name="connsiteX6" fmla="*/ 164182 w 382419"/>
              <a:gd name="connsiteY6" fmla="*/ 0 h 353085"/>
              <a:gd name="connsiteX7" fmla="*/ 290931 w 382419"/>
              <a:gd name="connsiteY7" fmla="*/ 18107 h 353085"/>
              <a:gd name="connsiteX8" fmla="*/ 318091 w 382419"/>
              <a:gd name="connsiteY8" fmla="*/ 36214 h 353085"/>
              <a:gd name="connsiteX9" fmla="*/ 327144 w 382419"/>
              <a:gd name="connsiteY9" fmla="*/ 63375 h 353085"/>
              <a:gd name="connsiteX10" fmla="*/ 345251 w 382419"/>
              <a:gd name="connsiteY10" fmla="*/ 90535 h 353085"/>
              <a:gd name="connsiteX11" fmla="*/ 363358 w 382419"/>
              <a:gd name="connsiteY11" fmla="*/ 144856 h 353085"/>
              <a:gd name="connsiteX12" fmla="*/ 372412 w 382419"/>
              <a:gd name="connsiteY12" fmla="*/ 172016 h 353085"/>
              <a:gd name="connsiteX13" fmla="*/ 381465 w 382419"/>
              <a:gd name="connsiteY13" fmla="*/ 208230 h 3530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2419" h="353085">
                <a:moveTo>
                  <a:pt x="127968" y="353085"/>
                </a:moveTo>
                <a:cubicBezTo>
                  <a:pt x="53002" y="328098"/>
                  <a:pt x="84234" y="350860"/>
                  <a:pt x="37434" y="280658"/>
                </a:cubicBezTo>
                <a:lnTo>
                  <a:pt x="19327" y="253497"/>
                </a:lnTo>
                <a:lnTo>
                  <a:pt x="1220" y="226337"/>
                </a:lnTo>
                <a:cubicBezTo>
                  <a:pt x="4238" y="184087"/>
                  <a:pt x="0" y="140681"/>
                  <a:pt x="10273" y="99588"/>
                </a:cubicBezTo>
                <a:cubicBezTo>
                  <a:pt x="17157" y="72052"/>
                  <a:pt x="46063" y="39421"/>
                  <a:pt x="73647" y="27161"/>
                </a:cubicBezTo>
                <a:cubicBezTo>
                  <a:pt x="101983" y="14567"/>
                  <a:pt x="134087" y="7524"/>
                  <a:pt x="164182" y="0"/>
                </a:cubicBezTo>
                <a:cubicBezTo>
                  <a:pt x="189615" y="2312"/>
                  <a:pt x="256099" y="691"/>
                  <a:pt x="290931" y="18107"/>
                </a:cubicBezTo>
                <a:cubicBezTo>
                  <a:pt x="300663" y="22973"/>
                  <a:pt x="309038" y="30178"/>
                  <a:pt x="318091" y="36214"/>
                </a:cubicBezTo>
                <a:cubicBezTo>
                  <a:pt x="321109" y="45268"/>
                  <a:pt x="322876" y="54839"/>
                  <a:pt x="327144" y="63375"/>
                </a:cubicBezTo>
                <a:cubicBezTo>
                  <a:pt x="332010" y="73107"/>
                  <a:pt x="340832" y="80592"/>
                  <a:pt x="345251" y="90535"/>
                </a:cubicBezTo>
                <a:cubicBezTo>
                  <a:pt x="353003" y="107976"/>
                  <a:pt x="357322" y="126749"/>
                  <a:pt x="363358" y="144856"/>
                </a:cubicBezTo>
                <a:lnTo>
                  <a:pt x="372412" y="172016"/>
                </a:lnTo>
                <a:cubicBezTo>
                  <a:pt x="382419" y="202038"/>
                  <a:pt x="381465" y="189634"/>
                  <a:pt x="381465" y="208230"/>
                </a:cubicBezTo>
              </a:path>
            </a:pathLst>
          </a:custGeom>
          <a:ln>
            <a:tailEnd type="triangle"/>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4" name="TextBox 40"/>
          <p:cNvSpPr txBox="1"/>
          <p:nvPr/>
        </p:nvSpPr>
        <p:spPr>
          <a:xfrm>
            <a:off x="3657600" y="1791831"/>
            <a:ext cx="381000" cy="523220"/>
          </a:xfrm>
          <a:prstGeom prst="rect">
            <a:avLst/>
          </a:prstGeom>
          <a:noFill/>
        </p:spPr>
        <p:txBody>
          <a:bodyPr wrap="square" rtlCol="0">
            <a:spAutoFit/>
          </a:bodyPr>
          <a:lstStyle/>
          <a:p>
            <a:r>
              <a:rPr lang="en-US" sz="2800" i="1" dirty="0"/>
              <a:t>a</a:t>
            </a:r>
          </a:p>
        </p:txBody>
      </p:sp>
      <p:sp>
        <p:nvSpPr>
          <p:cNvPr id="15" name="TextBox 41"/>
          <p:cNvSpPr txBox="1"/>
          <p:nvPr/>
        </p:nvSpPr>
        <p:spPr>
          <a:xfrm>
            <a:off x="5791200" y="3087231"/>
            <a:ext cx="381000" cy="523220"/>
          </a:xfrm>
          <a:prstGeom prst="rect">
            <a:avLst/>
          </a:prstGeom>
          <a:noFill/>
        </p:spPr>
        <p:txBody>
          <a:bodyPr wrap="square" rtlCol="0">
            <a:spAutoFit/>
          </a:bodyPr>
          <a:lstStyle/>
          <a:p>
            <a:r>
              <a:rPr lang="en-US" sz="2800" i="1" dirty="0"/>
              <a:t>d</a:t>
            </a:r>
          </a:p>
        </p:txBody>
      </p:sp>
      <p:sp>
        <p:nvSpPr>
          <p:cNvPr id="16" name="TextBox 42"/>
          <p:cNvSpPr txBox="1"/>
          <p:nvPr/>
        </p:nvSpPr>
        <p:spPr>
          <a:xfrm>
            <a:off x="3810000" y="3163431"/>
            <a:ext cx="381000" cy="523220"/>
          </a:xfrm>
          <a:prstGeom prst="rect">
            <a:avLst/>
          </a:prstGeom>
          <a:noFill/>
        </p:spPr>
        <p:txBody>
          <a:bodyPr wrap="square" rtlCol="0">
            <a:spAutoFit/>
          </a:bodyPr>
          <a:lstStyle/>
          <a:p>
            <a:r>
              <a:rPr lang="en-US" sz="2800" i="1" dirty="0"/>
              <a:t>c</a:t>
            </a:r>
          </a:p>
        </p:txBody>
      </p:sp>
      <p:sp>
        <p:nvSpPr>
          <p:cNvPr id="17" name="TextBox 43"/>
          <p:cNvSpPr txBox="1"/>
          <p:nvPr/>
        </p:nvSpPr>
        <p:spPr>
          <a:xfrm>
            <a:off x="5791200" y="1715631"/>
            <a:ext cx="381000" cy="523220"/>
          </a:xfrm>
          <a:prstGeom prst="rect">
            <a:avLst/>
          </a:prstGeom>
          <a:noFill/>
        </p:spPr>
        <p:txBody>
          <a:bodyPr wrap="square" rtlCol="0">
            <a:spAutoFit/>
          </a:bodyPr>
          <a:lstStyle/>
          <a:p>
            <a:r>
              <a:rPr lang="en-US" sz="2800" i="1" dirty="0"/>
              <a:t>b</a:t>
            </a:r>
          </a:p>
        </p:txBody>
      </p:sp>
    </p:spTree>
    <p:extLst>
      <p:ext uri="{BB962C8B-B14F-4D97-AF65-F5344CB8AC3E}">
        <p14:creationId xmlns:p14="http://schemas.microsoft.com/office/powerpoint/2010/main" val="29784056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animEffect transition="in" filter="wipe(down)">
                                      <p:cBhvr>
                                        <p:cTn id="7" dur="500"/>
                                        <p:tgtEl>
                                          <p:spTgt spid="3">
                                            <p:txEl>
                                              <p:pRg st="5" end="5"/>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3">
                                            <p:txEl>
                                              <p:pRg st="6" end="6"/>
                                            </p:txEl>
                                          </p:spTgt>
                                        </p:tgtEl>
                                        <p:attrNameLst>
                                          <p:attrName>style.visibility</p:attrName>
                                        </p:attrNameLst>
                                      </p:cBhvr>
                                      <p:to>
                                        <p:strVal val="visible"/>
                                      </p:to>
                                    </p:set>
                                    <p:animEffect transition="in" filter="wipe(down)">
                                      <p:cBhvr>
                                        <p:cTn id="10" dur="500"/>
                                        <p:tgtEl>
                                          <p:spTgt spid="3">
                                            <p:txEl>
                                              <p:pRg st="6" end="6"/>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3">
                                            <p:txEl>
                                              <p:pRg st="7" end="7"/>
                                            </p:txEl>
                                          </p:spTgt>
                                        </p:tgtEl>
                                        <p:attrNameLst>
                                          <p:attrName>style.visibility</p:attrName>
                                        </p:attrNameLst>
                                      </p:cBhvr>
                                      <p:to>
                                        <p:strVal val="visible"/>
                                      </p:to>
                                    </p:set>
                                    <p:animEffect transition="in" filter="wipe(down)">
                                      <p:cBhvr>
                                        <p:cTn id="13" dur="500"/>
                                        <p:tgtEl>
                                          <p:spTgt spid="3">
                                            <p:txEl>
                                              <p:pRg st="7" end="7"/>
                                            </p:txEl>
                                          </p:spTgt>
                                        </p:tgtEl>
                                      </p:cBhvr>
                                    </p:animEffect>
                                  </p:childTnLst>
                                </p:cTn>
                              </p:par>
                              <p:par>
                                <p:cTn id="14" presetID="22" presetClass="entr" presetSubtype="4" fill="hold" nodeType="withEffect">
                                  <p:stCondLst>
                                    <p:cond delay="0"/>
                                  </p:stCondLst>
                                  <p:childTnLst>
                                    <p:set>
                                      <p:cBhvr>
                                        <p:cTn id="15" dur="1" fill="hold">
                                          <p:stCondLst>
                                            <p:cond delay="0"/>
                                          </p:stCondLst>
                                        </p:cTn>
                                        <p:tgtEl>
                                          <p:spTgt spid="3">
                                            <p:txEl>
                                              <p:pRg st="8" end="8"/>
                                            </p:txEl>
                                          </p:spTgt>
                                        </p:tgtEl>
                                        <p:attrNameLst>
                                          <p:attrName>style.visibility</p:attrName>
                                        </p:attrNameLst>
                                      </p:cBhvr>
                                      <p:to>
                                        <p:strVal val="visible"/>
                                      </p:to>
                                    </p:set>
                                    <p:animEffect transition="in" filter="wipe(down)">
                                      <p:cBhvr>
                                        <p:cTn id="16" dur="500"/>
                                        <p:tgtEl>
                                          <p:spTgt spid="3">
                                            <p:txEl>
                                              <p:pRg st="8" end="8"/>
                                            </p:txEl>
                                          </p:spTgt>
                                        </p:tgtEl>
                                      </p:cBhvr>
                                    </p:animEffect>
                                  </p:childTnLst>
                                </p:cTn>
                              </p:par>
                              <p:par>
                                <p:cTn id="17" presetID="22" presetClass="entr" presetSubtype="4" fill="hold" nodeType="withEffect">
                                  <p:stCondLst>
                                    <p:cond delay="0"/>
                                  </p:stCondLst>
                                  <p:childTnLst>
                                    <p:set>
                                      <p:cBhvr>
                                        <p:cTn id="18" dur="1" fill="hold">
                                          <p:stCondLst>
                                            <p:cond delay="0"/>
                                          </p:stCondLst>
                                        </p:cTn>
                                        <p:tgtEl>
                                          <p:spTgt spid="3">
                                            <p:txEl>
                                              <p:pRg st="9" end="9"/>
                                            </p:txEl>
                                          </p:spTgt>
                                        </p:tgtEl>
                                        <p:attrNameLst>
                                          <p:attrName>style.visibility</p:attrName>
                                        </p:attrNameLst>
                                      </p:cBhvr>
                                      <p:to>
                                        <p:strVal val="visible"/>
                                      </p:to>
                                    </p:set>
                                    <p:animEffect transition="in" filter="wipe(down)">
                                      <p:cBhvr>
                                        <p:cTn id="19"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smtClean="0"/>
              <a:t>用图表示</a:t>
            </a:r>
            <a:r>
              <a:rPr lang="zh-CN" altLang="en-US" dirty="0"/>
              <a:t>关系</a:t>
            </a:r>
            <a:r>
              <a:rPr lang="zh-CN" altLang="en-US" dirty="0" smtClean="0"/>
              <a:t>时</a:t>
            </a:r>
            <a:r>
              <a:rPr lang="en-US" altLang="zh-CN" dirty="0" smtClean="0"/>
              <a:t>,</a:t>
            </a:r>
            <a:r>
              <a:rPr lang="zh-CN" altLang="en-US" dirty="0" smtClean="0"/>
              <a:t>确定</a:t>
            </a:r>
            <a:r>
              <a:rPr lang="zh-CN" altLang="en-US" dirty="0"/>
              <a:t>关系的性质</a:t>
            </a:r>
            <a:endParaRPr lang="en-US" dirty="0"/>
          </a:p>
        </p:txBody>
      </p:sp>
      <p:sp>
        <p:nvSpPr>
          <p:cNvPr id="3" name="Content Placeholder 2"/>
          <p:cNvSpPr>
            <a:spLocks noGrp="1"/>
          </p:cNvSpPr>
          <p:nvPr>
            <p:ph idx="1"/>
          </p:nvPr>
        </p:nvSpPr>
        <p:spPr/>
        <p:txBody>
          <a:bodyPr>
            <a:normAutofit fontScale="92500" lnSpcReduction="10000"/>
          </a:bodyPr>
          <a:lstStyle/>
          <a:p>
            <a:r>
              <a:rPr lang="zh-CN" altLang="en-US" dirty="0" smtClean="0"/>
              <a:t>例</a:t>
            </a:r>
            <a:r>
              <a:rPr lang="en-US" dirty="0" smtClean="0"/>
              <a:t>: </a:t>
            </a:r>
            <a:r>
              <a:rPr lang="zh-CN" altLang="en-US" dirty="0" smtClean="0"/>
              <a:t>判断所示有向图是否是自反的</a:t>
            </a:r>
            <a:r>
              <a:rPr lang="en-US" altLang="zh-CN" dirty="0" smtClean="0"/>
              <a:t>, </a:t>
            </a:r>
            <a:r>
              <a:rPr lang="zh-CN" altLang="en-US" dirty="0" smtClean="0"/>
              <a:t>对称的</a:t>
            </a:r>
            <a:r>
              <a:rPr lang="en-US" altLang="zh-CN" dirty="0" smtClean="0"/>
              <a:t>, </a:t>
            </a:r>
            <a:r>
              <a:rPr lang="zh-CN" altLang="en-US" dirty="0" smtClean="0"/>
              <a:t>反对称的</a:t>
            </a:r>
            <a:r>
              <a:rPr lang="en-US" altLang="zh-CN" dirty="0" smtClean="0"/>
              <a:t>, </a:t>
            </a:r>
            <a:r>
              <a:rPr lang="zh-CN" altLang="en-US" dirty="0" smtClean="0"/>
              <a:t>传递的</a:t>
            </a:r>
            <a:endParaRPr lang="en-US" altLang="zh-CN" dirty="0" smtClean="0"/>
          </a:p>
          <a:p>
            <a:endParaRPr lang="en-US" dirty="0"/>
          </a:p>
          <a:p>
            <a:endParaRPr lang="en-US" dirty="0" smtClean="0"/>
          </a:p>
          <a:p>
            <a:endParaRPr lang="en-US" dirty="0" smtClean="0"/>
          </a:p>
          <a:p>
            <a:endParaRPr lang="en-US" dirty="0"/>
          </a:p>
          <a:p>
            <a:r>
              <a:rPr lang="zh-CN" altLang="en-US" dirty="0" smtClean="0"/>
              <a:t>解</a:t>
            </a:r>
            <a:r>
              <a:rPr lang="en-US" altLang="zh-CN" dirty="0" smtClean="0"/>
              <a:t>:</a:t>
            </a:r>
          </a:p>
          <a:p>
            <a:pPr lvl="1">
              <a:lnSpc>
                <a:spcPct val="110000"/>
              </a:lnSpc>
            </a:pPr>
            <a:r>
              <a:rPr lang="zh-CN" altLang="en-US" dirty="0"/>
              <a:t>因为图中不是每个顶点都有环</a:t>
            </a:r>
            <a:r>
              <a:rPr lang="en-US" altLang="zh-CN" dirty="0"/>
              <a:t>, </a:t>
            </a:r>
            <a:r>
              <a:rPr lang="zh-CN" altLang="en-US" dirty="0"/>
              <a:t>所以不是自反的；</a:t>
            </a:r>
            <a:endParaRPr lang="en-US" altLang="zh-CN" dirty="0"/>
          </a:p>
          <a:p>
            <a:pPr lvl="1">
              <a:lnSpc>
                <a:spcPct val="110000"/>
              </a:lnSpc>
            </a:pPr>
            <a:r>
              <a:rPr lang="zh-CN" altLang="en-US" dirty="0"/>
              <a:t>图中有顶点</a:t>
            </a:r>
            <a:r>
              <a:rPr lang="en-US" altLang="zh-CN" dirty="0"/>
              <a:t>a</a:t>
            </a:r>
            <a:r>
              <a:rPr lang="zh-CN" altLang="en-US" dirty="0"/>
              <a:t>到顶点</a:t>
            </a:r>
            <a:r>
              <a:rPr lang="en-US" altLang="zh-CN" dirty="0"/>
              <a:t>b</a:t>
            </a:r>
            <a:r>
              <a:rPr lang="zh-CN" altLang="en-US" dirty="0"/>
              <a:t>的边</a:t>
            </a:r>
            <a:r>
              <a:rPr lang="en-US" altLang="zh-CN" dirty="0"/>
              <a:t>, </a:t>
            </a:r>
            <a:r>
              <a:rPr lang="zh-CN" altLang="en-US" dirty="0"/>
              <a:t>但没有顶点</a:t>
            </a:r>
            <a:r>
              <a:rPr lang="en-US" altLang="zh-CN" dirty="0"/>
              <a:t>b</a:t>
            </a:r>
            <a:r>
              <a:rPr lang="zh-CN" altLang="en-US" dirty="0"/>
              <a:t>到顶点</a:t>
            </a:r>
            <a:r>
              <a:rPr lang="en-US" altLang="zh-CN" dirty="0"/>
              <a:t>a</a:t>
            </a:r>
            <a:r>
              <a:rPr lang="zh-CN" altLang="en-US" dirty="0"/>
              <a:t>的边</a:t>
            </a:r>
            <a:r>
              <a:rPr lang="en-US" altLang="zh-CN" dirty="0"/>
              <a:t>, </a:t>
            </a:r>
            <a:r>
              <a:rPr lang="zh-CN" altLang="en-US" dirty="0"/>
              <a:t>所以不是对称的；</a:t>
            </a:r>
            <a:endParaRPr lang="en-US" altLang="zh-CN" dirty="0"/>
          </a:p>
          <a:p>
            <a:pPr lvl="1">
              <a:lnSpc>
                <a:spcPct val="110000"/>
              </a:lnSpc>
            </a:pPr>
            <a:r>
              <a:rPr lang="zh-CN" altLang="en-US" dirty="0"/>
              <a:t>图中有顶点</a:t>
            </a:r>
            <a:r>
              <a:rPr lang="en-US" altLang="zh-CN" dirty="0"/>
              <a:t>b</a:t>
            </a:r>
            <a:r>
              <a:rPr lang="zh-CN" altLang="en-US" dirty="0"/>
              <a:t>到顶点</a:t>
            </a:r>
            <a:r>
              <a:rPr lang="en-US" altLang="zh-CN" dirty="0"/>
              <a:t>d</a:t>
            </a:r>
            <a:r>
              <a:rPr lang="zh-CN" altLang="en-US" dirty="0"/>
              <a:t>的边</a:t>
            </a:r>
            <a:r>
              <a:rPr lang="en-US" altLang="zh-CN" dirty="0"/>
              <a:t>, </a:t>
            </a:r>
            <a:r>
              <a:rPr lang="zh-CN" altLang="en-US" dirty="0"/>
              <a:t>同时还有顶点</a:t>
            </a:r>
            <a:r>
              <a:rPr lang="en-US" altLang="zh-CN" dirty="0"/>
              <a:t>d</a:t>
            </a:r>
            <a:r>
              <a:rPr lang="zh-CN" altLang="en-US" dirty="0"/>
              <a:t>到顶点</a:t>
            </a:r>
            <a:r>
              <a:rPr lang="en-US" altLang="zh-CN" dirty="0"/>
              <a:t>b</a:t>
            </a:r>
            <a:r>
              <a:rPr lang="zh-CN" altLang="en-US" dirty="0"/>
              <a:t>的边</a:t>
            </a:r>
            <a:r>
              <a:rPr lang="en-US" altLang="zh-CN" dirty="0"/>
              <a:t>, </a:t>
            </a:r>
            <a:r>
              <a:rPr lang="zh-CN" altLang="en-US" dirty="0"/>
              <a:t>所以不是反对称的；</a:t>
            </a:r>
            <a:endParaRPr lang="en-US" altLang="zh-CN" dirty="0"/>
          </a:p>
          <a:p>
            <a:pPr lvl="1">
              <a:lnSpc>
                <a:spcPct val="110000"/>
              </a:lnSpc>
            </a:pPr>
            <a:r>
              <a:rPr lang="zh-CN" altLang="en-US" dirty="0"/>
              <a:t>图中有顶点</a:t>
            </a:r>
            <a:r>
              <a:rPr lang="en-US" altLang="zh-CN" dirty="0"/>
              <a:t>a</a:t>
            </a:r>
            <a:r>
              <a:rPr lang="zh-CN" altLang="en-US" dirty="0"/>
              <a:t>到顶点</a:t>
            </a:r>
            <a:r>
              <a:rPr lang="en-US" altLang="zh-CN" dirty="0"/>
              <a:t>b</a:t>
            </a:r>
            <a:r>
              <a:rPr lang="zh-CN" altLang="en-US" dirty="0"/>
              <a:t>的边</a:t>
            </a:r>
            <a:r>
              <a:rPr lang="en-US" altLang="zh-CN" dirty="0"/>
              <a:t>, </a:t>
            </a:r>
            <a:r>
              <a:rPr lang="zh-CN" altLang="en-US" dirty="0"/>
              <a:t>顶点</a:t>
            </a:r>
            <a:r>
              <a:rPr lang="en-US" altLang="zh-CN" dirty="0"/>
              <a:t>b</a:t>
            </a:r>
            <a:r>
              <a:rPr lang="zh-CN" altLang="en-US" dirty="0"/>
              <a:t>到顶点</a:t>
            </a:r>
            <a:r>
              <a:rPr lang="en-US" altLang="zh-CN" dirty="0"/>
              <a:t>d</a:t>
            </a:r>
            <a:r>
              <a:rPr lang="zh-CN" altLang="en-US" dirty="0"/>
              <a:t>的边</a:t>
            </a:r>
            <a:r>
              <a:rPr lang="en-US" altLang="zh-CN" dirty="0"/>
              <a:t>, </a:t>
            </a:r>
            <a:r>
              <a:rPr lang="zh-CN" altLang="en-US" dirty="0"/>
              <a:t>但是没有顶点</a:t>
            </a:r>
            <a:r>
              <a:rPr lang="en-US" altLang="zh-CN" dirty="0"/>
              <a:t>a</a:t>
            </a:r>
            <a:r>
              <a:rPr lang="zh-CN" altLang="en-US" dirty="0"/>
              <a:t>到顶点</a:t>
            </a:r>
            <a:r>
              <a:rPr lang="en-US" altLang="zh-CN" dirty="0"/>
              <a:t>d</a:t>
            </a:r>
            <a:r>
              <a:rPr lang="zh-CN" altLang="en-US" dirty="0"/>
              <a:t>的边</a:t>
            </a:r>
            <a:r>
              <a:rPr lang="en-US" altLang="zh-CN" dirty="0"/>
              <a:t>, </a:t>
            </a:r>
            <a:r>
              <a:rPr lang="zh-CN" altLang="en-US" dirty="0"/>
              <a:t>所以不是传递的</a:t>
            </a:r>
            <a:r>
              <a:rPr lang="en-US" altLang="zh-CN" dirty="0"/>
              <a:t>.</a:t>
            </a:r>
            <a:endParaRPr lang="en-US" dirty="0"/>
          </a:p>
        </p:txBody>
      </p:sp>
      <p:sp>
        <p:nvSpPr>
          <p:cNvPr id="6" name="日期占位符 5"/>
          <p:cNvSpPr>
            <a:spLocks noGrp="1"/>
          </p:cNvSpPr>
          <p:nvPr>
            <p:ph type="dt" sz="half" idx="10"/>
          </p:nvPr>
        </p:nvSpPr>
        <p:spPr/>
        <p:txBody>
          <a:bodyPr/>
          <a:lstStyle/>
          <a:p>
            <a:fld id="{4F151B31-6B3A-4250-B8E3-EF07EEB2F612}" type="datetime1">
              <a:rPr lang="zh-CN" altLang="en-US" smtClean="0"/>
              <a:t>2025/3/14</a:t>
            </a:fld>
            <a:endParaRPr lang="zh-CN" altLang="en-US" dirty="0"/>
          </a:p>
        </p:txBody>
      </p:sp>
      <p:sp>
        <p:nvSpPr>
          <p:cNvPr id="7" name="页脚占位符 6"/>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8" name="灯片编号占位符 7"/>
          <p:cNvSpPr>
            <a:spLocks noGrp="1"/>
          </p:cNvSpPr>
          <p:nvPr>
            <p:ph type="sldNum" sz="quarter" idx="12"/>
          </p:nvPr>
        </p:nvSpPr>
        <p:spPr/>
        <p:txBody>
          <a:bodyPr/>
          <a:lstStyle/>
          <a:p>
            <a:fld id="{67913A8A-9EFB-4B5F-9CCB-3D21173FAA85}" type="slidenum">
              <a:rPr lang="zh-CN" altLang="en-US" smtClean="0"/>
              <a:pPr/>
              <a:t>50</a:t>
            </a:fld>
            <a:endParaRPr lang="zh-CN" altLang="en-US" dirty="0"/>
          </a:p>
        </p:txBody>
      </p:sp>
      <p:sp>
        <p:nvSpPr>
          <p:cNvPr id="18" name="Oval 3"/>
          <p:cNvSpPr/>
          <p:nvPr/>
        </p:nvSpPr>
        <p:spPr>
          <a:xfrm>
            <a:off x="4953000" y="1676400"/>
            <a:ext cx="304800" cy="304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9"/>
          <p:cNvSpPr/>
          <p:nvPr/>
        </p:nvSpPr>
        <p:spPr>
          <a:xfrm>
            <a:off x="7391400" y="1676400"/>
            <a:ext cx="304800" cy="304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0" name="Straight Arrow Connector 14"/>
          <p:cNvCxnSpPr/>
          <p:nvPr/>
        </p:nvCxnSpPr>
        <p:spPr>
          <a:xfrm>
            <a:off x="5334000" y="1828800"/>
            <a:ext cx="1981200" cy="1588"/>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sp>
        <p:nvSpPr>
          <p:cNvPr id="21" name="TextBox 29"/>
          <p:cNvSpPr txBox="1"/>
          <p:nvPr/>
        </p:nvSpPr>
        <p:spPr>
          <a:xfrm>
            <a:off x="4572000" y="1752600"/>
            <a:ext cx="381000" cy="523220"/>
          </a:xfrm>
          <a:prstGeom prst="rect">
            <a:avLst/>
          </a:prstGeom>
          <a:noFill/>
        </p:spPr>
        <p:txBody>
          <a:bodyPr wrap="square" rtlCol="0">
            <a:spAutoFit/>
          </a:bodyPr>
          <a:lstStyle/>
          <a:p>
            <a:r>
              <a:rPr lang="en-US" sz="2800" i="1" dirty="0"/>
              <a:t>a</a:t>
            </a:r>
          </a:p>
        </p:txBody>
      </p:sp>
      <p:sp>
        <p:nvSpPr>
          <p:cNvPr id="22" name="TextBox 30"/>
          <p:cNvSpPr txBox="1"/>
          <p:nvPr/>
        </p:nvSpPr>
        <p:spPr>
          <a:xfrm>
            <a:off x="6934200" y="1981200"/>
            <a:ext cx="381000" cy="523220"/>
          </a:xfrm>
          <a:prstGeom prst="rect">
            <a:avLst/>
          </a:prstGeom>
          <a:noFill/>
        </p:spPr>
        <p:txBody>
          <a:bodyPr wrap="square" rtlCol="0">
            <a:spAutoFit/>
          </a:bodyPr>
          <a:lstStyle/>
          <a:p>
            <a:r>
              <a:rPr lang="en-US" sz="2800" i="1" dirty="0"/>
              <a:t>b</a:t>
            </a:r>
          </a:p>
        </p:txBody>
      </p:sp>
      <p:sp>
        <p:nvSpPr>
          <p:cNvPr id="23" name="TextBox 31"/>
          <p:cNvSpPr txBox="1"/>
          <p:nvPr/>
        </p:nvSpPr>
        <p:spPr>
          <a:xfrm>
            <a:off x="4572000" y="3124200"/>
            <a:ext cx="381000" cy="523220"/>
          </a:xfrm>
          <a:prstGeom prst="rect">
            <a:avLst/>
          </a:prstGeom>
          <a:noFill/>
        </p:spPr>
        <p:txBody>
          <a:bodyPr wrap="square" rtlCol="0">
            <a:spAutoFit/>
          </a:bodyPr>
          <a:lstStyle/>
          <a:p>
            <a:r>
              <a:rPr lang="en-US" sz="2800" i="1" dirty="0"/>
              <a:t>c</a:t>
            </a:r>
          </a:p>
        </p:txBody>
      </p:sp>
      <p:sp>
        <p:nvSpPr>
          <p:cNvPr id="24" name="TextBox 32"/>
          <p:cNvSpPr txBox="1"/>
          <p:nvPr/>
        </p:nvSpPr>
        <p:spPr>
          <a:xfrm>
            <a:off x="6858000" y="3124200"/>
            <a:ext cx="381000" cy="523220"/>
          </a:xfrm>
          <a:prstGeom prst="rect">
            <a:avLst/>
          </a:prstGeom>
          <a:noFill/>
        </p:spPr>
        <p:txBody>
          <a:bodyPr wrap="square" rtlCol="0">
            <a:spAutoFit/>
          </a:bodyPr>
          <a:lstStyle/>
          <a:p>
            <a:r>
              <a:rPr lang="en-US" sz="2800" i="1" dirty="0"/>
              <a:t>d</a:t>
            </a:r>
          </a:p>
        </p:txBody>
      </p:sp>
      <p:sp>
        <p:nvSpPr>
          <p:cNvPr id="25" name="Oval 33"/>
          <p:cNvSpPr/>
          <p:nvPr/>
        </p:nvSpPr>
        <p:spPr>
          <a:xfrm>
            <a:off x="5029200" y="3200400"/>
            <a:ext cx="304800" cy="304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34"/>
          <p:cNvSpPr/>
          <p:nvPr/>
        </p:nvSpPr>
        <p:spPr>
          <a:xfrm>
            <a:off x="7391400" y="3276600"/>
            <a:ext cx="304800" cy="304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7" name="Straight Arrow Connector 36"/>
          <p:cNvCxnSpPr/>
          <p:nvPr/>
        </p:nvCxnSpPr>
        <p:spPr>
          <a:xfrm flipV="1">
            <a:off x="7391400" y="2057400"/>
            <a:ext cx="0" cy="1143000"/>
          </a:xfrm>
          <a:prstGeom prst="straightConnector1">
            <a:avLst/>
          </a:prstGeom>
          <a:ln>
            <a:solidFill>
              <a:schemeClr val="accent1">
                <a:lumMod val="75000"/>
              </a:schemeClr>
            </a:solidFill>
            <a:tailEnd type="arrow"/>
          </a:ln>
        </p:spPr>
        <p:style>
          <a:lnRef idx="2">
            <a:schemeClr val="accent1"/>
          </a:lnRef>
          <a:fillRef idx="0">
            <a:schemeClr val="accent1"/>
          </a:fillRef>
          <a:effectRef idx="1">
            <a:schemeClr val="accent1"/>
          </a:effectRef>
          <a:fontRef idx="minor">
            <a:schemeClr val="tx1"/>
          </a:fontRef>
        </p:style>
      </p:cxnSp>
      <p:cxnSp>
        <p:nvCxnSpPr>
          <p:cNvPr id="28" name="Straight Arrow Connector 38"/>
          <p:cNvCxnSpPr/>
          <p:nvPr/>
        </p:nvCxnSpPr>
        <p:spPr>
          <a:xfrm>
            <a:off x="7696200" y="1981200"/>
            <a:ext cx="0" cy="1295400"/>
          </a:xfrm>
          <a:prstGeom prst="straightConnector1">
            <a:avLst/>
          </a:prstGeom>
          <a:ln>
            <a:solidFill>
              <a:schemeClr val="accent1">
                <a:lumMod val="75000"/>
              </a:schemeClr>
            </a:solidFill>
            <a:tailEnd type="arrow"/>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3907033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animEffect transition="in" filter="wipe(down)">
                                      <p:cBhvr>
                                        <p:cTn id="7" dur="500"/>
                                        <p:tgtEl>
                                          <p:spTgt spid="3">
                                            <p:txEl>
                                              <p:pRg st="5" end="5"/>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3">
                                            <p:txEl>
                                              <p:pRg st="6" end="6"/>
                                            </p:txEl>
                                          </p:spTgt>
                                        </p:tgtEl>
                                        <p:attrNameLst>
                                          <p:attrName>style.visibility</p:attrName>
                                        </p:attrNameLst>
                                      </p:cBhvr>
                                      <p:to>
                                        <p:strVal val="visible"/>
                                      </p:to>
                                    </p:set>
                                    <p:animEffect transition="in" filter="wipe(down)">
                                      <p:cBhvr>
                                        <p:cTn id="10" dur="500"/>
                                        <p:tgtEl>
                                          <p:spTgt spid="3">
                                            <p:txEl>
                                              <p:pRg st="6" end="6"/>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3">
                                            <p:txEl>
                                              <p:pRg st="7" end="7"/>
                                            </p:txEl>
                                          </p:spTgt>
                                        </p:tgtEl>
                                        <p:attrNameLst>
                                          <p:attrName>style.visibility</p:attrName>
                                        </p:attrNameLst>
                                      </p:cBhvr>
                                      <p:to>
                                        <p:strVal val="visible"/>
                                      </p:to>
                                    </p:set>
                                    <p:animEffect transition="in" filter="wipe(down)">
                                      <p:cBhvr>
                                        <p:cTn id="13" dur="500"/>
                                        <p:tgtEl>
                                          <p:spTgt spid="3">
                                            <p:txEl>
                                              <p:pRg st="7" end="7"/>
                                            </p:txEl>
                                          </p:spTgt>
                                        </p:tgtEl>
                                      </p:cBhvr>
                                    </p:animEffect>
                                  </p:childTnLst>
                                </p:cTn>
                              </p:par>
                              <p:par>
                                <p:cTn id="14" presetID="22" presetClass="entr" presetSubtype="4" fill="hold" nodeType="withEffect">
                                  <p:stCondLst>
                                    <p:cond delay="0"/>
                                  </p:stCondLst>
                                  <p:childTnLst>
                                    <p:set>
                                      <p:cBhvr>
                                        <p:cTn id="15" dur="1" fill="hold">
                                          <p:stCondLst>
                                            <p:cond delay="0"/>
                                          </p:stCondLst>
                                        </p:cTn>
                                        <p:tgtEl>
                                          <p:spTgt spid="3">
                                            <p:txEl>
                                              <p:pRg st="8" end="8"/>
                                            </p:txEl>
                                          </p:spTgt>
                                        </p:tgtEl>
                                        <p:attrNameLst>
                                          <p:attrName>style.visibility</p:attrName>
                                        </p:attrNameLst>
                                      </p:cBhvr>
                                      <p:to>
                                        <p:strVal val="visible"/>
                                      </p:to>
                                    </p:set>
                                    <p:animEffect transition="in" filter="wipe(down)">
                                      <p:cBhvr>
                                        <p:cTn id="16" dur="500"/>
                                        <p:tgtEl>
                                          <p:spTgt spid="3">
                                            <p:txEl>
                                              <p:pRg st="8" end="8"/>
                                            </p:txEl>
                                          </p:spTgt>
                                        </p:tgtEl>
                                      </p:cBhvr>
                                    </p:animEffect>
                                  </p:childTnLst>
                                </p:cTn>
                              </p:par>
                              <p:par>
                                <p:cTn id="17" presetID="22" presetClass="entr" presetSubtype="4" fill="hold" nodeType="withEffect">
                                  <p:stCondLst>
                                    <p:cond delay="0"/>
                                  </p:stCondLst>
                                  <p:childTnLst>
                                    <p:set>
                                      <p:cBhvr>
                                        <p:cTn id="18" dur="1" fill="hold">
                                          <p:stCondLst>
                                            <p:cond delay="0"/>
                                          </p:stCondLst>
                                        </p:cTn>
                                        <p:tgtEl>
                                          <p:spTgt spid="3">
                                            <p:txEl>
                                              <p:pRg st="9" end="9"/>
                                            </p:txEl>
                                          </p:spTgt>
                                        </p:tgtEl>
                                        <p:attrNameLst>
                                          <p:attrName>style.visibility</p:attrName>
                                        </p:attrNameLst>
                                      </p:cBhvr>
                                      <p:to>
                                        <p:strVal val="visible"/>
                                      </p:to>
                                    </p:set>
                                    <p:animEffect transition="in" filter="wipe(down)">
                                      <p:cBhvr>
                                        <p:cTn id="19"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smtClean="0"/>
              <a:t>用图表示</a:t>
            </a:r>
            <a:r>
              <a:rPr lang="zh-CN" altLang="en-US" dirty="0"/>
              <a:t>关系</a:t>
            </a:r>
            <a:r>
              <a:rPr lang="zh-CN" altLang="en-US" dirty="0" smtClean="0"/>
              <a:t>时</a:t>
            </a:r>
            <a:r>
              <a:rPr lang="en-US" altLang="zh-CN" dirty="0" smtClean="0"/>
              <a:t>,</a:t>
            </a:r>
            <a:r>
              <a:rPr lang="zh-CN" altLang="en-US" dirty="0" smtClean="0"/>
              <a:t>确定</a:t>
            </a:r>
            <a:r>
              <a:rPr lang="zh-CN" altLang="en-US" dirty="0"/>
              <a:t>关系的性质</a:t>
            </a:r>
            <a:endParaRPr lang="en-US" dirty="0"/>
          </a:p>
        </p:txBody>
      </p:sp>
      <p:sp>
        <p:nvSpPr>
          <p:cNvPr id="3" name="Content Placeholder 2"/>
          <p:cNvSpPr>
            <a:spLocks noGrp="1"/>
          </p:cNvSpPr>
          <p:nvPr>
            <p:ph idx="1"/>
          </p:nvPr>
        </p:nvSpPr>
        <p:spPr/>
        <p:txBody>
          <a:bodyPr>
            <a:normAutofit fontScale="92500" lnSpcReduction="10000"/>
          </a:bodyPr>
          <a:lstStyle/>
          <a:p>
            <a:r>
              <a:rPr lang="zh-CN" altLang="en-US" dirty="0" smtClean="0"/>
              <a:t>例</a:t>
            </a:r>
            <a:r>
              <a:rPr lang="en-US" dirty="0" smtClean="0"/>
              <a:t>: </a:t>
            </a:r>
            <a:r>
              <a:rPr lang="zh-CN" altLang="en-US" dirty="0" smtClean="0"/>
              <a:t>判断所示有向图是否是自反的</a:t>
            </a:r>
            <a:r>
              <a:rPr lang="en-US" altLang="zh-CN" dirty="0" smtClean="0"/>
              <a:t>, </a:t>
            </a:r>
            <a:r>
              <a:rPr lang="zh-CN" altLang="en-US" dirty="0" smtClean="0"/>
              <a:t>对称的</a:t>
            </a:r>
            <a:r>
              <a:rPr lang="en-US" altLang="zh-CN" dirty="0" smtClean="0"/>
              <a:t>, </a:t>
            </a:r>
            <a:r>
              <a:rPr lang="zh-CN" altLang="en-US" dirty="0" smtClean="0"/>
              <a:t>反对称的</a:t>
            </a:r>
            <a:r>
              <a:rPr lang="en-US" altLang="zh-CN" dirty="0" smtClean="0"/>
              <a:t>, </a:t>
            </a:r>
            <a:r>
              <a:rPr lang="zh-CN" altLang="en-US" dirty="0" smtClean="0"/>
              <a:t>传递的</a:t>
            </a:r>
            <a:endParaRPr lang="en-US" altLang="zh-CN" dirty="0" smtClean="0"/>
          </a:p>
          <a:p>
            <a:endParaRPr lang="en-US" dirty="0"/>
          </a:p>
          <a:p>
            <a:endParaRPr lang="en-US" dirty="0" smtClean="0"/>
          </a:p>
          <a:p>
            <a:endParaRPr lang="en-US" dirty="0" smtClean="0"/>
          </a:p>
          <a:p>
            <a:endParaRPr lang="en-US" dirty="0"/>
          </a:p>
          <a:p>
            <a:r>
              <a:rPr lang="zh-CN" altLang="en-US" dirty="0" smtClean="0"/>
              <a:t>解</a:t>
            </a:r>
            <a:r>
              <a:rPr lang="en-US" altLang="zh-CN" dirty="0" smtClean="0"/>
              <a:t>:</a:t>
            </a:r>
          </a:p>
          <a:p>
            <a:pPr lvl="1">
              <a:lnSpc>
                <a:spcPct val="120000"/>
              </a:lnSpc>
            </a:pPr>
            <a:r>
              <a:rPr lang="zh-CN" altLang="en-US" dirty="0"/>
              <a:t>因为图中没有顶点有环</a:t>
            </a:r>
            <a:r>
              <a:rPr lang="en-US" altLang="zh-CN" dirty="0"/>
              <a:t>, </a:t>
            </a:r>
            <a:r>
              <a:rPr lang="zh-CN" altLang="en-US" dirty="0"/>
              <a:t>所以不是自反的；</a:t>
            </a:r>
            <a:endParaRPr lang="en-US" altLang="zh-CN" dirty="0"/>
          </a:p>
          <a:p>
            <a:pPr lvl="1">
              <a:lnSpc>
                <a:spcPct val="120000"/>
              </a:lnSpc>
            </a:pPr>
            <a:r>
              <a:rPr lang="zh-CN" altLang="en-US" dirty="0"/>
              <a:t>图中有顶点</a:t>
            </a:r>
            <a:r>
              <a:rPr lang="en-US" altLang="zh-CN" dirty="0"/>
              <a:t>a</a:t>
            </a:r>
            <a:r>
              <a:rPr lang="zh-CN" altLang="en-US" dirty="0"/>
              <a:t>到顶点</a:t>
            </a:r>
            <a:r>
              <a:rPr lang="en-US" altLang="zh-CN" dirty="0"/>
              <a:t>c</a:t>
            </a:r>
            <a:r>
              <a:rPr lang="zh-CN" altLang="en-US" dirty="0"/>
              <a:t>的边</a:t>
            </a:r>
            <a:r>
              <a:rPr lang="en-US" altLang="zh-CN" dirty="0"/>
              <a:t>, </a:t>
            </a:r>
            <a:r>
              <a:rPr lang="zh-CN" altLang="en-US" dirty="0"/>
              <a:t>但没有顶点</a:t>
            </a:r>
            <a:r>
              <a:rPr lang="en-US" altLang="zh-CN" dirty="0"/>
              <a:t>c</a:t>
            </a:r>
            <a:r>
              <a:rPr lang="zh-CN" altLang="en-US" dirty="0"/>
              <a:t>到顶点</a:t>
            </a:r>
            <a:r>
              <a:rPr lang="en-US" altLang="zh-CN" dirty="0"/>
              <a:t>a</a:t>
            </a:r>
            <a:r>
              <a:rPr lang="zh-CN" altLang="en-US" dirty="0"/>
              <a:t>的边</a:t>
            </a:r>
            <a:r>
              <a:rPr lang="en-US" altLang="zh-CN" dirty="0"/>
              <a:t>, </a:t>
            </a:r>
            <a:r>
              <a:rPr lang="zh-CN" altLang="en-US" dirty="0"/>
              <a:t>所以不是对称的；</a:t>
            </a:r>
            <a:endParaRPr lang="en-US" altLang="zh-CN" dirty="0"/>
          </a:p>
          <a:p>
            <a:pPr lvl="1">
              <a:lnSpc>
                <a:spcPct val="120000"/>
              </a:lnSpc>
            </a:pPr>
            <a:r>
              <a:rPr lang="zh-CN" altLang="en-US" dirty="0"/>
              <a:t>图中没有顶点之间有两条反向的边</a:t>
            </a:r>
            <a:r>
              <a:rPr lang="en-US" altLang="zh-CN" dirty="0"/>
              <a:t>, </a:t>
            </a:r>
            <a:r>
              <a:rPr lang="zh-CN" altLang="en-US" dirty="0"/>
              <a:t>所以是反对称的；</a:t>
            </a:r>
            <a:endParaRPr lang="en-US" altLang="zh-CN" dirty="0"/>
          </a:p>
          <a:p>
            <a:pPr lvl="1">
              <a:lnSpc>
                <a:spcPct val="120000"/>
              </a:lnSpc>
            </a:pPr>
            <a:r>
              <a:rPr lang="zh-CN" altLang="en-US" dirty="0"/>
              <a:t>图中有顶点</a:t>
            </a:r>
            <a:r>
              <a:rPr lang="en-US" altLang="zh-CN" dirty="0"/>
              <a:t>a</a:t>
            </a:r>
            <a:r>
              <a:rPr lang="zh-CN" altLang="en-US" dirty="0"/>
              <a:t>到顶点</a:t>
            </a:r>
            <a:r>
              <a:rPr lang="en-US" altLang="zh-CN" dirty="0"/>
              <a:t>c</a:t>
            </a:r>
            <a:r>
              <a:rPr lang="zh-CN" altLang="en-US" dirty="0"/>
              <a:t>的边</a:t>
            </a:r>
            <a:r>
              <a:rPr lang="en-US" altLang="zh-CN" dirty="0" smtClean="0"/>
              <a:t>, </a:t>
            </a:r>
            <a:r>
              <a:rPr lang="zh-CN" altLang="en-US" dirty="0" smtClean="0"/>
              <a:t>顶点</a:t>
            </a:r>
            <a:r>
              <a:rPr lang="en-US" altLang="zh-CN" dirty="0"/>
              <a:t>c</a:t>
            </a:r>
            <a:r>
              <a:rPr lang="zh-CN" altLang="en-US" dirty="0"/>
              <a:t>到顶点</a:t>
            </a:r>
            <a:r>
              <a:rPr lang="en-US" altLang="zh-CN" dirty="0"/>
              <a:t>b</a:t>
            </a:r>
            <a:r>
              <a:rPr lang="zh-CN" altLang="en-US" dirty="0"/>
              <a:t>的边</a:t>
            </a:r>
            <a:r>
              <a:rPr lang="en-US" altLang="zh-CN" dirty="0" smtClean="0"/>
              <a:t>, </a:t>
            </a:r>
            <a:r>
              <a:rPr lang="zh-CN" altLang="en-US" dirty="0" smtClean="0"/>
              <a:t>同时</a:t>
            </a:r>
            <a:r>
              <a:rPr lang="zh-CN" altLang="en-US" dirty="0"/>
              <a:t>有顶点</a:t>
            </a:r>
            <a:r>
              <a:rPr lang="en-US" altLang="zh-CN" dirty="0"/>
              <a:t>a</a:t>
            </a:r>
            <a:r>
              <a:rPr lang="zh-CN" altLang="en-US" dirty="0"/>
              <a:t>到顶点</a:t>
            </a:r>
            <a:r>
              <a:rPr lang="en-US" altLang="zh-CN" dirty="0"/>
              <a:t>b</a:t>
            </a:r>
            <a:r>
              <a:rPr lang="zh-CN" altLang="en-US" dirty="0"/>
              <a:t>的边</a:t>
            </a:r>
            <a:r>
              <a:rPr lang="en-US" altLang="zh-CN" dirty="0" smtClean="0"/>
              <a:t>, </a:t>
            </a:r>
            <a:r>
              <a:rPr lang="zh-CN" altLang="en-US" dirty="0" smtClean="0"/>
              <a:t>所以</a:t>
            </a:r>
            <a:r>
              <a:rPr lang="zh-CN" altLang="en-US" dirty="0"/>
              <a:t>是传递的</a:t>
            </a:r>
            <a:r>
              <a:rPr lang="en-US" altLang="zh-CN" dirty="0"/>
              <a:t>.</a:t>
            </a:r>
            <a:endParaRPr lang="en-US" dirty="0"/>
          </a:p>
        </p:txBody>
      </p:sp>
      <p:sp>
        <p:nvSpPr>
          <p:cNvPr id="6" name="日期占位符 5"/>
          <p:cNvSpPr>
            <a:spLocks noGrp="1"/>
          </p:cNvSpPr>
          <p:nvPr>
            <p:ph type="dt" sz="half" idx="10"/>
          </p:nvPr>
        </p:nvSpPr>
        <p:spPr/>
        <p:txBody>
          <a:bodyPr/>
          <a:lstStyle/>
          <a:p>
            <a:fld id="{481E0BA3-343E-494D-AB95-ECEA10FC3B0D}" type="datetime1">
              <a:rPr lang="zh-CN" altLang="en-US" smtClean="0"/>
              <a:t>2025/3/14</a:t>
            </a:fld>
            <a:endParaRPr lang="zh-CN" altLang="en-US" dirty="0"/>
          </a:p>
        </p:txBody>
      </p:sp>
      <p:sp>
        <p:nvSpPr>
          <p:cNvPr id="7" name="页脚占位符 6"/>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8" name="灯片编号占位符 7"/>
          <p:cNvSpPr>
            <a:spLocks noGrp="1"/>
          </p:cNvSpPr>
          <p:nvPr>
            <p:ph type="sldNum" sz="quarter" idx="12"/>
          </p:nvPr>
        </p:nvSpPr>
        <p:spPr/>
        <p:txBody>
          <a:bodyPr/>
          <a:lstStyle/>
          <a:p>
            <a:fld id="{67913A8A-9EFB-4B5F-9CCB-3D21173FAA85}" type="slidenum">
              <a:rPr lang="zh-CN" altLang="en-US" smtClean="0"/>
              <a:pPr/>
              <a:t>51</a:t>
            </a:fld>
            <a:endParaRPr lang="zh-CN" altLang="en-US" dirty="0"/>
          </a:p>
        </p:txBody>
      </p:sp>
      <p:sp>
        <p:nvSpPr>
          <p:cNvPr id="29" name="Oval 3"/>
          <p:cNvSpPr/>
          <p:nvPr/>
        </p:nvSpPr>
        <p:spPr>
          <a:xfrm>
            <a:off x="3886200" y="1838980"/>
            <a:ext cx="304800" cy="304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9"/>
          <p:cNvSpPr/>
          <p:nvPr/>
        </p:nvSpPr>
        <p:spPr>
          <a:xfrm>
            <a:off x="6324600" y="1838980"/>
            <a:ext cx="304800" cy="304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12"/>
          <p:cNvSpPr/>
          <p:nvPr/>
        </p:nvSpPr>
        <p:spPr>
          <a:xfrm>
            <a:off x="6477000" y="3362980"/>
            <a:ext cx="304800" cy="304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2" name="Straight Arrow Connector 14"/>
          <p:cNvCxnSpPr/>
          <p:nvPr/>
        </p:nvCxnSpPr>
        <p:spPr>
          <a:xfrm>
            <a:off x="4267200" y="1991380"/>
            <a:ext cx="1981200" cy="1588"/>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33" name="Straight Arrow Connector 15"/>
          <p:cNvCxnSpPr/>
          <p:nvPr/>
        </p:nvCxnSpPr>
        <p:spPr>
          <a:xfrm rot="16200000" flipH="1">
            <a:off x="3543300" y="2639080"/>
            <a:ext cx="990600" cy="152400"/>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34" name="Straight Arrow Connector 20"/>
          <p:cNvCxnSpPr/>
          <p:nvPr/>
        </p:nvCxnSpPr>
        <p:spPr>
          <a:xfrm flipV="1">
            <a:off x="4343400" y="2143780"/>
            <a:ext cx="1905000" cy="990600"/>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sp>
        <p:nvSpPr>
          <p:cNvPr id="35" name="TextBox 17"/>
          <p:cNvSpPr txBox="1"/>
          <p:nvPr/>
        </p:nvSpPr>
        <p:spPr>
          <a:xfrm>
            <a:off x="3429000" y="1838980"/>
            <a:ext cx="381000" cy="523220"/>
          </a:xfrm>
          <a:prstGeom prst="rect">
            <a:avLst/>
          </a:prstGeom>
          <a:noFill/>
        </p:spPr>
        <p:txBody>
          <a:bodyPr wrap="square" rtlCol="0">
            <a:spAutoFit/>
          </a:bodyPr>
          <a:lstStyle/>
          <a:p>
            <a:r>
              <a:rPr lang="en-US" sz="2800" i="1" dirty="0"/>
              <a:t>a</a:t>
            </a:r>
          </a:p>
        </p:txBody>
      </p:sp>
      <p:sp>
        <p:nvSpPr>
          <p:cNvPr id="36" name="TextBox 19"/>
          <p:cNvSpPr txBox="1"/>
          <p:nvPr/>
        </p:nvSpPr>
        <p:spPr>
          <a:xfrm>
            <a:off x="6019800" y="3362980"/>
            <a:ext cx="381000" cy="523220"/>
          </a:xfrm>
          <a:prstGeom prst="rect">
            <a:avLst/>
          </a:prstGeom>
          <a:noFill/>
        </p:spPr>
        <p:txBody>
          <a:bodyPr wrap="square" rtlCol="0">
            <a:spAutoFit/>
          </a:bodyPr>
          <a:lstStyle/>
          <a:p>
            <a:r>
              <a:rPr lang="en-US" sz="2800" i="1" dirty="0"/>
              <a:t>d</a:t>
            </a:r>
          </a:p>
        </p:txBody>
      </p:sp>
      <p:sp>
        <p:nvSpPr>
          <p:cNvPr id="37" name="TextBox 21"/>
          <p:cNvSpPr txBox="1"/>
          <p:nvPr/>
        </p:nvSpPr>
        <p:spPr>
          <a:xfrm>
            <a:off x="3505200" y="3210580"/>
            <a:ext cx="381000" cy="523220"/>
          </a:xfrm>
          <a:prstGeom prst="rect">
            <a:avLst/>
          </a:prstGeom>
          <a:noFill/>
        </p:spPr>
        <p:txBody>
          <a:bodyPr wrap="square" rtlCol="0">
            <a:spAutoFit/>
          </a:bodyPr>
          <a:lstStyle/>
          <a:p>
            <a:r>
              <a:rPr lang="en-US" sz="2800" i="1" dirty="0"/>
              <a:t>c</a:t>
            </a:r>
          </a:p>
        </p:txBody>
      </p:sp>
      <p:sp>
        <p:nvSpPr>
          <p:cNvPr id="38" name="TextBox 22"/>
          <p:cNvSpPr txBox="1"/>
          <p:nvPr/>
        </p:nvSpPr>
        <p:spPr>
          <a:xfrm>
            <a:off x="6248400" y="2219980"/>
            <a:ext cx="381000" cy="523220"/>
          </a:xfrm>
          <a:prstGeom prst="rect">
            <a:avLst/>
          </a:prstGeom>
          <a:noFill/>
        </p:spPr>
        <p:txBody>
          <a:bodyPr wrap="square" rtlCol="0">
            <a:spAutoFit/>
          </a:bodyPr>
          <a:lstStyle/>
          <a:p>
            <a:r>
              <a:rPr lang="en-US" sz="2800" i="1" dirty="0"/>
              <a:t>b</a:t>
            </a:r>
          </a:p>
        </p:txBody>
      </p:sp>
      <p:sp>
        <p:nvSpPr>
          <p:cNvPr id="39" name="Oval 23"/>
          <p:cNvSpPr/>
          <p:nvPr/>
        </p:nvSpPr>
        <p:spPr>
          <a:xfrm>
            <a:off x="4114800" y="3286780"/>
            <a:ext cx="304800" cy="304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934890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animEffect transition="in" filter="wipe(down)">
                                      <p:cBhvr>
                                        <p:cTn id="7" dur="500"/>
                                        <p:tgtEl>
                                          <p:spTgt spid="3">
                                            <p:txEl>
                                              <p:pRg st="5" end="5"/>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3">
                                            <p:txEl>
                                              <p:pRg st="6" end="6"/>
                                            </p:txEl>
                                          </p:spTgt>
                                        </p:tgtEl>
                                        <p:attrNameLst>
                                          <p:attrName>style.visibility</p:attrName>
                                        </p:attrNameLst>
                                      </p:cBhvr>
                                      <p:to>
                                        <p:strVal val="visible"/>
                                      </p:to>
                                    </p:set>
                                    <p:animEffect transition="in" filter="wipe(down)">
                                      <p:cBhvr>
                                        <p:cTn id="10" dur="500"/>
                                        <p:tgtEl>
                                          <p:spTgt spid="3">
                                            <p:txEl>
                                              <p:pRg st="6" end="6"/>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3">
                                            <p:txEl>
                                              <p:pRg st="7" end="7"/>
                                            </p:txEl>
                                          </p:spTgt>
                                        </p:tgtEl>
                                        <p:attrNameLst>
                                          <p:attrName>style.visibility</p:attrName>
                                        </p:attrNameLst>
                                      </p:cBhvr>
                                      <p:to>
                                        <p:strVal val="visible"/>
                                      </p:to>
                                    </p:set>
                                    <p:animEffect transition="in" filter="wipe(down)">
                                      <p:cBhvr>
                                        <p:cTn id="13" dur="500"/>
                                        <p:tgtEl>
                                          <p:spTgt spid="3">
                                            <p:txEl>
                                              <p:pRg st="7" end="7"/>
                                            </p:txEl>
                                          </p:spTgt>
                                        </p:tgtEl>
                                      </p:cBhvr>
                                    </p:animEffect>
                                  </p:childTnLst>
                                </p:cTn>
                              </p:par>
                              <p:par>
                                <p:cTn id="14" presetID="22" presetClass="entr" presetSubtype="4" fill="hold" nodeType="withEffect">
                                  <p:stCondLst>
                                    <p:cond delay="0"/>
                                  </p:stCondLst>
                                  <p:childTnLst>
                                    <p:set>
                                      <p:cBhvr>
                                        <p:cTn id="15" dur="1" fill="hold">
                                          <p:stCondLst>
                                            <p:cond delay="0"/>
                                          </p:stCondLst>
                                        </p:cTn>
                                        <p:tgtEl>
                                          <p:spTgt spid="3">
                                            <p:txEl>
                                              <p:pRg st="8" end="8"/>
                                            </p:txEl>
                                          </p:spTgt>
                                        </p:tgtEl>
                                        <p:attrNameLst>
                                          <p:attrName>style.visibility</p:attrName>
                                        </p:attrNameLst>
                                      </p:cBhvr>
                                      <p:to>
                                        <p:strVal val="visible"/>
                                      </p:to>
                                    </p:set>
                                    <p:animEffect transition="in" filter="wipe(down)">
                                      <p:cBhvr>
                                        <p:cTn id="16" dur="500"/>
                                        <p:tgtEl>
                                          <p:spTgt spid="3">
                                            <p:txEl>
                                              <p:pRg st="8" end="8"/>
                                            </p:txEl>
                                          </p:spTgt>
                                        </p:tgtEl>
                                      </p:cBhvr>
                                    </p:animEffect>
                                  </p:childTnLst>
                                </p:cTn>
                              </p:par>
                              <p:par>
                                <p:cTn id="17" presetID="22" presetClass="entr" presetSubtype="4" fill="hold" nodeType="withEffect">
                                  <p:stCondLst>
                                    <p:cond delay="0"/>
                                  </p:stCondLst>
                                  <p:childTnLst>
                                    <p:set>
                                      <p:cBhvr>
                                        <p:cTn id="18" dur="1" fill="hold">
                                          <p:stCondLst>
                                            <p:cond delay="0"/>
                                          </p:stCondLst>
                                        </p:cTn>
                                        <p:tgtEl>
                                          <p:spTgt spid="3">
                                            <p:txEl>
                                              <p:pRg st="9" end="9"/>
                                            </p:txEl>
                                          </p:spTgt>
                                        </p:tgtEl>
                                        <p:attrNameLst>
                                          <p:attrName>style.visibility</p:attrName>
                                        </p:attrNameLst>
                                      </p:cBhvr>
                                      <p:to>
                                        <p:strVal val="visible"/>
                                      </p:to>
                                    </p:set>
                                    <p:animEffect transition="in" filter="wipe(down)">
                                      <p:cBhvr>
                                        <p:cTn id="19"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smtClean="0"/>
              <a:t>用图表示</a:t>
            </a:r>
            <a:r>
              <a:rPr lang="zh-CN" altLang="en-US" dirty="0"/>
              <a:t>关系</a:t>
            </a:r>
            <a:r>
              <a:rPr lang="zh-CN" altLang="en-US" dirty="0" smtClean="0"/>
              <a:t>时</a:t>
            </a:r>
            <a:r>
              <a:rPr lang="en-US" altLang="zh-CN" dirty="0" smtClean="0"/>
              <a:t>,</a:t>
            </a:r>
            <a:r>
              <a:rPr lang="zh-CN" altLang="en-US" dirty="0" smtClean="0"/>
              <a:t>确定</a:t>
            </a:r>
            <a:r>
              <a:rPr lang="zh-CN" altLang="en-US" dirty="0"/>
              <a:t>关系的性质</a:t>
            </a:r>
            <a:endParaRPr lang="en-US" dirty="0"/>
          </a:p>
        </p:txBody>
      </p:sp>
      <p:sp>
        <p:nvSpPr>
          <p:cNvPr id="3" name="Content Placeholder 2"/>
          <p:cNvSpPr>
            <a:spLocks noGrp="1"/>
          </p:cNvSpPr>
          <p:nvPr>
            <p:ph idx="1"/>
          </p:nvPr>
        </p:nvSpPr>
        <p:spPr/>
        <p:txBody>
          <a:bodyPr>
            <a:normAutofit fontScale="92500"/>
          </a:bodyPr>
          <a:lstStyle/>
          <a:p>
            <a:r>
              <a:rPr lang="zh-CN" altLang="en-US" dirty="0" smtClean="0"/>
              <a:t>例</a:t>
            </a:r>
            <a:r>
              <a:rPr lang="en-US" dirty="0" smtClean="0"/>
              <a:t>: </a:t>
            </a:r>
            <a:r>
              <a:rPr lang="zh-CN" altLang="en-US" dirty="0" smtClean="0"/>
              <a:t>判断所示有向图是否是自反的</a:t>
            </a:r>
            <a:r>
              <a:rPr lang="en-US" altLang="zh-CN" dirty="0" smtClean="0"/>
              <a:t>, </a:t>
            </a:r>
            <a:r>
              <a:rPr lang="zh-CN" altLang="en-US" dirty="0" smtClean="0"/>
              <a:t>对称的</a:t>
            </a:r>
            <a:r>
              <a:rPr lang="en-US" altLang="zh-CN" dirty="0" smtClean="0"/>
              <a:t>, </a:t>
            </a:r>
            <a:r>
              <a:rPr lang="zh-CN" altLang="en-US" dirty="0" smtClean="0"/>
              <a:t>反对称的</a:t>
            </a:r>
            <a:r>
              <a:rPr lang="en-US" altLang="zh-CN" dirty="0" smtClean="0"/>
              <a:t>, </a:t>
            </a:r>
            <a:r>
              <a:rPr lang="zh-CN" altLang="en-US" dirty="0" smtClean="0"/>
              <a:t>传递的</a:t>
            </a:r>
            <a:endParaRPr lang="en-US" altLang="zh-CN" dirty="0" smtClean="0"/>
          </a:p>
          <a:p>
            <a:endParaRPr lang="en-US" dirty="0"/>
          </a:p>
          <a:p>
            <a:endParaRPr lang="en-US" dirty="0" smtClean="0"/>
          </a:p>
          <a:p>
            <a:endParaRPr lang="en-US" dirty="0" smtClean="0"/>
          </a:p>
          <a:p>
            <a:endParaRPr lang="en-US" dirty="0"/>
          </a:p>
          <a:p>
            <a:r>
              <a:rPr lang="zh-CN" altLang="en-US" dirty="0" smtClean="0"/>
              <a:t>解</a:t>
            </a:r>
            <a:r>
              <a:rPr lang="en-US" altLang="zh-CN" dirty="0" smtClean="0"/>
              <a:t>:</a:t>
            </a:r>
          </a:p>
          <a:p>
            <a:pPr lvl="1">
              <a:lnSpc>
                <a:spcPct val="130000"/>
              </a:lnSpc>
            </a:pPr>
            <a:r>
              <a:rPr lang="zh-CN" altLang="en-US" dirty="0"/>
              <a:t>因为图中没有顶点有环</a:t>
            </a:r>
            <a:r>
              <a:rPr lang="en-US" altLang="zh-CN" dirty="0"/>
              <a:t>, </a:t>
            </a:r>
            <a:r>
              <a:rPr lang="zh-CN" altLang="en-US" dirty="0"/>
              <a:t>所以不是自反的；</a:t>
            </a:r>
            <a:endParaRPr lang="en-US" altLang="zh-CN" dirty="0"/>
          </a:p>
          <a:p>
            <a:pPr lvl="1">
              <a:lnSpc>
                <a:spcPct val="130000"/>
              </a:lnSpc>
            </a:pPr>
            <a:r>
              <a:rPr lang="zh-CN" altLang="en-US" dirty="0"/>
              <a:t>图中有顶点</a:t>
            </a:r>
            <a:r>
              <a:rPr lang="en-US" altLang="zh-CN" dirty="0"/>
              <a:t>a</a:t>
            </a:r>
            <a:r>
              <a:rPr lang="zh-CN" altLang="en-US" dirty="0"/>
              <a:t>到顶点</a:t>
            </a:r>
            <a:r>
              <a:rPr lang="en-US" altLang="zh-CN" dirty="0"/>
              <a:t>d</a:t>
            </a:r>
            <a:r>
              <a:rPr lang="zh-CN" altLang="en-US" dirty="0"/>
              <a:t>的边</a:t>
            </a:r>
            <a:r>
              <a:rPr lang="en-US" altLang="zh-CN" dirty="0"/>
              <a:t>, </a:t>
            </a:r>
            <a:r>
              <a:rPr lang="zh-CN" altLang="en-US" dirty="0"/>
              <a:t>但没有顶点</a:t>
            </a:r>
            <a:r>
              <a:rPr lang="en-US" altLang="zh-CN" dirty="0"/>
              <a:t>d</a:t>
            </a:r>
            <a:r>
              <a:rPr lang="zh-CN" altLang="en-US" dirty="0"/>
              <a:t>到顶点</a:t>
            </a:r>
            <a:r>
              <a:rPr lang="en-US" altLang="zh-CN" dirty="0"/>
              <a:t>a</a:t>
            </a:r>
            <a:r>
              <a:rPr lang="zh-CN" altLang="en-US" dirty="0"/>
              <a:t>的边</a:t>
            </a:r>
            <a:r>
              <a:rPr lang="en-US" altLang="zh-CN" dirty="0"/>
              <a:t>, </a:t>
            </a:r>
            <a:r>
              <a:rPr lang="zh-CN" altLang="en-US" dirty="0"/>
              <a:t>所以不是对称的；</a:t>
            </a:r>
            <a:endParaRPr lang="en-US" altLang="zh-CN" dirty="0"/>
          </a:p>
          <a:p>
            <a:pPr lvl="1">
              <a:lnSpc>
                <a:spcPct val="130000"/>
              </a:lnSpc>
            </a:pPr>
            <a:r>
              <a:rPr lang="zh-CN" altLang="en-US" dirty="0"/>
              <a:t>图中有一个顶点到另一个顶点的边</a:t>
            </a:r>
            <a:r>
              <a:rPr lang="en-US" altLang="zh-CN" dirty="0"/>
              <a:t>, </a:t>
            </a:r>
            <a:r>
              <a:rPr lang="zh-CN" altLang="en-US" dirty="0"/>
              <a:t>但是没有反向的边</a:t>
            </a:r>
            <a:r>
              <a:rPr lang="en-US" altLang="zh-CN" dirty="0"/>
              <a:t>, </a:t>
            </a:r>
            <a:r>
              <a:rPr lang="zh-CN" altLang="en-US" dirty="0"/>
              <a:t>所以是反对称的；</a:t>
            </a:r>
            <a:endParaRPr lang="en-US" altLang="zh-CN" dirty="0"/>
          </a:p>
          <a:p>
            <a:pPr lvl="1">
              <a:lnSpc>
                <a:spcPct val="130000"/>
              </a:lnSpc>
            </a:pPr>
            <a:r>
              <a:rPr lang="zh-CN" altLang="en-US" dirty="0"/>
              <a:t>图</a:t>
            </a:r>
            <a:r>
              <a:rPr lang="zh-CN" altLang="en-US" dirty="0" smtClean="0"/>
              <a:t>中有</a:t>
            </a:r>
            <a:r>
              <a:rPr lang="zh-CN" altLang="en-US" dirty="0"/>
              <a:t>顶点到另一个顶点的边</a:t>
            </a:r>
            <a:r>
              <a:rPr lang="en-US" altLang="zh-CN" dirty="0"/>
              <a:t>, </a:t>
            </a:r>
            <a:r>
              <a:rPr lang="zh-CN" altLang="en-US" dirty="0"/>
              <a:t>但没有另一个顶点都第三个顶点的边</a:t>
            </a:r>
            <a:r>
              <a:rPr lang="en-US" altLang="zh-CN" dirty="0"/>
              <a:t>, </a:t>
            </a:r>
            <a:r>
              <a:rPr lang="zh-CN" altLang="en-US" dirty="0"/>
              <a:t>所以是传递的</a:t>
            </a:r>
            <a:r>
              <a:rPr lang="en-US" altLang="zh-CN" dirty="0"/>
              <a:t>.</a:t>
            </a:r>
            <a:endParaRPr lang="en-US" dirty="0"/>
          </a:p>
        </p:txBody>
      </p:sp>
      <p:sp>
        <p:nvSpPr>
          <p:cNvPr id="6" name="日期占位符 5"/>
          <p:cNvSpPr>
            <a:spLocks noGrp="1"/>
          </p:cNvSpPr>
          <p:nvPr>
            <p:ph type="dt" sz="half" idx="10"/>
          </p:nvPr>
        </p:nvSpPr>
        <p:spPr/>
        <p:txBody>
          <a:bodyPr/>
          <a:lstStyle/>
          <a:p>
            <a:fld id="{7CF33A60-88C2-4791-A972-C11C876C3DCD}" type="datetime1">
              <a:rPr lang="zh-CN" altLang="en-US" smtClean="0"/>
              <a:t>2025/3/14</a:t>
            </a:fld>
            <a:endParaRPr lang="zh-CN" altLang="en-US" dirty="0"/>
          </a:p>
        </p:txBody>
      </p:sp>
      <p:sp>
        <p:nvSpPr>
          <p:cNvPr id="7" name="页脚占位符 6"/>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8" name="灯片编号占位符 7"/>
          <p:cNvSpPr>
            <a:spLocks noGrp="1"/>
          </p:cNvSpPr>
          <p:nvPr>
            <p:ph type="sldNum" sz="quarter" idx="12"/>
          </p:nvPr>
        </p:nvSpPr>
        <p:spPr/>
        <p:txBody>
          <a:bodyPr/>
          <a:lstStyle/>
          <a:p>
            <a:fld id="{67913A8A-9EFB-4B5F-9CCB-3D21173FAA85}" type="slidenum">
              <a:rPr lang="zh-CN" altLang="en-US" smtClean="0"/>
              <a:pPr/>
              <a:t>52</a:t>
            </a:fld>
            <a:endParaRPr lang="zh-CN" altLang="en-US" dirty="0"/>
          </a:p>
        </p:txBody>
      </p:sp>
      <p:sp>
        <p:nvSpPr>
          <p:cNvPr id="29" name="Oval 3"/>
          <p:cNvSpPr/>
          <p:nvPr/>
        </p:nvSpPr>
        <p:spPr>
          <a:xfrm>
            <a:off x="4724400" y="1762780"/>
            <a:ext cx="304800" cy="304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9"/>
          <p:cNvSpPr/>
          <p:nvPr/>
        </p:nvSpPr>
        <p:spPr>
          <a:xfrm>
            <a:off x="7239000" y="1762780"/>
            <a:ext cx="304800" cy="304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11"/>
          <p:cNvSpPr/>
          <p:nvPr/>
        </p:nvSpPr>
        <p:spPr>
          <a:xfrm>
            <a:off x="4876800" y="3134380"/>
            <a:ext cx="3048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12"/>
          <p:cNvSpPr/>
          <p:nvPr/>
        </p:nvSpPr>
        <p:spPr>
          <a:xfrm>
            <a:off x="7315200" y="3362980"/>
            <a:ext cx="304800" cy="304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3" name="Straight Arrow Connector 17"/>
          <p:cNvCxnSpPr/>
          <p:nvPr/>
        </p:nvCxnSpPr>
        <p:spPr>
          <a:xfrm>
            <a:off x="5105400" y="1991380"/>
            <a:ext cx="2362200" cy="1295400"/>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34" name="Straight Arrow Connector 19"/>
          <p:cNvCxnSpPr/>
          <p:nvPr/>
        </p:nvCxnSpPr>
        <p:spPr>
          <a:xfrm rot="10800000" flipV="1">
            <a:off x="5181600" y="1915180"/>
            <a:ext cx="1905000" cy="1219200"/>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sp>
        <p:nvSpPr>
          <p:cNvPr id="35" name="TextBox 13"/>
          <p:cNvSpPr txBox="1"/>
          <p:nvPr/>
        </p:nvSpPr>
        <p:spPr>
          <a:xfrm>
            <a:off x="4267200" y="1762780"/>
            <a:ext cx="381000" cy="523220"/>
          </a:xfrm>
          <a:prstGeom prst="rect">
            <a:avLst/>
          </a:prstGeom>
          <a:noFill/>
        </p:spPr>
        <p:txBody>
          <a:bodyPr wrap="square" rtlCol="0">
            <a:spAutoFit/>
          </a:bodyPr>
          <a:lstStyle/>
          <a:p>
            <a:r>
              <a:rPr lang="en-US" sz="2800" i="1" dirty="0"/>
              <a:t>a</a:t>
            </a:r>
          </a:p>
        </p:txBody>
      </p:sp>
      <p:sp>
        <p:nvSpPr>
          <p:cNvPr id="36" name="TextBox 14"/>
          <p:cNvSpPr txBox="1"/>
          <p:nvPr/>
        </p:nvSpPr>
        <p:spPr>
          <a:xfrm>
            <a:off x="6858000" y="3210580"/>
            <a:ext cx="381000" cy="523220"/>
          </a:xfrm>
          <a:prstGeom prst="rect">
            <a:avLst/>
          </a:prstGeom>
          <a:noFill/>
        </p:spPr>
        <p:txBody>
          <a:bodyPr wrap="square" rtlCol="0">
            <a:spAutoFit/>
          </a:bodyPr>
          <a:lstStyle/>
          <a:p>
            <a:r>
              <a:rPr lang="en-US" sz="2800" i="1" dirty="0"/>
              <a:t>d</a:t>
            </a:r>
          </a:p>
        </p:txBody>
      </p:sp>
      <p:sp>
        <p:nvSpPr>
          <p:cNvPr id="37" name="TextBox 15"/>
          <p:cNvSpPr txBox="1"/>
          <p:nvPr/>
        </p:nvSpPr>
        <p:spPr>
          <a:xfrm>
            <a:off x="4419600" y="3058180"/>
            <a:ext cx="381000" cy="523220"/>
          </a:xfrm>
          <a:prstGeom prst="rect">
            <a:avLst/>
          </a:prstGeom>
          <a:noFill/>
        </p:spPr>
        <p:txBody>
          <a:bodyPr wrap="square" rtlCol="0">
            <a:spAutoFit/>
          </a:bodyPr>
          <a:lstStyle/>
          <a:p>
            <a:r>
              <a:rPr lang="en-US" sz="2800" i="1" dirty="0"/>
              <a:t>c</a:t>
            </a:r>
          </a:p>
        </p:txBody>
      </p:sp>
      <p:sp>
        <p:nvSpPr>
          <p:cNvPr id="38" name="TextBox 18"/>
          <p:cNvSpPr txBox="1"/>
          <p:nvPr/>
        </p:nvSpPr>
        <p:spPr>
          <a:xfrm>
            <a:off x="6705600" y="1457980"/>
            <a:ext cx="381000" cy="523220"/>
          </a:xfrm>
          <a:prstGeom prst="rect">
            <a:avLst/>
          </a:prstGeom>
          <a:noFill/>
        </p:spPr>
        <p:txBody>
          <a:bodyPr wrap="square" rtlCol="0">
            <a:spAutoFit/>
          </a:bodyPr>
          <a:lstStyle/>
          <a:p>
            <a:r>
              <a:rPr lang="en-US" sz="2800" i="1" dirty="0"/>
              <a:t>b</a:t>
            </a:r>
          </a:p>
        </p:txBody>
      </p:sp>
    </p:spTree>
    <p:extLst>
      <p:ext uri="{BB962C8B-B14F-4D97-AF65-F5344CB8AC3E}">
        <p14:creationId xmlns:p14="http://schemas.microsoft.com/office/powerpoint/2010/main" val="11344127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animEffect transition="in" filter="wipe(down)">
                                      <p:cBhvr>
                                        <p:cTn id="7" dur="500"/>
                                        <p:tgtEl>
                                          <p:spTgt spid="3">
                                            <p:txEl>
                                              <p:pRg st="5" end="5"/>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3">
                                            <p:txEl>
                                              <p:pRg st="6" end="6"/>
                                            </p:txEl>
                                          </p:spTgt>
                                        </p:tgtEl>
                                        <p:attrNameLst>
                                          <p:attrName>style.visibility</p:attrName>
                                        </p:attrNameLst>
                                      </p:cBhvr>
                                      <p:to>
                                        <p:strVal val="visible"/>
                                      </p:to>
                                    </p:set>
                                    <p:animEffect transition="in" filter="wipe(down)">
                                      <p:cBhvr>
                                        <p:cTn id="10" dur="500"/>
                                        <p:tgtEl>
                                          <p:spTgt spid="3">
                                            <p:txEl>
                                              <p:pRg st="6" end="6"/>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3">
                                            <p:txEl>
                                              <p:pRg st="7" end="7"/>
                                            </p:txEl>
                                          </p:spTgt>
                                        </p:tgtEl>
                                        <p:attrNameLst>
                                          <p:attrName>style.visibility</p:attrName>
                                        </p:attrNameLst>
                                      </p:cBhvr>
                                      <p:to>
                                        <p:strVal val="visible"/>
                                      </p:to>
                                    </p:set>
                                    <p:animEffect transition="in" filter="wipe(down)">
                                      <p:cBhvr>
                                        <p:cTn id="13" dur="500"/>
                                        <p:tgtEl>
                                          <p:spTgt spid="3">
                                            <p:txEl>
                                              <p:pRg st="7" end="7"/>
                                            </p:txEl>
                                          </p:spTgt>
                                        </p:tgtEl>
                                      </p:cBhvr>
                                    </p:animEffect>
                                  </p:childTnLst>
                                </p:cTn>
                              </p:par>
                              <p:par>
                                <p:cTn id="14" presetID="22" presetClass="entr" presetSubtype="4" fill="hold" nodeType="withEffect">
                                  <p:stCondLst>
                                    <p:cond delay="0"/>
                                  </p:stCondLst>
                                  <p:childTnLst>
                                    <p:set>
                                      <p:cBhvr>
                                        <p:cTn id="15" dur="1" fill="hold">
                                          <p:stCondLst>
                                            <p:cond delay="0"/>
                                          </p:stCondLst>
                                        </p:cTn>
                                        <p:tgtEl>
                                          <p:spTgt spid="3">
                                            <p:txEl>
                                              <p:pRg st="8" end="8"/>
                                            </p:txEl>
                                          </p:spTgt>
                                        </p:tgtEl>
                                        <p:attrNameLst>
                                          <p:attrName>style.visibility</p:attrName>
                                        </p:attrNameLst>
                                      </p:cBhvr>
                                      <p:to>
                                        <p:strVal val="visible"/>
                                      </p:to>
                                    </p:set>
                                    <p:animEffect transition="in" filter="wipe(down)">
                                      <p:cBhvr>
                                        <p:cTn id="16" dur="500"/>
                                        <p:tgtEl>
                                          <p:spTgt spid="3">
                                            <p:txEl>
                                              <p:pRg st="8" end="8"/>
                                            </p:txEl>
                                          </p:spTgt>
                                        </p:tgtEl>
                                      </p:cBhvr>
                                    </p:animEffect>
                                  </p:childTnLst>
                                </p:cTn>
                              </p:par>
                              <p:par>
                                <p:cTn id="17" presetID="22" presetClass="entr" presetSubtype="4" fill="hold" nodeType="withEffect">
                                  <p:stCondLst>
                                    <p:cond delay="0"/>
                                  </p:stCondLst>
                                  <p:childTnLst>
                                    <p:set>
                                      <p:cBhvr>
                                        <p:cTn id="18" dur="1" fill="hold">
                                          <p:stCondLst>
                                            <p:cond delay="0"/>
                                          </p:stCondLst>
                                        </p:cTn>
                                        <p:tgtEl>
                                          <p:spTgt spid="3">
                                            <p:txEl>
                                              <p:pRg st="9" end="9"/>
                                            </p:txEl>
                                          </p:spTgt>
                                        </p:tgtEl>
                                        <p:attrNameLst>
                                          <p:attrName>style.visibility</p:attrName>
                                        </p:attrNameLst>
                                      </p:cBhvr>
                                      <p:to>
                                        <p:strVal val="visible"/>
                                      </p:to>
                                    </p:set>
                                    <p:animEffect transition="in" filter="wipe(down)">
                                      <p:cBhvr>
                                        <p:cTn id="19"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第</a:t>
            </a:r>
            <a:r>
              <a:rPr lang="en-US" altLang="zh-CN" dirty="0"/>
              <a:t>2.4</a:t>
            </a:r>
            <a:r>
              <a:rPr lang="zh-CN" altLang="en-US" dirty="0" smtClean="0"/>
              <a:t>节 关系</a:t>
            </a:r>
            <a:r>
              <a:rPr lang="zh-CN" altLang="en-US" dirty="0"/>
              <a:t>的闭包</a:t>
            </a:r>
            <a:endParaRPr lang="en-US" dirty="0"/>
          </a:p>
        </p:txBody>
      </p:sp>
      <p:sp>
        <p:nvSpPr>
          <p:cNvPr id="3" name="Content Placeholder 2"/>
          <p:cNvSpPr>
            <a:spLocks noGrp="1"/>
          </p:cNvSpPr>
          <p:nvPr>
            <p:ph idx="1"/>
          </p:nvPr>
        </p:nvSpPr>
        <p:spPr/>
        <p:txBody>
          <a:bodyPr/>
          <a:lstStyle/>
          <a:p>
            <a:r>
              <a:rPr lang="zh-CN" altLang="en-US" dirty="0" smtClean="0"/>
              <a:t>闭包</a:t>
            </a:r>
            <a:endParaRPr lang="en-US" altLang="zh-CN" dirty="0" smtClean="0"/>
          </a:p>
          <a:p>
            <a:r>
              <a:rPr lang="zh-CN" altLang="en-US" dirty="0" smtClean="0"/>
              <a:t>有向图的路径</a:t>
            </a:r>
            <a:endParaRPr lang="en-US" altLang="zh-CN" dirty="0" smtClean="0"/>
          </a:p>
          <a:p>
            <a:r>
              <a:rPr lang="zh-CN" altLang="en-US" dirty="0" smtClean="0"/>
              <a:t>传递闭包</a:t>
            </a:r>
            <a:endParaRPr lang="en-US" altLang="zh-CN" dirty="0" smtClean="0"/>
          </a:p>
          <a:p>
            <a:r>
              <a:rPr lang="zh-CN" altLang="en-US" dirty="0"/>
              <a:t>沃舍</a:t>
            </a:r>
            <a:r>
              <a:rPr lang="zh-CN" altLang="en-US" dirty="0" smtClean="0"/>
              <a:t>尔算法</a:t>
            </a:r>
            <a:endParaRPr lang="en-US" altLang="zh-CN" dirty="0" smtClean="0"/>
          </a:p>
          <a:p>
            <a:pPr marL="0" indent="0">
              <a:buNone/>
            </a:pPr>
            <a:endParaRPr lang="en-US" dirty="0" smtClean="0"/>
          </a:p>
        </p:txBody>
      </p:sp>
      <p:sp>
        <p:nvSpPr>
          <p:cNvPr id="6" name="日期占位符 5"/>
          <p:cNvSpPr>
            <a:spLocks noGrp="1"/>
          </p:cNvSpPr>
          <p:nvPr>
            <p:ph type="dt" sz="half" idx="10"/>
          </p:nvPr>
        </p:nvSpPr>
        <p:spPr/>
        <p:txBody>
          <a:bodyPr/>
          <a:lstStyle/>
          <a:p>
            <a:fld id="{549569CF-A718-45A2-801D-75A285733EBE}" type="datetime1">
              <a:rPr lang="zh-CN" altLang="en-US" smtClean="0"/>
              <a:t>2025/3/14</a:t>
            </a:fld>
            <a:endParaRPr lang="zh-CN" altLang="en-US" dirty="0"/>
          </a:p>
        </p:txBody>
      </p:sp>
      <p:sp>
        <p:nvSpPr>
          <p:cNvPr id="7" name="页脚占位符 6"/>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8" name="灯片编号占位符 7"/>
          <p:cNvSpPr>
            <a:spLocks noGrp="1"/>
          </p:cNvSpPr>
          <p:nvPr>
            <p:ph type="sldNum" sz="quarter" idx="12"/>
          </p:nvPr>
        </p:nvSpPr>
        <p:spPr/>
        <p:txBody>
          <a:bodyPr/>
          <a:lstStyle/>
          <a:p>
            <a:fld id="{67913A8A-9EFB-4B5F-9CCB-3D21173FAA85}" type="slidenum">
              <a:rPr lang="zh-CN" altLang="en-US" smtClean="0"/>
              <a:pPr/>
              <a:t>53</a:t>
            </a:fld>
            <a:endParaRPr lang="zh-CN" altLang="en-US" dirty="0"/>
          </a:p>
        </p:txBody>
      </p:sp>
    </p:spTree>
    <p:extLst>
      <p:ext uri="{BB962C8B-B14F-4D97-AF65-F5344CB8AC3E}">
        <p14:creationId xmlns:p14="http://schemas.microsoft.com/office/powerpoint/2010/main" val="900082473"/>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457200" y="3048000"/>
            <a:ext cx="11277599" cy="1371600"/>
          </a:xfrm>
          <a:prstGeom prst="rect">
            <a:avLst/>
          </a:prstGeom>
          <a:solidFill>
            <a:schemeClr val="accent5">
              <a:lumMod val="40000"/>
              <a:lumOff val="6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zh-CN" altLang="en-US" dirty="0"/>
              <a:t>闭包</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zh-CN" altLang="en-US" dirty="0" smtClean="0"/>
                  <a:t>若</a:t>
                </a:r>
                <a:r>
                  <a:rPr lang="en-US" altLang="zh-CN" dirty="0" smtClean="0"/>
                  <a:t>R</a:t>
                </a:r>
                <a:r>
                  <a:rPr lang="zh-CN" altLang="en-US" dirty="0" smtClean="0"/>
                  <a:t>是集合</a:t>
                </a:r>
                <a:r>
                  <a:rPr lang="en-US" altLang="zh-CN" dirty="0" smtClean="0"/>
                  <a:t>A</a:t>
                </a:r>
                <a:r>
                  <a:rPr lang="zh-CN" altLang="en-US" dirty="0" smtClean="0"/>
                  <a:t>上的关系</a:t>
                </a:r>
                <a:r>
                  <a:rPr lang="en-US" altLang="zh-CN" dirty="0" smtClean="0"/>
                  <a:t>, </a:t>
                </a:r>
                <a:r>
                  <a:rPr lang="zh-CN" altLang="en-US" dirty="0" smtClean="0"/>
                  <a:t>它可能具有或者不具有某些性质</a:t>
                </a:r>
                <a:r>
                  <a:rPr lang="en-US" altLang="zh-CN" dirty="0" smtClean="0"/>
                  <a:t>P(</a:t>
                </a:r>
                <a:r>
                  <a:rPr lang="zh-CN" altLang="en-US" dirty="0" smtClean="0"/>
                  <a:t>例如自反性</a:t>
                </a:r>
                <a:r>
                  <a:rPr lang="en-US" altLang="zh-CN" dirty="0" smtClean="0"/>
                  <a:t>, </a:t>
                </a:r>
                <a:r>
                  <a:rPr lang="zh-CN" altLang="en-US" dirty="0" smtClean="0"/>
                  <a:t>对称性</a:t>
                </a:r>
                <a:r>
                  <a:rPr lang="en-US" altLang="zh-CN" dirty="0" smtClean="0"/>
                  <a:t>, </a:t>
                </a:r>
                <a:r>
                  <a:rPr lang="zh-CN" altLang="en-US" dirty="0" smtClean="0"/>
                  <a:t>反对称性</a:t>
                </a:r>
                <a:r>
                  <a:rPr lang="en-US" altLang="zh-CN" dirty="0" smtClean="0"/>
                  <a:t>, </a:t>
                </a:r>
                <a:r>
                  <a:rPr lang="zh-CN" altLang="en-US" dirty="0" smtClean="0"/>
                  <a:t>传递性</a:t>
                </a:r>
                <a:r>
                  <a:rPr lang="en-US" altLang="zh-CN" dirty="0" smtClean="0"/>
                  <a:t>). </a:t>
                </a:r>
                <a:r>
                  <a:rPr lang="zh-CN" altLang="en-US" dirty="0" smtClean="0"/>
                  <a:t>若</a:t>
                </a:r>
                <a:r>
                  <a:rPr lang="en-US" altLang="zh-CN" dirty="0" smtClean="0"/>
                  <a:t>R</a:t>
                </a:r>
                <a:r>
                  <a:rPr lang="zh-CN" altLang="en-US" dirty="0" smtClean="0"/>
                  <a:t>不具有性质</a:t>
                </a:r>
                <a:r>
                  <a:rPr lang="en-US" altLang="zh-CN" dirty="0" smtClean="0"/>
                  <a:t>P</a:t>
                </a:r>
                <a:r>
                  <a:rPr lang="zh-CN" altLang="en-US" dirty="0" smtClean="0"/>
                  <a:t>时</a:t>
                </a:r>
                <a:r>
                  <a:rPr lang="en-US" altLang="zh-CN" dirty="0" smtClean="0"/>
                  <a:t>, </a:t>
                </a:r>
                <a:r>
                  <a:rPr lang="zh-CN" altLang="en-US" dirty="0" smtClean="0"/>
                  <a:t>我们将求在集合</a:t>
                </a:r>
                <a:r>
                  <a:rPr lang="en-US" altLang="zh-CN" dirty="0" smtClean="0"/>
                  <a:t>A</a:t>
                </a:r>
                <a:r>
                  <a:rPr lang="zh-CN" altLang="en-US" dirty="0" smtClean="0"/>
                  <a:t>上包含关系</a:t>
                </a:r>
                <a:r>
                  <a:rPr lang="en-US" altLang="zh-CN" dirty="0" smtClean="0"/>
                  <a:t>R</a:t>
                </a:r>
                <a:r>
                  <a:rPr lang="zh-CN" altLang="en-US" dirty="0" smtClean="0"/>
                  <a:t>且具有性质</a:t>
                </a:r>
                <a:r>
                  <a:rPr lang="en-US" altLang="zh-CN" dirty="0" smtClean="0"/>
                  <a:t>P</a:t>
                </a:r>
                <a:r>
                  <a:rPr lang="zh-CN" altLang="en-US" dirty="0" smtClean="0"/>
                  <a:t>的最小关系</a:t>
                </a:r>
                <a:r>
                  <a:rPr lang="en-US" altLang="zh-CN" dirty="0" smtClean="0"/>
                  <a:t>.</a:t>
                </a:r>
              </a:p>
              <a:p>
                <a:endParaRPr lang="en-US" altLang="zh-CN" dirty="0"/>
              </a:p>
              <a:p>
                <a:r>
                  <a:rPr lang="zh-CN" altLang="en-US" dirty="0" smtClean="0"/>
                  <a:t>定义</a:t>
                </a:r>
                <a:r>
                  <a:rPr lang="en-US" altLang="zh-CN" dirty="0" smtClean="0"/>
                  <a:t>: </a:t>
                </a:r>
                <a:r>
                  <a:rPr lang="zh-CN" altLang="en-US" dirty="0" smtClean="0"/>
                  <a:t>设</a:t>
                </a:r>
                <a:r>
                  <a:rPr lang="en-US" altLang="zh-CN" dirty="0" smtClean="0"/>
                  <a:t>R</a:t>
                </a:r>
                <a:r>
                  <a:rPr lang="zh-CN" altLang="en-US" dirty="0" smtClean="0"/>
                  <a:t>是集合</a:t>
                </a:r>
                <a:r>
                  <a:rPr lang="en-US" altLang="zh-CN" dirty="0" smtClean="0"/>
                  <a:t>A</a:t>
                </a:r>
                <a:r>
                  <a:rPr lang="zh-CN" altLang="en-US" dirty="0" smtClean="0"/>
                  <a:t>上的关系</a:t>
                </a:r>
                <a:r>
                  <a:rPr lang="en-US" altLang="zh-CN" dirty="0" smtClean="0"/>
                  <a:t>, </a:t>
                </a:r>
                <a:r>
                  <a:rPr lang="zh-CN" altLang="en-US" dirty="0" smtClean="0"/>
                  <a:t>若存在关系</a:t>
                </a:r>
                <a:r>
                  <a:rPr lang="en-US" altLang="zh-CN" dirty="0" smtClean="0"/>
                  <a:t>R</a:t>
                </a:r>
                <a:r>
                  <a:rPr lang="zh-CN" altLang="en-US" dirty="0" smtClean="0"/>
                  <a:t>的具有性质</a:t>
                </a:r>
                <a:r>
                  <a:rPr lang="en-US" altLang="zh-CN" dirty="0" smtClean="0"/>
                  <a:t>P</a:t>
                </a:r>
                <a:r>
                  <a:rPr lang="zh-CN" altLang="en-US" dirty="0" smtClean="0"/>
                  <a:t>的</a:t>
                </a:r>
                <a:r>
                  <a:rPr lang="zh-CN" altLang="en-US" b="1" dirty="0" smtClean="0">
                    <a:solidFill>
                      <a:srgbClr val="C00000"/>
                    </a:solidFill>
                  </a:rPr>
                  <a:t>闭包</a:t>
                </a:r>
                <a:r>
                  <a:rPr lang="en-US" altLang="zh-CN" dirty="0" smtClean="0"/>
                  <a:t>, </a:t>
                </a:r>
                <a:r>
                  <a:rPr lang="zh-CN" altLang="en-US" dirty="0" smtClean="0"/>
                  <a:t>则此闭包是集合</a:t>
                </a:r>
                <a:r>
                  <a:rPr lang="en-US" altLang="zh-CN" dirty="0" smtClean="0"/>
                  <a:t>A</a:t>
                </a:r>
                <a:r>
                  <a:rPr lang="zh-CN" altLang="en-US" dirty="0" smtClean="0"/>
                  <a:t>上包含</a:t>
                </a:r>
                <a:r>
                  <a:rPr lang="en-US" altLang="zh-CN" dirty="0" smtClean="0"/>
                  <a:t>R</a:t>
                </a:r>
                <a:r>
                  <a:rPr lang="zh-CN" altLang="en-US" dirty="0" smtClean="0"/>
                  <a:t>的具有性质</a:t>
                </a:r>
                <a:r>
                  <a:rPr lang="en-US" altLang="zh-CN" dirty="0" smtClean="0"/>
                  <a:t>P</a:t>
                </a:r>
                <a:r>
                  <a:rPr lang="zh-CN" altLang="en-US" dirty="0" smtClean="0"/>
                  <a:t>的关系</a:t>
                </a:r>
                <a:r>
                  <a:rPr lang="en-US" altLang="zh-CN" dirty="0" smtClean="0"/>
                  <a:t>S, </a:t>
                </a:r>
                <a:r>
                  <a:rPr lang="zh-CN" altLang="en-US" dirty="0" smtClean="0"/>
                  <a:t>并且</a:t>
                </a:r>
                <a:r>
                  <a:rPr lang="en-US" altLang="zh-CN" dirty="0" smtClean="0"/>
                  <a:t>S</a:t>
                </a:r>
                <a:r>
                  <a:rPr lang="zh-CN" altLang="en-US" dirty="0" smtClean="0"/>
                  <a:t>是每一个包含</a:t>
                </a:r>
                <a:r>
                  <a:rPr lang="en-US" altLang="zh-CN" dirty="0" smtClean="0"/>
                  <a:t>R</a:t>
                </a:r>
                <a:r>
                  <a:rPr lang="zh-CN" altLang="en-US" dirty="0" smtClean="0"/>
                  <a:t>的具有性质</a:t>
                </a:r>
                <a:r>
                  <a:rPr lang="en-US" altLang="zh-CN" dirty="0" smtClean="0"/>
                  <a:t>P</a:t>
                </a:r>
                <a:r>
                  <a:rPr lang="zh-CN" altLang="en-US" dirty="0" smtClean="0"/>
                  <a:t>的</a:t>
                </a:r>
                <a:r>
                  <a:rPr lang="en-US" altLang="zh-CN" dirty="0" smtClean="0"/>
                  <a:t>A</a:t>
                </a:r>
                <a14:m>
                  <m:oMath xmlns:m="http://schemas.openxmlformats.org/officeDocument/2006/math">
                    <m:r>
                      <a:rPr lang="en-US" altLang="zh-CN" i="1" dirty="0" smtClean="0">
                        <a:latin typeface="Cambria Math" panose="02040503050406030204" pitchFamily="18" charset="0"/>
                        <a:ea typeface="Cambria Math" panose="02040503050406030204" pitchFamily="18" charset="0"/>
                      </a:rPr>
                      <m:t>×</m:t>
                    </m:r>
                  </m:oMath>
                </a14:m>
                <a:r>
                  <a:rPr lang="en-US" altLang="zh-CN" dirty="0" smtClean="0"/>
                  <a:t>A</a:t>
                </a:r>
                <a:r>
                  <a:rPr lang="zh-CN" altLang="en-US" dirty="0" smtClean="0"/>
                  <a:t>的子集</a:t>
                </a:r>
                <a:r>
                  <a:rPr lang="en-US" altLang="zh-CN" dirty="0" smtClean="0"/>
                  <a:t>.</a:t>
                </a:r>
              </a:p>
              <a:p>
                <a:endParaRPr lang="en-US" altLang="zh-CN" dirty="0" smtClean="0"/>
              </a:p>
              <a:p>
                <a:r>
                  <a:rPr lang="zh-CN" altLang="en-US" dirty="0" smtClean="0"/>
                  <a:t>自反闭包</a:t>
                </a:r>
                <a:r>
                  <a:rPr lang="en-US" altLang="zh-CN" dirty="0" smtClean="0"/>
                  <a:t>, </a:t>
                </a:r>
                <a:r>
                  <a:rPr lang="zh-CN" altLang="en-US" dirty="0" smtClean="0"/>
                  <a:t>对称闭包</a:t>
                </a:r>
                <a:r>
                  <a:rPr lang="en-US" altLang="zh-CN" dirty="0" smtClean="0"/>
                  <a:t>, </a:t>
                </a:r>
                <a:r>
                  <a:rPr lang="zh-CN" altLang="en-US" dirty="0" smtClean="0"/>
                  <a:t>传递闭包</a:t>
                </a:r>
                <a:endParaRPr lang="en-US" altLang="zh-CN" dirty="0"/>
              </a:p>
              <a:p>
                <a:r>
                  <a:rPr lang="zh-CN" altLang="en-US" dirty="0" smtClean="0"/>
                  <a:t>思考</a:t>
                </a:r>
                <a:r>
                  <a:rPr lang="en-US" altLang="zh-CN" dirty="0" smtClean="0"/>
                  <a:t>: </a:t>
                </a:r>
                <a:r>
                  <a:rPr lang="zh-CN" altLang="en-US" dirty="0" smtClean="0"/>
                  <a:t>为何没有提及反对称闭包</a:t>
                </a:r>
                <a:r>
                  <a:rPr lang="en-US" altLang="zh-CN" dirty="0" smtClean="0"/>
                  <a:t>?</a:t>
                </a:r>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l="-999" t="-1310" r="-222" b="-833"/>
                </a:stretch>
              </a:blipFill>
            </p:spPr>
            <p:txBody>
              <a:bodyPr/>
              <a:lstStyle/>
              <a:p>
                <a:r>
                  <a:rPr lang="zh-CN" altLang="en-US">
                    <a:noFill/>
                  </a:rPr>
                  <a:t> </a:t>
                </a:r>
              </a:p>
            </p:txBody>
          </p:sp>
        </mc:Fallback>
      </mc:AlternateContent>
      <p:sp>
        <p:nvSpPr>
          <p:cNvPr id="4" name="日期占位符 3"/>
          <p:cNvSpPr>
            <a:spLocks noGrp="1"/>
          </p:cNvSpPr>
          <p:nvPr>
            <p:ph type="dt" sz="half" idx="10"/>
          </p:nvPr>
        </p:nvSpPr>
        <p:spPr/>
        <p:txBody>
          <a:bodyPr/>
          <a:lstStyle/>
          <a:p>
            <a:fld id="{8F6BD3E5-827D-4BBF-90D1-79ED2A6E4D34}" type="datetime1">
              <a:rPr lang="zh-CN" altLang="en-US" smtClean="0"/>
              <a:t>2025/3/14</a:t>
            </a:fld>
            <a:endParaRPr lang="zh-CN" altLang="en-US" dirty="0"/>
          </a:p>
        </p:txBody>
      </p:sp>
      <p:sp>
        <p:nvSpPr>
          <p:cNvPr id="5" name="页脚占位符 4"/>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6" name="灯片编号占位符 5"/>
          <p:cNvSpPr>
            <a:spLocks noGrp="1"/>
          </p:cNvSpPr>
          <p:nvPr>
            <p:ph type="sldNum" sz="quarter" idx="12"/>
          </p:nvPr>
        </p:nvSpPr>
        <p:spPr/>
        <p:txBody>
          <a:bodyPr/>
          <a:lstStyle/>
          <a:p>
            <a:fld id="{67913A8A-9EFB-4B5F-9CCB-3D21173FAA85}" type="slidenum">
              <a:rPr lang="zh-CN" altLang="en-US" smtClean="0"/>
              <a:pPr/>
              <a:t>54</a:t>
            </a:fld>
            <a:endParaRPr lang="zh-CN" altLang="en-US" dirty="0"/>
          </a:p>
        </p:txBody>
      </p:sp>
    </p:spTree>
    <p:extLst>
      <p:ext uri="{BB962C8B-B14F-4D97-AF65-F5344CB8AC3E}">
        <p14:creationId xmlns:p14="http://schemas.microsoft.com/office/powerpoint/2010/main" val="1683578989"/>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闭包</a:t>
            </a:r>
          </a:p>
        </p:txBody>
      </p:sp>
      <p:sp>
        <p:nvSpPr>
          <p:cNvPr id="3" name="内容占位符 2"/>
          <p:cNvSpPr>
            <a:spLocks noGrp="1"/>
          </p:cNvSpPr>
          <p:nvPr>
            <p:ph idx="1"/>
          </p:nvPr>
        </p:nvSpPr>
        <p:spPr/>
        <p:txBody>
          <a:bodyPr>
            <a:normAutofit/>
          </a:bodyPr>
          <a:lstStyle/>
          <a:p>
            <a:r>
              <a:rPr lang="zh-CN" altLang="en-US" dirty="0" smtClean="0"/>
              <a:t>例</a:t>
            </a:r>
            <a:r>
              <a:rPr lang="en-US" altLang="zh-CN" dirty="0" smtClean="0"/>
              <a:t>: </a:t>
            </a:r>
            <a:r>
              <a:rPr lang="zh-CN" altLang="en-US" dirty="0" smtClean="0"/>
              <a:t>集合</a:t>
            </a:r>
            <a:r>
              <a:rPr lang="en-US" altLang="zh-CN" dirty="0" smtClean="0"/>
              <a:t>A={1,2,3,4}</a:t>
            </a:r>
            <a:r>
              <a:rPr lang="zh-CN" altLang="en-US" dirty="0" smtClean="0"/>
              <a:t>上的关系</a:t>
            </a:r>
            <a:r>
              <a:rPr lang="en-US" altLang="zh-CN" dirty="0" smtClean="0"/>
              <a:t>R={(1,1), (1,2), (2,1), (3,2)}</a:t>
            </a:r>
            <a:r>
              <a:rPr lang="zh-CN" altLang="en-US" dirty="0" smtClean="0"/>
              <a:t>不是自反的</a:t>
            </a:r>
            <a:r>
              <a:rPr lang="en-US" altLang="zh-CN" dirty="0" smtClean="0"/>
              <a:t>. </a:t>
            </a:r>
            <a:r>
              <a:rPr lang="zh-CN" altLang="en-US" dirty="0" smtClean="0"/>
              <a:t>求包含关系</a:t>
            </a:r>
            <a:r>
              <a:rPr lang="en-US" altLang="zh-CN" dirty="0" smtClean="0"/>
              <a:t>R</a:t>
            </a:r>
            <a:r>
              <a:rPr lang="zh-CN" altLang="en-US" dirty="0" smtClean="0"/>
              <a:t>的尽可能小的自反关系</a:t>
            </a:r>
            <a:r>
              <a:rPr lang="en-US" altLang="zh-CN" dirty="0" smtClean="0"/>
              <a:t>.</a:t>
            </a:r>
          </a:p>
          <a:p>
            <a:r>
              <a:rPr lang="zh-CN" altLang="en-US" dirty="0" smtClean="0"/>
              <a:t>解</a:t>
            </a:r>
            <a:r>
              <a:rPr lang="en-US" altLang="zh-CN" dirty="0" smtClean="0"/>
              <a:t>: </a:t>
            </a:r>
            <a:r>
              <a:rPr lang="zh-CN" altLang="en-US" dirty="0" smtClean="0"/>
              <a:t>关系</a:t>
            </a:r>
            <a:r>
              <a:rPr lang="en-US" altLang="zh-CN" dirty="0" smtClean="0"/>
              <a:t>R</a:t>
            </a:r>
            <a:r>
              <a:rPr lang="zh-CN" altLang="en-US" dirty="0" smtClean="0"/>
              <a:t>中因为没有</a:t>
            </a:r>
            <a:r>
              <a:rPr lang="en-US" altLang="zh-CN" dirty="0" smtClean="0"/>
              <a:t>(2,2),(3,3),(4,4)</a:t>
            </a:r>
            <a:r>
              <a:rPr lang="zh-CN" altLang="en-US" dirty="0" smtClean="0"/>
              <a:t>，导致它不是自反的</a:t>
            </a:r>
            <a:r>
              <a:rPr lang="en-US" altLang="zh-CN" dirty="0" smtClean="0"/>
              <a:t>. </a:t>
            </a:r>
            <a:r>
              <a:rPr lang="zh-CN" altLang="en-US" dirty="0" smtClean="0"/>
              <a:t>所以</a:t>
            </a:r>
            <a:r>
              <a:rPr lang="zh-CN" altLang="en-US" dirty="0"/>
              <a:t>自反闭包</a:t>
            </a:r>
            <a:r>
              <a:rPr lang="en-US" altLang="zh-CN" dirty="0" smtClean="0"/>
              <a:t>S={(1,1),(1,2),(2,1),(3,2),(2,2),(</a:t>
            </a:r>
            <a:r>
              <a:rPr lang="en-US" altLang="zh-CN" smtClean="0"/>
              <a:t>3,3),(4,4)}</a:t>
            </a:r>
            <a:endParaRPr lang="en-US" altLang="zh-CN" dirty="0" smtClean="0"/>
          </a:p>
        </p:txBody>
      </p:sp>
      <p:sp>
        <p:nvSpPr>
          <p:cNvPr id="4" name="日期占位符 3"/>
          <p:cNvSpPr>
            <a:spLocks noGrp="1"/>
          </p:cNvSpPr>
          <p:nvPr>
            <p:ph type="dt" sz="half" idx="10"/>
          </p:nvPr>
        </p:nvSpPr>
        <p:spPr/>
        <p:txBody>
          <a:bodyPr/>
          <a:lstStyle/>
          <a:p>
            <a:fld id="{DA0173D8-4F30-41BE-88A8-C6D5F3528A12}" type="datetime1">
              <a:rPr lang="zh-CN" altLang="en-US" smtClean="0"/>
              <a:t>2025/3/14</a:t>
            </a:fld>
            <a:endParaRPr lang="zh-CN" altLang="en-US" dirty="0"/>
          </a:p>
        </p:txBody>
      </p:sp>
      <p:sp>
        <p:nvSpPr>
          <p:cNvPr id="5" name="页脚占位符 4"/>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6" name="灯片编号占位符 5"/>
          <p:cNvSpPr>
            <a:spLocks noGrp="1"/>
          </p:cNvSpPr>
          <p:nvPr>
            <p:ph type="sldNum" sz="quarter" idx="12"/>
          </p:nvPr>
        </p:nvSpPr>
        <p:spPr/>
        <p:txBody>
          <a:bodyPr/>
          <a:lstStyle/>
          <a:p>
            <a:fld id="{67913A8A-9EFB-4B5F-9CCB-3D21173FAA85}" type="slidenum">
              <a:rPr lang="zh-CN" altLang="en-US" smtClean="0"/>
              <a:pPr/>
              <a:t>55</a:t>
            </a:fld>
            <a:endParaRPr lang="zh-CN" altLang="en-US" dirty="0"/>
          </a:p>
        </p:txBody>
      </p:sp>
    </p:spTree>
    <p:extLst>
      <p:ext uri="{BB962C8B-B14F-4D97-AF65-F5344CB8AC3E}">
        <p14:creationId xmlns:p14="http://schemas.microsoft.com/office/powerpoint/2010/main" val="18496837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wipe(down)">
                                      <p:cBhvr>
                                        <p:cTn id="7"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闭包</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normAutofit/>
              </a:bodyPr>
              <a:lstStyle/>
              <a:p>
                <a:r>
                  <a:rPr lang="zh-CN" altLang="en-US" dirty="0" smtClean="0"/>
                  <a:t>给定集合</a:t>
                </a:r>
                <a:r>
                  <a:rPr lang="en-US" altLang="zh-CN" dirty="0" smtClean="0"/>
                  <a:t>A</a:t>
                </a:r>
                <a:r>
                  <a:rPr lang="zh-CN" altLang="en-US" dirty="0" smtClean="0"/>
                  <a:t>上的关系</a:t>
                </a:r>
                <a:r>
                  <a:rPr lang="en-US" altLang="zh-CN" dirty="0" smtClean="0"/>
                  <a:t>R</a:t>
                </a:r>
                <a:r>
                  <a:rPr lang="zh-CN" altLang="en-US" dirty="0" smtClean="0"/>
                  <a:t>，对于</a:t>
                </a:r>
                <a14:m>
                  <m:oMath xmlns:m="http://schemas.openxmlformats.org/officeDocument/2006/math">
                    <m:r>
                      <m:rPr>
                        <m:sty m:val="p"/>
                      </m:rPr>
                      <a:rPr lang="en-US" altLang="zh-CN" i="1" dirty="0">
                        <a:latin typeface="Cambria Math" panose="02040503050406030204" pitchFamily="18" charset="0"/>
                      </a:rPr>
                      <m:t>a</m:t>
                    </m:r>
                    <m:r>
                      <a:rPr lang="zh-CN" altLang="en-US" i="1" smtClean="0">
                        <a:latin typeface="Cambria Math" panose="02040503050406030204" pitchFamily="18" charset="0"/>
                      </a:rPr>
                      <m:t>∈</m:t>
                    </m:r>
                    <m:r>
                      <a:rPr lang="en-US" altLang="zh-CN" b="0" i="1" smtClean="0">
                        <a:latin typeface="Cambria Math" panose="02040503050406030204" pitchFamily="18" charset="0"/>
                      </a:rPr>
                      <m:t>𝐴</m:t>
                    </m:r>
                    <m:r>
                      <a:rPr lang="zh-CN" altLang="en-US" i="1">
                        <a:latin typeface="Cambria Math" panose="02040503050406030204" pitchFamily="18" charset="0"/>
                      </a:rPr>
                      <m:t>，</m:t>
                    </m:r>
                  </m:oMath>
                </a14:m>
                <a:r>
                  <a:rPr lang="zh-CN" altLang="en-US" dirty="0" smtClean="0"/>
                  <a:t>通过把还不在</a:t>
                </a:r>
                <a:r>
                  <a:rPr lang="en-US" altLang="zh-CN" dirty="0" smtClean="0"/>
                  <a:t>R</a:t>
                </a:r>
                <a:r>
                  <a:rPr lang="zh-CN" altLang="en-US" dirty="0" smtClean="0"/>
                  <a:t>中的所有形如（</a:t>
                </a:r>
                <a:r>
                  <a:rPr lang="en-US" altLang="zh-CN" dirty="0" err="1" smtClean="0"/>
                  <a:t>a,a</a:t>
                </a:r>
                <a:r>
                  <a:rPr lang="zh-CN" altLang="en-US" dirty="0" smtClean="0"/>
                  <a:t>）的有序对添加到关系</a:t>
                </a:r>
                <a:r>
                  <a:rPr lang="en-US" altLang="zh-CN" dirty="0" smtClean="0"/>
                  <a:t>R</a:t>
                </a:r>
                <a:r>
                  <a:rPr lang="zh-CN" altLang="en-US" dirty="0" smtClean="0"/>
                  <a:t>中，得到</a:t>
                </a:r>
                <a:r>
                  <a:rPr lang="en-US" altLang="zh-CN" dirty="0" smtClean="0"/>
                  <a:t>R</a:t>
                </a:r>
                <a:r>
                  <a:rPr lang="zh-CN" altLang="en-US" dirty="0" smtClean="0"/>
                  <a:t>的</a:t>
                </a:r>
                <a:r>
                  <a:rPr lang="zh-CN" altLang="en-US" b="1" dirty="0" smtClean="0">
                    <a:solidFill>
                      <a:srgbClr val="C00000"/>
                    </a:solidFill>
                  </a:rPr>
                  <a:t>自反闭包</a:t>
                </a:r>
                <a:r>
                  <a:rPr lang="en-US" altLang="zh-CN" dirty="0" smtClean="0"/>
                  <a:t>. </a:t>
                </a:r>
                <a:r>
                  <a:rPr lang="zh-CN" altLang="en-US" dirty="0" smtClean="0"/>
                  <a:t>在加入这些有序对后，产生了一个新的自反的</a:t>
                </a:r>
                <a:r>
                  <a:rPr lang="en-US" altLang="zh-CN" dirty="0" smtClean="0"/>
                  <a:t>, </a:t>
                </a:r>
                <a:r>
                  <a:rPr lang="zh-CN" altLang="en-US" dirty="0" smtClean="0"/>
                  <a:t>包含关系</a:t>
                </a:r>
                <a:r>
                  <a:rPr lang="en-US" altLang="zh-CN" dirty="0" smtClean="0"/>
                  <a:t>R</a:t>
                </a:r>
                <a:r>
                  <a:rPr lang="zh-CN" altLang="en-US" dirty="0" smtClean="0"/>
                  <a:t>的新关系</a:t>
                </a:r>
                <a:r>
                  <a:rPr lang="en-US" altLang="zh-CN" dirty="0" smtClean="0"/>
                  <a:t>, </a:t>
                </a:r>
                <a:r>
                  <a:rPr lang="zh-CN" altLang="en-US" dirty="0" smtClean="0"/>
                  <a:t>并且该关系包含于任何一个包含关系</a:t>
                </a:r>
                <a:r>
                  <a:rPr lang="en-US" altLang="zh-CN" dirty="0" smtClean="0"/>
                  <a:t>R</a:t>
                </a:r>
                <a:r>
                  <a:rPr lang="zh-CN" altLang="en-US" dirty="0" smtClean="0"/>
                  <a:t>的自反关系中</a:t>
                </a:r>
                <a:r>
                  <a:rPr lang="en-US" altLang="zh-CN" dirty="0" smtClean="0"/>
                  <a:t>.</a:t>
                </a:r>
              </a:p>
              <a:p>
                <a:endParaRPr lang="en-US" altLang="zh-CN" dirty="0"/>
              </a:p>
              <a:p>
                <a:r>
                  <a:rPr lang="zh-CN" altLang="en-US" dirty="0" smtClean="0"/>
                  <a:t>关系</a:t>
                </a:r>
                <a:r>
                  <a:rPr lang="en-US" altLang="zh-CN" dirty="0" smtClean="0"/>
                  <a:t>R</a:t>
                </a:r>
                <a:r>
                  <a:rPr lang="zh-CN" altLang="en-US" dirty="0" smtClean="0"/>
                  <a:t>的自反闭包等于</a:t>
                </a:r>
                <a:r>
                  <a:rPr lang="en-US" altLang="zh-CN" dirty="0" smtClean="0"/>
                  <a:t>R</a:t>
                </a:r>
                <a14:m>
                  <m:oMath xmlns:m="http://schemas.openxmlformats.org/officeDocument/2006/math">
                    <m:r>
                      <a:rPr lang="en-US" altLang="zh-CN"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m:t>
                    </m:r>
                  </m:oMath>
                </a14:m>
                <a:r>
                  <a:rPr lang="zh-CN" altLang="en-US" dirty="0" smtClean="0"/>
                  <a:t> </a:t>
                </a:r>
                <a14:m>
                  <m:oMath xmlns:m="http://schemas.openxmlformats.org/officeDocument/2006/math">
                    <m:r>
                      <a:rPr lang="en-US" altLang="zh-CN" i="1">
                        <a:latin typeface="Cambria Math" panose="02040503050406030204" pitchFamily="18" charset="0"/>
                        <a:ea typeface="Cambria Math" panose="02040503050406030204" pitchFamily="18" charset="0"/>
                      </a:rPr>
                      <m:t>△</m:t>
                    </m:r>
                  </m:oMath>
                </a14:m>
                <a:r>
                  <a:rPr lang="en-US" altLang="zh-CN" dirty="0" smtClean="0"/>
                  <a:t>={(</a:t>
                </a:r>
                <a:r>
                  <a:rPr lang="en-US" altLang="zh-CN" dirty="0" err="1" smtClean="0"/>
                  <a:t>a,a</a:t>
                </a:r>
                <a:r>
                  <a:rPr lang="en-US" altLang="zh-CN" dirty="0" smtClean="0"/>
                  <a:t>)|</a:t>
                </a:r>
                <a:r>
                  <a:rPr lang="en-US" altLang="zh-CN" dirty="0"/>
                  <a:t> </a:t>
                </a:r>
                <a14:m>
                  <m:oMath xmlns:m="http://schemas.openxmlformats.org/officeDocument/2006/math">
                    <m:r>
                      <m:rPr>
                        <m:sty m:val="p"/>
                      </m:rPr>
                      <a:rPr lang="en-US" altLang="zh-CN" i="1" dirty="0">
                        <a:latin typeface="Cambria Math" panose="02040503050406030204" pitchFamily="18" charset="0"/>
                      </a:rPr>
                      <m:t>a</m:t>
                    </m:r>
                    <m:r>
                      <a:rPr lang="zh-CN" altLang="en-US" i="1">
                        <a:latin typeface="Cambria Math" panose="02040503050406030204" pitchFamily="18" charset="0"/>
                      </a:rPr>
                      <m:t>∈</m:t>
                    </m:r>
                    <m:r>
                      <a:rPr lang="en-US" altLang="zh-CN" i="1">
                        <a:latin typeface="Cambria Math" panose="02040503050406030204" pitchFamily="18" charset="0"/>
                      </a:rPr>
                      <m:t>𝐴</m:t>
                    </m:r>
                  </m:oMath>
                </a14:m>
                <a:r>
                  <a:rPr lang="en-US" altLang="zh-CN" dirty="0" smtClean="0"/>
                  <a:t>}</a:t>
                </a:r>
                <a:r>
                  <a:rPr lang="zh-CN" altLang="en-US" dirty="0" smtClean="0"/>
                  <a:t>是</a:t>
                </a:r>
                <a:r>
                  <a:rPr lang="en-US" altLang="zh-CN" dirty="0" smtClean="0"/>
                  <a:t>A</a:t>
                </a:r>
                <a:r>
                  <a:rPr lang="zh-CN" altLang="en-US" dirty="0" smtClean="0"/>
                  <a:t>上的对角关系</a:t>
                </a:r>
                <a:r>
                  <a:rPr lang="en-US" altLang="zh-CN" dirty="0" smtClean="0"/>
                  <a:t>.</a:t>
                </a:r>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3"/>
                <a:stretch>
                  <a:fillRect l="-999" t="-1310"/>
                </a:stretch>
              </a:blipFill>
            </p:spPr>
            <p:txBody>
              <a:bodyPr/>
              <a:lstStyle/>
              <a:p>
                <a:r>
                  <a:rPr lang="zh-CN" altLang="en-US">
                    <a:noFill/>
                  </a:rPr>
                  <a:t> </a:t>
                </a:r>
              </a:p>
            </p:txBody>
          </p:sp>
        </mc:Fallback>
      </mc:AlternateContent>
      <p:sp>
        <p:nvSpPr>
          <p:cNvPr id="4" name="日期占位符 3"/>
          <p:cNvSpPr>
            <a:spLocks noGrp="1"/>
          </p:cNvSpPr>
          <p:nvPr>
            <p:ph type="dt" sz="half" idx="10"/>
          </p:nvPr>
        </p:nvSpPr>
        <p:spPr/>
        <p:txBody>
          <a:bodyPr/>
          <a:lstStyle/>
          <a:p>
            <a:fld id="{2DA8F38F-3D15-4064-81AA-69D26492AB7E}" type="datetime1">
              <a:rPr lang="zh-CN" altLang="en-US" smtClean="0"/>
              <a:t>2025/3/14</a:t>
            </a:fld>
            <a:endParaRPr lang="zh-CN" altLang="en-US" dirty="0"/>
          </a:p>
        </p:txBody>
      </p:sp>
      <p:sp>
        <p:nvSpPr>
          <p:cNvPr id="5" name="页脚占位符 4"/>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6" name="灯片编号占位符 5"/>
          <p:cNvSpPr>
            <a:spLocks noGrp="1"/>
          </p:cNvSpPr>
          <p:nvPr>
            <p:ph type="sldNum" sz="quarter" idx="12"/>
          </p:nvPr>
        </p:nvSpPr>
        <p:spPr/>
        <p:txBody>
          <a:bodyPr/>
          <a:lstStyle/>
          <a:p>
            <a:fld id="{67913A8A-9EFB-4B5F-9CCB-3D21173FAA85}" type="slidenum">
              <a:rPr lang="zh-CN" altLang="en-US" smtClean="0"/>
              <a:pPr/>
              <a:t>56</a:t>
            </a:fld>
            <a:endParaRPr lang="zh-CN" altLang="en-US" dirty="0"/>
          </a:p>
        </p:txBody>
      </p:sp>
    </p:spTree>
    <p:extLst>
      <p:ext uri="{BB962C8B-B14F-4D97-AF65-F5344CB8AC3E}">
        <p14:creationId xmlns:p14="http://schemas.microsoft.com/office/powerpoint/2010/main" val="3615328092"/>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闭包</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zh-CN" altLang="en-US" dirty="0" smtClean="0"/>
                  <a:t>例</a:t>
                </a:r>
                <a:r>
                  <a:rPr lang="en-US" altLang="zh-CN" dirty="0" smtClean="0"/>
                  <a:t>: </a:t>
                </a:r>
                <a:r>
                  <a:rPr lang="zh-CN" altLang="en-US" dirty="0" smtClean="0"/>
                  <a:t>整数集上的关系</a:t>
                </a:r>
                <a:r>
                  <a:rPr lang="en-US" altLang="zh-CN" dirty="0" smtClean="0"/>
                  <a:t>R={(</a:t>
                </a:r>
                <a:r>
                  <a:rPr lang="en-US" altLang="zh-CN" dirty="0" err="1" smtClean="0"/>
                  <a:t>a,b</a:t>
                </a:r>
                <a:r>
                  <a:rPr lang="en-US" altLang="zh-CN" dirty="0" smtClean="0"/>
                  <a:t>)|a&lt;b}</a:t>
                </a:r>
                <a:r>
                  <a:rPr lang="zh-CN" altLang="en-US" dirty="0" smtClean="0"/>
                  <a:t>的自反闭包是什么？</a:t>
                </a:r>
                <a:endParaRPr lang="en-US" altLang="zh-CN" dirty="0" smtClean="0"/>
              </a:p>
              <a:p>
                <a:r>
                  <a:rPr lang="zh-CN" altLang="en-US" dirty="0" smtClean="0"/>
                  <a:t>解</a:t>
                </a:r>
                <a:r>
                  <a:rPr lang="en-US" altLang="zh-CN" dirty="0" smtClean="0"/>
                  <a:t>: R</a:t>
                </a:r>
                <a:r>
                  <a:rPr lang="zh-CN" altLang="en-US" dirty="0" smtClean="0"/>
                  <a:t>的自反闭包是</a:t>
                </a:r>
                <a:r>
                  <a:rPr lang="en-US" altLang="zh-CN" dirty="0"/>
                  <a:t>R</a:t>
                </a:r>
                <a14:m>
                  <m:oMath xmlns:m="http://schemas.openxmlformats.org/officeDocument/2006/math">
                    <m:r>
                      <a:rPr lang="en-US" altLang="zh-CN" i="1">
                        <a:latin typeface="Cambria Math" panose="02040503050406030204" pitchFamily="18" charset="0"/>
                        <a:ea typeface="Cambria Math" panose="02040503050406030204" pitchFamily="18" charset="0"/>
                      </a:rPr>
                      <m:t>∪△</m:t>
                    </m:r>
                  </m:oMath>
                </a14:m>
                <a:r>
                  <a:rPr lang="en-US" altLang="zh-CN" dirty="0" smtClean="0"/>
                  <a:t>=</a:t>
                </a:r>
                <a:r>
                  <a:rPr lang="en-US" altLang="zh-CN" dirty="0"/>
                  <a:t> </a:t>
                </a:r>
                <a:r>
                  <a:rPr lang="en-US" altLang="zh-CN" dirty="0" smtClean="0"/>
                  <a:t>{(</a:t>
                </a:r>
                <a:r>
                  <a:rPr lang="en-US" altLang="zh-CN" dirty="0"/>
                  <a:t>a,b)|a&lt;b}</a:t>
                </a:r>
                <a:r>
                  <a:rPr lang="en-US" altLang="zh-CN" dirty="0">
                    <a:ea typeface="Cambria Math" panose="02040503050406030204" pitchFamily="18" charset="0"/>
                  </a:rPr>
                  <a:t> </a:t>
                </a:r>
                <a14:m>
                  <m:oMath xmlns:m="http://schemas.openxmlformats.org/officeDocument/2006/math">
                    <m:r>
                      <a:rPr lang="en-US" altLang="zh-CN" i="1">
                        <a:latin typeface="Cambria Math" panose="02040503050406030204" pitchFamily="18" charset="0"/>
                        <a:ea typeface="Cambria Math" panose="02040503050406030204" pitchFamily="18" charset="0"/>
                      </a:rPr>
                      <m:t>∪</m:t>
                    </m:r>
                  </m:oMath>
                </a14:m>
                <a:r>
                  <a:rPr lang="en-US" altLang="zh-CN" dirty="0" smtClean="0"/>
                  <a:t> {(</a:t>
                </a:r>
                <a:r>
                  <a:rPr lang="en-US" altLang="zh-CN" dirty="0" err="1"/>
                  <a:t>a,a</a:t>
                </a:r>
                <a:r>
                  <a:rPr lang="en-US" altLang="zh-CN" dirty="0"/>
                  <a:t>)|</a:t>
                </a:r>
                <a14:m>
                  <m:oMath xmlns:m="http://schemas.openxmlformats.org/officeDocument/2006/math">
                    <m:r>
                      <m:rPr>
                        <m:sty m:val="p"/>
                      </m:rPr>
                      <a:rPr lang="en-US" altLang="zh-CN" i="1" dirty="0">
                        <a:latin typeface="Cambria Math" panose="02040503050406030204" pitchFamily="18" charset="0"/>
                      </a:rPr>
                      <m:t>a</m:t>
                    </m:r>
                    <m:r>
                      <a:rPr lang="zh-CN" altLang="en-US" i="1">
                        <a:latin typeface="Cambria Math" panose="02040503050406030204" pitchFamily="18" charset="0"/>
                      </a:rPr>
                      <m:t>∈</m:t>
                    </m:r>
                    <m:r>
                      <a:rPr lang="en-US" altLang="zh-CN" b="0" i="1" smtClean="0">
                        <a:latin typeface="Cambria Math" panose="02040503050406030204" pitchFamily="18" charset="0"/>
                      </a:rPr>
                      <m:t>𝑍</m:t>
                    </m:r>
                  </m:oMath>
                </a14:m>
                <a:r>
                  <a:rPr lang="en-US" altLang="zh-CN" dirty="0" smtClean="0"/>
                  <a:t>}={(</a:t>
                </a:r>
                <a:r>
                  <a:rPr lang="en-US" altLang="zh-CN" dirty="0" err="1" smtClean="0"/>
                  <a:t>a,b</a:t>
                </a:r>
                <a:r>
                  <a:rPr lang="en-US" altLang="zh-CN" dirty="0" smtClean="0"/>
                  <a:t>)|a&lt;=b}.</a:t>
                </a:r>
                <a:endParaRPr lang="zh-CN" altLang="en-US" dirty="0"/>
              </a:p>
              <a:p>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l="-999" t="-1310" r="-1942"/>
                </a:stretch>
              </a:blipFill>
            </p:spPr>
            <p:txBody>
              <a:bodyPr/>
              <a:lstStyle/>
              <a:p>
                <a:r>
                  <a:rPr lang="zh-CN" altLang="en-US">
                    <a:noFill/>
                  </a:rPr>
                  <a:t> </a:t>
                </a:r>
              </a:p>
            </p:txBody>
          </p:sp>
        </mc:Fallback>
      </mc:AlternateContent>
      <p:sp>
        <p:nvSpPr>
          <p:cNvPr id="4" name="日期占位符 3"/>
          <p:cNvSpPr>
            <a:spLocks noGrp="1"/>
          </p:cNvSpPr>
          <p:nvPr>
            <p:ph type="dt" sz="half" idx="10"/>
          </p:nvPr>
        </p:nvSpPr>
        <p:spPr/>
        <p:txBody>
          <a:bodyPr/>
          <a:lstStyle/>
          <a:p>
            <a:fld id="{596C0177-3347-4D66-B39B-1E5CF72EA7A0}" type="datetime1">
              <a:rPr lang="zh-CN" altLang="en-US" smtClean="0"/>
              <a:t>2025/3/14</a:t>
            </a:fld>
            <a:endParaRPr lang="zh-CN" altLang="en-US" dirty="0"/>
          </a:p>
        </p:txBody>
      </p:sp>
      <p:sp>
        <p:nvSpPr>
          <p:cNvPr id="5" name="页脚占位符 4"/>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6" name="灯片编号占位符 5"/>
          <p:cNvSpPr>
            <a:spLocks noGrp="1"/>
          </p:cNvSpPr>
          <p:nvPr>
            <p:ph type="sldNum" sz="quarter" idx="12"/>
          </p:nvPr>
        </p:nvSpPr>
        <p:spPr/>
        <p:txBody>
          <a:bodyPr/>
          <a:lstStyle/>
          <a:p>
            <a:fld id="{67913A8A-9EFB-4B5F-9CCB-3D21173FAA85}" type="slidenum">
              <a:rPr lang="zh-CN" altLang="en-US" smtClean="0"/>
              <a:pPr/>
              <a:t>57</a:t>
            </a:fld>
            <a:endParaRPr lang="zh-CN" altLang="en-US" dirty="0"/>
          </a:p>
        </p:txBody>
      </p:sp>
    </p:spTree>
    <p:extLst>
      <p:ext uri="{BB962C8B-B14F-4D97-AF65-F5344CB8AC3E}">
        <p14:creationId xmlns:p14="http://schemas.microsoft.com/office/powerpoint/2010/main" val="27052138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wipe(down)">
                                      <p:cBhvr>
                                        <p:cTn id="7"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闭包</a:t>
            </a:r>
          </a:p>
        </p:txBody>
      </p:sp>
      <p:sp>
        <p:nvSpPr>
          <p:cNvPr id="3" name="内容占位符 2"/>
          <p:cNvSpPr>
            <a:spLocks noGrp="1"/>
          </p:cNvSpPr>
          <p:nvPr>
            <p:ph idx="1"/>
          </p:nvPr>
        </p:nvSpPr>
        <p:spPr/>
        <p:txBody>
          <a:bodyPr/>
          <a:lstStyle/>
          <a:p>
            <a:r>
              <a:rPr lang="zh-CN" altLang="en-US" dirty="0"/>
              <a:t>例</a:t>
            </a:r>
            <a:r>
              <a:rPr lang="en-US" altLang="zh-CN" dirty="0"/>
              <a:t>: </a:t>
            </a:r>
            <a:r>
              <a:rPr lang="zh-CN" altLang="en-US" dirty="0"/>
              <a:t>集合</a:t>
            </a:r>
            <a:r>
              <a:rPr lang="en-US" altLang="zh-CN" dirty="0"/>
              <a:t>A={</a:t>
            </a:r>
            <a:r>
              <a:rPr lang="en-US" altLang="zh-CN" dirty="0" smtClean="0"/>
              <a:t>1,2,3}</a:t>
            </a:r>
            <a:r>
              <a:rPr lang="zh-CN" altLang="en-US" dirty="0"/>
              <a:t>上的关系</a:t>
            </a:r>
            <a:r>
              <a:rPr lang="en-US" altLang="zh-CN" dirty="0"/>
              <a:t>R={(1,1), (1,2), (</a:t>
            </a:r>
            <a:r>
              <a:rPr lang="en-US" altLang="zh-CN" dirty="0" smtClean="0"/>
              <a:t>2,2), (2,3),(3,1),(3,2</a:t>
            </a:r>
            <a:r>
              <a:rPr lang="en-US" altLang="zh-CN" dirty="0"/>
              <a:t>)}</a:t>
            </a:r>
            <a:r>
              <a:rPr lang="zh-CN" altLang="en-US" dirty="0" smtClean="0"/>
              <a:t>不是对称的</a:t>
            </a:r>
            <a:r>
              <a:rPr lang="en-US" altLang="zh-CN" dirty="0"/>
              <a:t>. </a:t>
            </a:r>
            <a:r>
              <a:rPr lang="zh-CN" altLang="en-US" dirty="0"/>
              <a:t>求包含关系</a:t>
            </a:r>
            <a:r>
              <a:rPr lang="en-US" altLang="zh-CN" dirty="0"/>
              <a:t>R</a:t>
            </a:r>
            <a:r>
              <a:rPr lang="zh-CN" altLang="en-US" dirty="0"/>
              <a:t>的尽可能小</a:t>
            </a:r>
            <a:r>
              <a:rPr lang="zh-CN" altLang="en-US" dirty="0" smtClean="0"/>
              <a:t>的对称关系</a:t>
            </a:r>
            <a:r>
              <a:rPr lang="en-US" altLang="zh-CN" dirty="0"/>
              <a:t>.</a:t>
            </a:r>
          </a:p>
          <a:p>
            <a:r>
              <a:rPr lang="zh-CN" altLang="en-US" dirty="0"/>
              <a:t>解</a:t>
            </a:r>
            <a:r>
              <a:rPr lang="en-US" altLang="zh-CN" dirty="0"/>
              <a:t>: </a:t>
            </a:r>
            <a:r>
              <a:rPr lang="zh-CN" altLang="en-US" dirty="0"/>
              <a:t>关系</a:t>
            </a:r>
            <a:r>
              <a:rPr lang="en-US" altLang="zh-CN" dirty="0"/>
              <a:t>R</a:t>
            </a:r>
            <a:r>
              <a:rPr lang="zh-CN" altLang="en-US" dirty="0"/>
              <a:t>中因为没有</a:t>
            </a:r>
            <a:r>
              <a:rPr lang="en-US" altLang="zh-CN" dirty="0"/>
              <a:t>(</a:t>
            </a:r>
            <a:r>
              <a:rPr lang="en-US" altLang="zh-CN" dirty="0" smtClean="0"/>
              <a:t>2,1),(1,3</a:t>
            </a:r>
            <a:r>
              <a:rPr lang="en-US" altLang="zh-CN" dirty="0"/>
              <a:t>)</a:t>
            </a:r>
            <a:r>
              <a:rPr lang="zh-CN" altLang="en-US" dirty="0"/>
              <a:t>，导致它</a:t>
            </a:r>
            <a:r>
              <a:rPr lang="zh-CN" altLang="en-US" dirty="0" smtClean="0"/>
              <a:t>不是对称的</a:t>
            </a:r>
            <a:r>
              <a:rPr lang="en-US" altLang="zh-CN" dirty="0"/>
              <a:t>. </a:t>
            </a:r>
            <a:r>
              <a:rPr lang="zh-CN" altLang="en-US" dirty="0" smtClean="0"/>
              <a:t>所以新关系</a:t>
            </a:r>
            <a:r>
              <a:rPr lang="en-US" altLang="zh-CN" dirty="0" smtClean="0"/>
              <a:t>S</a:t>
            </a:r>
            <a:r>
              <a:rPr lang="en-US" altLang="zh-CN" dirty="0"/>
              <a:t> ={(1,1), (1,2), (2,2), (2,3),(3,1),(3,2</a:t>
            </a:r>
            <a:r>
              <a:rPr lang="en-US" altLang="zh-CN" dirty="0" smtClean="0"/>
              <a:t>),</a:t>
            </a:r>
            <a:r>
              <a:rPr lang="en-US" altLang="zh-CN" dirty="0"/>
              <a:t> (2,1),(1,3</a:t>
            </a:r>
            <a:r>
              <a:rPr lang="en-US" altLang="zh-CN" dirty="0" smtClean="0"/>
              <a:t>)}</a:t>
            </a:r>
            <a:r>
              <a:rPr lang="zh-CN" altLang="en-US" dirty="0" smtClean="0"/>
              <a:t>将是对称的</a:t>
            </a:r>
            <a:r>
              <a:rPr lang="en-US" altLang="zh-CN" dirty="0" smtClean="0"/>
              <a:t>. </a:t>
            </a:r>
            <a:r>
              <a:rPr lang="zh-CN" altLang="en-US" dirty="0" smtClean="0"/>
              <a:t>这个新关系</a:t>
            </a:r>
            <a:r>
              <a:rPr lang="en-US" altLang="zh-CN" dirty="0" smtClean="0"/>
              <a:t>S</a:t>
            </a:r>
            <a:r>
              <a:rPr lang="zh-CN" altLang="en-US" dirty="0" smtClean="0"/>
              <a:t>是对称的</a:t>
            </a:r>
            <a:r>
              <a:rPr lang="en-US" altLang="zh-CN" dirty="0" smtClean="0"/>
              <a:t>, </a:t>
            </a:r>
            <a:r>
              <a:rPr lang="zh-CN" altLang="en-US" dirty="0" smtClean="0"/>
              <a:t>且包含关系</a:t>
            </a:r>
            <a:r>
              <a:rPr lang="en-US" altLang="zh-CN" dirty="0" smtClean="0"/>
              <a:t>R. </a:t>
            </a:r>
            <a:r>
              <a:rPr lang="zh-CN" altLang="en-US" dirty="0" smtClean="0"/>
              <a:t>此外</a:t>
            </a:r>
            <a:r>
              <a:rPr lang="en-US" altLang="zh-CN" dirty="0" smtClean="0"/>
              <a:t>, </a:t>
            </a:r>
            <a:r>
              <a:rPr lang="zh-CN" altLang="en-US" dirty="0" smtClean="0"/>
              <a:t>任何包含了关系</a:t>
            </a:r>
            <a:r>
              <a:rPr lang="en-US" altLang="zh-CN" dirty="0" smtClean="0"/>
              <a:t>R</a:t>
            </a:r>
            <a:r>
              <a:rPr lang="zh-CN" altLang="en-US" dirty="0" smtClean="0"/>
              <a:t>的对称关系一定包含这个新关系</a:t>
            </a:r>
            <a:r>
              <a:rPr lang="en-US" altLang="zh-CN" dirty="0" smtClean="0"/>
              <a:t>. </a:t>
            </a:r>
            <a:r>
              <a:rPr lang="zh-CN" altLang="en-US" dirty="0" smtClean="0"/>
              <a:t>因此，这个新关系叫做关系</a:t>
            </a:r>
            <a:r>
              <a:rPr lang="en-US" altLang="zh-CN" dirty="0" smtClean="0"/>
              <a:t>R</a:t>
            </a:r>
            <a:r>
              <a:rPr lang="zh-CN" altLang="en-US" dirty="0" smtClean="0"/>
              <a:t>的</a:t>
            </a:r>
            <a:r>
              <a:rPr lang="zh-CN" altLang="en-US" b="1" dirty="0" smtClean="0">
                <a:solidFill>
                  <a:srgbClr val="C00000"/>
                </a:solidFill>
              </a:rPr>
              <a:t>对称闭包</a:t>
            </a:r>
            <a:r>
              <a:rPr lang="en-US" altLang="zh-CN" dirty="0" smtClean="0"/>
              <a:t>.</a:t>
            </a:r>
            <a:endParaRPr lang="zh-CN" altLang="en-US" dirty="0"/>
          </a:p>
        </p:txBody>
      </p:sp>
      <p:sp>
        <p:nvSpPr>
          <p:cNvPr id="4" name="日期占位符 3"/>
          <p:cNvSpPr>
            <a:spLocks noGrp="1"/>
          </p:cNvSpPr>
          <p:nvPr>
            <p:ph type="dt" sz="half" idx="10"/>
          </p:nvPr>
        </p:nvSpPr>
        <p:spPr/>
        <p:txBody>
          <a:bodyPr/>
          <a:lstStyle/>
          <a:p>
            <a:fld id="{148EF5FC-A68A-448D-B502-3F33F6123158}" type="datetime1">
              <a:rPr lang="zh-CN" altLang="en-US" smtClean="0"/>
              <a:t>2025/3/14</a:t>
            </a:fld>
            <a:endParaRPr lang="zh-CN" altLang="en-US" dirty="0"/>
          </a:p>
        </p:txBody>
      </p:sp>
      <p:sp>
        <p:nvSpPr>
          <p:cNvPr id="5" name="页脚占位符 4"/>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6" name="灯片编号占位符 5"/>
          <p:cNvSpPr>
            <a:spLocks noGrp="1"/>
          </p:cNvSpPr>
          <p:nvPr>
            <p:ph type="sldNum" sz="quarter" idx="12"/>
          </p:nvPr>
        </p:nvSpPr>
        <p:spPr/>
        <p:txBody>
          <a:bodyPr/>
          <a:lstStyle/>
          <a:p>
            <a:fld id="{67913A8A-9EFB-4B5F-9CCB-3D21173FAA85}" type="slidenum">
              <a:rPr lang="zh-CN" altLang="en-US" smtClean="0"/>
              <a:pPr/>
              <a:t>58</a:t>
            </a:fld>
            <a:endParaRPr lang="zh-CN" altLang="en-US" dirty="0"/>
          </a:p>
        </p:txBody>
      </p:sp>
    </p:spTree>
    <p:extLst>
      <p:ext uri="{BB962C8B-B14F-4D97-AF65-F5344CB8AC3E}">
        <p14:creationId xmlns:p14="http://schemas.microsoft.com/office/powerpoint/2010/main" val="40905579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wipe(down)">
                                      <p:cBhvr>
                                        <p:cTn id="7"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闭包</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zh-CN" altLang="en-US" dirty="0" smtClean="0"/>
                  <a:t>关系</a:t>
                </a:r>
                <a:r>
                  <a:rPr lang="en-US" altLang="zh-CN" dirty="0" smtClean="0"/>
                  <a:t>R</a:t>
                </a:r>
                <a:r>
                  <a:rPr lang="zh-CN" altLang="en-US" dirty="0" smtClean="0"/>
                  <a:t>的对称闭包</a:t>
                </a:r>
                <a:r>
                  <a:rPr lang="en-US" altLang="zh-CN" dirty="0" smtClean="0"/>
                  <a:t>, </a:t>
                </a:r>
                <a:r>
                  <a:rPr lang="zh-CN" altLang="en-US" dirty="0" smtClean="0"/>
                  <a:t>可以通过增加所有形如</a:t>
                </a:r>
                <a:r>
                  <a:rPr lang="en-US" altLang="zh-CN" dirty="0" smtClean="0"/>
                  <a:t>(</a:t>
                </a:r>
                <a:r>
                  <a:rPr lang="en-US" altLang="zh-CN" dirty="0" err="1" smtClean="0"/>
                  <a:t>b,a</a:t>
                </a:r>
                <a:r>
                  <a:rPr lang="en-US" altLang="zh-CN" dirty="0" smtClean="0"/>
                  <a:t>)</a:t>
                </a:r>
                <a:r>
                  <a:rPr lang="zh-CN" altLang="en-US" dirty="0" smtClean="0"/>
                  <a:t>的有序对</a:t>
                </a:r>
                <a:r>
                  <a:rPr lang="en-US" altLang="zh-CN" dirty="0" smtClean="0"/>
                  <a:t>, </a:t>
                </a:r>
                <a:r>
                  <a:rPr lang="zh-CN" altLang="en-US" dirty="0" smtClean="0"/>
                  <a:t>其中</a:t>
                </a:r>
                <a:r>
                  <a:rPr lang="en-US" altLang="zh-CN" dirty="0" smtClean="0"/>
                  <a:t>(</a:t>
                </a:r>
                <a:r>
                  <a:rPr lang="en-US" altLang="zh-CN" dirty="0" err="1" smtClean="0"/>
                  <a:t>a,b</a:t>
                </a:r>
                <a:r>
                  <a:rPr lang="zh-CN" altLang="en-US" dirty="0" smtClean="0"/>
                  <a:t>）在关系</a:t>
                </a:r>
                <a:r>
                  <a:rPr lang="en-US" altLang="zh-CN" dirty="0" smtClean="0"/>
                  <a:t>R</a:t>
                </a:r>
                <a:r>
                  <a:rPr lang="zh-CN" altLang="en-US" dirty="0" smtClean="0"/>
                  <a:t>中而</a:t>
                </a:r>
                <a:r>
                  <a:rPr lang="en-US" altLang="zh-CN" dirty="0" smtClean="0"/>
                  <a:t>(</a:t>
                </a:r>
                <a:r>
                  <a:rPr lang="en-US" altLang="zh-CN" dirty="0" err="1" smtClean="0"/>
                  <a:t>b,a</a:t>
                </a:r>
                <a:r>
                  <a:rPr lang="en-US" altLang="zh-CN" dirty="0" smtClean="0"/>
                  <a:t>)</a:t>
                </a:r>
                <a:r>
                  <a:rPr lang="zh-CN" altLang="en-US" dirty="0" smtClean="0"/>
                  <a:t>不在关系</a:t>
                </a:r>
                <a:r>
                  <a:rPr lang="en-US" altLang="zh-CN" dirty="0" smtClean="0"/>
                  <a:t>R</a:t>
                </a:r>
                <a:r>
                  <a:rPr lang="zh-CN" altLang="en-US" dirty="0" smtClean="0"/>
                  <a:t>中</a:t>
                </a:r>
                <a:r>
                  <a:rPr lang="en-US" altLang="zh-CN" dirty="0" smtClean="0"/>
                  <a:t>. </a:t>
                </a:r>
                <a:r>
                  <a:rPr lang="zh-CN" altLang="en-US" dirty="0" smtClean="0"/>
                  <a:t>新关系是关系</a:t>
                </a:r>
                <a:r>
                  <a:rPr lang="en-US" altLang="zh-CN" dirty="0" smtClean="0"/>
                  <a:t>R</a:t>
                </a:r>
                <a:r>
                  <a:rPr lang="zh-CN" altLang="en-US" dirty="0" smtClean="0"/>
                  <a:t>的对称闭包</a:t>
                </a:r>
                <a:r>
                  <a:rPr lang="en-US" altLang="zh-CN" dirty="0" smtClean="0"/>
                  <a:t>.</a:t>
                </a:r>
              </a:p>
              <a:p>
                <a:r>
                  <a:rPr lang="zh-CN" altLang="en-US" dirty="0" smtClean="0"/>
                  <a:t>关系</a:t>
                </a:r>
                <a:r>
                  <a:rPr lang="en-US" altLang="zh-CN" dirty="0" smtClean="0"/>
                  <a:t>R</a:t>
                </a:r>
                <a:r>
                  <a:rPr lang="zh-CN" altLang="en-US" dirty="0" smtClean="0"/>
                  <a:t>的对称闭包</a:t>
                </a:r>
                <a:r>
                  <a:rPr lang="en-US" altLang="zh-CN" dirty="0" smtClean="0"/>
                  <a:t>, </a:t>
                </a:r>
                <a:r>
                  <a:rPr lang="zh-CN" altLang="en-US" dirty="0" smtClean="0"/>
                  <a:t>可以通过求关系</a:t>
                </a:r>
                <a:r>
                  <a:rPr lang="en-US" altLang="zh-CN" dirty="0" smtClean="0"/>
                  <a:t>R</a:t>
                </a:r>
                <a:r>
                  <a:rPr lang="zh-CN" altLang="en-US" dirty="0" smtClean="0"/>
                  <a:t>与关系的逆的并来构造</a:t>
                </a:r>
                <a:r>
                  <a:rPr lang="en-US" altLang="zh-CN" dirty="0" smtClean="0"/>
                  <a:t>, </a:t>
                </a:r>
                <a:r>
                  <a:rPr lang="zh-CN" altLang="en-US" dirty="0" smtClean="0"/>
                  <a:t>即</a:t>
                </a:r>
                <a:r>
                  <a:rPr lang="en-US" altLang="zh-CN" dirty="0" smtClean="0"/>
                  <a:t>R</a:t>
                </a:r>
                <a14:m>
                  <m:oMath xmlns:m="http://schemas.openxmlformats.org/officeDocument/2006/math">
                    <m:r>
                      <a:rPr lang="en-US" altLang="zh-CN" i="1" smtClean="0">
                        <a:latin typeface="Cambria Math" panose="02040503050406030204" pitchFamily="18" charset="0"/>
                        <a:ea typeface="Cambria Math" panose="02040503050406030204" pitchFamily="18" charset="0"/>
                      </a:rPr>
                      <m:t>∪</m:t>
                    </m:r>
                    <m:sSup>
                      <m:sSupPr>
                        <m:ctrlPr>
                          <a:rPr lang="en-US" altLang="zh-CN" i="1" smtClean="0">
                            <a:latin typeface="Cambria Math" panose="02040503050406030204" pitchFamily="18" charset="0"/>
                            <a:ea typeface="Cambria Math" panose="02040503050406030204" pitchFamily="18" charset="0"/>
                          </a:rPr>
                        </m:ctrlPr>
                      </m:sSupPr>
                      <m:e>
                        <m:r>
                          <a:rPr lang="en-US" altLang="zh-CN" b="0" i="1" smtClean="0">
                            <a:latin typeface="Cambria Math" panose="02040503050406030204" pitchFamily="18" charset="0"/>
                            <a:ea typeface="Cambria Math" panose="02040503050406030204" pitchFamily="18" charset="0"/>
                          </a:rPr>
                          <m:t>𝑅</m:t>
                        </m:r>
                      </m:e>
                      <m:sup>
                        <m:r>
                          <a:rPr lang="en-US" altLang="zh-CN" b="0" i="1" smtClean="0">
                            <a:latin typeface="Cambria Math" panose="02040503050406030204" pitchFamily="18" charset="0"/>
                            <a:ea typeface="Cambria Math" panose="02040503050406030204" pitchFamily="18" charset="0"/>
                          </a:rPr>
                          <m:t>−1</m:t>
                        </m:r>
                      </m:sup>
                    </m:sSup>
                  </m:oMath>
                </a14:m>
                <a:r>
                  <a:rPr lang="zh-CN" altLang="en-US" dirty="0" smtClean="0"/>
                  <a:t>是关系</a:t>
                </a:r>
                <a:r>
                  <a:rPr lang="en-US" altLang="zh-CN" dirty="0" smtClean="0"/>
                  <a:t>R</a:t>
                </a:r>
                <a:r>
                  <a:rPr lang="zh-CN" altLang="en-US" dirty="0" smtClean="0"/>
                  <a:t>的对称闭包</a:t>
                </a:r>
                <a:r>
                  <a:rPr lang="en-US" altLang="zh-CN" dirty="0" smtClean="0"/>
                  <a:t>, </a:t>
                </a:r>
                <a:r>
                  <a:rPr lang="zh-CN" altLang="en-US" dirty="0" smtClean="0"/>
                  <a:t>其中</a:t>
                </a:r>
                <a14:m>
                  <m:oMath xmlns:m="http://schemas.openxmlformats.org/officeDocument/2006/math">
                    <m:sSup>
                      <m:sSupPr>
                        <m:ctrlPr>
                          <a:rPr lang="en-US" altLang="zh-CN" i="1">
                            <a:latin typeface="Cambria Math" panose="02040503050406030204" pitchFamily="18" charset="0"/>
                            <a:ea typeface="Cambria Math" panose="02040503050406030204" pitchFamily="18" charset="0"/>
                          </a:rPr>
                        </m:ctrlPr>
                      </m:sSupPr>
                      <m:e>
                        <m:r>
                          <a:rPr lang="en-US" altLang="zh-CN" i="1">
                            <a:latin typeface="Cambria Math" panose="02040503050406030204" pitchFamily="18" charset="0"/>
                            <a:ea typeface="Cambria Math" panose="02040503050406030204" pitchFamily="18" charset="0"/>
                          </a:rPr>
                          <m:t>𝑅</m:t>
                        </m:r>
                      </m:e>
                      <m:sup>
                        <m:r>
                          <a:rPr lang="en-US" altLang="zh-CN" i="1">
                            <a:latin typeface="Cambria Math" panose="02040503050406030204" pitchFamily="18" charset="0"/>
                            <a:ea typeface="Cambria Math" panose="02040503050406030204" pitchFamily="18" charset="0"/>
                          </a:rPr>
                          <m:t>−1</m:t>
                        </m:r>
                      </m:sup>
                    </m:sSup>
                  </m:oMath>
                </a14:m>
                <a:r>
                  <a:rPr lang="en-US" altLang="zh-CN" dirty="0" smtClean="0"/>
                  <a:t>={(</a:t>
                </a:r>
                <a:r>
                  <a:rPr lang="en-US" altLang="zh-CN" dirty="0" err="1" smtClean="0"/>
                  <a:t>b,a</a:t>
                </a:r>
                <a:r>
                  <a:rPr lang="en-US" altLang="zh-CN" dirty="0" smtClean="0"/>
                  <a:t>)|(</a:t>
                </a:r>
                <a:r>
                  <a:rPr lang="en-US" altLang="zh-CN" dirty="0" err="1" smtClean="0"/>
                  <a:t>a,b</a:t>
                </a:r>
                <a:r>
                  <a:rPr lang="en-US" altLang="zh-CN" dirty="0" smtClean="0"/>
                  <a:t>)</a:t>
                </a:r>
                <a14:m>
                  <m:oMath xmlns:m="http://schemas.openxmlformats.org/officeDocument/2006/math">
                    <m:r>
                      <a:rPr lang="en-US" altLang="zh-CN"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𝑅</m:t>
                    </m:r>
                  </m:oMath>
                </a14:m>
                <a:r>
                  <a:rPr lang="en-US" altLang="zh-CN" dirty="0" smtClean="0"/>
                  <a:t>}</a:t>
                </a:r>
                <a:r>
                  <a:rPr lang="en-US" altLang="zh-CN" dirty="0"/>
                  <a:t>.</a:t>
                </a:r>
                <a:endParaRPr lang="en-US" altLang="zh-CN" dirty="0" smtClean="0"/>
              </a:p>
              <a:p>
                <a:endParaRPr lang="en-US" altLang="zh-CN"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l="-999" t="-1310" r="-1498"/>
                </a:stretch>
              </a:blipFill>
            </p:spPr>
            <p:txBody>
              <a:bodyPr/>
              <a:lstStyle/>
              <a:p>
                <a:r>
                  <a:rPr lang="zh-CN" altLang="en-US">
                    <a:noFill/>
                  </a:rPr>
                  <a:t> </a:t>
                </a:r>
              </a:p>
            </p:txBody>
          </p:sp>
        </mc:Fallback>
      </mc:AlternateContent>
      <p:sp>
        <p:nvSpPr>
          <p:cNvPr id="4" name="日期占位符 3"/>
          <p:cNvSpPr>
            <a:spLocks noGrp="1"/>
          </p:cNvSpPr>
          <p:nvPr>
            <p:ph type="dt" sz="half" idx="10"/>
          </p:nvPr>
        </p:nvSpPr>
        <p:spPr/>
        <p:txBody>
          <a:bodyPr/>
          <a:lstStyle/>
          <a:p>
            <a:fld id="{3722E827-D9AD-4F12-96DF-FF914C909970}" type="datetime1">
              <a:rPr lang="zh-CN" altLang="en-US" smtClean="0"/>
              <a:t>2025/3/14</a:t>
            </a:fld>
            <a:endParaRPr lang="zh-CN" altLang="en-US" dirty="0"/>
          </a:p>
        </p:txBody>
      </p:sp>
      <p:sp>
        <p:nvSpPr>
          <p:cNvPr id="5" name="页脚占位符 4"/>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6" name="灯片编号占位符 5"/>
          <p:cNvSpPr>
            <a:spLocks noGrp="1"/>
          </p:cNvSpPr>
          <p:nvPr>
            <p:ph type="sldNum" sz="quarter" idx="12"/>
          </p:nvPr>
        </p:nvSpPr>
        <p:spPr/>
        <p:txBody>
          <a:bodyPr/>
          <a:lstStyle/>
          <a:p>
            <a:fld id="{67913A8A-9EFB-4B5F-9CCB-3D21173FAA85}" type="slidenum">
              <a:rPr lang="zh-CN" altLang="en-US" smtClean="0"/>
              <a:pPr/>
              <a:t>59</a:t>
            </a:fld>
            <a:endParaRPr lang="zh-CN" altLang="en-US" dirty="0"/>
          </a:p>
        </p:txBody>
      </p:sp>
    </p:spTree>
    <p:extLst>
      <p:ext uri="{BB962C8B-B14F-4D97-AF65-F5344CB8AC3E}">
        <p14:creationId xmlns:p14="http://schemas.microsoft.com/office/powerpoint/2010/main" val="830350673"/>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闭包</a:t>
            </a:r>
          </a:p>
        </p:txBody>
      </p:sp>
      <p:sp>
        <p:nvSpPr>
          <p:cNvPr id="3" name="内容占位符 2"/>
          <p:cNvSpPr>
            <a:spLocks noGrp="1"/>
          </p:cNvSpPr>
          <p:nvPr>
            <p:ph idx="1"/>
          </p:nvPr>
        </p:nvSpPr>
        <p:spPr/>
        <p:txBody>
          <a:bodyPr>
            <a:normAutofit lnSpcReduction="10000"/>
          </a:bodyPr>
          <a:lstStyle/>
          <a:p>
            <a:r>
              <a:rPr lang="zh-CN" altLang="en-US" dirty="0" smtClean="0"/>
              <a:t>那传递闭包呢？</a:t>
            </a:r>
            <a:endParaRPr lang="en-US" altLang="zh-CN" dirty="0" smtClean="0"/>
          </a:p>
          <a:p>
            <a:r>
              <a:rPr lang="zh-CN" altLang="en-US" dirty="0" smtClean="0"/>
              <a:t>例</a:t>
            </a:r>
            <a:r>
              <a:rPr lang="en-US" altLang="zh-CN" dirty="0" smtClean="0"/>
              <a:t>:</a:t>
            </a:r>
            <a:r>
              <a:rPr lang="zh-CN" altLang="en-US" dirty="0"/>
              <a:t>集合</a:t>
            </a:r>
            <a:r>
              <a:rPr lang="en-US" altLang="zh-CN" dirty="0"/>
              <a:t>A={1,2,3,4}</a:t>
            </a:r>
            <a:r>
              <a:rPr lang="zh-CN" altLang="en-US" dirty="0"/>
              <a:t>上的关系</a:t>
            </a:r>
            <a:r>
              <a:rPr lang="en-US" altLang="zh-CN" dirty="0"/>
              <a:t>R={(</a:t>
            </a:r>
            <a:r>
              <a:rPr lang="en-US" altLang="zh-CN" dirty="0" smtClean="0"/>
              <a:t>1,3), </a:t>
            </a:r>
            <a:r>
              <a:rPr lang="en-US" altLang="zh-CN" dirty="0"/>
              <a:t>(</a:t>
            </a:r>
            <a:r>
              <a:rPr lang="en-US" altLang="zh-CN" dirty="0" smtClean="0"/>
              <a:t>1,4), </a:t>
            </a:r>
            <a:r>
              <a:rPr lang="en-US" altLang="zh-CN" dirty="0"/>
              <a:t>(2,1), (3,2)}</a:t>
            </a:r>
            <a:r>
              <a:rPr lang="zh-CN" altLang="en-US" dirty="0" smtClean="0"/>
              <a:t>不是传递的</a:t>
            </a:r>
            <a:r>
              <a:rPr lang="en-US" altLang="zh-CN" dirty="0"/>
              <a:t>. </a:t>
            </a:r>
            <a:r>
              <a:rPr lang="zh-CN" altLang="en-US" dirty="0"/>
              <a:t>求包含关系</a:t>
            </a:r>
            <a:r>
              <a:rPr lang="en-US" altLang="zh-CN" dirty="0"/>
              <a:t>R</a:t>
            </a:r>
            <a:r>
              <a:rPr lang="zh-CN" altLang="en-US" dirty="0"/>
              <a:t>的尽可能小</a:t>
            </a:r>
            <a:r>
              <a:rPr lang="zh-CN" altLang="en-US" dirty="0" smtClean="0"/>
              <a:t>的传递关系</a:t>
            </a:r>
            <a:r>
              <a:rPr lang="en-US" altLang="zh-CN" dirty="0"/>
              <a:t>.</a:t>
            </a:r>
            <a:endParaRPr lang="en-US" altLang="zh-CN" dirty="0" smtClean="0"/>
          </a:p>
          <a:p>
            <a:r>
              <a:rPr lang="zh-CN" altLang="en-US" dirty="0" smtClean="0"/>
              <a:t>思考</a:t>
            </a:r>
            <a:r>
              <a:rPr lang="en-US" altLang="zh-CN" dirty="0" smtClean="0"/>
              <a:t>:</a:t>
            </a:r>
            <a:r>
              <a:rPr lang="zh-CN" altLang="en-US" dirty="0" smtClean="0"/>
              <a:t>类似前面的做法</a:t>
            </a:r>
            <a:r>
              <a:rPr lang="en-US" altLang="zh-CN" dirty="0" smtClean="0"/>
              <a:t>, </a:t>
            </a:r>
            <a:r>
              <a:rPr lang="zh-CN" altLang="en-US" dirty="0" smtClean="0"/>
              <a:t>通过考虑已经在关系中的</a:t>
            </a:r>
            <a:r>
              <a:rPr lang="en-US" altLang="zh-CN" dirty="0" smtClean="0"/>
              <a:t>(</a:t>
            </a:r>
            <a:r>
              <a:rPr lang="en-US" altLang="zh-CN" dirty="0" err="1" smtClean="0"/>
              <a:t>a,b</a:t>
            </a:r>
            <a:r>
              <a:rPr lang="en-US" altLang="zh-CN" dirty="0" smtClean="0"/>
              <a:t>),(</a:t>
            </a:r>
            <a:r>
              <a:rPr lang="en-US" altLang="zh-CN" dirty="0" err="1" smtClean="0"/>
              <a:t>b,c</a:t>
            </a:r>
            <a:r>
              <a:rPr lang="en-US" altLang="zh-CN" dirty="0" smtClean="0"/>
              <a:t>)</a:t>
            </a:r>
            <a:r>
              <a:rPr lang="zh-CN" altLang="en-US" dirty="0" smtClean="0"/>
              <a:t>，来增加形如</a:t>
            </a:r>
            <a:r>
              <a:rPr lang="en-US" altLang="zh-CN" dirty="0" smtClean="0"/>
              <a:t>(</a:t>
            </a:r>
            <a:r>
              <a:rPr lang="en-US" altLang="zh-CN" dirty="0" err="1" smtClean="0"/>
              <a:t>a,c</a:t>
            </a:r>
            <a:r>
              <a:rPr lang="en-US" altLang="zh-CN" dirty="0" smtClean="0"/>
              <a:t>)</a:t>
            </a:r>
            <a:r>
              <a:rPr lang="zh-CN" altLang="en-US" dirty="0" smtClean="0"/>
              <a:t>的有序对</a:t>
            </a:r>
            <a:r>
              <a:rPr lang="en-US" altLang="zh-CN" dirty="0" smtClean="0"/>
              <a:t>. </a:t>
            </a:r>
            <a:r>
              <a:rPr lang="zh-CN" altLang="en-US" dirty="0" smtClean="0"/>
              <a:t>因此</a:t>
            </a:r>
            <a:r>
              <a:rPr lang="en-US" altLang="zh-CN" dirty="0" smtClean="0"/>
              <a:t>, </a:t>
            </a:r>
            <a:r>
              <a:rPr lang="zh-CN" altLang="en-US" dirty="0" smtClean="0"/>
              <a:t>添加有序对</a:t>
            </a:r>
            <a:r>
              <a:rPr lang="en-US" altLang="zh-CN" dirty="0" smtClean="0"/>
              <a:t>(1,2),(2,3),(2,4),(3,1)</a:t>
            </a:r>
            <a:r>
              <a:rPr lang="zh-CN" altLang="en-US" dirty="0" smtClean="0"/>
              <a:t>到新关系中</a:t>
            </a:r>
            <a:r>
              <a:rPr lang="en-US" altLang="zh-CN" dirty="0" smtClean="0"/>
              <a:t>S={(</a:t>
            </a:r>
            <a:r>
              <a:rPr lang="en-US" altLang="zh-CN" dirty="0"/>
              <a:t>1,3), (1,4), (2,1), (3,2</a:t>
            </a:r>
            <a:r>
              <a:rPr lang="en-US" altLang="zh-CN" dirty="0" smtClean="0"/>
              <a:t>),</a:t>
            </a:r>
            <a:r>
              <a:rPr lang="en-US" altLang="zh-CN" dirty="0"/>
              <a:t> (1,2),(2,3),(2,4),(3,1)</a:t>
            </a:r>
            <a:r>
              <a:rPr lang="en-US" altLang="zh-CN" dirty="0" smtClean="0"/>
              <a:t>}. </a:t>
            </a:r>
            <a:r>
              <a:rPr lang="zh-CN" altLang="en-US" dirty="0" smtClean="0"/>
              <a:t>然而该新关系不是传递关系</a:t>
            </a:r>
            <a:r>
              <a:rPr lang="en-US" altLang="zh-CN" dirty="0" smtClean="0"/>
              <a:t>. </a:t>
            </a:r>
            <a:r>
              <a:rPr lang="zh-CN" altLang="en-US" dirty="0" smtClean="0"/>
              <a:t>因为该新关系</a:t>
            </a:r>
            <a:r>
              <a:rPr lang="en-US" altLang="zh-CN" dirty="0" smtClean="0"/>
              <a:t>S</a:t>
            </a:r>
            <a:r>
              <a:rPr lang="zh-CN" altLang="en-US" dirty="0" smtClean="0"/>
              <a:t>中有</a:t>
            </a:r>
            <a:r>
              <a:rPr lang="en-US" altLang="zh-CN" dirty="0" smtClean="0"/>
              <a:t>(3,1),(1,4), </a:t>
            </a:r>
            <a:r>
              <a:rPr lang="zh-CN" altLang="en-US" dirty="0" smtClean="0"/>
              <a:t>但是却不包含</a:t>
            </a:r>
            <a:r>
              <a:rPr lang="en-US" altLang="zh-CN" dirty="0" smtClean="0"/>
              <a:t>(3,4). </a:t>
            </a:r>
            <a:r>
              <a:rPr lang="zh-CN" altLang="en-US" dirty="0" smtClean="0"/>
              <a:t>所以传递关系的构造更为复杂</a:t>
            </a:r>
            <a:r>
              <a:rPr lang="en-US" altLang="zh-CN" dirty="0" smtClean="0"/>
              <a:t>, </a:t>
            </a:r>
            <a:r>
              <a:rPr lang="zh-CN" altLang="en-US" dirty="0" smtClean="0"/>
              <a:t>无法如此简单的添加得到</a:t>
            </a:r>
            <a:r>
              <a:rPr lang="en-US" altLang="zh-CN" dirty="0" smtClean="0"/>
              <a:t>.</a:t>
            </a:r>
          </a:p>
          <a:p>
            <a:endParaRPr lang="en-US" altLang="zh-CN" dirty="0"/>
          </a:p>
          <a:p>
            <a:r>
              <a:rPr lang="zh-CN" altLang="en-US" dirty="0" smtClean="0"/>
              <a:t>使用有向图表示关系有助于构造关系的传递闭包</a:t>
            </a:r>
            <a:r>
              <a:rPr lang="en-US" altLang="zh-CN" dirty="0" smtClean="0"/>
              <a:t>, </a:t>
            </a:r>
            <a:r>
              <a:rPr lang="zh-CN" altLang="en-US" dirty="0" smtClean="0"/>
              <a:t>为此先学习一些基础相关知识</a:t>
            </a:r>
            <a:r>
              <a:rPr lang="en-US" altLang="zh-CN" dirty="0" smtClean="0"/>
              <a:t>.</a:t>
            </a:r>
            <a:endParaRPr lang="en-US" altLang="zh-CN" dirty="0"/>
          </a:p>
        </p:txBody>
      </p:sp>
      <p:sp>
        <p:nvSpPr>
          <p:cNvPr id="4" name="日期占位符 3"/>
          <p:cNvSpPr>
            <a:spLocks noGrp="1"/>
          </p:cNvSpPr>
          <p:nvPr>
            <p:ph type="dt" sz="half" idx="10"/>
          </p:nvPr>
        </p:nvSpPr>
        <p:spPr/>
        <p:txBody>
          <a:bodyPr/>
          <a:lstStyle/>
          <a:p>
            <a:fld id="{16473903-1B73-4441-938B-087ACB4D7DFB}" type="datetime1">
              <a:rPr lang="zh-CN" altLang="en-US" smtClean="0"/>
              <a:t>2025/3/14</a:t>
            </a:fld>
            <a:endParaRPr lang="zh-CN" altLang="en-US" dirty="0"/>
          </a:p>
        </p:txBody>
      </p:sp>
      <p:sp>
        <p:nvSpPr>
          <p:cNvPr id="5" name="页脚占位符 4"/>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6" name="灯片编号占位符 5"/>
          <p:cNvSpPr>
            <a:spLocks noGrp="1"/>
          </p:cNvSpPr>
          <p:nvPr>
            <p:ph type="sldNum" sz="quarter" idx="12"/>
          </p:nvPr>
        </p:nvSpPr>
        <p:spPr/>
        <p:txBody>
          <a:bodyPr/>
          <a:lstStyle/>
          <a:p>
            <a:fld id="{67913A8A-9EFB-4B5F-9CCB-3D21173FAA85}" type="slidenum">
              <a:rPr lang="zh-CN" altLang="en-US" smtClean="0"/>
              <a:pPr/>
              <a:t>60</a:t>
            </a:fld>
            <a:endParaRPr lang="zh-CN" altLang="en-US" dirty="0"/>
          </a:p>
        </p:txBody>
      </p:sp>
    </p:spTree>
    <p:extLst>
      <p:ext uri="{BB962C8B-B14F-4D97-AF65-F5344CB8AC3E}">
        <p14:creationId xmlns:p14="http://schemas.microsoft.com/office/powerpoint/2010/main" val="10723985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wipe(down)">
                                      <p:cBhvr>
                                        <p:cTn id="7" dur="500"/>
                                        <p:tgtEl>
                                          <p:spTgt spid="3">
                                            <p:txEl>
                                              <p:pRg st="2" end="2"/>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3">
                                            <p:txEl>
                                              <p:pRg st="4" end="4"/>
                                            </p:txEl>
                                          </p:spTgt>
                                        </p:tgtEl>
                                        <p:attrNameLst>
                                          <p:attrName>style.visibility</p:attrName>
                                        </p:attrNameLst>
                                      </p:cBhvr>
                                      <p:to>
                                        <p:strVal val="visible"/>
                                      </p:to>
                                    </p:set>
                                    <p:animEffect transition="in" filter="wipe(down)">
                                      <p:cBhvr>
                                        <p:cTn id="10"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矩形 16"/>
          <p:cNvSpPr/>
          <p:nvPr/>
        </p:nvSpPr>
        <p:spPr>
          <a:xfrm>
            <a:off x="457200" y="1143000"/>
            <a:ext cx="11277599" cy="1752600"/>
          </a:xfrm>
          <a:prstGeom prst="rect">
            <a:avLst/>
          </a:prstGeom>
          <a:solidFill>
            <a:schemeClr val="accent5">
              <a:lumMod val="40000"/>
              <a:lumOff val="6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zh-CN" altLang="en-US" dirty="0"/>
              <a:t>闭包</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zh-CN" altLang="en-US" dirty="0" smtClean="0"/>
                  <a:t>定义</a:t>
                </a:r>
                <a:r>
                  <a:rPr lang="en-US" altLang="zh-CN" dirty="0" smtClean="0"/>
                  <a:t>: </a:t>
                </a:r>
                <a:r>
                  <a:rPr lang="zh-CN" altLang="en-US" dirty="0" smtClean="0"/>
                  <a:t>在有向图</a:t>
                </a:r>
                <a:r>
                  <a:rPr lang="en-US" altLang="zh-CN" dirty="0" smtClean="0"/>
                  <a:t>G</a:t>
                </a:r>
                <a:r>
                  <a:rPr lang="zh-CN" altLang="en-US" dirty="0" smtClean="0"/>
                  <a:t>中</a:t>
                </a:r>
                <a:r>
                  <a:rPr lang="en-US" altLang="zh-CN" dirty="0" smtClean="0"/>
                  <a:t>, </a:t>
                </a:r>
                <a:r>
                  <a:rPr lang="zh-CN" altLang="en-US" dirty="0" smtClean="0"/>
                  <a:t>从</a:t>
                </a:r>
                <a:r>
                  <a:rPr lang="en-US" altLang="zh-CN" dirty="0" smtClean="0"/>
                  <a:t>a</a:t>
                </a:r>
                <a:r>
                  <a:rPr lang="zh-CN" altLang="en-US" dirty="0" smtClean="0"/>
                  <a:t>到</a:t>
                </a:r>
                <a:r>
                  <a:rPr lang="en-US" altLang="zh-CN" dirty="0" smtClean="0"/>
                  <a:t>b</a:t>
                </a:r>
                <a:r>
                  <a:rPr lang="zh-CN" altLang="en-US" dirty="0" smtClean="0"/>
                  <a:t>的一条</a:t>
                </a:r>
                <a:r>
                  <a:rPr lang="zh-CN" altLang="en-US" b="1" dirty="0" smtClean="0">
                    <a:solidFill>
                      <a:srgbClr val="C00000"/>
                    </a:solidFill>
                  </a:rPr>
                  <a:t>路径</a:t>
                </a:r>
                <a:r>
                  <a:rPr lang="zh-CN" altLang="en-US" dirty="0" smtClean="0"/>
                  <a:t>是图</a:t>
                </a:r>
                <a:r>
                  <a:rPr lang="en-US" altLang="zh-CN" dirty="0" smtClean="0"/>
                  <a:t>G</a:t>
                </a:r>
                <a:r>
                  <a:rPr lang="zh-CN" altLang="en-US" dirty="0" smtClean="0"/>
                  <a:t>中一条或多条边的序列</a:t>
                </a:r>
                <a:r>
                  <a:rPr lang="en-US" altLang="zh-CN" dirty="0" smtClean="0"/>
                  <a:t>(</a:t>
                </a:r>
                <a14:m>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0</m:t>
                        </m:r>
                      </m:sub>
                    </m:sSub>
                    <m:r>
                      <a:rPr lang="en-US" altLang="zh-CN" b="0" i="1" smtClean="0">
                        <a:latin typeface="Cambria Math" panose="02040503050406030204" pitchFamily="18" charset="0"/>
                      </a:rPr>
                      <m:t>,</m:t>
                    </m:r>
                  </m:oMath>
                </a14:m>
                <a:r>
                  <a:rPr lang="en-US" altLang="zh-CN" dirty="0"/>
                  <a:t>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oMath>
                </a14:m>
                <a:r>
                  <a:rPr lang="en-US" altLang="zh-CN" dirty="0" smtClean="0"/>
                  <a:t>, </a:t>
                </a:r>
                <a:r>
                  <a:rPr lang="en-US" altLang="zh-CN" dirty="0"/>
                  <a:t>(</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b="0" i="1" smtClean="0">
                            <a:latin typeface="Cambria Math" panose="02040503050406030204" pitchFamily="18" charset="0"/>
                          </a:rPr>
                          <m:t>1</m:t>
                        </m:r>
                      </m:sub>
                    </m:sSub>
                    <m:r>
                      <a:rPr lang="en-US" altLang="zh-CN" i="1">
                        <a:latin typeface="Cambria Math" panose="02040503050406030204" pitchFamily="18" charset="0"/>
                      </a:rPr>
                      <m:t>,</m:t>
                    </m:r>
                  </m:oMath>
                </a14:m>
                <a:r>
                  <a:rPr lang="en-US" altLang="zh-CN" dirty="0"/>
                  <a:t>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b="0" i="1" smtClean="0">
                            <a:latin typeface="Cambria Math" panose="02040503050406030204" pitchFamily="18" charset="0"/>
                          </a:rPr>
                          <m:t>2</m:t>
                        </m:r>
                      </m:sub>
                    </m:sSub>
                    <m:r>
                      <a:rPr lang="en-US" altLang="zh-CN" i="1">
                        <a:latin typeface="Cambria Math" panose="02040503050406030204" pitchFamily="18" charset="0"/>
                      </a:rPr>
                      <m:t>)</m:t>
                    </m:r>
                  </m:oMath>
                </a14:m>
                <a:r>
                  <a:rPr lang="en-US" altLang="zh-CN" dirty="0"/>
                  <a:t>,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b="0" i="1" smtClean="0">
                            <a:latin typeface="Cambria Math" panose="02040503050406030204" pitchFamily="18" charset="0"/>
                          </a:rPr>
                          <m:t>2</m:t>
                        </m:r>
                      </m:sub>
                    </m:sSub>
                    <m:r>
                      <a:rPr lang="en-US" altLang="zh-CN" i="1">
                        <a:latin typeface="Cambria Math" panose="02040503050406030204" pitchFamily="18" charset="0"/>
                      </a:rPr>
                      <m:t>,</m:t>
                    </m:r>
                  </m:oMath>
                </a14:m>
                <a:r>
                  <a:rPr lang="en-US" altLang="zh-CN" dirty="0"/>
                  <a:t> </a:t>
                </a:r>
                <a14:m>
                  <m:oMath xmlns:m="http://schemas.openxmlformats.org/officeDocument/2006/math">
                    <m:sSub>
                      <m:sSubPr>
                        <m:ctrlPr>
                          <a:rPr lang="en-US" altLang="zh-CN" i="1" smtClean="0">
                            <a:latin typeface="Cambria Math" panose="02040503050406030204" pitchFamily="18" charset="0"/>
                          </a:rPr>
                        </m:ctrlPr>
                      </m:sSubPr>
                      <m:e>
                        <m:r>
                          <a:rPr lang="en-US" altLang="zh-CN" i="1">
                            <a:latin typeface="Cambria Math" panose="02040503050406030204" pitchFamily="18" charset="0"/>
                          </a:rPr>
                          <m:t>𝑥</m:t>
                        </m:r>
                      </m:e>
                      <m:sub>
                        <m:r>
                          <a:rPr lang="en-US" altLang="zh-CN" b="0" i="1" smtClean="0">
                            <a:latin typeface="Cambria Math" panose="02040503050406030204" pitchFamily="18" charset="0"/>
                          </a:rPr>
                          <m:t>3</m:t>
                        </m:r>
                      </m:sub>
                    </m:sSub>
                    <m:r>
                      <a:rPr lang="en-US" altLang="zh-CN" i="1">
                        <a:latin typeface="Cambria Math" panose="02040503050406030204" pitchFamily="18" charset="0"/>
                      </a:rPr>
                      <m:t>)</m:t>
                    </m:r>
                  </m:oMath>
                </a14:m>
                <a:r>
                  <a:rPr lang="en-US" altLang="zh-CN" dirty="0"/>
                  <a:t>, </a:t>
                </a:r>
                <a:r>
                  <a:rPr lang="en-US" altLang="zh-CN" dirty="0" smtClean="0"/>
                  <a:t>…,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b="0" i="1" smtClean="0">
                            <a:latin typeface="Cambria Math" panose="02040503050406030204" pitchFamily="18" charset="0"/>
                          </a:rPr>
                          <m:t>𝑛</m:t>
                        </m:r>
                        <m:r>
                          <a:rPr lang="en-US" altLang="zh-CN" b="0" i="1" smtClean="0">
                            <a:latin typeface="Cambria Math" panose="02040503050406030204" pitchFamily="18" charset="0"/>
                          </a:rPr>
                          <m:t>−1</m:t>
                        </m:r>
                      </m:sub>
                    </m:sSub>
                    <m:r>
                      <a:rPr lang="en-US" altLang="zh-CN" i="1">
                        <a:latin typeface="Cambria Math" panose="02040503050406030204" pitchFamily="18" charset="0"/>
                      </a:rPr>
                      <m:t>,</m:t>
                    </m:r>
                  </m:oMath>
                </a14:m>
                <a:r>
                  <a:rPr lang="en-US" altLang="zh-CN" dirty="0"/>
                  <a:t>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b="0" i="1" smtClean="0">
                            <a:latin typeface="Cambria Math" panose="02040503050406030204" pitchFamily="18" charset="0"/>
                          </a:rPr>
                          <m:t>𝑛</m:t>
                        </m:r>
                      </m:sub>
                    </m:sSub>
                    <m:r>
                      <a:rPr lang="en-US" altLang="zh-CN" i="1">
                        <a:latin typeface="Cambria Math" panose="02040503050406030204" pitchFamily="18" charset="0"/>
                      </a:rPr>
                      <m:t>)</m:t>
                    </m:r>
                  </m:oMath>
                </a14:m>
                <a:r>
                  <a:rPr lang="en-US" altLang="zh-CN" dirty="0"/>
                  <a:t>, </a:t>
                </a:r>
                <a:r>
                  <a:rPr lang="zh-CN" altLang="en-US" dirty="0" smtClean="0"/>
                  <a:t>其中</a:t>
                </a:r>
                <a14:m>
                  <m:oMath xmlns:m="http://schemas.openxmlformats.org/officeDocument/2006/math">
                    <m:r>
                      <a:rPr lang="en-US" altLang="zh-CN" i="1">
                        <a:latin typeface="Cambria Math" panose="02040503050406030204" pitchFamily="18" charset="0"/>
                      </a:rPr>
                      <m:t>𝑛</m:t>
                    </m:r>
                  </m:oMath>
                </a14:m>
                <a:r>
                  <a:rPr lang="zh-CN" altLang="en-US" dirty="0" smtClean="0"/>
                  <a:t>是一个非负整数</a:t>
                </a:r>
                <a:r>
                  <a:rPr lang="en-US" altLang="zh-CN" dirty="0" smtClean="0"/>
                  <a:t>,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i="1">
                            <a:latin typeface="Cambria Math" panose="02040503050406030204" pitchFamily="18" charset="0"/>
                          </a:rPr>
                          <m:t>0</m:t>
                        </m:r>
                      </m:sub>
                    </m:sSub>
                  </m:oMath>
                </a14:m>
                <a:r>
                  <a:rPr lang="en-US" altLang="zh-CN" dirty="0" smtClean="0"/>
                  <a:t>=a,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i="1">
                            <a:latin typeface="Cambria Math" panose="02040503050406030204" pitchFamily="18" charset="0"/>
                          </a:rPr>
                          <m:t>𝑛</m:t>
                        </m:r>
                      </m:sub>
                    </m:sSub>
                  </m:oMath>
                </a14:m>
                <a:r>
                  <a:rPr lang="en-US" altLang="zh-CN" dirty="0" smtClean="0"/>
                  <a:t>=b. </a:t>
                </a:r>
                <a:r>
                  <a:rPr lang="zh-CN" altLang="en-US" dirty="0" smtClean="0"/>
                  <a:t>即一个边的序列</a:t>
                </a:r>
                <a:r>
                  <a:rPr lang="en-US" altLang="zh-CN" dirty="0" smtClean="0"/>
                  <a:t>, </a:t>
                </a:r>
                <a:r>
                  <a:rPr lang="zh-CN" altLang="en-US" dirty="0" smtClean="0"/>
                  <a:t>其中一条边的终点和路径中下一条边的始点相同</a:t>
                </a:r>
                <a:r>
                  <a:rPr lang="en-US" altLang="zh-CN" dirty="0" smtClean="0"/>
                  <a:t>. </a:t>
                </a:r>
                <a:r>
                  <a:rPr lang="zh-CN" altLang="en-US" dirty="0" smtClean="0"/>
                  <a:t>这条路径记为</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i="1">
                            <a:latin typeface="Cambria Math" panose="02040503050406030204" pitchFamily="18" charset="0"/>
                          </a:rPr>
                          <m:t>0</m:t>
                        </m:r>
                      </m:sub>
                    </m:sSub>
                  </m:oMath>
                </a14:m>
                <a:r>
                  <a:rPr lang="en-US" altLang="zh-CN" dirty="0" smtClean="0"/>
                  <a:t>,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i="1">
                            <a:latin typeface="Cambria Math" panose="02040503050406030204" pitchFamily="18" charset="0"/>
                          </a:rPr>
                          <m:t>1</m:t>
                        </m:r>
                      </m:sub>
                    </m:sSub>
                    <m:r>
                      <a:rPr lang="en-US" altLang="zh-CN" b="0" i="1" smtClean="0">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i="1">
                            <a:latin typeface="Cambria Math" panose="02040503050406030204" pitchFamily="18" charset="0"/>
                          </a:rPr>
                          <m:t>2</m:t>
                        </m:r>
                      </m:sub>
                    </m:sSub>
                    <m:r>
                      <a:rPr lang="en-US" altLang="zh-CN" i="1">
                        <a:latin typeface="Cambria Math" panose="02040503050406030204" pitchFamily="18" charset="0"/>
                      </a:rPr>
                      <m:t>,</m:t>
                    </m:r>
                    <m:r>
                      <a:rPr lang="en-US" altLang="zh-CN" b="0" i="1" smtClean="0">
                        <a:latin typeface="Cambria Math" panose="02040503050406030204" pitchFamily="18" charset="0"/>
                      </a:rPr>
                      <m:t>…,</m:t>
                    </m:r>
                  </m:oMath>
                </a14:m>
                <a:r>
                  <a:rPr lang="en-US" altLang="zh-CN" dirty="0"/>
                  <a:t>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i="1">
                            <a:latin typeface="Cambria Math" panose="02040503050406030204" pitchFamily="18" charset="0"/>
                          </a:rPr>
                          <m:t>𝑛</m:t>
                        </m:r>
                        <m:r>
                          <a:rPr lang="en-US" altLang="zh-CN" i="1">
                            <a:latin typeface="Cambria Math" panose="02040503050406030204" pitchFamily="18" charset="0"/>
                          </a:rPr>
                          <m:t>−1</m:t>
                        </m:r>
                      </m:sub>
                    </m:sSub>
                    <m:r>
                      <a:rPr lang="en-US" altLang="zh-CN" i="1">
                        <a:latin typeface="Cambria Math" panose="02040503050406030204" pitchFamily="18" charset="0"/>
                      </a:rPr>
                      <m:t>,</m:t>
                    </m:r>
                  </m:oMath>
                </a14:m>
                <a:r>
                  <a:rPr lang="en-US" altLang="zh-CN" dirty="0"/>
                  <a:t>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i="1">
                            <a:latin typeface="Cambria Math" panose="02040503050406030204" pitchFamily="18" charset="0"/>
                          </a:rPr>
                          <m:t>𝑛</m:t>
                        </m:r>
                      </m:sub>
                    </m:sSub>
                  </m:oMath>
                </a14:m>
                <a:r>
                  <a:rPr lang="en-US" altLang="zh-CN" dirty="0" smtClean="0"/>
                  <a:t>, </a:t>
                </a:r>
                <a:r>
                  <a:rPr lang="zh-CN" altLang="en-US" b="1" dirty="0" smtClean="0"/>
                  <a:t>长度</a:t>
                </a:r>
                <a:r>
                  <a:rPr lang="zh-CN" altLang="en-US" dirty="0" smtClean="0"/>
                  <a:t>为</a:t>
                </a:r>
                <a14:m>
                  <m:oMath xmlns:m="http://schemas.openxmlformats.org/officeDocument/2006/math">
                    <m:r>
                      <a:rPr lang="en-US" altLang="zh-CN" i="1">
                        <a:latin typeface="Cambria Math" panose="02040503050406030204" pitchFamily="18" charset="0"/>
                      </a:rPr>
                      <m:t>𝑛</m:t>
                    </m:r>
                  </m:oMath>
                </a14:m>
                <a:r>
                  <a:rPr lang="en-US" altLang="zh-CN" dirty="0" smtClean="0"/>
                  <a:t>.</a:t>
                </a:r>
              </a:p>
              <a:p>
                <a:pPr lvl="1">
                  <a:lnSpc>
                    <a:spcPct val="110000"/>
                  </a:lnSpc>
                </a:pPr>
                <a:r>
                  <a:rPr lang="zh-CN" altLang="en-US" sz="2200" dirty="0"/>
                  <a:t>我们把一个为空的边的集合看做是从</a:t>
                </a:r>
                <a:r>
                  <a:rPr lang="en-US" altLang="zh-CN" sz="2200" dirty="0"/>
                  <a:t>a</a:t>
                </a:r>
                <a:r>
                  <a:rPr lang="zh-CN" altLang="en-US" sz="2200" dirty="0"/>
                  <a:t>到</a:t>
                </a:r>
                <a:r>
                  <a:rPr lang="en-US" altLang="zh-CN" sz="2200" dirty="0"/>
                  <a:t>a</a:t>
                </a:r>
                <a:r>
                  <a:rPr lang="zh-CN" altLang="en-US" sz="2200" dirty="0"/>
                  <a:t>的长度为</a:t>
                </a:r>
                <a:r>
                  <a:rPr lang="en-US" altLang="zh-CN" sz="2200" dirty="0"/>
                  <a:t>0</a:t>
                </a:r>
                <a:r>
                  <a:rPr lang="zh-CN" altLang="en-US" sz="2200" dirty="0"/>
                  <a:t>的路径</a:t>
                </a:r>
                <a:r>
                  <a:rPr lang="en-US" altLang="zh-CN" sz="2200" dirty="0"/>
                  <a:t>. </a:t>
                </a:r>
              </a:p>
              <a:p>
                <a:pPr lvl="1">
                  <a:lnSpc>
                    <a:spcPct val="110000"/>
                  </a:lnSpc>
                </a:pPr>
                <a:r>
                  <a:rPr lang="zh-CN" altLang="en-US" sz="2200" dirty="0"/>
                  <a:t>在同一顶点开始和结束的长度</a:t>
                </a:r>
                <a14:m>
                  <m:oMath xmlns:m="http://schemas.openxmlformats.org/officeDocument/2006/math">
                    <m:r>
                      <a:rPr lang="en-US" altLang="zh-CN" sz="2200">
                        <a:latin typeface="Cambria Math" panose="02040503050406030204" pitchFamily="18" charset="0"/>
                      </a:rPr>
                      <m:t>𝑛</m:t>
                    </m:r>
                    <m:r>
                      <a:rPr lang="en-US" altLang="zh-CN" sz="2200">
                        <a:latin typeface="Cambria Math" panose="02040503050406030204" pitchFamily="18" charset="0"/>
                      </a:rPr>
                      <m:t>≥1</m:t>
                    </m:r>
                  </m:oMath>
                </a14:m>
                <a:r>
                  <a:rPr lang="zh-CN" altLang="en-US" sz="2200" dirty="0"/>
                  <a:t>的路径，称为</a:t>
                </a:r>
                <a:r>
                  <a:rPr lang="zh-CN" altLang="en-US" sz="2200" b="1" dirty="0"/>
                  <a:t>回路</a:t>
                </a:r>
                <a:r>
                  <a:rPr lang="zh-CN" altLang="en-US" sz="2200" dirty="0"/>
                  <a:t>或圈</a:t>
                </a:r>
                <a:r>
                  <a:rPr lang="en-US" altLang="zh-CN" sz="2200" dirty="0" smtClean="0"/>
                  <a:t>.</a:t>
                </a:r>
              </a:p>
              <a:p>
                <a:pPr lvl="1">
                  <a:lnSpc>
                    <a:spcPct val="110000"/>
                  </a:lnSpc>
                </a:pPr>
                <a:r>
                  <a:rPr lang="zh-CN" altLang="en-US" sz="2200" dirty="0" smtClean="0"/>
                  <a:t>有向图的一条路径可以多次通过一个顶点</a:t>
                </a:r>
                <a:r>
                  <a:rPr lang="en-US" altLang="zh-CN" sz="2200" dirty="0" smtClean="0"/>
                  <a:t>.</a:t>
                </a:r>
              </a:p>
              <a:p>
                <a:pPr lvl="1">
                  <a:lnSpc>
                    <a:spcPct val="110000"/>
                  </a:lnSpc>
                </a:pPr>
                <a:r>
                  <a:rPr lang="zh-CN" altLang="en-US" sz="2200" dirty="0" smtClean="0"/>
                  <a:t>有向图的一条边也可以多次出现在一条路径中</a:t>
                </a:r>
                <a:r>
                  <a:rPr lang="en-US" altLang="zh-CN" sz="2200" dirty="0" smtClean="0"/>
                  <a:t>.</a:t>
                </a:r>
                <a:endParaRPr lang="zh-CN" altLang="en-US" sz="2200" dirty="0"/>
              </a:p>
              <a:p>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l="-999" t="-1310"/>
                </a:stretch>
              </a:blipFill>
            </p:spPr>
            <p:txBody>
              <a:bodyPr/>
              <a:lstStyle/>
              <a:p>
                <a:r>
                  <a:rPr lang="zh-CN" altLang="en-US">
                    <a:noFill/>
                  </a:rPr>
                  <a:t> </a:t>
                </a:r>
              </a:p>
            </p:txBody>
          </p:sp>
        </mc:Fallback>
      </mc:AlternateContent>
      <p:sp>
        <p:nvSpPr>
          <p:cNvPr id="4" name="日期占位符 3"/>
          <p:cNvSpPr>
            <a:spLocks noGrp="1"/>
          </p:cNvSpPr>
          <p:nvPr>
            <p:ph type="dt" sz="half" idx="10"/>
          </p:nvPr>
        </p:nvSpPr>
        <p:spPr/>
        <p:txBody>
          <a:bodyPr/>
          <a:lstStyle/>
          <a:p>
            <a:fld id="{223CF68F-FDCB-4455-BF62-6E2493192981}" type="datetime1">
              <a:rPr lang="zh-CN" altLang="en-US" smtClean="0"/>
              <a:t>2025/3/14</a:t>
            </a:fld>
            <a:endParaRPr lang="zh-CN" altLang="en-US" dirty="0"/>
          </a:p>
        </p:txBody>
      </p:sp>
      <p:sp>
        <p:nvSpPr>
          <p:cNvPr id="5" name="页脚占位符 4"/>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6" name="灯片编号占位符 5"/>
          <p:cNvSpPr>
            <a:spLocks noGrp="1"/>
          </p:cNvSpPr>
          <p:nvPr>
            <p:ph type="sldNum" sz="quarter" idx="12"/>
          </p:nvPr>
        </p:nvSpPr>
        <p:spPr/>
        <p:txBody>
          <a:bodyPr/>
          <a:lstStyle/>
          <a:p>
            <a:fld id="{67913A8A-9EFB-4B5F-9CCB-3D21173FAA85}" type="slidenum">
              <a:rPr lang="zh-CN" altLang="en-US" smtClean="0"/>
              <a:pPr/>
              <a:t>61</a:t>
            </a:fld>
            <a:endParaRPr lang="zh-CN" altLang="en-US" dirty="0"/>
          </a:p>
        </p:txBody>
      </p:sp>
      <p:sp>
        <p:nvSpPr>
          <p:cNvPr id="7" name="矩形 6"/>
          <p:cNvSpPr/>
          <p:nvPr/>
        </p:nvSpPr>
        <p:spPr>
          <a:xfrm>
            <a:off x="2971800" y="4724400"/>
            <a:ext cx="2438400" cy="1219200"/>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2654521" y="4539734"/>
            <a:ext cx="383438" cy="523220"/>
          </a:xfrm>
          <a:prstGeom prst="rect">
            <a:avLst/>
          </a:prstGeom>
          <a:noFill/>
        </p:spPr>
        <p:txBody>
          <a:bodyPr wrap="none" rtlCol="0">
            <a:spAutoFit/>
          </a:bodyPr>
          <a:lstStyle/>
          <a:p>
            <a:r>
              <a:rPr lang="en-US" altLang="zh-CN" sz="2800" dirty="0" smtClean="0">
                <a:latin typeface="微软雅黑" panose="020B0503020204020204" pitchFamily="34" charset="-122"/>
                <a:ea typeface="微软雅黑" panose="020B0503020204020204" pitchFamily="34" charset="-122"/>
              </a:rPr>
              <a:t>a</a:t>
            </a:r>
            <a:endParaRPr lang="zh-CN" altLang="en-US" sz="2800" dirty="0">
              <a:latin typeface="微软雅黑" panose="020B0503020204020204" pitchFamily="34" charset="-122"/>
              <a:ea typeface="微软雅黑" panose="020B0503020204020204" pitchFamily="34" charset="-122"/>
            </a:endParaRPr>
          </a:p>
        </p:txBody>
      </p:sp>
      <p:sp>
        <p:nvSpPr>
          <p:cNvPr id="9" name="文本框 8"/>
          <p:cNvSpPr txBox="1"/>
          <p:nvPr/>
        </p:nvSpPr>
        <p:spPr>
          <a:xfrm>
            <a:off x="5549624" y="4691692"/>
            <a:ext cx="413896" cy="523220"/>
          </a:xfrm>
          <a:prstGeom prst="rect">
            <a:avLst/>
          </a:prstGeom>
          <a:noFill/>
        </p:spPr>
        <p:txBody>
          <a:bodyPr wrap="none" rtlCol="0">
            <a:spAutoFit/>
          </a:bodyPr>
          <a:lstStyle/>
          <a:p>
            <a:r>
              <a:rPr lang="en-US" altLang="zh-CN" sz="2800" dirty="0" smtClean="0">
                <a:latin typeface="微软雅黑" panose="020B0503020204020204" pitchFamily="34" charset="-122"/>
                <a:ea typeface="微软雅黑" panose="020B0503020204020204" pitchFamily="34" charset="-122"/>
              </a:rPr>
              <a:t>b</a:t>
            </a:r>
            <a:endParaRPr lang="zh-CN" altLang="en-US" sz="2800" dirty="0">
              <a:latin typeface="微软雅黑" panose="020B0503020204020204" pitchFamily="34" charset="-122"/>
              <a:ea typeface="微软雅黑" panose="020B0503020204020204" pitchFamily="34" charset="-122"/>
            </a:endParaRPr>
          </a:p>
        </p:txBody>
      </p:sp>
      <p:sp>
        <p:nvSpPr>
          <p:cNvPr id="10" name="文本框 9"/>
          <p:cNvSpPr txBox="1"/>
          <p:nvPr/>
        </p:nvSpPr>
        <p:spPr>
          <a:xfrm>
            <a:off x="5411184" y="5786529"/>
            <a:ext cx="413896" cy="523220"/>
          </a:xfrm>
          <a:prstGeom prst="rect">
            <a:avLst/>
          </a:prstGeom>
          <a:noFill/>
        </p:spPr>
        <p:txBody>
          <a:bodyPr wrap="none" rtlCol="0">
            <a:spAutoFit/>
          </a:bodyPr>
          <a:lstStyle/>
          <a:p>
            <a:r>
              <a:rPr lang="en-US" altLang="zh-CN" sz="2800" dirty="0" smtClean="0">
                <a:latin typeface="微软雅黑" panose="020B0503020204020204" pitchFamily="34" charset="-122"/>
                <a:ea typeface="微软雅黑" panose="020B0503020204020204" pitchFamily="34" charset="-122"/>
              </a:rPr>
              <a:t>d</a:t>
            </a:r>
            <a:endParaRPr lang="zh-CN" altLang="en-US" sz="2800" dirty="0">
              <a:latin typeface="微软雅黑" panose="020B0503020204020204" pitchFamily="34" charset="-122"/>
              <a:ea typeface="微软雅黑" panose="020B0503020204020204" pitchFamily="34" charset="-122"/>
            </a:endParaRPr>
          </a:p>
        </p:txBody>
      </p:sp>
      <p:sp>
        <p:nvSpPr>
          <p:cNvPr id="11" name="文本框 10"/>
          <p:cNvSpPr txBox="1"/>
          <p:nvPr/>
        </p:nvSpPr>
        <p:spPr>
          <a:xfrm>
            <a:off x="2667345" y="5786529"/>
            <a:ext cx="364202" cy="523220"/>
          </a:xfrm>
          <a:prstGeom prst="rect">
            <a:avLst/>
          </a:prstGeom>
          <a:noFill/>
        </p:spPr>
        <p:txBody>
          <a:bodyPr wrap="none" rtlCol="0">
            <a:spAutoFit/>
          </a:bodyPr>
          <a:lstStyle/>
          <a:p>
            <a:r>
              <a:rPr lang="en-US" altLang="zh-CN" sz="2800" dirty="0" smtClean="0">
                <a:latin typeface="微软雅黑" panose="020B0503020204020204" pitchFamily="34" charset="-122"/>
                <a:ea typeface="微软雅黑" panose="020B0503020204020204" pitchFamily="34" charset="-122"/>
              </a:rPr>
              <a:t>c</a:t>
            </a:r>
            <a:endParaRPr lang="zh-CN" altLang="en-US" sz="2800" dirty="0">
              <a:latin typeface="微软雅黑" panose="020B0503020204020204" pitchFamily="34" charset="-122"/>
              <a:ea typeface="微软雅黑" panose="020B0503020204020204" pitchFamily="34" charset="-122"/>
            </a:endParaRPr>
          </a:p>
        </p:txBody>
      </p:sp>
      <p:sp>
        <p:nvSpPr>
          <p:cNvPr id="12" name="等腰三角形 11"/>
          <p:cNvSpPr/>
          <p:nvPr/>
        </p:nvSpPr>
        <p:spPr>
          <a:xfrm>
            <a:off x="5334492" y="5219700"/>
            <a:ext cx="152400" cy="228600"/>
          </a:xfrm>
          <a:prstGeom prst="triangl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等腰三角形 12"/>
          <p:cNvSpPr/>
          <p:nvPr/>
        </p:nvSpPr>
        <p:spPr>
          <a:xfrm flipV="1">
            <a:off x="2895108" y="5264431"/>
            <a:ext cx="127365" cy="196836"/>
          </a:xfrm>
          <a:prstGeom prst="triangl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等腰三角形 13"/>
          <p:cNvSpPr/>
          <p:nvPr/>
        </p:nvSpPr>
        <p:spPr>
          <a:xfrm rot="16200000" flipV="1">
            <a:off x="3969740" y="5868752"/>
            <a:ext cx="152400" cy="187790"/>
          </a:xfrm>
          <a:prstGeom prst="triangl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等腰三角形 14"/>
          <p:cNvSpPr/>
          <p:nvPr/>
        </p:nvSpPr>
        <p:spPr>
          <a:xfrm rot="5400000" flipV="1">
            <a:off x="3974897" y="4630505"/>
            <a:ext cx="152400" cy="187790"/>
          </a:xfrm>
          <a:prstGeom prst="triangl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框 15"/>
          <p:cNvSpPr txBox="1"/>
          <p:nvPr/>
        </p:nvSpPr>
        <p:spPr>
          <a:xfrm>
            <a:off x="5995542" y="5061953"/>
            <a:ext cx="4345336" cy="830997"/>
          </a:xfrm>
          <a:prstGeom prst="rect">
            <a:avLst/>
          </a:prstGeom>
          <a:noFill/>
        </p:spPr>
        <p:txBody>
          <a:bodyPr wrap="square" rtlCol="0">
            <a:spAutoFit/>
          </a:bodyPr>
          <a:lstStyle/>
          <a:p>
            <a:r>
              <a:rPr lang="zh-CN" altLang="en-US" sz="2400" dirty="0" smtClean="0">
                <a:latin typeface="微软雅黑" panose="020B0503020204020204" pitchFamily="34" charset="-122"/>
                <a:ea typeface="微软雅黑" panose="020B0503020204020204" pitchFamily="34" charset="-122"/>
              </a:rPr>
              <a:t>路径</a:t>
            </a:r>
            <a:r>
              <a:rPr lang="en-US" altLang="zh-CN" sz="2400" dirty="0" err="1" smtClean="0">
                <a:latin typeface="微软雅黑" panose="020B0503020204020204" pitchFamily="34" charset="-122"/>
                <a:ea typeface="微软雅黑" panose="020B0503020204020204" pitchFamily="34" charset="-122"/>
              </a:rPr>
              <a:t>a,c,d,b</a:t>
            </a:r>
            <a:endParaRPr lang="en-US" altLang="zh-CN" sz="2400" dirty="0" smtClean="0">
              <a:latin typeface="微软雅黑" panose="020B0503020204020204" pitchFamily="34" charset="-122"/>
              <a:ea typeface="微软雅黑" panose="020B0503020204020204" pitchFamily="34" charset="-122"/>
            </a:endParaRPr>
          </a:p>
          <a:p>
            <a:r>
              <a:rPr lang="zh-CN" altLang="en-US" sz="2400" dirty="0" smtClean="0">
                <a:latin typeface="微软雅黑" panose="020B0503020204020204" pitchFamily="34" charset="-122"/>
                <a:ea typeface="微软雅黑" panose="020B0503020204020204" pitchFamily="34" charset="-122"/>
              </a:rPr>
              <a:t>长度为</a:t>
            </a:r>
            <a:r>
              <a:rPr lang="en-US" altLang="zh-CN" sz="2400" dirty="0" smtClean="0">
                <a:latin typeface="微软雅黑" panose="020B0503020204020204" pitchFamily="34" charset="-122"/>
                <a:ea typeface="微软雅黑" panose="020B0503020204020204" pitchFamily="34" charset="-122"/>
              </a:rPr>
              <a:t>3</a:t>
            </a:r>
            <a:endParaRPr lang="zh-CN" altLang="en-US" sz="24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65043"/>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457200" y="1100946"/>
            <a:ext cx="11277599" cy="1413654"/>
          </a:xfrm>
          <a:prstGeom prst="rect">
            <a:avLst/>
          </a:prstGeom>
          <a:solidFill>
            <a:schemeClr val="accent5">
              <a:lumMod val="40000"/>
              <a:lumOff val="6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zh-CN" altLang="en-US" dirty="0"/>
              <a:t>闭包</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zh-CN" altLang="en-US" dirty="0" smtClean="0"/>
                  <a:t>定义</a:t>
                </a:r>
                <a:r>
                  <a:rPr lang="en-US" altLang="zh-CN" dirty="0" smtClean="0"/>
                  <a:t>: </a:t>
                </a:r>
                <a:r>
                  <a:rPr lang="zh-CN" altLang="en-US" dirty="0" smtClean="0"/>
                  <a:t>在有向图</a:t>
                </a:r>
                <a:r>
                  <a:rPr lang="en-US" altLang="zh-CN" dirty="0" smtClean="0"/>
                  <a:t>G</a:t>
                </a:r>
                <a:r>
                  <a:rPr lang="zh-CN" altLang="en-US" dirty="0" smtClean="0"/>
                  <a:t>中</a:t>
                </a:r>
                <a:r>
                  <a:rPr lang="en-US" altLang="zh-CN" dirty="0" smtClean="0"/>
                  <a:t>,</a:t>
                </a:r>
                <a:r>
                  <a:rPr lang="zh-CN" altLang="en-US" dirty="0" smtClean="0"/>
                  <a:t>如果</a:t>
                </a:r>
                <a:r>
                  <a:rPr lang="en-US" altLang="zh-CN" dirty="0" smtClean="0"/>
                  <a:t> a,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i="1">
                            <a:latin typeface="Cambria Math" panose="02040503050406030204" pitchFamily="18" charset="0"/>
                          </a:rPr>
                          <m:t>1</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i="1">
                            <a:latin typeface="Cambria Math" panose="02040503050406030204" pitchFamily="18" charset="0"/>
                          </a:rPr>
                          <m:t>2</m:t>
                        </m:r>
                      </m:sub>
                    </m:sSub>
                    <m:r>
                      <a:rPr lang="en-US" altLang="zh-CN" i="1">
                        <a:latin typeface="Cambria Math" panose="02040503050406030204" pitchFamily="18" charset="0"/>
                      </a:rPr>
                      <m:t>,…,</m:t>
                    </m:r>
                  </m:oMath>
                </a14:m>
                <a:r>
                  <a:rPr lang="en-US" altLang="zh-CN" dirty="0"/>
                  <a:t>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b="0" i="1" smtClean="0">
                            <a:latin typeface="Cambria Math" panose="02040503050406030204" pitchFamily="18" charset="0"/>
                          </a:rPr>
                          <m:t>𝑚</m:t>
                        </m:r>
                        <m:r>
                          <a:rPr lang="en-US" altLang="zh-CN" i="1">
                            <a:latin typeface="Cambria Math" panose="02040503050406030204" pitchFamily="18" charset="0"/>
                          </a:rPr>
                          <m:t>−1</m:t>
                        </m:r>
                      </m:sub>
                    </m:sSub>
                    <m:r>
                      <a:rPr lang="en-US" altLang="zh-CN" i="1">
                        <a:latin typeface="Cambria Math" panose="02040503050406030204" pitchFamily="18" charset="0"/>
                      </a:rPr>
                      <m:t>,</m:t>
                    </m:r>
                  </m:oMath>
                </a14:m>
                <a:r>
                  <a:rPr lang="en-US" altLang="zh-CN" dirty="0"/>
                  <a:t> </a:t>
                </a:r>
                <a14:m>
                  <m:oMath xmlns:m="http://schemas.openxmlformats.org/officeDocument/2006/math">
                    <m:r>
                      <a:rPr lang="en-US" altLang="zh-CN" b="0" i="1" smtClean="0">
                        <a:latin typeface="Cambria Math" panose="02040503050406030204" pitchFamily="18" charset="0"/>
                      </a:rPr>
                      <m:t>𝑏</m:t>
                    </m:r>
                    <m:r>
                      <a:rPr lang="zh-CN" altLang="en-US" i="1">
                        <a:latin typeface="Cambria Math" panose="02040503050406030204" pitchFamily="18" charset="0"/>
                      </a:rPr>
                      <m:t>是</m:t>
                    </m:r>
                  </m:oMath>
                </a14:m>
                <a:r>
                  <a:rPr lang="zh-CN" altLang="en-US" dirty="0" smtClean="0"/>
                  <a:t>一条从</a:t>
                </a:r>
                <a:r>
                  <a:rPr lang="en-US" altLang="zh-CN" dirty="0" smtClean="0"/>
                  <a:t>a</a:t>
                </a:r>
                <a:r>
                  <a:rPr lang="zh-CN" altLang="en-US" dirty="0" smtClean="0"/>
                  <a:t>到</a:t>
                </a:r>
                <a:r>
                  <a:rPr lang="en-US" altLang="zh-CN" dirty="0" smtClean="0"/>
                  <a:t>b</a:t>
                </a:r>
                <a:r>
                  <a:rPr lang="zh-CN" altLang="en-US" dirty="0" smtClean="0"/>
                  <a:t>的路径</a:t>
                </a:r>
                <a:r>
                  <a:rPr lang="en-US" altLang="zh-CN" dirty="0" smtClean="0"/>
                  <a:t>.</a:t>
                </a:r>
                <a:r>
                  <a:rPr lang="zh-CN" altLang="en-US" dirty="0" smtClean="0"/>
                  <a:t>它的</a:t>
                </a:r>
                <a:r>
                  <a:rPr lang="zh-CN" altLang="en-US" b="1" dirty="0" smtClean="0">
                    <a:solidFill>
                      <a:srgbClr val="C00000"/>
                    </a:solidFill>
                  </a:rPr>
                  <a:t>内部顶点</a:t>
                </a:r>
                <a:r>
                  <a:rPr lang="zh-CN" altLang="en-US" dirty="0" smtClean="0"/>
                  <a:t>是</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i="1">
                            <a:latin typeface="Cambria Math" panose="02040503050406030204" pitchFamily="18" charset="0"/>
                          </a:rPr>
                          <m:t>1</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i="1">
                            <a:latin typeface="Cambria Math" panose="02040503050406030204" pitchFamily="18" charset="0"/>
                          </a:rPr>
                          <m:t>2</m:t>
                        </m:r>
                      </m:sub>
                    </m:sSub>
                    <m:r>
                      <a:rPr lang="en-US" altLang="zh-CN" i="1">
                        <a:latin typeface="Cambria Math" panose="02040503050406030204" pitchFamily="18" charset="0"/>
                      </a:rPr>
                      <m:t>,…,</m:t>
                    </m:r>
                  </m:oMath>
                </a14:m>
                <a:r>
                  <a:rPr lang="en-US" altLang="zh-CN" dirty="0"/>
                  <a:t>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i="1">
                            <a:latin typeface="Cambria Math" panose="02040503050406030204" pitchFamily="18" charset="0"/>
                          </a:rPr>
                          <m:t>𝑚</m:t>
                        </m:r>
                        <m:r>
                          <a:rPr lang="en-US" altLang="zh-CN" i="1">
                            <a:latin typeface="Cambria Math" panose="02040503050406030204" pitchFamily="18" charset="0"/>
                          </a:rPr>
                          <m:t>−1</m:t>
                        </m:r>
                      </m:sub>
                    </m:sSub>
                    <m:r>
                      <a:rPr lang="en-US" altLang="zh-CN" b="0" i="0" smtClean="0">
                        <a:latin typeface="Cambria Math" panose="02040503050406030204" pitchFamily="18" charset="0"/>
                      </a:rPr>
                      <m:t>, </m:t>
                    </m:r>
                  </m:oMath>
                </a14:m>
                <a:r>
                  <a:rPr lang="zh-CN" altLang="en-US" b="0" dirty="0" smtClean="0"/>
                  <a:t>即除了第一个和最后一个顶点之外的出现在路径中的所有顶点</a:t>
                </a:r>
                <a:r>
                  <a:rPr lang="en-US" altLang="zh-CN" b="0" dirty="0" smtClean="0"/>
                  <a:t>.</a:t>
                </a:r>
              </a:p>
              <a:p>
                <a:endParaRPr lang="en-US" altLang="zh-CN" dirty="0"/>
              </a:p>
              <a:p>
                <a:r>
                  <a:rPr lang="zh-CN" altLang="en-US" b="0" dirty="0" smtClean="0"/>
                  <a:t>例</a:t>
                </a:r>
                <a:r>
                  <a:rPr lang="en-US" altLang="zh-CN" b="0" dirty="0" smtClean="0"/>
                  <a:t>: </a:t>
                </a:r>
                <a:r>
                  <a:rPr lang="zh-CN" altLang="en-US" dirty="0" smtClean="0"/>
                  <a:t>有向图中一个路径</a:t>
                </a:r>
                <a:r>
                  <a:rPr lang="en-US" altLang="zh-CN" dirty="0" err="1" smtClean="0"/>
                  <a:t>a,c,d,f,g,h,b,j</a:t>
                </a:r>
                <a:r>
                  <a:rPr lang="zh-CN" altLang="en-US" dirty="0" smtClean="0"/>
                  <a:t>的内部顶点是</a:t>
                </a:r>
                <a:r>
                  <a:rPr lang="en-US" altLang="zh-CN" dirty="0" err="1" smtClean="0"/>
                  <a:t>c,d,f,g,h,b</a:t>
                </a:r>
                <a:r>
                  <a:rPr lang="en-US" altLang="zh-CN" dirty="0" smtClean="0"/>
                  <a:t>. </a:t>
                </a:r>
                <a:r>
                  <a:rPr lang="zh-CN" altLang="en-US" dirty="0" smtClean="0"/>
                  <a:t>有向图</a:t>
                </a:r>
                <a:r>
                  <a:rPr lang="zh-CN" altLang="en-US" dirty="0"/>
                  <a:t>中一个</a:t>
                </a:r>
                <a:r>
                  <a:rPr lang="zh-CN" altLang="en-US" dirty="0" smtClean="0"/>
                  <a:t>路径</a:t>
                </a:r>
                <a:r>
                  <a:rPr lang="en-US" altLang="zh-CN" dirty="0" err="1" smtClean="0"/>
                  <a:t>a,c,d,a,f,b</a:t>
                </a:r>
                <a:r>
                  <a:rPr lang="zh-CN" altLang="en-US" dirty="0" smtClean="0"/>
                  <a:t>的内部顶点是</a:t>
                </a:r>
                <a:r>
                  <a:rPr lang="en-US" altLang="zh-CN" dirty="0" err="1" smtClean="0"/>
                  <a:t>c,d,a,f</a:t>
                </a:r>
                <a:r>
                  <a:rPr lang="en-US" altLang="zh-CN" dirty="0"/>
                  <a:t>.</a:t>
                </a:r>
                <a:endParaRPr lang="en-US" altLang="zh-CN" b="0" dirty="0" smtClean="0"/>
              </a:p>
              <a:p>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l="-999" t="-1310" r="-832"/>
                </a:stretch>
              </a:blipFill>
            </p:spPr>
            <p:txBody>
              <a:bodyPr/>
              <a:lstStyle/>
              <a:p>
                <a:r>
                  <a:rPr lang="zh-CN" altLang="en-US">
                    <a:noFill/>
                  </a:rPr>
                  <a:t> </a:t>
                </a:r>
              </a:p>
            </p:txBody>
          </p:sp>
        </mc:Fallback>
      </mc:AlternateContent>
      <p:sp>
        <p:nvSpPr>
          <p:cNvPr id="4" name="日期占位符 3"/>
          <p:cNvSpPr>
            <a:spLocks noGrp="1"/>
          </p:cNvSpPr>
          <p:nvPr>
            <p:ph type="dt" sz="half" idx="10"/>
          </p:nvPr>
        </p:nvSpPr>
        <p:spPr/>
        <p:txBody>
          <a:bodyPr/>
          <a:lstStyle/>
          <a:p>
            <a:fld id="{18218559-4C7D-4724-8B68-68C876BDC568}" type="datetime1">
              <a:rPr lang="zh-CN" altLang="en-US" smtClean="0"/>
              <a:t>2025/3/14</a:t>
            </a:fld>
            <a:endParaRPr lang="zh-CN" altLang="en-US" dirty="0"/>
          </a:p>
        </p:txBody>
      </p:sp>
      <p:sp>
        <p:nvSpPr>
          <p:cNvPr id="5" name="页脚占位符 4"/>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6" name="灯片编号占位符 5"/>
          <p:cNvSpPr>
            <a:spLocks noGrp="1"/>
          </p:cNvSpPr>
          <p:nvPr>
            <p:ph type="sldNum" sz="quarter" idx="12"/>
          </p:nvPr>
        </p:nvSpPr>
        <p:spPr/>
        <p:txBody>
          <a:bodyPr/>
          <a:lstStyle/>
          <a:p>
            <a:fld id="{67913A8A-9EFB-4B5F-9CCB-3D21173FAA85}" type="slidenum">
              <a:rPr lang="zh-CN" altLang="en-US" smtClean="0"/>
              <a:pPr/>
              <a:t>62</a:t>
            </a:fld>
            <a:endParaRPr lang="zh-CN" altLang="en-US" dirty="0"/>
          </a:p>
        </p:txBody>
      </p:sp>
    </p:spTree>
    <p:extLst>
      <p:ext uri="{BB962C8B-B14F-4D97-AF65-F5344CB8AC3E}">
        <p14:creationId xmlns:p14="http://schemas.microsoft.com/office/powerpoint/2010/main" val="979139189"/>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闭包</a:t>
            </a:r>
          </a:p>
        </p:txBody>
      </p:sp>
      <p:sp>
        <p:nvSpPr>
          <p:cNvPr id="3" name="内容占位符 2"/>
          <p:cNvSpPr>
            <a:spLocks noGrp="1"/>
          </p:cNvSpPr>
          <p:nvPr>
            <p:ph idx="1"/>
          </p:nvPr>
        </p:nvSpPr>
        <p:spPr/>
        <p:txBody>
          <a:bodyPr>
            <a:normAutofit/>
          </a:bodyPr>
          <a:lstStyle/>
          <a:p>
            <a:r>
              <a:rPr lang="zh-CN" altLang="en-US" dirty="0" smtClean="0"/>
              <a:t>例</a:t>
            </a:r>
            <a:r>
              <a:rPr lang="en-US" altLang="zh-CN" dirty="0" smtClean="0"/>
              <a:t>: </a:t>
            </a:r>
            <a:r>
              <a:rPr lang="zh-CN" altLang="en-US" dirty="0" smtClean="0"/>
              <a:t>如图所示哪些是路径</a:t>
            </a:r>
            <a:r>
              <a:rPr lang="en-US" altLang="zh-CN" dirty="0" smtClean="0"/>
              <a:t>. </a:t>
            </a:r>
            <a:r>
              <a:rPr lang="zh-CN" altLang="en-US" dirty="0" smtClean="0"/>
              <a:t>如果是路径长度为多少？哪些路径是回路</a:t>
            </a:r>
            <a:r>
              <a:rPr lang="en-US" altLang="zh-CN" dirty="0" smtClean="0"/>
              <a:t>?</a:t>
            </a:r>
          </a:p>
          <a:p>
            <a:pPr lvl="1">
              <a:lnSpc>
                <a:spcPct val="110000"/>
              </a:lnSpc>
            </a:pPr>
            <a:r>
              <a:rPr lang="en-US" altLang="zh-CN" dirty="0" err="1" smtClean="0"/>
              <a:t>a,b,e,d</a:t>
            </a:r>
            <a:r>
              <a:rPr lang="en-US" altLang="zh-CN" dirty="0" smtClean="0"/>
              <a:t>;</a:t>
            </a:r>
          </a:p>
          <a:p>
            <a:pPr lvl="1">
              <a:lnSpc>
                <a:spcPct val="110000"/>
              </a:lnSpc>
            </a:pPr>
            <a:r>
              <a:rPr lang="en-US" altLang="zh-CN" dirty="0" err="1" smtClean="0"/>
              <a:t>a,e,c,d,b</a:t>
            </a:r>
            <a:r>
              <a:rPr lang="en-US" altLang="zh-CN" dirty="0" smtClean="0"/>
              <a:t>;</a:t>
            </a:r>
          </a:p>
          <a:p>
            <a:pPr lvl="1">
              <a:lnSpc>
                <a:spcPct val="110000"/>
              </a:lnSpc>
            </a:pPr>
            <a:r>
              <a:rPr lang="en-US" altLang="zh-CN" dirty="0" err="1" smtClean="0"/>
              <a:t>b,a,c,b,a,a,b</a:t>
            </a:r>
            <a:r>
              <a:rPr lang="en-US" altLang="zh-CN" dirty="0" smtClean="0"/>
              <a:t>;</a:t>
            </a:r>
          </a:p>
          <a:p>
            <a:pPr lvl="1">
              <a:lnSpc>
                <a:spcPct val="110000"/>
              </a:lnSpc>
            </a:pPr>
            <a:r>
              <a:rPr lang="en-US" altLang="zh-CN" dirty="0" err="1" smtClean="0"/>
              <a:t>e,b,a,b,a,b,e</a:t>
            </a:r>
            <a:r>
              <a:rPr lang="en-US" altLang="zh-CN" dirty="0" smtClean="0"/>
              <a:t>;</a:t>
            </a:r>
          </a:p>
          <a:p>
            <a:r>
              <a:rPr lang="zh-CN" altLang="en-US" dirty="0" smtClean="0"/>
              <a:t>解：</a:t>
            </a:r>
            <a:endParaRPr lang="en-US" altLang="zh-CN" dirty="0" smtClean="0"/>
          </a:p>
          <a:p>
            <a:pPr lvl="1">
              <a:lnSpc>
                <a:spcPct val="110000"/>
              </a:lnSpc>
            </a:pPr>
            <a:r>
              <a:rPr lang="en-US" altLang="zh-CN" sz="2200" dirty="0" err="1" smtClean="0"/>
              <a:t>a,b,e,d</a:t>
            </a:r>
            <a:r>
              <a:rPr lang="zh-CN" altLang="en-US" sz="2200" dirty="0" smtClean="0"/>
              <a:t>是长度为</a:t>
            </a:r>
            <a:r>
              <a:rPr lang="en-US" altLang="zh-CN" sz="2200" dirty="0" smtClean="0"/>
              <a:t>3</a:t>
            </a:r>
            <a:r>
              <a:rPr lang="zh-CN" altLang="en-US" sz="2200" dirty="0" smtClean="0"/>
              <a:t>的路径</a:t>
            </a:r>
            <a:r>
              <a:rPr lang="en-US" altLang="zh-CN" sz="2200" dirty="0" smtClean="0"/>
              <a:t>;</a:t>
            </a:r>
            <a:endParaRPr lang="en-US" altLang="zh-CN" sz="2200" dirty="0"/>
          </a:p>
          <a:p>
            <a:pPr lvl="1">
              <a:lnSpc>
                <a:spcPct val="110000"/>
              </a:lnSpc>
            </a:pPr>
            <a:r>
              <a:rPr lang="en-US" altLang="zh-CN" sz="2200" dirty="0" err="1" smtClean="0"/>
              <a:t>a,e,c,d,b</a:t>
            </a:r>
            <a:r>
              <a:rPr lang="zh-CN" altLang="en-US" sz="2200" dirty="0" smtClean="0"/>
              <a:t>中</a:t>
            </a:r>
            <a:r>
              <a:rPr lang="en-US" altLang="zh-CN" sz="2200" dirty="0" smtClean="0"/>
              <a:t>(</a:t>
            </a:r>
            <a:r>
              <a:rPr lang="en-US" altLang="zh-CN" sz="2200" dirty="0" err="1" smtClean="0"/>
              <a:t>c,d</a:t>
            </a:r>
            <a:r>
              <a:rPr lang="en-US" altLang="zh-CN" sz="2200" dirty="0" smtClean="0"/>
              <a:t>)</a:t>
            </a:r>
            <a:r>
              <a:rPr lang="zh-CN" altLang="en-US" sz="2200" dirty="0" smtClean="0"/>
              <a:t>不是边</a:t>
            </a:r>
            <a:r>
              <a:rPr lang="en-US" altLang="zh-CN" sz="2200" dirty="0" smtClean="0"/>
              <a:t>, </a:t>
            </a:r>
            <a:r>
              <a:rPr lang="zh-CN" altLang="en-US" sz="2200" dirty="0" smtClean="0"/>
              <a:t>所以不是路径</a:t>
            </a:r>
            <a:r>
              <a:rPr lang="en-US" altLang="zh-CN" sz="2200" dirty="0" smtClean="0"/>
              <a:t>;</a:t>
            </a:r>
            <a:endParaRPr lang="en-US" altLang="zh-CN" sz="2200" dirty="0"/>
          </a:p>
          <a:p>
            <a:pPr lvl="1">
              <a:lnSpc>
                <a:spcPct val="110000"/>
              </a:lnSpc>
            </a:pPr>
            <a:r>
              <a:rPr lang="en-US" altLang="zh-CN" sz="2200" dirty="0" err="1" smtClean="0"/>
              <a:t>b,a,c,b,a,a,b</a:t>
            </a:r>
            <a:r>
              <a:rPr lang="zh-CN" altLang="en-US" sz="2200" dirty="0" smtClean="0"/>
              <a:t>是长度为</a:t>
            </a:r>
            <a:r>
              <a:rPr lang="en-US" altLang="zh-CN" sz="2200" dirty="0" smtClean="0"/>
              <a:t>6</a:t>
            </a:r>
            <a:r>
              <a:rPr lang="zh-CN" altLang="en-US" sz="2200" dirty="0" smtClean="0"/>
              <a:t>的路径</a:t>
            </a:r>
            <a:r>
              <a:rPr lang="en-US" altLang="zh-CN" sz="2200" dirty="0" smtClean="0"/>
              <a:t>, </a:t>
            </a:r>
            <a:r>
              <a:rPr lang="zh-CN" altLang="en-US" sz="2200" dirty="0" smtClean="0"/>
              <a:t>也是回路</a:t>
            </a:r>
            <a:r>
              <a:rPr lang="en-US" altLang="zh-CN" sz="2200" dirty="0"/>
              <a:t>;</a:t>
            </a:r>
          </a:p>
          <a:p>
            <a:pPr lvl="1">
              <a:lnSpc>
                <a:spcPct val="110000"/>
              </a:lnSpc>
            </a:pPr>
            <a:r>
              <a:rPr lang="en-US" altLang="zh-CN" sz="2200" dirty="0" err="1" smtClean="0"/>
              <a:t>e,b,a,b,a,b,e</a:t>
            </a:r>
            <a:r>
              <a:rPr lang="zh-CN" altLang="en-US" sz="2200" dirty="0" smtClean="0"/>
              <a:t>是长度为</a:t>
            </a:r>
            <a:r>
              <a:rPr lang="en-US" altLang="zh-CN" sz="2200" dirty="0" smtClean="0"/>
              <a:t>6</a:t>
            </a:r>
            <a:r>
              <a:rPr lang="zh-CN" altLang="en-US" sz="2200" dirty="0" smtClean="0"/>
              <a:t>的路径</a:t>
            </a:r>
            <a:r>
              <a:rPr lang="en-US" altLang="zh-CN" sz="2200" dirty="0" smtClean="0"/>
              <a:t>, </a:t>
            </a:r>
            <a:r>
              <a:rPr lang="zh-CN" altLang="en-US" sz="2200" dirty="0" smtClean="0"/>
              <a:t>也是回路</a:t>
            </a:r>
            <a:r>
              <a:rPr lang="en-US" altLang="zh-CN" sz="2200" dirty="0" smtClean="0"/>
              <a:t>;</a:t>
            </a:r>
            <a:endParaRPr lang="en-US" altLang="zh-CN" dirty="0" smtClean="0"/>
          </a:p>
        </p:txBody>
      </p:sp>
      <p:sp>
        <p:nvSpPr>
          <p:cNvPr id="4" name="日期占位符 3"/>
          <p:cNvSpPr>
            <a:spLocks noGrp="1"/>
          </p:cNvSpPr>
          <p:nvPr>
            <p:ph type="dt" sz="half" idx="10"/>
          </p:nvPr>
        </p:nvSpPr>
        <p:spPr/>
        <p:txBody>
          <a:bodyPr/>
          <a:lstStyle/>
          <a:p>
            <a:fld id="{EF321E68-E442-4A28-9563-B5B7840C954F}" type="datetime1">
              <a:rPr lang="zh-CN" altLang="en-US" smtClean="0"/>
              <a:t>2025/3/14</a:t>
            </a:fld>
            <a:endParaRPr lang="zh-CN" altLang="en-US" dirty="0"/>
          </a:p>
        </p:txBody>
      </p:sp>
      <p:sp>
        <p:nvSpPr>
          <p:cNvPr id="5" name="页脚占位符 4"/>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6" name="灯片编号占位符 5"/>
          <p:cNvSpPr>
            <a:spLocks noGrp="1"/>
          </p:cNvSpPr>
          <p:nvPr>
            <p:ph type="sldNum" sz="quarter" idx="12"/>
          </p:nvPr>
        </p:nvSpPr>
        <p:spPr/>
        <p:txBody>
          <a:bodyPr/>
          <a:lstStyle/>
          <a:p>
            <a:fld id="{67913A8A-9EFB-4B5F-9CCB-3D21173FAA85}" type="slidenum">
              <a:rPr lang="zh-CN" altLang="en-US" smtClean="0"/>
              <a:pPr/>
              <a:t>63</a:t>
            </a:fld>
            <a:endParaRPr lang="zh-CN" altLang="en-US" dirty="0"/>
          </a:p>
        </p:txBody>
      </p:sp>
      <p:pic>
        <p:nvPicPr>
          <p:cNvPr id="17" name="图片 16"/>
          <p:cNvPicPr>
            <a:picLocks noChangeAspect="1"/>
          </p:cNvPicPr>
          <p:nvPr/>
        </p:nvPicPr>
        <p:blipFill>
          <a:blip r:embed="rId2"/>
          <a:stretch>
            <a:fillRect/>
          </a:stretch>
        </p:blipFill>
        <p:spPr>
          <a:xfrm>
            <a:off x="5105400" y="1295400"/>
            <a:ext cx="3429000" cy="2672097"/>
          </a:xfrm>
          <a:prstGeom prst="rect">
            <a:avLst/>
          </a:prstGeom>
        </p:spPr>
      </p:pic>
    </p:spTree>
    <p:extLst>
      <p:ext uri="{BB962C8B-B14F-4D97-AF65-F5344CB8AC3E}">
        <p14:creationId xmlns:p14="http://schemas.microsoft.com/office/powerpoint/2010/main" val="2191514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animEffect transition="in" filter="wipe(down)">
                                      <p:cBhvr>
                                        <p:cTn id="7" dur="500"/>
                                        <p:tgtEl>
                                          <p:spTgt spid="3">
                                            <p:txEl>
                                              <p:pRg st="5" end="5"/>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3">
                                            <p:txEl>
                                              <p:pRg st="6" end="6"/>
                                            </p:txEl>
                                          </p:spTgt>
                                        </p:tgtEl>
                                        <p:attrNameLst>
                                          <p:attrName>style.visibility</p:attrName>
                                        </p:attrNameLst>
                                      </p:cBhvr>
                                      <p:to>
                                        <p:strVal val="visible"/>
                                      </p:to>
                                    </p:set>
                                    <p:animEffect transition="in" filter="wipe(down)">
                                      <p:cBhvr>
                                        <p:cTn id="10" dur="500"/>
                                        <p:tgtEl>
                                          <p:spTgt spid="3">
                                            <p:txEl>
                                              <p:pRg st="6" end="6"/>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3">
                                            <p:txEl>
                                              <p:pRg st="7" end="7"/>
                                            </p:txEl>
                                          </p:spTgt>
                                        </p:tgtEl>
                                        <p:attrNameLst>
                                          <p:attrName>style.visibility</p:attrName>
                                        </p:attrNameLst>
                                      </p:cBhvr>
                                      <p:to>
                                        <p:strVal val="visible"/>
                                      </p:to>
                                    </p:set>
                                    <p:animEffect transition="in" filter="wipe(down)">
                                      <p:cBhvr>
                                        <p:cTn id="13" dur="500"/>
                                        <p:tgtEl>
                                          <p:spTgt spid="3">
                                            <p:txEl>
                                              <p:pRg st="7" end="7"/>
                                            </p:txEl>
                                          </p:spTgt>
                                        </p:tgtEl>
                                      </p:cBhvr>
                                    </p:animEffect>
                                  </p:childTnLst>
                                </p:cTn>
                              </p:par>
                              <p:par>
                                <p:cTn id="14" presetID="22" presetClass="entr" presetSubtype="4" fill="hold" nodeType="withEffect">
                                  <p:stCondLst>
                                    <p:cond delay="0"/>
                                  </p:stCondLst>
                                  <p:childTnLst>
                                    <p:set>
                                      <p:cBhvr>
                                        <p:cTn id="15" dur="1" fill="hold">
                                          <p:stCondLst>
                                            <p:cond delay="0"/>
                                          </p:stCondLst>
                                        </p:cTn>
                                        <p:tgtEl>
                                          <p:spTgt spid="3">
                                            <p:txEl>
                                              <p:pRg st="8" end="8"/>
                                            </p:txEl>
                                          </p:spTgt>
                                        </p:tgtEl>
                                        <p:attrNameLst>
                                          <p:attrName>style.visibility</p:attrName>
                                        </p:attrNameLst>
                                      </p:cBhvr>
                                      <p:to>
                                        <p:strVal val="visible"/>
                                      </p:to>
                                    </p:set>
                                    <p:animEffect transition="in" filter="wipe(down)">
                                      <p:cBhvr>
                                        <p:cTn id="16" dur="500"/>
                                        <p:tgtEl>
                                          <p:spTgt spid="3">
                                            <p:txEl>
                                              <p:pRg st="8" end="8"/>
                                            </p:txEl>
                                          </p:spTgt>
                                        </p:tgtEl>
                                      </p:cBhvr>
                                    </p:animEffect>
                                  </p:childTnLst>
                                </p:cTn>
                              </p:par>
                              <p:par>
                                <p:cTn id="17" presetID="22" presetClass="entr" presetSubtype="4" fill="hold" nodeType="withEffect">
                                  <p:stCondLst>
                                    <p:cond delay="0"/>
                                  </p:stCondLst>
                                  <p:childTnLst>
                                    <p:set>
                                      <p:cBhvr>
                                        <p:cTn id="18" dur="1" fill="hold">
                                          <p:stCondLst>
                                            <p:cond delay="0"/>
                                          </p:stCondLst>
                                        </p:cTn>
                                        <p:tgtEl>
                                          <p:spTgt spid="3">
                                            <p:txEl>
                                              <p:pRg st="9" end="9"/>
                                            </p:txEl>
                                          </p:spTgt>
                                        </p:tgtEl>
                                        <p:attrNameLst>
                                          <p:attrName>style.visibility</p:attrName>
                                        </p:attrNameLst>
                                      </p:cBhvr>
                                      <p:to>
                                        <p:strVal val="visible"/>
                                      </p:to>
                                    </p:set>
                                    <p:animEffect transition="in" filter="wipe(down)">
                                      <p:cBhvr>
                                        <p:cTn id="19"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闭包</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zh-CN" altLang="en-US" dirty="0" smtClean="0"/>
                  <a:t>路径的定义也可用于关系中</a:t>
                </a:r>
                <a:r>
                  <a:rPr lang="en-US" altLang="zh-CN" dirty="0" smtClean="0"/>
                  <a:t>. </a:t>
                </a:r>
                <a:r>
                  <a:rPr lang="zh-CN" altLang="en-US" dirty="0" smtClean="0"/>
                  <a:t>把有向图中的定义推广到关系</a:t>
                </a:r>
                <a:r>
                  <a:rPr lang="en-US" altLang="zh-CN" dirty="0" smtClean="0"/>
                  <a:t>, </a:t>
                </a:r>
                <a:r>
                  <a:rPr lang="zh-CN" altLang="en-US" dirty="0" smtClean="0"/>
                  <a:t>如果存在一个元素的序列</a:t>
                </a:r>
                <a:r>
                  <a:rPr lang="en-US" altLang="zh-CN" dirty="0" smtClean="0"/>
                  <a:t>a,</a:t>
                </a:r>
                <a:r>
                  <a:rPr lang="en-US" altLang="zh-CN" dirty="0"/>
                  <a:t>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i="1">
                            <a:latin typeface="Cambria Math" panose="02040503050406030204" pitchFamily="18" charset="0"/>
                          </a:rPr>
                          <m:t>1</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i="1">
                            <a:latin typeface="Cambria Math" panose="02040503050406030204" pitchFamily="18" charset="0"/>
                          </a:rPr>
                          <m:t>2</m:t>
                        </m:r>
                      </m:sub>
                    </m:sSub>
                    <m:r>
                      <a:rPr lang="en-US" altLang="zh-CN" i="1">
                        <a:latin typeface="Cambria Math" panose="02040503050406030204" pitchFamily="18" charset="0"/>
                      </a:rPr>
                      <m:t>,…,</m:t>
                    </m:r>
                  </m:oMath>
                </a14:m>
                <a:r>
                  <a:rPr lang="en-US" altLang="zh-CN" dirty="0"/>
                  <a:t>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i="1">
                            <a:latin typeface="Cambria Math" panose="02040503050406030204" pitchFamily="18" charset="0"/>
                          </a:rPr>
                          <m:t>𝑛</m:t>
                        </m:r>
                        <m:r>
                          <a:rPr lang="en-US" altLang="zh-CN" i="1">
                            <a:latin typeface="Cambria Math" panose="02040503050406030204" pitchFamily="18" charset="0"/>
                          </a:rPr>
                          <m:t>−1</m:t>
                        </m:r>
                      </m:sub>
                    </m:sSub>
                    <m:r>
                      <a:rPr lang="en-US" altLang="zh-CN" i="1">
                        <a:latin typeface="Cambria Math" panose="02040503050406030204" pitchFamily="18" charset="0"/>
                      </a:rPr>
                      <m:t>,</m:t>
                    </m:r>
                  </m:oMath>
                </a14:m>
                <a:r>
                  <a:rPr lang="en-US" altLang="zh-CN" dirty="0"/>
                  <a:t> </a:t>
                </a:r>
                <a14:m>
                  <m:oMath xmlns:m="http://schemas.openxmlformats.org/officeDocument/2006/math">
                    <m:r>
                      <a:rPr lang="en-US" altLang="zh-CN" b="0" i="1" smtClean="0">
                        <a:latin typeface="Cambria Math" panose="02040503050406030204" pitchFamily="18" charset="0"/>
                      </a:rPr>
                      <m:t>𝑏</m:t>
                    </m:r>
                  </m:oMath>
                </a14:m>
                <a:r>
                  <a:rPr lang="en-US" altLang="zh-CN" dirty="0" smtClean="0"/>
                  <a:t>, </a:t>
                </a:r>
                <a:r>
                  <a:rPr lang="zh-CN" altLang="en-US" dirty="0" smtClean="0"/>
                  <a:t>且</a:t>
                </a:r>
                <a:r>
                  <a:rPr lang="en-US" altLang="zh-CN" dirty="0" smtClean="0"/>
                  <a:t>(a,</a:t>
                </a:r>
                <a:r>
                  <a:rPr lang="en-US" altLang="zh-CN" dirty="0"/>
                  <a:t>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i="1">
                            <a:latin typeface="Cambria Math" panose="02040503050406030204" pitchFamily="18" charset="0"/>
                          </a:rPr>
                          <m:t>1</m:t>
                        </m:r>
                      </m:sub>
                    </m:sSub>
                  </m:oMath>
                </a14:m>
                <a:r>
                  <a:rPr lang="en-US" altLang="zh-CN" dirty="0" smtClean="0"/>
                  <a:t>)</a:t>
                </a:r>
                <a:r>
                  <a:rPr lang="zh-CN" altLang="en-US" dirty="0"/>
                  <a:t> </a:t>
                </a:r>
                <a14:m>
                  <m:oMath xmlns:m="http://schemas.openxmlformats.org/officeDocument/2006/math">
                    <m:r>
                      <a:rPr lang="zh-CN" altLang="en-US" i="1">
                        <a:latin typeface="Cambria Math" panose="02040503050406030204" pitchFamily="18" charset="0"/>
                      </a:rPr>
                      <m:t>∈</m:t>
                    </m:r>
                  </m:oMath>
                </a14:m>
                <a:r>
                  <a:rPr lang="en-US" altLang="zh-CN" dirty="0" smtClean="0"/>
                  <a:t>R</a:t>
                </a:r>
                <a:r>
                  <a:rPr lang="zh-CN" altLang="en-US" dirty="0" smtClean="0"/>
                  <a:t>， </a:t>
                </a:r>
                <a:r>
                  <a:rPr lang="en-US" altLang="zh-CN" dirty="0"/>
                  <a:t>(</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i="1">
                            <a:latin typeface="Cambria Math" panose="02040503050406030204" pitchFamily="18" charset="0"/>
                          </a:rPr>
                          <m:t>1</m:t>
                        </m:r>
                      </m:sub>
                    </m:sSub>
                  </m:oMath>
                </a14:m>
                <a:r>
                  <a:rPr lang="en-US" altLang="zh-CN" dirty="0"/>
                  <a:t>,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b="0" i="1" smtClean="0">
                            <a:latin typeface="Cambria Math" panose="02040503050406030204" pitchFamily="18" charset="0"/>
                          </a:rPr>
                          <m:t>2</m:t>
                        </m:r>
                      </m:sub>
                    </m:sSub>
                  </m:oMath>
                </a14:m>
                <a:r>
                  <a:rPr lang="en-US" altLang="zh-CN" dirty="0"/>
                  <a:t>)</a:t>
                </a:r>
                <a:r>
                  <a:rPr lang="zh-CN" altLang="en-US" dirty="0"/>
                  <a:t> </a:t>
                </a:r>
                <a14:m>
                  <m:oMath xmlns:m="http://schemas.openxmlformats.org/officeDocument/2006/math">
                    <m:r>
                      <a:rPr lang="zh-CN" altLang="en-US" i="1">
                        <a:latin typeface="Cambria Math" panose="02040503050406030204" pitchFamily="18" charset="0"/>
                      </a:rPr>
                      <m:t>∈</m:t>
                    </m:r>
                  </m:oMath>
                </a14:m>
                <a:r>
                  <a:rPr lang="en-US" altLang="zh-CN" dirty="0" smtClean="0"/>
                  <a:t>R, …,</a:t>
                </a:r>
                <a:r>
                  <a:rPr lang="zh-CN" altLang="en-US" dirty="0"/>
                  <a:t> </a:t>
                </a:r>
                <a:r>
                  <a:rPr lang="en-US" altLang="zh-CN" dirty="0" smtClean="0"/>
                  <a:t>(</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b="0" i="1" smtClean="0">
                            <a:latin typeface="Cambria Math" panose="02040503050406030204" pitchFamily="18" charset="0"/>
                          </a:rPr>
                          <m:t>𝑛</m:t>
                        </m:r>
                        <m:r>
                          <a:rPr lang="en-US" altLang="zh-CN" b="0" i="1" smtClean="0">
                            <a:latin typeface="Cambria Math" panose="02040503050406030204" pitchFamily="18" charset="0"/>
                          </a:rPr>
                          <m:t>−1</m:t>
                        </m:r>
                      </m:sub>
                    </m:sSub>
                  </m:oMath>
                </a14:m>
                <a:r>
                  <a:rPr lang="en-US" altLang="zh-CN" dirty="0"/>
                  <a:t>, </a:t>
                </a:r>
                <a:r>
                  <a:rPr lang="en-US" altLang="zh-CN" dirty="0" smtClean="0"/>
                  <a:t>b)</a:t>
                </a:r>
                <a:r>
                  <a:rPr lang="zh-CN" altLang="en-US" dirty="0" smtClean="0"/>
                  <a:t> </a:t>
                </a:r>
                <a14:m>
                  <m:oMath xmlns:m="http://schemas.openxmlformats.org/officeDocument/2006/math">
                    <m:r>
                      <a:rPr lang="zh-CN" altLang="en-US" i="1">
                        <a:latin typeface="Cambria Math" panose="02040503050406030204" pitchFamily="18" charset="0"/>
                      </a:rPr>
                      <m:t>∈</m:t>
                    </m:r>
                  </m:oMath>
                </a14:m>
                <a:r>
                  <a:rPr lang="en-US" altLang="zh-CN" dirty="0" smtClean="0"/>
                  <a:t>R, </a:t>
                </a:r>
                <a:r>
                  <a:rPr lang="zh-CN" altLang="en-US" dirty="0" smtClean="0"/>
                  <a:t>那么在</a:t>
                </a:r>
                <a:r>
                  <a:rPr lang="en-US" altLang="zh-CN" dirty="0" smtClean="0"/>
                  <a:t>R</a:t>
                </a:r>
                <a:r>
                  <a:rPr lang="zh-CN" altLang="en-US" dirty="0" smtClean="0"/>
                  <a:t>中存在一条从</a:t>
                </a:r>
                <a:r>
                  <a:rPr lang="en-US" altLang="zh-CN" dirty="0" smtClean="0"/>
                  <a:t>a</a:t>
                </a:r>
                <a:r>
                  <a:rPr lang="zh-CN" altLang="en-US" dirty="0" smtClean="0"/>
                  <a:t>到</a:t>
                </a:r>
                <a:r>
                  <a:rPr lang="en-US" altLang="zh-CN" dirty="0" smtClean="0"/>
                  <a:t>b</a:t>
                </a:r>
                <a:r>
                  <a:rPr lang="zh-CN" altLang="en-US" dirty="0" smtClean="0"/>
                  <a:t>的路径</a:t>
                </a:r>
                <a:r>
                  <a:rPr lang="en-US" altLang="zh-CN" dirty="0" smtClean="0"/>
                  <a:t>.</a:t>
                </a:r>
              </a:p>
              <a:p>
                <a:endParaRPr lang="en-US" altLang="zh-CN" dirty="0" smtClean="0"/>
              </a:p>
              <a:p>
                <a:r>
                  <a:rPr lang="zh-CN" altLang="en-US" dirty="0" smtClean="0"/>
                  <a:t>例</a:t>
                </a:r>
                <a:r>
                  <a:rPr lang="en-US" altLang="zh-CN" dirty="0" smtClean="0"/>
                  <a:t>:</a:t>
                </a:r>
                <a:r>
                  <a:rPr lang="zh-CN" altLang="en-US" dirty="0" smtClean="0"/>
                  <a:t>在集合</a:t>
                </a:r>
                <a:r>
                  <a:rPr lang="en-US" altLang="zh-CN" dirty="0" smtClean="0"/>
                  <a:t>A={1,2,3,4}</a:t>
                </a:r>
                <a:r>
                  <a:rPr lang="zh-CN" altLang="en-US" dirty="0" smtClean="0"/>
                  <a:t>上的关系</a:t>
                </a:r>
                <a:r>
                  <a:rPr lang="en-US" altLang="zh-CN" dirty="0" smtClean="0"/>
                  <a:t>R={(1,2),(2,3),(3,4)}</a:t>
                </a:r>
                <a:r>
                  <a:rPr lang="zh-CN" altLang="en-US" dirty="0" smtClean="0"/>
                  <a:t>上存在一条从</a:t>
                </a:r>
                <a:r>
                  <a:rPr lang="en-US" altLang="zh-CN" dirty="0" smtClean="0"/>
                  <a:t>1</a:t>
                </a:r>
                <a:r>
                  <a:rPr lang="zh-CN" altLang="en-US" dirty="0" smtClean="0"/>
                  <a:t>到</a:t>
                </a:r>
                <a:r>
                  <a:rPr lang="en-US" altLang="zh-CN" dirty="0" smtClean="0"/>
                  <a:t>4</a:t>
                </a:r>
                <a:r>
                  <a:rPr lang="zh-CN" altLang="en-US" dirty="0" smtClean="0"/>
                  <a:t>的长度为</a:t>
                </a:r>
                <a:r>
                  <a:rPr lang="en-US" altLang="zh-CN" dirty="0" smtClean="0"/>
                  <a:t>3</a:t>
                </a:r>
                <a:r>
                  <a:rPr lang="zh-CN" altLang="en-US" dirty="0" smtClean="0"/>
                  <a:t>的路径</a:t>
                </a:r>
                <a:r>
                  <a:rPr lang="en-US" altLang="zh-CN" dirty="0" smtClean="0"/>
                  <a:t>1,2,3,4.</a:t>
                </a:r>
              </a:p>
              <a:p>
                <a:endParaRPr lang="en-US" altLang="zh-CN"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l="-999" t="-1310" r="-1887"/>
                </a:stretch>
              </a:blipFill>
            </p:spPr>
            <p:txBody>
              <a:bodyPr/>
              <a:lstStyle/>
              <a:p>
                <a:r>
                  <a:rPr lang="zh-CN" altLang="en-US">
                    <a:noFill/>
                  </a:rPr>
                  <a:t> </a:t>
                </a:r>
              </a:p>
            </p:txBody>
          </p:sp>
        </mc:Fallback>
      </mc:AlternateContent>
      <p:sp>
        <p:nvSpPr>
          <p:cNvPr id="4" name="日期占位符 3"/>
          <p:cNvSpPr>
            <a:spLocks noGrp="1"/>
          </p:cNvSpPr>
          <p:nvPr>
            <p:ph type="dt" sz="half" idx="10"/>
          </p:nvPr>
        </p:nvSpPr>
        <p:spPr/>
        <p:txBody>
          <a:bodyPr/>
          <a:lstStyle/>
          <a:p>
            <a:fld id="{FD049537-9C07-442A-9944-EDDC37351794}" type="datetime1">
              <a:rPr lang="zh-CN" altLang="en-US" smtClean="0"/>
              <a:t>2025/3/14</a:t>
            </a:fld>
            <a:endParaRPr lang="zh-CN" altLang="en-US" dirty="0"/>
          </a:p>
        </p:txBody>
      </p:sp>
      <p:sp>
        <p:nvSpPr>
          <p:cNvPr id="5" name="页脚占位符 4"/>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6" name="灯片编号占位符 5"/>
          <p:cNvSpPr>
            <a:spLocks noGrp="1"/>
          </p:cNvSpPr>
          <p:nvPr>
            <p:ph type="sldNum" sz="quarter" idx="12"/>
          </p:nvPr>
        </p:nvSpPr>
        <p:spPr/>
        <p:txBody>
          <a:bodyPr/>
          <a:lstStyle/>
          <a:p>
            <a:fld id="{67913A8A-9EFB-4B5F-9CCB-3D21173FAA85}" type="slidenum">
              <a:rPr lang="zh-CN" altLang="en-US" smtClean="0"/>
              <a:pPr/>
              <a:t>64</a:t>
            </a:fld>
            <a:endParaRPr lang="zh-CN" altLang="en-US" dirty="0"/>
          </a:p>
        </p:txBody>
      </p:sp>
    </p:spTree>
    <p:extLst>
      <p:ext uri="{BB962C8B-B14F-4D97-AF65-F5344CB8AC3E}">
        <p14:creationId xmlns:p14="http://schemas.microsoft.com/office/powerpoint/2010/main" val="2698498411"/>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457200" y="1143000"/>
            <a:ext cx="11277599" cy="838200"/>
          </a:xfrm>
          <a:prstGeom prst="rect">
            <a:avLst/>
          </a:prstGeom>
          <a:solidFill>
            <a:schemeClr val="accent5">
              <a:lumMod val="40000"/>
              <a:lumOff val="6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zh-CN" altLang="en-US" dirty="0"/>
              <a:t>闭包</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normAutofit lnSpcReduction="10000"/>
              </a:bodyPr>
              <a:lstStyle/>
              <a:p>
                <a:r>
                  <a:rPr lang="zh-CN" altLang="en-US" dirty="0" smtClean="0"/>
                  <a:t>定理</a:t>
                </a:r>
                <a:r>
                  <a:rPr lang="en-US" altLang="zh-CN" dirty="0" smtClean="0"/>
                  <a:t>: </a:t>
                </a:r>
                <a:r>
                  <a:rPr lang="zh-CN" altLang="en-US" dirty="0" smtClean="0"/>
                  <a:t>设</a:t>
                </a:r>
                <a:r>
                  <a:rPr lang="en-US" altLang="zh-CN" dirty="0" smtClean="0"/>
                  <a:t>R</a:t>
                </a:r>
                <a:r>
                  <a:rPr lang="zh-CN" altLang="en-US" dirty="0" smtClean="0"/>
                  <a:t>是集合</a:t>
                </a:r>
                <a:r>
                  <a:rPr lang="en-US" altLang="zh-CN" dirty="0" smtClean="0"/>
                  <a:t>A</a:t>
                </a:r>
                <a:r>
                  <a:rPr lang="zh-CN" altLang="en-US" dirty="0" smtClean="0"/>
                  <a:t>上的关系</a:t>
                </a:r>
                <a:r>
                  <a:rPr lang="en-US" altLang="zh-CN" dirty="0" smtClean="0"/>
                  <a:t>. </a:t>
                </a:r>
                <a:r>
                  <a:rPr lang="zh-CN" altLang="en-US" dirty="0" smtClean="0"/>
                  <a:t>从</a:t>
                </a:r>
                <a:r>
                  <a:rPr lang="en-US" altLang="zh-CN" dirty="0" smtClean="0"/>
                  <a:t>a</a:t>
                </a:r>
                <a:r>
                  <a:rPr lang="zh-CN" altLang="en-US" dirty="0" smtClean="0"/>
                  <a:t>到</a:t>
                </a:r>
                <a:r>
                  <a:rPr lang="en-US" altLang="zh-CN" dirty="0" smtClean="0"/>
                  <a:t>b</a:t>
                </a:r>
                <a:r>
                  <a:rPr lang="zh-CN" altLang="en-US" dirty="0" smtClean="0"/>
                  <a:t>存在一条长为</a:t>
                </a:r>
                <a14:m>
                  <m:oMath xmlns:m="http://schemas.openxmlformats.org/officeDocument/2006/math">
                    <m:r>
                      <a:rPr lang="en-US" altLang="zh-CN" i="1">
                        <a:latin typeface="Cambria Math" panose="02040503050406030204" pitchFamily="18" charset="0"/>
                      </a:rPr>
                      <m:t>𝑛</m:t>
                    </m:r>
                  </m:oMath>
                </a14:m>
                <a:r>
                  <a:rPr lang="en-US" altLang="zh-CN" dirty="0" smtClean="0"/>
                  <a:t>(</a:t>
                </a:r>
                <a14:m>
                  <m:oMath xmlns:m="http://schemas.openxmlformats.org/officeDocument/2006/math">
                    <m:r>
                      <a:rPr lang="en-US" altLang="zh-CN" i="1">
                        <a:latin typeface="Cambria Math" panose="02040503050406030204" pitchFamily="18" charset="0"/>
                      </a:rPr>
                      <m:t>𝑛</m:t>
                    </m:r>
                  </m:oMath>
                </a14:m>
                <a:r>
                  <a:rPr lang="zh-CN" altLang="en-US" dirty="0" smtClean="0"/>
                  <a:t>是正整数</a:t>
                </a:r>
                <a:r>
                  <a:rPr lang="en-US" altLang="zh-CN" dirty="0" smtClean="0"/>
                  <a:t>)</a:t>
                </a:r>
                <a:r>
                  <a:rPr lang="zh-CN" altLang="en-US" dirty="0" smtClean="0"/>
                  <a:t>的路径</a:t>
                </a:r>
                <a:r>
                  <a:rPr lang="en-US" altLang="zh-CN" dirty="0" smtClean="0"/>
                  <a:t>, </a:t>
                </a:r>
                <a:r>
                  <a:rPr lang="zh-CN" altLang="en-US" dirty="0" smtClean="0"/>
                  <a:t>当且仅当</a:t>
                </a:r>
                <a:r>
                  <a:rPr lang="en-US" altLang="zh-CN" dirty="0" smtClean="0"/>
                  <a:t>(</a:t>
                </a:r>
                <a:r>
                  <a:rPr lang="en-US" altLang="zh-CN" dirty="0" err="1" smtClean="0"/>
                  <a:t>a,b</a:t>
                </a:r>
                <a:r>
                  <a:rPr lang="en-US" altLang="zh-CN" dirty="0" smtClean="0"/>
                  <a:t>)</a:t>
                </a:r>
                <a14:m>
                  <m:oMath xmlns:m="http://schemas.openxmlformats.org/officeDocument/2006/math">
                    <m:r>
                      <a:rPr lang="zh-CN" altLang="en-US" i="1">
                        <a:latin typeface="Cambria Math" panose="02040503050406030204" pitchFamily="18" charset="0"/>
                      </a:rPr>
                      <m:t>∈</m:t>
                    </m:r>
                    <m:sSup>
                      <m:sSupPr>
                        <m:ctrlPr>
                          <a:rPr lang="en-US" altLang="zh-CN" i="1">
                            <a:latin typeface="Cambria Math" panose="02040503050406030204" pitchFamily="18" charset="0"/>
                          </a:rPr>
                        </m:ctrlPr>
                      </m:sSupPr>
                      <m:e>
                        <m:r>
                          <a:rPr lang="en-US" altLang="zh-CN" i="1">
                            <a:latin typeface="Cambria Math" panose="02040503050406030204" pitchFamily="18" charset="0"/>
                          </a:rPr>
                          <m:t>𝑅</m:t>
                        </m:r>
                      </m:e>
                      <m:sup>
                        <m:r>
                          <a:rPr lang="en-US" altLang="zh-CN" i="1">
                            <a:latin typeface="Cambria Math" panose="02040503050406030204" pitchFamily="18" charset="0"/>
                          </a:rPr>
                          <m:t>𝑛</m:t>
                        </m:r>
                      </m:sup>
                    </m:sSup>
                  </m:oMath>
                </a14:m>
                <a:r>
                  <a:rPr lang="en-US" altLang="zh-CN" dirty="0" smtClean="0"/>
                  <a:t>.</a:t>
                </a:r>
              </a:p>
              <a:p>
                <a:r>
                  <a:rPr lang="zh-CN" altLang="en-US" dirty="0" smtClean="0"/>
                  <a:t>证明：使用数学归纳法，根据定义从</a:t>
                </a:r>
                <a:r>
                  <a:rPr lang="en-US" altLang="zh-CN" dirty="0" smtClean="0"/>
                  <a:t>a</a:t>
                </a:r>
                <a:r>
                  <a:rPr lang="zh-CN" altLang="en-US" dirty="0" smtClean="0"/>
                  <a:t>到</a:t>
                </a:r>
                <a:r>
                  <a:rPr lang="en-US" altLang="zh-CN" dirty="0" smtClean="0"/>
                  <a:t>b</a:t>
                </a:r>
                <a:r>
                  <a:rPr lang="zh-CN" altLang="en-US" dirty="0" smtClean="0"/>
                  <a:t>存在一条长为</a:t>
                </a:r>
                <a:r>
                  <a:rPr lang="en-US" altLang="zh-CN" dirty="0" smtClean="0"/>
                  <a:t>1</a:t>
                </a:r>
                <a:r>
                  <a:rPr lang="zh-CN" altLang="en-US" dirty="0" smtClean="0"/>
                  <a:t>的路径当且仅当，</a:t>
                </a:r>
                <a:r>
                  <a:rPr lang="en-US" altLang="zh-CN" dirty="0"/>
                  <a:t>(</a:t>
                </a:r>
                <a:r>
                  <a:rPr lang="en-US" altLang="zh-CN" dirty="0" err="1"/>
                  <a:t>a,b</a:t>
                </a:r>
                <a:r>
                  <a:rPr lang="en-US" altLang="zh-CN" dirty="0"/>
                  <a:t>)</a:t>
                </a:r>
                <a14:m>
                  <m:oMath xmlns:m="http://schemas.openxmlformats.org/officeDocument/2006/math">
                    <m:r>
                      <a:rPr lang="zh-CN" altLang="en-US" i="1">
                        <a:latin typeface="Cambria Math" panose="02040503050406030204" pitchFamily="18" charset="0"/>
                      </a:rPr>
                      <m:t>∈</m:t>
                    </m:r>
                    <m:sSup>
                      <m:sSupPr>
                        <m:ctrlPr>
                          <a:rPr lang="en-US" altLang="zh-CN" i="1">
                            <a:latin typeface="Cambria Math" panose="02040503050406030204" pitchFamily="18" charset="0"/>
                          </a:rPr>
                        </m:ctrlPr>
                      </m:sSupPr>
                      <m:e>
                        <m:r>
                          <a:rPr lang="en-US" altLang="zh-CN" i="1">
                            <a:latin typeface="Cambria Math" panose="02040503050406030204" pitchFamily="18" charset="0"/>
                          </a:rPr>
                          <m:t>𝑅</m:t>
                        </m:r>
                      </m:e>
                      <m:sup/>
                    </m:sSup>
                    <m:r>
                      <a:rPr lang="zh-CN" altLang="en-US" i="1">
                        <a:latin typeface="Cambria Math" panose="02040503050406030204" pitchFamily="18" charset="0"/>
                      </a:rPr>
                      <m:t>。</m:t>
                    </m:r>
                  </m:oMath>
                </a14:m>
                <a:r>
                  <a:rPr lang="zh-CN" altLang="en-US" dirty="0" smtClean="0"/>
                  <a:t>因此，当</a:t>
                </a:r>
                <a:r>
                  <a:rPr lang="en-US" altLang="zh-CN" dirty="0" smtClean="0"/>
                  <a:t>n=1</a:t>
                </a:r>
                <a:r>
                  <a:rPr lang="zh-CN" altLang="en-US" dirty="0" smtClean="0"/>
                  <a:t>时，定理为真。</a:t>
                </a:r>
                <a:endParaRPr lang="en-US" altLang="zh-CN" dirty="0" smtClean="0"/>
              </a:p>
              <a:p>
                <a:pPr marL="0" indent="0">
                  <a:buNone/>
                </a:pPr>
                <a:r>
                  <a:rPr lang="zh-CN" altLang="en-US" dirty="0" smtClean="0"/>
                  <a:t>归纳假设，假定对于正整数</a:t>
                </a:r>
                <a:r>
                  <a:rPr lang="en-US" altLang="zh-CN" dirty="0" smtClean="0"/>
                  <a:t>n, </a:t>
                </a:r>
                <a:r>
                  <a:rPr lang="zh-CN" altLang="en-US" dirty="0" smtClean="0"/>
                  <a:t>定理为真。从</a:t>
                </a:r>
                <a:r>
                  <a:rPr lang="en-US" altLang="zh-CN" dirty="0" smtClean="0"/>
                  <a:t>a</a:t>
                </a:r>
                <a:r>
                  <a:rPr lang="zh-CN" altLang="en-US" dirty="0" smtClean="0"/>
                  <a:t>到</a:t>
                </a:r>
                <a:r>
                  <a:rPr lang="en-US" altLang="zh-CN" dirty="0" smtClean="0"/>
                  <a:t>b</a:t>
                </a:r>
                <a:r>
                  <a:rPr lang="zh-CN" altLang="en-US" dirty="0" smtClean="0"/>
                  <a:t>存在一条长为</a:t>
                </a:r>
                <a:r>
                  <a:rPr lang="en-US" altLang="zh-CN" dirty="0" smtClean="0"/>
                  <a:t>n+1</a:t>
                </a:r>
                <a:r>
                  <a:rPr lang="zh-CN" altLang="en-US" dirty="0" smtClean="0"/>
                  <a:t>的路径，当且仅当存在元素</a:t>
                </a:r>
                <a:r>
                  <a:rPr lang="en-US" altLang="zh-CN" dirty="0" smtClean="0"/>
                  <a:t>c</a:t>
                </a:r>
                <a14:m>
                  <m:oMath xmlns:m="http://schemas.openxmlformats.org/officeDocument/2006/math">
                    <m:r>
                      <a:rPr lang="zh-CN" altLang="en-US" i="1">
                        <a:latin typeface="Cambria Math" panose="02040503050406030204" pitchFamily="18" charset="0"/>
                      </a:rPr>
                      <m:t>∈</m:t>
                    </m:r>
                    <m:sSup>
                      <m:sSupPr>
                        <m:ctrlPr>
                          <a:rPr lang="en-US" altLang="zh-CN" i="1">
                            <a:latin typeface="Cambria Math" panose="02040503050406030204" pitchFamily="18" charset="0"/>
                          </a:rPr>
                        </m:ctrlPr>
                      </m:sSupPr>
                      <m:e>
                        <m:r>
                          <a:rPr lang="en-US" altLang="zh-CN" b="0" i="1" smtClean="0">
                            <a:latin typeface="Cambria Math" panose="02040503050406030204" pitchFamily="18" charset="0"/>
                          </a:rPr>
                          <m:t>𝐴</m:t>
                        </m:r>
                      </m:e>
                      <m:sup/>
                    </m:sSup>
                  </m:oMath>
                </a14:m>
                <a:r>
                  <a:rPr lang="zh-CN" altLang="en-US" dirty="0" smtClean="0"/>
                  <a:t>使得从</a:t>
                </a:r>
                <a:r>
                  <a:rPr lang="en-US" altLang="zh-CN" dirty="0" smtClean="0"/>
                  <a:t>a</a:t>
                </a:r>
                <a:r>
                  <a:rPr lang="zh-CN" altLang="en-US" dirty="0" smtClean="0"/>
                  <a:t>到</a:t>
                </a:r>
                <a:r>
                  <a:rPr lang="en-US" altLang="zh-CN" dirty="0" smtClean="0"/>
                  <a:t>c</a:t>
                </a:r>
                <a:r>
                  <a:rPr lang="zh-CN" altLang="en-US" dirty="0" smtClean="0"/>
                  <a:t>存在一条长为</a:t>
                </a:r>
                <a:r>
                  <a:rPr lang="en-US" altLang="zh-CN" dirty="0" smtClean="0"/>
                  <a:t>1</a:t>
                </a:r>
                <a:r>
                  <a:rPr lang="zh-CN" altLang="en-US" dirty="0" smtClean="0"/>
                  <a:t>的路径，即</a:t>
                </a:r>
                <a:r>
                  <a:rPr lang="en-US" altLang="zh-CN" dirty="0"/>
                  <a:t>(</a:t>
                </a:r>
                <a:r>
                  <a:rPr lang="en-US" altLang="zh-CN" dirty="0" err="1" smtClean="0"/>
                  <a:t>a,c</a:t>
                </a:r>
                <a:r>
                  <a:rPr lang="en-US" altLang="zh-CN" dirty="0" smtClean="0"/>
                  <a:t>)</a:t>
                </a:r>
                <a14:m>
                  <m:oMath xmlns:m="http://schemas.openxmlformats.org/officeDocument/2006/math">
                    <m:r>
                      <a:rPr lang="zh-CN" altLang="en-US" i="1">
                        <a:latin typeface="Cambria Math" panose="02040503050406030204" pitchFamily="18" charset="0"/>
                      </a:rPr>
                      <m:t>∈</m:t>
                    </m:r>
                    <m:sSup>
                      <m:sSupPr>
                        <m:ctrlPr>
                          <a:rPr lang="en-US" altLang="zh-CN" i="1">
                            <a:latin typeface="Cambria Math" panose="02040503050406030204" pitchFamily="18" charset="0"/>
                          </a:rPr>
                        </m:ctrlPr>
                      </m:sSupPr>
                      <m:e>
                        <m:r>
                          <a:rPr lang="en-US" altLang="zh-CN" i="1">
                            <a:latin typeface="Cambria Math" panose="02040503050406030204" pitchFamily="18" charset="0"/>
                          </a:rPr>
                          <m:t>𝑅</m:t>
                        </m:r>
                      </m:e>
                      <m:sup/>
                    </m:sSup>
                  </m:oMath>
                </a14:m>
                <a:r>
                  <a:rPr lang="en-US" altLang="zh-CN" dirty="0" smtClean="0"/>
                  <a:t>,</a:t>
                </a:r>
                <a:r>
                  <a:rPr lang="zh-CN" altLang="en-US" dirty="0" smtClean="0"/>
                  <a:t>以及一条从</a:t>
                </a:r>
                <a:r>
                  <a:rPr lang="en-US" altLang="zh-CN" dirty="0" smtClean="0"/>
                  <a:t>c</a:t>
                </a:r>
                <a:r>
                  <a:rPr lang="zh-CN" altLang="en-US" dirty="0" smtClean="0"/>
                  <a:t>到</a:t>
                </a:r>
                <a:r>
                  <a:rPr lang="en-US" altLang="zh-CN" dirty="0" smtClean="0"/>
                  <a:t>b</a:t>
                </a:r>
                <a:r>
                  <a:rPr lang="zh-CN" altLang="en-US" dirty="0" smtClean="0"/>
                  <a:t>的长为</a:t>
                </a:r>
                <a:r>
                  <a:rPr lang="en-US" altLang="zh-CN" dirty="0" smtClean="0"/>
                  <a:t>n</a:t>
                </a:r>
                <a:r>
                  <a:rPr lang="zh-CN" altLang="en-US" dirty="0" smtClean="0"/>
                  <a:t>的路径，即</a:t>
                </a:r>
                <a:r>
                  <a:rPr lang="en-US" altLang="zh-CN" dirty="0" smtClean="0"/>
                  <a:t>(</a:t>
                </a:r>
                <a:r>
                  <a:rPr lang="en-US" altLang="zh-CN" dirty="0" err="1"/>
                  <a:t>c</a:t>
                </a:r>
                <a:r>
                  <a:rPr lang="en-US" altLang="zh-CN" dirty="0" err="1" smtClean="0"/>
                  <a:t>,b</a:t>
                </a:r>
                <a:r>
                  <a:rPr lang="en-US" altLang="zh-CN" dirty="0"/>
                  <a:t>)</a:t>
                </a:r>
                <a14:m>
                  <m:oMath xmlns:m="http://schemas.openxmlformats.org/officeDocument/2006/math">
                    <m:r>
                      <a:rPr lang="zh-CN" altLang="en-US" i="1">
                        <a:latin typeface="Cambria Math" panose="02040503050406030204" pitchFamily="18" charset="0"/>
                      </a:rPr>
                      <m:t>∈</m:t>
                    </m:r>
                    <m:sSup>
                      <m:sSupPr>
                        <m:ctrlPr>
                          <a:rPr lang="en-US" altLang="zh-CN" i="1">
                            <a:latin typeface="Cambria Math" panose="02040503050406030204" pitchFamily="18" charset="0"/>
                          </a:rPr>
                        </m:ctrlPr>
                      </m:sSupPr>
                      <m:e>
                        <m:r>
                          <a:rPr lang="en-US" altLang="zh-CN" i="1">
                            <a:latin typeface="Cambria Math" panose="02040503050406030204" pitchFamily="18" charset="0"/>
                          </a:rPr>
                          <m:t>𝑅</m:t>
                        </m:r>
                      </m:e>
                      <m:sup>
                        <m:r>
                          <a:rPr lang="en-US" altLang="zh-CN" b="0" i="1" smtClean="0">
                            <a:latin typeface="Cambria Math" panose="02040503050406030204" pitchFamily="18" charset="0"/>
                          </a:rPr>
                          <m:t>𝑛</m:t>
                        </m:r>
                      </m:sup>
                    </m:sSup>
                    <m:r>
                      <a:rPr lang="zh-CN" altLang="en-US" i="1">
                        <a:latin typeface="Cambria Math" panose="02040503050406030204" pitchFamily="18" charset="0"/>
                      </a:rPr>
                      <m:t>。</m:t>
                    </m:r>
                  </m:oMath>
                </a14:m>
                <a:r>
                  <a:rPr lang="zh-CN" altLang="en-US" dirty="0" smtClean="0"/>
                  <a:t>因此，由归纳假设，从</a:t>
                </a:r>
                <a:r>
                  <a:rPr lang="en-US" altLang="zh-CN" dirty="0" smtClean="0"/>
                  <a:t>a</a:t>
                </a:r>
                <a:r>
                  <a:rPr lang="zh-CN" altLang="en-US" dirty="0" smtClean="0"/>
                  <a:t>到</a:t>
                </a:r>
                <a:r>
                  <a:rPr lang="en-US" altLang="zh-CN" dirty="0" smtClean="0"/>
                  <a:t>b</a:t>
                </a:r>
                <a:r>
                  <a:rPr lang="zh-CN" altLang="en-US" dirty="0" smtClean="0"/>
                  <a:t>存在一条长为</a:t>
                </a:r>
                <a:r>
                  <a:rPr lang="en-US" altLang="zh-CN" dirty="0" smtClean="0"/>
                  <a:t>n+1</a:t>
                </a:r>
                <a:r>
                  <a:rPr lang="zh-CN" altLang="en-US" dirty="0" smtClean="0"/>
                  <a:t>的路径，当且仅当存在一个元素</a:t>
                </a:r>
                <a:r>
                  <a:rPr lang="en-US" altLang="zh-CN" dirty="0" smtClean="0"/>
                  <a:t>c,</a:t>
                </a:r>
                <a:r>
                  <a:rPr lang="zh-CN" altLang="en-US" dirty="0" smtClean="0"/>
                  <a:t>使得</a:t>
                </a:r>
                <a:r>
                  <a:rPr lang="en-US" altLang="zh-CN" dirty="0"/>
                  <a:t>(</a:t>
                </a:r>
                <a:r>
                  <a:rPr lang="en-US" altLang="zh-CN" dirty="0" err="1"/>
                  <a:t>a,c</a:t>
                </a:r>
                <a:r>
                  <a:rPr lang="en-US" altLang="zh-CN" dirty="0"/>
                  <a:t>)</a:t>
                </a:r>
                <a14:m>
                  <m:oMath xmlns:m="http://schemas.openxmlformats.org/officeDocument/2006/math">
                    <m:r>
                      <a:rPr lang="zh-CN" altLang="en-US" i="1">
                        <a:latin typeface="Cambria Math" panose="02040503050406030204" pitchFamily="18" charset="0"/>
                      </a:rPr>
                      <m:t>∈</m:t>
                    </m:r>
                    <m:sSup>
                      <m:sSupPr>
                        <m:ctrlPr>
                          <a:rPr lang="en-US" altLang="zh-CN" i="1">
                            <a:latin typeface="Cambria Math" panose="02040503050406030204" pitchFamily="18" charset="0"/>
                          </a:rPr>
                        </m:ctrlPr>
                      </m:sSupPr>
                      <m:e>
                        <m:r>
                          <a:rPr lang="en-US" altLang="zh-CN" i="1">
                            <a:latin typeface="Cambria Math" panose="02040503050406030204" pitchFamily="18" charset="0"/>
                          </a:rPr>
                          <m:t>𝑅</m:t>
                        </m:r>
                      </m:e>
                      <m:sup/>
                    </m:sSup>
                  </m:oMath>
                </a14:m>
                <a:r>
                  <a:rPr lang="zh-CN" altLang="en-US" dirty="0" smtClean="0"/>
                  <a:t>且</a:t>
                </a:r>
                <a:r>
                  <a:rPr lang="en-US" altLang="zh-CN" dirty="0"/>
                  <a:t>(</a:t>
                </a:r>
                <a:r>
                  <a:rPr lang="en-US" altLang="zh-CN" dirty="0" err="1"/>
                  <a:t>c,b</a:t>
                </a:r>
                <a:r>
                  <a:rPr lang="en-US" altLang="zh-CN" dirty="0"/>
                  <a:t>)</a:t>
                </a:r>
                <a14:m>
                  <m:oMath xmlns:m="http://schemas.openxmlformats.org/officeDocument/2006/math">
                    <m:r>
                      <a:rPr lang="zh-CN" altLang="en-US" i="1">
                        <a:latin typeface="Cambria Math" panose="02040503050406030204" pitchFamily="18" charset="0"/>
                      </a:rPr>
                      <m:t>∈</m:t>
                    </m:r>
                    <m:sSup>
                      <m:sSupPr>
                        <m:ctrlPr>
                          <a:rPr lang="en-US" altLang="zh-CN" i="1">
                            <a:latin typeface="Cambria Math" panose="02040503050406030204" pitchFamily="18" charset="0"/>
                          </a:rPr>
                        </m:ctrlPr>
                      </m:sSupPr>
                      <m:e>
                        <m:r>
                          <a:rPr lang="en-US" altLang="zh-CN" i="1">
                            <a:latin typeface="Cambria Math" panose="02040503050406030204" pitchFamily="18" charset="0"/>
                          </a:rPr>
                          <m:t>𝑅</m:t>
                        </m:r>
                      </m:e>
                      <m:sup>
                        <m:r>
                          <a:rPr lang="en-US" altLang="zh-CN" i="1">
                            <a:latin typeface="Cambria Math" panose="02040503050406030204" pitchFamily="18" charset="0"/>
                          </a:rPr>
                          <m:t>𝑛</m:t>
                        </m:r>
                      </m:sup>
                    </m:sSup>
                  </m:oMath>
                </a14:m>
                <a:r>
                  <a:rPr lang="zh-CN" altLang="en-US" dirty="0" smtClean="0"/>
                  <a:t>。但是若存在这样一个元素，当且仅当</a:t>
                </a:r>
                <a:r>
                  <a:rPr lang="en-US" altLang="zh-CN" dirty="0"/>
                  <a:t>(</a:t>
                </a:r>
                <a:r>
                  <a:rPr lang="en-US" altLang="zh-CN" dirty="0" err="1"/>
                  <a:t>a,b</a:t>
                </a:r>
                <a:r>
                  <a:rPr lang="en-US" altLang="zh-CN" dirty="0"/>
                  <a:t>)</a:t>
                </a:r>
                <a14:m>
                  <m:oMath xmlns:m="http://schemas.openxmlformats.org/officeDocument/2006/math">
                    <m:r>
                      <a:rPr lang="zh-CN" altLang="en-US" i="1">
                        <a:latin typeface="Cambria Math" panose="02040503050406030204" pitchFamily="18" charset="0"/>
                      </a:rPr>
                      <m:t>∈</m:t>
                    </m:r>
                    <m:sSup>
                      <m:sSupPr>
                        <m:ctrlPr>
                          <a:rPr lang="en-US" altLang="zh-CN" i="1">
                            <a:latin typeface="Cambria Math" panose="02040503050406030204" pitchFamily="18" charset="0"/>
                          </a:rPr>
                        </m:ctrlPr>
                      </m:sSupPr>
                      <m:e>
                        <m:r>
                          <a:rPr lang="en-US" altLang="zh-CN" i="1">
                            <a:latin typeface="Cambria Math" panose="02040503050406030204" pitchFamily="18" charset="0"/>
                          </a:rPr>
                          <m:t>𝑅</m:t>
                        </m:r>
                      </m:e>
                      <m:sup>
                        <m:r>
                          <m:rPr>
                            <m:sty m:val="p"/>
                          </m:rPr>
                          <a:rPr lang="en-US" altLang="zh-CN" i="1">
                            <a:latin typeface="Cambria Math" panose="02040503050406030204" pitchFamily="18" charset="0"/>
                          </a:rPr>
                          <m:t>n</m:t>
                        </m:r>
                        <m:r>
                          <a:rPr lang="en-US" altLang="zh-CN" i="1">
                            <a:latin typeface="Cambria Math" panose="02040503050406030204" pitchFamily="18" charset="0"/>
                          </a:rPr>
                          <m:t>+1</m:t>
                        </m:r>
                      </m:sup>
                    </m:sSup>
                  </m:oMath>
                </a14:m>
                <a:r>
                  <a:rPr lang="zh-CN" altLang="en-US" dirty="0" smtClean="0"/>
                  <a:t>。因此，从</a:t>
                </a:r>
                <a:r>
                  <a:rPr lang="en-US" altLang="zh-CN" dirty="0" smtClean="0"/>
                  <a:t>a</a:t>
                </a:r>
                <a:r>
                  <a:rPr lang="zh-CN" altLang="en-US" dirty="0" smtClean="0"/>
                  <a:t>到</a:t>
                </a:r>
                <a:r>
                  <a:rPr lang="en-US" altLang="zh-CN" dirty="0" smtClean="0"/>
                  <a:t>b</a:t>
                </a:r>
                <a:r>
                  <a:rPr lang="zh-CN" altLang="en-US" dirty="0" smtClean="0"/>
                  <a:t>存在一条长为</a:t>
                </a:r>
                <a:r>
                  <a:rPr lang="en-US" altLang="zh-CN" dirty="0" smtClean="0"/>
                  <a:t>n+1</a:t>
                </a:r>
                <a:r>
                  <a:rPr lang="zh-CN" altLang="en-US" dirty="0" smtClean="0"/>
                  <a:t>的路径，当且仅当</a:t>
                </a:r>
                <a:r>
                  <a:rPr lang="en-US" altLang="zh-CN" dirty="0"/>
                  <a:t>(</a:t>
                </a:r>
                <a:r>
                  <a:rPr lang="en-US" altLang="zh-CN" dirty="0" err="1"/>
                  <a:t>a,b</a:t>
                </a:r>
                <a:r>
                  <a:rPr lang="en-US" altLang="zh-CN" dirty="0"/>
                  <a:t>)</a:t>
                </a:r>
                <a14:m>
                  <m:oMath xmlns:m="http://schemas.openxmlformats.org/officeDocument/2006/math">
                    <m:r>
                      <a:rPr lang="zh-CN" altLang="en-US" i="1">
                        <a:latin typeface="Cambria Math" panose="02040503050406030204" pitchFamily="18" charset="0"/>
                      </a:rPr>
                      <m:t>∈</m:t>
                    </m:r>
                    <m:sSup>
                      <m:sSupPr>
                        <m:ctrlPr>
                          <a:rPr lang="en-US" altLang="zh-CN" i="1">
                            <a:latin typeface="Cambria Math" panose="02040503050406030204" pitchFamily="18" charset="0"/>
                          </a:rPr>
                        </m:ctrlPr>
                      </m:sSupPr>
                      <m:e>
                        <m:r>
                          <a:rPr lang="en-US" altLang="zh-CN" i="1">
                            <a:latin typeface="Cambria Math" panose="02040503050406030204" pitchFamily="18" charset="0"/>
                          </a:rPr>
                          <m:t>𝑅</m:t>
                        </m:r>
                      </m:e>
                      <m:sup>
                        <m:r>
                          <m:rPr>
                            <m:sty m:val="p"/>
                          </m:rPr>
                          <a:rPr lang="en-US" altLang="zh-CN" i="1">
                            <a:latin typeface="Cambria Math" panose="02040503050406030204" pitchFamily="18" charset="0"/>
                          </a:rPr>
                          <m:t>n</m:t>
                        </m:r>
                        <m:r>
                          <a:rPr lang="en-US" altLang="zh-CN" i="1">
                            <a:latin typeface="Cambria Math" panose="02040503050406030204" pitchFamily="18" charset="0"/>
                          </a:rPr>
                          <m:t>+1</m:t>
                        </m:r>
                      </m:sup>
                    </m:sSup>
                  </m:oMath>
                </a14:m>
                <a:r>
                  <a:rPr lang="zh-CN" altLang="en-US" dirty="0" smtClean="0"/>
                  <a:t>，定理得证。</a:t>
                </a:r>
                <a:endParaRPr lang="en-US" altLang="zh-CN" dirty="0" smtClean="0"/>
              </a:p>
              <a:p>
                <a:endParaRPr lang="en-US" altLang="zh-CN" dirty="0"/>
              </a:p>
              <a:p>
                <a:pPr marL="0" indent="0">
                  <a:buNone/>
                </a:pPr>
                <a:endParaRPr lang="en-US" altLang="zh-CN" dirty="0" smtClean="0"/>
              </a:p>
              <a:p>
                <a:endParaRPr lang="en-US" altLang="zh-CN" dirty="0"/>
              </a:p>
              <a:p>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rotWithShape="0">
                <a:blip r:embed="rId2"/>
                <a:stretch>
                  <a:fillRect l="-1165" t="-2143" r="-832"/>
                </a:stretch>
              </a:blipFill>
            </p:spPr>
            <p:txBody>
              <a:bodyPr/>
              <a:lstStyle/>
              <a:p>
                <a:r>
                  <a:rPr lang="zh-CN" altLang="en-US">
                    <a:noFill/>
                  </a:rPr>
                  <a:t> </a:t>
                </a:r>
              </a:p>
            </p:txBody>
          </p:sp>
        </mc:Fallback>
      </mc:AlternateContent>
      <p:sp>
        <p:nvSpPr>
          <p:cNvPr id="4" name="日期占位符 3"/>
          <p:cNvSpPr>
            <a:spLocks noGrp="1"/>
          </p:cNvSpPr>
          <p:nvPr>
            <p:ph type="dt" sz="half" idx="10"/>
          </p:nvPr>
        </p:nvSpPr>
        <p:spPr/>
        <p:txBody>
          <a:bodyPr/>
          <a:lstStyle/>
          <a:p>
            <a:fld id="{CE5A816B-4EAF-44A1-9536-8A9E6415E78A}" type="datetime1">
              <a:rPr lang="zh-CN" altLang="en-US" smtClean="0"/>
              <a:t>2025/3/14</a:t>
            </a:fld>
            <a:endParaRPr lang="zh-CN" altLang="en-US" dirty="0"/>
          </a:p>
        </p:txBody>
      </p:sp>
      <p:sp>
        <p:nvSpPr>
          <p:cNvPr id="5" name="页脚占位符 4"/>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6" name="灯片编号占位符 5"/>
          <p:cNvSpPr>
            <a:spLocks noGrp="1"/>
          </p:cNvSpPr>
          <p:nvPr>
            <p:ph type="sldNum" sz="quarter" idx="12"/>
          </p:nvPr>
        </p:nvSpPr>
        <p:spPr/>
        <p:txBody>
          <a:bodyPr/>
          <a:lstStyle/>
          <a:p>
            <a:fld id="{67913A8A-9EFB-4B5F-9CCB-3D21173FAA85}" type="slidenum">
              <a:rPr lang="zh-CN" altLang="en-US" smtClean="0"/>
              <a:pPr/>
              <a:t>65</a:t>
            </a:fld>
            <a:endParaRPr lang="zh-CN" altLang="en-US" dirty="0"/>
          </a:p>
        </p:txBody>
      </p:sp>
    </p:spTree>
    <p:extLst>
      <p:ext uri="{BB962C8B-B14F-4D97-AF65-F5344CB8AC3E}">
        <p14:creationId xmlns:p14="http://schemas.microsoft.com/office/powerpoint/2010/main" val="2512710406"/>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457200" y="1143000"/>
            <a:ext cx="11277599" cy="838200"/>
          </a:xfrm>
          <a:prstGeom prst="rect">
            <a:avLst/>
          </a:prstGeom>
          <a:solidFill>
            <a:schemeClr val="accent5">
              <a:lumMod val="40000"/>
              <a:lumOff val="6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zh-CN" altLang="en-US" dirty="0"/>
              <a:t>闭包</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zh-CN" altLang="en-US" dirty="0" smtClean="0"/>
                  <a:t>定理</a:t>
                </a:r>
                <a:r>
                  <a:rPr lang="en-US" altLang="zh-CN" dirty="0" smtClean="0"/>
                  <a:t>: </a:t>
                </a:r>
                <a:r>
                  <a:rPr lang="zh-CN" altLang="en-US" dirty="0" smtClean="0"/>
                  <a:t>设</a:t>
                </a:r>
                <a:r>
                  <a:rPr lang="en-US" altLang="zh-CN" dirty="0" smtClean="0"/>
                  <a:t>R</a:t>
                </a:r>
                <a:r>
                  <a:rPr lang="zh-CN" altLang="en-US" dirty="0" smtClean="0"/>
                  <a:t>是集合</a:t>
                </a:r>
                <a:r>
                  <a:rPr lang="en-US" altLang="zh-CN" dirty="0" smtClean="0"/>
                  <a:t>A</a:t>
                </a:r>
                <a:r>
                  <a:rPr lang="zh-CN" altLang="en-US" dirty="0" smtClean="0"/>
                  <a:t>上的关系</a:t>
                </a:r>
                <a:r>
                  <a:rPr lang="en-US" altLang="zh-CN" dirty="0" smtClean="0"/>
                  <a:t>. </a:t>
                </a:r>
                <a:r>
                  <a:rPr lang="zh-CN" altLang="en-US" dirty="0" smtClean="0"/>
                  <a:t>从</a:t>
                </a:r>
                <a:r>
                  <a:rPr lang="en-US" altLang="zh-CN" dirty="0" smtClean="0"/>
                  <a:t>a</a:t>
                </a:r>
                <a:r>
                  <a:rPr lang="zh-CN" altLang="en-US" dirty="0" smtClean="0"/>
                  <a:t>到</a:t>
                </a:r>
                <a:r>
                  <a:rPr lang="en-US" altLang="zh-CN" dirty="0" smtClean="0"/>
                  <a:t>b</a:t>
                </a:r>
                <a:r>
                  <a:rPr lang="zh-CN" altLang="en-US" dirty="0" smtClean="0"/>
                  <a:t>存在一条长为</a:t>
                </a:r>
                <a14:m>
                  <m:oMath xmlns:m="http://schemas.openxmlformats.org/officeDocument/2006/math">
                    <m:r>
                      <a:rPr lang="en-US" altLang="zh-CN" i="1">
                        <a:latin typeface="Cambria Math" panose="02040503050406030204" pitchFamily="18" charset="0"/>
                      </a:rPr>
                      <m:t>𝑛</m:t>
                    </m:r>
                  </m:oMath>
                </a14:m>
                <a:r>
                  <a:rPr lang="en-US" altLang="zh-CN" dirty="0" smtClean="0"/>
                  <a:t>(</a:t>
                </a:r>
                <a14:m>
                  <m:oMath xmlns:m="http://schemas.openxmlformats.org/officeDocument/2006/math">
                    <m:r>
                      <a:rPr lang="en-US" altLang="zh-CN" i="1">
                        <a:latin typeface="Cambria Math" panose="02040503050406030204" pitchFamily="18" charset="0"/>
                      </a:rPr>
                      <m:t>𝑛</m:t>
                    </m:r>
                  </m:oMath>
                </a14:m>
                <a:r>
                  <a:rPr lang="zh-CN" altLang="en-US" dirty="0" smtClean="0"/>
                  <a:t>是正整数</a:t>
                </a:r>
                <a:r>
                  <a:rPr lang="en-US" altLang="zh-CN" dirty="0" smtClean="0"/>
                  <a:t>)</a:t>
                </a:r>
                <a:r>
                  <a:rPr lang="zh-CN" altLang="en-US" dirty="0" smtClean="0"/>
                  <a:t>的路径</a:t>
                </a:r>
                <a:r>
                  <a:rPr lang="en-US" altLang="zh-CN" dirty="0" smtClean="0"/>
                  <a:t>, </a:t>
                </a:r>
                <a:r>
                  <a:rPr lang="zh-CN" altLang="en-US" dirty="0" smtClean="0"/>
                  <a:t>当且仅当</a:t>
                </a:r>
                <a:r>
                  <a:rPr lang="en-US" altLang="zh-CN" dirty="0" smtClean="0"/>
                  <a:t>(</a:t>
                </a:r>
                <a:r>
                  <a:rPr lang="en-US" altLang="zh-CN" dirty="0" err="1" smtClean="0"/>
                  <a:t>a,b</a:t>
                </a:r>
                <a:r>
                  <a:rPr lang="en-US" altLang="zh-CN" dirty="0" smtClean="0"/>
                  <a:t>)</a:t>
                </a:r>
                <a14:m>
                  <m:oMath xmlns:m="http://schemas.openxmlformats.org/officeDocument/2006/math">
                    <m:r>
                      <a:rPr lang="zh-CN" altLang="en-US" i="1">
                        <a:latin typeface="Cambria Math" panose="02040503050406030204" pitchFamily="18" charset="0"/>
                      </a:rPr>
                      <m:t>∈</m:t>
                    </m:r>
                    <m:sSup>
                      <m:sSupPr>
                        <m:ctrlPr>
                          <a:rPr lang="en-US" altLang="zh-CN" i="1">
                            <a:latin typeface="Cambria Math" panose="02040503050406030204" pitchFamily="18" charset="0"/>
                          </a:rPr>
                        </m:ctrlPr>
                      </m:sSupPr>
                      <m:e>
                        <m:r>
                          <a:rPr lang="en-US" altLang="zh-CN" i="1">
                            <a:latin typeface="Cambria Math" panose="02040503050406030204" pitchFamily="18" charset="0"/>
                          </a:rPr>
                          <m:t>𝑅</m:t>
                        </m:r>
                      </m:e>
                      <m:sup>
                        <m:r>
                          <a:rPr lang="en-US" altLang="zh-CN" i="1">
                            <a:latin typeface="Cambria Math" panose="02040503050406030204" pitchFamily="18" charset="0"/>
                          </a:rPr>
                          <m:t>𝑛</m:t>
                        </m:r>
                      </m:sup>
                    </m:sSup>
                  </m:oMath>
                </a14:m>
                <a:r>
                  <a:rPr lang="en-US" altLang="zh-CN" dirty="0" smtClean="0"/>
                  <a:t>.</a:t>
                </a:r>
              </a:p>
              <a:p>
                <a:endParaRPr lang="en-US" altLang="zh-CN" dirty="0"/>
              </a:p>
              <a:p>
                <a:r>
                  <a:rPr lang="zh-CN" altLang="en-US" dirty="0"/>
                  <a:t>例</a:t>
                </a:r>
                <a:r>
                  <a:rPr lang="en-US" altLang="zh-CN" dirty="0"/>
                  <a:t>:</a:t>
                </a:r>
                <a:r>
                  <a:rPr lang="zh-CN" altLang="en-US" dirty="0"/>
                  <a:t>在集合</a:t>
                </a:r>
                <a:r>
                  <a:rPr lang="en-US" altLang="zh-CN" dirty="0"/>
                  <a:t>A={1,2,3,4}</a:t>
                </a:r>
                <a:r>
                  <a:rPr lang="zh-CN" altLang="en-US" dirty="0"/>
                  <a:t>上的关系</a:t>
                </a:r>
                <a:r>
                  <a:rPr lang="en-US" altLang="zh-CN" dirty="0"/>
                  <a:t>R={(1,2),(2,3),(3,4)}</a:t>
                </a:r>
                <a:r>
                  <a:rPr lang="zh-CN" altLang="en-US" dirty="0"/>
                  <a:t>上存在一条从</a:t>
                </a:r>
                <a:r>
                  <a:rPr lang="en-US" altLang="zh-CN" dirty="0"/>
                  <a:t>1</a:t>
                </a:r>
                <a:r>
                  <a:rPr lang="zh-CN" altLang="en-US" dirty="0"/>
                  <a:t>到</a:t>
                </a:r>
                <a:r>
                  <a:rPr lang="en-US" altLang="zh-CN" dirty="0"/>
                  <a:t>4</a:t>
                </a:r>
                <a:r>
                  <a:rPr lang="zh-CN" altLang="en-US" dirty="0"/>
                  <a:t>的长度为</a:t>
                </a:r>
                <a:r>
                  <a:rPr lang="en-US" altLang="zh-CN" dirty="0"/>
                  <a:t>3</a:t>
                </a:r>
                <a:r>
                  <a:rPr lang="zh-CN" altLang="en-US" dirty="0"/>
                  <a:t>的路径</a:t>
                </a:r>
                <a:r>
                  <a:rPr lang="en-US" altLang="zh-CN" dirty="0"/>
                  <a:t>1,2,3,4</a:t>
                </a:r>
                <a:r>
                  <a:rPr lang="en-US" altLang="zh-CN" dirty="0" smtClean="0"/>
                  <a:t>. </a:t>
                </a:r>
                <a:r>
                  <a:rPr lang="zh-CN" altLang="en-US" dirty="0" smtClean="0"/>
                  <a:t>那么根据定理可知</a:t>
                </a:r>
                <a:r>
                  <a:rPr lang="en-US" altLang="zh-CN" dirty="0" smtClean="0"/>
                  <a:t>(1,4)</a:t>
                </a:r>
                <a:r>
                  <a:rPr lang="zh-CN" altLang="en-US" dirty="0"/>
                  <a:t> </a:t>
                </a:r>
                <a14:m>
                  <m:oMath xmlns:m="http://schemas.openxmlformats.org/officeDocument/2006/math">
                    <m:r>
                      <a:rPr lang="zh-CN" altLang="en-US" i="1">
                        <a:latin typeface="Cambria Math" panose="02040503050406030204" pitchFamily="18" charset="0"/>
                      </a:rPr>
                      <m:t>∈</m:t>
                    </m:r>
                    <m:sSup>
                      <m:sSupPr>
                        <m:ctrlPr>
                          <a:rPr lang="en-US" altLang="zh-CN" i="1">
                            <a:latin typeface="Cambria Math" panose="02040503050406030204" pitchFamily="18" charset="0"/>
                          </a:rPr>
                        </m:ctrlPr>
                      </m:sSupPr>
                      <m:e>
                        <m:r>
                          <a:rPr lang="en-US" altLang="zh-CN" i="1">
                            <a:latin typeface="Cambria Math" panose="02040503050406030204" pitchFamily="18" charset="0"/>
                          </a:rPr>
                          <m:t>𝑅</m:t>
                        </m:r>
                      </m:e>
                      <m:sup>
                        <m:r>
                          <a:rPr lang="en-US" altLang="zh-CN" b="0" i="1" smtClean="0">
                            <a:latin typeface="Cambria Math" panose="02040503050406030204" pitchFamily="18" charset="0"/>
                          </a:rPr>
                          <m:t>3</m:t>
                        </m:r>
                      </m:sup>
                    </m:sSup>
                  </m:oMath>
                </a14:m>
                <a:r>
                  <a:rPr lang="en-US" altLang="zh-CN" dirty="0" smtClean="0"/>
                  <a:t>.</a:t>
                </a:r>
              </a:p>
              <a:p>
                <a:pPr marL="0" indent="0">
                  <a:buNone/>
                </a:pPr>
                <a:r>
                  <a:rPr lang="en-US" altLang="zh-CN" dirty="0" smtClean="0"/>
                  <a:t>	</a:t>
                </a:r>
                <a14:m>
                  <m:oMath xmlns:m="http://schemas.openxmlformats.org/officeDocument/2006/math">
                    <m:sSup>
                      <m:sSupPr>
                        <m:ctrlPr>
                          <a:rPr lang="en-US" altLang="zh-CN" i="1">
                            <a:latin typeface="Cambria Math" panose="02040503050406030204" pitchFamily="18" charset="0"/>
                          </a:rPr>
                        </m:ctrlPr>
                      </m:sSupPr>
                      <m:e>
                        <m:r>
                          <a:rPr lang="en-US" altLang="zh-CN" i="1">
                            <a:latin typeface="Cambria Math" panose="02040503050406030204" pitchFamily="18" charset="0"/>
                          </a:rPr>
                          <m:t>𝑅</m:t>
                        </m:r>
                      </m:e>
                      <m:sup>
                        <m:r>
                          <a:rPr lang="en-US" altLang="zh-CN" b="0" i="1" smtClean="0">
                            <a:latin typeface="Cambria Math" panose="02040503050406030204" pitchFamily="18" charset="0"/>
                          </a:rPr>
                          <m:t>1</m:t>
                        </m:r>
                      </m:sup>
                    </m:sSup>
                  </m:oMath>
                </a14:m>
                <a:r>
                  <a:rPr lang="en-US" altLang="zh-CN" dirty="0" smtClean="0"/>
                  <a:t>=R={(</a:t>
                </a:r>
                <a:r>
                  <a:rPr lang="en-US" altLang="zh-CN" dirty="0"/>
                  <a:t>1,2),(2,3),(3,4)}</a:t>
                </a:r>
                <a:endParaRPr lang="en-US" altLang="zh-CN" dirty="0" smtClean="0"/>
              </a:p>
              <a:p>
                <a:pPr marL="0" indent="0">
                  <a:buNone/>
                </a:pPr>
                <a:r>
                  <a:rPr lang="en-US" altLang="zh-CN" dirty="0" smtClean="0"/>
                  <a:t>	</a:t>
                </a:r>
                <a14:m>
                  <m:oMath xmlns:m="http://schemas.openxmlformats.org/officeDocument/2006/math">
                    <m:sSup>
                      <m:sSupPr>
                        <m:ctrlPr>
                          <a:rPr lang="en-US" altLang="zh-CN" i="1">
                            <a:latin typeface="Cambria Math" panose="02040503050406030204" pitchFamily="18" charset="0"/>
                          </a:rPr>
                        </m:ctrlPr>
                      </m:sSupPr>
                      <m:e>
                        <m:r>
                          <a:rPr lang="en-US" altLang="zh-CN" i="1">
                            <a:latin typeface="Cambria Math" panose="02040503050406030204" pitchFamily="18" charset="0"/>
                          </a:rPr>
                          <m:t>𝑅</m:t>
                        </m:r>
                      </m:e>
                      <m:sup>
                        <m:r>
                          <a:rPr lang="en-US" altLang="zh-CN" b="0" i="1" smtClean="0">
                            <a:latin typeface="Cambria Math" panose="02040503050406030204" pitchFamily="18" charset="0"/>
                          </a:rPr>
                          <m:t>2</m:t>
                        </m:r>
                      </m:sup>
                    </m:sSup>
                  </m:oMath>
                </a14:m>
                <a:r>
                  <a:rPr lang="en-US" altLang="zh-CN" dirty="0" smtClean="0"/>
                  <a:t>=</a:t>
                </a:r>
                <a14:m>
                  <m:oMath xmlns:m="http://schemas.openxmlformats.org/officeDocument/2006/math">
                    <m:sSup>
                      <m:sSupPr>
                        <m:ctrlPr>
                          <a:rPr lang="en-US" altLang="zh-CN" i="1">
                            <a:latin typeface="Cambria Math" panose="02040503050406030204" pitchFamily="18" charset="0"/>
                          </a:rPr>
                        </m:ctrlPr>
                      </m:sSupPr>
                      <m:e>
                        <m:r>
                          <a:rPr lang="en-US" altLang="zh-CN" i="1">
                            <a:latin typeface="Cambria Math" panose="02040503050406030204" pitchFamily="18" charset="0"/>
                          </a:rPr>
                          <m:t>𝑅</m:t>
                        </m:r>
                      </m:e>
                      <m:sup>
                        <m:r>
                          <a:rPr lang="en-US" altLang="zh-CN" i="1">
                            <a:latin typeface="Cambria Math" panose="02040503050406030204" pitchFamily="18" charset="0"/>
                          </a:rPr>
                          <m:t>1</m:t>
                        </m:r>
                      </m:sup>
                    </m:sSup>
                    <m:r>
                      <a:rPr lang="en-US" altLang="zh-CN" i="1" dirty="0">
                        <a:latin typeface="Cambria Math" panose="02040503050406030204" pitchFamily="18" charset="0"/>
                        <a:ea typeface="Cambria Math" panose="02040503050406030204" pitchFamily="18" charset="0"/>
                      </a:rPr>
                      <m:t>∘</m:t>
                    </m:r>
                  </m:oMath>
                </a14:m>
                <a:r>
                  <a:rPr lang="en-US" altLang="zh-CN" dirty="0" smtClean="0"/>
                  <a:t>R={(1,3),(2,4)}</a:t>
                </a:r>
              </a:p>
              <a:p>
                <a:pPr marL="0" indent="0">
                  <a:buNone/>
                </a:pPr>
                <a:r>
                  <a:rPr lang="en-US" altLang="zh-CN" dirty="0" smtClean="0"/>
                  <a:t>	</a:t>
                </a:r>
                <a14:m>
                  <m:oMath xmlns:m="http://schemas.openxmlformats.org/officeDocument/2006/math">
                    <m:sSup>
                      <m:sSupPr>
                        <m:ctrlPr>
                          <a:rPr lang="en-US" altLang="zh-CN" i="1">
                            <a:latin typeface="Cambria Math" panose="02040503050406030204" pitchFamily="18" charset="0"/>
                          </a:rPr>
                        </m:ctrlPr>
                      </m:sSupPr>
                      <m:e>
                        <m:r>
                          <a:rPr lang="en-US" altLang="zh-CN" i="1">
                            <a:latin typeface="Cambria Math" panose="02040503050406030204" pitchFamily="18" charset="0"/>
                          </a:rPr>
                          <m:t>𝑅</m:t>
                        </m:r>
                      </m:e>
                      <m:sup>
                        <m:r>
                          <a:rPr lang="en-US" altLang="zh-CN" b="0" i="1" smtClean="0">
                            <a:latin typeface="Cambria Math" panose="02040503050406030204" pitchFamily="18" charset="0"/>
                          </a:rPr>
                          <m:t>3</m:t>
                        </m:r>
                      </m:sup>
                    </m:sSup>
                  </m:oMath>
                </a14:m>
                <a:r>
                  <a:rPr lang="en-US" altLang="zh-CN" dirty="0"/>
                  <a:t>=</a:t>
                </a:r>
                <a14:m>
                  <m:oMath xmlns:m="http://schemas.openxmlformats.org/officeDocument/2006/math">
                    <m:sSup>
                      <m:sSupPr>
                        <m:ctrlPr>
                          <a:rPr lang="en-US" altLang="zh-CN" i="1">
                            <a:latin typeface="Cambria Math" panose="02040503050406030204" pitchFamily="18" charset="0"/>
                          </a:rPr>
                        </m:ctrlPr>
                      </m:sSupPr>
                      <m:e>
                        <m:r>
                          <a:rPr lang="en-US" altLang="zh-CN" i="1">
                            <a:latin typeface="Cambria Math" panose="02040503050406030204" pitchFamily="18" charset="0"/>
                          </a:rPr>
                          <m:t>𝑅</m:t>
                        </m:r>
                      </m:e>
                      <m:sup>
                        <m:r>
                          <a:rPr lang="en-US" altLang="zh-CN" b="0" i="1" smtClean="0">
                            <a:latin typeface="Cambria Math" panose="02040503050406030204" pitchFamily="18" charset="0"/>
                          </a:rPr>
                          <m:t>2</m:t>
                        </m:r>
                      </m:sup>
                    </m:sSup>
                    <m:r>
                      <a:rPr lang="en-US" altLang="zh-CN" i="1" dirty="0" smtClean="0">
                        <a:latin typeface="Cambria Math" panose="02040503050406030204" pitchFamily="18" charset="0"/>
                        <a:ea typeface="Cambria Math" panose="02040503050406030204" pitchFamily="18" charset="0"/>
                      </a:rPr>
                      <m:t>∘</m:t>
                    </m:r>
                  </m:oMath>
                </a14:m>
                <a:r>
                  <a:rPr lang="en-US" altLang="zh-CN" dirty="0"/>
                  <a:t>R</a:t>
                </a:r>
                <a:r>
                  <a:rPr lang="en-US" altLang="zh-CN" dirty="0" smtClean="0"/>
                  <a:t>={(1,4)}</a:t>
                </a:r>
                <a:endParaRPr lang="en-US" altLang="zh-CN" dirty="0"/>
              </a:p>
              <a:p>
                <a:endParaRPr lang="en-US" altLang="zh-CN" dirty="0" smtClean="0"/>
              </a:p>
              <a:p>
                <a:endParaRPr lang="en-US" altLang="zh-CN" dirty="0"/>
              </a:p>
              <a:p>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rotWithShape="0">
                <a:blip r:embed="rId2"/>
                <a:stretch>
                  <a:fillRect l="-999" t="-1310" r="-832"/>
                </a:stretch>
              </a:blipFill>
            </p:spPr>
            <p:txBody>
              <a:bodyPr/>
              <a:lstStyle/>
              <a:p>
                <a:r>
                  <a:rPr lang="zh-CN" altLang="en-US">
                    <a:noFill/>
                  </a:rPr>
                  <a:t> </a:t>
                </a:r>
              </a:p>
            </p:txBody>
          </p:sp>
        </mc:Fallback>
      </mc:AlternateContent>
      <p:sp>
        <p:nvSpPr>
          <p:cNvPr id="4" name="日期占位符 3"/>
          <p:cNvSpPr>
            <a:spLocks noGrp="1"/>
          </p:cNvSpPr>
          <p:nvPr>
            <p:ph type="dt" sz="half" idx="10"/>
          </p:nvPr>
        </p:nvSpPr>
        <p:spPr/>
        <p:txBody>
          <a:bodyPr/>
          <a:lstStyle/>
          <a:p>
            <a:fld id="{CE5A816B-4EAF-44A1-9536-8A9E6415E78A}" type="datetime1">
              <a:rPr lang="zh-CN" altLang="en-US" smtClean="0"/>
              <a:t>2025/3/14</a:t>
            </a:fld>
            <a:endParaRPr lang="zh-CN" altLang="en-US" dirty="0"/>
          </a:p>
        </p:txBody>
      </p:sp>
      <p:sp>
        <p:nvSpPr>
          <p:cNvPr id="5" name="页脚占位符 4"/>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6" name="灯片编号占位符 5"/>
          <p:cNvSpPr>
            <a:spLocks noGrp="1"/>
          </p:cNvSpPr>
          <p:nvPr>
            <p:ph type="sldNum" sz="quarter" idx="12"/>
          </p:nvPr>
        </p:nvSpPr>
        <p:spPr/>
        <p:txBody>
          <a:bodyPr/>
          <a:lstStyle/>
          <a:p>
            <a:fld id="{67913A8A-9EFB-4B5F-9CCB-3D21173FAA85}" type="slidenum">
              <a:rPr lang="zh-CN" altLang="en-US" smtClean="0"/>
              <a:pPr/>
              <a:t>66</a:t>
            </a:fld>
            <a:endParaRPr lang="zh-CN" altLang="en-US" dirty="0"/>
          </a:p>
        </p:txBody>
      </p:sp>
    </p:spTree>
    <p:extLst>
      <p:ext uri="{BB962C8B-B14F-4D97-AF65-F5344CB8AC3E}">
        <p14:creationId xmlns:p14="http://schemas.microsoft.com/office/powerpoint/2010/main" val="2649339446"/>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457200" y="1143000"/>
            <a:ext cx="11277599" cy="838200"/>
          </a:xfrm>
          <a:prstGeom prst="rect">
            <a:avLst/>
          </a:prstGeom>
          <a:solidFill>
            <a:schemeClr val="accent5">
              <a:lumMod val="40000"/>
              <a:lumOff val="6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zh-CN" altLang="en-US" dirty="0" smtClean="0"/>
              <a:t>传递闭包</a:t>
            </a:r>
            <a:endParaRPr lang="zh-CN" altLang="en-US" dirty="0"/>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zh-CN" altLang="en-US" dirty="0" smtClean="0"/>
                  <a:t>定义</a:t>
                </a:r>
                <a:r>
                  <a:rPr lang="en-US" altLang="zh-CN" dirty="0" smtClean="0"/>
                  <a:t>: </a:t>
                </a:r>
                <a:r>
                  <a:rPr lang="zh-CN" altLang="en-US" dirty="0" smtClean="0"/>
                  <a:t>设</a:t>
                </a:r>
                <a:r>
                  <a:rPr lang="en-US" altLang="zh-CN" dirty="0" smtClean="0"/>
                  <a:t>R</a:t>
                </a:r>
                <a:r>
                  <a:rPr lang="zh-CN" altLang="en-US" dirty="0" smtClean="0"/>
                  <a:t>是集合</a:t>
                </a:r>
                <a:r>
                  <a:rPr lang="en-US" altLang="zh-CN" dirty="0" smtClean="0"/>
                  <a:t>A</a:t>
                </a:r>
                <a:r>
                  <a:rPr lang="zh-CN" altLang="en-US" dirty="0" smtClean="0"/>
                  <a:t>上的关系</a:t>
                </a:r>
                <a:r>
                  <a:rPr lang="en-US" altLang="zh-CN" dirty="0" smtClean="0"/>
                  <a:t>. </a:t>
                </a:r>
                <a:r>
                  <a:rPr lang="zh-CN" altLang="en-US" b="1" dirty="0" smtClean="0">
                    <a:solidFill>
                      <a:srgbClr val="C00000"/>
                    </a:solidFill>
                  </a:rPr>
                  <a:t>连通性关系</a:t>
                </a:r>
                <a14:m>
                  <m:oMath xmlns:m="http://schemas.openxmlformats.org/officeDocument/2006/math">
                    <m:sSup>
                      <m:sSupPr>
                        <m:ctrlPr>
                          <a:rPr lang="en-US" altLang="zh-CN" i="1" smtClean="0">
                            <a:latin typeface="Cambria Math" panose="02040503050406030204" pitchFamily="18" charset="0"/>
                          </a:rPr>
                        </m:ctrlPr>
                      </m:sSupPr>
                      <m:e>
                        <m:r>
                          <m:rPr>
                            <m:sty m:val="p"/>
                          </m:rPr>
                          <a:rPr lang="en-US" altLang="zh-CN" i="1">
                            <a:latin typeface="Cambria Math" panose="02040503050406030204" pitchFamily="18" charset="0"/>
                          </a:rPr>
                          <m:t>R</m:t>
                        </m:r>
                      </m:e>
                      <m:sup>
                        <m:r>
                          <a:rPr lang="en-US" altLang="zh-CN" b="0" i="1" smtClean="0">
                            <a:latin typeface="Cambria Math" panose="02040503050406030204" pitchFamily="18" charset="0"/>
                          </a:rPr>
                          <m:t>∗</m:t>
                        </m:r>
                      </m:sup>
                    </m:sSup>
                  </m:oMath>
                </a14:m>
                <a:r>
                  <a:rPr lang="zh-CN" altLang="en-US" dirty="0" smtClean="0"/>
                  <a:t>由形如</a:t>
                </a:r>
                <a:r>
                  <a:rPr lang="en-US" altLang="zh-CN" dirty="0" smtClean="0"/>
                  <a:t>(</a:t>
                </a:r>
                <a:r>
                  <a:rPr lang="en-US" altLang="zh-CN" dirty="0" err="1" smtClean="0"/>
                  <a:t>a,b</a:t>
                </a:r>
                <a:r>
                  <a:rPr lang="en-US" altLang="zh-CN" dirty="0" smtClean="0"/>
                  <a:t>)</a:t>
                </a:r>
                <a:r>
                  <a:rPr lang="zh-CN" altLang="en-US" dirty="0" smtClean="0"/>
                  <a:t>的有序对构成</a:t>
                </a:r>
                <a:r>
                  <a:rPr lang="en-US" altLang="zh-CN" dirty="0" smtClean="0"/>
                  <a:t>, </a:t>
                </a:r>
                <a:r>
                  <a:rPr lang="zh-CN" altLang="en-US" dirty="0" smtClean="0"/>
                  <a:t>使得在关系</a:t>
                </a:r>
                <a:r>
                  <a:rPr lang="en-US" altLang="zh-CN" dirty="0" smtClean="0"/>
                  <a:t>R</a:t>
                </a:r>
                <a:r>
                  <a:rPr lang="zh-CN" altLang="en-US" dirty="0" smtClean="0"/>
                  <a:t>中</a:t>
                </a:r>
                <a:r>
                  <a:rPr lang="en-US" altLang="zh-CN" dirty="0" smtClean="0"/>
                  <a:t>, </a:t>
                </a:r>
                <a:r>
                  <a:rPr lang="zh-CN" altLang="en-US" dirty="0" smtClean="0"/>
                  <a:t>从</a:t>
                </a:r>
                <a:r>
                  <a:rPr lang="en-US" altLang="zh-CN" dirty="0" smtClean="0"/>
                  <a:t>a</a:t>
                </a:r>
                <a:r>
                  <a:rPr lang="zh-CN" altLang="en-US" dirty="0" smtClean="0"/>
                  <a:t>到</a:t>
                </a:r>
                <a:r>
                  <a:rPr lang="en-US" altLang="zh-CN" dirty="0" smtClean="0"/>
                  <a:t>b</a:t>
                </a:r>
                <a:r>
                  <a:rPr lang="zh-CN" altLang="en-US" dirty="0" smtClean="0"/>
                  <a:t>存在一条长度至少为</a:t>
                </a:r>
                <a:r>
                  <a:rPr lang="en-US" altLang="zh-CN" dirty="0" smtClean="0"/>
                  <a:t>1</a:t>
                </a:r>
                <a:r>
                  <a:rPr lang="zh-CN" altLang="en-US" dirty="0" smtClean="0"/>
                  <a:t>的路径</a:t>
                </a:r>
                <a:r>
                  <a:rPr lang="en-US" altLang="zh-CN" dirty="0" smtClean="0"/>
                  <a:t>.</a:t>
                </a:r>
              </a:p>
              <a:p>
                <a:endParaRPr lang="en-US" altLang="zh-CN" dirty="0" smtClean="0"/>
              </a:p>
              <a:p>
                <a14:m>
                  <m:oMath xmlns:m="http://schemas.openxmlformats.org/officeDocument/2006/math">
                    <m:sSup>
                      <m:sSupPr>
                        <m:ctrlPr>
                          <a:rPr lang="en-US" altLang="zh-CN" i="1">
                            <a:latin typeface="Cambria Math" panose="02040503050406030204" pitchFamily="18" charset="0"/>
                          </a:rPr>
                        </m:ctrlPr>
                      </m:sSupPr>
                      <m:e>
                        <m:r>
                          <a:rPr lang="en-US" altLang="zh-CN" i="1">
                            <a:latin typeface="Cambria Math" panose="02040503050406030204" pitchFamily="18" charset="0"/>
                          </a:rPr>
                          <m:t>𝑅</m:t>
                        </m:r>
                      </m:e>
                      <m:sup>
                        <m:r>
                          <a:rPr lang="en-US" altLang="zh-CN" i="1">
                            <a:latin typeface="Cambria Math" panose="02040503050406030204" pitchFamily="18" charset="0"/>
                          </a:rPr>
                          <m:t>𝑛</m:t>
                        </m:r>
                      </m:sup>
                    </m:sSup>
                  </m:oMath>
                </a14:m>
                <a:r>
                  <a:rPr lang="zh-CN" altLang="en-US" dirty="0" smtClean="0"/>
                  <a:t>由有序对</a:t>
                </a:r>
                <a:r>
                  <a:rPr lang="en-US" altLang="zh-CN" dirty="0" smtClean="0"/>
                  <a:t>(</a:t>
                </a:r>
                <a:r>
                  <a:rPr lang="en-US" altLang="zh-CN" dirty="0" err="1" smtClean="0"/>
                  <a:t>a,b</a:t>
                </a:r>
                <a:r>
                  <a:rPr lang="en-US" altLang="zh-CN" dirty="0" smtClean="0"/>
                  <a:t>)</a:t>
                </a:r>
                <a:r>
                  <a:rPr lang="zh-CN" altLang="en-US" dirty="0" smtClean="0"/>
                  <a:t>构成</a:t>
                </a:r>
                <a:r>
                  <a:rPr lang="en-US" altLang="zh-CN" dirty="0" smtClean="0"/>
                  <a:t>, </a:t>
                </a:r>
                <a:r>
                  <a:rPr lang="zh-CN" altLang="en-US" dirty="0" smtClean="0"/>
                  <a:t>使得存在一条从</a:t>
                </a:r>
                <a:r>
                  <a:rPr lang="en-US" altLang="zh-CN" dirty="0" smtClean="0"/>
                  <a:t>a</a:t>
                </a:r>
                <a:r>
                  <a:rPr lang="zh-CN" altLang="en-US" dirty="0" smtClean="0"/>
                  <a:t>到</a:t>
                </a:r>
                <a:r>
                  <a:rPr lang="en-US" altLang="zh-CN" dirty="0" smtClean="0"/>
                  <a:t>b</a:t>
                </a:r>
                <a:r>
                  <a:rPr lang="zh-CN" altLang="en-US" dirty="0" smtClean="0"/>
                  <a:t>的长度为</a:t>
                </a:r>
                <a:r>
                  <a:rPr lang="en-US" altLang="zh-CN" dirty="0" smtClean="0"/>
                  <a:t>n</a:t>
                </a:r>
                <a:r>
                  <a:rPr lang="zh-CN" altLang="en-US" dirty="0" smtClean="0"/>
                  <a:t>的路径</a:t>
                </a:r>
                <a:r>
                  <a:rPr lang="en-US" altLang="zh-CN" dirty="0" smtClean="0"/>
                  <a:t>. </a:t>
                </a:r>
                <a:r>
                  <a:rPr lang="zh-CN" altLang="en-US" dirty="0" smtClean="0"/>
                  <a:t>所以</a:t>
                </a:r>
                <a14:m>
                  <m:oMath xmlns:m="http://schemas.openxmlformats.org/officeDocument/2006/math">
                    <m:sSup>
                      <m:sSupPr>
                        <m:ctrlPr>
                          <a:rPr lang="en-US" altLang="zh-CN" i="1">
                            <a:latin typeface="Cambria Math" panose="02040503050406030204" pitchFamily="18" charset="0"/>
                          </a:rPr>
                        </m:ctrlPr>
                      </m:sSupPr>
                      <m:e>
                        <m:r>
                          <m:rPr>
                            <m:sty m:val="p"/>
                          </m:rPr>
                          <a:rPr lang="en-US" altLang="zh-CN" i="1">
                            <a:latin typeface="Cambria Math" panose="02040503050406030204" pitchFamily="18" charset="0"/>
                          </a:rPr>
                          <m:t>R</m:t>
                        </m:r>
                      </m:e>
                      <m:sup>
                        <m:r>
                          <a:rPr lang="en-US" altLang="zh-CN" i="1">
                            <a:latin typeface="Cambria Math" panose="02040503050406030204" pitchFamily="18" charset="0"/>
                          </a:rPr>
                          <m:t>∗</m:t>
                        </m:r>
                      </m:sup>
                    </m:sSup>
                  </m:oMath>
                </a14:m>
                <a:r>
                  <a:rPr lang="zh-CN" altLang="en-US" dirty="0" smtClean="0"/>
                  <a:t>是所有</a:t>
                </a:r>
                <a14:m>
                  <m:oMath xmlns:m="http://schemas.openxmlformats.org/officeDocument/2006/math">
                    <m:sSup>
                      <m:sSupPr>
                        <m:ctrlPr>
                          <a:rPr lang="en-US" altLang="zh-CN" i="1">
                            <a:latin typeface="Cambria Math" panose="02040503050406030204" pitchFamily="18" charset="0"/>
                          </a:rPr>
                        </m:ctrlPr>
                      </m:sSupPr>
                      <m:e>
                        <m:r>
                          <a:rPr lang="en-US" altLang="zh-CN" i="1">
                            <a:latin typeface="Cambria Math" panose="02040503050406030204" pitchFamily="18" charset="0"/>
                          </a:rPr>
                          <m:t>𝑅</m:t>
                        </m:r>
                      </m:e>
                      <m:sup>
                        <m:r>
                          <a:rPr lang="en-US" altLang="zh-CN" i="1">
                            <a:latin typeface="Cambria Math" panose="02040503050406030204" pitchFamily="18" charset="0"/>
                          </a:rPr>
                          <m:t>𝑛</m:t>
                        </m:r>
                      </m:sup>
                    </m:sSup>
                  </m:oMath>
                </a14:m>
                <a:r>
                  <a:rPr lang="zh-CN" altLang="en-US" dirty="0" smtClean="0"/>
                  <a:t>的并集</a:t>
                </a:r>
                <a:r>
                  <a:rPr lang="en-US" altLang="zh-CN" dirty="0" smtClean="0"/>
                  <a:t>, </a:t>
                </a:r>
                <a14:m>
                  <m:oMath xmlns:m="http://schemas.openxmlformats.org/officeDocument/2006/math">
                    <m:sSup>
                      <m:sSupPr>
                        <m:ctrlPr>
                          <a:rPr lang="en-US" altLang="zh-CN" i="1">
                            <a:latin typeface="Cambria Math" panose="02040503050406030204" pitchFamily="18" charset="0"/>
                          </a:rPr>
                        </m:ctrlPr>
                      </m:sSupPr>
                      <m:e>
                        <m:r>
                          <m:rPr>
                            <m:sty m:val="p"/>
                          </m:rPr>
                          <a:rPr lang="en-US" altLang="zh-CN" i="1">
                            <a:latin typeface="Cambria Math" panose="02040503050406030204" pitchFamily="18" charset="0"/>
                          </a:rPr>
                          <m:t>R</m:t>
                        </m:r>
                      </m:e>
                      <m:sup>
                        <m:r>
                          <a:rPr lang="en-US" altLang="zh-CN" i="1">
                            <a:latin typeface="Cambria Math" panose="02040503050406030204" pitchFamily="18" charset="0"/>
                          </a:rPr>
                          <m:t>∗</m:t>
                        </m:r>
                      </m:sup>
                    </m:sSup>
                    <m:r>
                      <a:rPr lang="en-US" altLang="zh-CN" i="1" smtClean="0">
                        <a:latin typeface="Cambria Math" panose="02040503050406030204" pitchFamily="18" charset="0"/>
                        <a:ea typeface="Cambria Math" panose="02040503050406030204" pitchFamily="18" charset="0"/>
                      </a:rPr>
                      <m:t>=</m:t>
                    </m:r>
                    <m:nary>
                      <m:naryPr>
                        <m:chr m:val="⋃"/>
                        <m:ctrlPr>
                          <a:rPr lang="en-US" altLang="zh-CN" i="1" smtClean="0">
                            <a:latin typeface="Cambria Math" panose="02040503050406030204" pitchFamily="18" charset="0"/>
                            <a:ea typeface="Cambria Math" panose="02040503050406030204" pitchFamily="18" charset="0"/>
                          </a:rPr>
                        </m:ctrlPr>
                      </m:naryPr>
                      <m:sub>
                        <m:r>
                          <m:rPr>
                            <m:brk m:alnAt="23"/>
                          </m:rPr>
                          <a:rPr lang="en-US" altLang="zh-CN" b="0" i="1" smtClean="0">
                            <a:latin typeface="Cambria Math" panose="02040503050406030204" pitchFamily="18" charset="0"/>
                            <a:ea typeface="Cambria Math" panose="02040503050406030204" pitchFamily="18" charset="0"/>
                          </a:rPr>
                          <m:t>𝑛</m:t>
                        </m:r>
                        <m:r>
                          <a:rPr lang="en-US" altLang="zh-CN" b="0" i="1" smtClean="0">
                            <a:latin typeface="Cambria Math" panose="02040503050406030204" pitchFamily="18" charset="0"/>
                            <a:ea typeface="Cambria Math" panose="02040503050406030204" pitchFamily="18" charset="0"/>
                          </a:rPr>
                          <m:t>=1</m:t>
                        </m:r>
                      </m:sub>
                      <m:sup>
                        <m:r>
                          <a:rPr lang="en-US" altLang="zh-CN" i="1" smtClean="0">
                            <a:latin typeface="Cambria Math" panose="02040503050406030204" pitchFamily="18" charset="0"/>
                            <a:ea typeface="Cambria Math" panose="02040503050406030204" pitchFamily="18" charset="0"/>
                          </a:rPr>
                          <m:t>∞</m:t>
                        </m:r>
                      </m:sup>
                      <m:e>
                        <m:sSup>
                          <m:sSupPr>
                            <m:ctrlPr>
                              <a:rPr lang="en-US" altLang="zh-CN" i="1">
                                <a:latin typeface="Cambria Math" panose="02040503050406030204" pitchFamily="18" charset="0"/>
                              </a:rPr>
                            </m:ctrlPr>
                          </m:sSupPr>
                          <m:e>
                            <m:r>
                              <a:rPr lang="en-US" altLang="zh-CN" i="1">
                                <a:latin typeface="Cambria Math" panose="02040503050406030204" pitchFamily="18" charset="0"/>
                              </a:rPr>
                              <m:t>𝑅</m:t>
                            </m:r>
                          </m:e>
                          <m:sup>
                            <m:r>
                              <a:rPr lang="en-US" altLang="zh-CN" i="1">
                                <a:latin typeface="Cambria Math" panose="02040503050406030204" pitchFamily="18" charset="0"/>
                              </a:rPr>
                              <m:t>𝑛</m:t>
                            </m:r>
                          </m:sup>
                        </m:sSup>
                      </m:e>
                    </m:nary>
                  </m:oMath>
                </a14:m>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l="-999" t="-1310" r="-111"/>
                </a:stretch>
              </a:blipFill>
            </p:spPr>
            <p:txBody>
              <a:bodyPr/>
              <a:lstStyle/>
              <a:p>
                <a:r>
                  <a:rPr lang="zh-CN" altLang="en-US">
                    <a:noFill/>
                  </a:rPr>
                  <a:t> </a:t>
                </a:r>
              </a:p>
            </p:txBody>
          </p:sp>
        </mc:Fallback>
      </mc:AlternateContent>
      <p:sp>
        <p:nvSpPr>
          <p:cNvPr id="4" name="日期占位符 3"/>
          <p:cNvSpPr>
            <a:spLocks noGrp="1"/>
          </p:cNvSpPr>
          <p:nvPr>
            <p:ph type="dt" sz="half" idx="10"/>
          </p:nvPr>
        </p:nvSpPr>
        <p:spPr/>
        <p:txBody>
          <a:bodyPr/>
          <a:lstStyle/>
          <a:p>
            <a:fld id="{2987BB50-1552-44BB-AE38-9627EC185618}" type="datetime1">
              <a:rPr lang="zh-CN" altLang="en-US" smtClean="0"/>
              <a:t>2025/3/14</a:t>
            </a:fld>
            <a:endParaRPr lang="zh-CN" altLang="en-US" dirty="0"/>
          </a:p>
        </p:txBody>
      </p:sp>
      <p:sp>
        <p:nvSpPr>
          <p:cNvPr id="5" name="页脚占位符 4"/>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6" name="灯片编号占位符 5"/>
          <p:cNvSpPr>
            <a:spLocks noGrp="1"/>
          </p:cNvSpPr>
          <p:nvPr>
            <p:ph type="sldNum" sz="quarter" idx="12"/>
          </p:nvPr>
        </p:nvSpPr>
        <p:spPr/>
        <p:txBody>
          <a:bodyPr/>
          <a:lstStyle/>
          <a:p>
            <a:fld id="{67913A8A-9EFB-4B5F-9CCB-3D21173FAA85}" type="slidenum">
              <a:rPr lang="zh-CN" altLang="en-US" smtClean="0"/>
              <a:pPr/>
              <a:t>67</a:t>
            </a:fld>
            <a:endParaRPr lang="zh-CN" altLang="en-US" dirty="0"/>
          </a:p>
        </p:txBody>
      </p:sp>
    </p:spTree>
    <p:extLst>
      <p:ext uri="{BB962C8B-B14F-4D97-AF65-F5344CB8AC3E}">
        <p14:creationId xmlns:p14="http://schemas.microsoft.com/office/powerpoint/2010/main" val="476400593"/>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传递闭包</a:t>
            </a:r>
            <a:endParaRPr lang="zh-CN" altLang="en-US" dirty="0"/>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zh-CN" altLang="en-US" dirty="0" smtClean="0"/>
                  <a:t>例</a:t>
                </a:r>
                <a:r>
                  <a:rPr lang="en-US" altLang="zh-CN" dirty="0" smtClean="0"/>
                  <a:t>: </a:t>
                </a:r>
                <a:r>
                  <a:rPr lang="zh-CN" altLang="en-US" dirty="0" smtClean="0"/>
                  <a:t>设</a:t>
                </a:r>
                <a:r>
                  <a:rPr lang="en-US" altLang="zh-CN" dirty="0" smtClean="0"/>
                  <a:t>R</a:t>
                </a:r>
                <a:r>
                  <a:rPr lang="zh-CN" altLang="en-US" dirty="0" smtClean="0"/>
                  <a:t>是定义在世界上所有人的集合的关系</a:t>
                </a:r>
                <a:r>
                  <a:rPr lang="en-US" altLang="zh-CN" dirty="0" smtClean="0"/>
                  <a:t>. </a:t>
                </a:r>
                <a:r>
                  <a:rPr lang="zh-CN" altLang="en-US" dirty="0" smtClean="0"/>
                  <a:t>具体而言</a:t>
                </a:r>
                <a:r>
                  <a:rPr lang="en-US" altLang="zh-CN" dirty="0" smtClean="0"/>
                  <a:t>, </a:t>
                </a:r>
                <a:r>
                  <a:rPr lang="zh-CN" altLang="en-US" dirty="0" smtClean="0"/>
                  <a:t>如果</a:t>
                </a:r>
                <a:r>
                  <a:rPr lang="en-US" altLang="zh-CN" dirty="0" smtClean="0"/>
                  <a:t>a</a:t>
                </a:r>
                <a:r>
                  <a:rPr lang="zh-CN" altLang="en-US" dirty="0" smtClean="0"/>
                  <a:t>认识</a:t>
                </a:r>
                <a:r>
                  <a:rPr lang="en-US" altLang="zh-CN" dirty="0" smtClean="0"/>
                  <a:t>b</a:t>
                </a:r>
                <a:r>
                  <a:rPr lang="zh-CN" altLang="en-US" dirty="0" smtClean="0"/>
                  <a:t>，那么</a:t>
                </a:r>
                <a:r>
                  <a:rPr lang="en-US" altLang="zh-CN" dirty="0" smtClean="0"/>
                  <a:t>R</a:t>
                </a:r>
                <a:r>
                  <a:rPr lang="zh-CN" altLang="en-US" dirty="0" smtClean="0"/>
                  <a:t>包含</a:t>
                </a:r>
                <a:r>
                  <a:rPr lang="en-US" altLang="zh-CN" dirty="0" smtClean="0"/>
                  <a:t>(</a:t>
                </a:r>
                <a:r>
                  <a:rPr lang="en-US" altLang="zh-CN" dirty="0" err="1" smtClean="0"/>
                  <a:t>a,b</a:t>
                </a:r>
                <a:r>
                  <a:rPr lang="en-US" altLang="zh-CN" dirty="0" smtClean="0"/>
                  <a:t>). </a:t>
                </a:r>
                <a14:m>
                  <m:oMath xmlns:m="http://schemas.openxmlformats.org/officeDocument/2006/math">
                    <m:sSup>
                      <m:sSupPr>
                        <m:ctrlPr>
                          <a:rPr lang="en-US" altLang="zh-CN" i="1">
                            <a:latin typeface="Cambria Math" panose="02040503050406030204" pitchFamily="18" charset="0"/>
                          </a:rPr>
                        </m:ctrlPr>
                      </m:sSupPr>
                      <m:e>
                        <m:r>
                          <a:rPr lang="en-US" altLang="zh-CN" i="1">
                            <a:latin typeface="Cambria Math" panose="02040503050406030204" pitchFamily="18" charset="0"/>
                          </a:rPr>
                          <m:t>𝑅</m:t>
                        </m:r>
                      </m:e>
                      <m:sup>
                        <m:r>
                          <a:rPr lang="en-US" altLang="zh-CN" i="1">
                            <a:latin typeface="Cambria Math" panose="02040503050406030204" pitchFamily="18" charset="0"/>
                          </a:rPr>
                          <m:t>𝑛</m:t>
                        </m:r>
                      </m:sup>
                    </m:sSup>
                    <m:r>
                      <a:rPr lang="zh-CN" altLang="en-US" i="1">
                        <a:latin typeface="Cambria Math" panose="02040503050406030204" pitchFamily="18" charset="0"/>
                      </a:rPr>
                      <m:t>表示</m:t>
                    </m:r>
                  </m:oMath>
                </a14:m>
                <a:r>
                  <a:rPr lang="zh-CN" altLang="en-US" dirty="0" smtClean="0"/>
                  <a:t>什么意思？其中</a:t>
                </a:r>
                <a:r>
                  <a:rPr lang="en-US" altLang="zh-CN" dirty="0" smtClean="0"/>
                  <a:t>n</a:t>
                </a:r>
                <a:r>
                  <a:rPr lang="zh-CN" altLang="en-US" dirty="0" smtClean="0"/>
                  <a:t>是大于</a:t>
                </a:r>
                <a:r>
                  <a:rPr lang="en-US" altLang="zh-CN" dirty="0" smtClean="0"/>
                  <a:t>1</a:t>
                </a:r>
                <a:r>
                  <a:rPr lang="zh-CN" altLang="en-US" dirty="0" smtClean="0"/>
                  <a:t>的正整数</a:t>
                </a:r>
                <a:r>
                  <a:rPr lang="en-US" altLang="zh-CN" dirty="0" smtClean="0"/>
                  <a:t>.</a:t>
                </a:r>
                <a:r>
                  <a:rPr lang="en-US" altLang="zh-CN" dirty="0"/>
                  <a:t> </a:t>
                </a:r>
                <a14:m>
                  <m:oMath xmlns:m="http://schemas.openxmlformats.org/officeDocument/2006/math">
                    <m:sSup>
                      <m:sSupPr>
                        <m:ctrlPr>
                          <a:rPr lang="en-US" altLang="zh-CN" i="1">
                            <a:latin typeface="Cambria Math" panose="02040503050406030204" pitchFamily="18" charset="0"/>
                          </a:rPr>
                        </m:ctrlPr>
                      </m:sSupPr>
                      <m:e>
                        <m:r>
                          <m:rPr>
                            <m:sty m:val="p"/>
                          </m:rPr>
                          <a:rPr lang="en-US" altLang="zh-CN" i="1">
                            <a:latin typeface="Cambria Math" panose="02040503050406030204" pitchFamily="18" charset="0"/>
                          </a:rPr>
                          <m:t>R</m:t>
                        </m:r>
                      </m:e>
                      <m:sup>
                        <m:r>
                          <a:rPr lang="en-US" altLang="zh-CN" i="1">
                            <a:latin typeface="Cambria Math" panose="02040503050406030204" pitchFamily="18" charset="0"/>
                          </a:rPr>
                          <m:t>∗</m:t>
                        </m:r>
                      </m:sup>
                    </m:sSup>
                    <m:r>
                      <a:rPr lang="zh-CN" altLang="en-US" i="1" smtClean="0">
                        <a:latin typeface="Cambria Math" panose="02040503050406030204" pitchFamily="18" charset="0"/>
                      </a:rPr>
                      <m:t>表示</m:t>
                    </m:r>
                  </m:oMath>
                </a14:m>
                <a:r>
                  <a:rPr lang="zh-CN" altLang="en-US" dirty="0" smtClean="0"/>
                  <a:t>什么意思</a:t>
                </a:r>
                <a:r>
                  <a:rPr lang="en-US" altLang="zh-CN" dirty="0" smtClean="0"/>
                  <a:t>?</a:t>
                </a:r>
              </a:p>
              <a:p>
                <a:r>
                  <a:rPr lang="zh-CN" altLang="en-US" dirty="0" smtClean="0"/>
                  <a:t>解</a:t>
                </a:r>
                <a:r>
                  <a:rPr lang="en-US" altLang="zh-CN" dirty="0" smtClean="0"/>
                  <a:t>:</a:t>
                </a:r>
              </a:p>
              <a:p>
                <a:pPr lvl="1">
                  <a:lnSpc>
                    <a:spcPct val="110000"/>
                  </a:lnSpc>
                </a:pPr>
                <a:r>
                  <a:rPr lang="zh-CN" altLang="en-US" dirty="0"/>
                  <a:t>如果存在</a:t>
                </a:r>
                <a:r>
                  <a:rPr lang="en-US" altLang="zh-CN" dirty="0"/>
                  <a:t>c</a:t>
                </a:r>
                <a:r>
                  <a:rPr lang="zh-CN" altLang="en-US" dirty="0"/>
                  <a:t>使得</a:t>
                </a:r>
                <a:r>
                  <a:rPr lang="en-US" altLang="zh-CN" dirty="0"/>
                  <a:t>(</a:t>
                </a:r>
                <a:r>
                  <a:rPr lang="en-US" altLang="zh-CN" dirty="0" err="1"/>
                  <a:t>a,c</a:t>
                </a:r>
                <a:r>
                  <a:rPr lang="en-US" altLang="zh-CN" dirty="0"/>
                  <a:t>)</a:t>
                </a:r>
                <a14:m>
                  <m:oMath xmlns:m="http://schemas.openxmlformats.org/officeDocument/2006/math">
                    <m:r>
                      <a:rPr lang="zh-CN" altLang="en-US">
                        <a:latin typeface="Cambria Math" panose="02040503050406030204" pitchFamily="18" charset="0"/>
                      </a:rPr>
                      <m:t>∈</m:t>
                    </m:r>
                  </m:oMath>
                </a14:m>
                <a:r>
                  <a:rPr lang="en-US" altLang="zh-CN" dirty="0"/>
                  <a:t>R</a:t>
                </a:r>
                <a:r>
                  <a:rPr lang="en-US" altLang="zh-CN" dirty="0" smtClean="0"/>
                  <a:t>, </a:t>
                </a:r>
                <a:r>
                  <a:rPr lang="zh-CN" altLang="en-US" dirty="0" smtClean="0"/>
                  <a:t>且</a:t>
                </a:r>
                <a:r>
                  <a:rPr lang="en-US" altLang="zh-CN" dirty="0"/>
                  <a:t>(</a:t>
                </a:r>
                <a:r>
                  <a:rPr lang="en-US" altLang="zh-CN" dirty="0" err="1"/>
                  <a:t>c,b</a:t>
                </a:r>
                <a:r>
                  <a:rPr lang="en-US" altLang="zh-CN" dirty="0"/>
                  <a:t>)</a:t>
                </a:r>
                <a14:m>
                  <m:oMath xmlns:m="http://schemas.openxmlformats.org/officeDocument/2006/math">
                    <m:r>
                      <a:rPr lang="zh-CN" altLang="en-US">
                        <a:latin typeface="Cambria Math" panose="02040503050406030204" pitchFamily="18" charset="0"/>
                      </a:rPr>
                      <m:t>∈</m:t>
                    </m:r>
                  </m:oMath>
                </a14:m>
                <a:r>
                  <a:rPr lang="en-US" altLang="zh-CN" dirty="0"/>
                  <a:t>R</a:t>
                </a:r>
                <a:r>
                  <a:rPr lang="zh-CN" altLang="en-US" dirty="0"/>
                  <a:t>，也就是存在</a:t>
                </a:r>
                <a:r>
                  <a:rPr lang="en-US" altLang="zh-CN" dirty="0"/>
                  <a:t>c</a:t>
                </a:r>
                <a:r>
                  <a:rPr lang="zh-CN" altLang="en-US" dirty="0"/>
                  <a:t>使得</a:t>
                </a:r>
                <a:r>
                  <a:rPr lang="en-US" altLang="zh-CN" dirty="0"/>
                  <a:t>a</a:t>
                </a:r>
                <a:r>
                  <a:rPr lang="zh-CN" altLang="en-US" dirty="0"/>
                  <a:t>认识</a:t>
                </a:r>
                <a:r>
                  <a:rPr lang="en-US" altLang="zh-CN" dirty="0"/>
                  <a:t>c</a:t>
                </a:r>
                <a:r>
                  <a:rPr lang="zh-CN" altLang="en-US" dirty="0"/>
                  <a:t>，</a:t>
                </a:r>
                <a:r>
                  <a:rPr lang="en-US" altLang="zh-CN" dirty="0"/>
                  <a:t>c</a:t>
                </a:r>
                <a:r>
                  <a:rPr lang="zh-CN" altLang="en-US" dirty="0"/>
                  <a:t>认识</a:t>
                </a:r>
                <a:r>
                  <a:rPr lang="en-US" altLang="zh-CN" dirty="0"/>
                  <a:t>b</a:t>
                </a:r>
                <a:r>
                  <a:rPr lang="zh-CN" altLang="en-US" dirty="0"/>
                  <a:t>，那么关系</a:t>
                </a:r>
                <a14:m>
                  <m:oMath xmlns:m="http://schemas.openxmlformats.org/officeDocument/2006/math">
                    <m:sSup>
                      <m:sSupPr>
                        <m:ctrlPr>
                          <a:rPr lang="en-US" altLang="zh-CN" i="1">
                            <a:latin typeface="Cambria Math" panose="02040503050406030204" pitchFamily="18" charset="0"/>
                          </a:rPr>
                        </m:ctrlPr>
                      </m:sSupPr>
                      <m:e>
                        <m:r>
                          <a:rPr lang="en-US" altLang="zh-CN">
                            <a:latin typeface="Cambria Math" panose="02040503050406030204" pitchFamily="18" charset="0"/>
                          </a:rPr>
                          <m:t>𝑅</m:t>
                        </m:r>
                      </m:e>
                      <m:sup>
                        <m:r>
                          <a:rPr lang="en-US" altLang="zh-CN">
                            <a:latin typeface="Cambria Math" panose="02040503050406030204" pitchFamily="18" charset="0"/>
                          </a:rPr>
                          <m:t>2</m:t>
                        </m:r>
                      </m:sup>
                    </m:sSup>
                  </m:oMath>
                </a14:m>
                <a:r>
                  <a:rPr lang="zh-CN" altLang="en-US" dirty="0"/>
                  <a:t>包含</a:t>
                </a:r>
                <a14:m>
                  <m:oMath xmlns:m="http://schemas.openxmlformats.org/officeDocument/2006/math">
                    <m:r>
                      <a:rPr lang="en-US" altLang="zh-CN">
                        <a:latin typeface="Cambria Math" panose="02040503050406030204" pitchFamily="18" charset="0"/>
                      </a:rPr>
                      <m:t> </m:t>
                    </m:r>
                  </m:oMath>
                </a14:m>
                <a:r>
                  <a:rPr lang="en-US" altLang="zh-CN" dirty="0"/>
                  <a:t>(</a:t>
                </a:r>
                <a:r>
                  <a:rPr lang="en-US" altLang="zh-CN" dirty="0" err="1"/>
                  <a:t>a,b</a:t>
                </a:r>
                <a:r>
                  <a:rPr lang="en-US" altLang="zh-CN" dirty="0"/>
                  <a:t>). </a:t>
                </a:r>
                <a:r>
                  <a:rPr lang="zh-CN" altLang="en-US" dirty="0"/>
                  <a:t>类似地</a:t>
                </a:r>
                <a:r>
                  <a:rPr lang="en-US" altLang="zh-CN" dirty="0"/>
                  <a:t>, </a:t>
                </a:r>
                <a:r>
                  <a:rPr lang="zh-CN" altLang="en-US" dirty="0"/>
                  <a:t>如果存在</a:t>
                </a:r>
                <a14:m>
                  <m:oMath xmlns:m="http://schemas.openxmlformats.org/officeDocument/2006/math">
                    <m:sSub>
                      <m:sSubPr>
                        <m:ctrlPr>
                          <a:rPr lang="en-US" altLang="zh-CN" i="1">
                            <a:latin typeface="Cambria Math" panose="02040503050406030204" pitchFamily="18" charset="0"/>
                          </a:rPr>
                        </m:ctrlPr>
                      </m:sSubPr>
                      <m:e>
                        <m:r>
                          <a:rPr lang="en-US" altLang="zh-CN">
                            <a:latin typeface="Cambria Math" panose="02040503050406030204" pitchFamily="18" charset="0"/>
                          </a:rPr>
                          <m:t>𝑥</m:t>
                        </m:r>
                      </m:e>
                      <m:sub>
                        <m:r>
                          <a:rPr lang="en-US" altLang="zh-CN">
                            <a:latin typeface="Cambria Math" panose="02040503050406030204" pitchFamily="18" charset="0"/>
                          </a:rPr>
                          <m:t>1</m:t>
                        </m:r>
                      </m:sub>
                    </m:sSub>
                    <m:r>
                      <a:rPr lang="en-US" altLang="zh-CN">
                        <a:latin typeface="Cambria Math" panose="02040503050406030204" pitchFamily="18" charset="0"/>
                      </a:rPr>
                      <m:t>,</m:t>
                    </m:r>
                    <m:sSub>
                      <m:sSubPr>
                        <m:ctrlPr>
                          <a:rPr lang="en-US" altLang="zh-CN" i="1">
                            <a:latin typeface="Cambria Math" panose="02040503050406030204" pitchFamily="18" charset="0"/>
                          </a:rPr>
                        </m:ctrlPr>
                      </m:sSubPr>
                      <m:e>
                        <m:r>
                          <a:rPr lang="en-US" altLang="zh-CN">
                            <a:latin typeface="Cambria Math" panose="02040503050406030204" pitchFamily="18" charset="0"/>
                          </a:rPr>
                          <m:t>𝑥</m:t>
                        </m:r>
                      </m:e>
                      <m:sub>
                        <m:r>
                          <a:rPr lang="en-US" altLang="zh-CN">
                            <a:latin typeface="Cambria Math" panose="02040503050406030204" pitchFamily="18" charset="0"/>
                          </a:rPr>
                          <m:t>2</m:t>
                        </m:r>
                      </m:sub>
                    </m:sSub>
                    <m:r>
                      <a:rPr lang="en-US" altLang="zh-CN">
                        <a:latin typeface="Cambria Math" panose="02040503050406030204" pitchFamily="18" charset="0"/>
                      </a:rPr>
                      <m:t>,…,</m:t>
                    </m:r>
                  </m:oMath>
                </a14:m>
                <a:r>
                  <a:rPr lang="en-US" altLang="zh-CN" dirty="0"/>
                  <a:t> </a:t>
                </a:r>
                <a14:m>
                  <m:oMath xmlns:m="http://schemas.openxmlformats.org/officeDocument/2006/math">
                    <m:sSub>
                      <m:sSubPr>
                        <m:ctrlPr>
                          <a:rPr lang="en-US" altLang="zh-CN" i="1">
                            <a:latin typeface="Cambria Math" panose="02040503050406030204" pitchFamily="18" charset="0"/>
                          </a:rPr>
                        </m:ctrlPr>
                      </m:sSubPr>
                      <m:e>
                        <m:r>
                          <a:rPr lang="en-US" altLang="zh-CN">
                            <a:latin typeface="Cambria Math" panose="02040503050406030204" pitchFamily="18" charset="0"/>
                          </a:rPr>
                          <m:t>𝑥</m:t>
                        </m:r>
                      </m:e>
                      <m:sub>
                        <m:r>
                          <a:rPr lang="en-US" altLang="zh-CN">
                            <a:latin typeface="Cambria Math" panose="02040503050406030204" pitchFamily="18" charset="0"/>
                          </a:rPr>
                          <m:t>𝑛</m:t>
                        </m:r>
                        <m:r>
                          <a:rPr lang="en-US" altLang="zh-CN">
                            <a:latin typeface="Cambria Math" panose="02040503050406030204" pitchFamily="18" charset="0"/>
                          </a:rPr>
                          <m:t>−1</m:t>
                        </m:r>
                      </m:sub>
                    </m:sSub>
                  </m:oMath>
                </a14:m>
                <a:r>
                  <a:rPr lang="zh-CN" altLang="en-US" dirty="0"/>
                  <a:t>使得</a:t>
                </a:r>
                <a:r>
                  <a:rPr lang="en-US" altLang="zh-CN" dirty="0"/>
                  <a:t>a</a:t>
                </a:r>
                <a:r>
                  <a:rPr lang="zh-CN" altLang="en-US" dirty="0"/>
                  <a:t>认识</a:t>
                </a:r>
                <a14:m>
                  <m:oMath xmlns:m="http://schemas.openxmlformats.org/officeDocument/2006/math">
                    <m:sSub>
                      <m:sSubPr>
                        <m:ctrlPr>
                          <a:rPr lang="en-US" altLang="zh-CN" i="1">
                            <a:latin typeface="Cambria Math" panose="02040503050406030204" pitchFamily="18" charset="0"/>
                          </a:rPr>
                        </m:ctrlPr>
                      </m:sSubPr>
                      <m:e>
                        <m:r>
                          <a:rPr lang="en-US" altLang="zh-CN">
                            <a:latin typeface="Cambria Math" panose="02040503050406030204" pitchFamily="18" charset="0"/>
                          </a:rPr>
                          <m:t>𝑥</m:t>
                        </m:r>
                      </m:e>
                      <m:sub>
                        <m:r>
                          <a:rPr lang="en-US" altLang="zh-CN">
                            <a:latin typeface="Cambria Math" panose="02040503050406030204" pitchFamily="18" charset="0"/>
                          </a:rPr>
                          <m:t>1</m:t>
                        </m:r>
                      </m:sub>
                    </m:sSub>
                  </m:oMath>
                </a14:m>
                <a:r>
                  <a:rPr lang="zh-CN" altLang="en-US" dirty="0"/>
                  <a:t>，</a:t>
                </a:r>
                <a14:m>
                  <m:oMath xmlns:m="http://schemas.openxmlformats.org/officeDocument/2006/math">
                    <m:sSub>
                      <m:sSubPr>
                        <m:ctrlPr>
                          <a:rPr lang="en-US" altLang="zh-CN" i="1">
                            <a:latin typeface="Cambria Math" panose="02040503050406030204" pitchFamily="18" charset="0"/>
                          </a:rPr>
                        </m:ctrlPr>
                      </m:sSubPr>
                      <m:e>
                        <m:r>
                          <a:rPr lang="en-US" altLang="zh-CN">
                            <a:latin typeface="Cambria Math" panose="02040503050406030204" pitchFamily="18" charset="0"/>
                          </a:rPr>
                          <m:t>𝑥</m:t>
                        </m:r>
                      </m:e>
                      <m:sub>
                        <m:r>
                          <a:rPr lang="en-US" altLang="zh-CN">
                            <a:latin typeface="Cambria Math" panose="02040503050406030204" pitchFamily="18" charset="0"/>
                          </a:rPr>
                          <m:t>1</m:t>
                        </m:r>
                      </m:sub>
                    </m:sSub>
                  </m:oMath>
                </a14:m>
                <a:r>
                  <a:rPr lang="zh-CN" altLang="en-US" dirty="0"/>
                  <a:t>认识</a:t>
                </a:r>
                <a14:m>
                  <m:oMath xmlns:m="http://schemas.openxmlformats.org/officeDocument/2006/math">
                    <m:sSub>
                      <m:sSubPr>
                        <m:ctrlPr>
                          <a:rPr lang="en-US" altLang="zh-CN" i="1">
                            <a:latin typeface="Cambria Math" panose="02040503050406030204" pitchFamily="18" charset="0"/>
                          </a:rPr>
                        </m:ctrlPr>
                      </m:sSubPr>
                      <m:e>
                        <m:r>
                          <a:rPr lang="en-US" altLang="zh-CN">
                            <a:latin typeface="Cambria Math" panose="02040503050406030204" pitchFamily="18" charset="0"/>
                          </a:rPr>
                          <m:t>𝑥</m:t>
                        </m:r>
                      </m:e>
                      <m:sub>
                        <m:r>
                          <a:rPr lang="en-US" altLang="zh-CN">
                            <a:latin typeface="Cambria Math" panose="02040503050406030204" pitchFamily="18" charset="0"/>
                          </a:rPr>
                          <m:t>2</m:t>
                        </m:r>
                      </m:sub>
                    </m:sSub>
                  </m:oMath>
                </a14:m>
                <a:r>
                  <a:rPr lang="en-US" altLang="zh-CN" dirty="0"/>
                  <a:t>,….</a:t>
                </a:r>
                <a:r>
                  <a:rPr lang="zh-CN" altLang="en-US" dirty="0"/>
                  <a:t>，</a:t>
                </a:r>
                <a14:m>
                  <m:oMath xmlns:m="http://schemas.openxmlformats.org/officeDocument/2006/math">
                    <m:sSub>
                      <m:sSubPr>
                        <m:ctrlPr>
                          <a:rPr lang="en-US" altLang="zh-CN" i="1">
                            <a:latin typeface="Cambria Math" panose="02040503050406030204" pitchFamily="18" charset="0"/>
                          </a:rPr>
                        </m:ctrlPr>
                      </m:sSubPr>
                      <m:e>
                        <m:r>
                          <a:rPr lang="en-US" altLang="zh-CN">
                            <a:latin typeface="Cambria Math" panose="02040503050406030204" pitchFamily="18" charset="0"/>
                          </a:rPr>
                          <m:t>𝑥</m:t>
                        </m:r>
                      </m:e>
                      <m:sub>
                        <m:r>
                          <a:rPr lang="en-US" altLang="zh-CN">
                            <a:latin typeface="Cambria Math" panose="02040503050406030204" pitchFamily="18" charset="0"/>
                          </a:rPr>
                          <m:t>𝑛</m:t>
                        </m:r>
                        <m:r>
                          <a:rPr lang="en-US" altLang="zh-CN">
                            <a:latin typeface="Cambria Math" panose="02040503050406030204" pitchFamily="18" charset="0"/>
                          </a:rPr>
                          <m:t>−1</m:t>
                        </m:r>
                      </m:sub>
                    </m:sSub>
                  </m:oMath>
                </a14:m>
                <a:r>
                  <a:rPr lang="zh-CN" altLang="en-US" dirty="0"/>
                  <a:t>认识</a:t>
                </a:r>
                <a:r>
                  <a:rPr lang="en-US" altLang="zh-CN" dirty="0"/>
                  <a:t>b</a:t>
                </a:r>
                <a:r>
                  <a:rPr lang="zh-CN" altLang="en-US" dirty="0"/>
                  <a:t>，那么</a:t>
                </a:r>
                <a14:m>
                  <m:oMath xmlns:m="http://schemas.openxmlformats.org/officeDocument/2006/math">
                    <m:sSup>
                      <m:sSupPr>
                        <m:ctrlPr>
                          <a:rPr lang="en-US" altLang="zh-CN" i="1">
                            <a:latin typeface="Cambria Math" panose="02040503050406030204" pitchFamily="18" charset="0"/>
                          </a:rPr>
                        </m:ctrlPr>
                      </m:sSupPr>
                      <m:e>
                        <m:r>
                          <a:rPr lang="en-US" altLang="zh-CN">
                            <a:latin typeface="Cambria Math" panose="02040503050406030204" pitchFamily="18" charset="0"/>
                          </a:rPr>
                          <m:t>𝑅</m:t>
                        </m:r>
                      </m:e>
                      <m:sup>
                        <m:r>
                          <m:rPr>
                            <m:sty m:val="p"/>
                          </m:rPr>
                          <a:rPr lang="en-US" altLang="zh-CN">
                            <a:latin typeface="Cambria Math" panose="02040503050406030204" pitchFamily="18" charset="0"/>
                          </a:rPr>
                          <m:t>n</m:t>
                        </m:r>
                      </m:sup>
                    </m:sSup>
                  </m:oMath>
                </a14:m>
                <a:r>
                  <a:rPr lang="zh-CN" altLang="en-US" dirty="0"/>
                  <a:t>包含</a:t>
                </a:r>
                <a14:m>
                  <m:oMath xmlns:m="http://schemas.openxmlformats.org/officeDocument/2006/math">
                    <m:r>
                      <a:rPr lang="en-US" altLang="zh-CN">
                        <a:latin typeface="Cambria Math" panose="02040503050406030204" pitchFamily="18" charset="0"/>
                      </a:rPr>
                      <m:t> </m:t>
                    </m:r>
                  </m:oMath>
                </a14:m>
                <a:r>
                  <a:rPr lang="en-US" altLang="zh-CN" dirty="0"/>
                  <a:t>(</a:t>
                </a:r>
                <a:r>
                  <a:rPr lang="en-US" altLang="zh-CN" dirty="0" err="1"/>
                  <a:t>a,b</a:t>
                </a:r>
                <a:r>
                  <a:rPr lang="en-US" altLang="zh-CN" dirty="0"/>
                  <a:t>). </a:t>
                </a:r>
              </a:p>
              <a:p>
                <a:pPr lvl="1">
                  <a:lnSpc>
                    <a:spcPct val="110000"/>
                  </a:lnSpc>
                </a:pPr>
                <a:r>
                  <a:rPr lang="zh-CN" altLang="en-US" dirty="0"/>
                  <a:t>如果存在从</a:t>
                </a:r>
                <a:r>
                  <a:rPr lang="en-US" altLang="zh-CN" dirty="0"/>
                  <a:t>a</a:t>
                </a:r>
                <a:r>
                  <a:rPr lang="zh-CN" altLang="en-US" dirty="0"/>
                  <a:t>开始到</a:t>
                </a:r>
                <a:r>
                  <a:rPr lang="en-US" altLang="zh-CN" dirty="0"/>
                  <a:t>b</a:t>
                </a:r>
                <a:r>
                  <a:rPr lang="zh-CN" altLang="en-US" dirty="0"/>
                  <a:t>终止的序列</a:t>
                </a:r>
                <a:r>
                  <a:rPr lang="en-US" altLang="zh-CN" dirty="0" smtClean="0"/>
                  <a:t>, </a:t>
                </a:r>
                <a:r>
                  <a:rPr lang="zh-CN" altLang="en-US" dirty="0" smtClean="0"/>
                  <a:t>使得</a:t>
                </a:r>
                <a:r>
                  <a:rPr lang="zh-CN" altLang="en-US" dirty="0"/>
                  <a:t>序列中每个人都认识序列中的下一个人</a:t>
                </a:r>
                <a:r>
                  <a:rPr lang="en-US" altLang="zh-CN" dirty="0"/>
                  <a:t>, </a:t>
                </a:r>
                <a:r>
                  <a:rPr lang="zh-CN" altLang="en-US" dirty="0"/>
                  <a:t>那</a:t>
                </a:r>
                <a14:m>
                  <m:oMath xmlns:m="http://schemas.openxmlformats.org/officeDocument/2006/math">
                    <m:sSup>
                      <m:sSupPr>
                        <m:ctrlPr>
                          <a:rPr lang="en-US" altLang="zh-CN" i="1">
                            <a:latin typeface="Cambria Math" panose="02040503050406030204" pitchFamily="18" charset="0"/>
                          </a:rPr>
                        </m:ctrlPr>
                      </m:sSupPr>
                      <m:e>
                        <m:r>
                          <a:rPr lang="en-US" altLang="zh-CN">
                            <a:latin typeface="Cambria Math" panose="02040503050406030204" pitchFamily="18" charset="0"/>
                          </a:rPr>
                          <m:t>𝑅</m:t>
                        </m:r>
                      </m:e>
                      <m:sup>
                        <m:r>
                          <a:rPr lang="zh-CN" altLang="en-US">
                            <a:latin typeface="Cambria Math" panose="02040503050406030204" pitchFamily="18" charset="0"/>
                          </a:rPr>
                          <m:t>∗</m:t>
                        </m:r>
                      </m:sup>
                    </m:sSup>
                  </m:oMath>
                </a14:m>
                <a:r>
                  <a:rPr lang="zh-CN" altLang="en-US" dirty="0"/>
                  <a:t>包含</a:t>
                </a:r>
                <a14:m>
                  <m:oMath xmlns:m="http://schemas.openxmlformats.org/officeDocument/2006/math">
                    <m:r>
                      <a:rPr lang="en-US" altLang="zh-CN">
                        <a:latin typeface="Cambria Math" panose="02040503050406030204" pitchFamily="18" charset="0"/>
                      </a:rPr>
                      <m:t> </m:t>
                    </m:r>
                  </m:oMath>
                </a14:m>
                <a:r>
                  <a:rPr lang="en-US" altLang="zh-CN" dirty="0"/>
                  <a:t>(</a:t>
                </a:r>
                <a:r>
                  <a:rPr lang="en-US" altLang="zh-CN" dirty="0" err="1"/>
                  <a:t>a,b</a:t>
                </a:r>
                <a:r>
                  <a:rPr lang="en-US" altLang="zh-CN" dirty="0"/>
                  <a:t>)</a:t>
                </a:r>
                <a:r>
                  <a:rPr lang="zh-CN" altLang="en-US" dirty="0"/>
                  <a:t>有序对</a:t>
                </a:r>
                <a:r>
                  <a:rPr lang="en-US" altLang="zh-CN" dirty="0"/>
                  <a:t>. </a:t>
                </a:r>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l="-999" t="-1310" r="-4273"/>
                </a:stretch>
              </a:blipFill>
            </p:spPr>
            <p:txBody>
              <a:bodyPr/>
              <a:lstStyle/>
              <a:p>
                <a:r>
                  <a:rPr lang="zh-CN" altLang="en-US">
                    <a:noFill/>
                  </a:rPr>
                  <a:t> </a:t>
                </a:r>
              </a:p>
            </p:txBody>
          </p:sp>
        </mc:Fallback>
      </mc:AlternateContent>
      <p:sp>
        <p:nvSpPr>
          <p:cNvPr id="4" name="日期占位符 3"/>
          <p:cNvSpPr>
            <a:spLocks noGrp="1"/>
          </p:cNvSpPr>
          <p:nvPr>
            <p:ph type="dt" sz="half" idx="10"/>
          </p:nvPr>
        </p:nvSpPr>
        <p:spPr/>
        <p:txBody>
          <a:bodyPr/>
          <a:lstStyle/>
          <a:p>
            <a:fld id="{955ABB7B-57D5-4743-B158-4B6E72198070}" type="datetime1">
              <a:rPr lang="zh-CN" altLang="en-US" smtClean="0"/>
              <a:t>2025/3/14</a:t>
            </a:fld>
            <a:endParaRPr lang="zh-CN" altLang="en-US" dirty="0"/>
          </a:p>
        </p:txBody>
      </p:sp>
      <p:sp>
        <p:nvSpPr>
          <p:cNvPr id="5" name="页脚占位符 4"/>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6" name="灯片编号占位符 5"/>
          <p:cNvSpPr>
            <a:spLocks noGrp="1"/>
          </p:cNvSpPr>
          <p:nvPr>
            <p:ph type="sldNum" sz="quarter" idx="12"/>
          </p:nvPr>
        </p:nvSpPr>
        <p:spPr/>
        <p:txBody>
          <a:bodyPr/>
          <a:lstStyle/>
          <a:p>
            <a:fld id="{67913A8A-9EFB-4B5F-9CCB-3D21173FAA85}" type="slidenum">
              <a:rPr lang="zh-CN" altLang="en-US" smtClean="0"/>
              <a:pPr/>
              <a:t>68</a:t>
            </a:fld>
            <a:endParaRPr lang="zh-CN" altLang="en-US" dirty="0"/>
          </a:p>
        </p:txBody>
      </p:sp>
    </p:spTree>
    <p:extLst>
      <p:ext uri="{BB962C8B-B14F-4D97-AF65-F5344CB8AC3E}">
        <p14:creationId xmlns:p14="http://schemas.microsoft.com/office/powerpoint/2010/main" val="12439916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wipe(down)">
                                      <p:cBhvr>
                                        <p:cTn id="7" dur="500"/>
                                        <p:tgtEl>
                                          <p:spTgt spid="3">
                                            <p:txEl>
                                              <p:pRg st="1" end="1"/>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wipe(down)">
                                      <p:cBhvr>
                                        <p:cTn id="10" dur="500"/>
                                        <p:tgtEl>
                                          <p:spTgt spid="3">
                                            <p:txEl>
                                              <p:pRg st="2" end="2"/>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wipe(down)">
                                      <p:cBhvr>
                                        <p:cTn id="13"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传递闭包</a:t>
            </a:r>
            <a:endParaRPr lang="zh-CN" altLang="en-US" dirty="0"/>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zh-CN" altLang="en-US" dirty="0" smtClean="0"/>
                  <a:t>例</a:t>
                </a:r>
                <a:r>
                  <a:rPr lang="en-US" altLang="zh-CN" dirty="0" smtClean="0"/>
                  <a:t>: </a:t>
                </a:r>
                <a:r>
                  <a:rPr lang="zh-CN" altLang="en-US" dirty="0" smtClean="0"/>
                  <a:t>设</a:t>
                </a:r>
                <a:r>
                  <a:rPr lang="en-US" altLang="zh-CN" dirty="0" smtClean="0"/>
                  <a:t>R</a:t>
                </a:r>
                <a:r>
                  <a:rPr lang="zh-CN" altLang="en-US" dirty="0" smtClean="0"/>
                  <a:t>是定义在武汉市所有地铁站集合的关系</a:t>
                </a:r>
                <a:r>
                  <a:rPr lang="en-US" altLang="zh-CN" dirty="0" smtClean="0"/>
                  <a:t>. </a:t>
                </a:r>
                <a:r>
                  <a:rPr lang="zh-CN" altLang="en-US" dirty="0" smtClean="0"/>
                  <a:t>具体而言</a:t>
                </a:r>
                <a:r>
                  <a:rPr lang="en-US" altLang="zh-CN" dirty="0" smtClean="0"/>
                  <a:t>, </a:t>
                </a:r>
                <a:r>
                  <a:rPr lang="zh-CN" altLang="en-US" dirty="0" smtClean="0"/>
                  <a:t>如果可以从</a:t>
                </a:r>
                <a:r>
                  <a:rPr lang="en-US" altLang="zh-CN" dirty="0" smtClean="0"/>
                  <a:t>a</a:t>
                </a:r>
                <a:r>
                  <a:rPr lang="zh-CN" altLang="en-US" dirty="0" smtClean="0"/>
                  <a:t>站不换车就能到达</a:t>
                </a:r>
                <a:r>
                  <a:rPr lang="en-US" altLang="zh-CN" dirty="0" smtClean="0"/>
                  <a:t>b</a:t>
                </a:r>
                <a:r>
                  <a:rPr lang="zh-CN" altLang="en-US" dirty="0" smtClean="0"/>
                  <a:t>站，那么</a:t>
                </a:r>
                <a:r>
                  <a:rPr lang="en-US" altLang="zh-CN" dirty="0" smtClean="0"/>
                  <a:t>R</a:t>
                </a:r>
                <a:r>
                  <a:rPr lang="zh-CN" altLang="en-US" dirty="0" smtClean="0"/>
                  <a:t>包含</a:t>
                </a:r>
                <a:r>
                  <a:rPr lang="en-US" altLang="zh-CN" dirty="0" smtClean="0"/>
                  <a:t>(</a:t>
                </a:r>
                <a:r>
                  <a:rPr lang="en-US" altLang="zh-CN" dirty="0" err="1" smtClean="0"/>
                  <a:t>a,b</a:t>
                </a:r>
                <a:r>
                  <a:rPr lang="en-US" altLang="zh-CN" dirty="0" smtClean="0"/>
                  <a:t>). </a:t>
                </a:r>
                <a14:m>
                  <m:oMath xmlns:m="http://schemas.openxmlformats.org/officeDocument/2006/math">
                    <m:sSup>
                      <m:sSupPr>
                        <m:ctrlPr>
                          <a:rPr lang="en-US" altLang="zh-CN" i="1">
                            <a:latin typeface="Cambria Math" panose="02040503050406030204" pitchFamily="18" charset="0"/>
                          </a:rPr>
                        </m:ctrlPr>
                      </m:sSupPr>
                      <m:e>
                        <m:r>
                          <a:rPr lang="en-US" altLang="zh-CN" i="1">
                            <a:latin typeface="Cambria Math" panose="02040503050406030204" pitchFamily="18" charset="0"/>
                          </a:rPr>
                          <m:t>𝑅</m:t>
                        </m:r>
                      </m:e>
                      <m:sup>
                        <m:r>
                          <a:rPr lang="en-US" altLang="zh-CN" i="1">
                            <a:latin typeface="Cambria Math" panose="02040503050406030204" pitchFamily="18" charset="0"/>
                          </a:rPr>
                          <m:t>𝑛</m:t>
                        </m:r>
                      </m:sup>
                    </m:sSup>
                    <m:r>
                      <a:rPr lang="zh-CN" altLang="en-US" i="1">
                        <a:latin typeface="Cambria Math" panose="02040503050406030204" pitchFamily="18" charset="0"/>
                      </a:rPr>
                      <m:t>表示</m:t>
                    </m:r>
                  </m:oMath>
                </a14:m>
                <a:r>
                  <a:rPr lang="zh-CN" altLang="en-US" dirty="0" smtClean="0"/>
                  <a:t>什么意思？其中</a:t>
                </a:r>
                <a:r>
                  <a:rPr lang="en-US" altLang="zh-CN" dirty="0" smtClean="0"/>
                  <a:t>n</a:t>
                </a:r>
                <a:r>
                  <a:rPr lang="zh-CN" altLang="en-US" dirty="0" smtClean="0"/>
                  <a:t>是正整数</a:t>
                </a:r>
                <a:r>
                  <a:rPr lang="en-US" altLang="zh-CN" dirty="0" smtClean="0"/>
                  <a:t>.</a:t>
                </a:r>
                <a:r>
                  <a:rPr lang="en-US" altLang="zh-CN" dirty="0"/>
                  <a:t> </a:t>
                </a:r>
                <a14:m>
                  <m:oMath xmlns:m="http://schemas.openxmlformats.org/officeDocument/2006/math">
                    <m:sSup>
                      <m:sSupPr>
                        <m:ctrlPr>
                          <a:rPr lang="en-US" altLang="zh-CN" i="1">
                            <a:latin typeface="Cambria Math" panose="02040503050406030204" pitchFamily="18" charset="0"/>
                          </a:rPr>
                        </m:ctrlPr>
                      </m:sSupPr>
                      <m:e>
                        <m:r>
                          <m:rPr>
                            <m:sty m:val="p"/>
                          </m:rPr>
                          <a:rPr lang="en-US" altLang="zh-CN" i="1">
                            <a:latin typeface="Cambria Math" panose="02040503050406030204" pitchFamily="18" charset="0"/>
                          </a:rPr>
                          <m:t>R</m:t>
                        </m:r>
                      </m:e>
                      <m:sup>
                        <m:r>
                          <a:rPr lang="en-US" altLang="zh-CN" i="1">
                            <a:latin typeface="Cambria Math" panose="02040503050406030204" pitchFamily="18" charset="0"/>
                          </a:rPr>
                          <m:t>∗</m:t>
                        </m:r>
                      </m:sup>
                    </m:sSup>
                    <m:r>
                      <a:rPr lang="zh-CN" altLang="en-US" i="1" smtClean="0">
                        <a:latin typeface="Cambria Math" panose="02040503050406030204" pitchFamily="18" charset="0"/>
                      </a:rPr>
                      <m:t>表示</m:t>
                    </m:r>
                  </m:oMath>
                </a14:m>
                <a:r>
                  <a:rPr lang="zh-CN" altLang="en-US" dirty="0" smtClean="0"/>
                  <a:t>什么意思</a:t>
                </a:r>
                <a:r>
                  <a:rPr lang="en-US" altLang="zh-CN" dirty="0" smtClean="0"/>
                  <a:t>?</a:t>
                </a:r>
              </a:p>
              <a:p>
                <a:r>
                  <a:rPr lang="zh-CN" altLang="en-US" dirty="0" smtClean="0"/>
                  <a:t>解</a:t>
                </a:r>
                <a:r>
                  <a:rPr lang="en-US" altLang="zh-CN" dirty="0" smtClean="0"/>
                  <a:t>:</a:t>
                </a:r>
              </a:p>
              <a:p>
                <a:pPr lvl="1">
                  <a:lnSpc>
                    <a:spcPct val="110000"/>
                  </a:lnSpc>
                </a:pPr>
                <a:r>
                  <a:rPr lang="zh-CN" altLang="en-US" dirty="0"/>
                  <a:t>如果换</a:t>
                </a:r>
                <a:r>
                  <a:rPr lang="en-US" altLang="zh-CN" dirty="0"/>
                  <a:t>n-1</a:t>
                </a:r>
                <a:r>
                  <a:rPr lang="zh-CN" altLang="en-US" dirty="0"/>
                  <a:t>次车就能从</a:t>
                </a:r>
                <a:r>
                  <a:rPr lang="en-US" altLang="zh-CN" dirty="0"/>
                  <a:t>a</a:t>
                </a:r>
                <a:r>
                  <a:rPr lang="zh-CN" altLang="en-US" dirty="0"/>
                  <a:t>站到</a:t>
                </a:r>
                <a:r>
                  <a:rPr lang="en-US" altLang="zh-CN" dirty="0"/>
                  <a:t>b</a:t>
                </a:r>
                <a:r>
                  <a:rPr lang="zh-CN" altLang="en-US" dirty="0"/>
                  <a:t>站</a:t>
                </a:r>
                <a:r>
                  <a:rPr lang="en-US" altLang="zh-CN" dirty="0"/>
                  <a:t>,</a:t>
                </a:r>
                <a:r>
                  <a:rPr lang="zh-CN" altLang="en-US" dirty="0"/>
                  <a:t> 那么关系</a:t>
                </a:r>
                <a14:m>
                  <m:oMath xmlns:m="http://schemas.openxmlformats.org/officeDocument/2006/math">
                    <m:sSup>
                      <m:sSupPr>
                        <m:ctrlPr>
                          <a:rPr lang="en-US" altLang="zh-CN" i="1">
                            <a:latin typeface="Cambria Math" panose="02040503050406030204" pitchFamily="18" charset="0"/>
                          </a:rPr>
                        </m:ctrlPr>
                      </m:sSupPr>
                      <m:e>
                        <m:r>
                          <a:rPr lang="en-US" altLang="zh-CN">
                            <a:latin typeface="Cambria Math" panose="02040503050406030204" pitchFamily="18" charset="0"/>
                          </a:rPr>
                          <m:t>𝑅</m:t>
                        </m:r>
                      </m:e>
                      <m:sup>
                        <m:r>
                          <a:rPr lang="en-US" altLang="zh-CN">
                            <a:latin typeface="Cambria Math" panose="02040503050406030204" pitchFamily="18" charset="0"/>
                          </a:rPr>
                          <m:t>𝑛</m:t>
                        </m:r>
                      </m:sup>
                    </m:sSup>
                  </m:oMath>
                </a14:m>
                <a:r>
                  <a:rPr lang="zh-CN" altLang="en-US" dirty="0"/>
                  <a:t>包含</a:t>
                </a:r>
                <a14:m>
                  <m:oMath xmlns:m="http://schemas.openxmlformats.org/officeDocument/2006/math">
                    <m:r>
                      <a:rPr lang="en-US" altLang="zh-CN">
                        <a:latin typeface="Cambria Math" panose="02040503050406030204" pitchFamily="18" charset="0"/>
                      </a:rPr>
                      <m:t> </m:t>
                    </m:r>
                  </m:oMath>
                </a14:m>
                <a:r>
                  <a:rPr lang="en-US" altLang="zh-CN" dirty="0"/>
                  <a:t>(</a:t>
                </a:r>
                <a:r>
                  <a:rPr lang="en-US" altLang="zh-CN" dirty="0" err="1"/>
                  <a:t>a,b</a:t>
                </a:r>
                <a:r>
                  <a:rPr lang="en-US" altLang="zh-CN" dirty="0"/>
                  <a:t>).</a:t>
                </a:r>
              </a:p>
              <a:p>
                <a:pPr lvl="1">
                  <a:lnSpc>
                    <a:spcPct val="110000"/>
                  </a:lnSpc>
                </a:pPr>
                <a:r>
                  <a:rPr lang="zh-CN" altLang="en-US" dirty="0"/>
                  <a:t>如果存在换车任意多次后</a:t>
                </a:r>
                <a:r>
                  <a:rPr lang="en-US" altLang="zh-CN" dirty="0"/>
                  <a:t>, </a:t>
                </a:r>
                <a:r>
                  <a:rPr lang="zh-CN" altLang="en-US" dirty="0"/>
                  <a:t>能从</a:t>
                </a:r>
                <a:r>
                  <a:rPr lang="en-US" altLang="zh-CN" dirty="0"/>
                  <a:t>a</a:t>
                </a:r>
                <a:r>
                  <a:rPr lang="zh-CN" altLang="en-US" dirty="0"/>
                  <a:t>站到</a:t>
                </a:r>
                <a:r>
                  <a:rPr lang="en-US" altLang="zh-CN" dirty="0"/>
                  <a:t>b</a:t>
                </a:r>
                <a:r>
                  <a:rPr lang="zh-CN" altLang="en-US" dirty="0"/>
                  <a:t>站</a:t>
                </a:r>
                <a:r>
                  <a:rPr lang="en-US" altLang="zh-CN" dirty="0"/>
                  <a:t>,</a:t>
                </a:r>
                <a:r>
                  <a:rPr lang="zh-CN" altLang="en-US" dirty="0"/>
                  <a:t> 那么关系</a:t>
                </a:r>
                <a14:m>
                  <m:oMath xmlns:m="http://schemas.openxmlformats.org/officeDocument/2006/math">
                    <m:sSup>
                      <m:sSupPr>
                        <m:ctrlPr>
                          <a:rPr lang="en-US" altLang="zh-CN" i="1">
                            <a:latin typeface="Cambria Math" panose="02040503050406030204" pitchFamily="18" charset="0"/>
                          </a:rPr>
                        </m:ctrlPr>
                      </m:sSupPr>
                      <m:e>
                        <m:r>
                          <a:rPr lang="en-US" altLang="zh-CN">
                            <a:latin typeface="Cambria Math" panose="02040503050406030204" pitchFamily="18" charset="0"/>
                          </a:rPr>
                          <m:t>𝑅</m:t>
                        </m:r>
                      </m:e>
                      <m:sup>
                        <m:r>
                          <a:rPr lang="en-US" altLang="zh-CN">
                            <a:latin typeface="Cambria Math" panose="02040503050406030204" pitchFamily="18" charset="0"/>
                          </a:rPr>
                          <m:t>∗</m:t>
                        </m:r>
                      </m:sup>
                    </m:sSup>
                  </m:oMath>
                </a14:m>
                <a:r>
                  <a:rPr lang="zh-CN" altLang="en-US" dirty="0"/>
                  <a:t>包含</a:t>
                </a:r>
                <a14:m>
                  <m:oMath xmlns:m="http://schemas.openxmlformats.org/officeDocument/2006/math">
                    <m:r>
                      <a:rPr lang="en-US" altLang="zh-CN">
                        <a:latin typeface="Cambria Math" panose="02040503050406030204" pitchFamily="18" charset="0"/>
                      </a:rPr>
                      <m:t> </m:t>
                    </m:r>
                  </m:oMath>
                </a14:m>
                <a:r>
                  <a:rPr lang="en-US" altLang="zh-CN" dirty="0"/>
                  <a:t>(</a:t>
                </a:r>
                <a:r>
                  <a:rPr lang="en-US" altLang="zh-CN" dirty="0" err="1"/>
                  <a:t>a,b</a:t>
                </a:r>
                <a:r>
                  <a:rPr lang="en-US" altLang="zh-CN" dirty="0"/>
                  <a:t>). </a:t>
                </a: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l="-999" t="-1310" r="-277"/>
                </a:stretch>
              </a:blipFill>
            </p:spPr>
            <p:txBody>
              <a:bodyPr/>
              <a:lstStyle/>
              <a:p>
                <a:r>
                  <a:rPr lang="zh-CN" altLang="en-US">
                    <a:noFill/>
                  </a:rPr>
                  <a:t> </a:t>
                </a:r>
              </a:p>
            </p:txBody>
          </p:sp>
        </mc:Fallback>
      </mc:AlternateContent>
      <p:sp>
        <p:nvSpPr>
          <p:cNvPr id="4" name="日期占位符 3"/>
          <p:cNvSpPr>
            <a:spLocks noGrp="1"/>
          </p:cNvSpPr>
          <p:nvPr>
            <p:ph type="dt" sz="half" idx="10"/>
          </p:nvPr>
        </p:nvSpPr>
        <p:spPr/>
        <p:txBody>
          <a:bodyPr/>
          <a:lstStyle/>
          <a:p>
            <a:fld id="{7A8BB17F-0ED0-4EF0-A3F8-CB1D026A4AB5}" type="datetime1">
              <a:rPr lang="zh-CN" altLang="en-US" smtClean="0"/>
              <a:t>2025/3/14</a:t>
            </a:fld>
            <a:endParaRPr lang="zh-CN" altLang="en-US" dirty="0"/>
          </a:p>
        </p:txBody>
      </p:sp>
      <p:sp>
        <p:nvSpPr>
          <p:cNvPr id="5" name="页脚占位符 4"/>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6" name="灯片编号占位符 5"/>
          <p:cNvSpPr>
            <a:spLocks noGrp="1"/>
          </p:cNvSpPr>
          <p:nvPr>
            <p:ph type="sldNum" sz="quarter" idx="12"/>
          </p:nvPr>
        </p:nvSpPr>
        <p:spPr/>
        <p:txBody>
          <a:bodyPr/>
          <a:lstStyle/>
          <a:p>
            <a:fld id="{67913A8A-9EFB-4B5F-9CCB-3D21173FAA85}" type="slidenum">
              <a:rPr lang="zh-CN" altLang="en-US" smtClean="0"/>
              <a:pPr/>
              <a:t>69</a:t>
            </a:fld>
            <a:endParaRPr lang="zh-CN" altLang="en-US" dirty="0"/>
          </a:p>
        </p:txBody>
      </p:sp>
    </p:spTree>
    <p:extLst>
      <p:ext uri="{BB962C8B-B14F-4D97-AF65-F5344CB8AC3E}">
        <p14:creationId xmlns:p14="http://schemas.microsoft.com/office/powerpoint/2010/main" val="15246996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wipe(down)">
                                      <p:cBhvr>
                                        <p:cTn id="7" dur="500"/>
                                        <p:tgtEl>
                                          <p:spTgt spid="3">
                                            <p:txEl>
                                              <p:pRg st="1" end="1"/>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wipe(down)">
                                      <p:cBhvr>
                                        <p:cTn id="10" dur="500"/>
                                        <p:tgtEl>
                                          <p:spTgt spid="3">
                                            <p:txEl>
                                              <p:pRg st="2" end="2"/>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wipe(down)">
                                      <p:cBhvr>
                                        <p:cTn id="13"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457200" y="1143000"/>
            <a:ext cx="11277599" cy="457200"/>
          </a:xfrm>
          <a:prstGeom prst="rect">
            <a:avLst/>
          </a:prstGeom>
          <a:solidFill>
            <a:schemeClr val="accent5">
              <a:lumMod val="40000"/>
              <a:lumOff val="6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zh-CN" altLang="en-US" dirty="0" smtClean="0"/>
              <a:t>传递闭包</a:t>
            </a:r>
            <a:endParaRPr lang="zh-CN" altLang="en-US" dirty="0"/>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normAutofit/>
              </a:bodyPr>
              <a:lstStyle/>
              <a:p>
                <a:r>
                  <a:rPr lang="zh-CN" altLang="en-US" dirty="0" smtClean="0"/>
                  <a:t>定理</a:t>
                </a:r>
                <a:r>
                  <a:rPr lang="en-US" altLang="zh-CN" dirty="0" smtClean="0"/>
                  <a:t>: </a:t>
                </a:r>
                <a:r>
                  <a:rPr lang="zh-CN" altLang="en-US" dirty="0" smtClean="0"/>
                  <a:t>关系</a:t>
                </a:r>
                <a:r>
                  <a:rPr lang="en-US" altLang="zh-CN" dirty="0" smtClean="0"/>
                  <a:t>R</a:t>
                </a:r>
                <a:r>
                  <a:rPr lang="zh-CN" altLang="en-US" dirty="0" smtClean="0"/>
                  <a:t>的</a:t>
                </a:r>
                <a:r>
                  <a:rPr lang="zh-CN" altLang="en-US" b="1" dirty="0" smtClean="0">
                    <a:solidFill>
                      <a:srgbClr val="C00000"/>
                    </a:solidFill>
                  </a:rPr>
                  <a:t>传递闭包</a:t>
                </a:r>
                <a:r>
                  <a:rPr lang="zh-CN" altLang="en-US" dirty="0" smtClean="0"/>
                  <a:t>等于连通性关系</a:t>
                </a:r>
                <a14:m>
                  <m:oMath xmlns:m="http://schemas.openxmlformats.org/officeDocument/2006/math">
                    <m:sSup>
                      <m:sSupPr>
                        <m:ctrlPr>
                          <a:rPr lang="en-US" altLang="zh-CN" i="1">
                            <a:latin typeface="Cambria Math" panose="02040503050406030204" pitchFamily="18" charset="0"/>
                          </a:rPr>
                        </m:ctrlPr>
                      </m:sSupPr>
                      <m:e>
                        <m:r>
                          <m:rPr>
                            <m:sty m:val="p"/>
                          </m:rPr>
                          <a:rPr lang="en-US" altLang="zh-CN" i="1">
                            <a:latin typeface="Cambria Math" panose="02040503050406030204" pitchFamily="18" charset="0"/>
                          </a:rPr>
                          <m:t>R</m:t>
                        </m:r>
                      </m:e>
                      <m:sup>
                        <m:r>
                          <a:rPr lang="en-US" altLang="zh-CN" i="1">
                            <a:latin typeface="Cambria Math" panose="02040503050406030204" pitchFamily="18" charset="0"/>
                          </a:rPr>
                          <m:t>∗</m:t>
                        </m:r>
                      </m:sup>
                    </m:sSup>
                  </m:oMath>
                </a14:m>
                <a:r>
                  <a:rPr lang="en-US" altLang="zh-CN" dirty="0" smtClean="0"/>
                  <a:t>.</a:t>
                </a:r>
              </a:p>
              <a:p>
                <a:r>
                  <a:rPr lang="zh-CN" altLang="en-US" dirty="0" smtClean="0"/>
                  <a:t>证</a:t>
                </a:r>
                <a:r>
                  <a:rPr lang="en-US" altLang="zh-CN" dirty="0" smtClean="0"/>
                  <a:t>: </a:t>
                </a:r>
                <a:r>
                  <a:rPr lang="zh-CN" altLang="en-US" dirty="0" smtClean="0"/>
                  <a:t>为了证明</a:t>
                </a:r>
                <a14:m>
                  <m:oMath xmlns:m="http://schemas.openxmlformats.org/officeDocument/2006/math">
                    <m:sSup>
                      <m:sSupPr>
                        <m:ctrlPr>
                          <a:rPr lang="en-US" altLang="zh-CN" i="1">
                            <a:latin typeface="Cambria Math" panose="02040503050406030204" pitchFamily="18" charset="0"/>
                          </a:rPr>
                        </m:ctrlPr>
                      </m:sSupPr>
                      <m:e>
                        <m:r>
                          <m:rPr>
                            <m:sty m:val="p"/>
                          </m:rPr>
                          <a:rPr lang="en-US" altLang="zh-CN" i="1">
                            <a:latin typeface="Cambria Math" panose="02040503050406030204" pitchFamily="18" charset="0"/>
                          </a:rPr>
                          <m:t>R</m:t>
                        </m:r>
                      </m:e>
                      <m:sup>
                        <m:r>
                          <a:rPr lang="en-US" altLang="zh-CN" i="1">
                            <a:latin typeface="Cambria Math" panose="02040503050406030204" pitchFamily="18" charset="0"/>
                          </a:rPr>
                          <m:t>∗</m:t>
                        </m:r>
                      </m:sup>
                    </m:sSup>
                  </m:oMath>
                </a14:m>
                <a:r>
                  <a:rPr lang="zh-CN" altLang="en-US" dirty="0" smtClean="0"/>
                  <a:t>是</a:t>
                </a:r>
                <a:r>
                  <a:rPr lang="en-US" altLang="zh-CN" dirty="0" smtClean="0"/>
                  <a:t>R</a:t>
                </a:r>
                <a:r>
                  <a:rPr lang="zh-CN" altLang="en-US" dirty="0" smtClean="0"/>
                  <a:t>的传递闭包</a:t>
                </a:r>
                <a:r>
                  <a:rPr lang="en-US" altLang="zh-CN" dirty="0" smtClean="0"/>
                  <a:t>, </a:t>
                </a:r>
                <a:r>
                  <a:rPr lang="zh-CN" altLang="en-US" dirty="0" smtClean="0"/>
                  <a:t>我们必须证明</a:t>
                </a:r>
                <a:r>
                  <a:rPr lang="en-US" altLang="zh-CN" dirty="0" smtClean="0"/>
                  <a:t>: </a:t>
                </a:r>
                <a:r>
                  <a:rPr lang="zh-CN" altLang="en-US" dirty="0" smtClean="0"/>
                  <a:t>①</a:t>
                </a:r>
                <a14:m>
                  <m:oMath xmlns:m="http://schemas.openxmlformats.org/officeDocument/2006/math">
                    <m:sSup>
                      <m:sSupPr>
                        <m:ctrlPr>
                          <a:rPr lang="en-US" altLang="zh-CN" i="1">
                            <a:latin typeface="Cambria Math" panose="02040503050406030204" pitchFamily="18" charset="0"/>
                          </a:rPr>
                        </m:ctrlPr>
                      </m:sSupPr>
                      <m:e>
                        <m:r>
                          <m:rPr>
                            <m:sty m:val="p"/>
                          </m:rPr>
                          <a:rPr lang="en-US" altLang="zh-CN" i="1">
                            <a:latin typeface="Cambria Math" panose="02040503050406030204" pitchFamily="18" charset="0"/>
                          </a:rPr>
                          <m:t>R</m:t>
                        </m:r>
                      </m:e>
                      <m:sup>
                        <m:r>
                          <a:rPr lang="en-US" altLang="zh-CN" i="1">
                            <a:latin typeface="Cambria Math" panose="02040503050406030204" pitchFamily="18" charset="0"/>
                          </a:rPr>
                          <m:t>∗</m:t>
                        </m:r>
                      </m:sup>
                    </m:sSup>
                  </m:oMath>
                </a14:m>
                <a:r>
                  <a:rPr lang="zh-CN" altLang="en-US" dirty="0" smtClean="0"/>
                  <a:t>是传递的</a:t>
                </a:r>
                <a:r>
                  <a:rPr lang="en-US" altLang="zh-CN" dirty="0" smtClean="0"/>
                  <a:t>, </a:t>
                </a:r>
                <a:r>
                  <a:rPr lang="zh-CN" altLang="en-US" dirty="0"/>
                  <a:t>② </a:t>
                </a:r>
                <a14:m>
                  <m:oMath xmlns:m="http://schemas.openxmlformats.org/officeDocument/2006/math">
                    <m:sSup>
                      <m:sSupPr>
                        <m:ctrlPr>
                          <a:rPr lang="en-US" altLang="zh-CN" i="1">
                            <a:latin typeface="Cambria Math" panose="02040503050406030204" pitchFamily="18" charset="0"/>
                          </a:rPr>
                        </m:ctrlPr>
                      </m:sSupPr>
                      <m:e>
                        <m:r>
                          <m:rPr>
                            <m:sty m:val="p"/>
                          </m:rPr>
                          <a:rPr lang="en-US" altLang="zh-CN" i="1">
                            <a:latin typeface="Cambria Math" panose="02040503050406030204" pitchFamily="18" charset="0"/>
                          </a:rPr>
                          <m:t>R</m:t>
                        </m:r>
                      </m:e>
                      <m:sup>
                        <m:r>
                          <a:rPr lang="en-US" altLang="zh-CN" i="1">
                            <a:latin typeface="Cambria Math" panose="02040503050406030204" pitchFamily="18" charset="0"/>
                          </a:rPr>
                          <m:t>∗</m:t>
                        </m:r>
                      </m:sup>
                    </m:sSup>
                    <m:r>
                      <a:rPr lang="zh-CN" altLang="en-US" i="1">
                        <a:latin typeface="Cambria Math" panose="02040503050406030204" pitchFamily="18" charset="0"/>
                      </a:rPr>
                      <m:t>包含</m:t>
                    </m:r>
                  </m:oMath>
                </a14:m>
                <a:r>
                  <a:rPr lang="zh-CN" altLang="en-US" dirty="0" smtClean="0"/>
                  <a:t>关系</a:t>
                </a:r>
                <a:r>
                  <a:rPr lang="en-US" altLang="zh-CN" dirty="0" smtClean="0"/>
                  <a:t>R, </a:t>
                </a:r>
                <a:r>
                  <a:rPr lang="zh-CN" altLang="en-US" dirty="0" smtClean="0"/>
                  <a:t>③一切包含</a:t>
                </a:r>
                <a:r>
                  <a:rPr lang="en-US" altLang="zh-CN" dirty="0" smtClean="0"/>
                  <a:t>R</a:t>
                </a:r>
                <a:r>
                  <a:rPr lang="zh-CN" altLang="en-US" dirty="0" smtClean="0"/>
                  <a:t>的传递关系</a:t>
                </a:r>
                <a:r>
                  <a:rPr lang="en-US" altLang="zh-CN" dirty="0" smtClean="0"/>
                  <a:t>S(</a:t>
                </a:r>
                <a14:m>
                  <m:oMath xmlns:m="http://schemas.openxmlformats.org/officeDocument/2006/math">
                    <m:r>
                      <m:rPr>
                        <m:sty m:val="p"/>
                      </m:rPr>
                      <a:rPr lang="en-US" altLang="zh-CN">
                        <a:latin typeface="Cambria Math" panose="02040503050406030204" pitchFamily="18" charset="0"/>
                      </a:rPr>
                      <m:t>R</m:t>
                    </m:r>
                    <m:r>
                      <a:rPr lang="en-US" altLang="zh-CN">
                        <a:latin typeface="Cambria Math" panose="02040503050406030204" pitchFamily="18" charset="0"/>
                      </a:rPr>
                      <m:t>⊆</m:t>
                    </m:r>
                    <m:r>
                      <a:rPr lang="en-US" altLang="zh-CN">
                        <a:latin typeface="Cambria Math" panose="02040503050406030204" pitchFamily="18" charset="0"/>
                      </a:rPr>
                      <m:t>𝑆</m:t>
                    </m:r>
                  </m:oMath>
                </a14:m>
                <a:r>
                  <a:rPr lang="en-US" altLang="zh-CN" dirty="0" smtClean="0"/>
                  <a:t>), </a:t>
                </a:r>
                <a:r>
                  <a:rPr lang="zh-CN" altLang="en-US" dirty="0" smtClean="0"/>
                  <a:t>有</a:t>
                </a:r>
                <a14:m>
                  <m:oMath xmlns:m="http://schemas.openxmlformats.org/officeDocument/2006/math">
                    <m:sSup>
                      <m:sSupPr>
                        <m:ctrlPr>
                          <a:rPr lang="en-US" altLang="zh-CN" i="1">
                            <a:latin typeface="Cambria Math" panose="02040503050406030204" pitchFamily="18" charset="0"/>
                          </a:rPr>
                        </m:ctrlPr>
                      </m:sSupPr>
                      <m:e>
                        <m:r>
                          <m:rPr>
                            <m:sty m:val="p"/>
                          </m:rPr>
                          <a:rPr lang="en-US" altLang="zh-CN" i="1">
                            <a:latin typeface="Cambria Math" panose="02040503050406030204" pitchFamily="18" charset="0"/>
                          </a:rPr>
                          <m:t>R</m:t>
                        </m:r>
                      </m:e>
                      <m:sup>
                        <m:r>
                          <a:rPr lang="en-US" altLang="zh-CN" i="1">
                            <a:latin typeface="Cambria Math" panose="02040503050406030204" pitchFamily="18" charset="0"/>
                          </a:rPr>
                          <m:t>∗</m:t>
                        </m:r>
                      </m:sup>
                    </m:sSup>
                    <m:r>
                      <a:rPr lang="en-US" altLang="zh-CN" i="1" smtClean="0">
                        <a:latin typeface="Cambria Math" panose="02040503050406030204" pitchFamily="18" charset="0"/>
                        <a:ea typeface="Cambria Math" panose="02040503050406030204" pitchFamily="18" charset="0"/>
                      </a:rPr>
                      <m:t>⊆</m:t>
                    </m:r>
                    <m:r>
                      <m:rPr>
                        <m:sty m:val="p"/>
                      </m:rPr>
                      <a:rPr lang="en-US" altLang="zh-CN" i="1">
                        <a:latin typeface="Cambria Math" panose="02040503050406030204" pitchFamily="18" charset="0"/>
                        <a:ea typeface="Cambria Math" panose="02040503050406030204" pitchFamily="18" charset="0"/>
                      </a:rPr>
                      <m:t>S</m:t>
                    </m:r>
                  </m:oMath>
                </a14:m>
                <a:r>
                  <a:rPr lang="en-US" altLang="zh-CN" dirty="0" smtClean="0"/>
                  <a:t>.</a:t>
                </a:r>
              </a:p>
              <a:p>
                <a:pPr marL="850392" lvl="1" indent="-457200">
                  <a:lnSpc>
                    <a:spcPct val="110000"/>
                  </a:lnSpc>
                  <a:buClrTx/>
                  <a:buFont typeface="+mj-ea"/>
                  <a:buAutoNum type="circleNumDbPlain"/>
                </a:pPr>
                <a:r>
                  <a:rPr lang="zh-CN" altLang="en-US" dirty="0"/>
                  <a:t>证明</a:t>
                </a:r>
                <a14:m>
                  <m:oMath xmlns:m="http://schemas.openxmlformats.org/officeDocument/2006/math">
                    <m:sSup>
                      <m:sSupPr>
                        <m:ctrlPr>
                          <a:rPr lang="en-US" altLang="zh-CN" i="1">
                            <a:latin typeface="Cambria Math" panose="02040503050406030204" pitchFamily="18" charset="0"/>
                          </a:rPr>
                        </m:ctrlPr>
                      </m:sSupPr>
                      <m:e>
                        <m:r>
                          <m:rPr>
                            <m:sty m:val="p"/>
                          </m:rPr>
                          <a:rPr lang="en-US" altLang="zh-CN">
                            <a:latin typeface="Cambria Math" panose="02040503050406030204" pitchFamily="18" charset="0"/>
                          </a:rPr>
                          <m:t>R</m:t>
                        </m:r>
                      </m:e>
                      <m:sup>
                        <m:r>
                          <a:rPr lang="en-US" altLang="zh-CN">
                            <a:latin typeface="Cambria Math" panose="02040503050406030204" pitchFamily="18" charset="0"/>
                          </a:rPr>
                          <m:t>∗</m:t>
                        </m:r>
                      </m:sup>
                    </m:sSup>
                  </m:oMath>
                </a14:m>
                <a:r>
                  <a:rPr lang="zh-CN" altLang="en-US" dirty="0"/>
                  <a:t>是传递</a:t>
                </a:r>
                <a:r>
                  <a:rPr lang="zh-CN" altLang="en-US" dirty="0" smtClean="0"/>
                  <a:t>的</a:t>
                </a:r>
                <a:r>
                  <a:rPr lang="en-US" altLang="zh-CN" dirty="0" smtClean="0"/>
                  <a:t>:</a:t>
                </a:r>
              </a:p>
              <a:p>
                <a:pPr marL="393192" lvl="1" indent="0">
                  <a:lnSpc>
                    <a:spcPct val="110000"/>
                  </a:lnSpc>
                  <a:buNone/>
                </a:pPr>
                <a:r>
                  <a:rPr lang="en-US" altLang="zh-CN" dirty="0" smtClean="0"/>
                  <a:t>	</a:t>
                </a:r>
                <a:r>
                  <a:rPr lang="zh-CN" altLang="en-US" dirty="0" smtClean="0"/>
                  <a:t>假设</a:t>
                </a:r>
                <a:r>
                  <a:rPr lang="en-US" altLang="zh-CN" dirty="0" smtClean="0"/>
                  <a:t>(</a:t>
                </a:r>
                <a:r>
                  <a:rPr lang="en-US" altLang="zh-CN" dirty="0" err="1"/>
                  <a:t>a,b</a:t>
                </a:r>
                <a:r>
                  <a:rPr lang="en-US" altLang="zh-CN" dirty="0"/>
                  <a:t>)</a:t>
                </a:r>
                <a:r>
                  <a:rPr lang="zh-CN" altLang="en-US" dirty="0"/>
                  <a:t> </a:t>
                </a:r>
                <a14:m>
                  <m:oMath xmlns:m="http://schemas.openxmlformats.org/officeDocument/2006/math">
                    <m:r>
                      <a:rPr lang="zh-CN" altLang="en-US">
                        <a:latin typeface="Cambria Math" panose="02040503050406030204" pitchFamily="18" charset="0"/>
                      </a:rPr>
                      <m:t>∈</m:t>
                    </m:r>
                  </m:oMath>
                </a14:m>
                <a:r>
                  <a:rPr lang="en-US" altLang="zh-CN" dirty="0"/>
                  <a:t> </a:t>
                </a:r>
                <a14:m>
                  <m:oMath xmlns:m="http://schemas.openxmlformats.org/officeDocument/2006/math">
                    <m:sSup>
                      <m:sSupPr>
                        <m:ctrlPr>
                          <a:rPr lang="en-US" altLang="zh-CN" i="1">
                            <a:latin typeface="Cambria Math" panose="02040503050406030204" pitchFamily="18" charset="0"/>
                          </a:rPr>
                        </m:ctrlPr>
                      </m:sSupPr>
                      <m:e>
                        <m:r>
                          <m:rPr>
                            <m:sty m:val="p"/>
                          </m:rPr>
                          <a:rPr lang="en-US" altLang="zh-CN">
                            <a:latin typeface="Cambria Math" panose="02040503050406030204" pitchFamily="18" charset="0"/>
                          </a:rPr>
                          <m:t>R</m:t>
                        </m:r>
                      </m:e>
                      <m:sup>
                        <m:r>
                          <a:rPr lang="en-US" altLang="zh-CN">
                            <a:latin typeface="Cambria Math" panose="02040503050406030204" pitchFamily="18" charset="0"/>
                          </a:rPr>
                          <m:t>∗</m:t>
                        </m:r>
                      </m:sup>
                    </m:sSup>
                  </m:oMath>
                </a14:m>
                <a:r>
                  <a:rPr lang="en-US" altLang="zh-CN" dirty="0"/>
                  <a:t>, (</a:t>
                </a:r>
                <a:r>
                  <a:rPr lang="en-US" altLang="zh-CN" dirty="0" err="1"/>
                  <a:t>b,c</a:t>
                </a:r>
                <a:r>
                  <a:rPr lang="en-US" altLang="zh-CN" dirty="0"/>
                  <a:t>)</a:t>
                </a:r>
                <a:r>
                  <a:rPr lang="zh-CN" altLang="en-US" dirty="0"/>
                  <a:t> </a:t>
                </a:r>
                <a14:m>
                  <m:oMath xmlns:m="http://schemas.openxmlformats.org/officeDocument/2006/math">
                    <m:r>
                      <a:rPr lang="zh-CN" altLang="en-US">
                        <a:latin typeface="Cambria Math" panose="02040503050406030204" pitchFamily="18" charset="0"/>
                      </a:rPr>
                      <m:t>∈</m:t>
                    </m:r>
                    <m:sSup>
                      <m:sSupPr>
                        <m:ctrlPr>
                          <a:rPr lang="en-US" altLang="zh-CN" i="1">
                            <a:latin typeface="Cambria Math" panose="02040503050406030204" pitchFamily="18" charset="0"/>
                          </a:rPr>
                        </m:ctrlPr>
                      </m:sSupPr>
                      <m:e>
                        <m:r>
                          <m:rPr>
                            <m:sty m:val="p"/>
                          </m:rPr>
                          <a:rPr lang="en-US" altLang="zh-CN">
                            <a:latin typeface="Cambria Math" panose="02040503050406030204" pitchFamily="18" charset="0"/>
                          </a:rPr>
                          <m:t>R</m:t>
                        </m:r>
                      </m:e>
                      <m:sup>
                        <m:r>
                          <a:rPr lang="en-US" altLang="zh-CN">
                            <a:latin typeface="Cambria Math" panose="02040503050406030204" pitchFamily="18" charset="0"/>
                          </a:rPr>
                          <m:t>∗</m:t>
                        </m:r>
                      </m:sup>
                    </m:sSup>
                  </m:oMath>
                </a14:m>
                <a:r>
                  <a:rPr lang="en-US" altLang="zh-CN" dirty="0"/>
                  <a:t>, </a:t>
                </a:r>
                <a:r>
                  <a:rPr lang="zh-CN" altLang="en-US" dirty="0"/>
                  <a:t>那么在</a:t>
                </a:r>
                <a:r>
                  <a:rPr lang="en-US" altLang="zh-CN" dirty="0"/>
                  <a:t>R</a:t>
                </a:r>
                <a:r>
                  <a:rPr lang="zh-CN" altLang="en-US" dirty="0"/>
                  <a:t>中存在从</a:t>
                </a:r>
                <a:r>
                  <a:rPr lang="en-US" altLang="zh-CN" dirty="0"/>
                  <a:t>a</a:t>
                </a:r>
                <a:r>
                  <a:rPr lang="zh-CN" altLang="en-US" dirty="0"/>
                  <a:t>到</a:t>
                </a:r>
                <a:r>
                  <a:rPr lang="en-US" altLang="zh-CN" dirty="0"/>
                  <a:t>b</a:t>
                </a:r>
                <a:r>
                  <a:rPr lang="zh-CN" altLang="en-US" dirty="0"/>
                  <a:t>和从</a:t>
                </a:r>
                <a:r>
                  <a:rPr lang="en-US" altLang="zh-CN" dirty="0"/>
                  <a:t>b</a:t>
                </a:r>
                <a:r>
                  <a:rPr lang="zh-CN" altLang="en-US" dirty="0"/>
                  <a:t>到</a:t>
                </a:r>
                <a:r>
                  <a:rPr lang="en-US" altLang="zh-CN" dirty="0"/>
                  <a:t>c</a:t>
                </a:r>
                <a:r>
                  <a:rPr lang="zh-CN" altLang="en-US" dirty="0"/>
                  <a:t>的路径</a:t>
                </a:r>
                <a:r>
                  <a:rPr lang="en-US" altLang="zh-CN" dirty="0"/>
                  <a:t>. </a:t>
                </a:r>
                <a:r>
                  <a:rPr lang="zh-CN" altLang="en-US" dirty="0"/>
                  <a:t>我们从</a:t>
                </a:r>
                <a:r>
                  <a:rPr lang="en-US" altLang="zh-CN" dirty="0"/>
                  <a:t>a</a:t>
                </a:r>
                <a:r>
                  <a:rPr lang="zh-CN" altLang="en-US" dirty="0"/>
                  <a:t>到</a:t>
                </a:r>
                <a:r>
                  <a:rPr lang="en-US" altLang="zh-CN" dirty="0"/>
                  <a:t>b</a:t>
                </a:r>
                <a:r>
                  <a:rPr lang="zh-CN" altLang="en-US" dirty="0"/>
                  <a:t>的路径开始</a:t>
                </a:r>
                <a:r>
                  <a:rPr lang="en-US" altLang="zh-CN" dirty="0"/>
                  <a:t>, </a:t>
                </a:r>
                <a:r>
                  <a:rPr lang="zh-CN" altLang="en-US" dirty="0"/>
                  <a:t>然后沿着从</a:t>
                </a:r>
                <a:r>
                  <a:rPr lang="en-US" altLang="zh-CN" dirty="0"/>
                  <a:t>b</a:t>
                </a:r>
                <a:r>
                  <a:rPr lang="zh-CN" altLang="en-US" dirty="0"/>
                  <a:t>到</a:t>
                </a:r>
                <a:r>
                  <a:rPr lang="en-US" altLang="zh-CN" dirty="0"/>
                  <a:t>c</a:t>
                </a:r>
                <a:r>
                  <a:rPr lang="zh-CN" altLang="en-US" dirty="0"/>
                  <a:t>的路径就能得到一条从</a:t>
                </a:r>
                <a:r>
                  <a:rPr lang="en-US" altLang="zh-CN" dirty="0"/>
                  <a:t>a</a:t>
                </a:r>
                <a:r>
                  <a:rPr lang="zh-CN" altLang="en-US" dirty="0"/>
                  <a:t>到</a:t>
                </a:r>
                <a:r>
                  <a:rPr lang="en-US" altLang="zh-CN" dirty="0"/>
                  <a:t>c</a:t>
                </a:r>
                <a:r>
                  <a:rPr lang="zh-CN" altLang="en-US" dirty="0"/>
                  <a:t>的路径</a:t>
                </a:r>
                <a:r>
                  <a:rPr lang="en-US" altLang="zh-CN" dirty="0"/>
                  <a:t>, </a:t>
                </a:r>
                <a:r>
                  <a:rPr lang="zh-CN" altLang="en-US" dirty="0"/>
                  <a:t>因此</a:t>
                </a:r>
                <a:r>
                  <a:rPr lang="en-US" altLang="zh-CN" dirty="0"/>
                  <a:t>(</a:t>
                </a:r>
                <a:r>
                  <a:rPr lang="en-US" altLang="zh-CN" dirty="0" err="1"/>
                  <a:t>a,c</a:t>
                </a:r>
                <a:r>
                  <a:rPr lang="en-US" altLang="zh-CN" dirty="0"/>
                  <a:t>)</a:t>
                </a:r>
                <a14:m>
                  <m:oMath xmlns:m="http://schemas.openxmlformats.org/officeDocument/2006/math">
                    <m:r>
                      <a:rPr lang="zh-CN" altLang="en-US">
                        <a:latin typeface="Cambria Math" panose="02040503050406030204" pitchFamily="18" charset="0"/>
                      </a:rPr>
                      <m:t>∈</m:t>
                    </m:r>
                  </m:oMath>
                </a14:m>
                <a:r>
                  <a:rPr lang="en-US" altLang="zh-CN" dirty="0"/>
                  <a:t> </a:t>
                </a:r>
                <a14:m>
                  <m:oMath xmlns:m="http://schemas.openxmlformats.org/officeDocument/2006/math">
                    <m:sSup>
                      <m:sSupPr>
                        <m:ctrlPr>
                          <a:rPr lang="en-US" altLang="zh-CN" i="1">
                            <a:latin typeface="Cambria Math" panose="02040503050406030204" pitchFamily="18" charset="0"/>
                          </a:rPr>
                        </m:ctrlPr>
                      </m:sSupPr>
                      <m:e>
                        <m:r>
                          <m:rPr>
                            <m:sty m:val="p"/>
                          </m:rPr>
                          <a:rPr lang="en-US" altLang="zh-CN">
                            <a:latin typeface="Cambria Math" panose="02040503050406030204" pitchFamily="18" charset="0"/>
                          </a:rPr>
                          <m:t>R</m:t>
                        </m:r>
                      </m:e>
                      <m:sup>
                        <m:r>
                          <a:rPr lang="en-US" altLang="zh-CN">
                            <a:latin typeface="Cambria Math" panose="02040503050406030204" pitchFamily="18" charset="0"/>
                          </a:rPr>
                          <m:t>∗</m:t>
                        </m:r>
                      </m:sup>
                    </m:sSup>
                    <m:r>
                      <a:rPr lang="en-US" altLang="zh-CN">
                        <a:latin typeface="Cambria Math" panose="02040503050406030204" pitchFamily="18" charset="0"/>
                      </a:rPr>
                      <m:t>.  </m:t>
                    </m:r>
                    <m:r>
                      <a:rPr lang="zh-CN" altLang="en-US">
                        <a:latin typeface="Cambria Math" panose="02040503050406030204" pitchFamily="18" charset="0"/>
                      </a:rPr>
                      <m:t>这</m:t>
                    </m:r>
                  </m:oMath>
                </a14:m>
                <a:r>
                  <a:rPr lang="zh-CN" altLang="en-US" dirty="0"/>
                  <a:t>就得出</a:t>
                </a:r>
                <a14:m>
                  <m:oMath xmlns:m="http://schemas.openxmlformats.org/officeDocument/2006/math">
                    <m:sSup>
                      <m:sSupPr>
                        <m:ctrlPr>
                          <a:rPr lang="en-US" altLang="zh-CN" i="1">
                            <a:latin typeface="Cambria Math" panose="02040503050406030204" pitchFamily="18" charset="0"/>
                          </a:rPr>
                        </m:ctrlPr>
                      </m:sSupPr>
                      <m:e>
                        <m:r>
                          <m:rPr>
                            <m:sty m:val="p"/>
                          </m:rPr>
                          <a:rPr lang="en-US" altLang="zh-CN">
                            <a:latin typeface="Cambria Math" panose="02040503050406030204" pitchFamily="18" charset="0"/>
                          </a:rPr>
                          <m:t>R</m:t>
                        </m:r>
                      </m:e>
                      <m:sup>
                        <m:r>
                          <a:rPr lang="en-US" altLang="zh-CN">
                            <a:latin typeface="Cambria Math" panose="02040503050406030204" pitchFamily="18" charset="0"/>
                          </a:rPr>
                          <m:t>∗</m:t>
                        </m:r>
                      </m:sup>
                    </m:sSup>
                  </m:oMath>
                </a14:m>
                <a:r>
                  <a:rPr lang="zh-CN" altLang="en-US" dirty="0"/>
                  <a:t>是传递的</a:t>
                </a:r>
                <a:r>
                  <a:rPr lang="en-US" altLang="zh-CN" dirty="0" smtClean="0"/>
                  <a:t>.</a:t>
                </a:r>
              </a:p>
              <a:p>
                <a:pPr marL="850392" lvl="1" indent="-457200">
                  <a:lnSpc>
                    <a:spcPct val="110000"/>
                  </a:lnSpc>
                  <a:buClrTx/>
                  <a:buFont typeface="+mj-ea"/>
                  <a:buAutoNum type="circleNumDbPlain" startAt="2"/>
                </a:pPr>
                <a:r>
                  <a:rPr lang="zh-CN" altLang="en-US" dirty="0"/>
                  <a:t>证明</a:t>
                </a:r>
                <a14:m>
                  <m:oMath xmlns:m="http://schemas.openxmlformats.org/officeDocument/2006/math">
                    <m:sSup>
                      <m:sSupPr>
                        <m:ctrlPr>
                          <a:rPr lang="en-US" altLang="zh-CN" i="1">
                            <a:latin typeface="Cambria Math" panose="02040503050406030204" pitchFamily="18" charset="0"/>
                          </a:rPr>
                        </m:ctrlPr>
                      </m:sSupPr>
                      <m:e>
                        <m:r>
                          <m:rPr>
                            <m:sty m:val="p"/>
                          </m:rPr>
                          <a:rPr lang="en-US" altLang="zh-CN">
                            <a:latin typeface="Cambria Math" panose="02040503050406030204" pitchFamily="18" charset="0"/>
                          </a:rPr>
                          <m:t>R</m:t>
                        </m:r>
                      </m:e>
                      <m:sup>
                        <m:r>
                          <a:rPr lang="en-US" altLang="zh-CN">
                            <a:latin typeface="Cambria Math" panose="02040503050406030204" pitchFamily="18" charset="0"/>
                          </a:rPr>
                          <m:t>∗</m:t>
                        </m:r>
                      </m:sup>
                    </m:sSup>
                  </m:oMath>
                </a14:m>
                <a:r>
                  <a:rPr lang="zh-CN" altLang="en-US" dirty="0" smtClean="0"/>
                  <a:t>包含关系</a:t>
                </a:r>
                <a:r>
                  <a:rPr lang="en-US" altLang="zh-CN" dirty="0" smtClean="0"/>
                  <a:t>R:</a:t>
                </a:r>
              </a:p>
              <a:p>
                <a:pPr marL="393192" lvl="1" indent="0">
                  <a:lnSpc>
                    <a:spcPct val="110000"/>
                  </a:lnSpc>
                  <a:buNone/>
                </a:pPr>
                <a:r>
                  <a:rPr lang="en-US" altLang="zh-CN" dirty="0"/>
                  <a:t> </a:t>
                </a:r>
                <a:r>
                  <a:rPr lang="en-US" altLang="zh-CN" dirty="0" smtClean="0"/>
                  <a:t>    </a:t>
                </a:r>
                <a:r>
                  <a:rPr lang="zh-CN" altLang="en-US" dirty="0" smtClean="0"/>
                  <a:t>根据</a:t>
                </a:r>
                <a14:m>
                  <m:oMath xmlns:m="http://schemas.openxmlformats.org/officeDocument/2006/math">
                    <m:sSup>
                      <m:sSupPr>
                        <m:ctrlPr>
                          <a:rPr lang="en-US" altLang="zh-CN" i="1">
                            <a:latin typeface="Cambria Math" panose="02040503050406030204" pitchFamily="18" charset="0"/>
                          </a:rPr>
                        </m:ctrlPr>
                      </m:sSupPr>
                      <m:e>
                        <m:r>
                          <m:rPr>
                            <m:sty m:val="p"/>
                          </m:rPr>
                          <a:rPr lang="en-US" altLang="zh-CN">
                            <a:latin typeface="Cambria Math" panose="02040503050406030204" pitchFamily="18" charset="0"/>
                          </a:rPr>
                          <m:t>R</m:t>
                        </m:r>
                      </m:e>
                      <m:sup>
                        <m:r>
                          <a:rPr lang="en-US" altLang="zh-CN">
                            <a:latin typeface="Cambria Math" panose="02040503050406030204" pitchFamily="18" charset="0"/>
                          </a:rPr>
                          <m:t>∗</m:t>
                        </m:r>
                      </m:sup>
                    </m:sSup>
                    <m:r>
                      <a:rPr lang="zh-CN" altLang="en-US" i="1">
                        <a:latin typeface="Cambria Math" panose="02040503050406030204" pitchFamily="18" charset="0"/>
                      </a:rPr>
                      <m:t>的</m:t>
                    </m:r>
                  </m:oMath>
                </a14:m>
                <a:r>
                  <a:rPr lang="zh-CN" altLang="en-US" dirty="0" smtClean="0"/>
                  <a:t>定义</a:t>
                </a:r>
                <a14:m>
                  <m:oMath xmlns:m="http://schemas.openxmlformats.org/officeDocument/2006/math">
                    <m:r>
                      <a:rPr lang="en-US" altLang="zh-CN" b="0" i="0" smtClean="0">
                        <a:latin typeface="Cambria Math" panose="02040503050406030204" pitchFamily="18" charset="0"/>
                      </a:rPr>
                      <m:t>:</m:t>
                    </m:r>
                    <m:sSup>
                      <m:sSupPr>
                        <m:ctrlPr>
                          <a:rPr lang="en-US" altLang="zh-CN" i="1">
                            <a:latin typeface="Cambria Math" panose="02040503050406030204" pitchFamily="18" charset="0"/>
                          </a:rPr>
                        </m:ctrlPr>
                      </m:sSupPr>
                      <m:e>
                        <m:r>
                          <m:rPr>
                            <m:sty m:val="p"/>
                          </m:rPr>
                          <a:rPr lang="en-US" altLang="zh-CN" i="1">
                            <a:latin typeface="Cambria Math" panose="02040503050406030204" pitchFamily="18" charset="0"/>
                          </a:rPr>
                          <m:t>R</m:t>
                        </m:r>
                      </m:e>
                      <m:sup>
                        <m:r>
                          <a:rPr lang="en-US" altLang="zh-CN" i="1">
                            <a:latin typeface="Cambria Math" panose="02040503050406030204" pitchFamily="18" charset="0"/>
                          </a:rPr>
                          <m:t>∗</m:t>
                        </m:r>
                      </m:sup>
                    </m:sSup>
                    <m:r>
                      <a:rPr lang="en-US" altLang="zh-CN" i="1">
                        <a:latin typeface="Cambria Math" panose="02040503050406030204" pitchFamily="18" charset="0"/>
                        <a:ea typeface="Cambria Math" panose="02040503050406030204" pitchFamily="18" charset="0"/>
                      </a:rPr>
                      <m:t>=</m:t>
                    </m:r>
                    <m:nary>
                      <m:naryPr>
                        <m:chr m:val="⋃"/>
                        <m:ctrlPr>
                          <a:rPr lang="en-US" altLang="zh-CN" i="1">
                            <a:latin typeface="Cambria Math" panose="02040503050406030204" pitchFamily="18" charset="0"/>
                            <a:ea typeface="Cambria Math" panose="02040503050406030204" pitchFamily="18" charset="0"/>
                          </a:rPr>
                        </m:ctrlPr>
                      </m:naryPr>
                      <m:sub>
                        <m:r>
                          <m:rPr>
                            <m:brk m:alnAt="23"/>
                          </m:rPr>
                          <a:rPr lang="en-US" altLang="zh-CN" i="1">
                            <a:latin typeface="Cambria Math" panose="02040503050406030204" pitchFamily="18" charset="0"/>
                            <a:ea typeface="Cambria Math" panose="02040503050406030204" pitchFamily="18" charset="0"/>
                          </a:rPr>
                          <m:t>𝑛</m:t>
                        </m:r>
                        <m:r>
                          <a:rPr lang="en-US" altLang="zh-CN" i="1">
                            <a:latin typeface="Cambria Math" panose="02040503050406030204" pitchFamily="18" charset="0"/>
                            <a:ea typeface="Cambria Math" panose="02040503050406030204" pitchFamily="18" charset="0"/>
                          </a:rPr>
                          <m:t>=1</m:t>
                        </m:r>
                      </m:sub>
                      <m:sup>
                        <m:r>
                          <a:rPr lang="en-US" altLang="zh-CN" i="1">
                            <a:latin typeface="Cambria Math" panose="02040503050406030204" pitchFamily="18" charset="0"/>
                            <a:ea typeface="Cambria Math" panose="02040503050406030204" pitchFamily="18" charset="0"/>
                          </a:rPr>
                          <m:t>∞</m:t>
                        </m:r>
                      </m:sup>
                      <m:e>
                        <m:sSup>
                          <m:sSupPr>
                            <m:ctrlPr>
                              <a:rPr lang="en-US" altLang="zh-CN" i="1">
                                <a:latin typeface="Cambria Math" panose="02040503050406030204" pitchFamily="18" charset="0"/>
                              </a:rPr>
                            </m:ctrlPr>
                          </m:sSupPr>
                          <m:e>
                            <m:r>
                              <a:rPr lang="en-US" altLang="zh-CN" i="1">
                                <a:latin typeface="Cambria Math" panose="02040503050406030204" pitchFamily="18" charset="0"/>
                              </a:rPr>
                              <m:t>𝑅</m:t>
                            </m:r>
                          </m:e>
                          <m:sup>
                            <m:r>
                              <a:rPr lang="en-US" altLang="zh-CN" i="1">
                                <a:latin typeface="Cambria Math" panose="02040503050406030204" pitchFamily="18" charset="0"/>
                              </a:rPr>
                              <m:t>𝑛</m:t>
                            </m:r>
                          </m:sup>
                        </m:sSup>
                      </m:e>
                    </m:nary>
                  </m:oMath>
                </a14:m>
                <a:r>
                  <a:rPr lang="zh-CN" altLang="en-US" dirty="0" smtClean="0"/>
                  <a:t>，可知</a:t>
                </a:r>
                <a14:m>
                  <m:oMath xmlns:m="http://schemas.openxmlformats.org/officeDocument/2006/math">
                    <m:sSup>
                      <m:sSupPr>
                        <m:ctrlPr>
                          <a:rPr lang="en-US" altLang="zh-CN" i="1">
                            <a:latin typeface="Cambria Math" panose="02040503050406030204" pitchFamily="18" charset="0"/>
                          </a:rPr>
                        </m:ctrlPr>
                      </m:sSupPr>
                      <m:e>
                        <m:r>
                          <m:rPr>
                            <m:sty m:val="p"/>
                          </m:rPr>
                          <a:rPr lang="en-US" altLang="zh-CN">
                            <a:latin typeface="Cambria Math" panose="02040503050406030204" pitchFamily="18" charset="0"/>
                          </a:rPr>
                          <m:t>R</m:t>
                        </m:r>
                      </m:e>
                      <m:sup>
                        <m:r>
                          <a:rPr lang="en-US" altLang="zh-CN">
                            <a:latin typeface="Cambria Math" panose="02040503050406030204" pitchFamily="18" charset="0"/>
                          </a:rPr>
                          <m:t>∗</m:t>
                        </m:r>
                      </m:sup>
                    </m:sSup>
                    <m:r>
                      <a:rPr lang="zh-CN" altLang="en-US" i="1">
                        <a:latin typeface="Cambria Math" panose="02040503050406030204" pitchFamily="18" charset="0"/>
                      </a:rPr>
                      <m:t>是</m:t>
                    </m:r>
                  </m:oMath>
                </a14:m>
                <a:r>
                  <a:rPr lang="zh-CN" altLang="en-US" dirty="0" smtClean="0"/>
                  <a:t>包含关系</a:t>
                </a:r>
                <a:r>
                  <a:rPr lang="en-US" altLang="zh-CN" dirty="0" smtClean="0"/>
                  <a:t>R</a:t>
                </a:r>
                <a:r>
                  <a:rPr lang="zh-CN" altLang="en-US" dirty="0" smtClean="0"/>
                  <a:t>的</a:t>
                </a:r>
                <a:r>
                  <a:rPr lang="en-US" altLang="zh-CN" dirty="0" smtClean="0"/>
                  <a:t>.</a:t>
                </a:r>
                <a:endParaRPr lang="en-US" altLang="zh-CN" dirty="0"/>
              </a:p>
              <a:p>
                <a:pPr marL="393192" lvl="1" indent="0">
                  <a:lnSpc>
                    <a:spcPct val="110000"/>
                  </a:lnSpc>
                  <a:buNone/>
                </a:pPr>
                <a:endParaRPr lang="en-US" altLang="zh-CN" dirty="0" smtClean="0"/>
              </a:p>
              <a:p>
                <a:endParaRPr lang="en-US" altLang="zh-CN" dirty="0" smtClean="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l="-999" t="-1310" r="-166"/>
                </a:stretch>
              </a:blipFill>
            </p:spPr>
            <p:txBody>
              <a:bodyPr/>
              <a:lstStyle/>
              <a:p>
                <a:r>
                  <a:rPr lang="zh-CN" altLang="en-US">
                    <a:noFill/>
                  </a:rPr>
                  <a:t> </a:t>
                </a:r>
              </a:p>
            </p:txBody>
          </p:sp>
        </mc:Fallback>
      </mc:AlternateContent>
      <p:sp>
        <p:nvSpPr>
          <p:cNvPr id="4" name="日期占位符 3"/>
          <p:cNvSpPr>
            <a:spLocks noGrp="1"/>
          </p:cNvSpPr>
          <p:nvPr>
            <p:ph type="dt" sz="half" idx="10"/>
          </p:nvPr>
        </p:nvSpPr>
        <p:spPr/>
        <p:txBody>
          <a:bodyPr/>
          <a:lstStyle/>
          <a:p>
            <a:fld id="{EEB174CC-3966-4B61-9083-E3E501EDFE38}" type="datetime1">
              <a:rPr lang="zh-CN" altLang="en-US" smtClean="0"/>
              <a:t>2025/3/14</a:t>
            </a:fld>
            <a:endParaRPr lang="zh-CN" altLang="en-US" dirty="0"/>
          </a:p>
        </p:txBody>
      </p:sp>
      <p:sp>
        <p:nvSpPr>
          <p:cNvPr id="5" name="页脚占位符 4"/>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6" name="灯片编号占位符 5"/>
          <p:cNvSpPr>
            <a:spLocks noGrp="1"/>
          </p:cNvSpPr>
          <p:nvPr>
            <p:ph type="sldNum" sz="quarter" idx="12"/>
          </p:nvPr>
        </p:nvSpPr>
        <p:spPr/>
        <p:txBody>
          <a:bodyPr/>
          <a:lstStyle/>
          <a:p>
            <a:fld id="{67913A8A-9EFB-4B5F-9CCB-3D21173FAA85}" type="slidenum">
              <a:rPr lang="zh-CN" altLang="en-US" smtClean="0"/>
              <a:pPr/>
              <a:t>70</a:t>
            </a:fld>
            <a:endParaRPr lang="zh-CN" altLang="en-US" dirty="0"/>
          </a:p>
        </p:txBody>
      </p:sp>
    </p:spTree>
    <p:extLst>
      <p:ext uri="{BB962C8B-B14F-4D97-AF65-F5344CB8AC3E}">
        <p14:creationId xmlns:p14="http://schemas.microsoft.com/office/powerpoint/2010/main" val="4047256001"/>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457200" y="1143000"/>
            <a:ext cx="11277599" cy="457200"/>
          </a:xfrm>
          <a:prstGeom prst="rect">
            <a:avLst/>
          </a:prstGeom>
          <a:solidFill>
            <a:schemeClr val="accent5">
              <a:lumMod val="40000"/>
              <a:lumOff val="6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zh-CN" altLang="en-US" dirty="0" smtClean="0"/>
              <a:t>传递闭包</a:t>
            </a:r>
            <a:endParaRPr lang="zh-CN" altLang="en-US" dirty="0"/>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normAutofit/>
              </a:bodyPr>
              <a:lstStyle/>
              <a:p>
                <a:r>
                  <a:rPr lang="zh-CN" altLang="en-US" dirty="0" smtClean="0"/>
                  <a:t>定理</a:t>
                </a:r>
                <a:r>
                  <a:rPr lang="en-US" altLang="zh-CN" dirty="0" smtClean="0"/>
                  <a:t>: </a:t>
                </a:r>
                <a:r>
                  <a:rPr lang="zh-CN" altLang="en-US" dirty="0" smtClean="0"/>
                  <a:t>关系</a:t>
                </a:r>
                <a:r>
                  <a:rPr lang="en-US" altLang="zh-CN" dirty="0" smtClean="0"/>
                  <a:t>R</a:t>
                </a:r>
                <a:r>
                  <a:rPr lang="zh-CN" altLang="en-US" dirty="0" smtClean="0"/>
                  <a:t>的</a:t>
                </a:r>
                <a:r>
                  <a:rPr lang="zh-CN" altLang="en-US" b="1" dirty="0" smtClean="0">
                    <a:solidFill>
                      <a:srgbClr val="C00000"/>
                    </a:solidFill>
                  </a:rPr>
                  <a:t>传递闭包</a:t>
                </a:r>
                <a:r>
                  <a:rPr lang="zh-CN" altLang="en-US" dirty="0" smtClean="0"/>
                  <a:t>等于连通性关系</a:t>
                </a:r>
                <a14:m>
                  <m:oMath xmlns:m="http://schemas.openxmlformats.org/officeDocument/2006/math">
                    <m:sSup>
                      <m:sSupPr>
                        <m:ctrlPr>
                          <a:rPr lang="en-US" altLang="zh-CN" i="1">
                            <a:latin typeface="Cambria Math" panose="02040503050406030204" pitchFamily="18" charset="0"/>
                          </a:rPr>
                        </m:ctrlPr>
                      </m:sSupPr>
                      <m:e>
                        <m:r>
                          <m:rPr>
                            <m:sty m:val="p"/>
                          </m:rPr>
                          <a:rPr lang="en-US" altLang="zh-CN" i="1">
                            <a:latin typeface="Cambria Math" panose="02040503050406030204" pitchFamily="18" charset="0"/>
                          </a:rPr>
                          <m:t>R</m:t>
                        </m:r>
                      </m:e>
                      <m:sup>
                        <m:r>
                          <a:rPr lang="en-US" altLang="zh-CN" i="1">
                            <a:latin typeface="Cambria Math" panose="02040503050406030204" pitchFamily="18" charset="0"/>
                          </a:rPr>
                          <m:t>∗</m:t>
                        </m:r>
                      </m:sup>
                    </m:sSup>
                  </m:oMath>
                </a14:m>
                <a:r>
                  <a:rPr lang="en-US" altLang="zh-CN" dirty="0" smtClean="0"/>
                  <a:t>.</a:t>
                </a:r>
              </a:p>
              <a:p>
                <a:r>
                  <a:rPr lang="zh-CN" altLang="en-US" dirty="0" smtClean="0"/>
                  <a:t>证</a:t>
                </a:r>
                <a:r>
                  <a:rPr lang="en-US" altLang="zh-CN" dirty="0" smtClean="0"/>
                  <a:t>(</a:t>
                </a:r>
                <a:r>
                  <a:rPr lang="zh-CN" altLang="en-US" dirty="0" smtClean="0"/>
                  <a:t>续</a:t>
                </a:r>
                <a:r>
                  <a:rPr lang="en-US" altLang="zh-CN" dirty="0" smtClean="0"/>
                  <a:t>): </a:t>
                </a:r>
              </a:p>
              <a:p>
                <a:pPr marL="850392" lvl="1" indent="-457200">
                  <a:lnSpc>
                    <a:spcPct val="110000"/>
                  </a:lnSpc>
                  <a:buClr>
                    <a:schemeClr val="tx1"/>
                  </a:buClr>
                  <a:buFont typeface="+mj-ea"/>
                  <a:buAutoNum type="circleNumDbPlain" startAt="3"/>
                </a:pPr>
                <a:r>
                  <a:rPr lang="zh-CN" altLang="en-US" dirty="0" smtClean="0"/>
                  <a:t>证明</a:t>
                </a:r>
                <a:r>
                  <a:rPr lang="zh-CN" altLang="en-US" dirty="0"/>
                  <a:t>一切包含</a:t>
                </a:r>
                <a:r>
                  <a:rPr lang="en-US" altLang="zh-CN" dirty="0"/>
                  <a:t>R</a:t>
                </a:r>
                <a:r>
                  <a:rPr lang="zh-CN" altLang="en-US" dirty="0"/>
                  <a:t>的传递关系</a:t>
                </a:r>
                <a:r>
                  <a:rPr lang="en-US" altLang="zh-CN" dirty="0" smtClean="0"/>
                  <a:t>S(</a:t>
                </a:r>
                <a14:m>
                  <m:oMath xmlns:m="http://schemas.openxmlformats.org/officeDocument/2006/math">
                    <m:r>
                      <m:rPr>
                        <m:sty m:val="p"/>
                      </m:rPr>
                      <a:rPr lang="en-US" altLang="zh-CN">
                        <a:latin typeface="Cambria Math" panose="02040503050406030204" pitchFamily="18" charset="0"/>
                      </a:rPr>
                      <m:t>R</m:t>
                    </m:r>
                    <m:r>
                      <a:rPr lang="en-US" altLang="zh-CN">
                        <a:latin typeface="Cambria Math" panose="02040503050406030204" pitchFamily="18" charset="0"/>
                      </a:rPr>
                      <m:t>⊆</m:t>
                    </m:r>
                    <m:r>
                      <a:rPr lang="en-US" altLang="zh-CN">
                        <a:latin typeface="Cambria Math" panose="02040503050406030204" pitchFamily="18" charset="0"/>
                      </a:rPr>
                      <m:t>𝑆</m:t>
                    </m:r>
                  </m:oMath>
                </a14:m>
                <a:r>
                  <a:rPr lang="en-US" altLang="zh-CN" dirty="0" smtClean="0"/>
                  <a:t>), </a:t>
                </a:r>
                <a:r>
                  <a:rPr lang="zh-CN" altLang="en-US" dirty="0"/>
                  <a:t>有</a:t>
                </a:r>
                <a14:m>
                  <m:oMath xmlns:m="http://schemas.openxmlformats.org/officeDocument/2006/math">
                    <m:sSup>
                      <m:sSupPr>
                        <m:ctrlPr>
                          <a:rPr lang="en-US" altLang="zh-CN" i="1">
                            <a:latin typeface="Cambria Math" panose="02040503050406030204" pitchFamily="18" charset="0"/>
                          </a:rPr>
                        </m:ctrlPr>
                      </m:sSupPr>
                      <m:e>
                        <m:r>
                          <m:rPr>
                            <m:sty m:val="p"/>
                          </m:rPr>
                          <a:rPr lang="en-US" altLang="zh-CN" i="1">
                            <a:latin typeface="Cambria Math" panose="02040503050406030204" pitchFamily="18" charset="0"/>
                          </a:rPr>
                          <m:t>R</m:t>
                        </m:r>
                      </m:e>
                      <m:sup>
                        <m:r>
                          <a:rPr lang="en-US" altLang="zh-CN" i="1">
                            <a:latin typeface="Cambria Math" panose="02040503050406030204" pitchFamily="18" charset="0"/>
                          </a:rPr>
                          <m:t>∗</m:t>
                        </m:r>
                      </m:sup>
                    </m:sSup>
                  </m:oMath>
                </a14:m>
                <a:r>
                  <a:rPr lang="en-US" altLang="zh-CN" dirty="0" smtClean="0"/>
                  <a:t>⊆S: </a:t>
                </a:r>
              </a:p>
              <a:p>
                <a:pPr marL="393192" lvl="1" indent="0">
                  <a:lnSpc>
                    <a:spcPct val="110000"/>
                  </a:lnSpc>
                  <a:buNone/>
                </a:pPr>
                <a:r>
                  <a:rPr lang="en-US" altLang="zh-CN" dirty="0"/>
                  <a:t>	</a:t>
                </a:r>
                <a:r>
                  <a:rPr lang="zh-CN" altLang="en-US" dirty="0" smtClean="0"/>
                  <a:t>根据定理</a:t>
                </a:r>
                <a:r>
                  <a:rPr lang="en-US" altLang="zh-CN" dirty="0" smtClean="0"/>
                  <a:t>(</a:t>
                </a:r>
                <a:r>
                  <a:rPr lang="zh-CN" altLang="en-US" dirty="0" smtClean="0"/>
                  <a:t>集合</a:t>
                </a:r>
                <a:r>
                  <a:rPr lang="en-US" altLang="zh-CN" dirty="0"/>
                  <a:t>A</a:t>
                </a:r>
                <a:r>
                  <a:rPr lang="zh-CN" altLang="en-US" dirty="0"/>
                  <a:t>上的关系</a:t>
                </a:r>
                <a:r>
                  <a:rPr lang="en-US" altLang="zh-CN" dirty="0"/>
                  <a:t>R</a:t>
                </a:r>
                <a:r>
                  <a:rPr lang="zh-CN" altLang="en-US" dirty="0"/>
                  <a:t>是传递的</a:t>
                </a:r>
                <a:r>
                  <a:rPr lang="en-US" altLang="zh-CN" dirty="0"/>
                  <a:t>, </a:t>
                </a:r>
                <a:r>
                  <a:rPr lang="zh-CN" altLang="en-US" dirty="0"/>
                  <a:t>当且仅当对于</a:t>
                </a:r>
                <a:r>
                  <a:rPr lang="en-US" altLang="zh-CN" dirty="0"/>
                  <a:t>n = 1,2,3…</a:t>
                </a:r>
                <a:r>
                  <a:rPr lang="zh-CN" altLang="en-US" dirty="0"/>
                  <a:t>有</a:t>
                </a:r>
                <a14:m>
                  <m:oMath xmlns:m="http://schemas.openxmlformats.org/officeDocument/2006/math">
                    <m:sSup>
                      <m:sSupPr>
                        <m:ctrlPr>
                          <a:rPr lang="en-US" altLang="zh-CN" i="1">
                            <a:latin typeface="Cambria Math" panose="02040503050406030204" pitchFamily="18" charset="0"/>
                          </a:rPr>
                        </m:ctrlPr>
                      </m:sSupPr>
                      <m:e>
                        <m:r>
                          <m:rPr>
                            <m:sty m:val="p"/>
                          </m:rPr>
                          <a:rPr lang="en-US" altLang="zh-CN">
                            <a:latin typeface="Cambria Math" panose="02040503050406030204" pitchFamily="18" charset="0"/>
                          </a:rPr>
                          <m:t>R</m:t>
                        </m:r>
                      </m:e>
                      <m:sup>
                        <m:r>
                          <m:rPr>
                            <m:sty m:val="p"/>
                          </m:rPr>
                          <a:rPr lang="en-US" altLang="zh-CN">
                            <a:latin typeface="Cambria Math" panose="02040503050406030204" pitchFamily="18" charset="0"/>
                          </a:rPr>
                          <m:t>n</m:t>
                        </m:r>
                      </m:sup>
                    </m:sSup>
                  </m:oMath>
                </a14:m>
                <a:r>
                  <a:rPr lang="en-US" altLang="zh-CN" dirty="0"/>
                  <a:t>⊆</a:t>
                </a:r>
                <a:r>
                  <a:rPr lang="en-US" altLang="zh-CN" dirty="0" smtClean="0"/>
                  <a:t>R), </a:t>
                </a:r>
                <a:r>
                  <a:rPr lang="zh-CN" altLang="en-US" dirty="0" smtClean="0"/>
                  <a:t>所以传递关系</a:t>
                </a:r>
                <a:r>
                  <a:rPr lang="en-US" altLang="zh-CN" dirty="0" smtClean="0"/>
                  <a:t>S</a:t>
                </a:r>
                <a:r>
                  <a:rPr lang="zh-CN" altLang="en-US" dirty="0" smtClean="0"/>
                  <a:t>上存在</a:t>
                </a:r>
                <a14:m>
                  <m:oMath xmlns:m="http://schemas.openxmlformats.org/officeDocument/2006/math">
                    <m:sSup>
                      <m:sSupPr>
                        <m:ctrlPr>
                          <a:rPr lang="en-US" altLang="zh-CN" i="1">
                            <a:latin typeface="Cambria Math" panose="02040503050406030204" pitchFamily="18" charset="0"/>
                          </a:rPr>
                        </m:ctrlPr>
                      </m:sSupPr>
                      <m:e>
                        <m:r>
                          <m:rPr>
                            <m:sty m:val="p"/>
                          </m:rPr>
                          <a:rPr lang="en-US" altLang="zh-CN">
                            <a:latin typeface="Cambria Math" panose="02040503050406030204" pitchFamily="18" charset="0"/>
                          </a:rPr>
                          <m:t>S</m:t>
                        </m:r>
                      </m:e>
                      <m:sup>
                        <m:r>
                          <m:rPr>
                            <m:sty m:val="p"/>
                          </m:rPr>
                          <a:rPr lang="en-US" altLang="zh-CN">
                            <a:latin typeface="Cambria Math" panose="02040503050406030204" pitchFamily="18" charset="0"/>
                          </a:rPr>
                          <m:t>n</m:t>
                        </m:r>
                      </m:sup>
                    </m:sSup>
                    <m:r>
                      <a:rPr lang="en-US" altLang="zh-CN">
                        <a:latin typeface="Cambria Math" panose="02040503050406030204" pitchFamily="18" charset="0"/>
                      </a:rPr>
                      <m:t>⊆</m:t>
                    </m:r>
                    <m:r>
                      <a:rPr lang="en-US" altLang="zh-CN">
                        <a:latin typeface="Cambria Math" panose="02040503050406030204" pitchFamily="18" charset="0"/>
                      </a:rPr>
                      <m:t>𝑆</m:t>
                    </m:r>
                    <m:r>
                      <a:rPr lang="en-US" altLang="zh-CN" b="0" i="0" smtClean="0">
                        <a:latin typeface="Cambria Math" panose="02040503050406030204" pitchFamily="18" charset="0"/>
                      </a:rPr>
                      <m:t>.</m:t>
                    </m:r>
                  </m:oMath>
                </a14:m>
                <a:endParaRPr lang="en-US" altLang="zh-CN" b="0" dirty="0" smtClean="0"/>
              </a:p>
              <a:p>
                <a:pPr marL="393192" lvl="1" indent="0">
                  <a:lnSpc>
                    <a:spcPct val="110000"/>
                  </a:lnSpc>
                  <a:buNone/>
                </a:pPr>
                <a:r>
                  <a:rPr lang="en-US" altLang="zh-CN" dirty="0" smtClean="0"/>
                  <a:t>	</a:t>
                </a:r>
                <a:r>
                  <a:rPr lang="zh-CN" altLang="en-US" dirty="0" smtClean="0"/>
                  <a:t>因为</a:t>
                </a:r>
                <a14:m>
                  <m:oMath xmlns:m="http://schemas.openxmlformats.org/officeDocument/2006/math">
                    <m:sSup>
                      <m:sSupPr>
                        <m:ctrlPr>
                          <a:rPr lang="en-US" altLang="zh-CN" i="1">
                            <a:latin typeface="Cambria Math" panose="02040503050406030204" pitchFamily="18" charset="0"/>
                          </a:rPr>
                        </m:ctrlPr>
                      </m:sSupPr>
                      <m:e>
                        <m:r>
                          <m:rPr>
                            <m:sty m:val="p"/>
                          </m:rPr>
                          <a:rPr lang="en-US" altLang="zh-CN">
                            <a:latin typeface="Cambria Math" panose="02040503050406030204" pitchFamily="18" charset="0"/>
                          </a:rPr>
                          <m:t>S</m:t>
                        </m:r>
                      </m:e>
                      <m:sup>
                        <m:r>
                          <a:rPr lang="en-US" altLang="zh-CN">
                            <a:latin typeface="Cambria Math" panose="02040503050406030204" pitchFamily="18" charset="0"/>
                          </a:rPr>
                          <m:t>∗</m:t>
                        </m:r>
                      </m:sup>
                    </m:sSup>
                    <m:r>
                      <a:rPr lang="en-US" altLang="zh-CN">
                        <a:latin typeface="Cambria Math" panose="02040503050406030204" pitchFamily="18" charset="0"/>
                      </a:rPr>
                      <m:t>=</m:t>
                    </m:r>
                    <m:nary>
                      <m:naryPr>
                        <m:chr m:val="⋃"/>
                        <m:ctrlPr>
                          <a:rPr lang="en-US" altLang="zh-CN" i="1">
                            <a:latin typeface="Cambria Math" panose="02040503050406030204" pitchFamily="18" charset="0"/>
                          </a:rPr>
                        </m:ctrlPr>
                      </m:naryPr>
                      <m:sub>
                        <m:r>
                          <m:rPr>
                            <m:sty m:val="p"/>
                          </m:rPr>
                          <a:rPr lang="en-US" altLang="zh-CN">
                            <a:latin typeface="Cambria Math" panose="02040503050406030204" pitchFamily="18" charset="0"/>
                          </a:rPr>
                          <m:t>k</m:t>
                        </m:r>
                        <m:r>
                          <a:rPr lang="en-US" altLang="zh-CN">
                            <a:latin typeface="Cambria Math" panose="02040503050406030204" pitchFamily="18" charset="0"/>
                          </a:rPr>
                          <m:t>=1</m:t>
                        </m:r>
                      </m:sub>
                      <m:sup>
                        <m:r>
                          <a:rPr lang="en-US" altLang="zh-CN">
                            <a:latin typeface="Cambria Math" panose="02040503050406030204" pitchFamily="18" charset="0"/>
                          </a:rPr>
                          <m:t>∞</m:t>
                        </m:r>
                      </m:sup>
                      <m:e>
                        <m:sSup>
                          <m:sSupPr>
                            <m:ctrlPr>
                              <a:rPr lang="en-US" altLang="zh-CN" i="1">
                                <a:latin typeface="Cambria Math" panose="02040503050406030204" pitchFamily="18" charset="0"/>
                              </a:rPr>
                            </m:ctrlPr>
                          </m:sSupPr>
                          <m:e>
                            <m:r>
                              <a:rPr lang="en-US" altLang="zh-CN">
                                <a:latin typeface="Cambria Math" panose="02040503050406030204" pitchFamily="18" charset="0"/>
                              </a:rPr>
                              <m:t>𝑆</m:t>
                            </m:r>
                          </m:e>
                          <m:sup>
                            <m:r>
                              <a:rPr lang="en-US" altLang="zh-CN">
                                <a:latin typeface="Cambria Math" panose="02040503050406030204" pitchFamily="18" charset="0"/>
                              </a:rPr>
                              <m:t>𝑘</m:t>
                            </m:r>
                          </m:sup>
                        </m:sSup>
                      </m:e>
                    </m:nary>
                    <m:r>
                      <a:rPr lang="en-US" altLang="zh-CN" b="0" i="1" smtClean="0">
                        <a:latin typeface="Cambria Math" panose="02040503050406030204" pitchFamily="18" charset="0"/>
                      </a:rPr>
                      <m:t>,</m:t>
                    </m:r>
                  </m:oMath>
                </a14:m>
                <a:r>
                  <a:rPr lang="zh-CN" altLang="en-US" dirty="0" smtClean="0"/>
                  <a:t> 以及上一步得知的</a:t>
                </a:r>
                <a14:m>
                  <m:oMath xmlns:m="http://schemas.openxmlformats.org/officeDocument/2006/math">
                    <m:sSup>
                      <m:sSupPr>
                        <m:ctrlPr>
                          <a:rPr lang="en-US" altLang="zh-CN" i="1">
                            <a:latin typeface="Cambria Math" panose="02040503050406030204" pitchFamily="18" charset="0"/>
                          </a:rPr>
                        </m:ctrlPr>
                      </m:sSupPr>
                      <m:e>
                        <m:r>
                          <m:rPr>
                            <m:sty m:val="p"/>
                          </m:rPr>
                          <a:rPr lang="en-US" altLang="zh-CN">
                            <a:latin typeface="Cambria Math" panose="02040503050406030204" pitchFamily="18" charset="0"/>
                          </a:rPr>
                          <m:t>S</m:t>
                        </m:r>
                      </m:e>
                      <m:sup>
                        <m:r>
                          <m:rPr>
                            <m:sty m:val="p"/>
                          </m:rPr>
                          <a:rPr lang="en-US" altLang="zh-CN">
                            <a:latin typeface="Cambria Math" panose="02040503050406030204" pitchFamily="18" charset="0"/>
                          </a:rPr>
                          <m:t>n</m:t>
                        </m:r>
                      </m:sup>
                    </m:sSup>
                    <m:r>
                      <a:rPr lang="en-US" altLang="zh-CN">
                        <a:latin typeface="Cambria Math" panose="02040503050406030204" pitchFamily="18" charset="0"/>
                      </a:rPr>
                      <m:t>⊆</m:t>
                    </m:r>
                    <m:r>
                      <a:rPr lang="en-US" altLang="zh-CN">
                        <a:latin typeface="Cambria Math" panose="02040503050406030204" pitchFamily="18" charset="0"/>
                      </a:rPr>
                      <m:t>𝑆</m:t>
                    </m:r>
                  </m:oMath>
                </a14:m>
                <a:r>
                  <a:rPr lang="en-US" altLang="zh-CN" dirty="0" smtClean="0"/>
                  <a:t>, </a:t>
                </a:r>
                <a:r>
                  <a:rPr lang="zh-CN" altLang="en-US" dirty="0" smtClean="0"/>
                  <a:t>所以</a:t>
                </a:r>
                <a14:m>
                  <m:oMath xmlns:m="http://schemas.openxmlformats.org/officeDocument/2006/math">
                    <m:sSup>
                      <m:sSupPr>
                        <m:ctrlPr>
                          <a:rPr lang="en-US" altLang="zh-CN" i="1">
                            <a:latin typeface="Cambria Math" panose="02040503050406030204" pitchFamily="18" charset="0"/>
                          </a:rPr>
                        </m:ctrlPr>
                      </m:sSupPr>
                      <m:e>
                        <m:r>
                          <m:rPr>
                            <m:sty m:val="p"/>
                          </m:rPr>
                          <a:rPr lang="en-US" altLang="zh-CN">
                            <a:latin typeface="Cambria Math" panose="02040503050406030204" pitchFamily="18" charset="0"/>
                          </a:rPr>
                          <m:t>S</m:t>
                        </m:r>
                      </m:e>
                      <m:sup>
                        <m:r>
                          <a:rPr lang="en-US" altLang="zh-CN">
                            <a:latin typeface="Cambria Math" panose="02040503050406030204" pitchFamily="18" charset="0"/>
                          </a:rPr>
                          <m:t>∗</m:t>
                        </m:r>
                      </m:sup>
                    </m:sSup>
                    <m:r>
                      <a:rPr lang="en-US" altLang="zh-CN">
                        <a:latin typeface="Cambria Math" panose="02040503050406030204" pitchFamily="18" charset="0"/>
                      </a:rPr>
                      <m:t>⊆</m:t>
                    </m:r>
                    <m:r>
                      <a:rPr lang="en-US" altLang="zh-CN">
                        <a:latin typeface="Cambria Math" panose="02040503050406030204" pitchFamily="18" charset="0"/>
                      </a:rPr>
                      <m:t>𝑆</m:t>
                    </m:r>
                    <m:r>
                      <a:rPr lang="en-US" altLang="zh-CN" b="0" i="0" smtClean="0">
                        <a:latin typeface="Cambria Math" panose="02040503050406030204" pitchFamily="18" charset="0"/>
                      </a:rPr>
                      <m:t>.</m:t>
                    </m:r>
                  </m:oMath>
                </a14:m>
                <a:endParaRPr lang="en-US" altLang="zh-CN" b="0" dirty="0" smtClean="0"/>
              </a:p>
              <a:p>
                <a:pPr marL="393192" lvl="1" indent="0">
                  <a:lnSpc>
                    <a:spcPct val="110000"/>
                  </a:lnSpc>
                  <a:buNone/>
                </a:pPr>
                <a:r>
                  <a:rPr lang="en-US" altLang="zh-CN" dirty="0" smtClean="0"/>
                  <a:t>	</a:t>
                </a:r>
                <a:r>
                  <a:rPr lang="zh-CN" altLang="en-US" dirty="0" smtClean="0"/>
                  <a:t>任何</a:t>
                </a:r>
                <a:r>
                  <a:rPr lang="zh-CN" altLang="en-US" dirty="0"/>
                  <a:t>在</a:t>
                </a:r>
                <a:r>
                  <a:rPr lang="en-US" altLang="zh-CN" dirty="0"/>
                  <a:t>R</a:t>
                </a:r>
                <a:r>
                  <a:rPr lang="zh-CN" altLang="en-US" dirty="0"/>
                  <a:t>中的路径也在</a:t>
                </a:r>
                <a:r>
                  <a:rPr lang="en-US" altLang="zh-CN" dirty="0"/>
                  <a:t>S</a:t>
                </a:r>
                <a:r>
                  <a:rPr lang="zh-CN" altLang="en-US" dirty="0"/>
                  <a:t>中的</a:t>
                </a:r>
                <a:r>
                  <a:rPr lang="zh-CN" altLang="en-US" dirty="0" smtClean="0"/>
                  <a:t>路径</a:t>
                </a:r>
                <a:r>
                  <a:rPr lang="en-US" altLang="zh-CN" dirty="0" smtClean="0"/>
                  <a:t>. </a:t>
                </a:r>
                <a:r>
                  <a:rPr lang="zh-CN" altLang="en-US" dirty="0" smtClean="0"/>
                  <a:t>已知</a:t>
                </a:r>
                <a14:m>
                  <m:oMath xmlns:m="http://schemas.openxmlformats.org/officeDocument/2006/math">
                    <m:r>
                      <m:rPr>
                        <m:sty m:val="p"/>
                      </m:rPr>
                      <a:rPr lang="en-US" altLang="zh-CN">
                        <a:latin typeface="Cambria Math" panose="02040503050406030204" pitchFamily="18" charset="0"/>
                      </a:rPr>
                      <m:t>R</m:t>
                    </m:r>
                    <m:r>
                      <a:rPr lang="en-US" altLang="zh-CN">
                        <a:latin typeface="Cambria Math" panose="02040503050406030204" pitchFamily="18" charset="0"/>
                      </a:rPr>
                      <m:t>⊆</m:t>
                    </m:r>
                    <m:r>
                      <a:rPr lang="en-US" altLang="zh-CN">
                        <a:latin typeface="Cambria Math" panose="02040503050406030204" pitchFamily="18" charset="0"/>
                      </a:rPr>
                      <m:t>𝑆</m:t>
                    </m:r>
                  </m:oMath>
                </a14:m>
                <a:r>
                  <a:rPr lang="en-US" altLang="zh-CN" dirty="0"/>
                  <a:t>, </a:t>
                </a:r>
                <a:r>
                  <a:rPr lang="zh-CN" altLang="en-US" dirty="0"/>
                  <a:t>那么</a:t>
                </a:r>
                <a14:m>
                  <m:oMath xmlns:m="http://schemas.openxmlformats.org/officeDocument/2006/math">
                    <m:sSup>
                      <m:sSupPr>
                        <m:ctrlPr>
                          <a:rPr lang="en-US" altLang="zh-CN" i="1">
                            <a:latin typeface="Cambria Math" panose="02040503050406030204" pitchFamily="18" charset="0"/>
                          </a:rPr>
                        </m:ctrlPr>
                      </m:sSupPr>
                      <m:e>
                        <m:r>
                          <m:rPr>
                            <m:sty m:val="p"/>
                          </m:rPr>
                          <a:rPr lang="en-US" altLang="zh-CN">
                            <a:latin typeface="Cambria Math" panose="02040503050406030204" pitchFamily="18" charset="0"/>
                          </a:rPr>
                          <m:t>R</m:t>
                        </m:r>
                      </m:e>
                      <m:sup>
                        <m:r>
                          <a:rPr lang="en-US" altLang="zh-CN">
                            <a:latin typeface="Cambria Math" panose="02040503050406030204" pitchFamily="18" charset="0"/>
                          </a:rPr>
                          <m:t>∗</m:t>
                        </m:r>
                      </m:sup>
                    </m:sSup>
                    <m:r>
                      <a:rPr lang="en-US" altLang="zh-CN">
                        <a:latin typeface="Cambria Math" panose="02040503050406030204" pitchFamily="18" charset="0"/>
                      </a:rPr>
                      <m:t>⊆</m:t>
                    </m:r>
                    <m:sSup>
                      <m:sSupPr>
                        <m:ctrlPr>
                          <a:rPr lang="en-US" altLang="zh-CN" i="1">
                            <a:latin typeface="Cambria Math" panose="02040503050406030204" pitchFamily="18" charset="0"/>
                          </a:rPr>
                        </m:ctrlPr>
                      </m:sSupPr>
                      <m:e>
                        <m:r>
                          <m:rPr>
                            <m:sty m:val="p"/>
                          </m:rPr>
                          <a:rPr lang="en-US" altLang="zh-CN">
                            <a:latin typeface="Cambria Math" panose="02040503050406030204" pitchFamily="18" charset="0"/>
                          </a:rPr>
                          <m:t>S</m:t>
                        </m:r>
                      </m:e>
                      <m:sup>
                        <m:r>
                          <a:rPr lang="en-US" altLang="zh-CN">
                            <a:latin typeface="Cambria Math" panose="02040503050406030204" pitchFamily="18" charset="0"/>
                          </a:rPr>
                          <m:t>∗</m:t>
                        </m:r>
                      </m:sup>
                    </m:sSup>
                  </m:oMath>
                </a14:m>
                <a:r>
                  <a:rPr lang="en-US" altLang="zh-CN" dirty="0" smtClean="0"/>
                  <a:t>.</a:t>
                </a:r>
              </a:p>
              <a:p>
                <a:pPr marL="393192" lvl="1" indent="0">
                  <a:lnSpc>
                    <a:spcPct val="110000"/>
                  </a:lnSpc>
                  <a:buNone/>
                </a:pPr>
                <a:r>
                  <a:rPr lang="en-US" altLang="zh-CN" dirty="0"/>
                  <a:t>	</a:t>
                </a:r>
                <a:r>
                  <a:rPr lang="zh-CN" altLang="en-US" dirty="0" smtClean="0"/>
                  <a:t>因此</a:t>
                </a:r>
                <a:r>
                  <a:rPr lang="en-US" altLang="zh-CN" dirty="0"/>
                  <a:t>, </a:t>
                </a:r>
                <a14:m>
                  <m:oMath xmlns:m="http://schemas.openxmlformats.org/officeDocument/2006/math">
                    <m:sSup>
                      <m:sSupPr>
                        <m:ctrlPr>
                          <a:rPr lang="en-US" altLang="zh-CN" i="1">
                            <a:latin typeface="Cambria Math" panose="02040503050406030204" pitchFamily="18" charset="0"/>
                          </a:rPr>
                        </m:ctrlPr>
                      </m:sSupPr>
                      <m:e>
                        <m:r>
                          <m:rPr>
                            <m:sty m:val="p"/>
                          </m:rPr>
                          <a:rPr lang="en-US" altLang="zh-CN">
                            <a:latin typeface="Cambria Math" panose="02040503050406030204" pitchFamily="18" charset="0"/>
                          </a:rPr>
                          <m:t>R</m:t>
                        </m:r>
                      </m:e>
                      <m:sup>
                        <m:r>
                          <a:rPr lang="en-US" altLang="zh-CN">
                            <a:latin typeface="Cambria Math" panose="02040503050406030204" pitchFamily="18" charset="0"/>
                          </a:rPr>
                          <m:t>∗</m:t>
                        </m:r>
                      </m:sup>
                    </m:sSup>
                    <m:r>
                      <a:rPr lang="en-US" altLang="zh-CN">
                        <a:latin typeface="Cambria Math" panose="02040503050406030204" pitchFamily="18" charset="0"/>
                      </a:rPr>
                      <m:t>⊆</m:t>
                    </m:r>
                    <m:sSup>
                      <m:sSupPr>
                        <m:ctrlPr>
                          <a:rPr lang="en-US" altLang="zh-CN" i="1">
                            <a:latin typeface="Cambria Math" panose="02040503050406030204" pitchFamily="18" charset="0"/>
                          </a:rPr>
                        </m:ctrlPr>
                      </m:sSupPr>
                      <m:e>
                        <m:r>
                          <m:rPr>
                            <m:sty m:val="p"/>
                          </m:rPr>
                          <a:rPr lang="en-US" altLang="zh-CN">
                            <a:latin typeface="Cambria Math" panose="02040503050406030204" pitchFamily="18" charset="0"/>
                          </a:rPr>
                          <m:t>S</m:t>
                        </m:r>
                      </m:e>
                      <m:sup>
                        <m:r>
                          <a:rPr lang="en-US" altLang="zh-CN">
                            <a:latin typeface="Cambria Math" panose="02040503050406030204" pitchFamily="18" charset="0"/>
                          </a:rPr>
                          <m:t>∗</m:t>
                        </m:r>
                      </m:sup>
                    </m:sSup>
                    <m:r>
                      <a:rPr lang="en-US" altLang="zh-CN">
                        <a:latin typeface="Cambria Math" panose="02040503050406030204" pitchFamily="18" charset="0"/>
                      </a:rPr>
                      <m:t>⊆</m:t>
                    </m:r>
                    <m:r>
                      <a:rPr lang="en-US" altLang="zh-CN">
                        <a:latin typeface="Cambria Math" panose="02040503050406030204" pitchFamily="18" charset="0"/>
                      </a:rPr>
                      <m:t>𝑆</m:t>
                    </m:r>
                    <m:r>
                      <a:rPr lang="en-US" altLang="zh-CN">
                        <a:latin typeface="Cambria Math" panose="02040503050406030204" pitchFamily="18" charset="0"/>
                      </a:rPr>
                      <m:t>. </m:t>
                    </m:r>
                  </m:oMath>
                </a14:m>
                <a:r>
                  <a:rPr lang="zh-CN" altLang="en-US" dirty="0" smtClean="0"/>
                  <a:t> 换言之</a:t>
                </a:r>
                <a:r>
                  <a:rPr lang="en-US" altLang="zh-CN" dirty="0" smtClean="0"/>
                  <a:t>,</a:t>
                </a:r>
                <a:r>
                  <a:rPr lang="en-US" altLang="zh-CN" dirty="0"/>
                  <a:t> </a:t>
                </a:r>
                <a14:m>
                  <m:oMath xmlns:m="http://schemas.openxmlformats.org/officeDocument/2006/math">
                    <m:sSup>
                      <m:sSupPr>
                        <m:ctrlPr>
                          <a:rPr lang="en-US" altLang="zh-CN" i="1">
                            <a:latin typeface="Cambria Math" panose="02040503050406030204" pitchFamily="18" charset="0"/>
                          </a:rPr>
                        </m:ctrlPr>
                      </m:sSupPr>
                      <m:e>
                        <m:r>
                          <m:rPr>
                            <m:sty m:val="p"/>
                          </m:rPr>
                          <a:rPr lang="en-US" altLang="zh-CN">
                            <a:latin typeface="Cambria Math" panose="02040503050406030204" pitchFamily="18" charset="0"/>
                          </a:rPr>
                          <m:t>R</m:t>
                        </m:r>
                      </m:e>
                      <m:sup>
                        <m:r>
                          <a:rPr lang="en-US" altLang="zh-CN">
                            <a:latin typeface="Cambria Math" panose="02040503050406030204" pitchFamily="18" charset="0"/>
                          </a:rPr>
                          <m:t>∗</m:t>
                        </m:r>
                      </m:sup>
                    </m:sSup>
                    <m:r>
                      <a:rPr lang="en-US" altLang="zh-CN">
                        <a:latin typeface="Cambria Math" panose="02040503050406030204" pitchFamily="18" charset="0"/>
                      </a:rPr>
                      <m:t>⊆</m:t>
                    </m:r>
                    <m:r>
                      <a:rPr lang="en-US" altLang="zh-CN">
                        <a:latin typeface="Cambria Math" panose="02040503050406030204" pitchFamily="18" charset="0"/>
                      </a:rPr>
                      <m:t>𝑆</m:t>
                    </m:r>
                    <m:r>
                      <a:rPr lang="en-US" altLang="zh-CN" b="0" i="0" smtClean="0">
                        <a:latin typeface="Cambria Math" panose="02040503050406030204" pitchFamily="18" charset="0"/>
                      </a:rPr>
                      <m:t>.</m:t>
                    </m:r>
                  </m:oMath>
                </a14:m>
                <a:endParaRPr lang="en-US" altLang="zh-CN" b="0" dirty="0" smtClean="0"/>
              </a:p>
              <a:p>
                <a:pPr marL="393192" lvl="1" indent="0">
                  <a:lnSpc>
                    <a:spcPct val="110000"/>
                  </a:lnSpc>
                  <a:buNone/>
                </a:pPr>
                <a:r>
                  <a:rPr lang="en-US" altLang="zh-CN" dirty="0" smtClean="0"/>
                  <a:t>	</a:t>
                </a:r>
                <a:r>
                  <a:rPr lang="zh-CN" altLang="en-US" dirty="0" smtClean="0"/>
                  <a:t>得证</a:t>
                </a:r>
                <a:r>
                  <a:rPr lang="en-US" altLang="zh-CN" dirty="0" smtClean="0"/>
                  <a:t>.</a:t>
                </a:r>
              </a:p>
              <a:p>
                <a:endParaRPr lang="en-US" altLang="zh-CN" dirty="0" smtClean="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rotWithShape="0">
                <a:blip r:embed="rId2"/>
                <a:stretch>
                  <a:fillRect l="-999" t="-1310"/>
                </a:stretch>
              </a:blipFill>
            </p:spPr>
            <p:txBody>
              <a:bodyPr/>
              <a:lstStyle/>
              <a:p>
                <a:r>
                  <a:rPr lang="zh-CN" altLang="en-US">
                    <a:noFill/>
                  </a:rPr>
                  <a:t> </a:t>
                </a:r>
              </a:p>
            </p:txBody>
          </p:sp>
        </mc:Fallback>
      </mc:AlternateContent>
      <p:sp>
        <p:nvSpPr>
          <p:cNvPr id="4" name="日期占位符 3"/>
          <p:cNvSpPr>
            <a:spLocks noGrp="1"/>
          </p:cNvSpPr>
          <p:nvPr>
            <p:ph type="dt" sz="half" idx="10"/>
          </p:nvPr>
        </p:nvSpPr>
        <p:spPr/>
        <p:txBody>
          <a:bodyPr/>
          <a:lstStyle/>
          <a:p>
            <a:fld id="{817C2F3F-C139-493D-9A7E-19F57479141B}" type="datetime1">
              <a:rPr lang="zh-CN" altLang="en-US" smtClean="0"/>
              <a:t>2025/3/14</a:t>
            </a:fld>
            <a:endParaRPr lang="zh-CN" altLang="en-US" dirty="0"/>
          </a:p>
        </p:txBody>
      </p:sp>
      <p:sp>
        <p:nvSpPr>
          <p:cNvPr id="5" name="页脚占位符 4"/>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6" name="灯片编号占位符 5"/>
          <p:cNvSpPr>
            <a:spLocks noGrp="1"/>
          </p:cNvSpPr>
          <p:nvPr>
            <p:ph type="sldNum" sz="quarter" idx="12"/>
          </p:nvPr>
        </p:nvSpPr>
        <p:spPr/>
        <p:txBody>
          <a:bodyPr/>
          <a:lstStyle/>
          <a:p>
            <a:fld id="{67913A8A-9EFB-4B5F-9CCB-3D21173FAA85}" type="slidenum">
              <a:rPr lang="zh-CN" altLang="en-US" smtClean="0"/>
              <a:pPr/>
              <a:t>71</a:t>
            </a:fld>
            <a:endParaRPr lang="zh-CN" altLang="en-US" dirty="0"/>
          </a:p>
        </p:txBody>
      </p:sp>
    </p:spTree>
    <p:extLst>
      <p:ext uri="{BB962C8B-B14F-4D97-AF65-F5344CB8AC3E}">
        <p14:creationId xmlns:p14="http://schemas.microsoft.com/office/powerpoint/2010/main" val="3839798189"/>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传递闭包</a:t>
            </a:r>
            <a:endParaRPr lang="zh-CN" altLang="en-US" dirty="0"/>
          </a:p>
        </p:txBody>
      </p:sp>
      <p:sp>
        <p:nvSpPr>
          <p:cNvPr id="3" name="内容占位符 2"/>
          <p:cNvSpPr>
            <a:spLocks noGrp="1"/>
          </p:cNvSpPr>
          <p:nvPr>
            <p:ph idx="1"/>
          </p:nvPr>
        </p:nvSpPr>
        <p:spPr/>
        <p:txBody>
          <a:bodyPr/>
          <a:lstStyle/>
          <a:p>
            <a:r>
              <a:rPr lang="zh-CN" altLang="en-US" dirty="0" smtClean="0"/>
              <a:t>根据以上定理</a:t>
            </a:r>
            <a:r>
              <a:rPr lang="en-US" altLang="zh-CN" dirty="0" smtClean="0"/>
              <a:t>, </a:t>
            </a:r>
            <a:r>
              <a:rPr lang="zh-CN" altLang="en-US" dirty="0" smtClean="0"/>
              <a:t>传递闭包等于连通性关系</a:t>
            </a:r>
            <a:r>
              <a:rPr lang="en-US" altLang="zh-CN" dirty="0" smtClean="0"/>
              <a:t>. </a:t>
            </a:r>
          </a:p>
          <a:p>
            <a:r>
              <a:rPr lang="zh-CN" altLang="en-US" dirty="0" smtClean="0"/>
              <a:t>但在一个有限的有向图中</a:t>
            </a:r>
            <a:r>
              <a:rPr lang="en-US" altLang="zh-CN" dirty="0" smtClean="0"/>
              <a:t>, </a:t>
            </a:r>
            <a:r>
              <a:rPr lang="zh-CN" altLang="en-US" dirty="0" smtClean="0"/>
              <a:t>确定两个顶点之间是否存在一条路径</a:t>
            </a:r>
            <a:r>
              <a:rPr lang="en-US" altLang="zh-CN" dirty="0" smtClean="0"/>
              <a:t>, </a:t>
            </a:r>
            <a:r>
              <a:rPr lang="zh-CN" altLang="en-US" dirty="0" smtClean="0"/>
              <a:t>不需要检测任意长的路径</a:t>
            </a:r>
            <a:r>
              <a:rPr lang="en-US" altLang="zh-CN" dirty="0" smtClean="0"/>
              <a:t>, </a:t>
            </a:r>
            <a:r>
              <a:rPr lang="zh-CN" altLang="en-US" dirty="0" smtClean="0"/>
              <a:t>我们只需要检测不超过</a:t>
            </a:r>
            <a:r>
              <a:rPr lang="en-US" altLang="zh-CN" dirty="0" smtClean="0"/>
              <a:t>n</a:t>
            </a:r>
            <a:r>
              <a:rPr lang="zh-CN" altLang="en-US" dirty="0" smtClean="0"/>
              <a:t>条边的路径就足够了</a:t>
            </a:r>
            <a:r>
              <a:rPr lang="en-US" altLang="zh-CN" dirty="0" smtClean="0"/>
              <a:t>, </a:t>
            </a:r>
            <a:r>
              <a:rPr lang="zh-CN" altLang="en-US" dirty="0" smtClean="0"/>
              <a:t>其中</a:t>
            </a:r>
            <a:r>
              <a:rPr lang="en-US" altLang="zh-CN" dirty="0" smtClean="0"/>
              <a:t>n</a:t>
            </a:r>
            <a:r>
              <a:rPr lang="zh-CN" altLang="en-US" dirty="0" smtClean="0"/>
              <a:t>表示集合中元素的个数</a:t>
            </a:r>
            <a:r>
              <a:rPr lang="en-US" altLang="zh-CN" dirty="0" smtClean="0"/>
              <a:t>. </a:t>
            </a:r>
            <a:r>
              <a:rPr lang="zh-CN" altLang="en-US" dirty="0" smtClean="0"/>
              <a:t>如下引理</a:t>
            </a:r>
            <a:r>
              <a:rPr lang="en-US" altLang="zh-CN" dirty="0" smtClean="0"/>
              <a:t>:</a:t>
            </a:r>
            <a:endParaRPr lang="en-US" altLang="zh-CN" dirty="0"/>
          </a:p>
          <a:p>
            <a:endParaRPr lang="en-US" altLang="zh-CN" dirty="0"/>
          </a:p>
          <a:p>
            <a:endParaRPr lang="en-US" altLang="zh-CN" dirty="0"/>
          </a:p>
          <a:p>
            <a:endParaRPr lang="en-US" altLang="zh-CN" dirty="0" smtClean="0"/>
          </a:p>
        </p:txBody>
      </p:sp>
      <p:sp>
        <p:nvSpPr>
          <p:cNvPr id="4" name="日期占位符 3"/>
          <p:cNvSpPr>
            <a:spLocks noGrp="1"/>
          </p:cNvSpPr>
          <p:nvPr>
            <p:ph type="dt" sz="half" idx="10"/>
          </p:nvPr>
        </p:nvSpPr>
        <p:spPr/>
        <p:txBody>
          <a:bodyPr/>
          <a:lstStyle/>
          <a:p>
            <a:fld id="{EE5CD711-1F2F-4552-8806-23ECE9471B3F}" type="datetime1">
              <a:rPr lang="zh-CN" altLang="en-US" smtClean="0"/>
              <a:t>2025/3/14</a:t>
            </a:fld>
            <a:endParaRPr lang="zh-CN" altLang="en-US" dirty="0"/>
          </a:p>
        </p:txBody>
      </p:sp>
      <p:sp>
        <p:nvSpPr>
          <p:cNvPr id="5" name="页脚占位符 4"/>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6" name="灯片编号占位符 5"/>
          <p:cNvSpPr>
            <a:spLocks noGrp="1"/>
          </p:cNvSpPr>
          <p:nvPr>
            <p:ph type="sldNum" sz="quarter" idx="12"/>
          </p:nvPr>
        </p:nvSpPr>
        <p:spPr/>
        <p:txBody>
          <a:bodyPr/>
          <a:lstStyle/>
          <a:p>
            <a:fld id="{67913A8A-9EFB-4B5F-9CCB-3D21173FAA85}" type="slidenum">
              <a:rPr lang="zh-CN" altLang="en-US" smtClean="0"/>
              <a:pPr/>
              <a:t>72</a:t>
            </a:fld>
            <a:endParaRPr lang="zh-CN" altLang="en-US" dirty="0"/>
          </a:p>
        </p:txBody>
      </p:sp>
    </p:spTree>
    <p:extLst>
      <p:ext uri="{BB962C8B-B14F-4D97-AF65-F5344CB8AC3E}">
        <p14:creationId xmlns:p14="http://schemas.microsoft.com/office/powerpoint/2010/main" val="2632065132"/>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457200" y="1143000"/>
            <a:ext cx="11277599" cy="1752600"/>
          </a:xfrm>
          <a:prstGeom prst="rect">
            <a:avLst/>
          </a:prstGeom>
          <a:solidFill>
            <a:schemeClr val="accent5">
              <a:lumMod val="40000"/>
              <a:lumOff val="6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zh-CN" altLang="en-US" dirty="0" smtClean="0"/>
              <a:t>传递闭包</a:t>
            </a:r>
            <a:endParaRPr lang="zh-CN" altLang="en-US" dirty="0"/>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normAutofit fontScale="92500" lnSpcReduction="20000"/>
              </a:bodyPr>
              <a:lstStyle/>
              <a:p>
                <a:r>
                  <a:rPr lang="zh-CN" altLang="en-US" dirty="0" smtClean="0"/>
                  <a:t>引理</a:t>
                </a:r>
                <a:r>
                  <a:rPr lang="en-US" altLang="zh-CN" dirty="0" smtClean="0"/>
                  <a:t>: </a:t>
                </a:r>
                <a:r>
                  <a:rPr lang="zh-CN" altLang="en-US" dirty="0" smtClean="0"/>
                  <a:t>设</a:t>
                </a:r>
                <a:r>
                  <a:rPr lang="en-US" altLang="zh-CN" dirty="0" smtClean="0"/>
                  <a:t>A</a:t>
                </a:r>
                <a:r>
                  <a:rPr lang="zh-CN" altLang="en-US" dirty="0" smtClean="0"/>
                  <a:t>是含有</a:t>
                </a:r>
                <a:r>
                  <a:rPr lang="en-US" altLang="zh-CN" dirty="0" smtClean="0"/>
                  <a:t>n</a:t>
                </a:r>
                <a:r>
                  <a:rPr lang="zh-CN" altLang="en-US" dirty="0" smtClean="0"/>
                  <a:t>个元素的集合</a:t>
                </a:r>
                <a:r>
                  <a:rPr lang="en-US" altLang="zh-CN" dirty="0" smtClean="0"/>
                  <a:t>, R</a:t>
                </a:r>
                <a:r>
                  <a:rPr lang="zh-CN" altLang="en-US" dirty="0" smtClean="0"/>
                  <a:t>是集合</a:t>
                </a:r>
                <a:r>
                  <a:rPr lang="en-US" altLang="zh-CN" dirty="0" smtClean="0"/>
                  <a:t>A</a:t>
                </a:r>
                <a:r>
                  <a:rPr lang="zh-CN" altLang="en-US" dirty="0" smtClean="0"/>
                  <a:t>上的关系</a:t>
                </a:r>
                <a:r>
                  <a:rPr lang="en-US" altLang="zh-CN" dirty="0" smtClean="0"/>
                  <a:t>. </a:t>
                </a:r>
                <a:r>
                  <a:rPr lang="zh-CN" altLang="en-US" dirty="0" smtClean="0"/>
                  <a:t>如果</a:t>
                </a:r>
                <a:r>
                  <a:rPr lang="en-US" altLang="zh-CN" dirty="0" smtClean="0"/>
                  <a:t>R</a:t>
                </a:r>
                <a:r>
                  <a:rPr lang="zh-CN" altLang="en-US" dirty="0" smtClean="0"/>
                  <a:t>中存在一条从</a:t>
                </a:r>
                <a:r>
                  <a:rPr lang="en-US" altLang="zh-CN" dirty="0" smtClean="0"/>
                  <a:t>a</a:t>
                </a:r>
                <a:r>
                  <a:rPr lang="zh-CN" altLang="en-US" dirty="0" smtClean="0"/>
                  <a:t>到</a:t>
                </a:r>
                <a:r>
                  <a:rPr lang="en-US" altLang="zh-CN" dirty="0" smtClean="0"/>
                  <a:t>b</a:t>
                </a:r>
                <a:r>
                  <a:rPr lang="zh-CN" altLang="en-US" dirty="0" smtClean="0"/>
                  <a:t>的长度至少为</a:t>
                </a:r>
                <a:r>
                  <a:rPr lang="en-US" altLang="zh-CN" dirty="0" smtClean="0"/>
                  <a:t>1</a:t>
                </a:r>
                <a:r>
                  <a:rPr lang="zh-CN" altLang="en-US" dirty="0" smtClean="0"/>
                  <a:t>的路径，那么这两点间存在一条长度不超过</a:t>
                </a:r>
                <a:r>
                  <a:rPr lang="en-US" altLang="zh-CN" dirty="0" smtClean="0"/>
                  <a:t>n</a:t>
                </a:r>
                <a:r>
                  <a:rPr lang="zh-CN" altLang="en-US" dirty="0" smtClean="0"/>
                  <a:t>的路径</a:t>
                </a:r>
                <a:r>
                  <a:rPr lang="en-US" altLang="zh-CN" dirty="0" smtClean="0"/>
                  <a:t>. </a:t>
                </a:r>
                <a:r>
                  <a:rPr lang="zh-CN" altLang="en-US" dirty="0" smtClean="0"/>
                  <a:t>此外</a:t>
                </a:r>
                <a:r>
                  <a:rPr lang="en-US" altLang="zh-CN" dirty="0" smtClean="0"/>
                  <a:t>, </a:t>
                </a:r>
                <a:r>
                  <a:rPr lang="zh-CN" altLang="en-US" dirty="0" smtClean="0"/>
                  <a:t>当</a:t>
                </a:r>
                <a:r>
                  <a:rPr lang="en-US" altLang="zh-CN" dirty="0" smtClean="0"/>
                  <a:t>a</a:t>
                </a:r>
                <a:r>
                  <a:rPr lang="zh-CN" altLang="en-US" dirty="0" smtClean="0"/>
                  <a:t>和</a:t>
                </a:r>
                <a:r>
                  <a:rPr lang="en-US" altLang="zh-CN" dirty="0" smtClean="0"/>
                  <a:t>b</a:t>
                </a:r>
                <a:r>
                  <a:rPr lang="zh-CN" altLang="en-US" dirty="0" smtClean="0"/>
                  <a:t>不相等时</a:t>
                </a:r>
                <a:r>
                  <a:rPr lang="en-US" altLang="zh-CN" dirty="0" smtClean="0"/>
                  <a:t>, </a:t>
                </a:r>
                <a:r>
                  <a:rPr lang="zh-CN" altLang="en-US" dirty="0" smtClean="0"/>
                  <a:t>如果在</a:t>
                </a:r>
                <a:r>
                  <a:rPr lang="en-US" altLang="zh-CN" dirty="0" smtClean="0"/>
                  <a:t>R</a:t>
                </a:r>
                <a:r>
                  <a:rPr lang="zh-CN" altLang="en-US" dirty="0" smtClean="0"/>
                  <a:t>中存在一条从</a:t>
                </a:r>
                <a:r>
                  <a:rPr lang="en-US" altLang="zh-CN" dirty="0" smtClean="0"/>
                  <a:t>a</a:t>
                </a:r>
                <a:r>
                  <a:rPr lang="zh-CN" altLang="en-US" dirty="0" smtClean="0"/>
                  <a:t>到</a:t>
                </a:r>
                <a:r>
                  <a:rPr lang="en-US" altLang="zh-CN" dirty="0" smtClean="0"/>
                  <a:t>b</a:t>
                </a:r>
                <a:r>
                  <a:rPr lang="zh-CN" altLang="en-US" dirty="0" smtClean="0"/>
                  <a:t>的长度至少为</a:t>
                </a:r>
                <a:r>
                  <a:rPr lang="en-US" altLang="zh-CN" dirty="0" smtClean="0"/>
                  <a:t>1</a:t>
                </a:r>
                <a:r>
                  <a:rPr lang="zh-CN" altLang="en-US" dirty="0" smtClean="0"/>
                  <a:t>的路径</a:t>
                </a:r>
                <a:r>
                  <a:rPr lang="en-US" altLang="zh-CN" dirty="0" smtClean="0"/>
                  <a:t>, </a:t>
                </a:r>
                <a:r>
                  <a:rPr lang="zh-CN" altLang="en-US" dirty="0" smtClean="0"/>
                  <a:t>那么这两点间存在一条长度不超过</a:t>
                </a:r>
                <a:r>
                  <a:rPr lang="en-US" altLang="zh-CN" dirty="0" smtClean="0"/>
                  <a:t>n-1</a:t>
                </a:r>
                <a:r>
                  <a:rPr lang="zh-CN" altLang="en-US" dirty="0" smtClean="0"/>
                  <a:t>的路径</a:t>
                </a:r>
                <a:r>
                  <a:rPr lang="en-US" altLang="zh-CN" dirty="0" smtClean="0"/>
                  <a:t>.</a:t>
                </a:r>
              </a:p>
              <a:p>
                <a:pPr marL="0" indent="0">
                  <a:buNone/>
                </a:pPr>
                <a:r>
                  <a:rPr lang="zh-CN" altLang="en-US" dirty="0" smtClean="0"/>
                  <a:t>证明：假设在</a:t>
                </a:r>
                <a:r>
                  <a:rPr lang="en-US" altLang="zh-CN" dirty="0" smtClean="0"/>
                  <a:t>R</a:t>
                </a:r>
                <a:r>
                  <a:rPr lang="zh-CN" altLang="en-US" dirty="0" smtClean="0"/>
                  <a:t>中存在从</a:t>
                </a:r>
                <a:r>
                  <a:rPr lang="en-US" altLang="zh-CN" dirty="0" smtClean="0"/>
                  <a:t>a</a:t>
                </a:r>
                <a:r>
                  <a:rPr lang="zh-CN" altLang="en-US" dirty="0" smtClean="0"/>
                  <a:t>到</a:t>
                </a:r>
                <a:r>
                  <a:rPr lang="en-US" altLang="zh-CN" dirty="0" smtClean="0"/>
                  <a:t>b</a:t>
                </a:r>
                <a:r>
                  <a:rPr lang="zh-CN" altLang="en-US" dirty="0" smtClean="0"/>
                  <a:t>的路径。令</a:t>
                </a:r>
                <a:r>
                  <a:rPr lang="en-US" altLang="zh-CN" dirty="0" smtClean="0"/>
                  <a:t>m</a:t>
                </a:r>
                <a:r>
                  <a:rPr lang="zh-CN" altLang="en-US" dirty="0" smtClean="0"/>
                  <a:t>是其中最短路径的长度。假设</a:t>
                </a:r>
                <a:r>
                  <a:rPr lang="en-US" altLang="zh-CN" dirty="0" smtClean="0"/>
                  <a:t>x</a:t>
                </a:r>
                <a:r>
                  <a:rPr lang="en-US" altLang="zh-CN" baseline="-25000" dirty="0" smtClean="0"/>
                  <a:t>0</a:t>
                </a:r>
                <a:r>
                  <a:rPr lang="en-US" altLang="zh-CN" dirty="0" smtClean="0"/>
                  <a:t>, x</a:t>
                </a:r>
                <a:r>
                  <a:rPr lang="en-US" altLang="zh-CN" baseline="-25000" dirty="0"/>
                  <a:t>1</a:t>
                </a:r>
                <a:r>
                  <a:rPr lang="en-US" altLang="zh-CN" dirty="0" smtClean="0"/>
                  <a:t>,x</a:t>
                </a:r>
                <a:r>
                  <a:rPr lang="en-US" altLang="zh-CN" baseline="-25000" dirty="0"/>
                  <a:t>2</a:t>
                </a:r>
                <a:r>
                  <a:rPr lang="en-US" altLang="zh-CN" dirty="0" smtClean="0"/>
                  <a:t>,…,x</a:t>
                </a:r>
                <a:r>
                  <a:rPr lang="en-US" altLang="zh-CN" baseline="-25000" dirty="0"/>
                  <a:t>m-1</a:t>
                </a:r>
                <a:r>
                  <a:rPr lang="en-US" altLang="zh-CN" dirty="0" smtClean="0"/>
                  <a:t>,x</a:t>
                </a:r>
                <a:r>
                  <a:rPr lang="en-US" altLang="zh-CN" baseline="-25000" dirty="0"/>
                  <a:t>m</a:t>
                </a:r>
                <a:r>
                  <a:rPr lang="zh-CN" altLang="en-US" dirty="0" smtClean="0"/>
                  <a:t>是一条这样的路径，其中</a:t>
                </a:r>
                <a:r>
                  <a:rPr lang="en-US" altLang="zh-CN" dirty="0" smtClean="0"/>
                  <a:t>x</a:t>
                </a:r>
                <a:r>
                  <a:rPr lang="en-US" altLang="zh-CN" baseline="-25000" dirty="0"/>
                  <a:t>0</a:t>
                </a:r>
                <a:r>
                  <a:rPr lang="en-US" altLang="zh-CN" dirty="0" smtClean="0"/>
                  <a:t>=a, </a:t>
                </a:r>
                <a:r>
                  <a:rPr lang="en-US" altLang="zh-CN" dirty="0" err="1" smtClean="0"/>
                  <a:t>x</a:t>
                </a:r>
                <a:r>
                  <a:rPr lang="en-US" altLang="zh-CN" baseline="-25000" dirty="0" err="1"/>
                  <a:t>m</a:t>
                </a:r>
                <a:r>
                  <a:rPr lang="en-US" altLang="zh-CN" dirty="0" smtClean="0"/>
                  <a:t>=b</a:t>
                </a:r>
                <a:r>
                  <a:rPr lang="zh-CN" altLang="en-US" dirty="0" smtClean="0"/>
                  <a:t>。假设</a:t>
                </a:r>
                <a:r>
                  <a:rPr lang="en-US" altLang="zh-CN" dirty="0" smtClean="0"/>
                  <a:t>a=b</a:t>
                </a:r>
                <a:r>
                  <a:rPr lang="zh-CN" altLang="en-US" dirty="0" smtClean="0"/>
                  <a:t>且</a:t>
                </a:r>
                <a:r>
                  <a:rPr lang="en-US" altLang="zh-CN" dirty="0" smtClean="0"/>
                  <a:t>m&gt;n, </a:t>
                </a:r>
                <a:r>
                  <a:rPr lang="zh-CN" altLang="en-US" dirty="0" smtClean="0"/>
                  <a:t>可得</a:t>
                </a:r>
                <a:r>
                  <a:rPr lang="en-US" altLang="zh-CN" dirty="0" smtClean="0"/>
                  <a:t>m</a:t>
                </a:r>
                <a:r>
                  <a:rPr lang="en-US" altLang="zh-CN" dirty="0"/>
                  <a:t> </a:t>
                </a:r>
                <a14:m>
                  <m:oMath xmlns:m="http://schemas.openxmlformats.org/officeDocument/2006/math">
                    <m:r>
                      <a:rPr lang="en-US" altLang="zh-CN" i="1" smtClean="0">
                        <a:latin typeface="Cambria Math" panose="02040503050406030204" pitchFamily="18" charset="0"/>
                        <a:ea typeface="Cambria Math" panose="02040503050406030204" pitchFamily="18" charset="0"/>
                      </a:rPr>
                      <m:t>≥</m:t>
                    </m:r>
                  </m:oMath>
                </a14:m>
                <a:r>
                  <a:rPr lang="en-US" altLang="zh-CN" dirty="0"/>
                  <a:t> </a:t>
                </a:r>
                <a:r>
                  <a:rPr lang="en-US" altLang="zh-CN" dirty="0" smtClean="0"/>
                  <a:t>n+1, </a:t>
                </a:r>
                <a:r>
                  <a:rPr lang="zh-CN" altLang="en-US" dirty="0" smtClean="0"/>
                  <a:t>因为</a:t>
                </a:r>
                <a:r>
                  <a:rPr lang="en-US" altLang="zh-CN" dirty="0" smtClean="0"/>
                  <a:t>A</a:t>
                </a:r>
                <a:r>
                  <a:rPr lang="zh-CN" altLang="en-US" dirty="0" smtClean="0"/>
                  <a:t>中有</a:t>
                </a:r>
                <a:r>
                  <a:rPr lang="en-US" altLang="zh-CN" dirty="0" smtClean="0"/>
                  <a:t>n</a:t>
                </a:r>
                <a:r>
                  <a:rPr lang="zh-CN" altLang="en-US" dirty="0" smtClean="0"/>
                  <a:t>个顶点，所以在</a:t>
                </a:r>
                <a:r>
                  <a:rPr lang="en-US" altLang="zh-CN" dirty="0" smtClean="0"/>
                  <a:t>x</a:t>
                </a:r>
                <a:r>
                  <a:rPr lang="en-US" altLang="zh-CN" baseline="-25000" dirty="0"/>
                  <a:t>0</a:t>
                </a:r>
                <a:r>
                  <a:rPr lang="en-US" altLang="zh-CN" dirty="0" smtClean="0"/>
                  <a:t>,x</a:t>
                </a:r>
                <a:r>
                  <a:rPr lang="en-US" altLang="zh-CN" baseline="-25000" dirty="0"/>
                  <a:t>1</a:t>
                </a:r>
                <a:r>
                  <a:rPr lang="en-US" altLang="zh-CN" dirty="0" smtClean="0"/>
                  <a:t>,…,x</a:t>
                </a:r>
                <a:r>
                  <a:rPr lang="en-US" altLang="zh-CN" baseline="-25000" dirty="0"/>
                  <a:t>m-1</a:t>
                </a:r>
                <a:r>
                  <a:rPr lang="zh-CN" altLang="en-US" dirty="0" smtClean="0"/>
                  <a:t>这</a:t>
                </a:r>
                <a:r>
                  <a:rPr lang="en-US" altLang="zh-CN" dirty="0" smtClean="0"/>
                  <a:t>m</a:t>
                </a:r>
                <a:r>
                  <a:rPr lang="zh-CN" altLang="en-US" dirty="0" smtClean="0"/>
                  <a:t>个顶点中至少有两个是相同的如下图，</a:t>
                </a:r>
                <a:endParaRPr lang="en-US" altLang="zh-CN" dirty="0" smtClean="0"/>
              </a:p>
              <a:p>
                <a:endParaRPr lang="en-US" altLang="zh-CN" dirty="0" smtClean="0"/>
              </a:p>
              <a:p>
                <a:pPr marL="0" indent="0">
                  <a:buNone/>
                </a:pPr>
                <a:endParaRPr lang="en-US" altLang="zh-CN" dirty="0"/>
              </a:p>
              <a:p>
                <a:pPr marL="0" indent="0">
                  <a:buNone/>
                </a:pPr>
                <a:r>
                  <a:rPr lang="zh-CN" altLang="en-US" dirty="0" smtClean="0"/>
                  <a:t>  假设</a:t>
                </a:r>
                <a:r>
                  <a:rPr lang="en-US" altLang="zh-CN" dirty="0" smtClean="0"/>
                  <a:t>x</a:t>
                </a:r>
                <a:r>
                  <a:rPr lang="en-US" altLang="zh-CN" baseline="-25000" dirty="0"/>
                  <a:t>i</a:t>
                </a:r>
                <a:r>
                  <a:rPr lang="en-US" altLang="zh-CN" dirty="0" smtClean="0"/>
                  <a:t>=</a:t>
                </a:r>
                <a:r>
                  <a:rPr lang="en-US" altLang="zh-CN" dirty="0" err="1" smtClean="0"/>
                  <a:t>x</a:t>
                </a:r>
                <a:r>
                  <a:rPr lang="en-US" altLang="zh-CN" baseline="-25000" dirty="0" err="1"/>
                  <a:t>j</a:t>
                </a:r>
                <a:r>
                  <a:rPr lang="en-US" altLang="zh-CN" dirty="0" smtClean="0"/>
                  <a:t>, </a:t>
                </a:r>
                <a:r>
                  <a:rPr lang="zh-CN" altLang="en-US" dirty="0" smtClean="0"/>
                  <a:t>其中</a:t>
                </a:r>
                <a:r>
                  <a:rPr lang="en-US" altLang="zh-CN" dirty="0" smtClean="0"/>
                  <a:t>0</a:t>
                </a:r>
                <a:r>
                  <a:rPr lang="en-US" altLang="zh-CN" dirty="0">
                    <a:ea typeface="Cambria Math" panose="02040503050406030204" pitchFamily="18" charset="0"/>
                  </a:rPr>
                  <a:t> </a:t>
                </a:r>
                <a14:m>
                  <m:oMath xmlns:m="http://schemas.openxmlformats.org/officeDocument/2006/math">
                    <m:r>
                      <a:rPr lang="en-US" altLang="zh-CN" i="1" smtClean="0">
                        <a:latin typeface="Cambria Math" panose="02040503050406030204" pitchFamily="18" charset="0"/>
                        <a:ea typeface="Cambria Math" panose="02040503050406030204" pitchFamily="18" charset="0"/>
                      </a:rPr>
                      <m:t>≤</m:t>
                    </m:r>
                  </m:oMath>
                </a14:m>
                <a:r>
                  <a:rPr lang="en-US" altLang="zh-CN" dirty="0" smtClean="0"/>
                  <a:t> i&lt;j</a:t>
                </a:r>
                <a:r>
                  <a:rPr lang="en-US" altLang="zh-CN" dirty="0">
                    <a:ea typeface="Cambria Math" panose="02040503050406030204" pitchFamily="18" charset="0"/>
                  </a:rPr>
                  <a:t> </a:t>
                </a:r>
                <a14:m>
                  <m:oMath xmlns:m="http://schemas.openxmlformats.org/officeDocument/2006/math">
                    <m:r>
                      <a:rPr lang="en-US" altLang="zh-CN" i="1">
                        <a:latin typeface="Cambria Math" panose="02040503050406030204" pitchFamily="18" charset="0"/>
                        <a:ea typeface="Cambria Math" panose="02040503050406030204" pitchFamily="18" charset="0"/>
                      </a:rPr>
                      <m:t>≤ </m:t>
                    </m:r>
                  </m:oMath>
                </a14:m>
                <a:r>
                  <a:rPr lang="en-US" altLang="zh-CN" dirty="0" smtClean="0"/>
                  <a:t>m-1</a:t>
                </a:r>
                <a:r>
                  <a:rPr lang="zh-CN" altLang="en-US" dirty="0" smtClean="0"/>
                  <a:t>。那么这条路径包含一条从</a:t>
                </a:r>
                <a:r>
                  <a:rPr lang="en-US" altLang="zh-CN" dirty="0" smtClean="0"/>
                  <a:t>x</a:t>
                </a:r>
                <a:r>
                  <a:rPr lang="en-US" altLang="zh-CN" baseline="-25000" dirty="0"/>
                  <a:t>i</a:t>
                </a:r>
                <a:r>
                  <a:rPr lang="zh-CN" altLang="en-US" dirty="0" smtClean="0"/>
                  <a:t>到</a:t>
                </a:r>
                <a:r>
                  <a:rPr lang="en-US" altLang="zh-CN" dirty="0" smtClean="0"/>
                  <a:t>x</a:t>
                </a:r>
                <a:r>
                  <a:rPr lang="en-US" altLang="zh-CN" baseline="-25000" dirty="0"/>
                  <a:t>i</a:t>
                </a:r>
                <a:r>
                  <a:rPr lang="zh-CN" altLang="en-US" dirty="0" smtClean="0"/>
                  <a:t>自身的回路。可以把这条回路从由</a:t>
                </a:r>
                <a:r>
                  <a:rPr lang="en-US" altLang="zh-CN" dirty="0" smtClean="0"/>
                  <a:t>a</a:t>
                </a:r>
                <a:r>
                  <a:rPr lang="zh-CN" altLang="en-US" dirty="0" smtClean="0"/>
                  <a:t>到</a:t>
                </a:r>
                <a:r>
                  <a:rPr lang="en-US" altLang="zh-CN" dirty="0" smtClean="0"/>
                  <a:t>b</a:t>
                </a:r>
                <a:r>
                  <a:rPr lang="zh-CN" altLang="en-US" dirty="0" smtClean="0"/>
                  <a:t>的路径中删除，剩下的路径为</a:t>
                </a:r>
                <a:r>
                  <a:rPr lang="en-US" altLang="zh-CN" dirty="0" smtClean="0"/>
                  <a:t>x</a:t>
                </a:r>
                <a:r>
                  <a:rPr lang="en-US" altLang="zh-CN" baseline="-25000" dirty="0"/>
                  <a:t>0</a:t>
                </a:r>
                <a:r>
                  <a:rPr lang="en-US" altLang="zh-CN" dirty="0" smtClean="0"/>
                  <a:t>,x</a:t>
                </a:r>
                <a:r>
                  <a:rPr lang="en-US" altLang="zh-CN" baseline="-25000" dirty="0"/>
                  <a:t>1</a:t>
                </a:r>
                <a:r>
                  <a:rPr lang="en-US" altLang="zh-CN" dirty="0" smtClean="0"/>
                  <a:t>,…,x</a:t>
                </a:r>
                <a:r>
                  <a:rPr lang="en-US" altLang="zh-CN" baseline="-25000" dirty="0"/>
                  <a:t>i</a:t>
                </a:r>
                <a:r>
                  <a:rPr lang="en-US" altLang="zh-CN" dirty="0" smtClean="0"/>
                  <a:t>,x</a:t>
                </a:r>
                <a:r>
                  <a:rPr lang="en-US" altLang="zh-CN" baseline="-25000" dirty="0"/>
                  <a:t>j+1</a:t>
                </a:r>
                <a:r>
                  <a:rPr lang="en-US" altLang="zh-CN" dirty="0" smtClean="0"/>
                  <a:t>,…,x</a:t>
                </a:r>
                <a:r>
                  <a:rPr lang="en-US" altLang="zh-CN" baseline="-25000" dirty="0"/>
                  <a:t>m-1</a:t>
                </a:r>
                <a:r>
                  <a:rPr lang="en-US" altLang="zh-CN" dirty="0" smtClean="0"/>
                  <a:t>,x</a:t>
                </a:r>
                <a:r>
                  <a:rPr lang="en-US" altLang="zh-CN" baseline="-25000" dirty="0"/>
                  <a:t>m</a:t>
                </a:r>
                <a:r>
                  <a:rPr lang="en-US" altLang="zh-CN" dirty="0" smtClean="0"/>
                  <a:t>, </a:t>
                </a:r>
                <a:r>
                  <a:rPr lang="zh-CN" altLang="en-US" dirty="0" smtClean="0"/>
                  <a:t>是从</a:t>
                </a:r>
                <a:r>
                  <a:rPr lang="en-US" altLang="zh-CN" dirty="0" smtClean="0"/>
                  <a:t>a</a:t>
                </a:r>
                <a:r>
                  <a:rPr lang="zh-CN" altLang="en-US" dirty="0" smtClean="0"/>
                  <a:t>到</a:t>
                </a:r>
                <a:r>
                  <a:rPr lang="en-US" altLang="zh-CN" dirty="0" smtClean="0"/>
                  <a:t>b</a:t>
                </a:r>
                <a:r>
                  <a:rPr lang="zh-CN" altLang="en-US" dirty="0" smtClean="0"/>
                  <a:t>的一条更短的路径。因此，具有最短长度的路径长度一定小于等于</a:t>
                </a:r>
                <a:r>
                  <a:rPr lang="en-US" altLang="zh-CN" dirty="0" smtClean="0"/>
                  <a:t>n</a:t>
                </a:r>
                <a:r>
                  <a:rPr lang="zh-CN" altLang="en-US" dirty="0" smtClean="0"/>
                  <a:t>。</a:t>
                </a:r>
                <a:endParaRPr lang="en-US" altLang="zh-CN" dirty="0" smtClean="0"/>
              </a:p>
              <a:p>
                <a:endParaRPr lang="en-US" altLang="zh-CN" dirty="0" smtClean="0"/>
              </a:p>
              <a:p>
                <a:pPr marL="0" indent="0">
                  <a:buNone/>
                </a:pPr>
                <a:endParaRPr lang="en-US" altLang="zh-CN" dirty="0"/>
              </a:p>
              <a:p>
                <a:endParaRPr lang="en-US" altLang="zh-CN" dirty="0" smtClean="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rotWithShape="0">
                <a:blip r:embed="rId2"/>
                <a:stretch>
                  <a:fillRect l="-999" t="-2738" r="-2497" b="-1310"/>
                </a:stretch>
              </a:blipFill>
            </p:spPr>
            <p:txBody>
              <a:bodyPr/>
              <a:lstStyle/>
              <a:p>
                <a:r>
                  <a:rPr lang="zh-CN" altLang="en-US">
                    <a:noFill/>
                  </a:rPr>
                  <a:t> </a:t>
                </a:r>
              </a:p>
            </p:txBody>
          </p:sp>
        </mc:Fallback>
      </mc:AlternateContent>
      <p:sp>
        <p:nvSpPr>
          <p:cNvPr id="4" name="日期占位符 3"/>
          <p:cNvSpPr>
            <a:spLocks noGrp="1"/>
          </p:cNvSpPr>
          <p:nvPr>
            <p:ph type="dt" sz="half" idx="10"/>
          </p:nvPr>
        </p:nvSpPr>
        <p:spPr/>
        <p:txBody>
          <a:bodyPr/>
          <a:lstStyle/>
          <a:p>
            <a:fld id="{7FDEA9B7-5E8A-4D20-9569-3A32683C808B}" type="datetime1">
              <a:rPr lang="zh-CN" altLang="en-US" smtClean="0"/>
              <a:t>2025/3/14</a:t>
            </a:fld>
            <a:endParaRPr lang="zh-CN" altLang="en-US" dirty="0"/>
          </a:p>
        </p:txBody>
      </p:sp>
      <p:sp>
        <p:nvSpPr>
          <p:cNvPr id="5" name="页脚占位符 4"/>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6" name="灯片编号占位符 5"/>
          <p:cNvSpPr>
            <a:spLocks noGrp="1"/>
          </p:cNvSpPr>
          <p:nvPr>
            <p:ph type="sldNum" sz="quarter" idx="12"/>
          </p:nvPr>
        </p:nvSpPr>
        <p:spPr/>
        <p:txBody>
          <a:bodyPr/>
          <a:lstStyle/>
          <a:p>
            <a:fld id="{67913A8A-9EFB-4B5F-9CCB-3D21173FAA85}" type="slidenum">
              <a:rPr lang="zh-CN" altLang="en-US" smtClean="0"/>
              <a:pPr/>
              <a:t>73</a:t>
            </a:fld>
            <a:endParaRPr lang="zh-CN" altLang="en-US" dirty="0"/>
          </a:p>
        </p:txBody>
      </p:sp>
      <p:pic>
        <p:nvPicPr>
          <p:cNvPr id="8" name="图片 7"/>
          <p:cNvPicPr>
            <a:picLocks noChangeAspect="1"/>
          </p:cNvPicPr>
          <p:nvPr/>
        </p:nvPicPr>
        <p:blipFill>
          <a:blip r:embed="rId3"/>
          <a:stretch>
            <a:fillRect/>
          </a:stretch>
        </p:blipFill>
        <p:spPr>
          <a:xfrm>
            <a:off x="6934200" y="3581400"/>
            <a:ext cx="3459820" cy="1174588"/>
          </a:xfrm>
          <a:prstGeom prst="rect">
            <a:avLst/>
          </a:prstGeom>
        </p:spPr>
      </p:pic>
    </p:spTree>
    <p:extLst>
      <p:ext uri="{BB962C8B-B14F-4D97-AF65-F5344CB8AC3E}">
        <p14:creationId xmlns:p14="http://schemas.microsoft.com/office/powerpoint/2010/main" val="2048729576"/>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457200" y="1143000"/>
            <a:ext cx="11277599" cy="1752600"/>
          </a:xfrm>
          <a:prstGeom prst="rect">
            <a:avLst/>
          </a:prstGeom>
          <a:solidFill>
            <a:schemeClr val="accent5">
              <a:lumMod val="40000"/>
              <a:lumOff val="6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zh-CN" altLang="en-US" dirty="0" smtClean="0"/>
              <a:t>传递闭包</a:t>
            </a:r>
            <a:endParaRPr lang="zh-CN" altLang="en-US" dirty="0"/>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zh-CN" altLang="en-US" dirty="0" smtClean="0"/>
                  <a:t>由引理可得</a:t>
                </a:r>
                <a:r>
                  <a:rPr lang="en-US" altLang="zh-CN" dirty="0" smtClean="0"/>
                  <a:t>R</a:t>
                </a:r>
                <a:r>
                  <a:rPr lang="zh-CN" altLang="en-US" dirty="0" smtClean="0"/>
                  <a:t>的传递闭包是</a:t>
                </a:r>
                <a:r>
                  <a:rPr lang="en-US" altLang="zh-CN" dirty="0" smtClean="0"/>
                  <a:t>R, </a:t>
                </a:r>
                <a14:m>
                  <m:oMath xmlns:m="http://schemas.openxmlformats.org/officeDocument/2006/math">
                    <m:sSup>
                      <m:sSupPr>
                        <m:ctrlPr>
                          <a:rPr lang="en-US" altLang="zh-CN" i="1">
                            <a:latin typeface="Cambria Math" panose="02040503050406030204" pitchFamily="18" charset="0"/>
                          </a:rPr>
                        </m:ctrlPr>
                      </m:sSupPr>
                      <m:e>
                        <m:r>
                          <a:rPr lang="en-US" altLang="zh-CN" i="1">
                            <a:latin typeface="Cambria Math" panose="02040503050406030204" pitchFamily="18" charset="0"/>
                          </a:rPr>
                          <m:t>𝑅</m:t>
                        </m:r>
                      </m:e>
                      <m:sup>
                        <m:r>
                          <a:rPr lang="en-US" altLang="zh-CN" b="0" i="1" smtClean="0">
                            <a:latin typeface="Cambria Math" panose="02040503050406030204" pitchFamily="18" charset="0"/>
                          </a:rPr>
                          <m:t>2</m:t>
                        </m:r>
                      </m:sup>
                    </m:sSup>
                  </m:oMath>
                </a14:m>
                <a:r>
                  <a:rPr lang="en-US" altLang="zh-CN" dirty="0" smtClean="0"/>
                  <a:t>,</a:t>
                </a:r>
                <a:r>
                  <a:rPr lang="en-US" altLang="zh-CN" dirty="0"/>
                  <a:t> </a:t>
                </a:r>
                <a14:m>
                  <m:oMath xmlns:m="http://schemas.openxmlformats.org/officeDocument/2006/math">
                    <m:sSup>
                      <m:sSupPr>
                        <m:ctrlPr>
                          <a:rPr lang="en-US" altLang="zh-CN" i="1">
                            <a:latin typeface="Cambria Math" panose="02040503050406030204" pitchFamily="18" charset="0"/>
                          </a:rPr>
                        </m:ctrlPr>
                      </m:sSupPr>
                      <m:e>
                        <m:r>
                          <a:rPr lang="en-US" altLang="zh-CN" i="1">
                            <a:latin typeface="Cambria Math" panose="02040503050406030204" pitchFamily="18" charset="0"/>
                          </a:rPr>
                          <m:t>𝑅</m:t>
                        </m:r>
                      </m:e>
                      <m:sup>
                        <m:r>
                          <a:rPr lang="en-US" altLang="zh-CN" b="0" i="1" smtClean="0">
                            <a:latin typeface="Cambria Math" panose="02040503050406030204" pitchFamily="18" charset="0"/>
                          </a:rPr>
                          <m:t>3</m:t>
                        </m:r>
                      </m:sup>
                    </m:sSup>
                  </m:oMath>
                </a14:m>
                <a:r>
                  <a:rPr lang="en-US" altLang="zh-CN" dirty="0" smtClean="0"/>
                  <a:t>,…, </a:t>
                </a:r>
                <a14:m>
                  <m:oMath xmlns:m="http://schemas.openxmlformats.org/officeDocument/2006/math">
                    <m:sSup>
                      <m:sSupPr>
                        <m:ctrlPr>
                          <a:rPr lang="en-US" altLang="zh-CN" i="1">
                            <a:latin typeface="Cambria Math" panose="02040503050406030204" pitchFamily="18" charset="0"/>
                          </a:rPr>
                        </m:ctrlPr>
                      </m:sSupPr>
                      <m:e>
                        <m:r>
                          <a:rPr lang="en-US" altLang="zh-CN" i="1">
                            <a:latin typeface="Cambria Math" panose="02040503050406030204" pitchFamily="18" charset="0"/>
                          </a:rPr>
                          <m:t>𝑅</m:t>
                        </m:r>
                      </m:e>
                      <m:sup>
                        <m:r>
                          <a:rPr lang="en-US" altLang="zh-CN" b="0" i="1" smtClean="0">
                            <a:latin typeface="Cambria Math" panose="02040503050406030204" pitchFamily="18" charset="0"/>
                          </a:rPr>
                          <m:t>𝑛</m:t>
                        </m:r>
                      </m:sup>
                    </m:sSup>
                    <m:r>
                      <a:rPr lang="zh-CN" altLang="en-US" i="1">
                        <a:latin typeface="Cambria Math" panose="02040503050406030204" pitchFamily="18" charset="0"/>
                      </a:rPr>
                      <m:t>的</m:t>
                    </m:r>
                  </m:oMath>
                </a14:m>
                <a:r>
                  <a:rPr lang="zh-CN" altLang="en-US" dirty="0" smtClean="0"/>
                  <a:t>并集</a:t>
                </a:r>
                <a:r>
                  <a:rPr lang="en-US" altLang="zh-CN" dirty="0" smtClean="0"/>
                  <a:t>. </a:t>
                </a:r>
                <a:r>
                  <a:rPr lang="zh-CN" altLang="en-US" dirty="0" smtClean="0"/>
                  <a:t>这是由于有在</a:t>
                </a:r>
                <a14:m>
                  <m:oMath xmlns:m="http://schemas.openxmlformats.org/officeDocument/2006/math">
                    <m:sSup>
                      <m:sSupPr>
                        <m:ctrlPr>
                          <a:rPr lang="en-US" altLang="zh-CN" i="1">
                            <a:latin typeface="Cambria Math" panose="02040503050406030204" pitchFamily="18" charset="0"/>
                          </a:rPr>
                        </m:ctrlPr>
                      </m:sSupPr>
                      <m:e>
                        <m:r>
                          <a:rPr lang="en-US" altLang="zh-CN" i="1">
                            <a:latin typeface="Cambria Math" panose="02040503050406030204" pitchFamily="18" charset="0"/>
                          </a:rPr>
                          <m:t>𝑅</m:t>
                        </m:r>
                      </m:e>
                      <m:sup>
                        <m:r>
                          <a:rPr lang="en-US" altLang="zh-CN" i="1">
                            <a:latin typeface="Cambria Math" panose="02040503050406030204" pitchFamily="18" charset="0"/>
                          </a:rPr>
                          <m:t>∗</m:t>
                        </m:r>
                      </m:sup>
                    </m:sSup>
                  </m:oMath>
                </a14:m>
                <a:r>
                  <a:rPr lang="zh-CN" altLang="en-US" dirty="0" smtClean="0"/>
                  <a:t>中两个顶点之间存在一条路径</a:t>
                </a:r>
                <a:r>
                  <a:rPr lang="en-US" altLang="zh-CN" dirty="0" smtClean="0"/>
                  <a:t>, </a:t>
                </a:r>
                <a:r>
                  <a:rPr lang="zh-CN" altLang="en-US" dirty="0" smtClean="0"/>
                  <a:t>当且仅当对某个正整数</a:t>
                </a:r>
                <a14:m>
                  <m:oMath xmlns:m="http://schemas.openxmlformats.org/officeDocument/2006/math">
                    <m:r>
                      <m:rPr>
                        <m:sty m:val="p"/>
                      </m:rPr>
                      <a:rPr lang="en-US" altLang="zh-CN" i="1" dirty="0">
                        <a:latin typeface="Cambria Math" panose="02040503050406030204" pitchFamily="18" charset="0"/>
                      </a:rPr>
                      <m:t>i</m:t>
                    </m:r>
                    <m:r>
                      <a:rPr lang="en-US" altLang="zh-CN" i="1" dirty="0">
                        <a:latin typeface="Cambria Math" panose="02040503050406030204" pitchFamily="18" charset="0"/>
                      </a:rPr>
                      <m:t> </m:t>
                    </m:r>
                  </m:oMath>
                </a14:m>
                <a:r>
                  <a:rPr lang="en-US" altLang="zh-CN" dirty="0" smtClean="0"/>
                  <a:t>(</a:t>
                </a:r>
                <a14:m>
                  <m:oMath xmlns:m="http://schemas.openxmlformats.org/officeDocument/2006/math">
                    <m:r>
                      <m:rPr>
                        <m:sty m:val="p"/>
                      </m:rPr>
                      <a:rPr lang="en-US" altLang="zh-CN" i="1" dirty="0">
                        <a:latin typeface="Cambria Math" panose="02040503050406030204" pitchFamily="18" charset="0"/>
                      </a:rPr>
                      <m:t>i</m:t>
                    </m:r>
                    <m:r>
                      <a:rPr lang="en-US" altLang="zh-CN" i="1" dirty="0" smtClean="0">
                        <a:latin typeface="Cambria Math" panose="02040503050406030204" pitchFamily="18" charset="0"/>
                        <a:ea typeface="Cambria Math" panose="02040503050406030204" pitchFamily="18" charset="0"/>
                      </a:rPr>
                      <m:t>≤</m:t>
                    </m:r>
                    <m:r>
                      <a:rPr lang="en-US" altLang="zh-CN" b="0" i="1" dirty="0" smtClean="0">
                        <a:latin typeface="Cambria Math" panose="02040503050406030204" pitchFamily="18" charset="0"/>
                        <a:ea typeface="Cambria Math" panose="02040503050406030204" pitchFamily="18" charset="0"/>
                      </a:rPr>
                      <m:t>𝑛</m:t>
                    </m:r>
                  </m:oMath>
                </a14:m>
                <a:r>
                  <a:rPr lang="en-US" altLang="zh-CN" dirty="0" smtClean="0"/>
                  <a:t>), </a:t>
                </a:r>
                <a:r>
                  <a:rPr lang="zh-CN" altLang="en-US" dirty="0" smtClean="0"/>
                  <a:t>在</a:t>
                </a:r>
                <a14:m>
                  <m:oMath xmlns:m="http://schemas.openxmlformats.org/officeDocument/2006/math">
                    <m:sSup>
                      <m:sSupPr>
                        <m:ctrlPr>
                          <a:rPr lang="en-US" altLang="zh-CN" i="1">
                            <a:latin typeface="Cambria Math" panose="02040503050406030204" pitchFamily="18" charset="0"/>
                          </a:rPr>
                        </m:ctrlPr>
                      </m:sSupPr>
                      <m:e>
                        <m:r>
                          <a:rPr lang="en-US" altLang="zh-CN" i="1">
                            <a:latin typeface="Cambria Math" panose="02040503050406030204" pitchFamily="18" charset="0"/>
                          </a:rPr>
                          <m:t>𝑅</m:t>
                        </m:r>
                      </m:e>
                      <m:sup>
                        <m:r>
                          <m:rPr>
                            <m:sty m:val="p"/>
                          </m:rPr>
                          <a:rPr lang="en-US" altLang="zh-CN" i="1">
                            <a:latin typeface="Cambria Math" panose="02040503050406030204" pitchFamily="18" charset="0"/>
                          </a:rPr>
                          <m:t>i</m:t>
                        </m:r>
                      </m:sup>
                    </m:sSup>
                    <m:r>
                      <a:rPr lang="zh-CN" altLang="en-US" i="1">
                        <a:latin typeface="Cambria Math" panose="02040503050406030204" pitchFamily="18" charset="0"/>
                      </a:rPr>
                      <m:t>中</m:t>
                    </m:r>
                  </m:oMath>
                </a14:m>
                <a:r>
                  <a:rPr lang="zh-CN" altLang="en-US" dirty="0" smtClean="0"/>
                  <a:t>的这些顶点之间也存在一条路径</a:t>
                </a:r>
                <a:r>
                  <a:rPr lang="en-US" altLang="zh-CN" dirty="0" smtClean="0"/>
                  <a:t>.</a:t>
                </a:r>
                <a:r>
                  <a:rPr lang="en-US" altLang="zh-CN" dirty="0"/>
                  <a:t> </a:t>
                </a:r>
                <a14:m>
                  <m:oMath xmlns:m="http://schemas.openxmlformats.org/officeDocument/2006/math">
                    <m:sSup>
                      <m:sSupPr>
                        <m:ctrlPr>
                          <a:rPr lang="en-US" altLang="zh-CN" i="1">
                            <a:latin typeface="Cambria Math" panose="02040503050406030204" pitchFamily="18" charset="0"/>
                          </a:rPr>
                        </m:ctrlPr>
                      </m:sSupPr>
                      <m:e>
                        <m:r>
                          <a:rPr lang="en-US" altLang="zh-CN" i="1">
                            <a:latin typeface="Cambria Math" panose="02040503050406030204" pitchFamily="18" charset="0"/>
                          </a:rPr>
                          <m:t>𝑅</m:t>
                        </m:r>
                      </m:e>
                      <m:sup>
                        <m:r>
                          <a:rPr lang="en-US" altLang="zh-CN" i="1">
                            <a:latin typeface="Cambria Math" panose="02040503050406030204" pitchFamily="18" charset="0"/>
                          </a:rPr>
                          <m:t>∗</m:t>
                        </m:r>
                      </m:sup>
                    </m:sSup>
                  </m:oMath>
                </a14:m>
                <a:r>
                  <a:rPr lang="en-US" altLang="zh-CN" dirty="0" smtClean="0"/>
                  <a:t>=</a:t>
                </a:r>
                <a14:m>
                  <m:oMath xmlns:m="http://schemas.openxmlformats.org/officeDocument/2006/math">
                    <m:r>
                      <m:rPr>
                        <m:sty m:val="p"/>
                      </m:rPr>
                      <a:rPr lang="en-US" altLang="zh-CN" b="0" i="0" smtClean="0">
                        <a:latin typeface="Cambria Math" panose="02040503050406030204" pitchFamily="18" charset="0"/>
                        <a:ea typeface="Cambria Math" panose="02040503050406030204" pitchFamily="18" charset="0"/>
                      </a:rPr>
                      <m:t>R</m:t>
                    </m:r>
                    <m:r>
                      <a:rPr lang="en-US" altLang="zh-CN" i="1" smtClean="0">
                        <a:latin typeface="Cambria Math" panose="02040503050406030204" pitchFamily="18" charset="0"/>
                        <a:ea typeface="Cambria Math" panose="02040503050406030204" pitchFamily="18" charset="0"/>
                      </a:rPr>
                      <m:t>∪</m:t>
                    </m:r>
                    <m:sSup>
                      <m:sSupPr>
                        <m:ctrlPr>
                          <a:rPr lang="en-US" altLang="zh-CN" i="1">
                            <a:latin typeface="Cambria Math" panose="02040503050406030204" pitchFamily="18" charset="0"/>
                          </a:rPr>
                        </m:ctrlPr>
                      </m:sSupPr>
                      <m:e>
                        <m:r>
                          <a:rPr lang="en-US" altLang="zh-CN" i="1">
                            <a:latin typeface="Cambria Math" panose="02040503050406030204" pitchFamily="18" charset="0"/>
                          </a:rPr>
                          <m:t>𝑅</m:t>
                        </m:r>
                      </m:e>
                      <m:sup>
                        <m:r>
                          <a:rPr lang="en-US" altLang="zh-CN" i="1">
                            <a:latin typeface="Cambria Math" panose="02040503050406030204" pitchFamily="18" charset="0"/>
                          </a:rPr>
                          <m:t>2</m:t>
                        </m:r>
                      </m:sup>
                    </m:sSup>
                    <m:r>
                      <a:rPr lang="en-US" altLang="zh-CN" i="1">
                        <a:latin typeface="Cambria Math" panose="02040503050406030204" pitchFamily="18" charset="0"/>
                        <a:ea typeface="Cambria Math" panose="02040503050406030204" pitchFamily="18" charset="0"/>
                      </a:rPr>
                      <m:t>∪</m:t>
                    </m:r>
                    <m:sSup>
                      <m:sSupPr>
                        <m:ctrlPr>
                          <a:rPr lang="en-US" altLang="zh-CN" i="1">
                            <a:latin typeface="Cambria Math" panose="02040503050406030204" pitchFamily="18" charset="0"/>
                          </a:rPr>
                        </m:ctrlPr>
                      </m:sSupPr>
                      <m:e>
                        <m:r>
                          <a:rPr lang="en-US" altLang="zh-CN" i="1">
                            <a:latin typeface="Cambria Math" panose="02040503050406030204" pitchFamily="18" charset="0"/>
                          </a:rPr>
                          <m:t>𝑅</m:t>
                        </m:r>
                      </m:e>
                      <m:sup>
                        <m:r>
                          <a:rPr lang="en-US" altLang="zh-CN" b="0" i="1" smtClean="0">
                            <a:latin typeface="Cambria Math" panose="02040503050406030204" pitchFamily="18" charset="0"/>
                          </a:rPr>
                          <m:t>3</m:t>
                        </m:r>
                      </m:sup>
                    </m:sSup>
                    <m:r>
                      <a:rPr lang="en-US" altLang="zh-CN" i="1">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m:t>
                    </m:r>
                    <m:sSup>
                      <m:sSupPr>
                        <m:ctrlPr>
                          <a:rPr lang="en-US" altLang="zh-CN" i="1">
                            <a:latin typeface="Cambria Math" panose="02040503050406030204" pitchFamily="18" charset="0"/>
                          </a:rPr>
                        </m:ctrlPr>
                      </m:sSupPr>
                      <m:e>
                        <m:r>
                          <a:rPr lang="en-US" altLang="zh-CN" i="1">
                            <a:latin typeface="Cambria Math" panose="02040503050406030204" pitchFamily="18" charset="0"/>
                          </a:rPr>
                          <m:t>𝑅</m:t>
                        </m:r>
                      </m:e>
                      <m:sup>
                        <m:r>
                          <a:rPr lang="en-US" altLang="zh-CN" b="0" i="1" smtClean="0">
                            <a:latin typeface="Cambria Math" panose="02040503050406030204" pitchFamily="18" charset="0"/>
                          </a:rPr>
                          <m:t>𝑛</m:t>
                        </m:r>
                      </m:sup>
                    </m:sSup>
                  </m:oMath>
                </a14:m>
                <a:endParaRPr lang="en-US" altLang="zh-CN" dirty="0"/>
              </a:p>
              <a:p>
                <a:endParaRPr lang="en-US" altLang="zh-CN" dirty="0" smtClean="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rotWithShape="0">
                <a:blip r:embed="rId2"/>
                <a:stretch>
                  <a:fillRect l="-999" t="-1310"/>
                </a:stretch>
              </a:blipFill>
            </p:spPr>
            <p:txBody>
              <a:bodyPr/>
              <a:lstStyle/>
              <a:p>
                <a:r>
                  <a:rPr lang="zh-CN" altLang="en-US">
                    <a:noFill/>
                  </a:rPr>
                  <a:t> </a:t>
                </a:r>
              </a:p>
            </p:txBody>
          </p:sp>
        </mc:Fallback>
      </mc:AlternateContent>
      <p:sp>
        <p:nvSpPr>
          <p:cNvPr id="4" name="日期占位符 3"/>
          <p:cNvSpPr>
            <a:spLocks noGrp="1"/>
          </p:cNvSpPr>
          <p:nvPr>
            <p:ph type="dt" sz="half" idx="10"/>
          </p:nvPr>
        </p:nvSpPr>
        <p:spPr/>
        <p:txBody>
          <a:bodyPr/>
          <a:lstStyle/>
          <a:p>
            <a:fld id="{7FDEA9B7-5E8A-4D20-9569-3A32683C808B}" type="datetime1">
              <a:rPr lang="zh-CN" altLang="en-US" smtClean="0"/>
              <a:t>2025/3/14</a:t>
            </a:fld>
            <a:endParaRPr lang="zh-CN" altLang="en-US" dirty="0"/>
          </a:p>
        </p:txBody>
      </p:sp>
      <p:sp>
        <p:nvSpPr>
          <p:cNvPr id="5" name="页脚占位符 4"/>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6" name="灯片编号占位符 5"/>
          <p:cNvSpPr>
            <a:spLocks noGrp="1"/>
          </p:cNvSpPr>
          <p:nvPr>
            <p:ph type="sldNum" sz="quarter" idx="12"/>
          </p:nvPr>
        </p:nvSpPr>
        <p:spPr/>
        <p:txBody>
          <a:bodyPr/>
          <a:lstStyle/>
          <a:p>
            <a:fld id="{67913A8A-9EFB-4B5F-9CCB-3D21173FAA85}" type="slidenum">
              <a:rPr lang="zh-CN" altLang="en-US" smtClean="0"/>
              <a:pPr/>
              <a:t>74</a:t>
            </a:fld>
            <a:endParaRPr lang="zh-CN" altLang="en-US" dirty="0"/>
          </a:p>
        </p:txBody>
      </p:sp>
    </p:spTree>
    <p:extLst>
      <p:ext uri="{BB962C8B-B14F-4D97-AF65-F5344CB8AC3E}">
        <p14:creationId xmlns:p14="http://schemas.microsoft.com/office/powerpoint/2010/main" val="1780147228"/>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457200" y="1143000"/>
            <a:ext cx="11277599" cy="1752600"/>
          </a:xfrm>
          <a:prstGeom prst="rect">
            <a:avLst/>
          </a:prstGeom>
          <a:solidFill>
            <a:schemeClr val="accent5">
              <a:lumMod val="40000"/>
              <a:lumOff val="6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zh-CN" altLang="en-US" dirty="0" smtClean="0"/>
              <a:t>传递闭包</a:t>
            </a:r>
            <a:endParaRPr lang="zh-CN" altLang="en-US" dirty="0"/>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zh-CN" altLang="en-US" dirty="0" smtClean="0"/>
                  <a:t>定理</a:t>
                </a:r>
                <a:r>
                  <a:rPr lang="en-US" altLang="zh-CN" dirty="0" smtClean="0"/>
                  <a:t>: </a:t>
                </a:r>
                <a:r>
                  <a:rPr lang="zh-CN" altLang="en-US" dirty="0" smtClean="0"/>
                  <a:t>设</a:t>
                </a:r>
                <a14:m>
                  <m:oMath xmlns:m="http://schemas.openxmlformats.org/officeDocument/2006/math">
                    <m:sSub>
                      <m:sSubPr>
                        <m:ctrlPr>
                          <a:rPr lang="en-US" altLang="zh-CN" i="1" smtClean="0">
                            <a:latin typeface="Cambria Math" panose="02040503050406030204" pitchFamily="18" charset="0"/>
                          </a:rPr>
                        </m:ctrlPr>
                      </m:sSubPr>
                      <m:e>
                        <m:r>
                          <m:rPr>
                            <m:sty m:val="p"/>
                          </m:rPr>
                          <a:rPr lang="en-US" altLang="zh-CN" i="1">
                            <a:latin typeface="Cambria Math" panose="02040503050406030204" pitchFamily="18" charset="0"/>
                          </a:rPr>
                          <m:t>M</m:t>
                        </m:r>
                      </m:e>
                      <m:sub>
                        <m:r>
                          <a:rPr lang="en-US" altLang="zh-CN" b="0" i="1" smtClean="0">
                            <a:latin typeface="Cambria Math" panose="02040503050406030204" pitchFamily="18" charset="0"/>
                          </a:rPr>
                          <m:t>𝑅</m:t>
                        </m:r>
                      </m:sub>
                    </m:sSub>
                  </m:oMath>
                </a14:m>
                <a:r>
                  <a:rPr lang="zh-CN" altLang="en-US" dirty="0" smtClean="0"/>
                  <a:t>是定义在</a:t>
                </a:r>
                <a14:m>
                  <m:oMath xmlns:m="http://schemas.openxmlformats.org/officeDocument/2006/math">
                    <m:r>
                      <a:rPr lang="en-US" altLang="zh-CN" i="1">
                        <a:latin typeface="Cambria Math" panose="02040503050406030204" pitchFamily="18" charset="0"/>
                        <a:ea typeface="Cambria Math" panose="02040503050406030204" pitchFamily="18" charset="0"/>
                      </a:rPr>
                      <m:t>𝑛</m:t>
                    </m:r>
                  </m:oMath>
                </a14:m>
                <a:r>
                  <a:rPr lang="zh-CN" altLang="en-US" dirty="0" smtClean="0"/>
                  <a:t>个元素的集合上的关系</a:t>
                </a:r>
                <a:r>
                  <a:rPr lang="en-US" altLang="zh-CN" dirty="0" smtClean="0"/>
                  <a:t>R</a:t>
                </a:r>
                <a:r>
                  <a:rPr lang="zh-CN" altLang="en-US" dirty="0" smtClean="0"/>
                  <a:t>的</a:t>
                </a:r>
                <a:r>
                  <a:rPr lang="en-US" altLang="zh-CN" dirty="0" smtClean="0"/>
                  <a:t>0-1</a:t>
                </a:r>
                <a:r>
                  <a:rPr lang="zh-CN" altLang="en-US" dirty="0" smtClean="0"/>
                  <a:t>矩阵</a:t>
                </a:r>
                <a:r>
                  <a:rPr lang="en-US" altLang="zh-CN" dirty="0" smtClean="0"/>
                  <a:t>. </a:t>
                </a:r>
                <a:r>
                  <a:rPr lang="zh-CN" altLang="en-US" dirty="0" smtClean="0"/>
                  <a:t>那么传递闭包</a:t>
                </a:r>
                <a14:m>
                  <m:oMath xmlns:m="http://schemas.openxmlformats.org/officeDocument/2006/math">
                    <m:sSup>
                      <m:sSupPr>
                        <m:ctrlPr>
                          <a:rPr lang="en-US" altLang="zh-CN" i="1">
                            <a:latin typeface="Cambria Math" panose="02040503050406030204" pitchFamily="18" charset="0"/>
                          </a:rPr>
                        </m:ctrlPr>
                      </m:sSupPr>
                      <m:e>
                        <m:r>
                          <a:rPr lang="en-US" altLang="zh-CN" i="1">
                            <a:latin typeface="Cambria Math" panose="02040503050406030204" pitchFamily="18" charset="0"/>
                          </a:rPr>
                          <m:t>𝑅</m:t>
                        </m:r>
                      </m:e>
                      <m:sup>
                        <m:r>
                          <a:rPr lang="en-US" altLang="zh-CN" i="1">
                            <a:latin typeface="Cambria Math" panose="02040503050406030204" pitchFamily="18" charset="0"/>
                          </a:rPr>
                          <m:t>∗</m:t>
                        </m:r>
                      </m:sup>
                    </m:sSup>
                  </m:oMath>
                </a14:m>
                <a:r>
                  <a:rPr lang="zh-CN" altLang="en-US" dirty="0" smtClean="0"/>
                  <a:t>的</a:t>
                </a:r>
                <a:r>
                  <a:rPr lang="en-US" altLang="zh-CN" dirty="0" smtClean="0"/>
                  <a:t>0-1</a:t>
                </a:r>
                <a:r>
                  <a:rPr lang="zh-CN" altLang="en-US" dirty="0" smtClean="0"/>
                  <a:t>矩阵为</a:t>
                </a:r>
                <a:endParaRPr lang="en-US" altLang="zh-CN" dirty="0" smtClean="0"/>
              </a:p>
              <a:p>
                <a:pPr marL="0" indent="0" algn="ctr">
                  <a:buNone/>
                </a:pPr>
                <a14:m>
                  <m:oMath xmlns:m="http://schemas.openxmlformats.org/officeDocument/2006/math">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M</m:t>
                        </m:r>
                      </m:e>
                      <m:sub>
                        <m:sSup>
                          <m:sSupPr>
                            <m:ctrlPr>
                              <a:rPr lang="en-US" altLang="zh-CN" i="1">
                                <a:latin typeface="Cambria Math" panose="02040503050406030204" pitchFamily="18" charset="0"/>
                              </a:rPr>
                            </m:ctrlPr>
                          </m:sSupPr>
                          <m:e>
                            <m:r>
                              <a:rPr lang="en-US" altLang="zh-CN" i="1">
                                <a:latin typeface="Cambria Math" panose="02040503050406030204" pitchFamily="18" charset="0"/>
                              </a:rPr>
                              <m:t>𝑅</m:t>
                            </m:r>
                          </m:e>
                          <m:sup>
                            <m:r>
                              <a:rPr lang="en-US" altLang="zh-CN" i="1">
                                <a:latin typeface="Cambria Math" panose="02040503050406030204" pitchFamily="18" charset="0"/>
                              </a:rPr>
                              <m:t>∗</m:t>
                            </m:r>
                          </m:sup>
                        </m:sSup>
                      </m:sub>
                    </m:sSub>
                  </m:oMath>
                </a14:m>
                <a:r>
                  <a:rPr lang="en-US" altLang="zh-CN" dirty="0" smtClean="0"/>
                  <a:t>=</a:t>
                </a:r>
                <a14:m>
                  <m:oMath xmlns:m="http://schemas.openxmlformats.org/officeDocument/2006/math">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M</m:t>
                        </m:r>
                      </m:e>
                      <m:sub>
                        <m:r>
                          <m:rPr>
                            <m:sty m:val="p"/>
                          </m:rPr>
                          <a:rPr lang="en-US" altLang="zh-CN" i="1">
                            <a:latin typeface="Cambria Math" panose="02040503050406030204" pitchFamily="18" charset="0"/>
                          </a:rPr>
                          <m:t>R</m:t>
                        </m:r>
                      </m:sub>
                    </m:sSub>
                    <m:r>
                      <a:rPr lang="en-US" altLang="zh-CN" i="1" smtClean="0">
                        <a:latin typeface="Cambria Math" panose="02040503050406030204" pitchFamily="18" charset="0"/>
                        <a:ea typeface="Cambria Math" panose="02040503050406030204" pitchFamily="18" charset="0"/>
                      </a:rPr>
                      <m:t>∨</m:t>
                    </m:r>
                    <m:sSubSup>
                      <m:sSubSupPr>
                        <m:ctrlPr>
                          <a:rPr lang="en-US" altLang="zh-CN" i="1" smtClean="0">
                            <a:latin typeface="Cambria Math" panose="02040503050406030204" pitchFamily="18" charset="0"/>
                            <a:ea typeface="Cambria Math" panose="02040503050406030204" pitchFamily="18" charset="0"/>
                          </a:rPr>
                        </m:ctrlPr>
                      </m:sSubSupPr>
                      <m:e>
                        <m:r>
                          <a:rPr lang="en-US" altLang="zh-CN" b="0" i="1" smtClean="0">
                            <a:latin typeface="Cambria Math" panose="02040503050406030204" pitchFamily="18" charset="0"/>
                            <a:ea typeface="Cambria Math" panose="02040503050406030204" pitchFamily="18" charset="0"/>
                          </a:rPr>
                          <m:t>𝑀</m:t>
                        </m:r>
                      </m:e>
                      <m:sub>
                        <m:r>
                          <a:rPr lang="en-US" altLang="zh-CN" b="0" i="1" smtClean="0">
                            <a:latin typeface="Cambria Math" panose="02040503050406030204" pitchFamily="18" charset="0"/>
                            <a:ea typeface="Cambria Math" panose="02040503050406030204" pitchFamily="18" charset="0"/>
                          </a:rPr>
                          <m:t>𝑅</m:t>
                        </m:r>
                      </m:sub>
                      <m:sup>
                        <m:d>
                          <m:dPr>
                            <m:begChr m:val="["/>
                            <m:endChr m:val="]"/>
                            <m:ctrlPr>
                              <a:rPr lang="en-US" altLang="zh-CN" b="0" i="1" smtClean="0">
                                <a:latin typeface="Cambria Math" panose="02040503050406030204" pitchFamily="18" charset="0"/>
                                <a:ea typeface="Cambria Math" panose="02040503050406030204" pitchFamily="18" charset="0"/>
                              </a:rPr>
                            </m:ctrlPr>
                          </m:dPr>
                          <m:e>
                            <m:r>
                              <a:rPr lang="en-US" altLang="zh-CN" b="0" i="1" smtClean="0">
                                <a:latin typeface="Cambria Math" panose="02040503050406030204" pitchFamily="18" charset="0"/>
                                <a:ea typeface="Cambria Math" panose="02040503050406030204" pitchFamily="18" charset="0"/>
                              </a:rPr>
                              <m:t>2</m:t>
                            </m:r>
                          </m:e>
                        </m:d>
                      </m:sup>
                    </m:sSubSup>
                    <m:r>
                      <a:rPr lang="en-US" altLang="zh-CN" i="1">
                        <a:latin typeface="Cambria Math" panose="02040503050406030204" pitchFamily="18" charset="0"/>
                        <a:ea typeface="Cambria Math" panose="02040503050406030204" pitchFamily="18" charset="0"/>
                      </a:rPr>
                      <m:t>∨</m:t>
                    </m:r>
                    <m:sSubSup>
                      <m:sSubSupPr>
                        <m:ctrlPr>
                          <a:rPr lang="en-US" altLang="zh-CN" i="1">
                            <a:latin typeface="Cambria Math" panose="02040503050406030204" pitchFamily="18" charset="0"/>
                            <a:ea typeface="Cambria Math" panose="02040503050406030204" pitchFamily="18" charset="0"/>
                          </a:rPr>
                        </m:ctrlPr>
                      </m:sSubSupPr>
                      <m:e>
                        <m:r>
                          <a:rPr lang="en-US" altLang="zh-CN" i="1">
                            <a:latin typeface="Cambria Math" panose="02040503050406030204" pitchFamily="18" charset="0"/>
                            <a:ea typeface="Cambria Math" panose="02040503050406030204" pitchFamily="18" charset="0"/>
                          </a:rPr>
                          <m:t>𝑀</m:t>
                        </m:r>
                      </m:e>
                      <m:sub>
                        <m:r>
                          <a:rPr lang="en-US" altLang="zh-CN" i="1">
                            <a:latin typeface="Cambria Math" panose="02040503050406030204" pitchFamily="18" charset="0"/>
                            <a:ea typeface="Cambria Math" panose="02040503050406030204" pitchFamily="18" charset="0"/>
                          </a:rPr>
                          <m:t>𝑅</m:t>
                        </m:r>
                      </m:sub>
                      <m:sup>
                        <m:d>
                          <m:dPr>
                            <m:begChr m:val="["/>
                            <m:endChr m:val="]"/>
                            <m:ctrlPr>
                              <a:rPr lang="en-US" altLang="zh-CN" b="0" i="1" smtClean="0">
                                <a:latin typeface="Cambria Math" panose="02040503050406030204" pitchFamily="18" charset="0"/>
                                <a:ea typeface="Cambria Math" panose="02040503050406030204" pitchFamily="18" charset="0"/>
                              </a:rPr>
                            </m:ctrlPr>
                          </m:dPr>
                          <m:e>
                            <m:r>
                              <a:rPr lang="en-US" altLang="zh-CN" b="0" i="1" smtClean="0">
                                <a:latin typeface="Cambria Math" panose="02040503050406030204" pitchFamily="18" charset="0"/>
                                <a:ea typeface="Cambria Math" panose="02040503050406030204" pitchFamily="18" charset="0"/>
                              </a:rPr>
                              <m:t>3</m:t>
                            </m:r>
                          </m:e>
                        </m:d>
                      </m:sup>
                    </m:sSubSup>
                    <m:r>
                      <a:rPr lang="en-US" altLang="zh-CN" i="1">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m:t>
                    </m:r>
                    <m:sSubSup>
                      <m:sSubSupPr>
                        <m:ctrlPr>
                          <a:rPr lang="en-US" altLang="zh-CN" i="1">
                            <a:latin typeface="Cambria Math" panose="02040503050406030204" pitchFamily="18" charset="0"/>
                            <a:ea typeface="Cambria Math" panose="02040503050406030204" pitchFamily="18" charset="0"/>
                          </a:rPr>
                        </m:ctrlPr>
                      </m:sSubSupPr>
                      <m:e>
                        <m:r>
                          <a:rPr lang="en-US" altLang="zh-CN" i="1">
                            <a:latin typeface="Cambria Math" panose="02040503050406030204" pitchFamily="18" charset="0"/>
                            <a:ea typeface="Cambria Math" panose="02040503050406030204" pitchFamily="18" charset="0"/>
                          </a:rPr>
                          <m:t>𝑀</m:t>
                        </m:r>
                      </m:e>
                      <m:sub>
                        <m:r>
                          <a:rPr lang="en-US" altLang="zh-CN" i="1">
                            <a:latin typeface="Cambria Math" panose="02040503050406030204" pitchFamily="18" charset="0"/>
                            <a:ea typeface="Cambria Math" panose="02040503050406030204" pitchFamily="18" charset="0"/>
                          </a:rPr>
                          <m:t>𝑅</m:t>
                        </m:r>
                      </m:sub>
                      <m:sup>
                        <m:r>
                          <a:rPr lang="en-US" altLang="zh-CN" i="1">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𝑛</m:t>
                        </m:r>
                        <m:r>
                          <a:rPr lang="en-US" altLang="zh-CN" i="1">
                            <a:latin typeface="Cambria Math" panose="02040503050406030204" pitchFamily="18" charset="0"/>
                            <a:ea typeface="Cambria Math" panose="02040503050406030204" pitchFamily="18" charset="0"/>
                          </a:rPr>
                          <m:t>]</m:t>
                        </m:r>
                      </m:sup>
                    </m:sSubSup>
                  </m:oMath>
                </a14:m>
                <a:endParaRPr lang="en-US" altLang="zh-CN" dirty="0"/>
              </a:p>
              <a:p>
                <a:endParaRPr lang="en-US" altLang="zh-CN" dirty="0" smtClean="0"/>
              </a:p>
              <a:p>
                <a:endParaRPr lang="en-US" altLang="zh-CN" dirty="0" smtClean="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l="-999" t="-1310" r="-388"/>
                </a:stretch>
              </a:blipFill>
            </p:spPr>
            <p:txBody>
              <a:bodyPr/>
              <a:lstStyle/>
              <a:p>
                <a:r>
                  <a:rPr lang="zh-CN" altLang="en-US">
                    <a:noFill/>
                  </a:rPr>
                  <a:t> </a:t>
                </a:r>
              </a:p>
            </p:txBody>
          </p:sp>
        </mc:Fallback>
      </mc:AlternateContent>
      <p:sp>
        <p:nvSpPr>
          <p:cNvPr id="4" name="日期占位符 3"/>
          <p:cNvSpPr>
            <a:spLocks noGrp="1"/>
          </p:cNvSpPr>
          <p:nvPr>
            <p:ph type="dt" sz="half" idx="10"/>
          </p:nvPr>
        </p:nvSpPr>
        <p:spPr/>
        <p:txBody>
          <a:bodyPr/>
          <a:lstStyle/>
          <a:p>
            <a:fld id="{7C7C2F7C-D334-49B9-A2DA-E38112DD6344}" type="datetime1">
              <a:rPr lang="zh-CN" altLang="en-US" smtClean="0"/>
              <a:t>2025/3/14</a:t>
            </a:fld>
            <a:endParaRPr lang="zh-CN" altLang="en-US" dirty="0"/>
          </a:p>
        </p:txBody>
      </p:sp>
      <p:sp>
        <p:nvSpPr>
          <p:cNvPr id="5" name="页脚占位符 4"/>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6" name="灯片编号占位符 5"/>
          <p:cNvSpPr>
            <a:spLocks noGrp="1"/>
          </p:cNvSpPr>
          <p:nvPr>
            <p:ph type="sldNum" sz="quarter" idx="12"/>
          </p:nvPr>
        </p:nvSpPr>
        <p:spPr/>
        <p:txBody>
          <a:bodyPr/>
          <a:lstStyle/>
          <a:p>
            <a:fld id="{67913A8A-9EFB-4B5F-9CCB-3D21173FAA85}" type="slidenum">
              <a:rPr lang="zh-CN" altLang="en-US" smtClean="0"/>
              <a:pPr/>
              <a:t>75</a:t>
            </a:fld>
            <a:endParaRPr lang="zh-CN" altLang="en-US" dirty="0"/>
          </a:p>
        </p:txBody>
      </p:sp>
    </p:spTree>
    <p:extLst>
      <p:ext uri="{BB962C8B-B14F-4D97-AF65-F5344CB8AC3E}">
        <p14:creationId xmlns:p14="http://schemas.microsoft.com/office/powerpoint/2010/main" val="977373984"/>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传递闭包</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normAutofit fontScale="85000" lnSpcReduction="10000"/>
              </a:bodyPr>
              <a:lstStyle/>
              <a:p>
                <a:r>
                  <a:rPr lang="zh-CN" altLang="en-US" sz="3300" dirty="0" smtClean="0"/>
                  <a:t>例</a:t>
                </a:r>
                <a:r>
                  <a:rPr lang="en-US" altLang="zh-CN" sz="3300" dirty="0" smtClean="0"/>
                  <a:t>: </a:t>
                </a:r>
                <a:r>
                  <a:rPr lang="zh-CN" altLang="en-US" sz="3300" dirty="0" smtClean="0"/>
                  <a:t>求关系</a:t>
                </a:r>
                <a:r>
                  <a:rPr lang="en-US" altLang="zh-CN" sz="3300" dirty="0" smtClean="0"/>
                  <a:t>R</a:t>
                </a:r>
                <a:r>
                  <a:rPr lang="zh-CN" altLang="en-US" sz="3300" dirty="0" smtClean="0"/>
                  <a:t>的传递闭包的</a:t>
                </a:r>
                <a:r>
                  <a:rPr lang="en-US" altLang="zh-CN" sz="3300" dirty="0" smtClean="0"/>
                  <a:t>0-1</a:t>
                </a:r>
                <a:r>
                  <a:rPr lang="zh-CN" altLang="en-US" sz="3300" dirty="0" smtClean="0"/>
                  <a:t>矩阵，其中</a:t>
                </a:r>
                <a:endParaRPr lang="en-US" altLang="zh-CN" sz="3300" dirty="0" smtClean="0"/>
              </a:p>
              <a:p>
                <a:pPr marL="0" indent="0">
                  <a:buNone/>
                </a:pPr>
                <a14:m>
                  <m:oMathPara xmlns:m="http://schemas.openxmlformats.org/officeDocument/2006/math">
                    <m:oMathParaPr>
                      <m:jc m:val="center"/>
                    </m:oMathParaPr>
                    <m:oMath xmlns:m="http://schemas.openxmlformats.org/officeDocument/2006/math">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M</m:t>
                          </m:r>
                        </m:e>
                        <m:sub>
                          <m:r>
                            <a:rPr lang="en-US" altLang="zh-CN" i="1">
                              <a:latin typeface="Cambria Math" panose="02040503050406030204" pitchFamily="18" charset="0"/>
                            </a:rPr>
                            <m:t>𝑅</m:t>
                          </m:r>
                        </m:sub>
                      </m:sSub>
                      <m:r>
                        <a:rPr lang="en-US" altLang="zh-CN" b="0" i="1" smtClean="0">
                          <a:latin typeface="Cambria Math" panose="02040503050406030204" pitchFamily="18" charset="0"/>
                        </a:rPr>
                        <m:t>=</m:t>
                      </m:r>
                      <m:d>
                        <m:dPr>
                          <m:begChr m:val="["/>
                          <m:endChr m:val="]"/>
                          <m:ctrlPr>
                            <a:rPr lang="en-US" altLang="zh-CN" b="0" i="1" smtClean="0">
                              <a:latin typeface="Cambria Math" panose="02040503050406030204" pitchFamily="18" charset="0"/>
                            </a:rPr>
                          </m:ctrlPr>
                        </m:dPr>
                        <m:e>
                          <m:m>
                            <m:mPr>
                              <m:mcs>
                                <m:mc>
                                  <m:mcPr>
                                    <m:count m:val="3"/>
                                    <m:mcJc m:val="center"/>
                                  </m:mcPr>
                                </m:mc>
                              </m:mcs>
                              <m:ctrlPr>
                                <a:rPr lang="en-US" altLang="zh-CN" b="0" i="1" smtClean="0">
                                  <a:latin typeface="Cambria Math" panose="02040503050406030204" pitchFamily="18" charset="0"/>
                                </a:rPr>
                              </m:ctrlPr>
                            </m:mPr>
                            <m:mr>
                              <m:e>
                                <m:r>
                                  <a:rPr lang="en-US" altLang="zh-CN" b="0" i="1" smtClean="0">
                                    <a:latin typeface="Cambria Math" panose="02040503050406030204" pitchFamily="18" charset="0"/>
                                  </a:rPr>
                                  <m:t>0</m:t>
                                </m:r>
                              </m:e>
                              <m:e>
                                <m:r>
                                  <a:rPr lang="en-US" altLang="zh-CN" b="0" i="1" smtClean="0">
                                    <a:latin typeface="Cambria Math" panose="02040503050406030204" pitchFamily="18" charset="0"/>
                                  </a:rPr>
                                  <m:t>0</m:t>
                                </m:r>
                              </m:e>
                              <m:e>
                                <m:r>
                                  <a:rPr lang="en-US" altLang="zh-CN" b="0" i="1" smtClean="0">
                                    <a:latin typeface="Cambria Math" panose="02040503050406030204" pitchFamily="18" charset="0"/>
                                  </a:rPr>
                                  <m:t>1</m:t>
                                </m:r>
                              </m:e>
                            </m:mr>
                            <m:mr>
                              <m:e>
                                <m:r>
                                  <a:rPr lang="en-US" altLang="zh-CN" b="0" i="1" smtClean="0">
                                    <a:latin typeface="Cambria Math" panose="02040503050406030204" pitchFamily="18" charset="0"/>
                                  </a:rPr>
                                  <m:t>1</m:t>
                                </m:r>
                              </m:e>
                              <m:e>
                                <m:r>
                                  <a:rPr lang="en-US" altLang="zh-CN" b="0" i="1" smtClean="0">
                                    <a:latin typeface="Cambria Math" panose="02040503050406030204" pitchFamily="18" charset="0"/>
                                  </a:rPr>
                                  <m:t>0</m:t>
                                </m:r>
                              </m:e>
                              <m:e>
                                <m:r>
                                  <a:rPr lang="en-US" altLang="zh-CN" b="0" i="1" smtClean="0">
                                    <a:latin typeface="Cambria Math" panose="02040503050406030204" pitchFamily="18" charset="0"/>
                                  </a:rPr>
                                  <m:t>0</m:t>
                                </m:r>
                              </m:e>
                            </m:mr>
                            <m:mr>
                              <m:e>
                                <m:r>
                                  <a:rPr lang="en-US" altLang="zh-CN" b="0" i="1" smtClean="0">
                                    <a:latin typeface="Cambria Math" panose="02040503050406030204" pitchFamily="18" charset="0"/>
                                  </a:rPr>
                                  <m:t>1</m:t>
                                </m:r>
                              </m:e>
                              <m:e>
                                <m:r>
                                  <a:rPr lang="en-US" altLang="zh-CN" b="0" i="1" smtClean="0">
                                    <a:latin typeface="Cambria Math" panose="02040503050406030204" pitchFamily="18" charset="0"/>
                                  </a:rPr>
                                  <m:t>1</m:t>
                                </m:r>
                              </m:e>
                              <m:e>
                                <m:r>
                                  <a:rPr lang="en-US" altLang="zh-CN" b="0" i="1" smtClean="0">
                                    <a:latin typeface="Cambria Math" panose="02040503050406030204" pitchFamily="18" charset="0"/>
                                  </a:rPr>
                                  <m:t>0</m:t>
                                </m:r>
                              </m:e>
                            </m:mr>
                          </m:m>
                        </m:e>
                      </m:d>
                    </m:oMath>
                  </m:oMathPara>
                </a14:m>
                <a:endParaRPr lang="en-US" altLang="zh-CN" dirty="0" smtClean="0"/>
              </a:p>
              <a:p>
                <a:r>
                  <a:rPr lang="zh-CN" altLang="en-US" sz="3300" dirty="0" smtClean="0"/>
                  <a:t>解</a:t>
                </a:r>
                <a:r>
                  <a:rPr lang="en-US" altLang="zh-CN" sz="3300" dirty="0" smtClean="0"/>
                  <a:t>:</a:t>
                </a:r>
                <a14:m>
                  <m:oMath xmlns:m="http://schemas.openxmlformats.org/officeDocument/2006/math">
                    <m:sSub>
                      <m:sSubPr>
                        <m:ctrlPr>
                          <a:rPr lang="en-US" altLang="zh-CN" i="1">
                            <a:latin typeface="Cambria Math" panose="02040503050406030204" pitchFamily="18" charset="0"/>
                          </a:rPr>
                        </m:ctrlPr>
                      </m:sSubPr>
                      <m:e>
                        <m:r>
                          <a:rPr lang="en-US" altLang="zh-CN" b="0" i="1" smtClean="0">
                            <a:latin typeface="Cambria Math" panose="02040503050406030204" pitchFamily="18" charset="0"/>
                          </a:rPr>
                          <m:t> </m:t>
                        </m:r>
                        <m:r>
                          <m:rPr>
                            <m:sty m:val="p"/>
                          </m:rPr>
                          <a:rPr lang="en-US" altLang="zh-CN" i="1">
                            <a:latin typeface="Cambria Math" panose="02040503050406030204" pitchFamily="18" charset="0"/>
                          </a:rPr>
                          <m:t>M</m:t>
                        </m:r>
                      </m:e>
                      <m:sub>
                        <m:sSup>
                          <m:sSupPr>
                            <m:ctrlPr>
                              <a:rPr lang="en-US" altLang="zh-CN" i="1">
                                <a:latin typeface="Cambria Math" panose="02040503050406030204" pitchFamily="18" charset="0"/>
                              </a:rPr>
                            </m:ctrlPr>
                          </m:sSupPr>
                          <m:e>
                            <m:r>
                              <a:rPr lang="en-US" altLang="zh-CN" i="1">
                                <a:latin typeface="Cambria Math" panose="02040503050406030204" pitchFamily="18" charset="0"/>
                              </a:rPr>
                              <m:t>𝑅</m:t>
                            </m:r>
                          </m:e>
                          <m:sup>
                            <m:r>
                              <a:rPr lang="en-US" altLang="zh-CN" i="1">
                                <a:latin typeface="Cambria Math" panose="02040503050406030204" pitchFamily="18" charset="0"/>
                              </a:rPr>
                              <m:t>∗</m:t>
                            </m:r>
                          </m:sup>
                        </m:sSup>
                      </m:sub>
                    </m:sSub>
                  </m:oMath>
                </a14:m>
                <a:r>
                  <a:rPr lang="en-US" altLang="zh-CN" dirty="0"/>
                  <a:t>=</a:t>
                </a:r>
                <a14:m>
                  <m:oMath xmlns:m="http://schemas.openxmlformats.org/officeDocument/2006/math">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M</m:t>
                        </m:r>
                      </m:e>
                      <m:sub>
                        <m:r>
                          <m:rPr>
                            <m:sty m:val="p"/>
                          </m:rPr>
                          <a:rPr lang="en-US" altLang="zh-CN" i="1">
                            <a:latin typeface="Cambria Math" panose="02040503050406030204" pitchFamily="18" charset="0"/>
                          </a:rPr>
                          <m:t>R</m:t>
                        </m:r>
                      </m:sub>
                    </m:sSub>
                    <m:r>
                      <a:rPr lang="en-US" altLang="zh-CN" i="1">
                        <a:latin typeface="Cambria Math" panose="02040503050406030204" pitchFamily="18" charset="0"/>
                        <a:ea typeface="Cambria Math" panose="02040503050406030204" pitchFamily="18" charset="0"/>
                      </a:rPr>
                      <m:t>∨</m:t>
                    </m:r>
                    <m:sSubSup>
                      <m:sSubSupPr>
                        <m:ctrlPr>
                          <a:rPr lang="en-US" altLang="zh-CN" i="1">
                            <a:latin typeface="Cambria Math" panose="02040503050406030204" pitchFamily="18" charset="0"/>
                            <a:ea typeface="Cambria Math" panose="02040503050406030204" pitchFamily="18" charset="0"/>
                          </a:rPr>
                        </m:ctrlPr>
                      </m:sSubSupPr>
                      <m:e>
                        <m:r>
                          <a:rPr lang="en-US" altLang="zh-CN" i="1">
                            <a:latin typeface="Cambria Math" panose="02040503050406030204" pitchFamily="18" charset="0"/>
                            <a:ea typeface="Cambria Math" panose="02040503050406030204" pitchFamily="18" charset="0"/>
                          </a:rPr>
                          <m:t>𝑀</m:t>
                        </m:r>
                      </m:e>
                      <m:sub>
                        <m:r>
                          <a:rPr lang="en-US" altLang="zh-CN" i="1">
                            <a:latin typeface="Cambria Math" panose="02040503050406030204" pitchFamily="18" charset="0"/>
                            <a:ea typeface="Cambria Math" panose="02040503050406030204" pitchFamily="18" charset="0"/>
                          </a:rPr>
                          <m:t>𝑅</m:t>
                        </m:r>
                      </m:sub>
                      <m:sup>
                        <m:d>
                          <m:dPr>
                            <m:begChr m:val="["/>
                            <m:endChr m:val="]"/>
                            <m:ctrlPr>
                              <a:rPr lang="en-US" altLang="zh-CN" i="1">
                                <a:latin typeface="Cambria Math" panose="02040503050406030204" pitchFamily="18" charset="0"/>
                                <a:ea typeface="Cambria Math" panose="02040503050406030204" pitchFamily="18" charset="0"/>
                              </a:rPr>
                            </m:ctrlPr>
                          </m:dPr>
                          <m:e>
                            <m:r>
                              <a:rPr lang="en-US" altLang="zh-CN" i="1">
                                <a:latin typeface="Cambria Math" panose="02040503050406030204" pitchFamily="18" charset="0"/>
                                <a:ea typeface="Cambria Math" panose="02040503050406030204" pitchFamily="18" charset="0"/>
                              </a:rPr>
                              <m:t>2</m:t>
                            </m:r>
                          </m:e>
                        </m:d>
                      </m:sup>
                    </m:sSubSup>
                    <m:r>
                      <a:rPr lang="en-US" altLang="zh-CN" i="1">
                        <a:latin typeface="Cambria Math" panose="02040503050406030204" pitchFamily="18" charset="0"/>
                        <a:ea typeface="Cambria Math" panose="02040503050406030204" pitchFamily="18" charset="0"/>
                      </a:rPr>
                      <m:t>∨</m:t>
                    </m:r>
                    <m:sSubSup>
                      <m:sSubSupPr>
                        <m:ctrlPr>
                          <a:rPr lang="en-US" altLang="zh-CN" i="1">
                            <a:latin typeface="Cambria Math" panose="02040503050406030204" pitchFamily="18" charset="0"/>
                            <a:ea typeface="Cambria Math" panose="02040503050406030204" pitchFamily="18" charset="0"/>
                          </a:rPr>
                        </m:ctrlPr>
                      </m:sSubSupPr>
                      <m:e>
                        <m:r>
                          <a:rPr lang="en-US" altLang="zh-CN" i="1">
                            <a:latin typeface="Cambria Math" panose="02040503050406030204" pitchFamily="18" charset="0"/>
                            <a:ea typeface="Cambria Math" panose="02040503050406030204" pitchFamily="18" charset="0"/>
                          </a:rPr>
                          <m:t>𝑀</m:t>
                        </m:r>
                      </m:e>
                      <m:sub>
                        <m:r>
                          <a:rPr lang="en-US" altLang="zh-CN" i="1">
                            <a:latin typeface="Cambria Math" panose="02040503050406030204" pitchFamily="18" charset="0"/>
                            <a:ea typeface="Cambria Math" panose="02040503050406030204" pitchFamily="18" charset="0"/>
                          </a:rPr>
                          <m:t>𝑅</m:t>
                        </m:r>
                      </m:sub>
                      <m:sup>
                        <m:d>
                          <m:dPr>
                            <m:begChr m:val="["/>
                            <m:endChr m:val="]"/>
                            <m:ctrlPr>
                              <a:rPr lang="en-US" altLang="zh-CN" i="1">
                                <a:latin typeface="Cambria Math" panose="02040503050406030204" pitchFamily="18" charset="0"/>
                                <a:ea typeface="Cambria Math" panose="02040503050406030204" pitchFamily="18" charset="0"/>
                              </a:rPr>
                            </m:ctrlPr>
                          </m:dPr>
                          <m:e>
                            <m:r>
                              <a:rPr lang="en-US" altLang="zh-CN" i="1">
                                <a:latin typeface="Cambria Math" panose="02040503050406030204" pitchFamily="18" charset="0"/>
                                <a:ea typeface="Cambria Math" panose="02040503050406030204" pitchFamily="18" charset="0"/>
                              </a:rPr>
                              <m:t>3</m:t>
                            </m:r>
                          </m:e>
                        </m:d>
                      </m:sup>
                    </m:sSubSup>
                  </m:oMath>
                </a14:m>
                <a:endParaRPr lang="en-US" altLang="zh-CN" i="1" dirty="0" smtClean="0">
                  <a:latin typeface="Cambria Math" panose="02040503050406030204" pitchFamily="18" charset="0"/>
                  <a:ea typeface="Cambria Math" panose="02040503050406030204" pitchFamily="18" charset="0"/>
                </a:endParaRPr>
              </a:p>
              <a:p>
                <a:pPr marL="0" indent="0">
                  <a:buNone/>
                </a:pPr>
                <a:r>
                  <a:rPr lang="en-US" altLang="zh-CN" dirty="0" smtClean="0">
                    <a:ea typeface="Cambria Math" panose="02040503050406030204" pitchFamily="18" charset="0"/>
                  </a:rPr>
                  <a:t>        </a:t>
                </a:r>
                <a14:m>
                  <m:oMath xmlns:m="http://schemas.openxmlformats.org/officeDocument/2006/math">
                    <m:sSubSup>
                      <m:sSubSupPr>
                        <m:ctrlPr>
                          <a:rPr lang="en-US" altLang="zh-CN" i="1">
                            <a:latin typeface="Cambria Math" panose="02040503050406030204" pitchFamily="18" charset="0"/>
                            <a:ea typeface="Cambria Math" panose="02040503050406030204" pitchFamily="18" charset="0"/>
                          </a:rPr>
                        </m:ctrlPr>
                      </m:sSubSupPr>
                      <m:e>
                        <m:r>
                          <a:rPr lang="en-US" altLang="zh-CN" i="1">
                            <a:latin typeface="Cambria Math" panose="02040503050406030204" pitchFamily="18" charset="0"/>
                            <a:ea typeface="Cambria Math" panose="02040503050406030204" pitchFamily="18" charset="0"/>
                          </a:rPr>
                          <m:t>𝑀</m:t>
                        </m:r>
                      </m:e>
                      <m:sub>
                        <m:r>
                          <a:rPr lang="en-US" altLang="zh-CN" i="1">
                            <a:latin typeface="Cambria Math" panose="02040503050406030204" pitchFamily="18" charset="0"/>
                            <a:ea typeface="Cambria Math" panose="02040503050406030204" pitchFamily="18" charset="0"/>
                          </a:rPr>
                          <m:t>𝑅</m:t>
                        </m:r>
                      </m:sub>
                      <m:sup>
                        <m:d>
                          <m:dPr>
                            <m:begChr m:val="["/>
                            <m:endChr m:val="]"/>
                            <m:ctrlPr>
                              <a:rPr lang="en-US" altLang="zh-CN" i="1">
                                <a:latin typeface="Cambria Math" panose="02040503050406030204" pitchFamily="18" charset="0"/>
                                <a:ea typeface="Cambria Math" panose="02040503050406030204" pitchFamily="18" charset="0"/>
                              </a:rPr>
                            </m:ctrlPr>
                          </m:dPr>
                          <m:e>
                            <m:r>
                              <a:rPr lang="en-US" altLang="zh-CN" i="1">
                                <a:latin typeface="Cambria Math" panose="02040503050406030204" pitchFamily="18" charset="0"/>
                                <a:ea typeface="Cambria Math" panose="02040503050406030204" pitchFamily="18" charset="0"/>
                              </a:rPr>
                              <m:t>2</m:t>
                            </m:r>
                          </m:e>
                        </m:d>
                      </m:sup>
                    </m:sSubSup>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M</m:t>
                        </m:r>
                      </m:e>
                      <m:sub>
                        <m:r>
                          <m:rPr>
                            <m:sty m:val="p"/>
                          </m:rPr>
                          <a:rPr lang="en-US" altLang="zh-CN" i="1">
                            <a:latin typeface="Cambria Math" panose="02040503050406030204" pitchFamily="18" charset="0"/>
                          </a:rPr>
                          <m:t>R</m:t>
                        </m:r>
                      </m:sub>
                    </m:sSub>
                    <m:r>
                      <a:rPr lang="en-US" altLang="zh-CN" i="1" smtClean="0">
                        <a:latin typeface="Cambria Math" panose="02040503050406030204" pitchFamily="18" charset="0"/>
                        <a:ea typeface="Cambria Math" panose="02040503050406030204" pitchFamily="18" charset="0"/>
                      </a:rPr>
                      <m:t>⨀</m:t>
                    </m:r>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M</m:t>
                        </m:r>
                      </m:e>
                      <m:sub>
                        <m:r>
                          <m:rPr>
                            <m:sty m:val="p"/>
                          </m:rPr>
                          <a:rPr lang="en-US" altLang="zh-CN" i="1">
                            <a:latin typeface="Cambria Math" panose="02040503050406030204" pitchFamily="18" charset="0"/>
                          </a:rPr>
                          <m:t>R</m:t>
                        </m:r>
                      </m:sub>
                    </m:sSub>
                    <m:r>
                      <a:rPr lang="en-US" altLang="zh-CN" b="0" i="1" smtClean="0">
                        <a:latin typeface="Cambria Math" panose="02040503050406030204" pitchFamily="18" charset="0"/>
                        <a:ea typeface="Cambria Math" panose="02040503050406030204" pitchFamily="18" charset="0"/>
                      </a:rPr>
                      <m:t>=</m:t>
                    </m:r>
                    <m:d>
                      <m:dPr>
                        <m:begChr m:val="["/>
                        <m:endChr m:val="]"/>
                        <m:ctrlPr>
                          <a:rPr lang="en-US" altLang="zh-CN" i="1">
                            <a:latin typeface="Cambria Math" panose="02040503050406030204" pitchFamily="18" charset="0"/>
                          </a:rPr>
                        </m:ctrlPr>
                      </m:dPr>
                      <m:e>
                        <m:m>
                          <m:mPr>
                            <m:mcs>
                              <m:mc>
                                <m:mcPr>
                                  <m:count m:val="3"/>
                                  <m:mcJc m:val="center"/>
                                </m:mcPr>
                              </m:mc>
                            </m:mcs>
                            <m:ctrlPr>
                              <a:rPr lang="en-US" altLang="zh-CN" i="1">
                                <a:latin typeface="Cambria Math" panose="02040503050406030204" pitchFamily="18" charset="0"/>
                              </a:rPr>
                            </m:ctrlPr>
                          </m:mPr>
                          <m:mr>
                            <m:e>
                              <m:r>
                                <m:rPr>
                                  <m:brk m:alnAt="7"/>
                                </m:rPr>
                                <a:rPr lang="en-US" altLang="zh-CN" i="1">
                                  <a:latin typeface="Cambria Math" panose="02040503050406030204" pitchFamily="18" charset="0"/>
                                </a:rPr>
                                <m:t>1</m:t>
                              </m:r>
                            </m:e>
                            <m:e>
                              <m:r>
                                <a:rPr lang="en-US" altLang="zh-CN" b="0" i="1" smtClean="0">
                                  <a:latin typeface="Cambria Math" panose="02040503050406030204" pitchFamily="18" charset="0"/>
                                </a:rPr>
                                <m:t>1</m:t>
                              </m:r>
                            </m:e>
                            <m:e>
                              <m:r>
                                <a:rPr lang="en-US" altLang="zh-CN" b="0" i="1" smtClean="0">
                                  <a:latin typeface="Cambria Math" panose="02040503050406030204" pitchFamily="18" charset="0"/>
                                </a:rPr>
                                <m:t>0</m:t>
                              </m:r>
                            </m:e>
                          </m:mr>
                          <m:mr>
                            <m:e>
                              <m:r>
                                <a:rPr lang="en-US" altLang="zh-CN" i="1">
                                  <a:latin typeface="Cambria Math" panose="02040503050406030204" pitchFamily="18" charset="0"/>
                                </a:rPr>
                                <m:t>0</m:t>
                              </m:r>
                            </m:e>
                            <m:e>
                              <m:r>
                                <a:rPr lang="en-US" altLang="zh-CN" b="0" i="1" smtClean="0">
                                  <a:latin typeface="Cambria Math" panose="02040503050406030204" pitchFamily="18" charset="0"/>
                                </a:rPr>
                                <m:t>0</m:t>
                              </m:r>
                            </m:e>
                            <m:e>
                              <m:r>
                                <a:rPr lang="en-US" altLang="zh-CN" b="0" i="1" smtClean="0">
                                  <a:latin typeface="Cambria Math" panose="02040503050406030204" pitchFamily="18" charset="0"/>
                                </a:rPr>
                                <m:t>1</m:t>
                              </m:r>
                            </m:e>
                          </m:mr>
                          <m:mr>
                            <m:e>
                              <m:r>
                                <a:rPr lang="en-US" altLang="zh-CN" i="1">
                                  <a:latin typeface="Cambria Math" panose="02040503050406030204" pitchFamily="18" charset="0"/>
                                </a:rPr>
                                <m:t>1</m:t>
                              </m:r>
                            </m:e>
                            <m:e>
                              <m:r>
                                <a:rPr lang="en-US" altLang="zh-CN" b="0" i="1" smtClean="0">
                                  <a:latin typeface="Cambria Math" panose="02040503050406030204" pitchFamily="18" charset="0"/>
                                </a:rPr>
                                <m:t>0</m:t>
                              </m:r>
                            </m:e>
                            <m:e>
                              <m:r>
                                <a:rPr lang="en-US" altLang="zh-CN" i="1">
                                  <a:latin typeface="Cambria Math" panose="02040503050406030204" pitchFamily="18" charset="0"/>
                                </a:rPr>
                                <m:t>1</m:t>
                              </m:r>
                            </m:e>
                          </m:mr>
                        </m:m>
                      </m:e>
                    </m:d>
                  </m:oMath>
                </a14:m>
                <a:endParaRPr lang="en-US" altLang="zh-CN" i="1" dirty="0" smtClean="0">
                  <a:latin typeface="Cambria Math" panose="02040503050406030204" pitchFamily="18" charset="0"/>
                </a:endParaRPr>
              </a:p>
              <a:p>
                <a:pPr marL="0" indent="0">
                  <a:buNone/>
                </a:pPr>
                <a:r>
                  <a:rPr lang="en-US" altLang="zh-CN" dirty="0">
                    <a:ea typeface="Cambria Math" panose="02040503050406030204" pitchFamily="18" charset="0"/>
                  </a:rPr>
                  <a:t> </a:t>
                </a:r>
                <a:r>
                  <a:rPr lang="en-US" altLang="zh-CN" dirty="0" smtClean="0">
                    <a:ea typeface="Cambria Math" panose="02040503050406030204" pitchFamily="18" charset="0"/>
                  </a:rPr>
                  <a:t>       </a:t>
                </a:r>
                <a14:m>
                  <m:oMath xmlns:m="http://schemas.openxmlformats.org/officeDocument/2006/math">
                    <m:sSubSup>
                      <m:sSubSupPr>
                        <m:ctrlPr>
                          <a:rPr lang="en-US" altLang="zh-CN" i="1">
                            <a:latin typeface="Cambria Math" panose="02040503050406030204" pitchFamily="18" charset="0"/>
                            <a:ea typeface="Cambria Math" panose="02040503050406030204" pitchFamily="18" charset="0"/>
                          </a:rPr>
                        </m:ctrlPr>
                      </m:sSubSupPr>
                      <m:e>
                        <m:eqArr>
                          <m:eqArrPr>
                            <m:ctrlPr>
                              <a:rPr lang="en-US" altLang="zh-CN" i="1" smtClean="0">
                                <a:latin typeface="Cambria Math" panose="02040503050406030204" pitchFamily="18" charset="0"/>
                                <a:ea typeface="Cambria Math" panose="02040503050406030204" pitchFamily="18" charset="0"/>
                              </a:rPr>
                            </m:ctrlPr>
                          </m:eqArrPr>
                          <m:e>
                            <m:r>
                              <a:rPr lang="en-US" altLang="zh-CN" i="1">
                                <a:latin typeface="Cambria Math" panose="02040503050406030204" pitchFamily="18" charset="0"/>
                                <a:ea typeface="Cambria Math" panose="02040503050406030204" pitchFamily="18" charset="0"/>
                              </a:rPr>
                              <m:t> </m:t>
                            </m:r>
                          </m:e>
                          <m:e>
                            <m:r>
                              <a:rPr lang="en-US" altLang="zh-CN" i="1">
                                <a:latin typeface="Cambria Math" panose="02040503050406030204" pitchFamily="18" charset="0"/>
                                <a:ea typeface="Cambria Math" panose="02040503050406030204" pitchFamily="18" charset="0"/>
                              </a:rPr>
                              <m:t>𝑀</m:t>
                            </m:r>
                          </m:e>
                        </m:eqArr>
                      </m:e>
                      <m:sub>
                        <m:r>
                          <a:rPr lang="en-US" altLang="zh-CN" i="1">
                            <a:latin typeface="Cambria Math" panose="02040503050406030204" pitchFamily="18" charset="0"/>
                            <a:ea typeface="Cambria Math" panose="02040503050406030204" pitchFamily="18" charset="0"/>
                          </a:rPr>
                          <m:t>𝑅</m:t>
                        </m:r>
                      </m:sub>
                      <m:sup>
                        <m:d>
                          <m:dPr>
                            <m:begChr m:val="["/>
                            <m:endChr m:val="]"/>
                            <m:ctrlPr>
                              <a:rPr lang="en-US" altLang="zh-CN" i="1">
                                <a:latin typeface="Cambria Math" panose="02040503050406030204" pitchFamily="18" charset="0"/>
                                <a:ea typeface="Cambria Math" panose="02040503050406030204" pitchFamily="18" charset="0"/>
                              </a:rPr>
                            </m:ctrlPr>
                          </m:dPr>
                          <m:e>
                            <m:r>
                              <a:rPr lang="en-US" altLang="zh-CN" i="1">
                                <a:latin typeface="Cambria Math" panose="02040503050406030204" pitchFamily="18" charset="0"/>
                                <a:ea typeface="Cambria Math" panose="02040503050406030204" pitchFamily="18" charset="0"/>
                              </a:rPr>
                              <m:t>3</m:t>
                            </m:r>
                          </m:e>
                        </m:d>
                      </m:sup>
                    </m:sSubSup>
                    <m:r>
                      <a:rPr lang="en-US" altLang="zh-CN" i="1">
                        <a:latin typeface="Cambria Math" panose="02040503050406030204" pitchFamily="18" charset="0"/>
                      </a:rPr>
                      <m:t>=</m:t>
                    </m:r>
                    <m:sSubSup>
                      <m:sSubSupPr>
                        <m:ctrlPr>
                          <a:rPr lang="en-US" altLang="zh-CN" i="1">
                            <a:latin typeface="Cambria Math" panose="02040503050406030204" pitchFamily="18" charset="0"/>
                            <a:ea typeface="Cambria Math" panose="02040503050406030204" pitchFamily="18" charset="0"/>
                          </a:rPr>
                        </m:ctrlPr>
                      </m:sSubSupPr>
                      <m:e>
                        <m:r>
                          <a:rPr lang="en-US" altLang="zh-CN" i="1">
                            <a:latin typeface="Cambria Math" panose="02040503050406030204" pitchFamily="18" charset="0"/>
                            <a:ea typeface="Cambria Math" panose="02040503050406030204" pitchFamily="18" charset="0"/>
                          </a:rPr>
                          <m:t>𝑀</m:t>
                        </m:r>
                      </m:e>
                      <m:sub>
                        <m:r>
                          <a:rPr lang="en-US" altLang="zh-CN" i="1">
                            <a:latin typeface="Cambria Math" panose="02040503050406030204" pitchFamily="18" charset="0"/>
                            <a:ea typeface="Cambria Math" panose="02040503050406030204" pitchFamily="18" charset="0"/>
                          </a:rPr>
                          <m:t>𝑅</m:t>
                        </m:r>
                      </m:sub>
                      <m:sup>
                        <m:d>
                          <m:dPr>
                            <m:begChr m:val="["/>
                            <m:endChr m:val="]"/>
                            <m:ctrlPr>
                              <a:rPr lang="en-US" altLang="zh-CN" i="1">
                                <a:latin typeface="Cambria Math" panose="02040503050406030204" pitchFamily="18" charset="0"/>
                                <a:ea typeface="Cambria Math" panose="02040503050406030204" pitchFamily="18" charset="0"/>
                              </a:rPr>
                            </m:ctrlPr>
                          </m:dPr>
                          <m:e>
                            <m:r>
                              <a:rPr lang="en-US" altLang="zh-CN" i="1">
                                <a:latin typeface="Cambria Math" panose="02040503050406030204" pitchFamily="18" charset="0"/>
                                <a:ea typeface="Cambria Math" panose="02040503050406030204" pitchFamily="18" charset="0"/>
                              </a:rPr>
                              <m:t>2</m:t>
                            </m:r>
                          </m:e>
                        </m:d>
                      </m:sup>
                    </m:sSubSup>
                    <m:r>
                      <a:rPr lang="en-US" altLang="zh-CN" i="1">
                        <a:latin typeface="Cambria Math" panose="02040503050406030204" pitchFamily="18" charset="0"/>
                        <a:ea typeface="Cambria Math" panose="02040503050406030204" pitchFamily="18" charset="0"/>
                      </a:rPr>
                      <m:t>⨀</m:t>
                    </m:r>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M</m:t>
                        </m:r>
                      </m:e>
                      <m:sub>
                        <m:r>
                          <m:rPr>
                            <m:sty m:val="p"/>
                          </m:rPr>
                          <a:rPr lang="en-US" altLang="zh-CN" i="1">
                            <a:latin typeface="Cambria Math" panose="02040503050406030204" pitchFamily="18" charset="0"/>
                          </a:rPr>
                          <m:t>R</m:t>
                        </m:r>
                      </m:sub>
                    </m:sSub>
                    <m:r>
                      <a:rPr lang="en-US" altLang="zh-CN" i="1">
                        <a:latin typeface="Cambria Math" panose="02040503050406030204" pitchFamily="18" charset="0"/>
                      </a:rPr>
                      <m:t>=</m:t>
                    </m:r>
                    <m:d>
                      <m:dPr>
                        <m:begChr m:val="["/>
                        <m:endChr m:val="]"/>
                        <m:ctrlPr>
                          <a:rPr lang="en-US" altLang="zh-CN" i="1">
                            <a:latin typeface="Cambria Math" panose="02040503050406030204" pitchFamily="18" charset="0"/>
                          </a:rPr>
                        </m:ctrlPr>
                      </m:dPr>
                      <m:e>
                        <m:m>
                          <m:mPr>
                            <m:mcs>
                              <m:mc>
                                <m:mcPr>
                                  <m:count m:val="3"/>
                                  <m:mcJc m:val="center"/>
                                </m:mcPr>
                              </m:mc>
                            </m:mcs>
                            <m:ctrlPr>
                              <a:rPr lang="en-US" altLang="zh-CN" i="1">
                                <a:latin typeface="Cambria Math" panose="02040503050406030204" pitchFamily="18" charset="0"/>
                              </a:rPr>
                            </m:ctrlPr>
                          </m:mPr>
                          <m:mr>
                            <m:e>
                              <m:r>
                                <m:rPr>
                                  <m:brk m:alnAt="7"/>
                                </m:rPr>
                                <a:rPr lang="en-US" altLang="zh-CN" i="1">
                                  <a:latin typeface="Cambria Math" panose="02040503050406030204" pitchFamily="18" charset="0"/>
                                </a:rPr>
                                <m:t>1</m:t>
                              </m:r>
                            </m:e>
                            <m:e>
                              <m:r>
                                <a:rPr lang="en-US" altLang="zh-CN" b="0" i="1" smtClean="0">
                                  <a:latin typeface="Cambria Math" panose="02040503050406030204" pitchFamily="18" charset="0"/>
                                </a:rPr>
                                <m:t>0</m:t>
                              </m:r>
                            </m:e>
                            <m:e>
                              <m:r>
                                <a:rPr lang="en-US" altLang="zh-CN" i="1">
                                  <a:latin typeface="Cambria Math" panose="02040503050406030204" pitchFamily="18" charset="0"/>
                                </a:rPr>
                                <m:t>1</m:t>
                              </m:r>
                            </m:e>
                          </m:mr>
                          <m:mr>
                            <m:e>
                              <m:r>
                                <a:rPr lang="en-US" altLang="zh-CN" b="0" i="1" smtClean="0">
                                  <a:latin typeface="Cambria Math" panose="02040503050406030204" pitchFamily="18" charset="0"/>
                                </a:rPr>
                                <m:t>1</m:t>
                              </m:r>
                            </m:e>
                            <m:e>
                              <m:r>
                                <a:rPr lang="en-US" altLang="zh-CN" i="1">
                                  <a:latin typeface="Cambria Math" panose="02040503050406030204" pitchFamily="18" charset="0"/>
                                </a:rPr>
                                <m:t>1</m:t>
                              </m:r>
                            </m:e>
                            <m:e>
                              <m:r>
                                <a:rPr lang="en-US" altLang="zh-CN" i="1">
                                  <a:latin typeface="Cambria Math" panose="02040503050406030204" pitchFamily="18" charset="0"/>
                                </a:rPr>
                                <m:t>0</m:t>
                              </m:r>
                            </m:e>
                          </m:mr>
                          <m:mr>
                            <m:e>
                              <m:r>
                                <a:rPr lang="en-US" altLang="zh-CN" i="1">
                                  <a:latin typeface="Cambria Math" panose="02040503050406030204" pitchFamily="18" charset="0"/>
                                </a:rPr>
                                <m:t>1</m:t>
                              </m:r>
                            </m:e>
                            <m:e>
                              <m:r>
                                <a:rPr lang="en-US" altLang="zh-CN" i="1">
                                  <a:latin typeface="Cambria Math" panose="02040503050406030204" pitchFamily="18" charset="0"/>
                                </a:rPr>
                                <m:t>1</m:t>
                              </m:r>
                            </m:e>
                            <m:e>
                              <m:r>
                                <a:rPr lang="en-US" altLang="zh-CN" i="1">
                                  <a:latin typeface="Cambria Math" panose="02040503050406030204" pitchFamily="18" charset="0"/>
                                </a:rPr>
                                <m:t>1</m:t>
                              </m:r>
                            </m:e>
                          </m:mr>
                        </m:m>
                      </m:e>
                    </m:d>
                  </m:oMath>
                </a14:m>
                <a:endParaRPr lang="en-US" altLang="zh-CN" dirty="0" smtClean="0"/>
              </a:p>
              <a:p>
                <a:pPr marL="0" indent="0">
                  <a:buNone/>
                </a:pPr>
                <a14:m>
                  <m:oMath xmlns:m="http://schemas.openxmlformats.org/officeDocument/2006/math">
                    <m:sSub>
                      <m:sSubPr>
                        <m:ctrlPr>
                          <a:rPr lang="en-US" altLang="zh-CN" i="1">
                            <a:latin typeface="Cambria Math" panose="02040503050406030204" pitchFamily="18" charset="0"/>
                          </a:rPr>
                        </m:ctrlPr>
                      </m:sSubPr>
                      <m:e>
                        <m:r>
                          <a:rPr lang="en-US" altLang="zh-CN" b="0" i="1" smtClean="0">
                            <a:latin typeface="Cambria Math" panose="02040503050406030204" pitchFamily="18" charset="0"/>
                          </a:rPr>
                          <m:t>           </m:t>
                        </m:r>
                        <m:r>
                          <m:rPr>
                            <m:sty m:val="p"/>
                          </m:rPr>
                          <a:rPr lang="en-US" altLang="zh-CN" i="1">
                            <a:latin typeface="Cambria Math" panose="02040503050406030204" pitchFamily="18" charset="0"/>
                          </a:rPr>
                          <m:t>M</m:t>
                        </m:r>
                      </m:e>
                      <m:sub>
                        <m:sSup>
                          <m:sSupPr>
                            <m:ctrlPr>
                              <a:rPr lang="en-US" altLang="zh-CN" i="1">
                                <a:latin typeface="Cambria Math" panose="02040503050406030204" pitchFamily="18" charset="0"/>
                              </a:rPr>
                            </m:ctrlPr>
                          </m:sSupPr>
                          <m:e>
                            <m:r>
                              <a:rPr lang="en-US" altLang="zh-CN" i="1">
                                <a:latin typeface="Cambria Math" panose="02040503050406030204" pitchFamily="18" charset="0"/>
                              </a:rPr>
                              <m:t>𝑅</m:t>
                            </m:r>
                          </m:e>
                          <m:sup>
                            <m:r>
                              <a:rPr lang="en-US" altLang="zh-CN" i="1">
                                <a:latin typeface="Cambria Math" panose="02040503050406030204" pitchFamily="18" charset="0"/>
                              </a:rPr>
                              <m:t>∗</m:t>
                            </m:r>
                          </m:sup>
                        </m:sSup>
                      </m:sub>
                    </m:sSub>
                  </m:oMath>
                </a14:m>
                <a:r>
                  <a:rPr lang="en-US" altLang="zh-CN" dirty="0"/>
                  <a:t>=</a:t>
                </a:r>
                <a14:m>
                  <m:oMath xmlns:m="http://schemas.openxmlformats.org/officeDocument/2006/math">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M</m:t>
                        </m:r>
                      </m:e>
                      <m:sub>
                        <m:r>
                          <m:rPr>
                            <m:sty m:val="p"/>
                          </m:rPr>
                          <a:rPr lang="en-US" altLang="zh-CN" i="1">
                            <a:latin typeface="Cambria Math" panose="02040503050406030204" pitchFamily="18" charset="0"/>
                          </a:rPr>
                          <m:t>R</m:t>
                        </m:r>
                      </m:sub>
                    </m:sSub>
                    <m:r>
                      <a:rPr lang="en-US" altLang="zh-CN" i="1">
                        <a:latin typeface="Cambria Math" panose="02040503050406030204" pitchFamily="18" charset="0"/>
                        <a:ea typeface="Cambria Math" panose="02040503050406030204" pitchFamily="18" charset="0"/>
                      </a:rPr>
                      <m:t>∨</m:t>
                    </m:r>
                    <m:sSubSup>
                      <m:sSubSupPr>
                        <m:ctrlPr>
                          <a:rPr lang="en-US" altLang="zh-CN" i="1">
                            <a:latin typeface="Cambria Math" panose="02040503050406030204" pitchFamily="18" charset="0"/>
                            <a:ea typeface="Cambria Math" panose="02040503050406030204" pitchFamily="18" charset="0"/>
                          </a:rPr>
                        </m:ctrlPr>
                      </m:sSubSupPr>
                      <m:e>
                        <m:r>
                          <a:rPr lang="en-US" altLang="zh-CN" i="1">
                            <a:latin typeface="Cambria Math" panose="02040503050406030204" pitchFamily="18" charset="0"/>
                            <a:ea typeface="Cambria Math" panose="02040503050406030204" pitchFamily="18" charset="0"/>
                          </a:rPr>
                          <m:t>𝑀</m:t>
                        </m:r>
                      </m:e>
                      <m:sub>
                        <m:r>
                          <a:rPr lang="en-US" altLang="zh-CN" i="1">
                            <a:latin typeface="Cambria Math" panose="02040503050406030204" pitchFamily="18" charset="0"/>
                            <a:ea typeface="Cambria Math" panose="02040503050406030204" pitchFamily="18" charset="0"/>
                          </a:rPr>
                          <m:t>𝑅</m:t>
                        </m:r>
                      </m:sub>
                      <m:sup>
                        <m:d>
                          <m:dPr>
                            <m:begChr m:val="["/>
                            <m:endChr m:val="]"/>
                            <m:ctrlPr>
                              <a:rPr lang="en-US" altLang="zh-CN" i="1">
                                <a:latin typeface="Cambria Math" panose="02040503050406030204" pitchFamily="18" charset="0"/>
                                <a:ea typeface="Cambria Math" panose="02040503050406030204" pitchFamily="18" charset="0"/>
                              </a:rPr>
                            </m:ctrlPr>
                          </m:dPr>
                          <m:e>
                            <m:r>
                              <a:rPr lang="en-US" altLang="zh-CN" i="1">
                                <a:latin typeface="Cambria Math" panose="02040503050406030204" pitchFamily="18" charset="0"/>
                                <a:ea typeface="Cambria Math" panose="02040503050406030204" pitchFamily="18" charset="0"/>
                              </a:rPr>
                              <m:t>2</m:t>
                            </m:r>
                          </m:e>
                        </m:d>
                      </m:sup>
                    </m:sSubSup>
                    <m:r>
                      <a:rPr lang="en-US" altLang="zh-CN" i="1">
                        <a:latin typeface="Cambria Math" panose="02040503050406030204" pitchFamily="18" charset="0"/>
                        <a:ea typeface="Cambria Math" panose="02040503050406030204" pitchFamily="18" charset="0"/>
                      </a:rPr>
                      <m:t>∨</m:t>
                    </m:r>
                    <m:sSubSup>
                      <m:sSubSupPr>
                        <m:ctrlPr>
                          <a:rPr lang="en-US" altLang="zh-CN" i="1">
                            <a:latin typeface="Cambria Math" panose="02040503050406030204" pitchFamily="18" charset="0"/>
                            <a:ea typeface="Cambria Math" panose="02040503050406030204" pitchFamily="18" charset="0"/>
                          </a:rPr>
                        </m:ctrlPr>
                      </m:sSubSupPr>
                      <m:e>
                        <m:r>
                          <a:rPr lang="en-US" altLang="zh-CN" i="1">
                            <a:latin typeface="Cambria Math" panose="02040503050406030204" pitchFamily="18" charset="0"/>
                            <a:ea typeface="Cambria Math" panose="02040503050406030204" pitchFamily="18" charset="0"/>
                          </a:rPr>
                          <m:t>𝑀</m:t>
                        </m:r>
                      </m:e>
                      <m:sub>
                        <m:r>
                          <a:rPr lang="en-US" altLang="zh-CN" i="1">
                            <a:latin typeface="Cambria Math" panose="02040503050406030204" pitchFamily="18" charset="0"/>
                            <a:ea typeface="Cambria Math" panose="02040503050406030204" pitchFamily="18" charset="0"/>
                          </a:rPr>
                          <m:t>𝑅</m:t>
                        </m:r>
                      </m:sub>
                      <m:sup>
                        <m:d>
                          <m:dPr>
                            <m:begChr m:val="["/>
                            <m:endChr m:val="]"/>
                            <m:ctrlPr>
                              <a:rPr lang="en-US" altLang="zh-CN" i="1">
                                <a:latin typeface="Cambria Math" panose="02040503050406030204" pitchFamily="18" charset="0"/>
                                <a:ea typeface="Cambria Math" panose="02040503050406030204" pitchFamily="18" charset="0"/>
                              </a:rPr>
                            </m:ctrlPr>
                          </m:dPr>
                          <m:e>
                            <m:r>
                              <a:rPr lang="en-US" altLang="zh-CN" i="1">
                                <a:latin typeface="Cambria Math" panose="02040503050406030204" pitchFamily="18" charset="0"/>
                                <a:ea typeface="Cambria Math" panose="02040503050406030204" pitchFamily="18" charset="0"/>
                              </a:rPr>
                              <m:t>3</m:t>
                            </m:r>
                          </m:e>
                        </m:d>
                      </m:sup>
                    </m:sSubSup>
                    <m:r>
                      <a:rPr lang="en-US" altLang="zh-CN" i="1">
                        <a:latin typeface="Cambria Math" panose="02040503050406030204" pitchFamily="18" charset="0"/>
                        <a:ea typeface="Cambria Math" panose="02040503050406030204" pitchFamily="18" charset="0"/>
                      </a:rPr>
                      <m:t>=</m:t>
                    </m:r>
                    <m:d>
                      <m:dPr>
                        <m:begChr m:val="["/>
                        <m:endChr m:val="]"/>
                        <m:ctrlPr>
                          <a:rPr lang="en-US" altLang="zh-CN" i="1">
                            <a:latin typeface="Cambria Math" panose="02040503050406030204" pitchFamily="18" charset="0"/>
                          </a:rPr>
                        </m:ctrlPr>
                      </m:dPr>
                      <m:e>
                        <m:m>
                          <m:mPr>
                            <m:mcs>
                              <m:mc>
                                <m:mcPr>
                                  <m:count m:val="3"/>
                                  <m:mcJc m:val="center"/>
                                </m:mcPr>
                              </m:mc>
                            </m:mcs>
                            <m:ctrlPr>
                              <a:rPr lang="en-US" altLang="zh-CN" i="1">
                                <a:latin typeface="Cambria Math" panose="02040503050406030204" pitchFamily="18" charset="0"/>
                              </a:rPr>
                            </m:ctrlPr>
                          </m:mPr>
                          <m:mr>
                            <m:e>
                              <m:r>
                                <a:rPr lang="en-US" altLang="zh-CN" i="1">
                                  <a:latin typeface="Cambria Math" panose="02040503050406030204" pitchFamily="18" charset="0"/>
                                </a:rPr>
                                <m:t>0</m:t>
                              </m:r>
                            </m:e>
                            <m:e>
                              <m:r>
                                <a:rPr lang="en-US" altLang="zh-CN" i="1">
                                  <a:latin typeface="Cambria Math" panose="02040503050406030204" pitchFamily="18" charset="0"/>
                                </a:rPr>
                                <m:t>0</m:t>
                              </m:r>
                            </m:e>
                            <m:e>
                              <m:r>
                                <a:rPr lang="en-US" altLang="zh-CN" i="1">
                                  <a:latin typeface="Cambria Math" panose="02040503050406030204" pitchFamily="18" charset="0"/>
                                </a:rPr>
                                <m:t>1</m:t>
                              </m:r>
                            </m:e>
                          </m:mr>
                          <m:mr>
                            <m:e>
                              <m:r>
                                <a:rPr lang="en-US" altLang="zh-CN" i="1">
                                  <a:latin typeface="Cambria Math" panose="02040503050406030204" pitchFamily="18" charset="0"/>
                                </a:rPr>
                                <m:t>1</m:t>
                              </m:r>
                            </m:e>
                            <m:e>
                              <m:r>
                                <a:rPr lang="en-US" altLang="zh-CN" i="1">
                                  <a:latin typeface="Cambria Math" panose="02040503050406030204" pitchFamily="18" charset="0"/>
                                </a:rPr>
                                <m:t>0</m:t>
                              </m:r>
                            </m:e>
                            <m:e>
                              <m:r>
                                <a:rPr lang="en-US" altLang="zh-CN" i="1">
                                  <a:latin typeface="Cambria Math" panose="02040503050406030204" pitchFamily="18" charset="0"/>
                                </a:rPr>
                                <m:t>0</m:t>
                              </m:r>
                            </m:e>
                          </m:mr>
                          <m:mr>
                            <m:e>
                              <m:r>
                                <a:rPr lang="en-US" altLang="zh-CN" i="1">
                                  <a:latin typeface="Cambria Math" panose="02040503050406030204" pitchFamily="18" charset="0"/>
                                </a:rPr>
                                <m:t>1</m:t>
                              </m:r>
                            </m:e>
                            <m:e>
                              <m:r>
                                <a:rPr lang="en-US" altLang="zh-CN" i="1">
                                  <a:latin typeface="Cambria Math" panose="02040503050406030204" pitchFamily="18" charset="0"/>
                                </a:rPr>
                                <m:t>1</m:t>
                              </m:r>
                            </m:e>
                            <m:e>
                              <m:r>
                                <a:rPr lang="en-US" altLang="zh-CN" i="1">
                                  <a:latin typeface="Cambria Math" panose="02040503050406030204" pitchFamily="18" charset="0"/>
                                </a:rPr>
                                <m:t>0</m:t>
                              </m:r>
                            </m:e>
                          </m:mr>
                        </m:m>
                      </m:e>
                    </m:d>
                  </m:oMath>
                </a14:m>
                <a:r>
                  <a:rPr lang="en-US" altLang="zh-CN" dirty="0">
                    <a:ea typeface="Cambria Math" panose="02040503050406030204" pitchFamily="18" charset="0"/>
                  </a:rPr>
                  <a:t> </a:t>
                </a:r>
                <a14:m>
                  <m:oMath xmlns:m="http://schemas.openxmlformats.org/officeDocument/2006/math">
                    <m:r>
                      <a:rPr lang="en-US" altLang="zh-CN" i="1">
                        <a:latin typeface="Cambria Math" panose="02040503050406030204" pitchFamily="18" charset="0"/>
                        <a:ea typeface="Cambria Math" panose="02040503050406030204" pitchFamily="18" charset="0"/>
                      </a:rPr>
                      <m:t>∨</m:t>
                    </m:r>
                    <m:d>
                      <m:dPr>
                        <m:begChr m:val="["/>
                        <m:endChr m:val="]"/>
                        <m:ctrlPr>
                          <a:rPr lang="en-US" altLang="zh-CN" i="1">
                            <a:latin typeface="Cambria Math" panose="02040503050406030204" pitchFamily="18" charset="0"/>
                          </a:rPr>
                        </m:ctrlPr>
                      </m:dPr>
                      <m:e>
                        <m:m>
                          <m:mPr>
                            <m:mcs>
                              <m:mc>
                                <m:mcPr>
                                  <m:count m:val="3"/>
                                  <m:mcJc m:val="center"/>
                                </m:mcPr>
                              </m:mc>
                            </m:mcs>
                            <m:ctrlPr>
                              <a:rPr lang="en-US" altLang="zh-CN" i="1">
                                <a:latin typeface="Cambria Math" panose="02040503050406030204" pitchFamily="18" charset="0"/>
                              </a:rPr>
                            </m:ctrlPr>
                          </m:mPr>
                          <m:mr>
                            <m:e>
                              <m:r>
                                <m:rPr>
                                  <m:brk m:alnAt="7"/>
                                </m:rPr>
                                <a:rPr lang="en-US" altLang="zh-CN" i="1">
                                  <a:latin typeface="Cambria Math" panose="02040503050406030204" pitchFamily="18" charset="0"/>
                                </a:rPr>
                                <m:t>1</m:t>
                              </m:r>
                            </m:e>
                            <m:e>
                              <m:r>
                                <a:rPr lang="en-US" altLang="zh-CN" i="1">
                                  <a:latin typeface="Cambria Math" panose="02040503050406030204" pitchFamily="18" charset="0"/>
                                </a:rPr>
                                <m:t>1</m:t>
                              </m:r>
                            </m:e>
                            <m:e>
                              <m:r>
                                <a:rPr lang="en-US" altLang="zh-CN" i="1">
                                  <a:latin typeface="Cambria Math" panose="02040503050406030204" pitchFamily="18" charset="0"/>
                                </a:rPr>
                                <m:t>0</m:t>
                              </m:r>
                            </m:e>
                          </m:mr>
                          <m:mr>
                            <m:e>
                              <m:r>
                                <a:rPr lang="en-US" altLang="zh-CN" i="1">
                                  <a:latin typeface="Cambria Math" panose="02040503050406030204" pitchFamily="18" charset="0"/>
                                </a:rPr>
                                <m:t>0</m:t>
                              </m:r>
                            </m:e>
                            <m:e>
                              <m:r>
                                <a:rPr lang="en-US" altLang="zh-CN" i="1">
                                  <a:latin typeface="Cambria Math" panose="02040503050406030204" pitchFamily="18" charset="0"/>
                                </a:rPr>
                                <m:t>0</m:t>
                              </m:r>
                            </m:e>
                            <m:e>
                              <m:r>
                                <a:rPr lang="en-US" altLang="zh-CN" i="1">
                                  <a:latin typeface="Cambria Math" panose="02040503050406030204" pitchFamily="18" charset="0"/>
                                </a:rPr>
                                <m:t>1</m:t>
                              </m:r>
                            </m:e>
                          </m:mr>
                          <m:mr>
                            <m:e>
                              <m:r>
                                <a:rPr lang="en-US" altLang="zh-CN" i="1">
                                  <a:latin typeface="Cambria Math" panose="02040503050406030204" pitchFamily="18" charset="0"/>
                                </a:rPr>
                                <m:t>1</m:t>
                              </m:r>
                            </m:e>
                            <m:e>
                              <m:r>
                                <a:rPr lang="en-US" altLang="zh-CN" i="1">
                                  <a:latin typeface="Cambria Math" panose="02040503050406030204" pitchFamily="18" charset="0"/>
                                </a:rPr>
                                <m:t>0</m:t>
                              </m:r>
                            </m:e>
                            <m:e>
                              <m:r>
                                <a:rPr lang="en-US" altLang="zh-CN" i="1">
                                  <a:latin typeface="Cambria Math" panose="02040503050406030204" pitchFamily="18" charset="0"/>
                                </a:rPr>
                                <m:t>1</m:t>
                              </m:r>
                            </m:e>
                          </m:mr>
                        </m:m>
                      </m:e>
                    </m:d>
                    <m:r>
                      <a:rPr lang="en-US" altLang="zh-CN" i="1">
                        <a:latin typeface="Cambria Math" panose="02040503050406030204" pitchFamily="18" charset="0"/>
                        <a:ea typeface="Cambria Math" panose="02040503050406030204" pitchFamily="18" charset="0"/>
                      </a:rPr>
                      <m:t>∨</m:t>
                    </m:r>
                    <m:d>
                      <m:dPr>
                        <m:begChr m:val="["/>
                        <m:endChr m:val="]"/>
                        <m:ctrlPr>
                          <a:rPr lang="en-US" altLang="zh-CN" i="1">
                            <a:latin typeface="Cambria Math" panose="02040503050406030204" pitchFamily="18" charset="0"/>
                          </a:rPr>
                        </m:ctrlPr>
                      </m:dPr>
                      <m:e>
                        <m:m>
                          <m:mPr>
                            <m:mcs>
                              <m:mc>
                                <m:mcPr>
                                  <m:count m:val="3"/>
                                  <m:mcJc m:val="center"/>
                                </m:mcPr>
                              </m:mc>
                            </m:mcs>
                            <m:ctrlPr>
                              <a:rPr lang="en-US" altLang="zh-CN" i="1">
                                <a:latin typeface="Cambria Math" panose="02040503050406030204" pitchFamily="18" charset="0"/>
                              </a:rPr>
                            </m:ctrlPr>
                          </m:mPr>
                          <m:mr>
                            <m:e>
                              <m:r>
                                <m:rPr>
                                  <m:brk m:alnAt="7"/>
                                </m:rPr>
                                <a:rPr lang="en-US" altLang="zh-CN" i="1">
                                  <a:latin typeface="Cambria Math" panose="02040503050406030204" pitchFamily="18" charset="0"/>
                                </a:rPr>
                                <m:t>1</m:t>
                              </m:r>
                            </m:e>
                            <m:e>
                              <m:r>
                                <a:rPr lang="en-US" altLang="zh-CN" i="1">
                                  <a:latin typeface="Cambria Math" panose="02040503050406030204" pitchFamily="18" charset="0"/>
                                </a:rPr>
                                <m:t>0</m:t>
                              </m:r>
                            </m:e>
                            <m:e>
                              <m:r>
                                <a:rPr lang="en-US" altLang="zh-CN" i="1">
                                  <a:latin typeface="Cambria Math" panose="02040503050406030204" pitchFamily="18" charset="0"/>
                                </a:rPr>
                                <m:t>1</m:t>
                              </m:r>
                            </m:e>
                          </m:mr>
                          <m:mr>
                            <m:e>
                              <m:r>
                                <a:rPr lang="en-US" altLang="zh-CN" i="1">
                                  <a:latin typeface="Cambria Math" panose="02040503050406030204" pitchFamily="18" charset="0"/>
                                </a:rPr>
                                <m:t>1</m:t>
                              </m:r>
                            </m:e>
                            <m:e>
                              <m:r>
                                <a:rPr lang="en-US" altLang="zh-CN" i="1">
                                  <a:latin typeface="Cambria Math" panose="02040503050406030204" pitchFamily="18" charset="0"/>
                                </a:rPr>
                                <m:t>1</m:t>
                              </m:r>
                            </m:e>
                            <m:e>
                              <m:r>
                                <a:rPr lang="en-US" altLang="zh-CN" i="1">
                                  <a:latin typeface="Cambria Math" panose="02040503050406030204" pitchFamily="18" charset="0"/>
                                </a:rPr>
                                <m:t>0</m:t>
                              </m:r>
                            </m:e>
                          </m:mr>
                          <m:mr>
                            <m:e>
                              <m:r>
                                <a:rPr lang="en-US" altLang="zh-CN" i="1">
                                  <a:latin typeface="Cambria Math" panose="02040503050406030204" pitchFamily="18" charset="0"/>
                                </a:rPr>
                                <m:t>1</m:t>
                              </m:r>
                            </m:e>
                            <m:e>
                              <m:r>
                                <a:rPr lang="en-US" altLang="zh-CN" i="1">
                                  <a:latin typeface="Cambria Math" panose="02040503050406030204" pitchFamily="18" charset="0"/>
                                </a:rPr>
                                <m:t>1</m:t>
                              </m:r>
                            </m:e>
                            <m:e>
                              <m:r>
                                <a:rPr lang="en-US" altLang="zh-CN" i="1">
                                  <a:latin typeface="Cambria Math" panose="02040503050406030204" pitchFamily="18" charset="0"/>
                                </a:rPr>
                                <m:t>1</m:t>
                              </m:r>
                            </m:e>
                          </m:mr>
                        </m:m>
                      </m:e>
                    </m:d>
                  </m:oMath>
                </a14:m>
                <a:r>
                  <a:rPr lang="en-US" altLang="zh-CN" dirty="0" smtClean="0"/>
                  <a:t>=</a:t>
                </a:r>
                <a14:m>
                  <m:oMath xmlns:m="http://schemas.openxmlformats.org/officeDocument/2006/math">
                    <m:d>
                      <m:dPr>
                        <m:begChr m:val="["/>
                        <m:endChr m:val="]"/>
                        <m:ctrlPr>
                          <a:rPr lang="en-US" altLang="zh-CN" i="1">
                            <a:latin typeface="Cambria Math" panose="02040503050406030204" pitchFamily="18" charset="0"/>
                          </a:rPr>
                        </m:ctrlPr>
                      </m:dPr>
                      <m:e>
                        <m:m>
                          <m:mPr>
                            <m:mcs>
                              <m:mc>
                                <m:mcPr>
                                  <m:count m:val="3"/>
                                  <m:mcJc m:val="center"/>
                                </m:mcPr>
                              </m:mc>
                            </m:mcs>
                            <m:ctrlPr>
                              <a:rPr lang="en-US" altLang="zh-CN" i="1">
                                <a:latin typeface="Cambria Math" panose="02040503050406030204" pitchFamily="18" charset="0"/>
                              </a:rPr>
                            </m:ctrlPr>
                          </m:mPr>
                          <m:mr>
                            <m:e>
                              <m:r>
                                <m:rPr>
                                  <m:brk m:alnAt="7"/>
                                </m:rPr>
                                <a:rPr lang="en-US" altLang="zh-CN" i="1">
                                  <a:latin typeface="Cambria Math" panose="02040503050406030204" pitchFamily="18" charset="0"/>
                                </a:rPr>
                                <m:t>1</m:t>
                              </m:r>
                            </m:e>
                            <m:e>
                              <m:r>
                                <a:rPr lang="en-US" altLang="zh-CN" i="1">
                                  <a:latin typeface="Cambria Math" panose="02040503050406030204" pitchFamily="18" charset="0"/>
                                </a:rPr>
                                <m:t>1</m:t>
                              </m:r>
                            </m:e>
                            <m:e>
                              <m:r>
                                <a:rPr lang="en-US" altLang="zh-CN" i="1">
                                  <a:latin typeface="Cambria Math" panose="02040503050406030204" pitchFamily="18" charset="0"/>
                                </a:rPr>
                                <m:t>1</m:t>
                              </m:r>
                            </m:e>
                          </m:mr>
                          <m:mr>
                            <m:e>
                              <m:r>
                                <a:rPr lang="en-US" altLang="zh-CN" b="0" i="1" smtClean="0">
                                  <a:latin typeface="Cambria Math" panose="02040503050406030204" pitchFamily="18" charset="0"/>
                                </a:rPr>
                                <m:t>1</m:t>
                              </m:r>
                            </m:e>
                            <m:e>
                              <m:r>
                                <a:rPr lang="en-US" altLang="zh-CN" i="1">
                                  <a:latin typeface="Cambria Math" panose="02040503050406030204" pitchFamily="18" charset="0"/>
                                </a:rPr>
                                <m:t>1</m:t>
                              </m:r>
                            </m:e>
                            <m:e>
                              <m:r>
                                <a:rPr lang="en-US" altLang="zh-CN" b="0" i="1" smtClean="0">
                                  <a:latin typeface="Cambria Math" panose="02040503050406030204" pitchFamily="18" charset="0"/>
                                </a:rPr>
                                <m:t>1</m:t>
                              </m:r>
                            </m:e>
                          </m:mr>
                          <m:mr>
                            <m:e>
                              <m:r>
                                <a:rPr lang="en-US" altLang="zh-CN" i="1">
                                  <a:latin typeface="Cambria Math" panose="02040503050406030204" pitchFamily="18" charset="0"/>
                                </a:rPr>
                                <m:t>1</m:t>
                              </m:r>
                            </m:e>
                            <m:e>
                              <m:r>
                                <a:rPr lang="en-US" altLang="zh-CN" i="1">
                                  <a:latin typeface="Cambria Math" panose="02040503050406030204" pitchFamily="18" charset="0"/>
                                </a:rPr>
                                <m:t>1</m:t>
                              </m:r>
                            </m:e>
                            <m:e>
                              <m:r>
                                <a:rPr lang="en-US" altLang="zh-CN" i="1">
                                  <a:latin typeface="Cambria Math" panose="02040503050406030204" pitchFamily="18" charset="0"/>
                                </a:rPr>
                                <m:t>1</m:t>
                              </m:r>
                            </m:e>
                          </m:mr>
                        </m:m>
                      </m:e>
                    </m:d>
                  </m:oMath>
                </a14:m>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3"/>
                <a:stretch>
                  <a:fillRect l="-999" t="-2143"/>
                </a:stretch>
              </a:blipFill>
            </p:spPr>
            <p:txBody>
              <a:bodyPr/>
              <a:lstStyle/>
              <a:p>
                <a:r>
                  <a:rPr lang="zh-CN" altLang="en-US">
                    <a:noFill/>
                  </a:rPr>
                  <a:t> </a:t>
                </a:r>
              </a:p>
            </p:txBody>
          </p:sp>
        </mc:Fallback>
      </mc:AlternateContent>
      <p:sp>
        <p:nvSpPr>
          <p:cNvPr id="4" name="日期占位符 3"/>
          <p:cNvSpPr>
            <a:spLocks noGrp="1"/>
          </p:cNvSpPr>
          <p:nvPr>
            <p:ph type="dt" sz="half" idx="10"/>
          </p:nvPr>
        </p:nvSpPr>
        <p:spPr/>
        <p:txBody>
          <a:bodyPr/>
          <a:lstStyle/>
          <a:p>
            <a:fld id="{6005C323-6203-494D-B3B1-DACA237C8603}" type="datetime1">
              <a:rPr lang="zh-CN" altLang="en-US" smtClean="0"/>
              <a:t>2025/3/14</a:t>
            </a:fld>
            <a:endParaRPr lang="zh-CN" altLang="en-US" dirty="0"/>
          </a:p>
        </p:txBody>
      </p:sp>
      <p:sp>
        <p:nvSpPr>
          <p:cNvPr id="5" name="页脚占位符 4"/>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6" name="灯片编号占位符 5"/>
          <p:cNvSpPr>
            <a:spLocks noGrp="1"/>
          </p:cNvSpPr>
          <p:nvPr>
            <p:ph type="sldNum" sz="quarter" idx="12"/>
          </p:nvPr>
        </p:nvSpPr>
        <p:spPr/>
        <p:txBody>
          <a:bodyPr/>
          <a:lstStyle/>
          <a:p>
            <a:fld id="{67913A8A-9EFB-4B5F-9CCB-3D21173FAA85}" type="slidenum">
              <a:rPr lang="zh-CN" altLang="en-US" smtClean="0"/>
              <a:pPr/>
              <a:t>76</a:t>
            </a:fld>
            <a:endParaRPr lang="zh-CN" altLang="en-US" dirty="0"/>
          </a:p>
        </p:txBody>
      </p:sp>
    </p:spTree>
    <p:extLst>
      <p:ext uri="{BB962C8B-B14F-4D97-AF65-F5344CB8AC3E}">
        <p14:creationId xmlns:p14="http://schemas.microsoft.com/office/powerpoint/2010/main" val="16270977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wipe(down)">
                                      <p:cBhvr>
                                        <p:cTn id="7" dur="500"/>
                                        <p:tgtEl>
                                          <p:spTgt spid="3">
                                            <p:txEl>
                                              <p:pRg st="2" end="2"/>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3">
                                            <p:txEl>
                                              <p:pRg st="3" end="3"/>
                                            </p:txEl>
                                          </p:spTgt>
                                        </p:tgtEl>
                                        <p:attrNameLst>
                                          <p:attrName>style.visibility</p:attrName>
                                        </p:attrNameLst>
                                      </p:cBhvr>
                                      <p:to>
                                        <p:strVal val="visible"/>
                                      </p:to>
                                    </p:set>
                                    <p:animEffect transition="in" filter="wipe(down)">
                                      <p:cBhvr>
                                        <p:cTn id="10" dur="500"/>
                                        <p:tgtEl>
                                          <p:spTgt spid="3">
                                            <p:txEl>
                                              <p:pRg st="3" end="3"/>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animEffect transition="in" filter="wipe(down)">
                                      <p:cBhvr>
                                        <p:cTn id="13" dur="500"/>
                                        <p:tgtEl>
                                          <p:spTgt spid="3">
                                            <p:txEl>
                                              <p:pRg st="4" end="4"/>
                                            </p:txEl>
                                          </p:spTgt>
                                        </p:tgtEl>
                                      </p:cBhvr>
                                    </p:animEffect>
                                  </p:childTnLst>
                                </p:cTn>
                              </p:par>
                              <p:par>
                                <p:cTn id="14" presetID="22" presetClass="entr" presetSubtype="4" fill="hold" nodeType="withEffect">
                                  <p:stCondLst>
                                    <p:cond delay="0"/>
                                  </p:stCondLst>
                                  <p:childTnLst>
                                    <p:set>
                                      <p:cBhvr>
                                        <p:cTn id="15" dur="1" fill="hold">
                                          <p:stCondLst>
                                            <p:cond delay="0"/>
                                          </p:stCondLst>
                                        </p:cTn>
                                        <p:tgtEl>
                                          <p:spTgt spid="3">
                                            <p:txEl>
                                              <p:pRg st="5" end="5"/>
                                            </p:txEl>
                                          </p:spTgt>
                                        </p:tgtEl>
                                        <p:attrNameLst>
                                          <p:attrName>style.visibility</p:attrName>
                                        </p:attrNameLst>
                                      </p:cBhvr>
                                      <p:to>
                                        <p:strVal val="visible"/>
                                      </p:to>
                                    </p:set>
                                    <p:animEffect transition="in" filter="wipe(down)">
                                      <p:cBhvr>
                                        <p:cTn id="16"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沃舍尔算法</a:t>
            </a:r>
            <a:endParaRPr lang="zh-CN" altLang="en-US" dirty="0"/>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normAutofit/>
              </a:bodyPr>
              <a:lstStyle/>
              <a:p>
                <a:r>
                  <a:rPr lang="zh-CN" altLang="en-US" dirty="0" smtClean="0"/>
                  <a:t>前面已经能够求出任何一个关系的传递闭包</a:t>
                </a:r>
                <a:r>
                  <a:rPr lang="en-US" altLang="zh-CN" dirty="0" smtClean="0"/>
                  <a:t>, </a:t>
                </a:r>
                <a:r>
                  <a:rPr lang="zh-CN" altLang="en-US" dirty="0" smtClean="0"/>
                  <a:t>但是并不够高效</a:t>
                </a:r>
                <a:r>
                  <a:rPr lang="en-US" altLang="zh-CN" dirty="0" smtClean="0"/>
                  <a:t>. </a:t>
                </a:r>
                <a:r>
                  <a:rPr lang="zh-CN" altLang="en-US" u="sng" dirty="0" smtClean="0"/>
                  <a:t>史蒂芬</a:t>
                </a:r>
                <a14:m>
                  <m:oMath xmlns:m="http://schemas.openxmlformats.org/officeDocument/2006/math">
                    <m:r>
                      <a:rPr lang="zh-CN" altLang="en-US" i="1" u="sng" smtClean="0">
                        <a:latin typeface="Cambria Math" panose="02040503050406030204" pitchFamily="18" charset="0"/>
                      </a:rPr>
                      <m:t>∙</m:t>
                    </m:r>
                  </m:oMath>
                </a14:m>
                <a:r>
                  <a:rPr lang="zh-CN" altLang="en-US" u="sng" dirty="0"/>
                  <a:t>沃舍</a:t>
                </a:r>
                <a:r>
                  <a:rPr lang="zh-CN" altLang="en-US" u="sng" dirty="0" smtClean="0"/>
                  <a:t>尔</a:t>
                </a:r>
                <a:r>
                  <a:rPr lang="zh-CN" altLang="en-US" dirty="0" smtClean="0"/>
                  <a:t>在</a:t>
                </a:r>
                <a:r>
                  <a:rPr lang="en-US" altLang="zh-CN" dirty="0" smtClean="0"/>
                  <a:t>1960</a:t>
                </a:r>
                <a:r>
                  <a:rPr lang="zh-CN" altLang="en-US" dirty="0" smtClean="0"/>
                  <a:t>年设计了一个</a:t>
                </a:r>
                <a:r>
                  <a:rPr lang="zh-CN" altLang="en-US" b="1" dirty="0">
                    <a:solidFill>
                      <a:srgbClr val="C00000"/>
                    </a:solidFill>
                  </a:rPr>
                  <a:t>沃舍</a:t>
                </a:r>
                <a:r>
                  <a:rPr lang="zh-CN" altLang="en-US" b="1" dirty="0" smtClean="0">
                    <a:solidFill>
                      <a:srgbClr val="C00000"/>
                    </a:solidFill>
                  </a:rPr>
                  <a:t>尔算法</a:t>
                </a:r>
                <a:r>
                  <a:rPr lang="en-US" altLang="zh-CN" dirty="0" smtClean="0"/>
                  <a:t>(</a:t>
                </a:r>
                <a:r>
                  <a:rPr lang="zh-CN" altLang="en-US" dirty="0" smtClean="0"/>
                  <a:t>也叫罗伊</a:t>
                </a:r>
                <a:r>
                  <a:rPr lang="zh-CN" altLang="en-US" dirty="0"/>
                  <a:t>沃舍尔算法</a:t>
                </a:r>
                <a:r>
                  <a:rPr lang="en-US" altLang="zh-CN" dirty="0" smtClean="0"/>
                  <a:t>), </a:t>
                </a:r>
                <a:r>
                  <a:rPr lang="zh-CN" altLang="en-US" dirty="0" smtClean="0"/>
                  <a:t>能够更高效地计算关系的传递闭包</a:t>
                </a:r>
                <a:r>
                  <a:rPr lang="en-US" altLang="zh-CN" dirty="0" smtClean="0"/>
                  <a:t>.</a:t>
                </a:r>
                <a:endParaRPr lang="en-US" altLang="zh-CN"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l="-999" t="-1310"/>
                </a:stretch>
              </a:blipFill>
            </p:spPr>
            <p:txBody>
              <a:bodyPr/>
              <a:lstStyle/>
              <a:p>
                <a:r>
                  <a:rPr lang="zh-CN" altLang="en-US">
                    <a:noFill/>
                  </a:rPr>
                  <a:t> </a:t>
                </a:r>
              </a:p>
            </p:txBody>
          </p:sp>
        </mc:Fallback>
      </mc:AlternateContent>
      <p:sp>
        <p:nvSpPr>
          <p:cNvPr id="4" name="日期占位符 3"/>
          <p:cNvSpPr>
            <a:spLocks noGrp="1"/>
          </p:cNvSpPr>
          <p:nvPr>
            <p:ph type="dt" sz="half" idx="10"/>
          </p:nvPr>
        </p:nvSpPr>
        <p:spPr/>
        <p:txBody>
          <a:bodyPr/>
          <a:lstStyle/>
          <a:p>
            <a:fld id="{D97C3A83-A918-4F9B-94CD-BFED2058D526}" type="datetime1">
              <a:rPr lang="zh-CN" altLang="en-US" smtClean="0"/>
              <a:t>2025/3/14</a:t>
            </a:fld>
            <a:endParaRPr lang="zh-CN" altLang="en-US" dirty="0"/>
          </a:p>
        </p:txBody>
      </p:sp>
      <p:sp>
        <p:nvSpPr>
          <p:cNvPr id="5" name="页脚占位符 4"/>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6" name="灯片编号占位符 5"/>
          <p:cNvSpPr>
            <a:spLocks noGrp="1"/>
          </p:cNvSpPr>
          <p:nvPr>
            <p:ph type="sldNum" sz="quarter" idx="12"/>
          </p:nvPr>
        </p:nvSpPr>
        <p:spPr/>
        <p:txBody>
          <a:bodyPr/>
          <a:lstStyle/>
          <a:p>
            <a:fld id="{67913A8A-9EFB-4B5F-9CCB-3D21173FAA85}" type="slidenum">
              <a:rPr lang="zh-CN" altLang="en-US" smtClean="0"/>
              <a:pPr/>
              <a:t>77</a:t>
            </a:fld>
            <a:endParaRPr lang="zh-CN" altLang="en-US" dirty="0"/>
          </a:p>
        </p:txBody>
      </p:sp>
    </p:spTree>
    <p:extLst>
      <p:ext uri="{BB962C8B-B14F-4D97-AF65-F5344CB8AC3E}">
        <p14:creationId xmlns:p14="http://schemas.microsoft.com/office/powerpoint/2010/main" val="145586700"/>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457200" y="1600200"/>
            <a:ext cx="11277599" cy="4343400"/>
          </a:xfrm>
          <a:prstGeom prst="rect">
            <a:avLst/>
          </a:prstGeom>
          <a:solidFill>
            <a:schemeClr val="accent5">
              <a:lumMod val="40000"/>
              <a:lumOff val="6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zh-CN" altLang="en-US" dirty="0" smtClean="0"/>
              <a:t>沃舍尔算法</a:t>
            </a:r>
            <a:endParaRPr lang="zh-CN" altLang="en-US" dirty="0"/>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normAutofit/>
              </a:bodyPr>
              <a:lstStyle/>
              <a:p>
                <a:r>
                  <a:rPr lang="zh-CN" altLang="en-US" dirty="0" smtClean="0"/>
                  <a:t>沃</a:t>
                </a:r>
                <a:r>
                  <a:rPr lang="zh-CN" altLang="en-US" dirty="0"/>
                  <a:t>舍尔算法的基础是构造一系列的</a:t>
                </a:r>
                <a:r>
                  <a:rPr lang="en-US" altLang="zh-CN" dirty="0"/>
                  <a:t>0-1</a:t>
                </a:r>
                <a:r>
                  <a:rPr lang="zh-CN" altLang="en-US" dirty="0"/>
                  <a:t>矩阵</a:t>
                </a:r>
                <a:r>
                  <a:rPr lang="en-US" altLang="zh-CN" dirty="0"/>
                  <a:t>. </a:t>
                </a:r>
                <a:endParaRPr lang="en-US" altLang="zh-CN" dirty="0" smtClean="0"/>
              </a:p>
              <a:p>
                <a:r>
                  <a:rPr lang="zh-CN" altLang="en-US" dirty="0" smtClean="0"/>
                  <a:t>这些</a:t>
                </a:r>
                <a:r>
                  <a:rPr lang="zh-CN" altLang="en-US" dirty="0"/>
                  <a:t>矩阵是</a:t>
                </a:r>
                <a14:m>
                  <m:oMath xmlns:m="http://schemas.openxmlformats.org/officeDocument/2006/math">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W</m:t>
                        </m:r>
                      </m:e>
                      <m:sub>
                        <m:r>
                          <a:rPr lang="en-US" altLang="zh-CN" i="1">
                            <a:latin typeface="Cambria Math" panose="02040503050406030204" pitchFamily="18" charset="0"/>
                          </a:rPr>
                          <m:t>0</m:t>
                        </m:r>
                      </m:sub>
                    </m:sSub>
                    <m:r>
                      <a:rPr lang="en-US" altLang="zh-CN" i="1">
                        <a:latin typeface="Cambria Math" panose="02040503050406030204" pitchFamily="18" charset="0"/>
                      </a:rPr>
                      <m:t>,</m:t>
                    </m:r>
                  </m:oMath>
                </a14:m>
                <a:r>
                  <a:rPr lang="en-US" altLang="zh-CN" dirty="0"/>
                  <a:t> </a:t>
                </a:r>
                <a14:m>
                  <m:oMath xmlns:m="http://schemas.openxmlformats.org/officeDocument/2006/math">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W</m:t>
                        </m:r>
                      </m:e>
                      <m:sub>
                        <m:r>
                          <a:rPr lang="en-US" altLang="zh-CN" i="1">
                            <a:latin typeface="Cambria Math" panose="02040503050406030204" pitchFamily="18" charset="0"/>
                          </a:rPr>
                          <m:t>1</m:t>
                        </m:r>
                      </m:sub>
                    </m:sSub>
                    <m:r>
                      <a:rPr lang="en-US" altLang="zh-CN" i="1">
                        <a:latin typeface="Cambria Math" panose="02040503050406030204" pitchFamily="18" charset="0"/>
                      </a:rPr>
                      <m:t>, </m:t>
                    </m:r>
                  </m:oMath>
                </a14:m>
                <a:r>
                  <a:rPr lang="en-US" altLang="zh-CN" dirty="0" smtClean="0"/>
                  <a:t>…</a:t>
                </a:r>
                <a14:m>
                  <m:oMath xmlns:m="http://schemas.openxmlformats.org/officeDocument/2006/math">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W</m:t>
                        </m:r>
                      </m:e>
                      <m:sub>
                        <m:r>
                          <a:rPr lang="en-US" altLang="zh-CN" i="1">
                            <a:latin typeface="Cambria Math" panose="02040503050406030204" pitchFamily="18" charset="0"/>
                          </a:rPr>
                          <m:t>𝑛</m:t>
                        </m:r>
                      </m:sub>
                    </m:sSub>
                    <m:r>
                      <a:rPr lang="en-US" altLang="zh-CN" b="0" i="1" smtClean="0">
                        <a:latin typeface="Cambria Math" panose="02040503050406030204" pitchFamily="18" charset="0"/>
                      </a:rPr>
                      <m:t>.</m:t>
                    </m:r>
                  </m:oMath>
                </a14:m>
                <a:endParaRPr lang="en-US" altLang="zh-CN" dirty="0" smtClean="0"/>
              </a:p>
              <a:p>
                <a:r>
                  <a:rPr lang="zh-CN" altLang="en-US" dirty="0"/>
                  <a:t>其中</a:t>
                </a:r>
                <a14:m>
                  <m:oMath xmlns:m="http://schemas.openxmlformats.org/officeDocument/2006/math">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W</m:t>
                        </m:r>
                      </m:e>
                      <m:sub>
                        <m:r>
                          <a:rPr lang="en-US" altLang="zh-CN" i="1">
                            <a:latin typeface="Cambria Math" panose="02040503050406030204" pitchFamily="18" charset="0"/>
                          </a:rPr>
                          <m:t>0</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M</m:t>
                        </m:r>
                      </m:e>
                      <m:sub>
                        <m:r>
                          <a:rPr lang="en-US" altLang="zh-CN" i="1">
                            <a:latin typeface="Cambria Math" panose="02040503050406030204" pitchFamily="18" charset="0"/>
                          </a:rPr>
                          <m:t>𝑅</m:t>
                        </m:r>
                      </m:sub>
                    </m:sSub>
                  </m:oMath>
                </a14:m>
                <a:r>
                  <a:rPr lang="zh-CN" altLang="en-US" dirty="0" smtClean="0"/>
                  <a:t>是关系</a:t>
                </a:r>
                <a:r>
                  <a:rPr lang="en-US" altLang="zh-CN" dirty="0" smtClean="0"/>
                  <a:t>R</a:t>
                </a:r>
                <a:r>
                  <a:rPr lang="zh-CN" altLang="en-US" dirty="0" smtClean="0"/>
                  <a:t>的</a:t>
                </a:r>
                <a:r>
                  <a:rPr lang="en-US" altLang="zh-CN" dirty="0"/>
                  <a:t>0-1</a:t>
                </a:r>
                <a:r>
                  <a:rPr lang="zh-CN" altLang="en-US" dirty="0" smtClean="0"/>
                  <a:t>矩阵</a:t>
                </a:r>
                <a:r>
                  <a:rPr lang="en-US" altLang="zh-CN" dirty="0" smtClean="0"/>
                  <a:t>.</a:t>
                </a:r>
                <a:endParaRPr lang="en-US" altLang="zh-CN" i="1" dirty="0" smtClean="0">
                  <a:latin typeface="Cambria Math" panose="02040503050406030204" pitchFamily="18" charset="0"/>
                </a:endParaRPr>
              </a:p>
              <a:p>
                <a14:m>
                  <m:oMath xmlns:m="http://schemas.openxmlformats.org/officeDocument/2006/math">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W</m:t>
                        </m:r>
                      </m:e>
                      <m:sub>
                        <m:r>
                          <m:rPr>
                            <m:sty m:val="p"/>
                          </m:rPr>
                          <a:rPr lang="en-US" altLang="zh-CN" i="1">
                            <a:latin typeface="Cambria Math" panose="02040503050406030204" pitchFamily="18" charset="0"/>
                          </a:rPr>
                          <m:t>k</m:t>
                        </m:r>
                      </m:sub>
                    </m:sSub>
                    <m:r>
                      <a:rPr lang="en-US" altLang="zh-CN" i="1">
                        <a:latin typeface="Cambria Math" panose="02040503050406030204" pitchFamily="18" charset="0"/>
                      </a:rPr>
                      <m:t>=</m:t>
                    </m:r>
                    <m:d>
                      <m:dPr>
                        <m:begChr m:val="["/>
                        <m:endChr m:val="]"/>
                        <m:ctrlPr>
                          <a:rPr lang="en-US" altLang="zh-CN" i="1">
                            <a:latin typeface="Cambria Math" panose="02040503050406030204" pitchFamily="18" charset="0"/>
                          </a:rPr>
                        </m:ctrlPr>
                      </m:dPr>
                      <m:e>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𝑤</m:t>
                            </m:r>
                          </m:e>
                          <m:sub>
                            <m:r>
                              <a:rPr lang="en-US" altLang="zh-CN" i="1">
                                <a:latin typeface="Cambria Math" panose="02040503050406030204" pitchFamily="18" charset="0"/>
                              </a:rPr>
                              <m:t>𝑖𝑗</m:t>
                            </m:r>
                          </m:sub>
                          <m:sup>
                            <m:d>
                              <m:dPr>
                                <m:ctrlPr>
                                  <a:rPr lang="en-US" altLang="zh-CN" i="1">
                                    <a:latin typeface="Cambria Math" panose="02040503050406030204" pitchFamily="18" charset="0"/>
                                  </a:rPr>
                                </m:ctrlPr>
                              </m:dPr>
                              <m:e>
                                <m:r>
                                  <a:rPr lang="en-US" altLang="zh-CN" i="1">
                                    <a:latin typeface="Cambria Math" panose="02040503050406030204" pitchFamily="18" charset="0"/>
                                  </a:rPr>
                                  <m:t>𝑘</m:t>
                                </m:r>
                              </m:e>
                            </m:d>
                          </m:sup>
                        </m:sSubSup>
                      </m:e>
                    </m:d>
                    <m:r>
                      <a:rPr lang="en-US" altLang="zh-CN" i="1">
                        <a:latin typeface="Cambria Math" panose="02040503050406030204" pitchFamily="18" charset="0"/>
                      </a:rPr>
                      <m:t>.</m:t>
                    </m:r>
                  </m:oMath>
                </a14:m>
                <a:r>
                  <a:rPr lang="en-US" altLang="zh-CN" dirty="0"/>
                  <a:t> </a:t>
                </a:r>
                <a:r>
                  <a:rPr lang="zh-CN" altLang="en-US" dirty="0"/>
                  <a:t>如果存在一条从</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𝑣</m:t>
                        </m:r>
                      </m:e>
                      <m:sub>
                        <m:r>
                          <a:rPr lang="en-US" altLang="zh-CN" i="1">
                            <a:latin typeface="Cambria Math" panose="02040503050406030204" pitchFamily="18" charset="0"/>
                          </a:rPr>
                          <m:t>𝑖</m:t>
                        </m:r>
                      </m:sub>
                    </m:sSub>
                  </m:oMath>
                </a14:m>
                <a:r>
                  <a:rPr lang="zh-CN" altLang="en-US" dirty="0"/>
                  <a:t>到</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𝑣</m:t>
                        </m:r>
                      </m:e>
                      <m:sub>
                        <m:r>
                          <a:rPr lang="en-US" altLang="zh-CN" i="1">
                            <a:latin typeface="Cambria Math" panose="02040503050406030204" pitchFamily="18" charset="0"/>
                          </a:rPr>
                          <m:t>𝑗</m:t>
                        </m:r>
                      </m:sub>
                    </m:sSub>
                  </m:oMath>
                </a14:m>
                <a:r>
                  <a:rPr lang="zh-CN" altLang="en-US" dirty="0"/>
                  <a:t>的路径使得这条路径的所有内部顶点都在集合</a:t>
                </a:r>
                <a:r>
                  <a:rPr lang="en-US" altLang="zh-CN" dirty="0"/>
                  <a:t>{</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𝑣</m:t>
                        </m:r>
                      </m:e>
                      <m:sub>
                        <m:r>
                          <a:rPr lang="en-US" altLang="zh-CN" i="1">
                            <a:latin typeface="Cambria Math" panose="02040503050406030204" pitchFamily="18" charset="0"/>
                          </a:rPr>
                          <m:t>1</m:t>
                        </m:r>
                      </m:sub>
                    </m:sSub>
                  </m:oMath>
                </a14:m>
                <a:r>
                  <a:rPr lang="en-US" altLang="zh-CN" dirty="0"/>
                  <a:t>,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𝑣</m:t>
                        </m:r>
                      </m:e>
                      <m:sub>
                        <m:r>
                          <a:rPr lang="en-US" altLang="zh-CN" i="1">
                            <a:latin typeface="Cambria Math" panose="02040503050406030204" pitchFamily="18" charset="0"/>
                          </a:rPr>
                          <m:t>2</m:t>
                        </m:r>
                      </m:sub>
                    </m:sSub>
                  </m:oMath>
                </a14:m>
                <a:r>
                  <a:rPr lang="en-US" altLang="zh-CN" dirty="0"/>
                  <a:t>,…</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𝑣</m:t>
                        </m:r>
                      </m:e>
                      <m:sub>
                        <m:r>
                          <a:rPr lang="en-US" altLang="zh-CN" i="1">
                            <a:latin typeface="Cambria Math" panose="02040503050406030204" pitchFamily="18" charset="0"/>
                          </a:rPr>
                          <m:t>𝑘</m:t>
                        </m:r>
                      </m:sub>
                    </m:sSub>
                  </m:oMath>
                </a14:m>
                <a:r>
                  <a:rPr lang="en-US" altLang="zh-CN" dirty="0"/>
                  <a:t>}(</a:t>
                </a:r>
                <a:r>
                  <a:rPr lang="zh-CN" altLang="en-US" dirty="0"/>
                  <a:t>表中前</a:t>
                </a:r>
                <a:r>
                  <a:rPr lang="en-US" altLang="zh-CN" dirty="0"/>
                  <a:t>k</a:t>
                </a:r>
                <a:r>
                  <a:rPr lang="zh-CN" altLang="en-US" dirty="0"/>
                  <a:t>个顶点</a:t>
                </a:r>
                <a:r>
                  <a:rPr lang="en-US" altLang="zh-CN" dirty="0"/>
                  <a:t>), </a:t>
                </a:r>
                <a:r>
                  <a:rPr lang="zh-CN" altLang="en-US" dirty="0"/>
                  <a:t>那么</a:t>
                </a:r>
                <a14:m>
                  <m:oMath xmlns:m="http://schemas.openxmlformats.org/officeDocument/2006/math">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𝑤</m:t>
                        </m:r>
                      </m:e>
                      <m:sub>
                        <m:r>
                          <a:rPr lang="en-US" altLang="zh-CN" i="1">
                            <a:latin typeface="Cambria Math" panose="02040503050406030204" pitchFamily="18" charset="0"/>
                          </a:rPr>
                          <m:t>𝑖𝑗</m:t>
                        </m:r>
                      </m:sub>
                      <m:sup>
                        <m:d>
                          <m:dPr>
                            <m:ctrlPr>
                              <a:rPr lang="en-US" altLang="zh-CN" i="1">
                                <a:latin typeface="Cambria Math" panose="02040503050406030204" pitchFamily="18" charset="0"/>
                              </a:rPr>
                            </m:ctrlPr>
                          </m:dPr>
                          <m:e>
                            <m:r>
                              <a:rPr lang="en-US" altLang="zh-CN" i="1">
                                <a:latin typeface="Cambria Math" panose="02040503050406030204" pitchFamily="18" charset="0"/>
                              </a:rPr>
                              <m:t>𝑘</m:t>
                            </m:r>
                          </m:e>
                        </m:d>
                      </m:sup>
                    </m:sSubSup>
                  </m:oMath>
                </a14:m>
                <a:r>
                  <a:rPr lang="en-US" altLang="zh-CN" dirty="0"/>
                  <a:t>=1, </a:t>
                </a:r>
                <a:r>
                  <a:rPr lang="zh-CN" altLang="en-US" dirty="0"/>
                  <a:t>否则为</a:t>
                </a:r>
                <a:r>
                  <a:rPr lang="en-US" altLang="zh-CN" dirty="0" smtClean="0"/>
                  <a:t>0(</a:t>
                </a:r>
                <a:r>
                  <a:rPr lang="zh-CN" altLang="en-US" dirty="0" smtClean="0"/>
                  <a:t>这条路径的起点和终点可能在表中的前</a:t>
                </a:r>
                <a:r>
                  <a:rPr lang="en-US" altLang="zh-CN" dirty="0" smtClean="0"/>
                  <a:t>k</a:t>
                </a:r>
                <a:r>
                  <a:rPr lang="zh-CN" altLang="en-US" dirty="0" smtClean="0"/>
                  <a:t>个顶点的集合之外</a:t>
                </a:r>
                <a:r>
                  <a:rPr lang="en-US" altLang="zh-CN" dirty="0" smtClean="0"/>
                  <a:t>). </a:t>
                </a:r>
              </a:p>
              <a:p>
                <a14:m>
                  <m:oMath xmlns:m="http://schemas.openxmlformats.org/officeDocument/2006/math">
                    <m:r>
                      <a:rPr lang="zh-CN" altLang="en-US" i="1" dirty="0">
                        <a:latin typeface="Cambria Math" panose="02040503050406030204" pitchFamily="18" charset="0"/>
                      </a:rPr>
                      <m:t>注意</m:t>
                    </m:r>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W</m:t>
                        </m:r>
                      </m:e>
                      <m:sub>
                        <m:r>
                          <a:rPr lang="en-US" altLang="zh-CN" i="1">
                            <a:latin typeface="Cambria Math" panose="02040503050406030204" pitchFamily="18" charset="0"/>
                          </a:rPr>
                          <m:t>𝑛</m:t>
                        </m:r>
                      </m:sub>
                    </m:sSub>
                  </m:oMath>
                </a14:m>
                <a:r>
                  <a:rPr lang="en-US" altLang="zh-CN" dirty="0" smtClean="0"/>
                  <a:t>=</a:t>
                </a:r>
                <a14:m>
                  <m:oMath xmlns:m="http://schemas.openxmlformats.org/officeDocument/2006/math">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M</m:t>
                        </m:r>
                      </m:e>
                      <m:sub>
                        <m:sSup>
                          <m:sSupPr>
                            <m:ctrlPr>
                              <a:rPr lang="en-US" altLang="zh-CN" i="1">
                                <a:latin typeface="Cambria Math" panose="02040503050406030204" pitchFamily="18" charset="0"/>
                              </a:rPr>
                            </m:ctrlPr>
                          </m:sSupPr>
                          <m:e>
                            <m:r>
                              <a:rPr lang="en-US" altLang="zh-CN" i="1">
                                <a:latin typeface="Cambria Math" panose="02040503050406030204" pitchFamily="18" charset="0"/>
                              </a:rPr>
                              <m:t>𝑅</m:t>
                            </m:r>
                          </m:e>
                          <m:sup>
                            <m:r>
                              <a:rPr lang="en-US" altLang="zh-CN" i="1">
                                <a:latin typeface="Cambria Math" panose="02040503050406030204" pitchFamily="18" charset="0"/>
                              </a:rPr>
                              <m:t>∗</m:t>
                            </m:r>
                          </m:sup>
                        </m:sSup>
                      </m:sub>
                    </m:sSub>
                    <m:r>
                      <a:rPr lang="zh-CN" altLang="en-US" i="1">
                        <a:latin typeface="Cambria Math" panose="02040503050406030204" pitchFamily="18" charset="0"/>
                      </a:rPr>
                      <m:t>，因为</m:t>
                    </m:r>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M</m:t>
                        </m:r>
                      </m:e>
                      <m:sub>
                        <m:sSup>
                          <m:sSupPr>
                            <m:ctrlPr>
                              <a:rPr lang="en-US" altLang="zh-CN" i="1">
                                <a:latin typeface="Cambria Math" panose="02040503050406030204" pitchFamily="18" charset="0"/>
                              </a:rPr>
                            </m:ctrlPr>
                          </m:sSupPr>
                          <m:e>
                            <m:r>
                              <a:rPr lang="en-US" altLang="zh-CN" i="1">
                                <a:latin typeface="Cambria Math" panose="02040503050406030204" pitchFamily="18" charset="0"/>
                              </a:rPr>
                              <m:t>𝑅</m:t>
                            </m:r>
                          </m:e>
                          <m:sup>
                            <m:r>
                              <a:rPr lang="en-US" altLang="zh-CN" i="1">
                                <a:latin typeface="Cambria Math" panose="02040503050406030204" pitchFamily="18" charset="0"/>
                              </a:rPr>
                              <m:t>∗</m:t>
                            </m:r>
                          </m:sup>
                        </m:sSup>
                      </m:sub>
                    </m:sSub>
                  </m:oMath>
                </a14:m>
                <a:r>
                  <a:rPr lang="zh-CN" altLang="en-US" dirty="0" smtClean="0"/>
                  <a:t>的第</a:t>
                </a:r>
                <a:r>
                  <a:rPr lang="en-US" altLang="zh-CN" dirty="0" smtClean="0"/>
                  <a:t>(</a:t>
                </a:r>
                <a:r>
                  <a:rPr lang="en-US" altLang="zh-CN" dirty="0" err="1" smtClean="0"/>
                  <a:t>i,j</a:t>
                </a:r>
                <a:r>
                  <a:rPr lang="en-US" altLang="zh-CN" dirty="0" smtClean="0"/>
                  <a:t>)</a:t>
                </a:r>
                <a:r>
                  <a:rPr lang="zh-CN" altLang="en-US" dirty="0" smtClean="0"/>
                  <a:t>项是</a:t>
                </a:r>
                <a:r>
                  <a:rPr lang="en-US" altLang="zh-CN" dirty="0" smtClean="0"/>
                  <a:t>1, </a:t>
                </a:r>
                <a:r>
                  <a:rPr lang="zh-CN" altLang="en-US" dirty="0" smtClean="0"/>
                  <a:t>当且仅当存在一条从</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𝑣</m:t>
                        </m:r>
                      </m:e>
                      <m:sub>
                        <m:r>
                          <a:rPr lang="en-US" altLang="zh-CN" i="1">
                            <a:latin typeface="Cambria Math" panose="02040503050406030204" pitchFamily="18" charset="0"/>
                          </a:rPr>
                          <m:t>𝑖</m:t>
                        </m:r>
                      </m:sub>
                    </m:sSub>
                  </m:oMath>
                </a14:m>
                <a:r>
                  <a:rPr lang="zh-CN" altLang="en-US" dirty="0"/>
                  <a:t>到</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𝑣</m:t>
                        </m:r>
                      </m:e>
                      <m:sub>
                        <m:r>
                          <a:rPr lang="en-US" altLang="zh-CN" i="1">
                            <a:latin typeface="Cambria Math" panose="02040503050406030204" pitchFamily="18" charset="0"/>
                          </a:rPr>
                          <m:t>𝑗</m:t>
                        </m:r>
                      </m:sub>
                    </m:sSub>
                  </m:oMath>
                </a14:m>
                <a:r>
                  <a:rPr lang="zh-CN" altLang="en-US" dirty="0" smtClean="0"/>
                  <a:t>的路径</a:t>
                </a:r>
                <a:r>
                  <a:rPr lang="en-US" altLang="zh-CN" dirty="0" smtClean="0"/>
                  <a:t>, </a:t>
                </a:r>
                <a:r>
                  <a:rPr lang="zh-CN" altLang="en-US" dirty="0" smtClean="0"/>
                  <a:t>且全部内部顶点在集合</a:t>
                </a:r>
                <a:r>
                  <a:rPr lang="en-US" altLang="zh-CN" dirty="0"/>
                  <a:t>{</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𝑣</m:t>
                        </m:r>
                      </m:e>
                      <m:sub>
                        <m:r>
                          <a:rPr lang="en-US" altLang="zh-CN" i="1">
                            <a:latin typeface="Cambria Math" panose="02040503050406030204" pitchFamily="18" charset="0"/>
                          </a:rPr>
                          <m:t>1</m:t>
                        </m:r>
                      </m:sub>
                    </m:sSub>
                  </m:oMath>
                </a14:m>
                <a:r>
                  <a:rPr lang="en-US" altLang="zh-CN" dirty="0"/>
                  <a:t>,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𝑣</m:t>
                        </m:r>
                      </m:e>
                      <m:sub>
                        <m:r>
                          <a:rPr lang="en-US" altLang="zh-CN" i="1">
                            <a:latin typeface="Cambria Math" panose="02040503050406030204" pitchFamily="18" charset="0"/>
                          </a:rPr>
                          <m:t>2</m:t>
                        </m:r>
                      </m:sub>
                    </m:sSub>
                  </m:oMath>
                </a14:m>
                <a:r>
                  <a:rPr lang="en-US" altLang="zh-CN" dirty="0"/>
                  <a:t>,…</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𝑣</m:t>
                        </m:r>
                      </m:e>
                      <m:sub>
                        <m:r>
                          <m:rPr>
                            <m:sty m:val="p"/>
                          </m:rPr>
                          <a:rPr lang="en-US" altLang="zh-CN" i="1">
                            <a:latin typeface="Cambria Math" panose="02040503050406030204" pitchFamily="18" charset="0"/>
                          </a:rPr>
                          <m:t>n</m:t>
                        </m:r>
                      </m:sub>
                    </m:sSub>
                  </m:oMath>
                </a14:m>
                <a:r>
                  <a:rPr lang="en-US" altLang="zh-CN" dirty="0" smtClean="0"/>
                  <a:t>}(</a:t>
                </a:r>
                <a:r>
                  <a:rPr lang="zh-CN" altLang="en-US" dirty="0" smtClean="0"/>
                  <a:t>这些是有向图的所有顶点</a:t>
                </a:r>
                <a:r>
                  <a:rPr lang="en-US" altLang="zh-CN" dirty="0" smtClean="0"/>
                  <a:t>)</a:t>
                </a:r>
                <a:r>
                  <a:rPr lang="zh-CN" altLang="en-US" dirty="0" smtClean="0"/>
                  <a:t>中</a:t>
                </a:r>
                <a:r>
                  <a:rPr lang="en-US" altLang="zh-CN" dirty="0" smtClean="0"/>
                  <a:t>.</a:t>
                </a:r>
                <a:endParaRPr lang="en-US" altLang="zh-CN"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l="-999" t="-1310"/>
                </a:stretch>
              </a:blipFill>
            </p:spPr>
            <p:txBody>
              <a:bodyPr/>
              <a:lstStyle/>
              <a:p>
                <a:r>
                  <a:rPr lang="zh-CN" altLang="en-US">
                    <a:noFill/>
                  </a:rPr>
                  <a:t> </a:t>
                </a:r>
              </a:p>
            </p:txBody>
          </p:sp>
        </mc:Fallback>
      </mc:AlternateContent>
      <p:sp>
        <p:nvSpPr>
          <p:cNvPr id="4" name="日期占位符 3"/>
          <p:cNvSpPr>
            <a:spLocks noGrp="1"/>
          </p:cNvSpPr>
          <p:nvPr>
            <p:ph type="dt" sz="half" idx="10"/>
          </p:nvPr>
        </p:nvSpPr>
        <p:spPr/>
        <p:txBody>
          <a:bodyPr/>
          <a:lstStyle/>
          <a:p>
            <a:fld id="{797D111C-A141-4400-9D68-F4FAE0F660EF}" type="datetime1">
              <a:rPr lang="zh-CN" altLang="en-US" smtClean="0"/>
              <a:t>2025/3/14</a:t>
            </a:fld>
            <a:endParaRPr lang="zh-CN" altLang="en-US" dirty="0"/>
          </a:p>
        </p:txBody>
      </p:sp>
      <p:sp>
        <p:nvSpPr>
          <p:cNvPr id="5" name="页脚占位符 4"/>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6" name="灯片编号占位符 5"/>
          <p:cNvSpPr>
            <a:spLocks noGrp="1"/>
          </p:cNvSpPr>
          <p:nvPr>
            <p:ph type="sldNum" sz="quarter" idx="12"/>
          </p:nvPr>
        </p:nvSpPr>
        <p:spPr/>
        <p:txBody>
          <a:bodyPr/>
          <a:lstStyle/>
          <a:p>
            <a:fld id="{67913A8A-9EFB-4B5F-9CCB-3D21173FAA85}" type="slidenum">
              <a:rPr lang="zh-CN" altLang="en-US" smtClean="0"/>
              <a:pPr/>
              <a:t>78</a:t>
            </a:fld>
            <a:endParaRPr lang="zh-CN" altLang="en-US" dirty="0"/>
          </a:p>
        </p:txBody>
      </p:sp>
    </p:spTree>
    <p:extLst>
      <p:ext uri="{BB962C8B-B14F-4D97-AF65-F5344CB8AC3E}">
        <p14:creationId xmlns:p14="http://schemas.microsoft.com/office/powerpoint/2010/main" val="3166781620"/>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沃舍尔算法</a:t>
            </a:r>
            <a:endParaRPr lang="zh-CN" altLang="en-US" dirty="0"/>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normAutofit/>
              </a:bodyPr>
              <a:lstStyle/>
              <a:p>
                <a:r>
                  <a:rPr lang="zh-CN" altLang="en-US" dirty="0" smtClean="0"/>
                  <a:t>例</a:t>
                </a:r>
                <a:r>
                  <a:rPr lang="en-US" altLang="zh-CN" dirty="0" smtClean="0"/>
                  <a:t>:</a:t>
                </a:r>
                <a:r>
                  <a:rPr lang="zh-CN" altLang="en-US" dirty="0" smtClean="0"/>
                  <a:t>设</a:t>
                </a:r>
                <a:r>
                  <a:rPr lang="en-US" altLang="zh-CN" dirty="0" smtClean="0"/>
                  <a:t>R</a:t>
                </a:r>
                <a:r>
                  <a:rPr lang="zh-CN" altLang="en-US" dirty="0" smtClean="0"/>
                  <a:t>是一个关系</a:t>
                </a:r>
                <a:r>
                  <a:rPr lang="en-US" altLang="zh-CN" dirty="0" smtClean="0"/>
                  <a:t>, </a:t>
                </a:r>
                <a:r>
                  <a:rPr lang="zh-CN" altLang="en-US" dirty="0" smtClean="0"/>
                  <a:t>它的有向图如下所示</a:t>
                </a:r>
                <a:r>
                  <a:rPr lang="en-US" altLang="zh-CN" dirty="0" smtClean="0"/>
                  <a:t>, </a:t>
                </a:r>
                <a:r>
                  <a:rPr lang="zh-CN" altLang="en-US" dirty="0" smtClean="0"/>
                  <a:t>设</a:t>
                </a:r>
                <a:r>
                  <a:rPr lang="en-US" altLang="zh-CN" dirty="0" err="1" smtClean="0"/>
                  <a:t>a,b,c,d</a:t>
                </a:r>
                <a:r>
                  <a:rPr lang="zh-CN" altLang="en-US" dirty="0" smtClean="0"/>
                  <a:t>是集合元素的</a:t>
                </a:r>
                <a:r>
                  <a:rPr lang="zh-CN" altLang="en-US" dirty="0"/>
                  <a:t>排列</a:t>
                </a:r>
                <a:r>
                  <a:rPr lang="en-US" altLang="zh-CN" dirty="0" smtClean="0"/>
                  <a:t>. </a:t>
                </a:r>
                <a:r>
                  <a:rPr lang="zh-CN" altLang="en-US" dirty="0" smtClean="0"/>
                  <a:t>求</a:t>
                </a:r>
                <a14:m>
                  <m:oMath xmlns:m="http://schemas.openxmlformats.org/officeDocument/2006/math">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W</m:t>
                        </m:r>
                      </m:e>
                      <m:sub>
                        <m:r>
                          <a:rPr lang="en-US" altLang="zh-CN" i="1">
                            <a:latin typeface="Cambria Math" panose="02040503050406030204" pitchFamily="18" charset="0"/>
                          </a:rPr>
                          <m:t>0</m:t>
                        </m:r>
                      </m:sub>
                    </m:sSub>
                  </m:oMath>
                </a14:m>
                <a:r>
                  <a:rPr lang="zh-CN" altLang="en-US" dirty="0" smtClean="0"/>
                  <a:t>，</a:t>
                </a:r>
                <a14:m>
                  <m:oMath xmlns:m="http://schemas.openxmlformats.org/officeDocument/2006/math">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W</m:t>
                        </m:r>
                      </m:e>
                      <m:sub>
                        <m:r>
                          <a:rPr lang="en-US" altLang="zh-CN" b="0" i="1" smtClean="0">
                            <a:latin typeface="Cambria Math" panose="02040503050406030204" pitchFamily="18" charset="0"/>
                          </a:rPr>
                          <m:t>1</m:t>
                        </m:r>
                      </m:sub>
                    </m:sSub>
                    <m:r>
                      <a:rPr lang="zh-CN" altLang="en-US" i="1">
                        <a:latin typeface="Cambria Math" panose="02040503050406030204" pitchFamily="18" charset="0"/>
                      </a:rPr>
                      <m:t>，</m:t>
                    </m:r>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W</m:t>
                        </m:r>
                      </m:e>
                      <m:sub>
                        <m:r>
                          <a:rPr lang="en-US" altLang="zh-CN" b="0" i="1" smtClean="0">
                            <a:latin typeface="Cambria Math" panose="02040503050406030204" pitchFamily="18" charset="0"/>
                          </a:rPr>
                          <m:t>2</m:t>
                        </m:r>
                      </m:sub>
                    </m:sSub>
                  </m:oMath>
                </a14:m>
                <a:r>
                  <a:rPr lang="zh-CN" altLang="en-US" dirty="0" smtClean="0"/>
                  <a:t>，</a:t>
                </a:r>
                <a14:m>
                  <m:oMath xmlns:m="http://schemas.openxmlformats.org/officeDocument/2006/math">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W</m:t>
                        </m:r>
                      </m:e>
                      <m:sub>
                        <m:r>
                          <a:rPr lang="en-US" altLang="zh-CN" b="0" i="1" smtClean="0">
                            <a:latin typeface="Cambria Math" panose="02040503050406030204" pitchFamily="18" charset="0"/>
                          </a:rPr>
                          <m:t>3</m:t>
                        </m:r>
                      </m:sub>
                    </m:sSub>
                  </m:oMath>
                </a14:m>
                <a:r>
                  <a:rPr lang="zh-CN" altLang="en-US" dirty="0" smtClean="0"/>
                  <a:t>，</a:t>
                </a:r>
                <a14:m>
                  <m:oMath xmlns:m="http://schemas.openxmlformats.org/officeDocument/2006/math">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W</m:t>
                        </m:r>
                      </m:e>
                      <m:sub>
                        <m:r>
                          <a:rPr lang="en-US" altLang="zh-CN" b="0" i="1" smtClean="0">
                            <a:latin typeface="Cambria Math" panose="02040503050406030204" pitchFamily="18" charset="0"/>
                          </a:rPr>
                          <m:t>4</m:t>
                        </m:r>
                      </m:sub>
                    </m:sSub>
                    <m:d>
                      <m:dPr>
                        <m:ctrlPr>
                          <a:rPr lang="en-US" altLang="zh-CN" b="0" i="1" smtClean="0">
                            <a:latin typeface="Cambria Math" panose="02040503050406030204" pitchFamily="18" charset="0"/>
                          </a:rPr>
                        </m:ctrlPr>
                      </m:dPr>
                      <m:e>
                        <m:r>
                          <a:rPr lang="zh-CN" altLang="en-US" i="1">
                            <a:latin typeface="Cambria Math" panose="02040503050406030204" pitchFamily="18" charset="0"/>
                          </a:rPr>
                          <m:t>关系</m:t>
                        </m:r>
                        <m:r>
                          <m:rPr>
                            <m:sty m:val="p"/>
                          </m:rPr>
                          <a:rPr lang="en-US" altLang="zh-CN" i="1" smtClean="0">
                            <a:latin typeface="Cambria Math" panose="02040503050406030204" pitchFamily="18" charset="0"/>
                          </a:rPr>
                          <m:t>R</m:t>
                        </m:r>
                        <m:r>
                          <a:rPr lang="zh-CN" altLang="en-US" i="1">
                            <a:latin typeface="Cambria Math" panose="02040503050406030204" pitchFamily="18" charset="0"/>
                          </a:rPr>
                          <m:t>的</m:t>
                        </m:r>
                        <m:r>
                          <a:rPr lang="zh-CN" altLang="en-US" i="1" smtClean="0">
                            <a:latin typeface="Cambria Math" panose="02040503050406030204" pitchFamily="18" charset="0"/>
                          </a:rPr>
                          <m:t>传递</m:t>
                        </m:r>
                        <m:r>
                          <a:rPr lang="zh-CN" altLang="en-US" i="1">
                            <a:latin typeface="Cambria Math" panose="02040503050406030204" pitchFamily="18" charset="0"/>
                          </a:rPr>
                          <m:t>闭包</m:t>
                        </m:r>
                      </m:e>
                    </m:d>
                    <m:r>
                      <a:rPr lang="en-US" altLang="zh-CN" b="0" i="1" smtClean="0">
                        <a:latin typeface="Cambria Math" panose="02040503050406030204" pitchFamily="18" charset="0"/>
                      </a:rPr>
                      <m:t>.</m:t>
                    </m:r>
                  </m:oMath>
                </a14:m>
                <a:endParaRPr lang="en-US" altLang="zh-CN" b="0" dirty="0" smtClean="0"/>
              </a:p>
              <a:p>
                <a:endParaRPr lang="en-US" altLang="zh-CN" dirty="0"/>
              </a:p>
              <a:p>
                <a:endParaRPr lang="en-US" altLang="zh-CN"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l="-999" t="-1310"/>
                </a:stretch>
              </a:blipFill>
            </p:spPr>
            <p:txBody>
              <a:bodyPr/>
              <a:lstStyle/>
              <a:p>
                <a:r>
                  <a:rPr lang="zh-CN" altLang="en-US">
                    <a:noFill/>
                  </a:rPr>
                  <a:t> </a:t>
                </a:r>
              </a:p>
            </p:txBody>
          </p:sp>
        </mc:Fallback>
      </mc:AlternateContent>
      <p:sp>
        <p:nvSpPr>
          <p:cNvPr id="4" name="日期占位符 3"/>
          <p:cNvSpPr>
            <a:spLocks noGrp="1"/>
          </p:cNvSpPr>
          <p:nvPr>
            <p:ph type="dt" sz="half" idx="10"/>
          </p:nvPr>
        </p:nvSpPr>
        <p:spPr/>
        <p:txBody>
          <a:bodyPr/>
          <a:lstStyle/>
          <a:p>
            <a:fld id="{1F7D79F2-A92C-4A92-A5E3-A48F961A2D6C}" type="datetime1">
              <a:rPr lang="zh-CN" altLang="en-US" smtClean="0"/>
              <a:t>2025/3/14</a:t>
            </a:fld>
            <a:endParaRPr lang="zh-CN" altLang="en-US" dirty="0"/>
          </a:p>
        </p:txBody>
      </p:sp>
      <p:sp>
        <p:nvSpPr>
          <p:cNvPr id="5" name="页脚占位符 4"/>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6" name="灯片编号占位符 5"/>
          <p:cNvSpPr>
            <a:spLocks noGrp="1"/>
          </p:cNvSpPr>
          <p:nvPr>
            <p:ph type="sldNum" sz="quarter" idx="12"/>
          </p:nvPr>
        </p:nvSpPr>
        <p:spPr/>
        <p:txBody>
          <a:bodyPr/>
          <a:lstStyle/>
          <a:p>
            <a:fld id="{67913A8A-9EFB-4B5F-9CCB-3D21173FAA85}" type="slidenum">
              <a:rPr lang="zh-CN" altLang="en-US" smtClean="0"/>
              <a:pPr/>
              <a:t>79</a:t>
            </a:fld>
            <a:endParaRPr lang="zh-CN" altLang="en-US" dirty="0"/>
          </a:p>
        </p:txBody>
      </p:sp>
      <p:pic>
        <p:nvPicPr>
          <p:cNvPr id="7" name="图片 6"/>
          <p:cNvPicPr>
            <a:picLocks noChangeAspect="1"/>
          </p:cNvPicPr>
          <p:nvPr/>
        </p:nvPicPr>
        <p:blipFill>
          <a:blip r:embed="rId3"/>
          <a:stretch>
            <a:fillRect/>
          </a:stretch>
        </p:blipFill>
        <p:spPr>
          <a:xfrm>
            <a:off x="1066800" y="1905000"/>
            <a:ext cx="2863850" cy="2794339"/>
          </a:xfrm>
          <a:prstGeom prst="rect">
            <a:avLst/>
          </a:prstGeom>
        </p:spPr>
      </p:pic>
    </p:spTree>
    <p:extLst>
      <p:ext uri="{BB962C8B-B14F-4D97-AF65-F5344CB8AC3E}">
        <p14:creationId xmlns:p14="http://schemas.microsoft.com/office/powerpoint/2010/main" val="4100680057"/>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沃舍尔算法</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normAutofit lnSpcReduction="10000"/>
              </a:bodyPr>
              <a:lstStyle/>
              <a:p>
                <a:r>
                  <a:rPr lang="zh-CN" altLang="en-US" dirty="0" smtClean="0"/>
                  <a:t>解</a:t>
                </a:r>
                <a:r>
                  <a:rPr lang="en-US" altLang="zh-CN" dirty="0" smtClean="0"/>
                  <a:t>: </a:t>
                </a:r>
                <a:r>
                  <a:rPr lang="zh-CN" altLang="en-US" dirty="0" smtClean="0"/>
                  <a:t>令</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𝑣</m:t>
                        </m:r>
                      </m:e>
                      <m:sub>
                        <m:r>
                          <a:rPr lang="en-US" altLang="zh-CN" i="1">
                            <a:latin typeface="Cambria Math" panose="02040503050406030204" pitchFamily="18" charset="0"/>
                          </a:rPr>
                          <m:t>1</m:t>
                        </m:r>
                      </m:sub>
                    </m:sSub>
                    <m:r>
                      <a:rPr lang="en-US" altLang="zh-CN" i="1">
                        <a:latin typeface="Cambria Math" panose="02040503050406030204" pitchFamily="18" charset="0"/>
                      </a:rPr>
                      <m:t>=</m:t>
                    </m:r>
                  </m:oMath>
                </a14:m>
                <a:r>
                  <a:rPr lang="en-US" altLang="zh-CN" dirty="0" smtClean="0"/>
                  <a:t>a,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𝑣</m:t>
                        </m:r>
                      </m:e>
                      <m:sub>
                        <m:r>
                          <a:rPr lang="en-US" altLang="zh-CN" b="0" i="1" smtClean="0">
                            <a:latin typeface="Cambria Math" panose="02040503050406030204" pitchFamily="18" charset="0"/>
                          </a:rPr>
                          <m:t>2</m:t>
                        </m:r>
                      </m:sub>
                    </m:sSub>
                  </m:oMath>
                </a14:m>
                <a:r>
                  <a:rPr lang="en-US" altLang="zh-CN" dirty="0" smtClean="0"/>
                  <a:t>=b,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𝑣</m:t>
                        </m:r>
                      </m:e>
                      <m:sub>
                        <m:r>
                          <a:rPr lang="en-US" altLang="zh-CN" b="0" i="1" smtClean="0">
                            <a:latin typeface="Cambria Math" panose="02040503050406030204" pitchFamily="18" charset="0"/>
                          </a:rPr>
                          <m:t>3</m:t>
                        </m:r>
                      </m:sub>
                    </m:sSub>
                  </m:oMath>
                </a14:m>
                <a:r>
                  <a:rPr lang="en-US" altLang="zh-CN" dirty="0" smtClean="0"/>
                  <a:t>=c,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𝑣</m:t>
                        </m:r>
                      </m:e>
                      <m:sub>
                        <m:r>
                          <a:rPr lang="en-US" altLang="zh-CN" b="0" i="1" smtClean="0">
                            <a:latin typeface="Cambria Math" panose="02040503050406030204" pitchFamily="18" charset="0"/>
                          </a:rPr>
                          <m:t>4</m:t>
                        </m:r>
                      </m:sub>
                    </m:sSub>
                    <m:r>
                      <a:rPr lang="en-US" altLang="zh-CN" b="0" i="0" smtClean="0">
                        <a:latin typeface="Cambria Math" panose="02040503050406030204" pitchFamily="18" charset="0"/>
                      </a:rPr>
                      <m:t>=</m:t>
                    </m:r>
                    <m:r>
                      <m:rPr>
                        <m:sty m:val="p"/>
                      </m:rPr>
                      <a:rPr lang="en-US" altLang="zh-CN" b="0" i="0" smtClean="0">
                        <a:latin typeface="Cambria Math" panose="02040503050406030204" pitchFamily="18" charset="0"/>
                      </a:rPr>
                      <m:t>d</m:t>
                    </m:r>
                  </m:oMath>
                </a14:m>
                <a:r>
                  <a:rPr lang="en-US" altLang="zh-CN" dirty="0" smtClean="0"/>
                  <a:t>.</a:t>
                </a:r>
              </a:p>
              <a:p>
                <a14:m>
                  <m:oMath xmlns:m="http://schemas.openxmlformats.org/officeDocument/2006/math">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W</m:t>
                        </m:r>
                      </m:e>
                      <m:sub>
                        <m:r>
                          <a:rPr lang="en-US" altLang="zh-CN" i="1">
                            <a:latin typeface="Cambria Math" panose="02040503050406030204" pitchFamily="18" charset="0"/>
                          </a:rPr>
                          <m:t>0</m:t>
                        </m:r>
                      </m:sub>
                    </m:sSub>
                    <m:r>
                      <a:rPr lang="zh-CN" altLang="en-US" i="1">
                        <a:latin typeface="Cambria Math" panose="02040503050406030204" pitchFamily="18" charset="0"/>
                      </a:rPr>
                      <m:t>是</m:t>
                    </m:r>
                  </m:oMath>
                </a14:m>
                <a:r>
                  <a:rPr lang="zh-CN" altLang="en-US" dirty="0" smtClean="0"/>
                  <a:t>这个关系的</a:t>
                </a:r>
                <a:r>
                  <a:rPr lang="en-US" altLang="zh-CN" dirty="0" smtClean="0"/>
                  <a:t>0-1</a:t>
                </a:r>
                <a:r>
                  <a:rPr lang="zh-CN" altLang="en-US" dirty="0" smtClean="0"/>
                  <a:t>矩阵</a:t>
                </a:r>
                <a:r>
                  <a:rPr lang="en-US" altLang="zh-CN" dirty="0" smtClean="0"/>
                  <a:t>, </a:t>
                </a:r>
                <a:r>
                  <a:rPr lang="zh-CN" altLang="en-US" dirty="0" smtClean="0"/>
                  <a:t>所以</a:t>
                </a:r>
                <a14:m>
                  <m:oMath xmlns:m="http://schemas.openxmlformats.org/officeDocument/2006/math">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W</m:t>
                        </m:r>
                      </m:e>
                      <m:sub>
                        <m:r>
                          <a:rPr lang="en-US" altLang="zh-CN" i="1">
                            <a:latin typeface="Cambria Math" panose="02040503050406030204" pitchFamily="18" charset="0"/>
                          </a:rPr>
                          <m:t>0</m:t>
                        </m:r>
                      </m:sub>
                    </m:sSub>
                  </m:oMath>
                </a14:m>
                <a:r>
                  <a:rPr lang="en-US" altLang="zh-CN" dirty="0" smtClean="0"/>
                  <a:t>=</a:t>
                </a:r>
                <a14:m>
                  <m:oMath xmlns:m="http://schemas.openxmlformats.org/officeDocument/2006/math">
                    <m:d>
                      <m:dPr>
                        <m:begChr m:val="["/>
                        <m:endChr m:val="]"/>
                        <m:ctrlPr>
                          <a:rPr lang="en-US" altLang="zh-CN" i="1" smtClean="0">
                            <a:latin typeface="Cambria Math" panose="02040503050406030204" pitchFamily="18" charset="0"/>
                          </a:rPr>
                        </m:ctrlPr>
                      </m:dPr>
                      <m:e>
                        <m:eqArr>
                          <m:eqArrPr>
                            <m:ctrlPr>
                              <a:rPr lang="en-US" altLang="zh-CN" b="0" i="1" smtClean="0">
                                <a:latin typeface="Cambria Math" panose="02040503050406030204" pitchFamily="18" charset="0"/>
                              </a:rPr>
                            </m:ctrlPr>
                          </m:eqArrPr>
                          <m:e>
                            <m:r>
                              <a:rPr lang="en-US" altLang="zh-CN" b="0" i="1" smtClean="0">
                                <a:latin typeface="Cambria Math" panose="02040503050406030204" pitchFamily="18" charset="0"/>
                              </a:rPr>
                              <m:t>0001</m:t>
                            </m:r>
                          </m:e>
                          <m:e>
                            <m:r>
                              <a:rPr lang="en-US" altLang="zh-CN" b="0" i="1" smtClean="0">
                                <a:latin typeface="Cambria Math" panose="02040503050406030204" pitchFamily="18" charset="0"/>
                              </a:rPr>
                              <m:t>1010</m:t>
                            </m:r>
                          </m:e>
                          <m:e>
                            <m:r>
                              <a:rPr lang="en-US" altLang="zh-CN" b="0" i="1" smtClean="0">
                                <a:latin typeface="Cambria Math" panose="02040503050406030204" pitchFamily="18" charset="0"/>
                              </a:rPr>
                              <m:t>1001</m:t>
                            </m:r>
                          </m:e>
                          <m:e>
                            <m:r>
                              <a:rPr lang="en-US" altLang="zh-CN" b="0" i="1" smtClean="0">
                                <a:latin typeface="Cambria Math" panose="02040503050406030204" pitchFamily="18" charset="0"/>
                              </a:rPr>
                              <m:t>0010</m:t>
                            </m:r>
                          </m:e>
                        </m:eqArr>
                      </m:e>
                    </m:d>
                  </m:oMath>
                </a14:m>
                <a:r>
                  <a:rPr lang="en-US" altLang="zh-CN" dirty="0" smtClean="0"/>
                  <a:t> </a:t>
                </a:r>
              </a:p>
              <a:p>
                <a:r>
                  <a:rPr lang="zh-CN" altLang="en-US" dirty="0" smtClean="0"/>
                  <a:t>接下来计算</a:t>
                </a:r>
                <a14:m>
                  <m:oMath xmlns:m="http://schemas.openxmlformats.org/officeDocument/2006/math">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W</m:t>
                        </m:r>
                      </m:e>
                      <m:sub>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oMath>
                </a14:m>
                <a:r>
                  <a:rPr lang="zh-CN" altLang="en-US" dirty="0" smtClean="0"/>
                  <a:t> 如果存在一条从</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𝑣</m:t>
                        </m:r>
                      </m:e>
                      <m:sub>
                        <m:r>
                          <a:rPr lang="en-US" altLang="zh-CN" i="1">
                            <a:latin typeface="Cambria Math" panose="02040503050406030204" pitchFamily="18" charset="0"/>
                          </a:rPr>
                          <m:t>𝑖</m:t>
                        </m:r>
                      </m:sub>
                    </m:sSub>
                  </m:oMath>
                </a14:m>
                <a:r>
                  <a:rPr lang="zh-CN" altLang="en-US" dirty="0"/>
                  <a:t>到</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𝑣</m:t>
                        </m:r>
                      </m:e>
                      <m:sub>
                        <m:r>
                          <a:rPr lang="en-US" altLang="zh-CN" i="1">
                            <a:latin typeface="Cambria Math" panose="02040503050406030204" pitchFamily="18" charset="0"/>
                          </a:rPr>
                          <m:t>𝑗</m:t>
                        </m:r>
                      </m:sub>
                    </m:sSub>
                  </m:oMath>
                </a14:m>
                <a:r>
                  <a:rPr lang="zh-CN" altLang="en-US" dirty="0"/>
                  <a:t>的</a:t>
                </a:r>
                <a:r>
                  <a:rPr lang="zh-CN" altLang="en-US" dirty="0" smtClean="0"/>
                  <a:t>路径且只有</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𝑣</m:t>
                        </m:r>
                      </m:e>
                      <m:sub>
                        <m:r>
                          <a:rPr lang="en-US" altLang="zh-CN" b="0" i="1" smtClean="0">
                            <a:latin typeface="Cambria Math" panose="02040503050406030204" pitchFamily="18" charset="0"/>
                          </a:rPr>
                          <m:t>1</m:t>
                        </m:r>
                      </m:sub>
                    </m:sSub>
                  </m:oMath>
                </a14:m>
                <a:r>
                  <a:rPr lang="en-US" altLang="zh-CN" dirty="0" smtClean="0"/>
                  <a:t>=a</a:t>
                </a:r>
                <a:r>
                  <a:rPr lang="zh-CN" altLang="en-US" dirty="0" smtClean="0"/>
                  <a:t>作为内部顶点的路径</a:t>
                </a:r>
                <a:r>
                  <a:rPr lang="en-US" altLang="zh-CN" dirty="0" smtClean="0"/>
                  <a:t>, </a:t>
                </a:r>
                <a:r>
                  <a:rPr lang="zh-CN" altLang="en-US" dirty="0" smtClean="0"/>
                  <a:t>那么</a:t>
                </a:r>
                <a14:m>
                  <m:oMath xmlns:m="http://schemas.openxmlformats.org/officeDocument/2006/math">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W</m:t>
                        </m:r>
                      </m:e>
                      <m:sub>
                        <m:r>
                          <a:rPr lang="en-US" altLang="zh-CN" i="1">
                            <a:latin typeface="Cambria Math" panose="02040503050406030204" pitchFamily="18" charset="0"/>
                          </a:rPr>
                          <m:t>1</m:t>
                        </m:r>
                      </m:sub>
                    </m:sSub>
                  </m:oMath>
                </a14:m>
                <a:r>
                  <a:rPr lang="zh-CN" altLang="en-US" dirty="0" smtClean="0"/>
                  <a:t>的项</a:t>
                </a:r>
                <a:r>
                  <a:rPr lang="en-US" altLang="zh-CN" dirty="0" smtClean="0"/>
                  <a:t>(</a:t>
                </a:r>
                <a:r>
                  <a:rPr lang="en-US" altLang="zh-CN" dirty="0" err="1" smtClean="0"/>
                  <a:t>i,j</a:t>
                </a:r>
                <a:r>
                  <a:rPr lang="en-US" altLang="zh-CN" dirty="0" smtClean="0"/>
                  <a:t>)</a:t>
                </a:r>
                <a:r>
                  <a:rPr lang="zh-CN" altLang="en-US" dirty="0" smtClean="0"/>
                  <a:t>为</a:t>
                </a:r>
                <a:r>
                  <a:rPr lang="en-US" altLang="zh-CN" dirty="0" smtClean="0"/>
                  <a:t>1. </a:t>
                </a:r>
                <a:r>
                  <a:rPr lang="zh-CN" altLang="en-US" dirty="0" smtClean="0"/>
                  <a:t>因为所有长度为</a:t>
                </a:r>
                <a:r>
                  <a:rPr lang="en-US" altLang="zh-CN" dirty="0" smtClean="0"/>
                  <a:t>1</a:t>
                </a:r>
                <a:r>
                  <a:rPr lang="zh-CN" altLang="en-US" dirty="0" smtClean="0"/>
                  <a:t>的路径没有内部顶点</a:t>
                </a:r>
                <a:r>
                  <a:rPr lang="en-US" altLang="zh-CN" dirty="0" smtClean="0"/>
                  <a:t>, </a:t>
                </a:r>
                <a:r>
                  <a:rPr lang="zh-CN" altLang="en-US" dirty="0" smtClean="0"/>
                  <a:t>所以可以继续使用这些路径</a:t>
                </a:r>
                <a:r>
                  <a:rPr lang="en-US" altLang="zh-CN" dirty="0" smtClean="0"/>
                  <a:t>. </a:t>
                </a:r>
                <a:r>
                  <a:rPr lang="zh-CN" altLang="en-US" dirty="0" smtClean="0"/>
                  <a:t>此外存在</a:t>
                </a:r>
                <a:r>
                  <a:rPr lang="en-US" altLang="zh-CN" dirty="0" err="1" smtClean="0"/>
                  <a:t>b,a,d</a:t>
                </a:r>
                <a:r>
                  <a:rPr lang="en-US" altLang="zh-CN" dirty="0" smtClean="0"/>
                  <a:t>. </a:t>
                </a:r>
                <a:r>
                  <a:rPr lang="zh-CN" altLang="en-US" dirty="0" smtClean="0"/>
                  <a:t>所以</a:t>
                </a:r>
                <a:endParaRPr lang="en-US" altLang="zh-CN" dirty="0" smtClean="0"/>
              </a:p>
              <a:p>
                <a:pPr marL="0" indent="0">
                  <a:buNone/>
                </a:pPr>
                <a14:m>
                  <m:oMath xmlns:m="http://schemas.openxmlformats.org/officeDocument/2006/math">
                    <m:sSub>
                      <m:sSubPr>
                        <m:ctrlPr>
                          <a:rPr lang="en-US" altLang="zh-CN" i="1">
                            <a:latin typeface="Cambria Math" panose="02040503050406030204" pitchFamily="18" charset="0"/>
                          </a:rPr>
                        </m:ctrlPr>
                      </m:sSubPr>
                      <m:e>
                        <m:r>
                          <a:rPr lang="en-US" altLang="zh-CN" b="0" i="1" smtClean="0">
                            <a:latin typeface="Cambria Math" panose="02040503050406030204" pitchFamily="18" charset="0"/>
                          </a:rPr>
                          <m:t>                                                       </m:t>
                        </m:r>
                        <m:r>
                          <m:rPr>
                            <m:sty m:val="p"/>
                          </m:rPr>
                          <a:rPr lang="en-US" altLang="zh-CN" i="1">
                            <a:latin typeface="Cambria Math" panose="02040503050406030204" pitchFamily="18" charset="0"/>
                          </a:rPr>
                          <m:t>W</m:t>
                        </m:r>
                      </m:e>
                      <m:sub>
                        <m:r>
                          <a:rPr lang="en-US" altLang="zh-CN" b="0" i="1" smtClean="0">
                            <a:latin typeface="Cambria Math" panose="02040503050406030204" pitchFamily="18" charset="0"/>
                          </a:rPr>
                          <m:t>1</m:t>
                        </m:r>
                      </m:sub>
                    </m:sSub>
                  </m:oMath>
                </a14:m>
                <a:r>
                  <a:rPr lang="en-US" altLang="zh-CN" dirty="0"/>
                  <a:t>=</a:t>
                </a:r>
                <a14:m>
                  <m:oMath xmlns:m="http://schemas.openxmlformats.org/officeDocument/2006/math">
                    <m:d>
                      <m:dPr>
                        <m:begChr m:val="["/>
                        <m:endChr m:val="]"/>
                        <m:ctrlPr>
                          <a:rPr lang="en-US" altLang="zh-CN" i="1">
                            <a:latin typeface="Cambria Math" panose="02040503050406030204" pitchFamily="18" charset="0"/>
                          </a:rPr>
                        </m:ctrlPr>
                      </m:dPr>
                      <m:e>
                        <m:eqArr>
                          <m:eqArrPr>
                            <m:ctrlPr>
                              <a:rPr lang="en-US" altLang="zh-CN" i="1">
                                <a:latin typeface="Cambria Math" panose="02040503050406030204" pitchFamily="18" charset="0"/>
                              </a:rPr>
                            </m:ctrlPr>
                          </m:eqArrPr>
                          <m:e>
                            <m:r>
                              <a:rPr lang="en-US" altLang="zh-CN" i="1">
                                <a:latin typeface="Cambria Math" panose="02040503050406030204" pitchFamily="18" charset="0"/>
                              </a:rPr>
                              <m:t>0001</m:t>
                            </m:r>
                          </m:e>
                          <m:e>
                            <m:r>
                              <a:rPr lang="en-US" altLang="zh-CN" i="1">
                                <a:latin typeface="Cambria Math" panose="02040503050406030204" pitchFamily="18" charset="0"/>
                              </a:rPr>
                              <m:t>101</m:t>
                            </m:r>
                            <m:r>
                              <a:rPr lang="en-US" altLang="zh-CN" b="0" i="1" smtClean="0">
                                <a:solidFill>
                                  <a:srgbClr val="C00000"/>
                                </a:solidFill>
                                <a:latin typeface="Cambria Math" panose="02040503050406030204" pitchFamily="18" charset="0"/>
                              </a:rPr>
                              <m:t>1</m:t>
                            </m:r>
                          </m:e>
                          <m:e>
                            <m:r>
                              <a:rPr lang="en-US" altLang="zh-CN" i="1">
                                <a:latin typeface="Cambria Math" panose="02040503050406030204" pitchFamily="18" charset="0"/>
                              </a:rPr>
                              <m:t>1001</m:t>
                            </m:r>
                          </m:e>
                          <m:e>
                            <m:r>
                              <a:rPr lang="en-US" altLang="zh-CN" i="1">
                                <a:latin typeface="Cambria Math" panose="02040503050406030204" pitchFamily="18" charset="0"/>
                              </a:rPr>
                              <m:t>0010</m:t>
                            </m:r>
                          </m:e>
                        </m:eqArr>
                      </m:e>
                    </m:d>
                  </m:oMath>
                </a14:m>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l="-999" t="-2143"/>
                </a:stretch>
              </a:blipFill>
            </p:spPr>
            <p:txBody>
              <a:bodyPr/>
              <a:lstStyle/>
              <a:p>
                <a:r>
                  <a:rPr lang="zh-CN" altLang="en-US">
                    <a:noFill/>
                  </a:rPr>
                  <a:t> </a:t>
                </a:r>
              </a:p>
            </p:txBody>
          </p:sp>
        </mc:Fallback>
      </mc:AlternateContent>
      <p:sp>
        <p:nvSpPr>
          <p:cNvPr id="4" name="日期占位符 3"/>
          <p:cNvSpPr>
            <a:spLocks noGrp="1"/>
          </p:cNvSpPr>
          <p:nvPr>
            <p:ph type="dt" sz="half" idx="10"/>
          </p:nvPr>
        </p:nvSpPr>
        <p:spPr/>
        <p:txBody>
          <a:bodyPr/>
          <a:lstStyle/>
          <a:p>
            <a:fld id="{335BC89A-3800-4234-8701-792FA1F23770}" type="datetime1">
              <a:rPr lang="zh-CN" altLang="en-US" smtClean="0"/>
              <a:t>2025/3/14</a:t>
            </a:fld>
            <a:endParaRPr lang="zh-CN" altLang="en-US" dirty="0"/>
          </a:p>
        </p:txBody>
      </p:sp>
      <p:sp>
        <p:nvSpPr>
          <p:cNvPr id="5" name="页脚占位符 4"/>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6" name="灯片编号占位符 5"/>
          <p:cNvSpPr>
            <a:spLocks noGrp="1"/>
          </p:cNvSpPr>
          <p:nvPr>
            <p:ph type="sldNum" sz="quarter" idx="12"/>
          </p:nvPr>
        </p:nvSpPr>
        <p:spPr/>
        <p:txBody>
          <a:bodyPr/>
          <a:lstStyle/>
          <a:p>
            <a:fld id="{67913A8A-9EFB-4B5F-9CCB-3D21173FAA85}" type="slidenum">
              <a:rPr lang="zh-CN" altLang="en-US" smtClean="0"/>
              <a:pPr/>
              <a:t>80</a:t>
            </a:fld>
            <a:endParaRPr lang="zh-CN" altLang="en-US" dirty="0"/>
          </a:p>
        </p:txBody>
      </p:sp>
      <p:pic>
        <p:nvPicPr>
          <p:cNvPr id="7" name="图片 6"/>
          <p:cNvPicPr>
            <a:picLocks noChangeAspect="1"/>
          </p:cNvPicPr>
          <p:nvPr/>
        </p:nvPicPr>
        <p:blipFill>
          <a:blip r:embed="rId3"/>
          <a:stretch>
            <a:fillRect/>
          </a:stretch>
        </p:blipFill>
        <p:spPr>
          <a:xfrm>
            <a:off x="9197976" y="762000"/>
            <a:ext cx="2384425" cy="2326551"/>
          </a:xfrm>
          <a:prstGeom prst="rect">
            <a:avLst/>
          </a:prstGeom>
        </p:spPr>
      </p:pic>
      <p:sp>
        <p:nvSpPr>
          <p:cNvPr id="15" name="任意多边形 14"/>
          <p:cNvSpPr/>
          <p:nvPr/>
        </p:nvSpPr>
        <p:spPr>
          <a:xfrm>
            <a:off x="9362252" y="1081100"/>
            <a:ext cx="1892770" cy="1346011"/>
          </a:xfrm>
          <a:custGeom>
            <a:avLst/>
            <a:gdLst>
              <a:gd name="connsiteX0" fmla="*/ 1892770 w 1892770"/>
              <a:gd name="connsiteY0" fmla="*/ 92944 h 1346011"/>
              <a:gd name="connsiteX1" fmla="*/ 1723437 w 1892770"/>
              <a:gd name="connsiteY1" fmla="*/ 81656 h 1346011"/>
              <a:gd name="connsiteX2" fmla="*/ 1603022 w 1892770"/>
              <a:gd name="connsiteY2" fmla="*/ 77893 h 1346011"/>
              <a:gd name="connsiteX3" fmla="*/ 1068681 w 1892770"/>
              <a:gd name="connsiteY3" fmla="*/ 70367 h 1346011"/>
              <a:gd name="connsiteX4" fmla="*/ 1000948 w 1892770"/>
              <a:gd name="connsiteY4" fmla="*/ 59078 h 1346011"/>
              <a:gd name="connsiteX5" fmla="*/ 955792 w 1892770"/>
              <a:gd name="connsiteY5" fmla="*/ 55315 h 1346011"/>
              <a:gd name="connsiteX6" fmla="*/ 936978 w 1892770"/>
              <a:gd name="connsiteY6" fmla="*/ 51552 h 1346011"/>
              <a:gd name="connsiteX7" fmla="*/ 906874 w 1892770"/>
              <a:gd name="connsiteY7" fmla="*/ 44026 h 1346011"/>
              <a:gd name="connsiteX8" fmla="*/ 873007 w 1892770"/>
              <a:gd name="connsiteY8" fmla="*/ 40263 h 1346011"/>
              <a:gd name="connsiteX9" fmla="*/ 854192 w 1892770"/>
              <a:gd name="connsiteY9" fmla="*/ 36500 h 1346011"/>
              <a:gd name="connsiteX10" fmla="*/ 793985 w 1892770"/>
              <a:gd name="connsiteY10" fmla="*/ 32737 h 1346011"/>
              <a:gd name="connsiteX11" fmla="*/ 763881 w 1892770"/>
              <a:gd name="connsiteY11" fmla="*/ 25211 h 1346011"/>
              <a:gd name="connsiteX12" fmla="*/ 650992 w 1892770"/>
              <a:gd name="connsiteY12" fmla="*/ 17685 h 1346011"/>
              <a:gd name="connsiteX13" fmla="*/ 380059 w 1892770"/>
              <a:gd name="connsiteY13" fmla="*/ 6396 h 1346011"/>
              <a:gd name="connsiteX14" fmla="*/ 334904 w 1892770"/>
              <a:gd name="connsiteY14" fmla="*/ 21448 h 1346011"/>
              <a:gd name="connsiteX15" fmla="*/ 319852 w 1892770"/>
              <a:gd name="connsiteY15" fmla="*/ 36500 h 1346011"/>
              <a:gd name="connsiteX16" fmla="*/ 289748 w 1892770"/>
              <a:gd name="connsiteY16" fmla="*/ 55315 h 1346011"/>
              <a:gd name="connsiteX17" fmla="*/ 274696 w 1892770"/>
              <a:gd name="connsiteY17" fmla="*/ 77893 h 1346011"/>
              <a:gd name="connsiteX18" fmla="*/ 270933 w 1892770"/>
              <a:gd name="connsiteY18" fmla="*/ 89181 h 1346011"/>
              <a:gd name="connsiteX19" fmla="*/ 244592 w 1892770"/>
              <a:gd name="connsiteY19" fmla="*/ 141863 h 1346011"/>
              <a:gd name="connsiteX20" fmla="*/ 240829 w 1892770"/>
              <a:gd name="connsiteY20" fmla="*/ 153152 h 1346011"/>
              <a:gd name="connsiteX21" fmla="*/ 233304 w 1892770"/>
              <a:gd name="connsiteY21" fmla="*/ 171967 h 1346011"/>
              <a:gd name="connsiteX22" fmla="*/ 225778 w 1892770"/>
              <a:gd name="connsiteY22" fmla="*/ 194544 h 1346011"/>
              <a:gd name="connsiteX23" fmla="*/ 222015 w 1892770"/>
              <a:gd name="connsiteY23" fmla="*/ 217122 h 1346011"/>
              <a:gd name="connsiteX24" fmla="*/ 210726 w 1892770"/>
              <a:gd name="connsiteY24" fmla="*/ 250989 h 1346011"/>
              <a:gd name="connsiteX25" fmla="*/ 206963 w 1892770"/>
              <a:gd name="connsiteY25" fmla="*/ 277330 h 1346011"/>
              <a:gd name="connsiteX26" fmla="*/ 195674 w 1892770"/>
              <a:gd name="connsiteY26" fmla="*/ 296144 h 1346011"/>
              <a:gd name="connsiteX27" fmla="*/ 191911 w 1892770"/>
              <a:gd name="connsiteY27" fmla="*/ 307433 h 1346011"/>
              <a:gd name="connsiteX28" fmla="*/ 188148 w 1892770"/>
              <a:gd name="connsiteY28" fmla="*/ 360115 h 1346011"/>
              <a:gd name="connsiteX29" fmla="*/ 180622 w 1892770"/>
              <a:gd name="connsiteY29" fmla="*/ 378930 h 1346011"/>
              <a:gd name="connsiteX30" fmla="*/ 176859 w 1892770"/>
              <a:gd name="connsiteY30" fmla="*/ 401507 h 1346011"/>
              <a:gd name="connsiteX31" fmla="*/ 169333 w 1892770"/>
              <a:gd name="connsiteY31" fmla="*/ 484293 h 1346011"/>
              <a:gd name="connsiteX32" fmla="*/ 154281 w 1892770"/>
              <a:gd name="connsiteY32" fmla="*/ 552026 h 1346011"/>
              <a:gd name="connsiteX33" fmla="*/ 150518 w 1892770"/>
              <a:gd name="connsiteY33" fmla="*/ 600944 h 1346011"/>
              <a:gd name="connsiteX34" fmla="*/ 142992 w 1892770"/>
              <a:gd name="connsiteY34" fmla="*/ 619759 h 1346011"/>
              <a:gd name="connsiteX35" fmla="*/ 139229 w 1892770"/>
              <a:gd name="connsiteY35" fmla="*/ 664915 h 1346011"/>
              <a:gd name="connsiteX36" fmla="*/ 135467 w 1892770"/>
              <a:gd name="connsiteY36" fmla="*/ 695019 h 1346011"/>
              <a:gd name="connsiteX37" fmla="*/ 131704 w 1892770"/>
              <a:gd name="connsiteY37" fmla="*/ 758989 h 1346011"/>
              <a:gd name="connsiteX38" fmla="*/ 127941 w 1892770"/>
              <a:gd name="connsiteY38" fmla="*/ 789093 h 1346011"/>
              <a:gd name="connsiteX39" fmla="*/ 120415 w 1892770"/>
              <a:gd name="connsiteY39" fmla="*/ 834248 h 1346011"/>
              <a:gd name="connsiteX40" fmla="*/ 116652 w 1892770"/>
              <a:gd name="connsiteY40" fmla="*/ 883167 h 1346011"/>
              <a:gd name="connsiteX41" fmla="*/ 105363 w 1892770"/>
              <a:gd name="connsiteY41" fmla="*/ 920796 h 1346011"/>
              <a:gd name="connsiteX42" fmla="*/ 90311 w 1892770"/>
              <a:gd name="connsiteY42" fmla="*/ 1014870 h 1346011"/>
              <a:gd name="connsiteX43" fmla="*/ 86548 w 1892770"/>
              <a:gd name="connsiteY43" fmla="*/ 1033685 h 1346011"/>
              <a:gd name="connsiteX44" fmla="*/ 82785 w 1892770"/>
              <a:gd name="connsiteY44" fmla="*/ 1093893 h 1346011"/>
              <a:gd name="connsiteX45" fmla="*/ 75259 w 1892770"/>
              <a:gd name="connsiteY45" fmla="*/ 1112707 h 1346011"/>
              <a:gd name="connsiteX46" fmla="*/ 67733 w 1892770"/>
              <a:gd name="connsiteY46" fmla="*/ 1157863 h 1346011"/>
              <a:gd name="connsiteX47" fmla="*/ 52681 w 1892770"/>
              <a:gd name="connsiteY47" fmla="*/ 1195493 h 1346011"/>
              <a:gd name="connsiteX48" fmla="*/ 41392 w 1892770"/>
              <a:gd name="connsiteY48" fmla="*/ 1210544 h 1346011"/>
              <a:gd name="connsiteX49" fmla="*/ 33867 w 1892770"/>
              <a:gd name="connsiteY49" fmla="*/ 1244411 h 1346011"/>
              <a:gd name="connsiteX50" fmla="*/ 30104 w 1892770"/>
              <a:gd name="connsiteY50" fmla="*/ 1255700 h 1346011"/>
              <a:gd name="connsiteX51" fmla="*/ 22578 w 1892770"/>
              <a:gd name="connsiteY51" fmla="*/ 1282041 h 1346011"/>
              <a:gd name="connsiteX52" fmla="*/ 15052 w 1892770"/>
              <a:gd name="connsiteY52" fmla="*/ 1293330 h 1346011"/>
              <a:gd name="connsiteX53" fmla="*/ 7526 w 1892770"/>
              <a:gd name="connsiteY53" fmla="*/ 1330959 h 1346011"/>
              <a:gd name="connsiteX54" fmla="*/ 0 w 1892770"/>
              <a:gd name="connsiteY54" fmla="*/ 1346011 h 1346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1892770" h="1346011">
                <a:moveTo>
                  <a:pt x="1892770" y="92944"/>
                </a:moveTo>
                <a:cubicBezTo>
                  <a:pt x="1817331" y="74086"/>
                  <a:pt x="1874332" y="86030"/>
                  <a:pt x="1723437" y="81656"/>
                </a:cubicBezTo>
                <a:lnTo>
                  <a:pt x="1603022" y="77893"/>
                </a:lnTo>
                <a:cubicBezTo>
                  <a:pt x="1419178" y="31932"/>
                  <a:pt x="1621905" y="81358"/>
                  <a:pt x="1068681" y="70367"/>
                </a:cubicBezTo>
                <a:cubicBezTo>
                  <a:pt x="1013112" y="69263"/>
                  <a:pt x="1036068" y="63210"/>
                  <a:pt x="1000948" y="59078"/>
                </a:cubicBezTo>
                <a:cubicBezTo>
                  <a:pt x="985947" y="57313"/>
                  <a:pt x="970844" y="56569"/>
                  <a:pt x="955792" y="55315"/>
                </a:cubicBezTo>
                <a:cubicBezTo>
                  <a:pt x="949521" y="54061"/>
                  <a:pt x="943210" y="52990"/>
                  <a:pt x="936978" y="51552"/>
                </a:cubicBezTo>
                <a:cubicBezTo>
                  <a:pt x="926899" y="49226"/>
                  <a:pt x="917060" y="45824"/>
                  <a:pt x="906874" y="44026"/>
                </a:cubicBezTo>
                <a:cubicBezTo>
                  <a:pt x="895688" y="42052"/>
                  <a:pt x="884251" y="41869"/>
                  <a:pt x="873007" y="40263"/>
                </a:cubicBezTo>
                <a:cubicBezTo>
                  <a:pt x="866675" y="39358"/>
                  <a:pt x="860559" y="37106"/>
                  <a:pt x="854192" y="36500"/>
                </a:cubicBezTo>
                <a:cubicBezTo>
                  <a:pt x="834174" y="34594"/>
                  <a:pt x="814054" y="33991"/>
                  <a:pt x="793985" y="32737"/>
                </a:cubicBezTo>
                <a:cubicBezTo>
                  <a:pt x="783950" y="30228"/>
                  <a:pt x="774130" y="26609"/>
                  <a:pt x="763881" y="25211"/>
                </a:cubicBezTo>
                <a:cubicBezTo>
                  <a:pt x="755087" y="24012"/>
                  <a:pt x="655733" y="17981"/>
                  <a:pt x="650992" y="17685"/>
                </a:cubicBezTo>
                <a:cubicBezTo>
                  <a:pt x="511763" y="-10161"/>
                  <a:pt x="601311" y="2141"/>
                  <a:pt x="380059" y="6396"/>
                </a:cubicBezTo>
                <a:cubicBezTo>
                  <a:pt x="366918" y="9681"/>
                  <a:pt x="347056" y="12334"/>
                  <a:pt x="334904" y="21448"/>
                </a:cubicBezTo>
                <a:cubicBezTo>
                  <a:pt x="329228" y="25705"/>
                  <a:pt x="325192" y="31828"/>
                  <a:pt x="319852" y="36500"/>
                </a:cubicBezTo>
                <a:cubicBezTo>
                  <a:pt x="306826" y="47898"/>
                  <a:pt x="304584" y="47897"/>
                  <a:pt x="289748" y="55315"/>
                </a:cubicBezTo>
                <a:cubicBezTo>
                  <a:pt x="284731" y="62841"/>
                  <a:pt x="277557" y="69312"/>
                  <a:pt x="274696" y="77893"/>
                </a:cubicBezTo>
                <a:cubicBezTo>
                  <a:pt x="273442" y="81656"/>
                  <a:pt x="272859" y="85714"/>
                  <a:pt x="270933" y="89181"/>
                </a:cubicBezTo>
                <a:cubicBezTo>
                  <a:pt x="244378" y="136978"/>
                  <a:pt x="265642" y="83974"/>
                  <a:pt x="244592" y="141863"/>
                </a:cubicBezTo>
                <a:cubicBezTo>
                  <a:pt x="243236" y="145591"/>
                  <a:pt x="242222" y="149438"/>
                  <a:pt x="240829" y="153152"/>
                </a:cubicBezTo>
                <a:cubicBezTo>
                  <a:pt x="238457" y="159477"/>
                  <a:pt x="235612" y="165619"/>
                  <a:pt x="233304" y="171967"/>
                </a:cubicBezTo>
                <a:cubicBezTo>
                  <a:pt x="230593" y="179422"/>
                  <a:pt x="225778" y="194544"/>
                  <a:pt x="225778" y="194544"/>
                </a:cubicBezTo>
                <a:cubicBezTo>
                  <a:pt x="224524" y="202070"/>
                  <a:pt x="224023" y="209761"/>
                  <a:pt x="222015" y="217122"/>
                </a:cubicBezTo>
                <a:cubicBezTo>
                  <a:pt x="212329" y="252639"/>
                  <a:pt x="216311" y="220273"/>
                  <a:pt x="210726" y="250989"/>
                </a:cubicBezTo>
                <a:cubicBezTo>
                  <a:pt x="209139" y="259715"/>
                  <a:pt x="209768" y="268916"/>
                  <a:pt x="206963" y="277330"/>
                </a:cubicBezTo>
                <a:cubicBezTo>
                  <a:pt x="204650" y="284268"/>
                  <a:pt x="198945" y="289602"/>
                  <a:pt x="195674" y="296144"/>
                </a:cubicBezTo>
                <a:cubicBezTo>
                  <a:pt x="193900" y="299692"/>
                  <a:pt x="193165" y="303670"/>
                  <a:pt x="191911" y="307433"/>
                </a:cubicBezTo>
                <a:cubicBezTo>
                  <a:pt x="190657" y="324994"/>
                  <a:pt x="190894" y="342725"/>
                  <a:pt x="188148" y="360115"/>
                </a:cubicBezTo>
                <a:cubicBezTo>
                  <a:pt x="187095" y="366787"/>
                  <a:pt x="182399" y="372413"/>
                  <a:pt x="180622" y="378930"/>
                </a:cubicBezTo>
                <a:cubicBezTo>
                  <a:pt x="178615" y="386291"/>
                  <a:pt x="178113" y="393981"/>
                  <a:pt x="176859" y="401507"/>
                </a:cubicBezTo>
                <a:cubicBezTo>
                  <a:pt x="175432" y="420053"/>
                  <a:pt x="172674" y="463131"/>
                  <a:pt x="169333" y="484293"/>
                </a:cubicBezTo>
                <a:cubicBezTo>
                  <a:pt x="165239" y="510224"/>
                  <a:pt x="160494" y="527173"/>
                  <a:pt x="154281" y="552026"/>
                </a:cubicBezTo>
                <a:cubicBezTo>
                  <a:pt x="153027" y="568332"/>
                  <a:pt x="153207" y="584812"/>
                  <a:pt x="150518" y="600944"/>
                </a:cubicBezTo>
                <a:cubicBezTo>
                  <a:pt x="149408" y="607607"/>
                  <a:pt x="144166" y="613107"/>
                  <a:pt x="142992" y="619759"/>
                </a:cubicBezTo>
                <a:cubicBezTo>
                  <a:pt x="140367" y="634633"/>
                  <a:pt x="140732" y="649886"/>
                  <a:pt x="139229" y="664915"/>
                </a:cubicBezTo>
                <a:cubicBezTo>
                  <a:pt x="138223" y="674978"/>
                  <a:pt x="136721" y="684984"/>
                  <a:pt x="135467" y="695019"/>
                </a:cubicBezTo>
                <a:cubicBezTo>
                  <a:pt x="134213" y="716342"/>
                  <a:pt x="133407" y="737697"/>
                  <a:pt x="131704" y="758989"/>
                </a:cubicBezTo>
                <a:cubicBezTo>
                  <a:pt x="130898" y="769070"/>
                  <a:pt x="129278" y="779069"/>
                  <a:pt x="127941" y="789093"/>
                </a:cubicBezTo>
                <a:cubicBezTo>
                  <a:pt x="124207" y="817096"/>
                  <a:pt x="125244" y="810103"/>
                  <a:pt x="120415" y="834248"/>
                </a:cubicBezTo>
                <a:cubicBezTo>
                  <a:pt x="119161" y="850554"/>
                  <a:pt x="119078" y="866993"/>
                  <a:pt x="116652" y="883167"/>
                </a:cubicBezTo>
                <a:cubicBezTo>
                  <a:pt x="115477" y="890997"/>
                  <a:pt x="108781" y="910541"/>
                  <a:pt x="105363" y="920796"/>
                </a:cubicBezTo>
                <a:cubicBezTo>
                  <a:pt x="99511" y="973468"/>
                  <a:pt x="103396" y="946175"/>
                  <a:pt x="90311" y="1014870"/>
                </a:cubicBezTo>
                <a:cubicBezTo>
                  <a:pt x="89114" y="1021153"/>
                  <a:pt x="86548" y="1033685"/>
                  <a:pt x="86548" y="1033685"/>
                </a:cubicBezTo>
                <a:cubicBezTo>
                  <a:pt x="85294" y="1053754"/>
                  <a:pt x="85629" y="1073987"/>
                  <a:pt x="82785" y="1093893"/>
                </a:cubicBezTo>
                <a:cubicBezTo>
                  <a:pt x="81830" y="1100580"/>
                  <a:pt x="76806" y="1106132"/>
                  <a:pt x="75259" y="1112707"/>
                </a:cubicBezTo>
                <a:cubicBezTo>
                  <a:pt x="71764" y="1127561"/>
                  <a:pt x="72559" y="1143386"/>
                  <a:pt x="67733" y="1157863"/>
                </a:cubicBezTo>
                <a:cubicBezTo>
                  <a:pt x="62908" y="1172338"/>
                  <a:pt x="60591" y="1182838"/>
                  <a:pt x="52681" y="1195493"/>
                </a:cubicBezTo>
                <a:cubicBezTo>
                  <a:pt x="49357" y="1200811"/>
                  <a:pt x="45155" y="1205527"/>
                  <a:pt x="41392" y="1210544"/>
                </a:cubicBezTo>
                <a:cubicBezTo>
                  <a:pt x="38808" y="1223463"/>
                  <a:pt x="37406" y="1232022"/>
                  <a:pt x="33867" y="1244411"/>
                </a:cubicBezTo>
                <a:cubicBezTo>
                  <a:pt x="32777" y="1248225"/>
                  <a:pt x="31194" y="1251886"/>
                  <a:pt x="30104" y="1255700"/>
                </a:cubicBezTo>
                <a:cubicBezTo>
                  <a:pt x="28496" y="1261326"/>
                  <a:pt x="25585" y="1276026"/>
                  <a:pt x="22578" y="1282041"/>
                </a:cubicBezTo>
                <a:cubicBezTo>
                  <a:pt x="20555" y="1286086"/>
                  <a:pt x="17561" y="1289567"/>
                  <a:pt x="15052" y="1293330"/>
                </a:cubicBezTo>
                <a:cubicBezTo>
                  <a:pt x="12826" y="1308911"/>
                  <a:pt x="13155" y="1317824"/>
                  <a:pt x="7526" y="1330959"/>
                </a:cubicBezTo>
                <a:cubicBezTo>
                  <a:pt x="5316" y="1336115"/>
                  <a:pt x="0" y="1346011"/>
                  <a:pt x="0" y="1346011"/>
                </a:cubicBezTo>
              </a:path>
            </a:pathLst>
          </a:custGeom>
        </p:spPr>
        <p:style>
          <a:lnRef idx="3">
            <a:schemeClr val="accent2"/>
          </a:lnRef>
          <a:fillRef idx="0">
            <a:schemeClr val="accent2"/>
          </a:fillRef>
          <a:effectRef idx="2">
            <a:schemeClr val="accent2"/>
          </a:effectRef>
          <a:fontRef idx="minor">
            <a:schemeClr val="tx1"/>
          </a:fontRef>
        </p:style>
        <p:txBody>
          <a:bodyPr rtlCol="0" anchor="ctr"/>
          <a:lstStyle/>
          <a:p>
            <a:pPr algn="ctr"/>
            <a:endParaRPr lang="zh-CN" altLang="en-US"/>
          </a:p>
        </p:txBody>
      </p:sp>
      <p:sp>
        <p:nvSpPr>
          <p:cNvPr id="16" name="任意多边形 15"/>
          <p:cNvSpPr/>
          <p:nvPr/>
        </p:nvSpPr>
        <p:spPr>
          <a:xfrm>
            <a:off x="9794901" y="1339615"/>
            <a:ext cx="1377336" cy="1031052"/>
          </a:xfrm>
          <a:custGeom>
            <a:avLst/>
            <a:gdLst>
              <a:gd name="connsiteX0" fmla="*/ 1377336 w 1377336"/>
              <a:gd name="connsiteY0" fmla="*/ 1031052 h 1031052"/>
              <a:gd name="connsiteX1" fmla="*/ 1358521 w 1377336"/>
              <a:gd name="connsiteY1" fmla="*/ 1008474 h 1031052"/>
              <a:gd name="connsiteX2" fmla="*/ 1343469 w 1377336"/>
              <a:gd name="connsiteY2" fmla="*/ 1000948 h 1031052"/>
              <a:gd name="connsiteX3" fmla="*/ 1328418 w 1377336"/>
              <a:gd name="connsiteY3" fmla="*/ 989659 h 1031052"/>
              <a:gd name="connsiteX4" fmla="*/ 1317129 w 1377336"/>
              <a:gd name="connsiteY4" fmla="*/ 982133 h 1031052"/>
              <a:gd name="connsiteX5" fmla="*/ 1302077 w 1377336"/>
              <a:gd name="connsiteY5" fmla="*/ 967081 h 1031052"/>
              <a:gd name="connsiteX6" fmla="*/ 1287025 w 1377336"/>
              <a:gd name="connsiteY6" fmla="*/ 955792 h 1031052"/>
              <a:gd name="connsiteX7" fmla="*/ 1275736 w 1377336"/>
              <a:gd name="connsiteY7" fmla="*/ 944504 h 1031052"/>
              <a:gd name="connsiteX8" fmla="*/ 1268210 w 1377336"/>
              <a:gd name="connsiteY8" fmla="*/ 933215 h 1031052"/>
              <a:gd name="connsiteX9" fmla="*/ 1253158 w 1377336"/>
              <a:gd name="connsiteY9" fmla="*/ 925689 h 1031052"/>
              <a:gd name="connsiteX10" fmla="*/ 1234343 w 1377336"/>
              <a:gd name="connsiteY10" fmla="*/ 895585 h 1031052"/>
              <a:gd name="connsiteX11" fmla="*/ 1223055 w 1377336"/>
              <a:gd name="connsiteY11" fmla="*/ 884296 h 1031052"/>
              <a:gd name="connsiteX12" fmla="*/ 1204240 w 1377336"/>
              <a:gd name="connsiteY12" fmla="*/ 865481 h 1031052"/>
              <a:gd name="connsiteX13" fmla="*/ 1185425 w 1377336"/>
              <a:gd name="connsiteY13" fmla="*/ 839141 h 1031052"/>
              <a:gd name="connsiteX14" fmla="*/ 1162847 w 1377336"/>
              <a:gd name="connsiteY14" fmla="*/ 809037 h 1031052"/>
              <a:gd name="connsiteX15" fmla="*/ 1140269 w 1377336"/>
              <a:gd name="connsiteY15" fmla="*/ 786459 h 1031052"/>
              <a:gd name="connsiteX16" fmla="*/ 1128980 w 1377336"/>
              <a:gd name="connsiteY16" fmla="*/ 771407 h 1031052"/>
              <a:gd name="connsiteX17" fmla="*/ 1110166 w 1377336"/>
              <a:gd name="connsiteY17" fmla="*/ 756355 h 1031052"/>
              <a:gd name="connsiteX18" fmla="*/ 1083825 w 1377336"/>
              <a:gd name="connsiteY18" fmla="*/ 730015 h 1031052"/>
              <a:gd name="connsiteX19" fmla="*/ 1072536 w 1377336"/>
              <a:gd name="connsiteY19" fmla="*/ 714963 h 1031052"/>
              <a:gd name="connsiteX20" fmla="*/ 1049958 w 1377336"/>
              <a:gd name="connsiteY20" fmla="*/ 703674 h 1031052"/>
              <a:gd name="connsiteX21" fmla="*/ 1038669 w 1377336"/>
              <a:gd name="connsiteY21" fmla="*/ 692385 h 1031052"/>
              <a:gd name="connsiteX22" fmla="*/ 1016092 w 1377336"/>
              <a:gd name="connsiteY22" fmla="*/ 673570 h 1031052"/>
              <a:gd name="connsiteX23" fmla="*/ 1004803 w 1377336"/>
              <a:gd name="connsiteY23" fmla="*/ 666044 h 1031052"/>
              <a:gd name="connsiteX24" fmla="*/ 974699 w 1377336"/>
              <a:gd name="connsiteY24" fmla="*/ 635941 h 1031052"/>
              <a:gd name="connsiteX25" fmla="*/ 955884 w 1377336"/>
              <a:gd name="connsiteY25" fmla="*/ 620889 h 1031052"/>
              <a:gd name="connsiteX26" fmla="*/ 933306 w 1377336"/>
              <a:gd name="connsiteY26" fmla="*/ 602074 h 1031052"/>
              <a:gd name="connsiteX27" fmla="*/ 903203 w 1377336"/>
              <a:gd name="connsiteY27" fmla="*/ 579496 h 1031052"/>
              <a:gd name="connsiteX28" fmla="*/ 888151 w 1377336"/>
              <a:gd name="connsiteY28" fmla="*/ 564444 h 1031052"/>
              <a:gd name="connsiteX29" fmla="*/ 858047 w 1377336"/>
              <a:gd name="connsiteY29" fmla="*/ 545629 h 1031052"/>
              <a:gd name="connsiteX30" fmla="*/ 846758 w 1377336"/>
              <a:gd name="connsiteY30" fmla="*/ 534341 h 1031052"/>
              <a:gd name="connsiteX31" fmla="*/ 835469 w 1377336"/>
              <a:gd name="connsiteY31" fmla="*/ 526815 h 1031052"/>
              <a:gd name="connsiteX32" fmla="*/ 797840 w 1377336"/>
              <a:gd name="connsiteY32" fmla="*/ 500474 h 1031052"/>
              <a:gd name="connsiteX33" fmla="*/ 786551 w 1377336"/>
              <a:gd name="connsiteY33" fmla="*/ 496711 h 1031052"/>
              <a:gd name="connsiteX34" fmla="*/ 775262 w 1377336"/>
              <a:gd name="connsiteY34" fmla="*/ 485422 h 1031052"/>
              <a:gd name="connsiteX35" fmla="*/ 763973 w 1377336"/>
              <a:gd name="connsiteY35" fmla="*/ 470370 h 1031052"/>
              <a:gd name="connsiteX36" fmla="*/ 752684 w 1377336"/>
              <a:gd name="connsiteY36" fmla="*/ 466607 h 1031052"/>
              <a:gd name="connsiteX37" fmla="*/ 718818 w 1377336"/>
              <a:gd name="connsiteY37" fmla="*/ 436504 h 1031052"/>
              <a:gd name="connsiteX38" fmla="*/ 703766 w 1377336"/>
              <a:gd name="connsiteY38" fmla="*/ 428978 h 1031052"/>
              <a:gd name="connsiteX39" fmla="*/ 692477 w 1377336"/>
              <a:gd name="connsiteY39" fmla="*/ 417689 h 1031052"/>
              <a:gd name="connsiteX40" fmla="*/ 681188 w 1377336"/>
              <a:gd name="connsiteY40" fmla="*/ 410163 h 1031052"/>
              <a:gd name="connsiteX41" fmla="*/ 666136 w 1377336"/>
              <a:gd name="connsiteY41" fmla="*/ 398874 h 1031052"/>
              <a:gd name="connsiteX42" fmla="*/ 654847 w 1377336"/>
              <a:gd name="connsiteY42" fmla="*/ 391348 h 1031052"/>
              <a:gd name="connsiteX43" fmla="*/ 639795 w 1377336"/>
              <a:gd name="connsiteY43" fmla="*/ 376296 h 1031052"/>
              <a:gd name="connsiteX44" fmla="*/ 617218 w 1377336"/>
              <a:gd name="connsiteY44" fmla="*/ 365007 h 1031052"/>
              <a:gd name="connsiteX45" fmla="*/ 605929 w 1377336"/>
              <a:gd name="connsiteY45" fmla="*/ 353718 h 1031052"/>
              <a:gd name="connsiteX46" fmla="*/ 579588 w 1377336"/>
              <a:gd name="connsiteY46" fmla="*/ 338666 h 1031052"/>
              <a:gd name="connsiteX47" fmla="*/ 564536 w 1377336"/>
              <a:gd name="connsiteY47" fmla="*/ 327378 h 1031052"/>
              <a:gd name="connsiteX48" fmla="*/ 541958 w 1377336"/>
              <a:gd name="connsiteY48" fmla="*/ 312326 h 1031052"/>
              <a:gd name="connsiteX49" fmla="*/ 530669 w 1377336"/>
              <a:gd name="connsiteY49" fmla="*/ 301037 h 1031052"/>
              <a:gd name="connsiteX50" fmla="*/ 493040 w 1377336"/>
              <a:gd name="connsiteY50" fmla="*/ 278459 h 1031052"/>
              <a:gd name="connsiteX51" fmla="*/ 462936 w 1377336"/>
              <a:gd name="connsiteY51" fmla="*/ 263407 h 1031052"/>
              <a:gd name="connsiteX52" fmla="*/ 447884 w 1377336"/>
              <a:gd name="connsiteY52" fmla="*/ 255881 h 1031052"/>
              <a:gd name="connsiteX53" fmla="*/ 432832 w 1377336"/>
              <a:gd name="connsiteY53" fmla="*/ 252118 h 1031052"/>
              <a:gd name="connsiteX54" fmla="*/ 421543 w 1377336"/>
              <a:gd name="connsiteY54" fmla="*/ 244592 h 1031052"/>
              <a:gd name="connsiteX55" fmla="*/ 383914 w 1377336"/>
              <a:gd name="connsiteY55" fmla="*/ 225778 h 1031052"/>
              <a:gd name="connsiteX56" fmla="*/ 353810 w 1377336"/>
              <a:gd name="connsiteY56" fmla="*/ 206963 h 1031052"/>
              <a:gd name="connsiteX57" fmla="*/ 316180 w 1377336"/>
              <a:gd name="connsiteY57" fmla="*/ 184385 h 1031052"/>
              <a:gd name="connsiteX58" fmla="*/ 304892 w 1377336"/>
              <a:gd name="connsiteY58" fmla="*/ 176859 h 1031052"/>
              <a:gd name="connsiteX59" fmla="*/ 293603 w 1377336"/>
              <a:gd name="connsiteY59" fmla="*/ 173096 h 1031052"/>
              <a:gd name="connsiteX60" fmla="*/ 271025 w 1377336"/>
              <a:gd name="connsiteY60" fmla="*/ 154281 h 1031052"/>
              <a:gd name="connsiteX61" fmla="*/ 237158 w 1377336"/>
              <a:gd name="connsiteY61" fmla="*/ 135466 h 1031052"/>
              <a:gd name="connsiteX62" fmla="*/ 225869 w 1377336"/>
              <a:gd name="connsiteY62" fmla="*/ 127941 h 1031052"/>
              <a:gd name="connsiteX63" fmla="*/ 210818 w 1377336"/>
              <a:gd name="connsiteY63" fmla="*/ 112889 h 1031052"/>
              <a:gd name="connsiteX64" fmla="*/ 188240 w 1377336"/>
              <a:gd name="connsiteY64" fmla="*/ 97837 h 1031052"/>
              <a:gd name="connsiteX65" fmla="*/ 176951 w 1377336"/>
              <a:gd name="connsiteY65" fmla="*/ 86548 h 1031052"/>
              <a:gd name="connsiteX66" fmla="*/ 154373 w 1377336"/>
              <a:gd name="connsiteY66" fmla="*/ 75259 h 1031052"/>
              <a:gd name="connsiteX67" fmla="*/ 116743 w 1377336"/>
              <a:gd name="connsiteY67" fmla="*/ 52681 h 1031052"/>
              <a:gd name="connsiteX68" fmla="*/ 94166 w 1377336"/>
              <a:gd name="connsiteY68" fmla="*/ 37629 h 1031052"/>
              <a:gd name="connsiteX69" fmla="*/ 67825 w 1377336"/>
              <a:gd name="connsiteY69" fmla="*/ 22578 h 1031052"/>
              <a:gd name="connsiteX70" fmla="*/ 52773 w 1377336"/>
              <a:gd name="connsiteY70" fmla="*/ 11289 h 1031052"/>
              <a:gd name="connsiteX71" fmla="*/ 26432 w 1377336"/>
              <a:gd name="connsiteY71" fmla="*/ 0 h 1031052"/>
              <a:gd name="connsiteX72" fmla="*/ 7618 w 1377336"/>
              <a:gd name="connsiteY72" fmla="*/ 3763 h 1031052"/>
              <a:gd name="connsiteX73" fmla="*/ 3855 w 1377336"/>
              <a:gd name="connsiteY73" fmla="*/ 18815 h 1031052"/>
              <a:gd name="connsiteX74" fmla="*/ 92 w 1377336"/>
              <a:gd name="connsiteY74" fmla="*/ 30104 h 1031052"/>
              <a:gd name="connsiteX75" fmla="*/ 7618 w 1377336"/>
              <a:gd name="connsiteY75" fmla="*/ 240829 h 1031052"/>
              <a:gd name="connsiteX76" fmla="*/ 11380 w 1377336"/>
              <a:gd name="connsiteY76" fmla="*/ 255881 h 1031052"/>
              <a:gd name="connsiteX77" fmla="*/ 18906 w 1377336"/>
              <a:gd name="connsiteY77" fmla="*/ 312326 h 1031052"/>
              <a:gd name="connsiteX78" fmla="*/ 26432 w 1377336"/>
              <a:gd name="connsiteY78" fmla="*/ 338666 h 1031052"/>
              <a:gd name="connsiteX79" fmla="*/ 30195 w 1377336"/>
              <a:gd name="connsiteY79" fmla="*/ 372533 h 1031052"/>
              <a:gd name="connsiteX80" fmla="*/ 37721 w 1377336"/>
              <a:gd name="connsiteY80" fmla="*/ 459081 h 1031052"/>
              <a:gd name="connsiteX81" fmla="*/ 41484 w 1377336"/>
              <a:gd name="connsiteY81" fmla="*/ 470370 h 1031052"/>
              <a:gd name="connsiteX82" fmla="*/ 49010 w 1377336"/>
              <a:gd name="connsiteY82" fmla="*/ 519289 h 1031052"/>
              <a:gd name="connsiteX83" fmla="*/ 49010 w 1377336"/>
              <a:gd name="connsiteY83" fmla="*/ 940741 h 1031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Lst>
            <a:rect l="l" t="t" r="r" b="b"/>
            <a:pathLst>
              <a:path w="1377336" h="1031052">
                <a:moveTo>
                  <a:pt x="1377336" y="1031052"/>
                </a:moveTo>
                <a:cubicBezTo>
                  <a:pt x="1371064" y="1023526"/>
                  <a:pt x="1365843" y="1014983"/>
                  <a:pt x="1358521" y="1008474"/>
                </a:cubicBezTo>
                <a:cubicBezTo>
                  <a:pt x="1354328" y="1004747"/>
                  <a:pt x="1348226" y="1003921"/>
                  <a:pt x="1343469" y="1000948"/>
                </a:cubicBezTo>
                <a:cubicBezTo>
                  <a:pt x="1338151" y="997624"/>
                  <a:pt x="1333521" y="993304"/>
                  <a:pt x="1328418" y="989659"/>
                </a:cubicBezTo>
                <a:cubicBezTo>
                  <a:pt x="1324738" y="987030"/>
                  <a:pt x="1320563" y="985076"/>
                  <a:pt x="1317129" y="982133"/>
                </a:cubicBezTo>
                <a:cubicBezTo>
                  <a:pt x="1311742" y="977515"/>
                  <a:pt x="1307417" y="971753"/>
                  <a:pt x="1302077" y="967081"/>
                </a:cubicBezTo>
                <a:cubicBezTo>
                  <a:pt x="1297357" y="962951"/>
                  <a:pt x="1291787" y="959873"/>
                  <a:pt x="1287025" y="955792"/>
                </a:cubicBezTo>
                <a:cubicBezTo>
                  <a:pt x="1282985" y="952329"/>
                  <a:pt x="1279143" y="948592"/>
                  <a:pt x="1275736" y="944504"/>
                </a:cubicBezTo>
                <a:cubicBezTo>
                  <a:pt x="1272841" y="941030"/>
                  <a:pt x="1271684" y="936110"/>
                  <a:pt x="1268210" y="933215"/>
                </a:cubicBezTo>
                <a:cubicBezTo>
                  <a:pt x="1263901" y="929624"/>
                  <a:pt x="1258175" y="928198"/>
                  <a:pt x="1253158" y="925689"/>
                </a:cubicBezTo>
                <a:cubicBezTo>
                  <a:pt x="1245448" y="910269"/>
                  <a:pt x="1246068" y="909264"/>
                  <a:pt x="1234343" y="895585"/>
                </a:cubicBezTo>
                <a:cubicBezTo>
                  <a:pt x="1230880" y="891545"/>
                  <a:pt x="1226462" y="888384"/>
                  <a:pt x="1223055" y="884296"/>
                </a:cubicBezTo>
                <a:cubicBezTo>
                  <a:pt x="1207378" y="865482"/>
                  <a:pt x="1224935" y="879277"/>
                  <a:pt x="1204240" y="865481"/>
                </a:cubicBezTo>
                <a:cubicBezTo>
                  <a:pt x="1186503" y="838876"/>
                  <a:pt x="1208763" y="871813"/>
                  <a:pt x="1185425" y="839141"/>
                </a:cubicBezTo>
                <a:cubicBezTo>
                  <a:pt x="1174481" y="823821"/>
                  <a:pt x="1178882" y="826675"/>
                  <a:pt x="1162847" y="809037"/>
                </a:cubicBezTo>
                <a:cubicBezTo>
                  <a:pt x="1155687" y="801162"/>
                  <a:pt x="1147389" y="794370"/>
                  <a:pt x="1140269" y="786459"/>
                </a:cubicBezTo>
                <a:cubicBezTo>
                  <a:pt x="1136073" y="781797"/>
                  <a:pt x="1133415" y="775842"/>
                  <a:pt x="1128980" y="771407"/>
                </a:cubicBezTo>
                <a:cubicBezTo>
                  <a:pt x="1123301" y="765728"/>
                  <a:pt x="1116086" y="761782"/>
                  <a:pt x="1110166" y="756355"/>
                </a:cubicBezTo>
                <a:cubicBezTo>
                  <a:pt x="1101013" y="747965"/>
                  <a:pt x="1091275" y="739949"/>
                  <a:pt x="1083825" y="730015"/>
                </a:cubicBezTo>
                <a:cubicBezTo>
                  <a:pt x="1080062" y="724998"/>
                  <a:pt x="1077487" y="718813"/>
                  <a:pt x="1072536" y="714963"/>
                </a:cubicBezTo>
                <a:cubicBezTo>
                  <a:pt x="1065894" y="709797"/>
                  <a:pt x="1056959" y="708341"/>
                  <a:pt x="1049958" y="703674"/>
                </a:cubicBezTo>
                <a:cubicBezTo>
                  <a:pt x="1045530" y="700722"/>
                  <a:pt x="1042646" y="695921"/>
                  <a:pt x="1038669" y="692385"/>
                </a:cubicBezTo>
                <a:cubicBezTo>
                  <a:pt x="1031347" y="685877"/>
                  <a:pt x="1023825" y="679585"/>
                  <a:pt x="1016092" y="673570"/>
                </a:cubicBezTo>
                <a:cubicBezTo>
                  <a:pt x="1012522" y="670793"/>
                  <a:pt x="1008149" y="669086"/>
                  <a:pt x="1004803" y="666044"/>
                </a:cubicBezTo>
                <a:cubicBezTo>
                  <a:pt x="994302" y="656498"/>
                  <a:pt x="985780" y="644806"/>
                  <a:pt x="974699" y="635941"/>
                </a:cubicBezTo>
                <a:cubicBezTo>
                  <a:pt x="968427" y="630924"/>
                  <a:pt x="961563" y="626568"/>
                  <a:pt x="955884" y="620889"/>
                </a:cubicBezTo>
                <a:cubicBezTo>
                  <a:pt x="934609" y="599614"/>
                  <a:pt x="965597" y="618220"/>
                  <a:pt x="933306" y="602074"/>
                </a:cubicBezTo>
                <a:cubicBezTo>
                  <a:pt x="903244" y="572010"/>
                  <a:pt x="945276" y="612220"/>
                  <a:pt x="903203" y="579496"/>
                </a:cubicBezTo>
                <a:cubicBezTo>
                  <a:pt x="897602" y="575140"/>
                  <a:pt x="893752" y="568800"/>
                  <a:pt x="888151" y="564444"/>
                </a:cubicBezTo>
                <a:cubicBezTo>
                  <a:pt x="877122" y="555866"/>
                  <a:pt x="868209" y="554097"/>
                  <a:pt x="858047" y="545629"/>
                </a:cubicBezTo>
                <a:cubicBezTo>
                  <a:pt x="853959" y="542222"/>
                  <a:pt x="850846" y="537748"/>
                  <a:pt x="846758" y="534341"/>
                </a:cubicBezTo>
                <a:cubicBezTo>
                  <a:pt x="843284" y="531446"/>
                  <a:pt x="839149" y="529444"/>
                  <a:pt x="835469" y="526815"/>
                </a:cubicBezTo>
                <a:cubicBezTo>
                  <a:pt x="821654" y="516946"/>
                  <a:pt x="813418" y="509128"/>
                  <a:pt x="797840" y="500474"/>
                </a:cubicBezTo>
                <a:cubicBezTo>
                  <a:pt x="794373" y="498548"/>
                  <a:pt x="790314" y="497965"/>
                  <a:pt x="786551" y="496711"/>
                </a:cubicBezTo>
                <a:cubicBezTo>
                  <a:pt x="782788" y="492948"/>
                  <a:pt x="778725" y="489463"/>
                  <a:pt x="775262" y="485422"/>
                </a:cubicBezTo>
                <a:cubicBezTo>
                  <a:pt x="771180" y="480660"/>
                  <a:pt x="768791" y="474385"/>
                  <a:pt x="763973" y="470370"/>
                </a:cubicBezTo>
                <a:cubicBezTo>
                  <a:pt x="760926" y="467831"/>
                  <a:pt x="756447" y="467861"/>
                  <a:pt x="752684" y="466607"/>
                </a:cubicBezTo>
                <a:cubicBezTo>
                  <a:pt x="737442" y="451365"/>
                  <a:pt x="734486" y="445457"/>
                  <a:pt x="718818" y="436504"/>
                </a:cubicBezTo>
                <a:cubicBezTo>
                  <a:pt x="713948" y="433721"/>
                  <a:pt x="708331" y="432238"/>
                  <a:pt x="703766" y="428978"/>
                </a:cubicBezTo>
                <a:cubicBezTo>
                  <a:pt x="699436" y="425885"/>
                  <a:pt x="696565" y="421096"/>
                  <a:pt x="692477" y="417689"/>
                </a:cubicBezTo>
                <a:cubicBezTo>
                  <a:pt x="689003" y="414794"/>
                  <a:pt x="684868" y="412792"/>
                  <a:pt x="681188" y="410163"/>
                </a:cubicBezTo>
                <a:cubicBezTo>
                  <a:pt x="676085" y="406518"/>
                  <a:pt x="671239" y="402519"/>
                  <a:pt x="666136" y="398874"/>
                </a:cubicBezTo>
                <a:cubicBezTo>
                  <a:pt x="662456" y="396245"/>
                  <a:pt x="658281" y="394291"/>
                  <a:pt x="654847" y="391348"/>
                </a:cubicBezTo>
                <a:cubicBezTo>
                  <a:pt x="649460" y="386730"/>
                  <a:pt x="645608" y="380365"/>
                  <a:pt x="639795" y="376296"/>
                </a:cubicBezTo>
                <a:cubicBezTo>
                  <a:pt x="632902" y="371471"/>
                  <a:pt x="624219" y="369674"/>
                  <a:pt x="617218" y="365007"/>
                </a:cubicBezTo>
                <a:cubicBezTo>
                  <a:pt x="612790" y="362055"/>
                  <a:pt x="610017" y="357125"/>
                  <a:pt x="605929" y="353718"/>
                </a:cubicBezTo>
                <a:cubicBezTo>
                  <a:pt x="593502" y="343362"/>
                  <a:pt x="594308" y="347865"/>
                  <a:pt x="579588" y="338666"/>
                </a:cubicBezTo>
                <a:cubicBezTo>
                  <a:pt x="574270" y="335342"/>
                  <a:pt x="569674" y="330974"/>
                  <a:pt x="564536" y="327378"/>
                </a:cubicBezTo>
                <a:cubicBezTo>
                  <a:pt x="557126" y="322191"/>
                  <a:pt x="548354" y="318722"/>
                  <a:pt x="541958" y="312326"/>
                </a:cubicBezTo>
                <a:cubicBezTo>
                  <a:pt x="538195" y="308563"/>
                  <a:pt x="534757" y="304444"/>
                  <a:pt x="530669" y="301037"/>
                </a:cubicBezTo>
                <a:cubicBezTo>
                  <a:pt x="523632" y="295173"/>
                  <a:pt x="494985" y="279497"/>
                  <a:pt x="493040" y="278459"/>
                </a:cubicBezTo>
                <a:cubicBezTo>
                  <a:pt x="483141" y="273179"/>
                  <a:pt x="472971" y="268424"/>
                  <a:pt x="462936" y="263407"/>
                </a:cubicBezTo>
                <a:cubicBezTo>
                  <a:pt x="457919" y="260898"/>
                  <a:pt x="453326" y="257242"/>
                  <a:pt x="447884" y="255881"/>
                </a:cubicBezTo>
                <a:lnTo>
                  <a:pt x="432832" y="252118"/>
                </a:lnTo>
                <a:cubicBezTo>
                  <a:pt x="429069" y="249609"/>
                  <a:pt x="425525" y="246736"/>
                  <a:pt x="421543" y="244592"/>
                </a:cubicBezTo>
                <a:cubicBezTo>
                  <a:pt x="409196" y="237944"/>
                  <a:pt x="394864" y="234538"/>
                  <a:pt x="383914" y="225778"/>
                </a:cubicBezTo>
                <a:cubicBezTo>
                  <a:pt x="331973" y="184225"/>
                  <a:pt x="387549" y="225130"/>
                  <a:pt x="353810" y="206963"/>
                </a:cubicBezTo>
                <a:cubicBezTo>
                  <a:pt x="340931" y="200028"/>
                  <a:pt x="328351" y="192500"/>
                  <a:pt x="316180" y="184385"/>
                </a:cubicBezTo>
                <a:cubicBezTo>
                  <a:pt x="312417" y="181876"/>
                  <a:pt x="308937" y="178881"/>
                  <a:pt x="304892" y="176859"/>
                </a:cubicBezTo>
                <a:cubicBezTo>
                  <a:pt x="301344" y="175085"/>
                  <a:pt x="297366" y="174350"/>
                  <a:pt x="293603" y="173096"/>
                </a:cubicBezTo>
                <a:cubicBezTo>
                  <a:pt x="283226" y="162719"/>
                  <a:pt x="283249" y="161266"/>
                  <a:pt x="271025" y="154281"/>
                </a:cubicBezTo>
                <a:cubicBezTo>
                  <a:pt x="229071" y="130308"/>
                  <a:pt x="287329" y="166821"/>
                  <a:pt x="237158" y="135466"/>
                </a:cubicBezTo>
                <a:cubicBezTo>
                  <a:pt x="233323" y="133069"/>
                  <a:pt x="229303" y="130884"/>
                  <a:pt x="225869" y="127941"/>
                </a:cubicBezTo>
                <a:cubicBezTo>
                  <a:pt x="220482" y="123323"/>
                  <a:pt x="216358" y="117321"/>
                  <a:pt x="210818" y="112889"/>
                </a:cubicBezTo>
                <a:cubicBezTo>
                  <a:pt x="203755" y="107238"/>
                  <a:pt x="195380" y="103390"/>
                  <a:pt x="188240" y="97837"/>
                </a:cubicBezTo>
                <a:cubicBezTo>
                  <a:pt x="184039" y="94570"/>
                  <a:pt x="181379" y="89500"/>
                  <a:pt x="176951" y="86548"/>
                </a:cubicBezTo>
                <a:cubicBezTo>
                  <a:pt x="169950" y="81881"/>
                  <a:pt x="161641" y="79499"/>
                  <a:pt x="154373" y="75259"/>
                </a:cubicBezTo>
                <a:cubicBezTo>
                  <a:pt x="99882" y="43473"/>
                  <a:pt x="156782" y="72701"/>
                  <a:pt x="116743" y="52681"/>
                </a:cubicBezTo>
                <a:cubicBezTo>
                  <a:pt x="102101" y="30716"/>
                  <a:pt x="118463" y="49777"/>
                  <a:pt x="94166" y="37629"/>
                </a:cubicBezTo>
                <a:cubicBezTo>
                  <a:pt x="48601" y="14848"/>
                  <a:pt x="102355" y="34088"/>
                  <a:pt x="67825" y="22578"/>
                </a:cubicBezTo>
                <a:cubicBezTo>
                  <a:pt x="62808" y="18815"/>
                  <a:pt x="58091" y="14613"/>
                  <a:pt x="52773" y="11289"/>
                </a:cubicBezTo>
                <a:cubicBezTo>
                  <a:pt x="42145" y="4646"/>
                  <a:pt x="37406" y="3658"/>
                  <a:pt x="26432" y="0"/>
                </a:cubicBezTo>
                <a:cubicBezTo>
                  <a:pt x="20161" y="1254"/>
                  <a:pt x="12531" y="-331"/>
                  <a:pt x="7618" y="3763"/>
                </a:cubicBezTo>
                <a:cubicBezTo>
                  <a:pt x="3645" y="7074"/>
                  <a:pt x="5276" y="13842"/>
                  <a:pt x="3855" y="18815"/>
                </a:cubicBezTo>
                <a:cubicBezTo>
                  <a:pt x="2765" y="22629"/>
                  <a:pt x="1346" y="26341"/>
                  <a:pt x="92" y="30104"/>
                </a:cubicBezTo>
                <a:cubicBezTo>
                  <a:pt x="882" y="68010"/>
                  <a:pt x="-3080" y="176634"/>
                  <a:pt x="7618" y="240829"/>
                </a:cubicBezTo>
                <a:cubicBezTo>
                  <a:pt x="8468" y="245930"/>
                  <a:pt x="10126" y="250864"/>
                  <a:pt x="11380" y="255881"/>
                </a:cubicBezTo>
                <a:cubicBezTo>
                  <a:pt x="12992" y="270389"/>
                  <a:pt x="15287" y="296642"/>
                  <a:pt x="18906" y="312326"/>
                </a:cubicBezTo>
                <a:cubicBezTo>
                  <a:pt x="20959" y="321224"/>
                  <a:pt x="23923" y="329886"/>
                  <a:pt x="26432" y="338666"/>
                </a:cubicBezTo>
                <a:cubicBezTo>
                  <a:pt x="27686" y="349955"/>
                  <a:pt x="29252" y="361214"/>
                  <a:pt x="30195" y="372533"/>
                </a:cubicBezTo>
                <a:cubicBezTo>
                  <a:pt x="32302" y="397815"/>
                  <a:pt x="32868" y="432390"/>
                  <a:pt x="37721" y="459081"/>
                </a:cubicBezTo>
                <a:cubicBezTo>
                  <a:pt x="38431" y="462984"/>
                  <a:pt x="40522" y="466522"/>
                  <a:pt x="41484" y="470370"/>
                </a:cubicBezTo>
                <a:cubicBezTo>
                  <a:pt x="44398" y="482028"/>
                  <a:pt x="48931" y="509834"/>
                  <a:pt x="49010" y="519289"/>
                </a:cubicBezTo>
                <a:cubicBezTo>
                  <a:pt x="50181" y="659768"/>
                  <a:pt x="49010" y="800257"/>
                  <a:pt x="49010" y="940741"/>
                </a:cubicBezTo>
              </a:path>
            </a:pathLst>
          </a:custGeom>
          <a:ln>
            <a:solidFill>
              <a:schemeClr val="bg2">
                <a:lumMod val="50000"/>
              </a:schemeClr>
            </a:solidFill>
          </a:ln>
        </p:spPr>
        <p:style>
          <a:lnRef idx="3">
            <a:schemeClr val="accent1"/>
          </a:lnRef>
          <a:fillRef idx="0">
            <a:schemeClr val="accent1"/>
          </a:fillRef>
          <a:effectRef idx="2">
            <a:schemeClr val="accent1"/>
          </a:effectRef>
          <a:fontRef idx="minor">
            <a:schemeClr val="tx1"/>
          </a:fontRef>
        </p:style>
        <p:txBody>
          <a:bodyPr rtlCol="0" anchor="ctr"/>
          <a:lstStyle/>
          <a:p>
            <a:pPr algn="ctr"/>
            <a:endParaRPr lang="zh-CN" altLang="en-US"/>
          </a:p>
        </p:txBody>
      </p:sp>
      <p:sp>
        <p:nvSpPr>
          <p:cNvPr id="9" name="任意多边形 8"/>
          <p:cNvSpPr/>
          <p:nvPr/>
        </p:nvSpPr>
        <p:spPr>
          <a:xfrm>
            <a:off x="9258300" y="2286000"/>
            <a:ext cx="228600" cy="218209"/>
          </a:xfrm>
          <a:custGeom>
            <a:avLst/>
            <a:gdLst>
              <a:gd name="connsiteX0" fmla="*/ 0 w 228600"/>
              <a:gd name="connsiteY0" fmla="*/ 0 h 218209"/>
              <a:gd name="connsiteX1" fmla="*/ 31173 w 228600"/>
              <a:gd name="connsiteY1" fmla="*/ 51955 h 218209"/>
              <a:gd name="connsiteX2" fmla="*/ 51955 w 228600"/>
              <a:gd name="connsiteY2" fmla="*/ 83127 h 218209"/>
              <a:gd name="connsiteX3" fmla="*/ 83127 w 228600"/>
              <a:gd name="connsiteY3" fmla="*/ 187036 h 218209"/>
              <a:gd name="connsiteX4" fmla="*/ 93518 w 228600"/>
              <a:gd name="connsiteY4" fmla="*/ 218209 h 218209"/>
              <a:gd name="connsiteX5" fmla="*/ 135082 w 228600"/>
              <a:gd name="connsiteY5" fmla="*/ 207818 h 218209"/>
              <a:gd name="connsiteX6" fmla="*/ 187036 w 228600"/>
              <a:gd name="connsiteY6" fmla="*/ 155864 h 218209"/>
              <a:gd name="connsiteX7" fmla="*/ 197427 w 228600"/>
              <a:gd name="connsiteY7" fmla="*/ 124691 h 218209"/>
              <a:gd name="connsiteX8" fmla="*/ 218209 w 228600"/>
              <a:gd name="connsiteY8" fmla="*/ 93518 h 218209"/>
              <a:gd name="connsiteX9" fmla="*/ 228600 w 228600"/>
              <a:gd name="connsiteY9" fmla="*/ 62345 h 2182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28600" h="218209">
                <a:moveTo>
                  <a:pt x="0" y="0"/>
                </a:moveTo>
                <a:cubicBezTo>
                  <a:pt x="10391" y="17318"/>
                  <a:pt x="20469" y="34828"/>
                  <a:pt x="31173" y="51955"/>
                </a:cubicBezTo>
                <a:cubicBezTo>
                  <a:pt x="37792" y="62545"/>
                  <a:pt x="46883" y="71715"/>
                  <a:pt x="51955" y="83127"/>
                </a:cubicBezTo>
                <a:cubicBezTo>
                  <a:pt x="71706" y="127567"/>
                  <a:pt x="71038" y="144726"/>
                  <a:pt x="83127" y="187036"/>
                </a:cubicBezTo>
                <a:cubicBezTo>
                  <a:pt x="86136" y="197568"/>
                  <a:pt x="90054" y="207818"/>
                  <a:pt x="93518" y="218209"/>
                </a:cubicBezTo>
                <a:cubicBezTo>
                  <a:pt x="107373" y="214745"/>
                  <a:pt x="121956" y="213444"/>
                  <a:pt x="135082" y="207818"/>
                </a:cubicBezTo>
                <a:cubicBezTo>
                  <a:pt x="161532" y="196482"/>
                  <a:pt x="174441" y="181054"/>
                  <a:pt x="187036" y="155864"/>
                </a:cubicBezTo>
                <a:cubicBezTo>
                  <a:pt x="191934" y="146067"/>
                  <a:pt x="192529" y="134488"/>
                  <a:pt x="197427" y="124691"/>
                </a:cubicBezTo>
                <a:cubicBezTo>
                  <a:pt x="203012" y="113521"/>
                  <a:pt x="212624" y="104688"/>
                  <a:pt x="218209" y="93518"/>
                </a:cubicBezTo>
                <a:cubicBezTo>
                  <a:pt x="223107" y="83721"/>
                  <a:pt x="228600" y="62345"/>
                  <a:pt x="228600" y="62345"/>
                </a:cubicBezTo>
              </a:path>
            </a:pathLst>
          </a:cu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任意多边形 9"/>
          <p:cNvSpPr/>
          <p:nvPr/>
        </p:nvSpPr>
        <p:spPr>
          <a:xfrm>
            <a:off x="9705109" y="2202873"/>
            <a:ext cx="238991" cy="176645"/>
          </a:xfrm>
          <a:custGeom>
            <a:avLst/>
            <a:gdLst>
              <a:gd name="connsiteX0" fmla="*/ 238991 w 238991"/>
              <a:gd name="connsiteY0" fmla="*/ 0 h 176645"/>
              <a:gd name="connsiteX1" fmla="*/ 187036 w 238991"/>
              <a:gd name="connsiteY1" fmla="*/ 62345 h 176645"/>
              <a:gd name="connsiteX2" fmla="*/ 166255 w 238991"/>
              <a:gd name="connsiteY2" fmla="*/ 93518 h 176645"/>
              <a:gd name="connsiteX3" fmla="*/ 145473 w 238991"/>
              <a:gd name="connsiteY3" fmla="*/ 135082 h 176645"/>
              <a:gd name="connsiteX4" fmla="*/ 72736 w 238991"/>
              <a:gd name="connsiteY4" fmla="*/ 176645 h 176645"/>
              <a:gd name="connsiteX5" fmla="*/ 51955 w 238991"/>
              <a:gd name="connsiteY5" fmla="*/ 93518 h 176645"/>
              <a:gd name="connsiteX6" fmla="*/ 41564 w 238991"/>
              <a:gd name="connsiteY6" fmla="*/ 62345 h 176645"/>
              <a:gd name="connsiteX7" fmla="*/ 0 w 238991"/>
              <a:gd name="connsiteY7" fmla="*/ 10391 h 1766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8991" h="176645">
                <a:moveTo>
                  <a:pt x="238991" y="0"/>
                </a:moveTo>
                <a:cubicBezTo>
                  <a:pt x="221673" y="20782"/>
                  <a:pt x="203644" y="40992"/>
                  <a:pt x="187036" y="62345"/>
                </a:cubicBezTo>
                <a:cubicBezTo>
                  <a:pt x="179369" y="72203"/>
                  <a:pt x="172451" y="82675"/>
                  <a:pt x="166255" y="93518"/>
                </a:cubicBezTo>
                <a:cubicBezTo>
                  <a:pt x="158570" y="106967"/>
                  <a:pt x="155554" y="123321"/>
                  <a:pt x="145473" y="135082"/>
                </a:cubicBezTo>
                <a:cubicBezTo>
                  <a:pt x="120311" y="164438"/>
                  <a:pt x="104423" y="166083"/>
                  <a:pt x="72736" y="176645"/>
                </a:cubicBezTo>
                <a:cubicBezTo>
                  <a:pt x="65809" y="148936"/>
                  <a:pt x="59470" y="121073"/>
                  <a:pt x="51955" y="93518"/>
                </a:cubicBezTo>
                <a:cubicBezTo>
                  <a:pt x="49073" y="82951"/>
                  <a:pt x="46998" y="71855"/>
                  <a:pt x="41564" y="62345"/>
                </a:cubicBezTo>
                <a:cubicBezTo>
                  <a:pt x="26404" y="35815"/>
                  <a:pt x="17276" y="27667"/>
                  <a:pt x="0" y="10391"/>
                </a:cubicBezTo>
              </a:path>
            </a:pathLst>
          </a:custGeom>
          <a:noFill/>
          <a:ln w="22225">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1558591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wipe(down)">
                                      <p:cBhvr>
                                        <p:cTn id="7" dur="500"/>
                                        <p:tgtEl>
                                          <p:spTgt spid="3">
                                            <p:txEl>
                                              <p:pRg st="2" end="2"/>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3">
                                            <p:txEl>
                                              <p:pRg st="3" end="3"/>
                                            </p:txEl>
                                          </p:spTgt>
                                        </p:tgtEl>
                                        <p:attrNameLst>
                                          <p:attrName>style.visibility</p:attrName>
                                        </p:attrNameLst>
                                      </p:cBhvr>
                                      <p:to>
                                        <p:strVal val="visible"/>
                                      </p:to>
                                    </p:set>
                                    <p:animEffect transition="in" filter="wipe(down)">
                                      <p:cBhvr>
                                        <p:cTn id="10" dur="500"/>
                                        <p:tgtEl>
                                          <p:spTgt spid="3">
                                            <p:txEl>
                                              <p:pRg st="3" end="3"/>
                                            </p:txEl>
                                          </p:spTgt>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wipe(down)">
                                      <p:cBhvr>
                                        <p:cTn id="13" dur="500"/>
                                        <p:tgtEl>
                                          <p:spTgt spid="15"/>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wipe(down)">
                                      <p:cBhvr>
                                        <p:cTn id="16" dur="500"/>
                                        <p:tgtEl>
                                          <p:spTgt spid="16"/>
                                        </p:tgtEl>
                                      </p:cBhvr>
                                    </p:animEffect>
                                  </p:childTnLst>
                                </p:cTn>
                              </p:par>
                              <p:par>
                                <p:cTn id="17" presetID="22" presetClass="entr" presetSubtype="4"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wipe(down)">
                                      <p:cBhvr>
                                        <p:cTn id="19" dur="500"/>
                                        <p:tgtEl>
                                          <p:spTgt spid="9"/>
                                        </p:tgtEl>
                                      </p:cBhvr>
                                    </p:animEffect>
                                  </p:childTnLst>
                                </p:cTn>
                              </p:par>
                              <p:par>
                                <p:cTn id="20" presetID="22" presetClass="entr" presetSubtype="4" fill="hold" grpId="0" nodeType="with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wipe(down)">
                                      <p:cBhvr>
                                        <p:cTn id="2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9" grpId="0" animBg="1"/>
      <p:bldP spid="10" grpId="0" animBg="1"/>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沃舍尔算法</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normAutofit/>
              </a:bodyPr>
              <a:lstStyle/>
              <a:p>
                <a:r>
                  <a:rPr lang="zh-CN" altLang="en-US" dirty="0" smtClean="0"/>
                  <a:t>接下来计算</a:t>
                </a:r>
                <a14:m>
                  <m:oMath xmlns:m="http://schemas.openxmlformats.org/officeDocument/2006/math">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W</m:t>
                        </m:r>
                      </m:e>
                      <m:sub>
                        <m:r>
                          <a:rPr lang="en-US" altLang="zh-CN" b="0" i="1" smtClean="0">
                            <a:latin typeface="Cambria Math" panose="02040503050406030204" pitchFamily="18" charset="0"/>
                          </a:rPr>
                          <m:t>2</m:t>
                        </m:r>
                      </m:sub>
                    </m:sSub>
                    <m:r>
                      <a:rPr lang="en-US" altLang="zh-CN" b="0" i="1" smtClean="0">
                        <a:latin typeface="Cambria Math" panose="02040503050406030204" pitchFamily="18" charset="0"/>
                      </a:rPr>
                      <m:t>.</m:t>
                    </m:r>
                  </m:oMath>
                </a14:m>
                <a:r>
                  <a:rPr lang="zh-CN" altLang="en-US" dirty="0" smtClean="0"/>
                  <a:t> 如果存在一条从</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𝑣</m:t>
                        </m:r>
                      </m:e>
                      <m:sub>
                        <m:r>
                          <a:rPr lang="en-US" altLang="zh-CN" i="1">
                            <a:latin typeface="Cambria Math" panose="02040503050406030204" pitchFamily="18" charset="0"/>
                          </a:rPr>
                          <m:t>𝑖</m:t>
                        </m:r>
                      </m:sub>
                    </m:sSub>
                  </m:oMath>
                </a14:m>
                <a:r>
                  <a:rPr lang="zh-CN" altLang="en-US" dirty="0"/>
                  <a:t>到</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𝑣</m:t>
                        </m:r>
                      </m:e>
                      <m:sub>
                        <m:r>
                          <a:rPr lang="en-US" altLang="zh-CN" i="1">
                            <a:latin typeface="Cambria Math" panose="02040503050406030204" pitchFamily="18" charset="0"/>
                          </a:rPr>
                          <m:t>𝑗</m:t>
                        </m:r>
                      </m:sub>
                    </m:sSub>
                  </m:oMath>
                </a14:m>
                <a:r>
                  <a:rPr lang="zh-CN" altLang="en-US" dirty="0"/>
                  <a:t>的</a:t>
                </a:r>
                <a:r>
                  <a:rPr lang="zh-CN" altLang="en-US" dirty="0" smtClean="0"/>
                  <a:t>路径且只有</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𝑣</m:t>
                        </m:r>
                      </m:e>
                      <m:sub>
                        <m:r>
                          <a:rPr lang="en-US" altLang="zh-CN" b="0" i="1" smtClean="0">
                            <a:latin typeface="Cambria Math" panose="02040503050406030204" pitchFamily="18" charset="0"/>
                          </a:rPr>
                          <m:t>1</m:t>
                        </m:r>
                      </m:sub>
                    </m:sSub>
                  </m:oMath>
                </a14:m>
                <a:r>
                  <a:rPr lang="en-US" altLang="zh-CN" dirty="0" smtClean="0"/>
                  <a:t>=a, </a:t>
                </a:r>
                <a:r>
                  <a:rPr lang="zh-CN" altLang="en-US" dirty="0" smtClean="0"/>
                  <a:t>或者</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𝑣</m:t>
                        </m:r>
                      </m:e>
                      <m:sub>
                        <m:r>
                          <a:rPr lang="en-US" altLang="zh-CN" i="1">
                            <a:latin typeface="Cambria Math" panose="02040503050406030204" pitchFamily="18" charset="0"/>
                          </a:rPr>
                          <m:t>2</m:t>
                        </m:r>
                      </m:sub>
                    </m:sSub>
                  </m:oMath>
                </a14:m>
                <a:r>
                  <a:rPr lang="en-US" altLang="zh-CN" dirty="0"/>
                  <a:t>=b</a:t>
                </a:r>
                <a:r>
                  <a:rPr lang="zh-CN" altLang="en-US" dirty="0" smtClean="0"/>
                  <a:t>作为内部顶点的路径</a:t>
                </a:r>
                <a:r>
                  <a:rPr lang="en-US" altLang="zh-CN" dirty="0" smtClean="0"/>
                  <a:t>, </a:t>
                </a:r>
                <a:r>
                  <a:rPr lang="zh-CN" altLang="en-US" dirty="0" smtClean="0"/>
                  <a:t>那么</a:t>
                </a:r>
                <a14:m>
                  <m:oMath xmlns:m="http://schemas.openxmlformats.org/officeDocument/2006/math">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W</m:t>
                        </m:r>
                      </m:e>
                      <m:sub>
                        <m:r>
                          <a:rPr lang="en-US" altLang="zh-CN" b="0" i="1" smtClean="0">
                            <a:latin typeface="Cambria Math" panose="02040503050406030204" pitchFamily="18" charset="0"/>
                          </a:rPr>
                          <m:t>2</m:t>
                        </m:r>
                      </m:sub>
                    </m:sSub>
                  </m:oMath>
                </a14:m>
                <a:r>
                  <a:rPr lang="zh-CN" altLang="en-US" dirty="0" smtClean="0"/>
                  <a:t>的项</a:t>
                </a:r>
                <a:r>
                  <a:rPr lang="en-US" altLang="zh-CN" dirty="0" smtClean="0"/>
                  <a:t>(</a:t>
                </a:r>
                <a:r>
                  <a:rPr lang="en-US" altLang="zh-CN" dirty="0" err="1" smtClean="0"/>
                  <a:t>i,j</a:t>
                </a:r>
                <a:r>
                  <a:rPr lang="en-US" altLang="zh-CN" dirty="0" smtClean="0"/>
                  <a:t>)</a:t>
                </a:r>
                <a:r>
                  <a:rPr lang="zh-CN" altLang="en-US" dirty="0" smtClean="0"/>
                  <a:t>为</a:t>
                </a:r>
                <a:r>
                  <a:rPr lang="en-US" altLang="zh-CN" dirty="0" smtClean="0"/>
                  <a:t>1. </a:t>
                </a:r>
                <a:r>
                  <a:rPr lang="zh-CN" altLang="en-US" dirty="0" smtClean="0"/>
                  <a:t>因为没有边以</a:t>
                </a:r>
                <a:r>
                  <a:rPr lang="en-US" altLang="zh-CN" dirty="0" smtClean="0"/>
                  <a:t>b</a:t>
                </a:r>
                <a:r>
                  <a:rPr lang="zh-CN" altLang="en-US" dirty="0" smtClean="0"/>
                  <a:t>作为终点</a:t>
                </a:r>
                <a:r>
                  <a:rPr lang="en-US" altLang="zh-CN" dirty="0" smtClean="0"/>
                  <a:t>, </a:t>
                </a:r>
                <a:r>
                  <a:rPr lang="zh-CN" altLang="en-US" dirty="0" smtClean="0"/>
                  <a:t>所以没有新路径</a:t>
                </a:r>
                <a:r>
                  <a:rPr lang="en-US" altLang="zh-CN" dirty="0" smtClean="0"/>
                  <a:t>, </a:t>
                </a:r>
                <a14:m>
                  <m:oMath xmlns:m="http://schemas.openxmlformats.org/officeDocument/2006/math">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W</m:t>
                        </m:r>
                      </m:e>
                      <m:sub>
                        <m:r>
                          <a:rPr lang="en-US" altLang="zh-CN" i="1">
                            <a:latin typeface="Cambria Math" panose="02040503050406030204" pitchFamily="18" charset="0"/>
                          </a:rPr>
                          <m:t>2</m:t>
                        </m:r>
                      </m:sub>
                    </m:sSub>
                    <m:r>
                      <a:rPr lang="en-US" altLang="zh-CN" b="0" i="1" smtClean="0">
                        <a:latin typeface="Cambria Math" panose="02040503050406030204" pitchFamily="18" charset="0"/>
                      </a:rPr>
                      <m:t>=</m:t>
                    </m:r>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W</m:t>
                        </m:r>
                      </m:e>
                      <m:sub>
                        <m:r>
                          <a:rPr lang="en-US" altLang="zh-CN" b="0" i="1" smtClean="0">
                            <a:latin typeface="Cambria Math" panose="02040503050406030204" pitchFamily="18" charset="0"/>
                          </a:rPr>
                          <m:t>1</m:t>
                        </m:r>
                      </m:sub>
                    </m:sSub>
                    <m:r>
                      <a:rPr lang="en-US" altLang="zh-CN" b="0" i="0" smtClean="0">
                        <a:latin typeface="Cambria Math" panose="02040503050406030204" pitchFamily="18" charset="0"/>
                      </a:rPr>
                      <m:t>.</m:t>
                    </m:r>
                  </m:oMath>
                </a14:m>
                <a:endParaRPr lang="en-US" altLang="zh-CN" b="0" dirty="0" smtClean="0"/>
              </a:p>
              <a:p>
                <a:r>
                  <a:rPr lang="zh-CN" altLang="en-US" dirty="0"/>
                  <a:t>接下来计算</a:t>
                </a:r>
                <a14:m>
                  <m:oMath xmlns:m="http://schemas.openxmlformats.org/officeDocument/2006/math">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W</m:t>
                        </m:r>
                      </m:e>
                      <m:sub>
                        <m:r>
                          <a:rPr lang="en-US" altLang="zh-CN" b="0" i="1" smtClean="0">
                            <a:latin typeface="Cambria Math" panose="02040503050406030204" pitchFamily="18" charset="0"/>
                          </a:rPr>
                          <m:t>3</m:t>
                        </m:r>
                      </m:sub>
                    </m:sSub>
                    <m:r>
                      <a:rPr lang="en-US" altLang="zh-CN" i="1">
                        <a:latin typeface="Cambria Math" panose="02040503050406030204" pitchFamily="18" charset="0"/>
                      </a:rPr>
                      <m:t>.</m:t>
                    </m:r>
                  </m:oMath>
                </a14:m>
                <a:r>
                  <a:rPr lang="zh-CN" altLang="en-US" dirty="0"/>
                  <a:t> 如果存在一条从</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𝑣</m:t>
                        </m:r>
                      </m:e>
                      <m:sub>
                        <m:r>
                          <a:rPr lang="en-US" altLang="zh-CN" i="1">
                            <a:latin typeface="Cambria Math" panose="02040503050406030204" pitchFamily="18" charset="0"/>
                          </a:rPr>
                          <m:t>𝑖</m:t>
                        </m:r>
                      </m:sub>
                    </m:sSub>
                  </m:oMath>
                </a14:m>
                <a:r>
                  <a:rPr lang="zh-CN" altLang="en-US" dirty="0"/>
                  <a:t>到</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𝑣</m:t>
                        </m:r>
                      </m:e>
                      <m:sub>
                        <m:r>
                          <a:rPr lang="en-US" altLang="zh-CN" i="1">
                            <a:latin typeface="Cambria Math" panose="02040503050406030204" pitchFamily="18" charset="0"/>
                          </a:rPr>
                          <m:t>𝑗</m:t>
                        </m:r>
                      </m:sub>
                    </m:sSub>
                  </m:oMath>
                </a14:m>
                <a:r>
                  <a:rPr lang="zh-CN" altLang="en-US" dirty="0"/>
                  <a:t>的路径且只有</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𝑣</m:t>
                        </m:r>
                      </m:e>
                      <m:sub>
                        <m:r>
                          <a:rPr lang="en-US" altLang="zh-CN" i="1">
                            <a:latin typeface="Cambria Math" panose="02040503050406030204" pitchFamily="18" charset="0"/>
                          </a:rPr>
                          <m:t>1</m:t>
                        </m:r>
                      </m:sub>
                    </m:sSub>
                  </m:oMath>
                </a14:m>
                <a:r>
                  <a:rPr lang="en-US" altLang="zh-CN" dirty="0"/>
                  <a:t>=a</a:t>
                </a:r>
                <a:r>
                  <a:rPr lang="en-US" altLang="zh-CN" dirty="0" smtClean="0"/>
                  <a:t>,</a:t>
                </a:r>
                <a:r>
                  <a:rPr lang="zh-CN" altLang="en-US" dirty="0" smtClean="0"/>
                  <a:t>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𝑣</m:t>
                        </m:r>
                      </m:e>
                      <m:sub>
                        <m:r>
                          <a:rPr lang="en-US" altLang="zh-CN" i="1">
                            <a:latin typeface="Cambria Math" panose="02040503050406030204" pitchFamily="18" charset="0"/>
                          </a:rPr>
                          <m:t>2</m:t>
                        </m:r>
                      </m:sub>
                    </m:sSub>
                  </m:oMath>
                </a14:m>
                <a:r>
                  <a:rPr lang="en-US" altLang="zh-CN" dirty="0"/>
                  <a:t>=</a:t>
                </a:r>
                <a:r>
                  <a:rPr lang="en-US" altLang="zh-CN" dirty="0" smtClean="0"/>
                  <a:t>b,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𝑣</m:t>
                        </m:r>
                      </m:e>
                      <m:sub>
                        <m:r>
                          <a:rPr lang="en-US" altLang="zh-CN" i="1">
                            <a:latin typeface="Cambria Math" panose="02040503050406030204" pitchFamily="18" charset="0"/>
                          </a:rPr>
                          <m:t>3</m:t>
                        </m:r>
                      </m:sub>
                    </m:sSub>
                  </m:oMath>
                </a14:m>
                <a:r>
                  <a:rPr lang="en-US" altLang="zh-CN" dirty="0"/>
                  <a:t>=c</a:t>
                </a:r>
                <a:r>
                  <a:rPr lang="zh-CN" altLang="en-US" dirty="0" smtClean="0"/>
                  <a:t>作为</a:t>
                </a:r>
                <a:r>
                  <a:rPr lang="zh-CN" altLang="en-US" dirty="0"/>
                  <a:t>内部顶点的路径</a:t>
                </a:r>
                <a:r>
                  <a:rPr lang="en-US" altLang="zh-CN" dirty="0" smtClean="0"/>
                  <a:t>, </a:t>
                </a:r>
                <a:r>
                  <a:rPr lang="zh-CN" altLang="en-US" dirty="0" smtClean="0"/>
                  <a:t>那么</a:t>
                </a:r>
                <a14:m>
                  <m:oMath xmlns:m="http://schemas.openxmlformats.org/officeDocument/2006/math">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W</m:t>
                        </m:r>
                      </m:e>
                      <m:sub>
                        <m:r>
                          <a:rPr lang="en-US" altLang="zh-CN" b="0" i="1" smtClean="0">
                            <a:latin typeface="Cambria Math" panose="02040503050406030204" pitchFamily="18" charset="0"/>
                          </a:rPr>
                          <m:t>3</m:t>
                        </m:r>
                      </m:sub>
                    </m:sSub>
                  </m:oMath>
                </a14:m>
                <a:r>
                  <a:rPr lang="zh-CN" altLang="en-US" dirty="0"/>
                  <a:t>的项</a:t>
                </a:r>
                <a:r>
                  <a:rPr lang="en-US" altLang="zh-CN" dirty="0"/>
                  <a:t>(</a:t>
                </a:r>
                <a:r>
                  <a:rPr lang="en-US" altLang="zh-CN" dirty="0" err="1"/>
                  <a:t>i,j</a:t>
                </a:r>
                <a:r>
                  <a:rPr lang="en-US" altLang="zh-CN" dirty="0"/>
                  <a:t>)</a:t>
                </a:r>
                <a:r>
                  <a:rPr lang="zh-CN" altLang="en-US" dirty="0"/>
                  <a:t>为</a:t>
                </a:r>
                <a:r>
                  <a:rPr lang="en-US" altLang="zh-CN" dirty="0"/>
                  <a:t>1</a:t>
                </a:r>
                <a:r>
                  <a:rPr lang="en-US" altLang="zh-CN" dirty="0" smtClean="0"/>
                  <a:t>. </a:t>
                </a:r>
                <a:r>
                  <a:rPr lang="zh-CN" altLang="en-US" dirty="0" smtClean="0"/>
                  <a:t>有路径</a:t>
                </a:r>
                <a:r>
                  <a:rPr lang="en-US" altLang="zh-CN" dirty="0" err="1" smtClean="0"/>
                  <a:t>d,c,d</a:t>
                </a:r>
                <a:r>
                  <a:rPr lang="en-US" altLang="zh-CN" dirty="0" smtClean="0"/>
                  <a:t>, </a:t>
                </a:r>
                <a:r>
                  <a:rPr lang="zh-CN" altLang="en-US" dirty="0" smtClean="0"/>
                  <a:t>和路径</a:t>
                </a:r>
                <a:r>
                  <a:rPr lang="en-US" altLang="zh-CN" dirty="0" err="1" smtClean="0"/>
                  <a:t>d,c,a</a:t>
                </a:r>
                <a:r>
                  <a:rPr lang="zh-CN" altLang="en-US" dirty="0" smtClean="0"/>
                  <a:t>，因此</a:t>
                </a:r>
                <a:endParaRPr lang="en-US" altLang="zh-CN" dirty="0" smtClean="0"/>
              </a:p>
              <a:p>
                <a:pPr marL="0" indent="0">
                  <a:buNone/>
                </a:pPr>
                <a14:m>
                  <m:oMathPara xmlns:m="http://schemas.openxmlformats.org/officeDocument/2006/math">
                    <m:oMathParaPr>
                      <m:jc m:val="centerGroup"/>
                    </m:oMathParaPr>
                    <m:oMath xmlns:m="http://schemas.openxmlformats.org/officeDocument/2006/math">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W</m:t>
                          </m:r>
                        </m:e>
                        <m:sub>
                          <m:r>
                            <a:rPr lang="en-US" altLang="zh-CN" b="0" i="1" smtClean="0">
                              <a:latin typeface="Cambria Math" panose="02040503050406030204" pitchFamily="18" charset="0"/>
                            </a:rPr>
                            <m:t>3</m:t>
                          </m:r>
                        </m:sub>
                      </m:sSub>
                      <m:r>
                        <a:rPr lang="en-US" altLang="zh-CN" i="1">
                          <a:latin typeface="Cambria Math" panose="02040503050406030204" pitchFamily="18" charset="0"/>
                        </a:rPr>
                        <m:t>=</m:t>
                      </m:r>
                      <m:d>
                        <m:dPr>
                          <m:begChr m:val="["/>
                          <m:endChr m:val="]"/>
                          <m:ctrlPr>
                            <a:rPr lang="en-US" altLang="zh-CN" i="1">
                              <a:latin typeface="Cambria Math" panose="02040503050406030204" pitchFamily="18" charset="0"/>
                            </a:rPr>
                          </m:ctrlPr>
                        </m:dPr>
                        <m:e>
                          <m:eqArr>
                            <m:eqArrPr>
                              <m:ctrlPr>
                                <a:rPr lang="en-US" altLang="zh-CN" i="1">
                                  <a:latin typeface="Cambria Math" panose="02040503050406030204" pitchFamily="18" charset="0"/>
                                </a:rPr>
                              </m:ctrlPr>
                            </m:eqArrPr>
                            <m:e>
                              <m:r>
                                <a:rPr lang="en-US" altLang="zh-CN" i="1">
                                  <a:latin typeface="Cambria Math" panose="02040503050406030204" pitchFamily="18" charset="0"/>
                                </a:rPr>
                                <m:t>0001</m:t>
                              </m:r>
                            </m:e>
                            <m:e>
                              <m:r>
                                <a:rPr lang="en-US" altLang="zh-CN" i="1">
                                  <a:latin typeface="Cambria Math" panose="02040503050406030204" pitchFamily="18" charset="0"/>
                                </a:rPr>
                                <m:t>1011</m:t>
                              </m:r>
                            </m:e>
                            <m:e>
                              <m:r>
                                <a:rPr lang="en-US" altLang="zh-CN" i="1">
                                  <a:latin typeface="Cambria Math" panose="02040503050406030204" pitchFamily="18" charset="0"/>
                                </a:rPr>
                                <m:t>1001</m:t>
                              </m:r>
                            </m:e>
                            <m:e>
                              <m:r>
                                <a:rPr lang="en-US" altLang="zh-CN" b="0" i="1" smtClean="0">
                                  <a:solidFill>
                                    <a:srgbClr val="C00000"/>
                                  </a:solidFill>
                                  <a:latin typeface="Cambria Math" panose="02040503050406030204" pitchFamily="18" charset="0"/>
                                </a:rPr>
                                <m:t>1</m:t>
                              </m:r>
                              <m:r>
                                <a:rPr lang="en-US" altLang="zh-CN" i="1">
                                  <a:latin typeface="Cambria Math" panose="02040503050406030204" pitchFamily="18" charset="0"/>
                                </a:rPr>
                                <m:t>01</m:t>
                              </m:r>
                              <m:r>
                                <a:rPr lang="en-US" altLang="zh-CN" b="0" i="1" smtClean="0">
                                  <a:solidFill>
                                    <a:srgbClr val="C00000"/>
                                  </a:solidFill>
                                  <a:latin typeface="Cambria Math" panose="02040503050406030204" pitchFamily="18" charset="0"/>
                                </a:rPr>
                                <m:t>1</m:t>
                              </m:r>
                            </m:e>
                          </m:eqArr>
                        </m:e>
                      </m:d>
                    </m:oMath>
                  </m:oMathPara>
                </a14:m>
                <a:endParaRPr lang="en-US" altLang="zh-CN" dirty="0" smtClean="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l="-999" t="-1310" r="-499"/>
                </a:stretch>
              </a:blipFill>
            </p:spPr>
            <p:txBody>
              <a:bodyPr/>
              <a:lstStyle/>
              <a:p>
                <a:r>
                  <a:rPr lang="zh-CN" altLang="en-US">
                    <a:noFill/>
                  </a:rPr>
                  <a:t> </a:t>
                </a:r>
              </a:p>
            </p:txBody>
          </p:sp>
        </mc:Fallback>
      </mc:AlternateContent>
      <p:sp>
        <p:nvSpPr>
          <p:cNvPr id="4" name="日期占位符 3"/>
          <p:cNvSpPr>
            <a:spLocks noGrp="1"/>
          </p:cNvSpPr>
          <p:nvPr>
            <p:ph type="dt" sz="half" idx="10"/>
          </p:nvPr>
        </p:nvSpPr>
        <p:spPr/>
        <p:txBody>
          <a:bodyPr/>
          <a:lstStyle/>
          <a:p>
            <a:fld id="{E08CE71B-BC3E-4A72-8468-908327F65DCC}" type="datetime1">
              <a:rPr lang="zh-CN" altLang="en-US" smtClean="0"/>
              <a:t>2025/3/14</a:t>
            </a:fld>
            <a:endParaRPr lang="zh-CN" altLang="en-US" dirty="0"/>
          </a:p>
        </p:txBody>
      </p:sp>
      <p:sp>
        <p:nvSpPr>
          <p:cNvPr id="5" name="页脚占位符 4"/>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6" name="灯片编号占位符 5"/>
          <p:cNvSpPr>
            <a:spLocks noGrp="1"/>
          </p:cNvSpPr>
          <p:nvPr>
            <p:ph type="sldNum" sz="quarter" idx="12"/>
          </p:nvPr>
        </p:nvSpPr>
        <p:spPr/>
        <p:txBody>
          <a:bodyPr/>
          <a:lstStyle/>
          <a:p>
            <a:fld id="{67913A8A-9EFB-4B5F-9CCB-3D21173FAA85}" type="slidenum">
              <a:rPr lang="zh-CN" altLang="en-US" smtClean="0"/>
              <a:pPr/>
              <a:t>81</a:t>
            </a:fld>
            <a:endParaRPr lang="zh-CN" altLang="en-US" dirty="0"/>
          </a:p>
        </p:txBody>
      </p:sp>
      <p:pic>
        <p:nvPicPr>
          <p:cNvPr id="7" name="图片 6"/>
          <p:cNvPicPr>
            <a:picLocks noChangeAspect="1"/>
          </p:cNvPicPr>
          <p:nvPr/>
        </p:nvPicPr>
        <p:blipFill>
          <a:blip r:embed="rId3"/>
          <a:stretch>
            <a:fillRect/>
          </a:stretch>
        </p:blipFill>
        <p:spPr>
          <a:xfrm>
            <a:off x="9619865" y="4468687"/>
            <a:ext cx="1973687" cy="1925782"/>
          </a:xfrm>
          <a:prstGeom prst="rect">
            <a:avLst/>
          </a:prstGeom>
        </p:spPr>
      </p:pic>
      <p:sp>
        <p:nvSpPr>
          <p:cNvPr id="8" name="任意多边形 7"/>
          <p:cNvSpPr/>
          <p:nvPr/>
        </p:nvSpPr>
        <p:spPr>
          <a:xfrm>
            <a:off x="10162572" y="5856790"/>
            <a:ext cx="1114187" cy="243068"/>
          </a:xfrm>
          <a:custGeom>
            <a:avLst/>
            <a:gdLst>
              <a:gd name="connsiteX0" fmla="*/ 0 w 1114187"/>
              <a:gd name="connsiteY0" fmla="*/ 69448 h 243068"/>
              <a:gd name="connsiteX1" fmla="*/ 11575 w 1114187"/>
              <a:gd name="connsiteY1" fmla="*/ 138896 h 243068"/>
              <a:gd name="connsiteX2" fmla="*/ 23150 w 1114187"/>
              <a:gd name="connsiteY2" fmla="*/ 173620 h 243068"/>
              <a:gd name="connsiteX3" fmla="*/ 81023 w 1114187"/>
              <a:gd name="connsiteY3" fmla="*/ 196769 h 243068"/>
              <a:gd name="connsiteX4" fmla="*/ 115747 w 1114187"/>
              <a:gd name="connsiteY4" fmla="*/ 219919 h 243068"/>
              <a:gd name="connsiteX5" fmla="*/ 162046 w 1114187"/>
              <a:gd name="connsiteY5" fmla="*/ 243068 h 243068"/>
              <a:gd name="connsiteX6" fmla="*/ 960699 w 1114187"/>
              <a:gd name="connsiteY6" fmla="*/ 231494 h 243068"/>
              <a:gd name="connsiteX7" fmla="*/ 995423 w 1114187"/>
              <a:gd name="connsiteY7" fmla="*/ 219919 h 243068"/>
              <a:gd name="connsiteX8" fmla="*/ 1053296 w 1114187"/>
              <a:gd name="connsiteY8" fmla="*/ 208344 h 243068"/>
              <a:gd name="connsiteX9" fmla="*/ 1099595 w 1114187"/>
              <a:gd name="connsiteY9" fmla="*/ 150471 h 243068"/>
              <a:gd name="connsiteX10" fmla="*/ 1111170 w 1114187"/>
              <a:gd name="connsiteY10" fmla="*/ 104172 h 243068"/>
              <a:gd name="connsiteX11" fmla="*/ 1099595 w 1114187"/>
              <a:gd name="connsiteY11" fmla="*/ 23149 h 243068"/>
              <a:gd name="connsiteX12" fmla="*/ 625033 w 1114187"/>
              <a:gd name="connsiteY12" fmla="*/ 11575 h 243068"/>
              <a:gd name="connsiteX13" fmla="*/ 578734 w 1114187"/>
              <a:gd name="connsiteY13" fmla="*/ 0 h 243068"/>
              <a:gd name="connsiteX14" fmla="*/ 173620 w 1114187"/>
              <a:gd name="connsiteY14" fmla="*/ 11575 h 243068"/>
              <a:gd name="connsiteX15" fmla="*/ 127322 w 1114187"/>
              <a:gd name="connsiteY15" fmla="*/ 23149 h 2430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114187" h="243068">
                <a:moveTo>
                  <a:pt x="0" y="69448"/>
                </a:moveTo>
                <a:cubicBezTo>
                  <a:pt x="3858" y="92597"/>
                  <a:pt x="6484" y="115986"/>
                  <a:pt x="11575" y="138896"/>
                </a:cubicBezTo>
                <a:cubicBezTo>
                  <a:pt x="14222" y="150806"/>
                  <a:pt x="13777" y="165809"/>
                  <a:pt x="23150" y="173620"/>
                </a:cubicBezTo>
                <a:cubicBezTo>
                  <a:pt x="39111" y="186921"/>
                  <a:pt x="62440" y="187477"/>
                  <a:pt x="81023" y="196769"/>
                </a:cubicBezTo>
                <a:cubicBezTo>
                  <a:pt x="93465" y="202990"/>
                  <a:pt x="103669" y="213017"/>
                  <a:pt x="115747" y="219919"/>
                </a:cubicBezTo>
                <a:cubicBezTo>
                  <a:pt x="130728" y="228480"/>
                  <a:pt x="146613" y="235352"/>
                  <a:pt x="162046" y="243068"/>
                </a:cubicBezTo>
                <a:lnTo>
                  <a:pt x="960699" y="231494"/>
                </a:lnTo>
                <a:cubicBezTo>
                  <a:pt x="972895" y="231155"/>
                  <a:pt x="983587" y="222878"/>
                  <a:pt x="995423" y="219919"/>
                </a:cubicBezTo>
                <a:cubicBezTo>
                  <a:pt x="1014509" y="215147"/>
                  <a:pt x="1034005" y="212202"/>
                  <a:pt x="1053296" y="208344"/>
                </a:cubicBezTo>
                <a:cubicBezTo>
                  <a:pt x="1071966" y="189675"/>
                  <a:pt x="1088643" y="176025"/>
                  <a:pt x="1099595" y="150471"/>
                </a:cubicBezTo>
                <a:cubicBezTo>
                  <a:pt x="1105861" y="135849"/>
                  <a:pt x="1107312" y="119605"/>
                  <a:pt x="1111170" y="104172"/>
                </a:cubicBezTo>
                <a:cubicBezTo>
                  <a:pt x="1107312" y="77164"/>
                  <a:pt x="1126395" y="28254"/>
                  <a:pt x="1099595" y="23149"/>
                </a:cubicBezTo>
                <a:cubicBezTo>
                  <a:pt x="944155" y="-6458"/>
                  <a:pt x="783111" y="18601"/>
                  <a:pt x="625033" y="11575"/>
                </a:cubicBezTo>
                <a:cubicBezTo>
                  <a:pt x="609141" y="10869"/>
                  <a:pt x="594167" y="3858"/>
                  <a:pt x="578734" y="0"/>
                </a:cubicBezTo>
                <a:cubicBezTo>
                  <a:pt x="443696" y="3858"/>
                  <a:pt x="308526" y="4475"/>
                  <a:pt x="173620" y="11575"/>
                </a:cubicBezTo>
                <a:cubicBezTo>
                  <a:pt x="-69469" y="24369"/>
                  <a:pt x="215827" y="23149"/>
                  <a:pt x="127322" y="23149"/>
                </a:cubicBezTo>
              </a:path>
            </a:pathLst>
          </a:custGeom>
        </p:spPr>
        <p:style>
          <a:lnRef idx="3">
            <a:schemeClr val="accent2"/>
          </a:lnRef>
          <a:fillRef idx="0">
            <a:schemeClr val="accent2"/>
          </a:fillRef>
          <a:effectRef idx="2">
            <a:schemeClr val="accent2"/>
          </a:effectRef>
          <a:fontRef idx="minor">
            <a:schemeClr val="tx1"/>
          </a:fontRef>
        </p:style>
        <p:txBody>
          <a:bodyPr rtlCol="0" anchor="ctr"/>
          <a:lstStyle/>
          <a:p>
            <a:pPr algn="ctr"/>
            <a:endParaRPr lang="zh-CN" altLang="en-US"/>
          </a:p>
        </p:txBody>
      </p:sp>
      <p:sp>
        <p:nvSpPr>
          <p:cNvPr id="10" name="任意多边形 9"/>
          <p:cNvSpPr/>
          <p:nvPr/>
        </p:nvSpPr>
        <p:spPr>
          <a:xfrm>
            <a:off x="10131136" y="4987636"/>
            <a:ext cx="1362092" cy="1309878"/>
          </a:xfrm>
          <a:custGeom>
            <a:avLst/>
            <a:gdLst>
              <a:gd name="connsiteX0" fmla="*/ 0 w 1362092"/>
              <a:gd name="connsiteY0" fmla="*/ 1153391 h 1309878"/>
              <a:gd name="connsiteX1" fmla="*/ 51955 w 1362092"/>
              <a:gd name="connsiteY1" fmla="*/ 1205346 h 1309878"/>
              <a:gd name="connsiteX2" fmla="*/ 114300 w 1362092"/>
              <a:gd name="connsiteY2" fmla="*/ 1215737 h 1309878"/>
              <a:gd name="connsiteX3" fmla="*/ 166255 w 1362092"/>
              <a:gd name="connsiteY3" fmla="*/ 1226128 h 1309878"/>
              <a:gd name="connsiteX4" fmla="*/ 207819 w 1362092"/>
              <a:gd name="connsiteY4" fmla="*/ 1257300 h 1309878"/>
              <a:gd name="connsiteX5" fmla="*/ 259773 w 1362092"/>
              <a:gd name="connsiteY5" fmla="*/ 1278082 h 1309878"/>
              <a:gd name="connsiteX6" fmla="*/ 623455 w 1362092"/>
              <a:gd name="connsiteY6" fmla="*/ 1309255 h 1309878"/>
              <a:gd name="connsiteX7" fmla="*/ 1163782 w 1362092"/>
              <a:gd name="connsiteY7" fmla="*/ 1298864 h 1309878"/>
              <a:gd name="connsiteX8" fmla="*/ 1205346 w 1362092"/>
              <a:gd name="connsiteY8" fmla="*/ 1288473 h 1309878"/>
              <a:gd name="connsiteX9" fmla="*/ 1330037 w 1362092"/>
              <a:gd name="connsiteY9" fmla="*/ 1184564 h 1309878"/>
              <a:gd name="connsiteX10" fmla="*/ 1350819 w 1362092"/>
              <a:gd name="connsiteY10" fmla="*/ 1153391 h 1309878"/>
              <a:gd name="connsiteX11" fmla="*/ 1361209 w 1362092"/>
              <a:gd name="connsiteY11" fmla="*/ 1111828 h 1309878"/>
              <a:gd name="connsiteX12" fmla="*/ 1340428 w 1362092"/>
              <a:gd name="connsiteY12" fmla="*/ 893619 h 1309878"/>
              <a:gd name="connsiteX13" fmla="*/ 1319646 w 1362092"/>
              <a:gd name="connsiteY13" fmla="*/ 852055 h 1309878"/>
              <a:gd name="connsiteX14" fmla="*/ 1288473 w 1362092"/>
              <a:gd name="connsiteY14" fmla="*/ 800100 h 1309878"/>
              <a:gd name="connsiteX15" fmla="*/ 1215737 w 1362092"/>
              <a:gd name="connsiteY15" fmla="*/ 748146 h 1309878"/>
              <a:gd name="connsiteX16" fmla="*/ 1163782 w 1362092"/>
              <a:gd name="connsiteY16" fmla="*/ 716973 h 1309878"/>
              <a:gd name="connsiteX17" fmla="*/ 1132609 w 1362092"/>
              <a:gd name="connsiteY17" fmla="*/ 696191 h 1309878"/>
              <a:gd name="connsiteX18" fmla="*/ 1059873 w 1362092"/>
              <a:gd name="connsiteY18" fmla="*/ 654628 h 1309878"/>
              <a:gd name="connsiteX19" fmla="*/ 1028700 w 1362092"/>
              <a:gd name="connsiteY19" fmla="*/ 623455 h 1309878"/>
              <a:gd name="connsiteX20" fmla="*/ 966355 w 1362092"/>
              <a:gd name="connsiteY20" fmla="*/ 581891 h 1309878"/>
              <a:gd name="connsiteX21" fmla="*/ 914400 w 1362092"/>
              <a:gd name="connsiteY21" fmla="*/ 519546 h 1309878"/>
              <a:gd name="connsiteX22" fmla="*/ 883228 w 1362092"/>
              <a:gd name="connsiteY22" fmla="*/ 498764 h 1309878"/>
              <a:gd name="connsiteX23" fmla="*/ 852055 w 1362092"/>
              <a:gd name="connsiteY23" fmla="*/ 467591 h 1309878"/>
              <a:gd name="connsiteX24" fmla="*/ 779319 w 1362092"/>
              <a:gd name="connsiteY24" fmla="*/ 415637 h 1309878"/>
              <a:gd name="connsiteX25" fmla="*/ 737755 w 1362092"/>
              <a:gd name="connsiteY25" fmla="*/ 384464 h 1309878"/>
              <a:gd name="connsiteX26" fmla="*/ 706582 w 1362092"/>
              <a:gd name="connsiteY26" fmla="*/ 353291 h 1309878"/>
              <a:gd name="connsiteX27" fmla="*/ 675409 w 1362092"/>
              <a:gd name="connsiteY27" fmla="*/ 342900 h 1309878"/>
              <a:gd name="connsiteX28" fmla="*/ 644237 w 1362092"/>
              <a:gd name="connsiteY28" fmla="*/ 311728 h 1309878"/>
              <a:gd name="connsiteX29" fmla="*/ 613064 w 1362092"/>
              <a:gd name="connsiteY29" fmla="*/ 301337 h 1309878"/>
              <a:gd name="connsiteX30" fmla="*/ 529937 w 1362092"/>
              <a:gd name="connsiteY30" fmla="*/ 270164 h 1309878"/>
              <a:gd name="connsiteX31" fmla="*/ 488373 w 1362092"/>
              <a:gd name="connsiteY31" fmla="*/ 238991 h 1309878"/>
              <a:gd name="connsiteX32" fmla="*/ 457200 w 1362092"/>
              <a:gd name="connsiteY32" fmla="*/ 228600 h 1309878"/>
              <a:gd name="connsiteX33" fmla="*/ 436419 w 1362092"/>
              <a:gd name="connsiteY33" fmla="*/ 187037 h 1309878"/>
              <a:gd name="connsiteX34" fmla="*/ 405246 w 1362092"/>
              <a:gd name="connsiteY34" fmla="*/ 166255 h 1309878"/>
              <a:gd name="connsiteX35" fmla="*/ 311728 w 1362092"/>
              <a:gd name="connsiteY35" fmla="*/ 93519 h 1309878"/>
              <a:gd name="connsiteX36" fmla="*/ 218209 w 1362092"/>
              <a:gd name="connsiteY36" fmla="*/ 20782 h 1309878"/>
              <a:gd name="connsiteX37" fmla="*/ 187037 w 1362092"/>
              <a:gd name="connsiteY37" fmla="*/ 0 h 13098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362092" h="1309878">
                <a:moveTo>
                  <a:pt x="0" y="1153391"/>
                </a:moveTo>
                <a:cubicBezTo>
                  <a:pt x="17318" y="1170709"/>
                  <a:pt x="30454" y="1193618"/>
                  <a:pt x="51955" y="1205346"/>
                </a:cubicBezTo>
                <a:cubicBezTo>
                  <a:pt x="70451" y="1215435"/>
                  <a:pt x="93572" y="1211968"/>
                  <a:pt x="114300" y="1215737"/>
                </a:cubicBezTo>
                <a:cubicBezTo>
                  <a:pt x="131676" y="1218896"/>
                  <a:pt x="148937" y="1222664"/>
                  <a:pt x="166255" y="1226128"/>
                </a:cubicBezTo>
                <a:cubicBezTo>
                  <a:pt x="180110" y="1236519"/>
                  <a:pt x="192680" y="1248890"/>
                  <a:pt x="207819" y="1257300"/>
                </a:cubicBezTo>
                <a:cubicBezTo>
                  <a:pt x="224124" y="1266358"/>
                  <a:pt x="242244" y="1271708"/>
                  <a:pt x="259773" y="1278082"/>
                </a:cubicBezTo>
                <a:cubicBezTo>
                  <a:pt x="402947" y="1330146"/>
                  <a:pt x="366840" y="1300406"/>
                  <a:pt x="623455" y="1309255"/>
                </a:cubicBezTo>
                <a:lnTo>
                  <a:pt x="1163782" y="1298864"/>
                </a:lnTo>
                <a:cubicBezTo>
                  <a:pt x="1178054" y="1298354"/>
                  <a:pt x="1192573" y="1294860"/>
                  <a:pt x="1205346" y="1288473"/>
                </a:cubicBezTo>
                <a:cubicBezTo>
                  <a:pt x="1243680" y="1269306"/>
                  <a:pt x="1307058" y="1219032"/>
                  <a:pt x="1330037" y="1184564"/>
                </a:cubicBezTo>
                <a:lnTo>
                  <a:pt x="1350819" y="1153391"/>
                </a:lnTo>
                <a:cubicBezTo>
                  <a:pt x="1354282" y="1139537"/>
                  <a:pt x="1361209" y="1126109"/>
                  <a:pt x="1361209" y="1111828"/>
                </a:cubicBezTo>
                <a:cubicBezTo>
                  <a:pt x="1361209" y="1054047"/>
                  <a:pt x="1368636" y="959438"/>
                  <a:pt x="1340428" y="893619"/>
                </a:cubicBezTo>
                <a:cubicBezTo>
                  <a:pt x="1334326" y="879381"/>
                  <a:pt x="1327169" y="865596"/>
                  <a:pt x="1319646" y="852055"/>
                </a:cubicBezTo>
                <a:cubicBezTo>
                  <a:pt x="1309838" y="834400"/>
                  <a:pt x="1301773" y="815299"/>
                  <a:pt x="1288473" y="800100"/>
                </a:cubicBezTo>
                <a:cubicBezTo>
                  <a:pt x="1281119" y="791696"/>
                  <a:pt x="1229445" y="756714"/>
                  <a:pt x="1215737" y="748146"/>
                </a:cubicBezTo>
                <a:cubicBezTo>
                  <a:pt x="1198610" y="737442"/>
                  <a:pt x="1180909" y="727677"/>
                  <a:pt x="1163782" y="716973"/>
                </a:cubicBezTo>
                <a:cubicBezTo>
                  <a:pt x="1153192" y="710354"/>
                  <a:pt x="1143452" y="702387"/>
                  <a:pt x="1132609" y="696191"/>
                </a:cubicBezTo>
                <a:cubicBezTo>
                  <a:pt x="1100279" y="677716"/>
                  <a:pt x="1087485" y="677638"/>
                  <a:pt x="1059873" y="654628"/>
                </a:cubicBezTo>
                <a:cubicBezTo>
                  <a:pt x="1048584" y="645221"/>
                  <a:pt x="1040300" y="632477"/>
                  <a:pt x="1028700" y="623455"/>
                </a:cubicBezTo>
                <a:cubicBezTo>
                  <a:pt x="1008985" y="608121"/>
                  <a:pt x="966355" y="581891"/>
                  <a:pt x="966355" y="581891"/>
                </a:cubicBezTo>
                <a:cubicBezTo>
                  <a:pt x="945920" y="551240"/>
                  <a:pt x="944402" y="544548"/>
                  <a:pt x="914400" y="519546"/>
                </a:cubicBezTo>
                <a:cubicBezTo>
                  <a:pt x="904806" y="511551"/>
                  <a:pt x="892822" y="506759"/>
                  <a:pt x="883228" y="498764"/>
                </a:cubicBezTo>
                <a:cubicBezTo>
                  <a:pt x="871939" y="489356"/>
                  <a:pt x="863212" y="477154"/>
                  <a:pt x="852055" y="467591"/>
                </a:cubicBezTo>
                <a:cubicBezTo>
                  <a:pt x="818108" y="438494"/>
                  <a:pt x="812204" y="439126"/>
                  <a:pt x="779319" y="415637"/>
                </a:cubicBezTo>
                <a:cubicBezTo>
                  <a:pt x="765227" y="405571"/>
                  <a:pt x="750904" y="395735"/>
                  <a:pt x="737755" y="384464"/>
                </a:cubicBezTo>
                <a:cubicBezTo>
                  <a:pt x="726598" y="374901"/>
                  <a:pt x="718809" y="361442"/>
                  <a:pt x="706582" y="353291"/>
                </a:cubicBezTo>
                <a:cubicBezTo>
                  <a:pt x="697468" y="347215"/>
                  <a:pt x="685800" y="346364"/>
                  <a:pt x="675409" y="342900"/>
                </a:cubicBezTo>
                <a:cubicBezTo>
                  <a:pt x="665018" y="332509"/>
                  <a:pt x="656464" y="319879"/>
                  <a:pt x="644237" y="311728"/>
                </a:cubicBezTo>
                <a:cubicBezTo>
                  <a:pt x="635123" y="305652"/>
                  <a:pt x="623131" y="305652"/>
                  <a:pt x="613064" y="301337"/>
                </a:cubicBezTo>
                <a:cubicBezTo>
                  <a:pt x="536991" y="268734"/>
                  <a:pt x="606566" y="289322"/>
                  <a:pt x="529937" y="270164"/>
                </a:cubicBezTo>
                <a:cubicBezTo>
                  <a:pt x="516082" y="259773"/>
                  <a:pt x="503410" y="247583"/>
                  <a:pt x="488373" y="238991"/>
                </a:cubicBezTo>
                <a:cubicBezTo>
                  <a:pt x="478863" y="233557"/>
                  <a:pt x="464945" y="236345"/>
                  <a:pt x="457200" y="228600"/>
                </a:cubicBezTo>
                <a:cubicBezTo>
                  <a:pt x="446247" y="217647"/>
                  <a:pt x="446335" y="198936"/>
                  <a:pt x="436419" y="187037"/>
                </a:cubicBezTo>
                <a:cubicBezTo>
                  <a:pt x="428424" y="177443"/>
                  <a:pt x="415237" y="173748"/>
                  <a:pt x="405246" y="166255"/>
                </a:cubicBezTo>
                <a:cubicBezTo>
                  <a:pt x="373653" y="142560"/>
                  <a:pt x="344587" y="115425"/>
                  <a:pt x="311728" y="93519"/>
                </a:cubicBezTo>
                <a:cubicBezTo>
                  <a:pt x="154166" y="-11522"/>
                  <a:pt x="315870" y="102167"/>
                  <a:pt x="218209" y="20782"/>
                </a:cubicBezTo>
                <a:cubicBezTo>
                  <a:pt x="208615" y="12787"/>
                  <a:pt x="187037" y="0"/>
                  <a:pt x="187037" y="0"/>
                </a:cubicBezTo>
              </a:path>
            </a:pathLst>
          </a:cu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任意多边形 11"/>
          <p:cNvSpPr/>
          <p:nvPr/>
        </p:nvSpPr>
        <p:spPr>
          <a:xfrm>
            <a:off x="10290042" y="4939323"/>
            <a:ext cx="159127" cy="203200"/>
          </a:xfrm>
          <a:custGeom>
            <a:avLst/>
            <a:gdLst>
              <a:gd name="connsiteX0" fmla="*/ 159127 w 159127"/>
              <a:gd name="connsiteY0" fmla="*/ 31262 h 203200"/>
              <a:gd name="connsiteX1" fmla="*/ 41896 w 159127"/>
              <a:gd name="connsiteY1" fmla="*/ 0 h 203200"/>
              <a:gd name="connsiteX2" fmla="*/ 2820 w 159127"/>
              <a:gd name="connsiteY2" fmla="*/ 7815 h 203200"/>
              <a:gd name="connsiteX3" fmla="*/ 10635 w 159127"/>
              <a:gd name="connsiteY3" fmla="*/ 78154 h 203200"/>
              <a:gd name="connsiteX4" fmla="*/ 18450 w 159127"/>
              <a:gd name="connsiteY4" fmla="*/ 164123 h 203200"/>
              <a:gd name="connsiteX5" fmla="*/ 26266 w 159127"/>
              <a:gd name="connsiteY5" fmla="*/ 203200 h 203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9127" h="203200">
                <a:moveTo>
                  <a:pt x="159127" y="31262"/>
                </a:moveTo>
                <a:cubicBezTo>
                  <a:pt x="73756" y="2804"/>
                  <a:pt x="113167" y="11878"/>
                  <a:pt x="41896" y="0"/>
                </a:cubicBezTo>
                <a:cubicBezTo>
                  <a:pt x="28871" y="2605"/>
                  <a:pt x="7753" y="-4518"/>
                  <a:pt x="2820" y="7815"/>
                </a:cubicBezTo>
                <a:cubicBezTo>
                  <a:pt x="-5941" y="29718"/>
                  <a:pt x="8288" y="54680"/>
                  <a:pt x="10635" y="78154"/>
                </a:cubicBezTo>
                <a:cubicBezTo>
                  <a:pt x="13498" y="106786"/>
                  <a:pt x="14647" y="135601"/>
                  <a:pt x="18450" y="164123"/>
                </a:cubicBezTo>
                <a:cubicBezTo>
                  <a:pt x="26898" y="227481"/>
                  <a:pt x="26266" y="177473"/>
                  <a:pt x="26266" y="203200"/>
                </a:cubicBezTo>
              </a:path>
            </a:pathLst>
          </a:cu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任意多边形 12"/>
          <p:cNvSpPr/>
          <p:nvPr/>
        </p:nvSpPr>
        <p:spPr>
          <a:xfrm>
            <a:off x="10191262" y="5799015"/>
            <a:ext cx="195384" cy="164123"/>
          </a:xfrm>
          <a:custGeom>
            <a:avLst/>
            <a:gdLst>
              <a:gd name="connsiteX0" fmla="*/ 156307 w 195384"/>
              <a:gd name="connsiteY0" fmla="*/ 0 h 164123"/>
              <a:gd name="connsiteX1" fmla="*/ 117230 w 195384"/>
              <a:gd name="connsiteY1" fmla="*/ 15631 h 164123"/>
              <a:gd name="connsiteX2" fmla="*/ 70338 w 195384"/>
              <a:gd name="connsiteY2" fmla="*/ 31262 h 164123"/>
              <a:gd name="connsiteX3" fmla="*/ 39076 w 195384"/>
              <a:gd name="connsiteY3" fmla="*/ 54708 h 164123"/>
              <a:gd name="connsiteX4" fmla="*/ 15630 w 195384"/>
              <a:gd name="connsiteY4" fmla="*/ 62523 h 164123"/>
              <a:gd name="connsiteX5" fmla="*/ 0 w 195384"/>
              <a:gd name="connsiteY5" fmla="*/ 85970 h 164123"/>
              <a:gd name="connsiteX6" fmla="*/ 78153 w 195384"/>
              <a:gd name="connsiteY6" fmla="*/ 117231 h 164123"/>
              <a:gd name="connsiteX7" fmla="*/ 132861 w 195384"/>
              <a:gd name="connsiteY7" fmla="*/ 140677 h 164123"/>
              <a:gd name="connsiteX8" fmla="*/ 187569 w 195384"/>
              <a:gd name="connsiteY8" fmla="*/ 156308 h 164123"/>
              <a:gd name="connsiteX9" fmla="*/ 195384 w 195384"/>
              <a:gd name="connsiteY9" fmla="*/ 164123 h 164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5384" h="164123">
                <a:moveTo>
                  <a:pt x="156307" y="0"/>
                </a:moveTo>
                <a:cubicBezTo>
                  <a:pt x="143281" y="5210"/>
                  <a:pt x="130414" y="10837"/>
                  <a:pt x="117230" y="15631"/>
                </a:cubicBezTo>
                <a:cubicBezTo>
                  <a:pt x="101746" y="21262"/>
                  <a:pt x="70338" y="31262"/>
                  <a:pt x="70338" y="31262"/>
                </a:cubicBezTo>
                <a:cubicBezTo>
                  <a:pt x="59917" y="39077"/>
                  <a:pt x="50386" y="48246"/>
                  <a:pt x="39076" y="54708"/>
                </a:cubicBezTo>
                <a:cubicBezTo>
                  <a:pt x="31923" y="58795"/>
                  <a:pt x="22063" y="57377"/>
                  <a:pt x="15630" y="62523"/>
                </a:cubicBezTo>
                <a:cubicBezTo>
                  <a:pt x="8295" y="68391"/>
                  <a:pt x="5210" y="78154"/>
                  <a:pt x="0" y="85970"/>
                </a:cubicBezTo>
                <a:cubicBezTo>
                  <a:pt x="39285" y="125255"/>
                  <a:pt x="7815" y="103163"/>
                  <a:pt x="78153" y="117231"/>
                </a:cubicBezTo>
                <a:cubicBezTo>
                  <a:pt x="105875" y="122775"/>
                  <a:pt x="103816" y="129785"/>
                  <a:pt x="132861" y="140677"/>
                </a:cubicBezTo>
                <a:cubicBezTo>
                  <a:pt x="152885" y="148186"/>
                  <a:pt x="168681" y="146864"/>
                  <a:pt x="187569" y="156308"/>
                </a:cubicBezTo>
                <a:cubicBezTo>
                  <a:pt x="190864" y="157956"/>
                  <a:pt x="192779" y="161518"/>
                  <a:pt x="195384" y="164123"/>
                </a:cubicBezTo>
              </a:path>
            </a:pathLst>
          </a:custGeom>
          <a:noFill/>
          <a:ln w="222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任意多边形 13"/>
          <p:cNvSpPr/>
          <p:nvPr/>
        </p:nvSpPr>
        <p:spPr>
          <a:xfrm>
            <a:off x="10496062" y="4962769"/>
            <a:ext cx="943829" cy="745370"/>
          </a:xfrm>
          <a:custGeom>
            <a:avLst/>
            <a:gdLst>
              <a:gd name="connsiteX0" fmla="*/ 914400 w 943829"/>
              <a:gd name="connsiteY0" fmla="*/ 0 h 745370"/>
              <a:gd name="connsiteX1" fmla="*/ 914400 w 943829"/>
              <a:gd name="connsiteY1" fmla="*/ 742462 h 745370"/>
              <a:gd name="connsiteX2" fmla="*/ 898769 w 943829"/>
              <a:gd name="connsiteY2" fmla="*/ 703385 h 745370"/>
              <a:gd name="connsiteX3" fmla="*/ 859692 w 943829"/>
              <a:gd name="connsiteY3" fmla="*/ 656493 h 745370"/>
              <a:gd name="connsiteX4" fmla="*/ 812800 w 943829"/>
              <a:gd name="connsiteY4" fmla="*/ 625231 h 745370"/>
              <a:gd name="connsiteX5" fmla="*/ 758092 w 943829"/>
              <a:gd name="connsiteY5" fmla="*/ 593969 h 745370"/>
              <a:gd name="connsiteX6" fmla="*/ 695569 w 943829"/>
              <a:gd name="connsiteY6" fmla="*/ 562708 h 745370"/>
              <a:gd name="connsiteX7" fmla="*/ 625230 w 943829"/>
              <a:gd name="connsiteY7" fmla="*/ 523631 h 745370"/>
              <a:gd name="connsiteX8" fmla="*/ 578338 w 943829"/>
              <a:gd name="connsiteY8" fmla="*/ 476739 h 745370"/>
              <a:gd name="connsiteX9" fmla="*/ 562707 w 943829"/>
              <a:gd name="connsiteY9" fmla="*/ 453293 h 745370"/>
              <a:gd name="connsiteX10" fmla="*/ 508000 w 943829"/>
              <a:gd name="connsiteY10" fmla="*/ 398585 h 745370"/>
              <a:gd name="connsiteX11" fmla="*/ 476738 w 943829"/>
              <a:gd name="connsiteY11" fmla="*/ 367323 h 745370"/>
              <a:gd name="connsiteX12" fmla="*/ 453292 w 943829"/>
              <a:gd name="connsiteY12" fmla="*/ 343877 h 745370"/>
              <a:gd name="connsiteX13" fmla="*/ 414215 w 943829"/>
              <a:gd name="connsiteY13" fmla="*/ 296985 h 745370"/>
              <a:gd name="connsiteX14" fmla="*/ 359507 w 943829"/>
              <a:gd name="connsiteY14" fmla="*/ 257908 h 745370"/>
              <a:gd name="connsiteX15" fmla="*/ 328246 w 943829"/>
              <a:gd name="connsiteY15" fmla="*/ 242277 h 745370"/>
              <a:gd name="connsiteX16" fmla="*/ 312615 w 943829"/>
              <a:gd name="connsiteY16" fmla="*/ 218831 h 745370"/>
              <a:gd name="connsiteX17" fmla="*/ 289169 w 943829"/>
              <a:gd name="connsiteY17" fmla="*/ 211016 h 745370"/>
              <a:gd name="connsiteX18" fmla="*/ 265723 w 943829"/>
              <a:gd name="connsiteY18" fmla="*/ 195385 h 745370"/>
              <a:gd name="connsiteX19" fmla="*/ 203200 w 943829"/>
              <a:gd name="connsiteY19" fmla="*/ 164123 h 745370"/>
              <a:gd name="connsiteX20" fmla="*/ 132861 w 943829"/>
              <a:gd name="connsiteY20" fmla="*/ 125046 h 745370"/>
              <a:gd name="connsiteX21" fmla="*/ 101600 w 943829"/>
              <a:gd name="connsiteY21" fmla="*/ 117231 h 745370"/>
              <a:gd name="connsiteX22" fmla="*/ 39076 w 943829"/>
              <a:gd name="connsiteY22" fmla="*/ 85969 h 745370"/>
              <a:gd name="connsiteX23" fmla="*/ 0 w 943829"/>
              <a:gd name="connsiteY23" fmla="*/ 78154 h 7453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943829" h="745370">
                <a:moveTo>
                  <a:pt x="914400" y="0"/>
                </a:moveTo>
                <a:cubicBezTo>
                  <a:pt x="967363" y="264827"/>
                  <a:pt x="937094" y="99456"/>
                  <a:pt x="914400" y="742462"/>
                </a:cubicBezTo>
                <a:cubicBezTo>
                  <a:pt x="913905" y="756482"/>
                  <a:pt x="905043" y="715933"/>
                  <a:pt x="898769" y="703385"/>
                </a:cubicBezTo>
                <a:cubicBezTo>
                  <a:pt x="890559" y="686965"/>
                  <a:pt x="873833" y="667492"/>
                  <a:pt x="859692" y="656493"/>
                </a:cubicBezTo>
                <a:cubicBezTo>
                  <a:pt x="844863" y="644960"/>
                  <a:pt x="812800" y="625231"/>
                  <a:pt x="812800" y="625231"/>
                </a:cubicBezTo>
                <a:cubicBezTo>
                  <a:pt x="781893" y="578872"/>
                  <a:pt x="817562" y="620400"/>
                  <a:pt x="758092" y="593969"/>
                </a:cubicBezTo>
                <a:cubicBezTo>
                  <a:pt x="655616" y="548424"/>
                  <a:pt x="791105" y="586591"/>
                  <a:pt x="695569" y="562708"/>
                </a:cubicBezTo>
                <a:cubicBezTo>
                  <a:pt x="641822" y="526876"/>
                  <a:pt x="666498" y="537386"/>
                  <a:pt x="625230" y="523631"/>
                </a:cubicBezTo>
                <a:cubicBezTo>
                  <a:pt x="588397" y="468379"/>
                  <a:pt x="636499" y="534898"/>
                  <a:pt x="578338" y="476739"/>
                </a:cubicBezTo>
                <a:cubicBezTo>
                  <a:pt x="571696" y="470097"/>
                  <a:pt x="568991" y="460275"/>
                  <a:pt x="562707" y="453293"/>
                </a:cubicBezTo>
                <a:cubicBezTo>
                  <a:pt x="545455" y="434124"/>
                  <a:pt x="526236" y="416821"/>
                  <a:pt x="508000" y="398585"/>
                </a:cubicBezTo>
                <a:lnTo>
                  <a:pt x="476738" y="367323"/>
                </a:lnTo>
                <a:cubicBezTo>
                  <a:pt x="468923" y="359508"/>
                  <a:pt x="459423" y="353073"/>
                  <a:pt x="453292" y="343877"/>
                </a:cubicBezTo>
                <a:cubicBezTo>
                  <a:pt x="437213" y="319759"/>
                  <a:pt x="437616" y="317043"/>
                  <a:pt x="414215" y="296985"/>
                </a:cubicBezTo>
                <a:cubicBezTo>
                  <a:pt x="405831" y="289799"/>
                  <a:pt x="371875" y="264976"/>
                  <a:pt x="359507" y="257908"/>
                </a:cubicBezTo>
                <a:cubicBezTo>
                  <a:pt x="349392" y="252128"/>
                  <a:pt x="338666" y="247487"/>
                  <a:pt x="328246" y="242277"/>
                </a:cubicBezTo>
                <a:cubicBezTo>
                  <a:pt x="323036" y="234462"/>
                  <a:pt x="319950" y="224699"/>
                  <a:pt x="312615" y="218831"/>
                </a:cubicBezTo>
                <a:cubicBezTo>
                  <a:pt x="306182" y="213685"/>
                  <a:pt x="296537" y="214700"/>
                  <a:pt x="289169" y="211016"/>
                </a:cubicBezTo>
                <a:cubicBezTo>
                  <a:pt x="280768" y="206815"/>
                  <a:pt x="273969" y="199883"/>
                  <a:pt x="265723" y="195385"/>
                </a:cubicBezTo>
                <a:cubicBezTo>
                  <a:pt x="245267" y="184227"/>
                  <a:pt x="222588" y="177048"/>
                  <a:pt x="203200" y="164123"/>
                </a:cubicBezTo>
                <a:cubicBezTo>
                  <a:pt x="161222" y="136138"/>
                  <a:pt x="168968" y="135362"/>
                  <a:pt x="132861" y="125046"/>
                </a:cubicBezTo>
                <a:cubicBezTo>
                  <a:pt x="122533" y="122095"/>
                  <a:pt x="112020" y="119836"/>
                  <a:pt x="101600" y="117231"/>
                </a:cubicBezTo>
                <a:cubicBezTo>
                  <a:pt x="80759" y="106810"/>
                  <a:pt x="61925" y="90539"/>
                  <a:pt x="39076" y="85969"/>
                </a:cubicBezTo>
                <a:lnTo>
                  <a:pt x="0" y="78154"/>
                </a:lnTo>
              </a:path>
            </a:pathLst>
          </a:cu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任意多边形 14"/>
          <p:cNvSpPr/>
          <p:nvPr/>
        </p:nvSpPr>
        <p:spPr>
          <a:xfrm>
            <a:off x="10447999" y="5001846"/>
            <a:ext cx="165293" cy="101629"/>
          </a:xfrm>
          <a:custGeom>
            <a:avLst/>
            <a:gdLst>
              <a:gd name="connsiteX0" fmla="*/ 165293 w 165293"/>
              <a:gd name="connsiteY0" fmla="*/ 0 h 101629"/>
              <a:gd name="connsiteX1" fmla="*/ 24616 w 165293"/>
              <a:gd name="connsiteY1" fmla="*/ 15631 h 101629"/>
              <a:gd name="connsiteX2" fmla="*/ 1170 w 165293"/>
              <a:gd name="connsiteY2" fmla="*/ 23446 h 101629"/>
              <a:gd name="connsiteX3" fmla="*/ 8986 w 165293"/>
              <a:gd name="connsiteY3" fmla="*/ 46892 h 101629"/>
              <a:gd name="connsiteX4" fmla="*/ 55878 w 165293"/>
              <a:gd name="connsiteY4" fmla="*/ 78154 h 101629"/>
              <a:gd name="connsiteX5" fmla="*/ 87139 w 165293"/>
              <a:gd name="connsiteY5" fmla="*/ 101600 h 101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5293" h="101629">
                <a:moveTo>
                  <a:pt x="165293" y="0"/>
                </a:moveTo>
                <a:cubicBezTo>
                  <a:pt x="118401" y="5210"/>
                  <a:pt x="71323" y="8959"/>
                  <a:pt x="24616" y="15631"/>
                </a:cubicBezTo>
                <a:cubicBezTo>
                  <a:pt x="16461" y="16796"/>
                  <a:pt x="4854" y="16078"/>
                  <a:pt x="1170" y="23446"/>
                </a:cubicBezTo>
                <a:cubicBezTo>
                  <a:pt x="-2514" y="30814"/>
                  <a:pt x="3161" y="41067"/>
                  <a:pt x="8986" y="46892"/>
                </a:cubicBezTo>
                <a:cubicBezTo>
                  <a:pt x="22270" y="60176"/>
                  <a:pt x="42594" y="64870"/>
                  <a:pt x="55878" y="78154"/>
                </a:cubicBezTo>
                <a:cubicBezTo>
                  <a:pt x="81166" y="103442"/>
                  <a:pt x="68271" y="101600"/>
                  <a:pt x="87139" y="101600"/>
                </a:cubicBezTo>
              </a:path>
            </a:pathLst>
          </a:cu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0755205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wipe(down)">
                                      <p:cBhvr>
                                        <p:cTn id="7" dur="500"/>
                                        <p:tgtEl>
                                          <p:spTgt spid="3">
                                            <p:txEl>
                                              <p:pRg st="1" end="1"/>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wipe(down)">
                                      <p:cBhvr>
                                        <p:cTn id="10" dur="500"/>
                                        <p:tgtEl>
                                          <p:spTgt spid="3">
                                            <p:txEl>
                                              <p:pRg st="2" end="2"/>
                                            </p:txEl>
                                          </p:spTgt>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wipe(down)">
                                      <p:cBhvr>
                                        <p:cTn id="13" dur="500"/>
                                        <p:tgtEl>
                                          <p:spTgt spid="8"/>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wipe(down)">
                                      <p:cBhvr>
                                        <p:cTn id="16" dur="500"/>
                                        <p:tgtEl>
                                          <p:spTgt spid="13"/>
                                        </p:tgtEl>
                                      </p:cBhvr>
                                    </p:animEffect>
                                  </p:childTnLst>
                                </p:cTn>
                              </p:par>
                              <p:par>
                                <p:cTn id="17" presetID="22" presetClass="entr" presetSubtype="4"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wipe(down)">
                                      <p:cBhvr>
                                        <p:cTn id="19" dur="500"/>
                                        <p:tgtEl>
                                          <p:spTgt spid="12"/>
                                        </p:tgtEl>
                                      </p:cBhvr>
                                    </p:animEffect>
                                  </p:childTnLst>
                                </p:cTn>
                              </p:par>
                              <p:par>
                                <p:cTn id="20" presetID="22" presetClass="entr" presetSubtype="4" fill="hold" grpId="0" nodeType="with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wipe(down)">
                                      <p:cBhvr>
                                        <p:cTn id="22" dur="500"/>
                                        <p:tgtEl>
                                          <p:spTgt spid="14"/>
                                        </p:tgtEl>
                                      </p:cBhvr>
                                    </p:animEffect>
                                  </p:childTnLst>
                                </p:cTn>
                              </p:par>
                              <p:par>
                                <p:cTn id="23" presetID="22" presetClass="entr" presetSubtype="4" fill="hold" grpId="0" nodeType="withEffect">
                                  <p:stCondLst>
                                    <p:cond delay="0"/>
                                  </p:stCondLst>
                                  <p:childTnLst>
                                    <p:set>
                                      <p:cBhvr>
                                        <p:cTn id="24" dur="1" fill="hold">
                                          <p:stCondLst>
                                            <p:cond delay="0"/>
                                          </p:stCondLst>
                                        </p:cTn>
                                        <p:tgtEl>
                                          <p:spTgt spid="15"/>
                                        </p:tgtEl>
                                        <p:attrNameLst>
                                          <p:attrName>style.visibility</p:attrName>
                                        </p:attrNameLst>
                                      </p:cBhvr>
                                      <p:to>
                                        <p:strVal val="visible"/>
                                      </p:to>
                                    </p:set>
                                    <p:animEffect transition="in" filter="wipe(down)">
                                      <p:cBhvr>
                                        <p:cTn id="25" dur="500"/>
                                        <p:tgtEl>
                                          <p:spTgt spid="15"/>
                                        </p:tgtEl>
                                      </p:cBhvr>
                                    </p:animEffect>
                                  </p:childTnLst>
                                </p:cTn>
                              </p:par>
                              <p:par>
                                <p:cTn id="26" presetID="22" presetClass="entr" presetSubtype="4" fill="hold" grpId="0" nodeType="with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wipe(down)">
                                      <p:cBhvr>
                                        <p:cTn id="28"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12" grpId="0" animBg="1"/>
      <p:bldP spid="13" grpId="0" animBg="1"/>
      <p:bldP spid="14" grpId="0" animBg="1"/>
      <p:bldP spid="15" grpId="0" animBg="1"/>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沃舍尔算法</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normAutofit/>
              </a:bodyPr>
              <a:lstStyle/>
              <a:p>
                <a:r>
                  <a:rPr lang="zh-CN" altLang="en-US" dirty="0" smtClean="0"/>
                  <a:t>接下来计算</a:t>
                </a:r>
                <a14:m>
                  <m:oMath xmlns:m="http://schemas.openxmlformats.org/officeDocument/2006/math">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W</m:t>
                        </m:r>
                      </m:e>
                      <m:sub>
                        <m:r>
                          <a:rPr lang="en-US" altLang="zh-CN" b="0" i="1" smtClean="0">
                            <a:latin typeface="Cambria Math" panose="02040503050406030204" pitchFamily="18" charset="0"/>
                          </a:rPr>
                          <m:t>4</m:t>
                        </m:r>
                      </m:sub>
                    </m:sSub>
                    <m:r>
                      <a:rPr lang="en-US" altLang="zh-CN" b="0" i="1" smtClean="0">
                        <a:latin typeface="Cambria Math" panose="02040503050406030204" pitchFamily="18" charset="0"/>
                      </a:rPr>
                      <m:t>.</m:t>
                    </m:r>
                  </m:oMath>
                </a14:m>
                <a:r>
                  <a:rPr lang="zh-CN" altLang="en-US" dirty="0" smtClean="0"/>
                  <a:t> 如果存在一条从</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𝑣</m:t>
                        </m:r>
                      </m:e>
                      <m:sub>
                        <m:r>
                          <a:rPr lang="en-US" altLang="zh-CN" i="1">
                            <a:latin typeface="Cambria Math" panose="02040503050406030204" pitchFamily="18" charset="0"/>
                          </a:rPr>
                          <m:t>𝑖</m:t>
                        </m:r>
                      </m:sub>
                    </m:sSub>
                  </m:oMath>
                </a14:m>
                <a:r>
                  <a:rPr lang="zh-CN" altLang="en-US" dirty="0"/>
                  <a:t>到</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𝑣</m:t>
                        </m:r>
                      </m:e>
                      <m:sub>
                        <m:r>
                          <a:rPr lang="en-US" altLang="zh-CN" i="1">
                            <a:latin typeface="Cambria Math" panose="02040503050406030204" pitchFamily="18" charset="0"/>
                          </a:rPr>
                          <m:t>𝑗</m:t>
                        </m:r>
                      </m:sub>
                    </m:sSub>
                  </m:oMath>
                </a14:m>
                <a:r>
                  <a:rPr lang="zh-CN" altLang="en-US" dirty="0"/>
                  <a:t>的</a:t>
                </a:r>
                <a:r>
                  <a:rPr lang="zh-CN" altLang="en-US" dirty="0" smtClean="0"/>
                  <a:t>路径且只有</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𝑣</m:t>
                        </m:r>
                      </m:e>
                      <m:sub>
                        <m:r>
                          <a:rPr lang="en-US" altLang="zh-CN" i="1">
                            <a:latin typeface="Cambria Math" panose="02040503050406030204" pitchFamily="18" charset="0"/>
                          </a:rPr>
                          <m:t>1</m:t>
                        </m:r>
                      </m:sub>
                    </m:sSub>
                  </m:oMath>
                </a14:m>
                <a:r>
                  <a:rPr lang="en-US" altLang="zh-CN" dirty="0"/>
                  <a:t>=a,</a:t>
                </a:r>
                <a:r>
                  <a:rPr lang="zh-CN" altLang="en-US" dirty="0"/>
                  <a:t>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𝑣</m:t>
                        </m:r>
                      </m:e>
                      <m:sub>
                        <m:r>
                          <a:rPr lang="en-US" altLang="zh-CN" i="1">
                            <a:latin typeface="Cambria Math" panose="02040503050406030204" pitchFamily="18" charset="0"/>
                          </a:rPr>
                          <m:t>2</m:t>
                        </m:r>
                      </m:sub>
                    </m:sSub>
                  </m:oMath>
                </a14:m>
                <a:r>
                  <a:rPr lang="en-US" altLang="zh-CN" dirty="0"/>
                  <a:t>=b,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𝑣</m:t>
                        </m:r>
                      </m:e>
                      <m:sub>
                        <m:r>
                          <a:rPr lang="en-US" altLang="zh-CN" i="1">
                            <a:latin typeface="Cambria Math" panose="02040503050406030204" pitchFamily="18" charset="0"/>
                          </a:rPr>
                          <m:t>3</m:t>
                        </m:r>
                      </m:sub>
                    </m:sSub>
                  </m:oMath>
                </a14:m>
                <a:r>
                  <a:rPr lang="en-US" altLang="zh-CN" dirty="0"/>
                  <a:t>=</a:t>
                </a:r>
                <a:r>
                  <a:rPr lang="en-US" altLang="zh-CN" dirty="0" smtClean="0"/>
                  <a:t>c,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𝑣</m:t>
                        </m:r>
                      </m:e>
                      <m:sub>
                        <m:r>
                          <a:rPr lang="en-US" altLang="zh-CN" i="1">
                            <a:latin typeface="Cambria Math" panose="02040503050406030204" pitchFamily="18" charset="0"/>
                          </a:rPr>
                          <m:t>4</m:t>
                        </m:r>
                      </m:sub>
                    </m:sSub>
                    <m:r>
                      <a:rPr lang="en-US" altLang="zh-CN">
                        <a:latin typeface="Cambria Math" panose="02040503050406030204" pitchFamily="18" charset="0"/>
                      </a:rPr>
                      <m:t>=</m:t>
                    </m:r>
                    <m:r>
                      <m:rPr>
                        <m:sty m:val="p"/>
                      </m:rPr>
                      <a:rPr lang="en-US" altLang="zh-CN">
                        <a:latin typeface="Cambria Math" panose="02040503050406030204" pitchFamily="18" charset="0"/>
                      </a:rPr>
                      <m:t>d</m:t>
                    </m:r>
                  </m:oMath>
                </a14:m>
                <a:r>
                  <a:rPr lang="zh-CN" altLang="en-US" dirty="0" smtClean="0"/>
                  <a:t>作为内部顶点的路径</a:t>
                </a:r>
                <a:r>
                  <a:rPr lang="en-US" altLang="zh-CN" dirty="0" smtClean="0"/>
                  <a:t>, </a:t>
                </a:r>
                <a:r>
                  <a:rPr lang="zh-CN" altLang="en-US" dirty="0" smtClean="0"/>
                  <a:t>那么</a:t>
                </a:r>
                <a14:m>
                  <m:oMath xmlns:m="http://schemas.openxmlformats.org/officeDocument/2006/math">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W</m:t>
                        </m:r>
                      </m:e>
                      <m:sub>
                        <m:r>
                          <a:rPr lang="en-US" altLang="zh-CN" b="0" i="1" smtClean="0">
                            <a:latin typeface="Cambria Math" panose="02040503050406030204" pitchFamily="18" charset="0"/>
                          </a:rPr>
                          <m:t>4</m:t>
                        </m:r>
                      </m:sub>
                    </m:sSub>
                  </m:oMath>
                </a14:m>
                <a:r>
                  <a:rPr lang="zh-CN" altLang="en-US" dirty="0" smtClean="0"/>
                  <a:t>的项</a:t>
                </a:r>
                <a:r>
                  <a:rPr lang="en-US" altLang="zh-CN" dirty="0" smtClean="0"/>
                  <a:t>(</a:t>
                </a:r>
                <a:r>
                  <a:rPr lang="en-US" altLang="zh-CN" dirty="0" err="1" smtClean="0"/>
                  <a:t>i,j</a:t>
                </a:r>
                <a:r>
                  <a:rPr lang="en-US" altLang="zh-CN" dirty="0" smtClean="0"/>
                  <a:t>)</a:t>
                </a:r>
                <a:r>
                  <a:rPr lang="zh-CN" altLang="en-US" dirty="0" smtClean="0"/>
                  <a:t>为</a:t>
                </a:r>
                <a:r>
                  <a:rPr lang="en-US" altLang="zh-CN" dirty="0" smtClean="0"/>
                  <a:t>1.</a:t>
                </a:r>
                <a:r>
                  <a:rPr lang="zh-CN" altLang="en-US" dirty="0" smtClean="0"/>
                  <a:t> 有路径</a:t>
                </a:r>
                <a:r>
                  <a:rPr lang="en-US" altLang="zh-CN" dirty="0" err="1" smtClean="0"/>
                  <a:t>a,d,c,a</a:t>
                </a:r>
                <a:r>
                  <a:rPr lang="en-US" altLang="zh-CN" dirty="0" smtClean="0"/>
                  <a:t>, </a:t>
                </a:r>
                <a:r>
                  <a:rPr lang="zh-CN" altLang="en-US" dirty="0" smtClean="0"/>
                  <a:t>路径</a:t>
                </a:r>
                <a:r>
                  <a:rPr lang="en-US" altLang="zh-CN" dirty="0" err="1" smtClean="0"/>
                  <a:t>a,d,c</a:t>
                </a:r>
                <a:r>
                  <a:rPr lang="en-US" altLang="zh-CN" dirty="0" smtClean="0"/>
                  <a:t>, </a:t>
                </a:r>
                <a:r>
                  <a:rPr lang="zh-CN" altLang="en-US" dirty="0" smtClean="0"/>
                  <a:t>路径</a:t>
                </a:r>
                <a:r>
                  <a:rPr lang="en-US" altLang="zh-CN" dirty="0" err="1" smtClean="0"/>
                  <a:t>c,d,c</a:t>
                </a:r>
                <a:r>
                  <a:rPr lang="en-US" altLang="zh-CN" dirty="0" smtClean="0"/>
                  <a:t>, </a:t>
                </a:r>
                <a:r>
                  <a:rPr lang="zh-CN" altLang="en-US" dirty="0" smtClean="0"/>
                  <a:t>因此</a:t>
                </a:r>
                <a:endParaRPr lang="en-US" altLang="zh-CN" dirty="0" smtClean="0"/>
              </a:p>
              <a:p>
                <a:pPr marL="0" indent="0">
                  <a:buNone/>
                </a:pPr>
                <a14:m>
                  <m:oMathPara xmlns:m="http://schemas.openxmlformats.org/officeDocument/2006/math">
                    <m:oMathParaPr>
                      <m:jc m:val="centerGroup"/>
                    </m:oMathParaPr>
                    <m:oMath xmlns:m="http://schemas.openxmlformats.org/officeDocument/2006/math">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W</m:t>
                          </m:r>
                        </m:e>
                        <m:sub>
                          <m:r>
                            <a:rPr lang="en-US" altLang="zh-CN" b="0" i="1" smtClean="0">
                              <a:latin typeface="Cambria Math" panose="02040503050406030204" pitchFamily="18" charset="0"/>
                            </a:rPr>
                            <m:t>4</m:t>
                          </m:r>
                        </m:sub>
                      </m:sSub>
                      <m:r>
                        <a:rPr lang="en-US" altLang="zh-CN" i="1">
                          <a:latin typeface="Cambria Math" panose="02040503050406030204" pitchFamily="18" charset="0"/>
                        </a:rPr>
                        <m:t>=</m:t>
                      </m:r>
                      <m:d>
                        <m:dPr>
                          <m:begChr m:val="["/>
                          <m:endChr m:val="]"/>
                          <m:ctrlPr>
                            <a:rPr lang="en-US" altLang="zh-CN" i="1">
                              <a:latin typeface="Cambria Math" panose="02040503050406030204" pitchFamily="18" charset="0"/>
                            </a:rPr>
                          </m:ctrlPr>
                        </m:dPr>
                        <m:e>
                          <m:eqArr>
                            <m:eqArrPr>
                              <m:ctrlPr>
                                <a:rPr lang="en-US" altLang="zh-CN" i="1">
                                  <a:latin typeface="Cambria Math" panose="02040503050406030204" pitchFamily="18" charset="0"/>
                                </a:rPr>
                              </m:ctrlPr>
                            </m:eqArrPr>
                            <m:e>
                              <m:r>
                                <a:rPr lang="en-US" altLang="zh-CN" b="0" i="1" smtClean="0">
                                  <a:solidFill>
                                    <a:srgbClr val="C00000"/>
                                  </a:solidFill>
                                  <a:latin typeface="Cambria Math" panose="02040503050406030204" pitchFamily="18" charset="0"/>
                                </a:rPr>
                                <m:t>1</m:t>
                              </m:r>
                              <m:r>
                                <a:rPr lang="en-US" altLang="zh-CN" i="1">
                                  <a:latin typeface="Cambria Math" panose="02040503050406030204" pitchFamily="18" charset="0"/>
                                </a:rPr>
                                <m:t>0</m:t>
                              </m:r>
                              <m:r>
                                <a:rPr lang="en-US" altLang="zh-CN" b="0" i="1" smtClean="0">
                                  <a:solidFill>
                                    <a:srgbClr val="C00000"/>
                                  </a:solidFill>
                                  <a:latin typeface="Cambria Math" panose="02040503050406030204" pitchFamily="18" charset="0"/>
                                </a:rPr>
                                <m:t>1</m:t>
                              </m:r>
                              <m:r>
                                <a:rPr lang="en-US" altLang="zh-CN" i="1">
                                  <a:latin typeface="Cambria Math" panose="02040503050406030204" pitchFamily="18" charset="0"/>
                                </a:rPr>
                                <m:t>1</m:t>
                              </m:r>
                            </m:e>
                            <m:e>
                              <m:r>
                                <a:rPr lang="en-US" altLang="zh-CN" i="1">
                                  <a:latin typeface="Cambria Math" panose="02040503050406030204" pitchFamily="18" charset="0"/>
                                </a:rPr>
                                <m:t>1011</m:t>
                              </m:r>
                            </m:e>
                            <m:e>
                              <m:r>
                                <a:rPr lang="en-US" altLang="zh-CN" i="1">
                                  <a:latin typeface="Cambria Math" panose="02040503050406030204" pitchFamily="18" charset="0"/>
                                </a:rPr>
                                <m:t>10</m:t>
                              </m:r>
                              <m:r>
                                <a:rPr lang="en-US" altLang="zh-CN" b="0" i="1" smtClean="0">
                                  <a:solidFill>
                                    <a:srgbClr val="C00000"/>
                                  </a:solidFill>
                                  <a:latin typeface="Cambria Math" panose="02040503050406030204" pitchFamily="18" charset="0"/>
                                </a:rPr>
                                <m:t>1</m:t>
                              </m:r>
                              <m:r>
                                <a:rPr lang="en-US" altLang="zh-CN" i="1">
                                  <a:latin typeface="Cambria Math" panose="02040503050406030204" pitchFamily="18" charset="0"/>
                                </a:rPr>
                                <m:t>1</m:t>
                              </m:r>
                            </m:e>
                            <m:e>
                              <m:r>
                                <a:rPr lang="en-US" altLang="zh-CN" b="0" i="1" smtClean="0">
                                  <a:latin typeface="Cambria Math" panose="02040503050406030204" pitchFamily="18" charset="0"/>
                                </a:rPr>
                                <m:t>1</m:t>
                              </m:r>
                              <m:r>
                                <a:rPr lang="en-US" altLang="zh-CN" i="1">
                                  <a:latin typeface="Cambria Math" panose="02040503050406030204" pitchFamily="18" charset="0"/>
                                </a:rPr>
                                <m:t>01</m:t>
                              </m:r>
                              <m:r>
                                <a:rPr lang="en-US" altLang="zh-CN" b="0" i="1" smtClean="0">
                                  <a:latin typeface="Cambria Math" panose="02040503050406030204" pitchFamily="18" charset="0"/>
                                </a:rPr>
                                <m:t>1</m:t>
                              </m:r>
                            </m:e>
                          </m:eqArr>
                        </m:e>
                      </m:d>
                    </m:oMath>
                  </m:oMathPara>
                </a14:m>
                <a:endParaRPr lang="en-US" altLang="zh-CN" dirty="0" smtClean="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l="-999" t="-1310"/>
                </a:stretch>
              </a:blipFill>
            </p:spPr>
            <p:txBody>
              <a:bodyPr/>
              <a:lstStyle/>
              <a:p>
                <a:r>
                  <a:rPr lang="zh-CN" altLang="en-US">
                    <a:noFill/>
                  </a:rPr>
                  <a:t> </a:t>
                </a:r>
              </a:p>
            </p:txBody>
          </p:sp>
        </mc:Fallback>
      </mc:AlternateContent>
      <p:sp>
        <p:nvSpPr>
          <p:cNvPr id="4" name="日期占位符 3"/>
          <p:cNvSpPr>
            <a:spLocks noGrp="1"/>
          </p:cNvSpPr>
          <p:nvPr>
            <p:ph type="dt" sz="half" idx="10"/>
          </p:nvPr>
        </p:nvSpPr>
        <p:spPr/>
        <p:txBody>
          <a:bodyPr/>
          <a:lstStyle/>
          <a:p>
            <a:fld id="{354A96D3-8AFB-4AED-9575-07F23800FE36}" type="datetime1">
              <a:rPr lang="zh-CN" altLang="en-US" smtClean="0"/>
              <a:t>2025/3/14</a:t>
            </a:fld>
            <a:endParaRPr lang="zh-CN" altLang="en-US" dirty="0"/>
          </a:p>
        </p:txBody>
      </p:sp>
      <p:sp>
        <p:nvSpPr>
          <p:cNvPr id="5" name="页脚占位符 4"/>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6" name="灯片编号占位符 5"/>
          <p:cNvSpPr>
            <a:spLocks noGrp="1"/>
          </p:cNvSpPr>
          <p:nvPr>
            <p:ph type="sldNum" sz="quarter" idx="12"/>
          </p:nvPr>
        </p:nvSpPr>
        <p:spPr/>
        <p:txBody>
          <a:bodyPr/>
          <a:lstStyle/>
          <a:p>
            <a:fld id="{67913A8A-9EFB-4B5F-9CCB-3D21173FAA85}" type="slidenum">
              <a:rPr lang="zh-CN" altLang="en-US" smtClean="0"/>
              <a:pPr/>
              <a:t>82</a:t>
            </a:fld>
            <a:endParaRPr lang="zh-CN" altLang="en-US" dirty="0"/>
          </a:p>
        </p:txBody>
      </p:sp>
      <p:pic>
        <p:nvPicPr>
          <p:cNvPr id="7" name="图片 6"/>
          <p:cNvPicPr>
            <a:picLocks noChangeAspect="1"/>
          </p:cNvPicPr>
          <p:nvPr/>
        </p:nvPicPr>
        <p:blipFill>
          <a:blip r:embed="rId3"/>
          <a:stretch>
            <a:fillRect/>
          </a:stretch>
        </p:blipFill>
        <p:spPr>
          <a:xfrm>
            <a:off x="9067800" y="4379770"/>
            <a:ext cx="1973687" cy="1925782"/>
          </a:xfrm>
          <a:prstGeom prst="rect">
            <a:avLst/>
          </a:prstGeom>
        </p:spPr>
      </p:pic>
      <p:sp>
        <p:nvSpPr>
          <p:cNvPr id="8" name="任意多边形 7"/>
          <p:cNvSpPr/>
          <p:nvPr/>
        </p:nvSpPr>
        <p:spPr>
          <a:xfrm>
            <a:off x="9617225" y="4965539"/>
            <a:ext cx="1054633" cy="1041722"/>
          </a:xfrm>
          <a:custGeom>
            <a:avLst/>
            <a:gdLst>
              <a:gd name="connsiteX0" fmla="*/ 36061 w 1054633"/>
              <a:gd name="connsiteY0" fmla="*/ 0 h 1041722"/>
              <a:gd name="connsiteX1" fmla="*/ 24486 w 1054633"/>
              <a:gd name="connsiteY1" fmla="*/ 613458 h 1041722"/>
              <a:gd name="connsiteX2" fmla="*/ 1337 w 1054633"/>
              <a:gd name="connsiteY2" fmla="*/ 752355 h 1041722"/>
              <a:gd name="connsiteX3" fmla="*/ 12912 w 1054633"/>
              <a:gd name="connsiteY3" fmla="*/ 949124 h 1041722"/>
              <a:gd name="connsiteX4" fmla="*/ 82360 w 1054633"/>
              <a:gd name="connsiteY4" fmla="*/ 972274 h 1041722"/>
              <a:gd name="connsiteX5" fmla="*/ 198107 w 1054633"/>
              <a:gd name="connsiteY5" fmla="*/ 1006998 h 1041722"/>
              <a:gd name="connsiteX6" fmla="*/ 232831 w 1054633"/>
              <a:gd name="connsiteY6" fmla="*/ 1018572 h 1041722"/>
              <a:gd name="connsiteX7" fmla="*/ 337003 w 1054633"/>
              <a:gd name="connsiteY7" fmla="*/ 1041722 h 1041722"/>
              <a:gd name="connsiteX8" fmla="*/ 892588 w 1054633"/>
              <a:gd name="connsiteY8" fmla="*/ 1030147 h 1041722"/>
              <a:gd name="connsiteX9" fmla="*/ 938886 w 1054633"/>
              <a:gd name="connsiteY9" fmla="*/ 1018572 h 1041722"/>
              <a:gd name="connsiteX10" fmla="*/ 962036 w 1054633"/>
              <a:gd name="connsiteY10" fmla="*/ 995423 h 1041722"/>
              <a:gd name="connsiteX11" fmla="*/ 1043059 w 1054633"/>
              <a:gd name="connsiteY11" fmla="*/ 949124 h 1041722"/>
              <a:gd name="connsiteX12" fmla="*/ 1054633 w 1054633"/>
              <a:gd name="connsiteY12" fmla="*/ 914400 h 1041722"/>
              <a:gd name="connsiteX13" fmla="*/ 996760 w 1054633"/>
              <a:gd name="connsiteY13" fmla="*/ 798653 h 1041722"/>
              <a:gd name="connsiteX14" fmla="*/ 973610 w 1054633"/>
              <a:gd name="connsiteY14" fmla="*/ 775504 h 1041722"/>
              <a:gd name="connsiteX15" fmla="*/ 938886 w 1054633"/>
              <a:gd name="connsiteY15" fmla="*/ 729205 h 1041722"/>
              <a:gd name="connsiteX16" fmla="*/ 892588 w 1054633"/>
              <a:gd name="connsiteY16" fmla="*/ 659757 h 1041722"/>
              <a:gd name="connsiteX17" fmla="*/ 846289 w 1054633"/>
              <a:gd name="connsiteY17" fmla="*/ 625033 h 1041722"/>
              <a:gd name="connsiteX18" fmla="*/ 823140 w 1054633"/>
              <a:gd name="connsiteY18" fmla="*/ 590309 h 1041722"/>
              <a:gd name="connsiteX19" fmla="*/ 753691 w 1054633"/>
              <a:gd name="connsiteY19" fmla="*/ 555585 h 1041722"/>
              <a:gd name="connsiteX20" fmla="*/ 684243 w 1054633"/>
              <a:gd name="connsiteY20" fmla="*/ 509286 h 1041722"/>
              <a:gd name="connsiteX21" fmla="*/ 614795 w 1054633"/>
              <a:gd name="connsiteY21" fmla="*/ 462988 h 1041722"/>
              <a:gd name="connsiteX22" fmla="*/ 580071 w 1054633"/>
              <a:gd name="connsiteY22" fmla="*/ 439838 h 1041722"/>
              <a:gd name="connsiteX23" fmla="*/ 533772 w 1054633"/>
              <a:gd name="connsiteY23" fmla="*/ 428264 h 1041722"/>
              <a:gd name="connsiteX24" fmla="*/ 418026 w 1054633"/>
              <a:gd name="connsiteY24" fmla="*/ 358815 h 1041722"/>
              <a:gd name="connsiteX25" fmla="*/ 360152 w 1054633"/>
              <a:gd name="connsiteY25" fmla="*/ 324091 h 1041722"/>
              <a:gd name="connsiteX26" fmla="*/ 313853 w 1054633"/>
              <a:gd name="connsiteY26" fmla="*/ 289367 h 1041722"/>
              <a:gd name="connsiteX27" fmla="*/ 290704 w 1054633"/>
              <a:gd name="connsiteY27" fmla="*/ 254643 h 1041722"/>
              <a:gd name="connsiteX28" fmla="*/ 244405 w 1054633"/>
              <a:gd name="connsiteY28" fmla="*/ 243069 h 1041722"/>
              <a:gd name="connsiteX29" fmla="*/ 221256 w 1054633"/>
              <a:gd name="connsiteY29" fmla="*/ 219919 h 1041722"/>
              <a:gd name="connsiteX30" fmla="*/ 186532 w 1054633"/>
              <a:gd name="connsiteY30" fmla="*/ 208345 h 1041722"/>
              <a:gd name="connsiteX31" fmla="*/ 163383 w 1054633"/>
              <a:gd name="connsiteY31" fmla="*/ 173620 h 1041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054633" h="1041722">
                <a:moveTo>
                  <a:pt x="36061" y="0"/>
                </a:moveTo>
                <a:cubicBezTo>
                  <a:pt x="32203" y="204486"/>
                  <a:pt x="31188" y="409045"/>
                  <a:pt x="24486" y="613458"/>
                </a:cubicBezTo>
                <a:cubicBezTo>
                  <a:pt x="22441" y="675834"/>
                  <a:pt x="14574" y="699407"/>
                  <a:pt x="1337" y="752355"/>
                </a:cubicBezTo>
                <a:cubicBezTo>
                  <a:pt x="5195" y="817945"/>
                  <a:pt x="-9802" y="887472"/>
                  <a:pt x="12912" y="949124"/>
                </a:cubicBezTo>
                <a:cubicBezTo>
                  <a:pt x="21348" y="972021"/>
                  <a:pt x="59211" y="964557"/>
                  <a:pt x="82360" y="972274"/>
                </a:cubicBezTo>
                <a:cubicBezTo>
                  <a:pt x="247348" y="1027270"/>
                  <a:pt x="75689" y="972022"/>
                  <a:pt x="198107" y="1006998"/>
                </a:cubicBezTo>
                <a:cubicBezTo>
                  <a:pt x="209838" y="1010350"/>
                  <a:pt x="220921" y="1015925"/>
                  <a:pt x="232831" y="1018572"/>
                </a:cubicBezTo>
                <a:cubicBezTo>
                  <a:pt x="355045" y="1045730"/>
                  <a:pt x="258840" y="1015667"/>
                  <a:pt x="337003" y="1041722"/>
                </a:cubicBezTo>
                <a:lnTo>
                  <a:pt x="892588" y="1030147"/>
                </a:lnTo>
                <a:cubicBezTo>
                  <a:pt x="908484" y="1029536"/>
                  <a:pt x="924658" y="1025686"/>
                  <a:pt x="938886" y="1018572"/>
                </a:cubicBezTo>
                <a:cubicBezTo>
                  <a:pt x="948647" y="1013692"/>
                  <a:pt x="953653" y="1002409"/>
                  <a:pt x="962036" y="995423"/>
                </a:cubicBezTo>
                <a:cubicBezTo>
                  <a:pt x="1008753" y="956492"/>
                  <a:pt x="995941" y="964830"/>
                  <a:pt x="1043059" y="949124"/>
                </a:cubicBezTo>
                <a:cubicBezTo>
                  <a:pt x="1046917" y="937549"/>
                  <a:pt x="1054633" y="926601"/>
                  <a:pt x="1054633" y="914400"/>
                </a:cubicBezTo>
                <a:cubicBezTo>
                  <a:pt x="1054633" y="875191"/>
                  <a:pt x="1019838" y="821730"/>
                  <a:pt x="996760" y="798653"/>
                </a:cubicBezTo>
                <a:cubicBezTo>
                  <a:pt x="989043" y="790937"/>
                  <a:pt x="980596" y="783887"/>
                  <a:pt x="973610" y="775504"/>
                </a:cubicBezTo>
                <a:cubicBezTo>
                  <a:pt x="961260" y="760684"/>
                  <a:pt x="949949" y="745009"/>
                  <a:pt x="938886" y="729205"/>
                </a:cubicBezTo>
                <a:cubicBezTo>
                  <a:pt x="922931" y="706412"/>
                  <a:pt x="914846" y="676450"/>
                  <a:pt x="892588" y="659757"/>
                </a:cubicBezTo>
                <a:lnTo>
                  <a:pt x="846289" y="625033"/>
                </a:lnTo>
                <a:cubicBezTo>
                  <a:pt x="838573" y="613458"/>
                  <a:pt x="832977" y="600146"/>
                  <a:pt x="823140" y="590309"/>
                </a:cubicBezTo>
                <a:cubicBezTo>
                  <a:pt x="800703" y="567872"/>
                  <a:pt x="781932" y="564999"/>
                  <a:pt x="753691" y="555585"/>
                </a:cubicBezTo>
                <a:cubicBezTo>
                  <a:pt x="676631" y="478525"/>
                  <a:pt x="759621" y="551162"/>
                  <a:pt x="684243" y="509286"/>
                </a:cubicBezTo>
                <a:cubicBezTo>
                  <a:pt x="659922" y="495775"/>
                  <a:pt x="637944" y="478421"/>
                  <a:pt x="614795" y="462988"/>
                </a:cubicBezTo>
                <a:cubicBezTo>
                  <a:pt x="603220" y="455271"/>
                  <a:pt x="593567" y="443212"/>
                  <a:pt x="580071" y="439838"/>
                </a:cubicBezTo>
                <a:lnTo>
                  <a:pt x="533772" y="428264"/>
                </a:lnTo>
                <a:cubicBezTo>
                  <a:pt x="497237" y="409996"/>
                  <a:pt x="445962" y="386749"/>
                  <a:pt x="418026" y="358815"/>
                </a:cubicBezTo>
                <a:cubicBezTo>
                  <a:pt x="386249" y="327039"/>
                  <a:pt x="405229" y="339117"/>
                  <a:pt x="360152" y="324091"/>
                </a:cubicBezTo>
                <a:cubicBezTo>
                  <a:pt x="344719" y="312516"/>
                  <a:pt x="327494" y="303008"/>
                  <a:pt x="313853" y="289367"/>
                </a:cubicBezTo>
                <a:cubicBezTo>
                  <a:pt x="304016" y="279530"/>
                  <a:pt x="302279" y="262359"/>
                  <a:pt x="290704" y="254643"/>
                </a:cubicBezTo>
                <a:cubicBezTo>
                  <a:pt x="277468" y="245819"/>
                  <a:pt x="259838" y="246927"/>
                  <a:pt x="244405" y="243069"/>
                </a:cubicBezTo>
                <a:cubicBezTo>
                  <a:pt x="236689" y="235352"/>
                  <a:pt x="230614" y="225534"/>
                  <a:pt x="221256" y="219919"/>
                </a:cubicBezTo>
                <a:cubicBezTo>
                  <a:pt x="210794" y="213642"/>
                  <a:pt x="196059" y="215967"/>
                  <a:pt x="186532" y="208345"/>
                </a:cubicBezTo>
                <a:cubicBezTo>
                  <a:pt x="175669" y="199655"/>
                  <a:pt x="163383" y="173620"/>
                  <a:pt x="163383" y="173620"/>
                </a:cubicBezTo>
              </a:path>
            </a:pathLst>
          </a:custGeom>
        </p:spPr>
        <p:style>
          <a:lnRef idx="3">
            <a:schemeClr val="accent2"/>
          </a:lnRef>
          <a:fillRef idx="0">
            <a:schemeClr val="accent2"/>
          </a:fillRef>
          <a:effectRef idx="2">
            <a:schemeClr val="accent2"/>
          </a:effectRef>
          <a:fontRef idx="minor">
            <a:schemeClr val="tx1"/>
          </a:fontRef>
        </p:style>
        <p:txBody>
          <a:bodyPr rtlCol="0" anchor="ctr"/>
          <a:lstStyle/>
          <a:p>
            <a:pPr algn="ctr"/>
            <a:endParaRPr lang="zh-CN" altLang="en-US"/>
          </a:p>
        </p:txBody>
      </p:sp>
      <p:sp>
        <p:nvSpPr>
          <p:cNvPr id="9" name="任意多边形 8"/>
          <p:cNvSpPr/>
          <p:nvPr/>
        </p:nvSpPr>
        <p:spPr>
          <a:xfrm>
            <a:off x="9444942" y="5034987"/>
            <a:ext cx="1215342" cy="1211177"/>
          </a:xfrm>
          <a:custGeom>
            <a:avLst/>
            <a:gdLst>
              <a:gd name="connsiteX0" fmla="*/ 0 w 1215342"/>
              <a:gd name="connsiteY0" fmla="*/ 0 h 1211177"/>
              <a:gd name="connsiteX1" fmla="*/ 11574 w 1215342"/>
              <a:gd name="connsiteY1" fmla="*/ 1088021 h 1211177"/>
              <a:gd name="connsiteX2" fmla="*/ 34724 w 1215342"/>
              <a:gd name="connsiteY2" fmla="*/ 1111170 h 1211177"/>
              <a:gd name="connsiteX3" fmla="*/ 104172 w 1215342"/>
              <a:gd name="connsiteY3" fmla="*/ 1134319 h 1211177"/>
              <a:gd name="connsiteX4" fmla="*/ 266217 w 1215342"/>
              <a:gd name="connsiteY4" fmla="*/ 1169043 h 1211177"/>
              <a:gd name="connsiteX5" fmla="*/ 347240 w 1215342"/>
              <a:gd name="connsiteY5" fmla="*/ 1180618 h 1211177"/>
              <a:gd name="connsiteX6" fmla="*/ 694481 w 1215342"/>
              <a:gd name="connsiteY6" fmla="*/ 1192193 h 1211177"/>
              <a:gd name="connsiteX7" fmla="*/ 879676 w 1215342"/>
              <a:gd name="connsiteY7" fmla="*/ 1157469 h 1211177"/>
              <a:gd name="connsiteX8" fmla="*/ 914400 w 1215342"/>
              <a:gd name="connsiteY8" fmla="*/ 1145894 h 1211177"/>
              <a:gd name="connsiteX9" fmla="*/ 1076445 w 1215342"/>
              <a:gd name="connsiteY9" fmla="*/ 1111170 h 1211177"/>
              <a:gd name="connsiteX10" fmla="*/ 1157468 w 1215342"/>
              <a:gd name="connsiteY10" fmla="*/ 1099595 h 1211177"/>
              <a:gd name="connsiteX11" fmla="*/ 1215342 w 1215342"/>
              <a:gd name="connsiteY11" fmla="*/ 1088021 h 12111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5342" h="1211177">
                <a:moveTo>
                  <a:pt x="0" y="0"/>
                </a:moveTo>
                <a:cubicBezTo>
                  <a:pt x="3858" y="362674"/>
                  <a:pt x="245" y="725504"/>
                  <a:pt x="11574" y="1088021"/>
                </a:cubicBezTo>
                <a:cubicBezTo>
                  <a:pt x="11915" y="1098928"/>
                  <a:pt x="24963" y="1106290"/>
                  <a:pt x="34724" y="1111170"/>
                </a:cubicBezTo>
                <a:cubicBezTo>
                  <a:pt x="56549" y="1122082"/>
                  <a:pt x="80499" y="1128401"/>
                  <a:pt x="104172" y="1134319"/>
                </a:cubicBezTo>
                <a:cubicBezTo>
                  <a:pt x="160323" y="1148357"/>
                  <a:pt x="204915" y="1160285"/>
                  <a:pt x="266217" y="1169043"/>
                </a:cubicBezTo>
                <a:lnTo>
                  <a:pt x="347240" y="1180618"/>
                </a:lnTo>
                <a:cubicBezTo>
                  <a:pt x="504610" y="1233074"/>
                  <a:pt x="392308" y="1204783"/>
                  <a:pt x="694481" y="1192193"/>
                </a:cubicBezTo>
                <a:cubicBezTo>
                  <a:pt x="763006" y="1180772"/>
                  <a:pt x="807533" y="1174117"/>
                  <a:pt x="879676" y="1157469"/>
                </a:cubicBezTo>
                <a:cubicBezTo>
                  <a:pt x="891564" y="1154726"/>
                  <a:pt x="902669" y="1149246"/>
                  <a:pt x="914400" y="1145894"/>
                </a:cubicBezTo>
                <a:cubicBezTo>
                  <a:pt x="959819" y="1132917"/>
                  <a:pt x="1041687" y="1117304"/>
                  <a:pt x="1076445" y="1111170"/>
                </a:cubicBezTo>
                <a:cubicBezTo>
                  <a:pt x="1103312" y="1106429"/>
                  <a:pt x="1130557" y="1104080"/>
                  <a:pt x="1157468" y="1099595"/>
                </a:cubicBezTo>
                <a:cubicBezTo>
                  <a:pt x="1176874" y="1096361"/>
                  <a:pt x="1215342" y="1088021"/>
                  <a:pt x="1215342" y="1088021"/>
                </a:cubicBezTo>
              </a:path>
            </a:pathLst>
          </a:custGeom>
        </p:spPr>
        <p:style>
          <a:lnRef idx="3">
            <a:schemeClr val="accent1"/>
          </a:lnRef>
          <a:fillRef idx="0">
            <a:schemeClr val="accent1"/>
          </a:fillRef>
          <a:effectRef idx="2">
            <a:schemeClr val="accent1"/>
          </a:effectRef>
          <a:fontRef idx="minor">
            <a:schemeClr val="tx1"/>
          </a:fontRef>
        </p:style>
        <p:txBody>
          <a:bodyPr rtlCol="0" anchor="ctr"/>
          <a:lstStyle/>
          <a:p>
            <a:pPr algn="ctr"/>
            <a:endParaRPr lang="zh-CN" altLang="en-US"/>
          </a:p>
        </p:txBody>
      </p:sp>
      <p:sp>
        <p:nvSpPr>
          <p:cNvPr id="10" name="任意多边形 9"/>
          <p:cNvSpPr/>
          <p:nvPr/>
        </p:nvSpPr>
        <p:spPr>
          <a:xfrm>
            <a:off x="9583838" y="5612417"/>
            <a:ext cx="1169043" cy="302246"/>
          </a:xfrm>
          <a:custGeom>
            <a:avLst/>
            <a:gdLst>
              <a:gd name="connsiteX0" fmla="*/ 1169043 w 1169043"/>
              <a:gd name="connsiteY0" fmla="*/ 93902 h 302246"/>
              <a:gd name="connsiteX1" fmla="*/ 1111170 w 1169043"/>
              <a:gd name="connsiteY1" fmla="*/ 59178 h 302246"/>
              <a:gd name="connsiteX2" fmla="*/ 1053296 w 1169043"/>
              <a:gd name="connsiteY2" fmla="*/ 47603 h 302246"/>
              <a:gd name="connsiteX3" fmla="*/ 775504 w 1169043"/>
              <a:gd name="connsiteY3" fmla="*/ 24454 h 302246"/>
              <a:gd name="connsiteX4" fmla="*/ 740780 w 1169043"/>
              <a:gd name="connsiteY4" fmla="*/ 12879 h 302246"/>
              <a:gd name="connsiteX5" fmla="*/ 266218 w 1169043"/>
              <a:gd name="connsiteY5" fmla="*/ 12879 h 302246"/>
              <a:gd name="connsiteX6" fmla="*/ 231494 w 1169043"/>
              <a:gd name="connsiteY6" fmla="*/ 24454 h 302246"/>
              <a:gd name="connsiteX7" fmla="*/ 150471 w 1169043"/>
              <a:gd name="connsiteY7" fmla="*/ 36029 h 302246"/>
              <a:gd name="connsiteX8" fmla="*/ 127321 w 1169043"/>
              <a:gd name="connsiteY8" fmla="*/ 59178 h 302246"/>
              <a:gd name="connsiteX9" fmla="*/ 92597 w 1169043"/>
              <a:gd name="connsiteY9" fmla="*/ 70753 h 302246"/>
              <a:gd name="connsiteX10" fmla="*/ 0 w 1169043"/>
              <a:gd name="connsiteY10" fmla="*/ 140201 h 302246"/>
              <a:gd name="connsiteX11" fmla="*/ 11575 w 1169043"/>
              <a:gd name="connsiteY11" fmla="*/ 174925 h 302246"/>
              <a:gd name="connsiteX12" fmla="*/ 46299 w 1169043"/>
              <a:gd name="connsiteY12" fmla="*/ 198074 h 302246"/>
              <a:gd name="connsiteX13" fmla="*/ 104172 w 1169043"/>
              <a:gd name="connsiteY13" fmla="*/ 232798 h 302246"/>
              <a:gd name="connsiteX14" fmla="*/ 115747 w 1169043"/>
              <a:gd name="connsiteY14" fmla="*/ 267522 h 302246"/>
              <a:gd name="connsiteX15" fmla="*/ 405114 w 1169043"/>
              <a:gd name="connsiteY15" fmla="*/ 279097 h 302246"/>
              <a:gd name="connsiteX16" fmla="*/ 462987 w 1169043"/>
              <a:gd name="connsiteY16" fmla="*/ 290672 h 302246"/>
              <a:gd name="connsiteX17" fmla="*/ 578734 w 1169043"/>
              <a:gd name="connsiteY17" fmla="*/ 302246 h 302246"/>
              <a:gd name="connsiteX18" fmla="*/ 1018572 w 1169043"/>
              <a:gd name="connsiteY18" fmla="*/ 290672 h 302246"/>
              <a:gd name="connsiteX19" fmla="*/ 1053296 w 1169043"/>
              <a:gd name="connsiteY19" fmla="*/ 279097 h 3022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169043" h="302246">
                <a:moveTo>
                  <a:pt x="1169043" y="93902"/>
                </a:moveTo>
                <a:cubicBezTo>
                  <a:pt x="1149752" y="82327"/>
                  <a:pt x="1132058" y="67533"/>
                  <a:pt x="1111170" y="59178"/>
                </a:cubicBezTo>
                <a:cubicBezTo>
                  <a:pt x="1092904" y="51871"/>
                  <a:pt x="1072797" y="50203"/>
                  <a:pt x="1053296" y="47603"/>
                </a:cubicBezTo>
                <a:cubicBezTo>
                  <a:pt x="975021" y="37167"/>
                  <a:pt x="848638" y="29678"/>
                  <a:pt x="775504" y="24454"/>
                </a:cubicBezTo>
                <a:cubicBezTo>
                  <a:pt x="763929" y="20596"/>
                  <a:pt x="752839" y="14734"/>
                  <a:pt x="740780" y="12879"/>
                </a:cubicBezTo>
                <a:cubicBezTo>
                  <a:pt x="573907" y="-12793"/>
                  <a:pt x="454087" y="6819"/>
                  <a:pt x="266218" y="12879"/>
                </a:cubicBezTo>
                <a:cubicBezTo>
                  <a:pt x="254643" y="16737"/>
                  <a:pt x="243458" y="22061"/>
                  <a:pt x="231494" y="24454"/>
                </a:cubicBezTo>
                <a:cubicBezTo>
                  <a:pt x="204742" y="29805"/>
                  <a:pt x="176353" y="27402"/>
                  <a:pt x="150471" y="36029"/>
                </a:cubicBezTo>
                <a:cubicBezTo>
                  <a:pt x="140118" y="39480"/>
                  <a:pt x="136679" y="53563"/>
                  <a:pt x="127321" y="59178"/>
                </a:cubicBezTo>
                <a:cubicBezTo>
                  <a:pt x="116859" y="65455"/>
                  <a:pt x="103262" y="64828"/>
                  <a:pt x="92597" y="70753"/>
                </a:cubicBezTo>
                <a:cubicBezTo>
                  <a:pt x="33698" y="103475"/>
                  <a:pt x="35122" y="105077"/>
                  <a:pt x="0" y="140201"/>
                </a:cubicBezTo>
                <a:cubicBezTo>
                  <a:pt x="3858" y="151776"/>
                  <a:pt x="3953" y="165398"/>
                  <a:pt x="11575" y="174925"/>
                </a:cubicBezTo>
                <a:cubicBezTo>
                  <a:pt x="20265" y="185788"/>
                  <a:pt x="35436" y="189384"/>
                  <a:pt x="46299" y="198074"/>
                </a:cubicBezTo>
                <a:cubicBezTo>
                  <a:pt x="91695" y="234391"/>
                  <a:pt x="43868" y="212698"/>
                  <a:pt x="104172" y="232798"/>
                </a:cubicBezTo>
                <a:cubicBezTo>
                  <a:pt x="108030" y="244373"/>
                  <a:pt x="103688" y="265667"/>
                  <a:pt x="115747" y="267522"/>
                </a:cubicBezTo>
                <a:cubicBezTo>
                  <a:pt x="211157" y="282201"/>
                  <a:pt x="308795" y="272676"/>
                  <a:pt x="405114" y="279097"/>
                </a:cubicBezTo>
                <a:cubicBezTo>
                  <a:pt x="424743" y="280406"/>
                  <a:pt x="443487" y="288072"/>
                  <a:pt x="462987" y="290672"/>
                </a:cubicBezTo>
                <a:cubicBezTo>
                  <a:pt x="501422" y="295797"/>
                  <a:pt x="540152" y="298388"/>
                  <a:pt x="578734" y="302246"/>
                </a:cubicBezTo>
                <a:cubicBezTo>
                  <a:pt x="725347" y="298388"/>
                  <a:pt x="872083" y="297818"/>
                  <a:pt x="1018572" y="290672"/>
                </a:cubicBezTo>
                <a:cubicBezTo>
                  <a:pt x="1030758" y="290078"/>
                  <a:pt x="1053296" y="279097"/>
                  <a:pt x="1053296" y="279097"/>
                </a:cubicBezTo>
              </a:path>
            </a:pathLst>
          </a:custGeom>
          <a:ln w="25400">
            <a:solidFill>
              <a:srgbClr val="C00000"/>
            </a:solidFill>
          </a:ln>
        </p:spPr>
        <p:style>
          <a:lnRef idx="3">
            <a:schemeClr val="accent4"/>
          </a:lnRef>
          <a:fillRef idx="0">
            <a:schemeClr val="accent4"/>
          </a:fillRef>
          <a:effectRef idx="2">
            <a:schemeClr val="accent4"/>
          </a:effectRef>
          <a:fontRef idx="minor">
            <a:schemeClr val="tx1"/>
          </a:fontRef>
        </p:style>
        <p:txBody>
          <a:bodyPr rtlCol="0" anchor="ctr"/>
          <a:lstStyle/>
          <a:p>
            <a:pPr algn="ctr"/>
            <a:endParaRPr lang="zh-CN" altLang="en-US"/>
          </a:p>
        </p:txBody>
      </p:sp>
      <p:sp>
        <p:nvSpPr>
          <p:cNvPr id="11" name="任意多边形 10"/>
          <p:cNvSpPr/>
          <p:nvPr/>
        </p:nvSpPr>
        <p:spPr>
          <a:xfrm>
            <a:off x="10503017" y="5863905"/>
            <a:ext cx="143174" cy="109518"/>
          </a:xfrm>
          <a:custGeom>
            <a:avLst/>
            <a:gdLst>
              <a:gd name="connsiteX0" fmla="*/ 33555 w 143174"/>
              <a:gd name="connsiteY0" fmla="*/ 0 h 109518"/>
              <a:gd name="connsiteX1" fmla="*/ 100667 w 143174"/>
              <a:gd name="connsiteY1" fmla="*/ 25167 h 109518"/>
              <a:gd name="connsiteX2" fmla="*/ 134223 w 143174"/>
              <a:gd name="connsiteY2" fmla="*/ 33556 h 109518"/>
              <a:gd name="connsiteX3" fmla="*/ 142612 w 143174"/>
              <a:gd name="connsiteY3" fmla="*/ 58723 h 109518"/>
              <a:gd name="connsiteX4" fmla="*/ 117445 w 143174"/>
              <a:gd name="connsiteY4" fmla="*/ 83889 h 109518"/>
              <a:gd name="connsiteX5" fmla="*/ 25166 w 143174"/>
              <a:gd name="connsiteY5" fmla="*/ 109056 h 109518"/>
              <a:gd name="connsiteX6" fmla="*/ 0 w 143174"/>
              <a:gd name="connsiteY6" fmla="*/ 109056 h 109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3174" h="109518">
                <a:moveTo>
                  <a:pt x="33555" y="0"/>
                </a:moveTo>
                <a:cubicBezTo>
                  <a:pt x="55716" y="8864"/>
                  <a:pt x="77653" y="18592"/>
                  <a:pt x="100667" y="25167"/>
                </a:cubicBezTo>
                <a:cubicBezTo>
                  <a:pt x="111753" y="28334"/>
                  <a:pt x="123038" y="30760"/>
                  <a:pt x="134223" y="33556"/>
                </a:cubicBezTo>
                <a:cubicBezTo>
                  <a:pt x="137019" y="41945"/>
                  <a:pt x="145408" y="50334"/>
                  <a:pt x="142612" y="58723"/>
                </a:cubicBezTo>
                <a:cubicBezTo>
                  <a:pt x="138860" y="69978"/>
                  <a:pt x="127816" y="78128"/>
                  <a:pt x="117445" y="83889"/>
                </a:cubicBezTo>
                <a:cubicBezTo>
                  <a:pt x="99354" y="93940"/>
                  <a:pt x="47553" y="106258"/>
                  <a:pt x="25166" y="109056"/>
                </a:cubicBezTo>
                <a:cubicBezTo>
                  <a:pt x="16842" y="110097"/>
                  <a:pt x="8389" y="109056"/>
                  <a:pt x="0" y="109056"/>
                </a:cubicBezTo>
              </a:path>
            </a:pathLst>
          </a:cu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任意多边形 12"/>
          <p:cNvSpPr/>
          <p:nvPr/>
        </p:nvSpPr>
        <p:spPr>
          <a:xfrm>
            <a:off x="9729268" y="5092117"/>
            <a:ext cx="144574" cy="184558"/>
          </a:xfrm>
          <a:custGeom>
            <a:avLst/>
            <a:gdLst>
              <a:gd name="connsiteX0" fmla="*/ 144574 w 144574"/>
              <a:gd name="connsiteY0" fmla="*/ 41945 h 184558"/>
              <a:gd name="connsiteX1" fmla="*/ 102629 w 144574"/>
              <a:gd name="connsiteY1" fmla="*/ 33556 h 184558"/>
              <a:gd name="connsiteX2" fmla="*/ 10350 w 144574"/>
              <a:gd name="connsiteY2" fmla="*/ 0 h 184558"/>
              <a:gd name="connsiteX3" fmla="*/ 10350 w 144574"/>
              <a:gd name="connsiteY3" fmla="*/ 125835 h 184558"/>
              <a:gd name="connsiteX4" fmla="*/ 10350 w 144574"/>
              <a:gd name="connsiteY4" fmla="*/ 184558 h 1845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4574" h="184558">
                <a:moveTo>
                  <a:pt x="144574" y="41945"/>
                </a:moveTo>
                <a:cubicBezTo>
                  <a:pt x="130592" y="39149"/>
                  <a:pt x="116385" y="37308"/>
                  <a:pt x="102629" y="33556"/>
                </a:cubicBezTo>
                <a:cubicBezTo>
                  <a:pt x="68780" y="24325"/>
                  <a:pt x="42515" y="12866"/>
                  <a:pt x="10350" y="0"/>
                </a:cubicBezTo>
                <a:cubicBezTo>
                  <a:pt x="-9449" y="59398"/>
                  <a:pt x="4130" y="7646"/>
                  <a:pt x="10350" y="125835"/>
                </a:cubicBezTo>
                <a:cubicBezTo>
                  <a:pt x="11379" y="145382"/>
                  <a:pt x="10350" y="164984"/>
                  <a:pt x="10350" y="184558"/>
                </a:cubicBezTo>
              </a:path>
            </a:pathLst>
          </a:cu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任意多边形 13"/>
          <p:cNvSpPr/>
          <p:nvPr/>
        </p:nvSpPr>
        <p:spPr>
          <a:xfrm>
            <a:off x="10544961" y="6065240"/>
            <a:ext cx="218676" cy="151002"/>
          </a:xfrm>
          <a:custGeom>
            <a:avLst/>
            <a:gdLst>
              <a:gd name="connsiteX0" fmla="*/ 0 w 218676"/>
              <a:gd name="connsiteY0" fmla="*/ 0 h 151002"/>
              <a:gd name="connsiteX1" fmla="*/ 41945 w 218676"/>
              <a:gd name="connsiteY1" fmla="*/ 8389 h 151002"/>
              <a:gd name="connsiteX2" fmla="*/ 67112 w 218676"/>
              <a:gd name="connsiteY2" fmla="*/ 16778 h 151002"/>
              <a:gd name="connsiteX3" fmla="*/ 125835 w 218676"/>
              <a:gd name="connsiteY3" fmla="*/ 25167 h 151002"/>
              <a:gd name="connsiteX4" fmla="*/ 151002 w 218676"/>
              <a:gd name="connsiteY4" fmla="*/ 41945 h 151002"/>
              <a:gd name="connsiteX5" fmla="*/ 209725 w 218676"/>
              <a:gd name="connsiteY5" fmla="*/ 58723 h 151002"/>
              <a:gd name="connsiteX6" fmla="*/ 218114 w 218676"/>
              <a:gd name="connsiteY6" fmla="*/ 83890 h 151002"/>
              <a:gd name="connsiteX7" fmla="*/ 159391 w 218676"/>
              <a:gd name="connsiteY7" fmla="*/ 134224 h 151002"/>
              <a:gd name="connsiteX8" fmla="*/ 125835 w 218676"/>
              <a:gd name="connsiteY8" fmla="*/ 151002 h 151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8676" h="151002">
                <a:moveTo>
                  <a:pt x="0" y="0"/>
                </a:moveTo>
                <a:cubicBezTo>
                  <a:pt x="13982" y="2796"/>
                  <a:pt x="28112" y="4931"/>
                  <a:pt x="41945" y="8389"/>
                </a:cubicBezTo>
                <a:cubicBezTo>
                  <a:pt x="50524" y="10534"/>
                  <a:pt x="58441" y="15044"/>
                  <a:pt x="67112" y="16778"/>
                </a:cubicBezTo>
                <a:cubicBezTo>
                  <a:pt x="86501" y="20656"/>
                  <a:pt x="106261" y="22371"/>
                  <a:pt x="125835" y="25167"/>
                </a:cubicBezTo>
                <a:cubicBezTo>
                  <a:pt x="134224" y="30760"/>
                  <a:pt x="141984" y="37436"/>
                  <a:pt x="151002" y="41945"/>
                </a:cubicBezTo>
                <a:cubicBezTo>
                  <a:pt x="163037" y="47962"/>
                  <a:pt x="198974" y="56035"/>
                  <a:pt x="209725" y="58723"/>
                </a:cubicBezTo>
                <a:cubicBezTo>
                  <a:pt x="212521" y="67112"/>
                  <a:pt x="220910" y="75501"/>
                  <a:pt x="218114" y="83890"/>
                </a:cubicBezTo>
                <a:cubicBezTo>
                  <a:pt x="214502" y="94727"/>
                  <a:pt x="165384" y="130478"/>
                  <a:pt x="159391" y="134224"/>
                </a:cubicBezTo>
                <a:cubicBezTo>
                  <a:pt x="148786" y="140852"/>
                  <a:pt x="125835" y="151002"/>
                  <a:pt x="125835" y="151002"/>
                </a:cubicBezTo>
              </a:path>
            </a:pathLst>
          </a:cu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6851667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down)">
                                      <p:cBhvr>
                                        <p:cTn id="7" dur="500"/>
                                        <p:tgtEl>
                                          <p:spTgt spid="8"/>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wipe(down)">
                                      <p:cBhvr>
                                        <p:cTn id="10" dur="500"/>
                                        <p:tgtEl>
                                          <p:spTgt spid="9"/>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wipe(down)">
                                      <p:cBhvr>
                                        <p:cTn id="13" dur="500"/>
                                        <p:tgtEl>
                                          <p:spTgt spid="10"/>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wipe(down)">
                                      <p:cBhvr>
                                        <p:cTn id="16" dur="500"/>
                                        <p:tgtEl>
                                          <p:spTgt spid="14"/>
                                        </p:tgtEl>
                                      </p:cBhvr>
                                    </p:animEffect>
                                  </p:childTnLst>
                                </p:cTn>
                              </p:par>
                              <p:par>
                                <p:cTn id="17" presetID="22" presetClass="entr" presetSubtype="4"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wipe(down)">
                                      <p:cBhvr>
                                        <p:cTn id="19" dur="500"/>
                                        <p:tgtEl>
                                          <p:spTgt spid="13"/>
                                        </p:tgtEl>
                                      </p:cBhvr>
                                    </p:animEffect>
                                  </p:childTnLst>
                                </p:cTn>
                              </p:par>
                              <p:par>
                                <p:cTn id="20" presetID="22" presetClass="entr" presetSubtype="4"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wipe(down)">
                                      <p:cBhvr>
                                        <p:cTn id="2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3" grpId="0" animBg="1"/>
      <p:bldP spid="14" grpId="0" animBg="1"/>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457200" y="1143000"/>
            <a:ext cx="11277599" cy="2286000"/>
          </a:xfrm>
          <a:prstGeom prst="rect">
            <a:avLst/>
          </a:prstGeom>
          <a:solidFill>
            <a:schemeClr val="accent5">
              <a:lumMod val="40000"/>
              <a:lumOff val="6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zh-CN" altLang="en-US" dirty="0"/>
              <a:t>沃舍尔算法</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zh-CN" altLang="en-US" dirty="0" smtClean="0"/>
                  <a:t>引理</a:t>
                </a:r>
                <a:r>
                  <a:rPr lang="en-US" altLang="zh-CN" dirty="0" smtClean="0"/>
                  <a:t>: </a:t>
                </a:r>
                <a:r>
                  <a:rPr lang="zh-CN" altLang="en-US" dirty="0" smtClean="0"/>
                  <a:t>设</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𝑊</m:t>
                        </m:r>
                      </m:e>
                      <m:sub>
                        <m:r>
                          <m:rPr>
                            <m:sty m:val="p"/>
                          </m:rPr>
                          <a:rPr lang="en-US" altLang="zh-CN" i="1">
                            <a:latin typeface="Cambria Math" panose="02040503050406030204" pitchFamily="18" charset="0"/>
                          </a:rPr>
                          <m:t>k</m:t>
                        </m:r>
                      </m:sub>
                    </m:sSub>
                    <m:r>
                      <a:rPr lang="en-US" altLang="zh-CN" i="1">
                        <a:latin typeface="Cambria Math" panose="02040503050406030204" pitchFamily="18" charset="0"/>
                      </a:rPr>
                      <m:t>=</m:t>
                    </m:r>
                    <m:d>
                      <m:dPr>
                        <m:begChr m:val="["/>
                        <m:endChr m:val="]"/>
                        <m:ctrlPr>
                          <a:rPr lang="en-US" altLang="zh-CN" i="1">
                            <a:latin typeface="Cambria Math" panose="02040503050406030204" pitchFamily="18" charset="0"/>
                          </a:rPr>
                        </m:ctrlPr>
                      </m:dPr>
                      <m:e>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𝑤</m:t>
                            </m:r>
                          </m:e>
                          <m:sub>
                            <m:r>
                              <a:rPr lang="en-US" altLang="zh-CN" i="1">
                                <a:latin typeface="Cambria Math" panose="02040503050406030204" pitchFamily="18" charset="0"/>
                              </a:rPr>
                              <m:t>𝑖𝑗</m:t>
                            </m:r>
                          </m:sub>
                          <m:sup>
                            <m:r>
                              <a:rPr lang="en-US" altLang="zh-CN" b="0" i="1" smtClean="0">
                                <a:latin typeface="Cambria Math" panose="02040503050406030204" pitchFamily="18" charset="0"/>
                              </a:rPr>
                              <m:t>[</m:t>
                            </m:r>
                            <m:r>
                              <a:rPr lang="en-US" altLang="zh-CN" b="0" i="1" smtClean="0">
                                <a:latin typeface="Cambria Math" panose="02040503050406030204" pitchFamily="18" charset="0"/>
                              </a:rPr>
                              <m:t>𝑘</m:t>
                            </m:r>
                            <m:r>
                              <a:rPr lang="en-US" altLang="zh-CN" b="0" i="1" smtClean="0">
                                <a:latin typeface="Cambria Math" panose="02040503050406030204" pitchFamily="18" charset="0"/>
                              </a:rPr>
                              <m:t>]</m:t>
                            </m:r>
                          </m:sup>
                        </m:sSubSup>
                      </m:e>
                    </m:d>
                  </m:oMath>
                </a14:m>
                <a:r>
                  <a:rPr lang="zh-CN" altLang="en-US" dirty="0" smtClean="0"/>
                  <a:t>是</a:t>
                </a:r>
                <a:r>
                  <a:rPr lang="en-US" altLang="zh-CN" dirty="0" smtClean="0"/>
                  <a:t>0-1</a:t>
                </a:r>
                <a:r>
                  <a:rPr lang="zh-CN" altLang="en-US" dirty="0" smtClean="0"/>
                  <a:t>矩阵</a:t>
                </a:r>
                <a:r>
                  <a:rPr lang="en-US" altLang="zh-CN" dirty="0" smtClean="0"/>
                  <a:t>, </a:t>
                </a:r>
                <a:r>
                  <a:rPr lang="zh-CN" altLang="en-US" dirty="0" smtClean="0"/>
                  <a:t>它的</a:t>
                </a:r>
                <a:r>
                  <a:rPr lang="en-US" altLang="zh-CN" dirty="0" smtClean="0"/>
                  <a:t>(</a:t>
                </a:r>
                <a:r>
                  <a:rPr lang="en-US" altLang="zh-CN" dirty="0" err="1" smtClean="0"/>
                  <a:t>i,j</a:t>
                </a:r>
                <a:r>
                  <a:rPr lang="en-US" altLang="zh-CN" dirty="0" smtClean="0"/>
                  <a:t>)</a:t>
                </a:r>
                <a:r>
                  <a:rPr lang="zh-CN" altLang="en-US" dirty="0" smtClean="0"/>
                  <a:t>位置为</a:t>
                </a:r>
                <a:r>
                  <a:rPr lang="en-US" altLang="zh-CN" dirty="0" smtClean="0"/>
                  <a:t>1</a:t>
                </a:r>
                <a:r>
                  <a:rPr lang="zh-CN" altLang="en-US" dirty="0" smtClean="0"/>
                  <a:t>当且仅当存在一条从</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𝑣</m:t>
                        </m:r>
                      </m:e>
                      <m:sub>
                        <m:r>
                          <a:rPr lang="en-US" altLang="zh-CN" i="1">
                            <a:latin typeface="Cambria Math" panose="02040503050406030204" pitchFamily="18" charset="0"/>
                          </a:rPr>
                          <m:t>𝑖</m:t>
                        </m:r>
                      </m:sub>
                    </m:sSub>
                  </m:oMath>
                </a14:m>
                <a:r>
                  <a:rPr lang="zh-CN" altLang="en-US" dirty="0"/>
                  <a:t>到</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𝑣</m:t>
                        </m:r>
                      </m:e>
                      <m:sub>
                        <m:r>
                          <a:rPr lang="en-US" altLang="zh-CN" i="1">
                            <a:latin typeface="Cambria Math" panose="02040503050406030204" pitchFamily="18" charset="0"/>
                          </a:rPr>
                          <m:t>𝑗</m:t>
                        </m:r>
                      </m:sub>
                    </m:sSub>
                  </m:oMath>
                </a14:m>
                <a:r>
                  <a:rPr lang="zh-CN" altLang="en-US" dirty="0"/>
                  <a:t>的</a:t>
                </a:r>
                <a:r>
                  <a:rPr lang="zh-CN" altLang="en-US" dirty="0" smtClean="0"/>
                  <a:t>路径，其内部顶点取自集合</a:t>
                </a:r>
                <a:r>
                  <a:rPr lang="en-US" altLang="zh-CN" dirty="0" smtClean="0"/>
                  <a:t>{</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𝑣</m:t>
                        </m:r>
                      </m:e>
                      <m:sub>
                        <m:r>
                          <a:rPr lang="en-US" altLang="zh-CN" i="1">
                            <a:latin typeface="Cambria Math" panose="02040503050406030204" pitchFamily="18" charset="0"/>
                          </a:rPr>
                          <m:t>1</m:t>
                        </m:r>
                      </m:sub>
                    </m:sSub>
                  </m:oMath>
                </a14:m>
                <a:r>
                  <a:rPr lang="en-US" altLang="zh-CN" dirty="0"/>
                  <a:t>,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𝑣</m:t>
                        </m:r>
                      </m:e>
                      <m:sub>
                        <m:r>
                          <a:rPr lang="en-US" altLang="zh-CN" i="1">
                            <a:latin typeface="Cambria Math" panose="02040503050406030204" pitchFamily="18" charset="0"/>
                          </a:rPr>
                          <m:t>2</m:t>
                        </m:r>
                      </m:sub>
                    </m:sSub>
                  </m:oMath>
                </a14:m>
                <a:r>
                  <a:rPr lang="en-US" altLang="zh-CN" dirty="0"/>
                  <a:t>,…</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𝑣</m:t>
                        </m:r>
                      </m:e>
                      <m:sub>
                        <m:r>
                          <a:rPr lang="en-US" altLang="zh-CN" i="1">
                            <a:latin typeface="Cambria Math" panose="02040503050406030204" pitchFamily="18" charset="0"/>
                          </a:rPr>
                          <m:t>𝑘</m:t>
                        </m:r>
                      </m:sub>
                    </m:sSub>
                  </m:oMath>
                </a14:m>
                <a:r>
                  <a:rPr lang="en-US" altLang="zh-CN" dirty="0" smtClean="0"/>
                  <a:t>}, </a:t>
                </a:r>
                <a:r>
                  <a:rPr lang="zh-CN" altLang="en-US" dirty="0" smtClean="0"/>
                  <a:t>其中</a:t>
                </a:r>
                <a:r>
                  <a:rPr lang="en-US" altLang="zh-CN" dirty="0" err="1"/>
                  <a:t>i,j,k</a:t>
                </a:r>
                <a:r>
                  <a:rPr lang="zh-CN" altLang="en-US" dirty="0"/>
                  <a:t>都是不超过</a:t>
                </a:r>
                <a:r>
                  <a:rPr lang="en-US" altLang="zh-CN" dirty="0"/>
                  <a:t>n</a:t>
                </a:r>
                <a:r>
                  <a:rPr lang="zh-CN" altLang="en-US" dirty="0"/>
                  <a:t>的</a:t>
                </a:r>
                <a:r>
                  <a:rPr lang="zh-CN" altLang="en-US" dirty="0" smtClean="0"/>
                  <a:t>正整数</a:t>
                </a:r>
                <a:r>
                  <a:rPr lang="en-US" altLang="zh-CN" dirty="0" smtClean="0"/>
                  <a:t>. </a:t>
                </a:r>
                <a:r>
                  <a:rPr lang="zh-CN" altLang="en-US" dirty="0" smtClean="0"/>
                  <a:t>那么</a:t>
                </a:r>
                <a:endParaRPr lang="en-US" altLang="zh-CN" dirty="0" smtClean="0"/>
              </a:p>
              <a:p>
                <a:pPr marL="0" indent="0" algn="ctr">
                  <a:buNone/>
                </a:pPr>
                <a14:m>
                  <m:oMath xmlns:m="http://schemas.openxmlformats.org/officeDocument/2006/math">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𝑤</m:t>
                        </m:r>
                      </m:e>
                      <m:sub>
                        <m:r>
                          <a:rPr lang="en-US" altLang="zh-CN" i="1">
                            <a:latin typeface="Cambria Math" panose="02040503050406030204" pitchFamily="18" charset="0"/>
                          </a:rPr>
                          <m:t>𝑖𝑗</m:t>
                        </m:r>
                      </m:sub>
                      <m:sup>
                        <m:r>
                          <a:rPr lang="en-US" altLang="zh-CN" i="1">
                            <a:latin typeface="Cambria Math" panose="02040503050406030204" pitchFamily="18" charset="0"/>
                          </a:rPr>
                          <m:t>[</m:t>
                        </m:r>
                        <m:r>
                          <a:rPr lang="en-US" altLang="zh-CN" i="1">
                            <a:latin typeface="Cambria Math" panose="02040503050406030204" pitchFamily="18" charset="0"/>
                          </a:rPr>
                          <m:t>𝑘</m:t>
                        </m:r>
                        <m:r>
                          <a:rPr lang="en-US" altLang="zh-CN" i="1">
                            <a:latin typeface="Cambria Math" panose="02040503050406030204" pitchFamily="18" charset="0"/>
                          </a:rPr>
                          <m:t>]</m:t>
                        </m:r>
                      </m:sup>
                    </m:sSubSup>
                  </m:oMath>
                </a14:m>
                <a:r>
                  <a:rPr lang="en-US" altLang="zh-CN" dirty="0" smtClean="0"/>
                  <a:t>=</a:t>
                </a:r>
                <a14:m>
                  <m:oMath xmlns:m="http://schemas.openxmlformats.org/officeDocument/2006/math">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𝑤</m:t>
                        </m:r>
                      </m:e>
                      <m:sub>
                        <m:r>
                          <a:rPr lang="en-US" altLang="zh-CN" i="1">
                            <a:latin typeface="Cambria Math" panose="02040503050406030204" pitchFamily="18" charset="0"/>
                          </a:rPr>
                          <m:t>𝑖𝑗</m:t>
                        </m:r>
                      </m:sub>
                      <m:sup>
                        <m:r>
                          <a:rPr lang="en-US" altLang="zh-CN" i="1">
                            <a:latin typeface="Cambria Math" panose="02040503050406030204" pitchFamily="18" charset="0"/>
                          </a:rPr>
                          <m:t>[</m:t>
                        </m:r>
                        <m:r>
                          <a:rPr lang="en-US" altLang="zh-CN" i="1">
                            <a:latin typeface="Cambria Math" panose="02040503050406030204" pitchFamily="18" charset="0"/>
                          </a:rPr>
                          <m:t>𝑘</m:t>
                        </m:r>
                        <m:r>
                          <a:rPr lang="en-US" altLang="zh-CN" b="0" i="1" smtClean="0">
                            <a:latin typeface="Cambria Math" panose="02040503050406030204" pitchFamily="18" charset="0"/>
                          </a:rPr>
                          <m:t>−1</m:t>
                        </m:r>
                        <m:r>
                          <a:rPr lang="en-US" altLang="zh-CN" i="1">
                            <a:latin typeface="Cambria Math" panose="02040503050406030204" pitchFamily="18" charset="0"/>
                          </a:rPr>
                          <m:t>]</m:t>
                        </m:r>
                      </m:sup>
                    </m:sSubSup>
                    <m:r>
                      <a:rPr lang="en-US" altLang="zh-CN" i="1" smtClean="0">
                        <a:latin typeface="Cambria Math" panose="02040503050406030204" pitchFamily="18" charset="0"/>
                        <a:ea typeface="Cambria Math" panose="02040503050406030204" pitchFamily="18" charset="0"/>
                      </a:rPr>
                      <m:t>∨</m:t>
                    </m:r>
                    <m:sSubSup>
                      <m:sSubSupPr>
                        <m:ctrlPr>
                          <a:rPr lang="en-US" altLang="zh-CN" i="1">
                            <a:latin typeface="Cambria Math" panose="02040503050406030204" pitchFamily="18" charset="0"/>
                          </a:rPr>
                        </m:ctrlPr>
                      </m:sSubSupPr>
                      <m:e>
                        <m:r>
                          <a:rPr lang="en-US" altLang="zh-CN" b="0" i="1" smtClean="0">
                            <a:latin typeface="Cambria Math" panose="02040503050406030204" pitchFamily="18" charset="0"/>
                          </a:rPr>
                          <m:t>(</m:t>
                        </m:r>
                        <m:r>
                          <a:rPr lang="en-US" altLang="zh-CN" i="1">
                            <a:latin typeface="Cambria Math" panose="02040503050406030204" pitchFamily="18" charset="0"/>
                          </a:rPr>
                          <m:t>𝑤</m:t>
                        </m:r>
                      </m:e>
                      <m:sub>
                        <m:r>
                          <a:rPr lang="en-US" altLang="zh-CN" i="1">
                            <a:latin typeface="Cambria Math" panose="02040503050406030204" pitchFamily="18" charset="0"/>
                          </a:rPr>
                          <m:t>𝑖</m:t>
                        </m:r>
                        <m:r>
                          <a:rPr lang="en-US" altLang="zh-CN" b="0" i="1" smtClean="0">
                            <a:latin typeface="Cambria Math" panose="02040503050406030204" pitchFamily="18" charset="0"/>
                          </a:rPr>
                          <m:t>𝑘</m:t>
                        </m:r>
                      </m:sub>
                      <m:sup>
                        <m:r>
                          <a:rPr lang="en-US" altLang="zh-CN" i="1">
                            <a:latin typeface="Cambria Math" panose="02040503050406030204" pitchFamily="18" charset="0"/>
                          </a:rPr>
                          <m:t>[</m:t>
                        </m:r>
                        <m:r>
                          <a:rPr lang="en-US" altLang="zh-CN" i="1">
                            <a:latin typeface="Cambria Math" panose="02040503050406030204" pitchFamily="18" charset="0"/>
                          </a:rPr>
                          <m:t>𝑘</m:t>
                        </m:r>
                        <m:r>
                          <a:rPr lang="en-US" altLang="zh-CN" b="0" i="1" smtClean="0">
                            <a:latin typeface="Cambria Math" panose="02040503050406030204" pitchFamily="18" charset="0"/>
                          </a:rPr>
                          <m:t>−1</m:t>
                        </m:r>
                        <m:r>
                          <a:rPr lang="en-US" altLang="zh-CN" i="1">
                            <a:latin typeface="Cambria Math" panose="02040503050406030204" pitchFamily="18" charset="0"/>
                          </a:rPr>
                          <m:t>]</m:t>
                        </m:r>
                      </m:sup>
                    </m:sSubSup>
                    <m:sSubSup>
                      <m:sSubSupPr>
                        <m:ctrlPr>
                          <a:rPr lang="en-US" altLang="zh-CN" i="1">
                            <a:latin typeface="Cambria Math" panose="02040503050406030204" pitchFamily="18" charset="0"/>
                          </a:rPr>
                        </m:ctrlPr>
                      </m:sSubSupPr>
                      <m:e>
                        <m:r>
                          <a:rPr lang="en-US" altLang="zh-CN" i="1" smtClean="0">
                            <a:latin typeface="Cambria Math" panose="02040503050406030204" pitchFamily="18" charset="0"/>
                            <a:ea typeface="Cambria Math" panose="02040503050406030204" pitchFamily="18" charset="0"/>
                          </a:rPr>
                          <m:t>∧</m:t>
                        </m:r>
                        <m:r>
                          <a:rPr lang="en-US" altLang="zh-CN" i="1">
                            <a:latin typeface="Cambria Math" panose="02040503050406030204" pitchFamily="18" charset="0"/>
                          </a:rPr>
                          <m:t>𝑤</m:t>
                        </m:r>
                      </m:e>
                      <m:sub>
                        <m:r>
                          <a:rPr lang="en-US" altLang="zh-CN" i="1">
                            <a:latin typeface="Cambria Math" panose="02040503050406030204" pitchFamily="18" charset="0"/>
                          </a:rPr>
                          <m:t>𝑘</m:t>
                        </m:r>
                        <m:r>
                          <a:rPr lang="en-US" altLang="zh-CN" b="0" i="1" smtClean="0">
                            <a:latin typeface="Cambria Math" panose="02040503050406030204" pitchFamily="18" charset="0"/>
                          </a:rPr>
                          <m:t>𝑗</m:t>
                        </m:r>
                      </m:sub>
                      <m:sup>
                        <m:r>
                          <a:rPr lang="en-US" altLang="zh-CN" i="1">
                            <a:latin typeface="Cambria Math" panose="02040503050406030204" pitchFamily="18" charset="0"/>
                          </a:rPr>
                          <m:t>[</m:t>
                        </m:r>
                        <m:r>
                          <a:rPr lang="en-US" altLang="zh-CN" i="1">
                            <a:latin typeface="Cambria Math" panose="02040503050406030204" pitchFamily="18" charset="0"/>
                          </a:rPr>
                          <m:t>𝑘</m:t>
                        </m:r>
                        <m:r>
                          <a:rPr lang="en-US" altLang="zh-CN" i="1">
                            <a:latin typeface="Cambria Math" panose="02040503050406030204" pitchFamily="18" charset="0"/>
                          </a:rPr>
                          <m:t>−1]</m:t>
                        </m:r>
                      </m:sup>
                    </m:sSubSup>
                  </m:oMath>
                </a14:m>
                <a:r>
                  <a:rPr lang="en-US" altLang="zh-CN" dirty="0" smtClean="0"/>
                  <a:t>).</a:t>
                </a:r>
                <a:endParaRPr lang="en-US" altLang="zh-CN" dirty="0"/>
              </a:p>
              <a:p>
                <a:endParaRPr lang="en-US" altLang="zh-CN" dirty="0" smtClean="0"/>
              </a:p>
              <a:p>
                <a:r>
                  <a:rPr lang="zh-CN" altLang="en-US" dirty="0" smtClean="0"/>
                  <a:t>换</a:t>
                </a:r>
                <a14:m>
                  <m:oMath xmlns:m="http://schemas.openxmlformats.org/officeDocument/2006/math">
                    <m:r>
                      <a:rPr lang="zh-CN" altLang="en-US" i="1">
                        <a:latin typeface="Cambria Math" panose="02040503050406030204" pitchFamily="18" charset="0"/>
                      </a:rPr>
                      <m:t>言</m:t>
                    </m:r>
                    <m:r>
                      <a:rPr lang="zh-CN" altLang="en-US" i="1" smtClean="0">
                        <a:latin typeface="Cambria Math" panose="02040503050406030204" pitchFamily="18" charset="0"/>
                      </a:rPr>
                      <m:t>之</m:t>
                    </m:r>
                    <m:r>
                      <a:rPr lang="en-US" altLang="zh-CN" b="0" i="1" smtClean="0">
                        <a:latin typeface="Cambria Math" panose="02040503050406030204" pitchFamily="18" charset="0"/>
                      </a:rPr>
                      <m:t>, </m:t>
                    </m:r>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𝑤</m:t>
                        </m:r>
                      </m:e>
                      <m:sub>
                        <m:r>
                          <a:rPr lang="en-US" altLang="zh-CN" i="1">
                            <a:latin typeface="Cambria Math" panose="02040503050406030204" pitchFamily="18" charset="0"/>
                          </a:rPr>
                          <m:t>𝑖𝑗</m:t>
                        </m:r>
                      </m:sub>
                      <m:sup>
                        <m:r>
                          <a:rPr lang="en-US" altLang="zh-CN" i="1">
                            <a:latin typeface="Cambria Math" panose="02040503050406030204" pitchFamily="18" charset="0"/>
                          </a:rPr>
                          <m:t>[</m:t>
                        </m:r>
                        <m:r>
                          <a:rPr lang="en-US" altLang="zh-CN" i="1">
                            <a:latin typeface="Cambria Math" panose="02040503050406030204" pitchFamily="18" charset="0"/>
                          </a:rPr>
                          <m:t>𝑘</m:t>
                        </m:r>
                        <m:r>
                          <a:rPr lang="en-US" altLang="zh-CN" i="1">
                            <a:latin typeface="Cambria Math" panose="02040503050406030204" pitchFamily="18" charset="0"/>
                          </a:rPr>
                          <m:t>]</m:t>
                        </m:r>
                      </m:sup>
                    </m:sSubSup>
                  </m:oMath>
                </a14:m>
                <a:r>
                  <a:rPr lang="zh-CN" altLang="en-US" dirty="0" smtClean="0"/>
                  <a:t>结果为</a:t>
                </a:r>
                <a:r>
                  <a:rPr lang="en-US" altLang="zh-CN" dirty="0" smtClean="0"/>
                  <a:t>1, </a:t>
                </a:r>
                <a:r>
                  <a:rPr lang="zh-CN" altLang="en-US" dirty="0"/>
                  <a:t>要么</a:t>
                </a:r>
                <a14:m>
                  <m:oMath xmlns:m="http://schemas.openxmlformats.org/officeDocument/2006/math">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𝑤</m:t>
                        </m:r>
                      </m:e>
                      <m:sub>
                        <m:r>
                          <a:rPr lang="en-US" altLang="zh-CN" i="1">
                            <a:latin typeface="Cambria Math" panose="02040503050406030204" pitchFamily="18" charset="0"/>
                          </a:rPr>
                          <m:t>𝑖𝑗</m:t>
                        </m:r>
                      </m:sub>
                      <m:sup>
                        <m:r>
                          <a:rPr lang="en-US" altLang="zh-CN" i="1">
                            <a:latin typeface="Cambria Math" panose="02040503050406030204" pitchFamily="18" charset="0"/>
                          </a:rPr>
                          <m:t>[</m:t>
                        </m:r>
                        <m:r>
                          <a:rPr lang="en-US" altLang="zh-CN" i="1">
                            <a:latin typeface="Cambria Math" panose="02040503050406030204" pitchFamily="18" charset="0"/>
                          </a:rPr>
                          <m:t>𝑘</m:t>
                        </m:r>
                        <m:r>
                          <a:rPr lang="en-US" altLang="zh-CN" i="1">
                            <a:latin typeface="Cambria Math" panose="02040503050406030204" pitchFamily="18" charset="0"/>
                          </a:rPr>
                          <m:t>−1]</m:t>
                        </m:r>
                      </m:sup>
                    </m:sSubSup>
                  </m:oMath>
                </a14:m>
                <a:r>
                  <a:rPr lang="zh-CN" altLang="en-US" dirty="0" smtClean="0"/>
                  <a:t>为</a:t>
                </a:r>
                <a:r>
                  <a:rPr lang="en-US" altLang="zh-CN" dirty="0" smtClean="0"/>
                  <a:t>1, </a:t>
                </a:r>
                <a:r>
                  <a:rPr lang="zh-CN" altLang="en-US" dirty="0" smtClean="0"/>
                  <a:t>要么</a:t>
                </a:r>
                <a14:m>
                  <m:oMath xmlns:m="http://schemas.openxmlformats.org/officeDocument/2006/math">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𝑤</m:t>
                        </m:r>
                      </m:e>
                      <m:sub>
                        <m:r>
                          <a:rPr lang="en-US" altLang="zh-CN" i="1">
                            <a:latin typeface="Cambria Math" panose="02040503050406030204" pitchFamily="18" charset="0"/>
                          </a:rPr>
                          <m:t>𝑖𝑘</m:t>
                        </m:r>
                      </m:sub>
                      <m:sup>
                        <m:r>
                          <a:rPr lang="en-US" altLang="zh-CN" i="1">
                            <a:latin typeface="Cambria Math" panose="02040503050406030204" pitchFamily="18" charset="0"/>
                          </a:rPr>
                          <m:t>[</m:t>
                        </m:r>
                        <m:r>
                          <a:rPr lang="en-US" altLang="zh-CN" i="1">
                            <a:latin typeface="Cambria Math" panose="02040503050406030204" pitchFamily="18" charset="0"/>
                          </a:rPr>
                          <m:t>𝑘</m:t>
                        </m:r>
                        <m:r>
                          <a:rPr lang="en-US" altLang="zh-CN" i="1">
                            <a:latin typeface="Cambria Math" panose="02040503050406030204" pitchFamily="18" charset="0"/>
                          </a:rPr>
                          <m:t>−1]</m:t>
                        </m:r>
                      </m:sup>
                    </m:sSubSup>
                    <m:sSubSup>
                      <m:sSubSupPr>
                        <m:ctrlPr>
                          <a:rPr lang="en-US" altLang="zh-CN" i="1">
                            <a:latin typeface="Cambria Math" panose="02040503050406030204" pitchFamily="18" charset="0"/>
                          </a:rPr>
                        </m:ctrlPr>
                      </m:sSubSupPr>
                      <m:e>
                        <m:r>
                          <a:rPr lang="zh-CN" altLang="en-US" i="1">
                            <a:latin typeface="Cambria Math" panose="02040503050406030204" pitchFamily="18" charset="0"/>
                          </a:rPr>
                          <m:t>和</m:t>
                        </m:r>
                        <m:r>
                          <a:rPr lang="en-US" altLang="zh-CN" i="1">
                            <a:latin typeface="Cambria Math" panose="02040503050406030204" pitchFamily="18" charset="0"/>
                          </a:rPr>
                          <m:t>𝑤</m:t>
                        </m:r>
                      </m:e>
                      <m:sub>
                        <m:r>
                          <a:rPr lang="en-US" altLang="zh-CN" i="1">
                            <a:latin typeface="Cambria Math" panose="02040503050406030204" pitchFamily="18" charset="0"/>
                          </a:rPr>
                          <m:t>𝑘𝑗</m:t>
                        </m:r>
                      </m:sub>
                      <m:sup>
                        <m:r>
                          <a:rPr lang="en-US" altLang="zh-CN" i="1">
                            <a:latin typeface="Cambria Math" panose="02040503050406030204" pitchFamily="18" charset="0"/>
                          </a:rPr>
                          <m:t>[</m:t>
                        </m:r>
                        <m:r>
                          <a:rPr lang="en-US" altLang="zh-CN" i="1">
                            <a:latin typeface="Cambria Math" panose="02040503050406030204" pitchFamily="18" charset="0"/>
                          </a:rPr>
                          <m:t>𝑘</m:t>
                        </m:r>
                        <m:r>
                          <a:rPr lang="en-US" altLang="zh-CN" i="1">
                            <a:latin typeface="Cambria Math" panose="02040503050406030204" pitchFamily="18" charset="0"/>
                          </a:rPr>
                          <m:t>−1]</m:t>
                        </m:r>
                      </m:sup>
                    </m:sSubSup>
                  </m:oMath>
                </a14:m>
                <a:r>
                  <a:rPr lang="zh-CN" altLang="en-US" dirty="0" smtClean="0"/>
                  <a:t>为</a:t>
                </a:r>
                <a:r>
                  <a:rPr lang="en-US" altLang="zh-CN" dirty="0" smtClean="0"/>
                  <a:t>1.</a:t>
                </a:r>
              </a:p>
              <a:p>
                <a14:m>
                  <m:oMath xmlns:m="http://schemas.openxmlformats.org/officeDocument/2006/math">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𝑤</m:t>
                        </m:r>
                      </m:e>
                      <m:sub>
                        <m:r>
                          <a:rPr lang="en-US" altLang="zh-CN" i="1">
                            <a:latin typeface="Cambria Math" panose="02040503050406030204" pitchFamily="18" charset="0"/>
                          </a:rPr>
                          <m:t>𝑖𝑗</m:t>
                        </m:r>
                      </m:sub>
                      <m:sup>
                        <m:r>
                          <a:rPr lang="en-US" altLang="zh-CN" i="1">
                            <a:latin typeface="Cambria Math" panose="02040503050406030204" pitchFamily="18" charset="0"/>
                          </a:rPr>
                          <m:t>[</m:t>
                        </m:r>
                        <m:r>
                          <a:rPr lang="en-US" altLang="zh-CN" i="1">
                            <a:latin typeface="Cambria Math" panose="02040503050406030204" pitchFamily="18" charset="0"/>
                          </a:rPr>
                          <m:t>𝑘</m:t>
                        </m:r>
                        <m:r>
                          <a:rPr lang="en-US" altLang="zh-CN" i="1">
                            <a:latin typeface="Cambria Math" panose="02040503050406030204" pitchFamily="18" charset="0"/>
                          </a:rPr>
                          <m:t>−1]</m:t>
                        </m:r>
                      </m:sup>
                    </m:sSubSup>
                  </m:oMath>
                </a14:m>
                <a:r>
                  <a:rPr lang="en-US" altLang="zh-CN" dirty="0" smtClean="0"/>
                  <a:t>=1</a:t>
                </a:r>
                <a:r>
                  <a:rPr lang="zh-CN" altLang="en-US" dirty="0" smtClean="0"/>
                  <a:t>，上一次结果为</a:t>
                </a:r>
                <a:r>
                  <a:rPr lang="en-US" altLang="zh-CN" dirty="0" smtClean="0"/>
                  <a:t>1;</a:t>
                </a:r>
              </a:p>
              <a:p>
                <a14:m>
                  <m:oMath xmlns:m="http://schemas.openxmlformats.org/officeDocument/2006/math">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𝑤</m:t>
                        </m:r>
                      </m:e>
                      <m:sub>
                        <m:r>
                          <a:rPr lang="en-US" altLang="zh-CN" i="1">
                            <a:latin typeface="Cambria Math" panose="02040503050406030204" pitchFamily="18" charset="0"/>
                          </a:rPr>
                          <m:t>𝑖𝑘</m:t>
                        </m:r>
                      </m:sub>
                      <m:sup>
                        <m:r>
                          <a:rPr lang="en-US" altLang="zh-CN" i="1">
                            <a:latin typeface="Cambria Math" panose="02040503050406030204" pitchFamily="18" charset="0"/>
                          </a:rPr>
                          <m:t>[</m:t>
                        </m:r>
                        <m:r>
                          <a:rPr lang="en-US" altLang="zh-CN" i="1">
                            <a:latin typeface="Cambria Math" panose="02040503050406030204" pitchFamily="18" charset="0"/>
                          </a:rPr>
                          <m:t>𝑘</m:t>
                        </m:r>
                        <m:r>
                          <a:rPr lang="en-US" altLang="zh-CN" i="1">
                            <a:latin typeface="Cambria Math" panose="02040503050406030204" pitchFamily="18" charset="0"/>
                          </a:rPr>
                          <m:t>−1]</m:t>
                        </m:r>
                      </m:sup>
                    </m:sSubSup>
                  </m:oMath>
                </a14:m>
                <a:r>
                  <a:rPr lang="en-US" altLang="zh-CN" dirty="0" smtClean="0"/>
                  <a:t>=1,</a:t>
                </a:r>
                <a:r>
                  <a:rPr lang="zh-CN" altLang="en-US" dirty="0" smtClean="0"/>
                  <a:t>第</a:t>
                </a:r>
                <a:r>
                  <a:rPr lang="en-US" altLang="zh-CN" dirty="0" smtClean="0"/>
                  <a:t>k</a:t>
                </a:r>
                <a:r>
                  <a:rPr lang="zh-CN" altLang="en-US" dirty="0" smtClean="0"/>
                  <a:t>列中</a:t>
                </a:r>
                <a:r>
                  <a:rPr lang="en-US" altLang="zh-CN" dirty="0" smtClean="0"/>
                  <a:t>(</a:t>
                </a:r>
                <a:r>
                  <a:rPr lang="en-US" altLang="zh-CN" dirty="0" err="1" smtClean="0"/>
                  <a:t>i,k</a:t>
                </a:r>
                <a:r>
                  <a:rPr lang="en-US" altLang="zh-CN" dirty="0" smtClean="0"/>
                  <a:t>)</a:t>
                </a:r>
                <a:r>
                  <a:rPr lang="zh-CN" altLang="en-US" dirty="0" smtClean="0"/>
                  <a:t>项为</a:t>
                </a:r>
                <a:r>
                  <a:rPr lang="en-US" altLang="zh-CN" dirty="0" smtClean="0"/>
                  <a:t>1, </a:t>
                </a:r>
                <a14:m>
                  <m:oMath xmlns:m="http://schemas.openxmlformats.org/officeDocument/2006/math">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𝑤</m:t>
                        </m:r>
                      </m:e>
                      <m:sub>
                        <m:r>
                          <a:rPr lang="en-US" altLang="zh-CN" i="1">
                            <a:latin typeface="Cambria Math" panose="02040503050406030204" pitchFamily="18" charset="0"/>
                          </a:rPr>
                          <m:t>𝑘𝑗</m:t>
                        </m:r>
                      </m:sub>
                      <m:sup>
                        <m:r>
                          <a:rPr lang="en-US" altLang="zh-CN" i="1">
                            <a:latin typeface="Cambria Math" panose="02040503050406030204" pitchFamily="18" charset="0"/>
                          </a:rPr>
                          <m:t>[</m:t>
                        </m:r>
                        <m:r>
                          <a:rPr lang="en-US" altLang="zh-CN" i="1">
                            <a:latin typeface="Cambria Math" panose="02040503050406030204" pitchFamily="18" charset="0"/>
                          </a:rPr>
                          <m:t>𝑘</m:t>
                        </m:r>
                        <m:r>
                          <a:rPr lang="en-US" altLang="zh-CN" i="1">
                            <a:latin typeface="Cambria Math" panose="02040503050406030204" pitchFamily="18" charset="0"/>
                          </a:rPr>
                          <m:t>−1]</m:t>
                        </m:r>
                      </m:sup>
                    </m:sSubSup>
                  </m:oMath>
                </a14:m>
                <a:r>
                  <a:rPr lang="en-US" altLang="zh-CN" dirty="0" smtClean="0"/>
                  <a:t>=1,</a:t>
                </a:r>
                <a:r>
                  <a:rPr lang="zh-CN" altLang="en-US" dirty="0" smtClean="0"/>
                  <a:t>第</a:t>
                </a:r>
                <a:r>
                  <a:rPr lang="en-US" altLang="zh-CN" dirty="0" smtClean="0"/>
                  <a:t>k</a:t>
                </a:r>
                <a:r>
                  <a:rPr lang="zh-CN" altLang="en-US" dirty="0" smtClean="0"/>
                  <a:t>行中</a:t>
                </a:r>
                <a:r>
                  <a:rPr lang="en-US" altLang="zh-CN" dirty="0" smtClean="0"/>
                  <a:t>(</a:t>
                </a:r>
                <a:r>
                  <a:rPr lang="en-US" altLang="zh-CN" dirty="0" err="1" smtClean="0"/>
                  <a:t>k,j</a:t>
                </a:r>
                <a:r>
                  <a:rPr lang="en-US" altLang="zh-CN" dirty="0" smtClean="0"/>
                  <a:t>)</a:t>
                </a:r>
                <a:r>
                  <a:rPr lang="zh-CN" altLang="en-US" dirty="0" smtClean="0"/>
                  <a:t>项为</a:t>
                </a:r>
                <a:r>
                  <a:rPr lang="en-US" altLang="zh-CN" dirty="0" smtClean="0"/>
                  <a:t>1.</a:t>
                </a:r>
                <a:endParaRPr lang="en-US" altLang="zh-CN"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l="-999" b="-357"/>
                </a:stretch>
              </a:blipFill>
            </p:spPr>
            <p:txBody>
              <a:bodyPr/>
              <a:lstStyle/>
              <a:p>
                <a:r>
                  <a:rPr lang="zh-CN" altLang="en-US">
                    <a:noFill/>
                  </a:rPr>
                  <a:t> </a:t>
                </a:r>
              </a:p>
            </p:txBody>
          </p:sp>
        </mc:Fallback>
      </mc:AlternateContent>
      <p:sp>
        <p:nvSpPr>
          <p:cNvPr id="4" name="日期占位符 3"/>
          <p:cNvSpPr>
            <a:spLocks noGrp="1"/>
          </p:cNvSpPr>
          <p:nvPr>
            <p:ph type="dt" sz="half" idx="10"/>
          </p:nvPr>
        </p:nvSpPr>
        <p:spPr/>
        <p:txBody>
          <a:bodyPr/>
          <a:lstStyle/>
          <a:p>
            <a:fld id="{D2716835-E2C6-4381-B371-EBD9501CE90E}" type="datetime1">
              <a:rPr lang="zh-CN" altLang="en-US" smtClean="0"/>
              <a:t>2025/3/14</a:t>
            </a:fld>
            <a:endParaRPr lang="zh-CN" altLang="en-US" dirty="0"/>
          </a:p>
        </p:txBody>
      </p:sp>
      <p:sp>
        <p:nvSpPr>
          <p:cNvPr id="5" name="页脚占位符 4"/>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6" name="灯片编号占位符 5"/>
          <p:cNvSpPr>
            <a:spLocks noGrp="1"/>
          </p:cNvSpPr>
          <p:nvPr>
            <p:ph type="sldNum" sz="quarter" idx="12"/>
          </p:nvPr>
        </p:nvSpPr>
        <p:spPr/>
        <p:txBody>
          <a:bodyPr/>
          <a:lstStyle/>
          <a:p>
            <a:fld id="{67913A8A-9EFB-4B5F-9CCB-3D21173FAA85}" type="slidenum">
              <a:rPr lang="zh-CN" altLang="en-US" smtClean="0"/>
              <a:pPr/>
              <a:t>83</a:t>
            </a:fld>
            <a:endParaRPr lang="zh-CN" altLang="en-US" dirty="0"/>
          </a:p>
        </p:txBody>
      </p:sp>
    </p:spTree>
    <p:extLst>
      <p:ext uri="{BB962C8B-B14F-4D97-AF65-F5344CB8AC3E}">
        <p14:creationId xmlns:p14="http://schemas.microsoft.com/office/powerpoint/2010/main" val="1425323805"/>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沃舍尔算法</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normAutofit/>
              </a:bodyPr>
              <a:lstStyle/>
              <a:p>
                <a:pPr marL="0" indent="0">
                  <a:buNone/>
                </a:pPr>
                <a:r>
                  <a:rPr lang="zh-CN" altLang="en-US" dirty="0" smtClean="0"/>
                  <a:t>沃舍尔算法</a:t>
                </a:r>
                <a:endParaRPr lang="en-US" altLang="zh-CN" dirty="0" smtClean="0"/>
              </a:p>
              <a:p>
                <a:pPr marL="0" indent="0">
                  <a:buNone/>
                </a:pPr>
                <a:r>
                  <a:rPr lang="zh-CN" altLang="en-US" dirty="0" smtClean="0"/>
                  <a:t>输入</a:t>
                </a:r>
                <a:r>
                  <a:rPr lang="en-US" altLang="zh-CN" dirty="0" smtClean="0"/>
                  <a:t>: </a:t>
                </a:r>
                <a14:m>
                  <m:oMath xmlns:m="http://schemas.openxmlformats.org/officeDocument/2006/math">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M</m:t>
                        </m:r>
                      </m:e>
                      <m:sub>
                        <m:r>
                          <a:rPr lang="en-US" altLang="zh-CN" i="1">
                            <a:latin typeface="Cambria Math" panose="02040503050406030204" pitchFamily="18" charset="0"/>
                          </a:rPr>
                          <m:t>𝑅</m:t>
                        </m:r>
                      </m:sub>
                    </m:sSub>
                  </m:oMath>
                </a14:m>
                <a:r>
                  <a:rPr lang="en-US" altLang="zh-CN" dirty="0" smtClean="0"/>
                  <a:t>(</a:t>
                </a:r>
                <a14:m>
                  <m:oMath xmlns:m="http://schemas.openxmlformats.org/officeDocument/2006/math">
                    <m:r>
                      <a:rPr lang="en-US" altLang="zh-CN" i="1">
                        <a:latin typeface="Cambria Math" panose="02040503050406030204" pitchFamily="18" charset="0"/>
                        <a:ea typeface="Cambria Math" panose="02040503050406030204" pitchFamily="18" charset="0"/>
                      </a:rPr>
                      <m:t>𝑛</m:t>
                    </m:r>
                    <m:r>
                      <a:rPr lang="en-US" altLang="zh-CN" i="1">
                        <a:latin typeface="Cambria Math" panose="02040503050406030204" pitchFamily="18" charset="0"/>
                        <a:ea typeface="Cambria Math" panose="02040503050406030204" pitchFamily="18" charset="0"/>
                      </a:rPr>
                      <m:t> ×</m:t>
                    </m:r>
                    <m:r>
                      <a:rPr lang="en-US" altLang="zh-CN" b="0" i="1" smtClean="0">
                        <a:latin typeface="Cambria Math" panose="02040503050406030204" pitchFamily="18" charset="0"/>
                        <a:ea typeface="Cambria Math" panose="02040503050406030204" pitchFamily="18" charset="0"/>
                      </a:rPr>
                      <m:t>𝑛</m:t>
                    </m:r>
                  </m:oMath>
                </a14:m>
                <a:r>
                  <a:rPr lang="zh-CN" altLang="en-US" dirty="0" smtClean="0"/>
                  <a:t>的</a:t>
                </a:r>
                <a:r>
                  <a:rPr lang="en-US" altLang="zh-CN" dirty="0" smtClean="0"/>
                  <a:t>0-1</a:t>
                </a:r>
                <a:r>
                  <a:rPr lang="zh-CN" altLang="en-US" dirty="0" smtClean="0"/>
                  <a:t>矩阵</a:t>
                </a:r>
                <a:r>
                  <a:rPr lang="en-US" altLang="zh-CN" dirty="0" smtClean="0"/>
                  <a:t>)</a:t>
                </a:r>
              </a:p>
              <a:p>
                <a:pPr marL="0" indent="0">
                  <a:buNone/>
                </a:pPr>
                <a:r>
                  <a:rPr lang="en-US" altLang="zh-CN" dirty="0" smtClean="0"/>
                  <a:t>W:=</a:t>
                </a:r>
                <a14:m>
                  <m:oMath xmlns:m="http://schemas.openxmlformats.org/officeDocument/2006/math">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M</m:t>
                        </m:r>
                      </m:e>
                      <m:sub>
                        <m:r>
                          <a:rPr lang="en-US" altLang="zh-CN" i="1">
                            <a:latin typeface="Cambria Math" panose="02040503050406030204" pitchFamily="18" charset="0"/>
                          </a:rPr>
                          <m:t>𝑅</m:t>
                        </m:r>
                      </m:sub>
                    </m:sSub>
                  </m:oMath>
                </a14:m>
                <a:endParaRPr lang="en-US" altLang="zh-CN" dirty="0" smtClean="0"/>
              </a:p>
              <a:p>
                <a:pPr marL="0" indent="0">
                  <a:buNone/>
                </a:pPr>
                <a:r>
                  <a:rPr lang="en-US" altLang="zh-CN" b="1" dirty="0" smtClean="0"/>
                  <a:t>for</a:t>
                </a:r>
                <a:r>
                  <a:rPr lang="en-US" altLang="zh-CN" dirty="0" smtClean="0"/>
                  <a:t> </a:t>
                </a:r>
                <a14:m>
                  <m:oMath xmlns:m="http://schemas.openxmlformats.org/officeDocument/2006/math">
                    <m:r>
                      <a:rPr lang="en-US" altLang="zh-CN" b="0" i="1" smtClean="0">
                        <a:latin typeface="Cambria Math" panose="02040503050406030204" pitchFamily="18" charset="0"/>
                        <a:ea typeface="Cambria Math" panose="02040503050406030204" pitchFamily="18" charset="0"/>
                      </a:rPr>
                      <m:t>𝑘</m:t>
                    </m:r>
                  </m:oMath>
                </a14:m>
                <a:r>
                  <a:rPr lang="en-US" altLang="zh-CN" dirty="0" smtClean="0"/>
                  <a:t>:=1 </a:t>
                </a:r>
                <a:r>
                  <a:rPr lang="en-US" altLang="zh-CN" b="1" dirty="0" smtClean="0"/>
                  <a:t>to</a:t>
                </a:r>
                <a:r>
                  <a:rPr lang="en-US" altLang="zh-CN" dirty="0" smtClean="0"/>
                  <a:t> </a:t>
                </a:r>
                <a14:m>
                  <m:oMath xmlns:m="http://schemas.openxmlformats.org/officeDocument/2006/math">
                    <m:r>
                      <a:rPr lang="en-US" altLang="zh-CN" i="1">
                        <a:latin typeface="Cambria Math" panose="02040503050406030204" pitchFamily="18" charset="0"/>
                        <a:ea typeface="Cambria Math" panose="02040503050406030204" pitchFamily="18" charset="0"/>
                      </a:rPr>
                      <m:t>𝑛</m:t>
                    </m:r>
                  </m:oMath>
                </a14:m>
                <a:endParaRPr lang="en-US" altLang="zh-CN" dirty="0" smtClean="0"/>
              </a:p>
              <a:p>
                <a:pPr marL="0" indent="0">
                  <a:buNone/>
                </a:pPr>
                <a:r>
                  <a:rPr lang="en-US" altLang="zh-CN" dirty="0" smtClean="0"/>
                  <a:t>   </a:t>
                </a:r>
                <a:r>
                  <a:rPr lang="en-US" altLang="zh-CN" b="1" dirty="0" smtClean="0"/>
                  <a:t>for</a:t>
                </a:r>
                <a:r>
                  <a:rPr lang="en-US" altLang="zh-CN" dirty="0" smtClean="0"/>
                  <a:t> </a:t>
                </a:r>
                <a14:m>
                  <m:oMath xmlns:m="http://schemas.openxmlformats.org/officeDocument/2006/math">
                    <m:r>
                      <a:rPr lang="en-US" altLang="zh-CN" b="0" i="1" smtClean="0">
                        <a:latin typeface="Cambria Math" panose="02040503050406030204" pitchFamily="18" charset="0"/>
                        <a:ea typeface="Cambria Math" panose="02040503050406030204" pitchFamily="18" charset="0"/>
                      </a:rPr>
                      <m:t>𝑖</m:t>
                    </m:r>
                  </m:oMath>
                </a14:m>
                <a:r>
                  <a:rPr lang="en-US" altLang="zh-CN" dirty="0" smtClean="0"/>
                  <a:t>:=1 </a:t>
                </a:r>
                <a:r>
                  <a:rPr lang="en-US" altLang="zh-CN" b="1" dirty="0" smtClean="0"/>
                  <a:t>to</a:t>
                </a:r>
                <a:r>
                  <a:rPr lang="en-US" altLang="zh-CN" dirty="0" smtClean="0"/>
                  <a:t> </a:t>
                </a:r>
                <a14:m>
                  <m:oMath xmlns:m="http://schemas.openxmlformats.org/officeDocument/2006/math">
                    <m:r>
                      <a:rPr lang="en-US" altLang="zh-CN" i="1">
                        <a:latin typeface="Cambria Math" panose="02040503050406030204" pitchFamily="18" charset="0"/>
                        <a:ea typeface="Cambria Math" panose="02040503050406030204" pitchFamily="18" charset="0"/>
                      </a:rPr>
                      <m:t>𝑛</m:t>
                    </m:r>
                  </m:oMath>
                </a14:m>
                <a:endParaRPr lang="en-US" altLang="zh-CN" dirty="0" smtClean="0"/>
              </a:p>
              <a:p>
                <a:pPr marL="0" indent="0">
                  <a:buNone/>
                </a:pPr>
                <a:r>
                  <a:rPr lang="en-US" altLang="zh-CN" dirty="0" smtClean="0"/>
                  <a:t>      </a:t>
                </a:r>
                <a:r>
                  <a:rPr lang="en-US" altLang="zh-CN" b="1" dirty="0" smtClean="0"/>
                  <a:t>for</a:t>
                </a:r>
                <a:r>
                  <a:rPr lang="en-US" altLang="zh-CN" dirty="0" smtClean="0"/>
                  <a:t> </a:t>
                </a:r>
                <a14:m>
                  <m:oMath xmlns:m="http://schemas.openxmlformats.org/officeDocument/2006/math">
                    <m:r>
                      <a:rPr lang="en-US" altLang="zh-CN" b="0" i="1" smtClean="0">
                        <a:latin typeface="Cambria Math" panose="02040503050406030204" pitchFamily="18" charset="0"/>
                        <a:ea typeface="Cambria Math" panose="02040503050406030204" pitchFamily="18" charset="0"/>
                      </a:rPr>
                      <m:t>𝑗</m:t>
                    </m:r>
                  </m:oMath>
                </a14:m>
                <a:r>
                  <a:rPr lang="en-US" altLang="zh-CN" dirty="0" smtClean="0"/>
                  <a:t>:=1 </a:t>
                </a:r>
                <a:r>
                  <a:rPr lang="en-US" altLang="zh-CN" b="1" dirty="0" smtClean="0"/>
                  <a:t>to</a:t>
                </a:r>
                <a:r>
                  <a:rPr lang="en-US" altLang="zh-CN" dirty="0" smtClean="0"/>
                  <a:t> </a:t>
                </a:r>
                <a14:m>
                  <m:oMath xmlns:m="http://schemas.openxmlformats.org/officeDocument/2006/math">
                    <m:r>
                      <a:rPr lang="en-US" altLang="zh-CN" i="1">
                        <a:latin typeface="Cambria Math" panose="02040503050406030204" pitchFamily="18" charset="0"/>
                        <a:ea typeface="Cambria Math" panose="02040503050406030204" pitchFamily="18" charset="0"/>
                      </a:rPr>
                      <m:t>𝑛</m:t>
                    </m:r>
                    <m:r>
                      <a:rPr lang="en-US" altLang="zh-CN" i="1">
                        <a:latin typeface="Cambria Math" panose="02040503050406030204" pitchFamily="18" charset="0"/>
                        <a:ea typeface="Cambria Math" panose="02040503050406030204" pitchFamily="18" charset="0"/>
                      </a:rPr>
                      <m:t> </m:t>
                    </m:r>
                  </m:oMath>
                </a14:m>
                <a:endParaRPr lang="en-US" altLang="zh-CN" dirty="0" smtClean="0"/>
              </a:p>
              <a:p>
                <a:pPr marL="0" indent="0">
                  <a:buNone/>
                </a:pPr>
                <a14:m>
                  <m:oMath xmlns:m="http://schemas.openxmlformats.org/officeDocument/2006/math">
                    <m:r>
                      <a:rPr lang="en-US" altLang="zh-CN" b="0" i="1" smtClean="0">
                        <a:latin typeface="Cambria Math" panose="02040503050406030204" pitchFamily="18" charset="0"/>
                      </a:rPr>
                      <m:t>              </m:t>
                    </m:r>
                    <m:sSub>
                      <m:sSubPr>
                        <m:ctrlPr>
                          <a:rPr lang="en-US" altLang="zh-CN" i="1">
                            <a:latin typeface="Cambria Math" panose="02040503050406030204" pitchFamily="18" charset="0"/>
                          </a:rPr>
                        </m:ctrlPr>
                      </m:sSubPr>
                      <m:e>
                        <m:r>
                          <a:rPr lang="en-US" altLang="zh-CN" i="1">
                            <a:latin typeface="Cambria Math" panose="02040503050406030204" pitchFamily="18" charset="0"/>
                          </a:rPr>
                          <m:t>𝑤</m:t>
                        </m:r>
                      </m:e>
                      <m:sub>
                        <m:r>
                          <a:rPr lang="en-US" altLang="zh-CN" i="1">
                            <a:latin typeface="Cambria Math" panose="02040503050406030204" pitchFamily="18" charset="0"/>
                          </a:rPr>
                          <m:t>𝑖𝑗</m:t>
                        </m:r>
                      </m:sub>
                    </m:sSub>
                  </m:oMath>
                </a14:m>
                <a:r>
                  <a:rPr lang="en-US" altLang="zh-CN" dirty="0" smtClean="0"/>
                  <a:t>: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𝑤</m:t>
                        </m:r>
                      </m:e>
                      <m:sub>
                        <m:r>
                          <a:rPr lang="en-US" altLang="zh-CN" i="1">
                            <a:latin typeface="Cambria Math" panose="02040503050406030204" pitchFamily="18" charset="0"/>
                          </a:rPr>
                          <m:t>𝑖𝑗</m:t>
                        </m:r>
                      </m:sub>
                    </m:sSub>
                    <m:r>
                      <a:rPr lang="en-US" altLang="zh-CN" i="1">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𝑤</m:t>
                        </m:r>
                      </m:e>
                      <m:sub>
                        <m:r>
                          <a:rPr lang="en-US" altLang="zh-CN" i="1">
                            <a:latin typeface="Cambria Math" panose="02040503050406030204" pitchFamily="18" charset="0"/>
                          </a:rPr>
                          <m:t>𝑖</m:t>
                        </m:r>
                        <m:r>
                          <a:rPr lang="en-US" altLang="zh-CN" b="0" i="1" smtClean="0">
                            <a:latin typeface="Cambria Math" panose="02040503050406030204" pitchFamily="18" charset="0"/>
                          </a:rPr>
                          <m:t>𝑘</m:t>
                        </m:r>
                      </m:sub>
                    </m:sSub>
                    <m:sSub>
                      <m:sSubPr>
                        <m:ctrlPr>
                          <a:rPr lang="en-US" altLang="zh-CN" i="1">
                            <a:latin typeface="Cambria Math" panose="02040503050406030204" pitchFamily="18" charset="0"/>
                          </a:rPr>
                        </m:ctrlPr>
                      </m:sSubPr>
                      <m:e>
                        <m:r>
                          <a:rPr lang="en-US" altLang="zh-CN" i="1" smtClean="0">
                            <a:latin typeface="Cambria Math" panose="02040503050406030204" pitchFamily="18" charset="0"/>
                            <a:ea typeface="Cambria Math" panose="02040503050406030204" pitchFamily="18" charset="0"/>
                          </a:rPr>
                          <m:t>∧</m:t>
                        </m:r>
                        <m:r>
                          <a:rPr lang="en-US" altLang="zh-CN" i="1">
                            <a:latin typeface="Cambria Math" panose="02040503050406030204" pitchFamily="18" charset="0"/>
                          </a:rPr>
                          <m:t>𝑤</m:t>
                        </m:r>
                      </m:e>
                      <m:sub>
                        <m:r>
                          <a:rPr lang="en-US" altLang="zh-CN" i="1">
                            <a:latin typeface="Cambria Math" panose="02040503050406030204" pitchFamily="18" charset="0"/>
                          </a:rPr>
                          <m:t>𝑘𝑗</m:t>
                        </m:r>
                      </m:sub>
                    </m:sSub>
                    <m:r>
                      <a:rPr lang="en-US" altLang="zh-CN" b="0" i="1" smtClean="0">
                        <a:latin typeface="Cambria Math" panose="02040503050406030204" pitchFamily="18" charset="0"/>
                      </a:rPr>
                      <m:t>)</m:t>
                    </m:r>
                  </m:oMath>
                </a14:m>
                <a:endParaRPr lang="en-US" altLang="zh-CN" dirty="0" smtClean="0"/>
              </a:p>
              <a:p>
                <a:pPr marL="0" indent="0">
                  <a:buNone/>
                </a:pPr>
                <a:r>
                  <a:rPr lang="en-US" altLang="zh-CN" b="1" dirty="0" smtClean="0"/>
                  <a:t>return</a:t>
                </a:r>
                <a:r>
                  <a:rPr lang="en-US" altLang="zh-CN" dirty="0" smtClean="0"/>
                  <a:t> W{W=[</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𝑤</m:t>
                        </m:r>
                      </m:e>
                      <m:sub>
                        <m:r>
                          <a:rPr lang="en-US" altLang="zh-CN" b="0" i="1" smtClean="0">
                            <a:latin typeface="Cambria Math" panose="02040503050406030204" pitchFamily="18" charset="0"/>
                          </a:rPr>
                          <m:t>𝑖</m:t>
                        </m:r>
                        <m:r>
                          <a:rPr lang="en-US" altLang="zh-CN" i="1">
                            <a:latin typeface="Cambria Math" panose="02040503050406030204" pitchFamily="18" charset="0"/>
                          </a:rPr>
                          <m:t>𝑗</m:t>
                        </m:r>
                      </m:sub>
                    </m:sSub>
                  </m:oMath>
                </a14:m>
                <a:r>
                  <a:rPr lang="en-US" altLang="zh-CN" dirty="0" smtClean="0"/>
                  <a:t>]</a:t>
                </a:r>
                <a:r>
                  <a:rPr lang="zh-CN" altLang="en-US" dirty="0" smtClean="0"/>
                  <a:t>是</a:t>
                </a:r>
                <a14:m>
                  <m:oMath xmlns:m="http://schemas.openxmlformats.org/officeDocument/2006/math">
                    <m:sSub>
                      <m:sSubPr>
                        <m:ctrlPr>
                          <a:rPr lang="en-US" altLang="zh-CN" i="1" smtClean="0">
                            <a:latin typeface="Cambria Math" panose="02040503050406030204" pitchFamily="18" charset="0"/>
                          </a:rPr>
                        </m:ctrlPr>
                      </m:sSubPr>
                      <m:e>
                        <m:r>
                          <m:rPr>
                            <m:sty m:val="p"/>
                          </m:rPr>
                          <a:rPr lang="en-US" altLang="zh-CN" i="1">
                            <a:latin typeface="Cambria Math" panose="02040503050406030204" pitchFamily="18" charset="0"/>
                          </a:rPr>
                          <m:t>M</m:t>
                        </m:r>
                      </m:e>
                      <m:sub>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𝑅</m:t>
                            </m:r>
                          </m:e>
                          <m:sup>
                            <m:r>
                              <a:rPr lang="en-US" altLang="zh-CN" b="0" i="1" smtClean="0">
                                <a:latin typeface="Cambria Math" panose="02040503050406030204" pitchFamily="18" charset="0"/>
                              </a:rPr>
                              <m:t>∗</m:t>
                            </m:r>
                          </m:sup>
                        </m:sSup>
                      </m:sub>
                    </m:sSub>
                  </m:oMath>
                </a14:m>
                <a:r>
                  <a:rPr lang="en-US" altLang="zh-CN" dirty="0" smtClean="0"/>
                  <a:t>}</a:t>
                </a: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l="-1165" t="-1310"/>
                </a:stretch>
              </a:blipFill>
            </p:spPr>
            <p:txBody>
              <a:bodyPr/>
              <a:lstStyle/>
              <a:p>
                <a:r>
                  <a:rPr lang="zh-CN" altLang="en-US">
                    <a:noFill/>
                  </a:rPr>
                  <a:t> </a:t>
                </a:r>
              </a:p>
            </p:txBody>
          </p:sp>
        </mc:Fallback>
      </mc:AlternateContent>
      <p:sp>
        <p:nvSpPr>
          <p:cNvPr id="4" name="日期占位符 3"/>
          <p:cNvSpPr>
            <a:spLocks noGrp="1"/>
          </p:cNvSpPr>
          <p:nvPr>
            <p:ph type="dt" sz="half" idx="10"/>
          </p:nvPr>
        </p:nvSpPr>
        <p:spPr/>
        <p:txBody>
          <a:bodyPr/>
          <a:lstStyle/>
          <a:p>
            <a:fld id="{893A0CAD-46B7-46F3-A978-988E0E1FD508}" type="datetime1">
              <a:rPr lang="zh-CN" altLang="en-US" smtClean="0"/>
              <a:t>2025/3/14</a:t>
            </a:fld>
            <a:endParaRPr lang="zh-CN" altLang="en-US" dirty="0"/>
          </a:p>
        </p:txBody>
      </p:sp>
      <p:sp>
        <p:nvSpPr>
          <p:cNvPr id="5" name="页脚占位符 4"/>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6" name="灯片编号占位符 5"/>
          <p:cNvSpPr>
            <a:spLocks noGrp="1"/>
          </p:cNvSpPr>
          <p:nvPr>
            <p:ph type="sldNum" sz="quarter" idx="12"/>
          </p:nvPr>
        </p:nvSpPr>
        <p:spPr/>
        <p:txBody>
          <a:bodyPr/>
          <a:lstStyle/>
          <a:p>
            <a:fld id="{67913A8A-9EFB-4B5F-9CCB-3D21173FAA85}" type="slidenum">
              <a:rPr lang="zh-CN" altLang="en-US" smtClean="0"/>
              <a:pPr/>
              <a:t>84</a:t>
            </a:fld>
            <a:endParaRPr lang="zh-CN" altLang="en-US" dirty="0"/>
          </a:p>
        </p:txBody>
      </p:sp>
    </p:spTree>
    <p:extLst>
      <p:ext uri="{BB962C8B-B14F-4D97-AF65-F5344CB8AC3E}">
        <p14:creationId xmlns:p14="http://schemas.microsoft.com/office/powerpoint/2010/main" val="619365448"/>
      </p:ext>
    </p:ext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沃舍尔算法</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14:m>
                  <m:oMath xmlns:m="http://schemas.openxmlformats.org/officeDocument/2006/math">
                    <m:r>
                      <a:rPr lang="zh-CN" altLang="en-US" i="1" smtClean="0">
                        <a:latin typeface="Cambria Math" panose="02040503050406030204" pitchFamily="18" charset="0"/>
                      </a:rPr>
                      <m:t>例</m:t>
                    </m:r>
                    <m:r>
                      <a:rPr lang="en-US" altLang="zh-CN" b="0" i="1" smtClean="0">
                        <a:latin typeface="Cambria Math" panose="02040503050406030204" pitchFamily="18" charset="0"/>
                      </a:rPr>
                      <m:t>:</m:t>
                    </m:r>
                  </m:oMath>
                </a14:m>
                <a:r>
                  <a:rPr lang="zh-CN" altLang="en-US" b="0" dirty="0" smtClean="0">
                    <a:latin typeface="Cambria Math" panose="02040503050406030204" pitchFamily="18" charset="0"/>
                  </a:rPr>
                  <a:t>计算</a:t>
                </a:r>
                <a14:m>
                  <m:oMath xmlns:m="http://schemas.openxmlformats.org/officeDocument/2006/math">
                    <m:r>
                      <a:rPr lang="en-US" altLang="zh-CN" b="0" i="0" smtClean="0">
                        <a:latin typeface="Cambria Math" panose="02040503050406030204" pitchFamily="18" charset="0"/>
                        <a:ea typeface="Cambria Math" panose="02040503050406030204" pitchFamily="18" charset="0"/>
                      </a:rPr>
                      <m:t>4</m:t>
                    </m:r>
                    <m:r>
                      <a:rPr lang="en-US" altLang="zh-CN" b="0" i="1" smtClean="0">
                        <a:latin typeface="Cambria Math" panose="02040503050406030204" pitchFamily="18" charset="0"/>
                        <a:ea typeface="Cambria Math" panose="02040503050406030204" pitchFamily="18" charset="0"/>
                      </a:rPr>
                      <m:t>×4</m:t>
                    </m:r>
                  </m:oMath>
                </a14:m>
                <a:r>
                  <a:rPr lang="zh-CN" altLang="en-US" b="0" dirty="0" smtClean="0">
                    <a:latin typeface="Cambria Math" panose="02040503050406030204" pitchFamily="18" charset="0"/>
                  </a:rPr>
                  <a:t>的</a:t>
                </a:r>
                <a:r>
                  <a:rPr lang="en-US" altLang="zh-CN" b="0" dirty="0" smtClean="0">
                    <a:latin typeface="Cambria Math" panose="02040503050406030204" pitchFamily="18" charset="0"/>
                  </a:rPr>
                  <a:t>0-1</a:t>
                </a:r>
                <a:r>
                  <a:rPr lang="zh-CN" altLang="en-US" b="0" dirty="0" smtClean="0">
                    <a:latin typeface="Cambria Math" panose="02040503050406030204" pitchFamily="18" charset="0"/>
                  </a:rPr>
                  <a:t>矩阵</a:t>
                </a:r>
                <a14:m>
                  <m:oMath xmlns:m="http://schemas.openxmlformats.org/officeDocument/2006/math">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M</m:t>
                        </m:r>
                      </m:e>
                      <m:sub>
                        <m:r>
                          <a:rPr lang="en-US" altLang="zh-CN" i="1">
                            <a:latin typeface="Cambria Math" panose="02040503050406030204" pitchFamily="18" charset="0"/>
                          </a:rPr>
                          <m:t>𝑅</m:t>
                        </m:r>
                      </m:sub>
                    </m:sSub>
                  </m:oMath>
                </a14:m>
                <a:r>
                  <a:rPr lang="zh-CN" altLang="en-US" b="0" dirty="0" smtClean="0">
                    <a:latin typeface="Cambria Math" panose="02040503050406030204" pitchFamily="18" charset="0"/>
                  </a:rPr>
                  <a:t>对应关系的传递闭包</a:t>
                </a:r>
                <a:r>
                  <a:rPr lang="en-US" altLang="zh-CN" b="0" dirty="0" smtClean="0">
                    <a:latin typeface="Cambria Math" panose="02040503050406030204" pitchFamily="18" charset="0"/>
                  </a:rPr>
                  <a:t>.</a:t>
                </a:r>
              </a:p>
              <a:p>
                <a:pPr marL="0" indent="0">
                  <a:buNone/>
                </a:pPr>
                <a14:m>
                  <m:oMath xmlns:m="http://schemas.openxmlformats.org/officeDocument/2006/math">
                    <m:r>
                      <a:rPr lang="en-US" altLang="zh-CN" b="0" i="1" smtClean="0">
                        <a:latin typeface="Cambria Math" panose="02040503050406030204" pitchFamily="18" charset="0"/>
                      </a:rPr>
                      <m:t>   </m:t>
                    </m:r>
                    <m:sSub>
                      <m:sSubPr>
                        <m:ctrlPr>
                          <a:rPr lang="en-US" altLang="zh-CN" i="1">
                            <a:latin typeface="Cambria Math" panose="02040503050406030204" pitchFamily="18" charset="0"/>
                          </a:rPr>
                        </m:ctrlPr>
                      </m:sSubPr>
                      <m:e>
                        <m:r>
                          <a:rPr lang="en-US" altLang="zh-CN" i="1">
                            <a:latin typeface="Cambria Math" panose="02040503050406030204" pitchFamily="18" charset="0"/>
                          </a:rPr>
                          <m:t>                                           </m:t>
                        </m:r>
                        <m:r>
                          <a:rPr lang="en-US" altLang="zh-CN" i="1">
                            <a:latin typeface="Cambria Math" panose="02040503050406030204" pitchFamily="18" charset="0"/>
                          </a:rPr>
                          <m:t>𝑀</m:t>
                        </m:r>
                      </m:e>
                      <m:sub>
                        <m:r>
                          <a:rPr lang="en-US" altLang="zh-CN" i="1">
                            <a:latin typeface="Cambria Math" panose="02040503050406030204" pitchFamily="18" charset="0"/>
                          </a:rPr>
                          <m:t>𝑅</m:t>
                        </m:r>
                      </m:sub>
                    </m:sSub>
                  </m:oMath>
                </a14:m>
                <a:r>
                  <a:rPr lang="en-US" altLang="zh-CN" dirty="0"/>
                  <a:t>=</a:t>
                </a:r>
                <a14:m>
                  <m:oMath xmlns:m="http://schemas.openxmlformats.org/officeDocument/2006/math">
                    <m:d>
                      <m:dPr>
                        <m:begChr m:val="["/>
                        <m:endChr m:val="]"/>
                        <m:ctrlPr>
                          <a:rPr lang="en-US" altLang="zh-CN" i="1">
                            <a:latin typeface="Cambria Math" panose="02040503050406030204" pitchFamily="18" charset="0"/>
                          </a:rPr>
                        </m:ctrlPr>
                      </m:dPr>
                      <m:e>
                        <m:eqArr>
                          <m:eqArrPr>
                            <m:ctrlPr>
                              <a:rPr lang="en-US" altLang="zh-CN" i="1">
                                <a:latin typeface="Cambria Math" panose="02040503050406030204" pitchFamily="18" charset="0"/>
                              </a:rPr>
                            </m:ctrlPr>
                          </m:eqArrPr>
                          <m:e>
                            <m:r>
                              <a:rPr lang="en-US" altLang="zh-CN" i="1">
                                <a:latin typeface="Cambria Math" panose="02040503050406030204" pitchFamily="18" charset="0"/>
                              </a:rPr>
                              <m:t>0001</m:t>
                            </m:r>
                          </m:e>
                          <m:e>
                            <m:r>
                              <a:rPr lang="en-US" altLang="zh-CN" i="1">
                                <a:latin typeface="Cambria Math" panose="02040503050406030204" pitchFamily="18" charset="0"/>
                              </a:rPr>
                              <m:t>1010</m:t>
                            </m:r>
                          </m:e>
                          <m:e>
                            <m:r>
                              <a:rPr lang="en-US" altLang="zh-CN" i="1">
                                <a:latin typeface="Cambria Math" panose="02040503050406030204" pitchFamily="18" charset="0"/>
                              </a:rPr>
                              <m:t>1001</m:t>
                            </m:r>
                          </m:e>
                          <m:e>
                            <m:r>
                              <a:rPr lang="en-US" altLang="zh-CN" i="1">
                                <a:latin typeface="Cambria Math" panose="02040503050406030204" pitchFamily="18" charset="0"/>
                              </a:rPr>
                              <m:t>0010</m:t>
                            </m:r>
                          </m:e>
                        </m:eqArr>
                      </m:e>
                    </m:d>
                  </m:oMath>
                </a14:m>
                <a:endParaRPr lang="en-US" altLang="zh-CN" dirty="0" smtClean="0">
                  <a:latin typeface="Cambria Math" panose="02040503050406030204" pitchFamily="18" charset="0"/>
                </a:endParaRPr>
              </a:p>
              <a:p>
                <a:r>
                  <a:rPr lang="zh-CN" altLang="en-US" dirty="0" smtClean="0">
                    <a:latin typeface="Cambria Math" panose="02040503050406030204" pitchFamily="18" charset="0"/>
                  </a:rPr>
                  <a:t>解</a:t>
                </a:r>
                <a:r>
                  <a:rPr lang="en-US" altLang="zh-CN" dirty="0" smtClean="0">
                    <a:latin typeface="Cambria Math" panose="02040503050406030204" pitchFamily="18" charset="0"/>
                  </a:rPr>
                  <a:t>(</a:t>
                </a:r>
                <a:r>
                  <a:rPr lang="zh-CN" altLang="en-US" dirty="0" smtClean="0">
                    <a:latin typeface="Cambria Math" panose="02040503050406030204" pitchFamily="18" charset="0"/>
                  </a:rPr>
                  <a:t>方框查找法</a:t>
                </a:r>
                <a:r>
                  <a:rPr lang="en-US" altLang="zh-CN" dirty="0" smtClean="0">
                    <a:latin typeface="Cambria Math" panose="02040503050406030204" pitchFamily="18" charset="0"/>
                  </a:rPr>
                  <a:t>):</a:t>
                </a:r>
              </a:p>
              <a:p>
                <a:pPr marL="0" indent="0">
                  <a:buNone/>
                </a:pPr>
                <a:r>
                  <a:rPr lang="en-US" altLang="zh-CN" dirty="0">
                    <a:latin typeface="Cambria Math" panose="02040503050406030204" pitchFamily="18" charset="0"/>
                  </a:rPr>
                  <a:t> </a:t>
                </a:r>
                <a:r>
                  <a:rPr lang="en-US" altLang="zh-CN" dirty="0" smtClean="0">
                    <a:latin typeface="Cambria Math" panose="02040503050406030204" pitchFamily="18" charset="0"/>
                  </a:rPr>
                  <a:t>         </a:t>
                </a:r>
                <a14:m>
                  <m:oMath xmlns:m="http://schemas.openxmlformats.org/officeDocument/2006/math">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W</m:t>
                        </m:r>
                      </m:e>
                      <m:sub>
                        <m:r>
                          <a:rPr lang="en-US" altLang="zh-CN" i="1">
                            <a:latin typeface="Cambria Math" panose="02040503050406030204" pitchFamily="18" charset="0"/>
                          </a:rPr>
                          <m:t>0</m:t>
                        </m:r>
                      </m:sub>
                    </m:sSub>
                  </m:oMath>
                </a14:m>
                <a:r>
                  <a:rPr lang="en-US" altLang="zh-CN" dirty="0" smtClean="0"/>
                  <a:t>=</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𝑀</m:t>
                        </m:r>
                      </m:e>
                      <m:sub>
                        <m:r>
                          <a:rPr lang="en-US" altLang="zh-CN" i="1">
                            <a:latin typeface="Cambria Math" panose="02040503050406030204" pitchFamily="18" charset="0"/>
                          </a:rPr>
                          <m:t>𝑅</m:t>
                        </m:r>
                      </m:sub>
                    </m:sSub>
                  </m:oMath>
                </a14:m>
                <a:r>
                  <a:rPr lang="en-US" altLang="zh-CN" dirty="0"/>
                  <a:t>=</a:t>
                </a:r>
                <a14:m>
                  <m:oMath xmlns:m="http://schemas.openxmlformats.org/officeDocument/2006/math">
                    <m:d>
                      <m:dPr>
                        <m:begChr m:val="["/>
                        <m:endChr m:val="]"/>
                        <m:ctrlPr>
                          <a:rPr lang="en-US" altLang="zh-CN" i="1">
                            <a:latin typeface="Cambria Math" panose="02040503050406030204" pitchFamily="18" charset="0"/>
                          </a:rPr>
                        </m:ctrlPr>
                      </m:dPr>
                      <m:e>
                        <m:eqArr>
                          <m:eqArrPr>
                            <m:ctrlPr>
                              <a:rPr lang="en-US" altLang="zh-CN" i="1">
                                <a:latin typeface="Cambria Math" panose="02040503050406030204" pitchFamily="18" charset="0"/>
                              </a:rPr>
                            </m:ctrlPr>
                          </m:eqArrPr>
                          <m:e>
                            <m:r>
                              <a:rPr lang="en-US" altLang="zh-CN" i="1">
                                <a:latin typeface="Cambria Math" panose="02040503050406030204" pitchFamily="18" charset="0"/>
                              </a:rPr>
                              <m:t>0001</m:t>
                            </m:r>
                          </m:e>
                          <m:e>
                            <m:r>
                              <a:rPr lang="en-US" altLang="zh-CN" i="1">
                                <a:latin typeface="Cambria Math" panose="02040503050406030204" pitchFamily="18" charset="0"/>
                              </a:rPr>
                              <m:t>1010</m:t>
                            </m:r>
                          </m:e>
                          <m:e>
                            <m:r>
                              <a:rPr lang="en-US" altLang="zh-CN" i="1">
                                <a:latin typeface="Cambria Math" panose="02040503050406030204" pitchFamily="18" charset="0"/>
                              </a:rPr>
                              <m:t>1001</m:t>
                            </m:r>
                          </m:e>
                          <m:e>
                            <m:r>
                              <a:rPr lang="en-US" altLang="zh-CN" i="1">
                                <a:latin typeface="Cambria Math" panose="02040503050406030204" pitchFamily="18" charset="0"/>
                              </a:rPr>
                              <m:t>0010</m:t>
                            </m:r>
                          </m:e>
                        </m:eqArr>
                      </m:e>
                    </m:d>
                    <m:r>
                      <a:rPr lang="en-US" altLang="zh-CN" b="0" i="0" smtClean="0">
                        <a:latin typeface="Cambria Math" panose="02040503050406030204" pitchFamily="18" charset="0"/>
                      </a:rPr>
                      <m:t>,</m:t>
                    </m:r>
                  </m:oMath>
                </a14:m>
                <a:r>
                  <a:rPr lang="en-US" altLang="zh-CN" dirty="0"/>
                  <a:t> </a:t>
                </a:r>
                <a14:m>
                  <m:oMath xmlns:m="http://schemas.openxmlformats.org/officeDocument/2006/math">
                    <m:sSub>
                      <m:sSubPr>
                        <m:ctrlPr>
                          <a:rPr lang="en-US" altLang="zh-CN" i="1">
                            <a:latin typeface="Cambria Math" panose="02040503050406030204" pitchFamily="18" charset="0"/>
                          </a:rPr>
                        </m:ctrlPr>
                      </m:sSubPr>
                      <m:e>
                        <m:r>
                          <a:rPr lang="en-US" altLang="zh-CN" b="0" i="1" smtClean="0">
                            <a:latin typeface="Cambria Math" panose="02040503050406030204" pitchFamily="18" charset="0"/>
                          </a:rPr>
                          <m:t>                       </m:t>
                        </m:r>
                        <m:r>
                          <m:rPr>
                            <m:sty m:val="p"/>
                          </m:rPr>
                          <a:rPr lang="en-US" altLang="zh-CN" i="1">
                            <a:latin typeface="Cambria Math" panose="02040503050406030204" pitchFamily="18" charset="0"/>
                          </a:rPr>
                          <m:t>W</m:t>
                        </m:r>
                      </m:e>
                      <m:sub>
                        <m:r>
                          <a:rPr lang="en-US" altLang="zh-CN" b="0" i="1" smtClean="0">
                            <a:latin typeface="Cambria Math" panose="02040503050406030204" pitchFamily="18" charset="0"/>
                          </a:rPr>
                          <m:t>1</m:t>
                        </m:r>
                      </m:sub>
                    </m:sSub>
                  </m:oMath>
                </a14:m>
                <a:r>
                  <a:rPr lang="en-US" altLang="zh-CN" dirty="0" smtClean="0"/>
                  <a:t>=</a:t>
                </a:r>
                <a14:m>
                  <m:oMath xmlns:m="http://schemas.openxmlformats.org/officeDocument/2006/math">
                    <m:d>
                      <m:dPr>
                        <m:begChr m:val="["/>
                        <m:endChr m:val="]"/>
                        <m:ctrlPr>
                          <a:rPr lang="en-US" altLang="zh-CN" i="1">
                            <a:latin typeface="Cambria Math" panose="02040503050406030204" pitchFamily="18" charset="0"/>
                          </a:rPr>
                        </m:ctrlPr>
                      </m:dPr>
                      <m:e>
                        <m:eqArr>
                          <m:eqArrPr>
                            <m:ctrlPr>
                              <a:rPr lang="en-US" altLang="zh-CN" i="1">
                                <a:latin typeface="Cambria Math" panose="02040503050406030204" pitchFamily="18" charset="0"/>
                              </a:rPr>
                            </m:ctrlPr>
                          </m:eqArrPr>
                          <m:e>
                            <m:r>
                              <a:rPr lang="en-US" altLang="zh-CN" i="1">
                                <a:latin typeface="Cambria Math" panose="02040503050406030204" pitchFamily="18" charset="0"/>
                              </a:rPr>
                              <m:t>0001</m:t>
                            </m:r>
                          </m:e>
                          <m:e>
                            <m:r>
                              <a:rPr lang="en-US" altLang="zh-CN" i="1">
                                <a:latin typeface="Cambria Math" panose="02040503050406030204" pitchFamily="18" charset="0"/>
                              </a:rPr>
                              <m:t>101</m:t>
                            </m:r>
                            <m:r>
                              <a:rPr lang="en-US" altLang="zh-CN" b="0" i="1" smtClean="0">
                                <a:solidFill>
                                  <a:srgbClr val="7030A0"/>
                                </a:solidFill>
                                <a:latin typeface="Cambria Math" panose="02040503050406030204" pitchFamily="18" charset="0"/>
                              </a:rPr>
                              <m:t>1</m:t>
                            </m:r>
                          </m:e>
                          <m:e>
                            <m:r>
                              <a:rPr lang="en-US" altLang="zh-CN" i="1">
                                <a:latin typeface="Cambria Math" panose="02040503050406030204" pitchFamily="18" charset="0"/>
                              </a:rPr>
                              <m:t>1001</m:t>
                            </m:r>
                          </m:e>
                          <m:e>
                            <m:r>
                              <a:rPr lang="en-US" altLang="zh-CN" i="1">
                                <a:latin typeface="Cambria Math" panose="02040503050406030204" pitchFamily="18" charset="0"/>
                              </a:rPr>
                              <m:t>0010</m:t>
                            </m:r>
                          </m:e>
                        </m:eqArr>
                      </m:e>
                    </m:d>
                    <m:r>
                      <a:rPr lang="en-US" altLang="zh-CN">
                        <a:latin typeface="Cambria Math" panose="02040503050406030204" pitchFamily="18" charset="0"/>
                      </a:rPr>
                      <m:t>,</m:t>
                    </m:r>
                  </m:oMath>
                </a14:m>
                <a:endParaRPr lang="en-US" altLang="zh-CN" dirty="0">
                  <a:latin typeface="Cambria Math" panose="02040503050406030204" pitchFamily="18" charset="0"/>
                </a:endParaRPr>
              </a:p>
              <a:p>
                <a:pPr marL="0" indent="0">
                  <a:buNone/>
                </a:pPr>
                <a:endParaRPr lang="en-US" altLang="zh-CN" b="0" dirty="0" smtClean="0">
                  <a:latin typeface="Cambria Math" panose="02040503050406030204" pitchFamily="18" charset="0"/>
                </a:endParaRPr>
              </a:p>
              <a:p>
                <a:pPr marL="0" indent="0">
                  <a:buNone/>
                </a:pPr>
                <a:endParaRPr lang="en-US" altLang="zh-CN" dirty="0" smtClean="0"/>
              </a:p>
              <a:p>
                <a:pPr marL="0" indent="0">
                  <a:buNone/>
                </a:pPr>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l="-999" t="-1429"/>
                </a:stretch>
              </a:blipFill>
            </p:spPr>
            <p:txBody>
              <a:bodyPr/>
              <a:lstStyle/>
              <a:p>
                <a:r>
                  <a:rPr lang="zh-CN" altLang="en-US">
                    <a:noFill/>
                  </a:rPr>
                  <a:t> </a:t>
                </a:r>
              </a:p>
            </p:txBody>
          </p:sp>
        </mc:Fallback>
      </mc:AlternateContent>
      <p:sp>
        <p:nvSpPr>
          <p:cNvPr id="4" name="日期占位符 3"/>
          <p:cNvSpPr>
            <a:spLocks noGrp="1"/>
          </p:cNvSpPr>
          <p:nvPr>
            <p:ph type="dt" sz="half" idx="10"/>
          </p:nvPr>
        </p:nvSpPr>
        <p:spPr/>
        <p:txBody>
          <a:bodyPr/>
          <a:lstStyle/>
          <a:p>
            <a:fld id="{C56064DA-3AA0-4D48-9459-F54AA55DED83}" type="datetime1">
              <a:rPr lang="zh-CN" altLang="en-US" smtClean="0"/>
              <a:t>2025/3/14</a:t>
            </a:fld>
            <a:endParaRPr lang="zh-CN" altLang="en-US" dirty="0"/>
          </a:p>
        </p:txBody>
      </p:sp>
      <p:sp>
        <p:nvSpPr>
          <p:cNvPr id="5" name="页脚占位符 4"/>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6" name="灯片编号占位符 5"/>
          <p:cNvSpPr>
            <a:spLocks noGrp="1"/>
          </p:cNvSpPr>
          <p:nvPr>
            <p:ph type="sldNum" sz="quarter" idx="12"/>
          </p:nvPr>
        </p:nvSpPr>
        <p:spPr/>
        <p:txBody>
          <a:bodyPr/>
          <a:lstStyle/>
          <a:p>
            <a:fld id="{67913A8A-9EFB-4B5F-9CCB-3D21173FAA85}" type="slidenum">
              <a:rPr lang="zh-CN" altLang="en-US" smtClean="0"/>
              <a:pPr/>
              <a:t>85</a:t>
            </a:fld>
            <a:endParaRPr lang="zh-CN" altLang="en-US" dirty="0"/>
          </a:p>
        </p:txBody>
      </p:sp>
      <p:sp>
        <p:nvSpPr>
          <p:cNvPr id="7" name="矩形 6"/>
          <p:cNvSpPr/>
          <p:nvPr/>
        </p:nvSpPr>
        <p:spPr>
          <a:xfrm>
            <a:off x="2971800" y="3962400"/>
            <a:ext cx="990600" cy="304800"/>
          </a:xfrm>
          <a:prstGeom prst="rect">
            <a:avLst/>
          </a:prstGeom>
          <a:noFill/>
          <a:ln w="317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3048000" y="3962400"/>
            <a:ext cx="228600" cy="1600200"/>
          </a:xfrm>
          <a:prstGeom prst="rect">
            <a:avLst/>
          </a:prstGeom>
          <a:noFill/>
          <a:ln w="317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9" name="文本框 8"/>
              <p:cNvSpPr txBox="1"/>
              <p:nvPr/>
            </p:nvSpPr>
            <p:spPr>
              <a:xfrm>
                <a:off x="7369650" y="2057400"/>
                <a:ext cx="4409797" cy="1566583"/>
              </a:xfrm>
              <a:prstGeom prst="rect">
                <a:avLst/>
              </a:prstGeom>
              <a:noFill/>
            </p:spPr>
            <p:txBody>
              <a:bodyPr wrap="none" rtlCol="0">
                <a:spAutoFit/>
              </a:bodyPr>
              <a:lstStyle/>
              <a:p>
                <a:r>
                  <a:rPr lang="zh-CN" altLang="en-US" dirty="0" smtClean="0">
                    <a:latin typeface="微软雅黑" panose="020B0503020204020204" pitchFamily="34" charset="-122"/>
                    <a:ea typeface="微软雅黑" panose="020B0503020204020204" pitchFamily="34" charset="-122"/>
                  </a:rPr>
                  <a:t>方法概述</a:t>
                </a:r>
                <a:endParaRPr lang="en-US" altLang="zh-CN" dirty="0" smtClean="0">
                  <a:latin typeface="微软雅黑" panose="020B0503020204020204" pitchFamily="34" charset="-122"/>
                  <a:ea typeface="微软雅黑" panose="020B0503020204020204" pitchFamily="34" charset="-122"/>
                </a:endParaRPr>
              </a:p>
              <a:p>
                <a:r>
                  <a:rPr lang="zh-CN" altLang="en-US" dirty="0" smtClean="0">
                    <a:latin typeface="微软雅黑" panose="020B0503020204020204" pitchFamily="34" charset="-122"/>
                    <a:ea typeface="微软雅黑" panose="020B0503020204020204" pitchFamily="34" charset="-122"/>
                  </a:rPr>
                  <a:t>第</a:t>
                </a:r>
                <a:r>
                  <a:rPr lang="en-US" altLang="zh-CN" dirty="0" smtClean="0">
                    <a:latin typeface="微软雅黑" panose="020B0503020204020204" pitchFamily="34" charset="-122"/>
                    <a:ea typeface="微软雅黑" panose="020B0503020204020204" pitchFamily="34" charset="-122"/>
                  </a:rPr>
                  <a:t>k</a:t>
                </a:r>
                <a:r>
                  <a:rPr lang="zh-CN" altLang="en-US" dirty="0" smtClean="0">
                    <a:latin typeface="微软雅黑" panose="020B0503020204020204" pitchFamily="34" charset="-122"/>
                    <a:ea typeface="微软雅黑" panose="020B0503020204020204" pitchFamily="34" charset="-122"/>
                  </a:rPr>
                  <a:t>次计算</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𝑊</m:t>
                        </m:r>
                      </m:e>
                      <m:sub>
                        <m:r>
                          <m:rPr>
                            <m:sty m:val="p"/>
                          </m:rPr>
                          <a:rPr lang="en-US" altLang="zh-CN" i="1">
                            <a:latin typeface="Cambria Math" panose="02040503050406030204" pitchFamily="18" charset="0"/>
                          </a:rPr>
                          <m:t>k</m:t>
                        </m:r>
                      </m:sub>
                    </m:sSub>
                  </m:oMath>
                </a14:m>
                <a:r>
                  <a:rPr lang="zh-CN" altLang="en-US" dirty="0" smtClean="0">
                    <a:latin typeface="微软雅黑" panose="020B0503020204020204" pitchFamily="34" charset="-122"/>
                    <a:ea typeface="微软雅黑" panose="020B0503020204020204" pitchFamily="34" charset="-122"/>
                  </a:rPr>
                  <a:t>中</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𝑤</m:t>
                        </m:r>
                      </m:e>
                      <m:sub>
                        <m:r>
                          <a:rPr lang="en-US" altLang="zh-CN" i="1">
                            <a:latin typeface="Cambria Math" panose="02040503050406030204" pitchFamily="18" charset="0"/>
                          </a:rPr>
                          <m:t>𝑖𝑗</m:t>
                        </m:r>
                      </m:sub>
                    </m:sSub>
                  </m:oMath>
                </a14:m>
                <a:r>
                  <a:rPr lang="zh-CN" altLang="en-US" dirty="0" smtClean="0">
                    <a:latin typeface="微软雅黑" panose="020B0503020204020204" pitchFamily="34" charset="-122"/>
                    <a:ea typeface="微软雅黑" panose="020B0503020204020204" pitchFamily="34" charset="-122"/>
                  </a:rPr>
                  <a:t>时</a:t>
                </a:r>
                <a:r>
                  <a:rPr lang="en-US" altLang="zh-CN" dirty="0" smtClean="0">
                    <a:latin typeface="微软雅黑" panose="020B0503020204020204" pitchFamily="34" charset="-122"/>
                    <a:ea typeface="微软雅黑" panose="020B0503020204020204" pitchFamily="34" charset="-122"/>
                  </a:rPr>
                  <a:t>:</a:t>
                </a:r>
              </a:p>
              <a:p>
                <a:r>
                  <a:rPr lang="zh-CN" altLang="en-US" dirty="0">
                    <a:latin typeface="微软雅黑" panose="020B0503020204020204" pitchFamily="34" charset="-122"/>
                    <a:ea typeface="微软雅黑" panose="020B0503020204020204" pitchFamily="34" charset="-122"/>
                  </a:rPr>
                  <a:t>第</a:t>
                </a:r>
                <a:r>
                  <a:rPr lang="en-US" altLang="zh-CN" dirty="0">
                    <a:latin typeface="微软雅黑" panose="020B0503020204020204" pitchFamily="34" charset="-122"/>
                    <a:ea typeface="微软雅黑" panose="020B0503020204020204" pitchFamily="34" charset="-122"/>
                  </a:rPr>
                  <a:t>k</a:t>
                </a:r>
                <a:r>
                  <a:rPr lang="zh-CN" altLang="en-US" dirty="0">
                    <a:latin typeface="微软雅黑" panose="020B0503020204020204" pitchFamily="34" charset="-122"/>
                    <a:ea typeface="微软雅黑" panose="020B0503020204020204" pitchFamily="34" charset="-122"/>
                  </a:rPr>
                  <a:t>列为</a:t>
                </a:r>
                <a:r>
                  <a:rPr lang="en-US" altLang="zh-CN" dirty="0">
                    <a:latin typeface="微软雅黑" panose="020B0503020204020204" pitchFamily="34" charset="-122"/>
                    <a:ea typeface="微软雅黑" panose="020B0503020204020204" pitchFamily="34" charset="-122"/>
                  </a:rPr>
                  <a:t>1</a:t>
                </a:r>
                <a:r>
                  <a:rPr lang="zh-CN" altLang="en-US" dirty="0">
                    <a:latin typeface="微软雅黑" panose="020B0503020204020204" pitchFamily="34" charset="-122"/>
                    <a:ea typeface="微软雅黑" panose="020B0503020204020204" pitchFamily="34" charset="-122"/>
                  </a:rPr>
                  <a:t>元素所在的</a:t>
                </a:r>
                <a:r>
                  <a:rPr lang="zh-CN" altLang="en-US" dirty="0" smtClean="0">
                    <a:latin typeface="微软雅黑" panose="020B0503020204020204" pitchFamily="34" charset="-122"/>
                    <a:ea typeface="微软雅黑" panose="020B0503020204020204" pitchFamily="34" charset="-122"/>
                  </a:rPr>
                  <a:t>行为</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𝑤</m:t>
                        </m:r>
                      </m:e>
                      <m:sub>
                        <m:r>
                          <a:rPr lang="en-US" altLang="zh-CN" i="1">
                            <a:latin typeface="Cambria Math" panose="02040503050406030204" pitchFamily="18" charset="0"/>
                          </a:rPr>
                          <m:t>𝑖𝑗</m:t>
                        </m:r>
                      </m:sub>
                    </m:sSub>
                  </m:oMath>
                </a14:m>
                <a:r>
                  <a:rPr lang="zh-CN" altLang="en-US" dirty="0" smtClean="0">
                    <a:latin typeface="微软雅黑" panose="020B0503020204020204" pitchFamily="34" charset="-122"/>
                    <a:ea typeface="微软雅黑" panose="020B0503020204020204" pitchFamily="34" charset="-122"/>
                  </a:rPr>
                  <a:t>中的</a:t>
                </a:r>
                <a:r>
                  <a:rPr lang="en-US" altLang="zh-CN" dirty="0" err="1" smtClean="0">
                    <a:latin typeface="微软雅黑" panose="020B0503020204020204" pitchFamily="34" charset="-122"/>
                    <a:ea typeface="微软雅黑" panose="020B0503020204020204" pitchFamily="34" charset="-122"/>
                  </a:rPr>
                  <a:t>i</a:t>
                </a:r>
                <a:r>
                  <a:rPr lang="en-US" altLang="zh-CN" dirty="0" smtClean="0">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a:p>
                <a:r>
                  <a:rPr lang="zh-CN" altLang="en-US" dirty="0" smtClean="0">
                    <a:latin typeface="微软雅黑" panose="020B0503020204020204" pitchFamily="34" charset="-122"/>
                    <a:ea typeface="微软雅黑" panose="020B0503020204020204" pitchFamily="34" charset="-122"/>
                  </a:rPr>
                  <a:t>第</a:t>
                </a:r>
                <a:r>
                  <a:rPr lang="en-US" altLang="zh-CN" dirty="0" smtClean="0">
                    <a:latin typeface="微软雅黑" panose="020B0503020204020204" pitchFamily="34" charset="-122"/>
                    <a:ea typeface="微软雅黑" panose="020B0503020204020204" pitchFamily="34" charset="-122"/>
                  </a:rPr>
                  <a:t>k</a:t>
                </a:r>
                <a:r>
                  <a:rPr lang="zh-CN" altLang="en-US" dirty="0" smtClean="0">
                    <a:latin typeface="微软雅黑" panose="020B0503020204020204" pitchFamily="34" charset="-122"/>
                    <a:ea typeface="微软雅黑" panose="020B0503020204020204" pitchFamily="34" charset="-122"/>
                  </a:rPr>
                  <a:t>行为</a:t>
                </a:r>
                <a:r>
                  <a:rPr lang="en-US" altLang="zh-CN" dirty="0" smtClean="0">
                    <a:latin typeface="微软雅黑" panose="020B0503020204020204" pitchFamily="34" charset="-122"/>
                    <a:ea typeface="微软雅黑" panose="020B0503020204020204" pitchFamily="34" charset="-122"/>
                  </a:rPr>
                  <a:t>1</a:t>
                </a:r>
                <a:r>
                  <a:rPr lang="zh-CN" altLang="en-US" dirty="0" smtClean="0">
                    <a:latin typeface="微软雅黑" panose="020B0503020204020204" pitchFamily="34" charset="-122"/>
                    <a:ea typeface="微软雅黑" panose="020B0503020204020204" pitchFamily="34" charset="-122"/>
                  </a:rPr>
                  <a:t>元素所在的列为</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𝑤</m:t>
                        </m:r>
                      </m:e>
                      <m:sub>
                        <m:r>
                          <a:rPr lang="en-US" altLang="zh-CN" i="1">
                            <a:latin typeface="Cambria Math" panose="02040503050406030204" pitchFamily="18" charset="0"/>
                          </a:rPr>
                          <m:t>𝑖𝑗</m:t>
                        </m:r>
                      </m:sub>
                    </m:sSub>
                  </m:oMath>
                </a14:m>
                <a:r>
                  <a:rPr lang="zh-CN" altLang="en-US" dirty="0">
                    <a:latin typeface="微软雅黑" panose="020B0503020204020204" pitchFamily="34" charset="-122"/>
                    <a:ea typeface="微软雅黑" panose="020B0503020204020204" pitchFamily="34" charset="-122"/>
                  </a:rPr>
                  <a:t>中</a:t>
                </a:r>
                <a:r>
                  <a:rPr lang="zh-CN" altLang="en-US" dirty="0" smtClean="0">
                    <a:latin typeface="微软雅黑" panose="020B0503020204020204" pitchFamily="34" charset="-122"/>
                    <a:ea typeface="微软雅黑" panose="020B0503020204020204" pitchFamily="34" charset="-122"/>
                  </a:rPr>
                  <a:t>的</a:t>
                </a:r>
                <a:r>
                  <a:rPr lang="en-US" altLang="zh-CN" dirty="0" smtClean="0">
                    <a:latin typeface="微软雅黑" panose="020B0503020204020204" pitchFamily="34" charset="-122"/>
                    <a:ea typeface="微软雅黑" panose="020B0503020204020204" pitchFamily="34" charset="-122"/>
                  </a:rPr>
                  <a:t>j;</a:t>
                </a:r>
              </a:p>
              <a:p>
                <a:r>
                  <a:rPr lang="zh-CN" altLang="en-US" dirty="0" smtClean="0">
                    <a:latin typeface="微软雅黑" panose="020B0503020204020204" pitchFamily="34" charset="-122"/>
                    <a:ea typeface="微软雅黑" panose="020B0503020204020204" pitchFamily="34" charset="-122"/>
                  </a:rPr>
                  <a:t>对应</a:t>
                </a:r>
                <a:r>
                  <a:rPr lang="en-US" altLang="zh-CN" dirty="0" err="1" smtClean="0">
                    <a:latin typeface="微软雅黑" panose="020B0503020204020204" pitchFamily="34" charset="-122"/>
                    <a:ea typeface="微软雅黑" panose="020B0503020204020204" pitchFamily="34" charset="-122"/>
                  </a:rPr>
                  <a:t>ij</a:t>
                </a:r>
                <a:r>
                  <a:rPr lang="zh-CN" altLang="en-US" dirty="0" smtClean="0">
                    <a:latin typeface="微软雅黑" panose="020B0503020204020204" pitchFamily="34" charset="-122"/>
                    <a:ea typeface="微软雅黑" panose="020B0503020204020204" pitchFamily="34" charset="-122"/>
                  </a:rPr>
                  <a:t>位置的那些</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𝑤</m:t>
                        </m:r>
                      </m:e>
                      <m:sub>
                        <m:r>
                          <a:rPr lang="en-US" altLang="zh-CN" i="1">
                            <a:latin typeface="Cambria Math" panose="02040503050406030204" pitchFamily="18" charset="0"/>
                          </a:rPr>
                          <m:t>𝑖𝑗</m:t>
                        </m:r>
                      </m:sub>
                    </m:sSub>
                  </m:oMath>
                </a14:m>
                <a:r>
                  <a:rPr lang="zh-CN" altLang="en-US" dirty="0" smtClean="0">
                    <a:latin typeface="微软雅黑" panose="020B0503020204020204" pitchFamily="34" charset="-122"/>
                    <a:ea typeface="微软雅黑" panose="020B0503020204020204" pitchFamily="34" charset="-122"/>
                  </a:rPr>
                  <a:t>值如果为</a:t>
                </a:r>
                <a:r>
                  <a:rPr lang="en-US" altLang="zh-CN" dirty="0" smtClean="0">
                    <a:latin typeface="微软雅黑" panose="020B0503020204020204" pitchFamily="34" charset="-122"/>
                    <a:ea typeface="微软雅黑" panose="020B0503020204020204" pitchFamily="34" charset="-122"/>
                  </a:rPr>
                  <a:t>0</a:t>
                </a:r>
                <a:r>
                  <a:rPr lang="zh-CN" altLang="en-US" dirty="0" smtClean="0">
                    <a:latin typeface="微软雅黑" panose="020B0503020204020204" pitchFamily="34" charset="-122"/>
                    <a:ea typeface="微软雅黑" panose="020B0503020204020204" pitchFamily="34" charset="-122"/>
                  </a:rPr>
                  <a:t>，则改为</a:t>
                </a:r>
                <a:r>
                  <a:rPr lang="en-US" altLang="zh-CN" dirty="0" smtClean="0">
                    <a:latin typeface="微软雅黑" panose="020B0503020204020204" pitchFamily="34" charset="-122"/>
                    <a:ea typeface="微软雅黑" panose="020B0503020204020204" pitchFamily="34" charset="-122"/>
                  </a:rPr>
                  <a:t>1.</a:t>
                </a:r>
                <a:endParaRPr lang="zh-CN" altLang="en-US" dirty="0">
                  <a:latin typeface="微软雅黑" panose="020B0503020204020204" pitchFamily="34" charset="-122"/>
                  <a:ea typeface="微软雅黑" panose="020B0503020204020204" pitchFamily="34" charset="-122"/>
                </a:endParaRPr>
              </a:p>
            </p:txBody>
          </p:sp>
        </mc:Choice>
        <mc:Fallback xmlns="">
          <p:sp>
            <p:nvSpPr>
              <p:cNvPr id="9" name="文本框 8"/>
              <p:cNvSpPr txBox="1">
                <a:spLocks noRot="1" noChangeAspect="1" noMove="1" noResize="1" noEditPoints="1" noAdjustHandles="1" noChangeArrowheads="1" noChangeShapeType="1" noTextEdit="1"/>
              </p:cNvSpPr>
              <p:nvPr/>
            </p:nvSpPr>
            <p:spPr>
              <a:xfrm>
                <a:off x="7369650" y="2057400"/>
                <a:ext cx="4409797" cy="1566583"/>
              </a:xfrm>
              <a:prstGeom prst="rect">
                <a:avLst/>
              </a:prstGeom>
              <a:blipFill rotWithShape="0">
                <a:blip r:embed="rId3"/>
                <a:stretch>
                  <a:fillRect l="-1245" t="-2344" r="-553" b="-3906"/>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9049399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wipe(down)">
                                      <p:cBhvr>
                                        <p:cTn id="7" dur="500"/>
                                        <p:tgtEl>
                                          <p:spTgt spid="3">
                                            <p:txEl>
                                              <p:pRg st="2" end="2"/>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3">
                                            <p:txEl>
                                              <p:pRg st="3" end="3"/>
                                            </p:txEl>
                                          </p:spTgt>
                                        </p:tgtEl>
                                        <p:attrNameLst>
                                          <p:attrName>style.visibility</p:attrName>
                                        </p:attrNameLst>
                                      </p:cBhvr>
                                      <p:to>
                                        <p:strVal val="visible"/>
                                      </p:to>
                                    </p:set>
                                    <p:animEffect transition="in" filter="wipe(down)">
                                      <p:cBhvr>
                                        <p:cTn id="10" dur="500"/>
                                        <p:tgtEl>
                                          <p:spTgt spid="3">
                                            <p:txEl>
                                              <p:pRg st="3" end="3"/>
                                            </p:txEl>
                                          </p:spTgt>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wipe(down)">
                                      <p:cBhvr>
                                        <p:cTn id="13" dur="500"/>
                                        <p:tgtEl>
                                          <p:spTgt spid="7"/>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wipe(down)">
                                      <p:cBhvr>
                                        <p:cTn id="16" dur="500"/>
                                        <p:tgtEl>
                                          <p:spTgt spid="8"/>
                                        </p:tgtEl>
                                      </p:cBhvr>
                                    </p:animEffect>
                                  </p:childTnLst>
                                </p:cTn>
                              </p:par>
                              <p:par>
                                <p:cTn id="17" presetID="22" presetClass="entr" presetSubtype="4"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wipe(down)">
                                      <p:cBhvr>
                                        <p:cTn id="19"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idx="1"/>
              </p:nvPr>
            </p:nvSpPr>
            <p:spPr>
              <a:xfrm>
                <a:off x="595086" y="1088824"/>
                <a:ext cx="10987316" cy="5083375"/>
              </a:xfrm>
            </p:spPr>
            <p:txBody>
              <a:bodyPr>
                <a:normAutofit/>
              </a:bodyPr>
              <a:lstStyle/>
              <a:p>
                <a14:m>
                  <m:oMath xmlns:m="http://schemas.openxmlformats.org/officeDocument/2006/math">
                    <m:sSub>
                      <m:sSubPr>
                        <m:ctrlPr>
                          <a:rPr lang="en-US" altLang="zh-CN" i="1" smtClean="0">
                            <a:latin typeface="Cambria Math" panose="02040503050406030204" pitchFamily="18" charset="0"/>
                          </a:rPr>
                        </m:ctrlPr>
                      </m:sSubPr>
                      <m:e>
                        <m:r>
                          <m:rPr>
                            <m:sty m:val="p"/>
                          </m:rPr>
                          <a:rPr lang="en-US" altLang="zh-CN" i="1">
                            <a:latin typeface="Cambria Math" panose="02040503050406030204" pitchFamily="18" charset="0"/>
                          </a:rPr>
                          <m:t>W</m:t>
                        </m:r>
                      </m:e>
                      <m:sub>
                        <m:r>
                          <a:rPr lang="en-US" altLang="zh-CN" b="0" i="1" smtClean="0">
                            <a:latin typeface="Cambria Math" panose="02040503050406030204" pitchFamily="18" charset="0"/>
                          </a:rPr>
                          <m:t>1</m:t>
                        </m:r>
                      </m:sub>
                    </m:sSub>
                  </m:oMath>
                </a14:m>
                <a:r>
                  <a:rPr lang="en-US" altLang="zh-CN" dirty="0" smtClean="0"/>
                  <a:t>=</a:t>
                </a:r>
                <a14:m>
                  <m:oMath xmlns:m="http://schemas.openxmlformats.org/officeDocument/2006/math">
                    <m:d>
                      <m:dPr>
                        <m:begChr m:val="["/>
                        <m:endChr m:val="]"/>
                        <m:ctrlPr>
                          <a:rPr lang="en-US" altLang="zh-CN" i="1">
                            <a:latin typeface="Cambria Math" panose="02040503050406030204" pitchFamily="18" charset="0"/>
                          </a:rPr>
                        </m:ctrlPr>
                      </m:dPr>
                      <m:e>
                        <m:eqArr>
                          <m:eqArrPr>
                            <m:ctrlPr>
                              <a:rPr lang="en-US" altLang="zh-CN" i="1">
                                <a:latin typeface="Cambria Math" panose="02040503050406030204" pitchFamily="18" charset="0"/>
                              </a:rPr>
                            </m:ctrlPr>
                          </m:eqArrPr>
                          <m:e>
                            <m:r>
                              <a:rPr lang="en-US" altLang="zh-CN" i="1">
                                <a:latin typeface="Cambria Math" panose="02040503050406030204" pitchFamily="18" charset="0"/>
                              </a:rPr>
                              <m:t>0001</m:t>
                            </m:r>
                          </m:e>
                          <m:e>
                            <m:r>
                              <a:rPr lang="en-US" altLang="zh-CN" i="1">
                                <a:latin typeface="Cambria Math" panose="02040503050406030204" pitchFamily="18" charset="0"/>
                              </a:rPr>
                              <m:t>101</m:t>
                            </m:r>
                            <m:r>
                              <a:rPr lang="en-US" altLang="zh-CN" b="0" i="1" smtClean="0">
                                <a:latin typeface="Cambria Math" panose="02040503050406030204" pitchFamily="18" charset="0"/>
                              </a:rPr>
                              <m:t>1</m:t>
                            </m:r>
                          </m:e>
                          <m:e>
                            <m:r>
                              <a:rPr lang="en-US" altLang="zh-CN" i="1">
                                <a:latin typeface="Cambria Math" panose="02040503050406030204" pitchFamily="18" charset="0"/>
                              </a:rPr>
                              <m:t>1001</m:t>
                            </m:r>
                          </m:e>
                          <m:e>
                            <m:r>
                              <a:rPr lang="en-US" altLang="zh-CN" i="1">
                                <a:latin typeface="Cambria Math" panose="02040503050406030204" pitchFamily="18" charset="0"/>
                              </a:rPr>
                              <m:t>0010</m:t>
                            </m:r>
                          </m:e>
                        </m:eqArr>
                      </m:e>
                    </m:d>
                    <m:r>
                      <a:rPr lang="en-US" altLang="zh-CN" b="0" i="0" smtClean="0">
                        <a:latin typeface="Cambria Math" panose="02040503050406030204" pitchFamily="18" charset="0"/>
                      </a:rPr>
                      <m:t>,</m:t>
                    </m:r>
                  </m:oMath>
                </a14:m>
                <a:r>
                  <a:rPr lang="en-US" altLang="zh-CN" dirty="0"/>
                  <a:t> </a:t>
                </a:r>
                <a14:m>
                  <m:oMath xmlns:m="http://schemas.openxmlformats.org/officeDocument/2006/math">
                    <m:sSub>
                      <m:sSubPr>
                        <m:ctrlPr>
                          <a:rPr lang="en-US" altLang="zh-CN" i="1">
                            <a:latin typeface="Cambria Math" panose="02040503050406030204" pitchFamily="18" charset="0"/>
                          </a:rPr>
                        </m:ctrlPr>
                      </m:sSubPr>
                      <m:e>
                        <m:r>
                          <a:rPr lang="en-US" altLang="zh-CN" b="0" i="1" smtClean="0">
                            <a:latin typeface="Cambria Math" panose="02040503050406030204" pitchFamily="18" charset="0"/>
                          </a:rPr>
                          <m:t>                       </m:t>
                        </m:r>
                        <m:r>
                          <m:rPr>
                            <m:sty m:val="p"/>
                          </m:rPr>
                          <a:rPr lang="en-US" altLang="zh-CN" i="1">
                            <a:latin typeface="Cambria Math" panose="02040503050406030204" pitchFamily="18" charset="0"/>
                          </a:rPr>
                          <m:t>W</m:t>
                        </m:r>
                      </m:e>
                      <m:sub>
                        <m:r>
                          <a:rPr lang="en-US" altLang="zh-CN" b="0" i="1" smtClean="0">
                            <a:latin typeface="Cambria Math" panose="02040503050406030204" pitchFamily="18" charset="0"/>
                          </a:rPr>
                          <m:t>2</m:t>
                        </m:r>
                      </m:sub>
                    </m:sSub>
                  </m:oMath>
                </a14:m>
                <a:r>
                  <a:rPr lang="en-US" altLang="zh-CN" dirty="0" smtClean="0"/>
                  <a:t>=</a:t>
                </a:r>
                <a14:m>
                  <m:oMath xmlns:m="http://schemas.openxmlformats.org/officeDocument/2006/math">
                    <m:d>
                      <m:dPr>
                        <m:begChr m:val="["/>
                        <m:endChr m:val="]"/>
                        <m:ctrlPr>
                          <a:rPr lang="en-US" altLang="zh-CN" i="1">
                            <a:latin typeface="Cambria Math" panose="02040503050406030204" pitchFamily="18" charset="0"/>
                          </a:rPr>
                        </m:ctrlPr>
                      </m:dPr>
                      <m:e>
                        <m:eqArr>
                          <m:eqArrPr>
                            <m:ctrlPr>
                              <a:rPr lang="en-US" altLang="zh-CN" i="1">
                                <a:latin typeface="Cambria Math" panose="02040503050406030204" pitchFamily="18" charset="0"/>
                              </a:rPr>
                            </m:ctrlPr>
                          </m:eqArrPr>
                          <m:e>
                            <m:r>
                              <a:rPr lang="en-US" altLang="zh-CN" i="1">
                                <a:latin typeface="Cambria Math" panose="02040503050406030204" pitchFamily="18" charset="0"/>
                              </a:rPr>
                              <m:t>0001</m:t>
                            </m:r>
                          </m:e>
                          <m:e>
                            <m:r>
                              <a:rPr lang="en-US" altLang="zh-CN" i="1">
                                <a:latin typeface="Cambria Math" panose="02040503050406030204" pitchFamily="18" charset="0"/>
                              </a:rPr>
                              <m:t>101</m:t>
                            </m:r>
                            <m:r>
                              <a:rPr lang="en-US" altLang="zh-CN" b="0" i="1" smtClean="0">
                                <a:solidFill>
                                  <a:schemeClr val="tx1"/>
                                </a:solidFill>
                                <a:latin typeface="Cambria Math" panose="02040503050406030204" pitchFamily="18" charset="0"/>
                              </a:rPr>
                              <m:t>1</m:t>
                            </m:r>
                          </m:e>
                          <m:e>
                            <m:r>
                              <a:rPr lang="en-US" altLang="zh-CN" i="1">
                                <a:latin typeface="Cambria Math" panose="02040503050406030204" pitchFamily="18" charset="0"/>
                              </a:rPr>
                              <m:t>1001</m:t>
                            </m:r>
                          </m:e>
                          <m:e>
                            <m:r>
                              <a:rPr lang="en-US" altLang="zh-CN" i="1">
                                <a:latin typeface="Cambria Math" panose="02040503050406030204" pitchFamily="18" charset="0"/>
                              </a:rPr>
                              <m:t>0010</m:t>
                            </m:r>
                          </m:e>
                        </m:eqArr>
                      </m:e>
                    </m:d>
                    <m:r>
                      <a:rPr lang="en-US" altLang="zh-CN">
                        <a:latin typeface="Cambria Math" panose="02040503050406030204" pitchFamily="18" charset="0"/>
                      </a:rPr>
                      <m:t>,</m:t>
                    </m:r>
                  </m:oMath>
                </a14:m>
                <a:endParaRPr lang="en-US" altLang="zh-CN" dirty="0" smtClean="0">
                  <a:latin typeface="Cambria Math" panose="02040503050406030204" pitchFamily="18" charset="0"/>
                </a:endParaRPr>
              </a:p>
              <a:p>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  </m:t>
                        </m:r>
                        <m:r>
                          <m:rPr>
                            <m:sty m:val="p"/>
                          </m:rPr>
                          <a:rPr lang="en-US" altLang="zh-CN" i="1">
                            <a:latin typeface="Cambria Math" panose="02040503050406030204" pitchFamily="18" charset="0"/>
                          </a:rPr>
                          <m:t>W</m:t>
                        </m:r>
                      </m:e>
                      <m:sub>
                        <m:r>
                          <a:rPr lang="en-US" altLang="zh-CN" b="0" i="1" smtClean="0">
                            <a:latin typeface="Cambria Math" panose="02040503050406030204" pitchFamily="18" charset="0"/>
                          </a:rPr>
                          <m:t>3</m:t>
                        </m:r>
                      </m:sub>
                    </m:sSub>
                  </m:oMath>
                </a14:m>
                <a:r>
                  <a:rPr lang="en-US" altLang="zh-CN" dirty="0"/>
                  <a:t>=</a:t>
                </a:r>
                <a14:m>
                  <m:oMath xmlns:m="http://schemas.openxmlformats.org/officeDocument/2006/math">
                    <m:d>
                      <m:dPr>
                        <m:begChr m:val="["/>
                        <m:endChr m:val="]"/>
                        <m:ctrlPr>
                          <a:rPr lang="en-US" altLang="zh-CN" i="1">
                            <a:latin typeface="Cambria Math" panose="02040503050406030204" pitchFamily="18" charset="0"/>
                          </a:rPr>
                        </m:ctrlPr>
                      </m:dPr>
                      <m:e>
                        <m:eqArr>
                          <m:eqArrPr>
                            <m:ctrlPr>
                              <a:rPr lang="en-US" altLang="zh-CN" i="1">
                                <a:latin typeface="Cambria Math" panose="02040503050406030204" pitchFamily="18" charset="0"/>
                              </a:rPr>
                            </m:ctrlPr>
                          </m:eqArrPr>
                          <m:e>
                            <m:r>
                              <a:rPr lang="en-US" altLang="zh-CN" i="1">
                                <a:latin typeface="Cambria Math" panose="02040503050406030204" pitchFamily="18" charset="0"/>
                              </a:rPr>
                              <m:t>0001</m:t>
                            </m:r>
                          </m:e>
                          <m:e>
                            <m:r>
                              <a:rPr lang="en-US" altLang="zh-CN" i="1">
                                <a:latin typeface="Cambria Math" panose="02040503050406030204" pitchFamily="18" charset="0"/>
                              </a:rPr>
                              <m:t>1011</m:t>
                            </m:r>
                          </m:e>
                          <m:e>
                            <m:r>
                              <a:rPr lang="en-US" altLang="zh-CN" i="1">
                                <a:latin typeface="Cambria Math" panose="02040503050406030204" pitchFamily="18" charset="0"/>
                              </a:rPr>
                              <m:t>1001</m:t>
                            </m:r>
                          </m:e>
                          <m:e>
                            <m:r>
                              <a:rPr lang="en-US" altLang="zh-CN" b="0" i="1" smtClean="0">
                                <a:solidFill>
                                  <a:srgbClr val="7030A0"/>
                                </a:solidFill>
                                <a:latin typeface="Cambria Math" panose="02040503050406030204" pitchFamily="18" charset="0"/>
                              </a:rPr>
                              <m:t>1</m:t>
                            </m:r>
                            <m:r>
                              <a:rPr lang="en-US" altLang="zh-CN" i="1">
                                <a:latin typeface="Cambria Math" panose="02040503050406030204" pitchFamily="18" charset="0"/>
                              </a:rPr>
                              <m:t>01</m:t>
                            </m:r>
                            <m:r>
                              <a:rPr lang="en-US" altLang="zh-CN" b="0" i="1" smtClean="0">
                                <a:solidFill>
                                  <a:srgbClr val="7030A0"/>
                                </a:solidFill>
                                <a:latin typeface="Cambria Math" panose="02040503050406030204" pitchFamily="18" charset="0"/>
                              </a:rPr>
                              <m:t>1</m:t>
                            </m:r>
                          </m:e>
                        </m:eqArr>
                      </m:e>
                    </m:d>
                    <m:r>
                      <a:rPr lang="en-US" altLang="zh-CN">
                        <a:latin typeface="Cambria Math" panose="02040503050406030204" pitchFamily="18" charset="0"/>
                      </a:rPr>
                      <m:t>,</m:t>
                    </m:r>
                  </m:oMath>
                </a14:m>
                <a:r>
                  <a:rPr lang="en-US" altLang="zh-CN" dirty="0"/>
                  <a:t>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  </m:t>
                        </m:r>
                        <m:r>
                          <a:rPr lang="en-US" altLang="zh-CN" b="0" i="1" smtClean="0">
                            <a:latin typeface="Cambria Math" panose="02040503050406030204" pitchFamily="18" charset="0"/>
                          </a:rPr>
                          <m:t>                    </m:t>
                        </m:r>
                        <m:r>
                          <m:rPr>
                            <m:sty m:val="p"/>
                          </m:rPr>
                          <a:rPr lang="en-US" altLang="zh-CN" i="1">
                            <a:latin typeface="Cambria Math" panose="02040503050406030204" pitchFamily="18" charset="0"/>
                          </a:rPr>
                          <m:t>W</m:t>
                        </m:r>
                      </m:e>
                      <m:sub>
                        <m:r>
                          <a:rPr lang="en-US" altLang="zh-CN" b="0" i="1" smtClean="0">
                            <a:latin typeface="Cambria Math" panose="02040503050406030204" pitchFamily="18" charset="0"/>
                          </a:rPr>
                          <m:t>4</m:t>
                        </m:r>
                      </m:sub>
                    </m:sSub>
                  </m:oMath>
                </a14:m>
                <a:r>
                  <a:rPr lang="en-US" altLang="zh-CN" dirty="0"/>
                  <a:t>=</a:t>
                </a:r>
                <a14:m>
                  <m:oMath xmlns:m="http://schemas.openxmlformats.org/officeDocument/2006/math">
                    <m:d>
                      <m:dPr>
                        <m:begChr m:val="["/>
                        <m:endChr m:val="]"/>
                        <m:ctrlPr>
                          <a:rPr lang="en-US" altLang="zh-CN" i="1">
                            <a:latin typeface="Cambria Math" panose="02040503050406030204" pitchFamily="18" charset="0"/>
                          </a:rPr>
                        </m:ctrlPr>
                      </m:dPr>
                      <m:e>
                        <m:eqArr>
                          <m:eqArrPr>
                            <m:ctrlPr>
                              <a:rPr lang="en-US" altLang="zh-CN" i="1">
                                <a:latin typeface="Cambria Math" panose="02040503050406030204" pitchFamily="18" charset="0"/>
                              </a:rPr>
                            </m:ctrlPr>
                          </m:eqArrPr>
                          <m:e>
                            <m:r>
                              <a:rPr lang="en-US" altLang="zh-CN" b="0" i="1" smtClean="0">
                                <a:solidFill>
                                  <a:srgbClr val="7030A0"/>
                                </a:solidFill>
                                <a:latin typeface="Cambria Math" panose="02040503050406030204" pitchFamily="18" charset="0"/>
                              </a:rPr>
                              <m:t>1</m:t>
                            </m:r>
                            <m:r>
                              <a:rPr lang="en-US" altLang="zh-CN" i="1">
                                <a:latin typeface="Cambria Math" panose="02040503050406030204" pitchFamily="18" charset="0"/>
                              </a:rPr>
                              <m:t>0</m:t>
                            </m:r>
                            <m:r>
                              <a:rPr lang="en-US" altLang="zh-CN" b="0" i="1" smtClean="0">
                                <a:solidFill>
                                  <a:srgbClr val="7030A0"/>
                                </a:solidFill>
                                <a:latin typeface="Cambria Math" panose="02040503050406030204" pitchFamily="18" charset="0"/>
                              </a:rPr>
                              <m:t>1</m:t>
                            </m:r>
                            <m:r>
                              <a:rPr lang="en-US" altLang="zh-CN" i="1">
                                <a:latin typeface="Cambria Math" panose="02040503050406030204" pitchFamily="18" charset="0"/>
                              </a:rPr>
                              <m:t>1</m:t>
                            </m:r>
                          </m:e>
                          <m:e>
                            <m:r>
                              <a:rPr lang="en-US" altLang="zh-CN" i="1">
                                <a:latin typeface="Cambria Math" panose="02040503050406030204" pitchFamily="18" charset="0"/>
                              </a:rPr>
                              <m:t>1011</m:t>
                            </m:r>
                          </m:e>
                          <m:e>
                            <m:r>
                              <a:rPr lang="en-US" altLang="zh-CN" i="1">
                                <a:latin typeface="Cambria Math" panose="02040503050406030204" pitchFamily="18" charset="0"/>
                              </a:rPr>
                              <m:t>10</m:t>
                            </m:r>
                            <m:r>
                              <a:rPr lang="en-US" altLang="zh-CN" b="0" i="1" smtClean="0">
                                <a:solidFill>
                                  <a:srgbClr val="7030A0"/>
                                </a:solidFill>
                                <a:latin typeface="Cambria Math" panose="02040503050406030204" pitchFamily="18" charset="0"/>
                              </a:rPr>
                              <m:t>1</m:t>
                            </m:r>
                            <m:r>
                              <a:rPr lang="en-US" altLang="zh-CN" i="1">
                                <a:latin typeface="Cambria Math" panose="02040503050406030204" pitchFamily="18" charset="0"/>
                              </a:rPr>
                              <m:t>1</m:t>
                            </m:r>
                          </m:e>
                          <m:e>
                            <m:r>
                              <a:rPr lang="en-US" altLang="zh-CN" i="1" smtClean="0">
                                <a:solidFill>
                                  <a:schemeClr val="tx1"/>
                                </a:solidFill>
                                <a:latin typeface="Cambria Math" panose="02040503050406030204" pitchFamily="18" charset="0"/>
                              </a:rPr>
                              <m:t>1</m:t>
                            </m:r>
                            <m:r>
                              <a:rPr lang="en-US" altLang="zh-CN" i="1">
                                <a:solidFill>
                                  <a:schemeClr val="tx1"/>
                                </a:solidFill>
                                <a:latin typeface="Cambria Math" panose="02040503050406030204" pitchFamily="18" charset="0"/>
                              </a:rPr>
                              <m:t>011</m:t>
                            </m:r>
                          </m:e>
                        </m:eqArr>
                      </m:e>
                    </m:d>
                    <m:r>
                      <a:rPr lang="en-US" altLang="zh-CN" b="0" i="1" smtClean="0">
                        <a:solidFill>
                          <a:schemeClr val="tx1"/>
                        </a:solidFill>
                        <a:latin typeface="Cambria Math" panose="02040503050406030204" pitchFamily="18" charset="0"/>
                      </a:rPr>
                      <m:t>(</m:t>
                    </m:r>
                    <m:r>
                      <a:rPr lang="zh-CN" altLang="en-US" i="1">
                        <a:solidFill>
                          <a:schemeClr val="tx1"/>
                        </a:solidFill>
                        <a:latin typeface="Cambria Math" panose="02040503050406030204" pitchFamily="18" charset="0"/>
                      </a:rPr>
                      <m:t>传递</m:t>
                    </m:r>
                    <m:r>
                      <a:rPr lang="zh-CN" altLang="en-US" i="1" smtClean="0">
                        <a:solidFill>
                          <a:schemeClr val="tx1"/>
                        </a:solidFill>
                        <a:latin typeface="Cambria Math" panose="02040503050406030204" pitchFamily="18" charset="0"/>
                      </a:rPr>
                      <m:t>闭包</m:t>
                    </m:r>
                    <m:r>
                      <a:rPr lang="zh-CN" altLang="en-US" i="1">
                        <a:solidFill>
                          <a:schemeClr val="tx1"/>
                        </a:solidFill>
                        <a:latin typeface="Cambria Math" panose="02040503050406030204" pitchFamily="18" charset="0"/>
                      </a:rPr>
                      <m:t>的</m:t>
                    </m:r>
                    <m:r>
                      <a:rPr lang="zh-CN" altLang="en-US" i="1" smtClean="0">
                        <a:solidFill>
                          <a:schemeClr val="tx1"/>
                        </a:solidFill>
                        <a:latin typeface="Cambria Math" panose="02040503050406030204" pitchFamily="18" charset="0"/>
                      </a:rPr>
                      <m:t>矩阵</m:t>
                    </m:r>
                    <m:r>
                      <a:rPr lang="en-US" altLang="zh-CN" b="0" i="1" smtClean="0">
                        <a:solidFill>
                          <a:schemeClr val="tx1"/>
                        </a:solidFill>
                        <a:latin typeface="Cambria Math" panose="02040503050406030204" pitchFamily="18" charset="0"/>
                      </a:rPr>
                      <m:t>)</m:t>
                    </m:r>
                    <m:r>
                      <a:rPr lang="en-US" altLang="zh-CN" b="0" i="0" smtClean="0">
                        <a:solidFill>
                          <a:schemeClr val="tx1"/>
                        </a:solidFill>
                        <a:latin typeface="Cambria Math" panose="02040503050406030204" pitchFamily="18" charset="0"/>
                      </a:rPr>
                      <m:t>.</m:t>
                    </m:r>
                  </m:oMath>
                </a14:m>
                <a:endParaRPr lang="en-US" altLang="zh-CN" dirty="0">
                  <a:solidFill>
                    <a:schemeClr val="tx1"/>
                  </a:solidFill>
                  <a:latin typeface="Cambria Math" panose="02040503050406030204" pitchFamily="18" charset="0"/>
                </a:endParaRPr>
              </a:p>
              <a:p>
                <a:pPr marL="0" indent="0">
                  <a:buNone/>
                </a:pPr>
                <a:endParaRPr lang="en-US" altLang="zh-CN" dirty="0">
                  <a:latin typeface="Cambria Math" panose="02040503050406030204" pitchFamily="18" charset="0"/>
                </a:endParaRPr>
              </a:p>
              <a:p>
                <a:pPr marL="0" indent="0">
                  <a:buNone/>
                </a:pPr>
                <a:endParaRPr lang="en-US" altLang="zh-CN" b="0" dirty="0" smtClean="0">
                  <a:latin typeface="Cambria Math" panose="02040503050406030204" pitchFamily="18" charset="0"/>
                </a:endParaRPr>
              </a:p>
              <a:p>
                <a:pPr marL="0" indent="0">
                  <a:buNone/>
                </a:pPr>
                <a:endParaRPr lang="en-US" altLang="zh-CN" dirty="0" smtClean="0"/>
              </a:p>
              <a:p>
                <a:pPr marL="0" indent="0">
                  <a:buNone/>
                </a:pPr>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595086" y="1088824"/>
                <a:ext cx="10987316" cy="5083375"/>
              </a:xfrm>
              <a:blipFill>
                <a:blip r:embed="rId2"/>
                <a:stretch>
                  <a:fillRect/>
                </a:stretch>
              </a:blipFill>
            </p:spPr>
            <p:txBody>
              <a:bodyPr/>
              <a:lstStyle/>
              <a:p>
                <a:r>
                  <a:rPr lang="zh-CN" altLang="en-US">
                    <a:noFill/>
                  </a:rPr>
                  <a:t> </a:t>
                </a:r>
              </a:p>
            </p:txBody>
          </p:sp>
        </mc:Fallback>
      </mc:AlternateContent>
      <p:sp>
        <p:nvSpPr>
          <p:cNvPr id="2" name="标题 1"/>
          <p:cNvSpPr>
            <a:spLocks noGrp="1"/>
          </p:cNvSpPr>
          <p:nvPr>
            <p:ph type="title"/>
          </p:nvPr>
        </p:nvSpPr>
        <p:spPr/>
        <p:txBody>
          <a:bodyPr/>
          <a:lstStyle/>
          <a:p>
            <a:r>
              <a:rPr lang="zh-CN" altLang="en-US" dirty="0"/>
              <a:t>沃舍尔算法</a:t>
            </a:r>
          </a:p>
        </p:txBody>
      </p:sp>
      <p:sp>
        <p:nvSpPr>
          <p:cNvPr id="4" name="日期占位符 3"/>
          <p:cNvSpPr>
            <a:spLocks noGrp="1"/>
          </p:cNvSpPr>
          <p:nvPr>
            <p:ph type="dt" sz="half" idx="10"/>
          </p:nvPr>
        </p:nvSpPr>
        <p:spPr/>
        <p:txBody>
          <a:bodyPr/>
          <a:lstStyle/>
          <a:p>
            <a:fld id="{71397EED-07F3-4D6E-8397-6CD992F3F25B}" type="datetime1">
              <a:rPr lang="zh-CN" altLang="en-US" smtClean="0"/>
              <a:t>2025/3/14</a:t>
            </a:fld>
            <a:endParaRPr lang="zh-CN" altLang="en-US" dirty="0"/>
          </a:p>
        </p:txBody>
      </p:sp>
      <p:sp>
        <p:nvSpPr>
          <p:cNvPr id="5" name="页脚占位符 4"/>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6" name="灯片编号占位符 5"/>
          <p:cNvSpPr>
            <a:spLocks noGrp="1"/>
          </p:cNvSpPr>
          <p:nvPr>
            <p:ph type="sldNum" sz="quarter" idx="12"/>
          </p:nvPr>
        </p:nvSpPr>
        <p:spPr/>
        <p:txBody>
          <a:bodyPr/>
          <a:lstStyle/>
          <a:p>
            <a:fld id="{67913A8A-9EFB-4B5F-9CCB-3D21173FAA85}" type="slidenum">
              <a:rPr lang="zh-CN" altLang="en-US" smtClean="0"/>
              <a:pPr/>
              <a:t>86</a:t>
            </a:fld>
            <a:endParaRPr lang="zh-CN" altLang="en-US" dirty="0"/>
          </a:p>
        </p:txBody>
      </p:sp>
      <p:sp>
        <p:nvSpPr>
          <p:cNvPr id="7" name="矩形 6"/>
          <p:cNvSpPr/>
          <p:nvPr/>
        </p:nvSpPr>
        <p:spPr>
          <a:xfrm>
            <a:off x="1752600" y="1590459"/>
            <a:ext cx="990600" cy="304800"/>
          </a:xfrm>
          <a:prstGeom prst="rect">
            <a:avLst/>
          </a:prstGeom>
          <a:noFill/>
          <a:ln w="317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2032438" y="1143000"/>
            <a:ext cx="228600" cy="1600200"/>
          </a:xfrm>
          <a:prstGeom prst="rect">
            <a:avLst/>
          </a:prstGeom>
          <a:noFill/>
          <a:ln w="317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5638800" y="1981200"/>
            <a:ext cx="990600" cy="304800"/>
          </a:xfrm>
          <a:prstGeom prst="rect">
            <a:avLst/>
          </a:prstGeom>
          <a:noFill/>
          <a:ln w="317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6071038" y="1143000"/>
            <a:ext cx="228600" cy="1600200"/>
          </a:xfrm>
          <a:prstGeom prst="rect">
            <a:avLst/>
          </a:prstGeom>
          <a:noFill/>
          <a:ln w="317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1981200" y="4114800"/>
            <a:ext cx="990600" cy="304800"/>
          </a:xfrm>
          <a:prstGeom prst="rect">
            <a:avLst/>
          </a:prstGeom>
          <a:noFill/>
          <a:ln w="317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2628900" y="2889416"/>
            <a:ext cx="228600" cy="1600200"/>
          </a:xfrm>
          <a:prstGeom prst="rect">
            <a:avLst/>
          </a:prstGeom>
          <a:noFill/>
          <a:ln w="317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020370111"/>
      </p:ext>
    </p:extLst>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沃舍尔算法</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14:m>
                  <m:oMath xmlns:m="http://schemas.openxmlformats.org/officeDocument/2006/math">
                    <m:r>
                      <a:rPr lang="zh-CN" altLang="en-US" i="1" smtClean="0">
                        <a:latin typeface="Cambria Math" panose="02040503050406030204" pitchFamily="18" charset="0"/>
                      </a:rPr>
                      <m:t>例</m:t>
                    </m:r>
                    <m:r>
                      <a:rPr lang="en-US" altLang="zh-CN" b="0" i="1" smtClean="0">
                        <a:latin typeface="Cambria Math" panose="02040503050406030204" pitchFamily="18" charset="0"/>
                      </a:rPr>
                      <m:t>:</m:t>
                    </m:r>
                  </m:oMath>
                </a14:m>
                <a:r>
                  <a:rPr lang="zh-CN" altLang="en-US" b="0" dirty="0" smtClean="0">
                    <a:latin typeface="Cambria Math" panose="02040503050406030204" pitchFamily="18" charset="0"/>
                  </a:rPr>
                  <a:t>计算</a:t>
                </a:r>
                <a14:m>
                  <m:oMath xmlns:m="http://schemas.openxmlformats.org/officeDocument/2006/math">
                    <m:r>
                      <a:rPr lang="en-US" altLang="zh-CN" b="0" i="0" smtClean="0">
                        <a:latin typeface="Cambria Math" panose="02040503050406030204" pitchFamily="18" charset="0"/>
                        <a:ea typeface="Cambria Math" panose="02040503050406030204" pitchFamily="18" charset="0"/>
                      </a:rPr>
                      <m:t>4</m:t>
                    </m:r>
                    <m:r>
                      <a:rPr lang="en-US" altLang="zh-CN" b="0" i="1" smtClean="0">
                        <a:latin typeface="Cambria Math" panose="02040503050406030204" pitchFamily="18" charset="0"/>
                        <a:ea typeface="Cambria Math" panose="02040503050406030204" pitchFamily="18" charset="0"/>
                      </a:rPr>
                      <m:t>×4</m:t>
                    </m:r>
                  </m:oMath>
                </a14:m>
                <a:r>
                  <a:rPr lang="zh-CN" altLang="en-US" b="0" dirty="0" smtClean="0">
                    <a:latin typeface="Cambria Math" panose="02040503050406030204" pitchFamily="18" charset="0"/>
                  </a:rPr>
                  <a:t>的</a:t>
                </a:r>
                <a:r>
                  <a:rPr lang="en-US" altLang="zh-CN" b="0" dirty="0" smtClean="0">
                    <a:latin typeface="Cambria Math" panose="02040503050406030204" pitchFamily="18" charset="0"/>
                  </a:rPr>
                  <a:t>0-1</a:t>
                </a:r>
                <a:r>
                  <a:rPr lang="zh-CN" altLang="en-US" b="0" dirty="0" smtClean="0">
                    <a:latin typeface="Cambria Math" panose="02040503050406030204" pitchFamily="18" charset="0"/>
                  </a:rPr>
                  <a:t>矩阵</a:t>
                </a:r>
                <a14:m>
                  <m:oMath xmlns:m="http://schemas.openxmlformats.org/officeDocument/2006/math">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M</m:t>
                        </m:r>
                      </m:e>
                      <m:sub>
                        <m:r>
                          <a:rPr lang="en-US" altLang="zh-CN" i="1">
                            <a:latin typeface="Cambria Math" panose="02040503050406030204" pitchFamily="18" charset="0"/>
                          </a:rPr>
                          <m:t>𝑅</m:t>
                        </m:r>
                      </m:sub>
                    </m:sSub>
                  </m:oMath>
                </a14:m>
                <a:r>
                  <a:rPr lang="zh-CN" altLang="en-US" b="0" dirty="0" smtClean="0">
                    <a:latin typeface="Cambria Math" panose="02040503050406030204" pitchFamily="18" charset="0"/>
                  </a:rPr>
                  <a:t>对应关系的传递闭包</a:t>
                </a:r>
                <a:r>
                  <a:rPr lang="en-US" altLang="zh-CN" b="0" dirty="0" smtClean="0">
                    <a:latin typeface="Cambria Math" panose="02040503050406030204" pitchFamily="18" charset="0"/>
                  </a:rPr>
                  <a:t>.</a:t>
                </a:r>
              </a:p>
              <a:p>
                <a:pPr marL="0" indent="0">
                  <a:buNone/>
                </a:pPr>
                <a14:m>
                  <m:oMath xmlns:m="http://schemas.openxmlformats.org/officeDocument/2006/math">
                    <m:r>
                      <a:rPr lang="en-US" altLang="zh-CN" b="0" i="1" smtClean="0">
                        <a:latin typeface="Cambria Math" panose="02040503050406030204" pitchFamily="18" charset="0"/>
                      </a:rPr>
                      <m:t>   </m:t>
                    </m:r>
                    <m:sSub>
                      <m:sSubPr>
                        <m:ctrlPr>
                          <a:rPr lang="en-US" altLang="zh-CN" i="1">
                            <a:latin typeface="Cambria Math" panose="02040503050406030204" pitchFamily="18" charset="0"/>
                          </a:rPr>
                        </m:ctrlPr>
                      </m:sSubPr>
                      <m:e>
                        <m:r>
                          <a:rPr lang="en-US" altLang="zh-CN" i="1">
                            <a:latin typeface="Cambria Math" panose="02040503050406030204" pitchFamily="18" charset="0"/>
                          </a:rPr>
                          <m:t>                                           </m:t>
                        </m:r>
                        <m:r>
                          <a:rPr lang="en-US" altLang="zh-CN" i="1">
                            <a:latin typeface="Cambria Math" panose="02040503050406030204" pitchFamily="18" charset="0"/>
                          </a:rPr>
                          <m:t>𝑀</m:t>
                        </m:r>
                      </m:e>
                      <m:sub>
                        <m:r>
                          <a:rPr lang="en-US" altLang="zh-CN" i="1">
                            <a:latin typeface="Cambria Math" panose="02040503050406030204" pitchFamily="18" charset="0"/>
                          </a:rPr>
                          <m:t>𝑅</m:t>
                        </m:r>
                      </m:sub>
                    </m:sSub>
                  </m:oMath>
                </a14:m>
                <a:r>
                  <a:rPr lang="en-US" altLang="zh-CN" dirty="0"/>
                  <a:t>=</a:t>
                </a:r>
                <a14:m>
                  <m:oMath xmlns:m="http://schemas.openxmlformats.org/officeDocument/2006/math">
                    <m:d>
                      <m:dPr>
                        <m:begChr m:val="["/>
                        <m:endChr m:val="]"/>
                        <m:ctrlPr>
                          <a:rPr lang="en-US" altLang="zh-CN" i="1">
                            <a:latin typeface="Cambria Math" panose="02040503050406030204" pitchFamily="18" charset="0"/>
                          </a:rPr>
                        </m:ctrlPr>
                      </m:dPr>
                      <m:e>
                        <m:eqArr>
                          <m:eqArrPr>
                            <m:ctrlPr>
                              <a:rPr lang="en-US" altLang="zh-CN" i="1">
                                <a:latin typeface="Cambria Math" panose="02040503050406030204" pitchFamily="18" charset="0"/>
                              </a:rPr>
                            </m:ctrlPr>
                          </m:eqArrPr>
                          <m:e>
                            <m:r>
                              <a:rPr lang="en-US" altLang="zh-CN" i="1">
                                <a:latin typeface="Cambria Math" panose="02040503050406030204" pitchFamily="18" charset="0"/>
                              </a:rPr>
                              <m:t>0001</m:t>
                            </m:r>
                          </m:e>
                          <m:e>
                            <m:r>
                              <a:rPr lang="en-US" altLang="zh-CN" i="1">
                                <a:latin typeface="Cambria Math" panose="02040503050406030204" pitchFamily="18" charset="0"/>
                              </a:rPr>
                              <m:t>1010</m:t>
                            </m:r>
                          </m:e>
                          <m:e>
                            <m:r>
                              <a:rPr lang="en-US" altLang="zh-CN" i="1">
                                <a:latin typeface="Cambria Math" panose="02040503050406030204" pitchFamily="18" charset="0"/>
                              </a:rPr>
                              <m:t>1001</m:t>
                            </m:r>
                          </m:e>
                          <m:e>
                            <m:r>
                              <a:rPr lang="en-US" altLang="zh-CN" i="1">
                                <a:latin typeface="Cambria Math" panose="02040503050406030204" pitchFamily="18" charset="0"/>
                              </a:rPr>
                              <m:t>0010</m:t>
                            </m:r>
                          </m:e>
                        </m:eqArr>
                      </m:e>
                    </m:d>
                  </m:oMath>
                </a14:m>
                <a:endParaRPr lang="en-US" altLang="zh-CN" dirty="0" smtClean="0">
                  <a:latin typeface="Cambria Math" panose="02040503050406030204" pitchFamily="18" charset="0"/>
                </a:endParaRPr>
              </a:p>
              <a:p>
                <a:r>
                  <a:rPr lang="zh-CN" altLang="en-US" dirty="0" smtClean="0">
                    <a:latin typeface="Cambria Math" panose="02040503050406030204" pitchFamily="18" charset="0"/>
                  </a:rPr>
                  <a:t>解</a:t>
                </a:r>
                <a:r>
                  <a:rPr lang="en-US" altLang="zh-CN" dirty="0" smtClean="0">
                    <a:latin typeface="Cambria Math" panose="02040503050406030204" pitchFamily="18" charset="0"/>
                  </a:rPr>
                  <a:t>(</a:t>
                </a:r>
                <a:r>
                  <a:rPr lang="zh-CN" altLang="en-US" dirty="0" smtClean="0">
                    <a:latin typeface="Cambria Math" panose="02040503050406030204" pitchFamily="18" charset="0"/>
                  </a:rPr>
                  <a:t>十字交叉法</a:t>
                </a:r>
                <a:r>
                  <a:rPr lang="en-US" altLang="zh-CN" dirty="0" smtClean="0">
                    <a:latin typeface="Cambria Math" panose="02040503050406030204" pitchFamily="18" charset="0"/>
                  </a:rPr>
                  <a:t>):</a:t>
                </a:r>
              </a:p>
              <a:p>
                <a:pPr marL="0" indent="0">
                  <a:buNone/>
                </a:pPr>
                <a:r>
                  <a:rPr lang="en-US" altLang="zh-CN" dirty="0">
                    <a:latin typeface="Cambria Math" panose="02040503050406030204" pitchFamily="18" charset="0"/>
                  </a:rPr>
                  <a:t> </a:t>
                </a:r>
                <a:r>
                  <a:rPr lang="en-US" altLang="zh-CN" dirty="0" smtClean="0">
                    <a:latin typeface="Cambria Math" panose="02040503050406030204" pitchFamily="18" charset="0"/>
                  </a:rPr>
                  <a:t>         </a:t>
                </a:r>
                <a14:m>
                  <m:oMath xmlns:m="http://schemas.openxmlformats.org/officeDocument/2006/math">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W</m:t>
                        </m:r>
                      </m:e>
                      <m:sub>
                        <m:r>
                          <a:rPr lang="en-US" altLang="zh-CN" i="1">
                            <a:latin typeface="Cambria Math" panose="02040503050406030204" pitchFamily="18" charset="0"/>
                          </a:rPr>
                          <m:t>0</m:t>
                        </m:r>
                      </m:sub>
                    </m:sSub>
                  </m:oMath>
                </a14:m>
                <a:r>
                  <a:rPr lang="en-US" altLang="zh-CN" dirty="0" smtClean="0"/>
                  <a:t>=</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𝑀</m:t>
                        </m:r>
                      </m:e>
                      <m:sub>
                        <m:r>
                          <a:rPr lang="en-US" altLang="zh-CN" i="1">
                            <a:latin typeface="Cambria Math" panose="02040503050406030204" pitchFamily="18" charset="0"/>
                          </a:rPr>
                          <m:t>𝑅</m:t>
                        </m:r>
                      </m:sub>
                    </m:sSub>
                  </m:oMath>
                </a14:m>
                <a:r>
                  <a:rPr lang="en-US" altLang="zh-CN" dirty="0"/>
                  <a:t>=</a:t>
                </a:r>
                <a14:m>
                  <m:oMath xmlns:m="http://schemas.openxmlformats.org/officeDocument/2006/math">
                    <m:d>
                      <m:dPr>
                        <m:begChr m:val="["/>
                        <m:endChr m:val="]"/>
                        <m:ctrlPr>
                          <a:rPr lang="en-US" altLang="zh-CN" i="1">
                            <a:latin typeface="Cambria Math" panose="02040503050406030204" pitchFamily="18" charset="0"/>
                          </a:rPr>
                        </m:ctrlPr>
                      </m:dPr>
                      <m:e>
                        <m:eqArr>
                          <m:eqArrPr>
                            <m:ctrlPr>
                              <a:rPr lang="en-US" altLang="zh-CN" i="1">
                                <a:latin typeface="Cambria Math" panose="02040503050406030204" pitchFamily="18" charset="0"/>
                              </a:rPr>
                            </m:ctrlPr>
                          </m:eqArrPr>
                          <m:e>
                            <m:r>
                              <a:rPr lang="en-US" altLang="zh-CN" i="1">
                                <a:latin typeface="Cambria Math" panose="02040503050406030204" pitchFamily="18" charset="0"/>
                              </a:rPr>
                              <m:t>0001</m:t>
                            </m:r>
                          </m:e>
                          <m:e>
                            <m:r>
                              <a:rPr lang="en-US" altLang="zh-CN" i="1">
                                <a:latin typeface="Cambria Math" panose="02040503050406030204" pitchFamily="18" charset="0"/>
                              </a:rPr>
                              <m:t>1010</m:t>
                            </m:r>
                          </m:e>
                          <m:e>
                            <m:r>
                              <a:rPr lang="en-US" altLang="zh-CN" i="1">
                                <a:latin typeface="Cambria Math" panose="02040503050406030204" pitchFamily="18" charset="0"/>
                              </a:rPr>
                              <m:t>1001</m:t>
                            </m:r>
                          </m:e>
                          <m:e>
                            <m:r>
                              <a:rPr lang="en-US" altLang="zh-CN" i="1">
                                <a:latin typeface="Cambria Math" panose="02040503050406030204" pitchFamily="18" charset="0"/>
                              </a:rPr>
                              <m:t>0010</m:t>
                            </m:r>
                          </m:e>
                        </m:eqArr>
                      </m:e>
                    </m:d>
                    <m:r>
                      <a:rPr lang="en-US" altLang="zh-CN" b="0" i="0" smtClean="0">
                        <a:latin typeface="Cambria Math" panose="02040503050406030204" pitchFamily="18" charset="0"/>
                      </a:rPr>
                      <m:t>,</m:t>
                    </m:r>
                  </m:oMath>
                </a14:m>
                <a:r>
                  <a:rPr lang="en-US" altLang="zh-CN" dirty="0"/>
                  <a:t> </a:t>
                </a:r>
                <a14:m>
                  <m:oMath xmlns:m="http://schemas.openxmlformats.org/officeDocument/2006/math">
                    <m:sSub>
                      <m:sSubPr>
                        <m:ctrlPr>
                          <a:rPr lang="en-US" altLang="zh-CN" i="1">
                            <a:latin typeface="Cambria Math" panose="02040503050406030204" pitchFamily="18" charset="0"/>
                          </a:rPr>
                        </m:ctrlPr>
                      </m:sSubPr>
                      <m:e>
                        <m:r>
                          <a:rPr lang="en-US" altLang="zh-CN" b="0" i="1" smtClean="0">
                            <a:latin typeface="Cambria Math" panose="02040503050406030204" pitchFamily="18" charset="0"/>
                          </a:rPr>
                          <m:t>                       </m:t>
                        </m:r>
                        <m:r>
                          <m:rPr>
                            <m:sty m:val="p"/>
                          </m:rPr>
                          <a:rPr lang="en-US" altLang="zh-CN" i="1">
                            <a:latin typeface="Cambria Math" panose="02040503050406030204" pitchFamily="18" charset="0"/>
                          </a:rPr>
                          <m:t>W</m:t>
                        </m:r>
                      </m:e>
                      <m:sub>
                        <m:r>
                          <a:rPr lang="en-US" altLang="zh-CN" b="0" i="1" smtClean="0">
                            <a:latin typeface="Cambria Math" panose="02040503050406030204" pitchFamily="18" charset="0"/>
                          </a:rPr>
                          <m:t>1</m:t>
                        </m:r>
                      </m:sub>
                    </m:sSub>
                  </m:oMath>
                </a14:m>
                <a:r>
                  <a:rPr lang="en-US" altLang="zh-CN" dirty="0" smtClean="0"/>
                  <a:t>=</a:t>
                </a:r>
                <a14:m>
                  <m:oMath xmlns:m="http://schemas.openxmlformats.org/officeDocument/2006/math">
                    <m:d>
                      <m:dPr>
                        <m:begChr m:val="["/>
                        <m:endChr m:val="]"/>
                        <m:ctrlPr>
                          <a:rPr lang="en-US" altLang="zh-CN" i="1">
                            <a:latin typeface="Cambria Math" panose="02040503050406030204" pitchFamily="18" charset="0"/>
                          </a:rPr>
                        </m:ctrlPr>
                      </m:dPr>
                      <m:e>
                        <m:eqArr>
                          <m:eqArrPr>
                            <m:ctrlPr>
                              <a:rPr lang="en-US" altLang="zh-CN" i="1">
                                <a:latin typeface="Cambria Math" panose="02040503050406030204" pitchFamily="18" charset="0"/>
                              </a:rPr>
                            </m:ctrlPr>
                          </m:eqArrPr>
                          <m:e>
                            <m:r>
                              <a:rPr lang="en-US" altLang="zh-CN" i="1">
                                <a:latin typeface="Cambria Math" panose="02040503050406030204" pitchFamily="18" charset="0"/>
                              </a:rPr>
                              <m:t>0001</m:t>
                            </m:r>
                          </m:e>
                          <m:e>
                            <m:r>
                              <a:rPr lang="en-US" altLang="zh-CN" i="1">
                                <a:latin typeface="Cambria Math" panose="02040503050406030204" pitchFamily="18" charset="0"/>
                              </a:rPr>
                              <m:t>101</m:t>
                            </m:r>
                            <m:r>
                              <a:rPr lang="en-US" altLang="zh-CN" b="0" i="1" smtClean="0">
                                <a:solidFill>
                                  <a:srgbClr val="7030A0"/>
                                </a:solidFill>
                                <a:latin typeface="Cambria Math" panose="02040503050406030204" pitchFamily="18" charset="0"/>
                              </a:rPr>
                              <m:t>1</m:t>
                            </m:r>
                          </m:e>
                          <m:e>
                            <m:r>
                              <a:rPr lang="en-US" altLang="zh-CN" i="1">
                                <a:latin typeface="Cambria Math" panose="02040503050406030204" pitchFamily="18" charset="0"/>
                              </a:rPr>
                              <m:t>1001</m:t>
                            </m:r>
                          </m:e>
                          <m:e>
                            <m:r>
                              <a:rPr lang="en-US" altLang="zh-CN" i="1">
                                <a:latin typeface="Cambria Math" panose="02040503050406030204" pitchFamily="18" charset="0"/>
                              </a:rPr>
                              <m:t>0010</m:t>
                            </m:r>
                          </m:e>
                        </m:eqArr>
                      </m:e>
                    </m:d>
                    <m:r>
                      <a:rPr lang="en-US" altLang="zh-CN">
                        <a:latin typeface="Cambria Math" panose="02040503050406030204" pitchFamily="18" charset="0"/>
                      </a:rPr>
                      <m:t>,</m:t>
                    </m:r>
                  </m:oMath>
                </a14:m>
                <a:endParaRPr lang="en-US" altLang="zh-CN" dirty="0">
                  <a:latin typeface="Cambria Math" panose="02040503050406030204" pitchFamily="18" charset="0"/>
                </a:endParaRPr>
              </a:p>
              <a:p>
                <a:pPr marL="0" indent="0">
                  <a:buNone/>
                </a:pPr>
                <a:endParaRPr lang="en-US" altLang="zh-CN" b="0" dirty="0" smtClean="0">
                  <a:latin typeface="Cambria Math" panose="02040503050406030204" pitchFamily="18" charset="0"/>
                </a:endParaRPr>
              </a:p>
              <a:p>
                <a:pPr marL="0" indent="0">
                  <a:buNone/>
                </a:pPr>
                <a:endParaRPr lang="en-US" altLang="zh-CN" dirty="0" smtClean="0"/>
              </a:p>
              <a:p>
                <a:pPr marL="0" indent="0">
                  <a:buNone/>
                </a:pPr>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l="-999" t="-1429"/>
                </a:stretch>
              </a:blipFill>
            </p:spPr>
            <p:txBody>
              <a:bodyPr/>
              <a:lstStyle/>
              <a:p>
                <a:r>
                  <a:rPr lang="zh-CN" altLang="en-US">
                    <a:noFill/>
                  </a:rPr>
                  <a:t> </a:t>
                </a:r>
              </a:p>
            </p:txBody>
          </p:sp>
        </mc:Fallback>
      </mc:AlternateContent>
      <p:sp>
        <p:nvSpPr>
          <p:cNvPr id="4" name="日期占位符 3"/>
          <p:cNvSpPr>
            <a:spLocks noGrp="1"/>
          </p:cNvSpPr>
          <p:nvPr>
            <p:ph type="dt" sz="half" idx="10"/>
          </p:nvPr>
        </p:nvSpPr>
        <p:spPr/>
        <p:txBody>
          <a:bodyPr/>
          <a:lstStyle/>
          <a:p>
            <a:fld id="{8D4E0194-2071-43C1-8AB4-7B4CEC010E25}" type="datetime1">
              <a:rPr lang="zh-CN" altLang="en-US" smtClean="0"/>
              <a:t>2025/3/14</a:t>
            </a:fld>
            <a:endParaRPr lang="zh-CN" altLang="en-US" dirty="0"/>
          </a:p>
        </p:txBody>
      </p:sp>
      <p:sp>
        <p:nvSpPr>
          <p:cNvPr id="5" name="页脚占位符 4"/>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6" name="灯片编号占位符 5"/>
          <p:cNvSpPr>
            <a:spLocks noGrp="1"/>
          </p:cNvSpPr>
          <p:nvPr>
            <p:ph type="sldNum" sz="quarter" idx="12"/>
          </p:nvPr>
        </p:nvSpPr>
        <p:spPr/>
        <p:txBody>
          <a:bodyPr/>
          <a:lstStyle/>
          <a:p>
            <a:fld id="{67913A8A-9EFB-4B5F-9CCB-3D21173FAA85}" type="slidenum">
              <a:rPr lang="zh-CN" altLang="en-US" smtClean="0"/>
              <a:pPr/>
              <a:t>87</a:t>
            </a:fld>
            <a:endParaRPr lang="zh-CN" altLang="en-US" dirty="0"/>
          </a:p>
        </p:txBody>
      </p:sp>
      <p:sp>
        <p:nvSpPr>
          <p:cNvPr id="7" name="矩形 6"/>
          <p:cNvSpPr/>
          <p:nvPr/>
        </p:nvSpPr>
        <p:spPr>
          <a:xfrm>
            <a:off x="2971800" y="4495800"/>
            <a:ext cx="990600" cy="45719"/>
          </a:xfrm>
          <a:prstGeom prst="rect">
            <a:avLst/>
          </a:prstGeom>
          <a:solidFill>
            <a:srgbClr val="C00000">
              <a:alpha val="50000"/>
            </a:srgbClr>
          </a:solidFill>
          <a:ln w="317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flipH="1">
            <a:off x="3733800" y="3924300"/>
            <a:ext cx="45719" cy="1600200"/>
          </a:xfrm>
          <a:prstGeom prst="rect">
            <a:avLst/>
          </a:prstGeom>
          <a:solidFill>
            <a:srgbClr val="C00000">
              <a:alpha val="50000"/>
            </a:srgbClr>
          </a:solidFill>
          <a:ln w="317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2971800" y="4907281"/>
            <a:ext cx="990600" cy="45719"/>
          </a:xfrm>
          <a:prstGeom prst="rect">
            <a:avLst/>
          </a:prstGeom>
          <a:solidFill>
            <a:srgbClr val="C00000">
              <a:alpha val="50000"/>
            </a:srgbClr>
          </a:solidFill>
          <a:ln w="317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p:cNvSpPr/>
          <p:nvPr/>
        </p:nvSpPr>
        <p:spPr>
          <a:xfrm>
            <a:off x="3657600" y="4343400"/>
            <a:ext cx="228600" cy="381000"/>
          </a:xfrm>
          <a:prstGeom prst="ellips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11" name="文本框 10"/>
              <p:cNvSpPr txBox="1"/>
              <p:nvPr/>
            </p:nvSpPr>
            <p:spPr>
              <a:xfrm>
                <a:off x="7467600" y="1951672"/>
                <a:ext cx="3501280" cy="1477328"/>
              </a:xfrm>
              <a:prstGeom prst="rect">
                <a:avLst/>
              </a:prstGeom>
              <a:noFill/>
            </p:spPr>
            <p:txBody>
              <a:bodyPr wrap="none" rtlCol="0">
                <a:spAutoFit/>
              </a:bodyPr>
              <a:lstStyle/>
              <a:p>
                <a:r>
                  <a:rPr lang="zh-CN" altLang="en-US" dirty="0" smtClean="0">
                    <a:latin typeface="微软雅黑" panose="020B0503020204020204" pitchFamily="34" charset="-122"/>
                    <a:ea typeface="微软雅黑" panose="020B0503020204020204" pitchFamily="34" charset="-122"/>
                  </a:rPr>
                  <a:t>方法概述</a:t>
                </a:r>
                <a:endParaRPr lang="en-US" altLang="zh-CN" dirty="0" smtClean="0">
                  <a:latin typeface="微软雅黑" panose="020B0503020204020204" pitchFamily="34" charset="-122"/>
                  <a:ea typeface="微软雅黑" panose="020B0503020204020204" pitchFamily="34" charset="-122"/>
                </a:endParaRPr>
              </a:p>
              <a:p>
                <a:r>
                  <a:rPr lang="zh-CN" altLang="en-US" dirty="0" smtClean="0">
                    <a:latin typeface="微软雅黑" panose="020B0503020204020204" pitchFamily="34" charset="-122"/>
                    <a:ea typeface="微软雅黑" panose="020B0503020204020204" pitchFamily="34" charset="-122"/>
                  </a:rPr>
                  <a:t>第</a:t>
                </a:r>
                <a:r>
                  <a:rPr lang="en-US" altLang="zh-CN" dirty="0" smtClean="0">
                    <a:latin typeface="微软雅黑" panose="020B0503020204020204" pitchFamily="34" charset="-122"/>
                    <a:ea typeface="微软雅黑" panose="020B0503020204020204" pitchFamily="34" charset="-122"/>
                  </a:rPr>
                  <a:t>k</a:t>
                </a:r>
                <a:r>
                  <a:rPr lang="zh-CN" altLang="en-US" dirty="0" smtClean="0">
                    <a:latin typeface="微软雅黑" panose="020B0503020204020204" pitchFamily="34" charset="-122"/>
                    <a:ea typeface="微软雅黑" panose="020B0503020204020204" pitchFamily="34" charset="-122"/>
                  </a:rPr>
                  <a:t>次计算</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𝑊</m:t>
                        </m:r>
                      </m:e>
                      <m:sub>
                        <m:r>
                          <m:rPr>
                            <m:sty m:val="p"/>
                          </m:rPr>
                          <a:rPr lang="en-US" altLang="zh-CN" i="1">
                            <a:latin typeface="Cambria Math" panose="02040503050406030204" pitchFamily="18" charset="0"/>
                          </a:rPr>
                          <m:t>k</m:t>
                        </m:r>
                      </m:sub>
                    </m:sSub>
                  </m:oMath>
                </a14:m>
                <a:r>
                  <a:rPr lang="zh-CN" altLang="en-US" dirty="0" smtClean="0">
                    <a:latin typeface="微软雅黑" panose="020B0503020204020204" pitchFamily="34" charset="-122"/>
                    <a:ea typeface="微软雅黑" panose="020B0503020204020204" pitchFamily="34" charset="-122"/>
                  </a:rPr>
                  <a:t>时</a:t>
                </a:r>
                <a:r>
                  <a:rPr lang="en-US" altLang="zh-CN" dirty="0" smtClean="0">
                    <a:latin typeface="微软雅黑" panose="020B0503020204020204" pitchFamily="34" charset="-122"/>
                    <a:ea typeface="微软雅黑" panose="020B0503020204020204" pitchFamily="34" charset="-122"/>
                  </a:rPr>
                  <a:t>:</a:t>
                </a:r>
              </a:p>
              <a:p>
                <a:r>
                  <a:rPr lang="zh-CN" altLang="en-US" dirty="0" smtClean="0">
                    <a:latin typeface="微软雅黑" panose="020B0503020204020204" pitchFamily="34" charset="-122"/>
                    <a:ea typeface="微软雅黑" panose="020B0503020204020204" pitchFamily="34" charset="-122"/>
                  </a:rPr>
                  <a:t>第</a:t>
                </a:r>
                <a:r>
                  <a:rPr lang="en-US" altLang="zh-CN" dirty="0" smtClean="0">
                    <a:latin typeface="微软雅黑" panose="020B0503020204020204" pitchFamily="34" charset="-122"/>
                    <a:ea typeface="微软雅黑" panose="020B0503020204020204" pitchFamily="34" charset="-122"/>
                  </a:rPr>
                  <a:t>k</a:t>
                </a:r>
                <a:r>
                  <a:rPr lang="zh-CN" altLang="en-US" dirty="0" smtClean="0">
                    <a:latin typeface="微软雅黑" panose="020B0503020204020204" pitchFamily="34" charset="-122"/>
                    <a:ea typeface="微软雅黑" panose="020B0503020204020204" pitchFamily="34" charset="-122"/>
                  </a:rPr>
                  <a:t>列为</a:t>
                </a:r>
                <a:r>
                  <a:rPr lang="en-US" altLang="zh-CN" dirty="0" smtClean="0">
                    <a:latin typeface="微软雅黑" panose="020B0503020204020204" pitchFamily="34" charset="-122"/>
                    <a:ea typeface="微软雅黑" panose="020B0503020204020204" pitchFamily="34" charset="-122"/>
                  </a:rPr>
                  <a:t>1</a:t>
                </a:r>
                <a:r>
                  <a:rPr lang="zh-CN" altLang="en-US" dirty="0" smtClean="0">
                    <a:latin typeface="微软雅黑" panose="020B0503020204020204" pitchFamily="34" charset="-122"/>
                    <a:ea typeface="微软雅黑" panose="020B0503020204020204" pitchFamily="34" charset="-122"/>
                  </a:rPr>
                  <a:t>元素所在的行加横直线</a:t>
                </a:r>
                <a:r>
                  <a:rPr lang="en-US" altLang="zh-CN" dirty="0" smtClean="0">
                    <a:latin typeface="微软雅黑" panose="020B0503020204020204" pitchFamily="34" charset="-122"/>
                    <a:ea typeface="微软雅黑" panose="020B0503020204020204" pitchFamily="34" charset="-122"/>
                  </a:rPr>
                  <a:t>;</a:t>
                </a:r>
              </a:p>
              <a:p>
                <a:r>
                  <a:rPr lang="zh-CN" altLang="en-US" dirty="0">
                    <a:latin typeface="微软雅黑" panose="020B0503020204020204" pitchFamily="34" charset="-122"/>
                    <a:ea typeface="微软雅黑" panose="020B0503020204020204" pitchFamily="34" charset="-122"/>
                  </a:rPr>
                  <a:t>第</a:t>
                </a:r>
                <a:r>
                  <a:rPr lang="en-US" altLang="zh-CN" dirty="0">
                    <a:latin typeface="微软雅黑" panose="020B0503020204020204" pitchFamily="34" charset="-122"/>
                    <a:ea typeface="微软雅黑" panose="020B0503020204020204" pitchFamily="34" charset="-122"/>
                  </a:rPr>
                  <a:t>k</a:t>
                </a:r>
                <a:r>
                  <a:rPr lang="zh-CN" altLang="en-US" dirty="0">
                    <a:latin typeface="微软雅黑" panose="020B0503020204020204" pitchFamily="34" charset="-122"/>
                    <a:ea typeface="微软雅黑" panose="020B0503020204020204" pitchFamily="34" charset="-122"/>
                  </a:rPr>
                  <a:t>行为</a:t>
                </a:r>
                <a:r>
                  <a:rPr lang="en-US" altLang="zh-CN" dirty="0">
                    <a:latin typeface="微软雅黑" panose="020B0503020204020204" pitchFamily="34" charset="-122"/>
                    <a:ea typeface="微软雅黑" panose="020B0503020204020204" pitchFamily="34" charset="-122"/>
                  </a:rPr>
                  <a:t>1</a:t>
                </a:r>
                <a:r>
                  <a:rPr lang="zh-CN" altLang="en-US" dirty="0">
                    <a:latin typeface="微软雅黑" panose="020B0503020204020204" pitchFamily="34" charset="-122"/>
                    <a:ea typeface="微软雅黑" panose="020B0503020204020204" pitchFamily="34" charset="-122"/>
                  </a:rPr>
                  <a:t>元素所在的列加竖直线</a:t>
                </a:r>
                <a:r>
                  <a:rPr lang="en-US" altLang="zh-CN" dirty="0">
                    <a:latin typeface="微软雅黑" panose="020B0503020204020204" pitchFamily="34" charset="-122"/>
                    <a:ea typeface="微软雅黑" panose="020B0503020204020204" pitchFamily="34" charset="-122"/>
                  </a:rPr>
                  <a:t>;</a:t>
                </a:r>
              </a:p>
              <a:p>
                <a:r>
                  <a:rPr lang="zh-CN" altLang="en-US" dirty="0" smtClean="0">
                    <a:latin typeface="微软雅黑" panose="020B0503020204020204" pitchFamily="34" charset="-122"/>
                    <a:ea typeface="微软雅黑" panose="020B0503020204020204" pitchFamily="34" charset="-122"/>
                  </a:rPr>
                  <a:t>直线</a:t>
                </a:r>
                <a:r>
                  <a:rPr lang="zh-CN" altLang="en-US" dirty="0">
                    <a:latin typeface="微软雅黑" panose="020B0503020204020204" pitchFamily="34" charset="-122"/>
                    <a:ea typeface="微软雅黑" panose="020B0503020204020204" pitchFamily="34" charset="-122"/>
                  </a:rPr>
                  <a:t>相交位置如果为</a:t>
                </a:r>
                <a:r>
                  <a:rPr lang="en-US" altLang="zh-CN" dirty="0">
                    <a:latin typeface="微软雅黑" panose="020B0503020204020204" pitchFamily="34" charset="-122"/>
                    <a:ea typeface="微软雅黑" panose="020B0503020204020204" pitchFamily="34" charset="-122"/>
                  </a:rPr>
                  <a:t>0</a:t>
                </a:r>
                <a:r>
                  <a:rPr lang="zh-CN" altLang="en-US" dirty="0">
                    <a:latin typeface="微软雅黑" panose="020B0503020204020204" pitchFamily="34" charset="-122"/>
                    <a:ea typeface="微软雅黑" panose="020B0503020204020204" pitchFamily="34" charset="-122"/>
                  </a:rPr>
                  <a:t>，则改为</a:t>
                </a:r>
                <a:r>
                  <a:rPr lang="en-US" altLang="zh-CN" dirty="0" smtClean="0">
                    <a:latin typeface="微软雅黑" panose="020B0503020204020204" pitchFamily="34" charset="-122"/>
                    <a:ea typeface="微软雅黑" panose="020B0503020204020204" pitchFamily="34" charset="-122"/>
                  </a:rPr>
                  <a:t>1</a:t>
                </a:r>
                <a:endParaRPr lang="zh-CN" altLang="en-US" dirty="0">
                  <a:latin typeface="微软雅黑" panose="020B0503020204020204" pitchFamily="34" charset="-122"/>
                  <a:ea typeface="微软雅黑" panose="020B0503020204020204" pitchFamily="34" charset="-122"/>
                </a:endParaRPr>
              </a:p>
            </p:txBody>
          </p:sp>
        </mc:Choice>
        <mc:Fallback xmlns="">
          <p:sp>
            <p:nvSpPr>
              <p:cNvPr id="11" name="文本框 10"/>
              <p:cNvSpPr txBox="1">
                <a:spLocks noRot="1" noChangeAspect="1" noMove="1" noResize="1" noEditPoints="1" noAdjustHandles="1" noChangeArrowheads="1" noChangeShapeType="1" noTextEdit="1"/>
              </p:cNvSpPr>
              <p:nvPr/>
            </p:nvSpPr>
            <p:spPr>
              <a:xfrm>
                <a:off x="7467600" y="1951672"/>
                <a:ext cx="3501280" cy="1477328"/>
              </a:xfrm>
              <a:prstGeom prst="rect">
                <a:avLst/>
              </a:prstGeom>
              <a:blipFill rotWithShape="0">
                <a:blip r:embed="rId3"/>
                <a:stretch>
                  <a:fillRect l="-1394" t="-2058" r="-1045" b="-535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9700366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wipe(down)">
                                      <p:cBhvr>
                                        <p:cTn id="7" dur="500"/>
                                        <p:tgtEl>
                                          <p:spTgt spid="3">
                                            <p:txEl>
                                              <p:pRg st="2" end="2"/>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3">
                                            <p:txEl>
                                              <p:pRg st="3" end="3"/>
                                            </p:txEl>
                                          </p:spTgt>
                                        </p:tgtEl>
                                        <p:attrNameLst>
                                          <p:attrName>style.visibility</p:attrName>
                                        </p:attrNameLst>
                                      </p:cBhvr>
                                      <p:to>
                                        <p:strVal val="visible"/>
                                      </p:to>
                                    </p:set>
                                    <p:animEffect transition="in" filter="wipe(down)">
                                      <p:cBhvr>
                                        <p:cTn id="10" dur="500"/>
                                        <p:tgtEl>
                                          <p:spTgt spid="3">
                                            <p:txEl>
                                              <p:pRg st="3" end="3"/>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11">
                                            <p:txEl>
                                              <p:pRg st="0" end="0"/>
                                            </p:txEl>
                                          </p:spTgt>
                                        </p:tgtEl>
                                        <p:attrNameLst>
                                          <p:attrName>style.visibility</p:attrName>
                                        </p:attrNameLst>
                                      </p:cBhvr>
                                      <p:to>
                                        <p:strVal val="visible"/>
                                      </p:to>
                                    </p:set>
                                    <p:animEffect transition="in" filter="wipe(down)">
                                      <p:cBhvr>
                                        <p:cTn id="13" dur="500"/>
                                        <p:tgtEl>
                                          <p:spTgt spid="11">
                                            <p:txEl>
                                              <p:pRg st="0" end="0"/>
                                            </p:txEl>
                                          </p:spTgt>
                                        </p:tgtEl>
                                      </p:cBhvr>
                                    </p:animEffect>
                                  </p:childTnLst>
                                </p:cTn>
                              </p:par>
                              <p:par>
                                <p:cTn id="14" presetID="22" presetClass="entr" presetSubtype="4" fill="hold" nodeType="withEffect">
                                  <p:stCondLst>
                                    <p:cond delay="0"/>
                                  </p:stCondLst>
                                  <p:childTnLst>
                                    <p:set>
                                      <p:cBhvr>
                                        <p:cTn id="15" dur="1" fill="hold">
                                          <p:stCondLst>
                                            <p:cond delay="0"/>
                                          </p:stCondLst>
                                        </p:cTn>
                                        <p:tgtEl>
                                          <p:spTgt spid="11">
                                            <p:txEl>
                                              <p:pRg st="1" end="1"/>
                                            </p:txEl>
                                          </p:spTgt>
                                        </p:tgtEl>
                                        <p:attrNameLst>
                                          <p:attrName>style.visibility</p:attrName>
                                        </p:attrNameLst>
                                      </p:cBhvr>
                                      <p:to>
                                        <p:strVal val="visible"/>
                                      </p:to>
                                    </p:set>
                                    <p:animEffect transition="in" filter="wipe(down)">
                                      <p:cBhvr>
                                        <p:cTn id="16" dur="500"/>
                                        <p:tgtEl>
                                          <p:spTgt spid="11">
                                            <p:txEl>
                                              <p:pRg st="1" end="1"/>
                                            </p:txEl>
                                          </p:spTgt>
                                        </p:tgtEl>
                                      </p:cBhvr>
                                    </p:animEffect>
                                  </p:childTnLst>
                                </p:cTn>
                              </p:par>
                              <p:par>
                                <p:cTn id="17" presetID="22" presetClass="entr" presetSubtype="4" fill="hold" nodeType="withEffect">
                                  <p:stCondLst>
                                    <p:cond delay="0"/>
                                  </p:stCondLst>
                                  <p:childTnLst>
                                    <p:set>
                                      <p:cBhvr>
                                        <p:cTn id="18" dur="1" fill="hold">
                                          <p:stCondLst>
                                            <p:cond delay="0"/>
                                          </p:stCondLst>
                                        </p:cTn>
                                        <p:tgtEl>
                                          <p:spTgt spid="11">
                                            <p:txEl>
                                              <p:pRg st="2" end="2"/>
                                            </p:txEl>
                                          </p:spTgt>
                                        </p:tgtEl>
                                        <p:attrNameLst>
                                          <p:attrName>style.visibility</p:attrName>
                                        </p:attrNameLst>
                                      </p:cBhvr>
                                      <p:to>
                                        <p:strVal val="visible"/>
                                      </p:to>
                                    </p:set>
                                    <p:animEffect transition="in" filter="wipe(down)">
                                      <p:cBhvr>
                                        <p:cTn id="19" dur="500"/>
                                        <p:tgtEl>
                                          <p:spTgt spid="11">
                                            <p:txEl>
                                              <p:pRg st="2" end="2"/>
                                            </p:txEl>
                                          </p:spTgt>
                                        </p:tgtEl>
                                      </p:cBhvr>
                                    </p:animEffect>
                                  </p:childTnLst>
                                </p:cTn>
                              </p:par>
                              <p:par>
                                <p:cTn id="20" presetID="22" presetClass="entr" presetSubtype="4" fill="hold" nodeType="withEffect">
                                  <p:stCondLst>
                                    <p:cond delay="0"/>
                                  </p:stCondLst>
                                  <p:childTnLst>
                                    <p:set>
                                      <p:cBhvr>
                                        <p:cTn id="21" dur="1" fill="hold">
                                          <p:stCondLst>
                                            <p:cond delay="0"/>
                                          </p:stCondLst>
                                        </p:cTn>
                                        <p:tgtEl>
                                          <p:spTgt spid="11">
                                            <p:txEl>
                                              <p:pRg st="3" end="3"/>
                                            </p:txEl>
                                          </p:spTgt>
                                        </p:tgtEl>
                                        <p:attrNameLst>
                                          <p:attrName>style.visibility</p:attrName>
                                        </p:attrNameLst>
                                      </p:cBhvr>
                                      <p:to>
                                        <p:strVal val="visible"/>
                                      </p:to>
                                    </p:set>
                                    <p:animEffect transition="in" filter="wipe(down)">
                                      <p:cBhvr>
                                        <p:cTn id="22" dur="500"/>
                                        <p:tgtEl>
                                          <p:spTgt spid="11">
                                            <p:txEl>
                                              <p:pRg st="3" end="3"/>
                                            </p:txEl>
                                          </p:spTgt>
                                        </p:tgtEl>
                                      </p:cBhvr>
                                    </p:animEffect>
                                  </p:childTnLst>
                                </p:cTn>
                              </p:par>
                              <p:par>
                                <p:cTn id="23" presetID="22" presetClass="entr" presetSubtype="4" fill="hold" nodeType="withEffect">
                                  <p:stCondLst>
                                    <p:cond delay="0"/>
                                  </p:stCondLst>
                                  <p:childTnLst>
                                    <p:set>
                                      <p:cBhvr>
                                        <p:cTn id="24" dur="1" fill="hold">
                                          <p:stCondLst>
                                            <p:cond delay="0"/>
                                          </p:stCondLst>
                                        </p:cTn>
                                        <p:tgtEl>
                                          <p:spTgt spid="11">
                                            <p:txEl>
                                              <p:pRg st="4" end="4"/>
                                            </p:txEl>
                                          </p:spTgt>
                                        </p:tgtEl>
                                        <p:attrNameLst>
                                          <p:attrName>style.visibility</p:attrName>
                                        </p:attrNameLst>
                                      </p:cBhvr>
                                      <p:to>
                                        <p:strVal val="visible"/>
                                      </p:to>
                                    </p:set>
                                    <p:animEffect transition="in" filter="wipe(down)">
                                      <p:cBhvr>
                                        <p:cTn id="25" dur="500"/>
                                        <p:tgtEl>
                                          <p:spTgt spid="11">
                                            <p:txEl>
                                              <p:pRg st="4" end="4"/>
                                            </p:txEl>
                                          </p:spTgt>
                                        </p:tgtEl>
                                      </p:cBhvr>
                                    </p:animEffect>
                                  </p:childTnLst>
                                </p:cTn>
                              </p:par>
                              <p:par>
                                <p:cTn id="26" presetID="22" presetClass="entr" presetSubtype="4" fill="hold" grpId="0" nodeType="with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wipe(down)">
                                      <p:cBhvr>
                                        <p:cTn id="28" dur="500"/>
                                        <p:tgtEl>
                                          <p:spTgt spid="9"/>
                                        </p:tgtEl>
                                      </p:cBhvr>
                                    </p:animEffect>
                                  </p:childTnLst>
                                </p:cTn>
                              </p:par>
                              <p:par>
                                <p:cTn id="29" presetID="22" presetClass="entr" presetSubtype="4" fill="hold" grpId="0" nodeType="withEffect">
                                  <p:stCondLst>
                                    <p:cond delay="0"/>
                                  </p:stCondLst>
                                  <p:childTnLst>
                                    <p:set>
                                      <p:cBhvr>
                                        <p:cTn id="30" dur="1" fill="hold">
                                          <p:stCondLst>
                                            <p:cond delay="0"/>
                                          </p:stCondLst>
                                        </p:cTn>
                                        <p:tgtEl>
                                          <p:spTgt spid="8"/>
                                        </p:tgtEl>
                                        <p:attrNameLst>
                                          <p:attrName>style.visibility</p:attrName>
                                        </p:attrNameLst>
                                      </p:cBhvr>
                                      <p:to>
                                        <p:strVal val="visible"/>
                                      </p:to>
                                    </p:set>
                                    <p:animEffect transition="in" filter="wipe(down)">
                                      <p:cBhvr>
                                        <p:cTn id="31" dur="500"/>
                                        <p:tgtEl>
                                          <p:spTgt spid="8"/>
                                        </p:tgtEl>
                                      </p:cBhvr>
                                    </p:animEffect>
                                  </p:childTnLst>
                                </p:cTn>
                              </p:par>
                              <p:par>
                                <p:cTn id="32" presetID="22" presetClass="entr" presetSubtype="4" fill="hold" grpId="0" nodeType="withEffect">
                                  <p:stCondLst>
                                    <p:cond delay="0"/>
                                  </p:stCondLst>
                                  <p:childTnLst>
                                    <p:set>
                                      <p:cBhvr>
                                        <p:cTn id="33" dur="1" fill="hold">
                                          <p:stCondLst>
                                            <p:cond delay="0"/>
                                          </p:stCondLst>
                                        </p:cTn>
                                        <p:tgtEl>
                                          <p:spTgt spid="10"/>
                                        </p:tgtEl>
                                        <p:attrNameLst>
                                          <p:attrName>style.visibility</p:attrName>
                                        </p:attrNameLst>
                                      </p:cBhvr>
                                      <p:to>
                                        <p:strVal val="visible"/>
                                      </p:to>
                                    </p:set>
                                    <p:animEffect transition="in" filter="wipe(down)">
                                      <p:cBhvr>
                                        <p:cTn id="34" dur="500"/>
                                        <p:tgtEl>
                                          <p:spTgt spid="10"/>
                                        </p:tgtEl>
                                      </p:cBhvr>
                                    </p:animEffect>
                                  </p:childTnLst>
                                </p:cTn>
                              </p:par>
                              <p:par>
                                <p:cTn id="35" presetID="22" presetClass="entr" presetSubtype="4" fill="hold" grpId="0" nodeType="withEffect">
                                  <p:stCondLst>
                                    <p:cond delay="0"/>
                                  </p:stCondLst>
                                  <p:childTnLst>
                                    <p:set>
                                      <p:cBhvr>
                                        <p:cTn id="36" dur="1" fill="hold">
                                          <p:stCondLst>
                                            <p:cond delay="0"/>
                                          </p:stCondLst>
                                        </p:cTn>
                                        <p:tgtEl>
                                          <p:spTgt spid="7"/>
                                        </p:tgtEl>
                                        <p:attrNameLst>
                                          <p:attrName>style.visibility</p:attrName>
                                        </p:attrNameLst>
                                      </p:cBhvr>
                                      <p:to>
                                        <p:strVal val="visible"/>
                                      </p:to>
                                    </p:set>
                                    <p:animEffect transition="in" filter="wipe(down)">
                                      <p:cBhvr>
                                        <p:cTn id="3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idx="1"/>
              </p:nvPr>
            </p:nvSpPr>
            <p:spPr>
              <a:xfrm>
                <a:off x="595086" y="1088824"/>
                <a:ext cx="10987316" cy="5083375"/>
              </a:xfrm>
            </p:spPr>
            <p:txBody>
              <a:bodyPr>
                <a:normAutofit/>
              </a:bodyPr>
              <a:lstStyle/>
              <a:p>
                <a14:m>
                  <m:oMath xmlns:m="http://schemas.openxmlformats.org/officeDocument/2006/math">
                    <m:sSub>
                      <m:sSubPr>
                        <m:ctrlPr>
                          <a:rPr lang="en-US" altLang="zh-CN" i="1" smtClean="0">
                            <a:latin typeface="Cambria Math" panose="02040503050406030204" pitchFamily="18" charset="0"/>
                          </a:rPr>
                        </m:ctrlPr>
                      </m:sSubPr>
                      <m:e>
                        <m:r>
                          <m:rPr>
                            <m:sty m:val="p"/>
                          </m:rPr>
                          <a:rPr lang="en-US" altLang="zh-CN" i="1">
                            <a:latin typeface="Cambria Math" panose="02040503050406030204" pitchFamily="18" charset="0"/>
                          </a:rPr>
                          <m:t>W</m:t>
                        </m:r>
                      </m:e>
                      <m:sub>
                        <m:r>
                          <a:rPr lang="en-US" altLang="zh-CN" b="0" i="1" smtClean="0">
                            <a:latin typeface="Cambria Math" panose="02040503050406030204" pitchFamily="18" charset="0"/>
                          </a:rPr>
                          <m:t>1</m:t>
                        </m:r>
                      </m:sub>
                    </m:sSub>
                  </m:oMath>
                </a14:m>
                <a:r>
                  <a:rPr lang="en-US" altLang="zh-CN" dirty="0" smtClean="0"/>
                  <a:t>=</a:t>
                </a:r>
                <a14:m>
                  <m:oMath xmlns:m="http://schemas.openxmlformats.org/officeDocument/2006/math">
                    <m:d>
                      <m:dPr>
                        <m:begChr m:val="["/>
                        <m:endChr m:val="]"/>
                        <m:ctrlPr>
                          <a:rPr lang="en-US" altLang="zh-CN" i="1">
                            <a:latin typeface="Cambria Math" panose="02040503050406030204" pitchFamily="18" charset="0"/>
                          </a:rPr>
                        </m:ctrlPr>
                      </m:dPr>
                      <m:e>
                        <m:eqArr>
                          <m:eqArrPr>
                            <m:ctrlPr>
                              <a:rPr lang="en-US" altLang="zh-CN" i="1">
                                <a:latin typeface="Cambria Math" panose="02040503050406030204" pitchFamily="18" charset="0"/>
                              </a:rPr>
                            </m:ctrlPr>
                          </m:eqArrPr>
                          <m:e>
                            <m:r>
                              <a:rPr lang="en-US" altLang="zh-CN" i="1">
                                <a:latin typeface="Cambria Math" panose="02040503050406030204" pitchFamily="18" charset="0"/>
                              </a:rPr>
                              <m:t>0001</m:t>
                            </m:r>
                          </m:e>
                          <m:e>
                            <m:r>
                              <a:rPr lang="en-US" altLang="zh-CN" i="1">
                                <a:latin typeface="Cambria Math" panose="02040503050406030204" pitchFamily="18" charset="0"/>
                              </a:rPr>
                              <m:t>101</m:t>
                            </m:r>
                            <m:r>
                              <a:rPr lang="en-US" altLang="zh-CN" b="0" i="1" smtClean="0">
                                <a:latin typeface="Cambria Math" panose="02040503050406030204" pitchFamily="18" charset="0"/>
                              </a:rPr>
                              <m:t>1</m:t>
                            </m:r>
                          </m:e>
                          <m:e>
                            <m:r>
                              <a:rPr lang="en-US" altLang="zh-CN" i="1">
                                <a:latin typeface="Cambria Math" panose="02040503050406030204" pitchFamily="18" charset="0"/>
                              </a:rPr>
                              <m:t>1001</m:t>
                            </m:r>
                          </m:e>
                          <m:e>
                            <m:r>
                              <a:rPr lang="en-US" altLang="zh-CN" i="1">
                                <a:latin typeface="Cambria Math" panose="02040503050406030204" pitchFamily="18" charset="0"/>
                              </a:rPr>
                              <m:t>0010</m:t>
                            </m:r>
                          </m:e>
                        </m:eqArr>
                      </m:e>
                    </m:d>
                    <m:r>
                      <a:rPr lang="en-US" altLang="zh-CN" b="0" i="0" smtClean="0">
                        <a:latin typeface="Cambria Math" panose="02040503050406030204" pitchFamily="18" charset="0"/>
                      </a:rPr>
                      <m:t>,</m:t>
                    </m:r>
                  </m:oMath>
                </a14:m>
                <a:r>
                  <a:rPr lang="en-US" altLang="zh-CN" dirty="0"/>
                  <a:t> </a:t>
                </a:r>
                <a14:m>
                  <m:oMath xmlns:m="http://schemas.openxmlformats.org/officeDocument/2006/math">
                    <m:sSub>
                      <m:sSubPr>
                        <m:ctrlPr>
                          <a:rPr lang="en-US" altLang="zh-CN" i="1">
                            <a:latin typeface="Cambria Math" panose="02040503050406030204" pitchFamily="18" charset="0"/>
                          </a:rPr>
                        </m:ctrlPr>
                      </m:sSubPr>
                      <m:e>
                        <m:r>
                          <a:rPr lang="en-US" altLang="zh-CN" b="0" i="1" smtClean="0">
                            <a:latin typeface="Cambria Math" panose="02040503050406030204" pitchFamily="18" charset="0"/>
                          </a:rPr>
                          <m:t>                       </m:t>
                        </m:r>
                        <m:r>
                          <m:rPr>
                            <m:sty m:val="p"/>
                          </m:rPr>
                          <a:rPr lang="en-US" altLang="zh-CN" i="1">
                            <a:latin typeface="Cambria Math" panose="02040503050406030204" pitchFamily="18" charset="0"/>
                          </a:rPr>
                          <m:t>W</m:t>
                        </m:r>
                      </m:e>
                      <m:sub>
                        <m:r>
                          <a:rPr lang="en-US" altLang="zh-CN" b="0" i="1" smtClean="0">
                            <a:latin typeface="Cambria Math" panose="02040503050406030204" pitchFamily="18" charset="0"/>
                          </a:rPr>
                          <m:t>2</m:t>
                        </m:r>
                      </m:sub>
                    </m:sSub>
                  </m:oMath>
                </a14:m>
                <a:r>
                  <a:rPr lang="en-US" altLang="zh-CN" dirty="0" smtClean="0"/>
                  <a:t>=</a:t>
                </a:r>
                <a14:m>
                  <m:oMath xmlns:m="http://schemas.openxmlformats.org/officeDocument/2006/math">
                    <m:d>
                      <m:dPr>
                        <m:begChr m:val="["/>
                        <m:endChr m:val="]"/>
                        <m:ctrlPr>
                          <a:rPr lang="en-US" altLang="zh-CN" i="1">
                            <a:latin typeface="Cambria Math" panose="02040503050406030204" pitchFamily="18" charset="0"/>
                          </a:rPr>
                        </m:ctrlPr>
                      </m:dPr>
                      <m:e>
                        <m:eqArr>
                          <m:eqArrPr>
                            <m:ctrlPr>
                              <a:rPr lang="en-US" altLang="zh-CN" i="1">
                                <a:latin typeface="Cambria Math" panose="02040503050406030204" pitchFamily="18" charset="0"/>
                              </a:rPr>
                            </m:ctrlPr>
                          </m:eqArrPr>
                          <m:e>
                            <m:r>
                              <a:rPr lang="en-US" altLang="zh-CN" i="1">
                                <a:latin typeface="Cambria Math" panose="02040503050406030204" pitchFamily="18" charset="0"/>
                              </a:rPr>
                              <m:t>0001</m:t>
                            </m:r>
                          </m:e>
                          <m:e>
                            <m:r>
                              <a:rPr lang="en-US" altLang="zh-CN" i="1">
                                <a:latin typeface="Cambria Math" panose="02040503050406030204" pitchFamily="18" charset="0"/>
                              </a:rPr>
                              <m:t>101</m:t>
                            </m:r>
                            <m:r>
                              <a:rPr lang="en-US" altLang="zh-CN" b="0" i="1" smtClean="0">
                                <a:solidFill>
                                  <a:schemeClr val="tx1"/>
                                </a:solidFill>
                                <a:latin typeface="Cambria Math" panose="02040503050406030204" pitchFamily="18" charset="0"/>
                              </a:rPr>
                              <m:t>1</m:t>
                            </m:r>
                          </m:e>
                          <m:e>
                            <m:r>
                              <a:rPr lang="en-US" altLang="zh-CN" i="1">
                                <a:latin typeface="Cambria Math" panose="02040503050406030204" pitchFamily="18" charset="0"/>
                              </a:rPr>
                              <m:t>1001</m:t>
                            </m:r>
                          </m:e>
                          <m:e>
                            <m:r>
                              <a:rPr lang="en-US" altLang="zh-CN" i="1">
                                <a:latin typeface="Cambria Math" panose="02040503050406030204" pitchFamily="18" charset="0"/>
                              </a:rPr>
                              <m:t>0010</m:t>
                            </m:r>
                          </m:e>
                        </m:eqArr>
                      </m:e>
                    </m:d>
                    <m:r>
                      <a:rPr lang="en-US" altLang="zh-CN">
                        <a:latin typeface="Cambria Math" panose="02040503050406030204" pitchFamily="18" charset="0"/>
                      </a:rPr>
                      <m:t>,</m:t>
                    </m:r>
                  </m:oMath>
                </a14:m>
                <a:endParaRPr lang="en-US" altLang="zh-CN" dirty="0" smtClean="0">
                  <a:latin typeface="Cambria Math" panose="02040503050406030204" pitchFamily="18" charset="0"/>
                </a:endParaRPr>
              </a:p>
              <a:p>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  </m:t>
                        </m:r>
                        <m:r>
                          <m:rPr>
                            <m:sty m:val="p"/>
                          </m:rPr>
                          <a:rPr lang="en-US" altLang="zh-CN" i="1">
                            <a:latin typeface="Cambria Math" panose="02040503050406030204" pitchFamily="18" charset="0"/>
                          </a:rPr>
                          <m:t>W</m:t>
                        </m:r>
                      </m:e>
                      <m:sub>
                        <m:r>
                          <a:rPr lang="en-US" altLang="zh-CN" b="0" i="1" smtClean="0">
                            <a:latin typeface="Cambria Math" panose="02040503050406030204" pitchFamily="18" charset="0"/>
                          </a:rPr>
                          <m:t>3</m:t>
                        </m:r>
                      </m:sub>
                    </m:sSub>
                  </m:oMath>
                </a14:m>
                <a:r>
                  <a:rPr lang="en-US" altLang="zh-CN" dirty="0"/>
                  <a:t>=</a:t>
                </a:r>
                <a14:m>
                  <m:oMath xmlns:m="http://schemas.openxmlformats.org/officeDocument/2006/math">
                    <m:d>
                      <m:dPr>
                        <m:begChr m:val="["/>
                        <m:endChr m:val="]"/>
                        <m:ctrlPr>
                          <a:rPr lang="en-US" altLang="zh-CN" i="1">
                            <a:latin typeface="Cambria Math" panose="02040503050406030204" pitchFamily="18" charset="0"/>
                          </a:rPr>
                        </m:ctrlPr>
                      </m:dPr>
                      <m:e>
                        <m:eqArr>
                          <m:eqArrPr>
                            <m:ctrlPr>
                              <a:rPr lang="en-US" altLang="zh-CN" i="1">
                                <a:latin typeface="Cambria Math" panose="02040503050406030204" pitchFamily="18" charset="0"/>
                              </a:rPr>
                            </m:ctrlPr>
                          </m:eqArrPr>
                          <m:e>
                            <m:r>
                              <a:rPr lang="en-US" altLang="zh-CN" i="1">
                                <a:latin typeface="Cambria Math" panose="02040503050406030204" pitchFamily="18" charset="0"/>
                              </a:rPr>
                              <m:t>0001</m:t>
                            </m:r>
                          </m:e>
                          <m:e>
                            <m:r>
                              <a:rPr lang="en-US" altLang="zh-CN" i="1">
                                <a:latin typeface="Cambria Math" panose="02040503050406030204" pitchFamily="18" charset="0"/>
                              </a:rPr>
                              <m:t>1011</m:t>
                            </m:r>
                          </m:e>
                          <m:e>
                            <m:r>
                              <a:rPr lang="en-US" altLang="zh-CN" i="1">
                                <a:latin typeface="Cambria Math" panose="02040503050406030204" pitchFamily="18" charset="0"/>
                              </a:rPr>
                              <m:t>1001</m:t>
                            </m:r>
                          </m:e>
                          <m:e>
                            <m:r>
                              <a:rPr lang="en-US" altLang="zh-CN" b="0" i="1" smtClean="0">
                                <a:solidFill>
                                  <a:srgbClr val="7030A0"/>
                                </a:solidFill>
                                <a:latin typeface="Cambria Math" panose="02040503050406030204" pitchFamily="18" charset="0"/>
                              </a:rPr>
                              <m:t>1</m:t>
                            </m:r>
                            <m:r>
                              <a:rPr lang="en-US" altLang="zh-CN" i="1">
                                <a:latin typeface="Cambria Math" panose="02040503050406030204" pitchFamily="18" charset="0"/>
                              </a:rPr>
                              <m:t>01</m:t>
                            </m:r>
                            <m:r>
                              <a:rPr lang="en-US" altLang="zh-CN" b="0" i="1" smtClean="0">
                                <a:solidFill>
                                  <a:srgbClr val="7030A0"/>
                                </a:solidFill>
                                <a:latin typeface="Cambria Math" panose="02040503050406030204" pitchFamily="18" charset="0"/>
                              </a:rPr>
                              <m:t>1</m:t>
                            </m:r>
                          </m:e>
                        </m:eqArr>
                      </m:e>
                    </m:d>
                    <m:r>
                      <a:rPr lang="en-US" altLang="zh-CN">
                        <a:latin typeface="Cambria Math" panose="02040503050406030204" pitchFamily="18" charset="0"/>
                      </a:rPr>
                      <m:t>,</m:t>
                    </m:r>
                  </m:oMath>
                </a14:m>
                <a:r>
                  <a:rPr lang="en-US" altLang="zh-CN" dirty="0"/>
                  <a:t>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  </m:t>
                        </m:r>
                        <m:r>
                          <a:rPr lang="en-US" altLang="zh-CN" b="0" i="1" smtClean="0">
                            <a:latin typeface="Cambria Math" panose="02040503050406030204" pitchFamily="18" charset="0"/>
                          </a:rPr>
                          <m:t>                    </m:t>
                        </m:r>
                        <m:r>
                          <m:rPr>
                            <m:sty m:val="p"/>
                          </m:rPr>
                          <a:rPr lang="en-US" altLang="zh-CN" i="1">
                            <a:latin typeface="Cambria Math" panose="02040503050406030204" pitchFamily="18" charset="0"/>
                          </a:rPr>
                          <m:t>W</m:t>
                        </m:r>
                      </m:e>
                      <m:sub>
                        <m:r>
                          <a:rPr lang="en-US" altLang="zh-CN" b="0" i="1" smtClean="0">
                            <a:latin typeface="Cambria Math" panose="02040503050406030204" pitchFamily="18" charset="0"/>
                          </a:rPr>
                          <m:t>4</m:t>
                        </m:r>
                      </m:sub>
                    </m:sSub>
                  </m:oMath>
                </a14:m>
                <a:r>
                  <a:rPr lang="en-US" altLang="zh-CN" dirty="0"/>
                  <a:t>=</a:t>
                </a:r>
                <a14:m>
                  <m:oMath xmlns:m="http://schemas.openxmlformats.org/officeDocument/2006/math">
                    <m:d>
                      <m:dPr>
                        <m:begChr m:val="["/>
                        <m:endChr m:val="]"/>
                        <m:ctrlPr>
                          <a:rPr lang="en-US" altLang="zh-CN" i="1">
                            <a:latin typeface="Cambria Math" panose="02040503050406030204" pitchFamily="18" charset="0"/>
                          </a:rPr>
                        </m:ctrlPr>
                      </m:dPr>
                      <m:e>
                        <m:eqArr>
                          <m:eqArrPr>
                            <m:ctrlPr>
                              <a:rPr lang="en-US" altLang="zh-CN" i="1">
                                <a:latin typeface="Cambria Math" panose="02040503050406030204" pitchFamily="18" charset="0"/>
                              </a:rPr>
                            </m:ctrlPr>
                          </m:eqArrPr>
                          <m:e>
                            <m:r>
                              <a:rPr lang="en-US" altLang="zh-CN" b="0" i="1" smtClean="0">
                                <a:solidFill>
                                  <a:srgbClr val="7030A0"/>
                                </a:solidFill>
                                <a:latin typeface="Cambria Math" panose="02040503050406030204" pitchFamily="18" charset="0"/>
                              </a:rPr>
                              <m:t>1</m:t>
                            </m:r>
                            <m:r>
                              <a:rPr lang="en-US" altLang="zh-CN" i="1">
                                <a:latin typeface="Cambria Math" panose="02040503050406030204" pitchFamily="18" charset="0"/>
                              </a:rPr>
                              <m:t>0</m:t>
                            </m:r>
                            <m:r>
                              <a:rPr lang="en-US" altLang="zh-CN" b="0" i="1" smtClean="0">
                                <a:solidFill>
                                  <a:srgbClr val="7030A0"/>
                                </a:solidFill>
                                <a:latin typeface="Cambria Math" panose="02040503050406030204" pitchFamily="18" charset="0"/>
                              </a:rPr>
                              <m:t>1</m:t>
                            </m:r>
                            <m:r>
                              <a:rPr lang="en-US" altLang="zh-CN" i="1">
                                <a:latin typeface="Cambria Math" panose="02040503050406030204" pitchFamily="18" charset="0"/>
                              </a:rPr>
                              <m:t>1</m:t>
                            </m:r>
                          </m:e>
                          <m:e>
                            <m:r>
                              <a:rPr lang="en-US" altLang="zh-CN" i="1">
                                <a:latin typeface="Cambria Math" panose="02040503050406030204" pitchFamily="18" charset="0"/>
                              </a:rPr>
                              <m:t>1011</m:t>
                            </m:r>
                          </m:e>
                          <m:e>
                            <m:r>
                              <a:rPr lang="en-US" altLang="zh-CN" i="1">
                                <a:latin typeface="Cambria Math" panose="02040503050406030204" pitchFamily="18" charset="0"/>
                              </a:rPr>
                              <m:t>10</m:t>
                            </m:r>
                            <m:r>
                              <a:rPr lang="en-US" altLang="zh-CN" b="0" i="1" smtClean="0">
                                <a:solidFill>
                                  <a:srgbClr val="7030A0"/>
                                </a:solidFill>
                                <a:latin typeface="Cambria Math" panose="02040503050406030204" pitchFamily="18" charset="0"/>
                              </a:rPr>
                              <m:t>1</m:t>
                            </m:r>
                            <m:r>
                              <a:rPr lang="en-US" altLang="zh-CN" i="1">
                                <a:latin typeface="Cambria Math" panose="02040503050406030204" pitchFamily="18" charset="0"/>
                              </a:rPr>
                              <m:t>1</m:t>
                            </m:r>
                          </m:e>
                          <m:e>
                            <m:r>
                              <a:rPr lang="en-US" altLang="zh-CN" i="1" smtClean="0">
                                <a:solidFill>
                                  <a:schemeClr val="tx1"/>
                                </a:solidFill>
                                <a:latin typeface="Cambria Math" panose="02040503050406030204" pitchFamily="18" charset="0"/>
                              </a:rPr>
                              <m:t>1</m:t>
                            </m:r>
                            <m:r>
                              <a:rPr lang="en-US" altLang="zh-CN" i="1">
                                <a:solidFill>
                                  <a:schemeClr val="tx1"/>
                                </a:solidFill>
                                <a:latin typeface="Cambria Math" panose="02040503050406030204" pitchFamily="18" charset="0"/>
                              </a:rPr>
                              <m:t>011</m:t>
                            </m:r>
                          </m:e>
                        </m:eqArr>
                      </m:e>
                    </m:d>
                    <m:r>
                      <a:rPr lang="en-US" altLang="zh-CN" b="0" i="1" smtClean="0">
                        <a:solidFill>
                          <a:schemeClr val="tx1"/>
                        </a:solidFill>
                        <a:latin typeface="Cambria Math" panose="02040503050406030204" pitchFamily="18" charset="0"/>
                      </a:rPr>
                      <m:t>(</m:t>
                    </m:r>
                    <m:r>
                      <a:rPr lang="zh-CN" altLang="en-US" i="1">
                        <a:solidFill>
                          <a:schemeClr val="tx1"/>
                        </a:solidFill>
                        <a:latin typeface="Cambria Math" panose="02040503050406030204" pitchFamily="18" charset="0"/>
                      </a:rPr>
                      <m:t>传递</m:t>
                    </m:r>
                    <m:r>
                      <a:rPr lang="zh-CN" altLang="en-US" i="1" smtClean="0">
                        <a:solidFill>
                          <a:schemeClr val="tx1"/>
                        </a:solidFill>
                        <a:latin typeface="Cambria Math" panose="02040503050406030204" pitchFamily="18" charset="0"/>
                      </a:rPr>
                      <m:t>闭包</m:t>
                    </m:r>
                    <m:r>
                      <a:rPr lang="zh-CN" altLang="en-US" i="1">
                        <a:solidFill>
                          <a:schemeClr val="tx1"/>
                        </a:solidFill>
                        <a:latin typeface="Cambria Math" panose="02040503050406030204" pitchFamily="18" charset="0"/>
                      </a:rPr>
                      <m:t>的</m:t>
                    </m:r>
                    <m:r>
                      <a:rPr lang="zh-CN" altLang="en-US" i="1" smtClean="0">
                        <a:solidFill>
                          <a:schemeClr val="tx1"/>
                        </a:solidFill>
                        <a:latin typeface="Cambria Math" panose="02040503050406030204" pitchFamily="18" charset="0"/>
                      </a:rPr>
                      <m:t>矩阵</m:t>
                    </m:r>
                    <m:r>
                      <a:rPr lang="en-US" altLang="zh-CN" b="0" i="1" smtClean="0">
                        <a:solidFill>
                          <a:schemeClr val="tx1"/>
                        </a:solidFill>
                        <a:latin typeface="Cambria Math" panose="02040503050406030204" pitchFamily="18" charset="0"/>
                      </a:rPr>
                      <m:t>)</m:t>
                    </m:r>
                    <m:r>
                      <a:rPr lang="en-US" altLang="zh-CN" b="0" i="0" smtClean="0">
                        <a:solidFill>
                          <a:schemeClr val="tx1"/>
                        </a:solidFill>
                        <a:latin typeface="Cambria Math" panose="02040503050406030204" pitchFamily="18" charset="0"/>
                      </a:rPr>
                      <m:t>.</m:t>
                    </m:r>
                  </m:oMath>
                </a14:m>
                <a:endParaRPr lang="en-US" altLang="zh-CN" dirty="0">
                  <a:solidFill>
                    <a:schemeClr val="tx1"/>
                  </a:solidFill>
                  <a:latin typeface="Cambria Math" panose="02040503050406030204" pitchFamily="18" charset="0"/>
                </a:endParaRPr>
              </a:p>
              <a:p>
                <a:pPr marL="0" indent="0">
                  <a:buNone/>
                </a:pPr>
                <a:endParaRPr lang="en-US" altLang="zh-CN" dirty="0">
                  <a:latin typeface="Cambria Math" panose="02040503050406030204" pitchFamily="18" charset="0"/>
                </a:endParaRPr>
              </a:p>
              <a:p>
                <a:pPr marL="0" indent="0">
                  <a:buNone/>
                </a:pPr>
                <a:endParaRPr lang="en-US" altLang="zh-CN" b="0" dirty="0" smtClean="0">
                  <a:latin typeface="Cambria Math" panose="02040503050406030204" pitchFamily="18" charset="0"/>
                </a:endParaRPr>
              </a:p>
              <a:p>
                <a:pPr marL="0" indent="0">
                  <a:buNone/>
                </a:pPr>
                <a:endParaRPr lang="en-US" altLang="zh-CN" dirty="0" smtClean="0"/>
              </a:p>
              <a:p>
                <a:pPr marL="0" indent="0">
                  <a:buNone/>
                </a:pPr>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595086" y="1088824"/>
                <a:ext cx="10987316" cy="5083375"/>
              </a:xfrm>
              <a:blipFill>
                <a:blip r:embed="rId2"/>
                <a:stretch>
                  <a:fillRect/>
                </a:stretch>
              </a:blipFill>
            </p:spPr>
            <p:txBody>
              <a:bodyPr/>
              <a:lstStyle/>
              <a:p>
                <a:r>
                  <a:rPr lang="zh-CN" altLang="en-US">
                    <a:noFill/>
                  </a:rPr>
                  <a:t> </a:t>
                </a:r>
              </a:p>
            </p:txBody>
          </p:sp>
        </mc:Fallback>
      </mc:AlternateContent>
      <p:sp>
        <p:nvSpPr>
          <p:cNvPr id="2" name="标题 1"/>
          <p:cNvSpPr>
            <a:spLocks noGrp="1"/>
          </p:cNvSpPr>
          <p:nvPr>
            <p:ph type="title"/>
          </p:nvPr>
        </p:nvSpPr>
        <p:spPr/>
        <p:txBody>
          <a:bodyPr/>
          <a:lstStyle/>
          <a:p>
            <a:r>
              <a:rPr lang="zh-CN" altLang="en-US" dirty="0"/>
              <a:t>沃舍尔算法</a:t>
            </a:r>
          </a:p>
        </p:txBody>
      </p:sp>
      <p:sp>
        <p:nvSpPr>
          <p:cNvPr id="4" name="日期占位符 3"/>
          <p:cNvSpPr>
            <a:spLocks noGrp="1"/>
          </p:cNvSpPr>
          <p:nvPr>
            <p:ph type="dt" sz="half" idx="10"/>
          </p:nvPr>
        </p:nvSpPr>
        <p:spPr/>
        <p:txBody>
          <a:bodyPr/>
          <a:lstStyle/>
          <a:p>
            <a:fld id="{D29DFC64-1239-411E-99E2-CE0E088446D5}" type="datetime1">
              <a:rPr lang="zh-CN" altLang="en-US" smtClean="0"/>
              <a:t>2025/3/14</a:t>
            </a:fld>
            <a:endParaRPr lang="zh-CN" altLang="en-US" dirty="0"/>
          </a:p>
        </p:txBody>
      </p:sp>
      <p:sp>
        <p:nvSpPr>
          <p:cNvPr id="5" name="页脚占位符 4"/>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6" name="灯片编号占位符 5"/>
          <p:cNvSpPr>
            <a:spLocks noGrp="1"/>
          </p:cNvSpPr>
          <p:nvPr>
            <p:ph type="sldNum" sz="quarter" idx="12"/>
          </p:nvPr>
        </p:nvSpPr>
        <p:spPr/>
        <p:txBody>
          <a:bodyPr/>
          <a:lstStyle/>
          <a:p>
            <a:fld id="{67913A8A-9EFB-4B5F-9CCB-3D21173FAA85}" type="slidenum">
              <a:rPr lang="zh-CN" altLang="en-US" smtClean="0"/>
              <a:pPr/>
              <a:t>88</a:t>
            </a:fld>
            <a:endParaRPr lang="zh-CN" altLang="en-US" dirty="0"/>
          </a:p>
        </p:txBody>
      </p:sp>
      <p:sp>
        <p:nvSpPr>
          <p:cNvPr id="13" name="矩形 12"/>
          <p:cNvSpPr/>
          <p:nvPr/>
        </p:nvSpPr>
        <p:spPr>
          <a:xfrm>
            <a:off x="5600700" y="1752600"/>
            <a:ext cx="990600" cy="45719"/>
          </a:xfrm>
          <a:prstGeom prst="rect">
            <a:avLst/>
          </a:prstGeom>
          <a:solidFill>
            <a:srgbClr val="C00000">
              <a:alpha val="50000"/>
            </a:srgbClr>
          </a:solidFill>
          <a:ln w="317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flipH="1">
            <a:off x="1935481" y="1145628"/>
            <a:ext cx="45719" cy="1600200"/>
          </a:xfrm>
          <a:prstGeom prst="rect">
            <a:avLst/>
          </a:prstGeom>
          <a:solidFill>
            <a:srgbClr val="C00000">
              <a:alpha val="50000"/>
            </a:srgbClr>
          </a:solidFill>
          <a:ln w="317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椭圆 14"/>
          <p:cNvSpPr/>
          <p:nvPr/>
        </p:nvSpPr>
        <p:spPr>
          <a:xfrm>
            <a:off x="1989184" y="2789333"/>
            <a:ext cx="228600" cy="381000"/>
          </a:xfrm>
          <a:prstGeom prst="ellips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nvSpPr>
        <p:spPr>
          <a:xfrm flipH="1">
            <a:off x="2316481" y="1219200"/>
            <a:ext cx="45719" cy="1600200"/>
          </a:xfrm>
          <a:prstGeom prst="rect">
            <a:avLst/>
          </a:prstGeom>
          <a:solidFill>
            <a:srgbClr val="C00000">
              <a:alpha val="50000"/>
            </a:srgbClr>
          </a:solidFill>
          <a:ln w="317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p:cNvSpPr/>
          <p:nvPr/>
        </p:nvSpPr>
        <p:spPr>
          <a:xfrm flipH="1">
            <a:off x="2545081" y="1219200"/>
            <a:ext cx="45719" cy="1600200"/>
          </a:xfrm>
          <a:prstGeom prst="rect">
            <a:avLst/>
          </a:prstGeom>
          <a:solidFill>
            <a:srgbClr val="C00000">
              <a:alpha val="50000"/>
            </a:srgbClr>
          </a:solidFill>
          <a:ln w="317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flipH="1">
            <a:off x="5791200" y="1139052"/>
            <a:ext cx="45719" cy="1600200"/>
          </a:xfrm>
          <a:prstGeom prst="rect">
            <a:avLst/>
          </a:prstGeom>
          <a:solidFill>
            <a:srgbClr val="C00000">
              <a:alpha val="50000"/>
            </a:srgbClr>
          </a:solidFill>
          <a:ln w="317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p:cNvSpPr/>
          <p:nvPr/>
        </p:nvSpPr>
        <p:spPr>
          <a:xfrm flipH="1">
            <a:off x="6355081" y="1219200"/>
            <a:ext cx="45719" cy="1600200"/>
          </a:xfrm>
          <a:prstGeom prst="rect">
            <a:avLst/>
          </a:prstGeom>
          <a:solidFill>
            <a:srgbClr val="C00000">
              <a:alpha val="50000"/>
            </a:srgbClr>
          </a:solidFill>
          <a:ln w="317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5638800" y="2545081"/>
            <a:ext cx="990600" cy="45719"/>
          </a:xfrm>
          <a:prstGeom prst="rect">
            <a:avLst/>
          </a:prstGeom>
          <a:solidFill>
            <a:srgbClr val="C00000">
              <a:alpha val="50000"/>
            </a:srgbClr>
          </a:solidFill>
          <a:ln w="317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椭圆 20"/>
          <p:cNvSpPr/>
          <p:nvPr/>
        </p:nvSpPr>
        <p:spPr>
          <a:xfrm>
            <a:off x="5676900" y="2364828"/>
            <a:ext cx="228600" cy="381000"/>
          </a:xfrm>
          <a:prstGeom prst="ellips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椭圆 21"/>
          <p:cNvSpPr/>
          <p:nvPr/>
        </p:nvSpPr>
        <p:spPr>
          <a:xfrm>
            <a:off x="6263640" y="2350370"/>
            <a:ext cx="228600" cy="381000"/>
          </a:xfrm>
          <a:prstGeom prst="ellips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p:cNvSpPr/>
          <p:nvPr/>
        </p:nvSpPr>
        <p:spPr>
          <a:xfrm flipH="1">
            <a:off x="2103484" y="2830411"/>
            <a:ext cx="45719" cy="1600200"/>
          </a:xfrm>
          <a:prstGeom prst="rect">
            <a:avLst/>
          </a:prstGeom>
          <a:solidFill>
            <a:srgbClr val="C00000">
              <a:alpha val="50000"/>
            </a:srgbClr>
          </a:solidFill>
          <a:ln w="317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23"/>
          <p:cNvSpPr/>
          <p:nvPr/>
        </p:nvSpPr>
        <p:spPr>
          <a:xfrm flipH="1">
            <a:off x="2499362" y="2881533"/>
            <a:ext cx="45719" cy="1600200"/>
          </a:xfrm>
          <a:prstGeom prst="rect">
            <a:avLst/>
          </a:prstGeom>
          <a:solidFill>
            <a:srgbClr val="C00000">
              <a:alpha val="50000"/>
            </a:srgbClr>
          </a:solidFill>
          <a:ln w="317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24"/>
          <p:cNvSpPr/>
          <p:nvPr/>
        </p:nvSpPr>
        <p:spPr>
          <a:xfrm flipH="1">
            <a:off x="2682603" y="2836051"/>
            <a:ext cx="45719" cy="1600200"/>
          </a:xfrm>
          <a:prstGeom prst="rect">
            <a:avLst/>
          </a:prstGeom>
          <a:solidFill>
            <a:srgbClr val="C00000">
              <a:alpha val="50000"/>
            </a:srgbClr>
          </a:solidFill>
          <a:ln w="317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25"/>
          <p:cNvSpPr/>
          <p:nvPr/>
        </p:nvSpPr>
        <p:spPr>
          <a:xfrm>
            <a:off x="1923656" y="2980704"/>
            <a:ext cx="990600" cy="45719"/>
          </a:xfrm>
          <a:prstGeom prst="rect">
            <a:avLst/>
          </a:prstGeom>
          <a:solidFill>
            <a:srgbClr val="C00000">
              <a:alpha val="50000"/>
            </a:srgbClr>
          </a:solidFill>
          <a:ln w="317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矩形 26"/>
          <p:cNvSpPr/>
          <p:nvPr/>
        </p:nvSpPr>
        <p:spPr>
          <a:xfrm>
            <a:off x="1866900" y="3452915"/>
            <a:ext cx="990600" cy="45719"/>
          </a:xfrm>
          <a:prstGeom prst="rect">
            <a:avLst/>
          </a:prstGeom>
          <a:solidFill>
            <a:srgbClr val="C00000">
              <a:alpha val="50000"/>
            </a:srgbClr>
          </a:solidFill>
          <a:ln w="317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矩形 27"/>
          <p:cNvSpPr/>
          <p:nvPr/>
        </p:nvSpPr>
        <p:spPr>
          <a:xfrm>
            <a:off x="1923656" y="3851808"/>
            <a:ext cx="990600" cy="45719"/>
          </a:xfrm>
          <a:prstGeom prst="rect">
            <a:avLst/>
          </a:prstGeom>
          <a:solidFill>
            <a:srgbClr val="C00000">
              <a:alpha val="50000"/>
            </a:srgbClr>
          </a:solidFill>
          <a:ln w="317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矩形 28"/>
          <p:cNvSpPr/>
          <p:nvPr/>
        </p:nvSpPr>
        <p:spPr>
          <a:xfrm>
            <a:off x="1844040" y="4275288"/>
            <a:ext cx="990600" cy="45719"/>
          </a:xfrm>
          <a:prstGeom prst="rect">
            <a:avLst/>
          </a:prstGeom>
          <a:solidFill>
            <a:srgbClr val="C00000">
              <a:alpha val="50000"/>
            </a:srgbClr>
          </a:solidFill>
          <a:ln w="317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椭圆 29"/>
          <p:cNvSpPr/>
          <p:nvPr/>
        </p:nvSpPr>
        <p:spPr>
          <a:xfrm>
            <a:off x="2401916" y="2826727"/>
            <a:ext cx="228600" cy="381000"/>
          </a:xfrm>
          <a:prstGeom prst="ellips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椭圆 30"/>
          <p:cNvSpPr/>
          <p:nvPr/>
        </p:nvSpPr>
        <p:spPr>
          <a:xfrm>
            <a:off x="2401916" y="3672594"/>
            <a:ext cx="228600" cy="381000"/>
          </a:xfrm>
          <a:prstGeom prst="ellips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647873211"/>
      </p:ext>
    </p:extLst>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第</a:t>
            </a:r>
            <a:r>
              <a:rPr lang="en-US" altLang="zh-CN" dirty="0"/>
              <a:t>2.5</a:t>
            </a:r>
            <a:r>
              <a:rPr lang="zh-CN" altLang="en-US" dirty="0" smtClean="0"/>
              <a:t>节 等价关系</a:t>
            </a:r>
            <a:endParaRPr lang="en-US" dirty="0"/>
          </a:p>
        </p:txBody>
      </p:sp>
      <p:sp>
        <p:nvSpPr>
          <p:cNvPr id="3" name="Content Placeholder 2"/>
          <p:cNvSpPr>
            <a:spLocks noGrp="1"/>
          </p:cNvSpPr>
          <p:nvPr>
            <p:ph idx="1"/>
          </p:nvPr>
        </p:nvSpPr>
        <p:spPr/>
        <p:txBody>
          <a:bodyPr/>
          <a:lstStyle/>
          <a:p>
            <a:r>
              <a:rPr lang="zh-CN" altLang="en-US" dirty="0" smtClean="0"/>
              <a:t>等价关系</a:t>
            </a:r>
            <a:endParaRPr lang="en-US" altLang="zh-CN" dirty="0" smtClean="0"/>
          </a:p>
          <a:p>
            <a:r>
              <a:rPr lang="zh-CN" altLang="en-US" dirty="0" smtClean="0"/>
              <a:t>等价类</a:t>
            </a:r>
            <a:endParaRPr lang="en-US" altLang="zh-CN" dirty="0" smtClean="0"/>
          </a:p>
          <a:p>
            <a:r>
              <a:rPr lang="zh-CN" altLang="en-US" dirty="0" smtClean="0"/>
              <a:t>等价类与划分</a:t>
            </a:r>
            <a:endParaRPr lang="en-US" altLang="zh-CN" dirty="0" smtClean="0"/>
          </a:p>
        </p:txBody>
      </p:sp>
      <p:sp>
        <p:nvSpPr>
          <p:cNvPr id="6" name="日期占位符 5"/>
          <p:cNvSpPr>
            <a:spLocks noGrp="1"/>
          </p:cNvSpPr>
          <p:nvPr>
            <p:ph type="dt" sz="half" idx="10"/>
          </p:nvPr>
        </p:nvSpPr>
        <p:spPr/>
        <p:txBody>
          <a:bodyPr/>
          <a:lstStyle/>
          <a:p>
            <a:fld id="{5DAFDF12-D87B-4E31-B61C-806E440CE001}" type="datetime1">
              <a:rPr lang="zh-CN" altLang="en-US" smtClean="0"/>
              <a:t>2025/3/14</a:t>
            </a:fld>
            <a:endParaRPr lang="zh-CN" altLang="en-US" dirty="0"/>
          </a:p>
        </p:txBody>
      </p:sp>
      <p:sp>
        <p:nvSpPr>
          <p:cNvPr id="7" name="页脚占位符 6"/>
          <p:cNvSpPr>
            <a:spLocks noGrp="1"/>
          </p:cNvSpPr>
          <p:nvPr>
            <p:ph type="ftr" sz="quarter" idx="11"/>
          </p:nvPr>
        </p:nvSpPr>
        <p:spPr/>
        <p:txBody>
          <a:bodyPr/>
          <a:lstStyle/>
          <a:p>
            <a:pPr algn="r"/>
            <a:r>
              <a:rPr lang="zh-CN" altLang="en-US" smtClean="0"/>
              <a:t>华中科技大学</a:t>
            </a:r>
            <a:r>
              <a:rPr lang="en-US" altLang="zh-CN" smtClean="0"/>
              <a:t>NNSS</a:t>
            </a:r>
            <a:r>
              <a:rPr lang="zh-CN" altLang="en-US" smtClean="0"/>
              <a:t>实验室</a:t>
            </a:r>
            <a:endParaRPr lang="zh-CN" altLang="en-US" dirty="0"/>
          </a:p>
        </p:txBody>
      </p:sp>
      <p:sp>
        <p:nvSpPr>
          <p:cNvPr id="8" name="灯片编号占位符 7"/>
          <p:cNvSpPr>
            <a:spLocks noGrp="1"/>
          </p:cNvSpPr>
          <p:nvPr>
            <p:ph type="sldNum" sz="quarter" idx="12"/>
          </p:nvPr>
        </p:nvSpPr>
        <p:spPr/>
        <p:txBody>
          <a:bodyPr/>
          <a:lstStyle/>
          <a:p>
            <a:fld id="{67913A8A-9EFB-4B5F-9CCB-3D21173FAA85}" type="slidenum">
              <a:rPr lang="zh-CN" altLang="en-US" smtClean="0"/>
              <a:pPr/>
              <a:t>89</a:t>
            </a:fld>
            <a:endParaRPr lang="zh-CN" altLang="en-US" dirty="0"/>
          </a:p>
        </p:txBody>
      </p:sp>
    </p:spTree>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457200" y="2506564"/>
            <a:ext cx="11277599" cy="1532036"/>
          </a:xfrm>
          <a:prstGeom prst="rect">
            <a:avLst/>
          </a:prstGeom>
          <a:solidFill>
            <a:schemeClr val="accent5">
              <a:lumMod val="40000"/>
              <a:lumOff val="6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457200" y="1143000"/>
            <a:ext cx="11277599" cy="914400"/>
          </a:xfrm>
          <a:prstGeom prst="rect">
            <a:avLst/>
          </a:prstGeom>
          <a:solidFill>
            <a:schemeClr val="accent5">
              <a:lumMod val="40000"/>
              <a:lumOff val="6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itle 1"/>
          <p:cNvSpPr>
            <a:spLocks noGrp="1"/>
          </p:cNvSpPr>
          <p:nvPr>
            <p:ph type="title"/>
          </p:nvPr>
        </p:nvSpPr>
        <p:spPr/>
        <p:txBody>
          <a:bodyPr/>
          <a:lstStyle/>
          <a:p>
            <a:r>
              <a:rPr lang="zh-CN" altLang="en-US" dirty="0" smtClean="0"/>
              <a:t>等价关系</a:t>
            </a:r>
            <a:endParaRPr lang="en-US" dirty="0"/>
          </a:p>
        </p:txBody>
      </p:sp>
      <p:sp>
        <p:nvSpPr>
          <p:cNvPr id="3" name="Content Placeholder 2"/>
          <p:cNvSpPr>
            <a:spLocks noGrp="1"/>
          </p:cNvSpPr>
          <p:nvPr>
            <p:ph idx="1"/>
          </p:nvPr>
        </p:nvSpPr>
        <p:spPr/>
        <p:txBody>
          <a:bodyPr/>
          <a:lstStyle/>
          <a:p>
            <a:r>
              <a:rPr lang="zh-CN" altLang="en-US" dirty="0" smtClean="0"/>
              <a:t>定义</a:t>
            </a:r>
            <a:r>
              <a:rPr lang="en-US" dirty="0" smtClean="0"/>
              <a:t>: </a:t>
            </a:r>
            <a:r>
              <a:rPr lang="zh-CN" altLang="en-US" dirty="0" smtClean="0"/>
              <a:t>在集合</a:t>
            </a:r>
            <a:r>
              <a:rPr lang="en-US" dirty="0" smtClean="0"/>
              <a:t>A</a:t>
            </a:r>
            <a:r>
              <a:rPr lang="zh-CN" altLang="en-US" dirty="0" smtClean="0"/>
              <a:t>上的关系叫做</a:t>
            </a:r>
            <a:r>
              <a:rPr lang="zh-CN" altLang="en-US" b="1" dirty="0" smtClean="0">
                <a:solidFill>
                  <a:srgbClr val="C00000"/>
                </a:solidFill>
              </a:rPr>
              <a:t>等价关系</a:t>
            </a:r>
            <a:r>
              <a:rPr lang="en-US" altLang="zh-CN" dirty="0" smtClean="0"/>
              <a:t>, </a:t>
            </a:r>
            <a:r>
              <a:rPr lang="zh-CN" altLang="en-US" dirty="0" smtClean="0"/>
              <a:t>如果它是</a:t>
            </a:r>
            <a:r>
              <a:rPr lang="zh-CN" altLang="en-US" b="1" dirty="0" smtClean="0"/>
              <a:t>自反的</a:t>
            </a:r>
            <a:r>
              <a:rPr lang="zh-CN" altLang="en-US" dirty="0" smtClean="0"/>
              <a:t>、</a:t>
            </a:r>
            <a:r>
              <a:rPr lang="zh-CN" altLang="en-US" b="1" dirty="0" smtClean="0"/>
              <a:t>对称的</a:t>
            </a:r>
            <a:r>
              <a:rPr lang="zh-CN" altLang="en-US" dirty="0" smtClean="0"/>
              <a:t>和</a:t>
            </a:r>
            <a:r>
              <a:rPr lang="zh-CN" altLang="en-US" b="1" dirty="0" smtClean="0"/>
              <a:t>传递的</a:t>
            </a:r>
            <a:r>
              <a:rPr lang="en-US" dirty="0" smtClean="0"/>
              <a:t>. </a:t>
            </a:r>
          </a:p>
          <a:p>
            <a:endParaRPr lang="en-US" dirty="0" smtClean="0"/>
          </a:p>
          <a:p>
            <a:r>
              <a:rPr lang="zh-CN" altLang="en-US" dirty="0" smtClean="0"/>
              <a:t>定义</a:t>
            </a:r>
            <a:r>
              <a:rPr lang="en-US" dirty="0" smtClean="0"/>
              <a:t>: </a:t>
            </a:r>
            <a:r>
              <a:rPr lang="zh-CN" altLang="en-US" dirty="0" smtClean="0"/>
              <a:t>如果两个元素</a:t>
            </a:r>
            <a:r>
              <a:rPr lang="en-US" dirty="0" smtClean="0"/>
              <a:t>a</a:t>
            </a:r>
            <a:r>
              <a:rPr lang="zh-CN" altLang="en-US" dirty="0" smtClean="0"/>
              <a:t>和</a:t>
            </a:r>
            <a:r>
              <a:rPr lang="en-US" dirty="0" smtClean="0"/>
              <a:t>b</a:t>
            </a:r>
            <a:r>
              <a:rPr lang="zh-CN" altLang="en-US" dirty="0" smtClean="0"/>
              <a:t>由于等价关系而相关联</a:t>
            </a:r>
            <a:r>
              <a:rPr lang="en-US" altLang="zh-CN" dirty="0" smtClean="0"/>
              <a:t>, </a:t>
            </a:r>
            <a:r>
              <a:rPr lang="zh-CN" altLang="en-US" dirty="0" smtClean="0"/>
              <a:t>则称它们是等价的</a:t>
            </a:r>
            <a:r>
              <a:rPr lang="en-US" altLang="zh-CN" dirty="0" smtClean="0"/>
              <a:t>. </a:t>
            </a:r>
            <a:r>
              <a:rPr lang="zh-CN" altLang="en-US" dirty="0" smtClean="0"/>
              <a:t>记法</a:t>
            </a:r>
            <a:r>
              <a:rPr lang="en-US" altLang="zh-CN" dirty="0" smtClean="0"/>
              <a:t>a </a:t>
            </a:r>
            <a:r>
              <a:rPr lang="en-US" altLang="zh-CN" dirty="0"/>
              <a:t>∼ </a:t>
            </a:r>
            <a:r>
              <a:rPr lang="en-US" altLang="zh-CN" dirty="0" smtClean="0"/>
              <a:t>b</a:t>
            </a:r>
            <a:r>
              <a:rPr lang="zh-CN" altLang="en-US" dirty="0" smtClean="0"/>
              <a:t>通常用来表示对于某个特定的等价关系来说</a:t>
            </a:r>
            <a:r>
              <a:rPr lang="en-US" altLang="zh-CN" dirty="0" smtClean="0"/>
              <a:t>, a</a:t>
            </a:r>
            <a:r>
              <a:rPr lang="zh-CN" altLang="en-US" dirty="0" smtClean="0"/>
              <a:t>和</a:t>
            </a:r>
            <a:r>
              <a:rPr lang="en-US" altLang="zh-CN" dirty="0" smtClean="0"/>
              <a:t>b</a:t>
            </a:r>
            <a:r>
              <a:rPr lang="zh-CN" altLang="en-US" dirty="0" smtClean="0"/>
              <a:t>是等价的元素</a:t>
            </a:r>
            <a:r>
              <a:rPr lang="en-US" altLang="zh-CN" dirty="0" smtClean="0"/>
              <a:t>. </a:t>
            </a:r>
            <a:endParaRPr lang="en-US" dirty="0"/>
          </a:p>
        </p:txBody>
      </p:sp>
      <p:sp>
        <p:nvSpPr>
          <p:cNvPr id="6" name="日期占位符 5"/>
          <p:cNvSpPr>
            <a:spLocks noGrp="1"/>
          </p:cNvSpPr>
          <p:nvPr>
            <p:ph type="dt" sz="half" idx="10"/>
          </p:nvPr>
        </p:nvSpPr>
        <p:spPr/>
        <p:txBody>
          <a:bodyPr/>
          <a:lstStyle/>
          <a:p>
            <a:fld id="{BCD83E7E-846A-4C0C-B9B9-E173959A22C0}" type="datetime1">
              <a:rPr lang="zh-CN" altLang="en-US" smtClean="0"/>
              <a:t>2025/3/14</a:t>
            </a:fld>
            <a:endParaRPr lang="zh-CN" altLang="en-US" dirty="0"/>
          </a:p>
        </p:txBody>
      </p:sp>
      <p:sp>
        <p:nvSpPr>
          <p:cNvPr id="7" name="页脚占位符 6"/>
          <p:cNvSpPr>
            <a:spLocks noGrp="1"/>
          </p:cNvSpPr>
          <p:nvPr>
            <p:ph type="ftr" sz="quarter" idx="11"/>
          </p:nvPr>
        </p:nvSpPr>
        <p:spPr/>
        <p:txBody>
          <a:bodyPr/>
          <a:lstStyle/>
          <a:p>
            <a:pPr algn="r"/>
            <a:r>
              <a:rPr lang="zh-CN" altLang="en-US" smtClean="0"/>
              <a:t>华中科技大学</a:t>
            </a:r>
            <a:r>
              <a:rPr lang="en-US" altLang="zh-CN" smtClean="0"/>
              <a:t>NNSS</a:t>
            </a:r>
            <a:r>
              <a:rPr lang="zh-CN" altLang="en-US" smtClean="0"/>
              <a:t>实验室</a:t>
            </a:r>
            <a:endParaRPr lang="zh-CN" altLang="en-US" dirty="0"/>
          </a:p>
        </p:txBody>
      </p:sp>
      <p:sp>
        <p:nvSpPr>
          <p:cNvPr id="8" name="灯片编号占位符 7"/>
          <p:cNvSpPr>
            <a:spLocks noGrp="1"/>
          </p:cNvSpPr>
          <p:nvPr>
            <p:ph type="sldNum" sz="quarter" idx="12"/>
          </p:nvPr>
        </p:nvSpPr>
        <p:spPr/>
        <p:txBody>
          <a:bodyPr/>
          <a:lstStyle/>
          <a:p>
            <a:fld id="{67913A8A-9EFB-4B5F-9CCB-3D21173FAA85}" type="slidenum">
              <a:rPr lang="zh-CN" altLang="en-US" smtClean="0"/>
              <a:pPr/>
              <a:t>90</a:t>
            </a:fld>
            <a:endParaRPr lang="zh-CN" altLang="en-US" dirty="0"/>
          </a:p>
        </p:txBody>
      </p:sp>
    </p:spTree>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等价关系</a:t>
            </a:r>
            <a:endParaRPr lang="en-US" dirty="0"/>
          </a:p>
        </p:txBody>
      </p:sp>
      <p:sp>
        <p:nvSpPr>
          <p:cNvPr id="3" name="Content Placeholder 2"/>
          <p:cNvSpPr>
            <a:spLocks noGrp="1"/>
          </p:cNvSpPr>
          <p:nvPr>
            <p:ph idx="1"/>
          </p:nvPr>
        </p:nvSpPr>
        <p:spPr/>
        <p:txBody>
          <a:bodyPr>
            <a:normAutofit/>
          </a:bodyPr>
          <a:lstStyle/>
          <a:p>
            <a:r>
              <a:rPr lang="zh-CN" altLang="en-US" dirty="0" smtClean="0"/>
              <a:t>例</a:t>
            </a:r>
            <a:r>
              <a:rPr lang="en-US" dirty="0" smtClean="0"/>
              <a:t>: </a:t>
            </a:r>
            <a:r>
              <a:rPr lang="zh-CN" altLang="en-US" dirty="0" smtClean="0"/>
              <a:t>如果关系</a:t>
            </a:r>
            <a:r>
              <a:rPr lang="en-US" altLang="zh-CN" dirty="0" smtClean="0"/>
              <a:t>R</a:t>
            </a:r>
            <a:r>
              <a:rPr lang="zh-CN" altLang="en-US" dirty="0" smtClean="0"/>
              <a:t>满足</a:t>
            </a:r>
            <a:r>
              <a:rPr lang="en-US" dirty="0" err="1" smtClean="0"/>
              <a:t>aRb</a:t>
            </a:r>
            <a:r>
              <a:rPr lang="en-US" dirty="0" smtClean="0"/>
              <a:t>, </a:t>
            </a:r>
            <a:r>
              <a:rPr lang="zh-CN" altLang="en-US" dirty="0" smtClean="0"/>
              <a:t>当且仅当</a:t>
            </a:r>
            <a:r>
              <a:rPr lang="en-US" dirty="0" smtClean="0"/>
              <a:t>l(a)= l(b), </a:t>
            </a:r>
            <a:r>
              <a:rPr lang="zh-CN" altLang="en-US" dirty="0" smtClean="0"/>
              <a:t>其中</a:t>
            </a:r>
            <a:r>
              <a:rPr lang="en-US" dirty="0" smtClean="0"/>
              <a:t>l(x)</a:t>
            </a:r>
            <a:r>
              <a:rPr lang="zh-CN" altLang="en-US" dirty="0" smtClean="0"/>
              <a:t>表示串</a:t>
            </a:r>
            <a:r>
              <a:rPr lang="en-US" altLang="zh-CN" dirty="0" smtClean="0"/>
              <a:t>x</a:t>
            </a:r>
            <a:r>
              <a:rPr lang="zh-CN" altLang="en-US" dirty="0" smtClean="0"/>
              <a:t>的长度</a:t>
            </a:r>
            <a:r>
              <a:rPr lang="en-US" dirty="0" smtClean="0"/>
              <a:t>. </a:t>
            </a:r>
            <a:r>
              <a:rPr lang="en-US" altLang="zh-CN" dirty="0" smtClean="0"/>
              <a:t>R</a:t>
            </a:r>
            <a:r>
              <a:rPr lang="zh-CN" altLang="en-US" dirty="0" smtClean="0"/>
              <a:t>是等价关系么？</a:t>
            </a:r>
            <a:endParaRPr lang="en-US" dirty="0" smtClean="0"/>
          </a:p>
          <a:p>
            <a:r>
              <a:rPr lang="zh-CN" altLang="en-US" dirty="0" smtClean="0"/>
              <a:t>解</a:t>
            </a:r>
            <a:r>
              <a:rPr lang="en-US" dirty="0" smtClean="0"/>
              <a:t>: </a:t>
            </a:r>
            <a:r>
              <a:rPr lang="zh-CN" altLang="en-US" dirty="0" smtClean="0"/>
              <a:t>为了证明</a:t>
            </a:r>
            <a:r>
              <a:rPr lang="en-US" altLang="zh-CN" dirty="0" smtClean="0"/>
              <a:t>R</a:t>
            </a:r>
            <a:r>
              <a:rPr lang="zh-CN" altLang="en-US" dirty="0" smtClean="0"/>
              <a:t>是否是等价关系</a:t>
            </a:r>
            <a:r>
              <a:rPr lang="en-US" altLang="zh-CN" dirty="0" smtClean="0"/>
              <a:t>, </a:t>
            </a:r>
            <a:r>
              <a:rPr lang="zh-CN" altLang="en-US" dirty="0" smtClean="0"/>
              <a:t>我们需要验证以下方面</a:t>
            </a:r>
            <a:r>
              <a:rPr lang="en-US" dirty="0" smtClean="0"/>
              <a:t>.</a:t>
            </a:r>
          </a:p>
          <a:p>
            <a:pPr lvl="1"/>
            <a:r>
              <a:rPr lang="zh-CN" altLang="en-US" dirty="0" smtClean="0"/>
              <a:t>自反性</a:t>
            </a:r>
            <a:r>
              <a:rPr lang="en-US" dirty="0" smtClean="0"/>
              <a:t>: </a:t>
            </a:r>
            <a:r>
              <a:rPr lang="zh-CN" altLang="en-US" dirty="0" smtClean="0"/>
              <a:t>因为</a:t>
            </a:r>
            <a:r>
              <a:rPr lang="en-US" dirty="0" smtClean="0"/>
              <a:t>l(a) = l(a), </a:t>
            </a:r>
            <a:r>
              <a:rPr lang="en-US" altLang="zh-CN" dirty="0" smtClean="0"/>
              <a:t>R</a:t>
            </a:r>
            <a:r>
              <a:rPr lang="zh-CN" altLang="en-US" dirty="0" smtClean="0"/>
              <a:t>是自反的</a:t>
            </a:r>
            <a:r>
              <a:rPr lang="en-US" dirty="0" smtClean="0"/>
              <a:t>. </a:t>
            </a:r>
          </a:p>
          <a:p>
            <a:pPr lvl="1"/>
            <a:r>
              <a:rPr lang="zh-CN" altLang="en-US" dirty="0" smtClean="0"/>
              <a:t>对称性</a:t>
            </a:r>
            <a:r>
              <a:rPr lang="en-US" dirty="0" smtClean="0"/>
              <a:t>: </a:t>
            </a:r>
            <a:r>
              <a:rPr lang="zh-CN" altLang="en-US" dirty="0" smtClean="0"/>
              <a:t>因为</a:t>
            </a:r>
            <a:r>
              <a:rPr lang="en-US" dirty="0" smtClean="0"/>
              <a:t>l(a) = l(b), </a:t>
            </a:r>
            <a:r>
              <a:rPr lang="zh-CN" altLang="en-US" dirty="0" smtClean="0"/>
              <a:t>同时</a:t>
            </a:r>
            <a:r>
              <a:rPr lang="en-US" dirty="0" smtClean="0"/>
              <a:t>l(b) = l(a)</a:t>
            </a:r>
            <a:r>
              <a:rPr lang="zh-CN" altLang="en-US" dirty="0" smtClean="0"/>
              <a:t>也满足</a:t>
            </a:r>
            <a:r>
              <a:rPr lang="en-US" altLang="zh-CN" dirty="0" smtClean="0"/>
              <a:t>, </a:t>
            </a:r>
            <a:r>
              <a:rPr lang="zh-CN" altLang="en-US" dirty="0" smtClean="0"/>
              <a:t>所以</a:t>
            </a:r>
            <a:r>
              <a:rPr lang="en-US" altLang="zh-CN" dirty="0" smtClean="0"/>
              <a:t>R</a:t>
            </a:r>
            <a:r>
              <a:rPr lang="zh-CN" altLang="en-US" dirty="0" smtClean="0"/>
              <a:t>是对称的</a:t>
            </a:r>
            <a:r>
              <a:rPr lang="en-US" dirty="0" smtClean="0"/>
              <a:t>. </a:t>
            </a:r>
          </a:p>
          <a:p>
            <a:pPr lvl="1"/>
            <a:r>
              <a:rPr lang="zh-CN" altLang="en-US" dirty="0" smtClean="0"/>
              <a:t>传递性</a:t>
            </a:r>
            <a:r>
              <a:rPr lang="en-US" dirty="0" smtClean="0"/>
              <a:t>: </a:t>
            </a:r>
            <a:r>
              <a:rPr lang="en-US" altLang="zh-CN" dirty="0" smtClean="0"/>
              <a:t>R</a:t>
            </a:r>
            <a:r>
              <a:rPr lang="zh-CN" altLang="en-US" dirty="0" smtClean="0"/>
              <a:t>满足</a:t>
            </a:r>
            <a:r>
              <a:rPr lang="en-US" dirty="0" smtClean="0"/>
              <a:t> </a:t>
            </a:r>
            <a:r>
              <a:rPr lang="en-US" dirty="0" err="1" smtClean="0"/>
              <a:t>aRb</a:t>
            </a:r>
            <a:r>
              <a:rPr lang="en-US" altLang="zh-CN" dirty="0" smtClean="0"/>
              <a:t>, </a:t>
            </a:r>
            <a:r>
              <a:rPr lang="en-US" dirty="0" err="1" smtClean="0"/>
              <a:t>bRc</a:t>
            </a:r>
            <a:r>
              <a:rPr lang="en-US" dirty="0" smtClean="0"/>
              <a:t>. </a:t>
            </a:r>
            <a:r>
              <a:rPr lang="zh-CN" altLang="en-US" dirty="0" smtClean="0"/>
              <a:t>因为</a:t>
            </a:r>
            <a:r>
              <a:rPr lang="en-US" dirty="0" smtClean="0"/>
              <a:t>l(a) = l(b), l(b) = l(c), l(a) = l(</a:t>
            </a:r>
            <a:r>
              <a:rPr lang="en-US" altLang="zh-CN" dirty="0" smtClean="0"/>
              <a:t>c</a:t>
            </a:r>
            <a:r>
              <a:rPr lang="en-US" dirty="0" smtClean="0"/>
              <a:t>)</a:t>
            </a:r>
            <a:r>
              <a:rPr lang="en-US" altLang="zh-CN" dirty="0" smtClean="0"/>
              <a:t>, </a:t>
            </a:r>
            <a:r>
              <a:rPr lang="zh-CN" altLang="en-US" dirty="0" smtClean="0"/>
              <a:t>所以</a:t>
            </a:r>
            <a:r>
              <a:rPr lang="en-US" altLang="zh-CN" dirty="0" smtClean="0"/>
              <a:t>R</a:t>
            </a:r>
            <a:r>
              <a:rPr lang="zh-CN" altLang="en-US" dirty="0"/>
              <a:t>中</a:t>
            </a:r>
            <a:r>
              <a:rPr lang="en-US" dirty="0" err="1" smtClean="0"/>
              <a:t>aRc</a:t>
            </a:r>
            <a:r>
              <a:rPr lang="zh-CN" altLang="en-US" dirty="0" smtClean="0"/>
              <a:t>也满足</a:t>
            </a:r>
            <a:r>
              <a:rPr lang="en-US" altLang="zh-CN" dirty="0" smtClean="0"/>
              <a:t>, R</a:t>
            </a:r>
            <a:r>
              <a:rPr lang="zh-CN" altLang="en-US" dirty="0" smtClean="0"/>
              <a:t>是传递的</a:t>
            </a:r>
            <a:r>
              <a:rPr lang="en-US" dirty="0" smtClean="0"/>
              <a:t>.</a:t>
            </a:r>
          </a:p>
          <a:p>
            <a:pPr lvl="1"/>
            <a:r>
              <a:rPr lang="zh-CN" altLang="en-US" dirty="0" smtClean="0"/>
              <a:t>综上所述</a:t>
            </a:r>
            <a:r>
              <a:rPr lang="en-US" altLang="zh-CN" dirty="0" smtClean="0"/>
              <a:t>, R</a:t>
            </a:r>
            <a:r>
              <a:rPr lang="zh-CN" altLang="en-US" dirty="0" smtClean="0"/>
              <a:t>是等价关系</a:t>
            </a:r>
            <a:r>
              <a:rPr lang="en-US" altLang="zh-CN" dirty="0" smtClean="0"/>
              <a:t>.</a:t>
            </a:r>
            <a:r>
              <a:rPr lang="en-US" dirty="0" smtClean="0"/>
              <a:t> </a:t>
            </a:r>
          </a:p>
        </p:txBody>
      </p:sp>
      <p:sp>
        <p:nvSpPr>
          <p:cNvPr id="6" name="日期占位符 5"/>
          <p:cNvSpPr>
            <a:spLocks noGrp="1"/>
          </p:cNvSpPr>
          <p:nvPr>
            <p:ph type="dt" sz="half" idx="10"/>
          </p:nvPr>
        </p:nvSpPr>
        <p:spPr/>
        <p:txBody>
          <a:bodyPr/>
          <a:lstStyle/>
          <a:p>
            <a:fld id="{2F85D778-B322-42B9-BC5E-1FC95BC3F6AC}" type="datetime1">
              <a:rPr lang="zh-CN" altLang="en-US" smtClean="0"/>
              <a:t>2025/3/14</a:t>
            </a:fld>
            <a:endParaRPr lang="zh-CN" altLang="en-US" dirty="0"/>
          </a:p>
        </p:txBody>
      </p:sp>
      <p:sp>
        <p:nvSpPr>
          <p:cNvPr id="7" name="页脚占位符 6"/>
          <p:cNvSpPr>
            <a:spLocks noGrp="1"/>
          </p:cNvSpPr>
          <p:nvPr>
            <p:ph type="ftr" sz="quarter" idx="11"/>
          </p:nvPr>
        </p:nvSpPr>
        <p:spPr/>
        <p:txBody>
          <a:bodyPr/>
          <a:lstStyle/>
          <a:p>
            <a:pPr algn="r"/>
            <a:r>
              <a:rPr lang="zh-CN" altLang="en-US" smtClean="0"/>
              <a:t>华中科技大学</a:t>
            </a:r>
            <a:r>
              <a:rPr lang="en-US" altLang="zh-CN" smtClean="0"/>
              <a:t>NNSS</a:t>
            </a:r>
            <a:r>
              <a:rPr lang="zh-CN" altLang="en-US" smtClean="0"/>
              <a:t>实验室</a:t>
            </a:r>
            <a:endParaRPr lang="zh-CN" altLang="en-US" dirty="0"/>
          </a:p>
        </p:txBody>
      </p:sp>
      <p:sp>
        <p:nvSpPr>
          <p:cNvPr id="8" name="灯片编号占位符 7"/>
          <p:cNvSpPr>
            <a:spLocks noGrp="1"/>
          </p:cNvSpPr>
          <p:nvPr>
            <p:ph type="sldNum" sz="quarter" idx="12"/>
          </p:nvPr>
        </p:nvSpPr>
        <p:spPr/>
        <p:txBody>
          <a:bodyPr/>
          <a:lstStyle/>
          <a:p>
            <a:fld id="{67913A8A-9EFB-4B5F-9CCB-3D21173FAA85}" type="slidenum">
              <a:rPr lang="zh-CN" altLang="en-US" smtClean="0"/>
              <a:pPr/>
              <a:t>91</a:t>
            </a:fld>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wipe(down)">
                                      <p:cBhvr>
                                        <p:cTn id="7" dur="500"/>
                                        <p:tgtEl>
                                          <p:spTgt spid="3">
                                            <p:txEl>
                                              <p:pRg st="1" end="1"/>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wipe(down)">
                                      <p:cBhvr>
                                        <p:cTn id="10" dur="500"/>
                                        <p:tgtEl>
                                          <p:spTgt spid="3">
                                            <p:txEl>
                                              <p:pRg st="2" end="2"/>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wipe(down)">
                                      <p:cBhvr>
                                        <p:cTn id="13" dur="500"/>
                                        <p:tgtEl>
                                          <p:spTgt spid="3">
                                            <p:txEl>
                                              <p:pRg st="3" end="3"/>
                                            </p:txEl>
                                          </p:spTgt>
                                        </p:tgtEl>
                                      </p:cBhvr>
                                    </p:animEffect>
                                  </p:childTnLst>
                                </p:cTn>
                              </p:par>
                              <p:par>
                                <p:cTn id="14" presetID="22" presetClass="entr" presetSubtype="4" fill="hold" nodeType="withEffect">
                                  <p:stCondLst>
                                    <p:cond delay="0"/>
                                  </p:stCondLst>
                                  <p:childTnLst>
                                    <p:set>
                                      <p:cBhvr>
                                        <p:cTn id="15" dur="1" fill="hold">
                                          <p:stCondLst>
                                            <p:cond delay="0"/>
                                          </p:stCondLst>
                                        </p:cTn>
                                        <p:tgtEl>
                                          <p:spTgt spid="3">
                                            <p:txEl>
                                              <p:pRg st="4" end="4"/>
                                            </p:txEl>
                                          </p:spTgt>
                                        </p:tgtEl>
                                        <p:attrNameLst>
                                          <p:attrName>style.visibility</p:attrName>
                                        </p:attrNameLst>
                                      </p:cBhvr>
                                      <p:to>
                                        <p:strVal val="visible"/>
                                      </p:to>
                                    </p:set>
                                    <p:animEffect transition="in" filter="wipe(down)">
                                      <p:cBhvr>
                                        <p:cTn id="16" dur="500"/>
                                        <p:tgtEl>
                                          <p:spTgt spid="3">
                                            <p:txEl>
                                              <p:pRg st="4" end="4"/>
                                            </p:txEl>
                                          </p:spTgt>
                                        </p:tgtEl>
                                      </p:cBhvr>
                                    </p:animEffect>
                                  </p:childTnLst>
                                </p:cTn>
                              </p:par>
                              <p:par>
                                <p:cTn id="17" presetID="22" presetClass="entr" presetSubtype="4"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animEffect transition="in" filter="wipe(down)">
                                      <p:cBhvr>
                                        <p:cTn id="19"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等价关系</a:t>
            </a:r>
            <a:endParaRPr lang="en-US" dirty="0"/>
          </a:p>
        </p:txBody>
      </p:sp>
      <p:sp>
        <p:nvSpPr>
          <p:cNvPr id="3" name="Content Placeholder 2"/>
          <p:cNvSpPr>
            <a:spLocks noGrp="1"/>
          </p:cNvSpPr>
          <p:nvPr>
            <p:ph idx="1"/>
          </p:nvPr>
        </p:nvSpPr>
        <p:spPr/>
        <p:txBody>
          <a:bodyPr>
            <a:normAutofit/>
          </a:bodyPr>
          <a:lstStyle/>
          <a:p>
            <a:r>
              <a:rPr lang="zh-CN" altLang="en-US" dirty="0" smtClean="0"/>
              <a:t>等价关系中最广泛使用的就是</a:t>
            </a:r>
            <a:r>
              <a:rPr lang="zh-CN" altLang="en-US" b="1" dirty="0" smtClean="0"/>
              <a:t>模</a:t>
            </a:r>
            <a:r>
              <a:rPr lang="en-US" altLang="zh-CN" b="1" dirty="0" smtClean="0"/>
              <a:t>m</a:t>
            </a:r>
            <a:r>
              <a:rPr lang="zh-CN" altLang="en-US" b="1" dirty="0" smtClean="0"/>
              <a:t>同余关系</a:t>
            </a:r>
            <a:r>
              <a:rPr lang="en-US" altLang="zh-CN" dirty="0" smtClean="0"/>
              <a:t>.</a:t>
            </a:r>
            <a:r>
              <a:rPr lang="en-US" dirty="0" smtClean="0"/>
              <a:t>  </a:t>
            </a:r>
          </a:p>
          <a:p>
            <a:r>
              <a:rPr lang="zh-CN" altLang="en-US" dirty="0" smtClean="0"/>
              <a:t>例</a:t>
            </a:r>
            <a:r>
              <a:rPr lang="en-US" dirty="0" smtClean="0"/>
              <a:t>:</a:t>
            </a:r>
            <a:r>
              <a:rPr lang="zh-CN" altLang="en-US" dirty="0" smtClean="0"/>
              <a:t>令</a:t>
            </a:r>
            <a:r>
              <a:rPr lang="en-US" altLang="zh-CN" dirty="0" smtClean="0"/>
              <a:t>m</a:t>
            </a:r>
            <a:r>
              <a:rPr lang="zh-CN" altLang="en-US" dirty="0" smtClean="0"/>
              <a:t>是大于</a:t>
            </a:r>
            <a:r>
              <a:rPr lang="en-US" altLang="zh-CN" dirty="0" smtClean="0"/>
              <a:t>1</a:t>
            </a:r>
            <a:r>
              <a:rPr lang="zh-CN" altLang="en-US" dirty="0" smtClean="0"/>
              <a:t>的整数</a:t>
            </a:r>
            <a:r>
              <a:rPr lang="en-US" altLang="zh-CN" dirty="0" smtClean="0"/>
              <a:t>,</a:t>
            </a:r>
            <a:r>
              <a:rPr lang="zh-CN" altLang="en-US" dirty="0" smtClean="0"/>
              <a:t>证明关系</a:t>
            </a:r>
            <a:r>
              <a:rPr lang="en-US" altLang="zh-CN" dirty="0"/>
              <a:t>R = </a:t>
            </a:r>
            <a:r>
              <a:rPr lang="en-US" altLang="zh-CN" dirty="0" smtClean="0"/>
              <a:t>{(</a:t>
            </a:r>
            <a:r>
              <a:rPr lang="en-US" altLang="zh-CN" dirty="0" err="1" smtClean="0"/>
              <a:t>a,b</a:t>
            </a:r>
            <a:r>
              <a:rPr lang="en-US" altLang="zh-CN" dirty="0" smtClean="0"/>
              <a:t>) </a:t>
            </a:r>
            <a:r>
              <a:rPr lang="en-US" altLang="zh-CN" dirty="0"/>
              <a:t>| a ≡ b </a:t>
            </a:r>
            <a:r>
              <a:rPr lang="en-US" altLang="zh-CN" dirty="0" smtClean="0"/>
              <a:t>(mod m)} </a:t>
            </a:r>
            <a:r>
              <a:rPr lang="zh-CN" altLang="en-US" dirty="0" smtClean="0"/>
              <a:t>是定义在整数集上的等价关系</a:t>
            </a:r>
            <a:endParaRPr lang="en-US" dirty="0" smtClean="0"/>
          </a:p>
          <a:p>
            <a:r>
              <a:rPr lang="zh-CN" altLang="en-US" dirty="0" smtClean="0"/>
              <a:t>解</a:t>
            </a:r>
            <a:r>
              <a:rPr lang="en-US" dirty="0" smtClean="0"/>
              <a:t>:</a:t>
            </a:r>
            <a:r>
              <a:rPr lang="zh-CN" altLang="en-US" dirty="0" smtClean="0"/>
              <a:t>回顾</a:t>
            </a:r>
            <a:r>
              <a:rPr lang="en-US" dirty="0" smtClean="0"/>
              <a:t>a ≡ b (mod m) </a:t>
            </a:r>
            <a:r>
              <a:rPr lang="zh-CN" altLang="en-US" dirty="0" smtClean="0"/>
              <a:t>当且仅当</a:t>
            </a:r>
            <a:r>
              <a:rPr lang="en-US" dirty="0" smtClean="0"/>
              <a:t>m</a:t>
            </a:r>
            <a:r>
              <a:rPr lang="zh-CN" altLang="en-US" dirty="0" smtClean="0"/>
              <a:t>整除</a:t>
            </a:r>
            <a:r>
              <a:rPr lang="en-US" dirty="0" smtClean="0"/>
              <a:t>a − b.</a:t>
            </a:r>
          </a:p>
          <a:p>
            <a:pPr lvl="1"/>
            <a:r>
              <a:rPr lang="zh-CN" altLang="en-US" dirty="0" smtClean="0"/>
              <a:t>自反性</a:t>
            </a:r>
            <a:r>
              <a:rPr lang="en-US" dirty="0" smtClean="0"/>
              <a:t>:</a:t>
            </a:r>
            <a:r>
              <a:rPr lang="en-US" altLang="zh-CN" dirty="0" smtClean="0"/>
              <a:t>a </a:t>
            </a:r>
            <a:r>
              <a:rPr lang="en-US" altLang="zh-CN" dirty="0"/>
              <a:t>− a = </a:t>
            </a:r>
            <a:r>
              <a:rPr lang="en-US" altLang="zh-CN" dirty="0" smtClean="0"/>
              <a:t>0</a:t>
            </a:r>
            <a:r>
              <a:rPr lang="zh-CN" altLang="en-US" dirty="0" smtClean="0"/>
              <a:t>能被</a:t>
            </a:r>
            <a:r>
              <a:rPr lang="en-US" altLang="zh-CN" dirty="0" smtClean="0"/>
              <a:t>m</a:t>
            </a:r>
            <a:r>
              <a:rPr lang="zh-CN" altLang="en-US" dirty="0" smtClean="0"/>
              <a:t>整除</a:t>
            </a:r>
            <a:r>
              <a:rPr lang="en-US" altLang="zh-CN" dirty="0" smtClean="0"/>
              <a:t>, </a:t>
            </a:r>
            <a:r>
              <a:rPr lang="zh-CN" altLang="en-US" dirty="0" smtClean="0"/>
              <a:t>因为</a:t>
            </a:r>
            <a:r>
              <a:rPr lang="en-US" altLang="zh-CN" dirty="0"/>
              <a:t>0 = 0 ∙ </a:t>
            </a:r>
            <a:r>
              <a:rPr lang="en-US" altLang="zh-CN" dirty="0" smtClean="0"/>
              <a:t>m, </a:t>
            </a:r>
            <a:r>
              <a:rPr lang="zh-CN" altLang="en-US" dirty="0" smtClean="0"/>
              <a:t>因此</a:t>
            </a:r>
            <a:r>
              <a:rPr lang="en-US" dirty="0" smtClean="0"/>
              <a:t>a ≡ a (mod m) </a:t>
            </a:r>
            <a:r>
              <a:rPr lang="en-US" altLang="zh-CN" dirty="0" smtClean="0"/>
              <a:t>, R</a:t>
            </a:r>
            <a:r>
              <a:rPr lang="zh-CN" altLang="en-US" dirty="0"/>
              <a:t>是自反的</a:t>
            </a:r>
            <a:r>
              <a:rPr lang="en-US" altLang="zh-CN" dirty="0"/>
              <a:t>. </a:t>
            </a:r>
            <a:endParaRPr lang="en-US" dirty="0" smtClean="0"/>
          </a:p>
          <a:p>
            <a:pPr lvl="1"/>
            <a:r>
              <a:rPr lang="zh-CN" altLang="en-US" dirty="0" smtClean="0"/>
              <a:t>对称性</a:t>
            </a:r>
            <a:r>
              <a:rPr lang="en-US" dirty="0" smtClean="0"/>
              <a:t>:</a:t>
            </a:r>
            <a:r>
              <a:rPr lang="zh-CN" altLang="en-US" dirty="0" smtClean="0"/>
              <a:t>假设</a:t>
            </a:r>
            <a:r>
              <a:rPr lang="en-US" dirty="0" smtClean="0"/>
              <a:t>a ≡ b (mod m)</a:t>
            </a:r>
            <a:r>
              <a:rPr lang="en-US" altLang="zh-CN" dirty="0" smtClean="0"/>
              <a:t>, </a:t>
            </a:r>
            <a:r>
              <a:rPr lang="zh-CN" altLang="en-US" dirty="0" smtClean="0"/>
              <a:t>那么</a:t>
            </a:r>
            <a:r>
              <a:rPr lang="en-US" dirty="0" smtClean="0"/>
              <a:t>a − b </a:t>
            </a:r>
            <a:r>
              <a:rPr lang="zh-CN" altLang="en-US" dirty="0" smtClean="0"/>
              <a:t>能被</a:t>
            </a:r>
            <a:r>
              <a:rPr lang="en-US" dirty="0" smtClean="0"/>
              <a:t>m</a:t>
            </a:r>
            <a:r>
              <a:rPr lang="zh-CN" altLang="en-US" dirty="0" smtClean="0"/>
              <a:t>整除</a:t>
            </a:r>
            <a:r>
              <a:rPr lang="en-US" dirty="0" smtClean="0"/>
              <a:t>, </a:t>
            </a:r>
            <a:r>
              <a:rPr lang="zh-CN" altLang="en-US" dirty="0" smtClean="0"/>
              <a:t>即</a:t>
            </a:r>
            <a:r>
              <a:rPr lang="en-US" dirty="0" smtClean="0"/>
              <a:t>a − b = km, </a:t>
            </a:r>
            <a:r>
              <a:rPr lang="zh-CN" altLang="en-US" dirty="0" smtClean="0"/>
              <a:t>其中</a:t>
            </a:r>
            <a:r>
              <a:rPr lang="en-US" dirty="0" smtClean="0"/>
              <a:t> k</a:t>
            </a:r>
            <a:r>
              <a:rPr lang="zh-CN" altLang="en-US" dirty="0" smtClean="0"/>
              <a:t>是整数</a:t>
            </a:r>
            <a:r>
              <a:rPr lang="en-US" dirty="0" smtClean="0"/>
              <a:t>. </a:t>
            </a:r>
            <a:r>
              <a:rPr lang="zh-CN" altLang="en-US" dirty="0" smtClean="0"/>
              <a:t>从而</a:t>
            </a:r>
            <a:r>
              <a:rPr lang="en-US" dirty="0" smtClean="0"/>
              <a:t>b − a = (− k) m, </a:t>
            </a:r>
            <a:r>
              <a:rPr lang="zh-CN" altLang="en-US" dirty="0" smtClean="0"/>
              <a:t>那么</a:t>
            </a:r>
            <a:r>
              <a:rPr lang="en-US" dirty="0" smtClean="0"/>
              <a:t>b ≡ a (mod m)</a:t>
            </a:r>
            <a:r>
              <a:rPr lang="en-US" altLang="zh-CN" dirty="0" smtClean="0"/>
              <a:t>, R</a:t>
            </a:r>
            <a:r>
              <a:rPr lang="zh-CN" altLang="en-US" dirty="0" smtClean="0"/>
              <a:t>是</a:t>
            </a:r>
            <a:r>
              <a:rPr lang="zh-CN" altLang="en-US" dirty="0"/>
              <a:t>对称</a:t>
            </a:r>
            <a:r>
              <a:rPr lang="zh-CN" altLang="en-US" dirty="0" smtClean="0"/>
              <a:t>的</a:t>
            </a:r>
            <a:r>
              <a:rPr lang="en-US" altLang="zh-CN" dirty="0"/>
              <a:t>. </a:t>
            </a:r>
            <a:endParaRPr lang="en-US" altLang="zh-CN" dirty="0" smtClean="0"/>
          </a:p>
          <a:p>
            <a:pPr lvl="1"/>
            <a:r>
              <a:rPr lang="zh-CN" altLang="en-US" dirty="0"/>
              <a:t>传递性</a:t>
            </a:r>
            <a:r>
              <a:rPr lang="en-US" altLang="zh-CN" dirty="0" smtClean="0"/>
              <a:t>:</a:t>
            </a:r>
            <a:r>
              <a:rPr lang="zh-CN" altLang="en-US" dirty="0" smtClean="0"/>
              <a:t>假设</a:t>
            </a:r>
            <a:r>
              <a:rPr lang="en-US" altLang="zh-CN" dirty="0"/>
              <a:t>a ≡ b (mod m) </a:t>
            </a:r>
            <a:r>
              <a:rPr lang="en-US" altLang="zh-CN" dirty="0" smtClean="0"/>
              <a:t>, b </a:t>
            </a:r>
            <a:r>
              <a:rPr lang="en-US" altLang="zh-CN" dirty="0"/>
              <a:t>≡ c (mod m). </a:t>
            </a:r>
            <a:r>
              <a:rPr lang="zh-CN" altLang="en-US" dirty="0"/>
              <a:t>那么</a:t>
            </a:r>
            <a:r>
              <a:rPr lang="en-US" altLang="zh-CN" dirty="0"/>
              <a:t>m</a:t>
            </a:r>
            <a:r>
              <a:rPr lang="zh-CN" altLang="en-US" dirty="0"/>
              <a:t>整除</a:t>
            </a:r>
            <a:r>
              <a:rPr lang="en-US" altLang="zh-CN" dirty="0"/>
              <a:t>a − b </a:t>
            </a:r>
            <a:r>
              <a:rPr lang="zh-CN" altLang="en-US" dirty="0"/>
              <a:t>和</a:t>
            </a:r>
            <a:r>
              <a:rPr lang="en-US" altLang="zh-CN" dirty="0"/>
              <a:t> b − c. </a:t>
            </a:r>
            <a:r>
              <a:rPr lang="zh-CN" altLang="en-US" dirty="0"/>
              <a:t>因此存在整数</a:t>
            </a:r>
            <a:r>
              <a:rPr lang="en-US" altLang="zh-CN" dirty="0"/>
              <a:t>k </a:t>
            </a:r>
            <a:r>
              <a:rPr lang="zh-CN" altLang="en-US" dirty="0"/>
              <a:t>和</a:t>
            </a:r>
            <a:r>
              <a:rPr lang="en-US" altLang="zh-CN" dirty="0"/>
              <a:t> l</a:t>
            </a:r>
            <a:r>
              <a:rPr lang="en-US" altLang="zh-CN" dirty="0" smtClean="0"/>
              <a:t>, </a:t>
            </a:r>
            <a:r>
              <a:rPr lang="zh-CN" altLang="en-US" dirty="0" smtClean="0"/>
              <a:t>使得</a:t>
            </a:r>
            <a:r>
              <a:rPr lang="en-US" altLang="zh-CN" dirty="0" smtClean="0"/>
              <a:t> </a:t>
            </a:r>
            <a:r>
              <a:rPr lang="en-US" altLang="zh-CN" dirty="0"/>
              <a:t>a − b = km  </a:t>
            </a:r>
            <a:r>
              <a:rPr lang="zh-CN" altLang="en-US" dirty="0"/>
              <a:t>和</a:t>
            </a:r>
            <a:r>
              <a:rPr lang="en-US" altLang="zh-CN" dirty="0"/>
              <a:t> b − c = lm. </a:t>
            </a:r>
            <a:r>
              <a:rPr lang="zh-CN" altLang="en-US" dirty="0"/>
              <a:t>将这两个等式加起来得</a:t>
            </a:r>
            <a:r>
              <a:rPr lang="en-US" altLang="zh-CN" dirty="0"/>
              <a:t>: a − c = (a − b)  + (b − c)  = km + lm = (k + l) m</a:t>
            </a:r>
            <a:r>
              <a:rPr lang="en-US" altLang="zh-CN" dirty="0" smtClean="0"/>
              <a:t>, </a:t>
            </a:r>
            <a:r>
              <a:rPr lang="zh-CN" altLang="en-US" dirty="0" smtClean="0"/>
              <a:t>所以</a:t>
            </a:r>
            <a:r>
              <a:rPr lang="en-US" altLang="zh-CN" dirty="0"/>
              <a:t>R</a:t>
            </a:r>
            <a:r>
              <a:rPr lang="zh-CN" altLang="en-US" dirty="0"/>
              <a:t>是传递的</a:t>
            </a:r>
            <a:r>
              <a:rPr lang="en-US" altLang="zh-CN" dirty="0"/>
              <a:t>.</a:t>
            </a:r>
          </a:p>
          <a:p>
            <a:pPr lvl="1"/>
            <a:r>
              <a:rPr lang="zh-CN" altLang="en-US" dirty="0"/>
              <a:t>综上所述</a:t>
            </a:r>
            <a:r>
              <a:rPr lang="en-US" altLang="zh-CN" dirty="0"/>
              <a:t>, R = {(</a:t>
            </a:r>
            <a:r>
              <a:rPr lang="en-US" altLang="zh-CN" dirty="0" err="1"/>
              <a:t>a,b</a:t>
            </a:r>
            <a:r>
              <a:rPr lang="en-US" altLang="zh-CN" dirty="0"/>
              <a:t>) | a ≡ b (mod m)}</a:t>
            </a:r>
            <a:r>
              <a:rPr lang="zh-CN" altLang="en-US" dirty="0"/>
              <a:t>是等价关系</a:t>
            </a:r>
            <a:r>
              <a:rPr lang="en-US" altLang="zh-CN" dirty="0" smtClean="0"/>
              <a:t>.</a:t>
            </a:r>
            <a:endParaRPr lang="en-US" dirty="0" smtClean="0"/>
          </a:p>
          <a:p>
            <a:endParaRPr lang="en-US" dirty="0" smtClean="0"/>
          </a:p>
        </p:txBody>
      </p:sp>
      <p:sp>
        <p:nvSpPr>
          <p:cNvPr id="6" name="日期占位符 5"/>
          <p:cNvSpPr>
            <a:spLocks noGrp="1"/>
          </p:cNvSpPr>
          <p:nvPr>
            <p:ph type="dt" sz="half" idx="10"/>
          </p:nvPr>
        </p:nvSpPr>
        <p:spPr/>
        <p:txBody>
          <a:bodyPr/>
          <a:lstStyle/>
          <a:p>
            <a:fld id="{84BCA201-C87E-433A-8B09-BA9F916CE72C}" type="datetime1">
              <a:rPr lang="zh-CN" altLang="en-US" smtClean="0"/>
              <a:t>2025/3/14</a:t>
            </a:fld>
            <a:endParaRPr lang="zh-CN" altLang="en-US" dirty="0"/>
          </a:p>
        </p:txBody>
      </p:sp>
      <p:sp>
        <p:nvSpPr>
          <p:cNvPr id="7" name="页脚占位符 6"/>
          <p:cNvSpPr>
            <a:spLocks noGrp="1"/>
          </p:cNvSpPr>
          <p:nvPr>
            <p:ph type="ftr" sz="quarter" idx="11"/>
          </p:nvPr>
        </p:nvSpPr>
        <p:spPr/>
        <p:txBody>
          <a:bodyPr/>
          <a:lstStyle/>
          <a:p>
            <a:pPr algn="r"/>
            <a:r>
              <a:rPr lang="zh-CN" altLang="en-US" smtClean="0"/>
              <a:t>华中科技大学</a:t>
            </a:r>
            <a:r>
              <a:rPr lang="en-US" altLang="zh-CN" smtClean="0"/>
              <a:t>NNSS</a:t>
            </a:r>
            <a:r>
              <a:rPr lang="zh-CN" altLang="en-US" smtClean="0"/>
              <a:t>实验室</a:t>
            </a:r>
            <a:endParaRPr lang="zh-CN" altLang="en-US" dirty="0"/>
          </a:p>
        </p:txBody>
      </p:sp>
      <p:sp>
        <p:nvSpPr>
          <p:cNvPr id="8" name="灯片编号占位符 7"/>
          <p:cNvSpPr>
            <a:spLocks noGrp="1"/>
          </p:cNvSpPr>
          <p:nvPr>
            <p:ph type="sldNum" sz="quarter" idx="12"/>
          </p:nvPr>
        </p:nvSpPr>
        <p:spPr/>
        <p:txBody>
          <a:bodyPr/>
          <a:lstStyle/>
          <a:p>
            <a:fld id="{67913A8A-9EFB-4B5F-9CCB-3D21173FAA85}" type="slidenum">
              <a:rPr lang="zh-CN" altLang="en-US" smtClean="0"/>
              <a:pPr/>
              <a:t>92</a:t>
            </a:fld>
            <a:endParaRPr lang="zh-CN" altLang="en-US" dirty="0"/>
          </a:p>
        </p:txBody>
      </p:sp>
    </p:spTree>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等价关系</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zh-CN" altLang="en-US" dirty="0" smtClean="0"/>
                  <a:t>例</a:t>
                </a:r>
                <a:r>
                  <a:rPr lang="en-US" dirty="0" smtClean="0"/>
                  <a:t>: </a:t>
                </a:r>
                <a:r>
                  <a:rPr lang="zh-CN" altLang="en-US" dirty="0" smtClean="0"/>
                  <a:t>证明在正整数集合上的“整除”关系</a:t>
                </a:r>
                <a:r>
                  <a:rPr lang="en-US" altLang="zh-CN" dirty="0" smtClean="0"/>
                  <a:t>R</a:t>
                </a:r>
                <a:r>
                  <a:rPr lang="zh-CN" altLang="en-US" dirty="0" smtClean="0"/>
                  <a:t>不是等价关系</a:t>
                </a:r>
                <a:r>
                  <a:rPr lang="en-US" dirty="0" smtClean="0"/>
                  <a:t>.</a:t>
                </a:r>
              </a:p>
              <a:p>
                <a:r>
                  <a:rPr lang="zh-CN" altLang="en-US" dirty="0" smtClean="0"/>
                  <a:t>整除</a:t>
                </a:r>
                <a:r>
                  <a:rPr lang="en-US" altLang="zh-CN" dirty="0" smtClean="0"/>
                  <a:t>: </a:t>
                </a:r>
                <a:r>
                  <a:rPr lang="zh-CN" altLang="en-US" dirty="0" smtClean="0"/>
                  <a:t>假设整数</a:t>
                </a:r>
                <a14:m>
                  <m:oMath xmlns:m="http://schemas.openxmlformats.org/officeDocument/2006/math">
                    <m:r>
                      <a:rPr lang="en-US" altLang="zh-CN" i="1">
                        <a:latin typeface="Cambria Math" panose="02040503050406030204" pitchFamily="18" charset="0"/>
                      </a:rPr>
                      <m:t>𝑎</m:t>
                    </m:r>
                  </m:oMath>
                </a14:m>
                <a:r>
                  <a:rPr lang="zh-CN" altLang="en-US" dirty="0" smtClean="0"/>
                  <a:t>和</a:t>
                </a:r>
                <a14:m>
                  <m:oMath xmlns:m="http://schemas.openxmlformats.org/officeDocument/2006/math">
                    <m:r>
                      <a:rPr lang="en-US" altLang="zh-CN" i="1">
                        <a:latin typeface="Cambria Math" panose="02040503050406030204" pitchFamily="18" charset="0"/>
                      </a:rPr>
                      <m:t>𝑏</m:t>
                    </m:r>
                  </m:oMath>
                </a14:m>
                <a:r>
                  <a:rPr lang="en-US" altLang="zh-CN" dirty="0" smtClean="0"/>
                  <a:t>(</a:t>
                </a:r>
                <a14:m>
                  <m:oMath xmlns:m="http://schemas.openxmlformats.org/officeDocument/2006/math">
                    <m:r>
                      <a:rPr lang="en-US" altLang="zh-CN" i="1">
                        <a:latin typeface="Cambria Math" panose="02040503050406030204" pitchFamily="18" charset="0"/>
                      </a:rPr>
                      <m:t>𝑎</m:t>
                    </m:r>
                  </m:oMath>
                </a14:m>
                <a:r>
                  <a:rPr lang="zh-CN" altLang="en-US" dirty="0" smtClean="0"/>
                  <a:t>不等于</a:t>
                </a:r>
                <a:r>
                  <a:rPr lang="en-US" altLang="zh-CN" dirty="0" smtClean="0"/>
                  <a:t>0). </a:t>
                </a:r>
                <a:r>
                  <a:rPr lang="zh-CN" altLang="en-US" dirty="0" smtClean="0"/>
                  <a:t>如果</a:t>
                </a:r>
                <a14:m>
                  <m:oMath xmlns:m="http://schemas.openxmlformats.org/officeDocument/2006/math">
                    <m:r>
                      <a:rPr lang="en-US" altLang="zh-CN" b="0" i="0" smtClean="0">
                        <a:latin typeface="Cambria Math" panose="02040503050406030204" pitchFamily="18" charset="0"/>
                      </a:rPr>
                      <m:t> </m:t>
                    </m:r>
                    <m:f>
                      <m:fPr>
                        <m:ctrlPr>
                          <a:rPr lang="en-US" altLang="zh-CN" i="1" smtClean="0">
                            <a:latin typeface="Cambria Math" panose="02040503050406030204" pitchFamily="18" charset="0"/>
                          </a:rPr>
                        </m:ctrlPr>
                      </m:fPr>
                      <m:num>
                        <m:r>
                          <a:rPr lang="en-US" altLang="zh-CN" b="0" i="1" smtClean="0">
                            <a:latin typeface="Cambria Math" panose="02040503050406030204" pitchFamily="18" charset="0"/>
                          </a:rPr>
                          <m:t>𝑏</m:t>
                        </m:r>
                      </m:num>
                      <m:den>
                        <m:r>
                          <a:rPr lang="en-US" altLang="zh-CN" b="0" i="1" smtClean="0">
                            <a:latin typeface="Cambria Math" panose="02040503050406030204" pitchFamily="18" charset="0"/>
                          </a:rPr>
                          <m:t>𝑎</m:t>
                        </m:r>
                      </m:den>
                    </m:f>
                  </m:oMath>
                </a14:m>
                <a:r>
                  <a:rPr lang="zh-CN" altLang="en-US" dirty="0" smtClean="0"/>
                  <a:t>是一个整数</a:t>
                </a:r>
                <a:r>
                  <a:rPr lang="en-US" altLang="zh-CN" dirty="0" smtClean="0"/>
                  <a:t>, </a:t>
                </a:r>
                <a:r>
                  <a:rPr lang="zh-CN" altLang="en-US" dirty="0" smtClean="0"/>
                  <a:t>称为</a:t>
                </a:r>
                <a14:m>
                  <m:oMath xmlns:m="http://schemas.openxmlformats.org/officeDocument/2006/math">
                    <m:r>
                      <a:rPr lang="en-US" altLang="zh-CN" i="1">
                        <a:latin typeface="Cambria Math" panose="02040503050406030204" pitchFamily="18" charset="0"/>
                      </a:rPr>
                      <m:t>𝑎</m:t>
                    </m:r>
                  </m:oMath>
                </a14:m>
                <a:r>
                  <a:rPr lang="zh-CN" altLang="en-US" dirty="0" smtClean="0"/>
                  <a:t>整除</a:t>
                </a:r>
                <a14:m>
                  <m:oMath xmlns:m="http://schemas.openxmlformats.org/officeDocument/2006/math">
                    <m:r>
                      <a:rPr lang="en-US" altLang="zh-CN" i="1">
                        <a:latin typeface="Cambria Math" panose="02040503050406030204" pitchFamily="18" charset="0"/>
                      </a:rPr>
                      <m:t>𝑏</m:t>
                    </m:r>
                  </m:oMath>
                </a14:m>
                <a:r>
                  <a:rPr lang="en-US" altLang="zh-CN" dirty="0" smtClean="0"/>
                  <a:t>, </a:t>
                </a:r>
                <a:r>
                  <a:rPr lang="zh-CN" altLang="en-US" dirty="0" smtClean="0"/>
                  <a:t>记作</a:t>
                </a:r>
                <a14:m>
                  <m:oMath xmlns:m="http://schemas.openxmlformats.org/officeDocument/2006/math">
                    <m:r>
                      <a:rPr lang="en-US" altLang="zh-CN" i="1">
                        <a:latin typeface="Cambria Math" panose="02040503050406030204" pitchFamily="18" charset="0"/>
                      </a:rPr>
                      <m:t>𝑎</m:t>
                    </m:r>
                  </m:oMath>
                </a14:m>
                <a:r>
                  <a:rPr lang="en-US" altLang="zh-CN" dirty="0" smtClean="0"/>
                  <a:t>|</a:t>
                </a:r>
                <a14:m>
                  <m:oMath xmlns:m="http://schemas.openxmlformats.org/officeDocument/2006/math">
                    <m:r>
                      <a:rPr lang="en-US" altLang="zh-CN" i="1">
                        <a:latin typeface="Cambria Math" panose="02040503050406030204" pitchFamily="18" charset="0"/>
                      </a:rPr>
                      <m:t>𝑏</m:t>
                    </m:r>
                  </m:oMath>
                </a14:m>
                <a:r>
                  <a:rPr lang="en-US" altLang="zh-CN" dirty="0" smtClean="0"/>
                  <a:t>; </a:t>
                </a:r>
                <a:r>
                  <a:rPr lang="zh-CN" altLang="en-US" dirty="0" smtClean="0"/>
                  <a:t>否则</a:t>
                </a:r>
                <a14:m>
                  <m:oMath xmlns:m="http://schemas.openxmlformats.org/officeDocument/2006/math">
                    <m:r>
                      <a:rPr lang="en-US" altLang="zh-CN" i="1">
                        <a:latin typeface="Cambria Math" panose="02040503050406030204" pitchFamily="18" charset="0"/>
                      </a:rPr>
                      <m:t>𝑎</m:t>
                    </m:r>
                  </m:oMath>
                </a14:m>
                <a:r>
                  <a:rPr lang="zh-CN" altLang="en-US" dirty="0" smtClean="0"/>
                  <a:t>不能整除</a:t>
                </a:r>
                <a14:m>
                  <m:oMath xmlns:m="http://schemas.openxmlformats.org/officeDocument/2006/math">
                    <m:r>
                      <a:rPr lang="en-US" altLang="zh-CN" i="1">
                        <a:latin typeface="Cambria Math" panose="02040503050406030204" pitchFamily="18" charset="0"/>
                      </a:rPr>
                      <m:t>𝑏</m:t>
                    </m:r>
                  </m:oMath>
                </a14:m>
                <a:r>
                  <a:rPr lang="en-US" altLang="zh-CN" dirty="0" smtClean="0"/>
                  <a:t>, </a:t>
                </a:r>
                <a:r>
                  <a:rPr lang="zh-CN" altLang="en-US" dirty="0" smtClean="0"/>
                  <a:t>记作</a:t>
                </a:r>
                <a14:m>
                  <m:oMath xmlns:m="http://schemas.openxmlformats.org/officeDocument/2006/math">
                    <m:r>
                      <a:rPr lang="en-US" altLang="zh-CN" i="1">
                        <a:latin typeface="Cambria Math" panose="02040503050406030204" pitchFamily="18" charset="0"/>
                      </a:rPr>
                      <m:t>𝑎</m:t>
                    </m:r>
                  </m:oMath>
                </a14:m>
                <a:r>
                  <a:rPr lang="en-US" altLang="zh-CN" b="1" dirty="0" smtClean="0"/>
                  <a:t>∤</a:t>
                </a:r>
                <a14:m>
                  <m:oMath xmlns:m="http://schemas.openxmlformats.org/officeDocument/2006/math">
                    <m:r>
                      <a:rPr lang="en-US" altLang="zh-CN" i="1">
                        <a:latin typeface="Cambria Math" panose="02040503050406030204" pitchFamily="18" charset="0"/>
                      </a:rPr>
                      <m:t>𝑏</m:t>
                    </m:r>
                  </m:oMath>
                </a14:m>
                <a:r>
                  <a:rPr lang="en-US" dirty="0" smtClean="0"/>
                  <a:t>.</a:t>
                </a:r>
              </a:p>
              <a:p>
                <a:r>
                  <a:rPr lang="zh-CN" altLang="en-US" dirty="0" smtClean="0"/>
                  <a:t>解</a:t>
                </a:r>
                <a:r>
                  <a:rPr lang="en-US" altLang="zh-CN" dirty="0" smtClean="0"/>
                  <a:t>:</a:t>
                </a:r>
                <a:endParaRPr lang="en-US" dirty="0" smtClean="0"/>
              </a:p>
              <a:p>
                <a:pPr lvl="1"/>
                <a:r>
                  <a:rPr lang="zh-CN" altLang="en-US" dirty="0" smtClean="0"/>
                  <a:t>自反性</a:t>
                </a:r>
                <a:r>
                  <a:rPr lang="en-US" dirty="0" smtClean="0"/>
                  <a:t>: </a:t>
                </a:r>
                <a:r>
                  <a:rPr lang="zh-CN" altLang="en-US" dirty="0" smtClean="0"/>
                  <a:t>对于任意元素</a:t>
                </a:r>
                <a:r>
                  <a:rPr lang="en-US" altLang="zh-CN" dirty="0" smtClean="0"/>
                  <a:t>a, </a:t>
                </a:r>
                <a:r>
                  <a:rPr lang="en-US" dirty="0" err="1" smtClean="0"/>
                  <a:t>a∣a</a:t>
                </a:r>
                <a:r>
                  <a:rPr lang="zh-CN" altLang="en-US" dirty="0" smtClean="0"/>
                  <a:t>成立</a:t>
                </a:r>
                <a:r>
                  <a:rPr lang="en-US" altLang="zh-CN" dirty="0" smtClean="0"/>
                  <a:t>, </a:t>
                </a:r>
                <a:r>
                  <a:rPr lang="zh-CN" altLang="en-US" dirty="0" smtClean="0"/>
                  <a:t>所以关系</a:t>
                </a:r>
                <a:r>
                  <a:rPr lang="en-US" altLang="zh-CN" dirty="0" smtClean="0"/>
                  <a:t>R</a:t>
                </a:r>
                <a:r>
                  <a:rPr lang="zh-CN" altLang="en-US" dirty="0" smtClean="0"/>
                  <a:t>是自反的</a:t>
                </a:r>
                <a:r>
                  <a:rPr lang="en-US" dirty="0" smtClean="0"/>
                  <a:t>. </a:t>
                </a:r>
              </a:p>
              <a:p>
                <a:pPr lvl="1"/>
                <a:r>
                  <a:rPr lang="zh-CN" altLang="en-US" dirty="0" smtClean="0"/>
                  <a:t>对称性</a:t>
                </a:r>
                <a:r>
                  <a:rPr lang="en-US" dirty="0" smtClean="0"/>
                  <a:t>: </a:t>
                </a:r>
                <a:r>
                  <a:rPr lang="zh-CN" altLang="en-US" dirty="0" smtClean="0"/>
                  <a:t>例如</a:t>
                </a:r>
                <a:r>
                  <a:rPr lang="en-US" dirty="0" smtClean="0"/>
                  <a:t> 2∣4, </a:t>
                </a:r>
                <a:r>
                  <a:rPr lang="zh-CN" altLang="en-US" dirty="0" smtClean="0"/>
                  <a:t>但是 </a:t>
                </a:r>
                <a:r>
                  <a:rPr lang="en-US" dirty="0" smtClean="0"/>
                  <a:t>4 ∤ 2</a:t>
                </a:r>
                <a:r>
                  <a:rPr lang="en-US" altLang="zh-CN" dirty="0" smtClean="0"/>
                  <a:t>, </a:t>
                </a:r>
                <a:r>
                  <a:rPr lang="zh-CN" altLang="en-US" dirty="0" smtClean="0"/>
                  <a:t>所以</a:t>
                </a:r>
                <a:r>
                  <a:rPr lang="en-US" altLang="zh-CN" dirty="0" smtClean="0"/>
                  <a:t>R</a:t>
                </a:r>
                <a:r>
                  <a:rPr lang="zh-CN" altLang="en-US" dirty="0" smtClean="0"/>
                  <a:t>不是对称的</a:t>
                </a:r>
                <a:r>
                  <a:rPr lang="en-US" dirty="0" smtClean="0"/>
                  <a:t>. </a:t>
                </a:r>
              </a:p>
              <a:p>
                <a:pPr lvl="1"/>
                <a:r>
                  <a:rPr lang="zh-CN" altLang="en-US" dirty="0" smtClean="0"/>
                  <a:t>传递性</a:t>
                </a:r>
                <a:r>
                  <a:rPr lang="en-US" dirty="0" smtClean="0"/>
                  <a:t>: </a:t>
                </a:r>
                <a:r>
                  <a:rPr lang="zh-CN" altLang="en-US" dirty="0" smtClean="0"/>
                  <a:t>假设</a:t>
                </a:r>
                <a:r>
                  <a:rPr lang="en-US" altLang="zh-CN" dirty="0" smtClean="0"/>
                  <a:t>a</a:t>
                </a:r>
                <a:r>
                  <a:rPr lang="zh-CN" altLang="en-US" dirty="0" smtClean="0"/>
                  <a:t>整除</a:t>
                </a:r>
                <a:r>
                  <a:rPr lang="en-US" altLang="zh-CN" dirty="0" smtClean="0"/>
                  <a:t>b, b</a:t>
                </a:r>
                <a:r>
                  <a:rPr lang="zh-CN" altLang="en-US" dirty="0" smtClean="0"/>
                  <a:t>整除</a:t>
                </a:r>
                <a:r>
                  <a:rPr lang="en-US" dirty="0" smtClean="0"/>
                  <a:t>c. </a:t>
                </a:r>
                <a:r>
                  <a:rPr lang="zh-CN" altLang="en-US" dirty="0" smtClean="0"/>
                  <a:t>那么存在正整数</a:t>
                </a:r>
                <a:r>
                  <a:rPr lang="en-US" dirty="0" smtClean="0"/>
                  <a:t>k</a:t>
                </a:r>
                <a:r>
                  <a:rPr lang="zh-CN" altLang="en-US" dirty="0" smtClean="0"/>
                  <a:t>和</a:t>
                </a:r>
                <a:r>
                  <a:rPr lang="en-US" dirty="0" smtClean="0"/>
                  <a:t>l</a:t>
                </a:r>
                <a:r>
                  <a:rPr lang="en-US" altLang="zh-CN" dirty="0" smtClean="0"/>
                  <a:t>, </a:t>
                </a:r>
                <a:r>
                  <a:rPr lang="zh-CN" altLang="en-US" dirty="0" smtClean="0"/>
                  <a:t>使得</a:t>
                </a:r>
                <a:r>
                  <a:rPr lang="en-US" dirty="0" smtClean="0"/>
                  <a:t>b=</a:t>
                </a:r>
                <a:r>
                  <a:rPr lang="en-US" dirty="0" err="1" smtClean="0"/>
                  <a:t>ak</a:t>
                </a:r>
                <a:r>
                  <a:rPr lang="en-US" altLang="zh-CN" dirty="0" smtClean="0"/>
                  <a:t>,</a:t>
                </a:r>
                <a:r>
                  <a:rPr lang="en-US" dirty="0" smtClean="0"/>
                  <a:t> c=bl. </a:t>
                </a:r>
                <a:r>
                  <a:rPr lang="zh-CN" altLang="en-US" dirty="0" smtClean="0"/>
                  <a:t>因此</a:t>
                </a:r>
                <a:r>
                  <a:rPr lang="en-US" dirty="0" smtClean="0"/>
                  <a:t>, c=a(kl), </a:t>
                </a:r>
                <a:r>
                  <a:rPr lang="zh-CN" altLang="en-US" dirty="0" smtClean="0"/>
                  <a:t>即</a:t>
                </a:r>
                <a:r>
                  <a:rPr lang="en-US" altLang="zh-CN" dirty="0" smtClean="0"/>
                  <a:t>a</a:t>
                </a:r>
                <a:r>
                  <a:rPr lang="zh-CN" altLang="en-US" dirty="0" smtClean="0"/>
                  <a:t>整除</a:t>
                </a:r>
                <a:r>
                  <a:rPr lang="en-US" altLang="zh-CN" dirty="0" smtClean="0"/>
                  <a:t>c, </a:t>
                </a:r>
                <a:r>
                  <a:rPr lang="zh-CN" altLang="en-US" dirty="0" smtClean="0"/>
                  <a:t>所以关系</a:t>
                </a:r>
                <a:r>
                  <a:rPr lang="en-US" altLang="zh-CN" dirty="0" smtClean="0"/>
                  <a:t>R</a:t>
                </a:r>
                <a:r>
                  <a:rPr lang="zh-CN" altLang="en-US" dirty="0" smtClean="0"/>
                  <a:t>是传递的</a:t>
                </a:r>
                <a:r>
                  <a:rPr lang="en-US" dirty="0" smtClean="0"/>
                  <a:t>. </a:t>
                </a:r>
              </a:p>
              <a:p>
                <a:pPr lvl="1"/>
                <a:r>
                  <a:rPr lang="zh-CN" altLang="en-US" dirty="0" smtClean="0"/>
                  <a:t>综上所述</a:t>
                </a:r>
                <a:r>
                  <a:rPr lang="en-US" altLang="zh-CN" dirty="0" smtClean="0"/>
                  <a:t>, R</a:t>
                </a:r>
                <a:r>
                  <a:rPr lang="zh-CN" altLang="en-US" dirty="0" smtClean="0"/>
                  <a:t>不是等价关系</a:t>
                </a:r>
                <a:r>
                  <a:rPr lang="en-US" altLang="zh-CN" dirty="0" smtClean="0"/>
                  <a:t>.</a:t>
                </a:r>
                <a:endParaRPr lang="en-US" dirty="0" smtClean="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999" t="-1310"/>
                </a:stretch>
              </a:blipFill>
            </p:spPr>
            <p:txBody>
              <a:bodyPr/>
              <a:lstStyle/>
              <a:p>
                <a:r>
                  <a:rPr lang="zh-CN" altLang="en-US">
                    <a:noFill/>
                  </a:rPr>
                  <a:t> </a:t>
                </a:r>
              </a:p>
            </p:txBody>
          </p:sp>
        </mc:Fallback>
      </mc:AlternateContent>
      <p:sp>
        <p:nvSpPr>
          <p:cNvPr id="6" name="日期占位符 5"/>
          <p:cNvSpPr>
            <a:spLocks noGrp="1"/>
          </p:cNvSpPr>
          <p:nvPr>
            <p:ph type="dt" sz="half" idx="10"/>
          </p:nvPr>
        </p:nvSpPr>
        <p:spPr/>
        <p:txBody>
          <a:bodyPr/>
          <a:lstStyle/>
          <a:p>
            <a:fld id="{4D050A35-78F6-43AA-A393-2FFD93CD24B1}" type="datetime1">
              <a:rPr lang="zh-CN" altLang="en-US" smtClean="0"/>
              <a:t>2025/3/14</a:t>
            </a:fld>
            <a:endParaRPr lang="zh-CN" altLang="en-US" dirty="0"/>
          </a:p>
        </p:txBody>
      </p:sp>
      <p:sp>
        <p:nvSpPr>
          <p:cNvPr id="7" name="页脚占位符 6"/>
          <p:cNvSpPr>
            <a:spLocks noGrp="1"/>
          </p:cNvSpPr>
          <p:nvPr>
            <p:ph type="ftr" sz="quarter" idx="11"/>
          </p:nvPr>
        </p:nvSpPr>
        <p:spPr/>
        <p:txBody>
          <a:bodyPr/>
          <a:lstStyle/>
          <a:p>
            <a:pPr algn="r"/>
            <a:r>
              <a:rPr lang="zh-CN" altLang="en-US" smtClean="0"/>
              <a:t>华中科技大学</a:t>
            </a:r>
            <a:r>
              <a:rPr lang="en-US" altLang="zh-CN" smtClean="0"/>
              <a:t>NNSS</a:t>
            </a:r>
            <a:r>
              <a:rPr lang="zh-CN" altLang="en-US" smtClean="0"/>
              <a:t>实验室</a:t>
            </a:r>
            <a:endParaRPr lang="zh-CN" altLang="en-US" dirty="0"/>
          </a:p>
        </p:txBody>
      </p:sp>
      <p:sp>
        <p:nvSpPr>
          <p:cNvPr id="8" name="灯片编号占位符 7"/>
          <p:cNvSpPr>
            <a:spLocks noGrp="1"/>
          </p:cNvSpPr>
          <p:nvPr>
            <p:ph type="sldNum" sz="quarter" idx="12"/>
          </p:nvPr>
        </p:nvSpPr>
        <p:spPr/>
        <p:txBody>
          <a:bodyPr/>
          <a:lstStyle/>
          <a:p>
            <a:fld id="{67913A8A-9EFB-4B5F-9CCB-3D21173FAA85}" type="slidenum">
              <a:rPr lang="zh-CN" altLang="en-US" smtClean="0"/>
              <a:pPr/>
              <a:t>93</a:t>
            </a:fld>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wipe(down)">
                                      <p:cBhvr>
                                        <p:cTn id="7" dur="500"/>
                                        <p:tgtEl>
                                          <p:spTgt spid="3">
                                            <p:txEl>
                                              <p:pRg st="2" end="2"/>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3">
                                            <p:txEl>
                                              <p:pRg st="3" end="3"/>
                                            </p:txEl>
                                          </p:spTgt>
                                        </p:tgtEl>
                                        <p:attrNameLst>
                                          <p:attrName>style.visibility</p:attrName>
                                        </p:attrNameLst>
                                      </p:cBhvr>
                                      <p:to>
                                        <p:strVal val="visible"/>
                                      </p:to>
                                    </p:set>
                                    <p:animEffect transition="in" filter="wipe(down)">
                                      <p:cBhvr>
                                        <p:cTn id="10" dur="500"/>
                                        <p:tgtEl>
                                          <p:spTgt spid="3">
                                            <p:txEl>
                                              <p:pRg st="3" end="3"/>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animEffect transition="in" filter="wipe(down)">
                                      <p:cBhvr>
                                        <p:cTn id="13" dur="500"/>
                                        <p:tgtEl>
                                          <p:spTgt spid="3">
                                            <p:txEl>
                                              <p:pRg st="4" end="4"/>
                                            </p:txEl>
                                          </p:spTgt>
                                        </p:tgtEl>
                                      </p:cBhvr>
                                    </p:animEffect>
                                  </p:childTnLst>
                                </p:cTn>
                              </p:par>
                              <p:par>
                                <p:cTn id="14" presetID="22" presetClass="entr" presetSubtype="4" fill="hold" nodeType="withEffect">
                                  <p:stCondLst>
                                    <p:cond delay="0"/>
                                  </p:stCondLst>
                                  <p:childTnLst>
                                    <p:set>
                                      <p:cBhvr>
                                        <p:cTn id="15" dur="1" fill="hold">
                                          <p:stCondLst>
                                            <p:cond delay="0"/>
                                          </p:stCondLst>
                                        </p:cTn>
                                        <p:tgtEl>
                                          <p:spTgt spid="3">
                                            <p:txEl>
                                              <p:pRg st="5" end="5"/>
                                            </p:txEl>
                                          </p:spTgt>
                                        </p:tgtEl>
                                        <p:attrNameLst>
                                          <p:attrName>style.visibility</p:attrName>
                                        </p:attrNameLst>
                                      </p:cBhvr>
                                      <p:to>
                                        <p:strVal val="visible"/>
                                      </p:to>
                                    </p:set>
                                    <p:animEffect transition="in" filter="wipe(down)">
                                      <p:cBhvr>
                                        <p:cTn id="16" dur="500"/>
                                        <p:tgtEl>
                                          <p:spTgt spid="3">
                                            <p:txEl>
                                              <p:pRg st="5" end="5"/>
                                            </p:txEl>
                                          </p:spTgt>
                                        </p:tgtEl>
                                      </p:cBhvr>
                                    </p:animEffect>
                                  </p:childTnLst>
                                </p:cTn>
                              </p:par>
                              <p:par>
                                <p:cTn id="17" presetID="22" presetClass="entr" presetSubtype="4"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animEffect transition="in" filter="wipe(down)">
                                      <p:cBhvr>
                                        <p:cTn id="19"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457200" y="3505200"/>
            <a:ext cx="11277599" cy="1295400"/>
          </a:xfrm>
          <a:prstGeom prst="rect">
            <a:avLst/>
          </a:prstGeom>
          <a:solidFill>
            <a:schemeClr val="accent5">
              <a:lumMod val="40000"/>
              <a:lumOff val="6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itle 1"/>
          <p:cNvSpPr>
            <a:spLocks noGrp="1"/>
          </p:cNvSpPr>
          <p:nvPr>
            <p:ph type="title"/>
          </p:nvPr>
        </p:nvSpPr>
        <p:spPr/>
        <p:txBody>
          <a:bodyPr/>
          <a:lstStyle/>
          <a:p>
            <a:r>
              <a:rPr lang="zh-CN" altLang="en-US" dirty="0" smtClean="0"/>
              <a:t>等价类</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en-US" altLang="zh-CN" dirty="0" smtClean="0"/>
                  <a:t>A</a:t>
                </a:r>
                <a:r>
                  <a:rPr lang="zh-CN" altLang="en-US" dirty="0" smtClean="0"/>
                  <a:t>是所有的大学毕业生集合</a:t>
                </a:r>
                <a:r>
                  <a:rPr lang="en-US" altLang="zh-CN" dirty="0" smtClean="0"/>
                  <a:t>. R</a:t>
                </a:r>
                <a:r>
                  <a:rPr lang="zh-CN" altLang="en-US" dirty="0" smtClean="0"/>
                  <a:t>是</a:t>
                </a:r>
                <a:r>
                  <a:rPr lang="en-US" altLang="zh-CN" dirty="0" smtClean="0"/>
                  <a:t>A</a:t>
                </a:r>
                <a:r>
                  <a:rPr lang="zh-CN" altLang="en-US" dirty="0" smtClean="0"/>
                  <a:t>上的关系</a:t>
                </a:r>
                <a:r>
                  <a:rPr lang="en-US" altLang="zh-CN" dirty="0" smtClean="0"/>
                  <a:t>, </a:t>
                </a:r>
                <a:r>
                  <a:rPr lang="zh-CN" altLang="en-US" dirty="0" smtClean="0"/>
                  <a:t>其中由</a:t>
                </a:r>
                <a:r>
                  <a:rPr lang="zh-CN" altLang="en-US" dirty="0"/>
                  <a:t>有序对</a:t>
                </a:r>
                <a:r>
                  <a:rPr lang="en-US" altLang="zh-CN" dirty="0" smtClean="0"/>
                  <a:t>(</a:t>
                </a:r>
                <a:r>
                  <a:rPr lang="en-US" altLang="zh-CN" dirty="0" err="1" smtClean="0"/>
                  <a:t>x,y</a:t>
                </a:r>
                <a:r>
                  <a:rPr lang="en-US" altLang="zh-CN" dirty="0" smtClean="0"/>
                  <a:t>)</a:t>
                </a:r>
                <a:r>
                  <a:rPr lang="zh-CN" altLang="en-US" dirty="0" smtClean="0"/>
                  <a:t>构成</a:t>
                </a:r>
                <a:r>
                  <a:rPr lang="en-US" altLang="zh-CN" dirty="0" smtClean="0"/>
                  <a:t>,</a:t>
                </a:r>
                <a:r>
                  <a:rPr lang="zh-CN" altLang="en-US" dirty="0" smtClean="0"/>
                  <a:t>如果</a:t>
                </a:r>
                <a:r>
                  <a:rPr lang="en-US" altLang="zh-CN" dirty="0" smtClean="0"/>
                  <a:t>x</a:t>
                </a:r>
                <a:r>
                  <a:rPr lang="zh-CN" altLang="en-US" dirty="0" smtClean="0"/>
                  <a:t>和</a:t>
                </a:r>
                <a:r>
                  <a:rPr lang="en-US" altLang="zh-CN" dirty="0" smtClean="0"/>
                  <a:t>y</a:t>
                </a:r>
                <a:r>
                  <a:rPr lang="zh-CN" altLang="en-US" dirty="0" smtClean="0"/>
                  <a:t>毕业于同一所大学</a:t>
                </a:r>
                <a:r>
                  <a:rPr lang="en-US" altLang="zh-CN" dirty="0" smtClean="0"/>
                  <a:t>. </a:t>
                </a:r>
                <a:r>
                  <a:rPr lang="zh-CN" altLang="en-US" dirty="0" smtClean="0"/>
                  <a:t>给定一名从华中科技大学毕业的学生张三</a:t>
                </a:r>
                <a:r>
                  <a:rPr lang="en-US" altLang="zh-CN" dirty="0" smtClean="0"/>
                  <a:t>, </a:t>
                </a:r>
                <a:r>
                  <a:rPr lang="zh-CN" altLang="en-US" dirty="0" smtClean="0"/>
                  <a:t>那么我们能够生成一个新的集合</a:t>
                </a:r>
                <a:r>
                  <a:rPr lang="en-US" altLang="zh-CN" dirty="0" smtClean="0"/>
                  <a:t>, </a:t>
                </a:r>
                <a:r>
                  <a:rPr lang="zh-CN" altLang="en-US" dirty="0" smtClean="0"/>
                  <a:t>该集合中都是与张三具有</a:t>
                </a:r>
                <a:r>
                  <a:rPr lang="en-US" altLang="zh-CN" dirty="0" smtClean="0"/>
                  <a:t>R</a:t>
                </a:r>
                <a:r>
                  <a:rPr lang="zh-CN" altLang="en-US" dirty="0" smtClean="0"/>
                  <a:t>关系的学生</a:t>
                </a:r>
                <a:r>
                  <a:rPr lang="en-US" altLang="zh-CN" dirty="0" smtClean="0"/>
                  <a:t>. </a:t>
                </a:r>
                <a:r>
                  <a:rPr lang="zh-CN" altLang="en-US" dirty="0" smtClean="0"/>
                  <a:t>这个集合叫做张三的等价类</a:t>
                </a:r>
                <a:r>
                  <a:rPr lang="en-US" altLang="zh-CN" dirty="0" smtClean="0"/>
                  <a:t>.</a:t>
                </a:r>
              </a:p>
              <a:p>
                <a:endParaRPr lang="en-US" altLang="zh-CN" dirty="0"/>
              </a:p>
              <a:p>
                <a:r>
                  <a:rPr lang="zh-CN" altLang="en-US" dirty="0" smtClean="0"/>
                  <a:t>定义</a:t>
                </a:r>
                <a:r>
                  <a:rPr lang="en-US" dirty="0" smtClean="0"/>
                  <a:t>: </a:t>
                </a:r>
                <a:r>
                  <a:rPr lang="zh-CN" altLang="en-US" dirty="0" smtClean="0"/>
                  <a:t>设</a:t>
                </a:r>
                <a:r>
                  <a:rPr lang="en-US" dirty="0" smtClean="0"/>
                  <a:t>R</a:t>
                </a:r>
                <a:r>
                  <a:rPr lang="zh-CN" altLang="en-US" dirty="0" smtClean="0"/>
                  <a:t>是定义在集合</a:t>
                </a:r>
                <a:r>
                  <a:rPr lang="en-US" altLang="zh-CN" dirty="0" smtClean="0"/>
                  <a:t>A</a:t>
                </a:r>
                <a:r>
                  <a:rPr lang="zh-CN" altLang="en-US" dirty="0" smtClean="0"/>
                  <a:t>上的等价关系</a:t>
                </a:r>
                <a:r>
                  <a:rPr lang="en-US" altLang="zh-CN" dirty="0" smtClean="0"/>
                  <a:t>. </a:t>
                </a:r>
                <a:r>
                  <a:rPr lang="zh-CN" altLang="en-US" dirty="0" smtClean="0"/>
                  <a:t>与</a:t>
                </a:r>
                <a:r>
                  <a:rPr lang="en-US" altLang="zh-CN" dirty="0" smtClean="0"/>
                  <a:t>A</a:t>
                </a:r>
                <a:r>
                  <a:rPr lang="zh-CN" altLang="en-US" dirty="0" smtClean="0"/>
                  <a:t>中的一个元素</a:t>
                </a:r>
                <a:r>
                  <a:rPr lang="en-US" altLang="zh-CN" dirty="0" smtClean="0"/>
                  <a:t>a</a:t>
                </a:r>
                <a:r>
                  <a:rPr lang="zh-CN" altLang="en-US" dirty="0" smtClean="0"/>
                  <a:t>有关系的所有元素的集合叫做</a:t>
                </a:r>
                <a:r>
                  <a:rPr lang="en-US" altLang="zh-CN" dirty="0" smtClean="0"/>
                  <a:t>a</a:t>
                </a:r>
                <a:r>
                  <a:rPr lang="zh-CN" altLang="en-US" dirty="0" smtClean="0"/>
                  <a:t>的</a:t>
                </a:r>
                <a:r>
                  <a:rPr lang="zh-CN" altLang="en-US" b="1" dirty="0" smtClean="0">
                    <a:solidFill>
                      <a:srgbClr val="C00000"/>
                    </a:solidFill>
                  </a:rPr>
                  <a:t>等价类</a:t>
                </a:r>
                <a:r>
                  <a:rPr lang="en-US" altLang="zh-CN" dirty="0" smtClean="0"/>
                  <a:t>, </a:t>
                </a:r>
                <a:r>
                  <a:rPr lang="zh-CN" altLang="en-US" dirty="0" smtClean="0"/>
                  <a:t>记作</a:t>
                </a:r>
                <a14:m>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m:t>
                        </m:r>
                        <m:r>
                          <a:rPr lang="en-US" altLang="zh-CN" b="0" i="1" smtClean="0">
                            <a:latin typeface="Cambria Math" panose="02040503050406030204" pitchFamily="18" charset="0"/>
                          </a:rPr>
                          <m:t>𝑎</m:t>
                        </m:r>
                        <m:r>
                          <a:rPr lang="en-US" altLang="zh-CN" b="0" i="1" smtClean="0">
                            <a:latin typeface="Cambria Math" panose="02040503050406030204" pitchFamily="18" charset="0"/>
                          </a:rPr>
                          <m:t>]</m:t>
                        </m:r>
                      </m:e>
                      <m:sub>
                        <m:r>
                          <a:rPr lang="en-US" altLang="zh-CN" b="0" i="1" smtClean="0">
                            <a:latin typeface="Cambria Math" panose="02040503050406030204" pitchFamily="18" charset="0"/>
                          </a:rPr>
                          <m:t>𝑅</m:t>
                        </m:r>
                      </m:sub>
                    </m:sSub>
                  </m:oMath>
                </a14:m>
                <a:r>
                  <a:rPr lang="en-US" altLang="zh-CN" dirty="0" smtClean="0"/>
                  <a:t>. </a:t>
                </a:r>
                <a:r>
                  <a:rPr lang="zh-CN" altLang="en-US" dirty="0" smtClean="0"/>
                  <a:t>当只考虑一个关系时</a:t>
                </a:r>
                <a:r>
                  <a:rPr lang="en-US" altLang="zh-CN" dirty="0" smtClean="0"/>
                  <a:t>, </a:t>
                </a:r>
                <a:r>
                  <a:rPr lang="zh-CN" altLang="en-US" dirty="0" smtClean="0"/>
                  <a:t>我们将省去下标</a:t>
                </a:r>
                <a:r>
                  <a:rPr lang="en-US" altLang="zh-CN" dirty="0" smtClean="0"/>
                  <a:t>R, </a:t>
                </a:r>
                <a:r>
                  <a:rPr lang="zh-CN" altLang="en-US" dirty="0" smtClean="0"/>
                  <a:t>并把这个等价类写作</a:t>
                </a:r>
                <a:r>
                  <a:rPr lang="en-US" dirty="0" smtClean="0"/>
                  <a:t> [</a:t>
                </a:r>
                <a14:m>
                  <m:oMath xmlns:m="http://schemas.openxmlformats.org/officeDocument/2006/math">
                    <m:r>
                      <a:rPr lang="en-US" altLang="zh-CN" i="1">
                        <a:latin typeface="Cambria Math" panose="02040503050406030204" pitchFamily="18" charset="0"/>
                      </a:rPr>
                      <m:t>𝑎</m:t>
                    </m:r>
                  </m:oMath>
                </a14:m>
                <a:r>
                  <a:rPr lang="en-US" dirty="0" smtClean="0"/>
                  <a:t>].</a:t>
                </a:r>
              </a:p>
              <a:p>
                <a:r>
                  <a:rPr lang="zh-CN" altLang="en-US" dirty="0" smtClean="0"/>
                  <a:t>换句话说</a:t>
                </a:r>
                <a:r>
                  <a:rPr lang="en-US" altLang="zh-CN" dirty="0" smtClean="0"/>
                  <a:t>, </a:t>
                </a:r>
                <a:r>
                  <a:rPr lang="zh-CN" altLang="en-US" dirty="0" smtClean="0"/>
                  <a:t>如果</a:t>
                </a:r>
                <a:r>
                  <a:rPr lang="en-US" altLang="zh-CN" dirty="0" smtClean="0"/>
                  <a:t>R</a:t>
                </a:r>
                <a:r>
                  <a:rPr lang="zh-CN" altLang="en-US" dirty="0" smtClean="0"/>
                  <a:t>是定义在集合</a:t>
                </a:r>
                <a:r>
                  <a:rPr lang="en-US" altLang="zh-CN" dirty="0" smtClean="0"/>
                  <a:t>A</a:t>
                </a:r>
                <a:r>
                  <a:rPr lang="zh-CN" altLang="en-US" dirty="0" smtClean="0"/>
                  <a:t>上的等价关系</a:t>
                </a:r>
                <a:r>
                  <a:rPr lang="en-US" altLang="zh-CN" dirty="0" smtClean="0"/>
                  <a:t>, </a:t>
                </a:r>
                <a:r>
                  <a:rPr lang="zh-CN" altLang="en-US" dirty="0" smtClean="0"/>
                  <a:t>则元素</a:t>
                </a:r>
                <a14:m>
                  <m:oMath xmlns:m="http://schemas.openxmlformats.org/officeDocument/2006/math">
                    <m:r>
                      <a:rPr lang="en-US" altLang="zh-CN" i="1">
                        <a:latin typeface="Cambria Math" panose="02040503050406030204" pitchFamily="18" charset="0"/>
                      </a:rPr>
                      <m:t>𝑎</m:t>
                    </m:r>
                  </m:oMath>
                </a14:m>
                <a:r>
                  <a:rPr lang="zh-CN" altLang="en-US" dirty="0" smtClean="0"/>
                  <a:t>的等价类是</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m:t>
                        </m:r>
                        <m:r>
                          <a:rPr lang="en-US" altLang="zh-CN" i="1">
                            <a:latin typeface="Cambria Math" panose="02040503050406030204" pitchFamily="18" charset="0"/>
                          </a:rPr>
                          <m:t>𝑎</m:t>
                        </m:r>
                        <m:r>
                          <a:rPr lang="en-US" altLang="zh-CN" i="1">
                            <a:latin typeface="Cambria Math" panose="02040503050406030204" pitchFamily="18" charset="0"/>
                          </a:rPr>
                          <m:t>]</m:t>
                        </m:r>
                      </m:e>
                      <m:sub>
                        <m:r>
                          <a:rPr lang="en-US" altLang="zh-CN" i="1">
                            <a:latin typeface="Cambria Math" panose="02040503050406030204" pitchFamily="18" charset="0"/>
                          </a:rPr>
                          <m:t>𝑅</m:t>
                        </m:r>
                      </m:sub>
                    </m:sSub>
                  </m:oMath>
                </a14:m>
                <a:r>
                  <a:rPr lang="en-US" dirty="0" smtClean="0"/>
                  <a:t>= {s|(</a:t>
                </a:r>
                <a14:m>
                  <m:oMath xmlns:m="http://schemas.openxmlformats.org/officeDocument/2006/math">
                    <m:r>
                      <a:rPr lang="en-US" altLang="zh-CN" i="1">
                        <a:latin typeface="Cambria Math" panose="02040503050406030204" pitchFamily="18" charset="0"/>
                      </a:rPr>
                      <m:t>𝑎</m:t>
                    </m:r>
                  </m:oMath>
                </a14:m>
                <a:r>
                  <a:rPr lang="en-US" dirty="0" err="1" smtClean="0"/>
                  <a:t>,s</a:t>
                </a:r>
                <a:r>
                  <a:rPr lang="en-US" dirty="0" smtClean="0"/>
                  <a:t>)</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smtClean="0"/>
                  <a:t>R}. </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2"/>
                <a:stretch>
                  <a:fillRect l="-999" t="-1310" r="-721"/>
                </a:stretch>
              </a:blipFill>
            </p:spPr>
            <p:txBody>
              <a:bodyPr/>
              <a:lstStyle/>
              <a:p>
                <a:r>
                  <a:rPr lang="zh-CN" altLang="en-US">
                    <a:noFill/>
                  </a:rPr>
                  <a:t> </a:t>
                </a:r>
              </a:p>
            </p:txBody>
          </p:sp>
        </mc:Fallback>
      </mc:AlternateContent>
      <p:sp>
        <p:nvSpPr>
          <p:cNvPr id="6" name="日期占位符 5"/>
          <p:cNvSpPr>
            <a:spLocks noGrp="1"/>
          </p:cNvSpPr>
          <p:nvPr>
            <p:ph type="dt" sz="half" idx="10"/>
          </p:nvPr>
        </p:nvSpPr>
        <p:spPr/>
        <p:txBody>
          <a:bodyPr/>
          <a:lstStyle/>
          <a:p>
            <a:fld id="{53305DB2-53DF-4574-AA97-B520E88281CA}" type="datetime1">
              <a:rPr lang="zh-CN" altLang="en-US" smtClean="0"/>
              <a:t>2025/3/14</a:t>
            </a:fld>
            <a:endParaRPr lang="zh-CN" altLang="en-US" dirty="0"/>
          </a:p>
        </p:txBody>
      </p:sp>
      <p:sp>
        <p:nvSpPr>
          <p:cNvPr id="7" name="页脚占位符 6"/>
          <p:cNvSpPr>
            <a:spLocks noGrp="1"/>
          </p:cNvSpPr>
          <p:nvPr>
            <p:ph type="ftr" sz="quarter" idx="11"/>
          </p:nvPr>
        </p:nvSpPr>
        <p:spPr/>
        <p:txBody>
          <a:bodyPr/>
          <a:lstStyle/>
          <a:p>
            <a:pPr algn="r"/>
            <a:r>
              <a:rPr lang="zh-CN" altLang="en-US" smtClean="0"/>
              <a:t>华中科技大学</a:t>
            </a:r>
            <a:r>
              <a:rPr lang="en-US" altLang="zh-CN" smtClean="0"/>
              <a:t>NNSS</a:t>
            </a:r>
            <a:r>
              <a:rPr lang="zh-CN" altLang="en-US" smtClean="0"/>
              <a:t>实验室</a:t>
            </a:r>
            <a:endParaRPr lang="zh-CN" altLang="en-US" dirty="0"/>
          </a:p>
        </p:txBody>
      </p:sp>
      <p:sp>
        <p:nvSpPr>
          <p:cNvPr id="8" name="灯片编号占位符 7"/>
          <p:cNvSpPr>
            <a:spLocks noGrp="1"/>
          </p:cNvSpPr>
          <p:nvPr>
            <p:ph type="sldNum" sz="quarter" idx="12"/>
          </p:nvPr>
        </p:nvSpPr>
        <p:spPr/>
        <p:txBody>
          <a:bodyPr/>
          <a:lstStyle/>
          <a:p>
            <a:fld id="{67913A8A-9EFB-4B5F-9CCB-3D21173FAA85}" type="slidenum">
              <a:rPr lang="zh-CN" altLang="en-US" smtClean="0"/>
              <a:pPr/>
              <a:t>94</a:t>
            </a:fld>
            <a:endParaRPr lang="zh-CN" altLang="en-US" dirty="0"/>
          </a:p>
        </p:txBody>
      </p:sp>
    </p:spTree>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smtClean="0"/>
              <a:t>等价类</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zh-CN" altLang="en-US" dirty="0" smtClean="0"/>
                  <a:t>如果</a:t>
                </a:r>
                <a:r>
                  <a:rPr lang="en-US" dirty="0" smtClean="0"/>
                  <a:t>b</a:t>
                </a:r>
                <a14:m>
                  <m:oMath xmlns:m="http://schemas.openxmlformats.org/officeDocument/2006/math">
                    <m:r>
                      <a:rPr lang="en-US" altLang="zh-CN" i="1" smtClean="0">
                        <a:latin typeface="Cambria Math" panose="02040503050406030204" pitchFamily="18" charset="0"/>
                        <a:ea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m:t>
                        </m:r>
                        <m:r>
                          <a:rPr lang="en-US" altLang="zh-CN" i="1">
                            <a:latin typeface="Cambria Math" panose="02040503050406030204" pitchFamily="18" charset="0"/>
                          </a:rPr>
                          <m:t>𝑎</m:t>
                        </m:r>
                        <m:r>
                          <a:rPr lang="en-US" altLang="zh-CN" i="1">
                            <a:latin typeface="Cambria Math" panose="02040503050406030204" pitchFamily="18" charset="0"/>
                          </a:rPr>
                          <m:t>]</m:t>
                        </m:r>
                      </m:e>
                      <m:sub>
                        <m:r>
                          <a:rPr lang="en-US" altLang="zh-CN" i="1">
                            <a:latin typeface="Cambria Math" panose="02040503050406030204" pitchFamily="18" charset="0"/>
                          </a:rPr>
                          <m:t>𝑅</m:t>
                        </m:r>
                      </m:sub>
                    </m:sSub>
                  </m:oMath>
                </a14:m>
                <a:r>
                  <a:rPr lang="en-US" dirty="0" smtClean="0"/>
                  <a:t>, </a:t>
                </a:r>
                <a:r>
                  <a:rPr lang="zh-CN" altLang="en-US" dirty="0" smtClean="0"/>
                  <a:t>那么</a:t>
                </a:r>
                <a:r>
                  <a:rPr lang="en-US" dirty="0" smtClean="0"/>
                  <a:t>b</a:t>
                </a:r>
                <a:r>
                  <a:rPr lang="zh-CN" altLang="en-US" dirty="0" smtClean="0"/>
                  <a:t>叫做这个等价类的</a:t>
                </a:r>
                <a:r>
                  <a:rPr lang="zh-CN" altLang="en-US" b="1" dirty="0" smtClean="0">
                    <a:solidFill>
                      <a:srgbClr val="C00000"/>
                    </a:solidFill>
                  </a:rPr>
                  <a:t>代表元</a:t>
                </a:r>
                <a:r>
                  <a:rPr lang="en-US" altLang="zh-CN" dirty="0" smtClean="0"/>
                  <a:t>.</a:t>
                </a:r>
                <a:r>
                  <a:rPr lang="en-US" dirty="0" smtClean="0"/>
                  <a:t> </a:t>
                </a:r>
              </a:p>
              <a:p>
                <a:r>
                  <a:rPr lang="zh-CN" altLang="en-US" dirty="0" smtClean="0"/>
                  <a:t>一个等价类的任何元素都可以作为这个类的代表元</a:t>
                </a:r>
                <a:r>
                  <a:rPr lang="en-US" altLang="zh-CN" dirty="0" smtClean="0"/>
                  <a:t>, </a:t>
                </a:r>
                <a:r>
                  <a:rPr lang="zh-CN" altLang="en-US" dirty="0" smtClean="0"/>
                  <a:t>也就是说</a:t>
                </a:r>
                <a:r>
                  <a:rPr lang="en-US" altLang="zh-CN" dirty="0" smtClean="0"/>
                  <a:t>, </a:t>
                </a:r>
                <a:r>
                  <a:rPr lang="zh-CN" altLang="en-US" dirty="0" smtClean="0"/>
                  <a:t>选择特定元素作为一个类的代表元没有任何特殊要求</a:t>
                </a:r>
                <a:r>
                  <a:rPr lang="en-US" altLang="zh-CN" dirty="0" smtClean="0"/>
                  <a:t>.</a:t>
                </a:r>
                <a:r>
                  <a:rPr lang="en-US" dirty="0" smtClean="0"/>
                  <a:t> </a:t>
                </a:r>
              </a:p>
              <a:p>
                <a:endParaRPr lang="en-US" dirty="0"/>
              </a:p>
              <a:p>
                <a:r>
                  <a:rPr lang="zh-CN" altLang="en-US" dirty="0" smtClean="0"/>
                  <a:t>例</a:t>
                </a:r>
                <a:r>
                  <a:rPr lang="en-US" altLang="zh-CN" dirty="0" smtClean="0"/>
                  <a:t>:R</a:t>
                </a:r>
                <a:r>
                  <a:rPr lang="zh-CN" altLang="en-US" dirty="0" smtClean="0"/>
                  <a:t>是整数集上的关系</a:t>
                </a:r>
                <a:r>
                  <a:rPr lang="en-US" altLang="zh-CN" dirty="0" smtClean="0"/>
                  <a:t>. </a:t>
                </a:r>
                <a14:m>
                  <m:oMath xmlns:m="http://schemas.openxmlformats.org/officeDocument/2006/math">
                    <m:r>
                      <a:rPr lang="en-US" altLang="zh-CN" i="1">
                        <a:latin typeface="Cambria Math" panose="02040503050406030204" pitchFamily="18" charset="0"/>
                      </a:rPr>
                      <m:t>𝑎</m:t>
                    </m:r>
                  </m:oMath>
                </a14:m>
                <a:r>
                  <a:rPr lang="en-US" altLang="zh-CN" dirty="0" err="1" smtClean="0"/>
                  <a:t>Rb</a:t>
                </a:r>
                <a:r>
                  <a:rPr lang="zh-CN" altLang="en-US" dirty="0" smtClean="0"/>
                  <a:t>当且仅当</a:t>
                </a:r>
                <a14:m>
                  <m:oMath xmlns:m="http://schemas.openxmlformats.org/officeDocument/2006/math">
                    <m:r>
                      <a:rPr lang="en-US" altLang="zh-CN" i="1">
                        <a:latin typeface="Cambria Math" panose="02040503050406030204" pitchFamily="18" charset="0"/>
                      </a:rPr>
                      <m:t>𝑎</m:t>
                    </m:r>
                    <m:r>
                      <a:rPr lang="en-US" altLang="zh-CN" i="1">
                        <a:latin typeface="Cambria Math" panose="02040503050406030204" pitchFamily="18" charset="0"/>
                      </a:rPr>
                      <m:t> </m:t>
                    </m:r>
                  </m:oMath>
                </a14:m>
                <a:r>
                  <a:rPr lang="en-US" altLang="zh-CN" dirty="0" smtClean="0"/>
                  <a:t>=b,</a:t>
                </a:r>
                <a:r>
                  <a:rPr lang="zh-CN" altLang="en-US" dirty="0" smtClean="0"/>
                  <a:t>或</a:t>
                </a:r>
                <a14:m>
                  <m:oMath xmlns:m="http://schemas.openxmlformats.org/officeDocument/2006/math">
                    <m:r>
                      <a:rPr lang="en-US" altLang="zh-CN" i="1">
                        <a:latin typeface="Cambria Math" panose="02040503050406030204" pitchFamily="18" charset="0"/>
                      </a:rPr>
                      <m:t>𝑎</m:t>
                    </m:r>
                    <m:r>
                      <a:rPr lang="en-US" altLang="zh-CN" i="1">
                        <a:latin typeface="Cambria Math" panose="02040503050406030204" pitchFamily="18" charset="0"/>
                      </a:rPr>
                      <m:t> </m:t>
                    </m:r>
                  </m:oMath>
                </a14:m>
                <a:r>
                  <a:rPr lang="en-US" altLang="zh-CN" dirty="0" smtClean="0"/>
                  <a:t>=-b. </a:t>
                </a:r>
                <a:r>
                  <a:rPr lang="zh-CN" altLang="en-US" dirty="0" smtClean="0"/>
                  <a:t>该关系是等价关系</a:t>
                </a:r>
                <a:r>
                  <a:rPr lang="en-US" altLang="zh-CN" dirty="0" smtClean="0"/>
                  <a:t>. </a:t>
                </a:r>
                <a:r>
                  <a:rPr lang="zh-CN" altLang="en-US" dirty="0" smtClean="0"/>
                  <a:t>给定一个整数</a:t>
                </a:r>
                <a:r>
                  <a:rPr lang="en-US" altLang="zh-CN" dirty="0" smtClean="0"/>
                  <a:t>a, </a:t>
                </a:r>
                <a:r>
                  <a:rPr lang="zh-CN" altLang="en-US" dirty="0" smtClean="0"/>
                  <a:t>它的等价类是什么</a:t>
                </a:r>
                <a:r>
                  <a:rPr lang="en-US" altLang="zh-CN" dirty="0" smtClean="0"/>
                  <a:t>?</a:t>
                </a:r>
              </a:p>
              <a:p>
                <a:r>
                  <a:rPr lang="zh-CN" altLang="en-US" dirty="0" smtClean="0"/>
                  <a:t>解</a:t>
                </a:r>
                <a:r>
                  <a:rPr lang="en-US" altLang="zh-CN" dirty="0" smtClean="0"/>
                  <a:t>: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m:t>
                        </m:r>
                        <m:r>
                          <a:rPr lang="en-US" altLang="zh-CN" i="1">
                            <a:latin typeface="Cambria Math" panose="02040503050406030204" pitchFamily="18" charset="0"/>
                          </a:rPr>
                          <m:t>𝑎</m:t>
                        </m:r>
                        <m:r>
                          <a:rPr lang="en-US" altLang="zh-CN" i="1">
                            <a:latin typeface="Cambria Math" panose="02040503050406030204" pitchFamily="18" charset="0"/>
                          </a:rPr>
                          <m:t>]</m:t>
                        </m:r>
                      </m:e>
                      <m:sub>
                        <m:r>
                          <a:rPr lang="en-US" altLang="zh-CN" i="1">
                            <a:latin typeface="Cambria Math" panose="02040503050406030204" pitchFamily="18" charset="0"/>
                          </a:rPr>
                          <m:t>𝑅</m:t>
                        </m:r>
                      </m:sub>
                    </m:sSub>
                  </m:oMath>
                </a14:m>
                <a:r>
                  <a:rPr lang="en-US" altLang="zh-CN" dirty="0"/>
                  <a:t>= {s|(</a:t>
                </a:r>
                <a14:m>
                  <m:oMath xmlns:m="http://schemas.openxmlformats.org/officeDocument/2006/math">
                    <m:r>
                      <a:rPr lang="en-US" altLang="zh-CN" i="1">
                        <a:latin typeface="Cambria Math" panose="02040503050406030204" pitchFamily="18" charset="0"/>
                      </a:rPr>
                      <m:t>𝑎</m:t>
                    </m:r>
                  </m:oMath>
                </a14:m>
                <a:r>
                  <a:rPr lang="en-US" altLang="zh-CN" dirty="0" err="1"/>
                  <a:t>,s</a:t>
                </a:r>
                <a:r>
                  <a:rPr lang="en-US" altLang="zh-CN" dirty="0"/>
                  <a:t>)</a:t>
                </a:r>
                <a14:m>
                  <m:oMath xmlns:m="http://schemas.openxmlformats.org/officeDocument/2006/math">
                    <m:r>
                      <a:rPr lang="en-US" altLang="zh-CN" i="1">
                        <a:latin typeface="Cambria Math" panose="02040503050406030204" pitchFamily="18" charset="0"/>
                        <a:ea typeface="Cambria Math" panose="02040503050406030204" pitchFamily="18" charset="0"/>
                      </a:rPr>
                      <m:t>∈</m:t>
                    </m:r>
                  </m:oMath>
                </a14:m>
                <a:r>
                  <a:rPr lang="en-US" altLang="zh-CN" dirty="0"/>
                  <a:t>R}. </a:t>
                </a:r>
                <a:r>
                  <a:rPr lang="zh-CN" altLang="en-US" dirty="0" smtClean="0"/>
                  <a:t>所以</a:t>
                </a:r>
                <a:r>
                  <a:rPr lang="en-US" altLang="zh-CN" dirty="0" smtClean="0"/>
                  <a:t>[</a:t>
                </a:r>
                <a14:m>
                  <m:oMath xmlns:m="http://schemas.openxmlformats.org/officeDocument/2006/math">
                    <m:r>
                      <a:rPr lang="en-US" altLang="zh-CN" i="1">
                        <a:latin typeface="Cambria Math" panose="02040503050406030204" pitchFamily="18" charset="0"/>
                      </a:rPr>
                      <m:t>𝑎</m:t>
                    </m:r>
                  </m:oMath>
                </a14:m>
                <a:r>
                  <a:rPr lang="en-US" altLang="zh-CN" dirty="0" smtClean="0"/>
                  <a:t>]={</a:t>
                </a:r>
                <a14:m>
                  <m:oMath xmlns:m="http://schemas.openxmlformats.org/officeDocument/2006/math">
                    <m:r>
                      <a:rPr lang="en-US" altLang="zh-CN" i="1">
                        <a:latin typeface="Cambria Math" panose="02040503050406030204" pitchFamily="18" charset="0"/>
                      </a:rPr>
                      <m:t>𝑎</m:t>
                    </m:r>
                  </m:oMath>
                </a14:m>
                <a:r>
                  <a:rPr lang="en-US" altLang="zh-CN" dirty="0" smtClean="0"/>
                  <a:t>, -</a:t>
                </a:r>
                <a:r>
                  <a:rPr lang="en-US" altLang="zh-CN" dirty="0"/>
                  <a:t> </a:t>
                </a:r>
                <a14:m>
                  <m:oMath xmlns:m="http://schemas.openxmlformats.org/officeDocument/2006/math">
                    <m:r>
                      <a:rPr lang="en-US" altLang="zh-CN" i="1">
                        <a:latin typeface="Cambria Math" panose="02040503050406030204" pitchFamily="18" charset="0"/>
                      </a:rPr>
                      <m:t>𝑎</m:t>
                    </m:r>
                  </m:oMath>
                </a14:m>
                <a:r>
                  <a:rPr lang="en-US" altLang="zh-CN" dirty="0" smtClean="0"/>
                  <a:t>}. </a:t>
                </a:r>
                <a:r>
                  <a:rPr lang="zh-CN" altLang="en-US" dirty="0" smtClean="0"/>
                  <a:t>该集合包含两个不同的整数</a:t>
                </a:r>
                <a:r>
                  <a:rPr lang="en-US" altLang="zh-CN" dirty="0" smtClean="0"/>
                  <a:t>, </a:t>
                </a:r>
                <a:r>
                  <a:rPr lang="zh-CN" altLang="en-US" dirty="0" smtClean="0"/>
                  <a:t>除非</a:t>
                </a:r>
                <a14:m>
                  <m:oMath xmlns:m="http://schemas.openxmlformats.org/officeDocument/2006/math">
                    <m:r>
                      <a:rPr lang="en-US" altLang="zh-CN" i="1">
                        <a:latin typeface="Cambria Math" panose="02040503050406030204" pitchFamily="18" charset="0"/>
                      </a:rPr>
                      <m:t>𝑎</m:t>
                    </m:r>
                    <m:r>
                      <a:rPr lang="en-US" altLang="zh-CN" i="1">
                        <a:latin typeface="Cambria Math" panose="02040503050406030204" pitchFamily="18" charset="0"/>
                      </a:rPr>
                      <m:t> </m:t>
                    </m:r>
                  </m:oMath>
                </a14:m>
                <a:r>
                  <a:rPr lang="en-US" altLang="zh-CN" dirty="0" smtClean="0"/>
                  <a:t>=0. </a:t>
                </a:r>
                <a:r>
                  <a:rPr lang="zh-CN" altLang="en-US" dirty="0" smtClean="0"/>
                  <a:t>例如</a:t>
                </a:r>
                <a:r>
                  <a:rPr lang="en-US" altLang="zh-CN" dirty="0" smtClean="0"/>
                  <a:t>[0]={0}, [-10]={-10,10}, [10]={10,-10}</a:t>
                </a:r>
                <a:r>
                  <a:rPr lang="en-US" altLang="zh-CN" dirty="0"/>
                  <a:t>.</a:t>
                </a:r>
                <a:endParaRPr lang="en-US" dirty="0" smtClean="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2"/>
                <a:stretch>
                  <a:fillRect l="-999" t="-1310" r="-1831"/>
                </a:stretch>
              </a:blipFill>
            </p:spPr>
            <p:txBody>
              <a:bodyPr/>
              <a:lstStyle/>
              <a:p>
                <a:r>
                  <a:rPr lang="zh-CN" altLang="en-US">
                    <a:noFill/>
                  </a:rPr>
                  <a:t> </a:t>
                </a:r>
              </a:p>
            </p:txBody>
          </p:sp>
        </mc:Fallback>
      </mc:AlternateContent>
      <p:sp>
        <p:nvSpPr>
          <p:cNvPr id="6" name="日期占位符 5"/>
          <p:cNvSpPr>
            <a:spLocks noGrp="1"/>
          </p:cNvSpPr>
          <p:nvPr>
            <p:ph type="dt" sz="half" idx="10"/>
          </p:nvPr>
        </p:nvSpPr>
        <p:spPr/>
        <p:txBody>
          <a:bodyPr/>
          <a:lstStyle/>
          <a:p>
            <a:fld id="{8D0DDAF6-5F51-4F6D-B76F-0C3E51B4F86D}" type="datetime1">
              <a:rPr lang="zh-CN" altLang="en-US" smtClean="0"/>
              <a:t>2025/3/14</a:t>
            </a:fld>
            <a:endParaRPr lang="zh-CN" altLang="en-US" dirty="0"/>
          </a:p>
        </p:txBody>
      </p:sp>
      <p:sp>
        <p:nvSpPr>
          <p:cNvPr id="7" name="页脚占位符 6"/>
          <p:cNvSpPr>
            <a:spLocks noGrp="1"/>
          </p:cNvSpPr>
          <p:nvPr>
            <p:ph type="ftr" sz="quarter" idx="11"/>
          </p:nvPr>
        </p:nvSpPr>
        <p:spPr/>
        <p:txBody>
          <a:bodyPr/>
          <a:lstStyle/>
          <a:p>
            <a:pPr algn="r"/>
            <a:r>
              <a:rPr lang="zh-CN" altLang="en-US" smtClean="0"/>
              <a:t>华中科技大学</a:t>
            </a:r>
            <a:r>
              <a:rPr lang="en-US" altLang="zh-CN" smtClean="0"/>
              <a:t>NNSS</a:t>
            </a:r>
            <a:r>
              <a:rPr lang="zh-CN" altLang="en-US" smtClean="0"/>
              <a:t>实验室</a:t>
            </a:r>
            <a:endParaRPr lang="zh-CN" altLang="en-US" dirty="0"/>
          </a:p>
        </p:txBody>
      </p:sp>
      <p:sp>
        <p:nvSpPr>
          <p:cNvPr id="8" name="灯片编号占位符 7"/>
          <p:cNvSpPr>
            <a:spLocks noGrp="1"/>
          </p:cNvSpPr>
          <p:nvPr>
            <p:ph type="sldNum" sz="quarter" idx="12"/>
          </p:nvPr>
        </p:nvSpPr>
        <p:spPr/>
        <p:txBody>
          <a:bodyPr/>
          <a:lstStyle/>
          <a:p>
            <a:fld id="{67913A8A-9EFB-4B5F-9CCB-3D21173FAA85}" type="slidenum">
              <a:rPr lang="zh-CN" altLang="en-US" smtClean="0"/>
              <a:pPr/>
              <a:t>95</a:t>
            </a:fld>
            <a:endParaRPr lang="zh-CN" altLang="en-US" dirty="0"/>
          </a:p>
        </p:txBody>
      </p:sp>
    </p:spTree>
    <p:extLst>
      <p:ext uri="{BB962C8B-B14F-4D97-AF65-F5344CB8AC3E}">
        <p14:creationId xmlns:p14="http://schemas.microsoft.com/office/powerpoint/2010/main" val="7168105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Effect transition="in" filter="wipe(down)">
                                      <p:cBhvr>
                                        <p:cTn id="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457200" y="1143000"/>
            <a:ext cx="11277599" cy="2133600"/>
          </a:xfrm>
          <a:prstGeom prst="rect">
            <a:avLst/>
          </a:prstGeom>
          <a:solidFill>
            <a:schemeClr val="accent5">
              <a:lumMod val="40000"/>
              <a:lumOff val="6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itle 1"/>
          <p:cNvSpPr>
            <a:spLocks noGrp="1"/>
          </p:cNvSpPr>
          <p:nvPr>
            <p:ph type="title"/>
          </p:nvPr>
        </p:nvSpPr>
        <p:spPr/>
        <p:txBody>
          <a:bodyPr/>
          <a:lstStyle/>
          <a:p>
            <a:r>
              <a:rPr lang="zh-CN" altLang="en-US" dirty="0" smtClean="0"/>
              <a:t>等价类与划分</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zh-CN" altLang="en-US" dirty="0" smtClean="0"/>
                  <a:t>定理</a:t>
                </a:r>
                <a:r>
                  <a:rPr lang="en-US" dirty="0" smtClean="0"/>
                  <a:t>: </a:t>
                </a:r>
                <a:r>
                  <a:rPr lang="zh-CN" altLang="en-US" dirty="0" smtClean="0"/>
                  <a:t>设</a:t>
                </a:r>
                <a:r>
                  <a:rPr lang="en-US" altLang="zh-CN" dirty="0" smtClean="0"/>
                  <a:t>R</a:t>
                </a:r>
                <a:r>
                  <a:rPr lang="zh-CN" altLang="en-US" dirty="0" smtClean="0"/>
                  <a:t>是定义在集合</a:t>
                </a:r>
                <a:r>
                  <a:rPr lang="en-US" altLang="zh-CN" dirty="0" smtClean="0"/>
                  <a:t>A</a:t>
                </a:r>
                <a:r>
                  <a:rPr lang="zh-CN" altLang="en-US" dirty="0" smtClean="0"/>
                  <a:t>上的等价关系</a:t>
                </a:r>
                <a:r>
                  <a:rPr lang="en-US" altLang="zh-CN" dirty="0" smtClean="0"/>
                  <a:t>, </a:t>
                </a:r>
                <a:r>
                  <a:rPr lang="zh-CN" altLang="en-US" dirty="0" smtClean="0"/>
                  <a:t>下面的关于集合</a:t>
                </a:r>
                <a:r>
                  <a:rPr lang="en-US" altLang="zh-CN" dirty="0" smtClean="0"/>
                  <a:t>A</a:t>
                </a:r>
                <a:r>
                  <a:rPr lang="zh-CN" altLang="en-US" dirty="0" smtClean="0"/>
                  <a:t>中的</a:t>
                </a:r>
                <a:r>
                  <a:rPr lang="en-US" altLang="zh-CN" dirty="0" err="1" smtClean="0"/>
                  <a:t>a,b</a:t>
                </a:r>
                <a:r>
                  <a:rPr lang="zh-CN" altLang="en-US" dirty="0" smtClean="0"/>
                  <a:t>两个元素的命题是等价的</a:t>
                </a:r>
                <a:r>
                  <a:rPr lang="en-US" dirty="0" smtClean="0"/>
                  <a:t>: </a:t>
                </a:r>
              </a:p>
              <a:p>
                <a:pPr lvl="1"/>
                <a:r>
                  <a:rPr lang="en-US" dirty="0" smtClean="0"/>
                  <a:t>    (</a:t>
                </a:r>
                <a:r>
                  <a:rPr lang="en-US" dirty="0" err="1" smtClean="0"/>
                  <a:t>i</a:t>
                </a:r>
                <a:r>
                  <a:rPr lang="en-US" dirty="0" smtClean="0"/>
                  <a:t>)   </a:t>
                </a:r>
                <a:r>
                  <a:rPr lang="en-US" dirty="0" err="1" smtClean="0"/>
                  <a:t>aRb</a:t>
                </a:r>
                <a:endParaRPr lang="en-US" dirty="0" smtClean="0"/>
              </a:p>
              <a:p>
                <a:pPr lvl="1"/>
                <a:r>
                  <a:rPr lang="en-US" dirty="0" smtClean="0"/>
                  <a:t>    (ii)  [a] = [b]</a:t>
                </a:r>
              </a:p>
              <a:p>
                <a:pPr lvl="1"/>
                <a:r>
                  <a:rPr lang="en-US" dirty="0" smtClean="0"/>
                  <a:t>    (iii) [a] ∩ [b] </a:t>
                </a:r>
                <a14:m>
                  <m:oMath xmlns:m="http://schemas.openxmlformats.org/officeDocument/2006/math">
                    <m:r>
                      <a:rPr lang="en-US" i="1" dirty="0" smtClean="0">
                        <a:latin typeface="Cambria Math" panose="02040503050406030204" pitchFamily="18" charset="0"/>
                        <a:ea typeface="Cambria Math" panose="02040503050406030204" pitchFamily="18" charset="0"/>
                      </a:rPr>
                      <m:t>≠</m:t>
                    </m:r>
                  </m:oMath>
                </a14:m>
                <a:r>
                  <a:rPr lang="en-US" dirty="0" smtClean="0"/>
                  <a:t> ∅</a:t>
                </a:r>
              </a:p>
              <a:p>
                <a:pPr marL="274320" lvl="1" indent="-274320">
                  <a:lnSpc>
                    <a:spcPct val="100000"/>
                  </a:lnSpc>
                  <a:spcBef>
                    <a:spcPts val="1000"/>
                  </a:spcBef>
                  <a:buClr>
                    <a:srgbClr val="CEA524"/>
                  </a:buClr>
                  <a:buSzPct val="100000"/>
                  <a:buFont typeface="Wingdings" panose="05000000000000000000" pitchFamily="2" charset="2"/>
                  <a:buChar char="q"/>
                </a:pPr>
                <a:endParaRPr lang="en-US" sz="2800" dirty="0" smtClean="0"/>
              </a:p>
              <a:p>
                <a:pPr marL="274320" lvl="1" indent="-274320">
                  <a:lnSpc>
                    <a:spcPct val="100000"/>
                  </a:lnSpc>
                  <a:spcBef>
                    <a:spcPts val="1000"/>
                  </a:spcBef>
                  <a:buClr>
                    <a:srgbClr val="CEA524"/>
                  </a:buClr>
                  <a:buSzPct val="100000"/>
                  <a:buFont typeface="Wingdings" panose="05000000000000000000" pitchFamily="2" charset="2"/>
                  <a:buChar char="q"/>
                </a:pPr>
                <a:r>
                  <a:rPr lang="zh-CN" altLang="en-US" sz="2800" dirty="0" smtClean="0"/>
                  <a:t>证</a:t>
                </a:r>
                <a:r>
                  <a:rPr lang="en-US" sz="2800" dirty="0" smtClean="0"/>
                  <a:t>:</a:t>
                </a:r>
              </a:p>
              <a:p>
                <a:pPr lvl="1"/>
                <a:r>
                  <a:rPr lang="zh-CN" altLang="en-US" dirty="0" smtClean="0"/>
                  <a:t>首先证明</a:t>
                </a:r>
                <a:r>
                  <a:rPr lang="en-US" dirty="0" smtClean="0"/>
                  <a:t>(</a:t>
                </a:r>
                <a:r>
                  <a:rPr lang="en-US" dirty="0" err="1" smtClean="0"/>
                  <a:t>i</a:t>
                </a:r>
                <a:r>
                  <a:rPr lang="en-US" dirty="0" smtClean="0"/>
                  <a:t>)</a:t>
                </a:r>
                <a:r>
                  <a:rPr lang="zh-CN" altLang="en-US" dirty="0" smtClean="0"/>
                  <a:t>推出</a:t>
                </a:r>
                <a:r>
                  <a:rPr lang="en-US" dirty="0" smtClean="0"/>
                  <a:t>(ii): </a:t>
                </a:r>
                <a:r>
                  <a:rPr lang="zh-CN" altLang="en-US" dirty="0" smtClean="0"/>
                  <a:t>假设</a:t>
                </a:r>
                <a:r>
                  <a:rPr lang="en-US" dirty="0" err="1" smtClean="0"/>
                  <a:t>aRb</a:t>
                </a:r>
                <a:r>
                  <a:rPr lang="en-US" altLang="zh-CN" dirty="0" smtClean="0"/>
                  <a:t>, </a:t>
                </a:r>
                <a:r>
                  <a:rPr lang="en-US" dirty="0" smtClean="0"/>
                  <a:t>c</a:t>
                </a:r>
                <a14:m>
                  <m:oMath xmlns:m="http://schemas.openxmlformats.org/officeDocument/2006/math">
                    <m:r>
                      <a:rPr lang="en-US" altLang="zh-CN" i="1">
                        <a:latin typeface="Cambria Math" panose="02040503050406030204" pitchFamily="18" charset="0"/>
                        <a:ea typeface="Cambria Math" panose="02040503050406030204" pitchFamily="18" charset="0"/>
                      </a:rPr>
                      <m:t>∈</m:t>
                    </m:r>
                  </m:oMath>
                </a14:m>
                <a:r>
                  <a:rPr lang="en-US" dirty="0"/>
                  <a:t>[a</a:t>
                </a:r>
                <a:r>
                  <a:rPr lang="en-US" dirty="0" smtClean="0"/>
                  <a:t>]</a:t>
                </a:r>
                <a:r>
                  <a:rPr lang="en-US" altLang="zh-CN" dirty="0" smtClean="0"/>
                  <a:t>, </a:t>
                </a:r>
                <a:r>
                  <a:rPr lang="zh-CN" altLang="en-US" dirty="0" smtClean="0"/>
                  <a:t>那么</a:t>
                </a:r>
                <a:r>
                  <a:rPr lang="en-US" dirty="0" err="1"/>
                  <a:t>aRc</a:t>
                </a:r>
                <a:r>
                  <a:rPr lang="en-US" dirty="0"/>
                  <a:t>. </a:t>
                </a:r>
                <a:r>
                  <a:rPr lang="zh-CN" altLang="en-US" dirty="0"/>
                  <a:t>因为</a:t>
                </a:r>
                <a:r>
                  <a:rPr lang="en-US" dirty="0" err="1"/>
                  <a:t>aRb</a:t>
                </a:r>
                <a:r>
                  <a:rPr lang="en-US" dirty="0"/>
                  <a:t> </a:t>
                </a:r>
                <a:r>
                  <a:rPr lang="zh-CN" altLang="en-US" dirty="0"/>
                  <a:t>且</a:t>
                </a:r>
                <a:r>
                  <a:rPr lang="en-US" dirty="0"/>
                  <a:t>R</a:t>
                </a:r>
                <a:r>
                  <a:rPr lang="zh-CN" altLang="en-US" dirty="0"/>
                  <a:t>是对称</a:t>
                </a:r>
                <a:r>
                  <a:rPr lang="zh-CN" altLang="en-US" dirty="0" smtClean="0"/>
                  <a:t>的</a:t>
                </a:r>
                <a:r>
                  <a:rPr lang="en-US" altLang="zh-CN" dirty="0" smtClean="0"/>
                  <a:t>, </a:t>
                </a:r>
                <a:r>
                  <a:rPr lang="zh-CN" altLang="en-US" dirty="0" smtClean="0"/>
                  <a:t>所以</a:t>
                </a:r>
                <a:r>
                  <a:rPr lang="en-US" dirty="0" err="1"/>
                  <a:t>bRa</a:t>
                </a:r>
                <a:r>
                  <a:rPr lang="en-US" dirty="0"/>
                  <a:t>. </a:t>
                </a:r>
                <a:r>
                  <a:rPr lang="zh-CN" altLang="en-US" dirty="0"/>
                  <a:t>又由于</a:t>
                </a:r>
                <a:r>
                  <a:rPr lang="en-US" altLang="zh-CN" dirty="0"/>
                  <a:t>R</a:t>
                </a:r>
                <a:r>
                  <a:rPr lang="zh-CN" altLang="en-US" dirty="0"/>
                  <a:t>是传递</a:t>
                </a:r>
                <a:r>
                  <a:rPr lang="zh-CN" altLang="en-US" dirty="0" smtClean="0"/>
                  <a:t>的</a:t>
                </a:r>
                <a:r>
                  <a:rPr lang="en-US" altLang="zh-CN" dirty="0" smtClean="0"/>
                  <a:t>, </a:t>
                </a:r>
                <a:r>
                  <a:rPr lang="zh-CN" altLang="en-US" dirty="0" smtClean="0"/>
                  <a:t>以及</a:t>
                </a:r>
                <a:r>
                  <a:rPr lang="en-US" dirty="0" err="1" smtClean="0"/>
                  <a:t>bRa</a:t>
                </a:r>
                <a:r>
                  <a:rPr lang="en-US" altLang="zh-CN" dirty="0" smtClean="0"/>
                  <a:t>, </a:t>
                </a:r>
                <a:r>
                  <a:rPr lang="en-US" dirty="0" err="1" smtClean="0"/>
                  <a:t>aRc</a:t>
                </a:r>
                <a:r>
                  <a:rPr lang="en-US" dirty="0" smtClean="0"/>
                  <a:t>, </a:t>
                </a:r>
                <a:r>
                  <a:rPr lang="zh-CN" altLang="en-US" dirty="0"/>
                  <a:t>可以得到</a:t>
                </a:r>
                <a:r>
                  <a:rPr lang="en-US" dirty="0"/>
                  <a:t> </a:t>
                </a:r>
                <a:r>
                  <a:rPr lang="en-US" dirty="0" err="1" smtClean="0"/>
                  <a:t>bRc</a:t>
                </a:r>
                <a:r>
                  <a:rPr lang="en-US" altLang="zh-CN" dirty="0" smtClean="0"/>
                  <a:t>, </a:t>
                </a:r>
                <a:r>
                  <a:rPr lang="zh-CN" altLang="en-US" dirty="0" smtClean="0"/>
                  <a:t>所以</a:t>
                </a:r>
                <a:r>
                  <a:rPr lang="en-US" dirty="0"/>
                  <a:t>c</a:t>
                </a:r>
                <a14:m>
                  <m:oMath xmlns:m="http://schemas.openxmlformats.org/officeDocument/2006/math">
                    <m:r>
                      <a:rPr lang="en-US" altLang="zh-CN" i="1">
                        <a:latin typeface="Cambria Math" panose="02040503050406030204" pitchFamily="18" charset="0"/>
                        <a:ea typeface="Cambria Math" panose="02040503050406030204" pitchFamily="18" charset="0"/>
                      </a:rPr>
                      <m:t>∈</m:t>
                    </m:r>
                  </m:oMath>
                </a14:m>
                <a:r>
                  <a:rPr lang="en-US" dirty="0"/>
                  <a:t>[b</a:t>
                </a:r>
                <a:r>
                  <a:rPr lang="en-US" dirty="0" smtClean="0"/>
                  <a:t>]. </a:t>
                </a:r>
                <a:r>
                  <a:rPr lang="zh-CN" altLang="en-US" dirty="0" smtClean="0"/>
                  <a:t>这</a:t>
                </a:r>
                <a:r>
                  <a:rPr lang="zh-CN" altLang="en-US" dirty="0"/>
                  <a:t>证明</a:t>
                </a:r>
                <a:r>
                  <a:rPr lang="zh-CN" altLang="en-US" dirty="0" smtClean="0"/>
                  <a:t>了</a:t>
                </a:r>
                <a:r>
                  <a:rPr lang="en-US" dirty="0" smtClean="0"/>
                  <a:t>[</a:t>
                </a:r>
                <a:r>
                  <a:rPr lang="en-US" dirty="0"/>
                  <a:t>a]</a:t>
                </a:r>
                <a:r>
                  <a:rPr lang="en-US" dirty="0" smtClean="0"/>
                  <a:t>⊆[</a:t>
                </a:r>
                <a:r>
                  <a:rPr lang="en-US" dirty="0"/>
                  <a:t>b]. </a:t>
                </a:r>
                <a:r>
                  <a:rPr lang="zh-CN" altLang="en-US" dirty="0"/>
                  <a:t>类似</a:t>
                </a:r>
                <a:r>
                  <a:rPr lang="zh-CN" altLang="en-US" dirty="0" smtClean="0"/>
                  <a:t>地</a:t>
                </a:r>
                <a:r>
                  <a:rPr lang="en-US" altLang="zh-CN" dirty="0" smtClean="0"/>
                  <a:t>, </a:t>
                </a:r>
                <a:r>
                  <a:rPr lang="zh-CN" altLang="en-US" dirty="0" smtClean="0"/>
                  <a:t>可以证明</a:t>
                </a:r>
                <a:r>
                  <a:rPr lang="en-US" dirty="0" smtClean="0"/>
                  <a:t>[</a:t>
                </a:r>
                <a:r>
                  <a:rPr lang="en-US" dirty="0"/>
                  <a:t>b]</a:t>
                </a:r>
                <a:r>
                  <a:rPr lang="en-US" dirty="0" smtClean="0"/>
                  <a:t>⊆[</a:t>
                </a:r>
                <a:r>
                  <a:rPr lang="en-US" dirty="0"/>
                  <a:t>a]. </a:t>
                </a:r>
                <a:r>
                  <a:rPr lang="zh-CN" altLang="en-US" dirty="0" smtClean="0"/>
                  <a:t>因此</a:t>
                </a:r>
                <a:r>
                  <a:rPr lang="en-US" dirty="0" smtClean="0"/>
                  <a:t>[</a:t>
                </a:r>
                <a:r>
                  <a:rPr lang="en-US" dirty="0"/>
                  <a:t>a]⊆ [b</a:t>
                </a:r>
                <a:r>
                  <a:rPr lang="en-US" dirty="0" smtClean="0"/>
                  <a:t>]</a:t>
                </a:r>
                <a:r>
                  <a:rPr lang="en-US" altLang="zh-CN" dirty="0" smtClean="0"/>
                  <a:t>, </a:t>
                </a:r>
                <a:r>
                  <a:rPr lang="en-US" dirty="0" smtClean="0"/>
                  <a:t>[</a:t>
                </a:r>
                <a:r>
                  <a:rPr lang="en-US" dirty="0"/>
                  <a:t>b]⊆ [a</a:t>
                </a:r>
                <a:r>
                  <a:rPr lang="en-US" dirty="0" smtClean="0"/>
                  <a:t>],  </a:t>
                </a:r>
                <a:r>
                  <a:rPr lang="zh-CN" altLang="en-US" dirty="0"/>
                  <a:t>我们</a:t>
                </a:r>
                <a:r>
                  <a:rPr lang="zh-CN" altLang="en-US" dirty="0" smtClean="0"/>
                  <a:t>就证明了</a:t>
                </a:r>
                <a:r>
                  <a:rPr lang="en-US" dirty="0" smtClean="0"/>
                  <a:t>[</a:t>
                </a:r>
                <a:r>
                  <a:rPr lang="en-US" dirty="0"/>
                  <a:t>a</a:t>
                </a:r>
                <a:r>
                  <a:rPr lang="en-US" dirty="0" smtClean="0"/>
                  <a:t>]=[</a:t>
                </a:r>
                <a:r>
                  <a:rPr lang="en-US" dirty="0"/>
                  <a:t>b].</a:t>
                </a:r>
              </a:p>
              <a:p>
                <a:pPr lvl="1"/>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999" t="-1310"/>
                </a:stretch>
              </a:blipFill>
            </p:spPr>
            <p:txBody>
              <a:bodyPr/>
              <a:lstStyle/>
              <a:p>
                <a:r>
                  <a:rPr lang="zh-CN" altLang="en-US">
                    <a:noFill/>
                  </a:rPr>
                  <a:t> </a:t>
                </a:r>
              </a:p>
            </p:txBody>
          </p:sp>
        </mc:Fallback>
      </mc:AlternateContent>
      <p:sp>
        <p:nvSpPr>
          <p:cNvPr id="7" name="日期占位符 6"/>
          <p:cNvSpPr>
            <a:spLocks noGrp="1"/>
          </p:cNvSpPr>
          <p:nvPr>
            <p:ph type="dt" sz="half" idx="10"/>
          </p:nvPr>
        </p:nvSpPr>
        <p:spPr/>
        <p:txBody>
          <a:bodyPr/>
          <a:lstStyle/>
          <a:p>
            <a:fld id="{E95F2277-CB53-41B5-9DB9-F66C72E54D2F}" type="datetime1">
              <a:rPr lang="zh-CN" altLang="en-US" smtClean="0"/>
              <a:t>2025/3/14</a:t>
            </a:fld>
            <a:endParaRPr lang="zh-CN" altLang="en-US" dirty="0"/>
          </a:p>
        </p:txBody>
      </p:sp>
      <p:sp>
        <p:nvSpPr>
          <p:cNvPr id="8" name="页脚占位符 7"/>
          <p:cNvSpPr>
            <a:spLocks noGrp="1"/>
          </p:cNvSpPr>
          <p:nvPr>
            <p:ph type="ftr" sz="quarter" idx="11"/>
          </p:nvPr>
        </p:nvSpPr>
        <p:spPr/>
        <p:txBody>
          <a:bodyPr/>
          <a:lstStyle/>
          <a:p>
            <a:pPr algn="r"/>
            <a:r>
              <a:rPr lang="zh-CN" altLang="en-US" smtClean="0"/>
              <a:t>华中科技大学</a:t>
            </a:r>
            <a:r>
              <a:rPr lang="en-US" altLang="zh-CN" smtClean="0"/>
              <a:t>NNSS</a:t>
            </a:r>
            <a:r>
              <a:rPr lang="zh-CN" altLang="en-US" smtClean="0"/>
              <a:t>实验室</a:t>
            </a:r>
            <a:endParaRPr lang="zh-CN" altLang="en-US" dirty="0"/>
          </a:p>
        </p:txBody>
      </p:sp>
      <p:sp>
        <p:nvSpPr>
          <p:cNvPr id="9" name="灯片编号占位符 8"/>
          <p:cNvSpPr>
            <a:spLocks noGrp="1"/>
          </p:cNvSpPr>
          <p:nvPr>
            <p:ph type="sldNum" sz="quarter" idx="12"/>
          </p:nvPr>
        </p:nvSpPr>
        <p:spPr/>
        <p:txBody>
          <a:bodyPr/>
          <a:lstStyle/>
          <a:p>
            <a:fld id="{67913A8A-9EFB-4B5F-9CCB-3D21173FAA85}" type="slidenum">
              <a:rPr lang="zh-CN" altLang="en-US" smtClean="0"/>
              <a:pPr/>
              <a:t>96</a:t>
            </a:fld>
            <a:endParaRPr lang="zh-CN" altLang="en-US" dirty="0"/>
          </a:p>
        </p:txBody>
      </p:sp>
    </p:spTree>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smtClean="0"/>
              <a:t>等价类与划分</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pPr lvl="1"/>
                <a:r>
                  <a:rPr lang="zh-CN" altLang="en-US" dirty="0" smtClean="0"/>
                  <a:t>接下来</a:t>
                </a:r>
                <a:r>
                  <a:rPr lang="en-US" altLang="zh-CN" dirty="0" smtClean="0"/>
                  <a:t>, </a:t>
                </a:r>
                <a:r>
                  <a:rPr lang="zh-CN" altLang="en-US" dirty="0" smtClean="0"/>
                  <a:t>我们证明</a:t>
                </a:r>
                <a:r>
                  <a:rPr lang="en-US" dirty="0" smtClean="0"/>
                  <a:t>(</a:t>
                </a:r>
                <a:r>
                  <a:rPr lang="en-US" altLang="zh-CN" dirty="0" smtClean="0"/>
                  <a:t>i</a:t>
                </a:r>
                <a:r>
                  <a:rPr lang="en-US" dirty="0" smtClean="0"/>
                  <a:t>i)</a:t>
                </a:r>
                <a:r>
                  <a:rPr lang="zh-CN" altLang="en-US" dirty="0" smtClean="0"/>
                  <a:t>推出</a:t>
                </a:r>
                <a:r>
                  <a:rPr lang="en-US" dirty="0" smtClean="0"/>
                  <a:t>(iii). </a:t>
                </a:r>
                <a:r>
                  <a:rPr lang="zh-CN" altLang="en-US" dirty="0" smtClean="0"/>
                  <a:t>假设</a:t>
                </a:r>
                <a:r>
                  <a:rPr lang="en-US" altLang="zh-CN" dirty="0"/>
                  <a:t>[a</a:t>
                </a:r>
                <a:r>
                  <a:rPr lang="en-US" altLang="zh-CN" dirty="0" smtClean="0"/>
                  <a:t>]=[</a:t>
                </a:r>
                <a:r>
                  <a:rPr lang="en-US" altLang="zh-CN" dirty="0"/>
                  <a:t>b</a:t>
                </a:r>
                <a:r>
                  <a:rPr lang="en-US" altLang="zh-CN" dirty="0" smtClean="0"/>
                  <a:t>]. </a:t>
                </a:r>
                <a:r>
                  <a:rPr lang="zh-CN" altLang="en-US" dirty="0" smtClean="0"/>
                  <a:t>这就证明了</a:t>
                </a:r>
                <a:r>
                  <a:rPr lang="en-US" altLang="zh-CN" dirty="0" smtClean="0"/>
                  <a:t> </a:t>
                </a:r>
                <a:r>
                  <a:rPr lang="en-US" altLang="zh-CN" dirty="0"/>
                  <a:t>[a</a:t>
                </a:r>
                <a:r>
                  <a:rPr lang="en-US" altLang="zh-CN" dirty="0" smtClean="0"/>
                  <a:t>]∩[</a:t>
                </a:r>
                <a:r>
                  <a:rPr lang="en-US" altLang="zh-CN" dirty="0"/>
                  <a:t>b] </a:t>
                </a:r>
                <a14:m>
                  <m:oMath xmlns:m="http://schemas.openxmlformats.org/officeDocument/2006/math">
                    <m:r>
                      <a:rPr lang="en-US" altLang="zh-CN" i="1" dirty="0">
                        <a:latin typeface="Cambria Math" panose="02040503050406030204" pitchFamily="18" charset="0"/>
                        <a:ea typeface="Cambria Math" panose="02040503050406030204" pitchFamily="18" charset="0"/>
                      </a:rPr>
                      <m:t>≠</m:t>
                    </m:r>
                  </m:oMath>
                </a14:m>
                <a:r>
                  <a:rPr lang="en-US" altLang="zh-CN" dirty="0"/>
                  <a:t> </a:t>
                </a:r>
                <a:r>
                  <a:rPr lang="en-US" altLang="zh-CN" dirty="0" smtClean="0"/>
                  <a:t>∅ , </a:t>
                </a:r>
                <a:r>
                  <a:rPr lang="zh-CN" altLang="en-US" dirty="0" smtClean="0"/>
                  <a:t>因为</a:t>
                </a:r>
                <a:r>
                  <a:rPr lang="en-US" altLang="zh-CN" dirty="0"/>
                  <a:t>[a] </a:t>
                </a:r>
                <a:r>
                  <a:rPr lang="zh-CN" altLang="en-US" dirty="0" smtClean="0"/>
                  <a:t>是非空的</a:t>
                </a:r>
                <a:r>
                  <a:rPr lang="en-US" altLang="zh-CN" dirty="0" smtClean="0"/>
                  <a:t>(</a:t>
                </a:r>
                <a:r>
                  <a:rPr lang="zh-CN" altLang="en-US" dirty="0" smtClean="0"/>
                  <a:t>由于</a:t>
                </a:r>
                <a:r>
                  <a:rPr lang="en-US" altLang="zh-CN" dirty="0" smtClean="0"/>
                  <a:t>R</a:t>
                </a:r>
                <a:r>
                  <a:rPr lang="zh-CN" altLang="en-US" dirty="0" smtClean="0"/>
                  <a:t>的自反性</a:t>
                </a:r>
                <a:r>
                  <a:rPr lang="en-US" altLang="zh-CN" dirty="0" smtClean="0"/>
                  <a:t>a</a:t>
                </a:r>
                <a14:m>
                  <m:oMath xmlns:m="http://schemas.openxmlformats.org/officeDocument/2006/math">
                    <m:r>
                      <a:rPr lang="en-US" altLang="zh-CN" i="1">
                        <a:latin typeface="Cambria Math" panose="02040503050406030204" pitchFamily="18" charset="0"/>
                        <a:ea typeface="Cambria Math" panose="02040503050406030204" pitchFamily="18" charset="0"/>
                      </a:rPr>
                      <m:t>∈</m:t>
                    </m:r>
                  </m:oMath>
                </a14:m>
                <a:r>
                  <a:rPr lang="en-US" altLang="zh-CN" dirty="0" smtClean="0"/>
                  <a:t>[a]).</a:t>
                </a:r>
              </a:p>
              <a:p>
                <a:pPr lvl="1"/>
                <a:r>
                  <a:rPr lang="zh-CN" altLang="en-US" dirty="0" smtClean="0"/>
                  <a:t>然后</a:t>
                </a:r>
                <a:r>
                  <a:rPr lang="en-US" altLang="zh-CN" dirty="0" smtClean="0"/>
                  <a:t>, </a:t>
                </a:r>
                <a:r>
                  <a:rPr lang="zh-CN" altLang="en-US" dirty="0" smtClean="0"/>
                  <a:t>我们证明</a:t>
                </a:r>
                <a:r>
                  <a:rPr lang="en-US" altLang="zh-CN" dirty="0" smtClean="0"/>
                  <a:t>(iii)</a:t>
                </a:r>
                <a:r>
                  <a:rPr lang="zh-CN" altLang="en-US" dirty="0" smtClean="0"/>
                  <a:t>推出</a:t>
                </a:r>
                <a:r>
                  <a:rPr lang="en-US" altLang="zh-CN" dirty="0" smtClean="0"/>
                  <a:t>(</a:t>
                </a:r>
                <a:r>
                  <a:rPr lang="en-US" altLang="zh-CN" dirty="0" err="1" smtClean="0"/>
                  <a:t>i</a:t>
                </a:r>
                <a:r>
                  <a:rPr lang="en-US" altLang="zh-CN" dirty="0" smtClean="0"/>
                  <a:t>). </a:t>
                </a:r>
                <a:r>
                  <a:rPr lang="zh-CN" altLang="en-US" dirty="0" smtClean="0"/>
                  <a:t>假设</a:t>
                </a:r>
                <a:r>
                  <a:rPr lang="en-US" altLang="zh-CN" dirty="0"/>
                  <a:t>[a</a:t>
                </a:r>
                <a:r>
                  <a:rPr lang="en-US" altLang="zh-CN" dirty="0" smtClean="0"/>
                  <a:t>]∩[</a:t>
                </a:r>
                <a:r>
                  <a:rPr lang="en-US" altLang="zh-CN" dirty="0"/>
                  <a:t>b]</a:t>
                </a:r>
                <a14:m>
                  <m:oMath xmlns:m="http://schemas.openxmlformats.org/officeDocument/2006/math">
                    <m:r>
                      <a:rPr lang="en-US" altLang="zh-CN" i="1" dirty="0">
                        <a:latin typeface="Cambria Math" panose="02040503050406030204" pitchFamily="18" charset="0"/>
                        <a:ea typeface="Cambria Math" panose="02040503050406030204" pitchFamily="18" charset="0"/>
                      </a:rPr>
                      <m:t>≠</m:t>
                    </m:r>
                  </m:oMath>
                </a14:m>
                <a:r>
                  <a:rPr lang="en-US" altLang="zh-CN" dirty="0"/>
                  <a:t> ∅ </a:t>
                </a:r>
                <a:r>
                  <a:rPr lang="en-US" altLang="zh-CN" dirty="0" smtClean="0"/>
                  <a:t>, </a:t>
                </a:r>
                <a:r>
                  <a:rPr lang="zh-CN" altLang="en-US" dirty="0" smtClean="0"/>
                  <a:t>那么存在元素</a:t>
                </a:r>
                <a:r>
                  <a:rPr lang="en-US" altLang="zh-CN" dirty="0" smtClean="0"/>
                  <a:t>c</a:t>
                </a:r>
                <a:r>
                  <a:rPr lang="zh-CN" altLang="en-US" dirty="0" smtClean="0"/>
                  <a:t>满足</a:t>
                </a:r>
                <a:r>
                  <a:rPr lang="en-US" altLang="zh-CN" dirty="0"/>
                  <a:t>c</a:t>
                </a:r>
                <a14:m>
                  <m:oMath xmlns:m="http://schemas.openxmlformats.org/officeDocument/2006/math">
                    <m:r>
                      <a:rPr lang="en-US" altLang="zh-CN" i="1">
                        <a:latin typeface="Cambria Math" panose="02040503050406030204" pitchFamily="18" charset="0"/>
                        <a:ea typeface="Cambria Math" panose="02040503050406030204" pitchFamily="18" charset="0"/>
                      </a:rPr>
                      <m:t>∈</m:t>
                    </m:r>
                  </m:oMath>
                </a14:m>
                <a:r>
                  <a:rPr lang="en-US" altLang="zh-CN" dirty="0"/>
                  <a:t>[a</a:t>
                </a:r>
                <a:r>
                  <a:rPr lang="en-US" altLang="zh-CN" dirty="0" smtClean="0"/>
                  <a:t>], </a:t>
                </a:r>
                <a:r>
                  <a:rPr lang="zh-CN" altLang="en-US" dirty="0" smtClean="0"/>
                  <a:t>且</a:t>
                </a:r>
                <a:r>
                  <a:rPr lang="en-US" altLang="zh-CN" dirty="0"/>
                  <a:t>c</a:t>
                </a:r>
                <a14:m>
                  <m:oMath xmlns:m="http://schemas.openxmlformats.org/officeDocument/2006/math">
                    <m:r>
                      <a:rPr lang="en-US" altLang="zh-CN" i="1">
                        <a:latin typeface="Cambria Math" panose="02040503050406030204" pitchFamily="18" charset="0"/>
                        <a:ea typeface="Cambria Math" panose="02040503050406030204" pitchFamily="18" charset="0"/>
                      </a:rPr>
                      <m:t>∈</m:t>
                    </m:r>
                  </m:oMath>
                </a14:m>
                <a:r>
                  <a:rPr lang="en-US" altLang="zh-CN" dirty="0"/>
                  <a:t> </a:t>
                </a:r>
                <a:r>
                  <a:rPr lang="en-US" altLang="zh-CN" dirty="0" smtClean="0"/>
                  <a:t>[b]. </a:t>
                </a:r>
                <a:r>
                  <a:rPr lang="zh-CN" altLang="en-US" dirty="0" smtClean="0"/>
                  <a:t>换句话说</a:t>
                </a:r>
                <a:r>
                  <a:rPr lang="en-US" altLang="zh-CN" dirty="0" err="1" smtClean="0"/>
                  <a:t>aRc</a:t>
                </a:r>
                <a:r>
                  <a:rPr lang="en-US" altLang="zh-CN" dirty="0" smtClean="0"/>
                  <a:t>, </a:t>
                </a:r>
                <a:r>
                  <a:rPr lang="zh-CN" altLang="en-US" dirty="0" smtClean="0"/>
                  <a:t>且</a:t>
                </a:r>
                <a:r>
                  <a:rPr lang="en-US" altLang="zh-CN" dirty="0" err="1" smtClean="0"/>
                  <a:t>bRc</a:t>
                </a:r>
                <a:r>
                  <a:rPr lang="en-US" altLang="zh-CN" dirty="0" smtClean="0"/>
                  <a:t>. </a:t>
                </a:r>
                <a:r>
                  <a:rPr lang="zh-CN" altLang="en-US" dirty="0" smtClean="0"/>
                  <a:t>由于对称性</a:t>
                </a:r>
                <a:r>
                  <a:rPr lang="en-US" altLang="zh-CN" dirty="0" smtClean="0"/>
                  <a:t>, </a:t>
                </a:r>
                <a:r>
                  <a:rPr lang="zh-CN" altLang="en-US" dirty="0" smtClean="0"/>
                  <a:t>有</a:t>
                </a:r>
                <a:r>
                  <a:rPr lang="en-US" altLang="zh-CN" dirty="0" err="1" smtClean="0"/>
                  <a:t>cRb</a:t>
                </a:r>
                <a:r>
                  <a:rPr lang="en-US" altLang="zh-CN" dirty="0" smtClean="0"/>
                  <a:t>. </a:t>
                </a:r>
                <a:r>
                  <a:rPr lang="zh-CN" altLang="en-US" dirty="0" smtClean="0"/>
                  <a:t>再根据传递性</a:t>
                </a:r>
                <a:r>
                  <a:rPr lang="en-US" altLang="zh-CN" dirty="0" smtClean="0"/>
                  <a:t>, </a:t>
                </a:r>
                <a:r>
                  <a:rPr lang="zh-CN" altLang="en-US" dirty="0" smtClean="0"/>
                  <a:t>有</a:t>
                </a:r>
                <a:r>
                  <a:rPr lang="en-US" altLang="zh-CN" dirty="0" err="1" smtClean="0"/>
                  <a:t>aRc</a:t>
                </a:r>
                <a:r>
                  <a:rPr lang="en-US" altLang="zh-CN" dirty="0" smtClean="0"/>
                  <a:t>, </a:t>
                </a:r>
                <a:r>
                  <a:rPr lang="en-US" altLang="zh-CN" dirty="0" err="1" smtClean="0"/>
                  <a:t>cRb</a:t>
                </a:r>
                <a:r>
                  <a:rPr lang="en-US" altLang="zh-CN" dirty="0" smtClean="0"/>
                  <a:t>, </a:t>
                </a:r>
                <a:r>
                  <a:rPr lang="zh-CN" altLang="en-US" dirty="0" smtClean="0"/>
                  <a:t>就有</a:t>
                </a:r>
                <a:r>
                  <a:rPr lang="en-US" altLang="zh-CN" dirty="0" err="1" smtClean="0"/>
                  <a:t>aRb</a:t>
                </a:r>
                <a:r>
                  <a:rPr lang="en-US" altLang="zh-CN" dirty="0" smtClean="0"/>
                  <a:t>.</a:t>
                </a:r>
              </a:p>
              <a:p>
                <a:pPr lvl="1"/>
                <a:r>
                  <a:rPr lang="zh-CN" altLang="en-US" dirty="0" smtClean="0"/>
                  <a:t>综上所述</a:t>
                </a:r>
                <a:r>
                  <a:rPr lang="en-US" altLang="zh-CN" dirty="0" smtClean="0"/>
                  <a:t>, </a:t>
                </a:r>
                <a:r>
                  <a:rPr lang="zh-CN" altLang="en-US" dirty="0" smtClean="0"/>
                  <a:t>以上三个命题</a:t>
                </a:r>
                <a:r>
                  <a:rPr lang="en-US" altLang="zh-CN" dirty="0" smtClean="0"/>
                  <a:t>(</a:t>
                </a:r>
                <a:r>
                  <a:rPr lang="en-US" altLang="zh-CN" dirty="0" err="1" smtClean="0"/>
                  <a:t>i</a:t>
                </a:r>
                <a:r>
                  <a:rPr lang="en-US" altLang="zh-CN" dirty="0" smtClean="0"/>
                  <a:t>), (ii), (iii)</a:t>
                </a:r>
                <a:r>
                  <a:rPr lang="zh-CN" altLang="en-US" dirty="0" smtClean="0"/>
                  <a:t>是等价的</a:t>
                </a:r>
                <a:r>
                  <a:rPr lang="en-US" altLang="zh-CN" dirty="0" smtClean="0"/>
                  <a:t>.</a:t>
                </a:r>
              </a:p>
              <a:p>
                <a:pPr marL="393192" lvl="1" indent="0">
                  <a:buNone/>
                </a:pPr>
                <a:endParaRPr lang="en-US" dirty="0"/>
              </a:p>
              <a:p>
                <a:pPr marL="393192" lvl="1" indent="0">
                  <a:buNone/>
                </a:pPr>
                <a:endParaRPr lang="en-US" dirty="0" smtClean="0"/>
              </a:p>
              <a:p>
                <a:pPr marL="393192" lvl="1" indent="0">
                  <a:buNone/>
                </a:pPr>
                <a:r>
                  <a:rPr lang="zh-CN" altLang="en-US" dirty="0" smtClean="0"/>
                  <a:t>该定理说明两个元素所在的等价类要么相等</a:t>
                </a:r>
                <a:r>
                  <a:rPr lang="en-US" altLang="zh-CN" dirty="0" smtClean="0"/>
                  <a:t>, </a:t>
                </a:r>
                <a:r>
                  <a:rPr lang="zh-CN" altLang="en-US" dirty="0" smtClean="0"/>
                  <a:t>要么不相交</a:t>
                </a:r>
                <a:r>
                  <a:rPr lang="en-US" altLang="zh-CN" dirty="0" smtClean="0"/>
                  <a:t>. </a:t>
                </a: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t="-2024" r="-721"/>
                </a:stretch>
              </a:blipFill>
            </p:spPr>
            <p:txBody>
              <a:bodyPr/>
              <a:lstStyle/>
              <a:p>
                <a:r>
                  <a:rPr lang="zh-CN" altLang="en-US">
                    <a:noFill/>
                  </a:rPr>
                  <a:t> </a:t>
                </a:r>
              </a:p>
            </p:txBody>
          </p:sp>
        </mc:Fallback>
      </mc:AlternateContent>
      <p:sp>
        <p:nvSpPr>
          <p:cNvPr id="7" name="日期占位符 6"/>
          <p:cNvSpPr>
            <a:spLocks noGrp="1"/>
          </p:cNvSpPr>
          <p:nvPr>
            <p:ph type="dt" sz="half" idx="10"/>
          </p:nvPr>
        </p:nvSpPr>
        <p:spPr/>
        <p:txBody>
          <a:bodyPr/>
          <a:lstStyle/>
          <a:p>
            <a:fld id="{F9C8A758-6FCB-404B-8531-5D73DC959EA9}" type="datetime1">
              <a:rPr lang="zh-CN" altLang="en-US" smtClean="0"/>
              <a:t>2025/3/14</a:t>
            </a:fld>
            <a:endParaRPr lang="zh-CN" altLang="en-US" dirty="0"/>
          </a:p>
        </p:txBody>
      </p:sp>
      <p:sp>
        <p:nvSpPr>
          <p:cNvPr id="8" name="页脚占位符 7"/>
          <p:cNvSpPr>
            <a:spLocks noGrp="1"/>
          </p:cNvSpPr>
          <p:nvPr>
            <p:ph type="ftr" sz="quarter" idx="11"/>
          </p:nvPr>
        </p:nvSpPr>
        <p:spPr/>
        <p:txBody>
          <a:bodyPr/>
          <a:lstStyle/>
          <a:p>
            <a:pPr algn="r"/>
            <a:r>
              <a:rPr lang="zh-CN" altLang="en-US" smtClean="0"/>
              <a:t>华中科技大学</a:t>
            </a:r>
            <a:r>
              <a:rPr lang="en-US" altLang="zh-CN" smtClean="0"/>
              <a:t>NNSS</a:t>
            </a:r>
            <a:r>
              <a:rPr lang="zh-CN" altLang="en-US" smtClean="0"/>
              <a:t>实验室</a:t>
            </a:r>
            <a:endParaRPr lang="zh-CN" altLang="en-US" dirty="0"/>
          </a:p>
        </p:txBody>
      </p:sp>
      <p:sp>
        <p:nvSpPr>
          <p:cNvPr id="9" name="灯片编号占位符 8"/>
          <p:cNvSpPr>
            <a:spLocks noGrp="1"/>
          </p:cNvSpPr>
          <p:nvPr>
            <p:ph type="sldNum" sz="quarter" idx="12"/>
          </p:nvPr>
        </p:nvSpPr>
        <p:spPr/>
        <p:txBody>
          <a:bodyPr/>
          <a:lstStyle/>
          <a:p>
            <a:fld id="{67913A8A-9EFB-4B5F-9CCB-3D21173FAA85}" type="slidenum">
              <a:rPr lang="zh-CN" altLang="en-US" smtClean="0"/>
              <a:pPr/>
              <a:t>97</a:t>
            </a:fld>
            <a:endParaRPr lang="zh-CN" altLang="en-US" dirty="0"/>
          </a:p>
        </p:txBody>
      </p:sp>
    </p:spTree>
    <p:extLst>
      <p:ext uri="{BB962C8B-B14F-4D97-AF65-F5344CB8AC3E}">
        <p14:creationId xmlns:p14="http://schemas.microsoft.com/office/powerpoint/2010/main" val="1198326796"/>
      </p:ext>
    </p:extLst>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457200" y="1600200"/>
            <a:ext cx="11277599" cy="990600"/>
          </a:xfrm>
          <a:prstGeom prst="rect">
            <a:avLst/>
          </a:prstGeom>
          <a:solidFill>
            <a:schemeClr val="accent5">
              <a:lumMod val="40000"/>
              <a:lumOff val="6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itle 1"/>
          <p:cNvSpPr>
            <a:spLocks noGrp="1"/>
          </p:cNvSpPr>
          <p:nvPr>
            <p:ph type="title"/>
          </p:nvPr>
        </p:nvSpPr>
        <p:spPr/>
        <p:txBody>
          <a:bodyPr/>
          <a:lstStyle/>
          <a:p>
            <a:r>
              <a:rPr lang="zh-CN" altLang="en-US" dirty="0"/>
              <a:t>等价类与划分</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zh-CN" altLang="en-US" dirty="0" smtClean="0"/>
                  <a:t>接下来</a:t>
                </a:r>
                <a:r>
                  <a:rPr lang="en-US" altLang="zh-CN" dirty="0" smtClean="0"/>
                  <a:t>, </a:t>
                </a:r>
                <a:r>
                  <a:rPr lang="zh-CN" altLang="en-US" dirty="0" smtClean="0"/>
                  <a:t>我们说明一个等价关系怎样划分一个集合</a:t>
                </a:r>
                <a:r>
                  <a:rPr lang="en-US" altLang="zh-CN" dirty="0" smtClean="0"/>
                  <a:t>.</a:t>
                </a:r>
                <a:r>
                  <a:rPr lang="en-US" dirty="0" smtClean="0"/>
                  <a:t> </a:t>
                </a:r>
              </a:p>
              <a:p>
                <a:r>
                  <a:rPr lang="zh-CN" altLang="en-US" dirty="0" smtClean="0"/>
                  <a:t>定义</a:t>
                </a:r>
                <a:r>
                  <a:rPr lang="en-US" dirty="0" smtClean="0"/>
                  <a:t>: </a:t>
                </a:r>
                <a:r>
                  <a:rPr lang="zh-CN" altLang="en-US" dirty="0" smtClean="0"/>
                  <a:t>集合</a:t>
                </a:r>
                <a:r>
                  <a:rPr lang="en-US" altLang="zh-CN" dirty="0" smtClean="0"/>
                  <a:t>S</a:t>
                </a:r>
                <a:r>
                  <a:rPr lang="zh-CN" altLang="en-US" dirty="0" smtClean="0"/>
                  <a:t>的</a:t>
                </a:r>
                <a:r>
                  <a:rPr lang="zh-CN" altLang="en-US" b="1" dirty="0" smtClean="0">
                    <a:solidFill>
                      <a:srgbClr val="C00000"/>
                    </a:solidFill>
                  </a:rPr>
                  <a:t>划分</a:t>
                </a:r>
                <a:r>
                  <a:rPr lang="zh-CN" altLang="en-US" dirty="0" smtClean="0"/>
                  <a:t>是</a:t>
                </a:r>
                <a:r>
                  <a:rPr lang="en-US" altLang="zh-CN" dirty="0" smtClean="0"/>
                  <a:t>S</a:t>
                </a:r>
                <a:r>
                  <a:rPr lang="zh-CN" altLang="en-US" dirty="0" smtClean="0"/>
                  <a:t>的不相交的非空子集构成的集合</a:t>
                </a:r>
                <a:r>
                  <a:rPr lang="en-US" altLang="zh-CN" dirty="0" smtClean="0"/>
                  <a:t>, </a:t>
                </a:r>
                <a:r>
                  <a:rPr lang="zh-CN" altLang="en-US" dirty="0" smtClean="0"/>
                  <a:t>且它们的并集就是</a:t>
                </a:r>
                <a:r>
                  <a:rPr lang="en-US" altLang="zh-CN" dirty="0" smtClean="0"/>
                  <a:t>S.</a:t>
                </a:r>
              </a:p>
              <a:p>
                <a:r>
                  <a:rPr lang="zh-CN" altLang="en-US" dirty="0" smtClean="0"/>
                  <a:t>换句话说</a:t>
                </a:r>
                <a:r>
                  <a:rPr lang="en-US" altLang="zh-CN" dirty="0" smtClean="0"/>
                  <a:t>, </a:t>
                </a:r>
                <a:r>
                  <a:rPr lang="zh-CN" altLang="en-US" dirty="0" smtClean="0"/>
                  <a:t>一族子集</a:t>
                </a:r>
                <a14:m>
                  <m:oMath xmlns:m="http://schemas.openxmlformats.org/officeDocument/2006/math">
                    <m:sSub>
                      <m:sSubPr>
                        <m:ctrlPr>
                          <a:rPr lang="en-US" altLang="zh-CN" i="1" smtClean="0">
                            <a:latin typeface="Cambria Math" panose="02040503050406030204" pitchFamily="18" charset="0"/>
                          </a:rPr>
                        </m:ctrlPr>
                      </m:sSubPr>
                      <m:e>
                        <m:r>
                          <m:rPr>
                            <m:sty m:val="p"/>
                          </m:rPr>
                          <a:rPr lang="en-US" altLang="zh-CN" i="1">
                            <a:latin typeface="Cambria Math" panose="02040503050406030204" pitchFamily="18" charset="0"/>
                          </a:rPr>
                          <m:t>A</m:t>
                        </m:r>
                      </m:e>
                      <m:sub>
                        <m:r>
                          <a:rPr lang="en-US" altLang="zh-CN" b="0" i="1" smtClean="0">
                            <a:latin typeface="Cambria Math" panose="02040503050406030204" pitchFamily="18" charset="0"/>
                          </a:rPr>
                          <m:t>𝑖</m:t>
                        </m:r>
                      </m:sub>
                    </m:sSub>
                  </m:oMath>
                </a14:m>
                <a:r>
                  <a:rPr lang="en-US" altLang="zh-CN" dirty="0" smtClean="0"/>
                  <a:t>, </a:t>
                </a:r>
                <a14:m>
                  <m:oMath xmlns:m="http://schemas.openxmlformats.org/officeDocument/2006/math">
                    <m:r>
                      <a:rPr lang="en-US" altLang="zh-CN" i="1" smtClean="0">
                        <a:latin typeface="Cambria Math" panose="02040503050406030204" pitchFamily="18" charset="0"/>
                      </a:rPr>
                      <m:t>𝑖</m:t>
                    </m:r>
                    <m:r>
                      <a:rPr lang="en-US" altLang="zh-CN" i="1" dirty="0" smtClean="0">
                        <a:latin typeface="Cambria Math" panose="02040503050406030204" pitchFamily="18" charset="0"/>
                        <a:ea typeface="Cambria Math" panose="02040503050406030204" pitchFamily="18" charset="0"/>
                      </a:rPr>
                      <m:t>∈</m:t>
                    </m:r>
                  </m:oMath>
                </a14:m>
                <a:r>
                  <a:rPr lang="en-US" altLang="zh-CN" i="1" dirty="0" err="1" smtClean="0"/>
                  <a:t>I</a:t>
                </a:r>
                <a:r>
                  <a:rPr lang="en-US" altLang="zh-CN" dirty="0" smtClean="0"/>
                  <a:t> (</a:t>
                </a:r>
                <a:r>
                  <a:rPr lang="zh-CN" altLang="en-US" dirty="0" smtClean="0"/>
                  <a:t>其中</a:t>
                </a:r>
                <a14:m>
                  <m:oMath xmlns:m="http://schemas.openxmlformats.org/officeDocument/2006/math">
                    <m:r>
                      <m:rPr>
                        <m:nor/>
                      </m:rPr>
                      <a:rPr lang="en-US" altLang="zh-CN" i="1" dirty="0"/>
                      <m:t>I</m:t>
                    </m:r>
                  </m:oMath>
                </a14:m>
                <a:r>
                  <a:rPr lang="zh-CN" altLang="en-US" dirty="0" smtClean="0"/>
                  <a:t> 是下标的集合</a:t>
                </a:r>
                <a:r>
                  <a:rPr lang="en-US" altLang="zh-CN" dirty="0" smtClean="0"/>
                  <a:t>)</a:t>
                </a:r>
                <a:r>
                  <a:rPr lang="zh-CN" altLang="en-US" dirty="0" smtClean="0"/>
                  <a:t>构成</a:t>
                </a:r>
                <a:r>
                  <a:rPr lang="en-US" altLang="zh-CN" dirty="0" smtClean="0"/>
                  <a:t>S</a:t>
                </a:r>
                <a:r>
                  <a:rPr lang="zh-CN" altLang="en-US" dirty="0" smtClean="0"/>
                  <a:t>的划分</a:t>
                </a:r>
                <a:r>
                  <a:rPr lang="en-US" altLang="zh-CN" dirty="0" smtClean="0"/>
                  <a:t>, </a:t>
                </a:r>
                <a:r>
                  <a:rPr lang="zh-CN" altLang="en-US" dirty="0" smtClean="0"/>
                  <a:t>当且仅当</a:t>
                </a:r>
                <a14:m>
                  <m:oMath xmlns:m="http://schemas.openxmlformats.org/officeDocument/2006/math">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A</m:t>
                        </m:r>
                      </m:e>
                      <m:sub>
                        <m:r>
                          <a:rPr lang="en-US" altLang="zh-CN" i="1">
                            <a:latin typeface="Cambria Math" panose="02040503050406030204" pitchFamily="18" charset="0"/>
                          </a:rPr>
                          <m:t>𝑖</m:t>
                        </m:r>
                      </m:sub>
                    </m:sSub>
                  </m:oMath>
                </a14:m>
                <a:r>
                  <a:rPr lang="en-US" dirty="0" smtClean="0"/>
                  <a:t>≠ ∅; </a:t>
                </a:r>
                <a14:m>
                  <m:oMath xmlns:m="http://schemas.openxmlformats.org/officeDocument/2006/math">
                    <m:r>
                      <a:rPr lang="en-US" altLang="zh-CN" i="1">
                        <a:latin typeface="Cambria Math" panose="02040503050406030204" pitchFamily="18" charset="0"/>
                      </a:rPr>
                      <m:t>𝑖</m:t>
                    </m:r>
                    <m:r>
                      <a:rPr lang="en-US" altLang="zh-CN" i="1" dirty="0">
                        <a:latin typeface="Cambria Math" panose="02040503050406030204" pitchFamily="18" charset="0"/>
                        <a:ea typeface="Cambria Math" panose="02040503050406030204" pitchFamily="18" charset="0"/>
                      </a:rPr>
                      <m:t>∈</m:t>
                    </m:r>
                  </m:oMath>
                </a14:m>
                <a:r>
                  <a:rPr lang="en-US" altLang="zh-CN" dirty="0" err="1"/>
                  <a:t>I</a:t>
                </a:r>
                <a:r>
                  <a:rPr lang="en-US" dirty="0" smtClean="0"/>
                  <a:t>, </a:t>
                </a:r>
                <a14:m>
                  <m:oMath xmlns:m="http://schemas.openxmlformats.org/officeDocument/2006/math">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A</m:t>
                        </m:r>
                      </m:e>
                      <m:sub>
                        <m:r>
                          <a:rPr lang="en-US" altLang="zh-CN" i="1">
                            <a:latin typeface="Cambria Math" panose="02040503050406030204" pitchFamily="18" charset="0"/>
                          </a:rPr>
                          <m:t>𝑖</m:t>
                        </m:r>
                      </m:sub>
                    </m:sSub>
                  </m:oMath>
                </a14:m>
                <a:r>
                  <a:rPr lang="en-US" dirty="0" err="1" smtClean="0"/>
                  <a:t>∩</a:t>
                </a:r>
                <a14:m>
                  <m:oMath xmlns:m="http://schemas.openxmlformats.org/officeDocument/2006/math">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A</m:t>
                        </m:r>
                      </m:e>
                      <m:sub>
                        <m:r>
                          <a:rPr lang="en-US" altLang="zh-CN" b="0" i="1" smtClean="0">
                            <a:latin typeface="Cambria Math" panose="02040503050406030204" pitchFamily="18" charset="0"/>
                          </a:rPr>
                          <m:t>𝑗</m:t>
                        </m:r>
                      </m:sub>
                    </m:sSub>
                  </m:oMath>
                </a14:m>
                <a:r>
                  <a:rPr lang="en-US" dirty="0" smtClean="0"/>
                  <a:t>=∅, </a:t>
                </a:r>
                <a14:m>
                  <m:oMath xmlns:m="http://schemas.openxmlformats.org/officeDocument/2006/math">
                    <m:r>
                      <a:rPr lang="en-US" altLang="zh-CN" i="1">
                        <a:latin typeface="Cambria Math" panose="02040503050406030204" pitchFamily="18" charset="0"/>
                      </a:rPr>
                      <m:t>𝑖</m:t>
                    </m:r>
                  </m:oMath>
                </a14:m>
                <a:r>
                  <a:rPr lang="en-US" dirty="0" smtClean="0"/>
                  <a:t>≠</a:t>
                </a:r>
                <a14:m>
                  <m:oMath xmlns:m="http://schemas.openxmlformats.org/officeDocument/2006/math">
                    <m:r>
                      <a:rPr lang="en-US" altLang="zh-CN" i="1">
                        <a:latin typeface="Cambria Math" panose="02040503050406030204" pitchFamily="18" charset="0"/>
                      </a:rPr>
                      <m:t>𝑗</m:t>
                    </m:r>
                  </m:oMath>
                </a14:m>
                <a:r>
                  <a:rPr lang="en-US" dirty="0" smtClean="0"/>
                  <a:t>;</a:t>
                </a: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3"/>
                <a:stretch>
                  <a:fillRect l="-999" t="-1310" r="-277"/>
                </a:stretch>
              </a:blipFill>
            </p:spPr>
            <p:txBody>
              <a:bodyPr/>
              <a:lstStyle/>
              <a:p>
                <a:r>
                  <a:rPr lang="zh-CN" altLang="en-US">
                    <a:noFill/>
                  </a:rPr>
                  <a:t> </a:t>
                </a:r>
              </a:p>
            </p:txBody>
          </p:sp>
        </mc:Fallback>
      </mc:AlternateContent>
      <p:pic>
        <p:nvPicPr>
          <p:cNvPr id="4" name="Picture 3" descr="addin_tmp.png"/>
          <p:cNvPicPr>
            <a:picLocks noChangeAspect="1"/>
          </p:cNvPicPr>
          <p:nvPr>
            <p:custDataLst>
              <p:tags r:id="rId1"/>
            </p:custDataLst>
          </p:nvPr>
        </p:nvPicPr>
        <p:blipFill>
          <a:blip r:embed="rId4" cstate="print"/>
          <a:stretch>
            <a:fillRect/>
          </a:stretch>
        </p:blipFill>
        <p:spPr>
          <a:xfrm>
            <a:off x="5999559" y="3149917"/>
            <a:ext cx="1163955" cy="558165"/>
          </a:xfrm>
          <a:prstGeom prst="rect">
            <a:avLst/>
          </a:prstGeom>
        </p:spPr>
      </p:pic>
      <p:pic>
        <p:nvPicPr>
          <p:cNvPr id="5" name="Picture 4" descr="0824.jpg"/>
          <p:cNvPicPr>
            <a:picLocks noChangeAspect="1"/>
          </p:cNvPicPr>
          <p:nvPr/>
        </p:nvPicPr>
        <p:blipFill>
          <a:blip r:embed="rId5" cstate="print"/>
          <a:stretch>
            <a:fillRect/>
          </a:stretch>
        </p:blipFill>
        <p:spPr>
          <a:xfrm>
            <a:off x="2895600" y="3821170"/>
            <a:ext cx="3103959" cy="1981200"/>
          </a:xfrm>
          <a:prstGeom prst="rect">
            <a:avLst/>
          </a:prstGeom>
        </p:spPr>
      </p:pic>
      <p:sp>
        <p:nvSpPr>
          <p:cNvPr id="6" name="TextBox 5"/>
          <p:cNvSpPr txBox="1"/>
          <p:nvPr/>
        </p:nvSpPr>
        <p:spPr>
          <a:xfrm>
            <a:off x="3581400" y="5813990"/>
            <a:ext cx="2133600" cy="369332"/>
          </a:xfrm>
          <a:prstGeom prst="rect">
            <a:avLst/>
          </a:prstGeom>
          <a:noFill/>
        </p:spPr>
        <p:txBody>
          <a:bodyPr wrap="square" rtlCol="0">
            <a:spAutoFit/>
          </a:bodyPr>
          <a:lstStyle/>
          <a:p>
            <a:r>
              <a:rPr lang="zh-CN" altLang="en-US" dirty="0" smtClean="0">
                <a:latin typeface="微软雅黑" panose="020B0503020204020204" pitchFamily="34" charset="-122"/>
                <a:ea typeface="微软雅黑" panose="020B0503020204020204" pitchFamily="34" charset="-122"/>
              </a:rPr>
              <a:t>集合的划分</a:t>
            </a:r>
            <a:endParaRPr lang="en-US" dirty="0">
              <a:latin typeface="微软雅黑" panose="020B0503020204020204" pitchFamily="34" charset="-122"/>
              <a:ea typeface="微软雅黑" panose="020B0503020204020204" pitchFamily="34" charset="-122"/>
            </a:endParaRPr>
          </a:p>
        </p:txBody>
      </p:sp>
      <p:sp>
        <p:nvSpPr>
          <p:cNvPr id="9" name="日期占位符 8"/>
          <p:cNvSpPr>
            <a:spLocks noGrp="1"/>
          </p:cNvSpPr>
          <p:nvPr>
            <p:ph type="dt" sz="half" idx="10"/>
          </p:nvPr>
        </p:nvSpPr>
        <p:spPr/>
        <p:txBody>
          <a:bodyPr/>
          <a:lstStyle/>
          <a:p>
            <a:fld id="{D3E68A80-3696-4580-90EE-42E5D354E938}" type="datetime1">
              <a:rPr lang="zh-CN" altLang="en-US" smtClean="0"/>
              <a:t>2025/3/14</a:t>
            </a:fld>
            <a:endParaRPr lang="zh-CN" altLang="en-US" dirty="0"/>
          </a:p>
        </p:txBody>
      </p:sp>
      <p:sp>
        <p:nvSpPr>
          <p:cNvPr id="10" name="页脚占位符 9"/>
          <p:cNvSpPr>
            <a:spLocks noGrp="1"/>
          </p:cNvSpPr>
          <p:nvPr>
            <p:ph type="ftr" sz="quarter" idx="11"/>
          </p:nvPr>
        </p:nvSpPr>
        <p:spPr/>
        <p:txBody>
          <a:bodyPr/>
          <a:lstStyle/>
          <a:p>
            <a:pPr algn="r"/>
            <a:r>
              <a:rPr lang="zh-CN" altLang="en-US" smtClean="0"/>
              <a:t>华中科技大学</a:t>
            </a:r>
            <a:r>
              <a:rPr lang="en-US" altLang="zh-CN" smtClean="0"/>
              <a:t>NNSS</a:t>
            </a:r>
            <a:r>
              <a:rPr lang="zh-CN" altLang="en-US" smtClean="0"/>
              <a:t>实验室</a:t>
            </a:r>
            <a:endParaRPr lang="zh-CN" altLang="en-US" dirty="0"/>
          </a:p>
        </p:txBody>
      </p:sp>
      <p:sp>
        <p:nvSpPr>
          <p:cNvPr id="11" name="灯片编号占位符 10"/>
          <p:cNvSpPr>
            <a:spLocks noGrp="1"/>
          </p:cNvSpPr>
          <p:nvPr>
            <p:ph type="sldNum" sz="quarter" idx="12"/>
          </p:nvPr>
        </p:nvSpPr>
        <p:spPr/>
        <p:txBody>
          <a:bodyPr/>
          <a:lstStyle/>
          <a:p>
            <a:fld id="{67913A8A-9EFB-4B5F-9CCB-3D21173FAA85}" type="slidenum">
              <a:rPr lang="zh-CN" altLang="en-US" smtClean="0"/>
              <a:pPr/>
              <a:t>98</a:t>
            </a:fld>
            <a:endParaRPr lang="zh-CN" altLang="en-US" dirty="0"/>
          </a:p>
        </p:txBody>
      </p:sp>
    </p:spTree>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457200" y="1143000"/>
            <a:ext cx="11277599" cy="1371600"/>
          </a:xfrm>
          <a:prstGeom prst="rect">
            <a:avLst/>
          </a:prstGeom>
          <a:solidFill>
            <a:schemeClr val="accent5">
              <a:lumMod val="40000"/>
              <a:lumOff val="6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itle 1"/>
          <p:cNvSpPr>
            <a:spLocks noGrp="1"/>
          </p:cNvSpPr>
          <p:nvPr>
            <p:ph type="title"/>
          </p:nvPr>
        </p:nvSpPr>
        <p:spPr/>
        <p:txBody>
          <a:bodyPr/>
          <a:lstStyle/>
          <a:p>
            <a:r>
              <a:rPr lang="zh-CN" altLang="en-US" dirty="0"/>
              <a:t>等价类与划分</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zh-CN" altLang="en-US" b="1" dirty="0" smtClean="0"/>
                  <a:t>定理</a:t>
                </a:r>
                <a:r>
                  <a:rPr lang="en-US" b="1" dirty="0" smtClean="0"/>
                  <a:t>:</a:t>
                </a:r>
                <a:r>
                  <a:rPr lang="en-US" dirty="0" smtClean="0"/>
                  <a:t> </a:t>
                </a:r>
                <a:r>
                  <a:rPr lang="zh-CN" altLang="en-US" dirty="0" smtClean="0"/>
                  <a:t>设</a:t>
                </a:r>
                <a:r>
                  <a:rPr lang="en-US" altLang="zh-CN" dirty="0" smtClean="0"/>
                  <a:t>R</a:t>
                </a:r>
                <a:r>
                  <a:rPr lang="zh-CN" altLang="en-US" dirty="0" smtClean="0"/>
                  <a:t>是定义在集合</a:t>
                </a:r>
                <a:r>
                  <a:rPr lang="en-US" altLang="zh-CN" dirty="0" smtClean="0"/>
                  <a:t>S</a:t>
                </a:r>
                <a:r>
                  <a:rPr lang="zh-CN" altLang="en-US" dirty="0" smtClean="0"/>
                  <a:t>上的等价关系</a:t>
                </a:r>
                <a:r>
                  <a:rPr lang="en-US" altLang="zh-CN" dirty="0" smtClean="0"/>
                  <a:t>, </a:t>
                </a:r>
                <a:r>
                  <a:rPr lang="zh-CN" altLang="en-US" dirty="0" smtClean="0"/>
                  <a:t>那么</a:t>
                </a:r>
                <a:r>
                  <a:rPr lang="en-US" altLang="zh-CN" dirty="0" smtClean="0"/>
                  <a:t>R</a:t>
                </a:r>
                <a:r>
                  <a:rPr lang="zh-CN" altLang="en-US" dirty="0" smtClean="0"/>
                  <a:t>的等价类构成</a:t>
                </a:r>
                <a:r>
                  <a:rPr lang="en-US" altLang="zh-CN" dirty="0" smtClean="0"/>
                  <a:t>S</a:t>
                </a:r>
                <a:r>
                  <a:rPr lang="zh-CN" altLang="en-US" dirty="0" smtClean="0"/>
                  <a:t>的划分</a:t>
                </a:r>
                <a:r>
                  <a:rPr lang="en-US" altLang="zh-CN" dirty="0" smtClean="0"/>
                  <a:t>. </a:t>
                </a:r>
                <a:r>
                  <a:rPr lang="zh-CN" altLang="en-US" dirty="0" smtClean="0"/>
                  <a:t>反过来</a:t>
                </a:r>
                <a:r>
                  <a:rPr lang="en-US" altLang="zh-CN" dirty="0" smtClean="0"/>
                  <a:t>, </a:t>
                </a:r>
                <a:r>
                  <a:rPr lang="zh-CN" altLang="en-US" dirty="0" smtClean="0"/>
                  <a:t>给定集合</a:t>
                </a:r>
                <a:r>
                  <a:rPr lang="en-US" altLang="zh-CN" dirty="0" smtClean="0"/>
                  <a:t>S</a:t>
                </a:r>
                <a:r>
                  <a:rPr lang="zh-CN" altLang="en-US" dirty="0" smtClean="0"/>
                  <a:t>的划分</a:t>
                </a:r>
                <a:r>
                  <a:rPr lang="en-US" dirty="0" smtClean="0"/>
                  <a:t> {</a:t>
                </a:r>
                <a14:m>
                  <m:oMath xmlns:m="http://schemas.openxmlformats.org/officeDocument/2006/math">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A</m:t>
                        </m:r>
                      </m:e>
                      <m:sub>
                        <m:r>
                          <a:rPr lang="en-US" altLang="zh-CN" i="1">
                            <a:latin typeface="Cambria Math" panose="02040503050406030204" pitchFamily="18" charset="0"/>
                          </a:rPr>
                          <m:t>𝑖</m:t>
                        </m:r>
                      </m:sub>
                    </m:sSub>
                  </m:oMath>
                </a14:m>
                <a:r>
                  <a:rPr lang="en-US" dirty="0" err="1" smtClean="0"/>
                  <a:t>|i</a:t>
                </a:r>
                <a14:m>
                  <m:oMath xmlns:m="http://schemas.openxmlformats.org/officeDocument/2006/math">
                    <m:r>
                      <a:rPr lang="en-US" altLang="zh-CN" i="1">
                        <a:latin typeface="Cambria Math" panose="02040503050406030204" pitchFamily="18" charset="0"/>
                        <a:ea typeface="Cambria Math" panose="02040503050406030204" pitchFamily="18" charset="0"/>
                      </a:rPr>
                      <m:t>∈</m:t>
                    </m:r>
                  </m:oMath>
                </a14:m>
                <a:r>
                  <a:rPr lang="en-US" dirty="0" err="1" smtClean="0"/>
                  <a:t>I</a:t>
                </a:r>
                <a:r>
                  <a:rPr lang="en-US" dirty="0" smtClean="0"/>
                  <a:t>} </a:t>
                </a:r>
                <a:r>
                  <a:rPr lang="en-US" altLang="zh-CN" dirty="0" smtClean="0"/>
                  <a:t>, </a:t>
                </a:r>
                <a:r>
                  <a:rPr lang="zh-CN" altLang="en-US" dirty="0" smtClean="0"/>
                  <a:t>则存在一个等价关系</a:t>
                </a:r>
                <a:r>
                  <a:rPr lang="en-US" altLang="zh-CN" dirty="0" smtClean="0"/>
                  <a:t>R, </a:t>
                </a:r>
                <a:r>
                  <a:rPr lang="zh-CN" altLang="en-US" dirty="0" smtClean="0"/>
                  <a:t>它以集合</a:t>
                </a:r>
                <a14:m>
                  <m:oMath xmlns:m="http://schemas.openxmlformats.org/officeDocument/2006/math">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A</m:t>
                        </m:r>
                      </m:e>
                      <m:sub>
                        <m:r>
                          <a:rPr lang="en-US" altLang="zh-CN" i="1">
                            <a:latin typeface="Cambria Math" panose="02040503050406030204" pitchFamily="18" charset="0"/>
                          </a:rPr>
                          <m:t>𝑖</m:t>
                        </m:r>
                      </m:sub>
                    </m:sSub>
                  </m:oMath>
                </a14:m>
                <a:r>
                  <a:rPr lang="en-US" dirty="0" smtClean="0"/>
                  <a:t>, </a:t>
                </a:r>
                <a:r>
                  <a:rPr lang="en-US" dirty="0" err="1" smtClean="0"/>
                  <a:t>i</a:t>
                </a:r>
                <a14:m>
                  <m:oMath xmlns:m="http://schemas.openxmlformats.org/officeDocument/2006/math">
                    <m:r>
                      <a:rPr lang="en-US" altLang="zh-CN" i="1">
                        <a:latin typeface="Cambria Math" panose="02040503050406030204" pitchFamily="18" charset="0"/>
                        <a:ea typeface="Cambria Math" panose="02040503050406030204" pitchFamily="18" charset="0"/>
                      </a:rPr>
                      <m:t>∈</m:t>
                    </m:r>
                  </m:oMath>
                </a14:m>
                <a:r>
                  <a:rPr lang="en-US" dirty="0" err="1" smtClean="0"/>
                  <a:t>I</a:t>
                </a:r>
                <a:r>
                  <a:rPr lang="en-US" dirty="0" smtClean="0"/>
                  <a:t>, </a:t>
                </a:r>
                <a:r>
                  <a:rPr lang="zh-CN" altLang="en-US" dirty="0" smtClean="0"/>
                  <a:t>作为它的等价类</a:t>
                </a:r>
                <a:r>
                  <a:rPr lang="en-US" dirty="0" smtClean="0"/>
                  <a:t>. </a:t>
                </a:r>
              </a:p>
              <a:p>
                <a:r>
                  <a:rPr lang="zh-CN" altLang="en-US" dirty="0" smtClean="0"/>
                  <a:t>证</a:t>
                </a:r>
                <a:r>
                  <a:rPr lang="en-US" altLang="zh-CN" dirty="0" smtClean="0"/>
                  <a:t>:</a:t>
                </a:r>
              </a:p>
              <a:p>
                <a:r>
                  <a:rPr lang="zh-CN" altLang="en-US" dirty="0" smtClean="0"/>
                  <a:t>我们前面已经证明了定理中的第一部分</a:t>
                </a:r>
                <a:r>
                  <a:rPr lang="en-US" altLang="zh-CN" dirty="0" smtClean="0"/>
                  <a:t>. </a:t>
                </a:r>
                <a:r>
                  <a:rPr lang="zh-CN" altLang="en-US" dirty="0" smtClean="0"/>
                  <a:t>接下来</a:t>
                </a:r>
                <a:r>
                  <a:rPr lang="en-US" altLang="zh-CN" dirty="0" smtClean="0"/>
                  <a:t>,</a:t>
                </a:r>
                <a:r>
                  <a:rPr lang="zh-CN" altLang="en-US" dirty="0" smtClean="0"/>
                  <a:t>我们证明第二部分</a:t>
                </a:r>
                <a:r>
                  <a:rPr lang="en-US" altLang="zh-CN" dirty="0" smtClean="0"/>
                  <a:t>. </a:t>
                </a:r>
                <a:r>
                  <a:rPr lang="zh-CN" altLang="en-US" dirty="0" smtClean="0"/>
                  <a:t>假设</a:t>
                </a:r>
                <a:r>
                  <a:rPr lang="en-US" dirty="0" smtClean="0"/>
                  <a:t>{</a:t>
                </a:r>
                <a14:m>
                  <m:oMath xmlns:m="http://schemas.openxmlformats.org/officeDocument/2006/math">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A</m:t>
                        </m:r>
                      </m:e>
                      <m:sub>
                        <m:r>
                          <a:rPr lang="en-US" altLang="zh-CN" i="1">
                            <a:latin typeface="Cambria Math" panose="02040503050406030204" pitchFamily="18" charset="0"/>
                          </a:rPr>
                          <m:t>𝑖</m:t>
                        </m:r>
                      </m:sub>
                    </m:sSub>
                  </m:oMath>
                </a14:m>
                <a:r>
                  <a:rPr lang="en-US" dirty="0" smtClean="0"/>
                  <a:t>|</a:t>
                </a:r>
                <a:r>
                  <a:rPr lang="en-US" dirty="0" err="1" smtClean="0"/>
                  <a:t>i</a:t>
                </a:r>
                <a14:m>
                  <m:oMath xmlns:m="http://schemas.openxmlformats.org/officeDocument/2006/math">
                    <m:r>
                      <a:rPr lang="en-US" altLang="zh-CN" i="1">
                        <a:latin typeface="Cambria Math" panose="02040503050406030204" pitchFamily="18" charset="0"/>
                        <a:ea typeface="Cambria Math" panose="02040503050406030204" pitchFamily="18" charset="0"/>
                      </a:rPr>
                      <m:t>∈</m:t>
                    </m:r>
                  </m:oMath>
                </a14:m>
                <a:r>
                  <a:rPr lang="en-US" dirty="0" err="1" smtClean="0"/>
                  <a:t>I</a:t>
                </a:r>
                <a:r>
                  <a:rPr lang="en-US" dirty="0" smtClean="0"/>
                  <a:t>} </a:t>
                </a:r>
                <a:r>
                  <a:rPr lang="zh-CN" altLang="en-US" dirty="0" smtClean="0"/>
                  <a:t>是</a:t>
                </a:r>
                <a:r>
                  <a:rPr lang="en-US" altLang="zh-CN" dirty="0" smtClean="0"/>
                  <a:t>S</a:t>
                </a:r>
                <a:r>
                  <a:rPr lang="zh-CN" altLang="en-US" dirty="0" smtClean="0"/>
                  <a:t>的划分</a:t>
                </a:r>
                <a:r>
                  <a:rPr lang="en-US" altLang="zh-CN" dirty="0" smtClean="0"/>
                  <a:t>. </a:t>
                </a:r>
                <a:r>
                  <a:rPr lang="zh-CN" altLang="en-US" dirty="0" smtClean="0"/>
                  <a:t>设</a:t>
                </a:r>
                <a:r>
                  <a:rPr lang="en-US" altLang="zh-CN" dirty="0" smtClean="0"/>
                  <a:t>R</a:t>
                </a:r>
                <a:r>
                  <a:rPr lang="zh-CN" altLang="en-US" dirty="0" smtClean="0"/>
                  <a:t>是</a:t>
                </a:r>
                <a:r>
                  <a:rPr lang="en-US" altLang="zh-CN" dirty="0" smtClean="0"/>
                  <a:t>S</a:t>
                </a:r>
                <a:r>
                  <a:rPr lang="zh-CN" altLang="en-US" dirty="0" smtClean="0"/>
                  <a:t>上的有序对</a:t>
                </a:r>
                <a:r>
                  <a:rPr lang="en-US" altLang="zh-CN" dirty="0" smtClean="0"/>
                  <a:t>(x, y) </a:t>
                </a:r>
                <a:r>
                  <a:rPr lang="zh-CN" altLang="en-US" dirty="0" smtClean="0"/>
                  <a:t>组成的关系</a:t>
                </a:r>
                <a:r>
                  <a:rPr lang="en-US" altLang="zh-CN" dirty="0" smtClean="0"/>
                  <a:t>, </a:t>
                </a:r>
                <a:r>
                  <a:rPr lang="zh-CN" altLang="en-US" dirty="0" smtClean="0"/>
                  <a:t>其中</a:t>
                </a:r>
                <a:r>
                  <a:rPr lang="en-US" altLang="zh-CN" dirty="0" smtClean="0"/>
                  <a:t>x</a:t>
                </a:r>
                <a:r>
                  <a:rPr lang="zh-CN" altLang="en-US" dirty="0" smtClean="0"/>
                  <a:t>和</a:t>
                </a:r>
                <a:r>
                  <a:rPr lang="en-US" altLang="zh-CN" dirty="0" smtClean="0"/>
                  <a:t>y</a:t>
                </a:r>
                <a:r>
                  <a:rPr lang="zh-CN" altLang="en-US" dirty="0" smtClean="0"/>
                  <a:t>属于这个划分的同一个子集</a:t>
                </a:r>
                <a14:m>
                  <m:oMath xmlns:m="http://schemas.openxmlformats.org/officeDocument/2006/math">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A</m:t>
                        </m:r>
                      </m:e>
                      <m:sub>
                        <m:r>
                          <a:rPr lang="en-US" altLang="zh-CN" i="1">
                            <a:latin typeface="Cambria Math" panose="02040503050406030204" pitchFamily="18" charset="0"/>
                          </a:rPr>
                          <m:t>𝑖</m:t>
                        </m:r>
                      </m:sub>
                    </m:sSub>
                  </m:oMath>
                </a14:m>
                <a:r>
                  <a:rPr lang="zh-CN" altLang="en-US" dirty="0" smtClean="0"/>
                  <a:t>中</a:t>
                </a:r>
                <a:r>
                  <a:rPr lang="en-US" altLang="zh-CN" dirty="0" smtClean="0"/>
                  <a:t>. </a:t>
                </a:r>
                <a:r>
                  <a:rPr lang="zh-CN" altLang="en-US" dirty="0" smtClean="0"/>
                  <a:t>为了证明</a:t>
                </a:r>
                <a:r>
                  <a:rPr lang="en-US" altLang="zh-CN" dirty="0" smtClean="0"/>
                  <a:t>R</a:t>
                </a:r>
                <a:r>
                  <a:rPr lang="zh-CN" altLang="en-US" dirty="0" smtClean="0"/>
                  <a:t>是等价关系</a:t>
                </a:r>
                <a:r>
                  <a:rPr lang="en-US" altLang="zh-CN" dirty="0" smtClean="0"/>
                  <a:t>, </a:t>
                </a:r>
                <a:r>
                  <a:rPr lang="zh-CN" altLang="en-US" dirty="0" smtClean="0"/>
                  <a:t>那么必须证明</a:t>
                </a:r>
                <a:r>
                  <a:rPr lang="en-US" altLang="zh-CN" dirty="0" smtClean="0"/>
                  <a:t>R</a:t>
                </a:r>
                <a:r>
                  <a:rPr lang="zh-CN" altLang="en-US" dirty="0" smtClean="0"/>
                  <a:t>是自反的</a:t>
                </a:r>
                <a:r>
                  <a:rPr lang="en-US" altLang="zh-CN" dirty="0" smtClean="0"/>
                  <a:t>, </a:t>
                </a:r>
                <a:r>
                  <a:rPr lang="zh-CN" altLang="en-US" dirty="0" smtClean="0"/>
                  <a:t>对称的</a:t>
                </a:r>
                <a:r>
                  <a:rPr lang="en-US" altLang="zh-CN" dirty="0" smtClean="0"/>
                  <a:t>, </a:t>
                </a:r>
                <a:r>
                  <a:rPr lang="zh-CN" altLang="en-US" dirty="0" smtClean="0"/>
                  <a:t>传递的</a:t>
                </a:r>
                <a:r>
                  <a:rPr lang="en-US" dirty="0" smtClean="0"/>
                  <a:t>.</a:t>
                </a:r>
              </a:p>
              <a:p>
                <a:pPr lvl="1">
                  <a:lnSpc>
                    <a:spcPct val="120000"/>
                  </a:lnSpc>
                </a:pPr>
                <a:r>
                  <a:rPr lang="zh-CN" altLang="en-US" dirty="0" smtClean="0"/>
                  <a:t>自反性</a:t>
                </a:r>
                <a:r>
                  <a:rPr lang="en-US" dirty="0" smtClean="0"/>
                  <a:t>: </a:t>
                </a:r>
                <a:r>
                  <a:rPr lang="zh-CN" altLang="en-US" dirty="0" smtClean="0"/>
                  <a:t>对于每个</a:t>
                </a:r>
                <a:r>
                  <a:rPr lang="en-US" dirty="0" smtClean="0"/>
                  <a:t>a</a:t>
                </a:r>
                <a14:m>
                  <m:oMath xmlns:m="http://schemas.openxmlformats.org/officeDocument/2006/math">
                    <m:r>
                      <a:rPr lang="en-US" altLang="zh-CN" i="1">
                        <a:latin typeface="Cambria Math" panose="02040503050406030204" pitchFamily="18" charset="0"/>
                        <a:ea typeface="Cambria Math" panose="02040503050406030204" pitchFamily="18" charset="0"/>
                      </a:rPr>
                      <m:t>∈</m:t>
                    </m:r>
                  </m:oMath>
                </a14:m>
                <a:r>
                  <a:rPr lang="en-US" dirty="0" err="1" smtClean="0"/>
                  <a:t>S</a:t>
                </a:r>
                <a:r>
                  <a:rPr lang="en-US" dirty="0" smtClean="0"/>
                  <a:t>, </a:t>
                </a:r>
                <a:r>
                  <a:rPr lang="zh-CN" altLang="en-US" dirty="0" smtClean="0"/>
                  <a:t>有</a:t>
                </a:r>
                <a:r>
                  <a:rPr lang="en-US" dirty="0" smtClean="0"/>
                  <a:t>(</a:t>
                </a:r>
                <a:r>
                  <a:rPr lang="en-US" dirty="0" err="1" smtClean="0"/>
                  <a:t>a,a</a:t>
                </a:r>
                <a:r>
                  <a:rPr lang="en-US" dirty="0" smtClean="0"/>
                  <a:t>)</a:t>
                </a:r>
                <a14:m>
                  <m:oMath xmlns:m="http://schemas.openxmlformats.org/officeDocument/2006/math">
                    <m:r>
                      <a:rPr lang="en-US" altLang="zh-CN" i="1">
                        <a:latin typeface="Cambria Math" panose="02040503050406030204" pitchFamily="18" charset="0"/>
                        <a:ea typeface="Cambria Math" panose="02040503050406030204" pitchFamily="18" charset="0"/>
                      </a:rPr>
                      <m:t>∈</m:t>
                    </m:r>
                  </m:oMath>
                </a14:m>
                <a:r>
                  <a:rPr lang="en-US" dirty="0" smtClean="0"/>
                  <a:t>R, </a:t>
                </a:r>
                <a:r>
                  <a:rPr lang="zh-CN" altLang="en-US" dirty="0" smtClean="0"/>
                  <a:t>因为</a:t>
                </a:r>
                <a:r>
                  <a:rPr lang="en-US" altLang="zh-CN" dirty="0" smtClean="0"/>
                  <a:t>a</a:t>
                </a:r>
                <a:r>
                  <a:rPr lang="zh-CN" altLang="en-US" dirty="0" smtClean="0"/>
                  <a:t>和自己在同一个子集中</a:t>
                </a:r>
                <a:r>
                  <a:rPr lang="en-US" altLang="zh-CN" dirty="0" smtClean="0"/>
                  <a:t>, </a:t>
                </a:r>
                <a:r>
                  <a:rPr lang="zh-CN" altLang="en-US" dirty="0" smtClean="0"/>
                  <a:t>所以</a:t>
                </a:r>
                <a:r>
                  <a:rPr lang="en-US" altLang="zh-CN" dirty="0" smtClean="0"/>
                  <a:t>R</a:t>
                </a:r>
                <a:r>
                  <a:rPr lang="zh-CN" altLang="en-US" dirty="0" smtClean="0"/>
                  <a:t>是自反的</a:t>
                </a:r>
                <a:r>
                  <a:rPr lang="en-US" dirty="0" smtClean="0"/>
                  <a:t>. </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2"/>
                <a:stretch>
                  <a:fillRect l="-999" t="-1310" r="-555"/>
                </a:stretch>
              </a:blipFill>
            </p:spPr>
            <p:txBody>
              <a:bodyPr/>
              <a:lstStyle/>
              <a:p>
                <a:r>
                  <a:rPr lang="zh-CN" altLang="en-US">
                    <a:noFill/>
                  </a:rPr>
                  <a:t> </a:t>
                </a:r>
              </a:p>
            </p:txBody>
          </p:sp>
        </mc:Fallback>
      </mc:AlternateContent>
      <p:sp>
        <p:nvSpPr>
          <p:cNvPr id="6" name="日期占位符 5"/>
          <p:cNvSpPr>
            <a:spLocks noGrp="1"/>
          </p:cNvSpPr>
          <p:nvPr>
            <p:ph type="dt" sz="half" idx="10"/>
          </p:nvPr>
        </p:nvSpPr>
        <p:spPr/>
        <p:txBody>
          <a:bodyPr/>
          <a:lstStyle/>
          <a:p>
            <a:fld id="{A4D6C87A-8813-465F-A8E9-13BC2082FF59}" type="datetime1">
              <a:rPr lang="zh-CN" altLang="en-US" smtClean="0"/>
              <a:t>2025/3/14</a:t>
            </a:fld>
            <a:endParaRPr lang="zh-CN" altLang="en-US" dirty="0"/>
          </a:p>
        </p:txBody>
      </p:sp>
      <p:sp>
        <p:nvSpPr>
          <p:cNvPr id="7" name="页脚占位符 6"/>
          <p:cNvSpPr>
            <a:spLocks noGrp="1"/>
          </p:cNvSpPr>
          <p:nvPr>
            <p:ph type="ftr" sz="quarter" idx="11"/>
          </p:nvPr>
        </p:nvSpPr>
        <p:spPr/>
        <p:txBody>
          <a:bodyPr/>
          <a:lstStyle/>
          <a:p>
            <a:pPr algn="r"/>
            <a:r>
              <a:rPr lang="zh-CN" altLang="en-US" smtClean="0"/>
              <a:t>华中科技大学</a:t>
            </a:r>
            <a:r>
              <a:rPr lang="en-US" altLang="zh-CN" smtClean="0"/>
              <a:t>NNSS</a:t>
            </a:r>
            <a:r>
              <a:rPr lang="zh-CN" altLang="en-US" smtClean="0"/>
              <a:t>实验室</a:t>
            </a:r>
            <a:endParaRPr lang="zh-CN" altLang="en-US" dirty="0"/>
          </a:p>
        </p:txBody>
      </p:sp>
      <p:sp>
        <p:nvSpPr>
          <p:cNvPr id="8" name="灯片编号占位符 7"/>
          <p:cNvSpPr>
            <a:spLocks noGrp="1"/>
          </p:cNvSpPr>
          <p:nvPr>
            <p:ph type="sldNum" sz="quarter" idx="12"/>
          </p:nvPr>
        </p:nvSpPr>
        <p:spPr/>
        <p:txBody>
          <a:bodyPr/>
          <a:lstStyle/>
          <a:p>
            <a:fld id="{67913A8A-9EFB-4B5F-9CCB-3D21173FAA85}" type="slidenum">
              <a:rPr lang="zh-CN" altLang="en-US" smtClean="0"/>
              <a:pPr/>
              <a:t>99</a:t>
            </a:fld>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wipe(down)">
                                      <p:cBhvr>
                                        <p:cTn id="7" dur="500"/>
                                        <p:tgtEl>
                                          <p:spTgt spid="3">
                                            <p:txEl>
                                              <p:pRg st="1" end="1"/>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wipe(down)">
                                      <p:cBhvr>
                                        <p:cTn id="10" dur="500"/>
                                        <p:tgtEl>
                                          <p:spTgt spid="3">
                                            <p:txEl>
                                              <p:pRg st="2" end="2"/>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wipe(down)">
                                      <p:cBhvr>
                                        <p:cTn id="13"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457200" y="1143000"/>
            <a:ext cx="11277599" cy="1371600"/>
          </a:xfrm>
          <a:prstGeom prst="rect">
            <a:avLst/>
          </a:prstGeom>
          <a:solidFill>
            <a:schemeClr val="accent5">
              <a:lumMod val="40000"/>
              <a:lumOff val="6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itle 1"/>
          <p:cNvSpPr>
            <a:spLocks noGrp="1"/>
          </p:cNvSpPr>
          <p:nvPr>
            <p:ph type="title"/>
          </p:nvPr>
        </p:nvSpPr>
        <p:spPr/>
        <p:txBody>
          <a:bodyPr/>
          <a:lstStyle/>
          <a:p>
            <a:r>
              <a:rPr lang="zh-CN" altLang="en-US" dirty="0"/>
              <a:t>等价类与划分</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zh-CN" altLang="en-US" dirty="0" smtClean="0"/>
                  <a:t>定理</a:t>
                </a:r>
                <a:r>
                  <a:rPr lang="en-US" dirty="0" smtClean="0"/>
                  <a:t>: </a:t>
                </a:r>
                <a:r>
                  <a:rPr lang="zh-CN" altLang="en-US" dirty="0" smtClean="0"/>
                  <a:t>设</a:t>
                </a:r>
                <a:r>
                  <a:rPr lang="en-US" altLang="zh-CN" dirty="0" smtClean="0"/>
                  <a:t>R</a:t>
                </a:r>
                <a:r>
                  <a:rPr lang="zh-CN" altLang="en-US" dirty="0" smtClean="0"/>
                  <a:t>是定义在集合</a:t>
                </a:r>
                <a:r>
                  <a:rPr lang="en-US" altLang="zh-CN" dirty="0" smtClean="0"/>
                  <a:t>S</a:t>
                </a:r>
                <a:r>
                  <a:rPr lang="zh-CN" altLang="en-US" dirty="0" smtClean="0"/>
                  <a:t>上的等价关系</a:t>
                </a:r>
                <a:r>
                  <a:rPr lang="en-US" altLang="zh-CN" dirty="0" smtClean="0"/>
                  <a:t>, </a:t>
                </a:r>
                <a:r>
                  <a:rPr lang="zh-CN" altLang="en-US" dirty="0" smtClean="0"/>
                  <a:t>那么</a:t>
                </a:r>
                <a:r>
                  <a:rPr lang="en-US" altLang="zh-CN" dirty="0" smtClean="0"/>
                  <a:t>R</a:t>
                </a:r>
                <a:r>
                  <a:rPr lang="zh-CN" altLang="en-US" dirty="0" smtClean="0"/>
                  <a:t>的等价类构成</a:t>
                </a:r>
                <a:r>
                  <a:rPr lang="en-US" altLang="zh-CN" dirty="0" smtClean="0"/>
                  <a:t>S</a:t>
                </a:r>
                <a:r>
                  <a:rPr lang="zh-CN" altLang="en-US" dirty="0" smtClean="0"/>
                  <a:t>的划分</a:t>
                </a:r>
                <a:r>
                  <a:rPr lang="en-US" altLang="zh-CN" dirty="0" smtClean="0"/>
                  <a:t>. </a:t>
                </a:r>
                <a:r>
                  <a:rPr lang="zh-CN" altLang="en-US" dirty="0" smtClean="0"/>
                  <a:t>反过来</a:t>
                </a:r>
                <a:r>
                  <a:rPr lang="en-US" altLang="zh-CN" dirty="0" smtClean="0"/>
                  <a:t>, </a:t>
                </a:r>
                <a:r>
                  <a:rPr lang="zh-CN" altLang="en-US" dirty="0" smtClean="0"/>
                  <a:t>给定集合</a:t>
                </a:r>
                <a:r>
                  <a:rPr lang="en-US" altLang="zh-CN" dirty="0" smtClean="0"/>
                  <a:t>S</a:t>
                </a:r>
                <a:r>
                  <a:rPr lang="zh-CN" altLang="en-US" dirty="0" smtClean="0"/>
                  <a:t>的划分</a:t>
                </a:r>
                <a:r>
                  <a:rPr lang="en-US" dirty="0" smtClean="0"/>
                  <a:t> {</a:t>
                </a:r>
                <a14:m>
                  <m:oMath xmlns:m="http://schemas.openxmlformats.org/officeDocument/2006/math">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A</m:t>
                        </m:r>
                      </m:e>
                      <m:sub>
                        <m:r>
                          <a:rPr lang="en-US" altLang="zh-CN" i="1">
                            <a:latin typeface="Cambria Math" panose="02040503050406030204" pitchFamily="18" charset="0"/>
                          </a:rPr>
                          <m:t>𝑖</m:t>
                        </m:r>
                      </m:sub>
                    </m:sSub>
                  </m:oMath>
                </a14:m>
                <a:r>
                  <a:rPr lang="en-US" dirty="0" err="1" smtClean="0"/>
                  <a:t>|i</a:t>
                </a:r>
                <a14:m>
                  <m:oMath xmlns:m="http://schemas.openxmlformats.org/officeDocument/2006/math">
                    <m:r>
                      <a:rPr lang="en-US" altLang="zh-CN" i="1">
                        <a:latin typeface="Cambria Math" panose="02040503050406030204" pitchFamily="18" charset="0"/>
                        <a:ea typeface="Cambria Math" panose="02040503050406030204" pitchFamily="18" charset="0"/>
                      </a:rPr>
                      <m:t>∈</m:t>
                    </m:r>
                  </m:oMath>
                </a14:m>
                <a:r>
                  <a:rPr lang="en-US" dirty="0" err="1" smtClean="0"/>
                  <a:t>I</a:t>
                </a:r>
                <a:r>
                  <a:rPr lang="en-US" dirty="0" smtClean="0"/>
                  <a:t>} </a:t>
                </a:r>
                <a:r>
                  <a:rPr lang="en-US" altLang="zh-CN" dirty="0" smtClean="0"/>
                  <a:t>, </a:t>
                </a:r>
                <a:r>
                  <a:rPr lang="zh-CN" altLang="en-US" dirty="0" smtClean="0"/>
                  <a:t>则存在一个等价关系</a:t>
                </a:r>
                <a:r>
                  <a:rPr lang="en-US" altLang="zh-CN" dirty="0" smtClean="0"/>
                  <a:t>R, </a:t>
                </a:r>
                <a:r>
                  <a:rPr lang="zh-CN" altLang="en-US" dirty="0" smtClean="0"/>
                  <a:t>它以集合</a:t>
                </a:r>
                <a14:m>
                  <m:oMath xmlns:m="http://schemas.openxmlformats.org/officeDocument/2006/math">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A</m:t>
                        </m:r>
                      </m:e>
                      <m:sub>
                        <m:r>
                          <a:rPr lang="en-US" altLang="zh-CN" i="1">
                            <a:latin typeface="Cambria Math" panose="02040503050406030204" pitchFamily="18" charset="0"/>
                          </a:rPr>
                          <m:t>𝑖</m:t>
                        </m:r>
                      </m:sub>
                    </m:sSub>
                  </m:oMath>
                </a14:m>
                <a:r>
                  <a:rPr lang="en-US" dirty="0" smtClean="0"/>
                  <a:t>, </a:t>
                </a:r>
                <a:r>
                  <a:rPr lang="en-US" dirty="0" err="1" smtClean="0"/>
                  <a:t>i</a:t>
                </a:r>
                <a14:m>
                  <m:oMath xmlns:m="http://schemas.openxmlformats.org/officeDocument/2006/math">
                    <m:r>
                      <a:rPr lang="en-US" altLang="zh-CN" i="1">
                        <a:latin typeface="Cambria Math" panose="02040503050406030204" pitchFamily="18" charset="0"/>
                        <a:ea typeface="Cambria Math" panose="02040503050406030204" pitchFamily="18" charset="0"/>
                      </a:rPr>
                      <m:t>∈</m:t>
                    </m:r>
                  </m:oMath>
                </a14:m>
                <a:r>
                  <a:rPr lang="en-US" dirty="0" err="1" smtClean="0"/>
                  <a:t>I</a:t>
                </a:r>
                <a:r>
                  <a:rPr lang="en-US" dirty="0" smtClean="0"/>
                  <a:t>, </a:t>
                </a:r>
                <a:r>
                  <a:rPr lang="zh-CN" altLang="en-US" dirty="0" smtClean="0"/>
                  <a:t>作为它的等价类</a:t>
                </a:r>
                <a:r>
                  <a:rPr lang="en-US" dirty="0" smtClean="0"/>
                  <a:t>. </a:t>
                </a:r>
              </a:p>
              <a:p>
                <a:r>
                  <a:rPr lang="zh-CN" altLang="en-US" dirty="0" smtClean="0"/>
                  <a:t>证</a:t>
                </a:r>
                <a:r>
                  <a:rPr lang="en-US" altLang="zh-CN" dirty="0" smtClean="0"/>
                  <a:t>(</a:t>
                </a:r>
                <a:r>
                  <a:rPr lang="zh-CN" altLang="en-US" dirty="0" smtClean="0"/>
                  <a:t>续</a:t>
                </a:r>
                <a:r>
                  <a:rPr lang="en-US" altLang="zh-CN" dirty="0" smtClean="0"/>
                  <a:t>):</a:t>
                </a:r>
              </a:p>
              <a:p>
                <a:pPr lvl="1">
                  <a:lnSpc>
                    <a:spcPct val="120000"/>
                  </a:lnSpc>
                </a:pPr>
                <a:r>
                  <a:rPr lang="zh-CN" altLang="en-US" dirty="0"/>
                  <a:t>对称性</a:t>
                </a:r>
                <a:r>
                  <a:rPr lang="en-US" altLang="zh-CN" dirty="0"/>
                  <a:t>: </a:t>
                </a:r>
                <a:r>
                  <a:rPr lang="zh-CN" altLang="en-US" dirty="0"/>
                  <a:t>如果</a:t>
                </a:r>
                <a:r>
                  <a:rPr lang="en-US" altLang="zh-CN" dirty="0"/>
                  <a:t>(</a:t>
                </a:r>
                <a:r>
                  <a:rPr lang="en-US" altLang="zh-CN" dirty="0" err="1"/>
                  <a:t>a,b</a:t>
                </a:r>
                <a:r>
                  <a:rPr lang="en-US" altLang="zh-CN" dirty="0"/>
                  <a:t>)</a:t>
                </a:r>
                <a14:m>
                  <m:oMath xmlns:m="http://schemas.openxmlformats.org/officeDocument/2006/math">
                    <m:r>
                      <a:rPr lang="en-US" altLang="zh-CN" i="1">
                        <a:latin typeface="Cambria Math" panose="02040503050406030204" pitchFamily="18" charset="0"/>
                        <a:ea typeface="Cambria Math" panose="02040503050406030204" pitchFamily="18" charset="0"/>
                      </a:rPr>
                      <m:t>∈</m:t>
                    </m:r>
                  </m:oMath>
                </a14:m>
                <a:r>
                  <a:rPr lang="en-US" altLang="zh-CN" dirty="0"/>
                  <a:t>R, </a:t>
                </a:r>
                <a:r>
                  <a:rPr lang="zh-CN" altLang="en-US" dirty="0"/>
                  <a:t>那么</a:t>
                </a:r>
                <a:r>
                  <a:rPr lang="en-US" altLang="zh-CN" dirty="0"/>
                  <a:t>b</a:t>
                </a:r>
                <a:r>
                  <a:rPr lang="zh-CN" altLang="en-US" dirty="0"/>
                  <a:t>和</a:t>
                </a:r>
                <a:r>
                  <a:rPr lang="en-US" altLang="zh-CN" dirty="0"/>
                  <a:t>a</a:t>
                </a:r>
                <a:r>
                  <a:rPr lang="zh-CN" altLang="en-US" dirty="0"/>
                  <a:t>在这个划分的同一个子集</a:t>
                </a:r>
                <a:r>
                  <a:rPr lang="en-US" altLang="zh-CN" dirty="0"/>
                  <a:t>, </a:t>
                </a:r>
                <a:r>
                  <a:rPr lang="zh-CN" altLang="en-US" dirty="0"/>
                  <a:t>因此有</a:t>
                </a:r>
                <a:r>
                  <a:rPr lang="en-US" altLang="zh-CN" dirty="0"/>
                  <a:t> (</a:t>
                </a:r>
                <a:r>
                  <a:rPr lang="en-US" altLang="zh-CN" dirty="0" err="1"/>
                  <a:t>b,a</a:t>
                </a:r>
                <a:r>
                  <a:rPr lang="en-US" altLang="zh-CN" dirty="0"/>
                  <a:t>)</a:t>
                </a:r>
                <a14:m>
                  <m:oMath xmlns:m="http://schemas.openxmlformats.org/officeDocument/2006/math">
                    <m:r>
                      <a:rPr lang="en-US" altLang="zh-CN" i="1">
                        <a:latin typeface="Cambria Math" panose="02040503050406030204" pitchFamily="18" charset="0"/>
                        <a:ea typeface="Cambria Math" panose="02040503050406030204" pitchFamily="18" charset="0"/>
                      </a:rPr>
                      <m:t>∈</m:t>
                    </m:r>
                  </m:oMath>
                </a14:m>
                <a:r>
                  <a:rPr lang="en-US" altLang="zh-CN" dirty="0"/>
                  <a:t>R, </a:t>
                </a:r>
                <a:r>
                  <a:rPr lang="zh-CN" altLang="en-US" dirty="0"/>
                  <a:t>所以</a:t>
                </a:r>
                <a:r>
                  <a:rPr lang="en-US" altLang="zh-CN" dirty="0"/>
                  <a:t>R</a:t>
                </a:r>
                <a:r>
                  <a:rPr lang="zh-CN" altLang="en-US" dirty="0"/>
                  <a:t>是对称的</a:t>
                </a:r>
                <a:r>
                  <a:rPr lang="en-US" altLang="zh-CN" dirty="0"/>
                  <a:t>. </a:t>
                </a:r>
              </a:p>
              <a:p>
                <a:pPr lvl="1">
                  <a:lnSpc>
                    <a:spcPct val="120000"/>
                  </a:lnSpc>
                </a:pPr>
                <a:r>
                  <a:rPr lang="zh-CN" altLang="en-US" dirty="0"/>
                  <a:t>传递性</a:t>
                </a:r>
                <a:r>
                  <a:rPr lang="en-US" altLang="zh-CN" dirty="0"/>
                  <a:t>: </a:t>
                </a:r>
                <a:r>
                  <a:rPr lang="zh-CN" altLang="en-US" dirty="0"/>
                  <a:t>如果</a:t>
                </a:r>
                <a:r>
                  <a:rPr lang="en-US" altLang="zh-CN" dirty="0"/>
                  <a:t> (</a:t>
                </a:r>
                <a:r>
                  <a:rPr lang="en-US" altLang="zh-CN" dirty="0" err="1"/>
                  <a:t>a,b</a:t>
                </a:r>
                <a:r>
                  <a:rPr lang="en-US" altLang="zh-CN" dirty="0"/>
                  <a:t>)</a:t>
                </a:r>
                <a14:m>
                  <m:oMath xmlns:m="http://schemas.openxmlformats.org/officeDocument/2006/math">
                    <m:r>
                      <a:rPr lang="en-US" altLang="zh-CN" i="1">
                        <a:latin typeface="Cambria Math" panose="02040503050406030204" pitchFamily="18" charset="0"/>
                        <a:ea typeface="Cambria Math" panose="02040503050406030204" pitchFamily="18" charset="0"/>
                      </a:rPr>
                      <m:t>∈</m:t>
                    </m:r>
                  </m:oMath>
                </a14:m>
                <a:r>
                  <a:rPr lang="en-US" altLang="zh-CN" dirty="0"/>
                  <a:t>R, (</a:t>
                </a:r>
                <a:r>
                  <a:rPr lang="en-US" altLang="zh-CN" dirty="0" err="1"/>
                  <a:t>b,c</a:t>
                </a:r>
                <a:r>
                  <a:rPr lang="en-US" altLang="zh-CN" dirty="0"/>
                  <a:t>)</a:t>
                </a:r>
                <a14:m>
                  <m:oMath xmlns:m="http://schemas.openxmlformats.org/officeDocument/2006/math">
                    <m:r>
                      <a:rPr lang="en-US" altLang="zh-CN" i="1">
                        <a:latin typeface="Cambria Math" panose="02040503050406030204" pitchFamily="18" charset="0"/>
                        <a:ea typeface="Cambria Math" panose="02040503050406030204" pitchFamily="18" charset="0"/>
                      </a:rPr>
                      <m:t>∈</m:t>
                    </m:r>
                  </m:oMath>
                </a14:m>
                <a:r>
                  <a:rPr lang="en-US" altLang="zh-CN" dirty="0"/>
                  <a:t>R, </a:t>
                </a:r>
                <a:r>
                  <a:rPr lang="zh-CN" altLang="en-US" dirty="0"/>
                  <a:t>那么</a:t>
                </a:r>
                <a:r>
                  <a:rPr lang="en-US" altLang="zh-CN" dirty="0"/>
                  <a:t>a</a:t>
                </a:r>
                <a:r>
                  <a:rPr lang="zh-CN" altLang="en-US" dirty="0"/>
                  <a:t>和</a:t>
                </a:r>
                <a:r>
                  <a:rPr lang="en-US" altLang="zh-CN" dirty="0"/>
                  <a:t>b</a:t>
                </a:r>
                <a:r>
                  <a:rPr lang="zh-CN" altLang="en-US" dirty="0"/>
                  <a:t>在这个划分的同一个子集</a:t>
                </a:r>
                <a:r>
                  <a:rPr lang="en-US" altLang="zh-CN" dirty="0"/>
                  <a:t>X</a:t>
                </a:r>
                <a:r>
                  <a:rPr lang="zh-CN" altLang="en-US" dirty="0"/>
                  <a:t>中</a:t>
                </a:r>
                <a:r>
                  <a:rPr lang="en-US" altLang="zh-CN" dirty="0"/>
                  <a:t>, b</a:t>
                </a:r>
                <a:r>
                  <a:rPr lang="zh-CN" altLang="en-US" dirty="0"/>
                  <a:t>和</a:t>
                </a:r>
                <a:r>
                  <a:rPr lang="en-US" altLang="zh-CN" dirty="0"/>
                  <a:t>c</a:t>
                </a:r>
                <a:r>
                  <a:rPr lang="zh-CN" altLang="en-US" dirty="0"/>
                  <a:t>也在这个划分的同一个子集</a:t>
                </a:r>
                <a:r>
                  <a:rPr lang="en-US" altLang="zh-CN" dirty="0"/>
                  <a:t>Y</a:t>
                </a:r>
                <a:r>
                  <a:rPr lang="zh-CN" altLang="en-US" dirty="0"/>
                  <a:t>中</a:t>
                </a:r>
                <a:r>
                  <a:rPr lang="en-US" altLang="zh-CN" dirty="0"/>
                  <a:t>. </a:t>
                </a:r>
                <a:r>
                  <a:rPr lang="zh-CN" altLang="en-US" dirty="0"/>
                  <a:t>因为划分的子集是不相交的</a:t>
                </a:r>
                <a:r>
                  <a:rPr lang="en-US" altLang="zh-CN" dirty="0"/>
                  <a:t>, </a:t>
                </a:r>
                <a:r>
                  <a:rPr lang="zh-CN" altLang="en-US" dirty="0"/>
                  <a:t>并且</a:t>
                </a:r>
                <a:r>
                  <a:rPr lang="en-US" altLang="zh-CN" dirty="0"/>
                  <a:t>b</a:t>
                </a:r>
                <a:r>
                  <a:rPr lang="zh-CN" altLang="en-US" dirty="0"/>
                  <a:t>属于</a:t>
                </a:r>
                <a:r>
                  <a:rPr lang="en-US" altLang="zh-CN" dirty="0"/>
                  <a:t>X</a:t>
                </a:r>
                <a:r>
                  <a:rPr lang="zh-CN" altLang="en-US" dirty="0"/>
                  <a:t>和</a:t>
                </a:r>
                <a:r>
                  <a:rPr lang="en-US" altLang="zh-CN" dirty="0"/>
                  <a:t>Y, </a:t>
                </a:r>
                <a:r>
                  <a:rPr lang="zh-CN" altLang="en-US" dirty="0"/>
                  <a:t>所以必有</a:t>
                </a:r>
                <a:r>
                  <a:rPr lang="en-US" altLang="zh-CN" dirty="0"/>
                  <a:t>X=Y. </a:t>
                </a:r>
                <a:r>
                  <a:rPr lang="zh-CN" altLang="en-US" dirty="0"/>
                  <a:t>因此</a:t>
                </a:r>
                <a:r>
                  <a:rPr lang="en-US" altLang="zh-CN" dirty="0"/>
                  <a:t>a</a:t>
                </a:r>
                <a:r>
                  <a:rPr lang="zh-CN" altLang="en-US" dirty="0"/>
                  <a:t>和</a:t>
                </a:r>
                <a:r>
                  <a:rPr lang="en-US" altLang="zh-CN" dirty="0"/>
                  <a:t>c</a:t>
                </a:r>
                <a:r>
                  <a:rPr lang="zh-CN" altLang="en-US" dirty="0"/>
                  <a:t>属于这个划分</a:t>
                </a:r>
                <a:r>
                  <a:rPr lang="zh-CN" altLang="en-US" dirty="0" smtClean="0"/>
                  <a:t>的同一</a:t>
                </a:r>
                <a:r>
                  <a:rPr lang="zh-CN" altLang="en-US" dirty="0"/>
                  <a:t>个子集</a:t>
                </a:r>
                <a:r>
                  <a:rPr lang="en-US" altLang="zh-CN" dirty="0"/>
                  <a:t>, </a:t>
                </a:r>
                <a:r>
                  <a:rPr lang="zh-CN" altLang="en-US" dirty="0" smtClean="0"/>
                  <a:t>即</a:t>
                </a:r>
                <a:r>
                  <a:rPr lang="en-US" altLang="zh-CN" dirty="0" smtClean="0"/>
                  <a:t>(</a:t>
                </a:r>
                <a:r>
                  <a:rPr lang="en-US" altLang="zh-CN" dirty="0" err="1"/>
                  <a:t>a,c</a:t>
                </a:r>
                <a:r>
                  <a:rPr lang="en-US" altLang="zh-CN" dirty="0"/>
                  <a:t>)</a:t>
                </a:r>
                <a14:m>
                  <m:oMath xmlns:m="http://schemas.openxmlformats.org/officeDocument/2006/math">
                    <m:r>
                      <a:rPr lang="en-US" altLang="zh-CN" i="1">
                        <a:latin typeface="Cambria Math" panose="02040503050406030204" pitchFamily="18" charset="0"/>
                        <a:ea typeface="Cambria Math" panose="02040503050406030204" pitchFamily="18" charset="0"/>
                      </a:rPr>
                      <m:t>∈</m:t>
                    </m:r>
                  </m:oMath>
                </a14:m>
                <a:r>
                  <a:rPr lang="en-US" altLang="zh-CN" dirty="0"/>
                  <a:t>R, </a:t>
                </a:r>
                <a:r>
                  <a:rPr lang="zh-CN" altLang="en-US" dirty="0"/>
                  <a:t>所以</a:t>
                </a:r>
                <a:r>
                  <a:rPr lang="en-US" altLang="zh-CN" dirty="0"/>
                  <a:t>R</a:t>
                </a:r>
                <a:r>
                  <a:rPr lang="zh-CN" altLang="en-US" dirty="0"/>
                  <a:t>是传递的</a:t>
                </a:r>
                <a:r>
                  <a:rPr lang="en-US" altLang="zh-CN" dirty="0"/>
                  <a:t>. </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999" t="-1310" r="-166"/>
                </a:stretch>
              </a:blipFill>
            </p:spPr>
            <p:txBody>
              <a:bodyPr/>
              <a:lstStyle/>
              <a:p>
                <a:r>
                  <a:rPr lang="zh-CN" altLang="en-US">
                    <a:noFill/>
                  </a:rPr>
                  <a:t> </a:t>
                </a:r>
              </a:p>
            </p:txBody>
          </p:sp>
        </mc:Fallback>
      </mc:AlternateContent>
      <p:sp>
        <p:nvSpPr>
          <p:cNvPr id="6" name="日期占位符 5"/>
          <p:cNvSpPr>
            <a:spLocks noGrp="1"/>
          </p:cNvSpPr>
          <p:nvPr>
            <p:ph type="dt" sz="half" idx="10"/>
          </p:nvPr>
        </p:nvSpPr>
        <p:spPr/>
        <p:txBody>
          <a:bodyPr/>
          <a:lstStyle/>
          <a:p>
            <a:fld id="{779E3CC9-1A7B-4D71-A785-F99FFEF6EF1D}" type="datetime1">
              <a:rPr lang="zh-CN" altLang="en-US" smtClean="0"/>
              <a:t>2025/3/14</a:t>
            </a:fld>
            <a:endParaRPr lang="zh-CN" altLang="en-US" dirty="0"/>
          </a:p>
        </p:txBody>
      </p:sp>
      <p:sp>
        <p:nvSpPr>
          <p:cNvPr id="7" name="页脚占位符 6"/>
          <p:cNvSpPr>
            <a:spLocks noGrp="1"/>
          </p:cNvSpPr>
          <p:nvPr>
            <p:ph type="ftr" sz="quarter" idx="11"/>
          </p:nvPr>
        </p:nvSpPr>
        <p:spPr/>
        <p:txBody>
          <a:bodyPr/>
          <a:lstStyle/>
          <a:p>
            <a:pPr algn="r"/>
            <a:r>
              <a:rPr lang="zh-CN" altLang="en-US" smtClean="0"/>
              <a:t>华中科技大学</a:t>
            </a:r>
            <a:r>
              <a:rPr lang="en-US" altLang="zh-CN" smtClean="0"/>
              <a:t>NNSS</a:t>
            </a:r>
            <a:r>
              <a:rPr lang="zh-CN" altLang="en-US" smtClean="0"/>
              <a:t>实验室</a:t>
            </a:r>
            <a:endParaRPr lang="zh-CN" altLang="en-US" dirty="0"/>
          </a:p>
        </p:txBody>
      </p:sp>
      <p:sp>
        <p:nvSpPr>
          <p:cNvPr id="8" name="灯片编号占位符 7"/>
          <p:cNvSpPr>
            <a:spLocks noGrp="1"/>
          </p:cNvSpPr>
          <p:nvPr>
            <p:ph type="sldNum" sz="quarter" idx="12"/>
          </p:nvPr>
        </p:nvSpPr>
        <p:spPr/>
        <p:txBody>
          <a:bodyPr/>
          <a:lstStyle/>
          <a:p>
            <a:fld id="{67913A8A-9EFB-4B5F-9CCB-3D21173FAA85}" type="slidenum">
              <a:rPr lang="zh-CN" altLang="en-US" smtClean="0"/>
              <a:pPr/>
              <a:t>100</a:t>
            </a:fld>
            <a:endParaRPr lang="zh-CN" altLang="en-US" dirty="0"/>
          </a:p>
        </p:txBody>
      </p:sp>
    </p:spTree>
    <p:extLst>
      <p:ext uri="{BB962C8B-B14F-4D97-AF65-F5344CB8AC3E}">
        <p14:creationId xmlns:p14="http://schemas.microsoft.com/office/powerpoint/2010/main" val="4171104919"/>
      </p:ext>
    </p:extLst>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等价类与划分</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lnSpcReduction="10000"/>
              </a:bodyPr>
              <a:lstStyle/>
              <a:p>
                <a:r>
                  <a:rPr lang="zh-CN" altLang="en-US" dirty="0" smtClean="0"/>
                  <a:t>例</a:t>
                </a:r>
                <a:r>
                  <a:rPr lang="en-US" dirty="0" smtClean="0"/>
                  <a:t>: </a:t>
                </a:r>
                <a14:m>
                  <m:oMath xmlns:m="http://schemas.openxmlformats.org/officeDocument/2006/math">
                    <m:sSub>
                      <m:sSubPr>
                        <m:ctrlPr>
                          <a:rPr lang="en-US" altLang="zh-CN" i="1" smtClean="0">
                            <a:latin typeface="Cambria Math" panose="02040503050406030204" pitchFamily="18" charset="0"/>
                          </a:rPr>
                        </m:ctrlPr>
                      </m:sSubPr>
                      <m:e>
                        <m:r>
                          <m:rPr>
                            <m:sty m:val="p"/>
                          </m:rPr>
                          <a:rPr lang="en-US" altLang="zh-CN" i="1">
                            <a:latin typeface="Cambria Math" panose="02040503050406030204" pitchFamily="18" charset="0"/>
                          </a:rPr>
                          <m:t>A</m:t>
                        </m:r>
                      </m:e>
                      <m:sub>
                        <m:r>
                          <a:rPr lang="en-US" altLang="zh-CN" b="0" i="1" smtClean="0">
                            <a:latin typeface="Cambria Math" panose="02040503050406030204" pitchFamily="18" charset="0"/>
                          </a:rPr>
                          <m:t>1</m:t>
                        </m:r>
                      </m:sub>
                    </m:sSub>
                  </m:oMath>
                </a14:m>
                <a:r>
                  <a:rPr lang="en-US" altLang="zh-CN" dirty="0" smtClean="0"/>
                  <a:t>={1,2,3}, </a:t>
                </a:r>
                <a14:m>
                  <m:oMath xmlns:m="http://schemas.openxmlformats.org/officeDocument/2006/math">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A</m:t>
                        </m:r>
                      </m:e>
                      <m:sub>
                        <m:r>
                          <a:rPr lang="en-US" altLang="zh-CN" b="0" i="1" smtClean="0">
                            <a:latin typeface="Cambria Math" panose="02040503050406030204" pitchFamily="18" charset="0"/>
                          </a:rPr>
                          <m:t>2</m:t>
                        </m:r>
                      </m:sub>
                    </m:sSub>
                  </m:oMath>
                </a14:m>
                <a:r>
                  <a:rPr lang="en-US" altLang="zh-CN" dirty="0" smtClean="0"/>
                  <a:t>={4,5}, </a:t>
                </a:r>
                <a14:m>
                  <m:oMath xmlns:m="http://schemas.openxmlformats.org/officeDocument/2006/math">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A</m:t>
                        </m:r>
                      </m:e>
                      <m:sub>
                        <m:r>
                          <a:rPr lang="en-US" altLang="zh-CN" b="0" i="1" smtClean="0">
                            <a:latin typeface="Cambria Math" panose="02040503050406030204" pitchFamily="18" charset="0"/>
                          </a:rPr>
                          <m:t>3</m:t>
                        </m:r>
                      </m:sub>
                    </m:sSub>
                  </m:oMath>
                </a14:m>
                <a:r>
                  <a:rPr lang="en-US" altLang="zh-CN" dirty="0" smtClean="0"/>
                  <a:t>={6}</a:t>
                </a:r>
                <a:r>
                  <a:rPr lang="zh-CN" altLang="en-US" dirty="0" smtClean="0"/>
                  <a:t>是集合</a:t>
                </a:r>
                <a:r>
                  <a:rPr lang="en-US" altLang="zh-CN" dirty="0" smtClean="0"/>
                  <a:t>S={1,2,3,4,5,6}</a:t>
                </a:r>
                <a:r>
                  <a:rPr lang="zh-CN" altLang="en-US" dirty="0" smtClean="0"/>
                  <a:t>的划分</a:t>
                </a:r>
                <a:r>
                  <a:rPr lang="en-US" altLang="zh-CN" dirty="0" smtClean="0"/>
                  <a:t>, </a:t>
                </a:r>
                <a:r>
                  <a:rPr lang="zh-CN" altLang="en-US" dirty="0" smtClean="0"/>
                  <a:t>列出这个划分所产生的等价关系</a:t>
                </a:r>
                <a:r>
                  <a:rPr lang="en-US" altLang="zh-CN" dirty="0" smtClean="0"/>
                  <a:t>R</a:t>
                </a:r>
                <a:r>
                  <a:rPr lang="zh-CN" altLang="en-US" dirty="0" smtClean="0"/>
                  <a:t>中的有序对</a:t>
                </a:r>
                <a:r>
                  <a:rPr lang="en-US" altLang="zh-CN" dirty="0" smtClean="0"/>
                  <a:t>.</a:t>
                </a:r>
              </a:p>
              <a:p>
                <a:r>
                  <a:rPr lang="zh-CN" altLang="en-US" dirty="0" smtClean="0"/>
                  <a:t>解</a:t>
                </a:r>
                <a:r>
                  <a:rPr lang="en-US" altLang="zh-CN" dirty="0" smtClean="0"/>
                  <a:t>:</a:t>
                </a:r>
                <a:r>
                  <a:rPr lang="zh-CN" altLang="en-US" dirty="0" smtClean="0"/>
                  <a:t>划分中的子集是</a:t>
                </a:r>
                <a:r>
                  <a:rPr lang="en-US" altLang="zh-CN" dirty="0" smtClean="0"/>
                  <a:t>R</a:t>
                </a:r>
                <a:r>
                  <a:rPr lang="zh-CN" altLang="en-US" dirty="0" smtClean="0"/>
                  <a:t>的等价类</a:t>
                </a:r>
                <a:r>
                  <a:rPr lang="en-US" altLang="zh-CN" dirty="0" smtClean="0"/>
                  <a:t>. </a:t>
                </a:r>
                <a:r>
                  <a:rPr lang="zh-CN" altLang="en-US" dirty="0" smtClean="0"/>
                  <a:t>有序对</a:t>
                </a:r>
                <a:r>
                  <a:rPr lang="en-US" altLang="zh-CN" dirty="0" smtClean="0"/>
                  <a:t>(</a:t>
                </a:r>
                <a:r>
                  <a:rPr lang="en-US" altLang="zh-CN" dirty="0" err="1" smtClean="0"/>
                  <a:t>a,b</a:t>
                </a:r>
                <a:r>
                  <a:rPr lang="en-US" altLang="zh-CN" dirty="0" smtClean="0"/>
                  <a:t>)</a:t>
                </a:r>
                <a14:m>
                  <m:oMath xmlns:m="http://schemas.openxmlformats.org/officeDocument/2006/math">
                    <m:r>
                      <a:rPr lang="en-US" altLang="zh-CN" i="1">
                        <a:latin typeface="Cambria Math" panose="02040503050406030204" pitchFamily="18" charset="0"/>
                        <a:ea typeface="Cambria Math" panose="02040503050406030204" pitchFamily="18" charset="0"/>
                      </a:rPr>
                      <m:t>∈</m:t>
                    </m:r>
                  </m:oMath>
                </a14:m>
                <a:r>
                  <a:rPr lang="en-US" altLang="zh-CN" dirty="0" smtClean="0"/>
                  <a:t>R, </a:t>
                </a:r>
                <a:r>
                  <a:rPr lang="zh-CN" altLang="en-US" dirty="0" smtClean="0"/>
                  <a:t>当且仅当</a:t>
                </a:r>
                <a:r>
                  <a:rPr lang="en-US" altLang="zh-CN" dirty="0" smtClean="0"/>
                  <a:t>a</a:t>
                </a:r>
                <a:r>
                  <a:rPr lang="zh-CN" altLang="en-US" dirty="0" smtClean="0"/>
                  <a:t>和</a:t>
                </a:r>
                <a:r>
                  <a:rPr lang="en-US" altLang="zh-CN" dirty="0" smtClean="0"/>
                  <a:t>b</a:t>
                </a:r>
                <a:r>
                  <a:rPr lang="zh-CN" altLang="en-US" dirty="0" smtClean="0"/>
                  <a:t>在划分的同一个子集</a:t>
                </a:r>
                <a:r>
                  <a:rPr lang="en-US" altLang="zh-CN" dirty="0" smtClean="0"/>
                  <a:t>. </a:t>
                </a:r>
              </a:p>
              <a:p>
                <a:pPr lvl="1">
                  <a:lnSpc>
                    <a:spcPct val="120000"/>
                  </a:lnSpc>
                </a:pPr>
                <a:r>
                  <a:rPr lang="zh-CN" altLang="en-US" dirty="0"/>
                  <a:t>由于</a:t>
                </a:r>
                <a14:m>
                  <m:oMath xmlns:m="http://schemas.openxmlformats.org/officeDocument/2006/math">
                    <m:sSub>
                      <m:sSubPr>
                        <m:ctrlPr>
                          <a:rPr lang="en-US" altLang="zh-CN" i="1">
                            <a:latin typeface="Cambria Math" panose="02040503050406030204" pitchFamily="18" charset="0"/>
                          </a:rPr>
                        </m:ctrlPr>
                      </m:sSubPr>
                      <m:e>
                        <m:r>
                          <m:rPr>
                            <m:sty m:val="p"/>
                          </m:rPr>
                          <a:rPr lang="en-US" altLang="zh-CN">
                            <a:latin typeface="Cambria Math" panose="02040503050406030204" pitchFamily="18" charset="0"/>
                          </a:rPr>
                          <m:t>A</m:t>
                        </m:r>
                      </m:e>
                      <m:sub>
                        <m:r>
                          <a:rPr lang="en-US" altLang="zh-CN">
                            <a:latin typeface="Cambria Math" panose="02040503050406030204" pitchFamily="18" charset="0"/>
                          </a:rPr>
                          <m:t>1</m:t>
                        </m:r>
                      </m:sub>
                    </m:sSub>
                  </m:oMath>
                </a14:m>
                <a:r>
                  <a:rPr lang="zh-CN" altLang="en-US" dirty="0"/>
                  <a:t>是一个等价类</a:t>
                </a:r>
                <a:r>
                  <a:rPr lang="en-US" altLang="zh-CN" dirty="0"/>
                  <a:t>, </a:t>
                </a:r>
                <a:r>
                  <a:rPr lang="zh-CN" altLang="en-US" dirty="0"/>
                  <a:t>所以有序对</a:t>
                </a:r>
                <a:r>
                  <a:rPr lang="en-US" altLang="zh-CN" dirty="0"/>
                  <a:t>(1,1), (1,2), (1,3), (2,1), (2,2), (2,3), (3,1), (3,2), (3,3)</a:t>
                </a:r>
                <a:r>
                  <a:rPr lang="zh-CN" altLang="en-US" dirty="0"/>
                  <a:t>属于</a:t>
                </a:r>
                <a:r>
                  <a:rPr lang="en-US" altLang="zh-CN" dirty="0"/>
                  <a:t>R</a:t>
                </a:r>
                <a:r>
                  <a:rPr lang="zh-CN" altLang="en-US" dirty="0"/>
                  <a:t>；</a:t>
                </a:r>
                <a:endParaRPr lang="en-US" altLang="zh-CN" dirty="0"/>
              </a:p>
              <a:p>
                <a:pPr lvl="1">
                  <a:lnSpc>
                    <a:spcPct val="120000"/>
                  </a:lnSpc>
                </a:pPr>
                <a:r>
                  <a:rPr lang="zh-CN" altLang="en-US" dirty="0"/>
                  <a:t>由于</a:t>
                </a:r>
                <a14:m>
                  <m:oMath xmlns:m="http://schemas.openxmlformats.org/officeDocument/2006/math">
                    <m:sSub>
                      <m:sSubPr>
                        <m:ctrlPr>
                          <a:rPr lang="en-US" altLang="zh-CN" i="1">
                            <a:latin typeface="Cambria Math" panose="02040503050406030204" pitchFamily="18" charset="0"/>
                          </a:rPr>
                        </m:ctrlPr>
                      </m:sSubPr>
                      <m:e>
                        <m:r>
                          <m:rPr>
                            <m:sty m:val="p"/>
                          </m:rPr>
                          <a:rPr lang="en-US" altLang="zh-CN">
                            <a:latin typeface="Cambria Math" panose="02040503050406030204" pitchFamily="18" charset="0"/>
                          </a:rPr>
                          <m:t>A</m:t>
                        </m:r>
                      </m:e>
                      <m:sub>
                        <m:r>
                          <a:rPr lang="en-US" altLang="zh-CN">
                            <a:latin typeface="Cambria Math" panose="02040503050406030204" pitchFamily="18" charset="0"/>
                          </a:rPr>
                          <m:t>2</m:t>
                        </m:r>
                      </m:sub>
                    </m:sSub>
                  </m:oMath>
                </a14:m>
                <a:r>
                  <a:rPr lang="zh-CN" altLang="en-US" dirty="0"/>
                  <a:t>是一个等价类</a:t>
                </a:r>
                <a:r>
                  <a:rPr lang="en-US" altLang="zh-CN" dirty="0"/>
                  <a:t>, </a:t>
                </a:r>
                <a:r>
                  <a:rPr lang="zh-CN" altLang="en-US" dirty="0"/>
                  <a:t>所以有序对</a:t>
                </a:r>
                <a:r>
                  <a:rPr lang="en-US" altLang="zh-CN" dirty="0"/>
                  <a:t>(4,4), (4,5), (5,5), (5,4)</a:t>
                </a:r>
                <a:r>
                  <a:rPr lang="zh-CN" altLang="en-US" dirty="0"/>
                  <a:t>也属于</a:t>
                </a:r>
                <a:r>
                  <a:rPr lang="en-US" altLang="zh-CN" dirty="0"/>
                  <a:t>R</a:t>
                </a:r>
                <a:r>
                  <a:rPr lang="zh-CN" altLang="en-US" dirty="0"/>
                  <a:t>；</a:t>
                </a:r>
                <a:endParaRPr lang="en-US" altLang="zh-CN" dirty="0"/>
              </a:p>
              <a:p>
                <a:pPr lvl="1">
                  <a:lnSpc>
                    <a:spcPct val="120000"/>
                  </a:lnSpc>
                </a:pPr>
                <a:r>
                  <a:rPr lang="zh-CN" altLang="en-US" dirty="0"/>
                  <a:t>由于</a:t>
                </a:r>
                <a14:m>
                  <m:oMath xmlns:m="http://schemas.openxmlformats.org/officeDocument/2006/math">
                    <m:sSub>
                      <m:sSubPr>
                        <m:ctrlPr>
                          <a:rPr lang="en-US" altLang="zh-CN" i="1">
                            <a:latin typeface="Cambria Math" panose="02040503050406030204" pitchFamily="18" charset="0"/>
                          </a:rPr>
                        </m:ctrlPr>
                      </m:sSubPr>
                      <m:e>
                        <m:r>
                          <m:rPr>
                            <m:sty m:val="p"/>
                          </m:rPr>
                          <a:rPr lang="en-US" altLang="zh-CN">
                            <a:latin typeface="Cambria Math" panose="02040503050406030204" pitchFamily="18" charset="0"/>
                          </a:rPr>
                          <m:t>A</m:t>
                        </m:r>
                      </m:e>
                      <m:sub>
                        <m:r>
                          <a:rPr lang="en-US" altLang="zh-CN">
                            <a:latin typeface="Cambria Math" panose="02040503050406030204" pitchFamily="18" charset="0"/>
                          </a:rPr>
                          <m:t>3</m:t>
                        </m:r>
                      </m:sub>
                    </m:sSub>
                  </m:oMath>
                </a14:m>
                <a:r>
                  <a:rPr lang="zh-CN" altLang="en-US" dirty="0"/>
                  <a:t>是一个等价类</a:t>
                </a:r>
                <a:r>
                  <a:rPr lang="en-US" altLang="zh-CN" dirty="0"/>
                  <a:t>, </a:t>
                </a:r>
                <a:r>
                  <a:rPr lang="zh-CN" altLang="en-US" dirty="0"/>
                  <a:t>所以有序对</a:t>
                </a:r>
                <a:r>
                  <a:rPr lang="en-US" altLang="zh-CN" dirty="0"/>
                  <a:t>(6,6)</a:t>
                </a:r>
                <a:r>
                  <a:rPr lang="zh-CN" altLang="en-US" dirty="0"/>
                  <a:t>也属于</a:t>
                </a:r>
                <a:r>
                  <a:rPr lang="en-US" altLang="zh-CN" dirty="0"/>
                  <a:t>R. </a:t>
                </a:r>
                <a:r>
                  <a:rPr lang="zh-CN" altLang="en-US" dirty="0"/>
                  <a:t>此外没有其他的有序对属于</a:t>
                </a:r>
                <a:r>
                  <a:rPr lang="en-US" altLang="zh-CN" dirty="0"/>
                  <a:t>R</a:t>
                </a:r>
                <a:r>
                  <a:rPr lang="en-US" altLang="zh-CN" dirty="0" smtClean="0"/>
                  <a:t>.</a:t>
                </a:r>
              </a:p>
              <a:p>
                <a:pPr lvl="1">
                  <a:lnSpc>
                    <a:spcPct val="120000"/>
                  </a:lnSpc>
                </a:pPr>
                <a:r>
                  <a:rPr lang="zh-CN" altLang="en-US" dirty="0"/>
                  <a:t>综</a:t>
                </a:r>
                <a:r>
                  <a:rPr lang="zh-CN" altLang="en-US" dirty="0" smtClean="0"/>
                  <a:t>上</a:t>
                </a:r>
                <a:r>
                  <a:rPr lang="en-US" altLang="zh-CN" dirty="0" smtClean="0"/>
                  <a:t>, R={</a:t>
                </a:r>
                <a:r>
                  <a:rPr lang="en-US" altLang="zh-CN" dirty="0"/>
                  <a:t>(1,1), (1,2), (1,3), (2,1), (2,2), (2,3), (3,1), (3,2), (3,3</a:t>
                </a:r>
                <a:r>
                  <a:rPr lang="en-US" altLang="zh-CN" dirty="0" smtClean="0"/>
                  <a:t>),</a:t>
                </a:r>
                <a:r>
                  <a:rPr lang="en-US" altLang="zh-CN" dirty="0"/>
                  <a:t> (4,4), (4,5), (5,5), (5,4</a:t>
                </a:r>
                <a:r>
                  <a:rPr lang="en-US" altLang="zh-CN" dirty="0" smtClean="0"/>
                  <a:t>),</a:t>
                </a:r>
                <a:r>
                  <a:rPr lang="en-US" altLang="zh-CN" dirty="0"/>
                  <a:t> (6,6)</a:t>
                </a:r>
                <a:r>
                  <a:rPr lang="en-US" altLang="zh-CN" dirty="0" smtClean="0"/>
                  <a:t>}</a:t>
                </a: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999" t="-2143" r="-111"/>
                </a:stretch>
              </a:blipFill>
            </p:spPr>
            <p:txBody>
              <a:bodyPr/>
              <a:lstStyle/>
              <a:p>
                <a:r>
                  <a:rPr lang="zh-CN" altLang="en-US">
                    <a:noFill/>
                  </a:rPr>
                  <a:t> </a:t>
                </a:r>
              </a:p>
            </p:txBody>
          </p:sp>
        </mc:Fallback>
      </mc:AlternateContent>
      <p:sp>
        <p:nvSpPr>
          <p:cNvPr id="6" name="日期占位符 5"/>
          <p:cNvSpPr>
            <a:spLocks noGrp="1"/>
          </p:cNvSpPr>
          <p:nvPr>
            <p:ph type="dt" sz="half" idx="10"/>
          </p:nvPr>
        </p:nvSpPr>
        <p:spPr/>
        <p:txBody>
          <a:bodyPr/>
          <a:lstStyle/>
          <a:p>
            <a:fld id="{0295ECEE-B436-444A-BF00-4A5177C04EC3}" type="datetime1">
              <a:rPr lang="zh-CN" altLang="en-US" smtClean="0"/>
              <a:t>2025/3/14</a:t>
            </a:fld>
            <a:endParaRPr lang="zh-CN" altLang="en-US" dirty="0"/>
          </a:p>
        </p:txBody>
      </p:sp>
      <p:sp>
        <p:nvSpPr>
          <p:cNvPr id="7" name="页脚占位符 6"/>
          <p:cNvSpPr>
            <a:spLocks noGrp="1"/>
          </p:cNvSpPr>
          <p:nvPr>
            <p:ph type="ftr" sz="quarter" idx="11"/>
          </p:nvPr>
        </p:nvSpPr>
        <p:spPr/>
        <p:txBody>
          <a:bodyPr/>
          <a:lstStyle/>
          <a:p>
            <a:pPr algn="r"/>
            <a:r>
              <a:rPr lang="zh-CN" altLang="en-US" smtClean="0"/>
              <a:t>华中科技大学</a:t>
            </a:r>
            <a:r>
              <a:rPr lang="en-US" altLang="zh-CN" smtClean="0"/>
              <a:t>NNSS</a:t>
            </a:r>
            <a:r>
              <a:rPr lang="zh-CN" altLang="en-US" smtClean="0"/>
              <a:t>实验室</a:t>
            </a:r>
            <a:endParaRPr lang="zh-CN" altLang="en-US" dirty="0"/>
          </a:p>
        </p:txBody>
      </p:sp>
      <p:sp>
        <p:nvSpPr>
          <p:cNvPr id="8" name="灯片编号占位符 7"/>
          <p:cNvSpPr>
            <a:spLocks noGrp="1"/>
          </p:cNvSpPr>
          <p:nvPr>
            <p:ph type="sldNum" sz="quarter" idx="12"/>
          </p:nvPr>
        </p:nvSpPr>
        <p:spPr/>
        <p:txBody>
          <a:bodyPr/>
          <a:lstStyle/>
          <a:p>
            <a:fld id="{67913A8A-9EFB-4B5F-9CCB-3D21173FAA85}" type="slidenum">
              <a:rPr lang="zh-CN" altLang="en-US" smtClean="0"/>
              <a:pPr/>
              <a:t>101</a:t>
            </a:fld>
            <a:endParaRPr lang="zh-CN" altLang="en-US" dirty="0"/>
          </a:p>
        </p:txBody>
      </p:sp>
    </p:spTree>
    <p:extLst>
      <p:ext uri="{BB962C8B-B14F-4D97-AF65-F5344CB8AC3E}">
        <p14:creationId xmlns:p14="http://schemas.microsoft.com/office/powerpoint/2010/main" val="9919208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wipe(down)">
                                      <p:cBhvr>
                                        <p:cTn id="7" dur="500"/>
                                        <p:tgtEl>
                                          <p:spTgt spid="3">
                                            <p:txEl>
                                              <p:pRg st="1" end="1"/>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wipe(down)">
                                      <p:cBhvr>
                                        <p:cTn id="10" dur="500"/>
                                        <p:tgtEl>
                                          <p:spTgt spid="3">
                                            <p:txEl>
                                              <p:pRg st="2" end="2"/>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wipe(down)">
                                      <p:cBhvr>
                                        <p:cTn id="13" dur="500"/>
                                        <p:tgtEl>
                                          <p:spTgt spid="3">
                                            <p:txEl>
                                              <p:pRg st="3" end="3"/>
                                            </p:txEl>
                                          </p:spTgt>
                                        </p:tgtEl>
                                      </p:cBhvr>
                                    </p:animEffect>
                                  </p:childTnLst>
                                </p:cTn>
                              </p:par>
                              <p:par>
                                <p:cTn id="14" presetID="22" presetClass="entr" presetSubtype="4" fill="hold" nodeType="withEffect">
                                  <p:stCondLst>
                                    <p:cond delay="0"/>
                                  </p:stCondLst>
                                  <p:childTnLst>
                                    <p:set>
                                      <p:cBhvr>
                                        <p:cTn id="15" dur="1" fill="hold">
                                          <p:stCondLst>
                                            <p:cond delay="0"/>
                                          </p:stCondLst>
                                        </p:cTn>
                                        <p:tgtEl>
                                          <p:spTgt spid="3">
                                            <p:txEl>
                                              <p:pRg st="4" end="4"/>
                                            </p:txEl>
                                          </p:spTgt>
                                        </p:tgtEl>
                                        <p:attrNameLst>
                                          <p:attrName>style.visibility</p:attrName>
                                        </p:attrNameLst>
                                      </p:cBhvr>
                                      <p:to>
                                        <p:strVal val="visible"/>
                                      </p:to>
                                    </p:set>
                                    <p:animEffect transition="in" filter="wipe(down)">
                                      <p:cBhvr>
                                        <p:cTn id="16" dur="500"/>
                                        <p:tgtEl>
                                          <p:spTgt spid="3">
                                            <p:txEl>
                                              <p:pRg st="4" end="4"/>
                                            </p:txEl>
                                          </p:spTgt>
                                        </p:tgtEl>
                                      </p:cBhvr>
                                    </p:animEffect>
                                  </p:childTnLst>
                                </p:cTn>
                              </p:par>
                              <p:par>
                                <p:cTn id="17" presetID="22" presetClass="entr" presetSubtype="4"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animEffect transition="in" filter="wipe(down)">
                                      <p:cBhvr>
                                        <p:cTn id="19"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smtClean="0"/>
              <a:t>商集</a:t>
            </a:r>
            <a:endParaRPr lang="en-US" dirty="0"/>
          </a:p>
        </p:txBody>
      </p:sp>
      <p:sp>
        <p:nvSpPr>
          <p:cNvPr id="3" name="Content Placeholder 2"/>
          <p:cNvSpPr>
            <a:spLocks noGrp="1"/>
          </p:cNvSpPr>
          <p:nvPr>
            <p:ph idx="1"/>
          </p:nvPr>
        </p:nvSpPr>
        <p:spPr/>
        <p:txBody>
          <a:bodyPr/>
          <a:lstStyle/>
          <a:p>
            <a:r>
              <a:rPr lang="zh-CN" altLang="en-US" dirty="0" smtClean="0"/>
              <a:t>设</a:t>
            </a:r>
            <a:r>
              <a:rPr lang="en-US" altLang="zh-CN" dirty="0" smtClean="0"/>
              <a:t>R</a:t>
            </a:r>
            <a:r>
              <a:rPr lang="zh-CN" altLang="en-US" dirty="0" smtClean="0"/>
              <a:t>为非空集合</a:t>
            </a:r>
            <a:r>
              <a:rPr lang="en-US" altLang="zh-CN" dirty="0" smtClean="0"/>
              <a:t>A</a:t>
            </a:r>
            <a:r>
              <a:rPr lang="zh-CN" altLang="en-US" dirty="0" smtClean="0"/>
              <a:t>上的等价关系，以</a:t>
            </a:r>
            <a:r>
              <a:rPr lang="en-US" altLang="zh-CN" dirty="0" smtClean="0"/>
              <a:t>R</a:t>
            </a:r>
            <a:r>
              <a:rPr lang="zh-CN" altLang="en-US" dirty="0" smtClean="0"/>
              <a:t>的所有等价类作为元素的集合称为</a:t>
            </a:r>
            <a:r>
              <a:rPr lang="en-US" altLang="zh-CN" dirty="0" smtClean="0"/>
              <a:t>A</a:t>
            </a:r>
            <a:r>
              <a:rPr lang="zh-CN" altLang="en-US" dirty="0" smtClean="0"/>
              <a:t>关于</a:t>
            </a:r>
            <a:r>
              <a:rPr lang="en-US" altLang="zh-CN" dirty="0" smtClean="0"/>
              <a:t>R</a:t>
            </a:r>
            <a:r>
              <a:rPr lang="zh-CN" altLang="en-US" dirty="0" smtClean="0"/>
              <a:t>的商集，记作</a:t>
            </a:r>
            <a:r>
              <a:rPr lang="en-US" altLang="zh-CN" dirty="0" smtClean="0"/>
              <a:t>A/R</a:t>
            </a:r>
            <a:r>
              <a:rPr lang="zh-CN" altLang="en-US" dirty="0" smtClean="0"/>
              <a:t>，即</a:t>
            </a:r>
            <a:r>
              <a:rPr lang="en-US" altLang="zh-CN" dirty="0" smtClean="0"/>
              <a:t>A/R={           }</a:t>
            </a:r>
          </a:p>
          <a:p>
            <a:r>
              <a:rPr lang="zh-CN" altLang="en-US" dirty="0" smtClean="0"/>
              <a:t>例：</a:t>
            </a:r>
            <a:r>
              <a:rPr lang="en-US" altLang="zh-CN" dirty="0" smtClean="0"/>
              <a:t>A={1,2,3,4,5,6,7,8}</a:t>
            </a:r>
            <a:r>
              <a:rPr lang="zh-CN" altLang="en-US" dirty="0" smtClean="0"/>
              <a:t>，</a:t>
            </a:r>
            <a:r>
              <a:rPr lang="en-US" altLang="zh-CN" dirty="0" smtClean="0"/>
              <a:t>R</a:t>
            </a:r>
            <a:r>
              <a:rPr lang="zh-CN" altLang="en-US" dirty="0" smtClean="0"/>
              <a:t>为</a:t>
            </a:r>
            <a:r>
              <a:rPr lang="en-US" altLang="zh-CN" dirty="0" smtClean="0"/>
              <a:t>A</a:t>
            </a:r>
            <a:r>
              <a:rPr lang="zh-CN" altLang="en-US" dirty="0" smtClean="0"/>
              <a:t>上模</a:t>
            </a:r>
            <a:r>
              <a:rPr lang="en-US" altLang="zh-CN" dirty="0" smtClean="0"/>
              <a:t>3</a:t>
            </a:r>
            <a:r>
              <a:rPr lang="zh-CN" altLang="en-US" dirty="0" smtClean="0"/>
              <a:t>同余的等价关系，则</a:t>
            </a:r>
            <a:r>
              <a:rPr lang="en-US" altLang="zh-CN" dirty="0" smtClean="0"/>
              <a:t>A</a:t>
            </a:r>
            <a:r>
              <a:rPr lang="zh-CN" altLang="en-US" dirty="0" smtClean="0"/>
              <a:t>关于</a:t>
            </a:r>
            <a:r>
              <a:rPr lang="en-US" altLang="zh-CN" dirty="0" smtClean="0"/>
              <a:t>R</a:t>
            </a:r>
            <a:r>
              <a:rPr lang="zh-CN" altLang="en-US" dirty="0" smtClean="0"/>
              <a:t>的商集为</a:t>
            </a:r>
            <a:r>
              <a:rPr lang="en-US" altLang="zh-CN" dirty="0" smtClean="0"/>
              <a:t>{{1,4,7},{2,5,8},{</a:t>
            </a:r>
            <a:r>
              <a:rPr lang="en-US" altLang="zh-CN" smtClean="0"/>
              <a:t>3,6}}</a:t>
            </a:r>
            <a:endParaRPr lang="en-US" altLang="zh-CN" dirty="0" smtClean="0"/>
          </a:p>
        </p:txBody>
      </p:sp>
      <p:sp>
        <p:nvSpPr>
          <p:cNvPr id="6" name="日期占位符 5"/>
          <p:cNvSpPr>
            <a:spLocks noGrp="1"/>
          </p:cNvSpPr>
          <p:nvPr>
            <p:ph type="dt" sz="half" idx="10"/>
          </p:nvPr>
        </p:nvSpPr>
        <p:spPr/>
        <p:txBody>
          <a:bodyPr/>
          <a:lstStyle/>
          <a:p>
            <a:fld id="{A80F4D6C-1255-4CDB-BC16-AA0D3C81B395}" type="datetime1">
              <a:rPr lang="zh-CN" altLang="en-US" smtClean="0"/>
              <a:t>2025/3/14</a:t>
            </a:fld>
            <a:endParaRPr lang="zh-CN" altLang="en-US" dirty="0"/>
          </a:p>
        </p:txBody>
      </p:sp>
      <p:sp>
        <p:nvSpPr>
          <p:cNvPr id="7" name="页脚占位符 6"/>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8" name="灯片编号占位符 7"/>
          <p:cNvSpPr>
            <a:spLocks noGrp="1"/>
          </p:cNvSpPr>
          <p:nvPr>
            <p:ph type="sldNum" sz="quarter" idx="12"/>
          </p:nvPr>
        </p:nvSpPr>
        <p:spPr/>
        <p:txBody>
          <a:bodyPr/>
          <a:lstStyle/>
          <a:p>
            <a:fld id="{67913A8A-9EFB-4B5F-9CCB-3D21173FAA85}" type="slidenum">
              <a:rPr lang="zh-CN" altLang="en-US" smtClean="0"/>
              <a:pPr/>
              <a:t>102</a:t>
            </a:fld>
            <a:endParaRPr lang="zh-CN" altLang="en-US" dirty="0"/>
          </a:p>
        </p:txBody>
      </p:sp>
      <p:graphicFrame>
        <p:nvGraphicFramePr>
          <p:cNvPr id="4" name="对象 3"/>
          <p:cNvGraphicFramePr>
            <a:graphicFrameLocks noChangeAspect="1"/>
          </p:cNvGraphicFramePr>
          <p:nvPr>
            <p:extLst/>
          </p:nvPr>
        </p:nvGraphicFramePr>
        <p:xfrm>
          <a:off x="7342717" y="1600200"/>
          <a:ext cx="1164166" cy="381000"/>
        </p:xfrm>
        <a:graphic>
          <a:graphicData uri="http://schemas.openxmlformats.org/presentationml/2006/ole">
            <mc:AlternateContent xmlns:mc="http://schemas.openxmlformats.org/markup-compatibility/2006">
              <mc:Choice xmlns:v="urn:schemas-microsoft-com:vml" Requires="v">
                <p:oleObj spid="_x0000_s1030" name="Equation" r:id="rId3" imgW="698400" imgH="228600" progId="Equation.DSMT4">
                  <p:embed/>
                </p:oleObj>
              </mc:Choice>
              <mc:Fallback>
                <p:oleObj name="Equation" r:id="rId3" imgW="698400" imgH="228600" progId="Equation.DSMT4">
                  <p:embed/>
                  <p:pic>
                    <p:nvPicPr>
                      <p:cNvPr id="0" name=""/>
                      <p:cNvPicPr/>
                      <p:nvPr/>
                    </p:nvPicPr>
                    <p:blipFill>
                      <a:blip r:embed="rId4"/>
                      <a:stretch>
                        <a:fillRect/>
                      </a:stretch>
                    </p:blipFill>
                    <p:spPr>
                      <a:xfrm>
                        <a:off x="7342717" y="1600200"/>
                        <a:ext cx="1164166" cy="381000"/>
                      </a:xfrm>
                      <a:prstGeom prst="rect">
                        <a:avLst/>
                      </a:prstGeom>
                    </p:spPr>
                  </p:pic>
                </p:oleObj>
              </mc:Fallback>
            </mc:AlternateContent>
          </a:graphicData>
        </a:graphic>
      </p:graphicFrame>
    </p:spTree>
    <p:extLst>
      <p:ext uri="{BB962C8B-B14F-4D97-AF65-F5344CB8AC3E}">
        <p14:creationId xmlns:p14="http://schemas.microsoft.com/office/powerpoint/2010/main" val="1388271281"/>
      </p:ext>
    </p:extLst>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第</a:t>
            </a:r>
            <a:r>
              <a:rPr lang="en-US" altLang="zh-CN" dirty="0"/>
              <a:t>2.6</a:t>
            </a:r>
            <a:r>
              <a:rPr lang="zh-CN" altLang="en-US" dirty="0" smtClean="0"/>
              <a:t>节 偏序</a:t>
            </a:r>
            <a:endParaRPr lang="en-US" dirty="0"/>
          </a:p>
        </p:txBody>
      </p:sp>
      <p:sp>
        <p:nvSpPr>
          <p:cNvPr id="3" name="Content Placeholder 2"/>
          <p:cNvSpPr>
            <a:spLocks noGrp="1"/>
          </p:cNvSpPr>
          <p:nvPr>
            <p:ph idx="1"/>
          </p:nvPr>
        </p:nvSpPr>
        <p:spPr/>
        <p:txBody>
          <a:bodyPr/>
          <a:lstStyle/>
          <a:p>
            <a:r>
              <a:rPr lang="zh-CN" altLang="en-US" dirty="0" smtClean="0"/>
              <a:t>偏序和偏序集</a:t>
            </a:r>
            <a:endParaRPr lang="en-US" altLang="zh-CN" dirty="0" smtClean="0"/>
          </a:p>
          <a:p>
            <a:r>
              <a:rPr lang="zh-CN" altLang="en-US" dirty="0" smtClean="0"/>
              <a:t>字典顺序</a:t>
            </a:r>
            <a:endParaRPr lang="en-US" altLang="zh-CN" dirty="0" smtClean="0"/>
          </a:p>
          <a:p>
            <a:r>
              <a:rPr lang="zh-CN" altLang="en-US" dirty="0" smtClean="0"/>
              <a:t>哈塞（哈斯）图</a:t>
            </a:r>
            <a:endParaRPr lang="en-US" altLang="zh-CN" dirty="0" smtClean="0"/>
          </a:p>
          <a:p>
            <a:r>
              <a:rPr lang="zh-CN" altLang="en-US" dirty="0" smtClean="0"/>
              <a:t>拓扑排序</a:t>
            </a:r>
            <a:endParaRPr lang="en-US" altLang="zh-CN" dirty="0" smtClean="0"/>
          </a:p>
        </p:txBody>
      </p:sp>
      <p:sp>
        <p:nvSpPr>
          <p:cNvPr id="6" name="日期占位符 5"/>
          <p:cNvSpPr>
            <a:spLocks noGrp="1"/>
          </p:cNvSpPr>
          <p:nvPr>
            <p:ph type="dt" sz="half" idx="10"/>
          </p:nvPr>
        </p:nvSpPr>
        <p:spPr/>
        <p:txBody>
          <a:bodyPr/>
          <a:lstStyle/>
          <a:p>
            <a:fld id="{A80F4D6C-1255-4CDB-BC16-AA0D3C81B395}" type="datetime1">
              <a:rPr lang="zh-CN" altLang="en-US" smtClean="0"/>
              <a:t>2025/3/14</a:t>
            </a:fld>
            <a:endParaRPr lang="zh-CN" altLang="en-US" dirty="0"/>
          </a:p>
        </p:txBody>
      </p:sp>
      <p:sp>
        <p:nvSpPr>
          <p:cNvPr id="7" name="页脚占位符 6"/>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8" name="灯片编号占位符 7"/>
          <p:cNvSpPr>
            <a:spLocks noGrp="1"/>
          </p:cNvSpPr>
          <p:nvPr>
            <p:ph type="sldNum" sz="quarter" idx="12"/>
          </p:nvPr>
        </p:nvSpPr>
        <p:spPr/>
        <p:txBody>
          <a:bodyPr/>
          <a:lstStyle/>
          <a:p>
            <a:fld id="{67913A8A-9EFB-4B5F-9CCB-3D21173FAA85}" type="slidenum">
              <a:rPr lang="zh-CN" altLang="en-US" smtClean="0"/>
              <a:pPr/>
              <a:t>103</a:t>
            </a:fld>
            <a:endParaRPr lang="zh-CN" altLang="en-US" dirty="0"/>
          </a:p>
        </p:txBody>
      </p:sp>
    </p:spTree>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457200" y="1143000"/>
            <a:ext cx="11277599" cy="1295400"/>
          </a:xfrm>
          <a:prstGeom prst="rect">
            <a:avLst/>
          </a:prstGeom>
          <a:solidFill>
            <a:schemeClr val="accent5">
              <a:lumMod val="40000"/>
              <a:lumOff val="6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itle 1"/>
          <p:cNvSpPr>
            <a:spLocks noGrp="1"/>
          </p:cNvSpPr>
          <p:nvPr>
            <p:ph type="title"/>
          </p:nvPr>
        </p:nvSpPr>
        <p:spPr/>
        <p:txBody>
          <a:bodyPr/>
          <a:lstStyle/>
          <a:p>
            <a:r>
              <a:rPr lang="zh-CN" altLang="en-US" dirty="0" smtClean="0"/>
              <a:t>偏序</a:t>
            </a:r>
            <a:endParaRPr lang="en-US" dirty="0"/>
          </a:p>
        </p:txBody>
      </p:sp>
      <p:sp>
        <p:nvSpPr>
          <p:cNvPr id="3" name="Content Placeholder 2"/>
          <p:cNvSpPr>
            <a:spLocks noGrp="1"/>
          </p:cNvSpPr>
          <p:nvPr>
            <p:ph idx="1"/>
          </p:nvPr>
        </p:nvSpPr>
        <p:spPr/>
        <p:txBody>
          <a:bodyPr/>
          <a:lstStyle/>
          <a:p>
            <a:r>
              <a:rPr lang="zh-CN" altLang="en-US" dirty="0" smtClean="0"/>
              <a:t>定义</a:t>
            </a:r>
            <a:r>
              <a:rPr lang="en-US" dirty="0" smtClean="0"/>
              <a:t>: </a:t>
            </a:r>
            <a:r>
              <a:rPr lang="zh-CN" altLang="en-US" dirty="0" smtClean="0"/>
              <a:t>定义在集合</a:t>
            </a:r>
            <a:r>
              <a:rPr lang="en-US" altLang="zh-CN" dirty="0" smtClean="0"/>
              <a:t>S</a:t>
            </a:r>
            <a:r>
              <a:rPr lang="zh-CN" altLang="en-US" dirty="0" smtClean="0"/>
              <a:t>上的关系</a:t>
            </a:r>
            <a:r>
              <a:rPr lang="en-US" altLang="zh-CN" dirty="0" smtClean="0"/>
              <a:t>R, </a:t>
            </a:r>
            <a:r>
              <a:rPr lang="zh-CN" altLang="en-US" dirty="0" smtClean="0"/>
              <a:t>如果它是</a:t>
            </a:r>
            <a:r>
              <a:rPr lang="zh-CN" altLang="en-US" b="1" dirty="0" smtClean="0"/>
              <a:t>自反的</a:t>
            </a:r>
            <a:r>
              <a:rPr lang="en-US" altLang="zh-CN" dirty="0" smtClean="0"/>
              <a:t>, </a:t>
            </a:r>
            <a:r>
              <a:rPr lang="zh-CN" altLang="en-US" b="1" dirty="0" smtClean="0"/>
              <a:t>反对称的</a:t>
            </a:r>
            <a:r>
              <a:rPr lang="en-US" altLang="zh-CN" dirty="0" smtClean="0"/>
              <a:t>, </a:t>
            </a:r>
            <a:r>
              <a:rPr lang="zh-CN" altLang="en-US" b="1" dirty="0" smtClean="0"/>
              <a:t>传递的</a:t>
            </a:r>
            <a:r>
              <a:rPr lang="en-US" altLang="zh-CN" dirty="0" smtClean="0"/>
              <a:t>,</a:t>
            </a:r>
            <a:r>
              <a:rPr lang="zh-CN" altLang="en-US" dirty="0" smtClean="0"/>
              <a:t>则称为</a:t>
            </a:r>
            <a:r>
              <a:rPr lang="zh-CN" altLang="en-US" b="1" dirty="0" smtClean="0">
                <a:solidFill>
                  <a:srgbClr val="C00000"/>
                </a:solidFill>
              </a:rPr>
              <a:t>偏序</a:t>
            </a:r>
            <a:r>
              <a:rPr lang="en-US" altLang="zh-CN" dirty="0" smtClean="0"/>
              <a:t>. </a:t>
            </a:r>
            <a:r>
              <a:rPr lang="zh-CN" altLang="en-US" dirty="0" smtClean="0"/>
              <a:t>集合</a:t>
            </a:r>
            <a:r>
              <a:rPr lang="en-US" altLang="zh-CN" dirty="0" smtClean="0"/>
              <a:t>S</a:t>
            </a:r>
            <a:r>
              <a:rPr lang="zh-CN" altLang="en-US" dirty="0" smtClean="0"/>
              <a:t>与定义在其上的偏序</a:t>
            </a:r>
            <a:r>
              <a:rPr lang="en-US" altLang="zh-CN" dirty="0" smtClean="0"/>
              <a:t>R</a:t>
            </a:r>
            <a:r>
              <a:rPr lang="zh-CN" altLang="en-US" dirty="0" smtClean="0"/>
              <a:t>一起称为偏序集</a:t>
            </a:r>
            <a:r>
              <a:rPr lang="en-US" altLang="zh-CN" dirty="0" smtClean="0"/>
              <a:t>, </a:t>
            </a:r>
            <a:r>
              <a:rPr lang="zh-CN" altLang="en-US" dirty="0" smtClean="0"/>
              <a:t>记作</a:t>
            </a:r>
            <a:r>
              <a:rPr lang="en-US" altLang="zh-CN" dirty="0" smtClean="0"/>
              <a:t> </a:t>
            </a:r>
            <a:r>
              <a:rPr lang="en-US" dirty="0" smtClean="0"/>
              <a:t>(S, R). </a:t>
            </a:r>
            <a:r>
              <a:rPr lang="zh-CN" altLang="en-US" dirty="0" smtClean="0"/>
              <a:t>集合</a:t>
            </a:r>
            <a:r>
              <a:rPr lang="en-US" altLang="zh-CN" dirty="0" smtClean="0"/>
              <a:t>S</a:t>
            </a:r>
            <a:r>
              <a:rPr lang="zh-CN" altLang="en-US" dirty="0" smtClean="0"/>
              <a:t>中的成员称为偏序集的元素</a:t>
            </a:r>
            <a:r>
              <a:rPr lang="en-US" altLang="zh-CN" dirty="0" smtClean="0"/>
              <a:t>.</a:t>
            </a:r>
          </a:p>
        </p:txBody>
      </p:sp>
      <p:sp>
        <p:nvSpPr>
          <p:cNvPr id="6" name="日期占位符 5"/>
          <p:cNvSpPr>
            <a:spLocks noGrp="1"/>
          </p:cNvSpPr>
          <p:nvPr>
            <p:ph type="dt" sz="half" idx="10"/>
          </p:nvPr>
        </p:nvSpPr>
        <p:spPr/>
        <p:txBody>
          <a:bodyPr/>
          <a:lstStyle/>
          <a:p>
            <a:fld id="{513E46A7-A42E-4E93-9D8C-307F7583786D}" type="datetime1">
              <a:rPr lang="zh-CN" altLang="en-US" smtClean="0"/>
              <a:t>2025/3/14</a:t>
            </a:fld>
            <a:endParaRPr lang="zh-CN" altLang="en-US" dirty="0"/>
          </a:p>
        </p:txBody>
      </p:sp>
      <p:sp>
        <p:nvSpPr>
          <p:cNvPr id="7" name="页脚占位符 6"/>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8" name="灯片编号占位符 7"/>
          <p:cNvSpPr>
            <a:spLocks noGrp="1"/>
          </p:cNvSpPr>
          <p:nvPr>
            <p:ph type="sldNum" sz="quarter" idx="12"/>
          </p:nvPr>
        </p:nvSpPr>
        <p:spPr/>
        <p:txBody>
          <a:bodyPr/>
          <a:lstStyle/>
          <a:p>
            <a:fld id="{67913A8A-9EFB-4B5F-9CCB-3D21173FAA85}" type="slidenum">
              <a:rPr lang="zh-CN" altLang="en-US" smtClean="0"/>
              <a:pPr/>
              <a:t>104</a:t>
            </a:fld>
            <a:endParaRPr lang="zh-CN" altLang="en-US" dirty="0"/>
          </a:p>
        </p:txBody>
      </p:sp>
    </p:spTree>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偏序</a:t>
            </a:r>
            <a:endParaRPr lang="en-US" dirty="0"/>
          </a:p>
        </p:txBody>
      </p:sp>
      <p:sp>
        <p:nvSpPr>
          <p:cNvPr id="3" name="Content Placeholder 2"/>
          <p:cNvSpPr>
            <a:spLocks noGrp="1"/>
          </p:cNvSpPr>
          <p:nvPr>
            <p:ph idx="1"/>
          </p:nvPr>
        </p:nvSpPr>
        <p:spPr/>
        <p:txBody>
          <a:bodyPr/>
          <a:lstStyle/>
          <a:p>
            <a:r>
              <a:rPr lang="zh-CN" altLang="en-US" dirty="0" smtClean="0"/>
              <a:t>例</a:t>
            </a:r>
            <a:r>
              <a:rPr lang="en-US" dirty="0" smtClean="0"/>
              <a:t>: </a:t>
            </a:r>
            <a:r>
              <a:rPr lang="zh-CN" altLang="en-US" dirty="0" smtClean="0"/>
              <a:t>证明</a:t>
            </a:r>
            <a:r>
              <a:rPr lang="en-US" dirty="0" smtClean="0"/>
              <a:t>“</a:t>
            </a:r>
            <a:r>
              <a:rPr lang="zh-CN" altLang="en-US" dirty="0" smtClean="0"/>
              <a:t>大于等于</a:t>
            </a:r>
            <a:r>
              <a:rPr lang="en-US" dirty="0" smtClean="0"/>
              <a:t>”</a:t>
            </a:r>
            <a:r>
              <a:rPr lang="zh-CN" altLang="en-US" dirty="0" smtClean="0"/>
              <a:t>关系</a:t>
            </a:r>
            <a:r>
              <a:rPr lang="en-US" altLang="zh-CN" dirty="0" smtClean="0"/>
              <a:t>R</a:t>
            </a:r>
            <a:r>
              <a:rPr lang="en-US" dirty="0" smtClean="0"/>
              <a:t>(≥) </a:t>
            </a:r>
            <a:r>
              <a:rPr lang="zh-CN" altLang="en-US" dirty="0" smtClean="0"/>
              <a:t>是整数集合上的偏序</a:t>
            </a:r>
            <a:r>
              <a:rPr lang="en-US" altLang="zh-CN" dirty="0" smtClean="0"/>
              <a:t>.</a:t>
            </a:r>
          </a:p>
          <a:p>
            <a:r>
              <a:rPr lang="zh-CN" altLang="en-US" dirty="0" smtClean="0"/>
              <a:t>解</a:t>
            </a:r>
            <a:r>
              <a:rPr lang="en-US" altLang="zh-CN" dirty="0" smtClean="0"/>
              <a:t>:</a:t>
            </a:r>
            <a:endParaRPr lang="en-US" dirty="0" smtClean="0"/>
          </a:p>
          <a:p>
            <a:pPr lvl="1"/>
            <a:r>
              <a:rPr lang="zh-CN" altLang="en-US" b="1" dirty="0" smtClean="0"/>
              <a:t>自反性</a:t>
            </a:r>
            <a:r>
              <a:rPr lang="en-US" dirty="0" smtClean="0"/>
              <a:t>:  </a:t>
            </a:r>
            <a:r>
              <a:rPr lang="zh-CN" altLang="en-US" dirty="0" smtClean="0"/>
              <a:t>对于所有整数</a:t>
            </a:r>
            <a:r>
              <a:rPr lang="en-US" altLang="zh-CN" dirty="0" smtClean="0"/>
              <a:t>a</a:t>
            </a:r>
            <a:r>
              <a:rPr lang="zh-CN" altLang="en-US" dirty="0" smtClean="0"/>
              <a:t>有</a:t>
            </a:r>
            <a:r>
              <a:rPr lang="en-US" dirty="0" smtClean="0"/>
              <a:t>a ≥ a</a:t>
            </a:r>
            <a:r>
              <a:rPr lang="en-US" altLang="zh-CN" dirty="0" smtClean="0"/>
              <a:t>, </a:t>
            </a:r>
            <a:r>
              <a:rPr lang="zh-CN" altLang="en-US" dirty="0" smtClean="0"/>
              <a:t>所以</a:t>
            </a:r>
            <a:r>
              <a:rPr lang="en-US" altLang="zh-CN" dirty="0" smtClean="0"/>
              <a:t>R</a:t>
            </a:r>
            <a:r>
              <a:rPr lang="zh-CN" altLang="en-US" dirty="0" smtClean="0"/>
              <a:t>是自反的</a:t>
            </a:r>
            <a:r>
              <a:rPr lang="en-US" dirty="0" smtClean="0"/>
              <a:t>.</a:t>
            </a:r>
          </a:p>
          <a:p>
            <a:pPr lvl="1"/>
            <a:r>
              <a:rPr lang="zh-CN" altLang="en-US" b="1" dirty="0" smtClean="0"/>
              <a:t>反对称性</a:t>
            </a:r>
            <a:r>
              <a:rPr lang="en-US" dirty="0" smtClean="0"/>
              <a:t>: </a:t>
            </a:r>
            <a:r>
              <a:rPr lang="zh-CN" altLang="en-US" dirty="0" smtClean="0"/>
              <a:t>如果</a:t>
            </a:r>
            <a:r>
              <a:rPr lang="en-US" dirty="0" smtClean="0"/>
              <a:t> a ≥ b</a:t>
            </a:r>
            <a:r>
              <a:rPr lang="en-US" altLang="zh-CN" dirty="0" smtClean="0"/>
              <a:t>, </a:t>
            </a:r>
            <a:r>
              <a:rPr lang="en-US" dirty="0" smtClean="0"/>
              <a:t>b ≥ a , </a:t>
            </a:r>
            <a:r>
              <a:rPr lang="zh-CN" altLang="en-US" dirty="0" smtClean="0"/>
              <a:t>那么</a:t>
            </a:r>
            <a:r>
              <a:rPr lang="en-US" dirty="0" smtClean="0"/>
              <a:t>a = b</a:t>
            </a:r>
            <a:r>
              <a:rPr lang="en-US" altLang="zh-CN" dirty="0" smtClean="0"/>
              <a:t>, </a:t>
            </a:r>
            <a:r>
              <a:rPr lang="zh-CN" altLang="en-US" dirty="0" smtClean="0"/>
              <a:t>所以</a:t>
            </a:r>
            <a:r>
              <a:rPr lang="en-US" altLang="zh-CN" dirty="0" smtClean="0"/>
              <a:t>R</a:t>
            </a:r>
            <a:r>
              <a:rPr lang="zh-CN" altLang="en-US" dirty="0" smtClean="0"/>
              <a:t>是反对称的</a:t>
            </a:r>
            <a:r>
              <a:rPr lang="en-US" dirty="0" smtClean="0"/>
              <a:t>.</a:t>
            </a:r>
          </a:p>
          <a:p>
            <a:pPr lvl="1"/>
            <a:r>
              <a:rPr lang="zh-CN" altLang="en-US" b="1" dirty="0" smtClean="0"/>
              <a:t>传递性</a:t>
            </a:r>
            <a:r>
              <a:rPr lang="en-US" dirty="0" smtClean="0"/>
              <a:t>: </a:t>
            </a:r>
            <a:r>
              <a:rPr lang="zh-CN" altLang="en-US" dirty="0" smtClean="0"/>
              <a:t>如果</a:t>
            </a:r>
            <a:r>
              <a:rPr lang="en-US" dirty="0" smtClean="0"/>
              <a:t> a ≥ b</a:t>
            </a:r>
            <a:r>
              <a:rPr lang="en-US" altLang="zh-CN" dirty="0" smtClean="0"/>
              <a:t>, </a:t>
            </a:r>
            <a:r>
              <a:rPr lang="en-US" dirty="0" smtClean="0"/>
              <a:t>b ≥ c , </a:t>
            </a:r>
            <a:r>
              <a:rPr lang="zh-CN" altLang="en-US" dirty="0" smtClean="0"/>
              <a:t>那么</a:t>
            </a:r>
            <a:r>
              <a:rPr lang="en-US" dirty="0" smtClean="0"/>
              <a:t> a ≥ c</a:t>
            </a:r>
            <a:r>
              <a:rPr lang="en-US" altLang="zh-CN" dirty="0" smtClean="0"/>
              <a:t>, </a:t>
            </a:r>
            <a:r>
              <a:rPr lang="zh-CN" altLang="en-US" dirty="0" smtClean="0"/>
              <a:t>所以</a:t>
            </a:r>
            <a:r>
              <a:rPr lang="en-US" altLang="zh-CN" dirty="0" smtClean="0"/>
              <a:t>R</a:t>
            </a:r>
            <a:r>
              <a:rPr lang="zh-CN" altLang="en-US" dirty="0" smtClean="0"/>
              <a:t>是传递的</a:t>
            </a:r>
            <a:r>
              <a:rPr lang="en-US" dirty="0" smtClean="0"/>
              <a:t>.</a:t>
            </a:r>
          </a:p>
          <a:p>
            <a:pPr lvl="1"/>
            <a:r>
              <a:rPr lang="zh-CN" altLang="en-US" dirty="0" smtClean="0"/>
              <a:t>综上所述</a:t>
            </a:r>
            <a:r>
              <a:rPr lang="en-US" altLang="zh-CN" dirty="0" smtClean="0"/>
              <a:t>, </a:t>
            </a:r>
            <a:r>
              <a:rPr lang="zh-CN" altLang="en-US" dirty="0" smtClean="0"/>
              <a:t>大于等于关系</a:t>
            </a:r>
            <a:r>
              <a:rPr lang="en-US" altLang="zh-CN" dirty="0" smtClean="0"/>
              <a:t>R</a:t>
            </a:r>
            <a:r>
              <a:rPr lang="zh-CN" altLang="en-US" dirty="0" smtClean="0"/>
              <a:t>是整数集合上的偏序</a:t>
            </a:r>
            <a:r>
              <a:rPr lang="en-US" altLang="zh-CN" dirty="0"/>
              <a:t>.</a:t>
            </a:r>
            <a:endParaRPr lang="en-US" dirty="0" smtClean="0"/>
          </a:p>
          <a:p>
            <a:pPr lvl="1"/>
            <a:endParaRPr lang="en-US" dirty="0" smtClean="0"/>
          </a:p>
          <a:p>
            <a:pPr lvl="1"/>
            <a:endParaRPr lang="en-US" dirty="0"/>
          </a:p>
        </p:txBody>
      </p:sp>
      <p:sp>
        <p:nvSpPr>
          <p:cNvPr id="7" name="日期占位符 6"/>
          <p:cNvSpPr>
            <a:spLocks noGrp="1"/>
          </p:cNvSpPr>
          <p:nvPr>
            <p:ph type="dt" sz="half" idx="10"/>
          </p:nvPr>
        </p:nvSpPr>
        <p:spPr/>
        <p:txBody>
          <a:bodyPr/>
          <a:lstStyle/>
          <a:p>
            <a:fld id="{0AD69452-13FA-4CE3-9565-6322E3A7AE9A}" type="datetime1">
              <a:rPr lang="zh-CN" altLang="en-US" smtClean="0"/>
              <a:t>2025/3/14</a:t>
            </a:fld>
            <a:endParaRPr lang="zh-CN" altLang="en-US" dirty="0"/>
          </a:p>
        </p:txBody>
      </p:sp>
      <p:sp>
        <p:nvSpPr>
          <p:cNvPr id="8" name="页脚占位符 7"/>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9" name="灯片编号占位符 8"/>
          <p:cNvSpPr>
            <a:spLocks noGrp="1"/>
          </p:cNvSpPr>
          <p:nvPr>
            <p:ph type="sldNum" sz="quarter" idx="12"/>
          </p:nvPr>
        </p:nvSpPr>
        <p:spPr/>
        <p:txBody>
          <a:bodyPr/>
          <a:lstStyle/>
          <a:p>
            <a:fld id="{67913A8A-9EFB-4B5F-9CCB-3D21173FAA85}" type="slidenum">
              <a:rPr lang="zh-CN" altLang="en-US" smtClean="0"/>
              <a:pPr/>
              <a:t>105</a:t>
            </a:fld>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wipe(down)">
                                      <p:cBhvr>
                                        <p:cTn id="7" dur="500"/>
                                        <p:tgtEl>
                                          <p:spTgt spid="3">
                                            <p:txEl>
                                              <p:pRg st="1" end="1"/>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wipe(down)">
                                      <p:cBhvr>
                                        <p:cTn id="10" dur="500"/>
                                        <p:tgtEl>
                                          <p:spTgt spid="3">
                                            <p:txEl>
                                              <p:pRg st="2" end="2"/>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wipe(down)">
                                      <p:cBhvr>
                                        <p:cTn id="13" dur="500"/>
                                        <p:tgtEl>
                                          <p:spTgt spid="3">
                                            <p:txEl>
                                              <p:pRg st="3" end="3"/>
                                            </p:txEl>
                                          </p:spTgt>
                                        </p:tgtEl>
                                      </p:cBhvr>
                                    </p:animEffect>
                                  </p:childTnLst>
                                </p:cTn>
                              </p:par>
                              <p:par>
                                <p:cTn id="14" presetID="22" presetClass="entr" presetSubtype="4" fill="hold" nodeType="withEffect">
                                  <p:stCondLst>
                                    <p:cond delay="0"/>
                                  </p:stCondLst>
                                  <p:childTnLst>
                                    <p:set>
                                      <p:cBhvr>
                                        <p:cTn id="15" dur="1" fill="hold">
                                          <p:stCondLst>
                                            <p:cond delay="0"/>
                                          </p:stCondLst>
                                        </p:cTn>
                                        <p:tgtEl>
                                          <p:spTgt spid="3">
                                            <p:txEl>
                                              <p:pRg st="4" end="4"/>
                                            </p:txEl>
                                          </p:spTgt>
                                        </p:tgtEl>
                                        <p:attrNameLst>
                                          <p:attrName>style.visibility</p:attrName>
                                        </p:attrNameLst>
                                      </p:cBhvr>
                                      <p:to>
                                        <p:strVal val="visible"/>
                                      </p:to>
                                    </p:set>
                                    <p:animEffect transition="in" filter="wipe(down)">
                                      <p:cBhvr>
                                        <p:cTn id="16" dur="500"/>
                                        <p:tgtEl>
                                          <p:spTgt spid="3">
                                            <p:txEl>
                                              <p:pRg st="4" end="4"/>
                                            </p:txEl>
                                          </p:spTgt>
                                        </p:tgtEl>
                                      </p:cBhvr>
                                    </p:animEffect>
                                  </p:childTnLst>
                                </p:cTn>
                              </p:par>
                              <p:par>
                                <p:cTn id="17" presetID="22" presetClass="entr" presetSubtype="4"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animEffect transition="in" filter="wipe(down)">
                                      <p:cBhvr>
                                        <p:cTn id="19"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偏序</a:t>
            </a:r>
            <a:endParaRPr lang="en-US" dirty="0"/>
          </a:p>
        </p:txBody>
      </p:sp>
      <p:sp>
        <p:nvSpPr>
          <p:cNvPr id="3" name="Content Placeholder 2"/>
          <p:cNvSpPr>
            <a:spLocks noGrp="1"/>
          </p:cNvSpPr>
          <p:nvPr>
            <p:ph idx="1"/>
          </p:nvPr>
        </p:nvSpPr>
        <p:spPr/>
        <p:txBody>
          <a:bodyPr>
            <a:normAutofit/>
          </a:bodyPr>
          <a:lstStyle/>
          <a:p>
            <a:r>
              <a:rPr lang="zh-CN" altLang="en-US" dirty="0" smtClean="0"/>
              <a:t>例</a:t>
            </a:r>
            <a:r>
              <a:rPr lang="en-US" dirty="0" smtClean="0"/>
              <a:t>: </a:t>
            </a:r>
            <a:r>
              <a:rPr lang="zh-CN" altLang="en-US" dirty="0" smtClean="0"/>
              <a:t>证明整除关系</a:t>
            </a:r>
            <a:r>
              <a:rPr lang="en-US" altLang="zh-CN" dirty="0" smtClean="0"/>
              <a:t>R</a:t>
            </a:r>
            <a:r>
              <a:rPr lang="en-US" dirty="0" smtClean="0"/>
              <a:t>(∣) </a:t>
            </a:r>
            <a:r>
              <a:rPr lang="zh-CN" altLang="en-US" dirty="0" smtClean="0"/>
              <a:t>是正整数集合上的偏序</a:t>
            </a:r>
            <a:r>
              <a:rPr lang="en-US" altLang="zh-CN" dirty="0" smtClean="0"/>
              <a:t>.</a:t>
            </a:r>
          </a:p>
          <a:p>
            <a:r>
              <a:rPr lang="zh-CN" altLang="en-US" dirty="0" smtClean="0"/>
              <a:t>解</a:t>
            </a:r>
            <a:r>
              <a:rPr lang="en-US" altLang="zh-CN" dirty="0" smtClean="0"/>
              <a:t>:</a:t>
            </a:r>
            <a:endParaRPr lang="en-US" dirty="0" smtClean="0"/>
          </a:p>
          <a:p>
            <a:pPr lvl="1"/>
            <a:r>
              <a:rPr lang="zh-CN" altLang="en-US" b="1" dirty="0" smtClean="0"/>
              <a:t>自反性</a:t>
            </a:r>
            <a:r>
              <a:rPr lang="en-US" altLang="zh-CN" dirty="0" smtClean="0"/>
              <a:t>:  </a:t>
            </a:r>
            <a:r>
              <a:rPr lang="zh-CN" altLang="en-US" dirty="0"/>
              <a:t>对于所有整数</a:t>
            </a:r>
            <a:r>
              <a:rPr lang="en-US" altLang="zh-CN" dirty="0" smtClean="0"/>
              <a:t>a, </a:t>
            </a:r>
            <a:r>
              <a:rPr lang="zh-CN" altLang="en-US" dirty="0" smtClean="0"/>
              <a:t>有</a:t>
            </a:r>
            <a:r>
              <a:rPr lang="en-US" altLang="zh-CN" dirty="0" err="1" smtClean="0"/>
              <a:t>a|a</a:t>
            </a:r>
            <a:r>
              <a:rPr lang="en-US" altLang="zh-CN" dirty="0" smtClean="0"/>
              <a:t> , </a:t>
            </a:r>
            <a:r>
              <a:rPr lang="zh-CN" altLang="en-US" dirty="0" smtClean="0"/>
              <a:t>所以</a:t>
            </a:r>
            <a:r>
              <a:rPr lang="en-US" altLang="zh-CN" dirty="0"/>
              <a:t>R</a:t>
            </a:r>
            <a:r>
              <a:rPr lang="zh-CN" altLang="en-US" dirty="0"/>
              <a:t>是自反的</a:t>
            </a:r>
            <a:r>
              <a:rPr lang="en-US" altLang="zh-CN" dirty="0"/>
              <a:t>.</a:t>
            </a:r>
          </a:p>
          <a:p>
            <a:pPr lvl="1"/>
            <a:r>
              <a:rPr lang="zh-CN" altLang="en-US" b="1" dirty="0" smtClean="0"/>
              <a:t>反对称性</a:t>
            </a:r>
            <a:r>
              <a:rPr lang="en-US" altLang="zh-CN" dirty="0" smtClean="0"/>
              <a:t>: </a:t>
            </a:r>
            <a:r>
              <a:rPr lang="zh-CN" altLang="en-US" dirty="0"/>
              <a:t>如果</a:t>
            </a:r>
            <a:r>
              <a:rPr lang="en-US" altLang="zh-CN" dirty="0"/>
              <a:t> </a:t>
            </a:r>
            <a:r>
              <a:rPr lang="en-US" altLang="zh-CN" dirty="0" smtClean="0"/>
              <a:t>a</a:t>
            </a:r>
            <a:r>
              <a:rPr lang="zh-CN" altLang="en-US" dirty="0" smtClean="0"/>
              <a:t>和</a:t>
            </a:r>
            <a:r>
              <a:rPr lang="en-US" altLang="zh-CN" dirty="0" smtClean="0"/>
              <a:t>b</a:t>
            </a:r>
            <a:r>
              <a:rPr lang="zh-CN" altLang="en-US" dirty="0" smtClean="0"/>
              <a:t>是正整数</a:t>
            </a:r>
            <a:r>
              <a:rPr lang="en-US" altLang="zh-CN" dirty="0" smtClean="0"/>
              <a:t>, </a:t>
            </a:r>
            <a:r>
              <a:rPr lang="zh-CN" altLang="en-US" dirty="0" smtClean="0"/>
              <a:t>且</a:t>
            </a:r>
            <a:r>
              <a:rPr lang="en-US" altLang="zh-CN" dirty="0" err="1" smtClean="0"/>
              <a:t>a|b</a:t>
            </a:r>
            <a:r>
              <a:rPr lang="en-US" altLang="zh-CN" dirty="0" smtClean="0"/>
              <a:t> , </a:t>
            </a:r>
            <a:r>
              <a:rPr lang="en-US" altLang="zh-CN" dirty="0" err="1" smtClean="0"/>
              <a:t>b|a</a:t>
            </a:r>
            <a:r>
              <a:rPr lang="en-US" altLang="zh-CN" dirty="0" smtClean="0"/>
              <a:t>, </a:t>
            </a:r>
            <a:r>
              <a:rPr lang="zh-CN" altLang="en-US" dirty="0"/>
              <a:t>那么</a:t>
            </a:r>
            <a:r>
              <a:rPr lang="en-US" altLang="zh-CN" dirty="0"/>
              <a:t>a = </a:t>
            </a:r>
            <a:r>
              <a:rPr lang="en-US" altLang="zh-CN" dirty="0" smtClean="0"/>
              <a:t>b, </a:t>
            </a:r>
            <a:r>
              <a:rPr lang="zh-CN" altLang="en-US" dirty="0" smtClean="0"/>
              <a:t>所以</a:t>
            </a:r>
            <a:r>
              <a:rPr lang="en-US" altLang="zh-CN" dirty="0"/>
              <a:t>R</a:t>
            </a:r>
            <a:r>
              <a:rPr lang="zh-CN" altLang="en-US" dirty="0"/>
              <a:t>是反对称的</a:t>
            </a:r>
            <a:r>
              <a:rPr lang="en-US" altLang="zh-CN" dirty="0"/>
              <a:t>.</a:t>
            </a:r>
          </a:p>
          <a:p>
            <a:pPr lvl="1"/>
            <a:r>
              <a:rPr lang="zh-CN" altLang="en-US" b="1" dirty="0" smtClean="0"/>
              <a:t>传递性</a:t>
            </a:r>
            <a:r>
              <a:rPr lang="en-US" altLang="zh-CN" dirty="0" smtClean="0"/>
              <a:t>: </a:t>
            </a:r>
            <a:r>
              <a:rPr lang="zh-CN" altLang="en-US" dirty="0"/>
              <a:t>如果</a:t>
            </a:r>
            <a:r>
              <a:rPr lang="en-US" altLang="zh-CN" dirty="0"/>
              <a:t> </a:t>
            </a:r>
            <a:r>
              <a:rPr lang="en-US" altLang="zh-CN" dirty="0" err="1" smtClean="0"/>
              <a:t>a|b,b|c</a:t>
            </a:r>
            <a:r>
              <a:rPr lang="en-US" altLang="zh-CN" dirty="0" smtClean="0"/>
              <a:t> , </a:t>
            </a:r>
            <a:r>
              <a:rPr lang="zh-CN" altLang="en-US" dirty="0" smtClean="0"/>
              <a:t>那么存在正整数</a:t>
            </a:r>
            <a:r>
              <a:rPr lang="en-US" altLang="zh-CN" dirty="0" smtClean="0"/>
              <a:t>k</a:t>
            </a:r>
            <a:r>
              <a:rPr lang="zh-CN" altLang="en-US" dirty="0" smtClean="0"/>
              <a:t>和</a:t>
            </a:r>
            <a:r>
              <a:rPr lang="en-US" altLang="zh-CN" dirty="0" smtClean="0"/>
              <a:t>l, </a:t>
            </a:r>
            <a:r>
              <a:rPr lang="zh-CN" altLang="en-US" dirty="0" smtClean="0"/>
              <a:t>使得</a:t>
            </a:r>
            <a:r>
              <a:rPr lang="en-US" altLang="zh-CN" dirty="0" smtClean="0"/>
              <a:t> </a:t>
            </a:r>
            <a:r>
              <a:rPr lang="en-US" altLang="zh-CN" dirty="0"/>
              <a:t>b = </a:t>
            </a:r>
            <a:r>
              <a:rPr lang="en-US" altLang="zh-CN" dirty="0" err="1" smtClean="0"/>
              <a:t>ak</a:t>
            </a:r>
            <a:r>
              <a:rPr lang="en-US" altLang="zh-CN" dirty="0" smtClean="0"/>
              <a:t>, </a:t>
            </a:r>
            <a:r>
              <a:rPr lang="en-US" altLang="zh-CN" dirty="0"/>
              <a:t>c = </a:t>
            </a:r>
            <a:r>
              <a:rPr lang="en-US" altLang="zh-CN" dirty="0" err="1" smtClean="0"/>
              <a:t>bl</a:t>
            </a:r>
            <a:r>
              <a:rPr lang="en-US" altLang="zh-CN" dirty="0" smtClean="0"/>
              <a:t>, </a:t>
            </a:r>
            <a:r>
              <a:rPr lang="zh-CN" altLang="en-US" dirty="0" smtClean="0"/>
              <a:t>那么</a:t>
            </a:r>
            <a:r>
              <a:rPr lang="en-US" altLang="zh-CN" dirty="0"/>
              <a:t>c = </a:t>
            </a:r>
            <a:r>
              <a:rPr lang="en-US" altLang="zh-CN" dirty="0" smtClean="0"/>
              <a:t>a(kl), </a:t>
            </a:r>
            <a:r>
              <a:rPr lang="zh-CN" altLang="en-US" dirty="0" smtClean="0"/>
              <a:t>即</a:t>
            </a:r>
            <a:r>
              <a:rPr lang="en-US" altLang="zh-CN" dirty="0" smtClean="0"/>
              <a:t>a</a:t>
            </a:r>
            <a:r>
              <a:rPr lang="zh-CN" altLang="en-US" dirty="0" smtClean="0"/>
              <a:t>整除</a:t>
            </a:r>
            <a:r>
              <a:rPr lang="en-US" altLang="zh-CN" dirty="0" smtClean="0"/>
              <a:t>c, </a:t>
            </a:r>
            <a:r>
              <a:rPr lang="zh-CN" altLang="en-US" dirty="0" smtClean="0"/>
              <a:t>所以</a:t>
            </a:r>
            <a:r>
              <a:rPr lang="en-US" altLang="zh-CN" dirty="0"/>
              <a:t>R</a:t>
            </a:r>
            <a:r>
              <a:rPr lang="zh-CN" altLang="en-US" dirty="0"/>
              <a:t>是传递的</a:t>
            </a:r>
            <a:r>
              <a:rPr lang="en-US" altLang="zh-CN" dirty="0"/>
              <a:t>.</a:t>
            </a:r>
          </a:p>
          <a:p>
            <a:pPr lvl="1"/>
            <a:r>
              <a:rPr lang="zh-CN" altLang="en-US" dirty="0" smtClean="0"/>
              <a:t>综上所述</a:t>
            </a:r>
            <a:r>
              <a:rPr lang="en-US" altLang="zh-CN" dirty="0" smtClean="0"/>
              <a:t>, </a:t>
            </a:r>
            <a:r>
              <a:rPr lang="zh-CN" altLang="en-US" dirty="0" smtClean="0"/>
              <a:t>整除关系</a:t>
            </a:r>
            <a:r>
              <a:rPr lang="en-US" altLang="zh-CN" dirty="0"/>
              <a:t>R</a:t>
            </a:r>
            <a:r>
              <a:rPr lang="zh-CN" altLang="en-US" dirty="0" smtClean="0"/>
              <a:t>是正整数</a:t>
            </a:r>
            <a:r>
              <a:rPr lang="zh-CN" altLang="en-US" dirty="0"/>
              <a:t>集合上的偏序</a:t>
            </a:r>
            <a:r>
              <a:rPr lang="en-US" altLang="zh-CN" dirty="0" smtClean="0"/>
              <a:t>.</a:t>
            </a:r>
            <a:endParaRPr lang="en-US" altLang="zh-CN" dirty="0"/>
          </a:p>
        </p:txBody>
      </p:sp>
      <p:sp>
        <p:nvSpPr>
          <p:cNvPr id="6" name="日期占位符 5"/>
          <p:cNvSpPr>
            <a:spLocks noGrp="1"/>
          </p:cNvSpPr>
          <p:nvPr>
            <p:ph type="dt" sz="half" idx="10"/>
          </p:nvPr>
        </p:nvSpPr>
        <p:spPr/>
        <p:txBody>
          <a:bodyPr/>
          <a:lstStyle/>
          <a:p>
            <a:fld id="{4D89855F-320E-4B42-90E5-1E962A08A332}" type="datetime1">
              <a:rPr lang="zh-CN" altLang="en-US" smtClean="0"/>
              <a:t>2025/3/14</a:t>
            </a:fld>
            <a:endParaRPr lang="zh-CN" altLang="en-US" dirty="0"/>
          </a:p>
        </p:txBody>
      </p:sp>
      <p:sp>
        <p:nvSpPr>
          <p:cNvPr id="7" name="页脚占位符 6"/>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8" name="灯片编号占位符 7"/>
          <p:cNvSpPr>
            <a:spLocks noGrp="1"/>
          </p:cNvSpPr>
          <p:nvPr>
            <p:ph type="sldNum" sz="quarter" idx="12"/>
          </p:nvPr>
        </p:nvSpPr>
        <p:spPr/>
        <p:txBody>
          <a:bodyPr/>
          <a:lstStyle/>
          <a:p>
            <a:fld id="{67913A8A-9EFB-4B5F-9CCB-3D21173FAA85}" type="slidenum">
              <a:rPr lang="zh-CN" altLang="en-US" smtClean="0"/>
              <a:pPr/>
              <a:t>106</a:t>
            </a:fld>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wipe(down)">
                                      <p:cBhvr>
                                        <p:cTn id="7" dur="500"/>
                                        <p:tgtEl>
                                          <p:spTgt spid="3">
                                            <p:txEl>
                                              <p:pRg st="1" end="1"/>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wipe(down)">
                                      <p:cBhvr>
                                        <p:cTn id="10" dur="500"/>
                                        <p:tgtEl>
                                          <p:spTgt spid="3">
                                            <p:txEl>
                                              <p:pRg st="2" end="2"/>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wipe(down)">
                                      <p:cBhvr>
                                        <p:cTn id="13" dur="500"/>
                                        <p:tgtEl>
                                          <p:spTgt spid="3">
                                            <p:txEl>
                                              <p:pRg st="3" end="3"/>
                                            </p:txEl>
                                          </p:spTgt>
                                        </p:tgtEl>
                                      </p:cBhvr>
                                    </p:animEffect>
                                  </p:childTnLst>
                                </p:cTn>
                              </p:par>
                              <p:par>
                                <p:cTn id="14" presetID="22" presetClass="entr" presetSubtype="4" fill="hold" nodeType="withEffect">
                                  <p:stCondLst>
                                    <p:cond delay="0"/>
                                  </p:stCondLst>
                                  <p:childTnLst>
                                    <p:set>
                                      <p:cBhvr>
                                        <p:cTn id="15" dur="1" fill="hold">
                                          <p:stCondLst>
                                            <p:cond delay="0"/>
                                          </p:stCondLst>
                                        </p:cTn>
                                        <p:tgtEl>
                                          <p:spTgt spid="3">
                                            <p:txEl>
                                              <p:pRg st="4" end="4"/>
                                            </p:txEl>
                                          </p:spTgt>
                                        </p:tgtEl>
                                        <p:attrNameLst>
                                          <p:attrName>style.visibility</p:attrName>
                                        </p:attrNameLst>
                                      </p:cBhvr>
                                      <p:to>
                                        <p:strVal val="visible"/>
                                      </p:to>
                                    </p:set>
                                    <p:animEffect transition="in" filter="wipe(down)">
                                      <p:cBhvr>
                                        <p:cTn id="16" dur="500"/>
                                        <p:tgtEl>
                                          <p:spTgt spid="3">
                                            <p:txEl>
                                              <p:pRg st="4" end="4"/>
                                            </p:txEl>
                                          </p:spTgt>
                                        </p:tgtEl>
                                      </p:cBhvr>
                                    </p:animEffect>
                                  </p:childTnLst>
                                </p:cTn>
                              </p:par>
                              <p:par>
                                <p:cTn id="17" presetID="22" presetClass="entr" presetSubtype="4"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animEffect transition="in" filter="wipe(down)">
                                      <p:cBhvr>
                                        <p:cTn id="19"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偏序</a:t>
            </a:r>
            <a:endParaRPr lang="en-US" dirty="0"/>
          </a:p>
        </p:txBody>
      </p:sp>
      <p:sp>
        <p:nvSpPr>
          <p:cNvPr id="3" name="Content Placeholder 2"/>
          <p:cNvSpPr>
            <a:spLocks noGrp="1"/>
          </p:cNvSpPr>
          <p:nvPr>
            <p:ph idx="1"/>
          </p:nvPr>
        </p:nvSpPr>
        <p:spPr/>
        <p:txBody>
          <a:bodyPr>
            <a:normAutofit/>
          </a:bodyPr>
          <a:lstStyle/>
          <a:p>
            <a:r>
              <a:rPr lang="zh-CN" altLang="en-US" dirty="0" smtClean="0"/>
              <a:t>例</a:t>
            </a:r>
            <a:r>
              <a:rPr lang="en-US" dirty="0" smtClean="0"/>
              <a:t>: </a:t>
            </a:r>
            <a:r>
              <a:rPr lang="zh-CN" altLang="en-US" dirty="0" smtClean="0"/>
              <a:t>证明包含关系</a:t>
            </a:r>
            <a:r>
              <a:rPr lang="en-US" altLang="zh-CN" dirty="0" smtClean="0"/>
              <a:t>R</a:t>
            </a:r>
            <a:r>
              <a:rPr lang="en-US" dirty="0" smtClean="0"/>
              <a:t>(⊆)</a:t>
            </a:r>
            <a:r>
              <a:rPr lang="zh-CN" altLang="en-US" dirty="0" smtClean="0"/>
              <a:t>是在集合</a:t>
            </a:r>
            <a:r>
              <a:rPr lang="en-US" altLang="zh-CN" dirty="0" smtClean="0"/>
              <a:t>S</a:t>
            </a:r>
            <a:r>
              <a:rPr lang="zh-CN" altLang="en-US" dirty="0" smtClean="0"/>
              <a:t>的幂集上的偏序</a:t>
            </a:r>
            <a:r>
              <a:rPr lang="en-US" altLang="zh-CN" dirty="0" smtClean="0"/>
              <a:t>.</a:t>
            </a:r>
          </a:p>
          <a:p>
            <a:r>
              <a:rPr lang="zh-CN" altLang="en-US" dirty="0" smtClean="0"/>
              <a:t>解</a:t>
            </a:r>
            <a:r>
              <a:rPr lang="en-US" altLang="zh-CN" dirty="0" smtClean="0"/>
              <a:t>:</a:t>
            </a:r>
          </a:p>
          <a:p>
            <a:pPr lvl="1"/>
            <a:r>
              <a:rPr lang="zh-CN" altLang="en-US" b="1" dirty="0" smtClean="0"/>
              <a:t>自反性</a:t>
            </a:r>
            <a:r>
              <a:rPr lang="en-US" altLang="zh-CN" dirty="0" smtClean="0"/>
              <a:t>:  </a:t>
            </a:r>
            <a:r>
              <a:rPr lang="zh-CN" altLang="en-US" dirty="0" smtClean="0"/>
              <a:t>只要</a:t>
            </a:r>
            <a:r>
              <a:rPr lang="en-US" altLang="zh-CN" dirty="0" smtClean="0"/>
              <a:t>A</a:t>
            </a:r>
            <a:r>
              <a:rPr lang="zh-CN" altLang="en-US" dirty="0" smtClean="0"/>
              <a:t>是集合</a:t>
            </a:r>
            <a:r>
              <a:rPr lang="en-US" altLang="zh-CN" dirty="0" smtClean="0"/>
              <a:t>S</a:t>
            </a:r>
            <a:r>
              <a:rPr lang="zh-CN" altLang="en-US" dirty="0" smtClean="0"/>
              <a:t>的子集</a:t>
            </a:r>
            <a:r>
              <a:rPr lang="en-US" altLang="zh-CN" dirty="0" smtClean="0"/>
              <a:t>, </a:t>
            </a:r>
            <a:r>
              <a:rPr lang="zh-CN" altLang="en-US" dirty="0" smtClean="0"/>
              <a:t>就有</a:t>
            </a:r>
            <a:r>
              <a:rPr lang="en-US" altLang="zh-CN" dirty="0"/>
              <a:t>A ⊆ </a:t>
            </a:r>
            <a:r>
              <a:rPr lang="en-US" altLang="zh-CN" dirty="0" smtClean="0"/>
              <a:t>A, </a:t>
            </a:r>
            <a:r>
              <a:rPr lang="zh-CN" altLang="en-US" dirty="0" smtClean="0"/>
              <a:t>所以</a:t>
            </a:r>
            <a:r>
              <a:rPr lang="en-US" altLang="zh-CN" dirty="0"/>
              <a:t>R</a:t>
            </a:r>
            <a:r>
              <a:rPr lang="zh-CN" altLang="en-US" dirty="0"/>
              <a:t>是自反的</a:t>
            </a:r>
            <a:r>
              <a:rPr lang="en-US" altLang="zh-CN" dirty="0"/>
              <a:t>.</a:t>
            </a:r>
          </a:p>
          <a:p>
            <a:pPr lvl="1"/>
            <a:r>
              <a:rPr lang="zh-CN" altLang="en-US" b="1" dirty="0" smtClean="0"/>
              <a:t>反对称性</a:t>
            </a:r>
            <a:r>
              <a:rPr lang="en-US" altLang="zh-CN" dirty="0" smtClean="0"/>
              <a:t>: </a:t>
            </a:r>
            <a:r>
              <a:rPr lang="zh-CN" altLang="en-US" dirty="0"/>
              <a:t>如果</a:t>
            </a:r>
            <a:r>
              <a:rPr lang="en-US" altLang="zh-CN" dirty="0"/>
              <a:t> A ⊆ </a:t>
            </a:r>
            <a:r>
              <a:rPr lang="en-US" altLang="zh-CN" dirty="0" smtClean="0"/>
              <a:t>B, B </a:t>
            </a:r>
            <a:r>
              <a:rPr lang="en-US" altLang="zh-CN" dirty="0"/>
              <a:t>⊆ </a:t>
            </a:r>
            <a:r>
              <a:rPr lang="en-US" altLang="zh-CN" dirty="0" smtClean="0"/>
              <a:t>A, </a:t>
            </a:r>
            <a:r>
              <a:rPr lang="zh-CN" altLang="en-US" dirty="0" smtClean="0"/>
              <a:t>那么蕴含</a:t>
            </a:r>
            <a:r>
              <a:rPr lang="en-US" altLang="zh-CN" dirty="0"/>
              <a:t>A = </a:t>
            </a:r>
            <a:r>
              <a:rPr lang="en-US" altLang="zh-CN" dirty="0" smtClean="0"/>
              <a:t>B, </a:t>
            </a:r>
            <a:r>
              <a:rPr lang="zh-CN" altLang="en-US" dirty="0" smtClean="0"/>
              <a:t>所以</a:t>
            </a:r>
            <a:r>
              <a:rPr lang="en-US" altLang="zh-CN" dirty="0"/>
              <a:t>R</a:t>
            </a:r>
            <a:r>
              <a:rPr lang="zh-CN" altLang="en-US" dirty="0"/>
              <a:t>是反对称的</a:t>
            </a:r>
            <a:r>
              <a:rPr lang="en-US" altLang="zh-CN" dirty="0"/>
              <a:t>.</a:t>
            </a:r>
          </a:p>
          <a:p>
            <a:pPr lvl="1"/>
            <a:r>
              <a:rPr lang="zh-CN" altLang="en-US" b="1" dirty="0" smtClean="0"/>
              <a:t>传递性</a:t>
            </a:r>
            <a:r>
              <a:rPr lang="en-US" altLang="zh-CN" dirty="0" smtClean="0"/>
              <a:t>: </a:t>
            </a:r>
            <a:r>
              <a:rPr lang="zh-CN" altLang="en-US" dirty="0"/>
              <a:t>如果</a:t>
            </a:r>
            <a:r>
              <a:rPr lang="en-US" altLang="zh-CN" dirty="0"/>
              <a:t> A ⊆ </a:t>
            </a:r>
            <a:r>
              <a:rPr lang="en-US" altLang="zh-CN" dirty="0" smtClean="0"/>
              <a:t>B, </a:t>
            </a:r>
            <a:r>
              <a:rPr lang="en-US" altLang="zh-CN" dirty="0"/>
              <a:t>B ⊆ </a:t>
            </a:r>
            <a:r>
              <a:rPr lang="en-US" altLang="zh-CN" dirty="0" smtClean="0"/>
              <a:t>C, </a:t>
            </a:r>
            <a:r>
              <a:rPr lang="zh-CN" altLang="en-US" dirty="0" smtClean="0"/>
              <a:t>那么蕴含</a:t>
            </a:r>
            <a:r>
              <a:rPr lang="en-US" altLang="zh-CN" dirty="0"/>
              <a:t>A ⊆ </a:t>
            </a:r>
            <a:r>
              <a:rPr lang="en-US" altLang="zh-CN" dirty="0" smtClean="0"/>
              <a:t>C, </a:t>
            </a:r>
            <a:r>
              <a:rPr lang="zh-CN" altLang="en-US" dirty="0" smtClean="0"/>
              <a:t>所以</a:t>
            </a:r>
            <a:r>
              <a:rPr lang="en-US" altLang="zh-CN" dirty="0"/>
              <a:t>R</a:t>
            </a:r>
            <a:r>
              <a:rPr lang="zh-CN" altLang="en-US" dirty="0"/>
              <a:t>是传递的</a:t>
            </a:r>
            <a:r>
              <a:rPr lang="en-US" altLang="zh-CN" dirty="0"/>
              <a:t>.</a:t>
            </a:r>
          </a:p>
          <a:p>
            <a:pPr lvl="1"/>
            <a:r>
              <a:rPr lang="zh-CN" altLang="en-US" dirty="0" smtClean="0"/>
              <a:t>综上所述</a:t>
            </a:r>
            <a:r>
              <a:rPr lang="en-US" altLang="zh-CN" dirty="0" smtClean="0"/>
              <a:t>, </a:t>
            </a:r>
            <a:r>
              <a:rPr lang="en-US" altLang="zh-CN" dirty="0"/>
              <a:t>R(⊆)</a:t>
            </a:r>
            <a:r>
              <a:rPr lang="zh-CN" altLang="en-US" dirty="0"/>
              <a:t>是在集合</a:t>
            </a:r>
            <a:r>
              <a:rPr lang="en-US" altLang="zh-CN" dirty="0"/>
              <a:t>S</a:t>
            </a:r>
            <a:r>
              <a:rPr lang="zh-CN" altLang="en-US" dirty="0"/>
              <a:t>的幂集上的</a:t>
            </a:r>
            <a:r>
              <a:rPr lang="zh-CN" altLang="en-US" dirty="0" smtClean="0"/>
              <a:t>偏序</a:t>
            </a:r>
            <a:r>
              <a:rPr lang="en-US" altLang="zh-CN" dirty="0" smtClean="0"/>
              <a:t>.</a:t>
            </a:r>
            <a:endParaRPr lang="en-US" dirty="0"/>
          </a:p>
        </p:txBody>
      </p:sp>
      <p:sp>
        <p:nvSpPr>
          <p:cNvPr id="7" name="日期占位符 6"/>
          <p:cNvSpPr>
            <a:spLocks noGrp="1"/>
          </p:cNvSpPr>
          <p:nvPr>
            <p:ph type="dt" sz="half" idx="10"/>
          </p:nvPr>
        </p:nvSpPr>
        <p:spPr/>
        <p:txBody>
          <a:bodyPr/>
          <a:lstStyle/>
          <a:p>
            <a:fld id="{C3E849A9-C391-497F-980E-690F5BC2BF87}" type="datetime1">
              <a:rPr lang="zh-CN" altLang="en-US" smtClean="0"/>
              <a:t>2025/3/14</a:t>
            </a:fld>
            <a:endParaRPr lang="zh-CN" altLang="en-US" dirty="0"/>
          </a:p>
        </p:txBody>
      </p:sp>
      <p:sp>
        <p:nvSpPr>
          <p:cNvPr id="8" name="页脚占位符 7"/>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9" name="灯片编号占位符 8"/>
          <p:cNvSpPr>
            <a:spLocks noGrp="1"/>
          </p:cNvSpPr>
          <p:nvPr>
            <p:ph type="sldNum" sz="quarter" idx="12"/>
          </p:nvPr>
        </p:nvSpPr>
        <p:spPr/>
        <p:txBody>
          <a:bodyPr/>
          <a:lstStyle/>
          <a:p>
            <a:fld id="{67913A8A-9EFB-4B5F-9CCB-3D21173FAA85}" type="slidenum">
              <a:rPr lang="zh-CN" altLang="en-US" smtClean="0"/>
              <a:pPr/>
              <a:t>107</a:t>
            </a:fld>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wipe(down)">
                                      <p:cBhvr>
                                        <p:cTn id="7" dur="500"/>
                                        <p:tgtEl>
                                          <p:spTgt spid="3">
                                            <p:txEl>
                                              <p:pRg st="1" end="1"/>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wipe(down)">
                                      <p:cBhvr>
                                        <p:cTn id="10" dur="500"/>
                                        <p:tgtEl>
                                          <p:spTgt spid="3">
                                            <p:txEl>
                                              <p:pRg st="2" end="2"/>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wipe(down)">
                                      <p:cBhvr>
                                        <p:cTn id="13" dur="500"/>
                                        <p:tgtEl>
                                          <p:spTgt spid="3">
                                            <p:txEl>
                                              <p:pRg st="3" end="3"/>
                                            </p:txEl>
                                          </p:spTgt>
                                        </p:tgtEl>
                                      </p:cBhvr>
                                    </p:animEffect>
                                  </p:childTnLst>
                                </p:cTn>
                              </p:par>
                              <p:par>
                                <p:cTn id="14" presetID="22" presetClass="entr" presetSubtype="4" fill="hold" nodeType="withEffect">
                                  <p:stCondLst>
                                    <p:cond delay="0"/>
                                  </p:stCondLst>
                                  <p:childTnLst>
                                    <p:set>
                                      <p:cBhvr>
                                        <p:cTn id="15" dur="1" fill="hold">
                                          <p:stCondLst>
                                            <p:cond delay="0"/>
                                          </p:stCondLst>
                                        </p:cTn>
                                        <p:tgtEl>
                                          <p:spTgt spid="3">
                                            <p:txEl>
                                              <p:pRg st="4" end="4"/>
                                            </p:txEl>
                                          </p:spTgt>
                                        </p:tgtEl>
                                        <p:attrNameLst>
                                          <p:attrName>style.visibility</p:attrName>
                                        </p:attrNameLst>
                                      </p:cBhvr>
                                      <p:to>
                                        <p:strVal val="visible"/>
                                      </p:to>
                                    </p:set>
                                    <p:animEffect transition="in" filter="wipe(down)">
                                      <p:cBhvr>
                                        <p:cTn id="16" dur="500"/>
                                        <p:tgtEl>
                                          <p:spTgt spid="3">
                                            <p:txEl>
                                              <p:pRg st="4" end="4"/>
                                            </p:txEl>
                                          </p:spTgt>
                                        </p:tgtEl>
                                      </p:cBhvr>
                                    </p:animEffect>
                                  </p:childTnLst>
                                </p:cTn>
                              </p:par>
                              <p:par>
                                <p:cTn id="17" presetID="22" presetClass="entr" presetSubtype="4"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animEffect transition="in" filter="wipe(down)">
                                      <p:cBhvr>
                                        <p:cTn id="19"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457200" y="1143000"/>
            <a:ext cx="11277599" cy="1295400"/>
          </a:xfrm>
          <a:prstGeom prst="rect">
            <a:avLst/>
          </a:prstGeom>
          <a:solidFill>
            <a:schemeClr val="accent5">
              <a:lumMod val="40000"/>
              <a:lumOff val="6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itle 1"/>
          <p:cNvSpPr>
            <a:spLocks noGrp="1"/>
          </p:cNvSpPr>
          <p:nvPr>
            <p:ph type="title"/>
          </p:nvPr>
        </p:nvSpPr>
        <p:spPr/>
        <p:txBody>
          <a:bodyPr/>
          <a:lstStyle/>
          <a:p>
            <a:r>
              <a:rPr lang="zh-CN" altLang="en-US" dirty="0"/>
              <a:t>拟</a:t>
            </a:r>
            <a:r>
              <a:rPr lang="zh-CN" altLang="en-US" dirty="0" smtClean="0"/>
              <a:t>序、伪序、前序</a:t>
            </a:r>
            <a:endParaRPr lang="en-US" dirty="0"/>
          </a:p>
        </p:txBody>
      </p:sp>
      <p:sp>
        <p:nvSpPr>
          <p:cNvPr id="3" name="Content Placeholder 2"/>
          <p:cNvSpPr>
            <a:spLocks noGrp="1"/>
          </p:cNvSpPr>
          <p:nvPr>
            <p:ph idx="1"/>
          </p:nvPr>
        </p:nvSpPr>
        <p:spPr/>
        <p:txBody>
          <a:bodyPr/>
          <a:lstStyle/>
          <a:p>
            <a:r>
              <a:rPr lang="zh-CN" altLang="en-US" dirty="0" smtClean="0"/>
              <a:t>定义</a:t>
            </a:r>
            <a:r>
              <a:rPr lang="en-US" dirty="0" smtClean="0"/>
              <a:t>: </a:t>
            </a:r>
            <a:r>
              <a:rPr lang="zh-CN" altLang="en-US" dirty="0" smtClean="0"/>
              <a:t>定义在集合</a:t>
            </a:r>
            <a:r>
              <a:rPr lang="en-US" altLang="zh-CN" dirty="0" smtClean="0"/>
              <a:t>S</a:t>
            </a:r>
            <a:r>
              <a:rPr lang="zh-CN" altLang="en-US" dirty="0" smtClean="0"/>
              <a:t>上的关系</a:t>
            </a:r>
            <a:r>
              <a:rPr lang="en-US" altLang="zh-CN" dirty="0" smtClean="0"/>
              <a:t>R, </a:t>
            </a:r>
            <a:r>
              <a:rPr lang="zh-CN" altLang="en-US" dirty="0" smtClean="0"/>
              <a:t>如果它是</a:t>
            </a:r>
            <a:r>
              <a:rPr lang="zh-CN" altLang="en-US" b="1" dirty="0" smtClean="0"/>
              <a:t>反自反的</a:t>
            </a:r>
            <a:r>
              <a:rPr lang="en-US" altLang="zh-CN" dirty="0" smtClean="0"/>
              <a:t>, </a:t>
            </a:r>
            <a:r>
              <a:rPr lang="zh-CN" altLang="en-US" b="1" dirty="0" smtClean="0"/>
              <a:t>反对称的</a:t>
            </a:r>
            <a:r>
              <a:rPr lang="en-US" altLang="zh-CN" dirty="0" smtClean="0"/>
              <a:t>, </a:t>
            </a:r>
            <a:r>
              <a:rPr lang="zh-CN" altLang="en-US" b="1" dirty="0" smtClean="0"/>
              <a:t>传递的</a:t>
            </a:r>
            <a:r>
              <a:rPr lang="en-US" altLang="zh-CN" dirty="0" smtClean="0"/>
              <a:t>,</a:t>
            </a:r>
            <a:r>
              <a:rPr lang="zh-CN" altLang="en-US" dirty="0" smtClean="0"/>
              <a:t>则称为</a:t>
            </a:r>
            <a:r>
              <a:rPr lang="zh-CN" altLang="en-US" b="1" dirty="0" smtClean="0">
                <a:solidFill>
                  <a:srgbClr val="C00000"/>
                </a:solidFill>
              </a:rPr>
              <a:t>拟序</a:t>
            </a:r>
            <a:r>
              <a:rPr lang="en-US" altLang="zh-CN" dirty="0" smtClean="0"/>
              <a:t>. </a:t>
            </a:r>
            <a:r>
              <a:rPr lang="zh-CN" altLang="en-US" dirty="0" smtClean="0"/>
              <a:t>集合</a:t>
            </a:r>
            <a:r>
              <a:rPr lang="en-US" altLang="zh-CN" dirty="0" smtClean="0"/>
              <a:t>S</a:t>
            </a:r>
            <a:r>
              <a:rPr lang="zh-CN" altLang="en-US" dirty="0" smtClean="0"/>
              <a:t>与定义在其上的拟序</a:t>
            </a:r>
            <a:r>
              <a:rPr lang="en-US" altLang="zh-CN" dirty="0" smtClean="0"/>
              <a:t>R</a:t>
            </a:r>
            <a:r>
              <a:rPr lang="zh-CN" altLang="en-US" smtClean="0"/>
              <a:t>一起称为拟序</a:t>
            </a:r>
            <a:r>
              <a:rPr lang="zh-CN" altLang="en-US" dirty="0" smtClean="0"/>
              <a:t>集</a:t>
            </a:r>
            <a:r>
              <a:rPr lang="en-US" altLang="zh-CN" dirty="0" smtClean="0"/>
              <a:t>, </a:t>
            </a:r>
            <a:r>
              <a:rPr lang="zh-CN" altLang="en-US" dirty="0" smtClean="0"/>
              <a:t>记作</a:t>
            </a:r>
            <a:r>
              <a:rPr lang="en-US" altLang="zh-CN" dirty="0" smtClean="0"/>
              <a:t> </a:t>
            </a:r>
            <a:r>
              <a:rPr lang="en-US" dirty="0" smtClean="0"/>
              <a:t>(S, R). </a:t>
            </a:r>
            <a:r>
              <a:rPr lang="zh-CN" altLang="en-US" dirty="0" smtClean="0"/>
              <a:t>集合</a:t>
            </a:r>
            <a:r>
              <a:rPr lang="en-US" altLang="zh-CN" dirty="0" smtClean="0"/>
              <a:t>S</a:t>
            </a:r>
            <a:r>
              <a:rPr lang="zh-CN" altLang="en-US" dirty="0" smtClean="0"/>
              <a:t>中的成员称为拟序集的元素</a:t>
            </a:r>
            <a:r>
              <a:rPr lang="en-US" altLang="zh-CN" dirty="0" smtClean="0"/>
              <a:t>.</a:t>
            </a:r>
          </a:p>
        </p:txBody>
      </p:sp>
      <p:sp>
        <p:nvSpPr>
          <p:cNvPr id="6" name="日期占位符 5"/>
          <p:cNvSpPr>
            <a:spLocks noGrp="1"/>
          </p:cNvSpPr>
          <p:nvPr>
            <p:ph type="dt" sz="half" idx="10"/>
          </p:nvPr>
        </p:nvSpPr>
        <p:spPr/>
        <p:txBody>
          <a:bodyPr/>
          <a:lstStyle/>
          <a:p>
            <a:fld id="{513E46A7-A42E-4E93-9D8C-307F7583786D}" type="datetime1">
              <a:rPr lang="zh-CN" altLang="en-US" smtClean="0"/>
              <a:t>2025/3/14</a:t>
            </a:fld>
            <a:endParaRPr lang="zh-CN" altLang="en-US" dirty="0"/>
          </a:p>
        </p:txBody>
      </p:sp>
      <p:sp>
        <p:nvSpPr>
          <p:cNvPr id="7" name="页脚占位符 6"/>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8" name="灯片编号占位符 7"/>
          <p:cNvSpPr>
            <a:spLocks noGrp="1"/>
          </p:cNvSpPr>
          <p:nvPr>
            <p:ph type="sldNum" sz="quarter" idx="12"/>
          </p:nvPr>
        </p:nvSpPr>
        <p:spPr/>
        <p:txBody>
          <a:bodyPr/>
          <a:lstStyle/>
          <a:p>
            <a:fld id="{67913A8A-9EFB-4B5F-9CCB-3D21173FAA85}" type="slidenum">
              <a:rPr lang="zh-CN" altLang="en-US" smtClean="0"/>
              <a:pPr/>
              <a:t>108</a:t>
            </a:fld>
            <a:endParaRPr lang="zh-CN" altLang="en-US" dirty="0"/>
          </a:p>
        </p:txBody>
      </p:sp>
    </p:spTree>
    <p:extLst>
      <p:ext uri="{BB962C8B-B14F-4D97-AF65-F5344CB8AC3E}">
        <p14:creationId xmlns:p14="http://schemas.microsoft.com/office/powerpoint/2010/main" val="2588568726"/>
      </p:ext>
    </p:extLst>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拟</a:t>
            </a:r>
            <a:r>
              <a:rPr lang="zh-CN" altLang="en-US" dirty="0" smtClean="0"/>
              <a:t>序</a:t>
            </a:r>
            <a:endParaRPr lang="en-US" dirty="0"/>
          </a:p>
        </p:txBody>
      </p:sp>
      <p:sp>
        <p:nvSpPr>
          <p:cNvPr id="3" name="Content Placeholder 2"/>
          <p:cNvSpPr>
            <a:spLocks noGrp="1"/>
          </p:cNvSpPr>
          <p:nvPr>
            <p:ph idx="1"/>
          </p:nvPr>
        </p:nvSpPr>
        <p:spPr/>
        <p:txBody>
          <a:bodyPr/>
          <a:lstStyle/>
          <a:p>
            <a:r>
              <a:rPr lang="zh-CN" altLang="en-US" dirty="0" smtClean="0"/>
              <a:t>例</a:t>
            </a:r>
            <a:r>
              <a:rPr lang="en-US" dirty="0" smtClean="0"/>
              <a:t>: </a:t>
            </a:r>
            <a:r>
              <a:rPr lang="zh-CN" altLang="en-US" dirty="0" smtClean="0"/>
              <a:t>证明</a:t>
            </a:r>
            <a:r>
              <a:rPr lang="en-US" dirty="0" smtClean="0"/>
              <a:t>“</a:t>
            </a:r>
            <a:r>
              <a:rPr lang="zh-CN" altLang="en-US" dirty="0"/>
              <a:t>小于</a:t>
            </a:r>
            <a:r>
              <a:rPr lang="en-US" dirty="0" smtClean="0"/>
              <a:t>”</a:t>
            </a:r>
            <a:r>
              <a:rPr lang="zh-CN" altLang="en-US" dirty="0" smtClean="0"/>
              <a:t>关系</a:t>
            </a:r>
            <a:r>
              <a:rPr lang="en-US" altLang="zh-CN" dirty="0" smtClean="0"/>
              <a:t>R</a:t>
            </a:r>
            <a:r>
              <a:rPr lang="en-US" dirty="0" smtClean="0"/>
              <a:t>(&lt;) </a:t>
            </a:r>
            <a:r>
              <a:rPr lang="zh-CN" altLang="en-US" dirty="0" smtClean="0"/>
              <a:t>是整数集合上的</a:t>
            </a:r>
            <a:r>
              <a:rPr lang="zh-CN" altLang="en-US" dirty="0"/>
              <a:t>拟</a:t>
            </a:r>
            <a:r>
              <a:rPr lang="zh-CN" altLang="en-US" dirty="0" smtClean="0"/>
              <a:t>序</a:t>
            </a:r>
            <a:r>
              <a:rPr lang="en-US" altLang="zh-CN" dirty="0" smtClean="0"/>
              <a:t>.</a:t>
            </a:r>
          </a:p>
          <a:p>
            <a:r>
              <a:rPr lang="zh-CN" altLang="en-US" dirty="0" smtClean="0"/>
              <a:t>解</a:t>
            </a:r>
            <a:r>
              <a:rPr lang="en-US" altLang="zh-CN" dirty="0" smtClean="0"/>
              <a:t>:</a:t>
            </a:r>
            <a:endParaRPr lang="en-US" dirty="0" smtClean="0"/>
          </a:p>
          <a:p>
            <a:pPr lvl="1"/>
            <a:r>
              <a:rPr lang="zh-CN" altLang="en-US" b="1" dirty="0" smtClean="0"/>
              <a:t>反自反性</a:t>
            </a:r>
            <a:r>
              <a:rPr lang="en-US" dirty="0" smtClean="0"/>
              <a:t>:  </a:t>
            </a:r>
            <a:r>
              <a:rPr lang="zh-CN" altLang="en-US" dirty="0" smtClean="0"/>
              <a:t>对于所有整数</a:t>
            </a:r>
            <a:r>
              <a:rPr lang="en-US" altLang="zh-CN" dirty="0" smtClean="0"/>
              <a:t>a</a:t>
            </a:r>
            <a:r>
              <a:rPr lang="zh-CN" altLang="en-US" dirty="0" smtClean="0"/>
              <a:t>都没有</a:t>
            </a:r>
            <a:r>
              <a:rPr lang="en-US" dirty="0" smtClean="0"/>
              <a:t>a &lt; a</a:t>
            </a:r>
            <a:r>
              <a:rPr lang="en-US" altLang="zh-CN" dirty="0" smtClean="0"/>
              <a:t>, </a:t>
            </a:r>
            <a:r>
              <a:rPr lang="zh-CN" altLang="en-US" dirty="0" smtClean="0"/>
              <a:t>所以</a:t>
            </a:r>
            <a:r>
              <a:rPr lang="en-US" altLang="zh-CN" dirty="0" smtClean="0"/>
              <a:t>R</a:t>
            </a:r>
            <a:r>
              <a:rPr lang="zh-CN" altLang="en-US" dirty="0" smtClean="0"/>
              <a:t>是</a:t>
            </a:r>
            <a:r>
              <a:rPr lang="zh-CN" altLang="en-US" dirty="0"/>
              <a:t>反</a:t>
            </a:r>
            <a:r>
              <a:rPr lang="zh-CN" altLang="en-US" dirty="0" smtClean="0"/>
              <a:t>自反的</a:t>
            </a:r>
            <a:r>
              <a:rPr lang="en-US" dirty="0" smtClean="0"/>
              <a:t>.</a:t>
            </a:r>
          </a:p>
          <a:p>
            <a:pPr lvl="1"/>
            <a:r>
              <a:rPr lang="zh-CN" altLang="en-US" b="1" dirty="0" smtClean="0"/>
              <a:t>反对称性</a:t>
            </a:r>
            <a:r>
              <a:rPr lang="en-US" dirty="0" smtClean="0"/>
              <a:t>: </a:t>
            </a:r>
            <a:r>
              <a:rPr lang="zh-CN" altLang="en-US" dirty="0" smtClean="0"/>
              <a:t>如果</a:t>
            </a:r>
            <a:r>
              <a:rPr lang="en-US" dirty="0" smtClean="0"/>
              <a:t> a &lt; b</a:t>
            </a:r>
            <a:r>
              <a:rPr lang="zh-CN" altLang="en-US" dirty="0"/>
              <a:t>或</a:t>
            </a:r>
            <a:r>
              <a:rPr lang="en-US" altLang="zh-CN" dirty="0" smtClean="0"/>
              <a:t> </a:t>
            </a:r>
            <a:r>
              <a:rPr lang="en-US" dirty="0" smtClean="0"/>
              <a:t>b &lt; a , </a:t>
            </a:r>
            <a:r>
              <a:rPr lang="zh-CN" altLang="en-US" dirty="0" smtClean="0"/>
              <a:t>不能同时成立</a:t>
            </a:r>
            <a:r>
              <a:rPr lang="en-US" altLang="zh-CN" dirty="0" smtClean="0"/>
              <a:t>, </a:t>
            </a:r>
            <a:r>
              <a:rPr lang="zh-CN" altLang="en-US" dirty="0" smtClean="0"/>
              <a:t>所以</a:t>
            </a:r>
            <a:r>
              <a:rPr lang="en-US" altLang="zh-CN" dirty="0" smtClean="0"/>
              <a:t>R</a:t>
            </a:r>
            <a:r>
              <a:rPr lang="zh-CN" altLang="en-US" dirty="0" smtClean="0"/>
              <a:t>是反对称的</a:t>
            </a:r>
            <a:r>
              <a:rPr lang="en-US" dirty="0" smtClean="0"/>
              <a:t>.</a:t>
            </a:r>
          </a:p>
          <a:p>
            <a:pPr lvl="1"/>
            <a:r>
              <a:rPr lang="zh-CN" altLang="en-US" b="1" dirty="0" smtClean="0"/>
              <a:t>传递性</a:t>
            </a:r>
            <a:r>
              <a:rPr lang="en-US" dirty="0" smtClean="0"/>
              <a:t>: </a:t>
            </a:r>
            <a:r>
              <a:rPr lang="zh-CN" altLang="en-US" dirty="0" smtClean="0"/>
              <a:t>如果</a:t>
            </a:r>
            <a:r>
              <a:rPr lang="en-US" dirty="0" smtClean="0"/>
              <a:t> a </a:t>
            </a:r>
            <a:r>
              <a:rPr lang="en-US" dirty="0"/>
              <a:t>&lt;</a:t>
            </a:r>
            <a:r>
              <a:rPr lang="en-US" dirty="0" smtClean="0"/>
              <a:t> b</a:t>
            </a:r>
            <a:r>
              <a:rPr lang="en-US" altLang="zh-CN" dirty="0" smtClean="0"/>
              <a:t>, </a:t>
            </a:r>
            <a:r>
              <a:rPr lang="en-US" dirty="0" smtClean="0"/>
              <a:t>b </a:t>
            </a:r>
            <a:r>
              <a:rPr lang="en-US" dirty="0"/>
              <a:t>&lt;</a:t>
            </a:r>
            <a:r>
              <a:rPr lang="en-US" dirty="0" smtClean="0"/>
              <a:t>c , </a:t>
            </a:r>
            <a:r>
              <a:rPr lang="zh-CN" altLang="en-US" dirty="0" smtClean="0"/>
              <a:t>那么</a:t>
            </a:r>
            <a:r>
              <a:rPr lang="en-US" dirty="0" smtClean="0"/>
              <a:t> a &lt; c</a:t>
            </a:r>
            <a:r>
              <a:rPr lang="en-US" altLang="zh-CN" dirty="0" smtClean="0"/>
              <a:t>, </a:t>
            </a:r>
            <a:r>
              <a:rPr lang="zh-CN" altLang="en-US" dirty="0" smtClean="0"/>
              <a:t>所以</a:t>
            </a:r>
            <a:r>
              <a:rPr lang="en-US" altLang="zh-CN" dirty="0" smtClean="0"/>
              <a:t>R</a:t>
            </a:r>
            <a:r>
              <a:rPr lang="zh-CN" altLang="en-US" dirty="0" smtClean="0"/>
              <a:t>是传递的</a:t>
            </a:r>
            <a:r>
              <a:rPr lang="en-US" dirty="0" smtClean="0"/>
              <a:t>.</a:t>
            </a:r>
          </a:p>
          <a:p>
            <a:pPr lvl="1"/>
            <a:r>
              <a:rPr lang="zh-CN" altLang="en-US" dirty="0" smtClean="0"/>
              <a:t>综上所述</a:t>
            </a:r>
            <a:r>
              <a:rPr lang="en-US" altLang="zh-CN" dirty="0" smtClean="0"/>
              <a:t>, </a:t>
            </a:r>
            <a:r>
              <a:rPr lang="zh-CN" altLang="en-US" dirty="0" smtClean="0"/>
              <a:t>小于关系</a:t>
            </a:r>
            <a:r>
              <a:rPr lang="en-US" altLang="zh-CN" dirty="0" smtClean="0"/>
              <a:t>R</a:t>
            </a:r>
            <a:r>
              <a:rPr lang="zh-CN" altLang="en-US" dirty="0" smtClean="0"/>
              <a:t>是整数集合上的拟序</a:t>
            </a:r>
            <a:r>
              <a:rPr lang="en-US" altLang="zh-CN" dirty="0"/>
              <a:t>.</a:t>
            </a:r>
            <a:endParaRPr lang="en-US" dirty="0" smtClean="0"/>
          </a:p>
          <a:p>
            <a:pPr lvl="1"/>
            <a:endParaRPr lang="en-US" dirty="0" smtClean="0"/>
          </a:p>
          <a:p>
            <a:pPr lvl="1"/>
            <a:endParaRPr lang="en-US" dirty="0"/>
          </a:p>
        </p:txBody>
      </p:sp>
      <p:sp>
        <p:nvSpPr>
          <p:cNvPr id="7" name="日期占位符 6"/>
          <p:cNvSpPr>
            <a:spLocks noGrp="1"/>
          </p:cNvSpPr>
          <p:nvPr>
            <p:ph type="dt" sz="half" idx="10"/>
          </p:nvPr>
        </p:nvSpPr>
        <p:spPr/>
        <p:txBody>
          <a:bodyPr/>
          <a:lstStyle/>
          <a:p>
            <a:fld id="{0AD69452-13FA-4CE3-9565-6322E3A7AE9A}" type="datetime1">
              <a:rPr lang="zh-CN" altLang="en-US" smtClean="0"/>
              <a:t>2025/3/14</a:t>
            </a:fld>
            <a:endParaRPr lang="zh-CN" altLang="en-US" dirty="0"/>
          </a:p>
        </p:txBody>
      </p:sp>
      <p:sp>
        <p:nvSpPr>
          <p:cNvPr id="8" name="页脚占位符 7"/>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9" name="灯片编号占位符 8"/>
          <p:cNvSpPr>
            <a:spLocks noGrp="1"/>
          </p:cNvSpPr>
          <p:nvPr>
            <p:ph type="sldNum" sz="quarter" idx="12"/>
          </p:nvPr>
        </p:nvSpPr>
        <p:spPr/>
        <p:txBody>
          <a:bodyPr/>
          <a:lstStyle/>
          <a:p>
            <a:fld id="{67913A8A-9EFB-4B5F-9CCB-3D21173FAA85}" type="slidenum">
              <a:rPr lang="zh-CN" altLang="en-US" smtClean="0"/>
              <a:pPr/>
              <a:t>109</a:t>
            </a:fld>
            <a:endParaRPr lang="zh-CN" altLang="en-US" dirty="0"/>
          </a:p>
        </p:txBody>
      </p:sp>
    </p:spTree>
    <p:extLst>
      <p:ext uri="{BB962C8B-B14F-4D97-AF65-F5344CB8AC3E}">
        <p14:creationId xmlns:p14="http://schemas.microsoft.com/office/powerpoint/2010/main" val="22219530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wipe(down)">
                                      <p:cBhvr>
                                        <p:cTn id="7" dur="500"/>
                                        <p:tgtEl>
                                          <p:spTgt spid="3">
                                            <p:txEl>
                                              <p:pRg st="1" end="1"/>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wipe(down)">
                                      <p:cBhvr>
                                        <p:cTn id="10" dur="500"/>
                                        <p:tgtEl>
                                          <p:spTgt spid="3">
                                            <p:txEl>
                                              <p:pRg st="2" end="2"/>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wipe(down)">
                                      <p:cBhvr>
                                        <p:cTn id="13" dur="500"/>
                                        <p:tgtEl>
                                          <p:spTgt spid="3">
                                            <p:txEl>
                                              <p:pRg st="3" end="3"/>
                                            </p:txEl>
                                          </p:spTgt>
                                        </p:tgtEl>
                                      </p:cBhvr>
                                    </p:animEffect>
                                  </p:childTnLst>
                                </p:cTn>
                              </p:par>
                              <p:par>
                                <p:cTn id="14" presetID="22" presetClass="entr" presetSubtype="4" fill="hold" nodeType="withEffect">
                                  <p:stCondLst>
                                    <p:cond delay="0"/>
                                  </p:stCondLst>
                                  <p:childTnLst>
                                    <p:set>
                                      <p:cBhvr>
                                        <p:cTn id="15" dur="1" fill="hold">
                                          <p:stCondLst>
                                            <p:cond delay="0"/>
                                          </p:stCondLst>
                                        </p:cTn>
                                        <p:tgtEl>
                                          <p:spTgt spid="3">
                                            <p:txEl>
                                              <p:pRg st="4" end="4"/>
                                            </p:txEl>
                                          </p:spTgt>
                                        </p:tgtEl>
                                        <p:attrNameLst>
                                          <p:attrName>style.visibility</p:attrName>
                                        </p:attrNameLst>
                                      </p:cBhvr>
                                      <p:to>
                                        <p:strVal val="visible"/>
                                      </p:to>
                                    </p:set>
                                    <p:animEffect transition="in" filter="wipe(down)">
                                      <p:cBhvr>
                                        <p:cTn id="16" dur="500"/>
                                        <p:tgtEl>
                                          <p:spTgt spid="3">
                                            <p:txEl>
                                              <p:pRg st="4" end="4"/>
                                            </p:txEl>
                                          </p:spTgt>
                                        </p:tgtEl>
                                      </p:cBhvr>
                                    </p:animEffect>
                                  </p:childTnLst>
                                </p:cTn>
                              </p:par>
                              <p:par>
                                <p:cTn id="17" presetID="22" presetClass="entr" presetSubtype="4"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animEffect transition="in" filter="wipe(down)">
                                      <p:cBhvr>
                                        <p:cTn id="19"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拟</a:t>
            </a:r>
            <a:r>
              <a:rPr lang="zh-CN" altLang="en-US" dirty="0" smtClean="0"/>
              <a:t>序</a:t>
            </a:r>
            <a:endParaRPr lang="en-US" dirty="0"/>
          </a:p>
        </p:txBody>
      </p:sp>
      <p:sp>
        <p:nvSpPr>
          <p:cNvPr id="3" name="Content Placeholder 2"/>
          <p:cNvSpPr>
            <a:spLocks noGrp="1"/>
          </p:cNvSpPr>
          <p:nvPr>
            <p:ph idx="1"/>
          </p:nvPr>
        </p:nvSpPr>
        <p:spPr>
          <a:xfrm>
            <a:off x="457200" y="1122846"/>
            <a:ext cx="10987316" cy="5121481"/>
          </a:xfrm>
        </p:spPr>
        <p:txBody>
          <a:bodyPr/>
          <a:lstStyle/>
          <a:p>
            <a:r>
              <a:rPr lang="zh-CN" altLang="en-US" dirty="0" smtClean="0"/>
              <a:t>定理</a:t>
            </a:r>
            <a:r>
              <a:rPr lang="en-US" dirty="0" smtClean="0"/>
              <a:t>:</a:t>
            </a:r>
            <a:r>
              <a:rPr lang="zh-CN" altLang="en-US" dirty="0"/>
              <a:t>设</a:t>
            </a:r>
            <a:r>
              <a:rPr lang="en-US" altLang="zh-CN" dirty="0"/>
              <a:t>R</a:t>
            </a:r>
            <a:r>
              <a:rPr lang="zh-CN" altLang="en-US" dirty="0"/>
              <a:t>是集合</a:t>
            </a:r>
            <a:r>
              <a:rPr lang="en-US" altLang="zh-CN" dirty="0"/>
              <a:t>A</a:t>
            </a:r>
            <a:r>
              <a:rPr lang="zh-CN" altLang="en-US" dirty="0"/>
              <a:t>上的拟序关系，则</a:t>
            </a:r>
            <a:r>
              <a:rPr lang="en-US" altLang="zh-CN" dirty="0"/>
              <a:t>R</a:t>
            </a:r>
            <a:r>
              <a:rPr lang="zh-CN" altLang="en-US" dirty="0"/>
              <a:t>是反对称性</a:t>
            </a:r>
            <a:r>
              <a:rPr lang="en-US" altLang="zh-CN" dirty="0" smtClean="0"/>
              <a:t>.</a:t>
            </a:r>
          </a:p>
          <a:p>
            <a:r>
              <a:rPr lang="zh-CN" altLang="en-US" dirty="0"/>
              <a:t>证明</a:t>
            </a:r>
            <a:r>
              <a:rPr lang="en-US" altLang="zh-CN" dirty="0" smtClean="0"/>
              <a:t>:</a:t>
            </a:r>
            <a:endParaRPr lang="en-US" dirty="0" smtClean="0"/>
          </a:p>
          <a:p>
            <a:pPr lvl="1">
              <a:lnSpc>
                <a:spcPct val="150000"/>
              </a:lnSpc>
            </a:pPr>
            <a:r>
              <a:rPr lang="zh-CN" altLang="en-US" dirty="0"/>
              <a:t>设</a:t>
            </a:r>
            <a:r>
              <a:rPr lang="en-US" altLang="zh-CN" dirty="0"/>
              <a:t>R</a:t>
            </a:r>
            <a:r>
              <a:rPr lang="zh-CN" altLang="en-US" dirty="0"/>
              <a:t>不是反对称的，则至少存在两个</a:t>
            </a:r>
            <a:r>
              <a:rPr lang="zh-CN" altLang="en-US" dirty="0" smtClean="0"/>
              <a:t>元素</a:t>
            </a:r>
            <a:r>
              <a:rPr lang="en-US" altLang="zh-CN" dirty="0" smtClean="0"/>
              <a:t>x</a:t>
            </a:r>
            <a:r>
              <a:rPr lang="zh-CN" altLang="en-US" dirty="0" smtClean="0"/>
              <a:t>和</a:t>
            </a:r>
            <a:r>
              <a:rPr lang="en-US" altLang="zh-CN" dirty="0" smtClean="0"/>
              <a:t>y</a:t>
            </a:r>
            <a:r>
              <a:rPr lang="zh-CN" altLang="en-US" dirty="0" smtClean="0"/>
              <a:t>属于</a:t>
            </a:r>
            <a:r>
              <a:rPr lang="en-US" altLang="zh-CN" dirty="0" smtClean="0"/>
              <a:t>A</a:t>
            </a:r>
            <a:r>
              <a:rPr lang="zh-CN" altLang="en-US" dirty="0" smtClean="0"/>
              <a:t>，且</a:t>
            </a:r>
            <a:r>
              <a:rPr lang="en-US" altLang="zh-CN" dirty="0" smtClean="0"/>
              <a:t>x</a:t>
            </a:r>
            <a:r>
              <a:rPr lang="zh-CN" altLang="en-US" dirty="0" smtClean="0"/>
              <a:t>与</a:t>
            </a:r>
            <a:r>
              <a:rPr lang="en-US" altLang="zh-CN" dirty="0" smtClean="0"/>
              <a:t>y</a:t>
            </a:r>
            <a:r>
              <a:rPr lang="zh-CN" altLang="en-US" dirty="0" smtClean="0"/>
              <a:t>不相等，使得（</a:t>
            </a:r>
            <a:r>
              <a:rPr lang="en-US" altLang="zh-CN" dirty="0" err="1" smtClean="0"/>
              <a:t>x,y</a:t>
            </a:r>
            <a:r>
              <a:rPr lang="zh-CN" altLang="en-US" dirty="0" smtClean="0"/>
              <a:t>）和（</a:t>
            </a:r>
            <a:r>
              <a:rPr lang="en-US" altLang="zh-CN" dirty="0" err="1" smtClean="0"/>
              <a:t>y,x</a:t>
            </a:r>
            <a:r>
              <a:rPr lang="zh-CN" altLang="en-US" dirty="0" smtClean="0"/>
              <a:t>）属于</a:t>
            </a:r>
            <a:r>
              <a:rPr lang="en-US" altLang="zh-CN" dirty="0" smtClean="0"/>
              <a:t>R</a:t>
            </a:r>
            <a:r>
              <a:rPr lang="zh-CN" altLang="en-US" dirty="0" smtClean="0"/>
              <a:t>，</a:t>
            </a:r>
            <a:r>
              <a:rPr lang="en-US" altLang="zh-CN" dirty="0" smtClean="0"/>
              <a:t>R</a:t>
            </a:r>
            <a:r>
              <a:rPr lang="zh-CN" altLang="en-US" dirty="0" smtClean="0"/>
              <a:t>拟序，具有传递性，所以（</a:t>
            </a:r>
            <a:r>
              <a:rPr lang="en-US" altLang="zh-CN" dirty="0" err="1" smtClean="0"/>
              <a:t>x,x</a:t>
            </a:r>
            <a:r>
              <a:rPr lang="zh-CN" altLang="en-US" dirty="0" smtClean="0"/>
              <a:t>）属于</a:t>
            </a:r>
            <a:r>
              <a:rPr lang="en-US" altLang="zh-CN" dirty="0" smtClean="0"/>
              <a:t>R, </a:t>
            </a:r>
            <a:r>
              <a:rPr lang="zh-CN" altLang="en-US" dirty="0" smtClean="0"/>
              <a:t>所以</a:t>
            </a:r>
            <a:r>
              <a:rPr lang="zh-CN" altLang="en-US" dirty="0"/>
              <a:t>这与</a:t>
            </a:r>
            <a:r>
              <a:rPr lang="en-US" altLang="zh-CN" dirty="0"/>
              <a:t>R</a:t>
            </a:r>
            <a:r>
              <a:rPr lang="zh-CN" altLang="en-US" dirty="0"/>
              <a:t>是反自反的特性相矛盾，因此</a:t>
            </a:r>
            <a:r>
              <a:rPr lang="en-US" altLang="zh-CN" dirty="0"/>
              <a:t>R</a:t>
            </a:r>
            <a:r>
              <a:rPr lang="zh-CN" altLang="en-US" dirty="0"/>
              <a:t>具有反对称性</a:t>
            </a:r>
            <a:endParaRPr lang="en-US" dirty="0" smtClean="0"/>
          </a:p>
          <a:p>
            <a:pPr lvl="1"/>
            <a:endParaRPr lang="en-US" dirty="0"/>
          </a:p>
        </p:txBody>
      </p:sp>
      <p:sp>
        <p:nvSpPr>
          <p:cNvPr id="7" name="日期占位符 6"/>
          <p:cNvSpPr>
            <a:spLocks noGrp="1"/>
          </p:cNvSpPr>
          <p:nvPr>
            <p:ph type="dt" sz="half" idx="10"/>
          </p:nvPr>
        </p:nvSpPr>
        <p:spPr/>
        <p:txBody>
          <a:bodyPr/>
          <a:lstStyle/>
          <a:p>
            <a:fld id="{0AD69452-13FA-4CE3-9565-6322E3A7AE9A}" type="datetime1">
              <a:rPr lang="zh-CN" altLang="en-US" smtClean="0"/>
              <a:t>2025/3/14</a:t>
            </a:fld>
            <a:endParaRPr lang="zh-CN" altLang="en-US" dirty="0"/>
          </a:p>
        </p:txBody>
      </p:sp>
      <p:sp>
        <p:nvSpPr>
          <p:cNvPr id="8" name="页脚占位符 7"/>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9" name="灯片编号占位符 8"/>
          <p:cNvSpPr>
            <a:spLocks noGrp="1"/>
          </p:cNvSpPr>
          <p:nvPr>
            <p:ph type="sldNum" sz="quarter" idx="12"/>
          </p:nvPr>
        </p:nvSpPr>
        <p:spPr/>
        <p:txBody>
          <a:bodyPr/>
          <a:lstStyle/>
          <a:p>
            <a:fld id="{67913A8A-9EFB-4B5F-9CCB-3D21173FAA85}" type="slidenum">
              <a:rPr lang="zh-CN" altLang="en-US" smtClean="0"/>
              <a:pPr/>
              <a:t>110</a:t>
            </a:fld>
            <a:endParaRPr lang="zh-CN" altLang="en-US" dirty="0"/>
          </a:p>
        </p:txBody>
      </p:sp>
      <p:sp>
        <p:nvSpPr>
          <p:cNvPr id="4" name="Rectangle 1"/>
          <p:cNvSpPr>
            <a:spLocks noChangeArrowheads="1"/>
          </p:cNvSpPr>
          <p:nvPr/>
        </p:nvSpPr>
        <p:spPr bwMode="auto">
          <a:xfrm>
            <a:off x="-200025" y="126713"/>
            <a:ext cx="320601" cy="22600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71415" numCol="1" anchor="ctr" anchorCtr="0" compatLnSpc="1">
            <a:prstTxWarp prst="textNoShape">
              <a:avLst/>
            </a:prstTxWarp>
            <a:spAutoFit/>
          </a:bodyPr>
          <a:lstStyle>
            <a:lvl1pPr indent="31750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317500" algn="l" defTabSz="914400" rtl="0" eaLnBrk="0" fontAlgn="base" latinLnBrk="0" hangingPunct="0">
              <a:lnSpc>
                <a:spcPct val="100000"/>
              </a:lnSpc>
              <a:spcBef>
                <a:spcPct val="0"/>
              </a:spcBef>
              <a:spcAft>
                <a:spcPct val="0"/>
              </a:spcAft>
              <a:buClrTx/>
              <a:buSzTx/>
              <a:buFontTx/>
              <a:buNone/>
              <a:tabLst/>
            </a:pPr>
            <a:endParaRPr kumimoji="0" lang="zh-CN" sz="1000" b="0" i="0" u="none" strike="noStrike" cap="none" normalizeH="0" baseline="0" dirty="0" smtClean="0">
              <a:ln>
                <a:noFill/>
              </a:ln>
              <a:solidFill>
                <a:srgbClr val="333333"/>
              </a:solidFill>
              <a:effectLst/>
              <a:latin typeface="Arial" panose="020B0604020202020204" pitchFamily="34" charset="0"/>
              <a:ea typeface="Helvetica Neue"/>
            </a:endParaRPr>
          </a:p>
        </p:txBody>
      </p:sp>
      <p:sp>
        <p:nvSpPr>
          <p:cNvPr id="5" name="AutoShape 2" descr="https://bkimg.cdn.bcebos.com/formula/2f31a183c6ee51106a325666b393f9b2.svg"/>
          <p:cNvSpPr>
            <a:spLocks noChangeAspect="1" noChangeArrowheads="1"/>
          </p:cNvSpPr>
          <p:nvPr/>
        </p:nvSpPr>
        <p:spPr bwMode="auto">
          <a:xfrm>
            <a:off x="152400" y="-3048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6" name="AutoShape 3" descr="https://bkimg.cdn.bcebos.com/formula/8a37e07f244cc3cae3de9a75e0654055.svg"/>
          <p:cNvSpPr>
            <a:spLocks noChangeAspect="1" noChangeArrowheads="1"/>
          </p:cNvSpPr>
          <p:nvPr/>
        </p:nvSpPr>
        <p:spPr bwMode="auto">
          <a:xfrm>
            <a:off x="152400" y="136525"/>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0" name="AutoShape 4" descr="https://bkimg.cdn.bcebos.com/formula/d3f05fb349e93ff2c39753e6dc3ccd70.svg"/>
          <p:cNvSpPr>
            <a:spLocks noChangeAspect="1" noChangeArrowheads="1"/>
          </p:cNvSpPr>
          <p:nvPr/>
        </p:nvSpPr>
        <p:spPr bwMode="auto">
          <a:xfrm>
            <a:off x="152400" y="577851"/>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Tree>
    <p:extLst>
      <p:ext uri="{BB962C8B-B14F-4D97-AF65-F5344CB8AC3E}">
        <p14:creationId xmlns:p14="http://schemas.microsoft.com/office/powerpoint/2010/main" val="34532698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wipe(down)">
                                      <p:cBhvr>
                                        <p:cTn id="7"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p:cNvSpPr/>
          <p:nvPr/>
        </p:nvSpPr>
        <p:spPr>
          <a:xfrm>
            <a:off x="457200" y="3266859"/>
            <a:ext cx="11277599" cy="1228941"/>
          </a:xfrm>
          <a:prstGeom prst="rect">
            <a:avLst/>
          </a:prstGeom>
          <a:solidFill>
            <a:schemeClr val="accent5">
              <a:lumMod val="40000"/>
              <a:lumOff val="6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itle 1"/>
          <p:cNvSpPr>
            <a:spLocks noGrp="1"/>
          </p:cNvSpPr>
          <p:nvPr>
            <p:ph type="title"/>
          </p:nvPr>
        </p:nvSpPr>
        <p:spPr/>
        <p:txBody>
          <a:bodyPr/>
          <a:lstStyle/>
          <a:p>
            <a:r>
              <a:rPr lang="zh-CN" altLang="en-US" dirty="0"/>
              <a:t>可比</a:t>
            </a:r>
            <a:r>
              <a:rPr lang="zh-CN" altLang="en-US" dirty="0" smtClean="0"/>
              <a:t>性</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lnSpcReduction="10000"/>
              </a:bodyPr>
              <a:lstStyle/>
              <a:p>
                <a:r>
                  <a:rPr lang="zh-CN" altLang="en-US" dirty="0" smtClean="0"/>
                  <a:t>符号</a:t>
                </a:r>
                <a:r>
                  <a:rPr lang="en-US" altLang="zh-CN" dirty="0" smtClean="0"/>
                  <a:t>≼</a:t>
                </a:r>
                <a:r>
                  <a:rPr lang="zh-CN" altLang="en-US" dirty="0" smtClean="0"/>
                  <a:t>用来表示任意偏序中的关系</a:t>
                </a:r>
                <a:r>
                  <a:rPr lang="en-US" altLang="zh-CN" dirty="0" smtClean="0"/>
                  <a:t>, </a:t>
                </a:r>
                <a:r>
                  <a:rPr lang="zh-CN" altLang="en-US" dirty="0" smtClean="0"/>
                  <a:t>例如小于等于</a:t>
                </a:r>
                <a:r>
                  <a:rPr lang="en-US" altLang="zh-CN" dirty="0" smtClean="0"/>
                  <a:t>, </a:t>
                </a:r>
                <a:r>
                  <a:rPr lang="zh-CN" altLang="en-US" dirty="0" smtClean="0"/>
                  <a:t>或者整除等</a:t>
                </a:r>
                <a:r>
                  <a:rPr lang="en-US" altLang="zh-CN" dirty="0" smtClean="0"/>
                  <a:t>. </a:t>
                </a:r>
                <a:r>
                  <a:rPr lang="zh-CN" altLang="en-US" dirty="0" smtClean="0"/>
                  <a:t>通常在偏序集</a:t>
                </a:r>
                <a:r>
                  <a:rPr lang="en-US" altLang="zh-CN" dirty="0" smtClean="0"/>
                  <a:t>(S,R)</a:t>
                </a:r>
                <a:r>
                  <a:rPr lang="zh-CN" altLang="en-US" dirty="0" smtClean="0"/>
                  <a:t>中</a:t>
                </a:r>
                <a:r>
                  <a:rPr lang="en-US" altLang="zh-CN" dirty="0" smtClean="0"/>
                  <a:t>, </a:t>
                </a:r>
                <a:r>
                  <a:rPr lang="zh-CN" altLang="en-US" dirty="0" smtClean="0"/>
                  <a:t>记号</a:t>
                </a:r>
                <a:r>
                  <a:rPr lang="en-US" altLang="zh-CN" dirty="0" err="1"/>
                  <a:t>a≼</a:t>
                </a:r>
                <a:r>
                  <a:rPr lang="en-US" altLang="zh-CN" dirty="0" err="1" smtClean="0"/>
                  <a:t>b</a:t>
                </a:r>
                <a:r>
                  <a:rPr lang="zh-CN" altLang="en-US" dirty="0" smtClean="0"/>
                  <a:t>表示</a:t>
                </a:r>
                <a:r>
                  <a:rPr lang="en-US" altLang="zh-CN" dirty="0" smtClean="0"/>
                  <a:t>(</a:t>
                </a:r>
                <a:r>
                  <a:rPr lang="en-US" altLang="zh-CN" dirty="0" err="1" smtClean="0"/>
                  <a:t>a,b</a:t>
                </a:r>
                <a:r>
                  <a:rPr lang="en-US" altLang="zh-CN" dirty="0" smtClean="0"/>
                  <a:t>)</a:t>
                </a:r>
                <a14:m>
                  <m:oMath xmlns:m="http://schemas.openxmlformats.org/officeDocument/2006/math">
                    <m:r>
                      <a:rPr lang="en-US" altLang="zh-CN"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𝑅</m:t>
                    </m:r>
                    <m:r>
                      <a:rPr lang="en-US" altLang="zh-CN" b="0" i="1" smtClean="0">
                        <a:latin typeface="Cambria Math" panose="02040503050406030204" pitchFamily="18" charset="0"/>
                        <a:ea typeface="Cambria Math" panose="02040503050406030204" pitchFamily="18" charset="0"/>
                      </a:rPr>
                      <m:t>. </m:t>
                    </m:r>
                  </m:oMath>
                </a14:m>
                <a:r>
                  <a:rPr lang="zh-CN" altLang="en-US" dirty="0" smtClean="0"/>
                  <a:t>注意当</a:t>
                </a:r>
                <a:r>
                  <a:rPr lang="en-US" altLang="zh-CN" dirty="0" smtClean="0"/>
                  <a:t>a</a:t>
                </a:r>
                <a:r>
                  <a:rPr lang="zh-CN" altLang="en-US" dirty="0" smtClean="0"/>
                  <a:t>和</a:t>
                </a:r>
                <a:r>
                  <a:rPr lang="en-US" altLang="zh-CN" dirty="0" smtClean="0"/>
                  <a:t>b</a:t>
                </a:r>
                <a:r>
                  <a:rPr lang="zh-CN" altLang="en-US" dirty="0" smtClean="0"/>
                  <a:t>是偏序集</a:t>
                </a:r>
                <a:r>
                  <a:rPr lang="en-US" altLang="zh-CN" dirty="0"/>
                  <a:t>(S,≼</a:t>
                </a:r>
                <a:r>
                  <a:rPr lang="en-US" altLang="zh-CN" dirty="0" smtClean="0"/>
                  <a:t>)</a:t>
                </a:r>
                <a:r>
                  <a:rPr lang="zh-CN" altLang="en-US" dirty="0" smtClean="0"/>
                  <a:t>的两个不同元素时</a:t>
                </a:r>
                <a:r>
                  <a:rPr lang="en-US" altLang="zh-CN" dirty="0" smtClean="0"/>
                  <a:t>, </a:t>
                </a:r>
                <a:r>
                  <a:rPr lang="zh-CN" altLang="en-US" dirty="0" smtClean="0"/>
                  <a:t>不一定有</a:t>
                </a:r>
                <a:r>
                  <a:rPr lang="en-US" altLang="zh-CN" dirty="0" err="1"/>
                  <a:t>a≼b</a:t>
                </a:r>
                <a:r>
                  <a:rPr lang="zh-CN" altLang="en-US" dirty="0"/>
                  <a:t>或者</a:t>
                </a:r>
                <a:r>
                  <a:rPr lang="en-US" altLang="zh-CN" dirty="0" err="1"/>
                  <a:t>b≼</a:t>
                </a:r>
                <a:r>
                  <a:rPr lang="en-US" altLang="zh-CN" dirty="0" err="1" smtClean="0"/>
                  <a:t>a</a:t>
                </a:r>
                <a:r>
                  <a:rPr lang="en-US" altLang="zh-CN" dirty="0" smtClean="0"/>
                  <a:t>. </a:t>
                </a:r>
                <a:r>
                  <a:rPr lang="zh-CN" altLang="en-US" dirty="0" smtClean="0"/>
                  <a:t>例如</a:t>
                </a:r>
                <a:r>
                  <a:rPr lang="en-US" altLang="zh-CN" dirty="0" smtClean="0"/>
                  <a:t>(</a:t>
                </a:r>
                <a14:m>
                  <m:oMath xmlns:m="http://schemas.openxmlformats.org/officeDocument/2006/math">
                    <m:sSup>
                      <m:sSupPr>
                        <m:ctrlPr>
                          <a:rPr lang="en-US" altLang="zh-CN" i="1" smtClean="0">
                            <a:latin typeface="Cambria Math" panose="02040503050406030204" pitchFamily="18" charset="0"/>
                          </a:rPr>
                        </m:ctrlPr>
                      </m:sSupPr>
                      <m:e>
                        <m:r>
                          <m:rPr>
                            <m:sty m:val="p"/>
                          </m:rPr>
                          <a:rPr lang="en-US" altLang="zh-CN" i="1">
                            <a:latin typeface="Cambria Math" panose="02040503050406030204" pitchFamily="18" charset="0"/>
                          </a:rPr>
                          <m:t>Z</m:t>
                        </m:r>
                      </m:e>
                      <m:sup>
                        <m:r>
                          <a:rPr lang="en-US" altLang="zh-CN" b="0" i="1" smtClean="0">
                            <a:latin typeface="Cambria Math" panose="02040503050406030204" pitchFamily="18" charset="0"/>
                          </a:rPr>
                          <m:t>+</m:t>
                        </m:r>
                      </m:sup>
                    </m:sSup>
                    <m:r>
                      <a:rPr lang="en-US" altLang="zh-CN" b="0" i="1" smtClean="0">
                        <a:latin typeface="Cambria Math" panose="02040503050406030204" pitchFamily="18" charset="0"/>
                      </a:rPr>
                      <m:t>,</m:t>
                    </m:r>
                  </m:oMath>
                </a14:m>
                <a:r>
                  <a:rPr lang="en-US" altLang="zh-CN" dirty="0" smtClean="0"/>
                  <a:t>|)</a:t>
                </a:r>
                <a:r>
                  <a:rPr lang="zh-CN" altLang="en-US" dirty="0" smtClean="0"/>
                  <a:t>中</a:t>
                </a:r>
                <a:r>
                  <a:rPr lang="en-US" altLang="zh-CN" dirty="0" smtClean="0"/>
                  <a:t>2</a:t>
                </a:r>
                <a:r>
                  <a:rPr lang="zh-CN" altLang="en-US" dirty="0" smtClean="0"/>
                  <a:t>与</a:t>
                </a:r>
                <a:r>
                  <a:rPr lang="en-US" altLang="zh-CN" dirty="0" smtClean="0"/>
                  <a:t>3</a:t>
                </a:r>
                <a:r>
                  <a:rPr lang="zh-CN" altLang="en-US" dirty="0" smtClean="0"/>
                  <a:t>没有关系</a:t>
                </a:r>
                <a:r>
                  <a:rPr lang="en-US" altLang="zh-CN" dirty="0" smtClean="0"/>
                  <a:t>, </a:t>
                </a:r>
                <a:r>
                  <a:rPr lang="zh-CN" altLang="en-US" dirty="0" smtClean="0"/>
                  <a:t>因为</a:t>
                </a:r>
                <a:r>
                  <a:rPr lang="en-US" altLang="zh-CN" dirty="0" smtClean="0"/>
                  <a:t>2</a:t>
                </a:r>
                <a:r>
                  <a:rPr lang="zh-CN" altLang="en-US" dirty="0" smtClean="0"/>
                  <a:t>不能整除</a:t>
                </a:r>
                <a:r>
                  <a:rPr lang="en-US" altLang="zh-CN" dirty="0" smtClean="0"/>
                  <a:t>3, 3</a:t>
                </a:r>
                <a:r>
                  <a:rPr lang="zh-CN" altLang="en-US" dirty="0" smtClean="0"/>
                  <a:t>也不能整除</a:t>
                </a:r>
                <a:r>
                  <a:rPr lang="en-US" altLang="zh-CN" dirty="0" smtClean="0"/>
                  <a:t>2.</a:t>
                </a:r>
              </a:p>
              <a:p>
                <a:endParaRPr lang="en-US" altLang="zh-CN" dirty="0"/>
              </a:p>
              <a:p>
                <a:r>
                  <a:rPr lang="zh-CN" altLang="en-US" dirty="0" smtClean="0"/>
                  <a:t>定义</a:t>
                </a:r>
                <a:r>
                  <a:rPr lang="en-US" dirty="0" smtClean="0"/>
                  <a:t>: </a:t>
                </a:r>
                <a:r>
                  <a:rPr lang="zh-CN" altLang="en-US" dirty="0" smtClean="0"/>
                  <a:t>偏序集</a:t>
                </a:r>
                <a:r>
                  <a:rPr lang="en-US" dirty="0" smtClean="0"/>
                  <a:t> (S,≼)</a:t>
                </a:r>
                <a:r>
                  <a:rPr lang="zh-CN" altLang="en-US" dirty="0" smtClean="0"/>
                  <a:t>中的元素</a:t>
                </a:r>
                <a:r>
                  <a:rPr lang="en-US" altLang="zh-CN" dirty="0" smtClean="0"/>
                  <a:t>a</a:t>
                </a:r>
                <a:r>
                  <a:rPr lang="zh-CN" altLang="en-US" dirty="0" smtClean="0"/>
                  <a:t>和</a:t>
                </a:r>
                <a:r>
                  <a:rPr lang="en-US" altLang="zh-CN" dirty="0" smtClean="0"/>
                  <a:t>b</a:t>
                </a:r>
                <a:r>
                  <a:rPr lang="zh-CN" altLang="en-US" dirty="0" smtClean="0"/>
                  <a:t>是</a:t>
                </a:r>
                <a:r>
                  <a:rPr lang="zh-CN" altLang="en-US" b="1" dirty="0" smtClean="0">
                    <a:solidFill>
                      <a:srgbClr val="C00000"/>
                    </a:solidFill>
                  </a:rPr>
                  <a:t>可比的</a:t>
                </a:r>
                <a:r>
                  <a:rPr lang="en-US" altLang="zh-CN" dirty="0" smtClean="0"/>
                  <a:t>, </a:t>
                </a:r>
                <a:r>
                  <a:rPr lang="zh-CN" altLang="en-US" dirty="0" smtClean="0"/>
                  <a:t>如果</a:t>
                </a:r>
                <a:r>
                  <a:rPr lang="en-US" dirty="0" err="1" smtClean="0"/>
                  <a:t>a≼b</a:t>
                </a:r>
                <a:r>
                  <a:rPr lang="zh-CN" altLang="en-US" dirty="0" smtClean="0"/>
                  <a:t>或者</a:t>
                </a:r>
                <a:r>
                  <a:rPr lang="en-US" dirty="0" err="1" smtClean="0"/>
                  <a:t>b≼a</a:t>
                </a:r>
                <a:r>
                  <a:rPr lang="en-US" dirty="0" smtClean="0"/>
                  <a:t>. </a:t>
                </a:r>
                <a:r>
                  <a:rPr lang="zh-CN" altLang="en-US" dirty="0" smtClean="0"/>
                  <a:t>当</a:t>
                </a:r>
                <a:r>
                  <a:rPr lang="en-US" altLang="zh-CN" dirty="0" smtClean="0"/>
                  <a:t>a</a:t>
                </a:r>
                <a:r>
                  <a:rPr lang="zh-CN" altLang="en-US" dirty="0" smtClean="0"/>
                  <a:t>和</a:t>
                </a:r>
                <a:r>
                  <a:rPr lang="en-US" altLang="zh-CN" dirty="0" smtClean="0"/>
                  <a:t>b</a:t>
                </a:r>
                <a:r>
                  <a:rPr lang="zh-CN" altLang="en-US" dirty="0" smtClean="0"/>
                  <a:t>是</a:t>
                </a:r>
                <a:r>
                  <a:rPr lang="en-US" altLang="zh-CN" dirty="0" smtClean="0"/>
                  <a:t>S</a:t>
                </a:r>
                <a:r>
                  <a:rPr lang="zh-CN" altLang="en-US" dirty="0" smtClean="0"/>
                  <a:t>中的元素</a:t>
                </a:r>
                <a:r>
                  <a:rPr lang="en-US" altLang="zh-CN" dirty="0" smtClean="0"/>
                  <a:t>, </a:t>
                </a:r>
                <a:r>
                  <a:rPr lang="zh-CN" altLang="en-US" dirty="0" smtClean="0"/>
                  <a:t>并且既没有</a:t>
                </a:r>
                <a:r>
                  <a:rPr lang="en-US" dirty="0" err="1" smtClean="0"/>
                  <a:t>a≼b</a:t>
                </a:r>
                <a:r>
                  <a:rPr lang="en-US" altLang="zh-CN" dirty="0" smtClean="0"/>
                  <a:t>, </a:t>
                </a:r>
                <a:r>
                  <a:rPr lang="zh-CN" altLang="en-US" dirty="0" smtClean="0"/>
                  <a:t>也没有</a:t>
                </a:r>
                <a:r>
                  <a:rPr lang="en-US" dirty="0" err="1" smtClean="0"/>
                  <a:t>b≼a</a:t>
                </a:r>
                <a:r>
                  <a:rPr lang="en-US" dirty="0" smtClean="0"/>
                  <a:t>, </a:t>
                </a:r>
                <a:r>
                  <a:rPr lang="zh-CN" altLang="en-US" dirty="0" smtClean="0"/>
                  <a:t>那么则称</a:t>
                </a:r>
                <a:r>
                  <a:rPr lang="en-US" dirty="0" smtClean="0"/>
                  <a:t>a</a:t>
                </a:r>
                <a:r>
                  <a:rPr lang="zh-CN" altLang="en-US" dirty="0" smtClean="0"/>
                  <a:t>和</a:t>
                </a:r>
                <a:r>
                  <a:rPr lang="en-US" dirty="0" smtClean="0"/>
                  <a:t>b</a:t>
                </a:r>
                <a:r>
                  <a:rPr lang="zh-CN" altLang="en-US" dirty="0" smtClean="0"/>
                  <a:t>是不可比的</a:t>
                </a:r>
                <a:r>
                  <a:rPr lang="en-US" dirty="0" smtClean="0"/>
                  <a:t>.</a:t>
                </a:r>
                <a:endParaRPr lang="en-US" altLang="zh-CN" dirty="0" smtClean="0"/>
              </a:p>
              <a:p>
                <a:r>
                  <a:rPr lang="zh-CN" altLang="en-US" dirty="0" smtClean="0"/>
                  <a:t>例</a:t>
                </a:r>
                <a:r>
                  <a:rPr lang="en-US" altLang="zh-CN" dirty="0"/>
                  <a:t>:</a:t>
                </a:r>
                <a:r>
                  <a:rPr lang="zh-CN" altLang="en-US" dirty="0"/>
                  <a:t>在偏序集</a:t>
                </a:r>
                <a:r>
                  <a:rPr lang="en-US" altLang="zh-CN" dirty="0"/>
                  <a:t>(</a:t>
                </a:r>
                <a14:m>
                  <m:oMath xmlns:m="http://schemas.openxmlformats.org/officeDocument/2006/math">
                    <m:sSup>
                      <m:sSupPr>
                        <m:ctrlPr>
                          <a:rPr lang="en-US" altLang="zh-CN" i="1">
                            <a:latin typeface="Cambria Math" panose="02040503050406030204" pitchFamily="18" charset="0"/>
                          </a:rPr>
                        </m:ctrlPr>
                      </m:sSupPr>
                      <m:e>
                        <m:r>
                          <m:rPr>
                            <m:sty m:val="p"/>
                          </m:rPr>
                          <a:rPr lang="en-US" altLang="zh-CN" i="1">
                            <a:latin typeface="Cambria Math" panose="02040503050406030204" pitchFamily="18" charset="0"/>
                          </a:rPr>
                          <m:t>Z</m:t>
                        </m:r>
                      </m:e>
                      <m:sup>
                        <m:r>
                          <a:rPr lang="en-US" altLang="zh-CN" i="1">
                            <a:latin typeface="Cambria Math" panose="02040503050406030204" pitchFamily="18" charset="0"/>
                          </a:rPr>
                          <m:t>+</m:t>
                        </m:r>
                      </m:sup>
                    </m:sSup>
                  </m:oMath>
                </a14:m>
                <a:r>
                  <a:rPr lang="en-US" altLang="zh-CN" dirty="0"/>
                  <a:t>,|)</a:t>
                </a:r>
                <a:r>
                  <a:rPr lang="zh-CN" altLang="en-US" dirty="0"/>
                  <a:t>中</a:t>
                </a:r>
                <a:r>
                  <a:rPr lang="en-US" altLang="zh-CN" dirty="0"/>
                  <a:t>, </a:t>
                </a:r>
                <a:r>
                  <a:rPr lang="zh-CN" altLang="en-US" dirty="0"/>
                  <a:t>整数</a:t>
                </a:r>
                <a:r>
                  <a:rPr lang="en-US" altLang="zh-CN" dirty="0"/>
                  <a:t>3</a:t>
                </a:r>
                <a:r>
                  <a:rPr lang="zh-CN" altLang="en-US" dirty="0"/>
                  <a:t>和</a:t>
                </a:r>
                <a:r>
                  <a:rPr lang="en-US" altLang="zh-CN" dirty="0"/>
                  <a:t>9</a:t>
                </a:r>
                <a:r>
                  <a:rPr lang="zh-CN" altLang="en-US" dirty="0"/>
                  <a:t>是可比的么？</a:t>
                </a:r>
                <a:r>
                  <a:rPr lang="en-US" altLang="zh-CN" dirty="0"/>
                  <a:t>5</a:t>
                </a:r>
                <a:r>
                  <a:rPr lang="zh-CN" altLang="en-US" dirty="0"/>
                  <a:t>和</a:t>
                </a:r>
                <a:r>
                  <a:rPr lang="en-US" altLang="zh-CN" dirty="0"/>
                  <a:t>7</a:t>
                </a:r>
                <a:r>
                  <a:rPr lang="zh-CN" altLang="en-US" dirty="0"/>
                  <a:t>是可比的么？</a:t>
                </a:r>
                <a:endParaRPr lang="en-US" altLang="zh-CN" dirty="0"/>
              </a:p>
              <a:p>
                <a:r>
                  <a:rPr lang="zh-CN" altLang="en-US" dirty="0"/>
                  <a:t>解</a:t>
                </a:r>
                <a:r>
                  <a:rPr lang="en-US" altLang="zh-CN" dirty="0"/>
                  <a:t>:</a:t>
                </a:r>
                <a:r>
                  <a:rPr lang="zh-CN" altLang="en-US" dirty="0"/>
                  <a:t>因为</a:t>
                </a:r>
                <a:r>
                  <a:rPr lang="en-US" altLang="zh-CN" dirty="0"/>
                  <a:t>3|9,</a:t>
                </a:r>
                <a:r>
                  <a:rPr lang="zh-CN" altLang="en-US" dirty="0"/>
                  <a:t> 所以</a:t>
                </a:r>
                <a:r>
                  <a:rPr lang="en-US" altLang="zh-CN" dirty="0"/>
                  <a:t>3</a:t>
                </a:r>
                <a:r>
                  <a:rPr lang="zh-CN" altLang="en-US" dirty="0"/>
                  <a:t>和</a:t>
                </a:r>
                <a:r>
                  <a:rPr lang="en-US" altLang="zh-CN" dirty="0"/>
                  <a:t>9</a:t>
                </a:r>
                <a:r>
                  <a:rPr lang="zh-CN" altLang="en-US" dirty="0"/>
                  <a:t>是可比的</a:t>
                </a:r>
                <a:r>
                  <a:rPr lang="en-US" altLang="zh-CN" dirty="0"/>
                  <a:t>. </a:t>
                </a:r>
                <a:r>
                  <a:rPr lang="zh-CN" altLang="en-US" dirty="0"/>
                  <a:t>因为</a:t>
                </a:r>
                <a14:m>
                  <m:oMath xmlns:m="http://schemas.openxmlformats.org/officeDocument/2006/math">
                    <m:r>
                      <a:rPr lang="en-US" altLang="zh-CN" i="1">
                        <a:latin typeface="Cambria Math" panose="02040503050406030204" pitchFamily="18" charset="0"/>
                      </a:rPr>
                      <m:t>5</m:t>
                    </m:r>
                    <m:r>
                      <a:rPr lang="en-US" altLang="zh-CN" i="1">
                        <a:latin typeface="Cambria Math" panose="02040503050406030204" pitchFamily="18" charset="0"/>
                        <a:ea typeface="Cambria Math" panose="02040503050406030204" pitchFamily="18" charset="0"/>
                      </a:rPr>
                      <m:t>∤7</m:t>
                    </m:r>
                  </m:oMath>
                </a14:m>
                <a:r>
                  <a:rPr lang="en-US" altLang="zh-CN" dirty="0"/>
                  <a:t> </a:t>
                </a:r>
                <a:r>
                  <a:rPr lang="zh-CN" altLang="en-US" dirty="0"/>
                  <a:t>并且</a:t>
                </a:r>
                <a14:m>
                  <m:oMath xmlns:m="http://schemas.openxmlformats.org/officeDocument/2006/math">
                    <m:r>
                      <a:rPr lang="en-US" altLang="zh-CN" i="1" dirty="0">
                        <a:latin typeface="Cambria Math" panose="02040503050406030204" pitchFamily="18" charset="0"/>
                      </a:rPr>
                      <m:t>7</m:t>
                    </m:r>
                    <m:r>
                      <a:rPr lang="en-US" altLang="zh-CN" i="1">
                        <a:latin typeface="Cambria Math" panose="02040503050406030204" pitchFamily="18" charset="0"/>
                        <a:ea typeface="Cambria Math" panose="02040503050406030204" pitchFamily="18" charset="0"/>
                      </a:rPr>
                      <m:t>∤5</m:t>
                    </m:r>
                  </m:oMath>
                </a14:m>
                <a:r>
                  <a:rPr lang="en-US" altLang="zh-CN" dirty="0"/>
                  <a:t> , </a:t>
                </a:r>
                <a:r>
                  <a:rPr lang="zh-CN" altLang="en-US" dirty="0"/>
                  <a:t>所以</a:t>
                </a:r>
                <a:r>
                  <a:rPr lang="en-US" altLang="zh-CN" dirty="0"/>
                  <a:t>5</a:t>
                </a:r>
                <a:r>
                  <a:rPr lang="zh-CN" altLang="en-US" dirty="0"/>
                  <a:t>和</a:t>
                </a:r>
                <a:r>
                  <a:rPr lang="en-US" altLang="zh-CN" dirty="0"/>
                  <a:t>7</a:t>
                </a:r>
                <a:r>
                  <a:rPr lang="zh-CN" altLang="en-US" dirty="0"/>
                  <a:t>不是可比的</a:t>
                </a:r>
                <a:r>
                  <a:rPr lang="en-US" altLang="zh-CN" dirty="0"/>
                  <a:t>.</a:t>
                </a:r>
              </a:p>
              <a:p>
                <a:endParaRPr lang="en-US" dirty="0" smtClean="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999" t="-2500" r="-388"/>
                </a:stretch>
              </a:blipFill>
            </p:spPr>
            <p:txBody>
              <a:bodyPr/>
              <a:lstStyle/>
              <a:p>
                <a:r>
                  <a:rPr lang="zh-CN" altLang="en-US">
                    <a:noFill/>
                  </a:rPr>
                  <a:t> </a:t>
                </a:r>
              </a:p>
            </p:txBody>
          </p:sp>
        </mc:Fallback>
      </mc:AlternateContent>
      <p:sp>
        <p:nvSpPr>
          <p:cNvPr id="7" name="日期占位符 6"/>
          <p:cNvSpPr>
            <a:spLocks noGrp="1"/>
          </p:cNvSpPr>
          <p:nvPr>
            <p:ph type="dt" sz="half" idx="10"/>
          </p:nvPr>
        </p:nvSpPr>
        <p:spPr/>
        <p:txBody>
          <a:bodyPr/>
          <a:lstStyle/>
          <a:p>
            <a:fld id="{1F6DF8B9-A6FE-4918-881F-01E0302091DF}" type="datetime1">
              <a:rPr lang="zh-CN" altLang="en-US" smtClean="0"/>
              <a:t>2025/3/14</a:t>
            </a:fld>
            <a:endParaRPr lang="zh-CN" altLang="en-US" dirty="0"/>
          </a:p>
        </p:txBody>
      </p:sp>
      <p:sp>
        <p:nvSpPr>
          <p:cNvPr id="8" name="页脚占位符 7"/>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9" name="灯片编号占位符 8"/>
          <p:cNvSpPr>
            <a:spLocks noGrp="1"/>
          </p:cNvSpPr>
          <p:nvPr>
            <p:ph type="sldNum" sz="quarter" idx="12"/>
          </p:nvPr>
        </p:nvSpPr>
        <p:spPr/>
        <p:txBody>
          <a:bodyPr/>
          <a:lstStyle/>
          <a:p>
            <a:fld id="{67913A8A-9EFB-4B5F-9CCB-3D21173FAA85}" type="slidenum">
              <a:rPr lang="zh-CN" altLang="en-US" smtClean="0"/>
              <a:pPr/>
              <a:t>111</a:t>
            </a:fld>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Effect transition="in" filter="wipe(down)">
                                      <p:cBhvr>
                                        <p:cTn id="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p:cNvSpPr/>
          <p:nvPr/>
        </p:nvSpPr>
        <p:spPr>
          <a:xfrm>
            <a:off x="457200" y="2657259"/>
            <a:ext cx="11277599" cy="924141"/>
          </a:xfrm>
          <a:prstGeom prst="rect">
            <a:avLst/>
          </a:prstGeom>
          <a:solidFill>
            <a:schemeClr val="accent5">
              <a:lumMod val="40000"/>
              <a:lumOff val="6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457200" y="4181259"/>
            <a:ext cx="11277599" cy="924141"/>
          </a:xfrm>
          <a:prstGeom prst="rect">
            <a:avLst/>
          </a:prstGeom>
          <a:solidFill>
            <a:schemeClr val="accent5">
              <a:lumMod val="40000"/>
              <a:lumOff val="6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itle 1"/>
          <p:cNvSpPr>
            <a:spLocks noGrp="1"/>
          </p:cNvSpPr>
          <p:nvPr>
            <p:ph type="title"/>
          </p:nvPr>
        </p:nvSpPr>
        <p:spPr/>
        <p:txBody>
          <a:bodyPr/>
          <a:lstStyle/>
          <a:p>
            <a:r>
              <a:rPr lang="zh-CN" altLang="en-US" dirty="0"/>
              <a:t>可比</a:t>
            </a:r>
            <a:r>
              <a:rPr lang="zh-CN" altLang="en-US" dirty="0" smtClean="0"/>
              <a:t>性</a:t>
            </a:r>
            <a:endParaRPr lang="en-US" dirty="0"/>
          </a:p>
        </p:txBody>
      </p:sp>
      <p:sp>
        <p:nvSpPr>
          <p:cNvPr id="3" name="Content Placeholder 2"/>
          <p:cNvSpPr>
            <a:spLocks noGrp="1"/>
          </p:cNvSpPr>
          <p:nvPr>
            <p:ph idx="1"/>
          </p:nvPr>
        </p:nvSpPr>
        <p:spPr/>
        <p:txBody>
          <a:bodyPr>
            <a:normAutofit/>
          </a:bodyPr>
          <a:lstStyle/>
          <a:p>
            <a:r>
              <a:rPr lang="zh-CN" altLang="en-US" dirty="0" smtClean="0"/>
              <a:t>用形容词</a:t>
            </a:r>
            <a:r>
              <a:rPr lang="en-US" altLang="zh-CN" dirty="0" smtClean="0"/>
              <a:t>”</a:t>
            </a:r>
            <a:r>
              <a:rPr lang="zh-CN" altLang="en-US" dirty="0" smtClean="0"/>
              <a:t>部分的</a:t>
            </a:r>
            <a:r>
              <a:rPr lang="en-US" altLang="zh-CN" dirty="0" smtClean="0"/>
              <a:t>(</a:t>
            </a:r>
            <a:r>
              <a:rPr lang="zh-CN" altLang="en-US" dirty="0" smtClean="0"/>
              <a:t>偏的</a:t>
            </a:r>
            <a:r>
              <a:rPr lang="en-US" altLang="zh-CN" dirty="0" smtClean="0"/>
              <a:t>)”</a:t>
            </a:r>
            <a:r>
              <a:rPr lang="zh-CN" altLang="en-US" dirty="0" smtClean="0"/>
              <a:t>描述偏序</a:t>
            </a:r>
            <a:r>
              <a:rPr lang="en-US" altLang="zh-CN" dirty="0" smtClean="0"/>
              <a:t>, </a:t>
            </a:r>
            <a:r>
              <a:rPr lang="zh-CN" altLang="en-US" dirty="0" smtClean="0"/>
              <a:t>是因为有些元素可能是不可比的</a:t>
            </a:r>
            <a:r>
              <a:rPr lang="en-US" altLang="zh-CN" dirty="0" smtClean="0"/>
              <a:t>. </a:t>
            </a:r>
            <a:r>
              <a:rPr lang="zh-CN" altLang="en-US" dirty="0" smtClean="0"/>
              <a:t>当集合中的每对元素都可比时</a:t>
            </a:r>
            <a:r>
              <a:rPr lang="en-US" altLang="zh-CN" dirty="0" smtClean="0"/>
              <a:t>, </a:t>
            </a:r>
            <a:r>
              <a:rPr lang="zh-CN" altLang="en-US" dirty="0" smtClean="0"/>
              <a:t>这个关系称为全序</a:t>
            </a:r>
            <a:r>
              <a:rPr lang="en-US" altLang="zh-CN" dirty="0" smtClean="0"/>
              <a:t>. </a:t>
            </a:r>
            <a:r>
              <a:rPr lang="zh-CN" altLang="en-US" dirty="0" smtClean="0"/>
              <a:t>如下定义</a:t>
            </a:r>
            <a:r>
              <a:rPr lang="en-US" altLang="zh-CN" dirty="0" smtClean="0"/>
              <a:t>:</a:t>
            </a:r>
          </a:p>
          <a:p>
            <a:endParaRPr lang="en-US" altLang="zh-CN" dirty="0"/>
          </a:p>
          <a:p>
            <a:r>
              <a:rPr lang="zh-CN" altLang="en-US" dirty="0" smtClean="0"/>
              <a:t>定义</a:t>
            </a:r>
            <a:r>
              <a:rPr lang="en-US" dirty="0" smtClean="0"/>
              <a:t>: </a:t>
            </a:r>
            <a:r>
              <a:rPr lang="zh-CN" altLang="en-US" dirty="0" smtClean="0"/>
              <a:t>如果</a:t>
            </a:r>
            <a:r>
              <a:rPr lang="en-US" dirty="0" smtClean="0"/>
              <a:t> (S,≼) </a:t>
            </a:r>
            <a:r>
              <a:rPr lang="zh-CN" altLang="en-US" dirty="0" smtClean="0"/>
              <a:t>是偏序集</a:t>
            </a:r>
            <a:r>
              <a:rPr lang="en-US" altLang="zh-CN" dirty="0" smtClean="0"/>
              <a:t>, </a:t>
            </a:r>
            <a:r>
              <a:rPr lang="zh-CN" altLang="en-US" dirty="0" smtClean="0"/>
              <a:t>且</a:t>
            </a:r>
            <a:r>
              <a:rPr lang="en-US" altLang="zh-CN" dirty="0" smtClean="0"/>
              <a:t>S</a:t>
            </a:r>
            <a:r>
              <a:rPr lang="zh-CN" altLang="en-US" dirty="0" smtClean="0"/>
              <a:t>中的每对元素都是可比的</a:t>
            </a:r>
            <a:r>
              <a:rPr lang="en-US" altLang="zh-CN" dirty="0" smtClean="0"/>
              <a:t>, </a:t>
            </a:r>
            <a:r>
              <a:rPr lang="zh-CN" altLang="en-US" dirty="0" smtClean="0"/>
              <a:t>则</a:t>
            </a:r>
            <a:r>
              <a:rPr lang="en-US" altLang="zh-CN" dirty="0"/>
              <a:t>(S,≼)</a:t>
            </a:r>
            <a:r>
              <a:rPr lang="zh-CN" altLang="en-US" dirty="0" smtClean="0"/>
              <a:t>称为</a:t>
            </a:r>
            <a:r>
              <a:rPr lang="zh-CN" altLang="en-US" b="1" dirty="0" smtClean="0">
                <a:solidFill>
                  <a:srgbClr val="C00000"/>
                </a:solidFill>
              </a:rPr>
              <a:t>全序集</a:t>
            </a:r>
            <a:r>
              <a:rPr lang="zh-CN" altLang="en-US" dirty="0" smtClean="0"/>
              <a:t>或线序集</a:t>
            </a:r>
            <a:r>
              <a:rPr lang="en-US" altLang="zh-CN" dirty="0" smtClean="0"/>
              <a:t>, </a:t>
            </a:r>
            <a:r>
              <a:rPr lang="zh-CN" altLang="en-US" dirty="0" smtClean="0"/>
              <a:t>且</a:t>
            </a:r>
            <a:r>
              <a:rPr lang="en-US" dirty="0" smtClean="0"/>
              <a:t>≼</a:t>
            </a:r>
            <a:r>
              <a:rPr lang="zh-CN" altLang="en-US" dirty="0" smtClean="0"/>
              <a:t>称为全序或线序</a:t>
            </a:r>
            <a:r>
              <a:rPr lang="en-US" altLang="zh-CN" dirty="0" smtClean="0"/>
              <a:t>. </a:t>
            </a:r>
            <a:r>
              <a:rPr lang="zh-CN" altLang="en-US" dirty="0" smtClean="0"/>
              <a:t>一个全序集也称为链</a:t>
            </a:r>
            <a:r>
              <a:rPr lang="en-US" altLang="zh-CN" dirty="0" smtClean="0"/>
              <a:t>.</a:t>
            </a:r>
          </a:p>
          <a:p>
            <a:endParaRPr lang="en-US" altLang="zh-CN" dirty="0" smtClean="0"/>
          </a:p>
          <a:p>
            <a:r>
              <a:rPr lang="zh-CN" altLang="en-US" dirty="0" smtClean="0"/>
              <a:t>定义</a:t>
            </a:r>
            <a:r>
              <a:rPr lang="en-US" dirty="0" smtClean="0"/>
              <a:t>: </a:t>
            </a:r>
            <a:r>
              <a:rPr lang="zh-CN" altLang="en-US" dirty="0" smtClean="0"/>
              <a:t>对于偏序集</a:t>
            </a:r>
            <a:r>
              <a:rPr lang="en-US" dirty="0" smtClean="0"/>
              <a:t>(S,≼)</a:t>
            </a:r>
            <a:r>
              <a:rPr lang="en-US" altLang="zh-CN" dirty="0" smtClean="0"/>
              <a:t>, </a:t>
            </a:r>
            <a:r>
              <a:rPr lang="zh-CN" altLang="en-US" dirty="0" smtClean="0"/>
              <a:t>如果</a:t>
            </a:r>
            <a:r>
              <a:rPr lang="en-US" altLang="zh-CN" dirty="0" smtClean="0"/>
              <a:t>≼</a:t>
            </a:r>
            <a:r>
              <a:rPr lang="zh-CN" altLang="en-US" dirty="0" smtClean="0"/>
              <a:t>是全序</a:t>
            </a:r>
            <a:r>
              <a:rPr lang="en-US" altLang="zh-CN" dirty="0" smtClean="0"/>
              <a:t>, </a:t>
            </a:r>
            <a:r>
              <a:rPr lang="zh-CN" altLang="en-US" dirty="0" smtClean="0"/>
              <a:t>且</a:t>
            </a:r>
            <a:r>
              <a:rPr lang="en-US" altLang="zh-CN" dirty="0" smtClean="0"/>
              <a:t>S</a:t>
            </a:r>
            <a:r>
              <a:rPr lang="zh-CN" altLang="en-US" dirty="0" smtClean="0"/>
              <a:t>的每一个非空子集都有一个最小元素</a:t>
            </a:r>
            <a:r>
              <a:rPr lang="en-US" altLang="zh-CN" dirty="0" smtClean="0"/>
              <a:t>, </a:t>
            </a:r>
            <a:r>
              <a:rPr lang="zh-CN" altLang="en-US" dirty="0" smtClean="0"/>
              <a:t>就称它为</a:t>
            </a:r>
            <a:r>
              <a:rPr lang="zh-CN" altLang="en-US" b="1" dirty="0" smtClean="0">
                <a:solidFill>
                  <a:srgbClr val="C00000"/>
                </a:solidFill>
              </a:rPr>
              <a:t>良序集</a:t>
            </a:r>
            <a:r>
              <a:rPr lang="en-US" altLang="zh-CN" dirty="0" smtClean="0"/>
              <a:t>.</a:t>
            </a:r>
            <a:r>
              <a:rPr lang="en-US" dirty="0" smtClean="0"/>
              <a:t> </a:t>
            </a:r>
            <a:endParaRPr lang="en-US" dirty="0"/>
          </a:p>
        </p:txBody>
      </p:sp>
      <p:sp>
        <p:nvSpPr>
          <p:cNvPr id="7" name="日期占位符 6"/>
          <p:cNvSpPr>
            <a:spLocks noGrp="1"/>
          </p:cNvSpPr>
          <p:nvPr>
            <p:ph type="dt" sz="half" idx="10"/>
          </p:nvPr>
        </p:nvSpPr>
        <p:spPr/>
        <p:txBody>
          <a:bodyPr/>
          <a:lstStyle/>
          <a:p>
            <a:fld id="{FF6F8784-98B9-4396-9581-5CEBFCBF1DD9}" type="datetime1">
              <a:rPr lang="zh-CN" altLang="en-US" smtClean="0"/>
              <a:t>2025/3/14</a:t>
            </a:fld>
            <a:endParaRPr lang="zh-CN" altLang="en-US" dirty="0"/>
          </a:p>
        </p:txBody>
      </p:sp>
      <p:sp>
        <p:nvSpPr>
          <p:cNvPr id="8" name="页脚占位符 7"/>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9" name="灯片编号占位符 8"/>
          <p:cNvSpPr>
            <a:spLocks noGrp="1"/>
          </p:cNvSpPr>
          <p:nvPr>
            <p:ph type="sldNum" sz="quarter" idx="12"/>
          </p:nvPr>
        </p:nvSpPr>
        <p:spPr/>
        <p:txBody>
          <a:bodyPr/>
          <a:lstStyle/>
          <a:p>
            <a:fld id="{67913A8A-9EFB-4B5F-9CCB-3D21173FAA85}" type="slidenum">
              <a:rPr lang="zh-CN" altLang="en-US" smtClean="0"/>
              <a:pPr/>
              <a:t>112</a:t>
            </a:fld>
            <a:endParaRPr lang="zh-CN" altLang="en-US" dirty="0"/>
          </a:p>
        </p:txBody>
      </p:sp>
    </p:spTree>
    <p:extLst>
      <p:ext uri="{BB962C8B-B14F-4D97-AF65-F5344CB8AC3E}">
        <p14:creationId xmlns:p14="http://schemas.microsoft.com/office/powerpoint/2010/main" val="777318251"/>
      </p:ext>
    </p:extLst>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可比</a:t>
            </a:r>
            <a:r>
              <a:rPr lang="zh-CN" altLang="en-US" dirty="0" smtClean="0"/>
              <a:t>性</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zh-CN" altLang="en-US" dirty="0" smtClean="0"/>
                  <a:t>例</a:t>
                </a:r>
                <a:r>
                  <a:rPr lang="en-US" altLang="zh-CN" dirty="0" smtClean="0"/>
                  <a:t>:</a:t>
                </a:r>
                <a:r>
                  <a:rPr lang="zh-CN" altLang="en-US" dirty="0" smtClean="0"/>
                  <a:t>偏序集</a:t>
                </a:r>
                <a:r>
                  <a:rPr lang="en-US" altLang="zh-CN" dirty="0" smtClean="0"/>
                  <a:t>(Z,</a:t>
                </a:r>
                <a14:m>
                  <m:oMath xmlns:m="http://schemas.openxmlformats.org/officeDocument/2006/math">
                    <m:r>
                      <a:rPr lang="en-US" altLang="zh-CN" i="1" smtClean="0">
                        <a:latin typeface="Cambria Math" panose="02040503050406030204" pitchFamily="18" charset="0"/>
                        <a:ea typeface="Cambria Math" panose="02040503050406030204" pitchFamily="18" charset="0"/>
                      </a:rPr>
                      <m:t>≤</m:t>
                    </m:r>
                  </m:oMath>
                </a14:m>
                <a:r>
                  <a:rPr lang="en-US" altLang="zh-CN" dirty="0" smtClean="0"/>
                  <a:t>)</a:t>
                </a:r>
                <a:r>
                  <a:rPr lang="zh-CN" altLang="en-US" dirty="0" smtClean="0"/>
                  <a:t>是全序集么？偏序集</a:t>
                </a:r>
                <a:r>
                  <a:rPr lang="en-US" altLang="zh-CN" dirty="0" smtClean="0"/>
                  <a:t>(</a:t>
                </a:r>
                <a14:m>
                  <m:oMath xmlns:m="http://schemas.openxmlformats.org/officeDocument/2006/math">
                    <m:sSup>
                      <m:sSupPr>
                        <m:ctrlPr>
                          <a:rPr lang="en-US" altLang="zh-CN" i="1">
                            <a:latin typeface="Cambria Math" panose="02040503050406030204" pitchFamily="18" charset="0"/>
                          </a:rPr>
                        </m:ctrlPr>
                      </m:sSupPr>
                      <m:e>
                        <m:r>
                          <m:rPr>
                            <m:sty m:val="p"/>
                          </m:rPr>
                          <a:rPr lang="en-US" altLang="zh-CN" i="1">
                            <a:latin typeface="Cambria Math" panose="02040503050406030204" pitchFamily="18" charset="0"/>
                          </a:rPr>
                          <m:t>Z</m:t>
                        </m:r>
                      </m:e>
                      <m:sup>
                        <m:r>
                          <a:rPr lang="en-US" altLang="zh-CN" i="1">
                            <a:latin typeface="Cambria Math" panose="02040503050406030204" pitchFamily="18" charset="0"/>
                          </a:rPr>
                          <m:t>+</m:t>
                        </m:r>
                      </m:sup>
                    </m:sSup>
                  </m:oMath>
                </a14:m>
                <a:r>
                  <a:rPr lang="en-US" altLang="zh-CN" dirty="0" smtClean="0"/>
                  <a:t>,|) </a:t>
                </a:r>
                <a:r>
                  <a:rPr lang="zh-CN" altLang="en-US" dirty="0" smtClean="0"/>
                  <a:t>是全序集么？</a:t>
                </a:r>
                <a:endParaRPr lang="en-US" altLang="zh-CN" dirty="0" smtClean="0"/>
              </a:p>
              <a:p>
                <a:r>
                  <a:rPr lang="zh-CN" altLang="en-US" dirty="0" smtClean="0"/>
                  <a:t>解</a:t>
                </a:r>
                <a:r>
                  <a:rPr lang="en-US" altLang="zh-CN" dirty="0" smtClean="0"/>
                  <a:t>:</a:t>
                </a:r>
                <a:r>
                  <a:rPr lang="zh-CN" altLang="en-US" dirty="0" smtClean="0"/>
                  <a:t>因为在偏序集</a:t>
                </a:r>
                <a:r>
                  <a:rPr lang="en-US" altLang="zh-CN" dirty="0" smtClean="0"/>
                  <a:t>(Z,</a:t>
                </a:r>
                <a14:m>
                  <m:oMath xmlns:m="http://schemas.openxmlformats.org/officeDocument/2006/math">
                    <m:r>
                      <a:rPr lang="en-US" altLang="zh-CN" i="1">
                        <a:latin typeface="Cambria Math" panose="02040503050406030204" pitchFamily="18" charset="0"/>
                        <a:ea typeface="Cambria Math" panose="02040503050406030204" pitchFamily="18" charset="0"/>
                      </a:rPr>
                      <m:t>≤</m:t>
                    </m:r>
                  </m:oMath>
                </a14:m>
                <a:r>
                  <a:rPr lang="en-US" altLang="zh-CN" dirty="0" smtClean="0"/>
                  <a:t>)</a:t>
                </a:r>
                <a:r>
                  <a:rPr lang="zh-CN" altLang="en-US" dirty="0" smtClean="0"/>
                  <a:t>中</a:t>
                </a:r>
                <a:r>
                  <a:rPr lang="en-US" altLang="zh-CN" dirty="0" smtClean="0"/>
                  <a:t>, </a:t>
                </a:r>
                <a:r>
                  <a:rPr lang="zh-CN" altLang="en-US" dirty="0" smtClean="0"/>
                  <a:t>对于任意的整数</a:t>
                </a:r>
                <a:r>
                  <a:rPr lang="en-US" altLang="zh-CN" dirty="0" smtClean="0"/>
                  <a:t>a</a:t>
                </a:r>
                <a:r>
                  <a:rPr lang="zh-CN" altLang="en-US" dirty="0" smtClean="0"/>
                  <a:t>和</a:t>
                </a:r>
                <a:r>
                  <a:rPr lang="en-US" altLang="zh-CN" dirty="0" smtClean="0"/>
                  <a:t>b, </a:t>
                </a:r>
                <a:r>
                  <a:rPr lang="zh-CN" altLang="en-US" dirty="0" smtClean="0"/>
                  <a:t>都有</a:t>
                </a:r>
                <a:r>
                  <a:rPr lang="en-US" altLang="zh-CN" dirty="0" smtClean="0">
                    <a:ea typeface="Cambria Math" panose="02040503050406030204" pitchFamily="18" charset="0"/>
                  </a:rPr>
                  <a:t> </a:t>
                </a:r>
                <a14:m>
                  <m:oMath xmlns:m="http://schemas.openxmlformats.org/officeDocument/2006/math">
                    <m:r>
                      <m:rPr>
                        <m:sty m:val="p"/>
                      </m:rPr>
                      <a:rPr lang="en-US" altLang="zh-CN" b="0" i="0" smtClean="0">
                        <a:latin typeface="Cambria Math" panose="02040503050406030204" pitchFamily="18" charset="0"/>
                        <a:ea typeface="Cambria Math" panose="02040503050406030204" pitchFamily="18" charset="0"/>
                      </a:rPr>
                      <m:t>a</m:t>
                    </m:r>
                    <m:r>
                      <a:rPr lang="en-US" altLang="zh-CN" i="1">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𝑏</m:t>
                    </m:r>
                  </m:oMath>
                </a14:m>
                <a:r>
                  <a:rPr lang="zh-CN" altLang="en-US" dirty="0" smtClean="0"/>
                  <a:t>或者是</a:t>
                </a:r>
                <a14:m>
                  <m:oMath xmlns:m="http://schemas.openxmlformats.org/officeDocument/2006/math">
                    <m:r>
                      <a:rPr lang="en-US" altLang="zh-CN" b="0" i="1" dirty="0" smtClean="0">
                        <a:latin typeface="Cambria Math" panose="02040503050406030204" pitchFamily="18" charset="0"/>
                        <a:ea typeface="Cambria Math" panose="02040503050406030204" pitchFamily="18" charset="0"/>
                      </a:rPr>
                      <m:t>𝑏</m:t>
                    </m:r>
                    <m:r>
                      <a:rPr lang="en-US" altLang="zh-CN" i="1">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𝑎</m:t>
                    </m:r>
                  </m:oMath>
                </a14:m>
                <a:r>
                  <a:rPr lang="en-US" dirty="0" smtClean="0"/>
                  <a:t>, </a:t>
                </a:r>
                <a:r>
                  <a:rPr lang="zh-CN" altLang="en-US" dirty="0" smtClean="0"/>
                  <a:t>所以偏序集</a:t>
                </a:r>
                <a:r>
                  <a:rPr lang="en-US" altLang="zh-CN" dirty="0" smtClean="0"/>
                  <a:t>(Z,</a:t>
                </a:r>
                <a14:m>
                  <m:oMath xmlns:m="http://schemas.openxmlformats.org/officeDocument/2006/math">
                    <m:r>
                      <a:rPr lang="en-US" altLang="zh-CN" i="1">
                        <a:latin typeface="Cambria Math" panose="02040503050406030204" pitchFamily="18" charset="0"/>
                        <a:ea typeface="Cambria Math" panose="02040503050406030204" pitchFamily="18" charset="0"/>
                      </a:rPr>
                      <m:t>≤</m:t>
                    </m:r>
                  </m:oMath>
                </a14:m>
                <a:r>
                  <a:rPr lang="en-US" altLang="zh-CN" dirty="0" smtClean="0"/>
                  <a:t>)</a:t>
                </a:r>
                <a:r>
                  <a:rPr lang="zh-CN" altLang="en-US" dirty="0" smtClean="0"/>
                  <a:t>是全序集</a:t>
                </a:r>
                <a:r>
                  <a:rPr lang="en-US" altLang="zh-CN" dirty="0" smtClean="0"/>
                  <a:t>. </a:t>
                </a:r>
                <a:r>
                  <a:rPr lang="zh-CN" altLang="en-US" dirty="0" smtClean="0"/>
                  <a:t>偏序集</a:t>
                </a:r>
                <a:r>
                  <a:rPr lang="en-US" altLang="zh-CN" dirty="0" smtClean="0"/>
                  <a:t>(</a:t>
                </a:r>
                <a14:m>
                  <m:oMath xmlns:m="http://schemas.openxmlformats.org/officeDocument/2006/math">
                    <m:sSup>
                      <m:sSupPr>
                        <m:ctrlPr>
                          <a:rPr lang="en-US" altLang="zh-CN" i="1">
                            <a:latin typeface="Cambria Math" panose="02040503050406030204" pitchFamily="18" charset="0"/>
                          </a:rPr>
                        </m:ctrlPr>
                      </m:sSupPr>
                      <m:e>
                        <m:r>
                          <m:rPr>
                            <m:sty m:val="p"/>
                          </m:rPr>
                          <a:rPr lang="en-US" altLang="zh-CN" i="1">
                            <a:latin typeface="Cambria Math" panose="02040503050406030204" pitchFamily="18" charset="0"/>
                          </a:rPr>
                          <m:t>Z</m:t>
                        </m:r>
                      </m:e>
                      <m:sup>
                        <m:r>
                          <a:rPr lang="en-US" altLang="zh-CN" i="1">
                            <a:latin typeface="Cambria Math" panose="02040503050406030204" pitchFamily="18" charset="0"/>
                          </a:rPr>
                          <m:t>+</m:t>
                        </m:r>
                      </m:sup>
                    </m:sSup>
                  </m:oMath>
                </a14:m>
                <a:r>
                  <a:rPr lang="en-US" altLang="zh-CN" dirty="0" smtClean="0"/>
                  <a:t>,|) </a:t>
                </a:r>
                <a:r>
                  <a:rPr lang="zh-CN" altLang="en-US" dirty="0" smtClean="0"/>
                  <a:t>中包含不可比的元素</a:t>
                </a:r>
                <a:r>
                  <a:rPr lang="en-US" altLang="zh-CN" dirty="0" smtClean="0"/>
                  <a:t>,</a:t>
                </a:r>
                <a:r>
                  <a:rPr lang="zh-CN" altLang="en-US" dirty="0" smtClean="0"/>
                  <a:t>例如</a:t>
                </a:r>
                <a:r>
                  <a:rPr lang="en-US" altLang="zh-CN" dirty="0" smtClean="0"/>
                  <a:t>5</a:t>
                </a:r>
                <a:r>
                  <a:rPr lang="zh-CN" altLang="en-US" dirty="0" smtClean="0"/>
                  <a:t>和</a:t>
                </a:r>
                <a:r>
                  <a:rPr lang="en-US" altLang="zh-CN" dirty="0" smtClean="0"/>
                  <a:t>7, </a:t>
                </a:r>
                <a:r>
                  <a:rPr lang="zh-CN" altLang="en-US" dirty="0" smtClean="0"/>
                  <a:t>所以它不是全序集</a:t>
                </a:r>
                <a:r>
                  <a:rPr lang="en-US" altLang="zh-CN" dirty="0" smtClean="0"/>
                  <a:t>.</a:t>
                </a: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999" t="-1310" r="-1942"/>
                </a:stretch>
              </a:blipFill>
            </p:spPr>
            <p:txBody>
              <a:bodyPr/>
              <a:lstStyle/>
              <a:p>
                <a:r>
                  <a:rPr lang="zh-CN" altLang="en-US">
                    <a:noFill/>
                  </a:rPr>
                  <a:t> </a:t>
                </a:r>
              </a:p>
            </p:txBody>
          </p:sp>
        </mc:Fallback>
      </mc:AlternateContent>
      <p:sp>
        <p:nvSpPr>
          <p:cNvPr id="7" name="日期占位符 6"/>
          <p:cNvSpPr>
            <a:spLocks noGrp="1"/>
          </p:cNvSpPr>
          <p:nvPr>
            <p:ph type="dt" sz="half" idx="10"/>
          </p:nvPr>
        </p:nvSpPr>
        <p:spPr/>
        <p:txBody>
          <a:bodyPr/>
          <a:lstStyle/>
          <a:p>
            <a:fld id="{C2C075BE-182D-4425-93C8-E3A53DCA696F}" type="datetime1">
              <a:rPr lang="zh-CN" altLang="en-US" smtClean="0"/>
              <a:t>2025/3/14</a:t>
            </a:fld>
            <a:endParaRPr lang="zh-CN" altLang="en-US" dirty="0"/>
          </a:p>
        </p:txBody>
      </p:sp>
      <p:sp>
        <p:nvSpPr>
          <p:cNvPr id="8" name="页脚占位符 7"/>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9" name="灯片编号占位符 8"/>
          <p:cNvSpPr>
            <a:spLocks noGrp="1"/>
          </p:cNvSpPr>
          <p:nvPr>
            <p:ph type="sldNum" sz="quarter" idx="12"/>
          </p:nvPr>
        </p:nvSpPr>
        <p:spPr/>
        <p:txBody>
          <a:bodyPr/>
          <a:lstStyle/>
          <a:p>
            <a:fld id="{67913A8A-9EFB-4B5F-9CCB-3D21173FAA85}" type="slidenum">
              <a:rPr lang="zh-CN" altLang="en-US" smtClean="0"/>
              <a:pPr/>
              <a:t>113</a:t>
            </a:fld>
            <a:endParaRPr lang="zh-CN" altLang="en-US" dirty="0"/>
          </a:p>
        </p:txBody>
      </p:sp>
    </p:spTree>
    <p:extLst>
      <p:ext uri="{BB962C8B-B14F-4D97-AF65-F5344CB8AC3E}">
        <p14:creationId xmlns:p14="http://schemas.microsoft.com/office/powerpoint/2010/main" val="13280563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wipe(down)">
                                      <p:cBhvr>
                                        <p:cTn id="7"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457200" y="1066800"/>
            <a:ext cx="11277599" cy="2209800"/>
          </a:xfrm>
          <a:prstGeom prst="rect">
            <a:avLst/>
          </a:prstGeom>
          <a:solidFill>
            <a:schemeClr val="accent5">
              <a:lumMod val="40000"/>
              <a:lumOff val="6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itle 1"/>
          <p:cNvSpPr>
            <a:spLocks noGrp="1"/>
          </p:cNvSpPr>
          <p:nvPr>
            <p:ph type="title"/>
          </p:nvPr>
        </p:nvSpPr>
        <p:spPr/>
        <p:txBody>
          <a:bodyPr/>
          <a:lstStyle/>
          <a:p>
            <a:r>
              <a:rPr lang="zh-CN" altLang="en-US" dirty="0" smtClean="0"/>
              <a:t>字典顺序</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zh-CN" altLang="en-US" dirty="0" smtClean="0"/>
                  <a:t>定义</a:t>
                </a:r>
                <a:r>
                  <a:rPr lang="en-US" dirty="0" smtClean="0"/>
                  <a:t>: </a:t>
                </a:r>
                <a:r>
                  <a:rPr lang="zh-CN" altLang="en-US" dirty="0" smtClean="0"/>
                  <a:t>给定两个偏序集</a:t>
                </a:r>
                <a:r>
                  <a:rPr lang="en-US" dirty="0" smtClean="0"/>
                  <a:t> (</a:t>
                </a:r>
                <a14:m>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𝐴</m:t>
                        </m:r>
                      </m:e>
                      <m:sub>
                        <m:r>
                          <a:rPr lang="en-US" altLang="zh-CN" b="0" i="1" smtClean="0">
                            <a:latin typeface="Cambria Math" panose="02040503050406030204" pitchFamily="18" charset="0"/>
                          </a:rPr>
                          <m:t>1</m:t>
                        </m:r>
                      </m:sub>
                    </m:sSub>
                  </m:oMath>
                </a14:m>
                <a:r>
                  <a:rPr lang="en-US" dirty="0" smtClean="0"/>
                  <a:t>,</a:t>
                </a:r>
                <a:r>
                  <a:rPr lang="en-US" altLang="zh-CN" dirty="0"/>
                  <a:t> </a:t>
                </a:r>
                <a14:m>
                  <m:oMath xmlns:m="http://schemas.openxmlformats.org/officeDocument/2006/math">
                    <m:sSub>
                      <m:sSubPr>
                        <m:ctrlPr>
                          <a:rPr lang="en-US" altLang="zh-CN" i="1">
                            <a:latin typeface="Cambria Math" panose="02040503050406030204" pitchFamily="18" charset="0"/>
                          </a:rPr>
                        </m:ctrlPr>
                      </m:sSubPr>
                      <m:e>
                        <m:r>
                          <m:rPr>
                            <m:nor/>
                          </m:rPr>
                          <a:rPr lang="en-US" altLang="zh-CN" dirty="0"/>
                          <m:t>≼</m:t>
                        </m:r>
                      </m:e>
                      <m:sub>
                        <m:r>
                          <a:rPr lang="en-US" altLang="zh-CN" i="1">
                            <a:latin typeface="Cambria Math" panose="02040503050406030204" pitchFamily="18" charset="0"/>
                          </a:rPr>
                          <m:t>1</m:t>
                        </m:r>
                      </m:sub>
                    </m:sSub>
                  </m:oMath>
                </a14:m>
                <a:r>
                  <a:rPr lang="en-US" dirty="0" smtClean="0"/>
                  <a:t>)</a:t>
                </a:r>
                <a:r>
                  <a:rPr lang="en-US" altLang="zh-CN" dirty="0" smtClean="0"/>
                  <a:t>, </a:t>
                </a:r>
                <a:r>
                  <a:rPr lang="en-US" dirty="0" smtClean="0"/>
                  <a:t>(</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𝐴</m:t>
                        </m:r>
                      </m:e>
                      <m:sub>
                        <m:r>
                          <a:rPr lang="en-US" altLang="zh-CN" b="0" i="1" smtClean="0">
                            <a:latin typeface="Cambria Math" panose="02040503050406030204" pitchFamily="18" charset="0"/>
                          </a:rPr>
                          <m:t>2</m:t>
                        </m:r>
                      </m:sub>
                    </m:sSub>
                  </m:oMath>
                </a14:m>
                <a:r>
                  <a:rPr lang="en-US" altLang="zh-CN" dirty="0"/>
                  <a:t>, </a:t>
                </a:r>
                <a14:m>
                  <m:oMath xmlns:m="http://schemas.openxmlformats.org/officeDocument/2006/math">
                    <m:sSub>
                      <m:sSubPr>
                        <m:ctrlPr>
                          <a:rPr lang="en-US" altLang="zh-CN" i="1">
                            <a:latin typeface="Cambria Math" panose="02040503050406030204" pitchFamily="18" charset="0"/>
                          </a:rPr>
                        </m:ctrlPr>
                      </m:sSubPr>
                      <m:e>
                        <m:r>
                          <m:rPr>
                            <m:nor/>
                          </m:rPr>
                          <a:rPr lang="en-US" altLang="zh-CN" dirty="0"/>
                          <m:t>≼</m:t>
                        </m:r>
                      </m:e>
                      <m:sub>
                        <m:r>
                          <a:rPr lang="en-US" altLang="zh-CN" b="0" i="1" smtClean="0">
                            <a:latin typeface="Cambria Math" panose="02040503050406030204" pitchFamily="18" charset="0"/>
                          </a:rPr>
                          <m:t>2</m:t>
                        </m:r>
                      </m:sub>
                    </m:sSub>
                  </m:oMath>
                </a14:m>
                <a:r>
                  <a:rPr lang="en-US" dirty="0" smtClean="0"/>
                  <a:t>), </a:t>
                </a:r>
                <a:r>
                  <a:rPr lang="zh-CN" altLang="en-US" dirty="0" smtClean="0"/>
                  <a:t>在</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𝐴</m:t>
                        </m:r>
                      </m:e>
                      <m:sub>
                        <m:r>
                          <a:rPr lang="en-US" altLang="zh-CN" i="1">
                            <a:latin typeface="Cambria Math" panose="02040503050406030204" pitchFamily="18" charset="0"/>
                          </a:rPr>
                          <m:t>1</m:t>
                        </m:r>
                      </m:sub>
                    </m:sSub>
                    <m:r>
                      <a:rPr lang="en-US" altLang="zh-CN" i="1" smtClean="0">
                        <a:latin typeface="Cambria Math" panose="02040503050406030204" pitchFamily="18" charset="0"/>
                        <a:ea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𝐴</m:t>
                        </m:r>
                      </m:e>
                      <m:sub>
                        <m:r>
                          <a:rPr lang="en-US" altLang="zh-CN" b="0" i="1" smtClean="0">
                            <a:latin typeface="Cambria Math" panose="02040503050406030204" pitchFamily="18" charset="0"/>
                          </a:rPr>
                          <m:t>2</m:t>
                        </m:r>
                      </m:sub>
                    </m:sSub>
                  </m:oMath>
                </a14:m>
                <a:r>
                  <a:rPr lang="zh-CN" altLang="en-US" dirty="0" smtClean="0"/>
                  <a:t>上的</a:t>
                </a:r>
                <a:r>
                  <a:rPr lang="zh-CN" altLang="en-US" b="1" dirty="0" smtClean="0">
                    <a:solidFill>
                      <a:srgbClr val="C00000"/>
                    </a:solidFill>
                  </a:rPr>
                  <a:t>字典顺序</a:t>
                </a:r>
                <a:r>
                  <a:rPr lang="en-US" altLang="zh-CN" dirty="0" smtClean="0"/>
                  <a:t>≼</a:t>
                </a:r>
                <a:r>
                  <a:rPr lang="zh-CN" altLang="en-US" dirty="0" smtClean="0"/>
                  <a:t>定义为如果第一个有序对的第一个元素</a:t>
                </a:r>
                <a:r>
                  <a:rPr lang="en-US" altLang="zh-CN" dirty="0" smtClean="0"/>
                  <a:t>(</a:t>
                </a:r>
                <a:r>
                  <a:rPr lang="zh-CN" altLang="en-US" dirty="0" smtClean="0"/>
                  <a:t>在</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𝐴</m:t>
                        </m:r>
                      </m:e>
                      <m:sub>
                        <m:r>
                          <a:rPr lang="en-US" altLang="zh-CN" i="1">
                            <a:latin typeface="Cambria Math" panose="02040503050406030204" pitchFamily="18" charset="0"/>
                          </a:rPr>
                          <m:t>1</m:t>
                        </m:r>
                      </m:sub>
                    </m:sSub>
                  </m:oMath>
                </a14:m>
                <a:r>
                  <a:rPr lang="zh-CN" altLang="en-US" dirty="0" smtClean="0"/>
                  <a:t>中</a:t>
                </a:r>
                <a:r>
                  <a:rPr lang="en-US" altLang="zh-CN" dirty="0" smtClean="0"/>
                  <a:t>)</a:t>
                </a:r>
                <a:r>
                  <a:rPr lang="zh-CN" altLang="en-US" dirty="0" smtClean="0"/>
                  <a:t>小于第二个有序对的第一个元素</a:t>
                </a:r>
                <a:r>
                  <a:rPr lang="en-US" altLang="zh-CN" dirty="0" smtClean="0"/>
                  <a:t>; </a:t>
                </a:r>
                <a:r>
                  <a:rPr lang="zh-CN" altLang="en-US" dirty="0" smtClean="0"/>
                  <a:t>或者第一个元素相等</a:t>
                </a:r>
                <a:r>
                  <a:rPr lang="en-US" altLang="zh-CN" dirty="0" smtClean="0"/>
                  <a:t>, </a:t>
                </a:r>
                <a:r>
                  <a:rPr lang="zh-CN" altLang="en-US" dirty="0" smtClean="0"/>
                  <a:t>但是第一个有序对的第二个元素</a:t>
                </a:r>
                <a:r>
                  <a:rPr lang="en-US" altLang="zh-CN" dirty="0" smtClean="0"/>
                  <a:t>(</a:t>
                </a:r>
                <a:r>
                  <a:rPr lang="zh-CN" altLang="en-US" dirty="0" smtClean="0"/>
                  <a:t>在</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𝐴</m:t>
                        </m:r>
                      </m:e>
                      <m:sub>
                        <m:r>
                          <a:rPr lang="en-US" altLang="zh-CN" i="1">
                            <a:latin typeface="Cambria Math" panose="02040503050406030204" pitchFamily="18" charset="0"/>
                          </a:rPr>
                          <m:t>2</m:t>
                        </m:r>
                      </m:sub>
                    </m:sSub>
                  </m:oMath>
                </a14:m>
                <a:r>
                  <a:rPr lang="zh-CN" altLang="en-US" dirty="0" smtClean="0"/>
                  <a:t>中</a:t>
                </a:r>
                <a:r>
                  <a:rPr lang="en-US" altLang="zh-CN" dirty="0" smtClean="0"/>
                  <a:t>)</a:t>
                </a:r>
                <a:r>
                  <a:rPr lang="zh-CN" altLang="en-US" dirty="0" smtClean="0"/>
                  <a:t>小于第二个有序对的第二个元素</a:t>
                </a:r>
                <a:r>
                  <a:rPr lang="en-US" altLang="zh-CN" dirty="0" smtClean="0"/>
                  <a:t>, </a:t>
                </a:r>
                <a:r>
                  <a:rPr lang="zh-CN" altLang="en-US" dirty="0" smtClean="0"/>
                  <a:t>那么第一个有序对小于第二个有序对</a:t>
                </a:r>
                <a:r>
                  <a:rPr lang="en-US" altLang="zh-CN" dirty="0" smtClean="0"/>
                  <a:t>.</a:t>
                </a:r>
              </a:p>
              <a:p>
                <a:r>
                  <a:rPr lang="zh-CN" altLang="en-US" dirty="0" smtClean="0"/>
                  <a:t>换句话说</a:t>
                </a:r>
                <a:r>
                  <a:rPr lang="en-US" altLang="zh-CN" dirty="0" smtClean="0"/>
                  <a:t>,</a:t>
                </a:r>
                <a:r>
                  <a:rPr lang="en-US" dirty="0" smtClean="0"/>
                  <a:t> (</a:t>
                </a:r>
                <a14:m>
                  <m:oMath xmlns:m="http://schemas.openxmlformats.org/officeDocument/2006/math">
                    <m:sSub>
                      <m:sSubPr>
                        <m:ctrlPr>
                          <a:rPr lang="en-US" altLang="zh-CN" i="1">
                            <a:latin typeface="Cambria Math" panose="02040503050406030204" pitchFamily="18" charset="0"/>
                          </a:rPr>
                        </m:ctrlPr>
                      </m:sSubPr>
                      <m:e>
                        <m:r>
                          <a:rPr lang="en-US" altLang="zh-CN" b="0" i="1" smtClean="0">
                            <a:latin typeface="Cambria Math" panose="02040503050406030204" pitchFamily="18" charset="0"/>
                          </a:rPr>
                          <m:t>𝑎</m:t>
                        </m:r>
                      </m:e>
                      <m:sub>
                        <m:r>
                          <a:rPr lang="en-US" altLang="zh-CN" i="1">
                            <a:latin typeface="Cambria Math" panose="02040503050406030204" pitchFamily="18" charset="0"/>
                          </a:rPr>
                          <m:t>1</m:t>
                        </m:r>
                      </m:sub>
                    </m:sSub>
                  </m:oMath>
                </a14:m>
                <a:r>
                  <a:rPr lang="en-US" dirty="0" smtClean="0"/>
                  <a:t>,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𝑎</m:t>
                        </m:r>
                      </m:e>
                      <m:sub>
                        <m:r>
                          <a:rPr lang="en-US" altLang="zh-CN" b="0" i="1" smtClean="0">
                            <a:latin typeface="Cambria Math" panose="02040503050406030204" pitchFamily="18" charset="0"/>
                          </a:rPr>
                          <m:t>2</m:t>
                        </m:r>
                      </m:sub>
                    </m:sSub>
                  </m:oMath>
                </a14:m>
                <a:r>
                  <a:rPr lang="en-US" dirty="0" smtClean="0"/>
                  <a:t>)</a:t>
                </a:r>
                <a:r>
                  <a:rPr lang="zh-CN" altLang="en-US" dirty="0" smtClean="0"/>
                  <a:t>小于</a:t>
                </a:r>
                <a:r>
                  <a:rPr lang="en-US" dirty="0" smtClean="0"/>
                  <a:t>(</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𝑏</m:t>
                        </m:r>
                      </m:e>
                      <m:sub>
                        <m:r>
                          <a:rPr lang="en-US" altLang="zh-CN" b="0" i="1" smtClean="0">
                            <a:latin typeface="Cambria Math" panose="02040503050406030204" pitchFamily="18" charset="0"/>
                          </a:rPr>
                          <m:t>1</m:t>
                        </m:r>
                      </m:sub>
                    </m:sSub>
                  </m:oMath>
                </a14:m>
                <a:r>
                  <a:rPr lang="en-US" dirty="0" smtClean="0"/>
                  <a:t>,</a:t>
                </a:r>
                <a:r>
                  <a:rPr lang="en-US" altLang="zh-CN" dirty="0"/>
                  <a:t> </a:t>
                </a:r>
                <a14:m>
                  <m:oMath xmlns:m="http://schemas.openxmlformats.org/officeDocument/2006/math">
                    <m:sSub>
                      <m:sSubPr>
                        <m:ctrlPr>
                          <a:rPr lang="en-US" altLang="zh-CN" i="1">
                            <a:latin typeface="Cambria Math" panose="02040503050406030204" pitchFamily="18" charset="0"/>
                          </a:rPr>
                        </m:ctrlPr>
                      </m:sSubPr>
                      <m:e>
                        <m:r>
                          <a:rPr lang="en-US" altLang="zh-CN" b="0" i="1" smtClean="0">
                            <a:latin typeface="Cambria Math" panose="02040503050406030204" pitchFamily="18" charset="0"/>
                          </a:rPr>
                          <m:t>𝑏</m:t>
                        </m:r>
                      </m:e>
                      <m:sub>
                        <m:r>
                          <a:rPr lang="en-US" altLang="zh-CN" i="1">
                            <a:latin typeface="Cambria Math" panose="02040503050406030204" pitchFamily="18" charset="0"/>
                          </a:rPr>
                          <m:t>2</m:t>
                        </m:r>
                      </m:sub>
                    </m:sSub>
                  </m:oMath>
                </a14:m>
                <a:r>
                  <a:rPr lang="en-US" dirty="0" smtClean="0"/>
                  <a:t>), </a:t>
                </a:r>
                <a:r>
                  <a:rPr lang="zh-CN" altLang="en-US" dirty="0" smtClean="0"/>
                  <a:t>即</a:t>
                </a:r>
                <a:r>
                  <a:rPr lang="en-US" dirty="0" smtClean="0"/>
                  <a:t>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𝑎</m:t>
                        </m:r>
                      </m:e>
                      <m:sub>
                        <m:r>
                          <a:rPr lang="en-US" altLang="zh-CN" i="1">
                            <a:latin typeface="Cambria Math" panose="02040503050406030204" pitchFamily="18" charset="0"/>
                          </a:rPr>
                          <m:t>1</m:t>
                        </m:r>
                      </m:sub>
                    </m:sSub>
                  </m:oMath>
                </a14:m>
                <a:r>
                  <a:rPr lang="en-US" dirty="0" smtClean="0"/>
                  <a:t>,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𝑎</m:t>
                        </m:r>
                      </m:e>
                      <m:sub>
                        <m:r>
                          <a:rPr lang="en-US" altLang="zh-CN" i="1">
                            <a:latin typeface="Cambria Math" panose="02040503050406030204" pitchFamily="18" charset="0"/>
                          </a:rPr>
                          <m:t>2</m:t>
                        </m:r>
                      </m:sub>
                    </m:sSub>
                  </m:oMath>
                </a14:m>
                <a:r>
                  <a:rPr lang="en-US" dirty="0" smtClean="0"/>
                  <a:t>)≺(</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𝑏</m:t>
                        </m:r>
                      </m:e>
                      <m:sub>
                        <m:r>
                          <a:rPr lang="en-US" altLang="zh-CN" i="1">
                            <a:latin typeface="Cambria Math" panose="02040503050406030204" pitchFamily="18" charset="0"/>
                          </a:rPr>
                          <m:t>1</m:t>
                        </m:r>
                      </m:sub>
                    </m:sSub>
                  </m:oMath>
                </a14:m>
                <a:r>
                  <a:rPr lang="en-US" dirty="0" smtClean="0"/>
                  <a:t>,</a:t>
                </a:r>
                <a:r>
                  <a:rPr lang="en-US" altLang="zh-CN" dirty="0"/>
                  <a:t>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𝑏</m:t>
                        </m:r>
                      </m:e>
                      <m:sub>
                        <m:r>
                          <a:rPr lang="en-US" altLang="zh-CN" i="1">
                            <a:latin typeface="Cambria Math" panose="02040503050406030204" pitchFamily="18" charset="0"/>
                          </a:rPr>
                          <m:t>2</m:t>
                        </m:r>
                      </m:sub>
                    </m:sSub>
                  </m:oMath>
                </a14:m>
                <a:r>
                  <a:rPr lang="en-US" dirty="0" smtClean="0"/>
                  <a:t>), </a:t>
                </a:r>
                <a:r>
                  <a:rPr lang="zh-CN" altLang="en-US" dirty="0" smtClean="0"/>
                  <a:t>或者</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𝑎</m:t>
                        </m:r>
                      </m:e>
                      <m:sub>
                        <m:r>
                          <a:rPr lang="en-US" altLang="zh-CN" i="1">
                            <a:latin typeface="Cambria Math" panose="02040503050406030204" pitchFamily="18" charset="0"/>
                          </a:rPr>
                          <m:t>1</m:t>
                        </m:r>
                      </m:sub>
                    </m:sSub>
                    <m:sSub>
                      <m:sSubPr>
                        <m:ctrlPr>
                          <a:rPr lang="en-US" altLang="zh-CN" i="1">
                            <a:latin typeface="Cambria Math" panose="02040503050406030204" pitchFamily="18" charset="0"/>
                          </a:rPr>
                        </m:ctrlPr>
                      </m:sSubPr>
                      <m:e>
                        <m:r>
                          <m:rPr>
                            <m:nor/>
                          </m:rPr>
                          <a:rPr lang="en-US" altLang="zh-CN" dirty="0"/>
                          <m:t>≺</m:t>
                        </m:r>
                      </m:e>
                      <m:sub>
                        <m:r>
                          <a:rPr lang="en-US" altLang="zh-CN" i="1">
                            <a:latin typeface="Cambria Math" panose="02040503050406030204" pitchFamily="18" charset="0"/>
                          </a:rPr>
                          <m:t>1</m:t>
                        </m:r>
                      </m:sub>
                    </m:sSub>
                    <m:sSub>
                      <m:sSubPr>
                        <m:ctrlPr>
                          <a:rPr lang="en-US" altLang="zh-CN" i="1">
                            <a:latin typeface="Cambria Math" panose="02040503050406030204" pitchFamily="18" charset="0"/>
                          </a:rPr>
                        </m:ctrlPr>
                      </m:sSubPr>
                      <m:e>
                        <m:r>
                          <a:rPr lang="en-US" altLang="zh-CN" i="1">
                            <a:latin typeface="Cambria Math" panose="02040503050406030204" pitchFamily="18" charset="0"/>
                          </a:rPr>
                          <m:t>𝑏</m:t>
                        </m:r>
                      </m:e>
                      <m:sub>
                        <m:r>
                          <a:rPr lang="en-US" altLang="zh-CN" i="1">
                            <a:latin typeface="Cambria Math" panose="02040503050406030204" pitchFamily="18" charset="0"/>
                          </a:rPr>
                          <m:t>1</m:t>
                        </m:r>
                      </m:sub>
                    </m:sSub>
                  </m:oMath>
                </a14:m>
                <a:r>
                  <a:rPr lang="en-US" altLang="zh-CN" dirty="0" smtClean="0"/>
                  <a:t>, </a:t>
                </a:r>
                <a:r>
                  <a:rPr lang="zh-CN" altLang="en-US" dirty="0" smtClean="0"/>
                  <a:t>或者</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𝑎</m:t>
                        </m:r>
                      </m:e>
                      <m:sub>
                        <m:r>
                          <a:rPr lang="en-US" altLang="zh-CN" i="1">
                            <a:latin typeface="Cambria Math" panose="02040503050406030204" pitchFamily="18" charset="0"/>
                          </a:rPr>
                          <m:t>1</m:t>
                        </m:r>
                      </m:sub>
                    </m:sSub>
                  </m:oMath>
                </a14:m>
                <a:r>
                  <a:rPr lang="en-US" dirty="0" smtClean="0"/>
                  <a:t>=</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𝑏</m:t>
                        </m:r>
                      </m:e>
                      <m:sub>
                        <m:r>
                          <a:rPr lang="en-US" altLang="zh-CN" i="1">
                            <a:latin typeface="Cambria Math" panose="02040503050406030204" pitchFamily="18" charset="0"/>
                          </a:rPr>
                          <m:t>1</m:t>
                        </m:r>
                      </m:sub>
                    </m:sSub>
                  </m:oMath>
                </a14:m>
                <a:r>
                  <a:rPr lang="zh-CN" altLang="en-US" dirty="0" smtClean="0"/>
                  <a:t>且</a:t>
                </a:r>
                <a:r>
                  <a:rPr lang="en-US" dirty="0" smtClean="0"/>
                  <a:t>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𝑎</m:t>
                        </m:r>
                      </m:e>
                      <m:sub>
                        <m:r>
                          <a:rPr lang="en-US" altLang="zh-CN" i="1">
                            <a:latin typeface="Cambria Math" panose="02040503050406030204" pitchFamily="18" charset="0"/>
                          </a:rPr>
                          <m:t>2</m:t>
                        </m:r>
                      </m:sub>
                    </m:sSub>
                    <m:sSub>
                      <m:sSubPr>
                        <m:ctrlPr>
                          <a:rPr lang="en-US" altLang="zh-CN" i="1">
                            <a:latin typeface="Cambria Math" panose="02040503050406030204" pitchFamily="18" charset="0"/>
                          </a:rPr>
                        </m:ctrlPr>
                      </m:sSubPr>
                      <m:e>
                        <m:r>
                          <m:rPr>
                            <m:nor/>
                          </m:rPr>
                          <a:rPr lang="en-US" altLang="zh-CN" dirty="0"/>
                          <m:t>≺</m:t>
                        </m:r>
                      </m:e>
                      <m:sub>
                        <m:r>
                          <a:rPr lang="en-US" altLang="zh-CN" b="0" i="1" smtClean="0">
                            <a:latin typeface="Cambria Math" panose="02040503050406030204" pitchFamily="18" charset="0"/>
                          </a:rPr>
                          <m:t>2</m:t>
                        </m:r>
                      </m:sub>
                    </m:sSub>
                    <m:sSub>
                      <m:sSubPr>
                        <m:ctrlPr>
                          <a:rPr lang="en-US" altLang="zh-CN" i="1">
                            <a:latin typeface="Cambria Math" panose="02040503050406030204" pitchFamily="18" charset="0"/>
                          </a:rPr>
                        </m:ctrlPr>
                      </m:sSubPr>
                      <m:e>
                        <m:r>
                          <a:rPr lang="en-US" altLang="zh-CN" i="1">
                            <a:latin typeface="Cambria Math" panose="02040503050406030204" pitchFamily="18" charset="0"/>
                          </a:rPr>
                          <m:t>𝑏</m:t>
                        </m:r>
                      </m:e>
                      <m:sub>
                        <m:r>
                          <a:rPr lang="en-US" altLang="zh-CN" i="1">
                            <a:latin typeface="Cambria Math" panose="02040503050406030204" pitchFamily="18" charset="0"/>
                          </a:rPr>
                          <m:t>2</m:t>
                        </m:r>
                      </m:sub>
                    </m:sSub>
                  </m:oMath>
                </a14:m>
                <a:r>
                  <a:rPr lang="en-US" dirty="0" smtClean="0"/>
                  <a:t>. </a:t>
                </a:r>
                <a:r>
                  <a:rPr lang="zh-CN" altLang="en-US" dirty="0" smtClean="0"/>
                  <a:t>当把相等增加到</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𝐴</m:t>
                        </m:r>
                      </m:e>
                      <m:sub>
                        <m:r>
                          <a:rPr lang="en-US" altLang="zh-CN" i="1">
                            <a:latin typeface="Cambria Math" panose="02040503050406030204" pitchFamily="18" charset="0"/>
                          </a:rPr>
                          <m:t>1</m:t>
                        </m:r>
                      </m:sub>
                    </m:sSub>
                    <m:r>
                      <a:rPr lang="en-US" altLang="zh-CN" i="1">
                        <a:latin typeface="Cambria Math" panose="02040503050406030204" pitchFamily="18" charset="0"/>
                        <a:ea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𝐴</m:t>
                        </m:r>
                      </m:e>
                      <m:sub>
                        <m:r>
                          <a:rPr lang="en-US" altLang="zh-CN" i="1">
                            <a:latin typeface="Cambria Math" panose="02040503050406030204" pitchFamily="18" charset="0"/>
                          </a:rPr>
                          <m:t>2</m:t>
                        </m:r>
                      </m:sub>
                    </m:sSub>
                  </m:oMath>
                </a14:m>
                <a:r>
                  <a:rPr lang="zh-CN" altLang="en-US" dirty="0" smtClean="0"/>
                  <a:t>的序</a:t>
                </a:r>
                <a:r>
                  <a:rPr lang="en-US" altLang="zh-CN" dirty="0" smtClean="0"/>
                  <a:t>≺</a:t>
                </a:r>
                <a:r>
                  <a:rPr lang="zh-CN" altLang="en-US" dirty="0" smtClean="0"/>
                  <a:t>上</a:t>
                </a:r>
                <a:r>
                  <a:rPr lang="en-US" altLang="zh-CN" dirty="0" smtClean="0"/>
                  <a:t>, </a:t>
                </a:r>
                <a:r>
                  <a:rPr lang="zh-CN" altLang="en-US" dirty="0" smtClean="0"/>
                  <a:t>就能得到一个偏序</a:t>
                </a:r>
                <a:r>
                  <a:rPr lang="en-US" altLang="zh-CN" dirty="0" smtClean="0"/>
                  <a:t>≼.</a:t>
                </a:r>
                <a:endParaRPr lang="en-US" dirty="0"/>
              </a:p>
              <a:p>
                <a:pPr marL="0" indent="0">
                  <a:buNone/>
                </a:pPr>
                <a:endParaRPr lang="en-US" dirty="0" smtClean="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999" t="-1667" r="-333"/>
                </a:stretch>
              </a:blipFill>
            </p:spPr>
            <p:txBody>
              <a:bodyPr/>
              <a:lstStyle/>
              <a:p>
                <a:r>
                  <a:rPr lang="zh-CN" altLang="en-US">
                    <a:noFill/>
                  </a:rPr>
                  <a:t> </a:t>
                </a:r>
              </a:p>
            </p:txBody>
          </p:sp>
        </mc:Fallback>
      </mc:AlternateContent>
      <p:sp>
        <p:nvSpPr>
          <p:cNvPr id="6" name="日期占位符 5"/>
          <p:cNvSpPr>
            <a:spLocks noGrp="1"/>
          </p:cNvSpPr>
          <p:nvPr>
            <p:ph type="dt" sz="half" idx="10"/>
          </p:nvPr>
        </p:nvSpPr>
        <p:spPr/>
        <p:txBody>
          <a:bodyPr/>
          <a:lstStyle/>
          <a:p>
            <a:fld id="{68F46654-0732-4EF0-9C55-7E5D46B135AD}" type="datetime1">
              <a:rPr lang="zh-CN" altLang="en-US" smtClean="0"/>
              <a:t>2025/3/14</a:t>
            </a:fld>
            <a:endParaRPr lang="zh-CN" altLang="en-US" dirty="0"/>
          </a:p>
        </p:txBody>
      </p:sp>
      <p:sp>
        <p:nvSpPr>
          <p:cNvPr id="7" name="页脚占位符 6"/>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8" name="灯片编号占位符 7"/>
          <p:cNvSpPr>
            <a:spLocks noGrp="1"/>
          </p:cNvSpPr>
          <p:nvPr>
            <p:ph type="sldNum" sz="quarter" idx="12"/>
          </p:nvPr>
        </p:nvSpPr>
        <p:spPr/>
        <p:txBody>
          <a:bodyPr/>
          <a:lstStyle/>
          <a:p>
            <a:fld id="{67913A8A-9EFB-4B5F-9CCB-3D21173FAA85}" type="slidenum">
              <a:rPr lang="zh-CN" altLang="en-US" smtClean="0"/>
              <a:pPr/>
              <a:t>114</a:t>
            </a:fld>
            <a:endParaRPr lang="zh-CN" altLang="en-US" dirty="0"/>
          </a:p>
        </p:txBody>
      </p:sp>
      <p:pic>
        <p:nvPicPr>
          <p:cNvPr id="4" name="图片 3"/>
          <p:cNvPicPr>
            <a:picLocks noChangeAspect="1"/>
          </p:cNvPicPr>
          <p:nvPr/>
        </p:nvPicPr>
        <p:blipFill>
          <a:blip r:embed="rId3"/>
          <a:stretch>
            <a:fillRect/>
          </a:stretch>
        </p:blipFill>
        <p:spPr>
          <a:xfrm>
            <a:off x="10186404" y="4661466"/>
            <a:ext cx="1430044" cy="1644086"/>
          </a:xfrm>
          <a:prstGeom prst="rect">
            <a:avLst/>
          </a:prstGeom>
        </p:spPr>
      </p:pic>
    </p:spTree>
    <p:extLst>
      <p:ext uri="{BB962C8B-B14F-4D97-AF65-F5344CB8AC3E}">
        <p14:creationId xmlns:p14="http://schemas.microsoft.com/office/powerpoint/2010/main" val="605394695"/>
      </p:ext>
    </p:extLst>
  </p:cSld>
  <p:clrMapOvr>
    <a:masterClrMapping/>
  </p:clrMapOvr>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smtClean="0"/>
              <a:t>字典顺序</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lnSpcReduction="10000"/>
              </a:bodyPr>
              <a:lstStyle/>
              <a:p>
                <a:r>
                  <a:rPr lang="zh-CN" altLang="en-US" dirty="0"/>
                  <a:t>例</a:t>
                </a:r>
                <a:r>
                  <a:rPr lang="en-US" altLang="zh-CN" dirty="0" smtClean="0"/>
                  <a:t>: </a:t>
                </a:r>
                <a:r>
                  <a:rPr lang="zh-CN" altLang="en-US" dirty="0" smtClean="0"/>
                  <a:t>在</a:t>
                </a:r>
                <a:r>
                  <a:rPr lang="zh-CN" altLang="en-US" dirty="0"/>
                  <a:t>偏序集</a:t>
                </a:r>
                <a:r>
                  <a:rPr lang="en-US" altLang="zh-CN" dirty="0"/>
                  <a:t>(Z</a:t>
                </a:r>
                <a14:m>
                  <m:oMath xmlns:m="http://schemas.openxmlformats.org/officeDocument/2006/math">
                    <m:r>
                      <a:rPr lang="en-US" altLang="zh-CN" i="1" dirty="0">
                        <a:latin typeface="Cambria Math" panose="02040503050406030204" pitchFamily="18" charset="0"/>
                        <a:ea typeface="Cambria Math" panose="02040503050406030204" pitchFamily="18" charset="0"/>
                      </a:rPr>
                      <m:t>×</m:t>
                    </m:r>
                  </m:oMath>
                </a14:m>
                <a:r>
                  <a:rPr lang="en-US" altLang="zh-CN" dirty="0"/>
                  <a:t>Z, ≼)</a:t>
                </a:r>
                <a:r>
                  <a:rPr lang="zh-CN" altLang="en-US" dirty="0"/>
                  <a:t>中</a:t>
                </a:r>
                <a:r>
                  <a:rPr lang="en-US" altLang="zh-CN" dirty="0"/>
                  <a:t>, ≼</a:t>
                </a:r>
                <a:r>
                  <a:rPr lang="zh-CN" altLang="en-US" dirty="0"/>
                  <a:t>是由通常定义在</a:t>
                </a:r>
                <a:r>
                  <a:rPr lang="en-US" altLang="zh-CN" dirty="0"/>
                  <a:t>Z</a:t>
                </a:r>
                <a:r>
                  <a:rPr lang="zh-CN" altLang="en-US" dirty="0"/>
                  <a:t>上的</a:t>
                </a:r>
                <a14:m>
                  <m:oMath xmlns:m="http://schemas.openxmlformats.org/officeDocument/2006/math">
                    <m:r>
                      <a:rPr lang="zh-CN" altLang="en-US" i="1">
                        <a:latin typeface="Cambria Math" panose="02040503050406030204" pitchFamily="18" charset="0"/>
                      </a:rPr>
                      <m:t>≤</m:t>
                    </m:r>
                    <m:r>
                      <a:rPr lang="zh-CN" altLang="en-US" i="1">
                        <a:latin typeface="Cambria Math" panose="02040503050406030204" pitchFamily="18" charset="0"/>
                      </a:rPr>
                      <m:t>关系</m:t>
                    </m:r>
                  </m:oMath>
                </a14:m>
                <a:r>
                  <a:rPr lang="zh-CN" altLang="en-US" dirty="0"/>
                  <a:t>构造的字典</a:t>
                </a:r>
                <a:r>
                  <a:rPr lang="zh-CN" altLang="en-US" dirty="0" smtClean="0"/>
                  <a:t>顺序</a:t>
                </a:r>
                <a:r>
                  <a:rPr lang="en-US" altLang="zh-CN" dirty="0" smtClean="0"/>
                  <a:t>. </a:t>
                </a:r>
                <a:r>
                  <a:rPr lang="zh-CN" altLang="en-US" dirty="0" smtClean="0"/>
                  <a:t>那么</a:t>
                </a:r>
                <a:r>
                  <a:rPr lang="en-US" altLang="zh-CN" dirty="0" smtClean="0"/>
                  <a:t>(3,5)≺(4,8), (3,5)≺(3,8).</a:t>
                </a:r>
                <a:endParaRPr lang="en-US" altLang="zh-CN" dirty="0"/>
              </a:p>
              <a:p>
                <a:endParaRPr lang="en-US" altLang="zh-CN" dirty="0" smtClean="0"/>
              </a:p>
              <a:p>
                <a:r>
                  <a:rPr lang="zh-CN" altLang="en-US" dirty="0" smtClean="0"/>
                  <a:t>例</a:t>
                </a:r>
                <a:r>
                  <a:rPr lang="en-US" dirty="0" smtClean="0"/>
                  <a:t>: </a:t>
                </a:r>
                <a:r>
                  <a:rPr lang="zh-CN" altLang="en-US" dirty="0" smtClean="0"/>
                  <a:t>考虑由小写英语组成的字符串的集合</a:t>
                </a:r>
                <a:r>
                  <a:rPr lang="en-US" altLang="zh-CN" dirty="0" smtClean="0"/>
                  <a:t>. </a:t>
                </a:r>
                <a:r>
                  <a:rPr lang="zh-CN" altLang="en-US" dirty="0" smtClean="0"/>
                  <a:t>使用字母在字母表中的顺序</a:t>
                </a:r>
                <a:r>
                  <a:rPr lang="en-US" altLang="zh-CN" dirty="0" smtClean="0"/>
                  <a:t>, </a:t>
                </a:r>
                <a:r>
                  <a:rPr lang="zh-CN" altLang="en-US" dirty="0" smtClean="0"/>
                  <a:t>可以构造在字符串的集合上的字典顺序</a:t>
                </a:r>
                <a:r>
                  <a:rPr lang="en-US" altLang="zh-CN" dirty="0" smtClean="0"/>
                  <a:t>.</a:t>
                </a:r>
              </a:p>
              <a:p>
                <a:r>
                  <a:rPr lang="zh-CN" altLang="en-US" dirty="0" smtClean="0"/>
                  <a:t>解</a:t>
                </a:r>
                <a:r>
                  <a:rPr lang="en-US" altLang="zh-CN" dirty="0" smtClean="0"/>
                  <a:t>: </a:t>
                </a:r>
                <a:r>
                  <a:rPr lang="zh-CN" altLang="en-US" dirty="0" smtClean="0"/>
                  <a:t>如果两个字符串在首个位置出现不同字母时</a:t>
                </a:r>
                <a:r>
                  <a:rPr lang="en-US" altLang="zh-CN" dirty="0" smtClean="0"/>
                  <a:t>, </a:t>
                </a:r>
                <a:r>
                  <a:rPr lang="zh-CN" altLang="en-US" dirty="0" smtClean="0"/>
                  <a:t>第一个字符串中的字母排在第二个字符串中的字母的前面</a:t>
                </a:r>
                <a:r>
                  <a:rPr lang="en-US" altLang="zh-CN" dirty="0" smtClean="0"/>
                  <a:t>, </a:t>
                </a:r>
                <a:r>
                  <a:rPr lang="zh-CN" altLang="en-US" dirty="0" smtClean="0"/>
                  <a:t>或者如果第一个字符串和第二个字符串在所有的位都相同</a:t>
                </a:r>
                <a:r>
                  <a:rPr lang="en-US" altLang="zh-CN" dirty="0" smtClean="0"/>
                  <a:t>, </a:t>
                </a:r>
                <a:r>
                  <a:rPr lang="zh-CN" altLang="en-US" dirty="0" smtClean="0"/>
                  <a:t>但是第二个字符串有更多的字母</a:t>
                </a:r>
                <a:r>
                  <a:rPr lang="en-US" altLang="zh-CN" dirty="0" smtClean="0"/>
                  <a:t>, </a:t>
                </a:r>
                <a:r>
                  <a:rPr lang="zh-CN" altLang="en-US" dirty="0" smtClean="0"/>
                  <a:t>那么第一个字符串小于第二个字符串</a:t>
                </a:r>
                <a:r>
                  <a:rPr lang="en-US" altLang="zh-CN" dirty="0" smtClean="0"/>
                  <a:t>. </a:t>
                </a:r>
                <a:r>
                  <a:rPr lang="zh-CN" altLang="en-US" dirty="0" smtClean="0"/>
                  <a:t>这种排序和字典中使用的排序相同</a:t>
                </a:r>
                <a:r>
                  <a:rPr lang="en-US" altLang="zh-CN" dirty="0" smtClean="0"/>
                  <a:t>. </a:t>
                </a:r>
                <a:r>
                  <a:rPr lang="zh-CN" altLang="en-US" dirty="0" smtClean="0"/>
                  <a:t>举例</a:t>
                </a:r>
                <a:r>
                  <a:rPr lang="en-US" altLang="zh-CN" dirty="0" err="1" smtClean="0"/>
                  <a:t>discre</a:t>
                </a:r>
                <a:r>
                  <a:rPr lang="en-US" altLang="zh-CN" u="sng" dirty="0" err="1" smtClean="0"/>
                  <a:t>e</a:t>
                </a:r>
                <a:r>
                  <a:rPr lang="en-US" altLang="zh-CN" dirty="0" err="1" smtClean="0"/>
                  <a:t>t≺discre</a:t>
                </a:r>
                <a:r>
                  <a:rPr lang="en-US" altLang="zh-CN" u="sng" dirty="0" err="1" smtClean="0"/>
                  <a:t>t</a:t>
                </a:r>
                <a:r>
                  <a:rPr lang="en-US" altLang="zh-CN" dirty="0" err="1" smtClean="0"/>
                  <a:t>e</a:t>
                </a:r>
                <a:r>
                  <a:rPr lang="en-US" altLang="zh-CN" dirty="0" smtClean="0"/>
                  <a:t>; discreet ≺discreet</a:t>
                </a:r>
                <a:r>
                  <a:rPr lang="en-US" altLang="zh-CN" u="sng" dirty="0" smtClean="0"/>
                  <a:t>ness</a:t>
                </a:r>
                <a:r>
                  <a:rPr lang="en-US" altLang="zh-CN" dirty="0" smtClean="0"/>
                  <a:t>; discret</a:t>
                </a:r>
                <a:r>
                  <a:rPr lang="en-US" altLang="zh-CN" u="sng" dirty="0" smtClean="0"/>
                  <a:t>e</a:t>
                </a:r>
                <a:r>
                  <a:rPr lang="en-US" altLang="zh-CN" dirty="0" smtClean="0"/>
                  <a:t> ≺discret</a:t>
                </a:r>
                <a:r>
                  <a:rPr lang="en-US" altLang="zh-CN" u="sng" dirty="0" smtClean="0"/>
                  <a:t>i</a:t>
                </a:r>
                <a:r>
                  <a:rPr lang="en-US" altLang="zh-CN" dirty="0" smtClean="0"/>
                  <a:t>on</a:t>
                </a:r>
                <a:endParaRPr lang="en-US" dirty="0" smtClean="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999" t="-2500" r="-666"/>
                </a:stretch>
              </a:blipFill>
            </p:spPr>
            <p:txBody>
              <a:bodyPr/>
              <a:lstStyle/>
              <a:p>
                <a:r>
                  <a:rPr lang="zh-CN" altLang="en-US">
                    <a:noFill/>
                  </a:rPr>
                  <a:t> </a:t>
                </a:r>
              </a:p>
            </p:txBody>
          </p:sp>
        </mc:Fallback>
      </mc:AlternateContent>
      <p:sp>
        <p:nvSpPr>
          <p:cNvPr id="6" name="日期占位符 5"/>
          <p:cNvSpPr>
            <a:spLocks noGrp="1"/>
          </p:cNvSpPr>
          <p:nvPr>
            <p:ph type="dt" sz="half" idx="10"/>
          </p:nvPr>
        </p:nvSpPr>
        <p:spPr/>
        <p:txBody>
          <a:bodyPr/>
          <a:lstStyle/>
          <a:p>
            <a:fld id="{316CB93F-3809-4FA9-A168-F2313018B713}" type="datetime1">
              <a:rPr lang="zh-CN" altLang="en-US" smtClean="0"/>
              <a:t>2025/3/14</a:t>
            </a:fld>
            <a:endParaRPr lang="zh-CN" altLang="en-US" dirty="0"/>
          </a:p>
        </p:txBody>
      </p:sp>
      <p:sp>
        <p:nvSpPr>
          <p:cNvPr id="7" name="页脚占位符 6"/>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8" name="灯片编号占位符 7"/>
          <p:cNvSpPr>
            <a:spLocks noGrp="1"/>
          </p:cNvSpPr>
          <p:nvPr>
            <p:ph type="sldNum" sz="quarter" idx="12"/>
          </p:nvPr>
        </p:nvSpPr>
        <p:spPr/>
        <p:txBody>
          <a:bodyPr/>
          <a:lstStyle/>
          <a:p>
            <a:fld id="{67913A8A-9EFB-4B5F-9CCB-3D21173FAA85}" type="slidenum">
              <a:rPr lang="zh-CN" altLang="en-US" smtClean="0"/>
              <a:pPr/>
              <a:t>115</a:t>
            </a:fld>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wipe(down)">
                                      <p:cBhvr>
                                        <p:cTn id="7"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457200" y="1066800"/>
            <a:ext cx="11277599" cy="1828800"/>
          </a:xfrm>
          <a:prstGeom prst="rect">
            <a:avLst/>
          </a:prstGeom>
          <a:solidFill>
            <a:schemeClr val="accent5">
              <a:lumMod val="40000"/>
              <a:lumOff val="6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itle 1"/>
          <p:cNvSpPr>
            <a:spLocks noGrp="1"/>
          </p:cNvSpPr>
          <p:nvPr>
            <p:ph type="title"/>
          </p:nvPr>
        </p:nvSpPr>
        <p:spPr/>
        <p:txBody>
          <a:bodyPr/>
          <a:lstStyle/>
          <a:p>
            <a:r>
              <a:rPr lang="zh-CN" altLang="en-US" dirty="0" smtClean="0"/>
              <a:t>哈塞图（哈斯图）</a:t>
            </a:r>
            <a:endParaRPr lang="en-US" dirty="0"/>
          </a:p>
        </p:txBody>
      </p:sp>
      <p:sp>
        <p:nvSpPr>
          <p:cNvPr id="3" name="Content Placeholder 2"/>
          <p:cNvSpPr>
            <a:spLocks noGrp="1"/>
          </p:cNvSpPr>
          <p:nvPr>
            <p:ph idx="1"/>
          </p:nvPr>
        </p:nvSpPr>
        <p:spPr/>
        <p:txBody>
          <a:bodyPr>
            <a:noAutofit/>
          </a:bodyPr>
          <a:lstStyle/>
          <a:p>
            <a:r>
              <a:rPr lang="zh-CN" altLang="en-US" dirty="0" smtClean="0"/>
              <a:t>定义</a:t>
            </a:r>
            <a:r>
              <a:rPr lang="en-US" altLang="zh-CN" dirty="0" smtClean="0"/>
              <a:t>:</a:t>
            </a:r>
            <a:r>
              <a:rPr lang="zh-CN" altLang="en-US" b="1" dirty="0" smtClean="0">
                <a:solidFill>
                  <a:srgbClr val="C00000"/>
                </a:solidFill>
              </a:rPr>
              <a:t>哈塞图</a:t>
            </a:r>
            <a:r>
              <a:rPr lang="en-US" altLang="zh-CN" dirty="0" smtClean="0"/>
              <a:t>(</a:t>
            </a:r>
            <a:r>
              <a:rPr lang="en-US" altLang="zh-CN" dirty="0" err="1" smtClean="0"/>
              <a:t>Hasse</a:t>
            </a:r>
            <a:r>
              <a:rPr lang="zh-CN" altLang="en-US" dirty="0" smtClean="0"/>
              <a:t>图</a:t>
            </a:r>
            <a:r>
              <a:rPr lang="en-US" altLang="zh-CN" dirty="0" smtClean="0"/>
              <a:t>, </a:t>
            </a:r>
            <a:r>
              <a:rPr lang="zh-CN" altLang="en-US" dirty="0" smtClean="0"/>
              <a:t>次序图</a:t>
            </a:r>
            <a:r>
              <a:rPr lang="en-US" altLang="zh-CN" dirty="0" smtClean="0"/>
              <a:t>)</a:t>
            </a:r>
            <a:r>
              <a:rPr lang="zh-CN" altLang="en-US" dirty="0" smtClean="0"/>
              <a:t>是</a:t>
            </a:r>
            <a:r>
              <a:rPr lang="zh-CN" altLang="en-US" dirty="0"/>
              <a:t>一种用来</a:t>
            </a:r>
            <a:r>
              <a:rPr lang="zh-CN" altLang="en-US" b="1" dirty="0"/>
              <a:t>表示有限偏序集</a:t>
            </a:r>
            <a:r>
              <a:rPr lang="zh-CN" altLang="en-US" b="1" dirty="0" smtClean="0"/>
              <a:t>的图</a:t>
            </a:r>
            <a:r>
              <a:rPr lang="en-US" altLang="zh-CN" dirty="0" smtClean="0"/>
              <a:t>, </a:t>
            </a:r>
            <a:r>
              <a:rPr lang="zh-CN" altLang="en-US" dirty="0" smtClean="0"/>
              <a:t>具体而言</a:t>
            </a:r>
            <a:r>
              <a:rPr lang="en-US" altLang="zh-CN" dirty="0" smtClean="0"/>
              <a:t>, </a:t>
            </a:r>
            <a:r>
              <a:rPr lang="zh-CN" altLang="en-US" dirty="0" smtClean="0"/>
              <a:t>它首先移走每个顶点的环</a:t>
            </a:r>
            <a:r>
              <a:rPr lang="en-US" altLang="zh-CN" dirty="0" smtClean="0"/>
              <a:t>, </a:t>
            </a:r>
            <a:r>
              <a:rPr lang="zh-CN" altLang="en-US" dirty="0" smtClean="0"/>
              <a:t>然后移走所有由于传递性必须出现的边</a:t>
            </a:r>
            <a:r>
              <a:rPr lang="en-US" altLang="zh-CN" dirty="0" smtClean="0"/>
              <a:t>, </a:t>
            </a:r>
            <a:r>
              <a:rPr lang="zh-CN" altLang="en-US" dirty="0" smtClean="0"/>
              <a:t>最后排列每条边使得它的起点在终点的下面</a:t>
            </a:r>
            <a:r>
              <a:rPr lang="en-US" altLang="zh-CN" dirty="0" smtClean="0"/>
              <a:t>, </a:t>
            </a:r>
            <a:r>
              <a:rPr lang="zh-CN" altLang="en-US" dirty="0" smtClean="0"/>
              <a:t>移走有向边上的所有箭头</a:t>
            </a:r>
            <a:r>
              <a:rPr lang="en-US" altLang="zh-CN" dirty="0" smtClean="0"/>
              <a:t>.</a:t>
            </a:r>
          </a:p>
          <a:p>
            <a:pPr marL="0" indent="0">
              <a:buNone/>
            </a:pPr>
            <a:r>
              <a:rPr lang="en-US" dirty="0" smtClean="0"/>
              <a:t>   </a:t>
            </a:r>
            <a:endParaRPr lang="en-US" dirty="0"/>
          </a:p>
        </p:txBody>
      </p:sp>
      <p:sp>
        <p:nvSpPr>
          <p:cNvPr id="7" name="日期占位符 6"/>
          <p:cNvSpPr>
            <a:spLocks noGrp="1"/>
          </p:cNvSpPr>
          <p:nvPr>
            <p:ph type="dt" sz="half" idx="10"/>
          </p:nvPr>
        </p:nvSpPr>
        <p:spPr/>
        <p:txBody>
          <a:bodyPr/>
          <a:lstStyle/>
          <a:p>
            <a:fld id="{52D7112C-3154-4868-817D-F8B327E3DD17}" type="datetime1">
              <a:rPr lang="zh-CN" altLang="en-US" smtClean="0"/>
              <a:t>2025/3/14</a:t>
            </a:fld>
            <a:endParaRPr lang="zh-CN" altLang="en-US" dirty="0"/>
          </a:p>
        </p:txBody>
      </p:sp>
      <p:sp>
        <p:nvSpPr>
          <p:cNvPr id="8" name="页脚占位符 7"/>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9" name="灯片编号占位符 8"/>
          <p:cNvSpPr>
            <a:spLocks noGrp="1"/>
          </p:cNvSpPr>
          <p:nvPr>
            <p:ph type="sldNum" sz="quarter" idx="12"/>
          </p:nvPr>
        </p:nvSpPr>
        <p:spPr/>
        <p:txBody>
          <a:bodyPr/>
          <a:lstStyle/>
          <a:p>
            <a:fld id="{67913A8A-9EFB-4B5F-9CCB-3D21173FAA85}" type="slidenum">
              <a:rPr lang="zh-CN" altLang="en-US" smtClean="0"/>
              <a:pPr/>
              <a:t>116</a:t>
            </a:fld>
            <a:endParaRPr lang="zh-CN" altLang="en-US" dirty="0"/>
          </a:p>
        </p:txBody>
      </p:sp>
    </p:spTree>
  </p:cSld>
  <p:clrMapOvr>
    <a:masterClrMapping/>
  </p:clrMapOvr>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smtClean="0"/>
              <a:t>哈塞图</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Autofit/>
              </a:bodyPr>
              <a:lstStyle/>
              <a:p>
                <a:r>
                  <a:rPr lang="zh-CN" altLang="en-US" dirty="0" smtClean="0"/>
                  <a:t>例</a:t>
                </a:r>
                <a:r>
                  <a:rPr lang="en-US" altLang="zh-CN" dirty="0" smtClean="0"/>
                  <a:t>:</a:t>
                </a:r>
                <a:r>
                  <a:rPr lang="zh-CN" altLang="en-US" dirty="0" smtClean="0"/>
                  <a:t>在集合</a:t>
                </a:r>
                <a:r>
                  <a:rPr lang="en-US" altLang="zh-CN" dirty="0" smtClean="0"/>
                  <a:t>{1,2,3,4}</a:t>
                </a:r>
                <a:r>
                  <a:rPr lang="zh-CN" altLang="en-US" dirty="0" smtClean="0"/>
                  <a:t>上的偏序</a:t>
                </a:r>
                <a:r>
                  <a:rPr lang="en-US" altLang="zh-CN" dirty="0" smtClean="0"/>
                  <a:t>{(</a:t>
                </a:r>
                <a:r>
                  <a:rPr lang="en-US" altLang="zh-CN" dirty="0" err="1" smtClean="0"/>
                  <a:t>a,b</a:t>
                </a:r>
                <a:r>
                  <a:rPr lang="en-US" altLang="zh-CN" dirty="0" smtClean="0"/>
                  <a:t>)| a</a:t>
                </a:r>
                <a:r>
                  <a:rPr lang="en-US" altLang="zh-CN" dirty="0">
                    <a:ea typeface="Cambria Math" panose="02040503050406030204" pitchFamily="18" charset="0"/>
                  </a:rPr>
                  <a:t> </a:t>
                </a:r>
                <a14:m>
                  <m:oMath xmlns:m="http://schemas.openxmlformats.org/officeDocument/2006/math">
                    <m:r>
                      <a:rPr lang="en-US" altLang="zh-CN" i="1">
                        <a:latin typeface="Cambria Math" panose="02040503050406030204" pitchFamily="18" charset="0"/>
                        <a:ea typeface="Cambria Math" panose="02040503050406030204" pitchFamily="18" charset="0"/>
                      </a:rPr>
                      <m:t>≤</m:t>
                    </m:r>
                  </m:oMath>
                </a14:m>
                <a:r>
                  <a:rPr lang="en-US" altLang="zh-CN" dirty="0" smtClean="0"/>
                  <a:t> b}</a:t>
                </a:r>
                <a:r>
                  <a:rPr lang="en-US" dirty="0" smtClean="0"/>
                  <a:t> </a:t>
                </a:r>
                <a:r>
                  <a:rPr lang="zh-CN" altLang="en-US" dirty="0" smtClean="0"/>
                  <a:t>的有向图</a:t>
                </a:r>
                <a:r>
                  <a:rPr lang="en-US" altLang="zh-CN" dirty="0" smtClean="0"/>
                  <a:t>, </a:t>
                </a:r>
                <a:r>
                  <a:rPr lang="zh-CN" altLang="en-US" dirty="0" smtClean="0"/>
                  <a:t>如图</a:t>
                </a:r>
                <a:r>
                  <a:rPr lang="en-US" altLang="zh-CN" dirty="0" smtClean="0"/>
                  <a:t>(a)</a:t>
                </a:r>
                <a:r>
                  <a:rPr lang="zh-CN" altLang="en-US" dirty="0" smtClean="0"/>
                  <a:t>所示</a:t>
                </a:r>
                <a:r>
                  <a:rPr lang="en-US" altLang="zh-CN" dirty="0" smtClean="0"/>
                  <a:t>. </a:t>
                </a:r>
                <a:r>
                  <a:rPr lang="zh-CN" altLang="en-US" dirty="0" smtClean="0"/>
                  <a:t>求哈塞图</a:t>
                </a:r>
                <a:r>
                  <a:rPr lang="en-US" altLang="zh-CN" dirty="0" smtClean="0"/>
                  <a:t>.</a:t>
                </a:r>
              </a:p>
              <a:p>
                <a:endParaRPr lang="en-US" altLang="zh-CN" dirty="0"/>
              </a:p>
              <a:p>
                <a:endParaRPr lang="en-US" altLang="zh-CN" dirty="0"/>
              </a:p>
              <a:p>
                <a:endParaRPr lang="en-US" altLang="zh-CN" dirty="0" smtClean="0"/>
              </a:p>
              <a:p>
                <a:endParaRPr lang="en-US" altLang="zh-CN" dirty="0" smtClean="0"/>
              </a:p>
              <a:p>
                <a:r>
                  <a:rPr lang="zh-CN" altLang="en-US" dirty="0" smtClean="0"/>
                  <a:t>解</a:t>
                </a:r>
                <a:r>
                  <a:rPr lang="en-US" altLang="zh-CN" dirty="0" smtClean="0"/>
                  <a:t>:</a:t>
                </a:r>
                <a:r>
                  <a:rPr lang="zh-CN" altLang="en-US" dirty="0" smtClean="0"/>
                  <a:t>首先去掉</a:t>
                </a:r>
                <a:r>
                  <a:rPr lang="en-US" altLang="zh-CN" dirty="0" smtClean="0"/>
                  <a:t>(a)</a:t>
                </a:r>
                <a:r>
                  <a:rPr lang="zh-CN" altLang="en-US" dirty="0" smtClean="0"/>
                  <a:t>中每个顶点的环</a:t>
                </a:r>
                <a:r>
                  <a:rPr lang="en-US" altLang="zh-CN" dirty="0" smtClean="0"/>
                  <a:t>, </a:t>
                </a:r>
                <a:r>
                  <a:rPr lang="zh-CN" altLang="en-US" dirty="0" smtClean="0"/>
                  <a:t>那么产生的图如图</a:t>
                </a:r>
                <a:r>
                  <a:rPr lang="en-US" altLang="zh-CN" dirty="0" smtClean="0"/>
                  <a:t>(b)</a:t>
                </a:r>
                <a:r>
                  <a:rPr lang="zh-CN" altLang="en-US" dirty="0" smtClean="0"/>
                  <a:t>所示</a:t>
                </a:r>
                <a:r>
                  <a:rPr lang="en-US" altLang="zh-CN" dirty="0" smtClean="0"/>
                  <a:t>. </a:t>
                </a:r>
                <a:r>
                  <a:rPr lang="zh-CN" altLang="en-US" dirty="0" smtClean="0"/>
                  <a:t>然后由于偏序集的传递性</a:t>
                </a:r>
                <a:r>
                  <a:rPr lang="en-US" altLang="zh-CN" dirty="0" smtClean="0"/>
                  <a:t>, </a:t>
                </a:r>
                <a:r>
                  <a:rPr lang="zh-CN" altLang="en-US" dirty="0" smtClean="0"/>
                  <a:t>我们不必显示这些由于传递性而必须出现的边</a:t>
                </a:r>
                <a:r>
                  <a:rPr lang="en-US" altLang="zh-CN" dirty="0" smtClean="0"/>
                  <a:t>,</a:t>
                </a:r>
                <a:r>
                  <a:rPr lang="zh-CN" altLang="en-US" dirty="0" smtClean="0"/>
                  <a:t>例如边</a:t>
                </a:r>
                <a:r>
                  <a:rPr lang="en-US" altLang="zh-CN" dirty="0" smtClean="0"/>
                  <a:t>(1,3),(1,4),(2,4). </a:t>
                </a:r>
                <a:r>
                  <a:rPr lang="zh-CN" altLang="en-US" dirty="0" smtClean="0"/>
                  <a:t>另外所有边的方向向上</a:t>
                </a:r>
                <a:r>
                  <a:rPr lang="en-US" altLang="zh-CN" dirty="0" smtClean="0"/>
                  <a:t>, </a:t>
                </a:r>
                <a:r>
                  <a:rPr lang="zh-CN" altLang="en-US" dirty="0" smtClean="0"/>
                  <a:t>我们不必显示边的方向</a:t>
                </a:r>
                <a:r>
                  <a:rPr lang="en-US" altLang="zh-CN" dirty="0" smtClean="0"/>
                  <a:t>, </a:t>
                </a:r>
                <a:r>
                  <a:rPr lang="zh-CN" altLang="en-US" dirty="0" smtClean="0"/>
                  <a:t>所以得到最终的哈塞图如图</a:t>
                </a:r>
                <a:r>
                  <a:rPr lang="en-US" altLang="zh-CN" dirty="0" smtClean="0"/>
                  <a:t>(c)</a:t>
                </a:r>
                <a:r>
                  <a:rPr lang="zh-CN" altLang="en-US" dirty="0" smtClean="0"/>
                  <a:t>所示</a:t>
                </a:r>
                <a:r>
                  <a:rPr lang="en-US" altLang="zh-CN" dirty="0"/>
                  <a:t>.</a:t>
                </a: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999" t="-1310" r="-943" b="-833"/>
                </a:stretch>
              </a:blipFill>
            </p:spPr>
            <p:txBody>
              <a:bodyPr/>
              <a:lstStyle/>
              <a:p>
                <a:r>
                  <a:rPr lang="zh-CN" altLang="en-US">
                    <a:noFill/>
                  </a:rPr>
                  <a:t> </a:t>
                </a:r>
              </a:p>
            </p:txBody>
          </p:sp>
        </mc:Fallback>
      </mc:AlternateContent>
      <p:pic>
        <p:nvPicPr>
          <p:cNvPr id="4" name="Picture 3" descr="0830.jpg"/>
          <p:cNvPicPr>
            <a:picLocks noChangeAspect="1"/>
          </p:cNvPicPr>
          <p:nvPr/>
        </p:nvPicPr>
        <p:blipFill rotWithShape="1">
          <a:blip r:embed="rId3" cstate="print"/>
          <a:srcRect l="-4130" r="68619"/>
          <a:stretch/>
        </p:blipFill>
        <p:spPr>
          <a:xfrm>
            <a:off x="2774043" y="1655379"/>
            <a:ext cx="1219200" cy="2590800"/>
          </a:xfrm>
          <a:prstGeom prst="rect">
            <a:avLst/>
          </a:prstGeom>
        </p:spPr>
      </p:pic>
      <p:sp>
        <p:nvSpPr>
          <p:cNvPr id="7" name="日期占位符 6"/>
          <p:cNvSpPr>
            <a:spLocks noGrp="1"/>
          </p:cNvSpPr>
          <p:nvPr>
            <p:ph type="dt" sz="half" idx="10"/>
          </p:nvPr>
        </p:nvSpPr>
        <p:spPr/>
        <p:txBody>
          <a:bodyPr/>
          <a:lstStyle/>
          <a:p>
            <a:fld id="{BBDB432D-656B-4194-B140-907EE72C756B}" type="datetime1">
              <a:rPr lang="zh-CN" altLang="en-US" smtClean="0"/>
              <a:t>2025/3/14</a:t>
            </a:fld>
            <a:endParaRPr lang="zh-CN" altLang="en-US" dirty="0"/>
          </a:p>
        </p:txBody>
      </p:sp>
      <p:sp>
        <p:nvSpPr>
          <p:cNvPr id="8" name="页脚占位符 7"/>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9" name="灯片编号占位符 8"/>
          <p:cNvSpPr>
            <a:spLocks noGrp="1"/>
          </p:cNvSpPr>
          <p:nvPr>
            <p:ph type="sldNum" sz="quarter" idx="12"/>
          </p:nvPr>
        </p:nvSpPr>
        <p:spPr/>
        <p:txBody>
          <a:bodyPr/>
          <a:lstStyle/>
          <a:p>
            <a:fld id="{67913A8A-9EFB-4B5F-9CCB-3D21173FAA85}" type="slidenum">
              <a:rPr lang="zh-CN" altLang="en-US" smtClean="0"/>
              <a:pPr/>
              <a:t>117</a:t>
            </a:fld>
            <a:endParaRPr lang="zh-CN" altLang="en-US" dirty="0"/>
          </a:p>
        </p:txBody>
      </p:sp>
      <p:pic>
        <p:nvPicPr>
          <p:cNvPr id="10" name="Picture 3" descr="0830.jpg"/>
          <p:cNvPicPr>
            <a:picLocks noChangeAspect="1"/>
          </p:cNvPicPr>
          <p:nvPr/>
        </p:nvPicPr>
        <p:blipFill rotWithShape="1">
          <a:blip r:embed="rId3" cstate="print"/>
          <a:srcRect l="30025"/>
          <a:stretch/>
        </p:blipFill>
        <p:spPr>
          <a:xfrm>
            <a:off x="5181600" y="1655379"/>
            <a:ext cx="2402468" cy="2590800"/>
          </a:xfrm>
          <a:prstGeom prst="rect">
            <a:avLst/>
          </a:prstGeom>
        </p:spPr>
      </p:pic>
    </p:spTree>
    <p:extLst>
      <p:ext uri="{BB962C8B-B14F-4D97-AF65-F5344CB8AC3E}">
        <p14:creationId xmlns:p14="http://schemas.microsoft.com/office/powerpoint/2010/main" val="27570932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animEffect transition="in" filter="wipe(down)">
                                      <p:cBhvr>
                                        <p:cTn id="7" dur="500"/>
                                        <p:tgtEl>
                                          <p:spTgt spid="3">
                                            <p:txEl>
                                              <p:pRg st="5" end="5"/>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wipe(down)">
                                      <p:cBhvr>
                                        <p:cTn id="10"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smtClean="0"/>
              <a:t>哈塞图</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Autofit/>
              </a:bodyPr>
              <a:lstStyle/>
              <a:p>
                <a:r>
                  <a:rPr lang="zh-CN" altLang="en-US" dirty="0" smtClean="0"/>
                  <a:t>例</a:t>
                </a:r>
                <a:r>
                  <a:rPr lang="en-US" altLang="zh-CN" dirty="0" smtClean="0"/>
                  <a:t>:</a:t>
                </a:r>
                <a:r>
                  <a:rPr lang="zh-CN" altLang="en-US" dirty="0" smtClean="0"/>
                  <a:t>画出幂集</a:t>
                </a:r>
                <a:r>
                  <a:rPr lang="en-US" altLang="zh-CN" dirty="0" smtClean="0"/>
                  <a:t>P(S)</a:t>
                </a:r>
                <a:r>
                  <a:rPr lang="zh-CN" altLang="en-US" dirty="0" smtClean="0"/>
                  <a:t>上的偏序</a:t>
                </a:r>
                <a:r>
                  <a:rPr lang="en-US" altLang="zh-CN" dirty="0" smtClean="0"/>
                  <a:t>{(A,B)| </a:t>
                </a:r>
                <a:r>
                  <a:rPr lang="en-US" altLang="zh-CN" dirty="0"/>
                  <a:t>A ⊆ B</a:t>
                </a:r>
                <a:r>
                  <a:rPr lang="en-US" altLang="zh-CN" dirty="0" smtClean="0"/>
                  <a:t>}</a:t>
                </a:r>
                <a:r>
                  <a:rPr lang="en-US" dirty="0" smtClean="0"/>
                  <a:t> </a:t>
                </a:r>
                <a:r>
                  <a:rPr lang="zh-CN" altLang="en-US" dirty="0" smtClean="0"/>
                  <a:t>的哈塞图</a:t>
                </a:r>
                <a:r>
                  <a:rPr lang="en-US" altLang="zh-CN" dirty="0" smtClean="0"/>
                  <a:t>, </a:t>
                </a:r>
                <a:r>
                  <a:rPr lang="zh-CN" altLang="en-US" dirty="0" smtClean="0"/>
                  <a:t>其中</a:t>
                </a:r>
                <a:r>
                  <a:rPr lang="en-US" altLang="zh-CN" dirty="0" smtClean="0"/>
                  <a:t>S={</a:t>
                </a:r>
                <a:r>
                  <a:rPr lang="en-US" altLang="zh-CN" dirty="0" err="1" smtClean="0"/>
                  <a:t>a,b,c</a:t>
                </a:r>
                <a:r>
                  <a:rPr lang="en-US" altLang="zh-CN" dirty="0" smtClean="0"/>
                  <a:t>}.</a:t>
                </a:r>
              </a:p>
              <a:p>
                <a:r>
                  <a:rPr lang="zh-CN" altLang="en-US" dirty="0" smtClean="0"/>
                  <a:t>解</a:t>
                </a:r>
                <a:r>
                  <a:rPr lang="en-US" altLang="zh-CN" dirty="0" smtClean="0"/>
                  <a:t>:</a:t>
                </a:r>
                <a:r>
                  <a:rPr lang="zh-CN" altLang="en-US" dirty="0" smtClean="0"/>
                  <a:t>在这个偏序集的有向集中去删除每个顶点的环和由于传递性而产生出现的边</a:t>
                </a:r>
                <a:r>
                  <a:rPr lang="en-US" altLang="zh-CN" dirty="0" smtClean="0"/>
                  <a:t>, </a:t>
                </a:r>
                <a:r>
                  <a:rPr lang="zh-CN" altLang="en-US" dirty="0" smtClean="0"/>
                  <a:t>即</a:t>
                </a:r>
                <a:r>
                  <a:rPr lang="en-US" altLang="zh-CN" dirty="0" smtClean="0"/>
                  <a:t>(</a:t>
                </a:r>
                <a14:m>
                  <m:oMath xmlns:m="http://schemas.openxmlformats.org/officeDocument/2006/math">
                    <m:r>
                      <a:rPr lang="en-US" altLang="zh-CN"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m:t>
                    </m:r>
                    <m:d>
                      <m:dPr>
                        <m:begChr m:val="{"/>
                        <m:endChr m:val="}"/>
                        <m:ctrlPr>
                          <a:rPr lang="en-US" altLang="zh-CN" b="0" i="1" smtClean="0">
                            <a:latin typeface="Cambria Math" panose="02040503050406030204" pitchFamily="18" charset="0"/>
                            <a:ea typeface="Cambria Math" panose="02040503050406030204" pitchFamily="18" charset="0"/>
                          </a:rPr>
                        </m:ctrlPr>
                      </m:dPr>
                      <m:e>
                        <m:r>
                          <a:rPr lang="en-US" altLang="zh-CN" b="0" i="1" smtClean="0">
                            <a:latin typeface="Cambria Math" panose="02040503050406030204" pitchFamily="18" charset="0"/>
                            <a:ea typeface="Cambria Math" panose="02040503050406030204" pitchFamily="18" charset="0"/>
                          </a:rPr>
                          <m:t>𝑎</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𝑏</m:t>
                        </m:r>
                      </m:e>
                    </m:d>
                  </m:oMath>
                </a14:m>
                <a:r>
                  <a:rPr lang="en-US" altLang="zh-CN" dirty="0" smtClean="0"/>
                  <a:t>)</a:t>
                </a:r>
                <a:r>
                  <a:rPr lang="en-US" altLang="zh-CN" dirty="0"/>
                  <a:t>,</a:t>
                </a:r>
                <a:r>
                  <a:rPr lang="en-US" altLang="zh-CN" dirty="0" smtClean="0"/>
                  <a:t> </a:t>
                </a:r>
                <a14:m>
                  <m:oMath xmlns:m="http://schemas.openxmlformats.org/officeDocument/2006/math">
                    <m:r>
                      <m:rPr>
                        <m:nor/>
                      </m:rPr>
                      <a:rPr lang="en-US" altLang="zh-CN" dirty="0" smtClean="0"/>
                      <m:t>(</m:t>
                    </m:r>
                    <m:r>
                      <a:rPr lang="en-US" altLang="zh-CN" i="1">
                        <a:latin typeface="Cambria Math" panose="02040503050406030204" pitchFamily="18" charset="0"/>
                        <a:ea typeface="Cambria Math" panose="02040503050406030204" pitchFamily="18" charset="0"/>
                      </a:rPr>
                      <m:t>∅</m:t>
                    </m:r>
                    <m:r>
                      <a:rPr lang="en-US" altLang="zh-CN" i="1" smtClean="0">
                        <a:latin typeface="Cambria Math" panose="02040503050406030204" pitchFamily="18" charset="0"/>
                        <a:ea typeface="Cambria Math" panose="02040503050406030204" pitchFamily="18" charset="0"/>
                      </a:rPr>
                      <m:t>,</m:t>
                    </m:r>
                    <m:d>
                      <m:dPr>
                        <m:begChr m:val="{"/>
                        <m:endChr m:val="}"/>
                        <m:ctrlPr>
                          <a:rPr lang="en-US" altLang="zh-CN" i="1">
                            <a:latin typeface="Cambria Math" panose="02040503050406030204" pitchFamily="18" charset="0"/>
                            <a:ea typeface="Cambria Math" panose="02040503050406030204" pitchFamily="18" charset="0"/>
                          </a:rPr>
                        </m:ctrlPr>
                      </m:dPr>
                      <m:e>
                        <m:r>
                          <m:rPr>
                            <m:sty m:val="p"/>
                          </m:rPr>
                          <a:rPr lang="en-US" altLang="zh-CN" i="1" smtClean="0">
                            <a:latin typeface="Cambria Math" panose="02040503050406030204" pitchFamily="18" charset="0"/>
                            <a:ea typeface="Cambria Math" panose="02040503050406030204" pitchFamily="18" charset="0"/>
                          </a:rPr>
                          <m:t>b</m:t>
                        </m:r>
                        <m:r>
                          <a:rPr lang="en-US" altLang="zh-CN"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𝑐</m:t>
                        </m:r>
                      </m:e>
                    </m:d>
                    <m:r>
                      <m:rPr>
                        <m:nor/>
                      </m:rPr>
                      <a:rPr lang="en-US" altLang="zh-CN" dirty="0" smtClean="0"/>
                      <m:t>)</m:t>
                    </m:r>
                  </m:oMath>
                </a14:m>
                <a:r>
                  <a:rPr lang="en-US" altLang="zh-CN" dirty="0" smtClean="0"/>
                  <a:t>,</a:t>
                </a:r>
                <a:r>
                  <a:rPr lang="en-US" altLang="zh-CN" dirty="0"/>
                  <a:t> </a:t>
                </a:r>
                <a:r>
                  <a:rPr lang="en-US" altLang="zh-CN" dirty="0" smtClean="0"/>
                  <a:t>(</a:t>
                </a:r>
                <a14:m>
                  <m:oMath xmlns:m="http://schemas.openxmlformats.org/officeDocument/2006/math">
                    <m:r>
                      <a:rPr lang="en-US" altLang="zh-CN" i="1">
                        <a:latin typeface="Cambria Math" panose="02040503050406030204" pitchFamily="18" charset="0"/>
                        <a:ea typeface="Cambria Math" panose="02040503050406030204" pitchFamily="18" charset="0"/>
                      </a:rPr>
                      <m:t>∅</m:t>
                    </m:r>
                    <m:r>
                      <a:rPr lang="en-US" altLang="zh-CN" i="1" smtClean="0">
                        <a:latin typeface="Cambria Math" panose="02040503050406030204" pitchFamily="18" charset="0"/>
                        <a:ea typeface="Cambria Math" panose="02040503050406030204" pitchFamily="18" charset="0"/>
                      </a:rPr>
                      <m:t>,</m:t>
                    </m:r>
                    <m:d>
                      <m:dPr>
                        <m:begChr m:val="{"/>
                        <m:endChr m:val="}"/>
                        <m:ctrlPr>
                          <a:rPr lang="en-US" altLang="zh-CN" i="1">
                            <a:latin typeface="Cambria Math" panose="02040503050406030204" pitchFamily="18" charset="0"/>
                            <a:ea typeface="Cambria Math" panose="02040503050406030204" pitchFamily="18" charset="0"/>
                          </a:rPr>
                        </m:ctrlPr>
                      </m:dPr>
                      <m:e>
                        <m:r>
                          <a:rPr lang="en-US" altLang="zh-CN" i="1">
                            <a:latin typeface="Cambria Math" panose="02040503050406030204" pitchFamily="18" charset="0"/>
                            <a:ea typeface="Cambria Math" panose="02040503050406030204" pitchFamily="18" charset="0"/>
                          </a:rPr>
                          <m:t>𝑎</m:t>
                        </m:r>
                        <m:r>
                          <a:rPr lang="en-US" altLang="zh-CN" i="1" smtClean="0">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𝑏</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𝑐</m:t>
                        </m:r>
                      </m:e>
                    </m:d>
                  </m:oMath>
                </a14:m>
                <a:r>
                  <a:rPr lang="en-US" altLang="zh-CN" dirty="0" smtClean="0"/>
                  <a:t>), ({a},{</a:t>
                </a:r>
                <a:r>
                  <a:rPr lang="en-US" altLang="zh-CN" dirty="0" err="1" smtClean="0"/>
                  <a:t>a,b,c</a:t>
                </a:r>
                <a:r>
                  <a:rPr lang="en-US" altLang="zh-CN" dirty="0" smtClean="0"/>
                  <a:t>}), ({b},{</a:t>
                </a:r>
                <a:r>
                  <a:rPr lang="en-US" altLang="zh-CN" dirty="0" err="1" smtClean="0"/>
                  <a:t>a,b,c</a:t>
                </a:r>
                <a:r>
                  <a:rPr lang="en-US" altLang="zh-CN" dirty="0" smtClean="0"/>
                  <a:t>}), ({c},{</a:t>
                </a:r>
                <a:r>
                  <a:rPr lang="en-US" altLang="zh-CN" dirty="0" err="1" smtClean="0"/>
                  <a:t>a,b,c</a:t>
                </a:r>
                <a:r>
                  <a:rPr lang="en-US" altLang="zh-CN" dirty="0" smtClean="0"/>
                  <a:t>}). </a:t>
                </a:r>
                <a:r>
                  <a:rPr lang="zh-CN" altLang="en-US" dirty="0" smtClean="0"/>
                  <a:t>最后</a:t>
                </a:r>
                <a:r>
                  <a:rPr lang="en-US" altLang="zh-CN" dirty="0" smtClean="0"/>
                  <a:t>, </a:t>
                </a:r>
                <a:r>
                  <a:rPr lang="zh-CN" altLang="en-US" dirty="0" smtClean="0"/>
                  <a:t>使所有边的方向向上并删除箭头方向</a:t>
                </a:r>
                <a:r>
                  <a:rPr lang="en-US" altLang="zh-CN" dirty="0" smtClean="0"/>
                  <a:t>, </a:t>
                </a:r>
                <a:r>
                  <a:rPr lang="zh-CN" altLang="en-US" dirty="0" smtClean="0"/>
                  <a:t>最终哈塞图如下所示</a:t>
                </a:r>
                <a:r>
                  <a:rPr lang="en-US" altLang="zh-CN" dirty="0"/>
                  <a:t>.</a:t>
                </a: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2"/>
                <a:stretch>
                  <a:fillRect l="-999" t="-1429" r="-2830"/>
                </a:stretch>
              </a:blipFill>
            </p:spPr>
            <p:txBody>
              <a:bodyPr/>
              <a:lstStyle/>
              <a:p>
                <a:r>
                  <a:rPr lang="zh-CN" altLang="en-US">
                    <a:noFill/>
                  </a:rPr>
                  <a:t> </a:t>
                </a:r>
              </a:p>
            </p:txBody>
          </p:sp>
        </mc:Fallback>
      </mc:AlternateContent>
      <p:sp>
        <p:nvSpPr>
          <p:cNvPr id="7" name="日期占位符 6"/>
          <p:cNvSpPr>
            <a:spLocks noGrp="1"/>
          </p:cNvSpPr>
          <p:nvPr>
            <p:ph type="dt" sz="half" idx="10"/>
          </p:nvPr>
        </p:nvSpPr>
        <p:spPr/>
        <p:txBody>
          <a:bodyPr/>
          <a:lstStyle/>
          <a:p>
            <a:fld id="{894C59E9-BCF8-48E8-911C-E662776A5775}" type="datetime1">
              <a:rPr lang="zh-CN" altLang="en-US" smtClean="0"/>
              <a:t>2025/3/14</a:t>
            </a:fld>
            <a:endParaRPr lang="zh-CN" altLang="en-US" dirty="0"/>
          </a:p>
        </p:txBody>
      </p:sp>
      <p:sp>
        <p:nvSpPr>
          <p:cNvPr id="8" name="页脚占位符 7"/>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9" name="灯片编号占位符 8"/>
          <p:cNvSpPr>
            <a:spLocks noGrp="1"/>
          </p:cNvSpPr>
          <p:nvPr>
            <p:ph type="sldNum" sz="quarter" idx="12"/>
          </p:nvPr>
        </p:nvSpPr>
        <p:spPr/>
        <p:txBody>
          <a:bodyPr/>
          <a:lstStyle/>
          <a:p>
            <a:fld id="{67913A8A-9EFB-4B5F-9CCB-3D21173FAA85}" type="slidenum">
              <a:rPr lang="zh-CN" altLang="en-US" smtClean="0"/>
              <a:pPr/>
              <a:t>118</a:t>
            </a:fld>
            <a:endParaRPr lang="zh-CN" altLang="en-US" dirty="0"/>
          </a:p>
        </p:txBody>
      </p:sp>
      <p:pic>
        <p:nvPicPr>
          <p:cNvPr id="5" name="图片 4"/>
          <p:cNvPicPr>
            <a:picLocks noChangeAspect="1"/>
          </p:cNvPicPr>
          <p:nvPr/>
        </p:nvPicPr>
        <p:blipFill>
          <a:blip r:embed="rId3"/>
          <a:stretch>
            <a:fillRect/>
          </a:stretch>
        </p:blipFill>
        <p:spPr>
          <a:xfrm>
            <a:off x="4478438" y="3069824"/>
            <a:ext cx="3581400" cy="3324645"/>
          </a:xfrm>
          <a:prstGeom prst="rect">
            <a:avLst/>
          </a:prstGeom>
        </p:spPr>
      </p:pic>
    </p:spTree>
    <p:extLst>
      <p:ext uri="{BB962C8B-B14F-4D97-AF65-F5344CB8AC3E}">
        <p14:creationId xmlns:p14="http://schemas.microsoft.com/office/powerpoint/2010/main" val="38727751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wipe(down)">
                                      <p:cBhvr>
                                        <p:cTn id="7" dur="500"/>
                                        <p:tgtEl>
                                          <p:spTgt spid="3">
                                            <p:txEl>
                                              <p:pRg st="1" end="1"/>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wipe(down)">
                                      <p:cBhvr>
                                        <p:cTn id="10"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smtClean="0"/>
              <a:t>哈塞图</a:t>
            </a:r>
            <a:endParaRPr lang="en-US" dirty="0"/>
          </a:p>
        </p:txBody>
      </p:sp>
      <p:sp>
        <p:nvSpPr>
          <p:cNvPr id="3" name="Content Placeholder 2"/>
          <p:cNvSpPr>
            <a:spLocks noGrp="1"/>
          </p:cNvSpPr>
          <p:nvPr>
            <p:ph idx="1"/>
          </p:nvPr>
        </p:nvSpPr>
        <p:spPr/>
        <p:txBody>
          <a:bodyPr>
            <a:noAutofit/>
          </a:bodyPr>
          <a:lstStyle/>
          <a:p>
            <a:r>
              <a:rPr lang="zh-CN" altLang="en-US" dirty="0" smtClean="0"/>
              <a:t>例</a:t>
            </a:r>
            <a:r>
              <a:rPr lang="en-US" altLang="zh-CN" dirty="0" smtClean="0"/>
              <a:t>:</a:t>
            </a:r>
            <a:r>
              <a:rPr lang="zh-CN" altLang="en-US" dirty="0" smtClean="0"/>
              <a:t>画出偏序集</a:t>
            </a:r>
            <a:r>
              <a:rPr lang="en-US" altLang="zh-CN" dirty="0" smtClean="0"/>
              <a:t>({2,4,5,10,12,20,25},|)</a:t>
            </a:r>
            <a:r>
              <a:rPr lang="zh-CN" altLang="en-US" dirty="0" smtClean="0"/>
              <a:t>的哈塞图</a:t>
            </a:r>
            <a:r>
              <a:rPr lang="en-US" altLang="zh-CN" dirty="0" smtClean="0"/>
              <a:t>.</a:t>
            </a:r>
          </a:p>
          <a:p>
            <a:r>
              <a:rPr lang="zh-CN" altLang="en-US" dirty="0" smtClean="0"/>
              <a:t>解</a:t>
            </a:r>
            <a:r>
              <a:rPr lang="en-US" altLang="zh-CN" dirty="0" smtClean="0"/>
              <a:t>:</a:t>
            </a:r>
          </a:p>
          <a:p>
            <a:pPr lvl="1"/>
            <a:r>
              <a:rPr lang="zh-CN" altLang="en-US" dirty="0" smtClean="0"/>
              <a:t>罗列出除去</a:t>
            </a:r>
            <a:r>
              <a:rPr lang="en-US" altLang="zh-CN" dirty="0"/>
              <a:t>(</a:t>
            </a:r>
            <a:r>
              <a:rPr lang="en-US" altLang="zh-CN" dirty="0" err="1"/>
              <a:t>a,a</a:t>
            </a:r>
            <a:r>
              <a:rPr lang="en-US" altLang="zh-CN" dirty="0" smtClean="0"/>
              <a:t>)</a:t>
            </a:r>
            <a:r>
              <a:rPr lang="zh-CN" altLang="en-US" dirty="0" smtClean="0"/>
              <a:t>类型</a:t>
            </a:r>
            <a:r>
              <a:rPr lang="zh-CN" altLang="en-US" dirty="0"/>
              <a:t>以外</a:t>
            </a:r>
            <a:r>
              <a:rPr lang="zh-CN" altLang="en-US" dirty="0" smtClean="0"/>
              <a:t>的所有的有序对</a:t>
            </a:r>
            <a:r>
              <a:rPr lang="en-US" altLang="zh-CN" dirty="0" smtClean="0"/>
              <a:t>, </a:t>
            </a:r>
            <a:r>
              <a:rPr lang="zh-CN" altLang="en-US" dirty="0" smtClean="0"/>
              <a:t>包括</a:t>
            </a:r>
            <a:r>
              <a:rPr lang="en-US" altLang="zh-CN" dirty="0"/>
              <a:t>: </a:t>
            </a:r>
            <a:r>
              <a:rPr lang="en-US" dirty="0"/>
              <a:t>(2,4),(2,10),(2,12),(2,20),(4,12),(4,20),</a:t>
            </a:r>
            <a:r>
              <a:rPr lang="en-US" altLang="zh-CN" dirty="0"/>
              <a:t>(5,10),(5,25),(10,20)</a:t>
            </a:r>
          </a:p>
          <a:p>
            <a:pPr lvl="1"/>
            <a:r>
              <a:rPr lang="zh-CN" altLang="en-US" dirty="0"/>
              <a:t>首先查找不在关系的值域的元素</a:t>
            </a:r>
            <a:r>
              <a:rPr lang="en-US" altLang="zh-CN" dirty="0" smtClean="0"/>
              <a:t>, 2</a:t>
            </a:r>
            <a:r>
              <a:rPr lang="zh-CN" altLang="en-US" dirty="0"/>
              <a:t>和</a:t>
            </a:r>
            <a:r>
              <a:rPr lang="en-US" altLang="zh-CN" dirty="0"/>
              <a:t>5, </a:t>
            </a:r>
            <a:r>
              <a:rPr lang="zh-CN" altLang="en-US" dirty="0"/>
              <a:t>他们放在哈塞图的最底层</a:t>
            </a:r>
            <a:r>
              <a:rPr lang="en-US" altLang="zh-CN" dirty="0"/>
              <a:t>.</a:t>
            </a:r>
          </a:p>
          <a:p>
            <a:pPr lvl="1"/>
            <a:r>
              <a:rPr lang="zh-CN" altLang="en-US" dirty="0" smtClean="0"/>
              <a:t>接着</a:t>
            </a:r>
            <a:r>
              <a:rPr lang="en-US" altLang="zh-CN" dirty="0" smtClean="0"/>
              <a:t>, </a:t>
            </a:r>
            <a:r>
              <a:rPr lang="zh-CN" altLang="en-US" dirty="0" smtClean="0"/>
              <a:t>去除</a:t>
            </a:r>
            <a:r>
              <a:rPr lang="en-US" altLang="zh-CN" dirty="0"/>
              <a:t>(2,x)</a:t>
            </a:r>
            <a:r>
              <a:rPr lang="zh-CN" altLang="en-US" dirty="0"/>
              <a:t>和</a:t>
            </a:r>
            <a:r>
              <a:rPr lang="en-US" altLang="zh-CN" dirty="0"/>
              <a:t>(5,x</a:t>
            </a:r>
            <a:r>
              <a:rPr lang="en-US" altLang="zh-CN" dirty="0" smtClean="0"/>
              <a:t>)</a:t>
            </a:r>
            <a:r>
              <a:rPr lang="zh-CN" altLang="en-US" dirty="0" smtClean="0"/>
              <a:t>有序对</a:t>
            </a:r>
            <a:r>
              <a:rPr lang="zh-CN" altLang="en-US" dirty="0"/>
              <a:t>后</a:t>
            </a:r>
            <a:r>
              <a:rPr lang="en-US" altLang="zh-CN" dirty="0" smtClean="0"/>
              <a:t>, </a:t>
            </a:r>
            <a:r>
              <a:rPr lang="zh-CN" altLang="en-US" dirty="0" smtClean="0"/>
              <a:t>再</a:t>
            </a:r>
            <a:r>
              <a:rPr lang="zh-CN" altLang="en-US" dirty="0"/>
              <a:t>接着找不在值域的元素</a:t>
            </a:r>
            <a:r>
              <a:rPr lang="en-US" altLang="zh-CN" dirty="0"/>
              <a:t>, </a:t>
            </a:r>
            <a:r>
              <a:rPr lang="en-US" altLang="zh-CN" dirty="0" smtClean="0"/>
              <a:t>4,10</a:t>
            </a:r>
            <a:r>
              <a:rPr lang="zh-CN" altLang="en-US" dirty="0" smtClean="0"/>
              <a:t>和</a:t>
            </a:r>
            <a:r>
              <a:rPr lang="en-US" altLang="zh-CN" dirty="0" smtClean="0"/>
              <a:t>25</a:t>
            </a:r>
            <a:r>
              <a:rPr lang="en-US" altLang="zh-CN" dirty="0"/>
              <a:t>, </a:t>
            </a:r>
            <a:r>
              <a:rPr lang="zh-CN" altLang="en-US" dirty="0"/>
              <a:t>他们将放在哈塞图的倒数第二层</a:t>
            </a:r>
            <a:r>
              <a:rPr lang="en-US" altLang="zh-CN" dirty="0"/>
              <a:t>.</a:t>
            </a:r>
          </a:p>
          <a:p>
            <a:pPr lvl="1"/>
            <a:r>
              <a:rPr lang="zh-CN" altLang="en-US" dirty="0" smtClean="0"/>
              <a:t>然后</a:t>
            </a:r>
            <a:r>
              <a:rPr lang="en-US" altLang="zh-CN" dirty="0" smtClean="0"/>
              <a:t>, </a:t>
            </a:r>
            <a:r>
              <a:rPr lang="zh-CN" altLang="en-US" dirty="0" smtClean="0"/>
              <a:t>去除</a:t>
            </a:r>
            <a:r>
              <a:rPr lang="en-US" altLang="zh-CN" dirty="0"/>
              <a:t>(4,x),(10,x</a:t>
            </a:r>
            <a:r>
              <a:rPr lang="en-US" altLang="zh-CN" dirty="0" smtClean="0"/>
              <a:t>),(</a:t>
            </a:r>
            <a:r>
              <a:rPr lang="en-US" altLang="zh-CN" dirty="0"/>
              <a:t>25,x</a:t>
            </a:r>
            <a:r>
              <a:rPr lang="en-US" altLang="zh-CN" dirty="0" smtClean="0"/>
              <a:t>)</a:t>
            </a:r>
            <a:r>
              <a:rPr lang="zh-CN" altLang="en-US" dirty="0" smtClean="0"/>
              <a:t>有序对</a:t>
            </a:r>
            <a:r>
              <a:rPr lang="zh-CN" altLang="en-US" dirty="0"/>
              <a:t>后</a:t>
            </a:r>
            <a:r>
              <a:rPr lang="en-US" altLang="zh-CN" dirty="0" smtClean="0"/>
              <a:t>, </a:t>
            </a:r>
            <a:r>
              <a:rPr lang="zh-CN" altLang="en-US" dirty="0" smtClean="0"/>
              <a:t>再</a:t>
            </a:r>
            <a:r>
              <a:rPr lang="zh-CN" altLang="en-US" dirty="0"/>
              <a:t>接着找不在值域的元素</a:t>
            </a:r>
            <a:r>
              <a:rPr lang="en-US" altLang="zh-CN" dirty="0" smtClean="0"/>
              <a:t>,</a:t>
            </a:r>
            <a:r>
              <a:rPr lang="zh-CN" altLang="en-US" dirty="0" smtClean="0"/>
              <a:t>只</a:t>
            </a:r>
            <a:r>
              <a:rPr lang="zh-CN" altLang="en-US" dirty="0"/>
              <a:t>剩下</a:t>
            </a:r>
            <a:r>
              <a:rPr lang="en-US" altLang="zh-CN" dirty="0"/>
              <a:t>12, 20, </a:t>
            </a:r>
            <a:r>
              <a:rPr lang="zh-CN" altLang="en-US" dirty="0"/>
              <a:t>他们在哈塞图的倒数第三行</a:t>
            </a:r>
            <a:r>
              <a:rPr lang="en-US" altLang="zh-CN" dirty="0" smtClean="0"/>
              <a:t>. </a:t>
            </a:r>
            <a:r>
              <a:rPr lang="zh-CN" altLang="en-US" dirty="0" smtClean="0"/>
              <a:t>那么如下所示</a:t>
            </a:r>
            <a:endParaRPr lang="en-US" dirty="0"/>
          </a:p>
        </p:txBody>
      </p:sp>
      <p:sp>
        <p:nvSpPr>
          <p:cNvPr id="7" name="日期占位符 6"/>
          <p:cNvSpPr>
            <a:spLocks noGrp="1"/>
          </p:cNvSpPr>
          <p:nvPr>
            <p:ph type="dt" sz="half" idx="10"/>
          </p:nvPr>
        </p:nvSpPr>
        <p:spPr/>
        <p:txBody>
          <a:bodyPr/>
          <a:lstStyle/>
          <a:p>
            <a:fld id="{49805E74-6392-4602-8579-BE83B7596BDC}" type="datetime1">
              <a:rPr lang="zh-CN" altLang="en-US" smtClean="0"/>
              <a:t>2025/3/14</a:t>
            </a:fld>
            <a:endParaRPr lang="zh-CN" altLang="en-US" dirty="0"/>
          </a:p>
        </p:txBody>
      </p:sp>
      <p:sp>
        <p:nvSpPr>
          <p:cNvPr id="8" name="页脚占位符 7"/>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9" name="灯片编号占位符 8"/>
          <p:cNvSpPr>
            <a:spLocks noGrp="1"/>
          </p:cNvSpPr>
          <p:nvPr>
            <p:ph type="sldNum" sz="quarter" idx="12"/>
          </p:nvPr>
        </p:nvSpPr>
        <p:spPr/>
        <p:txBody>
          <a:bodyPr/>
          <a:lstStyle/>
          <a:p>
            <a:fld id="{67913A8A-9EFB-4B5F-9CCB-3D21173FAA85}" type="slidenum">
              <a:rPr lang="zh-CN" altLang="en-US" smtClean="0"/>
              <a:pPr/>
              <a:t>119</a:t>
            </a:fld>
            <a:endParaRPr lang="zh-CN" altLang="en-US" dirty="0"/>
          </a:p>
        </p:txBody>
      </p:sp>
    </p:spTree>
    <p:extLst>
      <p:ext uri="{BB962C8B-B14F-4D97-AF65-F5344CB8AC3E}">
        <p14:creationId xmlns:p14="http://schemas.microsoft.com/office/powerpoint/2010/main" val="63004595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wipe(down)">
                                      <p:cBhvr>
                                        <p:cTn id="7" dur="500"/>
                                        <p:tgtEl>
                                          <p:spTgt spid="3">
                                            <p:txEl>
                                              <p:pRg st="1" end="1"/>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wipe(down)">
                                      <p:cBhvr>
                                        <p:cTn id="10" dur="500"/>
                                        <p:tgtEl>
                                          <p:spTgt spid="3">
                                            <p:txEl>
                                              <p:pRg st="2" end="2"/>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wipe(down)">
                                      <p:cBhvr>
                                        <p:cTn id="13" dur="500"/>
                                        <p:tgtEl>
                                          <p:spTgt spid="3">
                                            <p:txEl>
                                              <p:pRg st="3" end="3"/>
                                            </p:txEl>
                                          </p:spTgt>
                                        </p:tgtEl>
                                      </p:cBhvr>
                                    </p:animEffect>
                                  </p:childTnLst>
                                </p:cTn>
                              </p:par>
                              <p:par>
                                <p:cTn id="14" presetID="22" presetClass="entr" presetSubtype="4" fill="hold" nodeType="withEffect">
                                  <p:stCondLst>
                                    <p:cond delay="0"/>
                                  </p:stCondLst>
                                  <p:childTnLst>
                                    <p:set>
                                      <p:cBhvr>
                                        <p:cTn id="15" dur="1" fill="hold">
                                          <p:stCondLst>
                                            <p:cond delay="0"/>
                                          </p:stCondLst>
                                        </p:cTn>
                                        <p:tgtEl>
                                          <p:spTgt spid="3">
                                            <p:txEl>
                                              <p:pRg st="4" end="4"/>
                                            </p:txEl>
                                          </p:spTgt>
                                        </p:tgtEl>
                                        <p:attrNameLst>
                                          <p:attrName>style.visibility</p:attrName>
                                        </p:attrNameLst>
                                      </p:cBhvr>
                                      <p:to>
                                        <p:strVal val="visible"/>
                                      </p:to>
                                    </p:set>
                                    <p:animEffect transition="in" filter="wipe(down)">
                                      <p:cBhvr>
                                        <p:cTn id="16" dur="500"/>
                                        <p:tgtEl>
                                          <p:spTgt spid="3">
                                            <p:txEl>
                                              <p:pRg st="4" end="4"/>
                                            </p:txEl>
                                          </p:spTgt>
                                        </p:tgtEl>
                                      </p:cBhvr>
                                    </p:animEffect>
                                  </p:childTnLst>
                                </p:cTn>
                              </p:par>
                              <p:par>
                                <p:cTn id="17" presetID="22" presetClass="entr" presetSubtype="4"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animEffect transition="in" filter="wipe(down)">
                                      <p:cBhvr>
                                        <p:cTn id="19"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smtClean="0"/>
              <a:t>哈塞图</a:t>
            </a:r>
            <a:endParaRPr lang="en-US" dirty="0"/>
          </a:p>
        </p:txBody>
      </p:sp>
      <p:sp>
        <p:nvSpPr>
          <p:cNvPr id="3" name="Content Placeholder 2"/>
          <p:cNvSpPr>
            <a:spLocks noGrp="1"/>
          </p:cNvSpPr>
          <p:nvPr>
            <p:ph idx="1"/>
          </p:nvPr>
        </p:nvSpPr>
        <p:spPr/>
        <p:txBody>
          <a:bodyPr>
            <a:noAutofit/>
          </a:bodyPr>
          <a:lstStyle/>
          <a:p>
            <a:endParaRPr lang="en-US" altLang="zh-CN" dirty="0"/>
          </a:p>
          <a:p>
            <a:endParaRPr lang="en-US" altLang="zh-CN" dirty="0" smtClean="0"/>
          </a:p>
          <a:p>
            <a:endParaRPr lang="en-US" altLang="zh-CN" dirty="0"/>
          </a:p>
          <a:p>
            <a:endParaRPr lang="en-US" altLang="zh-CN" dirty="0" smtClean="0"/>
          </a:p>
          <a:p>
            <a:endParaRPr lang="en-US" altLang="zh-CN" dirty="0"/>
          </a:p>
          <a:p>
            <a:pPr lvl="1"/>
            <a:endParaRPr lang="en-US" altLang="zh-CN" dirty="0" smtClean="0"/>
          </a:p>
          <a:p>
            <a:pPr lvl="1"/>
            <a:endParaRPr lang="en-US" altLang="zh-CN" dirty="0" smtClean="0"/>
          </a:p>
          <a:p>
            <a:pPr lvl="1"/>
            <a:r>
              <a:rPr lang="zh-CN" altLang="en-US" dirty="0" smtClean="0"/>
              <a:t>最后</a:t>
            </a:r>
            <a:r>
              <a:rPr lang="zh-CN" altLang="en-US" dirty="0"/>
              <a:t>将每一层之间有关系的点连起来</a:t>
            </a:r>
            <a:r>
              <a:rPr lang="en-US" altLang="zh-CN" dirty="0"/>
              <a:t>. </a:t>
            </a:r>
            <a:r>
              <a:rPr lang="zh-CN" altLang="en-US" dirty="0"/>
              <a:t>注意</a:t>
            </a:r>
            <a:r>
              <a:rPr lang="en-US" altLang="zh-CN" dirty="0"/>
              <a:t>, </a:t>
            </a:r>
            <a:r>
              <a:rPr lang="zh-CN" altLang="en-US" dirty="0"/>
              <a:t>这里每一层只会和上一层相连</a:t>
            </a:r>
            <a:r>
              <a:rPr lang="en-US" altLang="zh-CN" dirty="0"/>
              <a:t>, </a:t>
            </a:r>
            <a:r>
              <a:rPr lang="zh-CN" altLang="en-US" dirty="0"/>
              <a:t>不会跨两层连</a:t>
            </a:r>
            <a:r>
              <a:rPr lang="en-US" altLang="zh-CN" dirty="0"/>
              <a:t>.</a:t>
            </a:r>
          </a:p>
          <a:p>
            <a:endParaRPr lang="en-US" altLang="zh-CN" dirty="0" smtClean="0"/>
          </a:p>
        </p:txBody>
      </p:sp>
      <p:sp>
        <p:nvSpPr>
          <p:cNvPr id="7" name="日期占位符 6"/>
          <p:cNvSpPr>
            <a:spLocks noGrp="1"/>
          </p:cNvSpPr>
          <p:nvPr>
            <p:ph type="dt" sz="half" idx="10"/>
          </p:nvPr>
        </p:nvSpPr>
        <p:spPr/>
        <p:txBody>
          <a:bodyPr/>
          <a:lstStyle/>
          <a:p>
            <a:fld id="{7428394F-C44C-4009-A9F1-E5791CB8C60E}" type="datetime1">
              <a:rPr lang="zh-CN" altLang="en-US" smtClean="0"/>
              <a:t>2025/3/14</a:t>
            </a:fld>
            <a:endParaRPr lang="zh-CN" altLang="en-US" dirty="0"/>
          </a:p>
        </p:txBody>
      </p:sp>
      <p:sp>
        <p:nvSpPr>
          <p:cNvPr id="8" name="页脚占位符 7"/>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9" name="灯片编号占位符 8"/>
          <p:cNvSpPr>
            <a:spLocks noGrp="1"/>
          </p:cNvSpPr>
          <p:nvPr>
            <p:ph type="sldNum" sz="quarter" idx="12"/>
          </p:nvPr>
        </p:nvSpPr>
        <p:spPr/>
        <p:txBody>
          <a:bodyPr/>
          <a:lstStyle/>
          <a:p>
            <a:fld id="{67913A8A-9EFB-4B5F-9CCB-3D21173FAA85}" type="slidenum">
              <a:rPr lang="zh-CN" altLang="en-US" smtClean="0"/>
              <a:pPr/>
              <a:t>120</a:t>
            </a:fld>
            <a:endParaRPr lang="zh-CN" altLang="en-US" dirty="0"/>
          </a:p>
        </p:txBody>
      </p:sp>
      <p:pic>
        <p:nvPicPr>
          <p:cNvPr id="6" name="图片 5"/>
          <p:cNvPicPr>
            <a:picLocks noChangeAspect="1"/>
          </p:cNvPicPr>
          <p:nvPr/>
        </p:nvPicPr>
        <p:blipFill>
          <a:blip r:embed="rId2"/>
          <a:stretch>
            <a:fillRect/>
          </a:stretch>
        </p:blipFill>
        <p:spPr>
          <a:xfrm>
            <a:off x="1143000" y="1073058"/>
            <a:ext cx="3698318" cy="2847975"/>
          </a:xfrm>
          <a:prstGeom prst="rect">
            <a:avLst/>
          </a:prstGeom>
        </p:spPr>
      </p:pic>
      <p:pic>
        <p:nvPicPr>
          <p:cNvPr id="10" name="图片 9"/>
          <p:cNvPicPr>
            <a:picLocks noChangeAspect="1"/>
          </p:cNvPicPr>
          <p:nvPr/>
        </p:nvPicPr>
        <p:blipFill>
          <a:blip r:embed="rId3"/>
          <a:stretch>
            <a:fillRect/>
          </a:stretch>
        </p:blipFill>
        <p:spPr>
          <a:xfrm>
            <a:off x="7315200" y="1038899"/>
            <a:ext cx="3905250" cy="3007328"/>
          </a:xfrm>
          <a:prstGeom prst="rect">
            <a:avLst/>
          </a:prstGeom>
        </p:spPr>
      </p:pic>
    </p:spTree>
    <p:extLst>
      <p:ext uri="{BB962C8B-B14F-4D97-AF65-F5344CB8AC3E}">
        <p14:creationId xmlns:p14="http://schemas.microsoft.com/office/powerpoint/2010/main" val="121964517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7" end="7"/>
                                            </p:txEl>
                                          </p:spTgt>
                                        </p:tgtEl>
                                        <p:attrNameLst>
                                          <p:attrName>style.visibility</p:attrName>
                                        </p:attrNameLst>
                                      </p:cBhvr>
                                      <p:to>
                                        <p:strVal val="visible"/>
                                      </p:to>
                                    </p:set>
                                    <p:animEffect transition="in" filter="wipe(down)">
                                      <p:cBhvr>
                                        <p:cTn id="7" dur="500"/>
                                        <p:tgtEl>
                                          <p:spTgt spid="3">
                                            <p:txEl>
                                              <p:pRg st="7" end="7"/>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wipe(down)">
                                      <p:cBhvr>
                                        <p:cTn id="10"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457200" y="1152740"/>
            <a:ext cx="11277599" cy="1241774"/>
          </a:xfrm>
          <a:prstGeom prst="rect">
            <a:avLst/>
          </a:prstGeom>
          <a:solidFill>
            <a:schemeClr val="accent5">
              <a:lumMod val="40000"/>
              <a:lumOff val="6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457200" y="2590800"/>
            <a:ext cx="11277599" cy="1219200"/>
          </a:xfrm>
          <a:prstGeom prst="rect">
            <a:avLst/>
          </a:prstGeom>
          <a:solidFill>
            <a:schemeClr val="accent5">
              <a:lumMod val="40000"/>
              <a:lumOff val="6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itle 1"/>
          <p:cNvSpPr>
            <a:spLocks noGrp="1"/>
          </p:cNvSpPr>
          <p:nvPr>
            <p:ph type="title"/>
          </p:nvPr>
        </p:nvSpPr>
        <p:spPr/>
        <p:txBody>
          <a:bodyPr/>
          <a:lstStyle/>
          <a:p>
            <a:r>
              <a:rPr lang="zh-CN" altLang="en-US" dirty="0" smtClean="0"/>
              <a:t>极大元与极小元</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zh-CN" altLang="en-US" dirty="0" smtClean="0"/>
                  <a:t>定义</a:t>
                </a:r>
                <a:r>
                  <a:rPr lang="en-US" altLang="zh-CN" dirty="0" smtClean="0"/>
                  <a:t>:</a:t>
                </a:r>
                <a:r>
                  <a:rPr lang="zh-CN" altLang="en-US" dirty="0" smtClean="0"/>
                  <a:t>偏序集中的一个元素称为</a:t>
                </a:r>
                <a:r>
                  <a:rPr lang="zh-CN" altLang="en-US" b="1" dirty="0" smtClean="0">
                    <a:solidFill>
                      <a:srgbClr val="C00000"/>
                    </a:solidFill>
                  </a:rPr>
                  <a:t>极大元</a:t>
                </a:r>
                <a:r>
                  <a:rPr lang="en-US" altLang="zh-CN" dirty="0" smtClean="0"/>
                  <a:t>, </a:t>
                </a:r>
                <a:r>
                  <a:rPr lang="zh-CN" altLang="en-US" dirty="0" smtClean="0"/>
                  <a:t>当它不小于这个偏序集的任何其他元素</a:t>
                </a:r>
                <a:r>
                  <a:rPr lang="en-US" altLang="zh-CN" dirty="0" smtClean="0"/>
                  <a:t>. </a:t>
                </a:r>
                <a:r>
                  <a:rPr lang="zh-CN" altLang="en-US" dirty="0" smtClean="0"/>
                  <a:t>即当不存在</a:t>
                </a:r>
                <a14:m>
                  <m:oMath xmlns:m="http://schemas.openxmlformats.org/officeDocument/2006/math">
                    <m:r>
                      <m:rPr>
                        <m:sty m:val="p"/>
                      </m:rPr>
                      <a:rPr lang="en-US" altLang="zh-CN" i="1" dirty="0">
                        <a:latin typeface="Cambria Math" panose="02040503050406030204" pitchFamily="18" charset="0"/>
                      </a:rPr>
                      <m:t>b</m:t>
                    </m:r>
                    <m:r>
                      <a:rPr lang="en-US" altLang="zh-CN" i="1" dirty="0" smtClean="0">
                        <a:latin typeface="Cambria Math" panose="02040503050406030204" pitchFamily="18" charset="0"/>
                        <a:ea typeface="Cambria Math" panose="02040503050406030204" pitchFamily="18" charset="0"/>
                      </a:rPr>
                      <m:t>∈</m:t>
                    </m:r>
                    <m:r>
                      <a:rPr lang="en-US" altLang="zh-CN" b="0" i="1" dirty="0" smtClean="0">
                        <a:latin typeface="Cambria Math" panose="02040503050406030204" pitchFamily="18" charset="0"/>
                        <a:ea typeface="Cambria Math" panose="02040503050406030204" pitchFamily="18" charset="0"/>
                      </a:rPr>
                      <m:t>𝑆</m:t>
                    </m:r>
                  </m:oMath>
                </a14:m>
                <a:r>
                  <a:rPr lang="en-US" altLang="zh-CN" dirty="0" smtClean="0"/>
                  <a:t> </a:t>
                </a:r>
                <a:r>
                  <a:rPr lang="zh-CN" altLang="en-US" dirty="0" smtClean="0"/>
                  <a:t>使得</a:t>
                </a:r>
                <a14:m>
                  <m:oMath xmlns:m="http://schemas.openxmlformats.org/officeDocument/2006/math">
                    <m:r>
                      <a:rPr lang="en-US" altLang="zh-CN" i="1" dirty="0" smtClean="0">
                        <a:latin typeface="Cambria Math" panose="02040503050406030204" pitchFamily="18" charset="0"/>
                        <a:ea typeface="Cambria Math" panose="02040503050406030204" pitchFamily="18" charset="0"/>
                      </a:rPr>
                      <m:t>𝑎</m:t>
                    </m:r>
                    <m:r>
                      <a:rPr lang="en-US" altLang="zh-CN" i="1" dirty="0">
                        <a:latin typeface="Cambria Math" panose="02040503050406030204" pitchFamily="18" charset="0"/>
                        <a:ea typeface="Cambria Math" panose="02040503050406030204" pitchFamily="18" charset="0"/>
                      </a:rPr>
                      <m:t>≺</m:t>
                    </m:r>
                    <m:r>
                      <a:rPr lang="en-US" altLang="zh-CN" i="1" dirty="0">
                        <a:latin typeface="Cambria Math" panose="02040503050406030204" pitchFamily="18" charset="0"/>
                        <a:ea typeface="Cambria Math" panose="02040503050406030204" pitchFamily="18" charset="0"/>
                      </a:rPr>
                      <m:t>𝑏</m:t>
                    </m:r>
                  </m:oMath>
                </a14:m>
                <a:r>
                  <a:rPr lang="en-US" altLang="zh-CN" dirty="0" smtClean="0"/>
                  <a:t>, a</a:t>
                </a:r>
                <a:r>
                  <a:rPr lang="zh-CN" altLang="en-US" dirty="0" smtClean="0"/>
                  <a:t>在偏序集</a:t>
                </a:r>
                <a:r>
                  <a:rPr lang="en-US" altLang="zh-CN" dirty="0" smtClean="0"/>
                  <a:t>(S,≼) </a:t>
                </a:r>
                <a:r>
                  <a:rPr lang="zh-CN" altLang="en-US" dirty="0" smtClean="0"/>
                  <a:t>中是极大元</a:t>
                </a:r>
                <a:r>
                  <a:rPr lang="en-US" altLang="zh-CN" dirty="0" smtClean="0"/>
                  <a:t>.</a:t>
                </a:r>
              </a:p>
              <a:p>
                <a:r>
                  <a:rPr lang="zh-CN" altLang="en-US" dirty="0" smtClean="0"/>
                  <a:t>定义</a:t>
                </a:r>
                <a:r>
                  <a:rPr lang="en-US" altLang="zh-CN" dirty="0" smtClean="0"/>
                  <a:t>:</a:t>
                </a:r>
                <a:r>
                  <a:rPr lang="zh-CN" altLang="en-US" dirty="0" smtClean="0"/>
                  <a:t>偏序集</a:t>
                </a:r>
                <a:r>
                  <a:rPr lang="zh-CN" altLang="en-US" dirty="0"/>
                  <a:t>中的一个元素称为</a:t>
                </a:r>
                <a:r>
                  <a:rPr lang="zh-CN" altLang="en-US" b="1" dirty="0" smtClean="0">
                    <a:solidFill>
                      <a:srgbClr val="C00000"/>
                    </a:solidFill>
                  </a:rPr>
                  <a:t>极小元</a:t>
                </a:r>
                <a:r>
                  <a:rPr lang="en-US" altLang="zh-CN" dirty="0" smtClean="0"/>
                  <a:t>, </a:t>
                </a:r>
                <a:r>
                  <a:rPr lang="zh-CN" altLang="en-US" dirty="0" smtClean="0"/>
                  <a:t>当</a:t>
                </a:r>
                <a:r>
                  <a:rPr lang="zh-CN" altLang="en-US" dirty="0"/>
                  <a:t>它</a:t>
                </a:r>
                <a:r>
                  <a:rPr lang="zh-CN" altLang="en-US" dirty="0" smtClean="0"/>
                  <a:t>不大于</a:t>
                </a:r>
                <a:r>
                  <a:rPr lang="zh-CN" altLang="en-US" dirty="0"/>
                  <a:t>这个偏序集的任何其他</a:t>
                </a:r>
                <a:r>
                  <a:rPr lang="zh-CN" altLang="en-US" dirty="0" smtClean="0"/>
                  <a:t>元素</a:t>
                </a:r>
                <a:r>
                  <a:rPr lang="en-US" altLang="zh-CN" dirty="0" smtClean="0"/>
                  <a:t>. </a:t>
                </a:r>
                <a:r>
                  <a:rPr lang="zh-CN" altLang="en-US" dirty="0" smtClean="0"/>
                  <a:t>即</a:t>
                </a:r>
                <a:r>
                  <a:rPr lang="zh-CN" altLang="en-US" dirty="0"/>
                  <a:t>当不存在</a:t>
                </a:r>
                <a14:m>
                  <m:oMath xmlns:m="http://schemas.openxmlformats.org/officeDocument/2006/math">
                    <m:r>
                      <m:rPr>
                        <m:sty m:val="p"/>
                      </m:rPr>
                      <a:rPr lang="en-US" altLang="zh-CN" i="1" dirty="0">
                        <a:latin typeface="Cambria Math" panose="02040503050406030204" pitchFamily="18" charset="0"/>
                      </a:rPr>
                      <m:t>b</m:t>
                    </m:r>
                    <m:r>
                      <a:rPr lang="en-US" altLang="zh-CN" i="1" dirty="0">
                        <a:latin typeface="Cambria Math" panose="02040503050406030204" pitchFamily="18" charset="0"/>
                        <a:ea typeface="Cambria Math" panose="02040503050406030204" pitchFamily="18" charset="0"/>
                      </a:rPr>
                      <m:t>∈</m:t>
                    </m:r>
                    <m:r>
                      <a:rPr lang="en-US" altLang="zh-CN" i="1" dirty="0">
                        <a:latin typeface="Cambria Math" panose="02040503050406030204" pitchFamily="18" charset="0"/>
                        <a:ea typeface="Cambria Math" panose="02040503050406030204" pitchFamily="18" charset="0"/>
                      </a:rPr>
                      <m:t>𝑆</m:t>
                    </m:r>
                  </m:oMath>
                </a14:m>
                <a:r>
                  <a:rPr lang="en-US" altLang="zh-CN" dirty="0"/>
                  <a:t> </a:t>
                </a:r>
                <a:r>
                  <a:rPr lang="zh-CN" altLang="en-US" dirty="0"/>
                  <a:t>使得</a:t>
                </a:r>
                <a14:m>
                  <m:oMath xmlns:m="http://schemas.openxmlformats.org/officeDocument/2006/math">
                    <m:r>
                      <a:rPr lang="en-US" altLang="zh-CN" i="1" dirty="0">
                        <a:latin typeface="Cambria Math" panose="02040503050406030204" pitchFamily="18" charset="0"/>
                        <a:ea typeface="Cambria Math" panose="02040503050406030204" pitchFamily="18" charset="0"/>
                      </a:rPr>
                      <m:t>𝑏</m:t>
                    </m:r>
                    <m:r>
                      <a:rPr lang="en-US" altLang="zh-CN" i="1" dirty="0">
                        <a:latin typeface="Cambria Math" panose="02040503050406030204" pitchFamily="18" charset="0"/>
                        <a:ea typeface="Cambria Math" panose="02040503050406030204" pitchFamily="18" charset="0"/>
                      </a:rPr>
                      <m:t>≺</m:t>
                    </m:r>
                    <m:r>
                      <a:rPr lang="en-US" altLang="zh-CN" i="1" dirty="0">
                        <a:latin typeface="Cambria Math" panose="02040503050406030204" pitchFamily="18" charset="0"/>
                        <a:ea typeface="Cambria Math" panose="02040503050406030204" pitchFamily="18" charset="0"/>
                      </a:rPr>
                      <m:t>𝑎</m:t>
                    </m:r>
                  </m:oMath>
                </a14:m>
                <a:r>
                  <a:rPr lang="en-US" altLang="zh-CN" dirty="0" smtClean="0"/>
                  <a:t>, a</a:t>
                </a:r>
                <a:r>
                  <a:rPr lang="zh-CN" altLang="en-US" dirty="0"/>
                  <a:t>在</a:t>
                </a:r>
                <a:r>
                  <a:rPr lang="zh-CN" altLang="en-US" dirty="0" smtClean="0"/>
                  <a:t>偏序集</a:t>
                </a:r>
                <a:r>
                  <a:rPr lang="en-US" altLang="zh-CN" dirty="0" smtClean="0"/>
                  <a:t>(S,≼) </a:t>
                </a:r>
                <a:r>
                  <a:rPr lang="zh-CN" altLang="en-US" dirty="0"/>
                  <a:t>中是</a:t>
                </a:r>
                <a:r>
                  <a:rPr lang="zh-CN" altLang="en-US" dirty="0" smtClean="0"/>
                  <a:t>极小元</a:t>
                </a:r>
                <a:r>
                  <a:rPr lang="en-US" altLang="zh-CN" dirty="0" smtClean="0"/>
                  <a:t>.</a:t>
                </a:r>
              </a:p>
              <a:p>
                <a:r>
                  <a:rPr lang="zh-CN" altLang="en-US" dirty="0" smtClean="0"/>
                  <a:t>备注</a:t>
                </a:r>
                <a:r>
                  <a:rPr lang="en-US" altLang="zh-CN" dirty="0" smtClean="0"/>
                  <a:t>: </a:t>
                </a:r>
                <a:r>
                  <a:rPr lang="zh-CN" altLang="en-US" dirty="0" smtClean="0"/>
                  <a:t>在哈塞图中</a:t>
                </a:r>
                <a:r>
                  <a:rPr lang="en-US" altLang="zh-CN" dirty="0" smtClean="0"/>
                  <a:t>, </a:t>
                </a:r>
                <a:r>
                  <a:rPr lang="zh-CN" altLang="en-US" dirty="0" smtClean="0"/>
                  <a:t>极大元和极小元分别是图中的“顶”元素与“底”元素</a:t>
                </a:r>
                <a:r>
                  <a:rPr lang="en-US" altLang="zh-CN" dirty="0" smtClean="0"/>
                  <a:t>.</a:t>
                </a:r>
              </a:p>
              <a:p>
                <a:r>
                  <a:rPr lang="zh-CN" altLang="en-US" dirty="0" smtClean="0"/>
                  <a:t>另外</a:t>
                </a:r>
                <a:r>
                  <a:rPr lang="en-US" altLang="zh-CN" dirty="0" smtClean="0"/>
                  <a:t>, </a:t>
                </a:r>
                <a:r>
                  <a:rPr lang="zh-CN" altLang="en-US" dirty="0" smtClean="0"/>
                  <a:t>在一个偏序集中可以有多个极大元和多个极小元</a:t>
                </a:r>
                <a:r>
                  <a:rPr lang="en-US" altLang="zh-CN" dirty="0" smtClean="0"/>
                  <a:t>.</a:t>
                </a:r>
                <a:endParaRPr lang="en-US" altLang="zh-CN" dirty="0"/>
              </a:p>
              <a:p>
                <a:endParaRPr lang="en-US" altLang="zh-CN"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999" t="-1310" r="-2997"/>
                </a:stretch>
              </a:blipFill>
            </p:spPr>
            <p:txBody>
              <a:bodyPr/>
              <a:lstStyle/>
              <a:p>
                <a:r>
                  <a:rPr lang="zh-CN" altLang="en-US">
                    <a:noFill/>
                  </a:rPr>
                  <a:t> </a:t>
                </a:r>
              </a:p>
            </p:txBody>
          </p:sp>
        </mc:Fallback>
      </mc:AlternateContent>
      <p:sp>
        <p:nvSpPr>
          <p:cNvPr id="6" name="日期占位符 5"/>
          <p:cNvSpPr>
            <a:spLocks noGrp="1"/>
          </p:cNvSpPr>
          <p:nvPr>
            <p:ph type="dt" sz="half" idx="10"/>
          </p:nvPr>
        </p:nvSpPr>
        <p:spPr/>
        <p:txBody>
          <a:bodyPr/>
          <a:lstStyle/>
          <a:p>
            <a:fld id="{91AEDC1E-8A4E-499F-9258-474B3AA16BB8}" type="datetime1">
              <a:rPr lang="zh-CN" altLang="en-US" smtClean="0"/>
              <a:t>2025/3/14</a:t>
            </a:fld>
            <a:endParaRPr lang="zh-CN" altLang="en-US" dirty="0"/>
          </a:p>
        </p:txBody>
      </p:sp>
      <p:sp>
        <p:nvSpPr>
          <p:cNvPr id="7" name="页脚占位符 6"/>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8" name="灯片编号占位符 7"/>
          <p:cNvSpPr>
            <a:spLocks noGrp="1"/>
          </p:cNvSpPr>
          <p:nvPr>
            <p:ph type="sldNum" sz="quarter" idx="12"/>
          </p:nvPr>
        </p:nvSpPr>
        <p:spPr/>
        <p:txBody>
          <a:bodyPr/>
          <a:lstStyle/>
          <a:p>
            <a:fld id="{67913A8A-9EFB-4B5F-9CCB-3D21173FAA85}" type="slidenum">
              <a:rPr lang="zh-CN" altLang="en-US" smtClean="0"/>
              <a:pPr/>
              <a:t>121</a:t>
            </a:fld>
            <a:endParaRPr lang="zh-CN" altLang="en-US" dirty="0"/>
          </a:p>
        </p:txBody>
      </p:sp>
    </p:spTree>
  </p:cSld>
  <p:clrMapOvr>
    <a:masterClrMapping/>
  </p:clrMapOvr>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smtClean="0"/>
              <a:t>极大元与极小元</a:t>
            </a:r>
            <a:endParaRPr lang="en-US" dirty="0"/>
          </a:p>
        </p:txBody>
      </p:sp>
      <p:sp>
        <p:nvSpPr>
          <p:cNvPr id="3" name="Content Placeholder 2"/>
          <p:cNvSpPr>
            <a:spLocks noGrp="1"/>
          </p:cNvSpPr>
          <p:nvPr>
            <p:ph idx="1"/>
          </p:nvPr>
        </p:nvSpPr>
        <p:spPr/>
        <p:txBody>
          <a:bodyPr/>
          <a:lstStyle/>
          <a:p>
            <a:r>
              <a:rPr lang="zh-CN" altLang="en-US" dirty="0" smtClean="0"/>
              <a:t>例</a:t>
            </a:r>
            <a:r>
              <a:rPr lang="en-US" altLang="zh-CN" dirty="0" smtClean="0"/>
              <a:t>:</a:t>
            </a:r>
            <a:r>
              <a:rPr lang="zh-CN" altLang="en-US" dirty="0" smtClean="0"/>
              <a:t>求偏序集</a:t>
            </a:r>
            <a:r>
              <a:rPr lang="en-US" altLang="zh-CN" dirty="0" smtClean="0"/>
              <a:t>({2,4,5,10,12,20,25},|)</a:t>
            </a:r>
            <a:r>
              <a:rPr lang="zh-CN" altLang="en-US" dirty="0" smtClean="0"/>
              <a:t>中哪些元素是极大元</a:t>
            </a:r>
            <a:r>
              <a:rPr lang="en-US" altLang="zh-CN" dirty="0" smtClean="0"/>
              <a:t>, </a:t>
            </a:r>
            <a:r>
              <a:rPr lang="zh-CN" altLang="en-US" dirty="0" smtClean="0"/>
              <a:t>哪些是极小元？</a:t>
            </a:r>
            <a:endParaRPr lang="en-US" altLang="zh-CN" dirty="0" smtClean="0"/>
          </a:p>
          <a:p>
            <a:r>
              <a:rPr lang="zh-CN" altLang="en-US" dirty="0" smtClean="0"/>
              <a:t>解</a:t>
            </a:r>
            <a:r>
              <a:rPr lang="en-US" altLang="zh-CN" dirty="0" smtClean="0"/>
              <a:t>:</a:t>
            </a:r>
            <a:r>
              <a:rPr lang="zh-CN" altLang="en-US" dirty="0" smtClean="0"/>
              <a:t>这个偏序集的哈塞图如下所示</a:t>
            </a:r>
            <a:r>
              <a:rPr lang="en-US" altLang="zh-CN" dirty="0" smtClean="0"/>
              <a:t>. </a:t>
            </a:r>
            <a:r>
              <a:rPr lang="zh-CN" altLang="en-US" dirty="0" smtClean="0"/>
              <a:t>因此极大元是</a:t>
            </a:r>
            <a:r>
              <a:rPr lang="en-US" altLang="zh-CN" dirty="0" smtClean="0"/>
              <a:t>12,20,25</a:t>
            </a:r>
            <a:r>
              <a:rPr lang="zh-CN" altLang="en-US" dirty="0" smtClean="0"/>
              <a:t>；极小元是</a:t>
            </a:r>
            <a:r>
              <a:rPr lang="en-US" altLang="zh-CN" dirty="0" smtClean="0"/>
              <a:t>2</a:t>
            </a:r>
            <a:r>
              <a:rPr lang="zh-CN" altLang="en-US" dirty="0" smtClean="0"/>
              <a:t>和</a:t>
            </a:r>
            <a:r>
              <a:rPr lang="en-US" altLang="zh-CN" dirty="0" smtClean="0"/>
              <a:t>5.</a:t>
            </a:r>
            <a:endParaRPr lang="en-US" altLang="zh-CN" dirty="0"/>
          </a:p>
        </p:txBody>
      </p:sp>
      <p:sp>
        <p:nvSpPr>
          <p:cNvPr id="6" name="日期占位符 5"/>
          <p:cNvSpPr>
            <a:spLocks noGrp="1"/>
          </p:cNvSpPr>
          <p:nvPr>
            <p:ph type="dt" sz="half" idx="10"/>
          </p:nvPr>
        </p:nvSpPr>
        <p:spPr/>
        <p:txBody>
          <a:bodyPr/>
          <a:lstStyle/>
          <a:p>
            <a:fld id="{8FB19D6A-E0A9-4B70-B11A-92C3A9F6F5CA}" type="datetime1">
              <a:rPr lang="zh-CN" altLang="en-US" smtClean="0"/>
              <a:t>2025/3/14</a:t>
            </a:fld>
            <a:endParaRPr lang="zh-CN" altLang="en-US" dirty="0"/>
          </a:p>
        </p:txBody>
      </p:sp>
      <p:sp>
        <p:nvSpPr>
          <p:cNvPr id="7" name="页脚占位符 6"/>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8" name="灯片编号占位符 7"/>
          <p:cNvSpPr>
            <a:spLocks noGrp="1"/>
          </p:cNvSpPr>
          <p:nvPr>
            <p:ph type="sldNum" sz="quarter" idx="12"/>
          </p:nvPr>
        </p:nvSpPr>
        <p:spPr/>
        <p:txBody>
          <a:bodyPr/>
          <a:lstStyle/>
          <a:p>
            <a:fld id="{67913A8A-9EFB-4B5F-9CCB-3D21173FAA85}" type="slidenum">
              <a:rPr lang="zh-CN" altLang="en-US" smtClean="0"/>
              <a:pPr/>
              <a:t>122</a:t>
            </a:fld>
            <a:endParaRPr lang="zh-CN" altLang="en-US" dirty="0"/>
          </a:p>
        </p:txBody>
      </p:sp>
      <p:pic>
        <p:nvPicPr>
          <p:cNvPr id="4" name="图片 3"/>
          <p:cNvPicPr>
            <a:picLocks noChangeAspect="1"/>
          </p:cNvPicPr>
          <p:nvPr/>
        </p:nvPicPr>
        <p:blipFill>
          <a:blip r:embed="rId2"/>
          <a:stretch>
            <a:fillRect/>
          </a:stretch>
        </p:blipFill>
        <p:spPr>
          <a:xfrm>
            <a:off x="4595149" y="2939835"/>
            <a:ext cx="3505200" cy="3253108"/>
          </a:xfrm>
          <a:prstGeom prst="rect">
            <a:avLst/>
          </a:prstGeom>
        </p:spPr>
      </p:pic>
    </p:spTree>
    <p:extLst>
      <p:ext uri="{BB962C8B-B14F-4D97-AF65-F5344CB8AC3E}">
        <p14:creationId xmlns:p14="http://schemas.microsoft.com/office/powerpoint/2010/main" val="30293620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wipe(down)">
                                      <p:cBhvr>
                                        <p:cTn id="7" dur="500"/>
                                        <p:tgtEl>
                                          <p:spTgt spid="3">
                                            <p:txEl>
                                              <p:pRg st="1" end="1"/>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wipe(down)">
                                      <p:cBhvr>
                                        <p:cTn id="1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457200" y="1088824"/>
            <a:ext cx="11277599" cy="1349576"/>
          </a:xfrm>
          <a:prstGeom prst="rect">
            <a:avLst/>
          </a:prstGeom>
          <a:solidFill>
            <a:schemeClr val="accent5">
              <a:lumMod val="40000"/>
              <a:lumOff val="6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457200" y="2514600"/>
            <a:ext cx="11277599" cy="1295400"/>
          </a:xfrm>
          <a:prstGeom prst="rect">
            <a:avLst/>
          </a:prstGeom>
          <a:solidFill>
            <a:schemeClr val="accent5">
              <a:lumMod val="40000"/>
              <a:lumOff val="6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itle 1"/>
          <p:cNvSpPr>
            <a:spLocks noGrp="1"/>
          </p:cNvSpPr>
          <p:nvPr>
            <p:ph type="title"/>
          </p:nvPr>
        </p:nvSpPr>
        <p:spPr/>
        <p:txBody>
          <a:bodyPr/>
          <a:lstStyle/>
          <a:p>
            <a:r>
              <a:rPr lang="zh-CN" altLang="en-US" dirty="0"/>
              <a:t>最</a:t>
            </a:r>
            <a:r>
              <a:rPr lang="zh-CN" altLang="en-US" dirty="0" smtClean="0"/>
              <a:t>大元与最小元</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zh-CN" altLang="en-US" dirty="0" smtClean="0"/>
                  <a:t>定义</a:t>
                </a:r>
                <a:r>
                  <a:rPr lang="en-US" altLang="zh-CN" dirty="0" smtClean="0"/>
                  <a:t>:</a:t>
                </a:r>
                <a:r>
                  <a:rPr lang="zh-CN" altLang="en-US" dirty="0" smtClean="0"/>
                  <a:t>有时在偏序集存在一个元素大于每个其他元素</a:t>
                </a:r>
                <a:r>
                  <a:rPr lang="en-US" altLang="zh-CN" dirty="0" smtClean="0"/>
                  <a:t>, </a:t>
                </a:r>
                <a:r>
                  <a:rPr lang="zh-CN" altLang="en-US" dirty="0" smtClean="0"/>
                  <a:t>这样的元素称为</a:t>
                </a:r>
                <a:r>
                  <a:rPr lang="zh-CN" altLang="en-US" b="1" dirty="0" smtClean="0">
                    <a:solidFill>
                      <a:srgbClr val="C00000"/>
                    </a:solidFill>
                  </a:rPr>
                  <a:t>最大元</a:t>
                </a:r>
                <a:r>
                  <a:rPr lang="en-US" altLang="zh-CN" dirty="0" smtClean="0"/>
                  <a:t>, </a:t>
                </a:r>
                <a:r>
                  <a:rPr lang="zh-CN" altLang="en-US" dirty="0" smtClean="0"/>
                  <a:t>即</a:t>
                </a:r>
                <a:r>
                  <a:rPr lang="en-US" altLang="zh-CN" dirty="0" smtClean="0"/>
                  <a:t>a</a:t>
                </a:r>
                <a:r>
                  <a:rPr lang="zh-CN" altLang="en-US" dirty="0" smtClean="0"/>
                  <a:t>是偏序集</a:t>
                </a:r>
                <a:r>
                  <a:rPr lang="en-US" altLang="zh-CN" dirty="0" smtClean="0"/>
                  <a:t>(S,≼ )</a:t>
                </a:r>
                <a:r>
                  <a:rPr lang="zh-CN" altLang="en-US" dirty="0" smtClean="0"/>
                  <a:t>的最大元</a:t>
                </a:r>
                <a:r>
                  <a:rPr lang="en-US" altLang="zh-CN" dirty="0" smtClean="0"/>
                  <a:t>, </a:t>
                </a:r>
                <a:r>
                  <a:rPr lang="zh-CN" altLang="en-US" dirty="0" smtClean="0"/>
                  <a:t>如果对所有的</a:t>
                </a:r>
                <a14:m>
                  <m:oMath xmlns:m="http://schemas.openxmlformats.org/officeDocument/2006/math">
                    <m:r>
                      <m:rPr>
                        <m:sty m:val="p"/>
                      </m:rPr>
                      <a:rPr lang="en-US" altLang="zh-CN" i="1" dirty="0" smtClean="0">
                        <a:latin typeface="Cambria Math" panose="02040503050406030204" pitchFamily="18" charset="0"/>
                      </a:rPr>
                      <m:t>b</m:t>
                    </m:r>
                    <m:r>
                      <a:rPr lang="en-US" altLang="zh-CN" i="1" dirty="0">
                        <a:latin typeface="Cambria Math" panose="02040503050406030204" pitchFamily="18" charset="0"/>
                        <a:ea typeface="Cambria Math" panose="02040503050406030204" pitchFamily="18" charset="0"/>
                      </a:rPr>
                      <m:t>∈</m:t>
                    </m:r>
                    <m:r>
                      <a:rPr lang="en-US" altLang="zh-CN" i="1" dirty="0">
                        <a:latin typeface="Cambria Math" panose="02040503050406030204" pitchFamily="18" charset="0"/>
                        <a:ea typeface="Cambria Math" panose="02040503050406030204" pitchFamily="18" charset="0"/>
                      </a:rPr>
                      <m:t>𝑆</m:t>
                    </m:r>
                  </m:oMath>
                </a14:m>
                <a:r>
                  <a:rPr lang="en-US" altLang="zh-CN" dirty="0"/>
                  <a:t> </a:t>
                </a:r>
                <a:r>
                  <a:rPr lang="zh-CN" altLang="en-US" dirty="0"/>
                  <a:t>使得</a:t>
                </a:r>
                <a14:m>
                  <m:oMath xmlns:m="http://schemas.openxmlformats.org/officeDocument/2006/math">
                    <m:r>
                      <a:rPr lang="en-US" altLang="zh-CN" i="1" dirty="0">
                        <a:latin typeface="Cambria Math" panose="02040503050406030204" pitchFamily="18" charset="0"/>
                        <a:ea typeface="Cambria Math" panose="02040503050406030204" pitchFamily="18" charset="0"/>
                      </a:rPr>
                      <m:t>𝑏</m:t>
                    </m:r>
                    <m:r>
                      <m:rPr>
                        <m:nor/>
                      </m:rPr>
                      <a:rPr lang="en-US" altLang="zh-CN" dirty="0"/>
                      <m:t>≼</m:t>
                    </m:r>
                    <m:r>
                      <a:rPr lang="en-US" altLang="zh-CN" i="1" dirty="0">
                        <a:latin typeface="Cambria Math" panose="02040503050406030204" pitchFamily="18" charset="0"/>
                        <a:ea typeface="Cambria Math" panose="02040503050406030204" pitchFamily="18" charset="0"/>
                      </a:rPr>
                      <m:t>𝑎</m:t>
                    </m:r>
                  </m:oMath>
                </a14:m>
                <a:r>
                  <a:rPr lang="en-US" altLang="zh-CN" dirty="0" smtClean="0"/>
                  <a:t>.</a:t>
                </a:r>
                <a:r>
                  <a:rPr lang="zh-CN" altLang="en-US" dirty="0" smtClean="0"/>
                  <a:t>当最大元存在时</a:t>
                </a:r>
                <a:r>
                  <a:rPr lang="en-US" altLang="zh-CN" dirty="0" smtClean="0"/>
                  <a:t>, </a:t>
                </a:r>
                <a:r>
                  <a:rPr lang="zh-CN" altLang="en-US" dirty="0" smtClean="0"/>
                  <a:t>它是唯一的</a:t>
                </a:r>
                <a:r>
                  <a:rPr lang="en-US" altLang="zh-CN" dirty="0" smtClean="0"/>
                  <a:t>.</a:t>
                </a:r>
              </a:p>
              <a:p>
                <a:r>
                  <a:rPr lang="zh-CN" altLang="en-US" dirty="0" smtClean="0"/>
                  <a:t>定义</a:t>
                </a:r>
                <a:r>
                  <a:rPr lang="en-US" altLang="zh-CN" dirty="0" smtClean="0"/>
                  <a:t>:</a:t>
                </a:r>
                <a:r>
                  <a:rPr lang="zh-CN" altLang="en-US" dirty="0" smtClean="0"/>
                  <a:t>有时</a:t>
                </a:r>
                <a:r>
                  <a:rPr lang="zh-CN" altLang="en-US" dirty="0"/>
                  <a:t>在偏序集存在一个</a:t>
                </a:r>
                <a:r>
                  <a:rPr lang="zh-CN" altLang="en-US" dirty="0" smtClean="0"/>
                  <a:t>元素小于所有其他元素</a:t>
                </a:r>
                <a:r>
                  <a:rPr lang="en-US" altLang="zh-CN" dirty="0" smtClean="0"/>
                  <a:t>, </a:t>
                </a:r>
                <a:r>
                  <a:rPr lang="zh-CN" altLang="en-US" dirty="0" smtClean="0"/>
                  <a:t>这样</a:t>
                </a:r>
                <a:r>
                  <a:rPr lang="zh-CN" altLang="en-US" dirty="0"/>
                  <a:t>的元素称为</a:t>
                </a:r>
                <a:r>
                  <a:rPr lang="zh-CN" altLang="en-US" b="1" dirty="0" smtClean="0">
                    <a:solidFill>
                      <a:srgbClr val="C00000"/>
                    </a:solidFill>
                  </a:rPr>
                  <a:t>最小元</a:t>
                </a:r>
                <a:r>
                  <a:rPr lang="en-US" altLang="zh-CN" dirty="0" smtClean="0"/>
                  <a:t>, </a:t>
                </a:r>
                <a:r>
                  <a:rPr lang="zh-CN" altLang="en-US" dirty="0" smtClean="0"/>
                  <a:t>即</a:t>
                </a:r>
                <a:r>
                  <a:rPr lang="en-US" altLang="zh-CN" dirty="0"/>
                  <a:t>a</a:t>
                </a:r>
                <a:r>
                  <a:rPr lang="zh-CN" altLang="en-US" dirty="0"/>
                  <a:t>是</a:t>
                </a:r>
                <a:r>
                  <a:rPr lang="zh-CN" altLang="en-US" dirty="0" smtClean="0"/>
                  <a:t>偏序集</a:t>
                </a:r>
                <a:r>
                  <a:rPr lang="en-US" altLang="zh-CN" dirty="0" smtClean="0"/>
                  <a:t>(S,≼ )</a:t>
                </a:r>
                <a:r>
                  <a:rPr lang="zh-CN" altLang="en-US" dirty="0" smtClean="0"/>
                  <a:t>的最</a:t>
                </a:r>
                <a:r>
                  <a:rPr lang="zh-CN" altLang="en-US" dirty="0"/>
                  <a:t>小</a:t>
                </a:r>
                <a:r>
                  <a:rPr lang="zh-CN" altLang="en-US" dirty="0" smtClean="0"/>
                  <a:t>元</a:t>
                </a:r>
                <a:r>
                  <a:rPr lang="en-US" altLang="zh-CN" dirty="0" smtClean="0"/>
                  <a:t>, </a:t>
                </a:r>
                <a:r>
                  <a:rPr lang="zh-CN" altLang="en-US" dirty="0" smtClean="0"/>
                  <a:t>如果</a:t>
                </a:r>
                <a:r>
                  <a:rPr lang="zh-CN" altLang="en-US" dirty="0"/>
                  <a:t>对所有的</a:t>
                </a:r>
                <a14:m>
                  <m:oMath xmlns:m="http://schemas.openxmlformats.org/officeDocument/2006/math">
                    <m:r>
                      <m:rPr>
                        <m:sty m:val="p"/>
                      </m:rPr>
                      <a:rPr lang="en-US" altLang="zh-CN" i="1" dirty="0">
                        <a:latin typeface="Cambria Math" panose="02040503050406030204" pitchFamily="18" charset="0"/>
                      </a:rPr>
                      <m:t>b</m:t>
                    </m:r>
                    <m:r>
                      <a:rPr lang="en-US" altLang="zh-CN" i="1" dirty="0">
                        <a:latin typeface="Cambria Math" panose="02040503050406030204" pitchFamily="18" charset="0"/>
                        <a:ea typeface="Cambria Math" panose="02040503050406030204" pitchFamily="18" charset="0"/>
                      </a:rPr>
                      <m:t>∈</m:t>
                    </m:r>
                    <m:r>
                      <a:rPr lang="en-US" altLang="zh-CN" i="1" dirty="0">
                        <a:latin typeface="Cambria Math" panose="02040503050406030204" pitchFamily="18" charset="0"/>
                        <a:ea typeface="Cambria Math" panose="02040503050406030204" pitchFamily="18" charset="0"/>
                      </a:rPr>
                      <m:t>𝑆</m:t>
                    </m:r>
                  </m:oMath>
                </a14:m>
                <a:r>
                  <a:rPr lang="en-US" altLang="zh-CN" dirty="0"/>
                  <a:t> </a:t>
                </a:r>
                <a:r>
                  <a:rPr lang="zh-CN" altLang="en-US" dirty="0"/>
                  <a:t>使得</a:t>
                </a:r>
                <a14:m>
                  <m:oMath xmlns:m="http://schemas.openxmlformats.org/officeDocument/2006/math">
                    <m:r>
                      <a:rPr lang="en-US" altLang="zh-CN" i="1" dirty="0">
                        <a:latin typeface="Cambria Math" panose="02040503050406030204" pitchFamily="18" charset="0"/>
                        <a:ea typeface="Cambria Math" panose="02040503050406030204" pitchFamily="18" charset="0"/>
                      </a:rPr>
                      <m:t>𝑎</m:t>
                    </m:r>
                    <m:r>
                      <m:rPr>
                        <m:nor/>
                      </m:rPr>
                      <a:rPr lang="en-US" altLang="zh-CN" dirty="0"/>
                      <m:t>≼</m:t>
                    </m:r>
                    <m:r>
                      <a:rPr lang="en-US" altLang="zh-CN" i="1" dirty="0">
                        <a:latin typeface="Cambria Math" panose="02040503050406030204" pitchFamily="18" charset="0"/>
                        <a:ea typeface="Cambria Math" panose="02040503050406030204" pitchFamily="18" charset="0"/>
                      </a:rPr>
                      <m:t>𝑏</m:t>
                    </m:r>
                  </m:oMath>
                </a14:m>
                <a:r>
                  <a:rPr lang="en-US" altLang="zh-CN" dirty="0" smtClean="0"/>
                  <a:t>.</a:t>
                </a:r>
                <a:r>
                  <a:rPr lang="zh-CN" altLang="en-US" dirty="0"/>
                  <a:t>当</a:t>
                </a:r>
                <a:r>
                  <a:rPr lang="zh-CN" altLang="en-US" dirty="0" smtClean="0"/>
                  <a:t>最小元</a:t>
                </a:r>
                <a:r>
                  <a:rPr lang="zh-CN" altLang="en-US" dirty="0"/>
                  <a:t>存在</a:t>
                </a:r>
                <a:r>
                  <a:rPr lang="zh-CN" altLang="en-US" dirty="0" smtClean="0"/>
                  <a:t>时</a:t>
                </a:r>
                <a:r>
                  <a:rPr lang="en-US" altLang="zh-CN" dirty="0" smtClean="0"/>
                  <a:t>, </a:t>
                </a:r>
                <a:r>
                  <a:rPr lang="zh-CN" altLang="en-US" dirty="0" smtClean="0"/>
                  <a:t>它</a:t>
                </a:r>
                <a:r>
                  <a:rPr lang="zh-CN" altLang="en-US" dirty="0"/>
                  <a:t>是唯一</a:t>
                </a:r>
                <a:r>
                  <a:rPr lang="zh-CN" altLang="en-US" dirty="0" smtClean="0"/>
                  <a:t>的</a:t>
                </a:r>
                <a:r>
                  <a:rPr lang="en-US" altLang="zh-CN" dirty="0" smtClean="0"/>
                  <a:t>.</a:t>
                </a:r>
                <a:endParaRPr lang="en-US" altLang="zh-CN"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999" t="-1310" r="-222"/>
                </a:stretch>
              </a:blipFill>
            </p:spPr>
            <p:txBody>
              <a:bodyPr/>
              <a:lstStyle/>
              <a:p>
                <a:r>
                  <a:rPr lang="zh-CN" altLang="en-US">
                    <a:noFill/>
                  </a:rPr>
                  <a:t> </a:t>
                </a:r>
              </a:p>
            </p:txBody>
          </p:sp>
        </mc:Fallback>
      </mc:AlternateContent>
      <p:sp>
        <p:nvSpPr>
          <p:cNvPr id="6" name="日期占位符 5"/>
          <p:cNvSpPr>
            <a:spLocks noGrp="1"/>
          </p:cNvSpPr>
          <p:nvPr>
            <p:ph type="dt" sz="half" idx="10"/>
          </p:nvPr>
        </p:nvSpPr>
        <p:spPr/>
        <p:txBody>
          <a:bodyPr/>
          <a:lstStyle/>
          <a:p>
            <a:fld id="{07446747-804F-4471-A19D-4FECD045DCDA}" type="datetime1">
              <a:rPr lang="zh-CN" altLang="en-US" smtClean="0"/>
              <a:t>2025/3/14</a:t>
            </a:fld>
            <a:endParaRPr lang="zh-CN" altLang="en-US" dirty="0"/>
          </a:p>
        </p:txBody>
      </p:sp>
      <p:sp>
        <p:nvSpPr>
          <p:cNvPr id="7" name="页脚占位符 6"/>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8" name="灯片编号占位符 7"/>
          <p:cNvSpPr>
            <a:spLocks noGrp="1"/>
          </p:cNvSpPr>
          <p:nvPr>
            <p:ph type="sldNum" sz="quarter" idx="12"/>
          </p:nvPr>
        </p:nvSpPr>
        <p:spPr/>
        <p:txBody>
          <a:bodyPr/>
          <a:lstStyle/>
          <a:p>
            <a:fld id="{67913A8A-9EFB-4B5F-9CCB-3D21173FAA85}" type="slidenum">
              <a:rPr lang="zh-CN" altLang="en-US" smtClean="0"/>
              <a:pPr/>
              <a:t>123</a:t>
            </a:fld>
            <a:endParaRPr lang="zh-CN" altLang="en-US" dirty="0"/>
          </a:p>
        </p:txBody>
      </p:sp>
    </p:spTree>
    <p:extLst>
      <p:ext uri="{BB962C8B-B14F-4D97-AF65-F5344CB8AC3E}">
        <p14:creationId xmlns:p14="http://schemas.microsoft.com/office/powerpoint/2010/main" val="222631464"/>
      </p:ext>
    </p:extLst>
  </p:cSld>
  <p:clrMapOvr>
    <a:masterClrMapping/>
  </p:clrMapOvr>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最大元与最小元</a:t>
            </a:r>
            <a:endParaRPr lang="en-US" dirty="0"/>
          </a:p>
        </p:txBody>
      </p:sp>
      <p:sp>
        <p:nvSpPr>
          <p:cNvPr id="3" name="Content Placeholder 2"/>
          <p:cNvSpPr>
            <a:spLocks noGrp="1"/>
          </p:cNvSpPr>
          <p:nvPr>
            <p:ph idx="1"/>
          </p:nvPr>
        </p:nvSpPr>
        <p:spPr/>
        <p:txBody>
          <a:bodyPr>
            <a:normAutofit lnSpcReduction="10000"/>
          </a:bodyPr>
          <a:lstStyle/>
          <a:p>
            <a:r>
              <a:rPr lang="zh-CN" altLang="en-US" dirty="0" smtClean="0"/>
              <a:t>例</a:t>
            </a:r>
            <a:r>
              <a:rPr lang="en-US" altLang="zh-CN" dirty="0" smtClean="0"/>
              <a:t>:</a:t>
            </a:r>
            <a:r>
              <a:rPr lang="zh-CN" altLang="en-US" dirty="0" smtClean="0"/>
              <a:t>如下图中的哈塞图表示的偏序集是否有最大元和最小元？</a:t>
            </a:r>
            <a:endParaRPr lang="en-US" altLang="zh-CN" dirty="0" smtClean="0"/>
          </a:p>
          <a:p>
            <a:endParaRPr lang="en-US" altLang="zh-CN" dirty="0" smtClean="0"/>
          </a:p>
          <a:p>
            <a:endParaRPr lang="en-US" altLang="zh-CN" dirty="0"/>
          </a:p>
          <a:p>
            <a:endParaRPr lang="en-US" altLang="zh-CN" dirty="0" smtClean="0"/>
          </a:p>
          <a:p>
            <a:endParaRPr lang="en-US" altLang="zh-CN" dirty="0"/>
          </a:p>
          <a:p>
            <a:endParaRPr lang="en-US" altLang="zh-CN" dirty="0" smtClean="0"/>
          </a:p>
          <a:p>
            <a:endParaRPr lang="en-US" altLang="zh-CN" dirty="0"/>
          </a:p>
          <a:p>
            <a:r>
              <a:rPr lang="zh-CN" altLang="en-US" dirty="0" smtClean="0"/>
              <a:t>解</a:t>
            </a:r>
            <a:r>
              <a:rPr lang="en-US" altLang="zh-CN" dirty="0" smtClean="0"/>
              <a:t>:a)</a:t>
            </a:r>
            <a:r>
              <a:rPr lang="zh-CN" altLang="en-US" dirty="0" smtClean="0"/>
              <a:t>表示的偏序集的最小元是</a:t>
            </a:r>
            <a:r>
              <a:rPr lang="en-US" altLang="zh-CN" dirty="0" smtClean="0"/>
              <a:t>a, </a:t>
            </a:r>
            <a:r>
              <a:rPr lang="zh-CN" altLang="en-US" dirty="0" smtClean="0"/>
              <a:t>但这个偏序集没有最大元</a:t>
            </a:r>
            <a:r>
              <a:rPr lang="en-US" altLang="zh-CN" dirty="0" smtClean="0"/>
              <a:t>. b)</a:t>
            </a:r>
            <a:r>
              <a:rPr lang="zh-CN" altLang="en-US" dirty="0" smtClean="0"/>
              <a:t>表示的偏序集既没有最大元也没有最小元</a:t>
            </a:r>
            <a:r>
              <a:rPr lang="en-US" altLang="zh-CN" dirty="0" smtClean="0"/>
              <a:t>. c)</a:t>
            </a:r>
            <a:r>
              <a:rPr lang="zh-CN" altLang="en-US" dirty="0" smtClean="0"/>
              <a:t>表示的偏序集没有最小元</a:t>
            </a:r>
            <a:r>
              <a:rPr lang="en-US" altLang="zh-CN" dirty="0" smtClean="0"/>
              <a:t>,</a:t>
            </a:r>
            <a:r>
              <a:rPr lang="zh-CN" altLang="en-US" dirty="0" smtClean="0"/>
              <a:t>最大元是</a:t>
            </a:r>
            <a:r>
              <a:rPr lang="en-US" altLang="zh-CN" dirty="0" smtClean="0"/>
              <a:t>d. d)</a:t>
            </a:r>
            <a:r>
              <a:rPr lang="zh-CN" altLang="en-US" dirty="0" smtClean="0"/>
              <a:t>表示的偏序集有最大元</a:t>
            </a:r>
            <a:r>
              <a:rPr lang="en-US" altLang="zh-CN" dirty="0" smtClean="0"/>
              <a:t>d</a:t>
            </a:r>
            <a:r>
              <a:rPr lang="zh-CN" altLang="en-US" dirty="0" smtClean="0"/>
              <a:t>和最小元</a:t>
            </a:r>
            <a:r>
              <a:rPr lang="en-US" altLang="zh-CN" dirty="0" smtClean="0"/>
              <a:t>a.</a:t>
            </a:r>
            <a:endParaRPr lang="en-US" altLang="zh-CN" dirty="0"/>
          </a:p>
        </p:txBody>
      </p:sp>
      <p:sp>
        <p:nvSpPr>
          <p:cNvPr id="6" name="日期占位符 5"/>
          <p:cNvSpPr>
            <a:spLocks noGrp="1"/>
          </p:cNvSpPr>
          <p:nvPr>
            <p:ph type="dt" sz="half" idx="10"/>
          </p:nvPr>
        </p:nvSpPr>
        <p:spPr/>
        <p:txBody>
          <a:bodyPr/>
          <a:lstStyle/>
          <a:p>
            <a:fld id="{438FD7C8-DE66-46D6-B660-C47F4C79DAAE}" type="datetime1">
              <a:rPr lang="zh-CN" altLang="en-US" smtClean="0"/>
              <a:t>2025/3/14</a:t>
            </a:fld>
            <a:endParaRPr lang="zh-CN" altLang="en-US" dirty="0"/>
          </a:p>
        </p:txBody>
      </p:sp>
      <p:sp>
        <p:nvSpPr>
          <p:cNvPr id="7" name="页脚占位符 6"/>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8" name="灯片编号占位符 7"/>
          <p:cNvSpPr>
            <a:spLocks noGrp="1"/>
          </p:cNvSpPr>
          <p:nvPr>
            <p:ph type="sldNum" sz="quarter" idx="12"/>
          </p:nvPr>
        </p:nvSpPr>
        <p:spPr/>
        <p:txBody>
          <a:bodyPr/>
          <a:lstStyle/>
          <a:p>
            <a:fld id="{67913A8A-9EFB-4B5F-9CCB-3D21173FAA85}" type="slidenum">
              <a:rPr lang="zh-CN" altLang="en-US" smtClean="0"/>
              <a:pPr/>
              <a:t>124</a:t>
            </a:fld>
            <a:endParaRPr lang="zh-CN" altLang="en-US" dirty="0"/>
          </a:p>
        </p:txBody>
      </p:sp>
      <p:pic>
        <p:nvPicPr>
          <p:cNvPr id="5" name="图片 4"/>
          <p:cNvPicPr>
            <a:picLocks noChangeAspect="1"/>
          </p:cNvPicPr>
          <p:nvPr/>
        </p:nvPicPr>
        <p:blipFill>
          <a:blip r:embed="rId2"/>
          <a:stretch>
            <a:fillRect/>
          </a:stretch>
        </p:blipFill>
        <p:spPr>
          <a:xfrm>
            <a:off x="579299" y="1524000"/>
            <a:ext cx="11033401" cy="2984368"/>
          </a:xfrm>
          <a:prstGeom prst="rect">
            <a:avLst/>
          </a:prstGeom>
        </p:spPr>
      </p:pic>
    </p:spTree>
    <p:extLst>
      <p:ext uri="{BB962C8B-B14F-4D97-AF65-F5344CB8AC3E}">
        <p14:creationId xmlns:p14="http://schemas.microsoft.com/office/powerpoint/2010/main" val="18257792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7" end="7"/>
                                            </p:txEl>
                                          </p:spTgt>
                                        </p:tgtEl>
                                        <p:attrNameLst>
                                          <p:attrName>style.visibility</p:attrName>
                                        </p:attrNameLst>
                                      </p:cBhvr>
                                      <p:to>
                                        <p:strVal val="visible"/>
                                      </p:to>
                                    </p:set>
                                    <p:animEffect transition="in" filter="wipe(down)">
                                      <p:cBhvr>
                                        <p:cTn id="7"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457200" y="2492576"/>
            <a:ext cx="11277599" cy="1317424"/>
          </a:xfrm>
          <a:prstGeom prst="rect">
            <a:avLst/>
          </a:prstGeom>
          <a:solidFill>
            <a:schemeClr val="accent5">
              <a:lumMod val="40000"/>
              <a:lumOff val="6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457200" y="1143000"/>
            <a:ext cx="11277599" cy="1295400"/>
          </a:xfrm>
          <a:prstGeom prst="rect">
            <a:avLst/>
          </a:prstGeom>
          <a:solidFill>
            <a:schemeClr val="accent5">
              <a:lumMod val="40000"/>
              <a:lumOff val="6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itle 1"/>
          <p:cNvSpPr>
            <a:spLocks noGrp="1"/>
          </p:cNvSpPr>
          <p:nvPr>
            <p:ph type="title"/>
          </p:nvPr>
        </p:nvSpPr>
        <p:spPr/>
        <p:txBody>
          <a:bodyPr/>
          <a:lstStyle/>
          <a:p>
            <a:r>
              <a:rPr lang="zh-CN" altLang="en-US" dirty="0" smtClean="0"/>
              <a:t>上界和下界</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zh-CN" altLang="en-US" dirty="0" smtClean="0"/>
                  <a:t>定义</a:t>
                </a:r>
                <a:r>
                  <a:rPr lang="en-US" altLang="zh-CN" dirty="0" smtClean="0"/>
                  <a:t>:</a:t>
                </a:r>
                <a:r>
                  <a:rPr lang="zh-CN" altLang="en-US" dirty="0" smtClean="0"/>
                  <a:t>有时候可以找到一个元素大于或等于偏序集</a:t>
                </a:r>
                <a:r>
                  <a:rPr lang="en-US" altLang="zh-CN" dirty="0" smtClean="0"/>
                  <a:t>(S,≼)</a:t>
                </a:r>
                <a:r>
                  <a:rPr lang="zh-CN" altLang="en-US" dirty="0" smtClean="0"/>
                  <a:t>的子集</a:t>
                </a:r>
                <a:r>
                  <a:rPr lang="en-US" altLang="zh-CN" dirty="0" smtClean="0"/>
                  <a:t>A</a:t>
                </a:r>
                <a:r>
                  <a:rPr lang="zh-CN" altLang="en-US" dirty="0" smtClean="0"/>
                  <a:t>中的所有元素</a:t>
                </a:r>
                <a:r>
                  <a:rPr lang="en-US" altLang="zh-CN" dirty="0" smtClean="0"/>
                  <a:t>, </a:t>
                </a:r>
                <a:r>
                  <a:rPr lang="zh-CN" altLang="en-US" dirty="0" smtClean="0"/>
                  <a:t>这样的元素称为</a:t>
                </a:r>
                <a:r>
                  <a:rPr lang="zh-CN" altLang="en-US" b="1" dirty="0" smtClean="0">
                    <a:solidFill>
                      <a:srgbClr val="C00000"/>
                    </a:solidFill>
                  </a:rPr>
                  <a:t>上界</a:t>
                </a:r>
                <a:r>
                  <a:rPr lang="en-US" altLang="zh-CN" dirty="0" smtClean="0"/>
                  <a:t>, </a:t>
                </a:r>
                <a:r>
                  <a:rPr lang="zh-CN" altLang="en-US" dirty="0" smtClean="0"/>
                  <a:t>即如果</a:t>
                </a:r>
                <a:r>
                  <a:rPr lang="en-US" altLang="zh-CN" dirty="0" smtClean="0"/>
                  <a:t>u</a:t>
                </a:r>
                <a:r>
                  <a:rPr lang="zh-CN" altLang="en-US" dirty="0" smtClean="0"/>
                  <a:t>是</a:t>
                </a:r>
                <a:r>
                  <a:rPr lang="en-US" altLang="zh-CN" dirty="0" smtClean="0"/>
                  <a:t>S</a:t>
                </a:r>
                <a:r>
                  <a:rPr lang="zh-CN" altLang="en-US" dirty="0" smtClean="0"/>
                  <a:t>中的元素</a:t>
                </a:r>
                <a:r>
                  <a:rPr lang="en-US" altLang="zh-CN" dirty="0" smtClean="0"/>
                  <a:t>, </a:t>
                </a:r>
                <a:r>
                  <a:rPr lang="zh-CN" altLang="en-US" dirty="0" smtClean="0"/>
                  <a:t>使得对所有的元素</a:t>
                </a:r>
                <a:r>
                  <a:rPr lang="en-US" altLang="zh-CN" dirty="0"/>
                  <a:t>a</a:t>
                </a:r>
                <a14:m>
                  <m:oMath xmlns:m="http://schemas.openxmlformats.org/officeDocument/2006/math">
                    <m:r>
                      <a:rPr lang="en-US" altLang="zh-CN" i="1" dirty="0">
                        <a:latin typeface="Cambria Math" panose="02040503050406030204" pitchFamily="18" charset="0"/>
                        <a:ea typeface="Cambria Math" panose="02040503050406030204" pitchFamily="18" charset="0"/>
                      </a:rPr>
                      <m:t>∈</m:t>
                    </m:r>
                  </m:oMath>
                </a14:m>
                <a:r>
                  <a:rPr lang="en-US" altLang="zh-CN" dirty="0" smtClean="0"/>
                  <a:t>A, </a:t>
                </a:r>
                <a:r>
                  <a:rPr lang="zh-CN" altLang="en-US" dirty="0" smtClean="0"/>
                  <a:t>有</a:t>
                </a:r>
                <a:r>
                  <a:rPr lang="en-US" altLang="zh-CN" dirty="0" err="1" smtClean="0"/>
                  <a:t>a≼u</a:t>
                </a:r>
                <a:r>
                  <a:rPr lang="en-US" altLang="zh-CN" dirty="0" smtClean="0"/>
                  <a:t>, </a:t>
                </a:r>
                <a:r>
                  <a:rPr lang="zh-CN" altLang="en-US" dirty="0" smtClean="0"/>
                  <a:t>那么</a:t>
                </a:r>
                <a:r>
                  <a:rPr lang="en-US" altLang="zh-CN" dirty="0" smtClean="0"/>
                  <a:t>u</a:t>
                </a:r>
                <a:r>
                  <a:rPr lang="zh-CN" altLang="en-US" dirty="0" smtClean="0"/>
                  <a:t>称为</a:t>
                </a:r>
                <a:r>
                  <a:rPr lang="en-US" altLang="zh-CN" dirty="0" smtClean="0"/>
                  <a:t>A</a:t>
                </a:r>
                <a:r>
                  <a:rPr lang="zh-CN" altLang="en-US" dirty="0" smtClean="0"/>
                  <a:t>的一个上界</a:t>
                </a:r>
                <a:r>
                  <a:rPr lang="en-US" altLang="zh-CN" dirty="0" smtClean="0"/>
                  <a:t>.</a:t>
                </a:r>
              </a:p>
              <a:p>
                <a:r>
                  <a:rPr lang="zh-CN" altLang="en-US" dirty="0" smtClean="0"/>
                  <a:t>定义</a:t>
                </a:r>
                <a:r>
                  <a:rPr lang="en-US" altLang="zh-CN" dirty="0" smtClean="0"/>
                  <a:t>:</a:t>
                </a:r>
                <a:r>
                  <a:rPr lang="zh-CN" altLang="en-US" dirty="0" smtClean="0"/>
                  <a:t>有时候</a:t>
                </a:r>
                <a:r>
                  <a:rPr lang="zh-CN" altLang="en-US" dirty="0"/>
                  <a:t>可以找到一个</a:t>
                </a:r>
                <a:r>
                  <a:rPr lang="zh-CN" altLang="en-US" dirty="0" smtClean="0"/>
                  <a:t>元素小于或</a:t>
                </a:r>
                <a:r>
                  <a:rPr lang="zh-CN" altLang="en-US" dirty="0"/>
                  <a:t>等于</a:t>
                </a:r>
                <a:r>
                  <a:rPr lang="zh-CN" altLang="en-US" dirty="0" smtClean="0"/>
                  <a:t>偏序集</a:t>
                </a:r>
                <a:r>
                  <a:rPr lang="en-US" altLang="zh-CN" dirty="0" smtClean="0"/>
                  <a:t>(S,≼)</a:t>
                </a:r>
                <a:r>
                  <a:rPr lang="zh-CN" altLang="en-US" dirty="0" smtClean="0"/>
                  <a:t>的</a:t>
                </a:r>
                <a:r>
                  <a:rPr lang="zh-CN" altLang="en-US" dirty="0"/>
                  <a:t>子集</a:t>
                </a:r>
                <a:r>
                  <a:rPr lang="en-US" altLang="zh-CN" dirty="0"/>
                  <a:t>A</a:t>
                </a:r>
                <a:r>
                  <a:rPr lang="zh-CN" altLang="en-US" dirty="0"/>
                  <a:t>中的所有</a:t>
                </a:r>
                <a:r>
                  <a:rPr lang="zh-CN" altLang="en-US" dirty="0" smtClean="0"/>
                  <a:t>元素</a:t>
                </a:r>
                <a:r>
                  <a:rPr lang="en-US" altLang="zh-CN" dirty="0" smtClean="0"/>
                  <a:t>, </a:t>
                </a:r>
                <a:r>
                  <a:rPr lang="zh-CN" altLang="en-US" dirty="0" smtClean="0"/>
                  <a:t>这样</a:t>
                </a:r>
                <a:r>
                  <a:rPr lang="zh-CN" altLang="en-US" dirty="0"/>
                  <a:t>的元素</a:t>
                </a:r>
                <a:r>
                  <a:rPr lang="zh-CN" altLang="en-US" dirty="0" smtClean="0"/>
                  <a:t>称为</a:t>
                </a:r>
                <a:r>
                  <a:rPr lang="zh-CN" altLang="en-US" b="1" dirty="0" smtClean="0">
                    <a:solidFill>
                      <a:srgbClr val="C00000"/>
                    </a:solidFill>
                  </a:rPr>
                  <a:t>下界</a:t>
                </a:r>
                <a:r>
                  <a:rPr lang="en-US" altLang="zh-CN" dirty="0" smtClean="0"/>
                  <a:t>, </a:t>
                </a:r>
                <a:r>
                  <a:rPr lang="zh-CN" altLang="en-US" dirty="0" smtClean="0"/>
                  <a:t>即如果</a:t>
                </a:r>
                <a:r>
                  <a:rPr lang="en-US" altLang="zh-CN" dirty="0" smtClean="0"/>
                  <a:t>l</a:t>
                </a:r>
                <a:r>
                  <a:rPr lang="zh-CN" altLang="en-US" dirty="0" smtClean="0"/>
                  <a:t>是</a:t>
                </a:r>
                <a:r>
                  <a:rPr lang="en-US" altLang="zh-CN" dirty="0"/>
                  <a:t>S</a:t>
                </a:r>
                <a:r>
                  <a:rPr lang="zh-CN" altLang="en-US" dirty="0"/>
                  <a:t>中的</a:t>
                </a:r>
                <a:r>
                  <a:rPr lang="zh-CN" altLang="en-US" dirty="0" smtClean="0"/>
                  <a:t>元素</a:t>
                </a:r>
                <a:r>
                  <a:rPr lang="en-US" altLang="zh-CN" dirty="0" smtClean="0"/>
                  <a:t>, </a:t>
                </a:r>
                <a:r>
                  <a:rPr lang="zh-CN" altLang="en-US" dirty="0" smtClean="0"/>
                  <a:t>使得</a:t>
                </a:r>
                <a:r>
                  <a:rPr lang="zh-CN" altLang="en-US" dirty="0"/>
                  <a:t>对所有的元素</a:t>
                </a:r>
                <a:r>
                  <a:rPr lang="en-US" altLang="zh-CN" dirty="0"/>
                  <a:t>a</a:t>
                </a:r>
                <a14:m>
                  <m:oMath xmlns:m="http://schemas.openxmlformats.org/officeDocument/2006/math">
                    <m:r>
                      <a:rPr lang="en-US" altLang="zh-CN" i="1" dirty="0">
                        <a:latin typeface="Cambria Math" panose="02040503050406030204" pitchFamily="18" charset="0"/>
                        <a:ea typeface="Cambria Math" panose="02040503050406030204" pitchFamily="18" charset="0"/>
                      </a:rPr>
                      <m:t>∈</m:t>
                    </m:r>
                  </m:oMath>
                </a14:m>
                <a:r>
                  <a:rPr lang="en-US" altLang="zh-CN" dirty="0" smtClean="0"/>
                  <a:t>A, </a:t>
                </a:r>
                <a:r>
                  <a:rPr lang="zh-CN" altLang="en-US" dirty="0" smtClean="0"/>
                  <a:t>有</a:t>
                </a:r>
                <a:r>
                  <a:rPr lang="en-US" altLang="zh-CN" dirty="0" err="1" smtClean="0"/>
                  <a:t>l≼a</a:t>
                </a:r>
                <a:r>
                  <a:rPr lang="en-US" altLang="zh-CN" dirty="0" smtClean="0"/>
                  <a:t>, </a:t>
                </a:r>
                <a:r>
                  <a:rPr lang="zh-CN" altLang="en-US" dirty="0" smtClean="0"/>
                  <a:t>那么</a:t>
                </a:r>
                <a:r>
                  <a:rPr lang="en-US" altLang="zh-CN" dirty="0" smtClean="0"/>
                  <a:t>l</a:t>
                </a:r>
                <a:r>
                  <a:rPr lang="zh-CN" altLang="en-US" dirty="0" smtClean="0"/>
                  <a:t>称为</a:t>
                </a:r>
                <a:r>
                  <a:rPr lang="en-US" altLang="zh-CN" dirty="0"/>
                  <a:t>A</a:t>
                </a:r>
                <a:r>
                  <a:rPr lang="zh-CN" altLang="en-US" dirty="0"/>
                  <a:t>的一</a:t>
                </a:r>
                <a:r>
                  <a:rPr lang="zh-CN" altLang="en-US" dirty="0" smtClean="0"/>
                  <a:t>个下界</a:t>
                </a:r>
                <a:r>
                  <a:rPr lang="en-US" altLang="zh-CN" dirty="0" smtClean="0"/>
                  <a:t>.</a:t>
                </a:r>
                <a:endParaRPr lang="en-US" altLang="zh-CN"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999" t="-1667" r="-499"/>
                </a:stretch>
              </a:blipFill>
            </p:spPr>
            <p:txBody>
              <a:bodyPr/>
              <a:lstStyle/>
              <a:p>
                <a:r>
                  <a:rPr lang="zh-CN" altLang="en-US">
                    <a:noFill/>
                  </a:rPr>
                  <a:t> </a:t>
                </a:r>
              </a:p>
            </p:txBody>
          </p:sp>
        </mc:Fallback>
      </mc:AlternateContent>
      <p:sp>
        <p:nvSpPr>
          <p:cNvPr id="6" name="日期占位符 5"/>
          <p:cNvSpPr>
            <a:spLocks noGrp="1"/>
          </p:cNvSpPr>
          <p:nvPr>
            <p:ph type="dt" sz="half" idx="10"/>
          </p:nvPr>
        </p:nvSpPr>
        <p:spPr/>
        <p:txBody>
          <a:bodyPr/>
          <a:lstStyle/>
          <a:p>
            <a:fld id="{299B59DF-2B08-4596-99EE-25012ED44830}" type="datetime1">
              <a:rPr lang="zh-CN" altLang="en-US" smtClean="0"/>
              <a:t>2025/3/14</a:t>
            </a:fld>
            <a:endParaRPr lang="zh-CN" altLang="en-US" dirty="0"/>
          </a:p>
        </p:txBody>
      </p:sp>
      <p:sp>
        <p:nvSpPr>
          <p:cNvPr id="7" name="页脚占位符 6"/>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8" name="灯片编号占位符 7"/>
          <p:cNvSpPr>
            <a:spLocks noGrp="1"/>
          </p:cNvSpPr>
          <p:nvPr>
            <p:ph type="sldNum" sz="quarter" idx="12"/>
          </p:nvPr>
        </p:nvSpPr>
        <p:spPr/>
        <p:txBody>
          <a:bodyPr/>
          <a:lstStyle/>
          <a:p>
            <a:fld id="{67913A8A-9EFB-4B5F-9CCB-3D21173FAA85}" type="slidenum">
              <a:rPr lang="zh-CN" altLang="en-US" smtClean="0"/>
              <a:pPr/>
              <a:t>125</a:t>
            </a:fld>
            <a:endParaRPr lang="zh-CN" altLang="en-US" dirty="0"/>
          </a:p>
        </p:txBody>
      </p:sp>
    </p:spTree>
    <p:extLst>
      <p:ext uri="{BB962C8B-B14F-4D97-AF65-F5344CB8AC3E}">
        <p14:creationId xmlns:p14="http://schemas.microsoft.com/office/powerpoint/2010/main" val="869465244"/>
      </p:ext>
    </p:extLst>
  </p:cSld>
  <p:clrMapOvr>
    <a:masterClrMapping/>
  </p:clrMapOvr>
  <p:timing>
    <p:tnLst>
      <p:par>
        <p:cT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上界和下界</a:t>
            </a:r>
            <a:endParaRPr lang="en-US" dirty="0"/>
          </a:p>
        </p:txBody>
      </p:sp>
      <p:sp>
        <p:nvSpPr>
          <p:cNvPr id="3" name="Content Placeholder 2"/>
          <p:cNvSpPr>
            <a:spLocks noGrp="1"/>
          </p:cNvSpPr>
          <p:nvPr>
            <p:ph idx="1"/>
          </p:nvPr>
        </p:nvSpPr>
        <p:spPr/>
        <p:txBody>
          <a:bodyPr>
            <a:normAutofit/>
          </a:bodyPr>
          <a:lstStyle/>
          <a:p>
            <a:r>
              <a:rPr lang="zh-CN" altLang="en-US" dirty="0" smtClean="0"/>
              <a:t>例</a:t>
            </a:r>
            <a:r>
              <a:rPr lang="en-US" altLang="zh-CN" dirty="0" smtClean="0"/>
              <a:t>:</a:t>
            </a:r>
            <a:r>
              <a:rPr lang="zh-CN" altLang="en-US" dirty="0" smtClean="0"/>
              <a:t>如下图中的哈塞图表示的偏序集的子集</a:t>
            </a:r>
            <a:r>
              <a:rPr lang="en-US" altLang="zh-CN" dirty="0" smtClean="0"/>
              <a:t>{</a:t>
            </a:r>
            <a:r>
              <a:rPr lang="en-US" altLang="zh-CN" dirty="0" err="1" smtClean="0"/>
              <a:t>a,b,c</a:t>
            </a:r>
            <a:r>
              <a:rPr lang="en-US" altLang="zh-CN" dirty="0" smtClean="0"/>
              <a:t>}</a:t>
            </a:r>
            <a:r>
              <a:rPr lang="zh-CN" altLang="en-US" dirty="0" smtClean="0"/>
              <a:t>、</a:t>
            </a:r>
            <a:r>
              <a:rPr lang="en-US" altLang="zh-CN" dirty="0" smtClean="0"/>
              <a:t>{</a:t>
            </a:r>
            <a:r>
              <a:rPr lang="en-US" altLang="zh-CN" dirty="0" err="1" smtClean="0"/>
              <a:t>j,h</a:t>
            </a:r>
            <a:r>
              <a:rPr lang="en-US" altLang="zh-CN" dirty="0" smtClean="0"/>
              <a:t>}</a:t>
            </a:r>
            <a:r>
              <a:rPr lang="zh-CN" altLang="en-US" dirty="0" smtClean="0"/>
              <a:t>、</a:t>
            </a:r>
            <a:r>
              <a:rPr lang="en-US" altLang="zh-CN" dirty="0" smtClean="0"/>
              <a:t>{</a:t>
            </a:r>
            <a:r>
              <a:rPr lang="en-US" altLang="zh-CN" dirty="0" err="1" smtClean="0"/>
              <a:t>a,c,d,f</a:t>
            </a:r>
            <a:r>
              <a:rPr lang="en-US" altLang="zh-CN" dirty="0" smtClean="0"/>
              <a:t>}</a:t>
            </a:r>
            <a:r>
              <a:rPr lang="zh-CN" altLang="en-US" dirty="0" smtClean="0"/>
              <a:t>的下界和上界是多少？</a:t>
            </a:r>
            <a:endParaRPr lang="en-US" altLang="zh-CN" dirty="0" smtClean="0"/>
          </a:p>
          <a:p>
            <a:endParaRPr lang="en-US" altLang="zh-CN" dirty="0" smtClean="0"/>
          </a:p>
          <a:p>
            <a:endParaRPr lang="en-US" altLang="zh-CN" dirty="0"/>
          </a:p>
          <a:p>
            <a:endParaRPr lang="en-US" altLang="zh-CN" dirty="0" smtClean="0"/>
          </a:p>
          <a:p>
            <a:endParaRPr lang="en-US" altLang="zh-CN" dirty="0"/>
          </a:p>
          <a:p>
            <a:pPr marL="0" indent="0">
              <a:buNone/>
            </a:pPr>
            <a:endParaRPr lang="en-US" altLang="zh-CN" dirty="0"/>
          </a:p>
          <a:p>
            <a:r>
              <a:rPr lang="zh-CN" altLang="en-US" dirty="0" smtClean="0"/>
              <a:t>解</a:t>
            </a:r>
            <a:r>
              <a:rPr lang="en-US" altLang="zh-CN" dirty="0" smtClean="0"/>
              <a:t>:{</a:t>
            </a:r>
            <a:r>
              <a:rPr lang="en-US" altLang="zh-CN" dirty="0" err="1" smtClean="0"/>
              <a:t>a,b,c</a:t>
            </a:r>
            <a:r>
              <a:rPr lang="en-US" altLang="zh-CN" dirty="0" smtClean="0"/>
              <a:t>}</a:t>
            </a:r>
            <a:r>
              <a:rPr lang="zh-CN" altLang="en-US" dirty="0" smtClean="0"/>
              <a:t>的上界是</a:t>
            </a:r>
            <a:r>
              <a:rPr lang="en-US" altLang="zh-CN" dirty="0" smtClean="0"/>
              <a:t>e</a:t>
            </a:r>
            <a:r>
              <a:rPr lang="zh-CN" altLang="en-US" dirty="0" smtClean="0"/>
              <a:t>、</a:t>
            </a:r>
            <a:r>
              <a:rPr lang="en-US" altLang="zh-CN" dirty="0" smtClean="0"/>
              <a:t>f</a:t>
            </a:r>
            <a:r>
              <a:rPr lang="zh-CN" altLang="en-US" dirty="0" smtClean="0"/>
              <a:t>、</a:t>
            </a:r>
            <a:r>
              <a:rPr lang="en-US" altLang="zh-CN" dirty="0" smtClean="0"/>
              <a:t>j</a:t>
            </a:r>
            <a:r>
              <a:rPr lang="zh-CN" altLang="en-US" dirty="0" smtClean="0"/>
              <a:t>、</a:t>
            </a:r>
            <a:r>
              <a:rPr lang="en-US" altLang="zh-CN" dirty="0" smtClean="0"/>
              <a:t>h,</a:t>
            </a:r>
            <a:r>
              <a:rPr lang="zh-CN" altLang="en-US" dirty="0" smtClean="0"/>
              <a:t>下界是</a:t>
            </a:r>
            <a:r>
              <a:rPr lang="en-US" altLang="zh-CN" dirty="0" smtClean="0"/>
              <a:t>a</a:t>
            </a:r>
            <a:r>
              <a:rPr lang="zh-CN" altLang="en-US" dirty="0" smtClean="0"/>
              <a:t>；</a:t>
            </a:r>
            <a:r>
              <a:rPr lang="en-US" altLang="zh-CN" dirty="0" smtClean="0"/>
              <a:t>{</a:t>
            </a:r>
            <a:r>
              <a:rPr lang="en-US" altLang="zh-CN" dirty="0" err="1" smtClean="0"/>
              <a:t>j,h</a:t>
            </a:r>
            <a:r>
              <a:rPr lang="en-US" altLang="zh-CN" dirty="0" smtClean="0"/>
              <a:t>}</a:t>
            </a:r>
            <a:r>
              <a:rPr lang="zh-CN" altLang="en-US" dirty="0" smtClean="0"/>
              <a:t>没有上界</a:t>
            </a:r>
            <a:r>
              <a:rPr lang="en-US" altLang="zh-CN" dirty="0" smtClean="0"/>
              <a:t>,</a:t>
            </a:r>
            <a:r>
              <a:rPr lang="zh-CN" altLang="en-US" dirty="0" smtClean="0"/>
              <a:t>下界为</a:t>
            </a:r>
            <a:r>
              <a:rPr lang="en-US" altLang="zh-CN" dirty="0" smtClean="0"/>
              <a:t>a</a:t>
            </a:r>
            <a:r>
              <a:rPr lang="zh-CN" altLang="en-US" dirty="0" smtClean="0"/>
              <a:t>、</a:t>
            </a:r>
            <a:r>
              <a:rPr lang="en-US" altLang="zh-CN" dirty="0" smtClean="0"/>
              <a:t>b</a:t>
            </a:r>
            <a:r>
              <a:rPr lang="zh-CN" altLang="en-US" dirty="0" smtClean="0"/>
              <a:t>、</a:t>
            </a:r>
            <a:r>
              <a:rPr lang="en-US" altLang="zh-CN" dirty="0" smtClean="0"/>
              <a:t>c</a:t>
            </a:r>
            <a:r>
              <a:rPr lang="zh-CN" altLang="en-US" dirty="0" smtClean="0"/>
              <a:t>、</a:t>
            </a:r>
            <a:r>
              <a:rPr lang="en-US" altLang="zh-CN" dirty="0" smtClean="0"/>
              <a:t>d</a:t>
            </a:r>
            <a:r>
              <a:rPr lang="zh-CN" altLang="en-US" dirty="0" smtClean="0"/>
              <a:t>、</a:t>
            </a:r>
            <a:r>
              <a:rPr lang="en-US" altLang="zh-CN" dirty="0" smtClean="0"/>
              <a:t>e</a:t>
            </a:r>
            <a:r>
              <a:rPr lang="zh-CN" altLang="en-US" dirty="0" smtClean="0"/>
              <a:t>、</a:t>
            </a:r>
            <a:r>
              <a:rPr lang="en-US" altLang="zh-CN" dirty="0" smtClean="0"/>
              <a:t>f</a:t>
            </a:r>
            <a:r>
              <a:rPr lang="zh-CN" altLang="en-US" dirty="0"/>
              <a:t>；</a:t>
            </a:r>
            <a:r>
              <a:rPr lang="en-US" altLang="zh-CN" dirty="0" smtClean="0"/>
              <a:t>{</a:t>
            </a:r>
            <a:r>
              <a:rPr lang="en-US" altLang="zh-CN" dirty="0" err="1" smtClean="0"/>
              <a:t>a,c,d,f</a:t>
            </a:r>
            <a:r>
              <a:rPr lang="en-US" altLang="zh-CN" dirty="0" smtClean="0"/>
              <a:t>}</a:t>
            </a:r>
            <a:r>
              <a:rPr lang="zh-CN" altLang="en-US" dirty="0" smtClean="0"/>
              <a:t>的上界是</a:t>
            </a:r>
            <a:r>
              <a:rPr lang="en-US" altLang="zh-CN" dirty="0"/>
              <a:t>f</a:t>
            </a:r>
            <a:r>
              <a:rPr lang="zh-CN" altLang="en-US" dirty="0"/>
              <a:t>、</a:t>
            </a:r>
            <a:r>
              <a:rPr lang="en-US" altLang="zh-CN" dirty="0"/>
              <a:t>j</a:t>
            </a:r>
            <a:r>
              <a:rPr lang="zh-CN" altLang="en-US" dirty="0"/>
              <a:t>、</a:t>
            </a:r>
            <a:r>
              <a:rPr lang="en-US" altLang="zh-CN" dirty="0" smtClean="0"/>
              <a:t>h,</a:t>
            </a:r>
            <a:r>
              <a:rPr lang="zh-CN" altLang="en-US" dirty="0" smtClean="0"/>
              <a:t>下界是</a:t>
            </a:r>
            <a:r>
              <a:rPr lang="en-US" altLang="zh-CN" dirty="0" smtClean="0"/>
              <a:t>a</a:t>
            </a:r>
            <a:r>
              <a:rPr lang="zh-CN" altLang="en-US" dirty="0" smtClean="0"/>
              <a:t>；</a:t>
            </a:r>
            <a:endParaRPr lang="en-US" altLang="zh-CN" dirty="0" smtClean="0"/>
          </a:p>
        </p:txBody>
      </p:sp>
      <p:sp>
        <p:nvSpPr>
          <p:cNvPr id="6" name="日期占位符 5"/>
          <p:cNvSpPr>
            <a:spLocks noGrp="1"/>
          </p:cNvSpPr>
          <p:nvPr>
            <p:ph type="dt" sz="half" idx="10"/>
          </p:nvPr>
        </p:nvSpPr>
        <p:spPr/>
        <p:txBody>
          <a:bodyPr/>
          <a:lstStyle/>
          <a:p>
            <a:fld id="{8D81F0EE-09F6-47CA-B5D4-8EBEE914460C}" type="datetime1">
              <a:rPr lang="zh-CN" altLang="en-US" smtClean="0"/>
              <a:t>2025/3/14</a:t>
            </a:fld>
            <a:endParaRPr lang="zh-CN" altLang="en-US" dirty="0"/>
          </a:p>
        </p:txBody>
      </p:sp>
      <p:sp>
        <p:nvSpPr>
          <p:cNvPr id="7" name="页脚占位符 6"/>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8" name="灯片编号占位符 7"/>
          <p:cNvSpPr>
            <a:spLocks noGrp="1"/>
          </p:cNvSpPr>
          <p:nvPr>
            <p:ph type="sldNum" sz="quarter" idx="12"/>
          </p:nvPr>
        </p:nvSpPr>
        <p:spPr/>
        <p:txBody>
          <a:bodyPr/>
          <a:lstStyle/>
          <a:p>
            <a:fld id="{67913A8A-9EFB-4B5F-9CCB-3D21173FAA85}" type="slidenum">
              <a:rPr lang="zh-CN" altLang="en-US" smtClean="0"/>
              <a:pPr/>
              <a:t>126</a:t>
            </a:fld>
            <a:endParaRPr lang="zh-CN" altLang="en-US" dirty="0"/>
          </a:p>
        </p:txBody>
      </p:sp>
      <p:pic>
        <p:nvPicPr>
          <p:cNvPr id="4" name="图片 3"/>
          <p:cNvPicPr>
            <a:picLocks noChangeAspect="1"/>
          </p:cNvPicPr>
          <p:nvPr/>
        </p:nvPicPr>
        <p:blipFill>
          <a:blip r:embed="rId2"/>
          <a:stretch>
            <a:fillRect/>
          </a:stretch>
        </p:blipFill>
        <p:spPr>
          <a:xfrm>
            <a:off x="4267200" y="1371600"/>
            <a:ext cx="2886600" cy="3555200"/>
          </a:xfrm>
          <a:prstGeom prst="rect">
            <a:avLst/>
          </a:prstGeom>
        </p:spPr>
      </p:pic>
    </p:spTree>
    <p:extLst>
      <p:ext uri="{BB962C8B-B14F-4D97-AF65-F5344CB8AC3E}">
        <p14:creationId xmlns:p14="http://schemas.microsoft.com/office/powerpoint/2010/main" val="7903735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animEffect transition="in" filter="wipe(down)">
                                      <p:cBhvr>
                                        <p:cTn id="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457200" y="2971800"/>
            <a:ext cx="11277599" cy="892376"/>
          </a:xfrm>
          <a:prstGeom prst="rect">
            <a:avLst/>
          </a:prstGeom>
          <a:solidFill>
            <a:schemeClr val="accent5">
              <a:lumMod val="40000"/>
              <a:lumOff val="6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457200" y="1088824"/>
            <a:ext cx="11277599" cy="1784914"/>
          </a:xfrm>
          <a:prstGeom prst="rect">
            <a:avLst/>
          </a:prstGeom>
          <a:solidFill>
            <a:schemeClr val="accent5">
              <a:lumMod val="40000"/>
              <a:lumOff val="6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itle 1"/>
          <p:cNvSpPr>
            <a:spLocks noGrp="1"/>
          </p:cNvSpPr>
          <p:nvPr>
            <p:ph type="title"/>
          </p:nvPr>
        </p:nvSpPr>
        <p:spPr/>
        <p:txBody>
          <a:bodyPr/>
          <a:lstStyle/>
          <a:p>
            <a:r>
              <a:rPr lang="zh-CN" altLang="en-US" dirty="0" smtClean="0"/>
              <a:t>最小上界和最大下界</a:t>
            </a:r>
            <a:endParaRPr lang="en-US"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normAutofit/>
              </a:bodyPr>
              <a:lstStyle/>
              <a:p>
                <a:r>
                  <a:rPr lang="zh-CN" altLang="en-US" dirty="0" smtClean="0"/>
                  <a:t>定义</a:t>
                </a:r>
                <a:r>
                  <a:rPr lang="en-US" altLang="zh-CN" dirty="0" smtClean="0"/>
                  <a:t>:</a:t>
                </a:r>
                <a:r>
                  <a:rPr lang="zh-CN" altLang="en-US" dirty="0" smtClean="0"/>
                  <a:t>元素</a:t>
                </a:r>
                <a:r>
                  <a:rPr lang="en-US" altLang="zh-CN" dirty="0" smtClean="0"/>
                  <a:t>x</a:t>
                </a:r>
                <a:r>
                  <a:rPr lang="zh-CN" altLang="en-US" dirty="0" smtClean="0"/>
                  <a:t>叫做子集</a:t>
                </a:r>
                <a:r>
                  <a:rPr lang="en-US" altLang="zh-CN" dirty="0" smtClean="0"/>
                  <a:t>A</a:t>
                </a:r>
                <a:r>
                  <a:rPr lang="zh-CN" altLang="en-US" dirty="0" smtClean="0"/>
                  <a:t>的</a:t>
                </a:r>
                <a:r>
                  <a:rPr lang="zh-CN" altLang="en-US" b="1" dirty="0" smtClean="0">
                    <a:solidFill>
                      <a:srgbClr val="C00000"/>
                    </a:solidFill>
                  </a:rPr>
                  <a:t>最小</a:t>
                </a:r>
                <a:r>
                  <a:rPr lang="zh-CN" altLang="en-US" b="1" dirty="0" smtClean="0">
                    <a:solidFill>
                      <a:srgbClr val="C00000"/>
                    </a:solidFill>
                  </a:rPr>
                  <a:t>上界或上确界</a:t>
                </a:r>
                <a:r>
                  <a:rPr lang="en-US" altLang="zh-CN" dirty="0" smtClean="0"/>
                  <a:t>, </a:t>
                </a:r>
                <a:r>
                  <a:rPr lang="zh-CN" altLang="en-US" dirty="0" smtClean="0"/>
                  <a:t>如果</a:t>
                </a:r>
                <a:r>
                  <a:rPr lang="en-US" altLang="zh-CN" dirty="0" smtClean="0"/>
                  <a:t>x</a:t>
                </a:r>
                <a:r>
                  <a:rPr lang="zh-CN" altLang="en-US" dirty="0" smtClean="0"/>
                  <a:t>是一个上界且它小于</a:t>
                </a:r>
                <a:r>
                  <a:rPr lang="en-US" altLang="zh-CN" dirty="0" smtClean="0"/>
                  <a:t>A</a:t>
                </a:r>
                <a:r>
                  <a:rPr lang="zh-CN" altLang="en-US" dirty="0" smtClean="0"/>
                  <a:t>的任何其他上界</a:t>
                </a:r>
                <a:r>
                  <a:rPr lang="en-US" altLang="zh-CN" dirty="0" smtClean="0"/>
                  <a:t>. </a:t>
                </a:r>
                <a:r>
                  <a:rPr lang="zh-CN" altLang="en-US" dirty="0" smtClean="0"/>
                  <a:t>如果存在</a:t>
                </a:r>
                <a:r>
                  <a:rPr lang="en-US" altLang="zh-CN" dirty="0" smtClean="0"/>
                  <a:t>, </a:t>
                </a:r>
                <a:r>
                  <a:rPr lang="zh-CN" altLang="en-US" dirty="0" smtClean="0"/>
                  <a:t>则只存在一个这样的元素</a:t>
                </a:r>
                <a:r>
                  <a:rPr lang="en-US" altLang="zh-CN" dirty="0" smtClean="0"/>
                  <a:t>. </a:t>
                </a:r>
                <a:r>
                  <a:rPr lang="zh-CN" altLang="en-US" dirty="0" smtClean="0"/>
                  <a:t>即若任意</a:t>
                </a:r>
                <a:r>
                  <a:rPr lang="en-US" altLang="zh-CN" dirty="0"/>
                  <a:t>a</a:t>
                </a:r>
                <a:r>
                  <a:rPr lang="en-US" altLang="zh-CN" dirty="0">
                    <a:ea typeface="Cambria Math" panose="02040503050406030204" pitchFamily="18" charset="0"/>
                  </a:rPr>
                  <a:t> </a:t>
                </a:r>
                <a14:m>
                  <m:oMath xmlns:m="http://schemas.openxmlformats.org/officeDocument/2006/math">
                    <m:r>
                      <a:rPr lang="en-US" altLang="zh-CN" i="1" dirty="0">
                        <a:latin typeface="Cambria Math" panose="02040503050406030204" pitchFamily="18" charset="0"/>
                        <a:ea typeface="Cambria Math" panose="02040503050406030204" pitchFamily="18" charset="0"/>
                      </a:rPr>
                      <m:t>∈</m:t>
                    </m:r>
                  </m:oMath>
                </a14:m>
                <a:r>
                  <a:rPr lang="en-US" altLang="zh-CN" dirty="0"/>
                  <a:t> </a:t>
                </a:r>
                <a:r>
                  <a:rPr lang="en-US" altLang="zh-CN" dirty="0" smtClean="0"/>
                  <a:t>A</a:t>
                </a:r>
                <a:r>
                  <a:rPr lang="zh-CN" altLang="en-US" dirty="0" smtClean="0"/>
                  <a:t>有</a:t>
                </a:r>
                <a:r>
                  <a:rPr lang="en-US" altLang="zh-CN" dirty="0"/>
                  <a:t>a ≼ </a:t>
                </a:r>
                <a:r>
                  <a:rPr lang="en-US" altLang="zh-CN" dirty="0" smtClean="0"/>
                  <a:t>x, </a:t>
                </a:r>
                <a:r>
                  <a:rPr lang="zh-CN" altLang="en-US" dirty="0" smtClean="0"/>
                  <a:t>并且对于</a:t>
                </a:r>
                <a:r>
                  <a:rPr lang="en-US" altLang="zh-CN" dirty="0" smtClean="0"/>
                  <a:t>A</a:t>
                </a:r>
                <a:r>
                  <a:rPr lang="zh-CN" altLang="en-US" dirty="0" smtClean="0"/>
                  <a:t>的任意上界</a:t>
                </a:r>
                <a:r>
                  <a:rPr lang="en-US" altLang="zh-CN" dirty="0" smtClean="0"/>
                  <a:t>z, </a:t>
                </a:r>
                <a:r>
                  <a:rPr lang="zh-CN" altLang="en-US" dirty="0" smtClean="0"/>
                  <a:t>有</a:t>
                </a:r>
                <a:r>
                  <a:rPr lang="en-US" altLang="zh-CN" dirty="0" smtClean="0"/>
                  <a:t>x </a:t>
                </a:r>
                <a:r>
                  <a:rPr lang="en-US" altLang="zh-CN" dirty="0"/>
                  <a:t>≼ </a:t>
                </a:r>
                <a:r>
                  <a:rPr lang="en-US" altLang="zh-CN" dirty="0" smtClean="0"/>
                  <a:t>z, </a:t>
                </a:r>
                <a:r>
                  <a:rPr lang="zh-CN" altLang="en-US" dirty="0" smtClean="0"/>
                  <a:t>则</a:t>
                </a:r>
                <a:r>
                  <a:rPr lang="en-US" altLang="zh-CN" dirty="0" smtClean="0"/>
                  <a:t>x</a:t>
                </a:r>
                <a:r>
                  <a:rPr lang="zh-CN" altLang="en-US" dirty="0" smtClean="0"/>
                  <a:t>就是</a:t>
                </a:r>
                <a:r>
                  <a:rPr lang="en-US" altLang="zh-CN" dirty="0" smtClean="0"/>
                  <a:t>A</a:t>
                </a:r>
                <a:r>
                  <a:rPr lang="zh-CN" altLang="en-US" dirty="0" smtClean="0"/>
                  <a:t>的最小上界</a:t>
                </a:r>
                <a:r>
                  <a:rPr lang="en-US" altLang="zh-CN" dirty="0" smtClean="0"/>
                  <a:t>, </a:t>
                </a:r>
                <a:r>
                  <a:rPr lang="zh-CN" altLang="en-US" dirty="0" smtClean="0"/>
                  <a:t>记作</a:t>
                </a:r>
                <a:r>
                  <a:rPr lang="en-US" altLang="zh-CN" dirty="0" err="1"/>
                  <a:t>lub</a:t>
                </a:r>
                <a:r>
                  <a:rPr lang="en-US" altLang="zh-CN" dirty="0"/>
                  <a:t>(A</a:t>
                </a:r>
                <a:r>
                  <a:rPr lang="en-US" altLang="zh-CN" dirty="0" smtClean="0"/>
                  <a:t>).</a:t>
                </a:r>
              </a:p>
              <a:p>
                <a:r>
                  <a:rPr lang="zh-CN" altLang="en-US" dirty="0" smtClean="0"/>
                  <a:t>定义</a:t>
                </a:r>
                <a:r>
                  <a:rPr lang="en-US" altLang="zh-CN" dirty="0" smtClean="0"/>
                  <a:t>:</a:t>
                </a:r>
                <a:r>
                  <a:rPr lang="zh-CN" altLang="en-US" dirty="0" smtClean="0"/>
                  <a:t>如果</a:t>
                </a:r>
                <a:r>
                  <a:rPr lang="en-US" altLang="zh-CN" dirty="0" smtClean="0"/>
                  <a:t>y</a:t>
                </a:r>
                <a:r>
                  <a:rPr lang="zh-CN" altLang="en-US" dirty="0" smtClean="0"/>
                  <a:t>是</a:t>
                </a:r>
                <a:r>
                  <a:rPr lang="en-US" altLang="zh-CN" dirty="0" smtClean="0"/>
                  <a:t>A</a:t>
                </a:r>
                <a:r>
                  <a:rPr lang="zh-CN" altLang="en-US" dirty="0" smtClean="0"/>
                  <a:t>的下界</a:t>
                </a:r>
                <a:r>
                  <a:rPr lang="en-US" altLang="zh-CN" dirty="0" smtClean="0"/>
                  <a:t>, </a:t>
                </a:r>
                <a:r>
                  <a:rPr lang="zh-CN" altLang="en-US" dirty="0" smtClean="0"/>
                  <a:t>并且对于</a:t>
                </a:r>
                <a:r>
                  <a:rPr lang="en-US" altLang="zh-CN" dirty="0" smtClean="0"/>
                  <a:t>A</a:t>
                </a:r>
                <a:r>
                  <a:rPr lang="zh-CN" altLang="en-US" dirty="0" smtClean="0"/>
                  <a:t>的任意下界</a:t>
                </a:r>
                <a:r>
                  <a:rPr lang="en-US" altLang="zh-CN" dirty="0" smtClean="0"/>
                  <a:t>z, </a:t>
                </a:r>
                <a:r>
                  <a:rPr lang="zh-CN" altLang="en-US" dirty="0" smtClean="0"/>
                  <a:t>有</a:t>
                </a:r>
                <a:r>
                  <a:rPr lang="en-US" altLang="zh-CN" dirty="0" smtClean="0"/>
                  <a:t>z</a:t>
                </a:r>
                <a:r>
                  <a:rPr lang="en-US" altLang="zh-CN" dirty="0"/>
                  <a:t> ≼ </a:t>
                </a:r>
                <a:r>
                  <a:rPr lang="en-US" altLang="zh-CN" dirty="0" smtClean="0"/>
                  <a:t>y, </a:t>
                </a:r>
                <a:r>
                  <a:rPr lang="zh-CN" altLang="en-US" dirty="0" smtClean="0"/>
                  <a:t>则</a:t>
                </a:r>
                <a:r>
                  <a:rPr lang="en-US" altLang="zh-CN" dirty="0" smtClean="0"/>
                  <a:t>y</a:t>
                </a:r>
                <a:r>
                  <a:rPr lang="zh-CN" altLang="en-US" dirty="0" smtClean="0"/>
                  <a:t>就是</a:t>
                </a:r>
                <a:r>
                  <a:rPr lang="en-US" altLang="zh-CN" dirty="0" smtClean="0"/>
                  <a:t>A</a:t>
                </a:r>
                <a:r>
                  <a:rPr lang="zh-CN" altLang="en-US" dirty="0" smtClean="0"/>
                  <a:t>的</a:t>
                </a:r>
                <a:r>
                  <a:rPr lang="zh-CN" altLang="en-US" b="1" smtClean="0">
                    <a:solidFill>
                      <a:srgbClr val="C00000"/>
                    </a:solidFill>
                  </a:rPr>
                  <a:t>最大</a:t>
                </a:r>
                <a:r>
                  <a:rPr lang="zh-CN" altLang="en-US" b="1" smtClean="0">
                    <a:solidFill>
                      <a:srgbClr val="C00000"/>
                    </a:solidFill>
                  </a:rPr>
                  <a:t>下界或下确界</a:t>
                </a:r>
                <a:r>
                  <a:rPr lang="en-US" altLang="zh-CN" smtClean="0"/>
                  <a:t>. </a:t>
                </a:r>
                <a:r>
                  <a:rPr lang="zh-CN" altLang="en-US" dirty="0" smtClean="0"/>
                  <a:t>如果存在</a:t>
                </a:r>
                <a:r>
                  <a:rPr lang="en-US" altLang="zh-CN" dirty="0" smtClean="0"/>
                  <a:t>, A</a:t>
                </a:r>
                <a:r>
                  <a:rPr lang="zh-CN" altLang="en-US" dirty="0" smtClean="0"/>
                  <a:t>的最大下界是唯一的</a:t>
                </a:r>
                <a:r>
                  <a:rPr lang="en-US" altLang="zh-CN" dirty="0" smtClean="0"/>
                  <a:t>, </a:t>
                </a:r>
                <a:r>
                  <a:rPr lang="zh-CN" altLang="en-US" dirty="0" smtClean="0"/>
                  <a:t>记作</a:t>
                </a:r>
                <a:r>
                  <a:rPr lang="en-US" altLang="zh-CN" dirty="0" err="1"/>
                  <a:t>glb</a:t>
                </a:r>
                <a:r>
                  <a:rPr lang="en-US" altLang="zh-CN" dirty="0"/>
                  <a:t>(A</a:t>
                </a:r>
                <a:r>
                  <a:rPr lang="en-US" altLang="zh-CN" dirty="0" smtClean="0"/>
                  <a:t>).</a:t>
                </a:r>
              </a:p>
            </p:txBody>
          </p:sp>
        </mc:Choice>
        <mc:Fallback>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3"/>
                <a:stretch>
                  <a:fillRect l="-999" t="-1310" r="-499"/>
                </a:stretch>
              </a:blipFill>
            </p:spPr>
            <p:txBody>
              <a:bodyPr/>
              <a:lstStyle/>
              <a:p>
                <a:r>
                  <a:rPr lang="zh-CN" altLang="en-US">
                    <a:noFill/>
                  </a:rPr>
                  <a:t> </a:t>
                </a:r>
              </a:p>
            </p:txBody>
          </p:sp>
        </mc:Fallback>
      </mc:AlternateContent>
      <p:sp>
        <p:nvSpPr>
          <p:cNvPr id="6" name="日期占位符 5"/>
          <p:cNvSpPr>
            <a:spLocks noGrp="1"/>
          </p:cNvSpPr>
          <p:nvPr>
            <p:ph type="dt" sz="half" idx="10"/>
          </p:nvPr>
        </p:nvSpPr>
        <p:spPr/>
        <p:txBody>
          <a:bodyPr/>
          <a:lstStyle/>
          <a:p>
            <a:fld id="{04365374-04AF-42BB-9809-460E26BB1C74}" type="datetime1">
              <a:rPr lang="zh-CN" altLang="en-US" smtClean="0"/>
              <a:t>2025/3/14</a:t>
            </a:fld>
            <a:endParaRPr lang="zh-CN" altLang="en-US" dirty="0"/>
          </a:p>
        </p:txBody>
      </p:sp>
      <p:sp>
        <p:nvSpPr>
          <p:cNvPr id="7" name="页脚占位符 6"/>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8" name="灯片编号占位符 7"/>
          <p:cNvSpPr>
            <a:spLocks noGrp="1"/>
          </p:cNvSpPr>
          <p:nvPr>
            <p:ph type="sldNum" sz="quarter" idx="12"/>
          </p:nvPr>
        </p:nvSpPr>
        <p:spPr/>
        <p:txBody>
          <a:bodyPr/>
          <a:lstStyle/>
          <a:p>
            <a:fld id="{67913A8A-9EFB-4B5F-9CCB-3D21173FAA85}" type="slidenum">
              <a:rPr lang="zh-CN" altLang="en-US" smtClean="0"/>
              <a:pPr/>
              <a:t>127</a:t>
            </a:fld>
            <a:endParaRPr lang="zh-CN" altLang="en-US" dirty="0"/>
          </a:p>
        </p:txBody>
      </p:sp>
    </p:spTree>
    <p:extLst>
      <p:ext uri="{BB962C8B-B14F-4D97-AF65-F5344CB8AC3E}">
        <p14:creationId xmlns:p14="http://schemas.microsoft.com/office/powerpoint/2010/main" val="1540151966"/>
      </p:ext>
    </p:extLst>
  </p:cSld>
  <p:clrMapOvr>
    <a:masterClrMapping/>
  </p:clrMapOvr>
  <p:timing>
    <p:tnLst>
      <p:par>
        <p:cTn id="1" dur="indefinite" restart="never" nodeType="tmRoot"/>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最小上界和最大下界</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zh-CN" altLang="en-US" dirty="0" smtClean="0"/>
                  <a:t>例</a:t>
                </a:r>
                <a:r>
                  <a:rPr lang="en-US" altLang="zh-CN" dirty="0" smtClean="0"/>
                  <a:t>:</a:t>
                </a:r>
                <a:r>
                  <a:rPr lang="zh-CN" altLang="en-US" dirty="0" smtClean="0"/>
                  <a:t>如下图中的哈塞图表示的偏序集中</a:t>
                </a:r>
                <a:r>
                  <a:rPr lang="en-US" altLang="zh-CN" dirty="0" smtClean="0"/>
                  <a:t>, </a:t>
                </a:r>
                <a:r>
                  <a:rPr lang="zh-CN" altLang="en-US" dirty="0" smtClean="0"/>
                  <a:t>如果存在</a:t>
                </a:r>
                <a:r>
                  <a:rPr lang="en-US" altLang="zh-CN" dirty="0" smtClean="0"/>
                  <a:t>, </a:t>
                </a:r>
                <a:r>
                  <a:rPr lang="zh-CN" altLang="en-US" dirty="0" smtClean="0"/>
                  <a:t>求</a:t>
                </a:r>
                <a:r>
                  <a:rPr lang="en-US" altLang="zh-CN" dirty="0" smtClean="0"/>
                  <a:t>{</a:t>
                </a:r>
                <a:r>
                  <a:rPr lang="en-US" altLang="zh-CN" dirty="0" err="1" smtClean="0"/>
                  <a:t>b,d,g</a:t>
                </a:r>
                <a:r>
                  <a:rPr lang="en-US" altLang="zh-CN" dirty="0" smtClean="0"/>
                  <a:t>}</a:t>
                </a:r>
                <a:r>
                  <a:rPr lang="zh-CN" altLang="en-US" dirty="0" smtClean="0"/>
                  <a:t>的最大下界和最小上界</a:t>
                </a:r>
                <a:r>
                  <a:rPr lang="en-US" altLang="zh-CN" dirty="0" smtClean="0"/>
                  <a:t>.</a:t>
                </a:r>
              </a:p>
              <a:p>
                <a:endParaRPr lang="en-US" altLang="zh-CN" dirty="0" smtClean="0"/>
              </a:p>
              <a:p>
                <a:endParaRPr lang="en-US" altLang="zh-CN" dirty="0"/>
              </a:p>
              <a:p>
                <a:endParaRPr lang="en-US" altLang="zh-CN" dirty="0" smtClean="0"/>
              </a:p>
              <a:p>
                <a:endParaRPr lang="en-US" altLang="zh-CN" dirty="0"/>
              </a:p>
              <a:p>
                <a:pPr marL="0" indent="0">
                  <a:buNone/>
                </a:pPr>
                <a:endParaRPr lang="en-US" altLang="zh-CN" dirty="0"/>
              </a:p>
              <a:p>
                <a:r>
                  <a:rPr lang="zh-CN" altLang="en-US" dirty="0" smtClean="0"/>
                  <a:t>解</a:t>
                </a:r>
                <a:r>
                  <a:rPr lang="en-US" altLang="zh-CN" dirty="0" smtClean="0"/>
                  <a:t>:{</a:t>
                </a:r>
                <a:r>
                  <a:rPr lang="en-US" altLang="zh-CN" dirty="0" err="1" smtClean="0"/>
                  <a:t>b,d,g</a:t>
                </a:r>
                <a:r>
                  <a:rPr lang="en-US" altLang="zh-CN" dirty="0" smtClean="0"/>
                  <a:t>}</a:t>
                </a:r>
                <a:r>
                  <a:rPr lang="zh-CN" altLang="en-US" dirty="0" smtClean="0"/>
                  <a:t>的上界是</a:t>
                </a:r>
                <a:r>
                  <a:rPr lang="en-US" altLang="zh-CN" dirty="0" smtClean="0"/>
                  <a:t>g</a:t>
                </a:r>
                <a:r>
                  <a:rPr lang="zh-CN" altLang="en-US" dirty="0" smtClean="0"/>
                  <a:t>、</a:t>
                </a:r>
                <a:r>
                  <a:rPr lang="en-US" altLang="zh-CN" dirty="0" smtClean="0"/>
                  <a:t>h, </a:t>
                </a:r>
                <a:r>
                  <a:rPr lang="zh-CN" altLang="en-US" dirty="0" smtClean="0"/>
                  <a:t>因为</a:t>
                </a:r>
                <a:r>
                  <a:rPr lang="en-US" altLang="zh-CN" dirty="0" smtClean="0"/>
                  <a:t>g</a:t>
                </a:r>
                <a:r>
                  <a:rPr lang="en-US" altLang="zh-CN" dirty="0"/>
                  <a:t> </a:t>
                </a:r>
                <a14:m>
                  <m:oMath xmlns:m="http://schemas.openxmlformats.org/officeDocument/2006/math">
                    <m:r>
                      <a:rPr lang="en-US" altLang="zh-CN" i="1" dirty="0">
                        <a:latin typeface="Cambria Math" panose="02040503050406030204" pitchFamily="18" charset="0"/>
                        <a:ea typeface="Cambria Math" panose="02040503050406030204" pitchFamily="18" charset="0"/>
                      </a:rPr>
                      <m:t>≺</m:t>
                    </m:r>
                  </m:oMath>
                </a14:m>
                <a:r>
                  <a:rPr lang="en-US" altLang="zh-CN" dirty="0"/>
                  <a:t> </a:t>
                </a:r>
                <a:r>
                  <a:rPr lang="en-US" altLang="zh-CN" dirty="0" smtClean="0"/>
                  <a:t>h, </a:t>
                </a:r>
                <a:r>
                  <a:rPr lang="zh-CN" altLang="en-US" dirty="0" smtClean="0"/>
                  <a:t>所以</a:t>
                </a:r>
                <a:r>
                  <a:rPr lang="en-US" altLang="zh-CN" dirty="0" smtClean="0"/>
                  <a:t>g</a:t>
                </a:r>
                <a:r>
                  <a:rPr lang="zh-CN" altLang="en-US" dirty="0" smtClean="0"/>
                  <a:t>是最小上界；</a:t>
                </a:r>
                <a:r>
                  <a:rPr lang="en-US" altLang="zh-CN" dirty="0" smtClean="0"/>
                  <a:t>{</a:t>
                </a:r>
                <a:r>
                  <a:rPr lang="en-US" altLang="zh-CN" dirty="0" err="1" smtClean="0"/>
                  <a:t>b,d,g</a:t>
                </a:r>
                <a:r>
                  <a:rPr lang="en-US" altLang="zh-CN" dirty="0"/>
                  <a:t>}</a:t>
                </a:r>
                <a:r>
                  <a:rPr lang="zh-CN" altLang="en-US" dirty="0"/>
                  <a:t>的</a:t>
                </a:r>
                <a:r>
                  <a:rPr lang="zh-CN" altLang="en-US" dirty="0" smtClean="0"/>
                  <a:t>下界是</a:t>
                </a:r>
                <a:r>
                  <a:rPr lang="en-US" altLang="zh-CN" dirty="0" smtClean="0"/>
                  <a:t>a </a:t>
                </a:r>
                <a:r>
                  <a:rPr lang="zh-CN" altLang="en-US" dirty="0" smtClean="0"/>
                  <a:t>和</a:t>
                </a:r>
                <a:r>
                  <a:rPr lang="en-US" altLang="zh-CN" dirty="0" smtClean="0"/>
                  <a:t>b, </a:t>
                </a:r>
                <a:r>
                  <a:rPr lang="zh-CN" altLang="en-US" dirty="0" smtClean="0"/>
                  <a:t>因为</a:t>
                </a:r>
                <a:r>
                  <a:rPr lang="en-US" altLang="zh-CN" dirty="0" smtClean="0"/>
                  <a:t>a</a:t>
                </a:r>
                <a:r>
                  <a:rPr lang="en-US" altLang="zh-CN" dirty="0">
                    <a:ea typeface="Cambria Math" panose="02040503050406030204" pitchFamily="18" charset="0"/>
                  </a:rPr>
                  <a:t> </a:t>
                </a:r>
                <a14:m>
                  <m:oMath xmlns:m="http://schemas.openxmlformats.org/officeDocument/2006/math">
                    <m:r>
                      <a:rPr lang="en-US" altLang="zh-CN" i="1" dirty="0">
                        <a:latin typeface="Cambria Math" panose="02040503050406030204" pitchFamily="18" charset="0"/>
                        <a:ea typeface="Cambria Math" panose="02040503050406030204" pitchFamily="18" charset="0"/>
                      </a:rPr>
                      <m:t>≺ </m:t>
                    </m:r>
                  </m:oMath>
                </a14:m>
                <a:r>
                  <a:rPr lang="en-US" altLang="zh-CN" dirty="0" smtClean="0"/>
                  <a:t>b, </a:t>
                </a:r>
                <a:r>
                  <a:rPr lang="zh-CN" altLang="en-US" dirty="0" smtClean="0"/>
                  <a:t>所以</a:t>
                </a:r>
                <a:r>
                  <a:rPr lang="en-US" altLang="zh-CN" dirty="0" smtClean="0"/>
                  <a:t>b</a:t>
                </a:r>
                <a:r>
                  <a:rPr lang="zh-CN" altLang="en-US" dirty="0" smtClean="0"/>
                  <a:t>是最大下界</a:t>
                </a:r>
                <a:r>
                  <a:rPr lang="en-US" altLang="zh-CN" dirty="0" smtClean="0"/>
                  <a:t>.</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999" t="-1310" r="-555"/>
                </a:stretch>
              </a:blipFill>
            </p:spPr>
            <p:txBody>
              <a:bodyPr/>
              <a:lstStyle/>
              <a:p>
                <a:r>
                  <a:rPr lang="zh-CN" altLang="en-US">
                    <a:noFill/>
                  </a:rPr>
                  <a:t> </a:t>
                </a:r>
              </a:p>
            </p:txBody>
          </p:sp>
        </mc:Fallback>
      </mc:AlternateContent>
      <p:sp>
        <p:nvSpPr>
          <p:cNvPr id="6" name="日期占位符 5"/>
          <p:cNvSpPr>
            <a:spLocks noGrp="1"/>
          </p:cNvSpPr>
          <p:nvPr>
            <p:ph type="dt" sz="half" idx="10"/>
          </p:nvPr>
        </p:nvSpPr>
        <p:spPr/>
        <p:txBody>
          <a:bodyPr/>
          <a:lstStyle/>
          <a:p>
            <a:fld id="{68F49317-79FF-4565-9191-AA3F1CEF3A11}" type="datetime1">
              <a:rPr lang="zh-CN" altLang="en-US" smtClean="0"/>
              <a:t>2025/3/14</a:t>
            </a:fld>
            <a:endParaRPr lang="zh-CN" altLang="en-US" dirty="0"/>
          </a:p>
        </p:txBody>
      </p:sp>
      <p:sp>
        <p:nvSpPr>
          <p:cNvPr id="7" name="页脚占位符 6"/>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8" name="灯片编号占位符 7"/>
          <p:cNvSpPr>
            <a:spLocks noGrp="1"/>
          </p:cNvSpPr>
          <p:nvPr>
            <p:ph type="sldNum" sz="quarter" idx="12"/>
          </p:nvPr>
        </p:nvSpPr>
        <p:spPr/>
        <p:txBody>
          <a:bodyPr/>
          <a:lstStyle/>
          <a:p>
            <a:fld id="{67913A8A-9EFB-4B5F-9CCB-3D21173FAA85}" type="slidenum">
              <a:rPr lang="zh-CN" altLang="en-US" smtClean="0"/>
              <a:pPr/>
              <a:t>128</a:t>
            </a:fld>
            <a:endParaRPr lang="zh-CN" altLang="en-US" dirty="0"/>
          </a:p>
        </p:txBody>
      </p:sp>
      <p:pic>
        <p:nvPicPr>
          <p:cNvPr id="4" name="图片 3"/>
          <p:cNvPicPr>
            <a:picLocks noChangeAspect="1"/>
          </p:cNvPicPr>
          <p:nvPr/>
        </p:nvPicPr>
        <p:blipFill>
          <a:blip r:embed="rId3"/>
          <a:stretch>
            <a:fillRect/>
          </a:stretch>
        </p:blipFill>
        <p:spPr>
          <a:xfrm>
            <a:off x="4495800" y="1447800"/>
            <a:ext cx="2886600" cy="3555200"/>
          </a:xfrm>
          <a:prstGeom prst="rect">
            <a:avLst/>
          </a:prstGeom>
        </p:spPr>
      </p:pic>
    </p:spTree>
    <p:extLst>
      <p:ext uri="{BB962C8B-B14F-4D97-AF65-F5344CB8AC3E}">
        <p14:creationId xmlns:p14="http://schemas.microsoft.com/office/powerpoint/2010/main" val="1538141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animEffect transition="in" filter="wipe(down)">
                                      <p:cBhvr>
                                        <p:cTn id="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457200" y="2536624"/>
            <a:ext cx="11277599" cy="587576"/>
          </a:xfrm>
          <a:prstGeom prst="rect">
            <a:avLst/>
          </a:prstGeom>
          <a:solidFill>
            <a:schemeClr val="accent5">
              <a:lumMod val="40000"/>
              <a:lumOff val="6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457200" y="1165024"/>
            <a:ext cx="11277599" cy="892376"/>
          </a:xfrm>
          <a:prstGeom prst="rect">
            <a:avLst/>
          </a:prstGeom>
          <a:solidFill>
            <a:schemeClr val="accent5">
              <a:lumMod val="40000"/>
              <a:lumOff val="6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itle 1"/>
          <p:cNvSpPr>
            <a:spLocks noGrp="1"/>
          </p:cNvSpPr>
          <p:nvPr>
            <p:ph type="title"/>
          </p:nvPr>
        </p:nvSpPr>
        <p:spPr/>
        <p:txBody>
          <a:bodyPr/>
          <a:lstStyle/>
          <a:p>
            <a:r>
              <a:rPr lang="zh-CN" altLang="en-US" dirty="0" smtClean="0"/>
              <a:t>拓扑排序</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zh-CN" altLang="en-US" dirty="0" smtClean="0"/>
                  <a:t>定义</a:t>
                </a:r>
                <a:r>
                  <a:rPr lang="en-US" altLang="zh-CN" dirty="0" smtClean="0"/>
                  <a:t>:</a:t>
                </a:r>
                <a:r>
                  <a:rPr lang="zh-CN" altLang="en-US" dirty="0" smtClean="0"/>
                  <a:t>如果只要</a:t>
                </a:r>
                <a:r>
                  <a:rPr lang="en-US" altLang="zh-CN" dirty="0" err="1" smtClean="0"/>
                  <a:t>aRb</a:t>
                </a:r>
                <a:r>
                  <a:rPr lang="en-US" altLang="zh-CN" dirty="0" smtClean="0"/>
                  <a:t>, </a:t>
                </a:r>
                <a:r>
                  <a:rPr lang="zh-CN" altLang="en-US" dirty="0" smtClean="0"/>
                  <a:t>就有</a:t>
                </a:r>
                <a:r>
                  <a:rPr lang="en-US" altLang="zh-CN" dirty="0" err="1" smtClean="0"/>
                  <a:t>a≼b</a:t>
                </a:r>
                <a:r>
                  <a:rPr lang="en-US" altLang="zh-CN" dirty="0" smtClean="0"/>
                  <a:t>. </a:t>
                </a:r>
                <a:r>
                  <a:rPr lang="zh-CN" altLang="en-US" dirty="0" smtClean="0"/>
                  <a:t>则称一个全序</a:t>
                </a:r>
                <a:r>
                  <a:rPr lang="en-US" altLang="zh-CN" dirty="0" smtClean="0"/>
                  <a:t>≼</a:t>
                </a:r>
                <a:r>
                  <a:rPr lang="zh-CN" altLang="en-US" dirty="0" smtClean="0"/>
                  <a:t>与偏序</a:t>
                </a:r>
                <a:r>
                  <a:rPr lang="en-US" altLang="zh-CN" dirty="0" smtClean="0"/>
                  <a:t>R</a:t>
                </a:r>
                <a:r>
                  <a:rPr lang="zh-CN" altLang="en-US" dirty="0" smtClean="0"/>
                  <a:t>是相容的</a:t>
                </a:r>
                <a:r>
                  <a:rPr lang="en-US" altLang="zh-CN" dirty="0" smtClean="0"/>
                  <a:t>. </a:t>
                </a:r>
                <a:r>
                  <a:rPr lang="zh-CN" altLang="en-US" dirty="0" smtClean="0"/>
                  <a:t>从一个偏序构造一个相容的全序称为</a:t>
                </a:r>
                <a:r>
                  <a:rPr lang="zh-CN" altLang="en-US" b="1" dirty="0" smtClean="0">
                    <a:solidFill>
                      <a:srgbClr val="C00000"/>
                    </a:solidFill>
                  </a:rPr>
                  <a:t>拓扑排序</a:t>
                </a:r>
                <a:r>
                  <a:rPr lang="en-US" altLang="zh-CN" dirty="0" smtClean="0"/>
                  <a:t>.</a:t>
                </a:r>
              </a:p>
              <a:p>
                <a:endParaRPr lang="en-US" altLang="zh-CN" dirty="0" smtClean="0"/>
              </a:p>
              <a:p>
                <a:r>
                  <a:rPr lang="zh-CN" altLang="en-US" dirty="0" smtClean="0"/>
                  <a:t>引理</a:t>
                </a:r>
                <a:r>
                  <a:rPr lang="en-US" altLang="zh-CN" dirty="0" smtClean="0"/>
                  <a:t>:</a:t>
                </a:r>
                <a:r>
                  <a:rPr lang="zh-CN" altLang="en-US" dirty="0" smtClean="0"/>
                  <a:t>每个有穷非空偏序集</a:t>
                </a:r>
                <a:r>
                  <a:rPr lang="en-US" altLang="zh-CN" dirty="0" smtClean="0"/>
                  <a:t>(s, ≼)</a:t>
                </a:r>
                <a:r>
                  <a:rPr lang="zh-CN" altLang="en-US" dirty="0" smtClean="0"/>
                  <a:t>至少有一个极小元</a:t>
                </a:r>
                <a:r>
                  <a:rPr lang="en-US" altLang="zh-CN" dirty="0" smtClean="0"/>
                  <a:t>.</a:t>
                </a:r>
              </a:p>
              <a:p>
                <a:r>
                  <a:rPr lang="zh-CN" altLang="en-US" dirty="0" smtClean="0"/>
                  <a:t>证</a:t>
                </a:r>
                <a:r>
                  <a:rPr lang="en-US" altLang="zh-CN" dirty="0" smtClean="0"/>
                  <a:t>:</a:t>
                </a:r>
                <a:r>
                  <a:rPr lang="zh-CN" altLang="en-US" dirty="0" smtClean="0"/>
                  <a:t>选择</a:t>
                </a:r>
                <a:r>
                  <a:rPr lang="en-US" altLang="zh-CN" dirty="0" smtClean="0"/>
                  <a:t>S</a:t>
                </a:r>
                <a:r>
                  <a:rPr lang="zh-CN" altLang="en-US" dirty="0" smtClean="0"/>
                  <a:t>的一个元素</a:t>
                </a:r>
                <a14:m>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𝑎</m:t>
                        </m:r>
                      </m:e>
                      <m:sub>
                        <m:r>
                          <a:rPr lang="en-US" altLang="zh-CN" b="0" i="1" smtClean="0">
                            <a:latin typeface="Cambria Math" panose="02040503050406030204" pitchFamily="18" charset="0"/>
                          </a:rPr>
                          <m:t>0</m:t>
                        </m:r>
                      </m:sub>
                    </m:sSub>
                  </m:oMath>
                </a14:m>
                <a:r>
                  <a:rPr lang="en-US" altLang="zh-CN" dirty="0" smtClean="0"/>
                  <a:t>, </a:t>
                </a:r>
                <a:r>
                  <a:rPr lang="zh-CN" altLang="en-US" dirty="0" smtClean="0"/>
                  <a:t>如果</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𝑎</m:t>
                        </m:r>
                      </m:e>
                      <m:sub>
                        <m:r>
                          <a:rPr lang="en-US" altLang="zh-CN" i="1">
                            <a:latin typeface="Cambria Math" panose="02040503050406030204" pitchFamily="18" charset="0"/>
                          </a:rPr>
                          <m:t>0</m:t>
                        </m:r>
                      </m:sub>
                    </m:sSub>
                  </m:oMath>
                </a14:m>
                <a:r>
                  <a:rPr lang="zh-CN" altLang="en-US" dirty="0" smtClean="0"/>
                  <a:t>不是极小元</a:t>
                </a:r>
                <a:r>
                  <a:rPr lang="en-US" altLang="zh-CN" dirty="0" smtClean="0"/>
                  <a:t>, </a:t>
                </a:r>
                <a:r>
                  <a:rPr lang="zh-CN" altLang="en-US" dirty="0" smtClean="0"/>
                  <a:t>那么存在元素</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𝑎</m:t>
                        </m:r>
                      </m:e>
                      <m:sub>
                        <m:r>
                          <a:rPr lang="en-US" altLang="zh-CN" b="0" i="1" smtClean="0">
                            <a:latin typeface="Cambria Math" panose="02040503050406030204" pitchFamily="18" charset="0"/>
                          </a:rPr>
                          <m:t>1</m:t>
                        </m:r>
                      </m:sub>
                    </m:sSub>
                  </m:oMath>
                </a14:m>
                <a:r>
                  <a:rPr lang="en-US" altLang="zh-CN" dirty="0" smtClean="0"/>
                  <a:t>, </a:t>
                </a:r>
                <a:r>
                  <a:rPr lang="zh-CN" altLang="en-US" dirty="0" smtClean="0"/>
                  <a:t>满足</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𝑎</m:t>
                        </m:r>
                      </m:e>
                      <m:sub>
                        <m:r>
                          <a:rPr lang="en-US" altLang="zh-CN" b="0" i="1" smtClean="0">
                            <a:latin typeface="Cambria Math" panose="02040503050406030204" pitchFamily="18" charset="0"/>
                          </a:rPr>
                          <m:t>1</m:t>
                        </m:r>
                      </m:sub>
                    </m:sSub>
                    <m:r>
                      <a:rPr lang="en-US" altLang="zh-CN" i="1" dirty="0">
                        <a:latin typeface="Cambria Math" panose="02040503050406030204" pitchFamily="18" charset="0"/>
                        <a:ea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𝑎</m:t>
                        </m:r>
                      </m:e>
                      <m:sub>
                        <m:r>
                          <a:rPr lang="en-US" altLang="zh-CN" i="1">
                            <a:latin typeface="Cambria Math" panose="02040503050406030204" pitchFamily="18" charset="0"/>
                          </a:rPr>
                          <m:t>0</m:t>
                        </m:r>
                      </m:sub>
                    </m:sSub>
                  </m:oMath>
                </a14:m>
                <a:r>
                  <a:rPr lang="en-US" altLang="zh-CN" dirty="0" smtClean="0"/>
                  <a:t>. </a:t>
                </a:r>
                <a:r>
                  <a:rPr lang="zh-CN" altLang="en-US" dirty="0" smtClean="0"/>
                  <a:t>如果</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𝑎</m:t>
                        </m:r>
                      </m:e>
                      <m:sub>
                        <m:r>
                          <a:rPr lang="en-US" altLang="zh-CN" i="1">
                            <a:latin typeface="Cambria Math" panose="02040503050406030204" pitchFamily="18" charset="0"/>
                          </a:rPr>
                          <m:t>1</m:t>
                        </m:r>
                      </m:sub>
                    </m:sSub>
                  </m:oMath>
                </a14:m>
                <a:r>
                  <a:rPr lang="zh-CN" altLang="en-US" dirty="0" smtClean="0"/>
                  <a:t>不是极小元</a:t>
                </a:r>
                <a:r>
                  <a:rPr lang="en-US" altLang="zh-CN" dirty="0" smtClean="0"/>
                  <a:t>, </a:t>
                </a:r>
                <a:r>
                  <a:rPr lang="zh-CN" altLang="en-US" dirty="0" smtClean="0"/>
                  <a:t>那么存在元素</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𝑎</m:t>
                        </m:r>
                      </m:e>
                      <m:sub>
                        <m:r>
                          <a:rPr lang="en-US" altLang="zh-CN" b="0" i="1" smtClean="0">
                            <a:latin typeface="Cambria Math" panose="02040503050406030204" pitchFamily="18" charset="0"/>
                          </a:rPr>
                          <m:t>2</m:t>
                        </m:r>
                      </m:sub>
                    </m:sSub>
                  </m:oMath>
                </a14:m>
                <a:r>
                  <a:rPr lang="en-US" altLang="zh-CN" dirty="0" smtClean="0"/>
                  <a:t>, </a:t>
                </a:r>
                <a:r>
                  <a:rPr lang="zh-CN" altLang="en-US" dirty="0" smtClean="0"/>
                  <a:t>满足</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𝑎</m:t>
                        </m:r>
                      </m:e>
                      <m:sub>
                        <m:r>
                          <a:rPr lang="en-US" altLang="zh-CN" i="1">
                            <a:latin typeface="Cambria Math" panose="02040503050406030204" pitchFamily="18" charset="0"/>
                          </a:rPr>
                          <m:t>2</m:t>
                        </m:r>
                      </m:sub>
                    </m:sSub>
                    <m:r>
                      <a:rPr lang="en-US" altLang="zh-CN" i="1" dirty="0">
                        <a:latin typeface="Cambria Math" panose="02040503050406030204" pitchFamily="18" charset="0"/>
                        <a:ea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𝑎</m:t>
                        </m:r>
                      </m:e>
                      <m:sub>
                        <m:r>
                          <a:rPr lang="en-US" altLang="zh-CN" i="1">
                            <a:latin typeface="Cambria Math" panose="02040503050406030204" pitchFamily="18" charset="0"/>
                          </a:rPr>
                          <m:t>1</m:t>
                        </m:r>
                      </m:sub>
                    </m:sSub>
                  </m:oMath>
                </a14:m>
                <a:r>
                  <a:rPr lang="en-US" altLang="zh-CN" dirty="0" smtClean="0"/>
                  <a:t>. </a:t>
                </a:r>
                <a:r>
                  <a:rPr lang="zh-CN" altLang="en-US" dirty="0" smtClean="0"/>
                  <a:t>继续这个过程</a:t>
                </a:r>
                <a:r>
                  <a:rPr lang="en-US" altLang="zh-CN" dirty="0" smtClean="0"/>
                  <a:t>, </a:t>
                </a:r>
                <a:r>
                  <a:rPr lang="zh-CN" altLang="en-US" dirty="0" smtClean="0"/>
                  <a:t>使得如果</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𝑎</m:t>
                        </m:r>
                      </m:e>
                      <m:sub>
                        <m:r>
                          <a:rPr lang="en-US" altLang="zh-CN" i="1">
                            <a:latin typeface="Cambria Math" panose="02040503050406030204" pitchFamily="18" charset="0"/>
                          </a:rPr>
                          <m:t>𝑛</m:t>
                        </m:r>
                      </m:sub>
                    </m:sSub>
                  </m:oMath>
                </a14:m>
                <a:r>
                  <a:rPr lang="zh-CN" altLang="en-US" dirty="0" smtClean="0"/>
                  <a:t>不是极小元</a:t>
                </a:r>
                <a:r>
                  <a:rPr lang="en-US" altLang="zh-CN" dirty="0" smtClean="0"/>
                  <a:t>, </a:t>
                </a:r>
                <a:r>
                  <a:rPr lang="zh-CN" altLang="en-US" dirty="0" smtClean="0"/>
                  <a:t>那么存在元素</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𝑎</m:t>
                        </m:r>
                      </m:e>
                      <m:sub>
                        <m:r>
                          <a:rPr lang="en-US" altLang="zh-CN" i="1">
                            <a:latin typeface="Cambria Math" panose="02040503050406030204" pitchFamily="18" charset="0"/>
                          </a:rPr>
                          <m:t>𝑛</m:t>
                        </m:r>
                        <m:r>
                          <a:rPr lang="en-US" altLang="zh-CN" i="1">
                            <a:latin typeface="Cambria Math" panose="02040503050406030204" pitchFamily="18" charset="0"/>
                          </a:rPr>
                          <m:t>+1</m:t>
                        </m:r>
                      </m:sub>
                    </m:sSub>
                  </m:oMath>
                </a14:m>
                <a:r>
                  <a:rPr lang="zh-CN" altLang="en-US" dirty="0" smtClean="0"/>
                  <a:t>满足</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𝑎</m:t>
                        </m:r>
                      </m:e>
                      <m:sub>
                        <m:r>
                          <a:rPr lang="en-US" altLang="zh-CN" i="1">
                            <a:latin typeface="Cambria Math" panose="02040503050406030204" pitchFamily="18" charset="0"/>
                          </a:rPr>
                          <m:t>𝑛</m:t>
                        </m:r>
                        <m:r>
                          <a:rPr lang="en-US" altLang="zh-CN" b="0" i="1" smtClean="0">
                            <a:latin typeface="Cambria Math" panose="02040503050406030204" pitchFamily="18" charset="0"/>
                          </a:rPr>
                          <m:t>+1</m:t>
                        </m:r>
                      </m:sub>
                    </m:sSub>
                    <m:r>
                      <a:rPr lang="en-US" altLang="zh-CN" i="1" dirty="0" smtClean="0">
                        <a:latin typeface="Cambria Math" panose="02040503050406030204" pitchFamily="18" charset="0"/>
                        <a:ea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𝑎</m:t>
                        </m:r>
                      </m:e>
                      <m:sub>
                        <m:r>
                          <a:rPr lang="en-US" altLang="zh-CN" i="1">
                            <a:latin typeface="Cambria Math" panose="02040503050406030204" pitchFamily="18" charset="0"/>
                          </a:rPr>
                          <m:t>𝑛</m:t>
                        </m:r>
                      </m:sub>
                    </m:sSub>
                  </m:oMath>
                </a14:m>
                <a:r>
                  <a:rPr lang="en-US" altLang="zh-CN" dirty="0" smtClean="0"/>
                  <a:t>. </a:t>
                </a:r>
                <a:r>
                  <a:rPr lang="zh-CN" altLang="en-US" dirty="0" smtClean="0"/>
                  <a:t>因为在这个偏序集中只有有穷个元素</a:t>
                </a:r>
                <a:r>
                  <a:rPr lang="en-US" altLang="zh-CN" dirty="0" smtClean="0"/>
                  <a:t>, </a:t>
                </a:r>
                <a:r>
                  <a:rPr lang="zh-CN" altLang="en-US" dirty="0" smtClean="0"/>
                  <a:t>所以这个过程一定会结束</a:t>
                </a:r>
                <a:r>
                  <a:rPr lang="en-US" altLang="zh-CN" dirty="0" smtClean="0"/>
                  <a:t>, </a:t>
                </a:r>
                <a:r>
                  <a:rPr lang="zh-CN" altLang="en-US" dirty="0" smtClean="0"/>
                  <a:t>且具有极小元</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𝑎</m:t>
                        </m:r>
                      </m:e>
                      <m:sub>
                        <m:r>
                          <a:rPr lang="en-US" altLang="zh-CN" i="1">
                            <a:latin typeface="Cambria Math" panose="02040503050406030204" pitchFamily="18" charset="0"/>
                          </a:rPr>
                          <m:t>𝑛</m:t>
                        </m:r>
                      </m:sub>
                    </m:sSub>
                  </m:oMath>
                </a14:m>
                <a:r>
                  <a:rPr lang="en-US" altLang="zh-CN" dirty="0" smtClean="0"/>
                  <a:t>.</a:t>
                </a:r>
                <a:endParaRPr lang="en-US" altLang="zh-CN"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999" t="-1667"/>
                </a:stretch>
              </a:blipFill>
            </p:spPr>
            <p:txBody>
              <a:bodyPr/>
              <a:lstStyle/>
              <a:p>
                <a:r>
                  <a:rPr lang="zh-CN" altLang="en-US">
                    <a:noFill/>
                  </a:rPr>
                  <a:t> </a:t>
                </a:r>
              </a:p>
            </p:txBody>
          </p:sp>
        </mc:Fallback>
      </mc:AlternateContent>
      <p:sp>
        <p:nvSpPr>
          <p:cNvPr id="6" name="日期占位符 5"/>
          <p:cNvSpPr>
            <a:spLocks noGrp="1"/>
          </p:cNvSpPr>
          <p:nvPr>
            <p:ph type="dt" sz="half" idx="10"/>
          </p:nvPr>
        </p:nvSpPr>
        <p:spPr/>
        <p:txBody>
          <a:bodyPr/>
          <a:lstStyle/>
          <a:p>
            <a:fld id="{F92A1D9E-A4D7-4101-8193-B11E037ACD9F}" type="datetime1">
              <a:rPr lang="zh-CN" altLang="en-US" smtClean="0"/>
              <a:t>2025/3/14</a:t>
            </a:fld>
            <a:endParaRPr lang="zh-CN" altLang="en-US" dirty="0"/>
          </a:p>
        </p:txBody>
      </p:sp>
      <p:sp>
        <p:nvSpPr>
          <p:cNvPr id="7" name="页脚占位符 6"/>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8" name="灯片编号占位符 7"/>
          <p:cNvSpPr>
            <a:spLocks noGrp="1"/>
          </p:cNvSpPr>
          <p:nvPr>
            <p:ph type="sldNum" sz="quarter" idx="12"/>
          </p:nvPr>
        </p:nvSpPr>
        <p:spPr/>
        <p:txBody>
          <a:bodyPr/>
          <a:lstStyle/>
          <a:p>
            <a:fld id="{67913A8A-9EFB-4B5F-9CCB-3D21173FAA85}" type="slidenum">
              <a:rPr lang="zh-CN" altLang="en-US" smtClean="0"/>
              <a:pPr/>
              <a:t>129</a:t>
            </a:fld>
            <a:endParaRPr lang="zh-CN" altLang="en-US" dirty="0"/>
          </a:p>
        </p:txBody>
      </p:sp>
    </p:spTree>
    <p:extLst>
      <p:ext uri="{BB962C8B-B14F-4D97-AF65-F5344CB8AC3E}">
        <p14:creationId xmlns:p14="http://schemas.microsoft.com/office/powerpoint/2010/main" val="3197440917"/>
      </p:ext>
    </p:extLst>
  </p:cSld>
  <p:clrMapOvr>
    <a:masterClrMapping/>
  </p:clrMapOvr>
  <p:timing>
    <p:tnLst>
      <p:par>
        <p:cTn id="1" dur="indefinite" restart="never" nodeType="tmRoot"/>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smtClean="0"/>
              <a:t>拓扑排序</a:t>
            </a:r>
            <a:endParaRPr lang="en-US" dirty="0"/>
          </a:p>
        </p:txBody>
      </p:sp>
      <p:sp>
        <p:nvSpPr>
          <p:cNvPr id="3" name="Content Placeholder 2"/>
          <p:cNvSpPr>
            <a:spLocks noGrp="1"/>
          </p:cNvSpPr>
          <p:nvPr>
            <p:ph idx="1"/>
          </p:nvPr>
        </p:nvSpPr>
        <p:spPr/>
        <p:txBody>
          <a:bodyPr>
            <a:normAutofit/>
          </a:bodyPr>
          <a:lstStyle/>
          <a:p>
            <a:r>
              <a:rPr lang="zh-CN" altLang="en-US" dirty="0" smtClean="0"/>
              <a:t>例</a:t>
            </a:r>
            <a:r>
              <a:rPr lang="en-US" altLang="zh-CN" dirty="0" smtClean="0"/>
              <a:t>:</a:t>
            </a:r>
            <a:r>
              <a:rPr lang="zh-CN" altLang="en-US" dirty="0" smtClean="0"/>
              <a:t>找出与偏序集</a:t>
            </a:r>
            <a:r>
              <a:rPr lang="en-US" altLang="zh-CN" dirty="0" smtClean="0"/>
              <a:t>({1,2,4,5,12,20},|)</a:t>
            </a:r>
            <a:r>
              <a:rPr lang="zh-CN" altLang="en-US" dirty="0" smtClean="0"/>
              <a:t>相容的一个全序</a:t>
            </a:r>
            <a:r>
              <a:rPr lang="en-US" altLang="zh-CN" dirty="0" smtClean="0"/>
              <a:t>.</a:t>
            </a:r>
          </a:p>
          <a:p>
            <a:r>
              <a:rPr lang="zh-CN" altLang="en-US" dirty="0" smtClean="0"/>
              <a:t>解</a:t>
            </a:r>
            <a:r>
              <a:rPr lang="en-US" altLang="zh-CN" dirty="0" smtClean="0"/>
              <a:t>:</a:t>
            </a:r>
          </a:p>
          <a:p>
            <a:pPr lvl="1">
              <a:lnSpc>
                <a:spcPct val="100000"/>
              </a:lnSpc>
            </a:pPr>
            <a:r>
              <a:rPr lang="zh-CN" altLang="en-US" dirty="0" smtClean="0"/>
              <a:t>首先</a:t>
            </a:r>
            <a:r>
              <a:rPr lang="en-US" altLang="zh-CN" dirty="0" smtClean="0"/>
              <a:t>, </a:t>
            </a:r>
            <a:r>
              <a:rPr lang="zh-CN" altLang="en-US" dirty="0" smtClean="0"/>
              <a:t>选择</a:t>
            </a:r>
            <a:r>
              <a:rPr lang="zh-CN" altLang="en-US" dirty="0"/>
              <a:t>一个</a:t>
            </a:r>
            <a:r>
              <a:rPr lang="zh-CN" altLang="en-US" dirty="0" smtClean="0"/>
              <a:t>极小元</a:t>
            </a:r>
            <a:r>
              <a:rPr lang="en-US" altLang="zh-CN" dirty="0" smtClean="0"/>
              <a:t>, </a:t>
            </a:r>
            <a:r>
              <a:rPr lang="zh-CN" altLang="en-US" dirty="0" smtClean="0"/>
              <a:t>也就是</a:t>
            </a:r>
            <a:r>
              <a:rPr lang="zh-CN" altLang="en-US" dirty="0"/>
              <a:t>元素</a:t>
            </a:r>
            <a:r>
              <a:rPr lang="en-US" altLang="zh-CN" dirty="0" smtClean="0"/>
              <a:t>1, </a:t>
            </a:r>
            <a:r>
              <a:rPr lang="zh-CN" altLang="en-US" dirty="0" smtClean="0"/>
              <a:t>因为</a:t>
            </a:r>
            <a:r>
              <a:rPr lang="zh-CN" altLang="en-US" dirty="0"/>
              <a:t>它是唯一的</a:t>
            </a:r>
            <a:r>
              <a:rPr lang="zh-CN" altLang="en-US" dirty="0" smtClean="0"/>
              <a:t>极小元</a:t>
            </a:r>
            <a:r>
              <a:rPr lang="en-US" altLang="zh-CN" dirty="0" smtClean="0"/>
              <a:t>.</a:t>
            </a:r>
            <a:endParaRPr lang="en-US" altLang="zh-CN" dirty="0"/>
          </a:p>
          <a:p>
            <a:pPr lvl="1">
              <a:lnSpc>
                <a:spcPct val="100000"/>
              </a:lnSpc>
            </a:pPr>
            <a:r>
              <a:rPr lang="zh-CN" altLang="en-US" dirty="0" smtClean="0"/>
              <a:t>然后</a:t>
            </a:r>
            <a:r>
              <a:rPr lang="en-US" altLang="zh-CN" dirty="0" smtClean="0"/>
              <a:t>, </a:t>
            </a:r>
            <a:r>
              <a:rPr lang="zh-CN" altLang="en-US" dirty="0" smtClean="0"/>
              <a:t>选择</a:t>
            </a:r>
            <a:r>
              <a:rPr lang="en-US" altLang="zh-CN" dirty="0" smtClean="0"/>
              <a:t>({2,4,5,12,20},|)</a:t>
            </a:r>
            <a:r>
              <a:rPr lang="zh-CN" altLang="en-US" dirty="0" smtClean="0"/>
              <a:t>中</a:t>
            </a:r>
            <a:r>
              <a:rPr lang="zh-CN" altLang="en-US" dirty="0"/>
              <a:t>的一个</a:t>
            </a:r>
            <a:r>
              <a:rPr lang="zh-CN" altLang="en-US" dirty="0" smtClean="0"/>
              <a:t>极小元</a:t>
            </a:r>
            <a:r>
              <a:rPr lang="en-US" altLang="zh-CN" dirty="0" smtClean="0"/>
              <a:t>. </a:t>
            </a:r>
            <a:r>
              <a:rPr lang="zh-CN" altLang="en-US" dirty="0" smtClean="0"/>
              <a:t>在</a:t>
            </a:r>
            <a:r>
              <a:rPr lang="zh-CN" altLang="en-US" dirty="0"/>
              <a:t>这个偏序集中有两个极小元</a:t>
            </a:r>
            <a:r>
              <a:rPr lang="en-US" altLang="zh-CN" dirty="0"/>
              <a:t>2</a:t>
            </a:r>
            <a:r>
              <a:rPr lang="zh-CN" altLang="en-US" dirty="0"/>
              <a:t>和</a:t>
            </a:r>
            <a:r>
              <a:rPr lang="en-US" altLang="zh-CN" dirty="0"/>
              <a:t>5.</a:t>
            </a:r>
          </a:p>
          <a:p>
            <a:pPr lvl="1">
              <a:lnSpc>
                <a:spcPct val="100000"/>
              </a:lnSpc>
            </a:pPr>
            <a:r>
              <a:rPr lang="zh-CN" altLang="en-US" dirty="0"/>
              <a:t>我们选择</a:t>
            </a:r>
            <a:r>
              <a:rPr lang="en-US" altLang="zh-CN" dirty="0" smtClean="0"/>
              <a:t>5, </a:t>
            </a:r>
            <a:r>
              <a:rPr lang="zh-CN" altLang="en-US" dirty="0" smtClean="0"/>
              <a:t>剩下</a:t>
            </a:r>
            <a:r>
              <a:rPr lang="zh-CN" altLang="en-US" dirty="0"/>
              <a:t>的元素是</a:t>
            </a:r>
            <a:r>
              <a:rPr lang="en-US" altLang="zh-CN" dirty="0"/>
              <a:t>{</a:t>
            </a:r>
            <a:r>
              <a:rPr lang="en-US" altLang="zh-CN" dirty="0" smtClean="0"/>
              <a:t>2,4,12,20}. </a:t>
            </a:r>
            <a:r>
              <a:rPr lang="zh-CN" altLang="en-US" dirty="0" smtClean="0"/>
              <a:t>在</a:t>
            </a:r>
            <a:r>
              <a:rPr lang="zh-CN" altLang="en-US" dirty="0"/>
              <a:t>这一步</a:t>
            </a:r>
            <a:r>
              <a:rPr lang="zh-CN" altLang="en-US" dirty="0" smtClean="0"/>
              <a:t>中</a:t>
            </a:r>
            <a:r>
              <a:rPr lang="en-US" altLang="zh-CN" dirty="0" smtClean="0"/>
              <a:t>, </a:t>
            </a:r>
            <a:r>
              <a:rPr lang="zh-CN" altLang="en-US" dirty="0" smtClean="0"/>
              <a:t>唯一</a:t>
            </a:r>
            <a:r>
              <a:rPr lang="zh-CN" altLang="en-US" dirty="0"/>
              <a:t>的极小元是</a:t>
            </a:r>
            <a:r>
              <a:rPr lang="en-US" altLang="zh-CN" dirty="0"/>
              <a:t>2.</a:t>
            </a:r>
          </a:p>
          <a:p>
            <a:pPr lvl="1">
              <a:lnSpc>
                <a:spcPct val="100000"/>
              </a:lnSpc>
            </a:pPr>
            <a:r>
              <a:rPr lang="zh-CN" altLang="en-US" dirty="0" smtClean="0"/>
              <a:t>下一步</a:t>
            </a:r>
            <a:r>
              <a:rPr lang="en-US" altLang="zh-CN" dirty="0" smtClean="0"/>
              <a:t>, </a:t>
            </a:r>
            <a:r>
              <a:rPr lang="zh-CN" altLang="en-US" dirty="0" smtClean="0"/>
              <a:t>选择</a:t>
            </a:r>
            <a:r>
              <a:rPr lang="en-US" altLang="zh-CN" dirty="0" smtClean="0"/>
              <a:t>4, </a:t>
            </a:r>
            <a:r>
              <a:rPr lang="zh-CN" altLang="en-US" dirty="0" smtClean="0"/>
              <a:t>因为</a:t>
            </a:r>
            <a:r>
              <a:rPr lang="zh-CN" altLang="en-US" dirty="0"/>
              <a:t>它是</a:t>
            </a:r>
            <a:r>
              <a:rPr lang="en-US" altLang="zh-CN" dirty="0"/>
              <a:t>{</a:t>
            </a:r>
            <a:r>
              <a:rPr lang="en-US" altLang="zh-CN" dirty="0" smtClean="0"/>
              <a:t>4,12,20</a:t>
            </a:r>
            <a:r>
              <a:rPr lang="en-US" altLang="zh-CN" dirty="0"/>
              <a:t>}</a:t>
            </a:r>
            <a:r>
              <a:rPr lang="zh-CN" altLang="en-US" dirty="0"/>
              <a:t>中的唯一</a:t>
            </a:r>
            <a:r>
              <a:rPr lang="zh-CN" altLang="en-US" dirty="0" smtClean="0"/>
              <a:t>极小元</a:t>
            </a:r>
            <a:r>
              <a:rPr lang="en-US" altLang="zh-CN" dirty="0" smtClean="0"/>
              <a:t>.</a:t>
            </a:r>
            <a:endParaRPr lang="en-US" altLang="zh-CN" dirty="0"/>
          </a:p>
          <a:p>
            <a:pPr lvl="1">
              <a:lnSpc>
                <a:spcPct val="100000"/>
              </a:lnSpc>
            </a:pPr>
            <a:r>
              <a:rPr lang="zh-CN" altLang="en-US" dirty="0"/>
              <a:t>因为</a:t>
            </a:r>
            <a:r>
              <a:rPr lang="en-US" altLang="zh-CN" dirty="0"/>
              <a:t>12</a:t>
            </a:r>
            <a:r>
              <a:rPr lang="zh-CN" altLang="en-US" dirty="0"/>
              <a:t>和</a:t>
            </a:r>
            <a:r>
              <a:rPr lang="en-US" altLang="zh-CN" dirty="0"/>
              <a:t>20</a:t>
            </a:r>
            <a:r>
              <a:rPr lang="zh-CN" altLang="en-US" dirty="0"/>
              <a:t>都是</a:t>
            </a:r>
            <a:r>
              <a:rPr lang="en-US" altLang="zh-CN" dirty="0"/>
              <a:t>{</a:t>
            </a:r>
            <a:r>
              <a:rPr lang="en-US" altLang="zh-CN" dirty="0" smtClean="0"/>
              <a:t>12,20</a:t>
            </a:r>
            <a:r>
              <a:rPr lang="en-US" altLang="zh-CN" dirty="0"/>
              <a:t>}</a:t>
            </a:r>
            <a:r>
              <a:rPr lang="zh-CN" altLang="en-US" dirty="0"/>
              <a:t>的</a:t>
            </a:r>
            <a:r>
              <a:rPr lang="zh-CN" altLang="en-US" dirty="0" smtClean="0"/>
              <a:t>极小元</a:t>
            </a:r>
            <a:r>
              <a:rPr lang="en-US" altLang="zh-CN" dirty="0" smtClean="0"/>
              <a:t>, </a:t>
            </a:r>
            <a:r>
              <a:rPr lang="zh-CN" altLang="en-US" dirty="0" smtClean="0"/>
              <a:t>下一步</a:t>
            </a:r>
            <a:r>
              <a:rPr lang="zh-CN" altLang="en-US" dirty="0"/>
              <a:t>选择哪一个都</a:t>
            </a:r>
            <a:r>
              <a:rPr lang="zh-CN" altLang="en-US" dirty="0" smtClean="0"/>
              <a:t>可以</a:t>
            </a:r>
            <a:r>
              <a:rPr lang="en-US" altLang="zh-CN" dirty="0" smtClean="0"/>
              <a:t>, </a:t>
            </a:r>
            <a:r>
              <a:rPr lang="zh-CN" altLang="en-US" dirty="0" smtClean="0"/>
              <a:t>我们</a:t>
            </a:r>
            <a:r>
              <a:rPr lang="zh-CN" altLang="en-US" dirty="0"/>
              <a:t>选择</a:t>
            </a:r>
            <a:r>
              <a:rPr lang="en-US" altLang="zh-CN" dirty="0" smtClean="0"/>
              <a:t>20, </a:t>
            </a:r>
            <a:r>
              <a:rPr lang="zh-CN" altLang="en-US" dirty="0" smtClean="0"/>
              <a:t>剩下</a:t>
            </a:r>
            <a:r>
              <a:rPr lang="en-US" altLang="zh-CN" dirty="0"/>
              <a:t>12</a:t>
            </a:r>
            <a:r>
              <a:rPr lang="zh-CN" altLang="en-US" dirty="0"/>
              <a:t>作为最后的</a:t>
            </a:r>
            <a:r>
              <a:rPr lang="zh-CN" altLang="en-US" dirty="0" smtClean="0"/>
              <a:t>元素</a:t>
            </a:r>
            <a:r>
              <a:rPr lang="en-US" altLang="zh-CN" dirty="0" smtClean="0"/>
              <a:t>. </a:t>
            </a:r>
            <a:r>
              <a:rPr lang="zh-CN" altLang="en-US" dirty="0" smtClean="0"/>
              <a:t>这</a:t>
            </a:r>
            <a:r>
              <a:rPr lang="zh-CN" altLang="en-US" dirty="0"/>
              <a:t>产生了全序</a:t>
            </a:r>
            <a:r>
              <a:rPr lang="en-US" altLang="zh-CN" dirty="0"/>
              <a:t>1</a:t>
            </a:r>
            <a:r>
              <a:rPr lang="en-US" altLang="zh-CN" dirty="0" smtClean="0"/>
              <a:t>≼</a:t>
            </a:r>
            <a:r>
              <a:rPr lang="en-US" altLang="zh-CN" baseline="-25000" dirty="0" smtClean="0"/>
              <a:t>T</a:t>
            </a:r>
            <a:r>
              <a:rPr lang="en-US" altLang="zh-CN" dirty="0" smtClean="0"/>
              <a:t>5</a:t>
            </a:r>
            <a:r>
              <a:rPr lang="en-US" altLang="zh-CN" dirty="0"/>
              <a:t>≼</a:t>
            </a:r>
            <a:r>
              <a:rPr lang="en-US" altLang="zh-CN" baseline="-25000" dirty="0" smtClean="0"/>
              <a:t>T</a:t>
            </a:r>
            <a:r>
              <a:rPr lang="en-US" altLang="zh-CN" dirty="0" smtClean="0"/>
              <a:t>2</a:t>
            </a:r>
            <a:r>
              <a:rPr lang="en-US" altLang="zh-CN" dirty="0"/>
              <a:t>≼</a:t>
            </a:r>
            <a:r>
              <a:rPr lang="en-US" altLang="zh-CN" baseline="-25000" dirty="0" smtClean="0"/>
              <a:t>T</a:t>
            </a:r>
            <a:r>
              <a:rPr lang="en-US" altLang="zh-CN" dirty="0" smtClean="0"/>
              <a:t>4</a:t>
            </a:r>
            <a:r>
              <a:rPr lang="en-US" altLang="zh-CN" dirty="0"/>
              <a:t>≼</a:t>
            </a:r>
            <a:r>
              <a:rPr lang="en-US" altLang="zh-CN" baseline="-25000" dirty="0" smtClean="0"/>
              <a:t>T</a:t>
            </a:r>
            <a:r>
              <a:rPr lang="en-US" altLang="zh-CN" dirty="0" smtClean="0"/>
              <a:t>20</a:t>
            </a:r>
            <a:r>
              <a:rPr lang="en-US" altLang="zh-CN" dirty="0"/>
              <a:t>≼</a:t>
            </a:r>
            <a:r>
              <a:rPr lang="en-US" altLang="zh-CN" baseline="-25000" dirty="0"/>
              <a:t>T</a:t>
            </a:r>
            <a:r>
              <a:rPr lang="en-US" altLang="zh-CN" dirty="0" smtClean="0"/>
              <a:t>12</a:t>
            </a:r>
            <a:r>
              <a:rPr lang="en-US" altLang="zh-CN" dirty="0" smtClean="0"/>
              <a:t>.</a:t>
            </a:r>
            <a:endParaRPr lang="en-US" altLang="zh-CN" dirty="0"/>
          </a:p>
          <a:p>
            <a:pPr marL="393192" lvl="1" indent="0">
              <a:lnSpc>
                <a:spcPct val="100000"/>
              </a:lnSpc>
              <a:buNone/>
            </a:pPr>
            <a:r>
              <a:rPr lang="zh-CN" altLang="en-US" dirty="0" smtClean="0"/>
              <a:t>   以上</a:t>
            </a:r>
            <a:r>
              <a:rPr lang="zh-CN" altLang="en-US" dirty="0"/>
              <a:t>步骤可以用下图来给</a:t>
            </a:r>
            <a:r>
              <a:rPr lang="zh-CN" altLang="en-US" dirty="0" smtClean="0"/>
              <a:t>出</a:t>
            </a:r>
            <a:r>
              <a:rPr lang="en-US" altLang="zh-CN" dirty="0" smtClean="0"/>
              <a:t>:</a:t>
            </a:r>
            <a:endParaRPr lang="en-US" altLang="zh-CN" dirty="0"/>
          </a:p>
        </p:txBody>
      </p:sp>
      <p:sp>
        <p:nvSpPr>
          <p:cNvPr id="6" name="日期占位符 5"/>
          <p:cNvSpPr>
            <a:spLocks noGrp="1"/>
          </p:cNvSpPr>
          <p:nvPr>
            <p:ph type="dt" sz="half" idx="10"/>
          </p:nvPr>
        </p:nvSpPr>
        <p:spPr/>
        <p:txBody>
          <a:bodyPr/>
          <a:lstStyle/>
          <a:p>
            <a:fld id="{17179B96-D9B7-4F0B-AB88-6550EC367895}" type="datetime1">
              <a:rPr lang="zh-CN" altLang="en-US" smtClean="0"/>
              <a:t>2025/3/14</a:t>
            </a:fld>
            <a:endParaRPr lang="zh-CN" altLang="en-US" dirty="0"/>
          </a:p>
        </p:txBody>
      </p:sp>
      <p:sp>
        <p:nvSpPr>
          <p:cNvPr id="7" name="页脚占位符 6"/>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8" name="灯片编号占位符 7"/>
          <p:cNvSpPr>
            <a:spLocks noGrp="1"/>
          </p:cNvSpPr>
          <p:nvPr>
            <p:ph type="sldNum" sz="quarter" idx="12"/>
          </p:nvPr>
        </p:nvSpPr>
        <p:spPr/>
        <p:txBody>
          <a:bodyPr/>
          <a:lstStyle/>
          <a:p>
            <a:fld id="{67913A8A-9EFB-4B5F-9CCB-3D21173FAA85}" type="slidenum">
              <a:rPr lang="zh-CN" altLang="en-US" smtClean="0"/>
              <a:pPr/>
              <a:t>130</a:t>
            </a:fld>
            <a:endParaRPr lang="zh-CN" altLang="en-US" dirty="0"/>
          </a:p>
        </p:txBody>
      </p:sp>
    </p:spTree>
    <p:extLst>
      <p:ext uri="{BB962C8B-B14F-4D97-AF65-F5344CB8AC3E}">
        <p14:creationId xmlns:p14="http://schemas.microsoft.com/office/powerpoint/2010/main" val="564522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wipe(down)">
                                      <p:cBhvr>
                                        <p:cTn id="7" dur="500"/>
                                        <p:tgtEl>
                                          <p:spTgt spid="3">
                                            <p:txEl>
                                              <p:pRg st="1" end="1"/>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wipe(down)">
                                      <p:cBhvr>
                                        <p:cTn id="10" dur="500"/>
                                        <p:tgtEl>
                                          <p:spTgt spid="3">
                                            <p:txEl>
                                              <p:pRg st="2" end="2"/>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wipe(down)">
                                      <p:cBhvr>
                                        <p:cTn id="13" dur="500"/>
                                        <p:tgtEl>
                                          <p:spTgt spid="3">
                                            <p:txEl>
                                              <p:pRg st="3" end="3"/>
                                            </p:txEl>
                                          </p:spTgt>
                                        </p:tgtEl>
                                      </p:cBhvr>
                                    </p:animEffect>
                                  </p:childTnLst>
                                </p:cTn>
                              </p:par>
                              <p:par>
                                <p:cTn id="14" presetID="22" presetClass="entr" presetSubtype="4" fill="hold" nodeType="withEffect">
                                  <p:stCondLst>
                                    <p:cond delay="0"/>
                                  </p:stCondLst>
                                  <p:childTnLst>
                                    <p:set>
                                      <p:cBhvr>
                                        <p:cTn id="15" dur="1" fill="hold">
                                          <p:stCondLst>
                                            <p:cond delay="0"/>
                                          </p:stCondLst>
                                        </p:cTn>
                                        <p:tgtEl>
                                          <p:spTgt spid="3">
                                            <p:txEl>
                                              <p:pRg st="4" end="4"/>
                                            </p:txEl>
                                          </p:spTgt>
                                        </p:tgtEl>
                                        <p:attrNameLst>
                                          <p:attrName>style.visibility</p:attrName>
                                        </p:attrNameLst>
                                      </p:cBhvr>
                                      <p:to>
                                        <p:strVal val="visible"/>
                                      </p:to>
                                    </p:set>
                                    <p:animEffect transition="in" filter="wipe(down)">
                                      <p:cBhvr>
                                        <p:cTn id="16" dur="500"/>
                                        <p:tgtEl>
                                          <p:spTgt spid="3">
                                            <p:txEl>
                                              <p:pRg st="4" end="4"/>
                                            </p:txEl>
                                          </p:spTgt>
                                        </p:tgtEl>
                                      </p:cBhvr>
                                    </p:animEffect>
                                  </p:childTnLst>
                                </p:cTn>
                              </p:par>
                              <p:par>
                                <p:cTn id="17" presetID="22" presetClass="entr" presetSubtype="4"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animEffect transition="in" filter="wipe(down)">
                                      <p:cBhvr>
                                        <p:cTn id="19" dur="500"/>
                                        <p:tgtEl>
                                          <p:spTgt spid="3">
                                            <p:txEl>
                                              <p:pRg st="5" end="5"/>
                                            </p:txEl>
                                          </p:spTgt>
                                        </p:tgtEl>
                                      </p:cBhvr>
                                    </p:animEffect>
                                  </p:childTnLst>
                                </p:cTn>
                              </p:par>
                              <p:par>
                                <p:cTn id="20" presetID="22" presetClass="entr" presetSubtype="4" fill="hold" nodeType="with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animEffect transition="in" filter="wipe(down)">
                                      <p:cBhvr>
                                        <p:cTn id="22" dur="500"/>
                                        <p:tgtEl>
                                          <p:spTgt spid="3">
                                            <p:txEl>
                                              <p:pRg st="6" end="6"/>
                                            </p:txEl>
                                          </p:spTgt>
                                        </p:tgtEl>
                                      </p:cBhvr>
                                    </p:animEffect>
                                  </p:childTnLst>
                                </p:cTn>
                              </p:par>
                              <p:par>
                                <p:cTn id="23" presetID="22" presetClass="entr" presetSubtype="4" fill="hold"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animEffect transition="in" filter="wipe(down)">
                                      <p:cBhvr>
                                        <p:cTn id="25"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smtClean="0"/>
              <a:t>拓扑排序</a:t>
            </a:r>
            <a:endParaRPr lang="en-US" dirty="0"/>
          </a:p>
        </p:txBody>
      </p:sp>
      <p:sp>
        <p:nvSpPr>
          <p:cNvPr id="3" name="内容占位符 2"/>
          <p:cNvSpPr>
            <a:spLocks noGrp="1"/>
          </p:cNvSpPr>
          <p:nvPr>
            <p:ph idx="1"/>
          </p:nvPr>
        </p:nvSpPr>
        <p:spPr/>
        <p:txBody>
          <a:bodyPr/>
          <a:lstStyle/>
          <a:p>
            <a:endParaRPr lang="en-US" altLang="zh-CN" dirty="0" smtClean="0"/>
          </a:p>
          <a:p>
            <a:endParaRPr lang="en-US" altLang="zh-CN" dirty="0"/>
          </a:p>
          <a:p>
            <a:endParaRPr lang="en-US" altLang="zh-CN" dirty="0" smtClean="0"/>
          </a:p>
          <a:p>
            <a:endParaRPr lang="en-US" altLang="zh-CN" dirty="0"/>
          </a:p>
          <a:p>
            <a:endParaRPr lang="en-US" altLang="zh-CN" dirty="0" smtClean="0"/>
          </a:p>
          <a:p>
            <a:endParaRPr lang="en-US" altLang="zh-CN" dirty="0"/>
          </a:p>
          <a:p>
            <a:endParaRPr lang="en-US" altLang="zh-CN" dirty="0" smtClean="0"/>
          </a:p>
          <a:p>
            <a:r>
              <a:rPr lang="zh-CN" altLang="en-US" dirty="0" smtClean="0"/>
              <a:t>总结</a:t>
            </a:r>
            <a:r>
              <a:rPr lang="en-US" altLang="zh-CN" dirty="0" smtClean="0"/>
              <a:t>: </a:t>
            </a:r>
            <a:r>
              <a:rPr lang="zh-CN" altLang="en-US" dirty="0" smtClean="0"/>
              <a:t>拓扑排序的结果不是唯一的</a:t>
            </a:r>
            <a:r>
              <a:rPr lang="en-US" altLang="zh-CN" smtClean="0"/>
              <a:t>.</a:t>
            </a:r>
            <a:endParaRPr lang="zh-CN" altLang="en-US" dirty="0"/>
          </a:p>
        </p:txBody>
      </p:sp>
      <p:sp>
        <p:nvSpPr>
          <p:cNvPr id="6" name="日期占位符 5"/>
          <p:cNvSpPr>
            <a:spLocks noGrp="1"/>
          </p:cNvSpPr>
          <p:nvPr>
            <p:ph type="dt" sz="half" idx="10"/>
          </p:nvPr>
        </p:nvSpPr>
        <p:spPr/>
        <p:txBody>
          <a:bodyPr/>
          <a:lstStyle/>
          <a:p>
            <a:fld id="{2CA081E5-92D0-4D5F-8608-BDEBDE1CFAA0}" type="datetime1">
              <a:rPr lang="zh-CN" altLang="en-US" smtClean="0"/>
              <a:t>2025/3/14</a:t>
            </a:fld>
            <a:endParaRPr lang="zh-CN" altLang="en-US" dirty="0"/>
          </a:p>
        </p:txBody>
      </p:sp>
      <p:sp>
        <p:nvSpPr>
          <p:cNvPr id="7" name="页脚占位符 6"/>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8" name="灯片编号占位符 7"/>
          <p:cNvSpPr>
            <a:spLocks noGrp="1"/>
          </p:cNvSpPr>
          <p:nvPr>
            <p:ph type="sldNum" sz="quarter" idx="12"/>
          </p:nvPr>
        </p:nvSpPr>
        <p:spPr/>
        <p:txBody>
          <a:bodyPr/>
          <a:lstStyle/>
          <a:p>
            <a:fld id="{67913A8A-9EFB-4B5F-9CCB-3D21173FAA85}" type="slidenum">
              <a:rPr lang="zh-CN" altLang="en-US" smtClean="0"/>
              <a:pPr/>
              <a:t>131</a:t>
            </a:fld>
            <a:endParaRPr lang="zh-CN" altLang="en-US" dirty="0"/>
          </a:p>
        </p:txBody>
      </p:sp>
      <p:pic>
        <p:nvPicPr>
          <p:cNvPr id="4" name="图片 3"/>
          <p:cNvPicPr>
            <a:picLocks noChangeAspect="1"/>
          </p:cNvPicPr>
          <p:nvPr/>
        </p:nvPicPr>
        <p:blipFill>
          <a:blip r:embed="rId2"/>
          <a:stretch>
            <a:fillRect/>
          </a:stretch>
        </p:blipFill>
        <p:spPr>
          <a:xfrm>
            <a:off x="457200" y="1676400"/>
            <a:ext cx="11325901" cy="3054226"/>
          </a:xfrm>
          <a:prstGeom prst="rect">
            <a:avLst/>
          </a:prstGeom>
        </p:spPr>
      </p:pic>
    </p:spTree>
    <p:extLst>
      <p:ext uri="{BB962C8B-B14F-4D97-AF65-F5344CB8AC3E}">
        <p14:creationId xmlns:p14="http://schemas.microsoft.com/office/powerpoint/2010/main" val="4198170695"/>
      </p:ext>
    </p:extLst>
  </p:cSld>
  <p:clrMapOvr>
    <a:masterClrMapping/>
  </p:clrMapOvr>
  <p:timing>
    <p:tnLst>
      <p:par>
        <p:cTn id="1" dur="indefinite" restart="never" nodeType="tmRoot"/>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smtClean="0"/>
              <a:t>拓扑排序</a:t>
            </a:r>
            <a:endParaRPr lang="en-US"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normAutofit/>
              </a:bodyPr>
              <a:lstStyle/>
              <a:p>
                <a:r>
                  <a:rPr lang="zh-CN" altLang="en-US" dirty="0" smtClean="0"/>
                  <a:t>例</a:t>
                </a:r>
                <a:r>
                  <a:rPr lang="en-US" altLang="zh-CN" dirty="0" smtClean="0"/>
                  <a:t>:</a:t>
                </a:r>
                <a:r>
                  <a:rPr lang="zh-CN" altLang="en-US" dirty="0" smtClean="0"/>
                  <a:t>一个计算机公司的开发项目需要完成</a:t>
                </a:r>
                <a:r>
                  <a:rPr lang="en-US" altLang="zh-CN" dirty="0" smtClean="0"/>
                  <a:t>7</a:t>
                </a:r>
                <a:r>
                  <a:rPr lang="zh-CN" altLang="en-US" dirty="0" smtClean="0"/>
                  <a:t>个任务</a:t>
                </a:r>
                <a:r>
                  <a:rPr lang="en-US" altLang="zh-CN" dirty="0" smtClean="0"/>
                  <a:t>, </a:t>
                </a:r>
                <a:r>
                  <a:rPr lang="zh-CN" altLang="en-US" dirty="0" smtClean="0"/>
                  <a:t>其中某些任务只能在其他任务结束后才能开始</a:t>
                </a:r>
                <a:r>
                  <a:rPr lang="en-US" altLang="zh-CN" dirty="0" smtClean="0"/>
                  <a:t>. </a:t>
                </a:r>
                <a:r>
                  <a:rPr lang="zh-CN" altLang="en-US" dirty="0" smtClean="0"/>
                  <a:t>考虑如下建立任务上的偏序</a:t>
                </a:r>
                <a:r>
                  <a:rPr lang="en-US" altLang="zh-CN" dirty="0" smtClean="0"/>
                  <a:t>, </a:t>
                </a:r>
                <a:r>
                  <a:rPr lang="zh-CN" altLang="en-US" dirty="0" smtClean="0"/>
                  <a:t>如果任务</a:t>
                </a:r>
                <a:r>
                  <a:rPr lang="en-US" altLang="zh-CN" dirty="0" smtClean="0"/>
                  <a:t>Y</a:t>
                </a:r>
                <a:r>
                  <a:rPr lang="zh-CN" altLang="en-US" dirty="0" smtClean="0"/>
                  <a:t>在</a:t>
                </a:r>
                <a:r>
                  <a:rPr lang="en-US" altLang="zh-CN" dirty="0" smtClean="0"/>
                  <a:t>X</a:t>
                </a:r>
                <a:r>
                  <a:rPr lang="zh-CN" altLang="en-US" dirty="0" smtClean="0"/>
                  <a:t>结束后才能开始</a:t>
                </a:r>
                <a:r>
                  <a:rPr lang="en-US" altLang="zh-CN" dirty="0" smtClean="0"/>
                  <a:t>, </a:t>
                </a:r>
                <a:r>
                  <a:rPr lang="zh-CN" altLang="en-US" dirty="0" smtClean="0"/>
                  <a:t>则任务</a:t>
                </a:r>
                <a:r>
                  <a:rPr lang="en-US" altLang="zh-CN" dirty="0" smtClean="0"/>
                  <a:t>X</a:t>
                </a:r>
                <a14:m>
                  <m:oMath xmlns:m="http://schemas.openxmlformats.org/officeDocument/2006/math">
                    <m:r>
                      <a:rPr lang="en-US" altLang="zh-CN" dirty="0">
                        <a:latin typeface="Cambria Math" panose="02040503050406030204" pitchFamily="18" charset="0"/>
                      </a:rPr>
                      <m:t>≺</m:t>
                    </m:r>
                  </m:oMath>
                </a14:m>
                <a:r>
                  <a:rPr lang="zh-CN" altLang="en-US" dirty="0" smtClean="0"/>
                  <a:t>任务</a:t>
                </a:r>
                <a:r>
                  <a:rPr lang="en-US" altLang="zh-CN" dirty="0" smtClean="0"/>
                  <a:t>Y. </a:t>
                </a:r>
                <a:r>
                  <a:rPr lang="zh-CN" altLang="en-US" dirty="0" smtClean="0"/>
                  <a:t>这七个任务的哈塞图如下图所示</a:t>
                </a:r>
                <a:r>
                  <a:rPr lang="en-US" altLang="zh-CN" dirty="0" smtClean="0"/>
                  <a:t>. </a:t>
                </a:r>
                <a:r>
                  <a:rPr lang="zh-CN" altLang="en-US" dirty="0" smtClean="0"/>
                  <a:t>求一个任务的执行顺序</a:t>
                </a:r>
                <a:r>
                  <a:rPr lang="en-US" altLang="zh-CN" dirty="0" smtClean="0"/>
                  <a:t>, </a:t>
                </a:r>
                <a:r>
                  <a:rPr lang="zh-CN" altLang="en-US" dirty="0" smtClean="0"/>
                  <a:t>使得能够完成这个项目</a:t>
                </a:r>
                <a:r>
                  <a:rPr lang="en-US" altLang="zh-CN" dirty="0" smtClean="0"/>
                  <a:t>.</a:t>
                </a:r>
              </a:p>
              <a:p>
                <a:endParaRPr lang="en-US" altLang="zh-CN" dirty="0"/>
              </a:p>
              <a:p>
                <a:endParaRPr lang="en-US" altLang="zh-CN" dirty="0" smtClean="0"/>
              </a:p>
              <a:p>
                <a:endParaRPr lang="en-US" altLang="zh-CN" dirty="0"/>
              </a:p>
              <a:p>
                <a:endParaRPr lang="en-US" altLang="zh-CN" dirty="0" smtClean="0"/>
              </a:p>
              <a:p>
                <a:r>
                  <a:rPr lang="zh-CN" altLang="en-US" dirty="0" smtClean="0"/>
                  <a:t>解</a:t>
                </a:r>
                <a:r>
                  <a:rPr lang="en-US" altLang="zh-CN" dirty="0" smtClean="0"/>
                  <a:t>:</a:t>
                </a:r>
                <a:r>
                  <a:rPr lang="zh-CN" altLang="en-US" dirty="0" smtClean="0"/>
                  <a:t>可以通过执行一个拓扑排序得到</a:t>
                </a:r>
                <a:r>
                  <a:rPr lang="en-US" altLang="zh-CN" dirty="0" smtClean="0"/>
                  <a:t>7</a:t>
                </a:r>
                <a:r>
                  <a:rPr lang="zh-CN" altLang="en-US" dirty="0" smtClean="0"/>
                  <a:t>个任务的排序</a:t>
                </a:r>
                <a:r>
                  <a:rPr lang="en-US" altLang="zh-CN" dirty="0" smtClean="0"/>
                  <a:t>, </a:t>
                </a:r>
                <a:r>
                  <a:rPr lang="zh-CN" altLang="en-US" dirty="0" smtClean="0"/>
                  <a:t>步骤如下图所示</a:t>
                </a:r>
                <a:r>
                  <a:rPr lang="en-US" altLang="zh-CN" dirty="0" smtClean="0"/>
                  <a:t>,</a:t>
                </a:r>
                <a:r>
                  <a:rPr lang="zh-CN" altLang="en-US" dirty="0" smtClean="0"/>
                  <a:t>这个排序结果</a:t>
                </a:r>
                <a:r>
                  <a:rPr lang="en-US" altLang="zh-CN" dirty="0"/>
                  <a:t>A≼</a:t>
                </a:r>
                <a:r>
                  <a:rPr lang="en-US" altLang="zh-CN" baseline="-25000" dirty="0" smtClean="0"/>
                  <a:t>T</a:t>
                </a:r>
                <a:r>
                  <a:rPr lang="en-US" altLang="zh-CN" dirty="0"/>
                  <a:t>C≼</a:t>
                </a:r>
                <a:r>
                  <a:rPr lang="en-US" altLang="zh-CN" baseline="-25000" dirty="0" smtClean="0"/>
                  <a:t>T</a:t>
                </a:r>
                <a:r>
                  <a:rPr lang="en-US" altLang="zh-CN" dirty="0"/>
                  <a:t>B≼</a:t>
                </a:r>
                <a:r>
                  <a:rPr lang="en-US" altLang="zh-CN" baseline="-25000" dirty="0" smtClean="0"/>
                  <a:t>T</a:t>
                </a:r>
                <a:r>
                  <a:rPr lang="en-US" altLang="zh-CN" dirty="0"/>
                  <a:t>E≼</a:t>
                </a:r>
                <a:r>
                  <a:rPr lang="en-US" altLang="zh-CN" baseline="-25000" dirty="0" smtClean="0"/>
                  <a:t>T</a:t>
                </a:r>
                <a:r>
                  <a:rPr lang="en-US" altLang="zh-CN" dirty="0"/>
                  <a:t>F≼</a:t>
                </a:r>
                <a:r>
                  <a:rPr lang="en-US" altLang="zh-CN" baseline="-25000" dirty="0" smtClean="0"/>
                  <a:t>T</a:t>
                </a:r>
                <a:r>
                  <a:rPr lang="en-US" altLang="zh-CN" dirty="0"/>
                  <a:t>D≼</a:t>
                </a:r>
                <a:r>
                  <a:rPr lang="en-US" altLang="zh-CN" baseline="-25000" dirty="0"/>
                  <a:t>T</a:t>
                </a:r>
                <a:r>
                  <a:rPr lang="en-US" altLang="zh-CN" dirty="0" smtClean="0"/>
                  <a:t>G</a:t>
                </a:r>
                <a:r>
                  <a:rPr lang="en-US" altLang="zh-CN" dirty="0" smtClean="0"/>
                  <a:t>, </a:t>
                </a:r>
                <a:r>
                  <a:rPr lang="zh-CN" altLang="en-US" dirty="0" smtClean="0"/>
                  <a:t>它给出了一种任务的可行次序</a:t>
                </a:r>
                <a:r>
                  <a:rPr lang="en-US" altLang="zh-CN" dirty="0" smtClean="0"/>
                  <a:t>.</a:t>
                </a:r>
                <a:endParaRPr lang="en-US" altLang="zh-CN" dirty="0"/>
              </a:p>
              <a:p>
                <a:endParaRPr lang="en-US" altLang="zh-CN" dirty="0"/>
              </a:p>
            </p:txBody>
          </p:sp>
        </mc:Choice>
        <mc:Fallback>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2"/>
                <a:stretch>
                  <a:fillRect l="-999" t="-1310" r="-1443" b="-952"/>
                </a:stretch>
              </a:blipFill>
            </p:spPr>
            <p:txBody>
              <a:bodyPr/>
              <a:lstStyle/>
              <a:p>
                <a:r>
                  <a:rPr lang="zh-CN" altLang="en-US">
                    <a:noFill/>
                  </a:rPr>
                  <a:t> </a:t>
                </a:r>
              </a:p>
            </p:txBody>
          </p:sp>
        </mc:Fallback>
      </mc:AlternateContent>
      <p:sp>
        <p:nvSpPr>
          <p:cNvPr id="6" name="日期占位符 5"/>
          <p:cNvSpPr>
            <a:spLocks noGrp="1"/>
          </p:cNvSpPr>
          <p:nvPr>
            <p:ph type="dt" sz="half" idx="10"/>
          </p:nvPr>
        </p:nvSpPr>
        <p:spPr/>
        <p:txBody>
          <a:bodyPr/>
          <a:lstStyle/>
          <a:p>
            <a:fld id="{A8010F9B-397D-4A4B-B778-06C702E0B153}" type="datetime1">
              <a:rPr lang="zh-CN" altLang="en-US" smtClean="0"/>
              <a:t>2025/3/14</a:t>
            </a:fld>
            <a:endParaRPr lang="zh-CN" altLang="en-US" dirty="0"/>
          </a:p>
        </p:txBody>
      </p:sp>
      <p:sp>
        <p:nvSpPr>
          <p:cNvPr id="7" name="页脚占位符 6"/>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8" name="灯片编号占位符 7"/>
          <p:cNvSpPr>
            <a:spLocks noGrp="1"/>
          </p:cNvSpPr>
          <p:nvPr>
            <p:ph type="sldNum" sz="quarter" idx="12"/>
          </p:nvPr>
        </p:nvSpPr>
        <p:spPr/>
        <p:txBody>
          <a:bodyPr/>
          <a:lstStyle/>
          <a:p>
            <a:fld id="{67913A8A-9EFB-4B5F-9CCB-3D21173FAA85}" type="slidenum">
              <a:rPr lang="zh-CN" altLang="en-US" smtClean="0"/>
              <a:pPr/>
              <a:t>132</a:t>
            </a:fld>
            <a:endParaRPr lang="zh-CN" altLang="en-US" dirty="0"/>
          </a:p>
        </p:txBody>
      </p:sp>
      <p:pic>
        <p:nvPicPr>
          <p:cNvPr id="4" name="图片 3"/>
          <p:cNvPicPr>
            <a:picLocks noChangeAspect="1"/>
          </p:cNvPicPr>
          <p:nvPr/>
        </p:nvPicPr>
        <p:blipFill>
          <a:blip r:embed="rId3"/>
          <a:stretch>
            <a:fillRect/>
          </a:stretch>
        </p:blipFill>
        <p:spPr>
          <a:xfrm>
            <a:off x="5448300" y="2819400"/>
            <a:ext cx="1295400" cy="2174693"/>
          </a:xfrm>
          <a:prstGeom prst="rect">
            <a:avLst/>
          </a:prstGeom>
        </p:spPr>
      </p:pic>
    </p:spTree>
    <p:extLst>
      <p:ext uri="{BB962C8B-B14F-4D97-AF65-F5344CB8AC3E}">
        <p14:creationId xmlns:p14="http://schemas.microsoft.com/office/powerpoint/2010/main" val="30597509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animEffect transition="in" filter="wipe(down)">
                                      <p:cBhvr>
                                        <p:cTn id="7"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smtClean="0"/>
              <a:t>拓扑排序</a:t>
            </a:r>
            <a:endParaRPr lang="en-US" dirty="0"/>
          </a:p>
        </p:txBody>
      </p:sp>
      <p:sp>
        <p:nvSpPr>
          <p:cNvPr id="6" name="日期占位符 5"/>
          <p:cNvSpPr>
            <a:spLocks noGrp="1"/>
          </p:cNvSpPr>
          <p:nvPr>
            <p:ph type="dt" sz="half" idx="10"/>
          </p:nvPr>
        </p:nvSpPr>
        <p:spPr/>
        <p:txBody>
          <a:bodyPr/>
          <a:lstStyle/>
          <a:p>
            <a:fld id="{287A881C-D67B-4CE8-B352-6D5805FAD834}" type="datetime1">
              <a:rPr lang="zh-CN" altLang="en-US" smtClean="0"/>
              <a:t>2025/3/14</a:t>
            </a:fld>
            <a:endParaRPr lang="zh-CN" altLang="en-US" dirty="0"/>
          </a:p>
        </p:txBody>
      </p:sp>
      <p:sp>
        <p:nvSpPr>
          <p:cNvPr id="7" name="页脚占位符 6"/>
          <p:cNvSpPr>
            <a:spLocks noGrp="1"/>
          </p:cNvSpPr>
          <p:nvPr>
            <p:ph type="ftr" sz="quarter" idx="11"/>
          </p:nvPr>
        </p:nvSpPr>
        <p:spPr/>
        <p:txBody>
          <a:bodyPr/>
          <a:lstStyle/>
          <a:p>
            <a:pPr algn="r"/>
            <a:r>
              <a:rPr lang="zh-CN" altLang="en-US" dirty="0" smtClean="0"/>
              <a:t>华中科技大学</a:t>
            </a:r>
            <a:r>
              <a:rPr lang="en-US" altLang="zh-CN" dirty="0" smtClean="0"/>
              <a:t>NNSS</a:t>
            </a:r>
            <a:r>
              <a:rPr lang="zh-CN" altLang="en-US" dirty="0" smtClean="0"/>
              <a:t>实验室</a:t>
            </a:r>
            <a:endParaRPr lang="zh-CN" altLang="en-US" dirty="0"/>
          </a:p>
        </p:txBody>
      </p:sp>
      <p:sp>
        <p:nvSpPr>
          <p:cNvPr id="8" name="灯片编号占位符 7"/>
          <p:cNvSpPr>
            <a:spLocks noGrp="1"/>
          </p:cNvSpPr>
          <p:nvPr>
            <p:ph type="sldNum" sz="quarter" idx="12"/>
          </p:nvPr>
        </p:nvSpPr>
        <p:spPr/>
        <p:txBody>
          <a:bodyPr/>
          <a:lstStyle/>
          <a:p>
            <a:fld id="{67913A8A-9EFB-4B5F-9CCB-3D21173FAA85}" type="slidenum">
              <a:rPr lang="zh-CN" altLang="en-US" smtClean="0"/>
              <a:pPr/>
              <a:t>133</a:t>
            </a:fld>
            <a:endParaRPr lang="zh-CN" altLang="en-US" dirty="0"/>
          </a:p>
        </p:txBody>
      </p:sp>
      <p:pic>
        <p:nvPicPr>
          <p:cNvPr id="3" name="图片 2"/>
          <p:cNvPicPr>
            <a:picLocks noChangeAspect="1"/>
          </p:cNvPicPr>
          <p:nvPr/>
        </p:nvPicPr>
        <p:blipFill>
          <a:blip r:embed="rId2"/>
          <a:stretch>
            <a:fillRect/>
          </a:stretch>
        </p:blipFill>
        <p:spPr>
          <a:xfrm>
            <a:off x="607626" y="1828800"/>
            <a:ext cx="10353547" cy="2865998"/>
          </a:xfrm>
          <a:prstGeom prst="rect">
            <a:avLst/>
          </a:prstGeom>
        </p:spPr>
      </p:pic>
    </p:spTree>
    <p:extLst>
      <p:ext uri="{BB962C8B-B14F-4D97-AF65-F5344CB8AC3E}">
        <p14:creationId xmlns:p14="http://schemas.microsoft.com/office/powerpoint/2010/main" val="4276246486"/>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M_{R} =\left[\begin{array}{lllll}&#10;0&amp;1 &amp; 0&amp; 0 &amp; 0\\&#10;1 &amp;0&amp; 1 &amp; 1 &amp; 0\\&#10;1&amp; 0 &amp; 1 &amp; 0 &amp; 1&#10;\end{array}&#10;\right]?&#10;$$&#10;&#10;\end{document}"/>
  <p:tag name="IGUANATEXSIZE" val="20"/>
</p:tagLst>
</file>

<file path=ppt/tags/tag2.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M_{R} =\left[\begin{array}{lll}&#10;1 &amp;1&amp; 0\\&#10;1 &amp;1 &amp; 1\\&#10;0&amp; 1 &amp; 1&#10;\end{array}&#10;\right].&#10;$$&#10;&#10;\end{document}"/>
  <p:tag name="IGUANATEXSIZE" val="20"/>
</p:tagLst>
</file>

<file path=ppt/tags/tag3.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bf A} = &#10;\left[&#10;\begin{array}{lll}&#10;1 &amp;0 &amp; 1\\&#10;0 &amp;1&amp; 0&#10;\end{array}&#10;\right],&#10;$$&#10;&#10;\end{document}"/>
  <p:tag name="IGUANATEXSIZE" val="20"/>
</p:tagLst>
</file>

<file path=ppt/tags/tag4.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bf B} = &#10;\left[&#10;\begin{array}{lll}&#10;0 &amp;1 &amp; 0\\&#10;1 &amp;1&amp; 0&#10;\end{array}&#10;\right].&#10;$$&#10;&#10;\end{document}"/>
  <p:tag name="IGUANATEXSIZE" val="20"/>
</p:tagLst>
</file>

<file path=ppt/tags/tag5.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bf A}\vee {\bf B} = &#10;\left[&#10;\begin{array}{lll}&#10;1\vee 0  &amp;0\vee 1 &amp; 1\vee 0\\&#10;0\vee 1 &amp;1\vee 1&amp; 0\vee 0&#10;\end{array}&#10;\right]&#10;=&#10;\left[&#10;\begin{array}{lll}&#10;1 &amp; 1 &amp; 1\\&#10;1 &amp; 1 &amp; 0&#10;\end{array}&#10;\right].&#10;$$&#10;&#10;\end{document}"/>
  <p:tag name="IGUANATEXSIZE" val="20"/>
</p:tagLst>
</file>

<file path=ppt/tags/tag6.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bf A}\wedge {\bf B} = &#10;\left[&#10;\begin{array}{lll}&#10;1\wedge 0  &amp;0\wedge 1 &amp; 1\wedge 0\\&#10;0\wedge 1 &amp;1\wedge 1&amp; 0\wedge 0&#10;\end{array}&#10;\right]&#10;=&#10;\left[&#10;\begin{array}{lll}&#10;0 &amp; 0 &amp; 0\\&#10;0 &amp; 1 &amp; 0&#10;\end{array}&#10;\right].&#10;$$&#10;&#10;\end{document}"/>
  <p:tag name="IGUANATEXSIZE" val="20"/>
</p:tagLst>
</file>

<file path=ppt/tags/tag7.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10;\left[&#10;\begin{array}{lll}&#10;1 &amp; 1 &amp; 0\\&#10;0 &amp; 1 &amp; 1\\&#10;1 &amp; 1 &amp; 0&#10;\end{array}&#10;\right].&#10;$$&#10;&#10;\end{document}"/>
  <p:tag name="IGUANATEXSIZE" val="20"/>
</p:tagLst>
</file>

<file path=ppt/tags/tag8.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10;\left[&#10;\begin{array}{lll}&#10;1\vee 0 &amp; 1\vee 0 &amp; 0\vee 0\\&#10;0\vee 0 &amp; 0\vee 1 &amp; 0\vee 1\\&#10;1\vee 0  &amp; 1\vee 0 &amp; 0\vee 0&#10;\end{array}&#10;\right]&#10;$$&#10;&#10;\end{document}"/>
  <p:tag name="IGUANATEXSIZE" val="20"/>
</p:tagLst>
</file>

<file path=ppt/tags/tag9.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bf A} \odot {\bf B} =&#10;\left[&#10;\begin{array}{lll}&#10;(1\wedge 1)\vee (0\wedge 0) &amp; (1\wedge 1)\vee (0\wedge 1) &amp; (1\wedge0)\vee (0\wedge 1)\\&#10;(0\wedge 1)\vee (1\wedge0) &amp; (0\wedge 1)\vee (1\wedge 1) &amp; (0\wedge 0)\vee (1 \wedge 1)\\&#10;(1\wedge 1)\vee (0\wedge 0)  &amp; (1\wedge 1)\vee (0\wedge 1) &amp; (1 \wedge0) \vee (0\wedge 1)&#10;\end{array}&#10;\right]&#10;$$&#10;&#10;\end{document}"/>
  <p:tag name="IGUANATEXSIZE" val="20"/>
</p:tagLst>
</file>

<file path=ppt/tags/tag10.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bf A} = &#10;\left[&#10;\begin{array}{ll}&#10;1 &amp;0\\&#10;0 &amp;1\\&#10;1&amp;0&#10;\end{array}&#10;\right],&#10;$$&#10;&#10;\end{document}"/>
  <p:tag name="IGUANATEXSIZE" val="20"/>
</p:tagLst>
</file>

<file path=ppt/tags/tag11.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bf B} = &#10;\left[&#10;\begin{array}{lll}&#10;1 &amp;1 &amp; 0\\&#10;0 &amp;1&amp; 1&#10;\end{array}&#10;\right].&#10;$$&#10;&#10;\end{document}"/>
  <p:tag name="IGUANATEXSIZE" val="20"/>
</p:tagLst>
</file>

<file path=ppt/tags/tag12.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bf A} =&#10;\left[&#10;\begin{array}{lll}&#10;0 &amp; 0 &amp; 1\\&#10;1 &amp; 0 &amp; 0\\&#10;1 &amp; 1 &amp; 0&#10;\end{array}&#10;\right].&#10;$$&#10;&#10;\end{document}"/>
  <p:tag name="IGUANATEXSIZE" val="14"/>
</p:tagLst>
</file>

<file path=ppt/tags/tag13.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bigcup_{i \in I} A_{i} = S.$$&#10;&#10;\end{document}"/>
  <p:tag name="IGUANATEXSIZE" val="20"/>
</p:tagLst>
</file>

<file path=ppt/theme/theme1.xml><?xml version="1.0" encoding="utf-8"?>
<a:theme xmlns:a="http://schemas.openxmlformats.org/drawingml/2006/main" name="Office 主题​​">
  <a:themeElements>
    <a:clrScheme name="Office 主题​​">
      <a:dk1>
        <a:sysClr val="windowText" lastClr="000000"/>
      </a:dk1>
      <a:lt1>
        <a:sysClr val="window" lastClr="CCE8C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CCE8C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Office Theme</Template>
  <TotalTime>15362</TotalTime>
  <Words>9075</Words>
  <Application>Microsoft Office PowerPoint</Application>
  <PresentationFormat>宽屏</PresentationFormat>
  <Paragraphs>1266</Paragraphs>
  <Slides>133</Slides>
  <Notes>7</Notes>
  <HiddenSlides>2</HiddenSlides>
  <MMClips>0</MMClips>
  <ScaleCrop>false</ScaleCrop>
  <HeadingPairs>
    <vt:vector size="8" baseType="variant">
      <vt:variant>
        <vt:lpstr>已用的字体</vt:lpstr>
      </vt:variant>
      <vt:variant>
        <vt:i4>10</vt:i4>
      </vt:variant>
      <vt:variant>
        <vt:lpstr>主题</vt:lpstr>
      </vt:variant>
      <vt:variant>
        <vt:i4>1</vt:i4>
      </vt:variant>
      <vt:variant>
        <vt:lpstr>嵌入 OLE 服务器</vt:lpstr>
      </vt:variant>
      <vt:variant>
        <vt:i4>1</vt:i4>
      </vt:variant>
      <vt:variant>
        <vt:lpstr>幻灯片标题</vt:lpstr>
      </vt:variant>
      <vt:variant>
        <vt:i4>133</vt:i4>
      </vt:variant>
    </vt:vector>
  </HeadingPairs>
  <TitlesOfParts>
    <vt:vector size="145" baseType="lpstr">
      <vt:lpstr>Helvetica Neue</vt:lpstr>
      <vt:lpstr>Microsoft YaHei Light</vt:lpstr>
      <vt:lpstr>ＭＳ Ｐゴシック</vt:lpstr>
      <vt:lpstr>等线</vt:lpstr>
      <vt:lpstr>宋体</vt:lpstr>
      <vt:lpstr>微软雅黑</vt:lpstr>
      <vt:lpstr>Arial</vt:lpstr>
      <vt:lpstr>Calibri</vt:lpstr>
      <vt:lpstr>Cambria Math</vt:lpstr>
      <vt:lpstr>Wingdings</vt:lpstr>
      <vt:lpstr>Office 主题​​</vt:lpstr>
      <vt:lpstr>Equation</vt:lpstr>
      <vt:lpstr>PowerPoint 演示文稿</vt:lpstr>
      <vt:lpstr>第2.1节 关系及其性质</vt:lpstr>
      <vt:lpstr>二元关系</vt:lpstr>
      <vt:lpstr>二元关系</vt:lpstr>
      <vt:lpstr>集合的关系</vt:lpstr>
      <vt:lpstr>集合的关系</vt:lpstr>
      <vt:lpstr>集合的关系</vt:lpstr>
      <vt:lpstr>关系的性质:自反关系</vt:lpstr>
      <vt:lpstr>关系的性质:自反关系</vt:lpstr>
      <vt:lpstr>关系的性质:对称关系</vt:lpstr>
      <vt:lpstr>关系的性质:对称关系</vt:lpstr>
      <vt:lpstr>关系的性质:反对称关系</vt:lpstr>
      <vt:lpstr>关系的性质:反对称关系</vt:lpstr>
      <vt:lpstr>关系的性质:反对称关系</vt:lpstr>
      <vt:lpstr>关系的性质:传递关系</vt:lpstr>
      <vt:lpstr>关系的性质:传递关系</vt:lpstr>
      <vt:lpstr>关系的性质:传递关系</vt:lpstr>
      <vt:lpstr>关系的性质:逆关系</vt:lpstr>
      <vt:lpstr>关系的组合</vt:lpstr>
      <vt:lpstr>关系的组合</vt:lpstr>
      <vt:lpstr>关系的组合</vt:lpstr>
      <vt:lpstr>关系的组合</vt:lpstr>
      <vt:lpstr>关系的组合</vt:lpstr>
      <vt:lpstr>第2.2节 n元关系及其应用</vt:lpstr>
      <vt:lpstr>n元关系</vt:lpstr>
      <vt:lpstr>n元关系</vt:lpstr>
      <vt:lpstr>第2.3节 关系的表示</vt:lpstr>
      <vt:lpstr>关系的表示</vt:lpstr>
      <vt:lpstr>用矩阵表示关系</vt:lpstr>
      <vt:lpstr>用矩阵表示关系</vt:lpstr>
      <vt:lpstr>用矩阵表示关系</vt:lpstr>
      <vt:lpstr>用矩阵表示关系时,确定关系的性质</vt:lpstr>
      <vt:lpstr>用矩阵表示关系时,确定关系的性质</vt:lpstr>
      <vt:lpstr>用矩阵表示关系</vt:lpstr>
      <vt:lpstr>0-1矩阵</vt:lpstr>
      <vt:lpstr>0-1矩阵</vt:lpstr>
      <vt:lpstr>0-1矩阵</vt:lpstr>
      <vt:lpstr>0-1矩阵</vt:lpstr>
      <vt:lpstr>0-1矩阵</vt:lpstr>
      <vt:lpstr>0-1矩阵</vt:lpstr>
      <vt:lpstr>0-1矩阵</vt:lpstr>
      <vt:lpstr>用矩阵表示关系</vt:lpstr>
      <vt:lpstr>用矩阵表示关系</vt:lpstr>
      <vt:lpstr>用矩阵表示关系</vt:lpstr>
      <vt:lpstr>用矩阵表示关系</vt:lpstr>
      <vt:lpstr>用图表示关系</vt:lpstr>
      <vt:lpstr>用图表示关系</vt:lpstr>
      <vt:lpstr>用图表示关系时,确定关系的性质</vt:lpstr>
      <vt:lpstr>用图表示关系时,确定关系的性质</vt:lpstr>
      <vt:lpstr>用图表示关系时,确定关系的性质</vt:lpstr>
      <vt:lpstr>用图表示关系时,确定关系的性质</vt:lpstr>
      <vt:lpstr>用图表示关系时,确定关系的性质</vt:lpstr>
      <vt:lpstr>第2.4节 关系的闭包</vt:lpstr>
      <vt:lpstr>闭包</vt:lpstr>
      <vt:lpstr>闭包</vt:lpstr>
      <vt:lpstr>闭包</vt:lpstr>
      <vt:lpstr>闭包</vt:lpstr>
      <vt:lpstr>闭包</vt:lpstr>
      <vt:lpstr>闭包</vt:lpstr>
      <vt:lpstr>闭包</vt:lpstr>
      <vt:lpstr>闭包</vt:lpstr>
      <vt:lpstr>闭包</vt:lpstr>
      <vt:lpstr>闭包</vt:lpstr>
      <vt:lpstr>闭包</vt:lpstr>
      <vt:lpstr>闭包</vt:lpstr>
      <vt:lpstr>闭包</vt:lpstr>
      <vt:lpstr>传递闭包</vt:lpstr>
      <vt:lpstr>传递闭包</vt:lpstr>
      <vt:lpstr>传递闭包</vt:lpstr>
      <vt:lpstr>传递闭包</vt:lpstr>
      <vt:lpstr>传递闭包</vt:lpstr>
      <vt:lpstr>传递闭包</vt:lpstr>
      <vt:lpstr>传递闭包</vt:lpstr>
      <vt:lpstr>传递闭包</vt:lpstr>
      <vt:lpstr>传递闭包</vt:lpstr>
      <vt:lpstr>传递闭包</vt:lpstr>
      <vt:lpstr>沃舍尔算法</vt:lpstr>
      <vt:lpstr>沃舍尔算法</vt:lpstr>
      <vt:lpstr>沃舍尔算法</vt:lpstr>
      <vt:lpstr>沃舍尔算法</vt:lpstr>
      <vt:lpstr>沃舍尔算法</vt:lpstr>
      <vt:lpstr>沃舍尔算法</vt:lpstr>
      <vt:lpstr>沃舍尔算法</vt:lpstr>
      <vt:lpstr>沃舍尔算法</vt:lpstr>
      <vt:lpstr>沃舍尔算法</vt:lpstr>
      <vt:lpstr>沃舍尔算法</vt:lpstr>
      <vt:lpstr>沃舍尔算法</vt:lpstr>
      <vt:lpstr>沃舍尔算法</vt:lpstr>
      <vt:lpstr>第2.5节 等价关系</vt:lpstr>
      <vt:lpstr>等价关系</vt:lpstr>
      <vt:lpstr>等价关系</vt:lpstr>
      <vt:lpstr>等价关系</vt:lpstr>
      <vt:lpstr>等价关系</vt:lpstr>
      <vt:lpstr>等价类</vt:lpstr>
      <vt:lpstr>等价类</vt:lpstr>
      <vt:lpstr>等价类与划分</vt:lpstr>
      <vt:lpstr>等价类与划分</vt:lpstr>
      <vt:lpstr>等价类与划分</vt:lpstr>
      <vt:lpstr>等价类与划分</vt:lpstr>
      <vt:lpstr>等价类与划分</vt:lpstr>
      <vt:lpstr>等价类与划分</vt:lpstr>
      <vt:lpstr>商集</vt:lpstr>
      <vt:lpstr>第2.6节 偏序</vt:lpstr>
      <vt:lpstr>偏序</vt:lpstr>
      <vt:lpstr>偏序</vt:lpstr>
      <vt:lpstr>偏序</vt:lpstr>
      <vt:lpstr>偏序</vt:lpstr>
      <vt:lpstr>拟序、伪序、前序</vt:lpstr>
      <vt:lpstr>拟序</vt:lpstr>
      <vt:lpstr>拟序</vt:lpstr>
      <vt:lpstr>可比性</vt:lpstr>
      <vt:lpstr>可比性</vt:lpstr>
      <vt:lpstr>可比性</vt:lpstr>
      <vt:lpstr>字典顺序</vt:lpstr>
      <vt:lpstr>字典顺序</vt:lpstr>
      <vt:lpstr>哈塞图（哈斯图）</vt:lpstr>
      <vt:lpstr>哈塞图</vt:lpstr>
      <vt:lpstr>哈塞图</vt:lpstr>
      <vt:lpstr>哈塞图</vt:lpstr>
      <vt:lpstr>哈塞图</vt:lpstr>
      <vt:lpstr>极大元与极小元</vt:lpstr>
      <vt:lpstr>极大元与极小元</vt:lpstr>
      <vt:lpstr>最大元与最小元</vt:lpstr>
      <vt:lpstr>最大元与最小元</vt:lpstr>
      <vt:lpstr>上界和下界</vt:lpstr>
      <vt:lpstr>上界和下界</vt:lpstr>
      <vt:lpstr>最小上界和最大下界</vt:lpstr>
      <vt:lpstr>最小上界和最大下界</vt:lpstr>
      <vt:lpstr>拓扑排序</vt:lpstr>
      <vt:lpstr>拓扑排序</vt:lpstr>
      <vt:lpstr>拓扑排序</vt:lpstr>
      <vt:lpstr>拓扑排序</vt:lpstr>
      <vt:lpstr>拓扑排序</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Induction and recursion</dc:title>
  <dc:creator>Richard Scherl</dc:creator>
  <cp:lastModifiedBy>Microsoft 帐户</cp:lastModifiedBy>
  <cp:revision>815</cp:revision>
  <dcterms:created xsi:type="dcterms:W3CDTF">2011-12-08T02:09:54Z</dcterms:created>
  <dcterms:modified xsi:type="dcterms:W3CDTF">2025-03-14T06:59:30Z</dcterms:modified>
</cp:coreProperties>
</file>