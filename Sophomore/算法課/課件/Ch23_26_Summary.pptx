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504" r:id="rId3"/>
  </p:sldIdLst>
  <p:sldSz cx="9144000" cy="6858000" type="screen4x3"/>
  <p:notesSz cx="10020300" cy="6887845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  <a:srgbClr val="33CC33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7"/>
    <p:restoredTop sz="81773"/>
  </p:normalViewPr>
  <p:slideViewPr>
    <p:cSldViewPr showGuides="1">
      <p:cViewPr varScale="1">
        <p:scale>
          <a:sx n="63" d="100"/>
          <a:sy n="63" d="100"/>
        </p:scale>
        <p:origin x="1524" y="48"/>
      </p:cViewPr>
      <p:guideLst>
        <p:guide orient="horz" pos="2156"/>
        <p:guide pos="28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3400" cy="34607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37B5B9-0FF5-4CFE-AAD6-A6D4941A9AFA}" type="datetimeFigureOut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3400" cy="346075"/>
          </a:xfrm>
          <a:prstGeom prst="rect">
            <a:avLst/>
          </a:prstGeom>
        </p:spPr>
        <p:txBody>
          <a:bodyPr vert="horz" wrap="square" lIns="96616" tIns="48308" rIns="96616" bIns="48308" numCol="1" anchor="b" anchorCtr="0" compatLnSpc="1"/>
          <a:lstStyle/>
          <a:p>
            <a:pPr lvl="0" algn="r" fontAlgn="base">
              <a:buNone/>
            </a:pPr>
            <a:fld id="{9A0DB2DC-4C9A-4742-B13C-FB6460FD3503}" type="slidenum">
              <a:rPr lang="zh-CN" altLang="en-US" sz="13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3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3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75313" y="0"/>
            <a:ext cx="4343400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3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3287713" y="515938"/>
            <a:ext cx="3446462" cy="258445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125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1001713" y="3271838"/>
            <a:ext cx="8016875" cy="31003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42088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3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75313" y="6542088"/>
            <a:ext cx="4343400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zh-CN" sz="13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z="13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2051" name="Group 3"/>
            <p:cNvGrpSpPr/>
            <p:nvPr/>
          </p:nvGrpSpPr>
          <p:grpSpPr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1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4" name="Group 6"/>
            <p:cNvGrpSpPr/>
            <p:nvPr/>
          </p:nvGrpSpPr>
          <p:grpSpPr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>
                <a:off x="337" y="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11188" y="260350"/>
            <a:ext cx="7772400" cy="1462088"/>
          </a:xfrm>
        </p:spPr>
        <p:txBody>
          <a:bodyPr/>
          <a:lstStyle>
            <a:lvl1pPr>
              <a:defRPr b="0"/>
            </a:lvl1pPr>
          </a:lstStyle>
          <a:p>
            <a:pPr lvl="0" fontAlgn="base"/>
            <a:r>
              <a:rPr lang="zh-CN" altLang="zh-CN" strike="noStrike" noProof="0"/>
              <a:t>C语言程序设计</a:t>
            </a:r>
            <a:endParaRPr lang="zh-CN" altLang="zh-CN" strike="noStrike" noProof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0"/>
            </a:lvl1pPr>
          </a:lstStyle>
          <a:p>
            <a:pPr lvl="0" fontAlgn="base"/>
            <a:r>
              <a:rPr lang="zh-CN" altLang="zh-CN" strike="noStrike" noProof="0"/>
              <a:t>单击此处编辑母版副标题样式</a:t>
            </a:r>
            <a:endParaRPr lang="zh-CN" altLang="zh-CN" strike="noStrike" noProof="0"/>
          </a:p>
        </p:txBody>
      </p:sp>
      <p:sp>
        <p:nvSpPr>
          <p:cNvPr id="23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95288" y="6248400"/>
            <a:ext cx="20891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3DA92C8-0002-4AC5-8550-12AF13DC1D9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4388" y="6248400"/>
            <a:ext cx="15986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50825" y="1989138"/>
            <a:ext cx="4278313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81538" y="1989138"/>
            <a:ext cx="4278312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 b="0"/>
            </a:lvl1pPr>
            <a:lvl2pPr>
              <a:defRPr sz="2800" b="0"/>
            </a:lvl2pPr>
            <a:lvl3pPr>
              <a:defRPr sz="2400" b="0"/>
            </a:lvl3pPr>
            <a:lvl4pPr>
              <a:defRPr sz="2000" b="0"/>
            </a:lvl4pPr>
            <a:lvl5pPr>
              <a:defRPr sz="20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3388" y="214313"/>
            <a:ext cx="2176462" cy="5889625"/>
          </a:xfrm>
        </p:spPr>
        <p:txBody>
          <a:bodyPr vert="eaVert"/>
          <a:lstStyle>
            <a:lvl1pPr>
              <a:defRPr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250825" y="214313"/>
            <a:ext cx="6380163" cy="5889625"/>
          </a:xfrm>
        </p:spPr>
        <p:txBody>
          <a:bodyPr vert="eaVert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395288" y="214313"/>
            <a:ext cx="8548687" cy="14620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zh-CN" dirty="0"/>
              <a:t>C语言程序设计</a:t>
            </a:r>
            <a:endParaRPr lang="zh-CN" altLang="zh-CN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250825" y="1989138"/>
            <a:ext cx="8709025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9750" y="6243638"/>
            <a:ext cx="172878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A6244-8C30-4B81-BDF4-BE9D9903EC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文本框 1"/>
          <p:cNvSpPr txBox="1">
            <a:spLocks noChangeArrowheads="1"/>
          </p:cNvSpPr>
          <p:nvPr/>
        </p:nvSpPr>
        <p:spPr bwMode="auto">
          <a:xfrm>
            <a:off x="20320" y="45720"/>
            <a:ext cx="9018270" cy="6816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图和树算法总结（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计算；概念；原理；计算复杂度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最小生成树：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Kruskal算法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（森林，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O(ElgV)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; Prim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算法（树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,O(</a:t>
            </a:r>
            <a:r>
              <a:rPr lang="en-US" altLang="zh-CN" sz="20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ElgV)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61950" marR="0" lvl="0" indent="-36195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单源最短路：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61950" marR="0" lvl="0" indent="-36195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Bellman-Ford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算法（跳数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O(EV)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Dijkstra算法(O(ElgV))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61950" marR="0" lvl="0" indent="-36195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差分约束系统（转化，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61950" marR="0" lvl="0" indent="-36195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多源最短路：</a:t>
            </a:r>
            <a:r>
              <a:rPr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O(V</a:t>
            </a:r>
            <a:r>
              <a:rPr lang="en-US" altLang="zh-CN" sz="2400" b="1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4</a:t>
            </a:r>
            <a:r>
              <a:rPr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)-&gt;O(V</a:t>
            </a:r>
            <a:r>
              <a:rPr lang="en-US" altLang="zh-CN" sz="2400" b="1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3</a:t>
            </a:r>
            <a:r>
              <a:rPr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lgV)-&gt;O(V</a:t>
            </a:r>
            <a:r>
              <a:rPr lang="en-US" altLang="zh-CN" sz="2400" b="1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3</a:t>
            </a:r>
            <a:r>
              <a:rPr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)-&gt;O(V</a:t>
            </a:r>
            <a:r>
              <a:rPr lang="en-US" altLang="zh-CN" sz="2400" b="1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2</a:t>
            </a:r>
            <a:r>
              <a:rPr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lgV)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61950" marR="0" lvl="0" indent="-36195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重复平方技术多源最短路算法（跳数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lang="en-US" altLang="zh-CN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O(V</a:t>
            </a:r>
            <a:r>
              <a:rPr lang="en-US" altLang="zh-CN" sz="2000" b="1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4</a:t>
            </a:r>
            <a:r>
              <a:rPr lang="en-US" altLang="zh-CN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)—&gt;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O(V</a:t>
            </a:r>
            <a:r>
              <a:rPr kumimoji="0" lang="en-US" altLang="zh-CN" sz="2000" b="1" i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lgV)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61950" marR="0" lvl="0" indent="-36195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Floyd-Warshal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算法（中间结点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lang="en-US" altLang="zh-CN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O(V</a:t>
            </a:r>
            <a:r>
              <a:rPr lang="en-US" altLang="zh-CN" sz="2000" b="1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3</a:t>
            </a:r>
            <a:r>
              <a:rPr lang="en-US" altLang="zh-CN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；有向图的传递闭包；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61950" marR="0" lvl="0" indent="-36195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稀疏图的Johnson算法(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转化，</a:t>
            </a:r>
            <a:r>
              <a:rPr lang="en-US" altLang="zh-CN" sz="2000" b="1" noProof="0" dirty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sym typeface="+mn-ea"/>
              </a:rPr>
              <a:t>O(VElgV)=</a:t>
            </a:r>
            <a:r>
              <a:rPr lang="en-US" altLang="zh-CN" sz="2000" b="1" noProof="0" dirty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sym typeface="+mn-ea"/>
              </a:rPr>
              <a:t>O(V</a:t>
            </a:r>
            <a:r>
              <a:rPr lang="en-US" altLang="zh-CN" sz="2000" b="1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2</a:t>
            </a:r>
            <a:r>
              <a:rPr lang="en-US" altLang="zh-CN" sz="2000" b="1" noProof="0" dirty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sym typeface="+mn-ea"/>
              </a:rPr>
              <a:t>lgV)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61950" marR="0" lvl="0" indent="-361950" algn="l" defTabSz="914400" rtl="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最大流：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Ford-Fulkerson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法(</a:t>
            </a:r>
            <a:r>
              <a:rPr lang="en-US" altLang="zh-CN" sz="20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O(E*f</a:t>
            </a:r>
            <a:r>
              <a:rPr lang="en-US" altLang="zh-CN" sz="2000" b="1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*</a:t>
            </a:r>
            <a:r>
              <a:rPr lang="en-US" altLang="zh-CN" sz="20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)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)；Edmonds-Karp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lang="en-US" altLang="zh-CN" sz="20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O(VE</a:t>
            </a:r>
            <a:r>
              <a:rPr lang="en-US" altLang="zh-CN" sz="2000" b="1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2</a:t>
            </a:r>
            <a:r>
              <a:rPr lang="en-US" altLang="zh-CN" sz="20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)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；最大二分匹配问题</a:t>
            </a:r>
            <a:r>
              <a:rPr lang="en-US" altLang="zh-CN" sz="20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(</a:t>
            </a:r>
            <a:r>
              <a:rPr lang="zh-CN" altLang="en-US" sz="20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转化，</a:t>
            </a:r>
            <a:r>
              <a:rPr lang="en-US" altLang="zh-CN" sz="20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O(VE)</a:t>
            </a:r>
            <a:r>
              <a:rPr lang="en-US" altLang="zh-CN" sz="20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_model">
  <a:themeElements>
    <a:clrScheme name="my_model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my_model">
      <a:majorFont>
        <a:latin typeface="黑体"/>
        <a:ea typeface="黑体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my_model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_model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_model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_model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_model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_model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WPS 演示</Application>
  <PresentationFormat>全屏显示(4:3)</PresentationFormat>
  <Paragraphs>11</Paragraphs>
  <Slides>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Tahoma</vt:lpstr>
      <vt:lpstr>微软雅黑</vt:lpstr>
      <vt:lpstr>黑体</vt:lpstr>
      <vt:lpstr>隶书</vt:lpstr>
      <vt:lpstr>Wingdings 2</vt:lpstr>
      <vt:lpstr>Lucida Sans Unicode</vt:lpstr>
      <vt:lpstr>Lucida Sans Unicode</vt:lpstr>
      <vt:lpstr>Wingdings 3</vt:lpstr>
      <vt:lpstr>Arial Unicode MS</vt:lpstr>
      <vt:lpstr>Lucida Console</vt:lpstr>
      <vt:lpstr>华文新魏</vt:lpstr>
      <vt:lpstr>等线</vt:lpstr>
      <vt:lpstr>my_model</vt:lpstr>
      <vt:lpstr>PowerPoint 演示文稿</vt:lpstr>
    </vt:vector>
  </TitlesOfParts>
  <Company>HUST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CJC</dc:creator>
  <cp:lastModifiedBy>echojw</cp:lastModifiedBy>
  <cp:revision>806</cp:revision>
  <cp:lastPrinted>2019-11-23T03:27:00Z</cp:lastPrinted>
  <dcterms:created xsi:type="dcterms:W3CDTF">2007-12-26T08:54:00Z</dcterms:created>
  <dcterms:modified xsi:type="dcterms:W3CDTF">2023-12-06T14:42:08Z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2052-11.8.2.11718</vt:lpwstr>
  </property>
  <property fmtid="{D5CDD505-2E9C-101B-9397-08002B2CF9AE}" pid="3" name="ICV">
    <vt:lpwstr>F520D146CA684BFD8D613206E43E0424</vt:lpwstr>
  </property>
</Properties>
</file>