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jpeg@f_auto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55" r:id="rId1"/>
  </p:sldMasterIdLst>
  <p:notesMasterIdLst>
    <p:notesMasterId r:id="rId79"/>
  </p:notesMasterIdLst>
  <p:sldIdLst>
    <p:sldId id="256" r:id="rId2"/>
    <p:sldId id="283" r:id="rId3"/>
    <p:sldId id="524" r:id="rId4"/>
    <p:sldId id="476" r:id="rId5"/>
    <p:sldId id="475" r:id="rId6"/>
    <p:sldId id="414" r:id="rId7"/>
    <p:sldId id="525" r:id="rId8"/>
    <p:sldId id="526" r:id="rId9"/>
    <p:sldId id="527" r:id="rId10"/>
    <p:sldId id="528" r:id="rId11"/>
    <p:sldId id="529" r:id="rId12"/>
    <p:sldId id="530" r:id="rId13"/>
    <p:sldId id="518" r:id="rId14"/>
    <p:sldId id="520" r:id="rId15"/>
    <p:sldId id="521" r:id="rId16"/>
    <p:sldId id="522" r:id="rId17"/>
    <p:sldId id="523" r:id="rId18"/>
    <p:sldId id="496" r:id="rId19"/>
    <p:sldId id="497" r:id="rId20"/>
    <p:sldId id="469" r:id="rId21"/>
    <p:sldId id="470" r:id="rId22"/>
    <p:sldId id="498" r:id="rId23"/>
    <p:sldId id="471" r:id="rId24"/>
    <p:sldId id="499" r:id="rId25"/>
    <p:sldId id="472" r:id="rId26"/>
    <p:sldId id="473" r:id="rId27"/>
    <p:sldId id="500" r:id="rId28"/>
    <p:sldId id="338" r:id="rId29"/>
    <p:sldId id="425" r:id="rId30"/>
    <p:sldId id="422" r:id="rId31"/>
    <p:sldId id="507" r:id="rId32"/>
    <p:sldId id="501" r:id="rId33"/>
    <p:sldId id="502" r:id="rId34"/>
    <p:sldId id="503" r:id="rId35"/>
    <p:sldId id="504" r:id="rId36"/>
    <p:sldId id="506" r:id="rId37"/>
    <p:sldId id="426" r:id="rId38"/>
    <p:sldId id="428" r:id="rId39"/>
    <p:sldId id="445" r:id="rId40"/>
    <p:sldId id="447" r:id="rId41"/>
    <p:sldId id="448" r:id="rId42"/>
    <p:sldId id="450" r:id="rId43"/>
    <p:sldId id="451" r:id="rId44"/>
    <p:sldId id="452" r:id="rId45"/>
    <p:sldId id="453" r:id="rId46"/>
    <p:sldId id="454" r:id="rId47"/>
    <p:sldId id="444" r:id="rId48"/>
    <p:sldId id="508" r:id="rId49"/>
    <p:sldId id="509" r:id="rId50"/>
    <p:sldId id="510" r:id="rId51"/>
    <p:sldId id="431" r:id="rId52"/>
    <p:sldId id="432" r:id="rId53"/>
    <p:sldId id="433" r:id="rId54"/>
    <p:sldId id="434" r:id="rId55"/>
    <p:sldId id="435" r:id="rId56"/>
    <p:sldId id="436" r:id="rId57"/>
    <p:sldId id="437" r:id="rId58"/>
    <p:sldId id="438" r:id="rId59"/>
    <p:sldId id="439" r:id="rId60"/>
    <p:sldId id="477" r:id="rId61"/>
    <p:sldId id="479" r:id="rId62"/>
    <p:sldId id="481" r:id="rId63"/>
    <p:sldId id="478" r:id="rId64"/>
    <p:sldId id="482" r:id="rId65"/>
    <p:sldId id="483" r:id="rId66"/>
    <p:sldId id="484" r:id="rId67"/>
    <p:sldId id="485" r:id="rId68"/>
    <p:sldId id="486" r:id="rId69"/>
    <p:sldId id="487" r:id="rId70"/>
    <p:sldId id="488" r:id="rId71"/>
    <p:sldId id="489" r:id="rId72"/>
    <p:sldId id="490" r:id="rId73"/>
    <p:sldId id="491" r:id="rId74"/>
    <p:sldId id="492" r:id="rId75"/>
    <p:sldId id="493" r:id="rId76"/>
    <p:sldId id="494" r:id="rId77"/>
    <p:sldId id="495" r:id="rId78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F8A65F"/>
    <a:srgbClr val="6296C7"/>
    <a:srgbClr val="EFF3E5"/>
    <a:srgbClr val="7A9AD9"/>
    <a:srgbClr val="85A2DC"/>
    <a:srgbClr val="7596D8"/>
    <a:srgbClr val="C5D3EE"/>
    <a:srgbClr val="F6B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4" autoAdjust="0"/>
    <p:restoredTop sz="87770" autoAdjust="0"/>
  </p:normalViewPr>
  <p:slideViewPr>
    <p:cSldViewPr>
      <p:cViewPr varScale="1">
        <p:scale>
          <a:sx n="94" d="100"/>
          <a:sy n="94" d="100"/>
        </p:scale>
        <p:origin x="67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99EF376-CB9A-4BF2-B8CB-05FAA4628F11}" type="datetimeFigureOut">
              <a:rPr lang="zh-CN" altLang="en-US"/>
              <a:pPr>
                <a:defRPr/>
              </a:pPr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3E4CE66-4487-45E8-9219-A51CBBEB6C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3E92B6D-8B36-416A-B903-4E37B048EB01}" type="slidenum">
              <a:rPr lang="zh-CN" altLang="en-US" smtClean="0">
                <a:latin typeface="Verdana" panose="020B0604030504040204" pitchFamily="34" charset="0"/>
                <a:ea typeface="楷体_GB2312" pitchFamily="1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 smtClean="0">
              <a:latin typeface="Verdana" panose="020B0604030504040204" pitchFamily="34" charset="0"/>
              <a:ea typeface="楷体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1679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595F20-8433-4A82-A922-315F89C072FE}" type="slidenum">
              <a:rPr lang="zh-CN" altLang="en-US" smtClean="0"/>
              <a:pPr>
                <a:defRPr/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03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97E6B-11B2-4518-8347-7D44876FCC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21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608FEE-DF8A-4F7B-8D40-C6241CDEDE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739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CC944-67E8-42A8-988C-D4F4EC2D10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595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5B3263-D32F-4555-ACED-371E2ADEE1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701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65F15-8668-43CB-AE33-3B08A2A9AB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77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F1845-530D-44D7-8A09-9A43ECB914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27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74627-584E-43DD-A2BF-9B1902D607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59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88BA3-9741-4F76-B8BD-061875703C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11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3E0B4-7B04-4979-BDDB-DD19E20679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76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6689C-B659-42C1-8529-D7A5C97731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C6D6A-55E9-4800-9A84-7C5465C793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671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22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0A0C0B6-4D32-479C-A423-C98397996B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  <p:sldLayoutId id="2147484783" r:id="rId2"/>
    <p:sldLayoutId id="2147484784" r:id="rId3"/>
    <p:sldLayoutId id="2147484785" r:id="rId4"/>
    <p:sldLayoutId id="2147484786" r:id="rId5"/>
    <p:sldLayoutId id="2147484787" r:id="rId6"/>
    <p:sldLayoutId id="2147484788" r:id="rId7"/>
    <p:sldLayoutId id="2147484789" r:id="rId8"/>
    <p:sldLayoutId id="2147484790" r:id="rId9"/>
    <p:sldLayoutId id="2147484791" r:id="rId10"/>
    <p:sldLayoutId id="2147484792" r:id="rId11"/>
    <p:sldLayoutId id="2147484793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jpg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@f_auto"/><Relationship Id="rId2" Type="http://schemas.openxmlformats.org/officeDocument/2006/relationships/image" Target="../media/image46.jpeg@f_auto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@f_auto"/><Relationship Id="rId2" Type="http://schemas.openxmlformats.org/officeDocument/2006/relationships/image" Target="../media/image48.jpeg@f_auto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@f_auto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ChangeArrowheads="1"/>
          </p:cNvSpPr>
          <p:nvPr/>
        </p:nvSpPr>
        <p:spPr bwMode="auto">
          <a:xfrm>
            <a:off x="3935760" y="1124744"/>
            <a:ext cx="3744912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</a:rPr>
              <a:t>人工智能</a:t>
            </a:r>
          </a:p>
        </p:txBody>
      </p:sp>
      <p:sp>
        <p:nvSpPr>
          <p:cNvPr id="2" name="矩形 1"/>
          <p:cNvSpPr/>
          <p:nvPr/>
        </p:nvSpPr>
        <p:spPr>
          <a:xfrm>
            <a:off x="9048750" y="2546350"/>
            <a:ext cx="2287588" cy="3079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Artificial Intelligence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3431728" y="3140968"/>
            <a:ext cx="4752975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华中科技大学计算机学院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智能大数据与多媒体研究室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冯 琪</a:t>
            </a:r>
          </a:p>
        </p:txBody>
      </p:sp>
      <p:grpSp>
        <p:nvGrpSpPr>
          <p:cNvPr id="4101" name="组合 6"/>
          <p:cNvGrpSpPr>
            <a:grpSpLocks noChangeAspect="1"/>
          </p:cNvGrpSpPr>
          <p:nvPr/>
        </p:nvGrpSpPr>
        <p:grpSpPr bwMode="auto">
          <a:xfrm>
            <a:off x="839788" y="2419350"/>
            <a:ext cx="10496550" cy="98425"/>
            <a:chOff x="839416" y="2419369"/>
            <a:chExt cx="10497179" cy="98365"/>
          </a:xfrm>
        </p:grpSpPr>
        <p:sp>
          <p:nvSpPr>
            <p:cNvPr id="4102" name="矩形 4"/>
            <p:cNvSpPr>
              <a:spLocks noChangeArrowheads="1"/>
            </p:cNvSpPr>
            <p:nvPr/>
          </p:nvSpPr>
          <p:spPr bwMode="auto">
            <a:xfrm>
              <a:off x="839416" y="2419369"/>
              <a:ext cx="6352693" cy="9836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7104066" y="2420956"/>
              <a:ext cx="4232529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444500" y="258763"/>
            <a:ext cx="6508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交互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395289" y="908720"/>
            <a:ext cx="4908624" cy="361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</a:t>
            </a: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13971218355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工作邮箱：</a:t>
            </a:r>
            <a:r>
              <a:rPr kumimoji="1"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fengqi@hust.edu.cn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QQ</a:t>
            </a: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AI2025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秋</a:t>
            </a:r>
            <a:endParaRPr kumimoji="1"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kumimoji="1"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群号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1071265095</a:t>
            </a:r>
            <a:endParaRPr kumimoji="1"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任务提交</a:t>
            </a: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ai_2019@sohu.com</a:t>
            </a:r>
            <a:endParaRPr kumimoji="1"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116632"/>
            <a:ext cx="4092724" cy="6741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5"/>
          <p:cNvSpPr txBox="1">
            <a:spLocks noChangeArrowheads="1"/>
          </p:cNvSpPr>
          <p:nvPr/>
        </p:nvSpPr>
        <p:spPr bwMode="gray">
          <a:xfrm>
            <a:off x="414338" y="214313"/>
            <a:ext cx="719137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教材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990576" y="1196752"/>
            <a:ext cx="2520280" cy="4903649"/>
            <a:chOff x="6456040" y="1196752"/>
            <a:chExt cx="2520280" cy="4903649"/>
          </a:xfrm>
        </p:grpSpPr>
        <p:pic>
          <p:nvPicPr>
            <p:cNvPr id="8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6040" y="1196752"/>
              <a:ext cx="2520280" cy="3439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4"/>
            <p:cNvSpPr>
              <a:spLocks noChangeArrowheads="1"/>
            </p:cNvSpPr>
            <p:nvPr/>
          </p:nvSpPr>
          <p:spPr bwMode="auto">
            <a:xfrm>
              <a:off x="6853221" y="5003498"/>
              <a:ext cx="1725917" cy="1096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ts val="3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吴</a:t>
              </a:r>
              <a:r>
                <a:rPr lang="zh-CN" altLang="en-US" sz="18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飞</a:t>
              </a:r>
              <a:endPara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ts val="3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高等教育</a:t>
              </a: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出版社</a:t>
              </a:r>
              <a:endPara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ts val="3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2020</a:t>
              </a: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年</a:t>
              </a:r>
              <a:r>
                <a:rPr lang="en-US" altLang="zh-CN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月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279576" y="908720"/>
            <a:ext cx="3024336" cy="5330631"/>
            <a:chOff x="1102995" y="817840"/>
            <a:chExt cx="3024336" cy="5330631"/>
          </a:xfrm>
        </p:grpSpPr>
        <p:sp>
          <p:nvSpPr>
            <p:cNvPr id="11" name="矩形 4"/>
            <p:cNvSpPr>
              <a:spLocks noChangeArrowheads="1"/>
            </p:cNvSpPr>
            <p:nvPr/>
          </p:nvSpPr>
          <p:spPr bwMode="auto">
            <a:xfrm>
              <a:off x="1102995" y="4901976"/>
              <a:ext cx="3024336" cy="1246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吴飞   潘云鹤</a:t>
              </a:r>
              <a:endPara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高等教育</a:t>
              </a:r>
              <a:r>
                <a:rPr lang="zh-CN" altLang="en-US" sz="18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出版社</a:t>
              </a: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8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2024</a:t>
              </a: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年</a:t>
              </a:r>
              <a:r>
                <a:rPr lang="en-US" altLang="zh-CN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月</a:t>
              </a:r>
              <a:endPara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教育部</a:t>
              </a:r>
              <a:r>
                <a:rPr lang="en-US" altLang="zh-CN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101</a:t>
              </a: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计划核心教材</a:t>
              </a: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3476" y="817840"/>
              <a:ext cx="2896752" cy="3888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0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5"/>
          <p:cNvSpPr txBox="1">
            <a:spLocks noChangeArrowheads="1"/>
          </p:cNvSpPr>
          <p:nvPr/>
        </p:nvSpPr>
        <p:spPr bwMode="gray">
          <a:xfrm>
            <a:off x="414338" y="214313"/>
            <a:ext cx="719137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参考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071591" y="2132856"/>
            <a:ext cx="6574136" cy="2543184"/>
            <a:chOff x="5071591" y="2132856"/>
            <a:chExt cx="6574136" cy="254318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1591" y="2132856"/>
              <a:ext cx="2026773" cy="2543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3190" y="2132856"/>
              <a:ext cx="2025384" cy="2543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图片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3400" y="2132856"/>
              <a:ext cx="2032327" cy="2543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组合 15"/>
          <p:cNvGrpSpPr/>
          <p:nvPr/>
        </p:nvGrpSpPr>
        <p:grpSpPr>
          <a:xfrm>
            <a:off x="551384" y="893103"/>
            <a:ext cx="4520207" cy="5574262"/>
            <a:chOff x="551384" y="893103"/>
            <a:chExt cx="4520207" cy="5574262"/>
          </a:xfrm>
        </p:grpSpPr>
        <p:sp>
          <p:nvSpPr>
            <p:cNvPr id="6" name="矩形 4"/>
            <p:cNvSpPr>
              <a:spLocks noChangeArrowheads="1"/>
            </p:cNvSpPr>
            <p:nvPr/>
          </p:nvSpPr>
          <p:spPr bwMode="auto">
            <a:xfrm>
              <a:off x="551384" y="893103"/>
              <a:ext cx="4520207" cy="384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《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人工智能：现代方法</a:t>
              </a:r>
              <a:r>
                <a:rPr lang="en-US" altLang="zh-CN" sz="2000" b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》Stuart Russell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906" y="1458228"/>
              <a:ext cx="3731732" cy="4508132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235616" y="6146764"/>
              <a:ext cx="2808312" cy="32060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eaLnBrk="1" fontAlgn="auto" hangingPunct="1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人民邮电</a:t>
              </a:r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出版社 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2023</a:t>
              </a:r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年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743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5"/>
          <p:cNvSpPr txBox="1">
            <a:spLocks noChangeArrowheads="1"/>
          </p:cNvSpPr>
          <p:nvPr/>
        </p:nvSpPr>
        <p:spPr bwMode="gray">
          <a:xfrm>
            <a:off x="414338" y="214313"/>
            <a:ext cx="719137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参考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176120" y="1347660"/>
            <a:ext cx="2630847" cy="4246111"/>
            <a:chOff x="393873" y="1277000"/>
            <a:chExt cx="2630847" cy="4246111"/>
          </a:xfrm>
        </p:grpSpPr>
        <p:pic>
          <p:nvPicPr>
            <p:cNvPr id="5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873" y="1277000"/>
              <a:ext cx="2428155" cy="3237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/>
            <p:cNvSpPr/>
            <p:nvPr/>
          </p:nvSpPr>
          <p:spPr bwMode="auto">
            <a:xfrm>
              <a:off x="393873" y="4767019"/>
              <a:ext cx="2630847" cy="7560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latinLnBrk="1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王万良，高等教育</a:t>
              </a:r>
              <a:r>
                <a:rPr lang="zh-CN" altLang="en-US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出版社</a:t>
              </a:r>
              <a:endPara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latinLnBrk="1">
                <a:lnSpc>
                  <a:spcPct val="150000"/>
                </a:lnSpc>
                <a:defRPr/>
              </a:pPr>
              <a:r>
                <a:rPr lang="zh-CN" altLang="en-US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第四版（</a:t>
              </a:r>
              <a:r>
                <a:rPr lang="en-US" altLang="zh-CN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2020</a:t>
              </a:r>
              <a:r>
                <a:rPr lang="zh-CN" altLang="en-US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573267" y="836712"/>
            <a:ext cx="2730645" cy="4757059"/>
            <a:chOff x="7131958" y="1239053"/>
            <a:chExt cx="2730645" cy="4757059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1958" y="1239053"/>
              <a:ext cx="2730645" cy="3728316"/>
            </a:xfrm>
            <a:prstGeom prst="rect">
              <a:avLst/>
            </a:prstGeom>
          </p:spPr>
        </p:pic>
        <p:sp>
          <p:nvSpPr>
            <p:cNvPr id="20" name="矩形 4"/>
            <p:cNvSpPr>
              <a:spLocks noChangeArrowheads="1"/>
            </p:cNvSpPr>
            <p:nvPr/>
          </p:nvSpPr>
          <p:spPr bwMode="auto">
            <a:xfrm>
              <a:off x="7275974" y="5226671"/>
              <a:ext cx="2485497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《</a:t>
              </a:r>
              <a:r>
                <a:rPr lang="zh-CN" altLang="en-US" sz="2000" b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人工智能</a:t>
              </a:r>
              <a:r>
                <a:rPr lang="en-US" altLang="zh-CN" sz="2000" b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》</a:t>
              </a:r>
              <a:r>
                <a:rPr lang="zh-CN" altLang="en-US" sz="2000" b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姚期智</a:t>
              </a:r>
              <a:endPara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b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清华大学出版社 </a:t>
              </a:r>
              <a:r>
                <a:rPr lang="en-US" altLang="zh-CN" sz="2000" b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2022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93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95288" y="764704"/>
            <a:ext cx="8725048" cy="12618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课程考核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综合成绩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课程报告（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70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作业（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考勤（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10%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5">
            <a:extLst/>
          </p:cNvPr>
          <p:cNvSpPr txBox="1">
            <a:spLocks/>
          </p:cNvSpPr>
          <p:nvPr/>
        </p:nvSpPr>
        <p:spPr>
          <a:xfrm>
            <a:off x="425521" y="273172"/>
            <a:ext cx="6318551" cy="360363"/>
          </a:xfrm>
          <a:prstGeom prst="rect">
            <a:avLst/>
          </a:prstGeom>
        </p:spPr>
        <p:txBody>
          <a:bodyPr lIns="0" tIns="0" rIns="0" bIns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914378">
              <a:defRPr/>
            </a:pPr>
            <a:r>
              <a:rPr lang="zh-CN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计算机领域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本科教育</a:t>
            </a:r>
            <a:r>
              <a:rPr lang="zh-CN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教学改革试点工作计划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101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计划）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1001818" y="1052736"/>
            <a:ext cx="10164552" cy="4536504"/>
            <a:chOff x="1271464" y="1047871"/>
            <a:chExt cx="10164552" cy="4536504"/>
          </a:xfrm>
        </p:grpSpPr>
        <p:sp>
          <p:nvSpPr>
            <p:cNvPr id="5" name="文本框 4">
              <a:extLst/>
            </p:cNvPr>
            <p:cNvSpPr txBox="1"/>
            <p:nvPr/>
          </p:nvSpPr>
          <p:spPr bwMode="auto">
            <a:xfrm>
              <a:off x="1415480" y="1520825"/>
              <a:ext cx="10020536" cy="7660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285750" indent="-285750" algn="just" defTabSz="6858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p"/>
                <a:defRPr/>
              </a:pPr>
              <a:r>
                <a:rPr kumimoji="1"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打一次攻坚战、做一次歼灭战、完成一次保卫战</a:t>
              </a:r>
              <a:r>
                <a:rPr kumimoji="1" lang="zh-CN" altLang="en-US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，用两年时间，把全部核心课程的教材建设好。</a:t>
              </a:r>
              <a:endParaRPr kumimoji="1"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85750" indent="-285750" algn="just" defTabSz="6858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/>
              </a:pPr>
              <a:r>
                <a:rPr kumimoji="1" lang="zh-CN" altLang="en-US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在未来的</a:t>
              </a:r>
              <a:r>
                <a:rPr kumimoji="1" lang="en-US" altLang="zh-CN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101</a:t>
              </a:r>
              <a:r>
                <a:rPr kumimoji="1" lang="zh-CN" altLang="en-US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计划中 ，成为</a:t>
              </a:r>
              <a:r>
                <a:rPr kumimoji="1"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中国学科建设和教育改革的一项品牌</a:t>
              </a:r>
              <a:r>
                <a:rPr kumimoji="1"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lang="zh-CN" altLang="en-US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" name="图片 5">
              <a:extLst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1412321" y="2776063"/>
              <a:ext cx="4589197" cy="266429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9" name="矩形 8">
              <a:extLst/>
            </p:cNvPr>
            <p:cNvSpPr/>
            <p:nvPr/>
          </p:nvSpPr>
          <p:spPr bwMode="auto">
            <a:xfrm>
              <a:off x="1271464" y="1262062"/>
              <a:ext cx="10164552" cy="4322313"/>
            </a:xfrm>
            <a:prstGeom prst="rect">
              <a:avLst/>
            </a:prstGeom>
            <a:noFill/>
            <a:ln w="15875">
              <a:solidFill>
                <a:srgbClr val="192A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200">
                <a:ea typeface="楷体" panose="02010609060101010101" pitchFamily="49" charset="-122"/>
              </a:endParaRPr>
            </a:p>
          </p:txBody>
        </p:sp>
        <p:sp>
          <p:nvSpPr>
            <p:cNvPr id="4" name="矩形 3">
              <a:extLst/>
            </p:cNvPr>
            <p:cNvSpPr/>
            <p:nvPr/>
          </p:nvSpPr>
          <p:spPr bwMode="auto">
            <a:xfrm>
              <a:off x="5768078" y="1047871"/>
              <a:ext cx="1315338" cy="3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101</a:t>
              </a:r>
              <a:r>
                <a:rPr kumimoji="1" lang="zh-CN" altLang="en-US" sz="2400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计划</a:t>
              </a:r>
              <a:endParaRPr kumimoji="1"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2925701-E609-1326-ECE0-D61C059BF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565" y="2780928"/>
            <a:ext cx="5004074" cy="2664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288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836712"/>
            <a:ext cx="4955433" cy="47434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64" y="842646"/>
            <a:ext cx="4609582" cy="474343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428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764704"/>
            <a:ext cx="5976664" cy="5605699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783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/>
          </p:cNvPr>
          <p:cNvGraphicFramePr>
            <a:graphicFrameLocks noGrp="1"/>
          </p:cNvGraphicFramePr>
          <p:nvPr/>
        </p:nvGraphicFramePr>
        <p:xfrm>
          <a:off x="-1033463" y="34032825"/>
          <a:ext cx="11522076" cy="213969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80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74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  <a:latin typeface="+mn-ea"/>
                          <a:ea typeface="+mn-ea"/>
                        </a:rPr>
                        <a:t>知识模块</a:t>
                      </a:r>
                      <a:endParaRPr lang="zh-CN" sz="2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  <a:latin typeface="+mn-ea"/>
                          <a:ea typeface="+mn-ea"/>
                        </a:rPr>
                        <a:t>知识点</a:t>
                      </a:r>
                      <a:endParaRPr lang="zh-CN" sz="2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42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基本问题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人工智能问题概述，最近成功的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应用示例；什么是智能行为；图灵测试；理性推理与非理性推理；智能体本质；人工智能的哲学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问题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642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基本搜索策略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问题的状态空间表示；无信息搜索；启发式搜索（爬山；最佳优先搜索；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sz="2400" kern="0" dirty="0" smtClean="0"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搜索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）；搜索算法的空间和时间复杂度；最小最大搜索；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Alpha-beta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剪枝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搜索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74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基础知识表示和推理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>
                          <a:effectLst/>
                          <a:latin typeface="+mn-ea"/>
                          <a:ea typeface="+mn-ea"/>
                        </a:rPr>
                        <a:t>知识表达类型；概率推理回顾，贝叶斯定理与贝叶斯推理</a:t>
                      </a:r>
                      <a:endParaRPr lang="zh-CN" sz="2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642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基础机器学习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机器学习任务的定义和示例；基于统计的监督学习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朴素贝叶斯和决策树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；机器学习优化（如最小二乘回归）；过拟合问题和正则化；机器学习评估；基本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神经网络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94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应用和社会影响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人工智能在广泛问题和不同领域的应用（如医学、可持续发展、社交媒体等）；人工智能的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社会影响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189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高级搜索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构建搜索树、动态搜索空间、搜索空间的组合爆炸；随机搜索；模拟退火算法；遗传算法；蒙特卡洛树搜索；实现束搜索（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beam search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）、最小最大值搜索、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Alpha-beta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剪枝搜索；期望最大搜索（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MDP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求解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369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高级表示和推理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命题逻辑和谓词逻辑的回顾（交叉引用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DS/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基本逻辑）；分辨率和定理证明（仅限命题逻辑）；知识表示问题；描述逻辑；本体工程；非单调推理（例如，非经典逻辑、默认推理）；论证；关于行动和变化的推理（例如，情况和事件演算）；时空推理；基于规则的专家系统；语义网络；基于模型和案例的推理；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规划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189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不确定推理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基本概率回顾；随机变量和概率分布；概率公理；概率推理；贝叶斯法则；条件独立；知识表示；精确推理及其复杂度；随机抽样（蒙特卡罗）方法（如吉布斯采样）；马尔可夫网络；关系概率模型；隐马尔可夫模型；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决策理论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642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智能体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智能体定义；智能体结构（如反应、分层和认知）；智能体理论；理性与博弈论；智能体决策理论；马尔可夫决策过程；软件智能体、个人助理；学习智能体；多智能体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系统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189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自然语言处理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确定性语法和随机语法；解析算法；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CFG 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和图表解析器（例如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 CYK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）；概率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CFG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和加权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CYK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；基于语料库的方法；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N-gram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和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 HMM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；自然应用应用示例：词性标注和语言形态学；信息检索；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TF* IDF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；查准率和查全率；信息抽取；语言翻译；文本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分类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2843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高级机器学习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通用统计学习；参数估计（最大似然）；归纳逻辑程序设计（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ILP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）；监督学习；学习决策树；学习简单的神经网络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多层感知器；支持向量机；集成学习；最近邻算法；深度学习；无监督学习和聚类；半监督学习；学习图模型；性能评估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（如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交叉验证和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</a:rPr>
                        <a:t>ROC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曲线）；学习理论；过拟合的问题，维度灾难问题；强化学习；机器学习算法在数据挖掘中的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应用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189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机器人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当前机器人系统（包括传感器和传感器处理等）；机器人控制架构；世界空间建模和世界空间模型；传感和控制中的固有不确定性；轨迹规划和环境地图；解释传感器数据中的不确定性；定位；导航和控制；运动规划；多机器人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协作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5094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感知和计算机视觉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  <a:latin typeface="+mn-ea"/>
                          <a:ea typeface="+mn-ea"/>
                        </a:rPr>
                        <a:t>计算机视觉；图像采集、表示和处理；形状表示、对象识别和分割；运动分析；音频和语音识别；识别中的模块化；</a:t>
                      </a:r>
                      <a:r>
                        <a:rPr lang="zh-CN" sz="2400" kern="0" dirty="0" smtClean="0">
                          <a:effectLst/>
                          <a:latin typeface="+mn-ea"/>
                          <a:ea typeface="+mn-ea"/>
                        </a:rPr>
                        <a:t>模式识别</a:t>
                      </a:r>
                      <a:r>
                        <a:rPr lang="zh-CN" altLang="en-US" sz="2400" kern="0" dirty="0" smtClean="0">
                          <a:effectLst/>
                          <a:latin typeface="+mn-ea"/>
                          <a:ea typeface="+mn-ea"/>
                        </a:rPr>
                        <a:t>。</a:t>
                      </a:r>
                      <a:endParaRPr lang="zh-CN" sz="2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38961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787294"/>
            <a:ext cx="10801200" cy="58951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5">
            <a:extLst/>
          </p:cNvPr>
          <p:cNvSpPr txBox="1">
            <a:spLocks/>
          </p:cNvSpPr>
          <p:nvPr/>
        </p:nvSpPr>
        <p:spPr>
          <a:xfrm>
            <a:off x="441997" y="274744"/>
            <a:ext cx="6662116" cy="322263"/>
          </a:xfrm>
          <a:prstGeom prst="rect">
            <a:avLst/>
          </a:prstGeom>
        </p:spPr>
        <p:txBody>
          <a:bodyPr lIns="0" tIns="0" rIns="0" bIns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课程体系中人工智能领域知识点（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个模块，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42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8952" y="831709"/>
            <a:ext cx="5811838" cy="3079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厚基础、强交叉、养品行、促应用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为理念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/>
          </p:cNvPr>
          <p:cNvSpPr txBox="1"/>
          <p:nvPr/>
        </p:nvSpPr>
        <p:spPr>
          <a:xfrm>
            <a:off x="418952" y="297487"/>
            <a:ext cx="1368425" cy="306387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526256" algn="l"/>
              </a:tabLst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课程知识点</a:t>
            </a:r>
          </a:p>
        </p:txBody>
      </p:sp>
      <p:graphicFrame>
        <p:nvGraphicFramePr>
          <p:cNvPr id="4" name="表格 6">
            <a:extLst/>
          </p:cNvPr>
          <p:cNvGraphicFramePr>
            <a:graphicFrameLocks noGrp="1"/>
          </p:cNvGraphicFramePr>
          <p:nvPr>
            <p:extLst/>
          </p:nvPr>
        </p:nvGraphicFramePr>
        <p:xfrm>
          <a:off x="1787377" y="1556792"/>
          <a:ext cx="8917135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0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 rowSpan="10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b="1" i="0" kern="120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知识点模块</a:t>
                      </a: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B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模块一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人工智能发展历史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altLang="en-US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个模块</a:t>
                      </a:r>
                      <a:endParaRPr lang="en-US" alt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</a:t>
                      </a:r>
                      <a:r>
                        <a:rPr lang="zh-CN" altLang="en-US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个知识点（其中包含</a:t>
                      </a:r>
                      <a:r>
                        <a:rPr lang="en-US" alt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CN" altLang="en-US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个进阶知识点）</a:t>
                      </a:r>
                      <a:endParaRPr lang="en-US" alt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建议学习课时</a:t>
                      </a:r>
                      <a:r>
                        <a:rPr lang="en-US" alt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48-64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algn="l"/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北京大学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模块二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知识表达与推理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algn="l"/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清华大学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模块三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搜索探寻与问题求解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北京理工大学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模块四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机器学习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哈尔滨工业大学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模块五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深度学习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上海交通大学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模块六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强化学习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电子科技大学</a:t>
                      </a:r>
                      <a:endParaRPr lang="zh-CN" altLang="en-US" sz="1400" b="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模块七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人工智能博弈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西安交通大学</a:t>
                      </a:r>
                      <a:endParaRPr lang="zh-CN" altLang="en-US" sz="1400" b="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模块八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人工智能伦理与安全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同济大学</a:t>
                      </a:r>
                      <a:endParaRPr lang="zh-CN" altLang="en-US" sz="1400" b="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模块九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人工智能</a:t>
                      </a:r>
                      <a:r>
                        <a:rPr lang="zh-CN" altLang="en-US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架构与系统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武汉大学</a:t>
                      </a:r>
                      <a:endParaRPr lang="zh-CN" altLang="en-US" sz="1400" b="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i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模块十</a:t>
                      </a:r>
                      <a:endParaRPr lang="zh-CN" altLang="en-US" sz="2000" b="1" i="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人工智能应用</a:t>
                      </a:r>
                      <a:endParaRPr lang="zh-CN" sz="2000" b="1" i="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endParaRPr lang="zh-CN" sz="1600" b="0" i="0" kern="1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71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86" y="809626"/>
            <a:ext cx="10945216" cy="5427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/>
          </p:cNvPr>
          <p:cNvSpPr txBox="1"/>
          <p:nvPr/>
        </p:nvSpPr>
        <p:spPr>
          <a:xfrm>
            <a:off x="425630" y="295817"/>
            <a:ext cx="1852613" cy="306387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526256" algn="l"/>
              </a:tabLst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课程知识点细化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4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50830" y="465379"/>
            <a:ext cx="11295651" cy="5371989"/>
            <a:chOff x="550830" y="465379"/>
            <a:chExt cx="11295651" cy="5371989"/>
          </a:xfrm>
        </p:grpSpPr>
        <p:sp>
          <p:nvSpPr>
            <p:cNvPr id="3" name="标题 1"/>
            <p:cNvSpPr txBox="1">
              <a:spLocks noChangeArrowheads="1"/>
            </p:cNvSpPr>
            <p:nvPr/>
          </p:nvSpPr>
          <p:spPr>
            <a:xfrm>
              <a:off x="2927648" y="465379"/>
              <a:ext cx="5976664" cy="440166"/>
            </a:xfrm>
            <a:prstGeom prst="rect">
              <a:avLst/>
            </a:prstGeom>
            <a:ln/>
          </p:spPr>
          <p:txBody>
            <a:bodyPr/>
            <a:lstStyle>
              <a:lvl1pPr algn="l" defTabSz="914130" rtl="0" eaLnBrk="1" latinLnBrk="0" hangingPunct="1">
                <a:spcBef>
                  <a:spcPct val="0"/>
                </a:spcBef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914400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国务院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《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新一代人工智能发展规划</a:t>
              </a:r>
              <a:r>
                <a:rPr lang="en-US" altLang="zh-CN" sz="2400" dirty="0" smtClean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》-2017</a:t>
              </a:r>
              <a:endParaRPr lang="en-US" altLang="zh-CN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defTabSz="914400"/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01F4226-12D6-4F30-A2CD-5D94ED60C954}"/>
                </a:ext>
              </a:extLst>
            </p:cNvPr>
            <p:cNvSpPr txBox="1"/>
            <p:nvPr/>
          </p:nvSpPr>
          <p:spPr>
            <a:xfrm>
              <a:off x="2915227" y="1052736"/>
              <a:ext cx="60486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设立人工智能专业、推动人工智能领域一级学科建设</a:t>
              </a: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D45823D8-B70F-40D8-9CFD-A3F78DB73B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830" y="2112717"/>
              <a:ext cx="4105010" cy="26844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64C6478-5CBD-495F-908D-5124B72A554C}"/>
                </a:ext>
              </a:extLst>
            </p:cNvPr>
            <p:cNvSpPr/>
            <p:nvPr/>
          </p:nvSpPr>
          <p:spPr>
            <a:xfrm>
              <a:off x="4872205" y="2661393"/>
              <a:ext cx="1423929" cy="1423929"/>
            </a:xfrm>
            <a:prstGeom prst="ellipse">
              <a:avLst/>
            </a:prstGeom>
            <a:gradFill flip="none" rotWithShape="1">
              <a:gsLst>
                <a:gs pos="0">
                  <a:srgbClr val="01FFFF"/>
                </a:gs>
                <a:gs pos="78000">
                  <a:srgbClr val="2482CB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C6A385E-55E6-4C67-89DF-019010449C41}"/>
                </a:ext>
              </a:extLst>
            </p:cNvPr>
            <p:cNvSpPr/>
            <p:nvPr/>
          </p:nvSpPr>
          <p:spPr>
            <a:xfrm>
              <a:off x="4727848" y="2546146"/>
              <a:ext cx="1697234" cy="1697234"/>
            </a:xfrm>
            <a:prstGeom prst="ellipse">
              <a:avLst/>
            </a:prstGeom>
            <a:noFill/>
            <a:ln w="25400">
              <a:gradFill>
                <a:gsLst>
                  <a:gs pos="43000">
                    <a:srgbClr val="01FFFF"/>
                  </a:gs>
                  <a:gs pos="0">
                    <a:srgbClr val="01FFFF"/>
                  </a:gs>
                  <a:gs pos="100000">
                    <a:srgbClr val="1C79C8"/>
                  </a:gs>
                  <a:gs pos="27000">
                    <a:srgbClr val="1C79C8"/>
                  </a:gs>
                  <a:gs pos="63000">
                    <a:srgbClr val="1C79C8"/>
                  </a:gs>
                  <a:gs pos="81000">
                    <a:srgbClr val="01FFFF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198">
              <a:extLst>
                <a:ext uri="{FF2B5EF4-FFF2-40B4-BE49-F238E27FC236}">
                  <a16:creationId xmlns:a16="http://schemas.microsoft.com/office/drawing/2014/main" id="{2648D753-334F-4170-8067-D83328D09BBC}"/>
                </a:ext>
              </a:extLst>
            </p:cNvPr>
            <p:cNvSpPr txBox="1"/>
            <p:nvPr/>
          </p:nvSpPr>
          <p:spPr>
            <a:xfrm>
              <a:off x="4829608" y="2917708"/>
              <a:ext cx="1493712" cy="101566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>
                    <a:lumMod val="85000"/>
                    <a:lumOff val="15000"/>
                  </a:schemeClr>
                </a:buClr>
                <a:buSzPct val="105000"/>
              </a:pPr>
              <a:r>
                <a:rPr lang="zh-CN" altLang="en-US" sz="2000" b="1" spc="300" dirty="0">
                  <a:solidFill>
                    <a:schemeClr val="bg1"/>
                  </a:solidFill>
                  <a:effectLst>
                    <a:glow rad="254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+mn-lt"/>
                </a:rPr>
                <a:t>六项</a:t>
              </a:r>
              <a:endParaRPr lang="en-US" altLang="zh-CN" sz="2000" b="1" spc="300" dirty="0">
                <a:solidFill>
                  <a:schemeClr val="bg1"/>
                </a:solidFill>
                <a:effectLst>
                  <a:glow rad="25400">
                    <a:schemeClr val="accent2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+mn-lt"/>
              </a:endParaRPr>
            </a:p>
            <a:p>
              <a:pPr algn="ctr">
                <a:buClr>
                  <a:schemeClr val="tx1">
                    <a:lumMod val="85000"/>
                    <a:lumOff val="15000"/>
                  </a:schemeClr>
                </a:buClr>
                <a:buSzPct val="105000"/>
              </a:pPr>
              <a:r>
                <a:rPr lang="zh-CN" altLang="en-US" sz="2000" b="1" spc="300" dirty="0">
                  <a:solidFill>
                    <a:schemeClr val="bg1"/>
                  </a:solidFill>
                  <a:effectLst>
                    <a:glow rad="254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+mn-lt"/>
                </a:rPr>
                <a:t>重点</a:t>
              </a:r>
              <a:endParaRPr lang="en-US" altLang="zh-CN" sz="2000" b="1" spc="300" dirty="0">
                <a:solidFill>
                  <a:schemeClr val="bg1"/>
                </a:solidFill>
                <a:effectLst>
                  <a:glow rad="25400">
                    <a:schemeClr val="accent2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+mn-lt"/>
              </a:endParaRPr>
            </a:p>
            <a:p>
              <a:pPr algn="ctr">
                <a:buClr>
                  <a:schemeClr val="tx1">
                    <a:lumMod val="85000"/>
                    <a:lumOff val="15000"/>
                  </a:schemeClr>
                </a:buClr>
                <a:buSzPct val="105000"/>
              </a:pPr>
              <a:r>
                <a:rPr lang="zh-CN" altLang="en-US" sz="2000" b="1" spc="300" dirty="0">
                  <a:solidFill>
                    <a:schemeClr val="bg1"/>
                  </a:solidFill>
                  <a:effectLst>
                    <a:glow rad="254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+mn-lt"/>
                </a:rPr>
                <a:t>任务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3D36B72-C848-4879-BEC4-3FEE6478F3C2}"/>
                </a:ext>
              </a:extLst>
            </p:cNvPr>
            <p:cNvGrpSpPr/>
            <p:nvPr/>
          </p:nvGrpSpPr>
          <p:grpSpPr>
            <a:xfrm>
              <a:off x="6611095" y="1910100"/>
              <a:ext cx="2356436" cy="3927268"/>
              <a:chOff x="6601287" y="2645928"/>
              <a:chExt cx="2356436" cy="3927268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B80A0DF7-BCBC-43A9-A9CF-2326F8E24A93}"/>
                  </a:ext>
                </a:extLst>
              </p:cNvPr>
              <p:cNvGrpSpPr/>
              <p:nvPr/>
            </p:nvGrpSpPr>
            <p:grpSpPr>
              <a:xfrm>
                <a:off x="6601287" y="2645928"/>
                <a:ext cx="2356436" cy="3181006"/>
                <a:chOff x="6776952" y="2866533"/>
                <a:chExt cx="2356436" cy="3181006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80D81B0B-BA4A-4555-A1F7-57B43845F339}"/>
                    </a:ext>
                  </a:extLst>
                </p:cNvPr>
                <p:cNvSpPr/>
                <p:nvPr/>
              </p:nvSpPr>
              <p:spPr>
                <a:xfrm>
                  <a:off x="6776952" y="2866533"/>
                  <a:ext cx="2343150" cy="4801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构建开放协同的</a:t>
                  </a:r>
                  <a:endParaRPr lang="en-US" altLang="zh-CN" sz="1400" b="1" kern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人工智能科技创新体系</a:t>
                  </a:r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A154F8A7-E934-42FF-9CA5-2CE0BBA3E382}"/>
                    </a:ext>
                  </a:extLst>
                </p:cNvPr>
                <p:cNvSpPr/>
                <p:nvPr/>
              </p:nvSpPr>
              <p:spPr>
                <a:xfrm>
                  <a:off x="6776952" y="3524497"/>
                  <a:ext cx="2343150" cy="48013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培育高端高效的</a:t>
                  </a:r>
                  <a:endParaRPr lang="en-US" altLang="zh-CN" sz="1400" b="1" kern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智能经济</a:t>
                  </a:r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F62C02B-C43D-41A5-B95E-5EC7B167739A}"/>
                    </a:ext>
                  </a:extLst>
                </p:cNvPr>
                <p:cNvSpPr/>
                <p:nvPr/>
              </p:nvSpPr>
              <p:spPr>
                <a:xfrm>
                  <a:off x="6790238" y="4178303"/>
                  <a:ext cx="2343150" cy="54888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建设安全便捷的</a:t>
                  </a:r>
                  <a:endParaRPr lang="en-US" altLang="zh-CN" sz="1400" b="1" kern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智能社会</a:t>
                  </a:r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C085902F-8FDF-4D99-B58E-EE64E7F6BD6D}"/>
                    </a:ext>
                  </a:extLst>
                </p:cNvPr>
                <p:cNvSpPr/>
                <p:nvPr/>
              </p:nvSpPr>
              <p:spPr>
                <a:xfrm>
                  <a:off x="6790238" y="4900865"/>
                  <a:ext cx="2343150" cy="511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zh-CN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加强人工智能领域</a:t>
                  </a:r>
                  <a:endParaRPr lang="en-US" altLang="zh-CN" sz="1400" b="1" kern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zh-CN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军民融合</a:t>
                  </a:r>
                  <a:endParaRPr lang="zh-CN" altLang="en-US" sz="1400" b="1" kern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816F5BD6-909B-46E9-892B-9A9383648D33}"/>
                    </a:ext>
                  </a:extLst>
                </p:cNvPr>
                <p:cNvSpPr/>
                <p:nvPr/>
              </p:nvSpPr>
              <p:spPr>
                <a:xfrm>
                  <a:off x="6776952" y="5585909"/>
                  <a:ext cx="2343150" cy="46163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构建泛在安全高效的</a:t>
                  </a:r>
                  <a:endParaRPr lang="en-US" altLang="zh-CN" sz="1400" b="1" kern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400" b="1" kern="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智能化基础设施体系</a:t>
                  </a:r>
                </a:p>
              </p:txBody>
            </p: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EEFC7EA-6D9C-4129-A653-1BEFBB051CED}"/>
                  </a:ext>
                </a:extLst>
              </p:cNvPr>
              <p:cNvSpPr/>
              <p:nvPr/>
            </p:nvSpPr>
            <p:spPr>
              <a:xfrm>
                <a:off x="6614573" y="6000378"/>
                <a:ext cx="2343150" cy="5728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kern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前瞻布局新一代</a:t>
                </a:r>
                <a:endParaRPr lang="en-US" altLang="zh-CN" sz="1400" b="1" kern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1400" b="1" kern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人工智能重大科技项目</a:t>
                </a:r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ADC5530-8150-46A8-8126-B9FAB8CB67B9}"/>
                </a:ext>
              </a:extLst>
            </p:cNvPr>
            <p:cNvSpPr/>
            <p:nvPr/>
          </p:nvSpPr>
          <p:spPr>
            <a:xfrm>
              <a:off x="9087729" y="3181699"/>
              <a:ext cx="275875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>
                <a:defRPr/>
              </a:pP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完善人工智能领域学科布局</a:t>
              </a:r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设立人工智能专业</a:t>
              </a:r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推动人工智能领域一级学科建设</a:t>
              </a:r>
              <a:endParaRPr kumimoji="0" lang="zh-CN" altLang="zh-CN" sz="1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945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04246" y="548680"/>
            <a:ext cx="10491254" cy="5507586"/>
            <a:chOff x="804246" y="548680"/>
            <a:chExt cx="10491254" cy="5507586"/>
          </a:xfrm>
        </p:grpSpPr>
        <p:sp>
          <p:nvSpPr>
            <p:cNvPr id="2" name="标题 1">
              <a:extLst>
                <a:ext uri="{FF2B5EF4-FFF2-40B4-BE49-F238E27FC236}">
                  <a16:creationId xmlns:a16="http://schemas.microsoft.com/office/drawing/2014/main" id="{5F362525-E22E-4290-AE90-780881EE632E}"/>
                </a:ext>
              </a:extLst>
            </p:cNvPr>
            <p:cNvSpPr txBox="1">
              <a:spLocks/>
            </p:cNvSpPr>
            <p:nvPr/>
          </p:nvSpPr>
          <p:spPr>
            <a:xfrm>
              <a:off x="3575720" y="548680"/>
              <a:ext cx="4824536" cy="515243"/>
            </a:xfrm>
            <a:prstGeom prst="rect">
              <a:avLst/>
            </a:prstGeom>
          </p:spPr>
          <p:txBody>
            <a:bodyPr/>
            <a:lstStyle>
              <a:lvl1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2pPr>
              <a:lvl3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3pPr>
              <a:lvl4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4pPr>
              <a:lvl5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5pPr>
              <a:lvl6pPr marL="4572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6pPr>
              <a:lvl7pPr marL="9144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7pPr>
              <a:lvl8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8pPr>
              <a:lvl9pPr marL="1828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</a:pP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推动人工智能交叉科学与交叉学科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矩形 323">
              <a:extLst>
                <a:ext uri="{FF2B5EF4-FFF2-40B4-BE49-F238E27FC236}">
                  <a16:creationId xmlns:a16="http://schemas.microsoft.com/office/drawing/2014/main" id="{1F7BE610-E2D0-43A1-AB6B-57AEAB95C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246" y="1217881"/>
              <a:ext cx="4032449" cy="4567516"/>
            </a:xfrm>
            <a:prstGeom prst="rect">
              <a:avLst/>
            </a:prstGeom>
            <a:noFill/>
            <a:ln w="6350" algn="ctr">
              <a:solidFill>
                <a:srgbClr val="C35954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3366"/>
                  </a:solidFill>
                  <a:latin typeface="Georgia" panose="02040802050405020203" pitchFamily="18" charset="0"/>
                  <a:ea typeface="幼圆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kumimoji="1" lang="zh-CN" altLang="en-US" sz="2100" b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19" descr="未标题-36">
              <a:extLst>
                <a:ext uri="{FF2B5EF4-FFF2-40B4-BE49-F238E27FC236}">
                  <a16:creationId xmlns:a16="http://schemas.microsoft.com/office/drawing/2014/main" id="{C90FF1D9-38CA-4E0D-8A09-DFCB0C5C0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317" y="1369433"/>
              <a:ext cx="3809987" cy="431177"/>
            </a:xfrm>
            <a:prstGeom prst="rect">
              <a:avLst/>
            </a:prstGeom>
            <a:gradFill>
              <a:gsLst>
                <a:gs pos="0">
                  <a:srgbClr val="7B5A85"/>
                </a:gs>
                <a:gs pos="100000">
                  <a:srgbClr val="C35954"/>
                </a:gs>
              </a:gsLst>
              <a:lin ang="0" scaled="1"/>
            </a:gradFill>
            <a:ln w="0" algn="ctr">
              <a:solidFill>
                <a:schemeClr val="bg1"/>
              </a:solidFill>
              <a:miter lim="800000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lIns="68585" tIns="68585" rIns="68585" bIns="68585" anchor="ctr"/>
            <a:lstStyle/>
            <a:p>
              <a:pPr algn="ctr" eaLnBrk="0" hangingPunct="0">
                <a:defRPr/>
              </a:pPr>
              <a:r>
                <a:rPr lang="zh-CN" altLang="en-US" sz="2251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国家自然科学基金委员会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127F70E-2346-46AD-AD04-1DA8FF44E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5480" y="1988839"/>
              <a:ext cx="2952328" cy="3679677"/>
            </a:xfrm>
            <a:prstGeom prst="rect">
              <a:avLst/>
            </a:prstGeom>
          </p:spPr>
        </p:pic>
        <p:sp>
          <p:nvSpPr>
            <p:cNvPr id="7" name="矩形 323">
              <a:extLst>
                <a:ext uri="{FF2B5EF4-FFF2-40B4-BE49-F238E27FC236}">
                  <a16:creationId xmlns:a16="http://schemas.microsoft.com/office/drawing/2014/main" id="{A9718918-6D26-41E8-8569-83081F254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0015" y="1219201"/>
              <a:ext cx="4104457" cy="3001888"/>
            </a:xfrm>
            <a:prstGeom prst="rect">
              <a:avLst/>
            </a:prstGeom>
            <a:noFill/>
            <a:ln w="6350" algn="ctr">
              <a:solidFill>
                <a:srgbClr val="C35954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3366"/>
                  </a:solidFill>
                  <a:latin typeface="Georgia" panose="02040802050405020203" pitchFamily="18" charset="0"/>
                  <a:ea typeface="幼圆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kumimoji="1" lang="zh-CN" altLang="en-US" sz="2100" b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19" descr="未标题-36">
              <a:extLst>
                <a:ext uri="{FF2B5EF4-FFF2-40B4-BE49-F238E27FC236}">
                  <a16:creationId xmlns:a16="http://schemas.microsoft.com/office/drawing/2014/main" id="{2EAD03D7-CF1D-4D9B-9251-8030F249F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4032" y="1378478"/>
              <a:ext cx="3809987" cy="431177"/>
            </a:xfrm>
            <a:prstGeom prst="rect">
              <a:avLst/>
            </a:prstGeom>
            <a:gradFill>
              <a:gsLst>
                <a:gs pos="0">
                  <a:srgbClr val="7B5A85"/>
                </a:gs>
                <a:gs pos="100000">
                  <a:srgbClr val="C35954"/>
                </a:gs>
              </a:gsLst>
              <a:lin ang="0" scaled="1"/>
            </a:gradFill>
            <a:ln w="0" algn="ctr">
              <a:solidFill>
                <a:schemeClr val="bg1"/>
              </a:solidFill>
              <a:miter lim="800000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lIns="68585" tIns="68585" rIns="68585" bIns="68585" anchor="ctr"/>
            <a:lstStyle/>
            <a:p>
              <a:pPr algn="ctr" eaLnBrk="0" hangingPunct="0">
                <a:defRPr/>
              </a:pPr>
              <a:r>
                <a:rPr lang="zh-CN" altLang="en-US" sz="2251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国务院学位委员会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5F88223-7FD9-4F20-9DBF-DA676C9DED71}"/>
                </a:ext>
              </a:extLst>
            </p:cNvPr>
            <p:cNvSpPr/>
            <p:nvPr/>
          </p:nvSpPr>
          <p:spPr>
            <a:xfrm>
              <a:off x="5390845" y="4360930"/>
              <a:ext cx="5904655" cy="16953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2022</a:t>
              </a:r>
              <a:r>
                <a:rPr lang="zh-CN" altLang="en-US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年</a:t>
              </a:r>
              <a:r>
                <a:rPr lang="zh-CN" altLang="zh-CN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国务院学位委员会第三十七次会议审议通过了《研究生教育学科专业目录（</a:t>
              </a:r>
              <a:r>
                <a:rPr lang="en-US" altLang="zh-CN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2022</a:t>
              </a:r>
              <a:r>
                <a:rPr lang="zh-CN" altLang="zh-CN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年）》，决定从</a:t>
              </a:r>
              <a:r>
                <a:rPr lang="en-US" altLang="zh-CN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2023</a:t>
              </a:r>
              <a:r>
                <a:rPr lang="zh-CN" altLang="zh-CN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年起正式实施。《研究生教育学科专业目录（</a:t>
              </a:r>
              <a:r>
                <a:rPr lang="en-US" altLang="zh-CN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2022</a:t>
              </a:r>
              <a:r>
                <a:rPr lang="zh-CN" altLang="zh-CN" b="1" dirty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年）</a:t>
              </a:r>
              <a:r>
                <a:rPr lang="zh-CN" altLang="zh-CN" b="1" kern="0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新增了第</a:t>
              </a:r>
              <a:r>
                <a:rPr lang="en-US" altLang="zh-CN" b="1" kern="0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14</a:t>
              </a:r>
              <a:r>
                <a:rPr lang="zh-CN" altLang="zh-CN" b="1" kern="0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个学科</a:t>
              </a:r>
              <a:r>
                <a:rPr lang="zh-CN" altLang="zh-CN" b="1" kern="0" dirty="0" smtClean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门类</a:t>
              </a:r>
              <a:r>
                <a:rPr lang="en-US" altLang="zh-CN" kern="0" dirty="0" smtClean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---</a:t>
              </a:r>
              <a:r>
                <a:rPr lang="zh-CN" altLang="zh-CN" b="1" kern="0" dirty="0" smtClean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交叉</a:t>
              </a:r>
              <a:r>
                <a:rPr lang="zh-CN" altLang="zh-CN" b="1" kern="0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学科</a:t>
              </a:r>
              <a:r>
                <a:rPr lang="zh-CN" altLang="zh-CN" b="1" dirty="0" smtClean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r>
                <a:rPr lang="zh-CN" altLang="en-US" b="1" dirty="0" smtClean="0">
                  <a:solidFill>
                    <a:schemeClr val="dk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这是自</a:t>
              </a:r>
              <a:r>
                <a:rPr lang="zh-CN" altLang="en-US" b="1" kern="10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2012年</a:t>
              </a:r>
              <a:r>
                <a:rPr lang="zh-CN" altLang="en-US" b="1" kern="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艺术类成为第</a:t>
              </a:r>
              <a:r>
                <a:rPr lang="en-US" altLang="zh-CN" b="1" kern="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13</a:t>
              </a:r>
              <a:r>
                <a:rPr lang="zh-CN" altLang="en-US" b="1" kern="1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个学科门类后，再次</a:t>
              </a:r>
              <a:r>
                <a:rPr lang="zh-CN" altLang="en-US" b="1" kern="10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设立的新学科门类。</a:t>
              </a:r>
              <a:endParaRPr lang="zh-CN" altLang="en-US" b="1" kern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EBEA429-B8F8-4400-A81C-7B2F89210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2349" y="1949428"/>
              <a:ext cx="3666099" cy="21996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470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8" y="777876"/>
            <a:ext cx="7704856" cy="5778642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5"/>
          <p:cNvSpPr txBox="1">
            <a:spLocks noChangeArrowheads="1"/>
          </p:cNvSpPr>
          <p:nvPr/>
        </p:nvSpPr>
        <p:spPr bwMode="gray">
          <a:xfrm>
            <a:off x="414338" y="214313"/>
            <a:ext cx="5105598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2025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年教育部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101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计划工作会（银川）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2709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188640"/>
            <a:ext cx="8568952" cy="642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029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260648"/>
            <a:ext cx="9721080" cy="626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92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5"/>
          <p:cNvSpPr txBox="1">
            <a:spLocks noChangeArrowheads="1"/>
          </p:cNvSpPr>
          <p:nvPr/>
        </p:nvSpPr>
        <p:spPr bwMode="gray">
          <a:xfrm>
            <a:off x="414338" y="214313"/>
            <a:ext cx="1361182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课程内容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4338" y="908720"/>
            <a:ext cx="4601542" cy="37914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绪论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知识表示与推理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搜索与问题求解（确定性推理）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不确定性推理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计算智能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机器学习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深度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605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5"/>
          <p:cNvSpPr txBox="1">
            <a:spLocks noChangeArrowheads="1"/>
          </p:cNvSpPr>
          <p:nvPr/>
        </p:nvSpPr>
        <p:spPr bwMode="gray">
          <a:xfrm>
            <a:off x="414338" y="214313"/>
            <a:ext cx="1361182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课程特点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4338" y="803213"/>
            <a:ext cx="10866238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人工智能的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快速发展中，保持对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基础性支撑技术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重视与深入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理解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至关重要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ct val="20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基础决定高度和深度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：先进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技术方法，多建立在基础知识之上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ct val="20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阶之路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：快速、深入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基础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ct val="20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平衡发展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：积累的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基础知识越多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，认识和分析问题的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角度越广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，解决实际问题的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能力越强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ct val="20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持续学习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：新技术、新方法、新框架不断涌现，基础知识是持续学习的重要支撑。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95288" y="908720"/>
            <a:ext cx="10885288" cy="4042285"/>
            <a:chOff x="395288" y="908720"/>
            <a:chExt cx="10885288" cy="4042285"/>
          </a:xfrm>
        </p:grpSpPr>
        <p:sp>
          <p:nvSpPr>
            <p:cNvPr id="5" name="矩形 4"/>
            <p:cNvSpPr/>
            <p:nvPr/>
          </p:nvSpPr>
          <p:spPr>
            <a:xfrm>
              <a:off x="1415480" y="4581673"/>
              <a:ext cx="9289032" cy="3693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buClr>
                  <a:srgbClr val="FF0000"/>
                </a:buClr>
                <a:buSzPct val="80000"/>
              </a:pPr>
              <a:r>
                <a:rPr lang="zh-CN" altLang="en-US" sz="2400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事业发展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：较全面的技术储备、视野的高度和广度、融合应用、创新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下箭头标注 5"/>
            <p:cNvSpPr/>
            <p:nvPr/>
          </p:nvSpPr>
          <p:spPr>
            <a:xfrm>
              <a:off x="395288" y="908720"/>
              <a:ext cx="10885288" cy="3456384"/>
            </a:xfrm>
            <a:prstGeom prst="downArrowCallout">
              <a:avLst>
                <a:gd name="adj1" fmla="val 20287"/>
                <a:gd name="adj2" fmla="val 22644"/>
                <a:gd name="adj3" fmla="val 9077"/>
                <a:gd name="adj4" fmla="val 85256"/>
              </a:avLst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359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95288" y="980728"/>
            <a:ext cx="9949184" cy="23852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一、人工智能学什么</a:t>
            </a:r>
            <a:endParaRPr lang="en-US" altLang="zh-CN" sz="24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涵盖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：数学、计算机科学、数据处理、算法设计、领域应用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学科交叉。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：如何通过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，让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机器具有“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”和“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推理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”能力，帮助人类解决复杂问题。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：具有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一定数学基础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、编程能力、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理解与掌握数据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及其处理方法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395288" y="202625"/>
            <a:ext cx="16430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章 绪论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63750" y="1484313"/>
            <a:ext cx="8135938" cy="288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95288" y="866548"/>
            <a:ext cx="11386404" cy="3785652"/>
          </a:xfrm>
          <a:prstGeom prst="rect">
            <a:avLst/>
          </a:prstGeom>
          <a:ln>
            <a:noFill/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的基石：数学</a:t>
            </a:r>
            <a:endParaRPr lang="en-US" altLang="zh-CN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主要包括线性代数、概率统计、微积分，均是机器学习、深度学习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不可或缺的工具。</a:t>
            </a:r>
            <a:endParaRPr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6087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线性代数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：理解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神经网络结构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的核心，神经网络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本质上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是向量与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矩阵运算。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6087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概率论与数理统计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不确定性问题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，常用于贝叶斯网络、决策树等算法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6087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微积分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：用于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优化问题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，尤其是在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神经网络的训练过程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优化模型参数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的过程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需要用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梯度</a:t>
            </a:r>
            <a:endParaRPr lang="en-US" altLang="zh-CN" sz="2000" b="1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下降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等方法，是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微积分的典型应用场景。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20403" y="834930"/>
            <a:ext cx="9059973" cy="455509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的语言：编码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17462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不仅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理论用代码实现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更重要的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通过编码解决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实际问题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4375" indent="-26828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用代码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实现算法，让机器通过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大量的数据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，逐步提升“决策”能力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4375" indent="-26828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当前，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因简洁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和强大的库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支持，已成为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首选。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常见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的库：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① 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中用于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科学计算的基础库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② 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Pandas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：处理数据的高效工具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③ 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TensorFlow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：两大主流深度学习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框架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华为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百度飞桨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PaddlePaddle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8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63750" y="1484313"/>
            <a:ext cx="8135938" cy="288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95288" y="926718"/>
            <a:ext cx="10813280" cy="5093702"/>
          </a:xfrm>
          <a:prstGeom prst="rect">
            <a:avLst/>
          </a:prstGeom>
          <a:ln>
            <a:noFill/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的燃料：数据处理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与大数据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14375" indent="-26828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人工智能的快速发展和广泛应用，离不开数据的支持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14375" indent="-26828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数据是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的燃料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没有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高质量的数据，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就无法发挥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出应有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的潜力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14375" indent="-26828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原始数据往往是杂乱无章的，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包含大量噪声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和无关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信息。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4375" indent="-26828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学习过程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依赖大量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的数据，这些数据需要经过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清洗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等步骤，才能变得有用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46087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常用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的数据处理：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①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清洗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：去除数据中的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噪声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错误信息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（数据处理的第一步）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②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工程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：从数据中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提取关键信息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，提高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算法性能。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③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数据处理框架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：帮助高效处理海量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数据，如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5288" y="764704"/>
            <a:ext cx="11377612" cy="4642874"/>
          </a:xfrm>
          <a:prstGeom prst="rect">
            <a:avLst/>
          </a:prstGeom>
          <a:ln>
            <a:noFill/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的核心技术：机器学习、深度学习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⑴、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机器学习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是人工智能的核心，让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机器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数据中学习经验并进行预测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学习数据中隐藏的模式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监督学习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：用已标注数据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有标签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模型，常用于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分类、回归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② 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非监督学习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：用未标注数据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无标签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训练模型，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常用于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聚类分析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③ 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强化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：模拟生物体通过与环境互动，学习最优策略的过程。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驾驶、游戏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⑵、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是机器学习的一个分支，通过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模拟人脑神经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元结构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，设计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</a:t>
            </a:r>
            <a:r>
              <a:rPr lang="en-US" altLang="zh-CN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多层</a:t>
            </a:r>
            <a:r>
              <a:rPr lang="en-US" altLang="zh-CN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，大幅提升图像识别、自然语言处理等应用性能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。如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CNN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RNN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LSTM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Transformer…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83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179" y="908720"/>
            <a:ext cx="7993062" cy="33182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69875" indent="-269875" eaLnBrk="1" fontAlgn="auto" hangingPunct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人工智能不仅是理论，最终需应用到实际，帮助解决具体问题。</a:t>
            </a:r>
          </a:p>
        </p:txBody>
      </p:sp>
      <p:sp>
        <p:nvSpPr>
          <p:cNvPr id="3" name="矩形 2"/>
          <p:cNvSpPr/>
          <p:nvPr/>
        </p:nvSpPr>
        <p:spPr>
          <a:xfrm>
            <a:off x="418623" y="1576201"/>
            <a:ext cx="11354275" cy="1923604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、自然语言处理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NLP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Natural Language Processing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⑴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让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机器理解人类语言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。广泛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应用于语音识别、机器翻译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、问答、推荐等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⑵、掌握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词嵌入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embedding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语言模型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注意力机制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(Attention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mechanism)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等方法。    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⑶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、通过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大量文本数据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的训练，生成令人信服的自然语言输出。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8625" y="253633"/>
            <a:ext cx="3805167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二、人工智能的实践与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8623" y="3933056"/>
            <a:ext cx="11354275" cy="1461939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、计算机视觉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CV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Computer Vision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赋予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“看”的能力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，理解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和处理图像信息，在自动驾驶、医疗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影像、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安防监控等领域有广泛应用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288" y="908720"/>
            <a:ext cx="11377612" cy="4539704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、强化学习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Reinforcement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Learning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⑴、通过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试错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法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，学习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如何采取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行动，以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最大化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累积奖励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。（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策略优化、奖励机制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⑵、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监督学习不同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，强化学习不需要标注数据，而是通过与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环境交互，进行策略学习。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⑶、核心概念：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决策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环境中采取行动，环境返回新的状态和奖励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Agent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这些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信息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不断调整其策略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策略优化、奖励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机制设计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⑷、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应用：自动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驾驶、游戏、机器人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具身智能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谷歌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DeepMind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AlphaGo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AlphaStar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AlphaGo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：通过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强化学习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蒙特卡洛树搜索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相结合，极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大提升游戏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水平。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AlphaStar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：战略游戏“星际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争霸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II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288" y="908720"/>
            <a:ext cx="10741272" cy="1923604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、医疗领域的突破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⑴、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深度学习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模型，对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大量医疗数据进行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分析，辅助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医生做出更准确诊断和治疗决策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⑵、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，快速从医学影像中发现病变、从基因数据中预测疾病风险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⑶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、学习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这类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技术，需要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掌握图像处理和生物信息学知识。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95288" y="3140968"/>
            <a:ext cx="5628704" cy="1000274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、艺术创新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文学、绘画、音乐、雕塑、舞蹈、民间艺术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3609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4"/>
          <p:cNvSpPr>
            <a:spLocks noChangeArrowheads="1"/>
          </p:cNvSpPr>
          <p:nvPr/>
        </p:nvSpPr>
        <p:spPr bwMode="auto">
          <a:xfrm>
            <a:off x="407011" y="234829"/>
            <a:ext cx="2500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三、人工智能提出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95288" y="817545"/>
            <a:ext cx="4260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9pPr>
          </a:lstStyle>
          <a:p>
            <a:pPr marL="269875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Artificial Intelligence</a:t>
            </a:r>
            <a:r>
              <a:rPr lang="zh-CN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术语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首次提出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82338" y="1628800"/>
            <a:ext cx="10714262" cy="4309014"/>
            <a:chOff x="782338" y="1628800"/>
            <a:chExt cx="10714262" cy="4309014"/>
          </a:xfrm>
        </p:grpSpPr>
        <p:pic>
          <p:nvPicPr>
            <p:cNvPr id="1843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90"/>
            <a:stretch>
              <a:fillRect/>
            </a:stretch>
          </p:blipFill>
          <p:spPr bwMode="auto">
            <a:xfrm>
              <a:off x="782338" y="1772816"/>
              <a:ext cx="2679704" cy="3161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38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0074" y="1639093"/>
              <a:ext cx="3426046" cy="343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39" name="图片 2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5340" y="5073718"/>
              <a:ext cx="3455513" cy="864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40" name="组合 3"/>
            <p:cNvGrpSpPr>
              <a:grpSpLocks/>
            </p:cNvGrpSpPr>
            <p:nvPr/>
          </p:nvGrpSpPr>
          <p:grpSpPr bwMode="auto">
            <a:xfrm>
              <a:off x="7464152" y="1628800"/>
              <a:ext cx="4032448" cy="3450508"/>
              <a:chOff x="5202748" y="2612468"/>
              <a:chExt cx="3496206" cy="3020274"/>
            </a:xfrm>
          </p:grpSpPr>
          <p:pic>
            <p:nvPicPr>
              <p:cNvPr id="18441" name="图片 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2748" y="2881313"/>
                <a:ext cx="3496206" cy="2751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矩形 11"/>
              <p:cNvSpPr/>
              <p:nvPr/>
            </p:nvSpPr>
            <p:spPr>
              <a:xfrm>
                <a:off x="5577342" y="2612468"/>
                <a:ext cx="2671642" cy="18858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400" b="1" dirty="0">
                    <a:solidFill>
                      <a:srgbClr val="0000FF"/>
                    </a:solidFill>
                    <a:latin typeface="+mn-ea"/>
                    <a:cs typeface="Times New Roman" panose="02020603050405020304" pitchFamily="18" charset="0"/>
                  </a:rPr>
                  <a:t>人工智能达特茅斯夏季研究项目建议书</a:t>
                </a:r>
                <a:endParaRPr lang="zh-CN" altLang="en-US" sz="1400" dirty="0">
                  <a:solidFill>
                    <a:srgbClr val="0000FF"/>
                  </a:solidFill>
                  <a:latin typeface="+mn-ea"/>
                </a:endParaRPr>
              </a:p>
            </p:txBody>
          </p:sp>
        </p:grpSp>
      </p:grpSp>
      <p:cxnSp>
        <p:nvCxnSpPr>
          <p:cNvPr id="13" name="直接连接符 1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4355951" y="309953"/>
            <a:ext cx="345628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达特茅斯</a:t>
            </a: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人工智能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夏季</a:t>
            </a: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研讨会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9459" name="组合 27"/>
          <p:cNvGrpSpPr>
            <a:grpSpLocks/>
          </p:cNvGrpSpPr>
          <p:nvPr/>
        </p:nvGrpSpPr>
        <p:grpSpPr bwMode="auto">
          <a:xfrm>
            <a:off x="634940" y="1052736"/>
            <a:ext cx="3804876" cy="4608512"/>
            <a:chOff x="899592" y="2284905"/>
            <a:chExt cx="2484675" cy="3525599"/>
          </a:xfrm>
        </p:grpSpPr>
        <p:pic>
          <p:nvPicPr>
            <p:cNvPr id="19463" name="Picture 2" descr="两度堕入寒冬的 AI，如何完成伟大逆袭？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3" y="3973479"/>
              <a:ext cx="2484674" cy="1528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矩形 23">
              <a:extLst/>
            </p:cNvPr>
            <p:cNvSpPr/>
            <p:nvPr/>
          </p:nvSpPr>
          <p:spPr>
            <a:xfrm>
              <a:off x="1020254" y="5594619"/>
              <a:ext cx="2243352" cy="21588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latin typeface="+mn-ea"/>
                  <a:cs typeface="Times New Roman" panose="02020603050405020304" pitchFamily="18" charset="0"/>
                </a:rPr>
                <a:t>达特茅斯会议合影 </a:t>
              </a:r>
              <a:r>
                <a:rPr lang="en-US" altLang="zh-CN" sz="1400" b="1" dirty="0">
                  <a:latin typeface="+mn-ea"/>
                  <a:cs typeface="Times New Roman" panose="02020603050405020304" pitchFamily="18" charset="0"/>
                </a:rPr>
                <a:t>(1955</a:t>
              </a:r>
              <a:r>
                <a:rPr lang="zh-CN" altLang="en-US" sz="1400" b="1" dirty="0">
                  <a:latin typeface="+mn-ea"/>
                  <a:cs typeface="Times New Roman" panose="02020603050405020304" pitchFamily="18" charset="0"/>
                </a:rPr>
                <a:t>年</a:t>
              </a:r>
              <a:r>
                <a:rPr lang="en-US" altLang="zh-CN" sz="1400" b="1" dirty="0">
                  <a:latin typeface="+mn-ea"/>
                  <a:cs typeface="Times New Roman" panose="02020603050405020304" pitchFamily="18" charset="0"/>
                </a:rPr>
                <a:t>)</a:t>
              </a:r>
              <a:endParaRPr lang="zh-CN" altLang="en-US" sz="1400" b="1" dirty="0">
                <a:latin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1946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2284905"/>
              <a:ext cx="2484674" cy="1595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" name="直接连接符 9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4728719" y="1124744"/>
            <a:ext cx="6839889" cy="4032095"/>
            <a:chOff x="4187898" y="1070466"/>
            <a:chExt cx="6839889" cy="4032095"/>
          </a:xfrm>
        </p:grpSpPr>
        <p:sp>
          <p:nvSpPr>
            <p:cNvPr id="26" name="矩形 25"/>
            <p:cNvSpPr/>
            <p:nvPr/>
          </p:nvSpPr>
          <p:spPr bwMode="auto">
            <a:xfrm>
              <a:off x="5663950" y="1070466"/>
              <a:ext cx="3887787" cy="30797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会议研究的人工智能七个重要问题</a:t>
              </a:r>
              <a:endPara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7898" y="1504423"/>
              <a:ext cx="6839889" cy="359813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95288" y="836712"/>
            <a:ext cx="699685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尚无完全统一的定义（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原因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：学科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背景、理解、应用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模式）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知识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是一切智能行为的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288" y="4365104"/>
            <a:ext cx="937312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归纳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机器为</a:t>
            </a:r>
            <a:r>
              <a:rPr lang="zh-CN" altLang="zh-CN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载体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人类智能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生物智能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，也称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机器智能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机智能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7010" y="2086397"/>
            <a:ext cx="6746875" cy="1938992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几个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观点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思维理论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：智能的核心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推理、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思维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知识阈值理论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：智能取决于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知识的数量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及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一般化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程度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进化理论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：用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取代知识表示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/>
          </p:cNvPr>
          <p:cNvSpPr/>
          <p:nvPr/>
        </p:nvSpPr>
        <p:spPr>
          <a:xfrm>
            <a:off x="395288" y="836712"/>
            <a:ext cx="11029304" cy="8848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27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、问题提出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世纪初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，有学者发现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许多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问题难以找到解决方法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于是怀疑这些问题，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是否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就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不存在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23392" y="1988840"/>
            <a:ext cx="11002387" cy="4106828"/>
            <a:chOff x="451245" y="2329899"/>
            <a:chExt cx="11002387" cy="4106828"/>
          </a:xfrm>
        </p:grpSpPr>
        <p:grpSp>
          <p:nvGrpSpPr>
            <p:cNvPr id="21509" name="组合 1"/>
            <p:cNvGrpSpPr>
              <a:grpSpLocks/>
            </p:cNvGrpSpPr>
            <p:nvPr/>
          </p:nvGrpSpPr>
          <p:grpSpPr bwMode="auto">
            <a:xfrm>
              <a:off x="791822" y="2329899"/>
              <a:ext cx="7853237" cy="432048"/>
              <a:chOff x="700814" y="3234161"/>
              <a:chExt cx="7759618" cy="415498"/>
            </a:xfrm>
          </p:grpSpPr>
          <p:sp>
            <p:nvSpPr>
              <p:cNvPr id="5" name="矩形 4">
                <a:extLst/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3234161"/>
                <a:ext cx="7344816" cy="415498"/>
              </a:xfrm>
              <a:prstGeom prst="rect">
                <a:avLst/>
              </a:prstGeom>
              <a:blipFill rotWithShape="0">
                <a:blip r:embed="rId3"/>
                <a:stretch>
                  <a:fillRect l="-996" r="-1162" b="-23529"/>
                </a:stretch>
              </a:blipFill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21519" name="组合 5"/>
              <p:cNvGrpSpPr>
                <a:grpSpLocks/>
              </p:cNvGrpSpPr>
              <p:nvPr/>
            </p:nvGrpSpPr>
            <p:grpSpPr bwMode="auto">
              <a:xfrm>
                <a:off x="700814" y="3280316"/>
                <a:ext cx="333372" cy="323042"/>
                <a:chOff x="4082470" y="2762042"/>
                <a:chExt cx="1485186" cy="1482527"/>
              </a:xfrm>
            </p:grpSpPr>
            <p:sp>
              <p:nvSpPr>
                <p:cNvPr id="8" name="立方体 7">
                  <a:extLst/>
                </p:cNvPr>
                <p:cNvSpPr/>
                <p:nvPr/>
              </p:nvSpPr>
              <p:spPr>
                <a:xfrm rot="2700000">
                  <a:off x="4083799" y="2760713"/>
                  <a:ext cx="1482527" cy="1485186"/>
                </a:xfrm>
                <a:prstGeom prst="cube">
                  <a:avLst>
                    <a:gd name="adj" fmla="val 6189"/>
                  </a:avLst>
                </a:prstGeom>
                <a:gradFill>
                  <a:gsLst>
                    <a:gs pos="0">
                      <a:srgbClr val="016773"/>
                    </a:gs>
                    <a:gs pos="26000">
                      <a:srgbClr val="007684"/>
                    </a:gs>
                    <a:gs pos="100000">
                      <a:srgbClr val="81C7C9"/>
                    </a:gs>
                  </a:gsLst>
                  <a:lin ang="18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1521" name="组合 8"/>
                <p:cNvGrpSpPr>
                  <a:grpSpLocks/>
                </p:cNvGrpSpPr>
                <p:nvPr/>
              </p:nvGrpSpPr>
              <p:grpSpPr bwMode="auto">
                <a:xfrm>
                  <a:off x="4492668" y="2981122"/>
                  <a:ext cx="608220" cy="1117371"/>
                  <a:chOff x="9630384" y="7545368"/>
                  <a:chExt cx="891623" cy="1638018"/>
                </a:xfrm>
              </p:grpSpPr>
              <p:sp>
                <p:nvSpPr>
                  <p:cNvPr id="10" name="任意多边形 30">
                    <a:extLst/>
                  </p:cNvPr>
                  <p:cNvSpPr/>
                  <p:nvPr/>
                </p:nvSpPr>
                <p:spPr>
                  <a:xfrm>
                    <a:off x="9630384" y="7545368"/>
                    <a:ext cx="891623" cy="1145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0113" h="1151186">
                        <a:moveTo>
                          <a:pt x="393664" y="0"/>
                        </a:moveTo>
                        <a:cubicBezTo>
                          <a:pt x="550582" y="0"/>
                          <a:pt x="672552" y="35975"/>
                          <a:pt x="759577" y="107924"/>
                        </a:cubicBezTo>
                        <a:cubicBezTo>
                          <a:pt x="846601" y="179873"/>
                          <a:pt x="890113" y="277175"/>
                          <a:pt x="890113" y="399832"/>
                        </a:cubicBezTo>
                        <a:cubicBezTo>
                          <a:pt x="890113" y="478633"/>
                          <a:pt x="872297" y="551267"/>
                          <a:pt x="836665" y="617735"/>
                        </a:cubicBezTo>
                        <a:cubicBezTo>
                          <a:pt x="801033" y="684202"/>
                          <a:pt x="739705" y="752725"/>
                          <a:pt x="652681" y="823303"/>
                        </a:cubicBezTo>
                        <a:cubicBezTo>
                          <a:pt x="579361" y="881548"/>
                          <a:pt x="532594" y="927287"/>
                          <a:pt x="512380" y="960520"/>
                        </a:cubicBezTo>
                        <a:cubicBezTo>
                          <a:pt x="492166" y="993754"/>
                          <a:pt x="482059" y="1033669"/>
                          <a:pt x="482059" y="1080264"/>
                        </a:cubicBezTo>
                        <a:lnTo>
                          <a:pt x="482059" y="1151186"/>
                        </a:lnTo>
                        <a:lnTo>
                          <a:pt x="210708" y="1151186"/>
                        </a:lnTo>
                        <a:lnTo>
                          <a:pt x="210708" y="1054568"/>
                        </a:lnTo>
                        <a:cubicBezTo>
                          <a:pt x="210708" y="981249"/>
                          <a:pt x="224070" y="918722"/>
                          <a:pt x="250794" y="866987"/>
                        </a:cubicBezTo>
                        <a:cubicBezTo>
                          <a:pt x="277518" y="815252"/>
                          <a:pt x="322400" y="763346"/>
                          <a:pt x="385441" y="711268"/>
                        </a:cubicBezTo>
                        <a:cubicBezTo>
                          <a:pt x="458076" y="651653"/>
                          <a:pt x="506384" y="602831"/>
                          <a:pt x="530367" y="564801"/>
                        </a:cubicBezTo>
                        <a:cubicBezTo>
                          <a:pt x="554350" y="526770"/>
                          <a:pt x="566342" y="485828"/>
                          <a:pt x="566342" y="441973"/>
                        </a:cubicBezTo>
                        <a:cubicBezTo>
                          <a:pt x="566342" y="391266"/>
                          <a:pt x="548526" y="350838"/>
                          <a:pt x="512894" y="320688"/>
                        </a:cubicBezTo>
                        <a:cubicBezTo>
                          <a:pt x="477262" y="290537"/>
                          <a:pt x="426213" y="275462"/>
                          <a:pt x="359745" y="275462"/>
                        </a:cubicBezTo>
                        <a:cubicBezTo>
                          <a:pt x="230922" y="275462"/>
                          <a:pt x="111007" y="323428"/>
                          <a:pt x="0" y="419361"/>
                        </a:cubicBezTo>
                        <a:lnTo>
                          <a:pt x="0" y="102785"/>
                        </a:lnTo>
                        <a:cubicBezTo>
                          <a:pt x="122656" y="34262"/>
                          <a:pt x="253877" y="0"/>
                          <a:pt x="393664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>
                    <a:outerShdw blurRad="63500" dist="25400" dir="2700000" sx="103000" sy="103000" algn="tl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" name="任意多边形 28">
                    <a:extLst/>
                  </p:cNvPr>
                  <p:cNvSpPr/>
                  <p:nvPr/>
                </p:nvSpPr>
                <p:spPr>
                  <a:xfrm>
                    <a:off x="9785900" y="8840793"/>
                    <a:ext cx="383608" cy="342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218" h="343300">
                        <a:moveTo>
                          <a:pt x="188095" y="0"/>
                        </a:moveTo>
                        <a:cubicBezTo>
                          <a:pt x="240173" y="0"/>
                          <a:pt x="284713" y="16788"/>
                          <a:pt x="321715" y="50364"/>
                        </a:cubicBezTo>
                        <a:cubicBezTo>
                          <a:pt x="358717" y="83941"/>
                          <a:pt x="377218" y="124711"/>
                          <a:pt x="377218" y="172677"/>
                        </a:cubicBezTo>
                        <a:cubicBezTo>
                          <a:pt x="377218" y="219273"/>
                          <a:pt x="358717" y="259359"/>
                          <a:pt x="321715" y="292935"/>
                        </a:cubicBezTo>
                        <a:cubicBezTo>
                          <a:pt x="284713" y="326512"/>
                          <a:pt x="240173" y="343300"/>
                          <a:pt x="188095" y="343300"/>
                        </a:cubicBezTo>
                        <a:cubicBezTo>
                          <a:pt x="135332" y="343300"/>
                          <a:pt x="90793" y="326340"/>
                          <a:pt x="54475" y="292421"/>
                        </a:cubicBezTo>
                        <a:cubicBezTo>
                          <a:pt x="18158" y="258503"/>
                          <a:pt x="0" y="218588"/>
                          <a:pt x="0" y="172677"/>
                        </a:cubicBezTo>
                        <a:cubicBezTo>
                          <a:pt x="0" y="125397"/>
                          <a:pt x="18158" y="84797"/>
                          <a:pt x="54475" y="50878"/>
                        </a:cubicBezTo>
                        <a:cubicBezTo>
                          <a:pt x="90793" y="16959"/>
                          <a:pt x="135332" y="0"/>
                          <a:pt x="188095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>
                    <a:outerShdw blurRad="63500" dist="25400" dir="2700000" sx="103000" sy="103000" algn="tl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7" name="组合 6"/>
            <p:cNvGrpSpPr/>
            <p:nvPr/>
          </p:nvGrpSpPr>
          <p:grpSpPr>
            <a:xfrm>
              <a:off x="451245" y="3080683"/>
              <a:ext cx="11002387" cy="3356044"/>
              <a:chOff x="494213" y="3422510"/>
              <a:chExt cx="11002387" cy="3356044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494213" y="3422510"/>
                <a:ext cx="1684684" cy="2144664"/>
                <a:chOff x="494213" y="3422510"/>
                <a:chExt cx="1684684" cy="2144664"/>
              </a:xfrm>
            </p:grpSpPr>
            <p:pic>
              <p:nvPicPr>
                <p:cNvPr id="21516" name="Picture 5" descr="费马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935" y="3422510"/>
                  <a:ext cx="1122070" cy="14883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1517" name="矩形 12"/>
                <p:cNvSpPr>
                  <a:spLocks noChangeArrowheads="1"/>
                </p:cNvSpPr>
                <p:nvPr/>
              </p:nvSpPr>
              <p:spPr bwMode="auto">
                <a:xfrm>
                  <a:off x="494213" y="5013176"/>
                  <a:ext cx="1684684" cy="5539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200" b="1" dirty="0">
                      <a:latin typeface="Times New Roman" panose="02020603050405020304" pitchFamily="18" charset="0"/>
                      <a:ea typeface="楷体_GB2312" pitchFamily="1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1200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费马（</a:t>
                  </a:r>
                  <a:r>
                    <a:rPr lang="en-US" altLang="zh-CN" sz="1200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Pierre de Fermat</a:t>
                  </a:r>
                  <a:r>
                    <a:rPr lang="zh-CN" altLang="en-US" sz="1200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）</a:t>
                  </a:r>
                  <a:endPara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200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法国，律师，业余数学家</a:t>
                  </a:r>
                  <a:endPara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200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1200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1601-1665</a:t>
                  </a:r>
                  <a:r>
                    <a:rPr lang="zh-CN" altLang="en-US" sz="1200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）</a:t>
                  </a:r>
                </a:p>
              </p:txBody>
            </p:sp>
          </p:grpSp>
          <p:grpSp>
            <p:nvGrpSpPr>
              <p:cNvPr id="6" name="组合 5"/>
              <p:cNvGrpSpPr/>
              <p:nvPr/>
            </p:nvGrpSpPr>
            <p:grpSpPr>
              <a:xfrm>
                <a:off x="2639616" y="3422510"/>
                <a:ext cx="8856984" cy="3356044"/>
                <a:chOff x="2639616" y="3422510"/>
                <a:chExt cx="8856984" cy="3356044"/>
              </a:xfrm>
            </p:grpSpPr>
            <p:pic>
              <p:nvPicPr>
                <p:cNvPr id="21513" name="Picture 3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39616" y="3422510"/>
                  <a:ext cx="1250059" cy="1425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1514" name="Picture 2" descr="https://pics5.baidu.com/feed/e1fe9925bc315c60215b7fc31f0118184854770f.png@f_auto?token=94c4288ca99ca92b90f45966f898583e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31904" y="3422510"/>
                  <a:ext cx="2385873" cy="1425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" name="矩形 15">
                  <a:extLst/>
                </p:cNvPr>
                <p:cNvSpPr/>
                <p:nvPr/>
              </p:nvSpPr>
              <p:spPr bwMode="auto">
                <a:xfrm>
                  <a:off x="2677142" y="5047311"/>
                  <a:ext cx="8819458" cy="1731243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176213" indent="-176213" eaLnBrk="1" fontAlgn="auto" hangingPunct="1">
                    <a:lnSpc>
                      <a:spcPts val="27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0000"/>
                    </a:buClr>
                    <a:buFont typeface="Wingdings" panose="05000000000000000000" pitchFamily="2" charset="2"/>
                    <a:buChar char="l"/>
                    <a:defRPr/>
                  </a:pPr>
                  <a:r>
                    <a:rPr lang="en-US" altLang="zh-CN" b="1" dirty="0" smtClean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1637</a:t>
                  </a:r>
                  <a:r>
                    <a:rPr lang="zh-CN" altLang="en-US" b="1" dirty="0" smtClean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年，费</a:t>
                  </a:r>
                  <a:r>
                    <a:rPr lang="zh-CN" altLang="en-US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马用拉丁文在本文右侧空白写下：</a:t>
                  </a:r>
                  <a:r>
                    <a:rPr lang="zh-CN" altLang="zh-CN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将</a:t>
                  </a:r>
                  <a:r>
                    <a:rPr lang="zh-CN" altLang="zh-CN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一个立方数分成两个立方数之和</a:t>
                  </a:r>
                  <a:r>
                    <a:rPr lang="zh-CN" altLang="zh-CN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，或</a:t>
                  </a:r>
                  <a:r>
                    <a:rPr lang="zh-CN" altLang="zh-CN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一个四次幂分成两个四次幂之和</a:t>
                  </a:r>
                  <a:r>
                    <a:rPr lang="zh-CN" altLang="zh-CN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，或者</a:t>
                  </a:r>
                  <a:r>
                    <a:rPr lang="zh-CN" altLang="zh-CN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一般</a:t>
                  </a:r>
                  <a:r>
                    <a:rPr lang="zh-CN" altLang="en-US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化</a:t>
                  </a:r>
                  <a:r>
                    <a:rPr lang="zh-CN" altLang="zh-CN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地将一个高于二次的</a:t>
                  </a:r>
                  <a:r>
                    <a:rPr lang="zh-CN" altLang="zh-CN" b="1" dirty="0" smtClean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幂</a:t>
                  </a:r>
                  <a:r>
                    <a:rPr lang="zh-CN" altLang="en-US" b="1" dirty="0" smtClean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zh-CN" b="1" dirty="0" smtClean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分成</a:t>
                  </a:r>
                  <a:r>
                    <a:rPr lang="zh-CN" altLang="zh-CN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两个同次幂之和</a:t>
                  </a:r>
                  <a:r>
                    <a:rPr lang="zh-CN" altLang="zh-CN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，这是不可能的。关于此，我确信发现</a:t>
                  </a:r>
                  <a:r>
                    <a:rPr lang="zh-CN" altLang="en-US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了</a:t>
                  </a:r>
                  <a:r>
                    <a:rPr lang="zh-CN" altLang="zh-CN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一种美妙</a:t>
                  </a:r>
                  <a:r>
                    <a:rPr lang="zh-CN" altLang="zh-CN" b="1" dirty="0" smtClean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的</a:t>
                  </a:r>
                  <a:r>
                    <a:rPr lang="zh-CN" altLang="en-US" b="1" dirty="0" smtClean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证明方法</a:t>
                  </a:r>
                  <a:r>
                    <a:rPr lang="zh-CN" altLang="zh-CN" b="1" dirty="0" smtClean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zh-CN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可惜此处甚小，无法写下证明过程。</a:t>
                  </a:r>
                  <a:endPara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marL="176213" indent="-176213" eaLnBrk="1" fontAlgn="auto" hangingPunct="1">
                    <a:lnSpc>
                      <a:spcPts val="27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0000"/>
                    </a:buClr>
                    <a:buFont typeface="Wingdings" panose="05000000000000000000" pitchFamily="2" charset="2"/>
                    <a:buChar char="l"/>
                    <a:defRPr/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1994</a:t>
                  </a:r>
                  <a:r>
                    <a:rPr lang="zh-CN" altLang="en-US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年，英国数学家</a:t>
                  </a:r>
                  <a:r>
                    <a:rPr lang="en-US" altLang="zh-CN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Andrew Wiles</a:t>
                  </a:r>
                  <a:r>
                    <a:rPr lang="zh-CN" altLang="en-US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成功证明了费马大定理。</a:t>
                  </a:r>
                </a:p>
              </p:txBody>
            </p:sp>
          </p:grpSp>
        </p:grpSp>
      </p:grpSp>
      <p:cxnSp>
        <p:nvCxnSpPr>
          <p:cNvPr id="20" name="直接连接符 19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444458" y="216551"/>
            <a:ext cx="109801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人工智能的计算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载体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（支撑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运行与发展的物理基础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硬件支撑算力、算法驱动智能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16080" y="836712"/>
            <a:ext cx="4956820" cy="276999"/>
          </a:xfrm>
          <a:prstGeom prst="rect">
            <a:avLst/>
          </a:prstGeom>
          <a:ln w="6350">
            <a:solidFill>
              <a:srgbClr val="C00000"/>
            </a:solidFill>
            <a:prstDash val="sysDot"/>
          </a:ln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rgbClr val="C0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存在性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创新性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是解决复杂问题的关键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45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/>
          </p:cNvPr>
          <p:cNvSpPr/>
          <p:nvPr/>
        </p:nvSpPr>
        <p:spPr>
          <a:xfrm>
            <a:off x="395288" y="873551"/>
            <a:ext cx="9373120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lnSpc>
                <a:spcPts val="27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计算载体：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支撑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应用与发展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物理基础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，其演进与计算技术的突破紧密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相关。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288" y="1484784"/>
            <a:ext cx="10453240" cy="1732526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⑴、通用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计算装置（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1946-1950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年代）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①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标志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1946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年第一台通用电子计算机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ENIAC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诞生。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（冯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诺依曼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体系结构→存储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程序、二进制逻辑、五大基本单元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②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作用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概念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达特茅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斯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会议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提供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基础计算能力，但受限于算力，仅能处理简单逻辑问题。</a:t>
            </a:r>
          </a:p>
        </p:txBody>
      </p:sp>
      <p:sp>
        <p:nvSpPr>
          <p:cNvPr id="6" name="矩形 5"/>
          <p:cNvSpPr/>
          <p:nvPr/>
        </p:nvSpPr>
        <p:spPr>
          <a:xfrm>
            <a:off x="395288" y="3573016"/>
            <a:ext cx="11533360" cy="1708160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⑵、逻辑推理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专家系统（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1970-1990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年代）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①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符号智能学派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为主导，通过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手工编码知识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规则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Prolog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语言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构建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专家系统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②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载体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日本五代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机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专用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平台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306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智能计算机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平台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代表，但受限于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规则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爆炸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无法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处理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高维复杂任务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7" name="矩形 6">
            <a:extLst/>
          </p:cNvPr>
          <p:cNvSpPr/>
          <p:nvPr/>
        </p:nvSpPr>
        <p:spPr>
          <a:xfrm>
            <a:off x="395288" y="242544"/>
            <a:ext cx="2748384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27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、从硬件到系统的演进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37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5288" y="884034"/>
            <a:ext cx="11533360" cy="4201150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⑶、深度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学习计算系统（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2010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年代）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①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突破：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智能学派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提出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学习算法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，通过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神经网络学习特征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CNN\RNN\LSTM\Transformer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②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载体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（并行计算加速训练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NPU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（神经网络优化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ASIC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（定制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芯片）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（可编程硬件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中科院提出的深度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学习处理器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架构（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Cambricon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系列）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英伟达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芯片（如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V100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H100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③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人脸识别、语音识别、自动驾驶等，参数规模达千亿级（如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GPT-3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1750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亿参数）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326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5288" y="908720"/>
            <a:ext cx="11377612" cy="2200602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⑷、大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模型计算系统（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2020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年代至今）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①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范式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转变：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从“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小模型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判别式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”转向“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大模型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生成式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（如</a:t>
            </a:r>
            <a:r>
              <a:rPr lang="en-US" altLang="zh-CN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Deepseek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ChatGPT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SORA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），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海量数据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(3000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亿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单词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力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上万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训练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数月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②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载体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新型智算中心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（芯片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集群）、多模态对齐技术（融合视觉、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听觉、语言）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③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影响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推动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感知智能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向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认知智能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跃迁，但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算力需求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呈指数级增长。</a:t>
            </a:r>
          </a:p>
        </p:txBody>
      </p:sp>
      <p:sp>
        <p:nvSpPr>
          <p:cNvPr id="4" name="矩形 3"/>
          <p:cNvSpPr/>
          <p:nvPr/>
        </p:nvSpPr>
        <p:spPr>
          <a:xfrm>
            <a:off x="395288" y="3429000"/>
            <a:ext cx="2100312" cy="1092607"/>
          </a:xfrm>
          <a:prstGeom prst="rect">
            <a:avLst/>
          </a:prstGeom>
          <a:ln>
            <a:noFill/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⑸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、具身智能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未来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38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432735" y="286889"/>
            <a:ext cx="45111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、不可计算问题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理论边界与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3708" y="960983"/>
            <a:ext cx="1145293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不可计算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不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存在任何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能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在有限时间内给出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答案。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源于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图灵机模型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理论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8681" y="1412776"/>
            <a:ext cx="10381232" cy="13388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⑴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、概念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①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可计算问题：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能用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解决的问题（如，数学运算、排序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②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不可计算问题：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无算法可解，即使拥有无限时间和资源（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如，停机问题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、哥德尔不完备定理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3016" y="3032373"/>
            <a:ext cx="11463624" cy="1692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⑵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不可计算问题对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的影响</a:t>
            </a:r>
          </a:p>
          <a:p>
            <a:pPr lvl="1">
              <a:lnSpc>
                <a:spcPts val="3000"/>
              </a:lnSpc>
              <a:spcAft>
                <a:spcPts val="60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①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依赖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传统启发式算法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，蚁群算法、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遗传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算法等）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或近似解法，而非精确求解。</a:t>
            </a:r>
          </a:p>
          <a:p>
            <a:pPr lvl="1">
              <a:lnSpc>
                <a:spcPts val="3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②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场景：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图像识别、自然语言处理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领域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仍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属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“不可计算”，但通过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深度学习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可逼近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 </a:t>
            </a:r>
            <a:endParaRPr lang="en-US" altLang="zh-CN" sz="20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ts val="3000"/>
              </a:lnSpc>
              <a:spcAft>
                <a:spcPts val="60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，体现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“可接受性”，而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非“绝对正确性”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114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>
            <a:spLocks noChangeArrowheads="1"/>
          </p:cNvSpPr>
          <p:nvPr/>
        </p:nvSpPr>
        <p:spPr bwMode="auto">
          <a:xfrm>
            <a:off x="432735" y="286889"/>
            <a:ext cx="57352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计算载体与不可计算问题的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关系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边界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与突破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95288" y="836712"/>
            <a:ext cx="11377612" cy="46935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⑴、计算</a:t>
            </a:r>
            <a:r>
              <a:rPr lang="zh-CN" altLang="en-US" sz="20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载体的</a:t>
            </a:r>
            <a:r>
              <a:rPr lang="zh-CN" altLang="en-US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扩展</a:t>
            </a:r>
            <a:endParaRPr lang="en-US" altLang="zh-CN" sz="2000" b="1" dirty="0" smtClean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zh-CN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量子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计算、光子计算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新型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，可能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突破经典图灵机限制，但尚未证明能解决不可计算问题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4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</a:t>
            </a:r>
            <a:r>
              <a:rPr lang="en-US" altLang="zh-CN" b="1" dirty="0">
                <a:solidFill>
                  <a:srgbClr val="0D0D0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进步，主要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依赖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力提升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算法优化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，而非突破计算理论边界。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⑵</a:t>
            </a:r>
            <a:r>
              <a:rPr lang="zh-CN" altLang="en-US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solidFill>
                  <a:srgbClr val="0D0D0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的应对</a:t>
            </a:r>
            <a:r>
              <a:rPr lang="zh-CN" altLang="en-US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</a:t>
            </a:r>
            <a:endParaRPr lang="en-US" altLang="zh-CN" sz="2000" b="1" dirty="0" smtClean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①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聚焦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可计算问题：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通过大数据和深度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学习，解决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模式识别、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预测</a:t>
            </a:r>
            <a:r>
              <a:rPr lang="en-US" altLang="zh-CN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任务。</a:t>
            </a:r>
            <a:endParaRPr lang="en-US" altLang="zh-CN" b="1" dirty="0" smtClean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4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计算问题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近似解：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如通过强化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学习，让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模型在不确定环境中做出最优决策，而非追求绝对正确。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⑶、未来展望</a:t>
            </a:r>
            <a:endParaRPr lang="en-US" altLang="zh-CN" b="1" dirty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①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创新：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继续提升算力密度，降低大模型训练成本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②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突破：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探索“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神经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符号混合模型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因果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推理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”等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，增强模型可解释性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③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边界：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不可计算问题提醒</a:t>
            </a:r>
            <a:r>
              <a:rPr lang="zh-CN" altLang="en-US" b="1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我们</a:t>
            </a:r>
            <a:r>
              <a:rPr lang="en-US" altLang="zh-CN" dirty="0" smtClean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en-US" altLang="zh-CN" b="1" dirty="0" smtClean="0">
                <a:solidFill>
                  <a:srgbClr val="0D0D0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的发展需与人类智能互补，而非替代。</a:t>
            </a:r>
            <a:endParaRPr lang="zh-CN" altLang="en-US" b="1" i="0" dirty="0">
              <a:solidFill>
                <a:srgbClr val="0D0D0D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716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288" y="836712"/>
            <a:ext cx="11377612" cy="92333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marL="269875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：虽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许多不同定义方式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但均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抽象理解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zh-CN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转换为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推理、思维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同时，与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此问题相关并产生的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可计算理论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，推动传统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手工计算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迈入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自动计算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5288" y="1988840"/>
            <a:ext cx="11377612" cy="3526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algn="just" eaLnBrk="1" fontAlgn="auto" hangingPunct="1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可计算理论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也称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理论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研究</a:t>
            </a:r>
            <a:r>
              <a:rPr lang="zh-CN" altLang="zh-CN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一般性质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的数学理论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（计算机科学的理论基础之一）</a:t>
            </a:r>
            <a:endParaRPr lang="zh-CN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176213" algn="just" eaLnBrk="1" fontAlgn="auto" hangingPunct="1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建立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数学模型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精确区分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哪些问题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可计算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，哪些问题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不可计算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176213" algn="just" eaLnBrk="1" fontAlgn="auto" hangingPunct="1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计算过程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就是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执行过程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重要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任务之一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概念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精确化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176213" algn="just" eaLnBrk="1" fontAlgn="auto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算法精确化途径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很多，其中之一是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通过定义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抽象计算机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，将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看作抽象计算机的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537" algn="just" eaLnBrk="1" fontAlgn="auto" hangingPunct="1">
              <a:lnSpc>
                <a:spcPts val="35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于是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，通常将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能够用算法计算得到结果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的函数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称为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可计算函数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176213" algn="just" eaLnBrk="1" fontAlgn="auto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可计算函数的精确定义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：能够在抽象计算机上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编程序计算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得到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“值”</a:t>
            </a:r>
            <a:r>
              <a:rPr lang="zh-CN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537" algn="just" eaLnBrk="1" fontAlgn="auto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如此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可讨论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哪些函数可计算，哪些函数不可计算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5288" y="286433"/>
            <a:ext cx="404452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什么是计算、计算的本质是什么</a:t>
            </a:r>
            <a:endParaRPr lang="en-US" altLang="zh-CN" sz="2000" b="1" i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12506" y="271477"/>
            <a:ext cx="31632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图灵机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模型：机械计算之器</a:t>
            </a:r>
          </a:p>
        </p:txBody>
      </p:sp>
      <p:sp>
        <p:nvSpPr>
          <p:cNvPr id="12" name="矩形 11">
            <a:extLst/>
          </p:cNvPr>
          <p:cNvSpPr/>
          <p:nvPr/>
        </p:nvSpPr>
        <p:spPr>
          <a:xfrm>
            <a:off x="551384" y="3937202"/>
            <a:ext cx="11323114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eaLnBrk="1" fontAlgn="auto" hangingPunct="1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1937</a:t>
            </a:r>
            <a:r>
              <a:rPr lang="zh-CN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0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论可计算数及其在判定问题上的应用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zh-CN" sz="20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论文</a:t>
            </a:r>
            <a:r>
              <a:rPr lang="zh-CN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，提出</a:t>
            </a:r>
            <a:r>
              <a:rPr lang="zh-CN" altLang="zh-CN" sz="2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现代计算机的理论模型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图灵机模型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，为人工智能提供了</a:t>
            </a:r>
            <a:r>
              <a:rPr lang="zh-CN" altLang="en-US" sz="2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机器载体</a:t>
            </a: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0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03792" y="974122"/>
            <a:ext cx="10676784" cy="2886566"/>
            <a:chOff x="603792" y="974122"/>
            <a:chExt cx="10676784" cy="2886566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8328248" y="1124744"/>
              <a:ext cx="2952328" cy="2585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机械式计算过程：</a:t>
              </a:r>
              <a:endPara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176213" indent="-176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第一步</a:t>
              </a:r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读入</a:t>
              </a:r>
              <a:r>
                <a:rPr lang="en-US" altLang="zh-CN" sz="1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gcd</a:t>
              </a:r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(24,16)</a:t>
              </a:r>
              <a:r>
                <a:rPr lang="zh-CN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这一信息，触发最大公约数这一指令得到</a:t>
              </a:r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24</a:t>
              </a:r>
              <a:r>
                <a:rPr lang="zh-CN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16</a:t>
              </a:r>
              <a:r>
                <a:rPr lang="zh-CN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的最大公约数</a:t>
              </a:r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8</a:t>
              </a:r>
            </a:p>
            <a:p>
              <a:pPr marL="176213" indent="-176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第二步</a:t>
              </a:r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触发乘法指令</a:t>
              </a:r>
              <a:endPara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176213" indent="-176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第三步</a:t>
              </a:r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：触发</a:t>
              </a:r>
              <a:r>
                <a:rPr lang="zh-CN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加法指令</a:t>
              </a:r>
              <a:endPara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176213" indent="-176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Font typeface="Wingdings" panose="05000000000000000000" pitchFamily="2" charset="2"/>
                <a:buChar char="u"/>
                <a:defRPr/>
              </a:pPr>
              <a:r>
                <a:rPr lang="zh-CN" altLang="en-US" sz="1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第四步</a:t>
              </a:r>
              <a:r>
                <a: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在纸带方格上留下</a:t>
              </a:r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97</a:t>
              </a:r>
              <a:r>
                <a:rPr lang="zh-CN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计算结果后图灵机停止工作</a:t>
              </a:r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lang="zh-CN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603792" y="1124744"/>
              <a:ext cx="1660769" cy="2585323"/>
              <a:chOff x="479180" y="1124744"/>
              <a:chExt cx="1660769" cy="2585323"/>
            </a:xfrm>
          </p:grpSpPr>
          <p:sp>
            <p:nvSpPr>
              <p:cNvPr id="25608" name="文本框 4"/>
              <p:cNvSpPr txBox="1">
                <a:spLocks noChangeArrowheads="1"/>
              </p:cNvSpPr>
              <p:nvPr/>
            </p:nvSpPr>
            <p:spPr bwMode="auto">
              <a:xfrm>
                <a:off x="559470" y="3045270"/>
                <a:ext cx="1500188" cy="6647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Alan Turing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(1912-1954)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计算机理论之父</a:t>
                </a:r>
              </a:p>
            </p:txBody>
          </p:sp>
          <p:pic>
            <p:nvPicPr>
              <p:cNvPr id="25609" name="Picture 2" descr="Image result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9180" y="1124744"/>
                <a:ext cx="1660769" cy="1844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5606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9161" y="974122"/>
              <a:ext cx="5634486" cy="2886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" name="直接连接符 9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551384" y="4706213"/>
            <a:ext cx="10676784" cy="1555149"/>
            <a:chOff x="551384" y="4706213"/>
            <a:chExt cx="10676784" cy="1555149"/>
          </a:xfrm>
        </p:grpSpPr>
        <p:sp>
          <p:nvSpPr>
            <p:cNvPr id="5" name="矩形 4"/>
            <p:cNvSpPr/>
            <p:nvPr/>
          </p:nvSpPr>
          <p:spPr>
            <a:xfrm>
              <a:off x="551384" y="4706213"/>
              <a:ext cx="10676784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与“</a:t>
              </a:r>
              <a:r>
                <a:rPr lang="zh-CN" altLang="en-US" sz="2000" b="1" dirty="0" smtClean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递归函数”</a:t>
              </a:r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和</a:t>
              </a:r>
              <a:r>
                <a:rPr lang="zh-CN" altLang="en-US" sz="2000" b="1" dirty="0" smtClean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el-GR" altLang="zh-CN" sz="20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zh-CN" altLang="en-US" sz="2000" b="1" dirty="0" smtClean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演算”</a:t>
              </a:r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相似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，都是用于衡量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问题的可计算性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的工具</a:t>
              </a:r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。（哥德尔、邱奇）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127448" y="5157191"/>
              <a:ext cx="5382593" cy="1104171"/>
              <a:chOff x="830348" y="5157192"/>
              <a:chExt cx="5382593" cy="1104171"/>
            </a:xfrm>
          </p:grpSpPr>
          <p:pic>
            <p:nvPicPr>
              <p:cNvPr id="13" name="Picture 2" descr="Kurt gÃ¶del.jp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0348" y="5157192"/>
                <a:ext cx="933662" cy="10566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3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3049" y="5157192"/>
                <a:ext cx="918576" cy="1066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矩形 14"/>
              <p:cNvSpPr/>
              <p:nvPr/>
            </p:nvSpPr>
            <p:spPr>
              <a:xfrm>
                <a:off x="2781730" y="5235441"/>
                <a:ext cx="3431211" cy="102592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76213" indent="-176213">
                  <a:lnSpc>
                    <a:spcPts val="2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en-US" altLang="zh-CN" sz="1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1931</a:t>
                </a:r>
                <a:r>
                  <a:rPr lang="zh-CN" altLang="en-US" sz="1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年，不完全性定理</a:t>
                </a:r>
                <a:endParaRPr lang="en-US" altLang="zh-CN" sz="16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ts val="2000"/>
                  </a:lnSpc>
                </a:pPr>
                <a:r>
                  <a:rPr lang="en-US" altLang="zh-CN" sz="1400" b="1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《</a:t>
                </a:r>
                <a:r>
                  <a:rPr lang="zh-CN" altLang="en-US" sz="1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论数学原理及有关系统中不可判定命题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》(On Formally Undecidable Propositions of Principia Mathematica and Related Systems)</a:t>
                </a:r>
                <a:endPara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7176120" y="5157191"/>
              <a:ext cx="3798647" cy="1056616"/>
              <a:chOff x="7250340" y="5157191"/>
              <a:chExt cx="3798647" cy="1056616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50340" y="5157191"/>
                <a:ext cx="829735" cy="1056616"/>
              </a:xfrm>
              <a:prstGeom prst="rect">
                <a:avLst/>
              </a:prstGeom>
            </p:spPr>
          </p:pic>
          <p:sp>
            <p:nvSpPr>
              <p:cNvPr id="17" name="矩形 16"/>
              <p:cNvSpPr/>
              <p:nvPr/>
            </p:nvSpPr>
            <p:spPr>
              <a:xfrm>
                <a:off x="8161580" y="5235441"/>
                <a:ext cx="2887407" cy="51296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76213" indent="-176213">
                  <a:lnSpc>
                    <a:spcPts val="2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en-US" altLang="zh-CN" sz="1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1930</a:t>
                </a:r>
                <a:r>
                  <a:rPr lang="zh-CN" altLang="en-US" sz="1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年，</a:t>
                </a:r>
                <a:r>
                  <a:rPr lang="el-GR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λ-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calculus</a:t>
                </a:r>
              </a:p>
              <a:p>
                <a:pPr>
                  <a:lnSpc>
                    <a:spcPts val="2000"/>
                  </a:lnSpc>
                  <a:buClr>
                    <a:srgbClr val="FF0000"/>
                  </a:buClr>
                  <a:buSzPct val="80000"/>
                </a:pPr>
                <a:r>
                  <a:rPr lang="zh-CN" altLang="en-US" sz="1600" b="1" dirty="0" smtClean="0"/>
                  <a:t>清晰定义</a:t>
                </a:r>
                <a:r>
                  <a:rPr lang="zh-CN" altLang="en-US" sz="1600" b="1" dirty="0"/>
                  <a:t>什么是一个可计算函数</a:t>
                </a:r>
                <a:endPara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288" y="919460"/>
            <a:ext cx="11377612" cy="2231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algn="just" eaLnBrk="1" fontAlgn="auto" hangingPunct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图灵认为：一个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是否可计算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并不取决于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它所解决的问题本身，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r>
              <a:rPr lang="zh-CN" altLang="zh-CN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取决于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是否可以用一个通用程序来实现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”。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，如果一个问题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可以解决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那它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必然可以在通用图灵机上得到解决。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 eaLnBrk="1" fontAlgn="auto" hangingPunct="1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图灵可停机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判断一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能否在“有限时间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内停止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结束运行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)”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陷入死循环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 eaLnBrk="1" fontAlgn="auto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揭示了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可计算性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不可计算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的本质区别，为计算机科学提供了一种基本的理论框架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3962" y="296357"/>
            <a:ext cx="271971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图灵可</a:t>
            </a:r>
            <a:r>
              <a:rPr lang="zh-CN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停机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与可计算性</a:t>
            </a:r>
            <a:endParaRPr lang="zh-CN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>
            <a:spLocks/>
          </p:cNvSpPr>
          <p:nvPr/>
        </p:nvSpPr>
        <p:spPr>
          <a:xfrm>
            <a:off x="407012" y="279749"/>
            <a:ext cx="2964408" cy="315823"/>
          </a:xfrm>
          <a:prstGeom prst="rect">
            <a:avLst/>
          </a:prstGeom>
        </p:spPr>
        <p:txBody>
          <a:bodyPr lIns="0" tIns="0" rIns="0" bIns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accent2"/>
              </a:buClr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对智能的测试：图灵测试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12" y="980728"/>
            <a:ext cx="4176820" cy="2760717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871864" y="976681"/>
            <a:ext cx="7068864" cy="2621016"/>
            <a:chOff x="4871864" y="976681"/>
            <a:chExt cx="7068864" cy="2621016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871864" y="976681"/>
              <a:ext cx="7068864" cy="467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1pPr>
              <a:lvl2pPr marL="800100" indent="-3429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2pPr>
              <a:lvl3pPr marL="1257300" indent="-3429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3pPr>
              <a:lvl4pPr marL="1714500" indent="-3429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4pPr>
              <a:lvl5pPr marL="2171700" indent="-3429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5pPr>
              <a:lvl6pPr marL="26289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6pPr>
              <a:lvl7pPr marL="30861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7pPr>
              <a:lvl8pPr marL="35433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8pPr>
              <a:lvl9pPr marL="40005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9pPr>
            </a:lstStyle>
            <a:p>
              <a:pPr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80000"/>
                <a:buFont typeface="宋体" panose="02010600030101010101" pitchFamily="2" charset="-122"/>
                <a:buChar char="□"/>
                <a:defRPr/>
              </a:pPr>
              <a:r>
                <a:rPr kumimoji="1"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Agent</a:t>
              </a:r>
              <a:r>
                <a:rPr kumimoji="1"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判定</a:t>
              </a:r>
              <a:r>
                <a:rPr kumimoji="1"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kumimoji="1"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Turing test</a:t>
              </a:r>
              <a:r>
                <a:rPr kumimoji="1"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问答→结果→思维→局限→争论</a:t>
              </a:r>
              <a:r>
                <a:rPr kumimoji="1"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303912" y="1674093"/>
              <a:ext cx="5760639" cy="1923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楷体_GB2312" pitchFamily="49" charset="-122"/>
                </a:defRPr>
              </a:lvl9pPr>
            </a:lstStyle>
            <a:p>
              <a:pPr marL="269875" indent="-269875" eaLnBrk="1" fontAlgn="auto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  <a:defRPr/>
              </a:pPr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通过图灵测试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的机器，是否就具备了思维能力？</a:t>
              </a: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eaLnBrk="1" fontAlgn="auto" hangingPunct="1">
                <a:lnSpc>
                  <a:spcPct val="200000"/>
                </a:lnSpc>
                <a:spcBef>
                  <a:spcPts val="0"/>
                </a:spcBef>
                <a:spcAft>
                  <a:spcPts val="1800"/>
                </a:spcAft>
                <a:defRPr/>
              </a:pP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kumimoji="1"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仅是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：算法</a:t>
              </a:r>
              <a:r>
                <a:rPr kumimoji="1"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程序；</a:t>
              </a:r>
              <a:r>
                <a:rPr kumimoji="1"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而非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：思维</a:t>
              </a:r>
              <a:r>
                <a:rPr kumimoji="1"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理解</a:t>
              </a:r>
              <a:r>
                <a:rPr kumimoji="1"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</a:p>
            <a:p>
              <a:pPr marL="342900" indent="-3429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  <a:defRPr/>
              </a:pPr>
              <a:r>
                <a:rPr kumimoji="1" lang="zh-CN" altLang="en-US" sz="2000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反对者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西尔勒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“中文屋子”</a:t>
              </a:r>
              <a:endPara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/>
          </p:cNvPr>
          <p:cNvSpPr txBox="1">
            <a:spLocks/>
          </p:cNvSpPr>
          <p:nvPr/>
        </p:nvSpPr>
        <p:spPr>
          <a:xfrm>
            <a:off x="418734" y="225243"/>
            <a:ext cx="8485578" cy="360362"/>
          </a:xfrm>
          <a:prstGeom prst="rect">
            <a:avLst/>
          </a:prstGeom>
        </p:spPr>
        <p:txBody>
          <a:bodyPr lIns="0" tIns="0" rIns="0" bIns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人工智能的第一次</a:t>
            </a:r>
            <a:r>
              <a:rPr lang="zh-CN" altLang="en-US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寒冬</a:t>
            </a:r>
            <a:r>
              <a:rPr lang="en-US" altLang="zh-CN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莱特希尔报告：未能解决真实世界中的问题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555" name="矩形 2"/>
          <p:cNvSpPr>
            <a:spLocks noChangeArrowheads="1"/>
          </p:cNvSpPr>
          <p:nvPr/>
        </p:nvSpPr>
        <p:spPr bwMode="auto">
          <a:xfrm>
            <a:off x="395288" y="3140968"/>
            <a:ext cx="11354166" cy="146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2725" indent="-2127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9pPr>
          </a:lstStyle>
          <a:p>
            <a:pPr marL="342900" indent="-342900" algn="just" eaLnBrk="1" fontAlgn="auto" hangingPunct="1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对人工智能进展和成效给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</a:t>
            </a:r>
            <a:r>
              <a:rPr lang="zh-CN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悲观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结论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该领域迄今为止的发现尚未产生当时承诺的重大</a:t>
            </a:r>
            <a:r>
              <a:rPr lang="zh-CN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影响</a:t>
            </a:r>
            <a:r>
              <a: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 part of the field have the discoveries made so far produced the major impact that was then 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promised</a:t>
            </a:r>
            <a:r>
              <a: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9750" indent="-176213" algn="just" eaLnBrk="1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人工智能研究集中在自动机、机器人和神经系统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，自动机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和神经系统的研究有价值，但进展令人失望。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9750" indent="-176213" algn="just" eaLnBrk="1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机器人的研究没有价值，进展非常令人失望，建议取消机器人的研究。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63750" y="1484313"/>
            <a:ext cx="806450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418734" y="899298"/>
            <a:ext cx="1135416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2725" indent="-2127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9pPr>
          </a:lstStyle>
          <a:p>
            <a:pPr marL="342900" indent="-342900" algn="just" eaLnBrk="1" fontAlgn="auto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莱特希尔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Lighthill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报告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1973</a:t>
            </a:r>
            <a:r>
              <a: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Artificial 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Intelligence: A General 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Survey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人工智能：一份全面报告</a:t>
            </a:r>
            <a:r>
              <a: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815970" y="1303929"/>
            <a:ext cx="10956930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2725" indent="-2127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9pPr>
          </a:lstStyle>
          <a:p>
            <a:pPr marL="176213" indent="-176213" algn="just" eaLnBrk="1" fontAlgn="auto" hangingPunct="1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世纪最伟大的</a:t>
            </a:r>
            <a:r>
              <a:rPr lang="zh-CN" altLang="en-US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数学家、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力学家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之一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现代空气动力学的开拓者。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6213" indent="-176213" algn="just" eaLnBrk="1" fontAlgn="auto" hangingPunct="1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23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两弹一星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元勋中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唯一的</a:t>
            </a:r>
            <a:r>
              <a:rPr lang="zh-CN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烈士</a:t>
            </a:r>
            <a:r>
              <a:rPr lang="zh-CN" altLang="en-US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郭永怀</a:t>
            </a:r>
            <a:r>
              <a:rPr lang="zh-CN" altLang="en-US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先生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将莱特希尔变型坐标法和普朗特的边界层理论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结合并推广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，得到著名的“</a:t>
            </a:r>
            <a:r>
              <a:rPr lang="zh-CN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彭加莱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莱特希尔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郭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方法。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Poincare-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Lighthill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Kuo</a:t>
            </a:r>
            <a:r>
              <a:rPr lang="en-US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method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PLK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6213" indent="-176213" algn="just" eaLnBrk="1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一种</a:t>
            </a:r>
            <a:r>
              <a:rPr lang="zh-CN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偏微分方程数值解法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Kuo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指郭永怀，为人类突破“声障”作出重要贡献。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18734" y="4901063"/>
            <a:ext cx="11377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2725" indent="-2127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1" charset="-122"/>
              </a:defRPr>
            </a:lvl9pPr>
          </a:lstStyle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强调</a:t>
            </a:r>
            <a:r>
              <a:rPr lang="zh-CN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“组合爆炸”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zh-CN" altLang="en-US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：当时的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人工智能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技术难以解决</a:t>
            </a:r>
            <a:r>
              <a:rPr lang="zh-CN" altLang="zh-CN" sz="1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，导致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人工智能只能解决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“玩具类问题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toy problem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”，而非真实世界中任务</a:t>
            </a:r>
            <a:r>
              <a:rPr lang="zh-CN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。报告导致英国政府几乎终止了对人工智能研究的资助。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246" y="2132856"/>
            <a:ext cx="11355654" cy="3618073"/>
            <a:chOff x="417246" y="2132856"/>
            <a:chExt cx="11355654" cy="3618073"/>
          </a:xfrm>
        </p:grpSpPr>
        <p:sp>
          <p:nvSpPr>
            <p:cNvPr id="2" name="矩形 1">
              <a:extLst/>
            </p:cNvPr>
            <p:cNvSpPr/>
            <p:nvPr/>
          </p:nvSpPr>
          <p:spPr>
            <a:xfrm>
              <a:off x="417246" y="2132856"/>
              <a:ext cx="11355654" cy="82073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 algn="just" eaLnBrk="1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/>
              </a:pPr>
              <a:r>
                <a:rPr lang="zh-CN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zh-CN" altLang="en-US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当时</a:t>
              </a:r>
              <a:r>
                <a:rPr lang="zh-CN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研究现状相比，</a:t>
              </a:r>
              <a:r>
                <a:rPr lang="en-US" altLang="zh-CN" sz="2000" b="1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sz="2000" b="1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报告</a:t>
              </a:r>
              <a:r>
                <a:rPr lang="en-US" altLang="zh-CN" sz="2000" b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sz="2000" b="1" kern="1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有失</a:t>
              </a:r>
              <a:r>
                <a:rPr lang="zh-CN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公允</a:t>
              </a:r>
              <a:r>
                <a:rPr lang="zh-CN" altLang="zh-CN" sz="2000" b="1" kern="1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r>
                <a:rPr lang="en-US" altLang="zh-CN" sz="2000" b="1" kern="1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1973</a:t>
              </a:r>
              <a:r>
                <a:rPr lang="zh-CN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年</a:t>
              </a:r>
              <a:r>
                <a:rPr lang="en-US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月</a:t>
              </a:r>
              <a:r>
                <a:rPr lang="en-US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BBC</a:t>
              </a:r>
              <a:r>
                <a:rPr lang="zh-CN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邀请莱特希尔、麦卡锡</a:t>
              </a:r>
              <a:r>
                <a:rPr lang="en-US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zh-CN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等科学家围绕</a:t>
              </a:r>
              <a:r>
                <a:rPr lang="en-US" altLang="zh-CN" sz="2000" b="1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通用机器人是</a:t>
              </a:r>
              <a:r>
                <a:rPr lang="zh-CN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海市蜃楼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吗</a:t>
              </a:r>
              <a:r>
                <a:rPr lang="en-US" altLang="zh-CN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the general purpose robot is a mirage</a:t>
              </a: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？</a:t>
              </a:r>
              <a:r>
                <a:rPr lang="en-US" altLang="zh-CN" sz="2000" b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en-US" sz="2000" b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zh-CN" altLang="zh-CN" sz="2000" b="1" kern="1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主题</a:t>
              </a:r>
              <a:r>
                <a:rPr lang="zh-CN" altLang="en-US" sz="2000" b="1" kern="1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sz="2000" b="1" kern="1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电视</a:t>
              </a:r>
              <a:r>
                <a:rPr lang="zh-CN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辩论</a:t>
              </a:r>
              <a:r>
                <a:rPr lang="en-US" altLang="zh-CN" sz="2000" b="1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000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AI debate</a:t>
              </a:r>
              <a:r>
                <a:rPr lang="en-US" altLang="zh-CN" sz="2000" b="1" kern="100" dirty="0" smtClean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639616" y="3212976"/>
              <a:ext cx="7269660" cy="2537953"/>
              <a:chOff x="1055440" y="3339319"/>
              <a:chExt cx="7269660" cy="2537953"/>
            </a:xfrm>
          </p:grpSpPr>
          <p:pic>
            <p:nvPicPr>
              <p:cNvPr id="32771" name="图片 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5440" y="3339319"/>
                <a:ext cx="3394130" cy="25379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772" name="图片 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3871" y="3339320"/>
                <a:ext cx="3381229" cy="2510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5" name="矩形 4">
            <a:extLst/>
          </p:cNvPr>
          <p:cNvSpPr/>
          <p:nvPr/>
        </p:nvSpPr>
        <p:spPr>
          <a:xfrm>
            <a:off x="395288" y="759574"/>
            <a:ext cx="6276776" cy="11717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批评者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人工智能没有取得任何进展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支持者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人工智能已经取得了许多进展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批评者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取得的进展根本就不是真实智能所考虑的问题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/>
          </p:cNvPr>
          <p:cNvSpPr txBox="1">
            <a:spLocks/>
          </p:cNvSpPr>
          <p:nvPr/>
        </p:nvSpPr>
        <p:spPr>
          <a:xfrm>
            <a:off x="423778" y="239713"/>
            <a:ext cx="8264510" cy="401637"/>
          </a:xfrm>
          <a:prstGeom prst="rect">
            <a:avLst/>
          </a:prstGeom>
        </p:spPr>
        <p:txBody>
          <a:bodyPr lIns="0" tIns="0" rIns="0" bIns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第二次寒冬</a:t>
            </a:r>
            <a:r>
              <a:rPr lang="en-US" altLang="zh-CN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爬上</a:t>
            </a:r>
            <a:r>
              <a:rPr lang="zh-CN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树梢与攀登</a:t>
            </a:r>
            <a:r>
              <a:rPr lang="zh-CN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月球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：形容完成任务的不同情景和难度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63750" y="1484313"/>
            <a:ext cx="806450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/>
          </p:cNvPr>
          <p:cNvSpPr/>
          <p:nvPr/>
        </p:nvSpPr>
        <p:spPr>
          <a:xfrm>
            <a:off x="395288" y="836712"/>
            <a:ext cx="11377612" cy="15388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algn="just"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刺激与学习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：巴甫洛夫条件反射定律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3888" indent="-260350"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除食物本身之外，在食物出现之前的其他刺激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如送食人员或其脚步声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铃声等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，也会引起狗分泌唾液。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3888" indent="-260350"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巴甫洛夫根据谢切诺夫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Sechenov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Ivan 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Mikhaillovich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《脑的反射》著作中提出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大脑</a:t>
            </a:r>
            <a:r>
              <a:rPr lang="zh-CN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一切活动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都是反射，包含有意识和无意识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理论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，提出了著名的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“巴甫洛夫条件反射定律”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67408" y="2520156"/>
            <a:ext cx="10484713" cy="3171677"/>
            <a:chOff x="1831658" y="2692400"/>
            <a:chExt cx="10484713" cy="3171677"/>
          </a:xfrm>
        </p:grpSpPr>
        <p:grpSp>
          <p:nvGrpSpPr>
            <p:cNvPr id="33798" name="组合 7"/>
            <p:cNvGrpSpPr>
              <a:grpSpLocks/>
            </p:cNvGrpSpPr>
            <p:nvPr/>
          </p:nvGrpSpPr>
          <p:grpSpPr bwMode="auto">
            <a:xfrm>
              <a:off x="1831658" y="2905125"/>
              <a:ext cx="3140283" cy="2951123"/>
              <a:chOff x="813893" y="2905559"/>
              <a:chExt cx="3141859" cy="2949940"/>
            </a:xfrm>
          </p:grpSpPr>
          <p:pic>
            <p:nvPicPr>
              <p:cNvPr id="33802" name="Picture 2" descr="File:Skull and brain normal human.sv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78822" y="2905559"/>
                <a:ext cx="1611998" cy="2254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矩形 6">
                <a:extLst/>
              </p:cNvPr>
              <p:cNvSpPr/>
              <p:nvPr/>
            </p:nvSpPr>
            <p:spPr>
              <a:xfrm>
                <a:off x="813893" y="5301723"/>
                <a:ext cx="3141859" cy="553776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800</a:t>
                </a:r>
                <a:r>
                  <a:rPr lang="zh-CN" altLang="en-US" b="1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亿神经元之间如何工作的？</a:t>
                </a:r>
                <a:endParaRPr lang="en-US" altLang="zh-CN" b="1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b="1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（记忆、意识、直觉等能力）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891088" y="2692400"/>
              <a:ext cx="7425283" cy="3171677"/>
              <a:chOff x="4891088" y="2692400"/>
              <a:chExt cx="7425283" cy="3171677"/>
            </a:xfrm>
          </p:grpSpPr>
          <p:pic>
            <p:nvPicPr>
              <p:cNvPr id="33799" name="Picture 2" descr="REFLEXOLOGIA - Definition and synonyms of reflexologia in the Portuguese  dictionary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91088" y="2692400"/>
                <a:ext cx="2271712" cy="16938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800" name="图片 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4425" y="2794000"/>
                <a:ext cx="2678113" cy="1506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10">
                <a:extLst/>
              </p:cNvPr>
              <p:cNvSpPr/>
              <p:nvPr/>
            </p:nvSpPr>
            <p:spPr>
              <a:xfrm>
                <a:off x="4976813" y="4479082"/>
                <a:ext cx="7339558" cy="138499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9875" indent="-269875" eaLnBrk="1" fontAlgn="auto" hangingPunct="1">
                  <a:lnSpc>
                    <a:spcPts val="27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defRPr/>
                </a:pPr>
                <a:r>
                  <a:rPr lang="zh-CN" altLang="zh-CN" sz="20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赫布理论</a:t>
                </a:r>
                <a:r>
                  <a:rPr lang="zh-CN" altLang="zh-CN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Hebbian theory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539750" indent="-176213" eaLnBrk="1" fontAlgn="auto" hangingPunct="1">
                  <a:lnSpc>
                    <a:spcPts val="27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zh-CN" b="1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神经元之间</a:t>
                </a:r>
                <a:r>
                  <a:rPr lang="zh-CN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持续重复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经验刺激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可导致</a:t>
                </a:r>
                <a:r>
                  <a:rPr lang="zh-CN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突触传递效能</a:t>
                </a:r>
                <a:r>
                  <a:rPr lang="zh-CN" altLang="zh-CN" b="1" dirty="0" smtClean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增加</a:t>
                </a:r>
                <a:r>
                  <a:rPr lang="en-US" altLang="zh-CN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Neurons that fire together, wire together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r>
                  <a:rPr lang="zh-CN" altLang="zh-CN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神经元之间</a:t>
                </a:r>
                <a:r>
                  <a:rPr lang="zh-CN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突触的强弱变化</a:t>
                </a:r>
                <a:r>
                  <a:rPr lang="zh-CN" altLang="zh-CN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学习与记忆</a:t>
                </a:r>
                <a:r>
                  <a:rPr lang="zh-CN" altLang="zh-CN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的生理学</a:t>
                </a:r>
                <a:r>
                  <a:rPr lang="zh-CN" altLang="zh-CN" b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基础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12" name="直接连接符 1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标题 1">
            <a:extLst/>
          </p:cNvPr>
          <p:cNvSpPr txBox="1">
            <a:spLocks/>
          </p:cNvSpPr>
          <p:nvPr/>
        </p:nvSpPr>
        <p:spPr>
          <a:xfrm>
            <a:off x="9379913" y="2869137"/>
            <a:ext cx="1872208" cy="917770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lIns="0" tIns="0" rIns="0" bIns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学习过程中</a:t>
            </a:r>
            <a:endParaRPr lang="en-US" altLang="zh-CN" sz="20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脑神经元的变化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/>
          </p:cNvPr>
          <p:cNvSpPr/>
          <p:nvPr/>
        </p:nvSpPr>
        <p:spPr>
          <a:xfrm>
            <a:off x="395288" y="788238"/>
            <a:ext cx="11377612" cy="110927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marL="269875" indent="-269875"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1943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年，神经学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家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Warren McCulloch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逻辑学家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Walter Pitts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合作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MP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神经元模型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69875" indent="-269875"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1954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年，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McCulloch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在《英国科学哲学期刊》发表《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走出形而上学的洞穴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Through the Den of the Metaphysician)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》</a:t>
            </a:r>
            <a:endParaRPr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--- </a:t>
            </a:r>
            <a:r>
              <a:rPr lang="zh-CN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科学史上第一次，我们知道了我们是怎么知道的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/>
          </p:cNvPr>
          <p:cNvSpPr/>
          <p:nvPr/>
        </p:nvSpPr>
        <p:spPr>
          <a:xfrm>
            <a:off x="395288" y="2093916"/>
            <a:ext cx="10021192" cy="320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eaLnBrk="1" fontAlgn="auto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Frank Rosenblatt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年代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提出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感知机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perceptron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)”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模型，人们对神经网络寄予了莫大期望。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/>
          </p:cNvPr>
          <p:cNvSpPr/>
          <p:nvPr/>
        </p:nvSpPr>
        <p:spPr>
          <a:xfrm>
            <a:off x="395288" y="2610917"/>
            <a:ext cx="11461352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1969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年，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Marvin Minsky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Seymour </a:t>
            </a:r>
            <a:r>
              <a:rPr lang="en-US" altLang="zh-CN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A.Papert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出版《感知机：计算几何学》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，证明了</a:t>
            </a:r>
            <a:r>
              <a:rPr lang="zh-CN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输入层</a:t>
            </a:r>
            <a:r>
              <a:rPr lang="zh-CN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输出层</a:t>
            </a:r>
            <a:r>
              <a:rPr lang="zh-CN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构成的感知机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能力极其有限，甚至无法完成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异</a:t>
            </a:r>
            <a:r>
              <a:rPr lang="zh-CN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XOR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一基本逻辑计算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于是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神经网络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被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打入冷宫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世纪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年代开始，人工智能进入了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年左右的第二个冬天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/>
          </p:cNvPr>
          <p:cNvSpPr/>
          <p:nvPr/>
        </p:nvSpPr>
        <p:spPr>
          <a:xfrm>
            <a:off x="695400" y="3905699"/>
            <a:ext cx="11233248" cy="1962076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  <p:txBody>
          <a:bodyPr wrap="square" lIns="0" tIns="0" rIns="0" bIns="0">
            <a:spAutoFit/>
          </a:bodyPr>
          <a:lstStyle/>
          <a:p>
            <a:pPr marL="285750" indent="-285750" eaLnBrk="1" fontAlgn="auto" hangingPunct="1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IEEE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为纪念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Rosenblatt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2004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设立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IEEE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Frank Rosenblatt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奖。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eaLnBrk="1" fontAlgn="auto" hangingPunct="1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今天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深度学习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正推动人工智能形成第三次发展浪潮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eaLnBrk="1" fontAlgn="auto" hangingPunct="1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误差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</a:t>
            </a:r>
            <a:r>
              <a:rPr lang="zh-CN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向传播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训练神经网络参数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Paul </a:t>
            </a:r>
            <a:r>
              <a:rPr lang="en-US" altLang="zh-CN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Werbos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深度学习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Geoffrey Hinton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2022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2014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年获得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IEEE Frank Rosenblatt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奖</a:t>
            </a:r>
            <a:r>
              <a:rPr lang="zh-CN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eaLnBrk="1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2024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年，</a:t>
            </a:r>
            <a:r>
              <a:rPr lang="en-US" altLang="zh-CN" dirty="0"/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Hopfield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Geoffrey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Hinton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获得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诺贝尔物理学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奖。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13" y="908720"/>
            <a:ext cx="10785787" cy="518457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>
            <a:extLst/>
          </p:cNvPr>
          <p:cNvSpPr txBox="1">
            <a:spLocks/>
          </p:cNvSpPr>
          <p:nvPr/>
        </p:nvSpPr>
        <p:spPr>
          <a:xfrm>
            <a:off x="395288" y="239492"/>
            <a:ext cx="2244328" cy="400050"/>
          </a:xfrm>
          <a:prstGeom prst="rect">
            <a:avLst/>
          </a:prstGeom>
        </p:spPr>
        <p:txBody>
          <a:bodyPr lIns="0" tIns="0" rIns="0" bIns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</a:t>
            </a:r>
            <a:r>
              <a:rPr lang="zh-CN" altLang="en-US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的发展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>
            <a:extLst/>
          </p:cNvPr>
          <p:cNvSpPr/>
          <p:nvPr/>
        </p:nvSpPr>
        <p:spPr>
          <a:xfrm>
            <a:off x="383922" y="227149"/>
            <a:ext cx="9379170" cy="3323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人工智能正发挥基座能力：通用目的技术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General purpose technologies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" name="矩形 2">
            <a:extLst/>
          </p:cNvPr>
          <p:cNvSpPr/>
          <p:nvPr/>
        </p:nvSpPr>
        <p:spPr>
          <a:xfrm>
            <a:off x="395288" y="908720"/>
            <a:ext cx="9301112" cy="361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通用目的技术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是“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增长的引擎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”，具有如下基本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特性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marL="539750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普遍适用性：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能广泛应用到大多数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演进性：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随着时间的推移，该技术能不断得到改进，使用成本不断降低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创新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互补性：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提高应用部门的研发生产率，反过来又促进该技术自身的进步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目的技术是“使能技术”，但不是完整的最终解决方案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目的技术表现扩散滞后的生产力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悖论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9875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---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技术的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开发，与其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对生产力和经济增长的影响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之间，通常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存在滞后。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288" y="852095"/>
            <a:ext cx="706886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人工智能的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三种学派：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符号主义、联结主义、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行为主义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/>
          </p:cNvPr>
          <p:cNvSpPr txBox="1"/>
          <p:nvPr/>
        </p:nvSpPr>
        <p:spPr>
          <a:xfrm>
            <a:off x="383565" y="196729"/>
            <a:ext cx="31921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五、如何模拟人类智能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288" y="1566037"/>
            <a:ext cx="11461352" cy="3354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符号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主义：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也称逻辑主义、计算机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353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⑴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观点：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知识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的基本元素是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符号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，智能的基础依赖于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53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⑵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、以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符号形式的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基础，主要通过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逻辑推理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运用知识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进行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问题求解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。（功能模拟）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53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⑶、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代表人物：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纽厄尔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、西蒙、费根鲍姆、肖特里菲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Shortliffe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53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⑷、纽厄尔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西蒙：提出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了著名的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物理符号系统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假说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53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若一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b="1" u="wavyDbl" dirty="0" smtClean="0">
                <a:latin typeface="宋体" panose="02010600030101010101" pitchFamily="2" charset="-122"/>
                <a:ea typeface="宋体" panose="02010600030101010101" pitchFamily="2" charset="-122"/>
              </a:rPr>
              <a:t>物理符号系统具有</a:t>
            </a:r>
            <a:r>
              <a:rPr lang="zh-CN" altLang="en-US" b="1" u="wavyDbl" dirty="0" smtClean="0">
                <a:latin typeface="宋体" panose="02010600030101010101" pitchFamily="2" charset="-122"/>
                <a:ea typeface="宋体" panose="02010600030101010101" pitchFamily="2" charset="-122"/>
              </a:rPr>
              <a:t>智能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，那就能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执行对符号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种操作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、输出、存储、复制、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条件转移、 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3538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建立符号结构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。反之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，能执行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这六种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操作的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任何符号系统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，也就一定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能表现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出智能。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288" y="898262"/>
            <a:ext cx="11461352" cy="38472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联结主义：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也称仿生学派、生理学派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⑴、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观点：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人工智能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可以通过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模拟人脑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，主要内容就是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人工神经网络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⑵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、人工智能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源于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仿生学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，特别是对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人脑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研究，认为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人的思维单元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神经元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，而不是符号处理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过程。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⑶、提出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联结主义的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大脑工作模式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1" u="wavyDbl" dirty="0">
                <a:latin typeface="宋体" panose="02010600030101010101" pitchFamily="2" charset="-122"/>
                <a:ea typeface="宋体" panose="02010600030101010101" pitchFamily="2" charset="-122"/>
              </a:rPr>
              <a:t>否定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基于符号操作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u="wavyDbl" dirty="0">
                <a:latin typeface="宋体" panose="02010600030101010101" pitchFamily="2" charset="-122"/>
                <a:ea typeface="宋体" panose="02010600030101010101" pitchFamily="2" charset="-122"/>
              </a:rPr>
              <a:t>计算机工作模式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⑷、代表人物：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罗森布拉特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、鲁梅尔哈特、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霍普菲尔德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----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人类智能主要来源大脑活动，大脑是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由上万亿个神经元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细胞，通过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错综复杂的相互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连接构成，可通过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仿真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大量神经元的集体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活动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广泛互联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模拟大脑智能，这种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错综复杂的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即称为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神经网络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⑸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统计机器学习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模拟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4295800" y="4445788"/>
            <a:ext cx="7024884" cy="1595946"/>
            <a:chOff x="4295800" y="4445788"/>
            <a:chExt cx="7024884" cy="159594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6213" y="4445788"/>
              <a:ext cx="2924471" cy="1573534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4295800" y="4445788"/>
              <a:ext cx="3702948" cy="1595946"/>
              <a:chOff x="4295800" y="4445788"/>
              <a:chExt cx="3702948" cy="1595946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95800" y="4445788"/>
                <a:ext cx="3558932" cy="1573534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5519936" y="5795513"/>
                <a:ext cx="2478812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1600" b="1" dirty="0" smtClean="0">
                    <a:solidFill>
                      <a:srgbClr val="22222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图：</a:t>
                </a:r>
                <a:r>
                  <a:rPr lang="en-US" altLang="zh-CN" sz="1600" b="1" dirty="0" smtClean="0">
                    <a:solidFill>
                      <a:srgbClr val="22222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MP</a:t>
                </a:r>
                <a:r>
                  <a:rPr lang="zh-CN" altLang="en-US" sz="1600" b="1" dirty="0" smtClean="0">
                    <a:solidFill>
                      <a:srgbClr val="22222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模型（单个神经元）</a:t>
                </a:r>
                <a:endPara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51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95288" y="808417"/>
            <a:ext cx="11377612" cy="29392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行为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主义：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也称进化主义、控制论学派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⑴、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观点：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智能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取决于感知和行为，不需要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知识、表示、推理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，即智能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行为是通过与环境交互表现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出来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⑵、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代表人物：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Rodney Brooks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1991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年和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1992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年分别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提出了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没有表达的智能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”、“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没有推理的智能”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，颠覆了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符号→知识工程→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专家系统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节点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→结构→神经网络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的智能脉络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⑶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、甚至认为：</a:t>
            </a:r>
            <a:r>
              <a:rPr lang="zh-CN" altLang="en-US" b="1" u="wavyDbl" dirty="0" smtClean="0">
                <a:latin typeface="宋体" panose="02010600030101010101" pitchFamily="2" charset="-122"/>
                <a:ea typeface="宋体" panose="02010600030101010101" pitchFamily="2" charset="-122"/>
              </a:rPr>
              <a:t>符号主义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u="wavyDbl" dirty="0" smtClean="0">
                <a:latin typeface="宋体" panose="02010600030101010101" pitchFamily="2" charset="-122"/>
                <a:ea typeface="宋体" panose="02010600030101010101" pitchFamily="2" charset="-122"/>
              </a:rPr>
              <a:t>联结</a:t>
            </a:r>
            <a:r>
              <a:rPr lang="zh-CN" altLang="en-US" b="1" u="wavyDbl" dirty="0">
                <a:latin typeface="宋体" panose="02010600030101010101" pitchFamily="2" charset="-122"/>
                <a:ea typeface="宋体" panose="02010600030101010101" pitchFamily="2" charset="-122"/>
              </a:rPr>
              <a:t>主义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对事物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的描述及其智能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行为，过于</a:t>
            </a:r>
            <a:r>
              <a:rPr lang="zh-CN" altLang="en-US" b="1" u="wavyDbl" dirty="0" smtClean="0">
                <a:latin typeface="宋体" panose="02010600030101010101" pitchFamily="2" charset="-122"/>
                <a:ea typeface="宋体" panose="02010600030101010101" pitchFamily="2" charset="-122"/>
              </a:rPr>
              <a:t>简化和抽象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，不能真实反映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客观存在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⑷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zh-CN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环境</a:t>
            </a:r>
            <a:r>
              <a:rPr lang="zh-CN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交互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过程中进行</a:t>
            </a:r>
            <a:r>
              <a:rPr lang="zh-CN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策略</a:t>
            </a:r>
            <a:r>
              <a:rPr lang="zh-CN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，用于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行为模拟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36" y="4314080"/>
            <a:ext cx="1590438" cy="12961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984" y="3701517"/>
            <a:ext cx="5455026" cy="24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标注 1"/>
          <p:cNvSpPr/>
          <p:nvPr/>
        </p:nvSpPr>
        <p:spPr>
          <a:xfrm>
            <a:off x="3359696" y="5229572"/>
            <a:ext cx="5256584" cy="647700"/>
          </a:xfrm>
          <a:prstGeom prst="wedgeRoundRectCallout">
            <a:avLst>
              <a:gd name="adj1" fmla="val -21684"/>
              <a:gd name="adj2" fmla="val -93026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采用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不同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技术手段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模拟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人类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不同方面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智能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836712"/>
            <a:ext cx="76581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3961" y="212086"/>
            <a:ext cx="3775075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六、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人工智能的模型与方法</a:t>
            </a:r>
          </a:p>
        </p:txBody>
      </p:sp>
      <p:sp>
        <p:nvSpPr>
          <p:cNvPr id="5" name="文本框 4">
            <a:extLst/>
          </p:cNvPr>
          <p:cNvSpPr txBox="1"/>
          <p:nvPr/>
        </p:nvSpPr>
        <p:spPr>
          <a:xfrm>
            <a:off x="412238" y="763413"/>
            <a:ext cx="3943847" cy="30777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342900" indent="-342900" algn="just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符号主义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为核心的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逻辑推理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问题求解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为核心的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探寻搜索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数据驱动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为核心的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机器学习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行为主义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为核心的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强化学习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博弈对抗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为核心的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决策智能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06" y="3284984"/>
            <a:ext cx="8480000" cy="197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/>
          </p:cNvPr>
          <p:cNvSpPr txBox="1"/>
          <p:nvPr/>
        </p:nvSpPr>
        <p:spPr>
          <a:xfrm>
            <a:off x="407010" y="188640"/>
            <a:ext cx="4536861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以符号主义为核心的逻辑推理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837012" y="3342353"/>
            <a:ext cx="1627188" cy="277813"/>
          </a:xfrm>
          <a:prstGeom prst="rect">
            <a:avLst/>
          </a:prstGeom>
          <a:noFill/>
          <a:ln w="12700">
            <a:solidFill>
              <a:srgbClr val="0000FF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三段论推导方法</a:t>
            </a:r>
            <a:endParaRPr lang="zh-CN" altLang="en-US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700208" y="2636912"/>
            <a:ext cx="930275" cy="276225"/>
          </a:xfrm>
          <a:prstGeom prst="rect">
            <a:avLst/>
          </a:prstGeom>
          <a:noFill/>
          <a:ln w="12700">
            <a:solidFill>
              <a:srgbClr val="0000FF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人都会死</a:t>
            </a:r>
          </a:p>
        </p:txBody>
      </p: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1199456" y="4557682"/>
            <a:ext cx="5244862" cy="287338"/>
            <a:chOff x="1385374" y="4869889"/>
            <a:chExt cx="5030501" cy="287748"/>
          </a:xfrm>
        </p:grpSpPr>
        <p:sp>
          <p:nvSpPr>
            <p:cNvPr id="13" name="矩形 12"/>
            <p:cNvSpPr/>
            <p:nvPr/>
          </p:nvSpPr>
          <p:spPr bwMode="auto">
            <a:xfrm>
              <a:off x="1385374" y="4869889"/>
              <a:ext cx="3097581" cy="287748"/>
            </a:xfrm>
            <a:prstGeom prst="rect">
              <a:avLst/>
            </a:prstGeom>
            <a:noFill/>
            <a:ln>
              <a:solidFill>
                <a:srgbClr val="0000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4689250" y="4869889"/>
              <a:ext cx="1726625" cy="287748"/>
            </a:xfrm>
            <a:prstGeom prst="rect">
              <a:avLst/>
            </a:prstGeom>
            <a:noFill/>
            <a:ln>
              <a:solidFill>
                <a:srgbClr val="0000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6700208" y="4561142"/>
            <a:ext cx="2276112" cy="28733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矩形 16">
            <a:extLst/>
          </p:cNvPr>
          <p:cNvSpPr/>
          <p:nvPr/>
        </p:nvSpPr>
        <p:spPr>
          <a:xfrm>
            <a:off x="390461" y="847303"/>
            <a:ext cx="167309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逻辑推理</a:t>
            </a:r>
          </a:p>
        </p:txBody>
      </p:sp>
      <p:pic>
        <p:nvPicPr>
          <p:cNvPr id="45065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06" y="1404028"/>
            <a:ext cx="5847358" cy="158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/>
          </p:cNvPr>
          <p:cNvSpPr txBox="1"/>
          <p:nvPr/>
        </p:nvSpPr>
        <p:spPr>
          <a:xfrm>
            <a:off x="430457" y="304217"/>
            <a:ext cx="3754437" cy="307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以问题求解为核心的探寻搜索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/>
          </p:cNvPr>
          <p:cNvSpPr/>
          <p:nvPr/>
        </p:nvSpPr>
        <p:spPr>
          <a:xfrm>
            <a:off x="407011" y="841885"/>
            <a:ext cx="165654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搜索求解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13" y="1745521"/>
            <a:ext cx="6694404" cy="188101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991196" y="841885"/>
            <a:ext cx="9863765" cy="4675347"/>
            <a:chOff x="1991196" y="841885"/>
            <a:chExt cx="9863765" cy="4675347"/>
          </a:xfrm>
        </p:grpSpPr>
        <p:grpSp>
          <p:nvGrpSpPr>
            <p:cNvPr id="2" name="组合 1"/>
            <p:cNvGrpSpPr>
              <a:grpSpLocks/>
            </p:cNvGrpSpPr>
            <p:nvPr/>
          </p:nvGrpSpPr>
          <p:grpSpPr bwMode="auto">
            <a:xfrm>
              <a:off x="1991196" y="3977769"/>
              <a:ext cx="6769100" cy="1539463"/>
              <a:chOff x="1690984" y="3861048"/>
              <a:chExt cx="6769100" cy="1538611"/>
            </a:xfrm>
          </p:grpSpPr>
          <p:sp>
            <p:nvSpPr>
              <p:cNvPr id="46086" name="矩形 4"/>
              <p:cNvSpPr>
                <a:spLocks noChangeArrowheads="1"/>
              </p:cNvSpPr>
              <p:nvPr/>
            </p:nvSpPr>
            <p:spPr bwMode="auto">
              <a:xfrm>
                <a:off x="1979364" y="4076952"/>
                <a:ext cx="6351368" cy="1322707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prstDash val="sys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班扎古鲁白玛的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沉默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见与不见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：  你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见，或者不见我</a:t>
                </a: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---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扎西拉姆多多           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     我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就在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那里</a:t>
                </a:r>
                <a:endPara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                               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不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悲不</a:t>
                </a:r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喜</a:t>
                </a:r>
                <a:endPara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                               ……</a:t>
                </a:r>
                <a:endPara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cxnSp>
            <p:nvCxnSpPr>
              <p:cNvPr id="3" name="直接连接符 2"/>
              <p:cNvCxnSpPr/>
              <p:nvPr/>
            </p:nvCxnSpPr>
            <p:spPr>
              <a:xfrm>
                <a:off x="1690984" y="3861048"/>
                <a:ext cx="67691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6729" y="841885"/>
              <a:ext cx="2848232" cy="236866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/>
          </p:cNvPr>
          <p:cNvSpPr txBox="1"/>
          <p:nvPr/>
        </p:nvSpPr>
        <p:spPr>
          <a:xfrm>
            <a:off x="430457" y="288803"/>
            <a:ext cx="3790950" cy="307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以数据驱动为核心的机器学习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/>
          </p:cNvPr>
          <p:cNvSpPr/>
          <p:nvPr/>
        </p:nvSpPr>
        <p:spPr>
          <a:xfrm>
            <a:off x="395288" y="858273"/>
            <a:ext cx="1668264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机器学习</a:t>
            </a:r>
          </a:p>
        </p:txBody>
      </p:sp>
      <p:pic>
        <p:nvPicPr>
          <p:cNvPr id="47108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177971"/>
            <a:ext cx="7793472" cy="4105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/>
          </p:cNvPr>
          <p:cNvSpPr txBox="1"/>
          <p:nvPr/>
        </p:nvSpPr>
        <p:spPr>
          <a:xfrm>
            <a:off x="418734" y="301188"/>
            <a:ext cx="3765550" cy="307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以行为主义为核心的强化学习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/>
          </p:cNvPr>
          <p:cNvSpPr/>
          <p:nvPr/>
        </p:nvSpPr>
        <p:spPr>
          <a:xfrm>
            <a:off x="395288" y="836712"/>
            <a:ext cx="11523198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智能体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与其所处</a:t>
            </a:r>
            <a:r>
              <a:rPr lang="zh-CN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环境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zh-CN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交互</a:t>
            </a:r>
            <a:endParaRPr lang="en-US" altLang="zh-CN" sz="2000" b="1" kern="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根据环境所提供的</a:t>
            </a:r>
            <a:r>
              <a:rPr lang="zh-CN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奖</a:t>
            </a:r>
            <a:r>
              <a:rPr lang="en-US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惩</a:t>
            </a:r>
            <a:r>
              <a:rPr lang="zh-CN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反馈</a:t>
            </a: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学习所处状态可施加的最佳行动</a:t>
            </a:r>
            <a:r>
              <a:rPr lang="zh-CN" altLang="en-US" sz="2000" b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2000" b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（如</a:t>
            </a: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碰</a:t>
            </a: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到障碍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折返）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运用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尝试</a:t>
            </a:r>
            <a:r>
              <a:rPr lang="en-US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试错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平衡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探索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未知空间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已有经验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)”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zh-CN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不断进步</a:t>
            </a:r>
            <a:r>
              <a:rPr lang="zh-CN" altLang="zh-CN" sz="2000" b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优化</a:t>
            </a:r>
            <a:r>
              <a:rPr lang="zh-CN" altLang="zh-CN" sz="2000" b="1" kern="1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行动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策略</a:t>
            </a: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8132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2398842"/>
            <a:ext cx="4296552" cy="348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/>
          </p:cNvPr>
          <p:cNvSpPr txBox="1"/>
          <p:nvPr/>
        </p:nvSpPr>
        <p:spPr>
          <a:xfrm>
            <a:off x="442180" y="277080"/>
            <a:ext cx="3763963" cy="307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以博弈对抗为核心的决策智能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/>
          </p:cNvPr>
          <p:cNvSpPr/>
          <p:nvPr/>
        </p:nvSpPr>
        <p:spPr>
          <a:xfrm>
            <a:off x="395288" y="873551"/>
            <a:ext cx="11377612" cy="18899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algn="just" eaLnBrk="1" fontAlgn="auto" hangingPunct="1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两害相权取其轻，两利相权取其重</a:t>
            </a: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 eaLnBrk="1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现代博弈论主要研究</a:t>
            </a: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博弈行为中</a:t>
            </a:r>
            <a:r>
              <a:rPr lang="zh-CN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最优对抗策略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及其</a:t>
            </a:r>
            <a:r>
              <a:rPr lang="zh-CN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稳定局势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，协助</a:t>
            </a:r>
            <a:r>
              <a:rPr lang="zh-CN" altLang="zh-CN" sz="2000" b="1" kern="1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对弈者</a:t>
            </a:r>
            <a:r>
              <a:rPr lang="zh-CN" altLang="zh-CN" sz="2000" b="1" u="wavyDbl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在一定规则范围内</a:t>
            </a:r>
            <a:r>
              <a:rPr lang="zh-CN" altLang="zh-CN" sz="2000" b="1" kern="1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寻求</a:t>
            </a:r>
            <a:endParaRPr lang="en-US" altLang="zh-CN" sz="2000" b="1" kern="100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fontAlgn="auto" hangingPunct="1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defRPr/>
            </a:pPr>
            <a:r>
              <a:rPr lang="en-US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zh-CN" altLang="zh-CN" sz="2000" b="1" kern="1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</a:t>
            </a:r>
            <a:r>
              <a:rPr lang="zh-CN" altLang="zh-CN" sz="20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合理的行为方式</a:t>
            </a: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 eaLnBrk="1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zh-CN" sz="20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推动</a:t>
            </a:r>
            <a:r>
              <a:rPr lang="zh-CN" altLang="zh-CN" sz="20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机器学习</a:t>
            </a:r>
            <a:r>
              <a:rPr lang="zh-CN" altLang="zh-CN" sz="20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zh-CN" sz="20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数据拟合过程</a:t>
            </a:r>
            <a:r>
              <a:rPr lang="zh-CN" altLang="zh-CN" sz="20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中以</a:t>
            </a:r>
            <a:r>
              <a:rPr lang="zh-CN" altLang="zh-CN" sz="20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求最优解</a:t>
            </a:r>
            <a:r>
              <a:rPr lang="zh-CN" altLang="zh-CN" sz="20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为核心</a:t>
            </a:r>
            <a:r>
              <a:rPr lang="zh-CN" altLang="en-US" sz="20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0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向</a:t>
            </a:r>
            <a:r>
              <a:rPr lang="zh-CN" altLang="zh-CN" sz="20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博弈对抗</a:t>
            </a:r>
            <a:r>
              <a:rPr lang="zh-CN" altLang="zh-CN" sz="20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过程中</a:t>
            </a:r>
            <a:r>
              <a:rPr lang="zh-CN" altLang="zh-CN" sz="20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求均衡解</a:t>
            </a:r>
            <a:r>
              <a:rPr lang="zh-CN" altLang="zh-CN" sz="20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为核心的转变。</a:t>
            </a:r>
            <a:endParaRPr lang="zh-CN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3140968"/>
            <a:ext cx="9248434" cy="2450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95288" y="223293"/>
            <a:ext cx="34684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七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、人工智能系统的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分类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479376" y="804659"/>
            <a:ext cx="2028304" cy="369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9pPr>
          </a:lstStyle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专家系统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模糊系统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神经网络系统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学习系统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仿生系统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群智能系统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真体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混合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智能系统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5"/>
          <p:cNvSpPr txBox="1">
            <a:spLocks noChangeArrowheads="1"/>
          </p:cNvSpPr>
          <p:nvPr/>
        </p:nvSpPr>
        <p:spPr bwMode="auto">
          <a:xfrm>
            <a:off x="430457" y="251925"/>
            <a:ext cx="22320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研究及应用领域</a:t>
            </a:r>
            <a:endParaRPr kumimoji="1"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699" name="Rectangle 4"/>
          <p:cNvSpPr txBox="1">
            <a:spLocks noChangeArrowheads="1"/>
          </p:cNvSpPr>
          <p:nvPr/>
        </p:nvSpPr>
        <p:spPr bwMode="auto">
          <a:xfrm>
            <a:off x="398699" y="980728"/>
            <a:ext cx="2862263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问题求解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逻辑推理</a:t>
            </a:r>
            <a:r>
              <a:rPr lang="zh-CN" altLang="en-US" sz="2000" b="1" dirty="0">
                <a:latin typeface="宋体" panose="02010600030101010101" pitchFamily="2" charset="-122"/>
              </a:rPr>
              <a:t>与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定理证明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自然语言理解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自动程序设计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专家系统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机器学习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神经网络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机器人学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模式识别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29700" name="Rectangle 5"/>
          <p:cNvSpPr txBox="1">
            <a:spLocks noChangeArrowheads="1"/>
          </p:cNvSpPr>
          <p:nvPr/>
        </p:nvSpPr>
        <p:spPr bwMode="auto">
          <a:xfrm>
            <a:off x="4079776" y="980727"/>
            <a:ext cx="3384376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机器视觉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智能控制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智能检索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智能</a:t>
            </a:r>
            <a:r>
              <a:rPr lang="zh-CN" altLang="en-US" sz="2000" b="1" dirty="0">
                <a:latin typeface="宋体" panose="02010600030101010101" pitchFamily="2" charset="-122"/>
              </a:rPr>
              <a:t>调度与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指挥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分布式人工智能</a:t>
            </a:r>
            <a:r>
              <a:rPr lang="zh-CN" altLang="en-US" sz="2000" b="1" dirty="0">
                <a:latin typeface="宋体" panose="02010600030101010101" pitchFamily="2" charset="-122"/>
              </a:rPr>
              <a:t>与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Agent</a:t>
            </a: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计算</a:t>
            </a:r>
            <a:r>
              <a:rPr lang="zh-CN" altLang="en-US" sz="2000" b="1" dirty="0">
                <a:latin typeface="宋体" panose="02010600030101010101" pitchFamily="2" charset="-122"/>
              </a:rPr>
              <a:t>智能与进化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计算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数据</a:t>
            </a:r>
            <a:r>
              <a:rPr lang="zh-CN" altLang="en-US" sz="2000" b="1" dirty="0">
                <a:latin typeface="宋体" panose="02010600030101010101" pitchFamily="2" charset="-122"/>
              </a:rPr>
              <a:t>挖掘与知识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发现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人工生命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63538" indent="-363538" eaLnBrk="1" fontAlgn="auto" hangingPunct="1">
              <a:lnSpc>
                <a:spcPts val="3100"/>
              </a:lnSpc>
              <a:spcAft>
                <a:spcPts val="0"/>
              </a:spcAft>
              <a:buClr>
                <a:srgbClr val="FF33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系统</a:t>
            </a:r>
            <a:r>
              <a:rPr lang="zh-CN" altLang="en-US" sz="2000" b="1" dirty="0">
                <a:latin typeface="宋体" panose="02010600030101010101" pitchFamily="2" charset="-122"/>
              </a:rPr>
              <a:t>与语言工具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5"/>
          <p:cNvSpPr txBox="1">
            <a:spLocks noChangeArrowheads="1"/>
          </p:cNvSpPr>
          <p:nvPr/>
        </p:nvSpPr>
        <p:spPr bwMode="auto">
          <a:xfrm>
            <a:off x="444206" y="220173"/>
            <a:ext cx="29154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特别</a:t>
            </a:r>
            <a:r>
              <a:rPr kumimoji="1"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提出：问题求解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3" name="Text Box 5"/>
          <p:cNvSpPr txBox="1">
            <a:spLocks noChangeArrowheads="1"/>
          </p:cNvSpPr>
          <p:nvPr/>
        </p:nvSpPr>
        <p:spPr bwMode="auto">
          <a:xfrm>
            <a:off x="383674" y="908720"/>
            <a:ext cx="7440517" cy="165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楷体_GB2312" pitchFamily="49" charset="-122"/>
              </a:defRPr>
            </a:lvl9pPr>
          </a:lstStyle>
          <a:p>
            <a:pPr marL="342900" indent="-342900" eaLnBrk="1" fontAlgn="auto" hangingPunct="1">
              <a:lnSpc>
                <a:spcPts val="35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人工智能的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最基本技术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lnSpc>
                <a:spcPts val="35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广义上，问题求解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涵盖了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中的所有问题。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lnSpc>
                <a:spcPts val="35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目标：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搜索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解空间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”，寻找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一般解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较优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最优解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4" name="矩形 3"/>
          <p:cNvSpPr>
            <a:spLocks noChangeArrowheads="1"/>
          </p:cNvSpPr>
          <p:nvPr/>
        </p:nvSpPr>
        <p:spPr bwMode="auto">
          <a:xfrm>
            <a:off x="395288" y="269556"/>
            <a:ext cx="498063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Clr>
                <a:srgbClr val="FF0000"/>
              </a:buClr>
              <a:buSzPct val="80000"/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人工智能、机器学习、深度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学习、神经网络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77144" y="795408"/>
            <a:ext cx="7942967" cy="17312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9875" indent="-269875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一个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广泛的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领域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。旨在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使计算机具备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感知、理解、判断、推理、学习、识别、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生成、交互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等类人智能的能力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。通过计算机程序来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模拟、实现人类智能的技术和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包括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机器学习、专家系统、知识表示与推理、搜索算法、逻辑推理、规划、进化算法、博弈理论与决策树、模糊逻辑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、强化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学习等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‌。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20688" y="2731567"/>
            <a:ext cx="11377612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9875" indent="-2698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机器学习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的一个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子集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。通过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使计算机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从数据中学习规律和模式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，从而完成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特定任务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不需要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显式编程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，而是通过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训练数据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来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改进算法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。机器学习的主要任务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包括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分类、回归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等‌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7376" y="3645024"/>
            <a:ext cx="11353674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深度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DL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 smtClean="0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机器学习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的一个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特定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形式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。使用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深层神经网络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来处理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复杂问题。通过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构建深层神经网络模型来自动提取特征，并利用这些特征解决问题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。在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图像识别、语音识别、自然语言处理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等领域应用广泛。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8" y="832656"/>
            <a:ext cx="3400398" cy="167755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7375" y="4581128"/>
            <a:ext cx="11461352" cy="723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b="1" i="0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神经网络</a:t>
            </a:r>
            <a:r>
              <a:rPr lang="en-US" altLang="zh-CN" b="1" i="0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NN</a:t>
            </a:r>
            <a:r>
              <a:rPr lang="en-US" altLang="zh-CN" b="1" i="0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i="0" dirty="0" smtClean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‌</a:t>
            </a:r>
            <a:r>
              <a:rPr lang="zh-CN" altLang="en-US" b="1" i="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：模仿</a:t>
            </a:r>
            <a:r>
              <a:rPr lang="zh-CN" altLang="en-US" b="1" i="0" dirty="0" smtClean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人脑神经元结构</a:t>
            </a:r>
            <a:r>
              <a:rPr lang="zh-CN" altLang="en-US" b="1" i="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i="0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计算模型</a:t>
            </a:r>
            <a:r>
              <a:rPr lang="zh-CN" altLang="en-US" b="1" i="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。人工智能中，神经网络分为</a:t>
            </a:r>
            <a:r>
              <a:rPr lang="zh-CN" altLang="en-US" b="1" i="0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浅层</a:t>
            </a:r>
            <a:r>
              <a:rPr lang="zh-CN" altLang="en-US" b="1" i="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b="1" i="0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深层</a:t>
            </a:r>
            <a:r>
              <a:rPr lang="zh-CN" altLang="en-US" b="1" i="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两种，通过训练数据进行</a:t>
            </a:r>
            <a:r>
              <a:rPr lang="zh-CN" altLang="en-US" b="1" i="0" dirty="0" smtClean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zh-CN" altLang="en-US" b="1" i="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b="1" i="0" dirty="0" smtClean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预测</a:t>
            </a:r>
            <a:r>
              <a:rPr lang="zh-CN" altLang="en-US" b="1" i="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，其中</a:t>
            </a:r>
            <a:r>
              <a:rPr lang="zh-CN" altLang="en-US" b="1" i="0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深层神经网络</a:t>
            </a:r>
            <a:r>
              <a:rPr lang="zh-CN" altLang="en-US" b="1" i="0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用于处理更复杂的问题。‌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6"/>
          <p:cNvSpPr>
            <a:spLocks noChangeArrowheads="1"/>
          </p:cNvSpPr>
          <p:nvPr/>
        </p:nvSpPr>
        <p:spPr bwMode="auto">
          <a:xfrm>
            <a:off x="765557" y="5517232"/>
            <a:ext cx="11005492" cy="461665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  <a:buSzPct val="80000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人工智能、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机器学习、深度学习及神经网络，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既有关联也有区别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，共同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构成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人工智能的技术体系。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063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3" grpId="0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628800"/>
            <a:ext cx="10949128" cy="3960440"/>
          </a:xfrm>
          <a:prstGeom prst="rect">
            <a:avLst/>
          </a:prstGeom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392348" y="811596"/>
            <a:ext cx="10951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46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95288" y="764704"/>
            <a:ext cx="8869064" cy="111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神经网络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联结主义的代表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模仿人脑的工作原理，建立神经元之间的联结模型，实现人工神经运算。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739" y="1979524"/>
            <a:ext cx="5003542" cy="1359463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395288" y="3429000"/>
            <a:ext cx="10525248" cy="3091973"/>
            <a:chOff x="395288" y="3429000"/>
            <a:chExt cx="10525248" cy="3091973"/>
          </a:xfrm>
        </p:grpSpPr>
        <p:sp>
          <p:nvSpPr>
            <p:cNvPr id="12" name="矩形 11"/>
            <p:cNvSpPr>
              <a:spLocks noChangeArrowheads="1"/>
            </p:cNvSpPr>
            <p:nvPr/>
          </p:nvSpPr>
          <p:spPr bwMode="auto">
            <a:xfrm>
              <a:off x="395288" y="3429000"/>
              <a:ext cx="10525248" cy="1115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ts val="2700"/>
                </a:lnSpc>
                <a:spcAft>
                  <a:spcPts val="60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2000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深度</a:t>
              </a:r>
              <a:r>
                <a:rPr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：神经网络中“隐藏层”的层数</a:t>
              </a:r>
              <a:r>
                <a:rPr lang="en-US" altLang="zh-CN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数量</a:t>
              </a:r>
              <a:r>
                <a:rPr lang="en-US" altLang="zh-CN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620713" indent="-257175">
                <a:lnSpc>
                  <a:spcPts val="27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经典机器学习算法使用的神经网络，具有输入层、一个或两个隐藏层、一个输出层。</a:t>
              </a:r>
              <a:endPara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620713" indent="-257175">
                <a:lnSpc>
                  <a:spcPts val="27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深度</a:t>
              </a:r>
              <a:r>
                <a:rPr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学习算法使用更多的“隐藏层”</a:t>
              </a:r>
              <a:r>
                <a:rPr lang="en-US" altLang="zh-CN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百个</a:t>
              </a:r>
              <a:r>
                <a:rPr lang="en-US" altLang="zh-CN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\</a:t>
              </a:r>
              <a:r>
                <a:rPr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千个</a:t>
              </a:r>
              <a:r>
                <a:rPr lang="en-US" altLang="zh-CN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…)</a:t>
              </a:r>
              <a:r>
                <a:rPr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，能力更强，能完成更复杂的任务。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860" y="4701698"/>
              <a:ext cx="4305300" cy="1819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698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2420888"/>
            <a:ext cx="7952359" cy="3096344"/>
          </a:xfrm>
          <a:prstGeom prst="rect">
            <a:avLst/>
          </a:prstGeom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95288" y="764704"/>
            <a:ext cx="9373120" cy="146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卷积神经网络（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CNN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一种专门用于处理具有“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网格结构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”数据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如图像、视频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的深度学习模型。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已取得显著成功，尤其在图像分类、目标检测、语义分割等任务中表现突出。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27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基本组成：卷积层、激活函数、池化层、全连接层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440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95288" y="810233"/>
            <a:ext cx="11377612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循环神经网络（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RNN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一种特殊的神经网络架构，专门用于处理“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序列数据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”。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如时间序列、文本序列、语音信号等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与传统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前馈神经网络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不同，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RNN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能够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处理“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可变长度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”的输入序列，并能够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记住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先前的输入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后续输出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的影响。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核心思想：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在网络中引入“循环连接”，允许信息在“不同的时间步”之间流动。如此，每个时间步的输出，不仅可作为下一个时间步的输入，还可以影响当前时间步的输出。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因此，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RNN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能够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捕捉序列数据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长期依赖关系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912" y="3864471"/>
            <a:ext cx="6228333" cy="172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2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912" y="2924944"/>
            <a:ext cx="5666476" cy="3024336"/>
          </a:xfrm>
          <a:prstGeom prst="rect">
            <a:avLst/>
          </a:prstGeom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95288" y="810233"/>
            <a:ext cx="1137761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对抗神经网络（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Adversarial Network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采用一种“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对抗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式训练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”。两个神经网络相互竞争，一个称为“生成器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Generator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”，另一个称为“判别器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Discriminator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”。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个网络的目标相反，但最终共同协作生成高质量的数据样本。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非常适用于图片生成、图像分割、视频预测、风格迁移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708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95288" y="810233"/>
            <a:ext cx="11377612" cy="238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转换器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一种基于“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自注意力机制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”的深度学习模型，用于处理“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序列数据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”，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2017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年由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Google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提出。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通过自注意力机制，允许模型在处理“序列中的任何元素”时，同时考虑“序列中的所有其它元素”，并给出“不同元素的重要程度”，提高了模型在语言理解、情感分析、语音识别等复杂任务中的表现。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因高效和强大的性能，已成为自然语言处理领域的标准架构之一。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72" y="2564904"/>
            <a:ext cx="2564145" cy="371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4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07011" y="246110"/>
            <a:ext cx="27969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Clr>
                <a:srgbClr val="FF0000"/>
              </a:buClr>
              <a:buSzPct val="80000"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八、大模型和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AIGC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95288" y="826057"/>
            <a:ext cx="8581032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大模型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Large Model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具有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庞大参数规模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复杂计算结构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的机器学习模型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绝大多数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大模型的基础核心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结构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都是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及其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变体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目前常说的大模型，主要是“大语言模型”（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Large Language Model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95288" y="2677269"/>
            <a:ext cx="10751725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大模型的工作机制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大模型在通用性、精度、效率等方面具有显著优势。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可以通过预训练或其它方式，在大型数据集上进行学习，再通过微调，高效处理计算机视觉、自然语言处理等复杂任务。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80" y="4419519"/>
            <a:ext cx="5620873" cy="116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3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95288" y="826057"/>
            <a:ext cx="11377612" cy="2077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预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训练和微调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预训练：使用大量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无标注数据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训练语言模型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的过程。赋予模型一定的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通用性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泛化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适应多种不同下游任务的能力。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微调：在预训练基础上，使用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标注数据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特定任务的数据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进一步训练模型，使其适应特定的应用或任务。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2915980"/>
            <a:ext cx="6048672" cy="334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8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95288" y="826057"/>
            <a:ext cx="217232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大模型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和小模型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315893"/>
              </p:ext>
            </p:extLst>
          </p:nvPr>
        </p:nvGraphicFramePr>
        <p:xfrm>
          <a:off x="695400" y="1344684"/>
          <a:ext cx="10945216" cy="345246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1828850713"/>
                    </a:ext>
                  </a:extLst>
                </a:gridCol>
                <a:gridCol w="4133006">
                  <a:extLst>
                    <a:ext uri="{9D8B030D-6E8A-4147-A177-3AD203B41FA5}">
                      <a16:colId xmlns:a16="http://schemas.microsoft.com/office/drawing/2014/main" val="4091111743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3932815275"/>
                    </a:ext>
                  </a:extLst>
                </a:gridCol>
              </a:tblGrid>
              <a:tr h="387102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对比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大模型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小模型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331925"/>
                  </a:ext>
                </a:extLst>
              </a:tr>
              <a:tr h="473078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参数量与规模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数十亿乃至数万亿个参数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几百万到几千万之间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83315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训练与运行速度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训练和运行时间长，需要更多计算资源。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向量和运行速度较快，需要的计算资源相对较少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367888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准确性和能力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通常能够达到更高的准确率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在某些简单任务上能达到不错的准确率，但处理复杂模式时可能会受限。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978814"/>
                  </a:ext>
                </a:extLst>
              </a:tr>
              <a:tr h="839995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应用场景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适用于对准确率和复杂度要求高的场景，如文本生成、对话系统、机器翻译等。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更适合资源有限的环境，比如移动设备、嵌入式系统等，或者对于实时性有较高要求的应用。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663395"/>
                  </a:ext>
                </a:extLst>
              </a:tr>
              <a:tr h="456149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可解释性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因结构复杂，往往难以解释其决策过程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通常更容易理解和解释，便于调试和维护。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017767"/>
                  </a:ext>
                </a:extLst>
              </a:tr>
            </a:tbl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95400" y="5026492"/>
            <a:ext cx="6852230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6213" indent="-176213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借助知识蒸馏等技术，大模型的能力可以传给小模型。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6213" indent="-176213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作为样本价值判断模型，小模型可以帮助大模型快速学习。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74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95288" y="826057"/>
            <a:ext cx="9949184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大模型的类别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语言大模型：以文本数据进行训练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视觉大模型：以图像数据进行训练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多模态大模型：文本和图像都有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行业大模型：训练数据更广泛，覆盖领域更全面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通用大模型：训练数据来自特定行业，应用于专门的领域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如金融、医疗、法律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…)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3446330"/>
            <a:ext cx="4660140" cy="2520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2" y="3914382"/>
            <a:ext cx="4567707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0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95288" y="826057"/>
            <a:ext cx="217232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大模型的产业链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628800"/>
            <a:ext cx="1064725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3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95288" y="826057"/>
            <a:ext cx="1668264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盘古大模型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556792"/>
            <a:ext cx="10174463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2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95288" y="826057"/>
            <a:ext cx="217232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模型的发展要素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1700808"/>
            <a:ext cx="10205371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3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95288" y="836712"/>
            <a:ext cx="11377612" cy="2077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模型分类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分析式（决策式）：利用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来辅助或自动化决策过程，能识别数据中的隐藏规律，指导基于数据洞察的决策过程。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生成式：通过已有数据的学习和识别，以适当的泛化能力，生成文本、图片、代码、音频、视频等相关内容。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95288" y="3057054"/>
            <a:ext cx="9013080" cy="13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AIGC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的定义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AIGC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（人工智能生成内容）：使用人工智能技术，自动创建或生成内容。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生成式的内容包括文本、代码、音乐、图片、视频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95288" y="4509120"/>
            <a:ext cx="8220992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AIGC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的发展前提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ts val="3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深度学习技术使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AIGC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成为可能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AIGC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的一个重要里程碑，尤其在图像和视频生成方面。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ts val="3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GPT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系列、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BERT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等模型的出现，极大推动了文本生成技术的发展。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57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84" y="908720"/>
            <a:ext cx="9769819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6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980728"/>
            <a:ext cx="9427023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395288" y="692150"/>
            <a:ext cx="113776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95288" y="908720"/>
            <a:ext cx="11245328" cy="36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69875" indent="-269875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人工智能面对的挑战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可能会威胁到人类工作岗位，导致大量失业。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被用于战争、欺诈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模仿声音或换脸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、侵犯公民权益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信息过度采集、隐私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只有少数公司拥有先进技术，可能会加剧社会的不公平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的算法偏见也可能导致不公平。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日益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强大，也会让人产生依赖，失去独立思考和解决问题的能力。同时，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强大的创造力，也可能让人类失去创造动力和信心。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0713" indent="-257175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的发展还有安全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数据泄露、系统崩溃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、道德沦丧等问题。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74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15070</TotalTime>
  <Words>6801</Words>
  <Application>Microsoft Office PowerPoint</Application>
  <PresentationFormat>宽屏</PresentationFormat>
  <Paragraphs>503</Paragraphs>
  <Slides>77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2" baseType="lpstr">
      <vt:lpstr>等线</vt:lpstr>
      <vt:lpstr>等线 Light</vt:lpstr>
      <vt:lpstr>黑体</vt:lpstr>
      <vt:lpstr>楷体</vt:lpstr>
      <vt:lpstr>楷体_GB2312</vt:lpstr>
      <vt:lpstr>宋体</vt:lpstr>
      <vt:lpstr>Microsoft YaHei</vt:lpstr>
      <vt:lpstr>Microsoft YaHei</vt:lpstr>
      <vt:lpstr>Arial</vt:lpstr>
      <vt:lpstr>Calibri</vt:lpstr>
      <vt:lpstr>Calibri Light</vt:lpstr>
      <vt:lpstr>Times New Roman</vt:lpstr>
      <vt:lpstr>Verdana</vt:lpstr>
      <vt:lpstr>Wingdings</vt:lpstr>
      <vt:lpstr>Profile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fengqi</dc:creator>
  <cp:lastModifiedBy>qfeng</cp:lastModifiedBy>
  <cp:revision>2163</cp:revision>
  <dcterms:created xsi:type="dcterms:W3CDTF">2013-07-28T08:10:57Z</dcterms:created>
  <dcterms:modified xsi:type="dcterms:W3CDTF">2025-11-24T15:25:01Z</dcterms:modified>
</cp:coreProperties>
</file>