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1" r:id="rId2"/>
  </p:sldMasterIdLst>
  <p:notesMasterIdLst>
    <p:notesMasterId r:id="rId263"/>
  </p:notesMasterIdLst>
  <p:sldIdLst>
    <p:sldId id="256" r:id="rId3"/>
    <p:sldId id="418" r:id="rId4"/>
    <p:sldId id="521" r:id="rId5"/>
    <p:sldId id="609" r:id="rId6"/>
    <p:sldId id="610" r:id="rId7"/>
    <p:sldId id="756" r:id="rId8"/>
    <p:sldId id="646" r:id="rId9"/>
    <p:sldId id="421" r:id="rId10"/>
    <p:sldId id="647" r:id="rId11"/>
    <p:sldId id="648" r:id="rId12"/>
    <p:sldId id="423" r:id="rId13"/>
    <p:sldId id="426" r:id="rId14"/>
    <p:sldId id="427" r:id="rId15"/>
    <p:sldId id="268" r:id="rId16"/>
    <p:sldId id="269" r:id="rId17"/>
    <p:sldId id="535" r:id="rId18"/>
    <p:sldId id="536" r:id="rId19"/>
    <p:sldId id="320" r:id="rId20"/>
    <p:sldId id="321" r:id="rId21"/>
    <p:sldId id="541" r:id="rId22"/>
    <p:sldId id="540" r:id="rId23"/>
    <p:sldId id="649" r:id="rId24"/>
    <p:sldId id="542" r:id="rId25"/>
    <p:sldId id="417" r:id="rId26"/>
    <p:sldId id="543" r:id="rId27"/>
    <p:sldId id="544" r:id="rId28"/>
    <p:sldId id="545" r:id="rId29"/>
    <p:sldId id="546" r:id="rId30"/>
    <p:sldId id="547" r:id="rId31"/>
    <p:sldId id="548" r:id="rId32"/>
    <p:sldId id="632" r:id="rId33"/>
    <p:sldId id="631" r:id="rId34"/>
    <p:sldId id="650" r:id="rId35"/>
    <p:sldId id="509" r:id="rId36"/>
    <p:sldId id="510" r:id="rId37"/>
    <p:sldId id="511" r:id="rId38"/>
    <p:sldId id="549" r:id="rId39"/>
    <p:sldId id="512" r:id="rId40"/>
    <p:sldId id="550" r:id="rId41"/>
    <p:sldId id="796" r:id="rId42"/>
    <p:sldId id="651" r:id="rId43"/>
    <p:sldId id="428" r:id="rId44"/>
    <p:sldId id="431" r:id="rId45"/>
    <p:sldId id="430" r:id="rId46"/>
    <p:sldId id="552" r:id="rId47"/>
    <p:sldId id="553" r:id="rId48"/>
    <p:sldId id="554" r:id="rId49"/>
    <p:sldId id="556" r:id="rId50"/>
    <p:sldId id="558" r:id="rId51"/>
    <p:sldId id="275" r:id="rId52"/>
    <p:sldId id="434" r:id="rId53"/>
    <p:sldId id="323" r:id="rId54"/>
    <p:sldId id="435" r:id="rId55"/>
    <p:sldId id="653" r:id="rId56"/>
    <p:sldId id="694" r:id="rId57"/>
    <p:sldId id="436" r:id="rId58"/>
    <p:sldId id="559" r:id="rId59"/>
    <p:sldId id="437" r:id="rId60"/>
    <p:sldId id="438" r:id="rId61"/>
    <p:sldId id="439" r:id="rId62"/>
    <p:sldId id="560" r:id="rId63"/>
    <p:sldId id="440" r:id="rId64"/>
    <p:sldId id="443" r:id="rId65"/>
    <p:sldId id="441" r:id="rId66"/>
    <p:sldId id="442" r:id="rId67"/>
    <p:sldId id="561" r:id="rId68"/>
    <p:sldId id="446" r:id="rId69"/>
    <p:sldId id="445" r:id="rId70"/>
    <p:sldId id="563" r:id="rId71"/>
    <p:sldId id="564" r:id="rId72"/>
    <p:sldId id="451" r:id="rId73"/>
    <p:sldId id="452" r:id="rId74"/>
    <p:sldId id="453" r:id="rId75"/>
    <p:sldId id="454" r:id="rId76"/>
    <p:sldId id="455" r:id="rId77"/>
    <p:sldId id="565" r:id="rId78"/>
    <p:sldId id="458" r:id="rId79"/>
    <p:sldId id="457" r:id="rId80"/>
    <p:sldId id="757" r:id="rId81"/>
    <p:sldId id="456" r:id="rId82"/>
    <p:sldId id="459" r:id="rId83"/>
    <p:sldId id="462" r:id="rId84"/>
    <p:sldId id="470" r:id="rId85"/>
    <p:sldId id="471" r:id="rId86"/>
    <p:sldId id="466" r:id="rId87"/>
    <p:sldId id="724" r:id="rId88"/>
    <p:sldId id="725" r:id="rId89"/>
    <p:sldId id="726" r:id="rId90"/>
    <p:sldId id="727" r:id="rId91"/>
    <p:sldId id="728" r:id="rId92"/>
    <p:sldId id="473" r:id="rId93"/>
    <p:sldId id="513" r:id="rId94"/>
    <p:sldId id="514" r:id="rId95"/>
    <p:sldId id="292" r:id="rId96"/>
    <p:sldId id="730" r:id="rId97"/>
    <p:sldId id="294" r:id="rId98"/>
    <p:sldId id="476" r:id="rId99"/>
    <p:sldId id="477" r:id="rId100"/>
    <p:sldId id="295" r:id="rId101"/>
    <p:sldId id="296" r:id="rId102"/>
    <p:sldId id="566" r:id="rId103"/>
    <p:sldId id="731" r:id="rId104"/>
    <p:sldId id="327" r:id="rId105"/>
    <p:sldId id="328" r:id="rId106"/>
    <p:sldId id="298" r:id="rId107"/>
    <p:sldId id="478" r:id="rId108"/>
    <p:sldId id="299" r:id="rId109"/>
    <p:sldId id="329" r:id="rId110"/>
    <p:sldId id="330" r:id="rId111"/>
    <p:sldId id="331" r:id="rId112"/>
    <p:sldId id="332" r:id="rId113"/>
    <p:sldId id="300" r:id="rId114"/>
    <p:sldId id="334" r:id="rId115"/>
    <p:sldId id="302" r:id="rId116"/>
    <p:sldId id="336" r:id="rId117"/>
    <p:sldId id="303" r:id="rId118"/>
    <p:sldId id="304" r:id="rId119"/>
    <p:sldId id="305" r:id="rId120"/>
    <p:sldId id="308" r:id="rId121"/>
    <p:sldId id="568" r:id="rId122"/>
    <p:sldId id="569" r:id="rId123"/>
    <p:sldId id="516" r:id="rId124"/>
    <p:sldId id="480" r:id="rId125"/>
    <p:sldId id="481" r:id="rId126"/>
    <p:sldId id="482" r:id="rId127"/>
    <p:sldId id="483" r:id="rId128"/>
    <p:sldId id="484" r:id="rId129"/>
    <p:sldId id="485" r:id="rId130"/>
    <p:sldId id="679" r:id="rId131"/>
    <p:sldId id="486" r:id="rId132"/>
    <p:sldId id="487" r:id="rId133"/>
    <p:sldId id="488" r:id="rId134"/>
    <p:sldId id="315" r:id="rId135"/>
    <p:sldId id="314" r:id="rId136"/>
    <p:sldId id="316" r:id="rId137"/>
    <p:sldId id="317" r:id="rId138"/>
    <p:sldId id="318" r:id="rId139"/>
    <p:sldId id="339" r:id="rId140"/>
    <p:sldId id="489" r:id="rId141"/>
    <p:sldId id="574" r:id="rId142"/>
    <p:sldId id="582" r:id="rId143"/>
    <p:sldId id="573" r:id="rId144"/>
    <p:sldId id="575" r:id="rId145"/>
    <p:sldId id="583" r:id="rId146"/>
    <p:sldId id="576" r:id="rId147"/>
    <p:sldId id="577" r:id="rId148"/>
    <p:sldId id="579" r:id="rId149"/>
    <p:sldId id="580" r:id="rId150"/>
    <p:sldId id="581" r:id="rId151"/>
    <p:sldId id="496" r:id="rId152"/>
    <p:sldId id="520" r:id="rId153"/>
    <p:sldId id="497" r:id="rId154"/>
    <p:sldId id="498" r:id="rId155"/>
    <p:sldId id="499" r:id="rId156"/>
    <p:sldId id="584" r:id="rId157"/>
    <p:sldId id="585" r:id="rId158"/>
    <p:sldId id="588" r:id="rId159"/>
    <p:sldId id="589" r:id="rId160"/>
    <p:sldId id="500" r:id="rId161"/>
    <p:sldId id="590" r:id="rId162"/>
    <p:sldId id="593" r:id="rId163"/>
    <p:sldId id="591" r:id="rId164"/>
    <p:sldId id="592" r:id="rId165"/>
    <p:sldId id="503" r:id="rId166"/>
    <p:sldId id="680" r:id="rId167"/>
    <p:sldId id="758" r:id="rId168"/>
    <p:sldId id="760" r:id="rId169"/>
    <p:sldId id="764" r:id="rId170"/>
    <p:sldId id="761" r:id="rId171"/>
    <p:sldId id="684" r:id="rId172"/>
    <p:sldId id="687" r:id="rId173"/>
    <p:sldId id="688" r:id="rId174"/>
    <p:sldId id="621" r:id="rId175"/>
    <p:sldId id="622" r:id="rId176"/>
    <p:sldId id="691" r:id="rId177"/>
    <p:sldId id="689" r:id="rId178"/>
    <p:sldId id="690" r:id="rId179"/>
    <p:sldId id="692" r:id="rId180"/>
    <p:sldId id="693" r:id="rId181"/>
    <p:sldId id="626" r:id="rId182"/>
    <p:sldId id="627" r:id="rId183"/>
    <p:sldId id="628" r:id="rId184"/>
    <p:sldId id="762" r:id="rId185"/>
    <p:sldId id="765" r:id="rId186"/>
    <p:sldId id="766" r:id="rId187"/>
    <p:sldId id="767" r:id="rId188"/>
    <p:sldId id="768" r:id="rId189"/>
    <p:sldId id="769" r:id="rId190"/>
    <p:sldId id="770" r:id="rId191"/>
    <p:sldId id="771" r:id="rId192"/>
    <p:sldId id="772" r:id="rId193"/>
    <p:sldId id="773" r:id="rId194"/>
    <p:sldId id="774" r:id="rId195"/>
    <p:sldId id="775" r:id="rId196"/>
    <p:sldId id="776" r:id="rId197"/>
    <p:sldId id="777" r:id="rId198"/>
    <p:sldId id="778" r:id="rId199"/>
    <p:sldId id="779" r:id="rId200"/>
    <p:sldId id="780" r:id="rId201"/>
    <p:sldId id="781" r:id="rId202"/>
    <p:sldId id="782" r:id="rId203"/>
    <p:sldId id="783" r:id="rId204"/>
    <p:sldId id="799" r:id="rId205"/>
    <p:sldId id="695" r:id="rId206"/>
    <p:sldId id="696" r:id="rId207"/>
    <p:sldId id="697" r:id="rId208"/>
    <p:sldId id="698" r:id="rId209"/>
    <p:sldId id="699" r:id="rId210"/>
    <p:sldId id="700" r:id="rId211"/>
    <p:sldId id="701" r:id="rId212"/>
    <p:sldId id="702" r:id="rId213"/>
    <p:sldId id="703" r:id="rId214"/>
    <p:sldId id="704" r:id="rId215"/>
    <p:sldId id="705" r:id="rId216"/>
    <p:sldId id="706" r:id="rId217"/>
    <p:sldId id="707" r:id="rId218"/>
    <p:sldId id="708" r:id="rId219"/>
    <p:sldId id="709" r:id="rId220"/>
    <p:sldId id="710" r:id="rId221"/>
    <p:sldId id="711" r:id="rId222"/>
    <p:sldId id="712" r:id="rId223"/>
    <p:sldId id="713" r:id="rId224"/>
    <p:sldId id="714" r:id="rId225"/>
    <p:sldId id="715" r:id="rId226"/>
    <p:sldId id="716" r:id="rId227"/>
    <p:sldId id="717" r:id="rId228"/>
    <p:sldId id="718" r:id="rId229"/>
    <p:sldId id="719" r:id="rId230"/>
    <p:sldId id="720" r:id="rId231"/>
    <p:sldId id="721" r:id="rId232"/>
    <p:sldId id="722" r:id="rId233"/>
    <p:sldId id="608" r:id="rId234"/>
    <p:sldId id="733" r:id="rId235"/>
    <p:sldId id="797" r:id="rId236"/>
    <p:sldId id="732" r:id="rId237"/>
    <p:sldId id="734" r:id="rId238"/>
    <p:sldId id="784" r:id="rId239"/>
    <p:sldId id="787" r:id="rId240"/>
    <p:sldId id="785" r:id="rId241"/>
    <p:sldId id="786" r:id="rId242"/>
    <p:sldId id="735" r:id="rId243"/>
    <p:sldId id="795" r:id="rId244"/>
    <p:sldId id="737" r:id="rId245"/>
    <p:sldId id="738" r:id="rId246"/>
    <p:sldId id="739" r:id="rId247"/>
    <p:sldId id="740" r:id="rId248"/>
    <p:sldId id="798" r:id="rId249"/>
    <p:sldId id="741" r:id="rId250"/>
    <p:sldId id="742" r:id="rId251"/>
    <p:sldId id="743" r:id="rId252"/>
    <p:sldId id="744" r:id="rId253"/>
    <p:sldId id="745" r:id="rId254"/>
    <p:sldId id="746" r:id="rId255"/>
    <p:sldId id="747" r:id="rId256"/>
    <p:sldId id="748" r:id="rId257"/>
    <p:sldId id="749" r:id="rId258"/>
    <p:sldId id="750" r:id="rId259"/>
    <p:sldId id="751" r:id="rId260"/>
    <p:sldId id="752" r:id="rId261"/>
    <p:sldId id="753" r:id="rId26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B0F0"/>
    <a:srgbClr val="1DC4FF"/>
    <a:srgbClr val="43CEFF"/>
    <a:srgbClr val="EA7E35"/>
    <a:srgbClr val="009900"/>
    <a:srgbClr val="00FF00"/>
    <a:srgbClr val="0066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11" autoAdjust="0"/>
    <p:restoredTop sz="94660"/>
  </p:normalViewPr>
  <p:slideViewPr>
    <p:cSldViewPr>
      <p:cViewPr varScale="1">
        <p:scale>
          <a:sx n="107" d="100"/>
          <a:sy n="107" d="100"/>
        </p:scale>
        <p:origin x="128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63" Type="http://schemas.openxmlformats.org/officeDocument/2006/relationships/slide" Target="slides/slide61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226" Type="http://schemas.openxmlformats.org/officeDocument/2006/relationships/slide" Target="slides/slide22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37" Type="http://schemas.openxmlformats.org/officeDocument/2006/relationships/slide" Target="slides/slide235.xml"/><Relationship Id="rId258" Type="http://schemas.openxmlformats.org/officeDocument/2006/relationships/slide" Target="slides/slide256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slide" Target="slides/slide225.xml"/><Relationship Id="rId248" Type="http://schemas.openxmlformats.org/officeDocument/2006/relationships/slide" Target="slides/slide246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8" Type="http://schemas.openxmlformats.org/officeDocument/2006/relationships/slide" Target="slides/slide236.xml"/><Relationship Id="rId259" Type="http://schemas.openxmlformats.org/officeDocument/2006/relationships/slide" Target="slides/slide257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slide" Target="slides/slide226.xml"/><Relationship Id="rId249" Type="http://schemas.openxmlformats.org/officeDocument/2006/relationships/slide" Target="slides/slide247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260" Type="http://schemas.openxmlformats.org/officeDocument/2006/relationships/slide" Target="slides/slide258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39" Type="http://schemas.openxmlformats.org/officeDocument/2006/relationships/slide" Target="slides/slide237.xml"/><Relationship Id="rId250" Type="http://schemas.openxmlformats.org/officeDocument/2006/relationships/slide" Target="slides/slide248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29" Type="http://schemas.openxmlformats.org/officeDocument/2006/relationships/slide" Target="slides/slide227.xml"/><Relationship Id="rId240" Type="http://schemas.openxmlformats.org/officeDocument/2006/relationships/slide" Target="slides/slide238.xml"/><Relationship Id="rId261" Type="http://schemas.openxmlformats.org/officeDocument/2006/relationships/slide" Target="slides/slide259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230" Type="http://schemas.openxmlformats.org/officeDocument/2006/relationships/slide" Target="slides/slide228.xml"/><Relationship Id="rId251" Type="http://schemas.openxmlformats.org/officeDocument/2006/relationships/slide" Target="slides/slide249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220" Type="http://schemas.openxmlformats.org/officeDocument/2006/relationships/slide" Target="slides/slide218.xml"/><Relationship Id="rId241" Type="http://schemas.openxmlformats.org/officeDocument/2006/relationships/slide" Target="slides/slide23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262" Type="http://schemas.openxmlformats.org/officeDocument/2006/relationships/slide" Target="slides/slide260.xml"/><Relationship Id="rId78" Type="http://schemas.openxmlformats.org/officeDocument/2006/relationships/slide" Target="slides/slide76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64" Type="http://schemas.openxmlformats.org/officeDocument/2006/relationships/slide" Target="slides/slide162.xml"/><Relationship Id="rId185" Type="http://schemas.openxmlformats.org/officeDocument/2006/relationships/slide" Target="slides/slide183.xml"/><Relationship Id="rId9" Type="http://schemas.openxmlformats.org/officeDocument/2006/relationships/slide" Target="slides/slide7.xml"/><Relationship Id="rId210" Type="http://schemas.openxmlformats.org/officeDocument/2006/relationships/slide" Target="slides/slide208.xml"/><Relationship Id="rId26" Type="http://schemas.openxmlformats.org/officeDocument/2006/relationships/slide" Target="slides/slide24.xml"/><Relationship Id="rId231" Type="http://schemas.openxmlformats.org/officeDocument/2006/relationships/slide" Target="slides/slide229.xml"/><Relationship Id="rId252" Type="http://schemas.openxmlformats.org/officeDocument/2006/relationships/slide" Target="slides/slide250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242" Type="http://schemas.openxmlformats.org/officeDocument/2006/relationships/slide" Target="slides/slide240.xml"/><Relationship Id="rId263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32" Type="http://schemas.openxmlformats.org/officeDocument/2006/relationships/slide" Target="slides/slide230.xml"/><Relationship Id="rId253" Type="http://schemas.openxmlformats.org/officeDocument/2006/relationships/slide" Target="slides/slide251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243" Type="http://schemas.openxmlformats.org/officeDocument/2006/relationships/slide" Target="slides/slide241.xml"/><Relationship Id="rId264" Type="http://schemas.openxmlformats.org/officeDocument/2006/relationships/presProps" Target="presProps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slide" Target="slides/slide231.xml"/><Relationship Id="rId254" Type="http://schemas.openxmlformats.org/officeDocument/2006/relationships/slide" Target="slides/slide252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244" Type="http://schemas.openxmlformats.org/officeDocument/2006/relationships/slide" Target="slides/slide242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265" Type="http://schemas.openxmlformats.org/officeDocument/2006/relationships/viewProps" Target="viewProps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34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55" Type="http://schemas.openxmlformats.org/officeDocument/2006/relationships/slide" Target="slides/slide253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245" Type="http://schemas.openxmlformats.org/officeDocument/2006/relationships/slide" Target="slides/slide243.xml"/><Relationship Id="rId266" Type="http://schemas.openxmlformats.org/officeDocument/2006/relationships/theme" Target="theme/theme1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35" Type="http://schemas.openxmlformats.org/officeDocument/2006/relationships/slide" Target="slides/slide233.xml"/><Relationship Id="rId256" Type="http://schemas.openxmlformats.org/officeDocument/2006/relationships/slide" Target="slides/slide254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179" Type="http://schemas.openxmlformats.org/officeDocument/2006/relationships/slide" Target="slides/slide17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5" Type="http://schemas.openxmlformats.org/officeDocument/2006/relationships/slide" Target="slides/slide223.xml"/><Relationship Id="rId246" Type="http://schemas.openxmlformats.org/officeDocument/2006/relationships/slide" Target="slides/slide244.xml"/><Relationship Id="rId267" Type="http://schemas.openxmlformats.org/officeDocument/2006/relationships/tableStyles" Target="tableStyles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94" Type="http://schemas.openxmlformats.org/officeDocument/2006/relationships/slide" Target="slides/slide92.xml"/><Relationship Id="rId148" Type="http://schemas.openxmlformats.org/officeDocument/2006/relationships/slide" Target="slides/slide146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180" Type="http://schemas.openxmlformats.org/officeDocument/2006/relationships/slide" Target="slides/slide178.xml"/><Relationship Id="rId215" Type="http://schemas.openxmlformats.org/officeDocument/2006/relationships/slide" Target="slides/slide213.xml"/><Relationship Id="rId236" Type="http://schemas.openxmlformats.org/officeDocument/2006/relationships/slide" Target="slides/slide234.xml"/><Relationship Id="rId257" Type="http://schemas.openxmlformats.org/officeDocument/2006/relationships/slide" Target="slides/slide255.xml"/><Relationship Id="rId42" Type="http://schemas.openxmlformats.org/officeDocument/2006/relationships/slide" Target="slides/slide40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47" Type="http://schemas.openxmlformats.org/officeDocument/2006/relationships/slide" Target="slides/slide24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B535A-2822-4778-A063-CA405F525EC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C6212-6D43-4DED-A38A-F80FD1981D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37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C6212-6D43-4DED-A38A-F80FD1981D6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147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fld id="{85C86A40-2137-442D-9459-4D33F369151B}" type="slidenum">
              <a:rPr lang="zh-CN" altLang="en-US" sz="1200" smtClean="0"/>
              <a:pPr/>
              <a:t>229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497793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3A6FA-F8BA-46AC-8A9B-86FDAB2DA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66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6BE63D-D17A-4079-9A76-8A05014DB0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91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81F21-8D7E-4F63-A9CF-5922E82C15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87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55D5F-A551-4160-8F26-A7A34CA5C5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943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2173-EC81-4DC3-93F8-AC19DB6781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69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C3A23-2058-4E3E-94F7-6B6D266A0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54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8BC14-32E8-4697-A7B3-5E9BDD907A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50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8F554-0FDA-4B88-BCD9-638ACEACAB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9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8BC79-13EB-45B5-B13B-7D60D04D62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37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7F62C-F2A4-4FFD-BC41-15FC8524FA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4D179E-5EC9-4346-94D5-AD14ABB34E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483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00283-313E-471D-BE9D-5AB69E16E9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67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0DB38-9C71-4141-BC5F-2BE24C9C1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585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BC28B-266F-4BE5-9764-20BA15CD52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339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F379F-4F16-45C4-9F2A-FB760F3818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591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E67D0-4F34-4187-8240-1269523FFA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49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039857-8F53-47E1-ACFC-B3375BDD95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797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55DF0-5CEE-4502-9858-6E573B9428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994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E32BD-8412-4D10-8BAC-F3E62EAB9A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0013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F2659-6DC0-45FF-9C1D-B6F1D393DE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7373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0E106-374F-41BC-A2B9-C65B76AB63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248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66DBC-CBC2-4539-B717-B0A97B8A43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6043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5BA2A-AAE6-4A9E-B0D7-98C7CC348C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757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E14871D-5B3A-40A9-83BC-AD5450B46E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  <p:sldLayoutId id="214748435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fld id="{C379B1BC-41D0-4169-8D5B-E221DA5CE4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8" r:id="rId1"/>
    <p:sldLayoutId id="2147484359" r:id="rId2"/>
    <p:sldLayoutId id="2147484360" r:id="rId3"/>
    <p:sldLayoutId id="2147484361" r:id="rId4"/>
    <p:sldLayoutId id="2147484362" r:id="rId5"/>
    <p:sldLayoutId id="2147484363" r:id="rId6"/>
    <p:sldLayoutId id="2147484364" r:id="rId7"/>
    <p:sldLayoutId id="2147484365" r:id="rId8"/>
    <p:sldLayoutId id="2147484366" r:id="rId9"/>
    <p:sldLayoutId id="2147484367" r:id="rId10"/>
    <p:sldLayoutId id="214748436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1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380.png"/><Relationship Id="rId3" Type="http://schemas.openxmlformats.org/officeDocument/2006/relationships/image" Target="../media/image31.png"/><Relationship Id="rId7" Type="http://schemas.openxmlformats.org/officeDocument/2006/relationships/image" Target="../media/image340.png"/><Relationship Id="rId12" Type="http://schemas.openxmlformats.org/officeDocument/2006/relationships/image" Target="../media/image330.png"/><Relationship Id="rId2" Type="http://schemas.openxmlformats.org/officeDocument/2006/relationships/image" Target="../media/image30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40.png"/><Relationship Id="rId10" Type="http://schemas.openxmlformats.org/officeDocument/2006/relationships/image" Target="../media/image370.png"/><Relationship Id="rId4" Type="http://schemas.openxmlformats.org/officeDocument/2006/relationships/image" Target="../media/image32.png"/><Relationship Id="rId9" Type="http://schemas.openxmlformats.org/officeDocument/2006/relationships/image" Target="../media/image360.png"/><Relationship Id="rId14" Type="http://schemas.openxmlformats.org/officeDocument/2006/relationships/image" Target="../media/image39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F:\justkork\&#20154;&#24037;&#26234;&#33021;\5disk.avi" TargetMode="External"/><Relationship Id="rId1" Type="http://schemas.openxmlformats.org/officeDocument/2006/relationships/video" Target="file:///F:\justkork\&#20154;&#24037;&#26234;&#33021;\4disk.avi" TargetMode="Externa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2.emf"/><Relationship Id="rId4" Type="http://schemas.openxmlformats.org/officeDocument/2006/relationships/oleObject" Target="../embeddings/oleObject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8.png"/><Relationship Id="rId5" Type="http://schemas.openxmlformats.org/officeDocument/2006/relationships/image" Target="../media/image75.png"/><Relationship Id="rId4" Type="http://schemas.openxmlformats.org/officeDocument/2006/relationships/image" Target="../media/image72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6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5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6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98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emf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8.wmf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e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jpe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0.png"/><Relationship Id="rId7" Type="http://schemas.openxmlformats.org/officeDocument/2006/relationships/image" Target="../media/image169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3.png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0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3.png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76.emf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3.png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7.png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3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197.png"/><Relationship Id="rId4" Type="http://schemas.openxmlformats.org/officeDocument/2006/relationships/image" Target="../media/image216.png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217.png"/><Relationship Id="rId7" Type="http://schemas.openxmlformats.org/officeDocument/2006/relationships/image" Target="../media/image220.png"/><Relationship Id="rId12" Type="http://schemas.openxmlformats.org/officeDocument/2006/relationships/image" Target="../media/image224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11" Type="http://schemas.openxmlformats.org/officeDocument/2006/relationships/image" Target="../media/image197.png"/><Relationship Id="rId5" Type="http://schemas.openxmlformats.org/officeDocument/2006/relationships/image" Target="../media/image219.png"/><Relationship Id="rId10" Type="http://schemas.openxmlformats.org/officeDocument/2006/relationships/image" Target="../media/image223.png"/><Relationship Id="rId4" Type="http://schemas.openxmlformats.org/officeDocument/2006/relationships/image" Target="../media/image218.png"/><Relationship Id="rId9" Type="http://schemas.openxmlformats.org/officeDocument/2006/relationships/image" Target="../media/image222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7" Type="http://schemas.openxmlformats.org/officeDocument/2006/relationships/image" Target="../media/image2241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4" Type="http://schemas.openxmlformats.org/officeDocument/2006/relationships/image" Target="../media/image225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234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7" Type="http://schemas.openxmlformats.org/officeDocument/2006/relationships/image" Target="../media/image238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2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40.png"/><Relationship Id="rId7" Type="http://schemas.openxmlformats.org/officeDocument/2006/relationships/image" Target="../media/image215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7.png"/><Relationship Id="rId4" Type="http://schemas.openxmlformats.org/officeDocument/2006/relationships/image" Target="../media/image24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5.png"/><Relationship Id="rId4" Type="http://schemas.openxmlformats.org/officeDocument/2006/relationships/image" Target="../media/image248.png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4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1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32.png"/></Relationships>
</file>

<file path=ppt/slides/_rels/slide2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0.png"/><Relationship Id="rId3" Type="http://schemas.openxmlformats.org/officeDocument/2006/relationships/image" Target="../media/image2530.png"/><Relationship Id="rId12" Type="http://schemas.openxmlformats.org/officeDocument/2006/relationships/image" Target="../media/image261.png"/><Relationship Id="rId2" Type="http://schemas.openxmlformats.org/officeDocument/2006/relationships/image" Target="../media/image25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60.png"/><Relationship Id="rId5" Type="http://schemas.openxmlformats.org/officeDocument/2006/relationships/image" Target="../media/image255.png"/><Relationship Id="rId10" Type="http://schemas.openxmlformats.org/officeDocument/2006/relationships/image" Target="../media/image259.png"/><Relationship Id="rId4" Type="http://schemas.openxmlformats.org/officeDocument/2006/relationships/image" Target="../media/image257.png"/><Relationship Id="rId9" Type="http://schemas.openxmlformats.org/officeDocument/2006/relationships/image" Target="../media/image258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9.png"/><Relationship Id="rId4" Type="http://schemas.openxmlformats.org/officeDocument/2006/relationships/image" Target="../media/image263.png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0.png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7.png"/><Relationship Id="rId5" Type="http://schemas.openxmlformats.org/officeDocument/2006/relationships/image" Target="../media/image2300.png"/><Relationship Id="rId4" Type="http://schemas.openxmlformats.org/officeDocument/2006/relationships/image" Target="../media/image229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40.png"/><Relationship Id="rId4" Type="http://schemas.openxmlformats.org/officeDocument/2006/relationships/image" Target="../media/image276.png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0.png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90.png"/><Relationship Id="rId4" Type="http://schemas.openxmlformats.org/officeDocument/2006/relationships/image" Target="../media/image28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9.png"/></Relationships>
</file>

<file path=ppt/slides/_rels/slide2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0.png"/><Relationship Id="rId3" Type="http://schemas.openxmlformats.org/officeDocument/2006/relationships/image" Target="../media/image2420.png"/><Relationship Id="rId7" Type="http://schemas.openxmlformats.org/officeDocument/2006/relationships/image" Target="../media/image283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0.png"/><Relationship Id="rId5" Type="http://schemas.openxmlformats.org/officeDocument/2006/relationships/image" Target="../media/image2440.png"/><Relationship Id="rId10" Type="http://schemas.openxmlformats.org/officeDocument/2006/relationships/image" Target="../media/image2490.png"/><Relationship Id="rId4" Type="http://schemas.openxmlformats.org/officeDocument/2006/relationships/image" Target="../media/image282.png"/><Relationship Id="rId9" Type="http://schemas.openxmlformats.org/officeDocument/2006/relationships/image" Target="../media/image284.png"/></Relationships>
</file>

<file path=ppt/slides/_rels/slide2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285.png"/><Relationship Id="rId7" Type="http://schemas.openxmlformats.org/officeDocument/2006/relationships/image" Target="../media/image287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5" Type="http://schemas.openxmlformats.org/officeDocument/2006/relationships/image" Target="../media/image286.png"/><Relationship Id="rId4" Type="http://schemas.openxmlformats.org/officeDocument/2006/relationships/image" Target="../media/image273.png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708257" y="1845780"/>
            <a:ext cx="5375912" cy="46166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 lIns="0" tIns="0" rIns="72000" bIns="0" anchor="ctr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Knowledge Representation and reasoning</a:t>
            </a:r>
            <a:endParaRPr lang="zh-CN" altLang="en-US" sz="2000" dirty="0">
              <a:latin typeface="+mn-lt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gray">
          <a:xfrm>
            <a:off x="683568" y="1035132"/>
            <a:ext cx="518457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tx2"/>
                </a:solidFill>
                <a:latin typeface="+mn-ea"/>
                <a:ea typeface="+mn-ea"/>
              </a:rPr>
              <a:t>第</a:t>
            </a:r>
            <a:r>
              <a:rPr lang="en-US" altLang="zh-CN" sz="4000" dirty="0">
                <a:solidFill>
                  <a:schemeClr val="tx2"/>
                </a:solidFill>
                <a:latin typeface="+mn-ea"/>
                <a:ea typeface="+mn-ea"/>
              </a:rPr>
              <a:t>2</a:t>
            </a:r>
            <a:r>
              <a:rPr lang="zh-CN" altLang="en-US" sz="4000" dirty="0">
                <a:solidFill>
                  <a:schemeClr val="tx2"/>
                </a:solidFill>
                <a:latin typeface="+mn-ea"/>
                <a:ea typeface="+mn-ea"/>
              </a:rPr>
              <a:t>章 知识表示与推理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gray">
          <a:xfrm>
            <a:off x="4355976" y="2501023"/>
            <a:ext cx="414071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en-US" altLang="zh-CN" sz="2000" b="0" dirty="0">
                <a:ea typeface="楷体_GB2312" pitchFamily="49" charset="-122"/>
              </a:rPr>
              <a:t>Artificial Intelligence (AI)</a:t>
            </a:r>
            <a:br>
              <a:rPr lang="en-US" altLang="zh-CN" sz="2000" b="0" dirty="0">
                <a:ea typeface="楷体_GB2312" pitchFamily="49" charset="-122"/>
              </a:rPr>
            </a:b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                         </a:t>
            </a:r>
            <a:r>
              <a:rPr lang="zh-CN" altLang="en-US" sz="2000" b="1" dirty="0">
                <a:latin typeface="+mn-ea"/>
                <a:ea typeface="+mn-ea"/>
              </a:rPr>
              <a:t>人工智能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>
          <a:xfrm>
            <a:off x="683196" y="1124744"/>
            <a:ext cx="1296516" cy="369332"/>
          </a:xfrm>
          <a:noFill/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主要内容</a:t>
            </a:r>
          </a:p>
        </p:txBody>
      </p:sp>
      <p:pic>
        <p:nvPicPr>
          <p:cNvPr id="5123" name="Picture 5" descr="u=276253129,52541480&amp;fm=23&amp;gp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006850"/>
            <a:ext cx="2162175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5364088" y="1700808"/>
            <a:ext cx="216024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、预备知识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、状态空间</a:t>
            </a:r>
            <a:endParaRPr kumimoji="1"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、与或图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、产生式系统</a:t>
            </a:r>
            <a:endParaRPr kumimoji="1"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5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、谓词逻辑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、语义网络</a:t>
            </a:r>
            <a:endParaRPr kumimoji="1"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7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、知识图谱</a:t>
            </a:r>
            <a:endParaRPr kumimoji="1"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8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……                     </a:t>
            </a:r>
            <a:endParaRPr kumimoji="1"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30615" y="980728"/>
            <a:ext cx="31683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2.1 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知识的概念与含义</a:t>
            </a: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gray">
          <a:xfrm>
            <a:off x="592423" y="1754344"/>
            <a:ext cx="7940017" cy="81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：一切智能行为的基础，人类智能活动的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本质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就是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获取、运用知识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8288" indent="-268288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要使计算机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具有智能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，首先必须让其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拥有知识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15"/>
          <p:cNvSpPr txBox="1">
            <a:spLocks noChangeArrowheads="1"/>
          </p:cNvSpPr>
          <p:nvPr/>
        </p:nvSpPr>
        <p:spPr bwMode="auto">
          <a:xfrm>
            <a:off x="585071" y="2736629"/>
            <a:ext cx="6075162" cy="764379"/>
          </a:xfrm>
          <a:prstGeom prst="rect">
            <a:avLst/>
          </a:prstGeom>
          <a:noFill/>
          <a:ln cap="flat" algn="ctr">
            <a:noFill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知识表示</a:t>
            </a:r>
            <a:r>
              <a:rPr lang="zh-CN" altLang="en-US" sz="1800" dirty="0">
                <a:latin typeface="+mn-ea"/>
              </a:rPr>
              <a:t>：计算机可以接受，用于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描述知识</a:t>
            </a:r>
            <a:r>
              <a:rPr lang="zh-CN" altLang="en-US" sz="1800" dirty="0">
                <a:latin typeface="+mn-ea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数据结构</a:t>
            </a:r>
            <a:r>
              <a:rPr lang="zh-CN" altLang="en-US" sz="1800" dirty="0">
                <a:latin typeface="+mn-ea"/>
              </a:rPr>
              <a:t>。</a:t>
            </a:r>
            <a:endParaRPr lang="en-US" altLang="zh-CN" sz="18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None/>
            </a:pPr>
            <a:r>
              <a:rPr lang="en-US" altLang="zh-CN" sz="1800" dirty="0">
                <a:latin typeface="+mn-ea"/>
              </a:rPr>
              <a:t>            </a:t>
            </a:r>
            <a:r>
              <a:rPr lang="zh-CN" altLang="en-US" sz="1600" dirty="0">
                <a:latin typeface="+mn-ea"/>
              </a:rPr>
              <a:t>（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外部表示</a:t>
            </a:r>
            <a:r>
              <a:rPr lang="en-US" altLang="zh-CN" sz="1600" b="0" dirty="0">
                <a:latin typeface="+mn-ea"/>
              </a:rPr>
              <a:t>---</a:t>
            </a:r>
            <a:r>
              <a:rPr lang="zh-CN" altLang="en-US" sz="1600" dirty="0">
                <a:latin typeface="+mn-ea"/>
              </a:rPr>
              <a:t>形式化；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内部表示</a:t>
            </a:r>
            <a:r>
              <a:rPr lang="en-US" altLang="zh-CN" sz="1600" b="0" dirty="0">
                <a:latin typeface="+mn-ea"/>
              </a:rPr>
              <a:t>---</a:t>
            </a:r>
            <a:r>
              <a:rPr lang="zh-CN" altLang="en-US" sz="1600" dirty="0">
                <a:latin typeface="+mn-ea"/>
              </a:rPr>
              <a:t>存储结构）</a:t>
            </a: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 bwMode="gray">
          <a:xfrm>
            <a:off x="585070" y="3717032"/>
            <a:ext cx="747227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是人工智能的</a:t>
            </a:r>
            <a:r>
              <a:rPr lang="zh-CN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核心任务之一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，目的是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用知识改善程序的性能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8650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利用知识帮助选择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或限制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程序的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搜索范围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8650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利用知识帮助程序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识别、判断、规划、学习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8650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：如何使程序拥有知识并具有智能行为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915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647036" y="1124744"/>
            <a:ext cx="10354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、知识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24296" y="1844824"/>
            <a:ext cx="6539992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eaLnBrk="1" hangingPunct="1">
              <a:lnSpc>
                <a:spcPts val="31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/>
              <a:t>长期生活实践与科学研究中，积累的</a:t>
            </a:r>
            <a:r>
              <a:rPr lang="zh-CN" altLang="en-US" sz="2000" b="1" dirty="0">
                <a:solidFill>
                  <a:srgbClr val="FF0000"/>
                </a:solidFill>
              </a:rPr>
              <a:t>认识</a:t>
            </a:r>
            <a:r>
              <a:rPr lang="zh-CN" altLang="en-US" sz="2000" b="1" dirty="0"/>
              <a:t>、</a:t>
            </a:r>
            <a:r>
              <a:rPr lang="zh-CN" altLang="en-US" sz="2000" b="1" dirty="0">
                <a:solidFill>
                  <a:srgbClr val="FF0000"/>
                </a:solidFill>
              </a:rPr>
              <a:t>经验</a:t>
            </a:r>
            <a:r>
              <a:rPr lang="en-US" altLang="zh-CN" sz="2000" b="1" dirty="0">
                <a:solidFill>
                  <a:srgbClr val="FF0000"/>
                </a:solidFill>
              </a:rPr>
              <a:t>…</a:t>
            </a:r>
            <a:endParaRPr lang="zh-CN" altLang="en-US" sz="2000" b="1" dirty="0"/>
          </a:p>
          <a:p>
            <a:pPr marL="361950" indent="-361950" eaLnBrk="1" hangingPunct="1">
              <a:lnSpc>
                <a:spcPts val="31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solidFill>
                  <a:srgbClr val="0000FF"/>
                </a:solidFill>
              </a:rPr>
              <a:t>若干信息</a:t>
            </a:r>
            <a:r>
              <a:rPr lang="zh-CN" altLang="en-US" sz="2000" b="1" dirty="0">
                <a:solidFill>
                  <a:srgbClr val="FF0000"/>
                </a:solidFill>
              </a:rPr>
              <a:t>关联</a:t>
            </a:r>
            <a:r>
              <a:rPr lang="zh-CN" altLang="en-US" sz="2000" b="1" dirty="0"/>
              <a:t>在一起，形成的</a:t>
            </a:r>
            <a:r>
              <a:rPr lang="zh-CN" altLang="en-US" sz="2000" b="1" dirty="0">
                <a:solidFill>
                  <a:srgbClr val="FF0000"/>
                </a:solidFill>
              </a:rPr>
              <a:t>信息结构</a:t>
            </a:r>
            <a:r>
              <a:rPr lang="zh-CN" altLang="en-US" sz="2000" b="1" dirty="0"/>
              <a:t>。</a:t>
            </a:r>
            <a:r>
              <a:rPr lang="zh-CN" altLang="en-US" sz="2000" dirty="0"/>
              <a:t>（数据结构）</a:t>
            </a:r>
            <a:endParaRPr lang="zh-CN" altLang="en-US" sz="2000" b="1" dirty="0"/>
          </a:p>
        </p:txBody>
      </p:sp>
      <p:sp>
        <p:nvSpPr>
          <p:cNvPr id="2" name="矩形 1"/>
          <p:cNvSpPr/>
          <p:nvPr/>
        </p:nvSpPr>
        <p:spPr>
          <a:xfrm>
            <a:off x="1302993" y="2780928"/>
            <a:ext cx="5940659" cy="680956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176213" indent="-17621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n-ea"/>
                <a:ea typeface="+mn-ea"/>
              </a:rPr>
              <a:t>秋风起兮白云飞，草木黄落兮雁南归。</a:t>
            </a:r>
            <a:r>
              <a:rPr lang="en-US" altLang="zh-CN" sz="1600" dirty="0">
                <a:latin typeface="+mn-ea"/>
                <a:ea typeface="+mn-ea"/>
              </a:rPr>
              <a:t>—</a:t>
            </a:r>
            <a:r>
              <a:rPr lang="zh-CN" altLang="en-US" sz="1600" dirty="0">
                <a:latin typeface="+mn-ea"/>
                <a:ea typeface="+mn-ea"/>
              </a:rPr>
              <a:t>两汉，刘彻</a:t>
            </a:r>
            <a:r>
              <a:rPr lang="en-US" altLang="zh-CN" sz="1600" dirty="0">
                <a:latin typeface="+mn-ea"/>
                <a:ea typeface="+mn-ea"/>
              </a:rPr>
              <a:t>《</a:t>
            </a:r>
            <a:r>
              <a:rPr lang="zh-CN" altLang="en-US" sz="1600" dirty="0">
                <a:latin typeface="+mn-ea"/>
                <a:ea typeface="+mn-ea"/>
              </a:rPr>
              <a:t>秋风辞</a:t>
            </a:r>
            <a:r>
              <a:rPr lang="en-US" altLang="zh-CN" sz="1600" dirty="0">
                <a:latin typeface="+mn-ea"/>
                <a:ea typeface="+mn-ea"/>
              </a:rPr>
              <a:t>》</a:t>
            </a:r>
          </a:p>
          <a:p>
            <a:pPr marL="176213" indent="-17621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n-ea"/>
              </a:rPr>
              <a:t>木落雁南度，北风江上寒。</a:t>
            </a:r>
            <a:r>
              <a:rPr lang="en-US" altLang="zh-CN" sz="1600" dirty="0">
                <a:latin typeface="+mn-ea"/>
              </a:rPr>
              <a:t>—</a:t>
            </a:r>
            <a:r>
              <a:rPr lang="zh-CN" altLang="en-US" sz="1600" dirty="0">
                <a:latin typeface="+mn-ea"/>
              </a:rPr>
              <a:t>唐，孟浩然</a:t>
            </a:r>
            <a:r>
              <a:rPr lang="en-US" altLang="zh-CN" sz="1600" dirty="0">
                <a:latin typeface="+mn-ea"/>
              </a:rPr>
              <a:t>《</a:t>
            </a:r>
            <a:r>
              <a:rPr lang="zh-CN" altLang="en-US" sz="1600" dirty="0">
                <a:latin typeface="+mn-ea"/>
              </a:rPr>
              <a:t>早寒江上有怀</a:t>
            </a:r>
            <a:r>
              <a:rPr lang="en-US" altLang="zh-CN" sz="1600" dirty="0">
                <a:latin typeface="+mn-ea"/>
              </a:rPr>
              <a:t>》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24296" y="3645024"/>
            <a:ext cx="7237332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eaLnBrk="1" hangingPunct="1">
              <a:lnSpc>
                <a:spcPts val="31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/>
              <a:t>反映客观世界中</a:t>
            </a:r>
            <a:r>
              <a:rPr lang="zh-CN" altLang="en-US" sz="2000" b="1" dirty="0">
                <a:solidFill>
                  <a:srgbClr val="FF0000"/>
                </a:solidFill>
              </a:rPr>
              <a:t>事物之间的关系</a:t>
            </a:r>
            <a:r>
              <a:rPr lang="zh-CN" altLang="en-US" sz="2000" b="1" dirty="0"/>
              <a:t>。（不同关系形成不同知识）</a:t>
            </a:r>
          </a:p>
        </p:txBody>
      </p:sp>
      <p:sp>
        <p:nvSpPr>
          <p:cNvPr id="16" name="矩形 15"/>
          <p:cNvSpPr/>
          <p:nvPr/>
        </p:nvSpPr>
        <p:spPr>
          <a:xfrm>
            <a:off x="1302992" y="4149080"/>
            <a:ext cx="4349128" cy="1107996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信息关联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形式</a:t>
            </a:r>
            <a:r>
              <a:rPr lang="zh-CN" altLang="en-US" sz="1600" dirty="0">
                <a:latin typeface="+mn-ea"/>
              </a:rPr>
              <a:t>：“如果</a:t>
            </a:r>
            <a:r>
              <a:rPr lang="en-US" altLang="zh-CN" sz="1600" baseline="5000" dirty="0">
                <a:latin typeface="+mn-ea"/>
              </a:rPr>
              <a:t>…</a:t>
            </a:r>
            <a:r>
              <a:rPr lang="zh-CN" altLang="en-US" sz="1600" dirty="0">
                <a:latin typeface="+mn-ea"/>
              </a:rPr>
              <a:t>，则</a:t>
            </a:r>
            <a:r>
              <a:rPr lang="en-US" altLang="zh-CN" sz="1600" dirty="0">
                <a:latin typeface="+mn-ea"/>
              </a:rPr>
              <a:t>(</a:t>
            </a:r>
            <a:r>
              <a:rPr lang="zh-CN" altLang="en-US" sz="1600" dirty="0">
                <a:latin typeface="+mn-ea"/>
              </a:rPr>
              <a:t>那么</a:t>
            </a:r>
            <a:r>
              <a:rPr lang="en-US" altLang="zh-CN" sz="1600" dirty="0">
                <a:latin typeface="+mn-ea"/>
              </a:rPr>
              <a:t>)</a:t>
            </a:r>
            <a:r>
              <a:rPr lang="en-US" altLang="zh-CN" sz="1600" baseline="5000" dirty="0">
                <a:latin typeface="+mn-ea"/>
              </a:rPr>
              <a:t>…</a:t>
            </a:r>
            <a:r>
              <a:rPr lang="en-US" altLang="zh-CN" sz="1600" dirty="0">
                <a:latin typeface="+mn-ea"/>
              </a:rPr>
              <a:t>” 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例：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如果</a:t>
            </a:r>
            <a:r>
              <a:rPr lang="zh-CN" altLang="en-US" sz="1600" dirty="0">
                <a:latin typeface="+mn-ea"/>
              </a:rPr>
              <a:t>大雁南飞，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则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那么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dirty="0">
                <a:latin typeface="+mn-ea"/>
              </a:rPr>
              <a:t>冬天即将来临</a:t>
            </a:r>
            <a:endParaRPr lang="en-US" altLang="zh-CN" sz="1600" dirty="0">
              <a:latin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如果</a:t>
            </a:r>
            <a:r>
              <a:rPr lang="zh-CN" altLang="en-US" sz="1600" dirty="0"/>
              <a:t>头痛且流涕，</a:t>
            </a:r>
            <a:r>
              <a:rPr lang="zh-CN" altLang="en-US" sz="1600" dirty="0">
                <a:solidFill>
                  <a:srgbClr val="FF0000"/>
                </a:solidFill>
              </a:rPr>
              <a:t>则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那么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1600" dirty="0"/>
              <a:t>可能患了感冒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5796136" y="4509120"/>
            <a:ext cx="1944216" cy="73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rgbClr val="0000FF"/>
                </a:solidFill>
                <a:latin typeface="+mn-ea"/>
                <a:ea typeface="+mn-ea"/>
              </a:rPr>
              <a:t>←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规则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条件</a:t>
            </a:r>
            <a:r>
              <a:rPr lang="en-US" altLang="zh-CN" sz="1600" dirty="0">
                <a:latin typeface="+mn-ea"/>
                <a:ea typeface="+mn-ea"/>
              </a:rPr>
              <a:t>-</a:t>
            </a:r>
            <a:r>
              <a:rPr lang="zh-CN" altLang="en-US" sz="1600" dirty="0">
                <a:latin typeface="+mn-ea"/>
                <a:ea typeface="+mn-ea"/>
              </a:rPr>
              <a:t>结论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sz="1600" dirty="0">
                <a:latin typeface="+mn-ea"/>
                <a:ea typeface="+mn-ea"/>
              </a:rPr>
              <a:t>  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E THEN H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37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632985" y="1124744"/>
            <a:ext cx="17787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、知识的特性</a:t>
            </a:r>
          </a:p>
        </p:txBody>
      </p:sp>
      <p:sp>
        <p:nvSpPr>
          <p:cNvPr id="5" name="Rectangle 26"/>
          <p:cNvSpPr txBox="1">
            <a:spLocks noChangeArrowheads="1"/>
          </p:cNvSpPr>
          <p:nvPr/>
        </p:nvSpPr>
        <p:spPr bwMode="auto">
          <a:xfrm>
            <a:off x="606523" y="1772816"/>
            <a:ext cx="7925917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latin typeface="+mn-ea"/>
                <a:ea typeface="+mn-ea"/>
              </a:rPr>
              <a:t>确定性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相对正确性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：任何知识的产生均基于一定条件、环境</a:t>
            </a:r>
            <a:endParaRPr lang="en-US" altLang="zh-CN" dirty="0">
              <a:latin typeface="+mn-ea"/>
              <a:ea typeface="+mn-ea"/>
            </a:endParaRPr>
          </a:p>
          <a:p>
            <a:pPr marL="628650" indent="-185738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+mn-ea"/>
                <a:ea typeface="+mn-ea"/>
              </a:rPr>
              <a:t>如：十进制、二进制</a:t>
            </a:r>
            <a:endParaRPr lang="en-US" altLang="zh-CN" sz="16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latin typeface="+mn-ea"/>
                <a:ea typeface="+mn-ea"/>
              </a:rPr>
              <a:t>不确定性</a:t>
            </a:r>
            <a:endParaRPr lang="en-US" altLang="zh-CN" dirty="0">
              <a:latin typeface="+mn-ea"/>
              <a:ea typeface="+mn-ea"/>
            </a:endParaRPr>
          </a:p>
          <a:p>
            <a:pPr marL="628650" indent="-185738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+mn-ea"/>
                <a:ea typeface="+mn-ea"/>
              </a:rPr>
              <a:t>如：随机、模糊、经验、不完全</a:t>
            </a:r>
            <a:endParaRPr lang="en-US" altLang="zh-CN" sz="16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latin typeface="+mn-ea"/>
                <a:ea typeface="+mn-ea"/>
              </a:rPr>
              <a:t>可表示性、可利用性</a:t>
            </a:r>
            <a:endParaRPr lang="en-US" altLang="zh-CN" dirty="0">
              <a:latin typeface="+mn-ea"/>
              <a:ea typeface="+mn-ea"/>
            </a:endParaRPr>
          </a:p>
          <a:p>
            <a:pPr marL="628650" indent="-185738" algn="just" eaLnBrk="1" hangingPunct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可表示性：</a:t>
            </a:r>
            <a:r>
              <a:rPr lang="zh-CN" altLang="en-US" sz="1600" dirty="0">
                <a:latin typeface="+mn-ea"/>
              </a:rPr>
              <a:t>知识可以用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适当形式</a:t>
            </a:r>
            <a:r>
              <a:rPr lang="zh-CN" altLang="en-US" sz="1600" dirty="0">
                <a:latin typeface="+mn-ea"/>
              </a:rPr>
              <a:t>表示</a:t>
            </a:r>
            <a:endParaRPr lang="en-US" altLang="zh-CN" sz="1600" dirty="0">
              <a:latin typeface="+mn-ea"/>
            </a:endParaRPr>
          </a:p>
          <a:p>
            <a:pPr marL="1792288" indent="-92075" algn="just" eaLnBrk="1" hangingPunct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状态空间、与或图、知识图谱、神经网络</a:t>
            </a:r>
            <a:r>
              <a:rPr lang="en-US" altLang="zh-CN" sz="1400" dirty="0">
                <a:latin typeface="+mn-ea"/>
              </a:rPr>
              <a:t>…</a:t>
            </a:r>
          </a:p>
          <a:p>
            <a:pPr marL="1792288" indent="-92075" algn="just" eaLnBrk="1" hangingPunct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文本、声音、图像</a:t>
            </a:r>
            <a:r>
              <a:rPr lang="en-US" altLang="zh-CN" sz="1400" dirty="0">
                <a:latin typeface="+mn-ea"/>
              </a:rPr>
              <a:t>…</a:t>
            </a:r>
          </a:p>
          <a:p>
            <a:pPr marL="628650" indent="-187325" algn="just" eaLnBrk="1" hangingPunct="1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可利用性：</a:t>
            </a:r>
            <a:r>
              <a:rPr lang="zh-CN" altLang="en-US" sz="1600" dirty="0">
                <a:latin typeface="+mn-ea"/>
              </a:rPr>
              <a:t>知识可以被利用（处理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1600" dirty="0">
                <a:latin typeface="+mn-ea"/>
              </a:rPr>
              <a:t>应用） 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4788024" y="2353262"/>
            <a:ext cx="3816424" cy="1363770"/>
          </a:xfrm>
          <a:prstGeom prst="wedgeRoundRectCallout">
            <a:avLst>
              <a:gd name="adj1" fmla="val -71960"/>
              <a:gd name="adj2" fmla="val 5282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如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深度学习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中：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2075" marR="0" indent="-92075" algn="l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数据形式主要是基于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欧式空间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的“矩阵、张量、序列、时间序列”。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2075" marR="0" indent="-92075" algn="l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400" dirty="0"/>
              <a:t>规则的结构化数据</a:t>
            </a:r>
            <a:r>
              <a:rPr lang="en-US" altLang="zh-CN" sz="1400" dirty="0">
                <a:latin typeface="+mn-ea"/>
                <a:ea typeface="+mn-ea"/>
              </a:rPr>
              <a:t>(</a:t>
            </a:r>
            <a:r>
              <a:rPr lang="zh-CN" altLang="en-US" sz="1400" dirty="0">
                <a:latin typeface="+mn-ea"/>
                <a:ea typeface="+mn-ea"/>
              </a:rPr>
              <a:t>规则的空间结构</a:t>
            </a:r>
            <a:r>
              <a:rPr lang="en-US" altLang="zh-CN" sz="1400" dirty="0">
                <a:latin typeface="+mn-ea"/>
                <a:ea typeface="+mn-ea"/>
              </a:rPr>
              <a:t>)</a:t>
            </a:r>
          </a:p>
          <a:p>
            <a:pPr marL="92075" marR="0" indent="-92075" algn="l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一维或二维矩阵表示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5508104" y="5085184"/>
            <a:ext cx="1800200" cy="648072"/>
          </a:xfrm>
          <a:prstGeom prst="wedgeRoundRectCallout">
            <a:avLst>
              <a:gd name="adj1" fmla="val -72562"/>
              <a:gd name="adj2" fmla="val -6473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92075" marR="0" indent="-92075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卷积操作较为高效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2075" marR="0" indent="-92075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400" dirty="0">
                <a:solidFill>
                  <a:srgbClr val="0000FF"/>
                </a:solidFill>
              </a:rPr>
              <a:t>假设</a:t>
            </a:r>
            <a:r>
              <a:rPr lang="zh-CN" altLang="en-US" sz="1400" dirty="0"/>
              <a:t>：样本相互独立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126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gray">
          <a:xfrm>
            <a:off x="611560" y="1772816"/>
            <a:ext cx="7992888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kumimoji="1"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虽有众多不同研究领域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，各研究领域又各有规律和特点，但</a:t>
            </a:r>
            <a:r>
              <a:rPr kumimoji="1"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均可</a:t>
            </a: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抽象为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一个</a:t>
            </a:r>
            <a:r>
              <a:rPr kumimoji="1"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问题求解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过程。</a:t>
            </a: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问题求解过程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本质上是一个</a:t>
            </a: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搜索过程</a:t>
            </a:r>
            <a:endParaRPr kumimoji="1"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问题求解的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两个方面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：问题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知识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Verdana" panose="020B0604030504040204" pitchFamily="34" charset="0"/>
              </a:rPr>
              <a:t>表示、求解方法</a:t>
            </a: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32985" y="1124744"/>
            <a:ext cx="14907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、问题求解</a:t>
            </a:r>
          </a:p>
        </p:txBody>
      </p:sp>
    </p:spTree>
    <p:extLst>
      <p:ext uri="{BB962C8B-B14F-4D97-AF65-F5344CB8AC3E}">
        <p14:creationId xmlns:p14="http://schemas.microsoft.com/office/powerpoint/2010/main" val="107836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21653" y="1763837"/>
            <a:ext cx="2031959" cy="3808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状态空间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问题归约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谓词逻辑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产生式系统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框架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语义网络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知识图谱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脚本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过程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en-US" altLang="zh-CN" sz="1800" dirty="0">
                <a:latin typeface="+mn-ea"/>
              </a:rPr>
              <a:t>Petri</a:t>
            </a:r>
            <a:r>
              <a:rPr lang="zh-CN" altLang="en-US" sz="1800" dirty="0">
                <a:latin typeface="+mn-ea"/>
              </a:rPr>
              <a:t>网</a:t>
            </a:r>
            <a:endParaRPr lang="en-US" altLang="zh-CN" sz="1800" dirty="0">
              <a:latin typeface="+mn-ea"/>
            </a:endParaRPr>
          </a:p>
          <a:p>
            <a:pPr marL="361950" indent="-361950" fontAlgn="ctr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zh-CN" altLang="en-US" sz="1800" dirty="0">
                <a:latin typeface="+mn-ea"/>
              </a:rPr>
              <a:t>面向对象</a:t>
            </a:r>
            <a:endParaRPr lang="en-US" altLang="zh-CN" sz="1800" dirty="0">
              <a:latin typeface="+mn-ea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40125" y="1082540"/>
            <a:ext cx="3499827" cy="330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2.2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常用的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知识表示方法</a:t>
            </a:r>
          </a:p>
        </p:txBody>
      </p:sp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059833" y="1861978"/>
            <a:ext cx="3600400" cy="1171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说明：</a:t>
            </a:r>
            <a:endParaRPr lang="en-US" altLang="zh-CN" sz="1800" dirty="0">
              <a:solidFill>
                <a:srgbClr val="0000FF"/>
              </a:solidFill>
              <a:latin typeface="+mn-ea"/>
            </a:endParaRPr>
          </a:p>
          <a:p>
            <a:pPr marL="0" indent="0" fontAlgn="ctr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zh-CN" sz="1800" dirty="0">
                <a:latin typeface="+mn-ea"/>
              </a:rPr>
              <a:t>⑴</a:t>
            </a:r>
            <a:r>
              <a:rPr lang="zh-CN" altLang="en-US" sz="1800" dirty="0">
                <a:latin typeface="+mn-ea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不同领域</a:t>
            </a:r>
            <a:r>
              <a:rPr lang="zh-CN" altLang="en-US" sz="1800" dirty="0">
                <a:latin typeface="+mn-ea"/>
              </a:rPr>
              <a:t>知识各有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不同特点</a:t>
            </a:r>
            <a:endParaRPr lang="en-US" altLang="zh-CN" sz="1800" dirty="0">
              <a:latin typeface="+mn-ea"/>
            </a:endParaRPr>
          </a:p>
          <a:p>
            <a:pPr marL="0" indent="0" fontAlgn="ctr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+mn-ea"/>
              </a:rPr>
              <a:t>    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各种</a:t>
            </a:r>
            <a:r>
              <a:rPr lang="zh-CN" altLang="en-US" sz="1800" dirty="0">
                <a:latin typeface="+mn-ea"/>
              </a:rPr>
              <a:t>知识表示方法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各具</a:t>
            </a:r>
            <a:r>
              <a:rPr lang="zh-CN" altLang="en-US" sz="1800" dirty="0">
                <a:latin typeface="+mn-ea"/>
              </a:rPr>
              <a:t>优缺点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59833" y="3249920"/>
            <a:ext cx="5040559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None/>
            </a:pPr>
            <a:r>
              <a:rPr lang="zh-CN" altLang="en-US" sz="1800" dirty="0">
                <a:latin typeface="+mn-ea"/>
              </a:rPr>
              <a:t>⑵、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选择</a:t>
            </a:r>
            <a:r>
              <a:rPr lang="zh-CN" altLang="en-US" sz="1800" dirty="0">
                <a:latin typeface="+mn-ea"/>
              </a:rPr>
              <a:t>知识表示方法的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原则</a:t>
            </a:r>
            <a:endParaRPr lang="en-US" altLang="zh-CN" sz="1800" dirty="0">
              <a:solidFill>
                <a:srgbClr val="FF0000"/>
              </a:solidFill>
              <a:latin typeface="+mn-ea"/>
            </a:endParaRPr>
          </a:p>
          <a:p>
            <a:pPr marL="973137" indent="-34290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+mn-ea"/>
              </a:rPr>
              <a:t>能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充分表示</a:t>
            </a:r>
            <a:r>
              <a:rPr lang="zh-CN" altLang="en-US" sz="1800" dirty="0">
                <a:latin typeface="+mn-ea"/>
              </a:rPr>
              <a:t>领域知识</a:t>
            </a:r>
            <a:endParaRPr lang="en-US" altLang="zh-CN" sz="1800" dirty="0">
              <a:latin typeface="+mn-ea"/>
            </a:endParaRPr>
          </a:p>
          <a:p>
            <a:pPr marL="973137" indent="-34290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+mn-ea"/>
              </a:rPr>
              <a:t>便于对知识的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利用</a:t>
            </a:r>
            <a:endParaRPr lang="en-US" altLang="zh-CN" sz="1800" dirty="0">
              <a:solidFill>
                <a:srgbClr val="0000FF"/>
              </a:solidFill>
              <a:latin typeface="+mn-ea"/>
            </a:endParaRPr>
          </a:p>
          <a:p>
            <a:pPr marL="973137" indent="-34290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+mn-ea"/>
              </a:rPr>
              <a:t>便于知识的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组织</a:t>
            </a: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维护</a:t>
            </a: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管理</a:t>
            </a: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理解</a:t>
            </a: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实现</a:t>
            </a:r>
            <a:endParaRPr lang="en-US" altLang="zh-CN" sz="18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063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7"/>
          <p:cNvSpPr txBox="1">
            <a:spLocks noChangeArrowheads="1"/>
          </p:cNvSpPr>
          <p:nvPr/>
        </p:nvSpPr>
        <p:spPr bwMode="auto">
          <a:xfrm>
            <a:off x="628152" y="1052736"/>
            <a:ext cx="56886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、状态空间表示法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State Space Representation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24439" y="1781476"/>
            <a:ext cx="7547961" cy="200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</a:rPr>
              <a:t>在某个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可能的解空间</a:t>
            </a:r>
            <a:r>
              <a:rPr lang="zh-CN" altLang="en-US" sz="2000" dirty="0">
                <a:latin typeface="+mn-ea"/>
              </a:rPr>
              <a:t>中，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搜索一个解</a:t>
            </a:r>
            <a:r>
              <a:rPr lang="zh-CN" altLang="en-US" sz="2000" dirty="0">
                <a:latin typeface="+mn-ea"/>
              </a:rPr>
              <a:t>。</a:t>
            </a:r>
          </a:p>
          <a:p>
            <a:pPr marL="360363" indent="-360363">
              <a:lnSpc>
                <a:spcPct val="150000"/>
              </a:lnSpc>
              <a:buClr>
                <a:srgbClr val="FF0000"/>
              </a:buClr>
              <a:buSzPct val="70000"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状态空间法</a:t>
            </a:r>
            <a:r>
              <a:rPr lang="zh-CN" altLang="en-US" sz="2000" dirty="0">
                <a:latin typeface="+mn-ea"/>
              </a:rPr>
              <a:t>：基于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解空间</a:t>
            </a:r>
            <a:r>
              <a:rPr lang="zh-CN" altLang="en-US" sz="2000" dirty="0">
                <a:latin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问题表示</a:t>
            </a:r>
            <a:r>
              <a:rPr lang="zh-CN" altLang="en-US" sz="2000" dirty="0">
                <a:latin typeface="+mn-ea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求解</a:t>
            </a:r>
            <a:r>
              <a:rPr lang="zh-CN" altLang="en-US" sz="2000" dirty="0">
                <a:latin typeface="+mn-ea"/>
              </a:rPr>
              <a:t>方法</a:t>
            </a:r>
            <a:endParaRPr lang="en-US" altLang="zh-CN" sz="2000" dirty="0">
              <a:latin typeface="+mn-ea"/>
            </a:endParaRPr>
          </a:p>
          <a:p>
            <a:pPr marL="360363" indent="-360363">
              <a:lnSpc>
                <a:spcPct val="150000"/>
              </a:lnSpc>
              <a:buClr>
                <a:srgbClr val="FF0000"/>
              </a:buClr>
              <a:buSzPct val="70000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最基本的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形式化方法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</a:t>
            </a: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>
              <a:lnSpc>
                <a:spcPct val="150000"/>
              </a:lnSpc>
              <a:buClr>
                <a:srgbClr val="FF0000"/>
              </a:buClr>
              <a:buSzPct val="80000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思想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：用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算符</a:t>
            </a:r>
            <a:r>
              <a:rPr kumimoji="1" lang="en-US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\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操作符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进行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表示与求解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/>
            </p:nvSpPr>
            <p:spPr bwMode="gray">
              <a:xfrm>
                <a:off x="611560" y="1737752"/>
                <a:ext cx="7992888" cy="25018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7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kumimoji="1"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7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问题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dirty="0">
                    <a:latin typeface="+mn-ea"/>
                    <a:cs typeface="Times New Roman" panose="02020603050405020304" pitchFamily="18" charset="0"/>
                  </a:rPr>
                  <a:t>系统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状态、事实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叙述型知识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静态、陈述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ts val="27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为描述事物之间的差别，引入的</a:t>
                </a:r>
                <a:r>
                  <a:rPr lang="zh-CN" altLang="en-US" sz="2000" u="wavyDbl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一组最少变量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有序集合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，表示求解过程中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每一步的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数据结构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7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集合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分量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，称为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状态分量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变量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7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若确定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每个分量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一组值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，即可得到一个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具体状态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确定状态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)</a:t>
                </a:r>
                <a:endParaRPr kumimoji="1" lang="en-US" altLang="zh-CN" sz="2000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560" y="1737752"/>
                <a:ext cx="7992888" cy="2501808"/>
              </a:xfrm>
              <a:prstGeom prst="rect">
                <a:avLst/>
              </a:prstGeom>
              <a:blipFill>
                <a:blip r:embed="rId2"/>
                <a:stretch>
                  <a:fillRect l="-1449" t="-1463" r="-839" b="-390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18916" y="1177007"/>
            <a:ext cx="547260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状态空间法的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三要素：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状态、操作符、状态空间</a:t>
            </a:r>
            <a:endParaRPr kumimoji="1" lang="en-US" altLang="zh-C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>
                <a:spLocks noGrp="1" noChangeArrowheads="1"/>
              </p:cNvSpPr>
              <p:nvPr/>
            </p:nvSpPr>
            <p:spPr bwMode="gray">
              <a:xfrm>
                <a:off x="611560" y="4446348"/>
                <a:ext cx="7776864" cy="1304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算符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\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操作符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Operator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2000" b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}</a:t>
                </a:r>
              </a:p>
              <a:p>
                <a:pPr marL="720725" lvl="1" indent="-277813">
                  <a:lnSpc>
                    <a:spcPts val="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引起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状态变化</a:t>
                </a:r>
                <a:r>
                  <a:rPr lang="zh-CN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的一组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关系</a:t>
                </a:r>
                <a:r>
                  <a:rPr lang="zh-CN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函数</a:t>
                </a:r>
                <a:r>
                  <a:rPr lang="zh-CN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过程型知识、动态、变换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  <a:p>
                <a:pPr marL="720725" lvl="1" indent="-277813">
                  <a:lnSpc>
                    <a:spcPts val="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使问题</a:t>
                </a:r>
                <a:r>
                  <a:rPr lang="zh-CN" altLang="en-US" sz="2000" u="wavyDbl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从一种状态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变化为</a:t>
                </a:r>
                <a:r>
                  <a:rPr lang="zh-CN" altLang="en-US" sz="2000" u="wavyDbl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另一种状态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手段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操作、方法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560" y="4446348"/>
                <a:ext cx="7776864" cy="1304141"/>
              </a:xfrm>
              <a:prstGeom prst="rect">
                <a:avLst/>
              </a:prstGeom>
              <a:blipFill>
                <a:blip r:embed="rId3"/>
                <a:stretch>
                  <a:fillRect l="-1489" t="-467" r="-235" b="-46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89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/>
            </p:nvSpPr>
            <p:spPr bwMode="gray">
              <a:xfrm>
                <a:off x="607272" y="1721300"/>
                <a:ext cx="8141192" cy="33638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8288" indent="-268288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</a:rPr>
                  <a:t>状态空间</a:t>
                </a:r>
                <a:r>
                  <a:rPr lang="zh-CN" altLang="en-US" sz="2000" dirty="0">
                    <a:latin typeface="+mn-ea"/>
                  </a:rPr>
                  <a:t>（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Space</a:t>
                </a:r>
                <a:r>
                  <a:rPr lang="zh-CN" altLang="en-US" sz="2000" dirty="0">
                    <a:latin typeface="+mn-ea"/>
                  </a:rPr>
                  <a:t>）</a:t>
                </a:r>
                <a:endParaRPr lang="en-US" altLang="zh-CN" sz="2000" dirty="0">
                  <a:latin typeface="+mn-ea"/>
                  <a:cs typeface="Times New Roman" panose="02020603050405020304" pitchFamily="18" charset="0"/>
                </a:endParaRPr>
              </a:p>
              <a:p>
                <a:pPr marL="628650" lvl="1" indent="-268288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+mn-ea"/>
                  </a:rPr>
                  <a:t>表示问题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</a:rPr>
                  <a:t>所有可能的状态</a:t>
                </a:r>
                <a:r>
                  <a:rPr lang="zh-CN" altLang="en-US" sz="2000" dirty="0">
                    <a:latin typeface="+mn-ea"/>
                  </a:rPr>
                  <a:t>及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</a:rPr>
                  <a:t>各状态之间关系</a:t>
                </a:r>
                <a:r>
                  <a:rPr lang="zh-CN" altLang="en-US" sz="2000" dirty="0">
                    <a:latin typeface="+mn-ea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</a:rPr>
                  <a:t>图</a:t>
                </a:r>
                <a:r>
                  <a:rPr lang="zh-CN" altLang="en-US" sz="2000" dirty="0">
                    <a:latin typeface="+mn-ea"/>
                  </a:rPr>
                  <a:t>，是利用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</a:rPr>
                  <a:t>状态变量</a:t>
                </a:r>
                <a:r>
                  <a:rPr lang="zh-CN" altLang="en-US" sz="2000" dirty="0">
                    <a:latin typeface="+mn-ea"/>
                  </a:rPr>
                  <a:t>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</a:rPr>
                  <a:t>操作符</a:t>
                </a:r>
                <a:r>
                  <a:rPr lang="zh-CN" altLang="en-US" sz="2000" dirty="0">
                    <a:latin typeface="+mn-ea"/>
                  </a:rPr>
                  <a:t>，表示</a:t>
                </a:r>
                <a:r>
                  <a:rPr lang="zh-CN" altLang="en-US" sz="2000" u="wavyDbl" dirty="0">
                    <a:latin typeface="+mn-ea"/>
                  </a:rPr>
                  <a:t>与问题有关知识</a:t>
                </a:r>
                <a:r>
                  <a:rPr lang="zh-CN" altLang="en-US" sz="2000" dirty="0">
                    <a:latin typeface="+mn-ea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</a:rPr>
                  <a:t>符号体系</a:t>
                </a:r>
                <a:r>
                  <a:rPr lang="zh-CN" altLang="en-US" sz="2000" dirty="0">
                    <a:latin typeface="+mn-ea"/>
                  </a:rPr>
                  <a:t>。</a:t>
                </a:r>
                <a:endParaRPr lang="en-US" altLang="zh-CN" sz="20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+mn-ea"/>
                  </a:rPr>
                  <a:t>三元组  </a:t>
                </a:r>
                <a:r>
                  <a:rPr lang="zh-CN" altLang="en-US" sz="2000" b="0" dirty="0">
                    <a:latin typeface="+mn-ea"/>
                    <a:cs typeface="Times New Roman" panose="02020603050405020304" pitchFamily="18" charset="0"/>
                  </a:rPr>
                  <a:t>→</a:t>
                </a:r>
                <a:r>
                  <a:rPr lang="zh-CN" altLang="en-US" sz="20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en-US" altLang="zh-CN" sz="2000" dirty="0">
                  <a:latin typeface="+mn-ea"/>
                </a:endParaRPr>
              </a:p>
              <a:p>
                <a:pPr marL="400050" lvl="2" inden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None/>
                </a:pPr>
                <a:r>
                  <a:rPr lang="en-US" altLang="zh-CN" sz="2000" dirty="0">
                    <a:solidFill>
                      <a:schemeClr val="tx2"/>
                    </a:solidFill>
                    <a:latin typeface="+mn-ea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+mn-ea"/>
                    <a:cs typeface="Times New Roman" panose="02020603050405020304" pitchFamily="18" charset="0"/>
                  </a:rPr>
                  <a:t>状态集合；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+mn-ea"/>
                    <a:cs typeface="Times New Roman" panose="02020603050405020304" pitchFamily="18" charset="0"/>
                  </a:rPr>
                  <a:t>操作符集合；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+mn-ea"/>
                    <a:cs typeface="Times New Roman" panose="02020603050405020304" pitchFamily="18" charset="0"/>
                  </a:rPr>
                  <a:t>目标状态集合。</a:t>
                </a:r>
                <a:endParaRPr lang="en-US" altLang="zh-CN" sz="20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    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某个给定的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latin typeface="+mn-ea"/>
                    <a:cs typeface="Times New Roman" panose="02020603050405020304" pitchFamily="18" charset="0"/>
                  </a:rPr>
                  <a:t>初始状态</a:t>
                </a:r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latin typeface="+mn-ea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zh-CN" sz="2000" dirty="0">
                    <a:latin typeface="+mn-ea"/>
                    <a:cs typeface="Times New Roman" panose="02020603050405020304" pitchFamily="18" charset="0"/>
                  </a:rPr>
                  <a:t>的非空子集，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⊂ S </a:t>
                </a:r>
                <a:r>
                  <a:rPr lang="zh-CN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zh-CN" altLang="zh-CN" sz="20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7272" y="1721300"/>
                <a:ext cx="8141192" cy="3363884"/>
              </a:xfrm>
              <a:prstGeom prst="rect">
                <a:avLst/>
              </a:prstGeom>
              <a:blipFill>
                <a:blip r:embed="rId2"/>
                <a:stretch>
                  <a:fillRect l="-1423" r="-7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线形标注 2(带强调线) 4"/>
              <p:cNvSpPr/>
              <p:nvPr/>
            </p:nvSpPr>
            <p:spPr bwMode="auto">
              <a:xfrm>
                <a:off x="4716016" y="1052736"/>
                <a:ext cx="2592288" cy="360040"/>
              </a:xfrm>
              <a:prstGeom prst="accentCallout2">
                <a:avLst>
                  <a:gd name="adj1" fmla="val 18751"/>
                  <a:gd name="adj2" fmla="val -2371"/>
                  <a:gd name="adj3" fmla="val 18751"/>
                  <a:gd name="adj4" fmla="val -9049"/>
                  <a:gd name="adj5" fmla="val 658655"/>
                  <a:gd name="adj6" fmla="val -113708"/>
                </a:avLst>
              </a:prstGeom>
              <a:noFill/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stealth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zh-CN" altLang="en-US" sz="2000" dirty="0">
                    <a:latin typeface="+mn-ea"/>
                    <a:ea typeface="+mn-ea"/>
                  </a:rPr>
                  <a:t>四</a:t>
                </a: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  <a:ea typeface="+mn-ea"/>
                  </a:rPr>
                  <a:t>元组：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  <a:ea typeface="+mn-ea"/>
                      </a:rPr>
                      <m:t>（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+mn-ea"/>
                      </a:rPr>
                      <m:t>𝑺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+mn-ea"/>
                      </a:rPr>
                      <m:t>𝑭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+mn-ea"/>
                      </a:rPr>
                      <m:t>𝑮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+mn-ea"/>
                      </a:rPr>
                      <m:t>）</m:t>
                    </m:r>
                  </m:oMath>
                </a14:m>
                <a:endParaRPr lang="en-US" altLang="zh-CN" sz="20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线形标注 2(带强调线)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016" y="1052736"/>
                <a:ext cx="2592288" cy="360040"/>
              </a:xfrm>
              <a:prstGeom prst="accentCallout2">
                <a:avLst>
                  <a:gd name="adj1" fmla="val 18751"/>
                  <a:gd name="adj2" fmla="val -2371"/>
                  <a:gd name="adj3" fmla="val 18751"/>
                  <a:gd name="adj4" fmla="val -9049"/>
                  <a:gd name="adj5" fmla="val 658655"/>
                  <a:gd name="adj6" fmla="val -113708"/>
                </a:avLst>
              </a:prstGeom>
              <a:blipFill>
                <a:blip r:embed="rId3"/>
                <a:stretch>
                  <a:fillRect t="-3474" r="-91786"/>
                </a:stretch>
              </a:blip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stealth" w="med" len="med"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21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19877" y="1023119"/>
                <a:ext cx="6804736" cy="46166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0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𝑮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路径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问题求解路径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（初始状态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→目标状态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77" y="1023119"/>
                <a:ext cx="6804736" cy="461665"/>
              </a:xfrm>
              <a:prstGeom prst="rect">
                <a:avLst/>
              </a:prstGeom>
              <a:blipFill>
                <a:blip r:embed="rId2"/>
                <a:stretch>
                  <a:fillRect l="-2330" r="-2151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11560" y="1700808"/>
                <a:ext cx="7952317" cy="105336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indent="-268288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状态空间的</a:t>
                </a:r>
                <a:r>
                  <a:rPr lang="zh-CN" altLang="en-US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一个解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就是一个“</a:t>
                </a:r>
                <a:r>
                  <a:rPr lang="zh-CN" altLang="en-US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有限的操作符序列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”，使</a:t>
                </a:r>
                <a:r>
                  <a:rPr lang="zh-CN" altLang="en-US" sz="2000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400" u="wavyDbl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转换为</a:t>
                </a:r>
                <a:r>
                  <a:rPr lang="zh-CN" altLang="en-US" sz="2000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目标状态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00808"/>
                <a:ext cx="7952317" cy="1053365"/>
              </a:xfrm>
              <a:prstGeom prst="rect">
                <a:avLst/>
              </a:prstGeom>
              <a:blipFill>
                <a:blip r:embed="rId3"/>
                <a:stretch>
                  <a:fillRect l="-1456" b="-13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图片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2355994"/>
            <a:ext cx="3960440" cy="401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934656" y="3044790"/>
                <a:ext cx="6830466" cy="92333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即是</a:t>
                </a:r>
                <a:r>
                  <a:rPr lang="zh-CN" altLang="en-US" sz="2000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状态空间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一个解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。（不唯一）</a:t>
                </a:r>
                <a:endParaRPr lang="en-US" altLang="zh-CN" sz="2000" kern="1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kumimoji="1"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问题求解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过程：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解的搜索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过程</a:t>
                </a: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56" y="3044790"/>
                <a:ext cx="6830466" cy="923330"/>
              </a:xfrm>
              <a:prstGeom prst="rect">
                <a:avLst/>
              </a:prstGeom>
              <a:blipFill>
                <a:blip r:embed="rId5"/>
                <a:stretch>
                  <a:fillRect l="-1695" r="-2230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623109" y="4221088"/>
            <a:ext cx="8053348" cy="8976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：一种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基于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解空间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问题表示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求解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方法，以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算符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为基础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buClr>
                <a:srgbClr val="FF0000"/>
              </a:buClr>
              <a:buSzPct val="80000"/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en-US" altLang="zh-CN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来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求解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4"/>
          <p:cNvSpPr>
            <a:spLocks noChangeArrowheads="1"/>
          </p:cNvSpPr>
          <p:nvPr/>
        </p:nvSpPr>
        <p:spPr bwMode="auto">
          <a:xfrm>
            <a:off x="672183" y="1050278"/>
            <a:ext cx="51058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状态空间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八数码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问题的状态空间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1188" y="1772816"/>
            <a:ext cx="8064500" cy="76142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方格盘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上随机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放有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个数码，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其中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一格为空。空格四周上下左右的数码可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以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移动到空格。问题布局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之一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6388" name="组合 18"/>
          <p:cNvGrpSpPr>
            <a:grpSpLocks/>
          </p:cNvGrpSpPr>
          <p:nvPr/>
        </p:nvGrpSpPr>
        <p:grpSpPr bwMode="auto">
          <a:xfrm>
            <a:off x="3635896" y="2852936"/>
            <a:ext cx="1980902" cy="1855245"/>
            <a:chOff x="3131840" y="2924944"/>
            <a:chExt cx="2376264" cy="2376264"/>
          </a:xfrm>
        </p:grpSpPr>
        <p:sp>
          <p:nvSpPr>
            <p:cNvPr id="16389" name="矩形 9"/>
            <p:cNvSpPr>
              <a:spLocks noChangeArrowheads="1"/>
            </p:cNvSpPr>
            <p:nvPr/>
          </p:nvSpPr>
          <p:spPr bwMode="auto">
            <a:xfrm>
              <a:off x="3131840" y="2924944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0" name="矩形 10"/>
            <p:cNvSpPr>
              <a:spLocks noChangeArrowheads="1"/>
            </p:cNvSpPr>
            <p:nvPr/>
          </p:nvSpPr>
          <p:spPr bwMode="auto">
            <a:xfrm>
              <a:off x="3923928" y="2924944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1" name="矩形 11"/>
            <p:cNvSpPr>
              <a:spLocks noChangeArrowheads="1"/>
            </p:cNvSpPr>
            <p:nvPr/>
          </p:nvSpPr>
          <p:spPr bwMode="auto">
            <a:xfrm>
              <a:off x="4716016" y="2924944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2" name="矩形 12"/>
            <p:cNvSpPr>
              <a:spLocks noChangeArrowheads="1"/>
            </p:cNvSpPr>
            <p:nvPr/>
          </p:nvSpPr>
          <p:spPr bwMode="auto">
            <a:xfrm>
              <a:off x="3131840" y="3717032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3" name="矩形 13"/>
            <p:cNvSpPr>
              <a:spLocks noChangeArrowheads="1"/>
            </p:cNvSpPr>
            <p:nvPr/>
          </p:nvSpPr>
          <p:spPr bwMode="auto">
            <a:xfrm>
              <a:off x="3923928" y="3717032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4" name="矩形 14"/>
            <p:cNvSpPr>
              <a:spLocks noChangeArrowheads="1"/>
            </p:cNvSpPr>
            <p:nvPr/>
          </p:nvSpPr>
          <p:spPr bwMode="auto">
            <a:xfrm>
              <a:off x="4716016" y="3717032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5" name="矩形 15"/>
            <p:cNvSpPr>
              <a:spLocks noChangeArrowheads="1"/>
            </p:cNvSpPr>
            <p:nvPr/>
          </p:nvSpPr>
          <p:spPr bwMode="auto">
            <a:xfrm>
              <a:off x="3131840" y="4509120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6" name="矩形 16"/>
            <p:cNvSpPr>
              <a:spLocks noChangeArrowheads="1"/>
            </p:cNvSpPr>
            <p:nvPr/>
          </p:nvSpPr>
          <p:spPr bwMode="auto">
            <a:xfrm>
              <a:off x="3923928" y="4509120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7" name="矩形 17"/>
            <p:cNvSpPr>
              <a:spLocks noChangeArrowheads="1"/>
            </p:cNvSpPr>
            <p:nvPr/>
          </p:nvSpPr>
          <p:spPr bwMode="auto">
            <a:xfrm>
              <a:off x="4716016" y="4509120"/>
              <a:ext cx="792088" cy="79208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18000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343292" y="2852936"/>
            <a:ext cx="6600292" cy="1586907"/>
            <a:chOff x="1345233" y="3889553"/>
            <a:chExt cx="6600292" cy="158690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4208" y="3895864"/>
              <a:ext cx="1501317" cy="1501317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5233" y="3889553"/>
              <a:ext cx="1586907" cy="158690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3635896" y="4864931"/>
                <a:ext cx="3384376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80975" indent="-180975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给定某个</a:t>
                </a:r>
                <a:r>
                  <a:rPr lang="zh-CN" altLang="en-US" sz="2000" dirty="0"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</a:rPr>
                  <a:t>”</a:t>
                </a:r>
                <a:endParaRPr lang="en-US" altLang="zh-CN" sz="2000" dirty="0">
                  <a:latin typeface="+mn-ea"/>
                  <a:ea typeface="+mn-ea"/>
                </a:endParaRPr>
              </a:p>
              <a:p>
                <a:pPr marL="180975" indent="-180975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+mn-ea"/>
                    <a:ea typeface="+mn-ea"/>
                  </a:rPr>
                  <a:t>若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移动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任意一个</a:t>
                </a:r>
                <a:r>
                  <a:rPr lang="zh-CN" altLang="en-US" sz="2000" dirty="0">
                    <a:latin typeface="+mn-ea"/>
                    <a:ea typeface="+mn-ea"/>
                  </a:rPr>
                  <a:t>数码</a:t>
                </a:r>
                <a:r>
                  <a:rPr lang="en-US" altLang="zh-CN" sz="2000" dirty="0">
                    <a:latin typeface="+mn-ea"/>
                    <a:ea typeface="+mn-ea"/>
                  </a:rPr>
                  <a:t>/</a:t>
                </a:r>
                <a:r>
                  <a:rPr lang="zh-CN" altLang="en-US" sz="2000" dirty="0">
                    <a:latin typeface="+mn-ea"/>
                    <a:ea typeface="+mn-ea"/>
                  </a:rPr>
                  <a:t>空格？</a:t>
                </a: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4864931"/>
                <a:ext cx="3384376" cy="923330"/>
              </a:xfrm>
              <a:prstGeom prst="rect">
                <a:avLst/>
              </a:prstGeom>
              <a:blipFill>
                <a:blip r:embed="rId4"/>
                <a:stretch>
                  <a:fillRect l="-4317" r="-4496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 bwMode="auto">
              <a:xfrm>
                <a:off x="6615505" y="4420300"/>
                <a:ext cx="1154839" cy="41494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</m:oMath>
                </a14:m>
                <a:endPara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15505" y="4420300"/>
                <a:ext cx="1154839" cy="414947"/>
              </a:xfrm>
              <a:prstGeom prst="rect">
                <a:avLst/>
              </a:prstGeom>
              <a:blipFill rotWithShape="0">
                <a:blip r:embed="rId5"/>
                <a:stretch>
                  <a:fillRect l="-4211" t="-11765" b="-7353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629347" y="1223187"/>
            <a:ext cx="6025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说明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780552" y="208003"/>
            <a:ext cx="3823698" cy="1322347"/>
            <a:chOff x="4780552" y="208003"/>
            <a:chExt cx="3823698" cy="1322347"/>
          </a:xfrm>
        </p:grpSpPr>
        <p:pic>
          <p:nvPicPr>
            <p:cNvPr id="17413" name="图片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2725" y="288925"/>
              <a:ext cx="1348823" cy="124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4" name="图片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5427" y="288925"/>
              <a:ext cx="1348823" cy="1176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 bwMode="auto">
                <a:xfrm>
                  <a:off x="4780552" y="208003"/>
                  <a:ext cx="432048" cy="4364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0552" y="208003"/>
                  <a:ext cx="432048" cy="43643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817" r="-9859" b="-11111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/>
                <p:cNvSpPr/>
                <p:nvPr/>
              </p:nvSpPr>
              <p:spPr bwMode="auto">
                <a:xfrm>
                  <a:off x="6781524" y="217089"/>
                  <a:ext cx="432048" cy="4364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81524" y="217089"/>
                  <a:ext cx="432048" cy="43643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817" r="-15493" b="-22535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虚尾箭头 4"/>
            <p:cNvSpPr/>
            <p:nvPr/>
          </p:nvSpPr>
          <p:spPr bwMode="auto">
            <a:xfrm>
              <a:off x="6803561" y="763390"/>
              <a:ext cx="330407" cy="247279"/>
            </a:xfrm>
            <a:prstGeom prst="stripedRightArrow">
              <a:avLst>
                <a:gd name="adj1" fmla="val 56686"/>
                <a:gd name="adj2" fmla="val 76741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11560" y="1872532"/>
                <a:ext cx="8064896" cy="330859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indent="-268288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8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数码的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任意</a:t>
                </a:r>
                <a:r>
                  <a:rPr lang="zh-CN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一种摆法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就是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一个状态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所有摆法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就是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状态集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合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，构成一个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状态空间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大小为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9!</a:t>
                </a:r>
              </a:p>
              <a:p>
                <a:pPr marL="268288" indent="-268288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u="wavyDbl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要求实现的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某个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目标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（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如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：要求</a:t>
                </a:r>
                <a:r>
                  <a:rPr lang="zh-CN" altLang="en-US" sz="2000" u="wavyDbl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顺时针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摆放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8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个数码）</a:t>
                </a:r>
                <a:endParaRPr lang="en-US" altLang="zh-CN" sz="2000" kern="1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68288" indent="-268288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zh-CN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zh-CN" altLang="en-US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符</a:t>
                </a:r>
                <a:r>
                  <a:rPr lang="en-US" altLang="zh-CN" sz="20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移动</a:t>
                </a:r>
                <a:r>
                  <a:rPr lang="zh-CN" altLang="en-US" sz="2000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数码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共有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数码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方向</a:t>
                </a:r>
                <a:r>
                  <a:rPr lang="en-US" altLang="zh-CN" sz="2000" dirty="0"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=32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68288" indent="-268288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若“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眼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”在空格上，空格在方格盘上每个可能位置上的移动，其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符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有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×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8=24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个。（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甚至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可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仅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简化为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：上、下、左、右）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68288" indent="-268288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为保证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空格不会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超出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方格盘，并非任何状态下均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可使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用这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符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872532"/>
                <a:ext cx="8064896" cy="3308598"/>
              </a:xfrm>
              <a:prstGeom prst="rect">
                <a:avLst/>
              </a:prstGeom>
              <a:blipFill>
                <a:blip r:embed="rId6"/>
                <a:stretch>
                  <a:fillRect l="-1436" t="-3683" r="-1965" b="-2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矩形 4"/>
          <p:cNvSpPr>
            <a:spLocks noChangeArrowheads="1"/>
          </p:cNvSpPr>
          <p:nvPr/>
        </p:nvSpPr>
        <p:spPr bwMode="auto">
          <a:xfrm>
            <a:off x="639268" y="1184363"/>
            <a:ext cx="41048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状态空间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十五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数码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11194" y="1777552"/>
            <a:ext cx="66251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3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十五数码问题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：由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4×4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方格盘上可移动的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个数码构成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541" y="2348880"/>
            <a:ext cx="3681659" cy="1979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611188" y="4628977"/>
                <a:ext cx="7993259" cy="1005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algn="just" eaLnBrk="1" hangingPunct="1">
                  <a:lnSpc>
                    <a:spcPct val="13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问题：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如何将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初始棋局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变换为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目标棋局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？</a:t>
                </a:r>
              </a:p>
              <a:p>
                <a:pPr marL="361950" algn="just" eaLnBrk="1" hangingPunct="1">
                  <a:lnSpc>
                    <a:spcPct val="13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解：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某个合适棋子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走步序列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移动棋子的一个序列）</a:t>
                </a:r>
              </a:p>
            </p:txBody>
          </p:sp>
        </mc:Choice>
        <mc:Fallback xmlns="">
          <p:sp>
            <p:nvSpPr>
              <p:cNvPr id="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4628977"/>
                <a:ext cx="7993259" cy="1005725"/>
              </a:xfrm>
              <a:prstGeom prst="rect">
                <a:avLst/>
              </a:prstGeom>
              <a:blipFill rotWithShape="0">
                <a:blip r:embed="rId3"/>
                <a:stretch>
                  <a:fillRect l="-1678" t="-2424" r="-1678" b="-1090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1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04813"/>
            <a:ext cx="5616575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13"/>
          <p:cNvSpPr>
            <a:spLocks noChangeArrowheads="1"/>
          </p:cNvSpPr>
          <p:nvPr/>
        </p:nvSpPr>
        <p:spPr bwMode="auto">
          <a:xfrm>
            <a:off x="5219700" y="682625"/>
            <a:ext cx="15845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初始棋局</a:t>
            </a:r>
            <a:r>
              <a:rPr kumimoji="1"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en-US" altLang="zh-CN" sz="2400" baseline="-10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endParaRPr kumimoji="1" lang="zh-CN" altLang="en-US" sz="2400" baseline="-10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0" name="Rectangle 15"/>
              <p:cNvSpPr>
                <a:spLocks noChangeArrowheads="1"/>
              </p:cNvSpPr>
              <p:nvPr/>
            </p:nvSpPr>
            <p:spPr bwMode="auto">
              <a:xfrm>
                <a:off x="5278438" y="5579948"/>
                <a:ext cx="1655762" cy="404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</a:pPr>
                <a:r>
                  <a:rPr kumimoji="1"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目标棋局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𝒈</m:t>
                        </m:r>
                      </m:sub>
                    </m:sSub>
                  </m:oMath>
                </a14:m>
                <a:endParaRPr kumimoji="1" lang="zh-CN" altLang="en-US" sz="24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9460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8438" y="5579948"/>
                <a:ext cx="1655762" cy="404278"/>
              </a:xfrm>
              <a:prstGeom prst="rect">
                <a:avLst/>
              </a:prstGeom>
              <a:blipFill rotWithShape="0">
                <a:blip r:embed="rId3"/>
                <a:stretch>
                  <a:fillRect l="-11397" t="-26866" b="-313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1" name="Rectangle 17"/>
          <p:cNvSpPr>
            <a:spLocks noChangeArrowheads="1"/>
          </p:cNvSpPr>
          <p:nvPr/>
        </p:nvSpPr>
        <p:spPr bwMode="auto">
          <a:xfrm>
            <a:off x="323851" y="188640"/>
            <a:ext cx="2807990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初始棋局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变为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目标棋局？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移动规则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L-U-R-D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22" name="AutoShape 18"/>
              <p:cNvSpPr>
                <a:spLocks noChangeArrowheads="1"/>
              </p:cNvSpPr>
              <p:nvPr/>
            </p:nvSpPr>
            <p:spPr bwMode="auto">
              <a:xfrm>
                <a:off x="7308850" y="188913"/>
                <a:ext cx="1655763" cy="1223962"/>
              </a:xfrm>
              <a:prstGeom prst="wedgeRoundRectCallout">
                <a:avLst>
                  <a:gd name="adj1" fmla="val -158421"/>
                  <a:gd name="adj2" fmla="val 62796"/>
                  <a:gd name="adj3" fmla="val 16667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800" dirty="0">
                    <a:latin typeface="+mn-ea"/>
                    <a:ea typeface="+mn-ea"/>
                  </a:rPr>
                  <a:t>首先将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适用的操作符</a:t>
                </a:r>
                <a:r>
                  <a:rPr lang="zh-CN" altLang="en-US" sz="1800" dirty="0">
                    <a:latin typeface="+mn-ea"/>
                    <a:ea typeface="+mn-ea"/>
                  </a:rPr>
                  <a:t>用于</a:t>
                </a:r>
                <a:r>
                  <a:rPr lang="zh-CN" altLang="en-US" sz="1800" dirty="0">
                    <a:solidFill>
                      <a:srgbClr val="0000FF"/>
                    </a:solidFill>
                    <a:latin typeface="+mn-ea"/>
                    <a:ea typeface="+mn-ea"/>
                  </a:rPr>
                  <a:t>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+mn-ea"/>
                    <a:ea typeface="+mn-ea"/>
                  </a:rPr>
                  <a:t>，以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产生新的状态</a:t>
                </a:r>
                <a:r>
                  <a:rPr lang="zh-CN" altLang="en-US" sz="1800" dirty="0">
                    <a:latin typeface="+mn-ea"/>
                    <a:ea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1522" name="AutoShap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8850" y="188913"/>
                <a:ext cx="1655763" cy="1223962"/>
              </a:xfrm>
              <a:prstGeom prst="wedgeRoundRectCallout">
                <a:avLst>
                  <a:gd name="adj1" fmla="val -158421"/>
                  <a:gd name="adj2" fmla="val 62796"/>
                  <a:gd name="adj3" fmla="val 16667"/>
                </a:avLst>
              </a:prstGeom>
              <a:blipFill rotWithShape="0">
                <a:blip r:embed="rId4"/>
                <a:stretch>
                  <a:fillRect t="-866" r="-416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23" name="AutoShape 19"/>
              <p:cNvSpPr>
                <a:spLocks noChangeArrowheads="1"/>
              </p:cNvSpPr>
              <p:nvPr/>
            </p:nvSpPr>
            <p:spPr bwMode="auto">
              <a:xfrm>
                <a:off x="265235" y="4719638"/>
                <a:ext cx="2002509" cy="1589087"/>
              </a:xfrm>
              <a:prstGeom prst="wedgeRoundRectCallout">
                <a:avLst>
                  <a:gd name="adj1" fmla="val 35454"/>
                  <a:gd name="adj2" fmla="val -146208"/>
                  <a:gd name="adj3" fmla="val 16667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再将</a:t>
                </a:r>
                <a:r>
                  <a:rPr lang="zh-CN" altLang="en-US" sz="1800" dirty="0">
                    <a:solidFill>
                      <a:srgbClr val="0000FF"/>
                    </a:solidFill>
                    <a:latin typeface="+mn-ea"/>
                    <a:ea typeface="+mn-ea"/>
                  </a:rPr>
                  <a:t>另一些适用的操作符</a:t>
                </a:r>
                <a:r>
                  <a:rPr lang="zh-CN" altLang="en-US" sz="1800" dirty="0">
                    <a:latin typeface="+mn-ea"/>
                    <a:ea typeface="+mn-ea"/>
                  </a:rPr>
                  <a:t>用于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这些新状态。</a:t>
                </a:r>
                <a:r>
                  <a:rPr lang="zh-CN" altLang="en-US" sz="1800" dirty="0">
                    <a:latin typeface="+mn-ea"/>
                    <a:ea typeface="+mn-ea"/>
                  </a:rPr>
                  <a:t>如此继续，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直到产生目标状态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为止。</a:t>
                </a:r>
              </a:p>
            </p:txBody>
          </p:sp>
        </mc:Choice>
        <mc:Fallback xmlns="">
          <p:sp>
            <p:nvSpPr>
              <p:cNvPr id="21523" name="AutoShap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235" y="4719638"/>
                <a:ext cx="2002509" cy="1589087"/>
              </a:xfrm>
              <a:prstGeom prst="wedgeRoundRectCallout">
                <a:avLst>
                  <a:gd name="adj1" fmla="val 35454"/>
                  <a:gd name="adj2" fmla="val -146208"/>
                  <a:gd name="adj3" fmla="val 16667"/>
                </a:avLst>
              </a:prstGeom>
              <a:blipFill rotWithShape="0">
                <a:blip r:embed="rId5"/>
                <a:stretch>
                  <a:fillRect l="-3030" r="-303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27" name="Group 23"/>
          <p:cNvGrpSpPr>
            <a:grpSpLocks/>
          </p:cNvGrpSpPr>
          <p:nvPr/>
        </p:nvGrpSpPr>
        <p:grpSpPr bwMode="auto">
          <a:xfrm>
            <a:off x="2598738" y="2074863"/>
            <a:ext cx="4335462" cy="1885950"/>
            <a:chOff x="1637" y="1307"/>
            <a:chExt cx="2731" cy="1188"/>
          </a:xfrm>
        </p:grpSpPr>
        <p:sp>
          <p:nvSpPr>
            <p:cNvPr id="19493" name="Oval 5"/>
            <p:cNvSpPr>
              <a:spLocks noChangeArrowheads="1"/>
            </p:cNvSpPr>
            <p:nvPr/>
          </p:nvSpPr>
          <p:spPr bwMode="auto">
            <a:xfrm>
              <a:off x="1637" y="1316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94" name="Oval 6"/>
            <p:cNvSpPr>
              <a:spLocks noChangeArrowheads="1"/>
            </p:cNvSpPr>
            <p:nvPr/>
          </p:nvSpPr>
          <p:spPr bwMode="auto">
            <a:xfrm>
              <a:off x="2471" y="1307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95" name="Oval 7"/>
            <p:cNvSpPr>
              <a:spLocks noChangeArrowheads="1"/>
            </p:cNvSpPr>
            <p:nvPr/>
          </p:nvSpPr>
          <p:spPr bwMode="auto">
            <a:xfrm>
              <a:off x="3333" y="1308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96" name="Oval 8"/>
            <p:cNvSpPr>
              <a:spLocks noChangeArrowheads="1"/>
            </p:cNvSpPr>
            <p:nvPr/>
          </p:nvSpPr>
          <p:spPr bwMode="auto">
            <a:xfrm>
              <a:off x="4186" y="1317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97" name="Oval 9"/>
            <p:cNvSpPr>
              <a:spLocks noChangeArrowheads="1"/>
            </p:cNvSpPr>
            <p:nvPr/>
          </p:nvSpPr>
          <p:spPr bwMode="auto">
            <a:xfrm>
              <a:off x="2916" y="2114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98" name="Oval 10"/>
            <p:cNvSpPr>
              <a:spLocks noChangeArrowheads="1"/>
            </p:cNvSpPr>
            <p:nvPr/>
          </p:nvSpPr>
          <p:spPr bwMode="auto">
            <a:xfrm>
              <a:off x="2054" y="2115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9499" name="Oval 22"/>
            <p:cNvSpPr>
              <a:spLocks noChangeArrowheads="1"/>
            </p:cNvSpPr>
            <p:nvPr/>
          </p:nvSpPr>
          <p:spPr bwMode="auto">
            <a:xfrm>
              <a:off x="3950" y="2268"/>
              <a:ext cx="182" cy="22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Verdana" panose="020B0604030504040204" pitchFamily="34" charset="0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1550988" y="2946400"/>
            <a:ext cx="6261100" cy="2049463"/>
            <a:chOff x="1550194" y="2946389"/>
            <a:chExt cx="6261893" cy="2050145"/>
          </a:xfrm>
        </p:grpSpPr>
        <p:grpSp>
          <p:nvGrpSpPr>
            <p:cNvPr id="19477" name="组合 4"/>
            <p:cNvGrpSpPr>
              <a:grpSpLocks/>
            </p:cNvGrpSpPr>
            <p:nvPr/>
          </p:nvGrpSpPr>
          <p:grpSpPr bwMode="auto">
            <a:xfrm>
              <a:off x="1550194" y="3126409"/>
              <a:ext cx="1001713" cy="424852"/>
              <a:chOff x="1550194" y="3126409"/>
              <a:chExt cx="1001713" cy="424852"/>
            </a:xfrm>
          </p:grpSpPr>
          <p:sp>
            <p:nvSpPr>
              <p:cNvPr id="19490" name="矩形 3"/>
              <p:cNvSpPr>
                <a:spLocks noChangeArrowheads="1"/>
              </p:cNvSpPr>
              <p:nvPr/>
            </p:nvSpPr>
            <p:spPr bwMode="auto">
              <a:xfrm>
                <a:off x="1550194" y="3137307"/>
                <a:ext cx="33178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91" name="矩形 18"/>
              <p:cNvSpPr>
                <a:spLocks noChangeArrowheads="1"/>
              </p:cNvSpPr>
              <p:nvPr/>
            </p:nvSpPr>
            <p:spPr bwMode="auto">
              <a:xfrm>
                <a:off x="1910556" y="3127597"/>
                <a:ext cx="331788" cy="423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92" name="矩形 19"/>
              <p:cNvSpPr>
                <a:spLocks noChangeArrowheads="1"/>
              </p:cNvSpPr>
              <p:nvPr/>
            </p:nvSpPr>
            <p:spPr bwMode="auto">
              <a:xfrm>
                <a:off x="2220119" y="3126409"/>
                <a:ext cx="33178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478" name="矩形 21"/>
            <p:cNvSpPr>
              <a:spLocks noChangeArrowheads="1"/>
            </p:cNvSpPr>
            <p:nvPr/>
          </p:nvSpPr>
          <p:spPr bwMode="auto">
            <a:xfrm>
              <a:off x="5889293" y="2946389"/>
              <a:ext cx="76295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15 6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79" name="组合 5"/>
            <p:cNvGrpSpPr>
              <a:grpSpLocks/>
            </p:cNvGrpSpPr>
            <p:nvPr/>
          </p:nvGrpSpPr>
          <p:grpSpPr bwMode="auto">
            <a:xfrm>
              <a:off x="6652244" y="3175956"/>
              <a:ext cx="1159843" cy="360040"/>
              <a:chOff x="6652244" y="3175956"/>
              <a:chExt cx="1159843" cy="360040"/>
            </a:xfrm>
          </p:grpSpPr>
          <p:sp>
            <p:nvSpPr>
              <p:cNvPr id="19487" name="矩形 22"/>
              <p:cNvSpPr>
                <a:spLocks noChangeArrowheads="1"/>
              </p:cNvSpPr>
              <p:nvPr/>
            </p:nvSpPr>
            <p:spPr bwMode="auto">
              <a:xfrm>
                <a:off x="6652244" y="3175956"/>
                <a:ext cx="33178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88" name="矩形 23"/>
              <p:cNvSpPr>
                <a:spLocks noChangeArrowheads="1"/>
              </p:cNvSpPr>
              <p:nvPr/>
            </p:nvSpPr>
            <p:spPr bwMode="auto">
              <a:xfrm>
                <a:off x="6984032" y="3175956"/>
                <a:ext cx="662161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89" name="矩形 24"/>
              <p:cNvSpPr>
                <a:spLocks noChangeArrowheads="1"/>
              </p:cNvSpPr>
              <p:nvPr/>
            </p:nvSpPr>
            <p:spPr bwMode="auto">
              <a:xfrm>
                <a:off x="7315820" y="3175956"/>
                <a:ext cx="496267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480" name="组合 6"/>
            <p:cNvGrpSpPr>
              <a:grpSpLocks/>
            </p:cNvGrpSpPr>
            <p:nvPr/>
          </p:nvGrpSpPr>
          <p:grpSpPr bwMode="auto">
            <a:xfrm>
              <a:off x="2627784" y="4581128"/>
              <a:ext cx="1152128" cy="360040"/>
              <a:chOff x="2627784" y="4581128"/>
              <a:chExt cx="1152128" cy="360040"/>
            </a:xfrm>
          </p:grpSpPr>
          <p:sp>
            <p:nvSpPr>
              <p:cNvPr id="19485" name="矩形 26"/>
              <p:cNvSpPr>
                <a:spLocks noChangeArrowheads="1"/>
              </p:cNvSpPr>
              <p:nvPr/>
            </p:nvSpPr>
            <p:spPr bwMode="auto">
              <a:xfrm>
                <a:off x="2627784" y="4581128"/>
                <a:ext cx="589666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86" name="矩形 27"/>
              <p:cNvSpPr>
                <a:spLocks noChangeArrowheads="1"/>
              </p:cNvSpPr>
              <p:nvPr/>
            </p:nvSpPr>
            <p:spPr bwMode="auto">
              <a:xfrm>
                <a:off x="3448124" y="4581128"/>
                <a:ext cx="33178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481" name="矩形 29"/>
            <p:cNvSpPr>
              <a:spLocks noChangeArrowheads="1"/>
            </p:cNvSpPr>
            <p:nvPr/>
          </p:nvSpPr>
          <p:spPr bwMode="auto">
            <a:xfrm>
              <a:off x="4510483" y="4490728"/>
              <a:ext cx="526257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82" name="组合 7"/>
            <p:cNvGrpSpPr>
              <a:grpSpLocks/>
            </p:cNvGrpSpPr>
            <p:nvPr/>
          </p:nvGrpSpPr>
          <p:grpSpPr bwMode="auto">
            <a:xfrm>
              <a:off x="5563070" y="4636494"/>
              <a:ext cx="892175" cy="360040"/>
              <a:chOff x="5563070" y="4636494"/>
              <a:chExt cx="892175" cy="360040"/>
            </a:xfrm>
          </p:grpSpPr>
          <p:sp>
            <p:nvSpPr>
              <p:cNvPr id="19483" name="矩形 30"/>
              <p:cNvSpPr>
                <a:spLocks noChangeArrowheads="1"/>
              </p:cNvSpPr>
              <p:nvPr/>
            </p:nvSpPr>
            <p:spPr bwMode="auto">
              <a:xfrm>
                <a:off x="5563070" y="4636494"/>
                <a:ext cx="33178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84" name="矩形 31"/>
              <p:cNvSpPr>
                <a:spLocks noChangeArrowheads="1"/>
              </p:cNvSpPr>
              <p:nvPr/>
            </p:nvSpPr>
            <p:spPr bwMode="auto">
              <a:xfrm>
                <a:off x="5937099" y="4636494"/>
                <a:ext cx="518146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107950" y="1449388"/>
            <a:ext cx="4376738" cy="3546475"/>
            <a:chOff x="107504" y="1449289"/>
            <a:chExt cx="4377332" cy="3547245"/>
          </a:xfrm>
        </p:grpSpPr>
        <p:grpSp>
          <p:nvGrpSpPr>
            <p:cNvPr id="19467" name="组合 42"/>
            <p:cNvGrpSpPr>
              <a:grpSpLocks/>
            </p:cNvGrpSpPr>
            <p:nvPr/>
          </p:nvGrpSpPr>
          <p:grpSpPr bwMode="auto">
            <a:xfrm>
              <a:off x="107504" y="1449289"/>
              <a:ext cx="4377332" cy="3547245"/>
              <a:chOff x="107504" y="1449289"/>
              <a:chExt cx="4377332" cy="3547245"/>
            </a:xfrm>
          </p:grpSpPr>
          <p:cxnSp>
            <p:nvCxnSpPr>
              <p:cNvPr id="19469" name="直接箭头连接符 10"/>
              <p:cNvCxnSpPr>
                <a:cxnSpLocks noChangeShapeType="1"/>
              </p:cNvCxnSpPr>
              <p:nvPr/>
            </p:nvCxnSpPr>
            <p:spPr bwMode="auto">
              <a:xfrm flipH="1">
                <a:off x="2598738" y="1449289"/>
                <a:ext cx="1886098" cy="403820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470" name="直接箭头连接符 12"/>
              <p:cNvCxnSpPr>
                <a:cxnSpLocks noChangeShapeType="1"/>
              </p:cNvCxnSpPr>
              <p:nvPr/>
            </p:nvCxnSpPr>
            <p:spPr bwMode="auto">
              <a:xfrm flipH="1">
                <a:off x="1826585" y="2924944"/>
                <a:ext cx="657186" cy="251012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471" name="直接箭头连接符 14"/>
              <p:cNvCxnSpPr>
                <a:cxnSpLocks noChangeShapeType="1"/>
              </p:cNvCxnSpPr>
              <p:nvPr/>
            </p:nvCxnSpPr>
            <p:spPr bwMode="auto">
              <a:xfrm flipH="1">
                <a:off x="912037" y="3389185"/>
                <a:ext cx="649741" cy="285669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472" name="矩形 46"/>
              <p:cNvSpPr>
                <a:spLocks noChangeArrowheads="1"/>
              </p:cNvSpPr>
              <p:nvPr/>
            </p:nvSpPr>
            <p:spPr bwMode="auto">
              <a:xfrm>
                <a:off x="503696" y="3544419"/>
                <a:ext cx="503907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73" name="矩形 47"/>
              <p:cNvSpPr>
                <a:spLocks noChangeArrowheads="1"/>
              </p:cNvSpPr>
              <p:nvPr/>
            </p:nvSpPr>
            <p:spPr bwMode="auto">
              <a:xfrm>
                <a:off x="1366334" y="3638004"/>
                <a:ext cx="263094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74" name="矩形 48"/>
              <p:cNvSpPr>
                <a:spLocks noChangeArrowheads="1"/>
              </p:cNvSpPr>
              <p:nvPr/>
            </p:nvSpPr>
            <p:spPr bwMode="auto">
              <a:xfrm>
                <a:off x="251520" y="4077072"/>
                <a:ext cx="331788" cy="360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475" name="直接箭头连接符 33"/>
              <p:cNvCxnSpPr>
                <a:cxnSpLocks noChangeShapeType="1"/>
              </p:cNvCxnSpPr>
              <p:nvPr/>
            </p:nvCxnSpPr>
            <p:spPr bwMode="auto">
              <a:xfrm flipH="1">
                <a:off x="503696" y="3998044"/>
                <a:ext cx="165894" cy="210670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476" name="直接箭头连接符 35"/>
              <p:cNvCxnSpPr>
                <a:cxnSpLocks noChangeShapeType="1"/>
              </p:cNvCxnSpPr>
              <p:nvPr/>
            </p:nvCxnSpPr>
            <p:spPr bwMode="auto">
              <a:xfrm flipH="1">
                <a:off x="107504" y="4490728"/>
                <a:ext cx="144016" cy="505806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9468" name="直接箭头连接符 40"/>
            <p:cNvCxnSpPr>
              <a:cxnSpLocks noChangeShapeType="1"/>
            </p:cNvCxnSpPr>
            <p:nvPr/>
          </p:nvCxnSpPr>
          <p:spPr bwMode="auto">
            <a:xfrm flipH="1">
              <a:off x="1574836" y="3524643"/>
              <a:ext cx="86660" cy="21899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 bwMode="auto">
              <a:xfrm>
                <a:off x="6840797" y="5068550"/>
                <a:ext cx="1862390" cy="448682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kumimoji="0" lang="zh-CN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?</a:t>
                </a:r>
                <a:endPara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0797" y="5068550"/>
                <a:ext cx="1862390" cy="448682"/>
              </a:xfrm>
              <a:prstGeom prst="rect">
                <a:avLst/>
              </a:prstGeom>
              <a:blipFill rotWithShape="0">
                <a:blip r:embed="rId6"/>
                <a:stretch>
                  <a:fillRect l="-9416" t="-22368" r="-6494" b="-22368"/>
                </a:stretch>
              </a:blipFill>
              <a:ln w="9525" cap="flat" cmpd="sng" algn="ctr">
                <a:solidFill>
                  <a:srgbClr val="FF0000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圆角矩形标注 1"/>
          <p:cNvSpPr/>
          <p:nvPr/>
        </p:nvSpPr>
        <p:spPr bwMode="auto">
          <a:xfrm>
            <a:off x="6836011" y="4260602"/>
            <a:ext cx="496204" cy="548002"/>
          </a:xfrm>
          <a:prstGeom prst="wedgeRoundRectCallout">
            <a:avLst>
              <a:gd name="adj1" fmla="val -93814"/>
              <a:gd name="adj2" fmla="val -123817"/>
              <a:gd name="adj3" fmla="val 16667"/>
            </a:avLst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2" grpId="0" animBg="1"/>
      <p:bldP spid="21523" grpId="0" animBg="1"/>
      <p:bldP spid="12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图3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80728"/>
            <a:ext cx="7698021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95536" y="332656"/>
            <a:ext cx="52565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八数码问题求解过程（状态空间图）：</a:t>
            </a:r>
          </a:p>
        </p:txBody>
      </p:sp>
    </p:spTree>
    <p:extLst>
      <p:ext uri="{BB962C8B-B14F-4D97-AF65-F5344CB8AC3E}">
        <p14:creationId xmlns:p14="http://schemas.microsoft.com/office/powerpoint/2010/main" val="14761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4"/>
          <a:stretch>
            <a:fillRect/>
          </a:stretch>
        </p:blipFill>
        <p:spPr bwMode="auto">
          <a:xfrm>
            <a:off x="611560" y="548680"/>
            <a:ext cx="7848600" cy="563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椭圆 8"/>
          <p:cNvSpPr/>
          <p:nvPr/>
        </p:nvSpPr>
        <p:spPr bwMode="auto">
          <a:xfrm>
            <a:off x="4095103" y="5157192"/>
            <a:ext cx="2160240" cy="1224136"/>
          </a:xfrm>
          <a:prstGeom prst="ellipse">
            <a:avLst/>
          </a:prstGeom>
          <a:noFill/>
          <a:ln w="4445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24128" y="188640"/>
            <a:ext cx="3312368" cy="7920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求解路径：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</a:t>
            </a: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</a:t>
            </a:r>
          </a:p>
          <a:p>
            <a:pPr marL="0" marR="0" indent="0" algn="l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8D, 2R, 1U, 8L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47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647635" y="1177007"/>
            <a:ext cx="111568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求解过程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83185" y="1772816"/>
            <a:ext cx="8048423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ts val="3000"/>
              </a:lnSpc>
              <a:spcAft>
                <a:spcPts val="18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求解方法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尝试各种不同走步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棋子移动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，直至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偶然得到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目标棋局</a:t>
            </a:r>
            <a:r>
              <a:rPr lang="zh-CN" altLang="en-US" sz="2000" dirty="0">
                <a:latin typeface="+mn-ea"/>
                <a:ea typeface="+mn-ea"/>
              </a:rPr>
              <a:t>为止，</a:t>
            </a:r>
            <a:r>
              <a:rPr lang="zh-CN" altLang="en-US" sz="2000" u="wavyDbl" dirty="0">
                <a:latin typeface="+mn-ea"/>
                <a:ea typeface="+mn-ea"/>
              </a:rPr>
              <a:t>这种尝试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本质上</a:t>
            </a:r>
            <a:r>
              <a:rPr lang="zh-CN" altLang="en-US" sz="2000" dirty="0">
                <a:latin typeface="+mn-ea"/>
                <a:ea typeface="+mn-ea"/>
              </a:rPr>
              <a:t>属于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试探搜索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路径搜索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en-US" sz="2000" dirty="0">
              <a:latin typeface="+mn-ea"/>
              <a:ea typeface="+mn-ea"/>
            </a:endParaRPr>
          </a:p>
          <a:p>
            <a:pPr marL="342900" indent="-342900" algn="just" eaLnBrk="1" hangingPunct="1">
              <a:lnSpc>
                <a:spcPts val="3000"/>
              </a:lnSpc>
              <a:spcAft>
                <a:spcPts val="18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latin typeface="+mn-ea"/>
                <a:ea typeface="+mn-ea"/>
              </a:rPr>
              <a:t>即，</a:t>
            </a:r>
            <a:r>
              <a:rPr lang="zh-CN" altLang="en-US" sz="2000" u="wavyDbl" dirty="0">
                <a:latin typeface="+mn-ea"/>
                <a:ea typeface="+mn-ea"/>
              </a:rPr>
              <a:t>从初始棋局开始</a:t>
            </a:r>
            <a:r>
              <a:rPr lang="zh-CN" altLang="en-US" sz="2000" dirty="0">
                <a:latin typeface="+mn-ea"/>
                <a:ea typeface="+mn-ea"/>
              </a:rPr>
              <a:t>，试探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由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每一有效走步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得到</a:t>
            </a:r>
            <a:r>
              <a:rPr lang="zh-CN" altLang="en-US" sz="2000" dirty="0">
                <a:latin typeface="+mn-ea"/>
                <a:ea typeface="+mn-ea"/>
              </a:rPr>
              <a:t>各个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新棋局</a:t>
            </a:r>
            <a:r>
              <a:rPr lang="zh-CN" altLang="en-US" sz="2000" dirty="0">
                <a:latin typeface="+mn-ea"/>
                <a:ea typeface="+mn-ea"/>
              </a:rPr>
              <a:t>，然后计算再走下一步得到的下一组棋局。继续，直到出现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目标棋局</a:t>
            </a:r>
            <a:r>
              <a:rPr lang="zh-CN" altLang="en-US" sz="2000" dirty="0">
                <a:latin typeface="+mn-ea"/>
                <a:ea typeface="+mn-ea"/>
              </a:rPr>
              <a:t>为止。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实质：</a:t>
            </a:r>
            <a:r>
              <a:rPr lang="zh-CN" altLang="en-US" sz="2000" dirty="0">
                <a:latin typeface="+mn-ea"/>
                <a:ea typeface="+mn-ea"/>
              </a:rPr>
              <a:t>由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初始状态</a:t>
            </a:r>
            <a:r>
              <a:rPr lang="zh-CN" altLang="en-US" sz="2000" dirty="0">
                <a:latin typeface="+mn-ea"/>
                <a:ea typeface="+mn-ea"/>
              </a:rPr>
              <a:t>，通过不同棋子的移动，不断形成多个新状态，直至达到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目标状态</a:t>
            </a:r>
            <a:r>
              <a:rPr lang="zh-CN" altLang="en-US" sz="2000" dirty="0">
                <a:latin typeface="+mn-ea"/>
                <a:ea typeface="+mn-ea"/>
              </a:rPr>
              <a:t>的过程） （状态</a:t>
            </a:r>
            <a:r>
              <a:rPr lang="zh-CN" altLang="en-US" sz="2000" dirty="0">
                <a:latin typeface="宋体" panose="02010600030101010101" pitchFamily="2" charset="-122"/>
              </a:rPr>
              <a:t>→节点）</a:t>
            </a:r>
            <a:endParaRPr lang="zh-CN" altLang="en-US" sz="2000" dirty="0">
              <a:latin typeface="+mn-ea"/>
              <a:ea typeface="+mn-ea"/>
            </a:endParaRPr>
          </a:p>
          <a:p>
            <a:pPr marL="342900" indent="-342900" algn="just" eaLnBrk="1" hangingPunct="1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latin typeface="+mn-ea"/>
                <a:ea typeface="+mn-ea"/>
              </a:rPr>
              <a:t>将从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初始状态</a:t>
            </a:r>
            <a:r>
              <a:rPr lang="zh-CN" altLang="en-US" sz="2000" dirty="0">
                <a:latin typeface="+mn-ea"/>
                <a:ea typeface="+mn-ea"/>
              </a:rPr>
              <a:t>可达到的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各个状态所组成的空间</a:t>
            </a:r>
            <a:r>
              <a:rPr lang="zh-CN" altLang="en-US" sz="2000" dirty="0">
                <a:latin typeface="+mn-ea"/>
                <a:ea typeface="+mn-ea"/>
              </a:rPr>
              <a:t>，设想为</a:t>
            </a:r>
            <a:r>
              <a:rPr lang="zh-CN" altLang="en-US" sz="2000" u="wavyDbl" dirty="0">
                <a:latin typeface="+mn-ea"/>
                <a:ea typeface="+mn-ea"/>
              </a:rPr>
              <a:t>一幅由</a:t>
            </a:r>
            <a:r>
              <a:rPr lang="zh-CN" altLang="en-US" sz="2000" u="wavyDbl" dirty="0">
                <a:solidFill>
                  <a:srgbClr val="FF0000"/>
                </a:solidFill>
                <a:latin typeface="+mn-ea"/>
                <a:ea typeface="+mn-ea"/>
              </a:rPr>
              <a:t>各种状态</a:t>
            </a:r>
            <a:r>
              <a:rPr lang="en-US" altLang="zh-CN" sz="2000" u="wavyDbl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2000" u="wavyDbl" dirty="0">
                <a:solidFill>
                  <a:srgbClr val="FF0000"/>
                </a:solidFill>
                <a:latin typeface="+mn-ea"/>
                <a:ea typeface="+mn-ea"/>
              </a:rPr>
              <a:t>节点</a:t>
            </a:r>
            <a:r>
              <a:rPr lang="en-US" altLang="zh-CN" sz="2000" u="wavyDbl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000" u="wavyDbl" dirty="0">
                <a:latin typeface="+mn-ea"/>
                <a:ea typeface="+mn-ea"/>
              </a:rPr>
              <a:t>构成的</a:t>
            </a:r>
            <a:r>
              <a:rPr lang="zh-CN" altLang="en-US" sz="2000" u="wavyDbl" dirty="0">
                <a:solidFill>
                  <a:srgbClr val="0000FF"/>
                </a:solidFill>
                <a:latin typeface="+mn-ea"/>
                <a:ea typeface="+mn-ea"/>
              </a:rPr>
              <a:t>图</a:t>
            </a:r>
            <a:r>
              <a:rPr lang="en-US" altLang="zh-CN" sz="2000" u="wavyDbl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en-US" altLang="zh-CN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lang="en-US" altLang="zh-CN" sz="2000" u="wavyDbl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en-US" altLang="zh-CN" sz="2000" b="0" dirty="0">
                <a:latin typeface="+mn-ea"/>
                <a:ea typeface="+mn-ea"/>
              </a:rPr>
              <a:t>---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状态图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状态空间图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 marL="628650" indent="-268288" algn="just" eaLnBrk="1" hangingPunct="1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</a:rPr>
              <a:t>图中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每个节点</a:t>
            </a:r>
            <a:r>
              <a:rPr lang="zh-CN" altLang="en-US" sz="2000" dirty="0">
                <a:latin typeface="+mn-ea"/>
                <a:ea typeface="+mn-ea"/>
              </a:rPr>
              <a:t>就表示一个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具体的状态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棋局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657054" y="1186060"/>
            <a:ext cx="111568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算法步骤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/>
              <p:cNvSpPr txBox="1">
                <a:spLocks noChangeArrowheads="1"/>
              </p:cNvSpPr>
              <p:nvPr/>
            </p:nvSpPr>
            <p:spPr bwMode="auto">
              <a:xfrm>
                <a:off x="611560" y="1826528"/>
                <a:ext cx="7992888" cy="35137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algn="just" eaLnBrk="1" hangingPunct="1">
                  <a:lnSpc>
                    <a:spcPts val="3200"/>
                  </a:lnSpc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首先</a:t>
                </a:r>
                <a:r>
                  <a:rPr lang="zh-CN" altLang="en-US" sz="2000" dirty="0">
                    <a:latin typeface="+mn-ea"/>
                    <a:ea typeface="+mn-ea"/>
                  </a:rPr>
                  <a:t>，将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适当的</a:t>
                </a:r>
                <a:r>
                  <a:rPr lang="zh-CN" altLang="en-US" sz="2000" dirty="0">
                    <a:latin typeface="+mn-ea"/>
                    <a:ea typeface="+mn-ea"/>
                  </a:rPr>
                  <a:t>“操作符”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作用于</a:t>
                </a:r>
                <a:r>
                  <a:rPr lang="zh-CN" altLang="en-US" sz="2000" dirty="0">
                    <a:latin typeface="+mn-ea"/>
                    <a:ea typeface="+mn-ea"/>
                  </a:rPr>
                  <a:t>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产生</a:t>
                </a:r>
                <a:r>
                  <a:rPr lang="zh-CN" altLang="en-US" sz="2000" dirty="0">
                    <a:latin typeface="+mn-ea"/>
                    <a:ea typeface="+mn-ea"/>
                  </a:rPr>
                  <a:t>新状态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000" dirty="0">
                  <a:latin typeface="+mn-ea"/>
                  <a:ea typeface="+mn-ea"/>
                </a:endParaRPr>
              </a:p>
              <a:p>
                <a:pPr marL="342900" indent="-342900" algn="just" eaLnBrk="1" hangingPunct="1">
                  <a:lnSpc>
                    <a:spcPts val="3200"/>
                  </a:lnSpc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然后</a:t>
                </a:r>
                <a:r>
                  <a:rPr lang="zh-CN" altLang="en-US" sz="2000" dirty="0">
                    <a:latin typeface="+mn-ea"/>
                    <a:ea typeface="+mn-ea"/>
                  </a:rPr>
                  <a:t>，再将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另一些</a:t>
                </a:r>
                <a:r>
                  <a:rPr lang="zh-CN" altLang="en-US" sz="2000" dirty="0">
                    <a:latin typeface="+mn-ea"/>
                    <a:ea typeface="+mn-ea"/>
                  </a:rPr>
                  <a:t>适用的操作符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作用于</a:t>
                </a:r>
                <a:r>
                  <a:rPr lang="zh-CN" altLang="en-US" sz="2000" dirty="0">
                    <a:latin typeface="+mn-ea"/>
                    <a:ea typeface="+mn-ea"/>
                  </a:rPr>
                  <a:t>这些新状态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000" dirty="0">
                  <a:latin typeface="+mn-ea"/>
                  <a:ea typeface="+mn-ea"/>
                </a:endParaRPr>
              </a:p>
              <a:p>
                <a:pPr marL="342900" indent="-342900" algn="just" eaLnBrk="1" hangingPunct="1">
                  <a:lnSpc>
                    <a:spcPts val="3200"/>
                  </a:lnSpc>
                  <a:spcAft>
                    <a:spcPts val="600"/>
                  </a:spcAft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继续</a:t>
                </a:r>
                <a:r>
                  <a:rPr lang="zh-CN" altLang="en-US" sz="2000" dirty="0">
                    <a:latin typeface="+mn-ea"/>
                    <a:ea typeface="+mn-ea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直到</a:t>
                </a:r>
                <a:r>
                  <a:rPr lang="zh-CN" altLang="en-US" sz="2000" dirty="0">
                    <a:latin typeface="+mn-ea"/>
                    <a:ea typeface="+mn-ea"/>
                  </a:rPr>
                  <a:t>产生目标状态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</a:rPr>
                  <a:t>为止。</a:t>
                </a:r>
                <a:endParaRPr lang="en-US" altLang="zh-CN" sz="2000" dirty="0">
                  <a:latin typeface="+mn-ea"/>
                  <a:ea typeface="+mn-ea"/>
                </a:endParaRPr>
              </a:p>
              <a:p>
                <a:pPr marL="342900" indent="-342900" algn="just" eaLnBrk="1" hangingPunct="1">
                  <a:lnSpc>
                    <a:spcPts val="3200"/>
                  </a:lnSpc>
                  <a:spcAft>
                    <a:spcPts val="1200"/>
                  </a:spcAft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状态空间表示法</a:t>
                </a:r>
                <a:r>
                  <a:rPr lang="zh-CN" altLang="en-US" sz="2000" dirty="0">
                    <a:latin typeface="+mn-ea"/>
                    <a:ea typeface="+mn-ea"/>
                  </a:rPr>
                  <a:t>：从初始状态开始，每次施加一个操作符，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递增建立起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操作符的试验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试探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序列</a:t>
                </a:r>
                <a:r>
                  <a:rPr lang="zh-CN" altLang="en-US" sz="2000" dirty="0">
                    <a:latin typeface="+mn-ea"/>
                    <a:ea typeface="+mn-ea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直至达到</a:t>
                </a:r>
                <a:r>
                  <a:rPr lang="zh-CN" altLang="en-US" sz="2000" dirty="0">
                    <a:latin typeface="+mn-ea"/>
                    <a:ea typeface="+mn-ea"/>
                  </a:rPr>
                  <a:t>目标状态为止。</a:t>
                </a:r>
              </a:p>
              <a:p>
                <a:pPr marL="342900" indent="-342900" algn="just" eaLnBrk="1" hangingPunct="1">
                  <a:lnSpc>
                    <a:spcPts val="32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latin typeface="+mn-ea"/>
                    <a:ea typeface="+mn-ea"/>
                  </a:rPr>
                  <a:t>注：针对某些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最优问题</a:t>
                </a:r>
                <a:r>
                  <a:rPr lang="zh-CN" altLang="en-US" sz="2000" dirty="0">
                    <a:latin typeface="+mn-ea"/>
                    <a:ea typeface="+mn-ea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仅获得</a:t>
                </a:r>
                <a:r>
                  <a:rPr lang="zh-CN" altLang="en-US" sz="2000" dirty="0">
                    <a:latin typeface="+mn-ea"/>
                    <a:ea typeface="+mn-ea"/>
                  </a:rPr>
                  <a:t>目标状态的任一路径是不够的</a:t>
                </a:r>
                <a:r>
                  <a:rPr lang="en-US" altLang="zh-CN" sz="2000" dirty="0">
                    <a:latin typeface="+mn-ea"/>
                    <a:ea typeface="+mn-ea"/>
                  </a:rPr>
                  <a:t>,</a:t>
                </a:r>
                <a:r>
                  <a:rPr lang="zh-CN" altLang="en-US" sz="2000" dirty="0">
                    <a:latin typeface="+mn-ea"/>
                    <a:ea typeface="+mn-ea"/>
                  </a:rPr>
                  <a:t>还必</a:t>
                </a:r>
                <a:endParaRPr lang="en-US" altLang="zh-CN" sz="2000" dirty="0">
                  <a:latin typeface="+mn-ea"/>
                  <a:ea typeface="+mn-ea"/>
                </a:endParaRPr>
              </a:p>
              <a:p>
                <a:pPr algn="just" eaLnBrk="1" hangingPunct="1">
                  <a:lnSpc>
                    <a:spcPts val="3200"/>
                  </a:lnSpc>
                  <a:buClr>
                    <a:srgbClr val="FF0000"/>
                  </a:buClr>
                </a:pPr>
                <a:r>
                  <a:rPr lang="en-US" altLang="zh-CN" sz="2000" dirty="0">
                    <a:latin typeface="+mn-ea"/>
                    <a:ea typeface="+mn-ea"/>
                  </a:rPr>
                  <a:t>     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  <a:r>
                  <a:rPr lang="en-US" altLang="zh-CN" sz="1600" dirty="0">
                    <a:latin typeface="+mn-ea"/>
                    <a:ea typeface="+mn-ea"/>
                  </a:rPr>
                  <a:t> </a:t>
                </a:r>
                <a:r>
                  <a:rPr lang="zh-CN" altLang="en-US" sz="2000" dirty="0">
                    <a:latin typeface="+mn-ea"/>
                    <a:ea typeface="+mn-ea"/>
                  </a:rPr>
                  <a:t>须找到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按某个规则</a:t>
                </a:r>
                <a:r>
                  <a:rPr lang="zh-CN" altLang="en-US" sz="2000" dirty="0">
                    <a:latin typeface="+mn-ea"/>
                    <a:ea typeface="+mn-ea"/>
                  </a:rPr>
                  <a:t>可实现的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最优路径</a:t>
                </a:r>
                <a:r>
                  <a:rPr lang="zh-CN" altLang="en-US" sz="2000" dirty="0">
                    <a:latin typeface="+mn-ea"/>
                    <a:ea typeface="+mn-ea"/>
                  </a:rPr>
                  <a:t>。</a:t>
                </a:r>
                <a:endParaRPr lang="en-US" altLang="zh-CN" sz="2000" dirty="0">
                  <a:latin typeface="+mn-ea"/>
                  <a:ea typeface="+mn-ea"/>
                </a:endParaRPr>
              </a:p>
              <a:p>
                <a:pPr algn="just" eaLnBrk="1" hangingPunct="1">
                  <a:lnSpc>
                    <a:spcPts val="3200"/>
                  </a:lnSpc>
                </a:pPr>
                <a:r>
                  <a:rPr lang="zh-CN" altLang="en-US" sz="2000" dirty="0">
                    <a:latin typeface="+mn-ea"/>
                    <a:ea typeface="+mn-ea"/>
                  </a:rPr>
                  <a:t>      （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如</a:t>
                </a:r>
                <a:r>
                  <a:rPr lang="zh-CN" altLang="en-US" sz="2000" dirty="0">
                    <a:latin typeface="+mn-ea"/>
                    <a:ea typeface="+mn-ea"/>
                  </a:rPr>
                  <a:t>：走步最少、成本最小、时间最短</a:t>
                </a:r>
                <a:r>
                  <a:rPr lang="en-US" altLang="zh-CN" sz="2000" dirty="0">
                    <a:latin typeface="+mn-ea"/>
                    <a:ea typeface="+mn-ea"/>
                  </a:rPr>
                  <a:t>…</a:t>
                </a:r>
                <a:r>
                  <a:rPr lang="zh-CN" altLang="en-US" sz="2000" dirty="0">
                    <a:latin typeface="+mn-ea"/>
                    <a:ea typeface="+mn-ea"/>
                  </a:rPr>
                  <a:t>）</a:t>
                </a:r>
              </a:p>
            </p:txBody>
          </p:sp>
        </mc:Choice>
        <mc:Fallback xmlns="">
          <p:sp>
            <p:nvSpPr>
              <p:cNvPr id="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826528"/>
                <a:ext cx="7992888" cy="3513782"/>
              </a:xfrm>
              <a:prstGeom prst="rect">
                <a:avLst/>
              </a:prstGeom>
              <a:blipFill>
                <a:blip r:embed="rId2"/>
                <a:stretch>
                  <a:fillRect l="-1449" t="-1042" r="-1983" b="-17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8034" y="1172748"/>
            <a:ext cx="28076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状态图示法（几个术语）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/>
              <p:cNvSpPr txBox="1">
                <a:spLocks noChangeArrowheads="1"/>
              </p:cNvSpPr>
              <p:nvPr/>
            </p:nvSpPr>
            <p:spPr bwMode="auto">
              <a:xfrm>
                <a:off x="624518" y="1905794"/>
                <a:ext cx="8105840" cy="30521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71463" lvl="1" indent="-271463" algn="just" eaLnBrk="1" hangingPunct="1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7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节点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状态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棋局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，表示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当前状态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事件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时间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三者关系的融合。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lvl="1" indent="-271463" algn="just" eaLnBrk="1" hangingPunct="1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7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弧线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：节点之间的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连接线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边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，表示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操作符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算符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lvl="1" indent="-271463" algn="just" eaLnBrk="1" hangingPunct="1">
                  <a:lnSpc>
                    <a:spcPts val="3000"/>
                  </a:lnSpc>
                  <a:spcAft>
                    <a:spcPts val="1200"/>
                  </a:spcAft>
                  <a:buClr>
                    <a:srgbClr val="FF0000"/>
                  </a:buClr>
                  <a:buSzPct val="7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有向图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：用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弧线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边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连接的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一对节点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，从一个节点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指向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另一个节点。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lvl="1" indent="-271463" algn="just" eaLnBrk="1" hangingPunct="1">
                  <a:lnSpc>
                    <a:spcPts val="3000"/>
                  </a:lnSpc>
                  <a:spcAft>
                    <a:spcPts val="1800"/>
                  </a:spcAft>
                  <a:buClr>
                    <a:srgbClr val="FF0000"/>
                  </a:buClr>
                  <a:buSzPct val="7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父节点</a:t>
                </a:r>
                <a:r>
                  <a:rPr lang="zh-CN" altLang="en-US" sz="2400" dirty="0">
                    <a:latin typeface="+mn-ea"/>
                    <a:ea typeface="+mn-ea"/>
                    <a:cs typeface="Times New Roman" panose="02020603050405020304" pitchFamily="18" charset="0"/>
                  </a:rPr>
                  <a:t>与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后继节点：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若某条弧线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边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从节点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指向节点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3575050" lvl="1" indent="-342900" algn="just" eaLnBrk="1" hangingPunct="1">
                  <a:lnSpc>
                    <a:spcPts val="32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为节点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父节点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3575050" lvl="1" indent="-342900" algn="just" eaLnBrk="1" hangingPunct="1">
                  <a:lnSpc>
                    <a:spcPts val="32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是节点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后继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后裔节点</a:t>
                </a:r>
                <a:endParaRPr lang="zh-CN" altLang="en-US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518" y="1905794"/>
                <a:ext cx="8105840" cy="3052118"/>
              </a:xfrm>
              <a:prstGeom prst="rect">
                <a:avLst/>
              </a:prstGeom>
              <a:blipFill rotWithShape="0">
                <a:blip r:embed="rId2"/>
                <a:stretch>
                  <a:fillRect l="-1429" t="-4200" r="-1955" b="-22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1187624" y="4005064"/>
            <a:ext cx="2304255" cy="1152128"/>
            <a:chOff x="5940152" y="4869160"/>
            <a:chExt cx="2453847" cy="123564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6376" y="4869160"/>
              <a:ext cx="437623" cy="123564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0152" y="5301208"/>
              <a:ext cx="1440160" cy="428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9471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632052" y="1800921"/>
            <a:ext cx="792088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algn="just" eaLnBrk="1" hangingPunct="1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路径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节点序列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。若每个节点</a:t>
            </a:r>
            <a:r>
              <a:rPr lang="zh-CN" altLang="en-US" sz="2000" u="wavyHeavy" dirty="0">
                <a:latin typeface="+mn-ea"/>
                <a:ea typeface="+mn-ea"/>
                <a:cs typeface="Times New Roman" panose="02020603050405020304" pitchFamily="18" charset="0"/>
              </a:rPr>
              <a:t>都有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一个后继节点，此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节点序列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即称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lvl="1" indent="0" algn="just" eaLnBrk="1" hangingPunct="1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90000"/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称为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路径长度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lvl="1" indent="-342900" algn="just" eaLnBrk="1" hangingPunct="1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代价：</a:t>
            </a:r>
            <a:r>
              <a:rPr lang="zh-CN" altLang="en-US" sz="2000" dirty="0"/>
              <a:t>弧线上</a:t>
            </a:r>
            <a:r>
              <a:rPr lang="zh-CN" altLang="en-US" sz="2000" dirty="0">
                <a:solidFill>
                  <a:srgbClr val="0000FF"/>
                </a:solidFill>
              </a:rPr>
              <a:t>标定的数值</a:t>
            </a:r>
            <a:r>
              <a:rPr lang="zh-CN" altLang="en-US" sz="2000" dirty="0"/>
              <a:t>，表示标注在相应操作符上的代价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 eaLnBrk="1" hangingPunct="1">
              <a:lnSpc>
                <a:spcPts val="3200"/>
              </a:lnSpc>
              <a:spcAft>
                <a:spcPts val="1800"/>
              </a:spcAft>
              <a:buClr>
                <a:srgbClr val="FF0000"/>
              </a:buClr>
              <a:buSzPct val="80000"/>
            </a:pPr>
            <a:r>
              <a:rPr lang="en-US" altLang="zh-CN" sz="2000" dirty="0"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cs typeface="Times New Roman" panose="02020603050405020304" pitchFamily="18" charset="0"/>
              </a:rPr>
              <a:t>   </a:t>
            </a:r>
            <a:r>
              <a:rPr lang="zh-CN" altLang="en-US" sz="2000" dirty="0">
                <a:solidFill>
                  <a:srgbClr val="0000FF"/>
                </a:solidFill>
                <a:cs typeface="Times New Roman" panose="02020603050405020304" pitchFamily="18" charset="0"/>
              </a:rPr>
              <a:t>如</a:t>
            </a:r>
            <a:r>
              <a:rPr lang="zh-CN" altLang="en-US" sz="2000" dirty="0">
                <a:cs typeface="Times New Roman" panose="02020603050405020304" pitchFamily="18" charset="0"/>
              </a:rPr>
              <a:t>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 eaLnBrk="1" hangingPunct="1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图的理解</a:t>
            </a:r>
            <a:r>
              <a:rPr lang="zh-CN" altLang="en-US" sz="2000" dirty="0">
                <a:latin typeface="+mn-ea"/>
                <a:ea typeface="+mn-ea"/>
              </a:rPr>
              <a:t>：完整显示对于</a:t>
            </a:r>
            <a:r>
              <a:rPr lang="zh-CN" altLang="en-US" sz="2000" u="wavyHeavy" dirty="0">
                <a:latin typeface="+mn-ea"/>
                <a:ea typeface="+mn-ea"/>
              </a:rPr>
              <a:t>大型图</a:t>
            </a:r>
            <a:r>
              <a:rPr lang="zh-CN" altLang="en-US" sz="2000" dirty="0">
                <a:latin typeface="+mn-ea"/>
                <a:ea typeface="+mn-ea"/>
              </a:rPr>
              <a:t>是不切实际的，对具有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无限节点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0" lvl="1" indent="0" algn="just" eaLnBrk="1" hangingPunct="1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         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   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集合</a:t>
            </a:r>
            <a:r>
              <a:rPr lang="zh-CN" altLang="en-US" sz="2000" dirty="0">
                <a:latin typeface="+mn-ea"/>
                <a:ea typeface="+mn-ea"/>
              </a:rPr>
              <a:t>的图也是不可能的。</a:t>
            </a:r>
            <a:endParaRPr lang="en-US" altLang="zh-CN" sz="2000" dirty="0">
              <a:latin typeface="+mn-ea"/>
              <a:ea typeface="+mn-ea"/>
            </a:endParaRPr>
          </a:p>
          <a:p>
            <a:pPr marL="2244725" indent="-361950"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隐式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solidFill>
                  <a:srgbClr val="FF0000"/>
                </a:solidFill>
              </a:rPr>
              <a:t>显式：</a:t>
            </a:r>
            <a:r>
              <a:rPr lang="zh-CN" altLang="en-US" sz="2400" dirty="0"/>
              <a:t>从图中搜索得到</a:t>
            </a:r>
            <a:r>
              <a:rPr lang="zh-CN" altLang="en-US" sz="2400" dirty="0">
                <a:solidFill>
                  <a:srgbClr val="FF0000"/>
                </a:solidFill>
              </a:rPr>
              <a:t>解路径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25" y="3219051"/>
            <a:ext cx="1224136" cy="4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62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30033" y="1177007"/>
            <a:ext cx="21602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状态表示法的思想</a:t>
            </a:r>
          </a:p>
        </p:txBody>
      </p:sp>
      <p:pic>
        <p:nvPicPr>
          <p:cNvPr id="6" name="Picture 6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4"/>
          <a:stretch>
            <a:fillRect/>
          </a:stretch>
        </p:blipFill>
        <p:spPr bwMode="auto">
          <a:xfrm>
            <a:off x="6492338" y="115911"/>
            <a:ext cx="1968094" cy="141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589666" y="1844824"/>
            <a:ext cx="8086789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latin typeface="宋体" panose="02010600030101010101" pitchFamily="2" charset="-122"/>
              </a:rPr>
              <a:t>既然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状态</a:t>
            </a:r>
            <a:r>
              <a:rPr lang="zh-CN" altLang="en-US" sz="2000" b="1" dirty="0">
                <a:latin typeface="宋体" panose="02010600030101010101" pitchFamily="2" charset="-122"/>
              </a:rPr>
              <a:t>可表示为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图的节点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操作符</a:t>
            </a:r>
            <a:r>
              <a:rPr lang="zh-CN" altLang="en-US" sz="2000" b="1" dirty="0">
                <a:latin typeface="宋体" panose="02010600030101010101" pitchFamily="2" charset="-122"/>
              </a:rPr>
              <a:t>可表示为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图的边</a:t>
            </a:r>
            <a:r>
              <a:rPr lang="zh-CN" altLang="en-US" sz="2000" b="1" dirty="0">
                <a:latin typeface="宋体" panose="02010600030101010101" pitchFamily="2" charset="-122"/>
              </a:rPr>
              <a:t>，则</a:t>
            </a:r>
            <a:r>
              <a:rPr lang="zh-CN" altLang="en-US" sz="2000" b="1" u="wavyDbl" dirty="0">
                <a:latin typeface="宋体" panose="02010600030101010101" pitchFamily="2" charset="-122"/>
              </a:rPr>
              <a:t>问题的状态</a:t>
            </a:r>
            <a:r>
              <a:rPr lang="zh-CN" altLang="en-US" sz="2000" b="1" dirty="0">
                <a:latin typeface="宋体" panose="02010600030101010101" pitchFamily="2" charset="-122"/>
              </a:rPr>
              <a:t>就可以用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图</a:t>
            </a:r>
            <a:r>
              <a:rPr lang="zh-CN" altLang="en-US" sz="2000" b="1" dirty="0">
                <a:latin typeface="宋体" panose="02010600030101010101" pitchFamily="2" charset="-122"/>
              </a:rPr>
              <a:t>表示。</a:t>
            </a:r>
          </a:p>
          <a:p>
            <a:pPr marL="361950" indent="-361950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latin typeface="宋体" panose="02010600030101010101" pitchFamily="2" charset="-122"/>
              </a:rPr>
              <a:t>寻找从</a:t>
            </a:r>
            <a:r>
              <a:rPr lang="zh-CN" altLang="en-US" sz="2000" b="1" u="wavyDbl" dirty="0">
                <a:latin typeface="宋体" panose="02010600030101010101" pitchFamily="2" charset="-122"/>
              </a:rPr>
              <a:t>一种状态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变化为</a:t>
            </a:r>
            <a:r>
              <a:rPr lang="zh-CN" altLang="en-US" sz="2000" b="1" u="wavyDbl" dirty="0">
                <a:latin typeface="宋体" panose="02010600030101010101" pitchFamily="2" charset="-122"/>
              </a:rPr>
              <a:t>另一种状态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某个操作符序列</a:t>
            </a:r>
            <a:r>
              <a:rPr lang="zh-CN" altLang="en-US" sz="2000" b="1" dirty="0">
                <a:latin typeface="宋体" panose="02010600030101010101" pitchFamily="2" charset="-122"/>
              </a:rPr>
              <a:t>问题，就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等价于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搜索</a:t>
            </a:r>
            <a:r>
              <a:rPr lang="zh-CN" altLang="en-US" sz="2000" b="1" dirty="0">
                <a:latin typeface="宋体" panose="02010600030101010101" pitchFamily="2" charset="-122"/>
              </a:rPr>
              <a:t>图中的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某一路径</a:t>
            </a:r>
            <a:r>
              <a:rPr lang="zh-CN" altLang="en-US" sz="2000" b="1" dirty="0">
                <a:latin typeface="宋体" panose="02010600030101010101" pitchFamily="2" charset="-122"/>
              </a:rPr>
              <a:t>问题。</a:t>
            </a:r>
          </a:p>
          <a:p>
            <a:pPr marL="361950" indent="-361950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latin typeface="宋体" panose="02010600030101010101" pitchFamily="2" charset="-122"/>
              </a:rPr>
              <a:t>搜索状态空间的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求解过程</a:t>
            </a:r>
            <a:r>
              <a:rPr lang="zh-CN" altLang="en-US" sz="2000" b="1" dirty="0">
                <a:latin typeface="宋体" panose="02010600030101010101" pitchFamily="2" charset="-122"/>
              </a:rPr>
              <a:t>，对</a:t>
            </a:r>
            <a:r>
              <a:rPr lang="zh-CN" altLang="en-US" sz="2000" dirty="0">
                <a:latin typeface="宋体" panose="02010600030101010101" pitchFamily="2" charset="-122"/>
              </a:rPr>
              <a:t>应于将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图中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某个隐式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路径</a:t>
            </a:r>
            <a:r>
              <a:rPr lang="zh-CN" altLang="en-US" sz="2000" b="1" dirty="0">
                <a:latin typeface="宋体" panose="02010600030101010101" pitchFamily="2" charset="-122"/>
              </a:rPr>
              <a:t>变为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显式</a:t>
            </a:r>
            <a:r>
              <a:rPr lang="zh-CN" altLang="en-US" sz="2000" b="1" dirty="0">
                <a:latin typeface="宋体" panose="02010600030101010101" pitchFamily="2" charset="-122"/>
              </a:rPr>
              <a:t>，且包含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目标状态</a:t>
            </a:r>
            <a:r>
              <a:rPr lang="zh-CN" altLang="en-US" sz="2000" b="1" dirty="0">
                <a:latin typeface="宋体" panose="02010600030101010101" pitchFamily="2" charset="-122"/>
              </a:rPr>
              <a:t>的过程。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1950" indent="-361950">
              <a:lnSpc>
                <a:spcPts val="35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状态图</a:t>
            </a:r>
            <a:r>
              <a:rPr lang="en-US" altLang="zh-CN" sz="2000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搜索图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运用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状态空间</a:t>
            </a:r>
            <a:r>
              <a:rPr lang="zh-CN" altLang="en-US" sz="2000" b="1" dirty="0">
                <a:latin typeface="宋体" panose="02010600030101010101" pitchFamily="2" charset="-122"/>
              </a:rPr>
              <a:t>进行问题求解的基础。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0" indent="0">
              <a:lnSpc>
                <a:spcPts val="3500"/>
              </a:lnSpc>
              <a:spcBef>
                <a:spcPts val="0"/>
              </a:spcBef>
              <a:buClr>
                <a:srgbClr val="FF0000"/>
              </a:buClr>
              <a:buSzPct val="80000"/>
              <a:buNone/>
            </a:pPr>
            <a:r>
              <a:rPr lang="zh-CN" altLang="en-US" sz="2000" dirty="0"/>
              <a:t>   （图搜索、路径搜索）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25873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644054" y="1177007"/>
            <a:ext cx="61557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说明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10688" y="1739131"/>
            <a:ext cx="797547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1950" lvl="1" indent="-361950" algn="just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问题表示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对求解过程影响很大，通常希望</a:t>
            </a:r>
            <a:r>
              <a:rPr kumimoji="1" lang="zh-CN" altLang="en-US" sz="24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较小的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状态空间表示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2000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   如，</a:t>
            </a:r>
            <a:r>
              <a:rPr lang="zh-CN" altLang="en-US" sz="2000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对于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十五数码</a:t>
            </a:r>
            <a:r>
              <a:rPr lang="zh-CN" altLang="en-US" sz="2000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问题：</a:t>
            </a:r>
            <a:endParaRPr lang="en-US" altLang="zh-CN" sz="2000" dirty="0">
              <a:solidFill>
                <a:schemeClr val="tx2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20725" indent="-277813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可规定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15×4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60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条规则  （针对每一个数码）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20725" indent="-277813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若采用“上下左右”移动空格，则只需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条规则。（针对空格）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20725" indent="-277813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因此，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移动空格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是一种较好的表示。</a:t>
            </a:r>
          </a:p>
        </p:txBody>
      </p:sp>
    </p:spTree>
    <p:extLst>
      <p:ext uri="{BB962C8B-B14F-4D97-AF65-F5344CB8AC3E}">
        <p14:creationId xmlns:p14="http://schemas.microsoft.com/office/powerpoint/2010/main" val="11655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42946"/>
            <a:ext cx="1152128" cy="1116858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5868144" y="452182"/>
            <a:ext cx="2394600" cy="1129313"/>
            <a:chOff x="5868144" y="452182"/>
            <a:chExt cx="2394600" cy="112931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287" y="452182"/>
              <a:ext cx="1098457" cy="1129313"/>
            </a:xfrm>
            <a:prstGeom prst="rect">
              <a:avLst/>
            </a:prstGeom>
          </p:spPr>
        </p:pic>
        <p:grpSp>
          <p:nvGrpSpPr>
            <p:cNvPr id="33" name="组合 32"/>
            <p:cNvGrpSpPr/>
            <p:nvPr/>
          </p:nvGrpSpPr>
          <p:grpSpPr>
            <a:xfrm>
              <a:off x="5868144" y="452182"/>
              <a:ext cx="1152128" cy="1129313"/>
              <a:chOff x="5868144" y="452182"/>
              <a:chExt cx="1152128" cy="1129313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>
                <a:off x="5868144" y="452182"/>
                <a:ext cx="1152128" cy="11293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" name="直接连接符 31"/>
              <p:cNvCxnSpPr/>
              <p:nvPr/>
            </p:nvCxnSpPr>
            <p:spPr bwMode="auto">
              <a:xfrm flipH="1">
                <a:off x="5868144" y="452182"/>
                <a:ext cx="1152128" cy="111685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611560" y="1798365"/>
            <a:ext cx="7848227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综上所述，完成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对某个问题的状态描述</a:t>
            </a:r>
            <a:r>
              <a:rPr lang="zh-CN" altLang="en-US" sz="2000" dirty="0">
                <a:latin typeface="+mn-ea"/>
                <a:ea typeface="+mn-ea"/>
              </a:rPr>
              <a:t>，应明确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</a:p>
          <a:p>
            <a:pPr marL="628650" indent="-2667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</a:rPr>
              <a:t>状态的描述方式，特别是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初始状态</a:t>
            </a:r>
            <a:r>
              <a:rPr lang="zh-CN" altLang="en-US" sz="2000" dirty="0">
                <a:latin typeface="+mn-ea"/>
                <a:ea typeface="+mn-ea"/>
              </a:rPr>
              <a:t>的描述。</a:t>
            </a:r>
            <a:endParaRPr lang="en-US" altLang="zh-CN" sz="2000" dirty="0">
              <a:latin typeface="+mn-ea"/>
              <a:ea typeface="+mn-ea"/>
            </a:endParaRPr>
          </a:p>
          <a:p>
            <a:pPr marL="628650" indent="-2667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操作符集合</a:t>
            </a:r>
            <a:r>
              <a:rPr lang="zh-CN" altLang="en-US" sz="2000" dirty="0">
                <a:latin typeface="+mn-ea"/>
                <a:ea typeface="+mn-ea"/>
              </a:rPr>
              <a:t>及其对初始状态描述的作用。</a:t>
            </a:r>
            <a:endParaRPr lang="en-US" altLang="zh-CN" sz="2000" dirty="0">
              <a:latin typeface="+mn-ea"/>
              <a:ea typeface="+mn-ea"/>
            </a:endParaRPr>
          </a:p>
          <a:p>
            <a:pPr marL="628650" indent="-2667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目标状态</a:t>
            </a:r>
            <a:r>
              <a:rPr lang="zh-CN" altLang="en-US" sz="2000" dirty="0">
                <a:latin typeface="+mn-ea"/>
                <a:ea typeface="+mn-ea"/>
              </a:rPr>
              <a:t>描述的特性 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5971675" y="2780928"/>
            <a:ext cx="2056709" cy="307777"/>
            <a:chOff x="6547739" y="3082471"/>
            <a:chExt cx="2056709" cy="307777"/>
          </a:xfrm>
        </p:grpSpPr>
        <p:sp>
          <p:nvSpPr>
            <p:cNvPr id="26" name="Text Box 4"/>
            <p:cNvSpPr txBox="1">
              <a:spLocks noChangeArrowheads="1"/>
            </p:cNvSpPr>
            <p:nvPr/>
          </p:nvSpPr>
          <p:spPr bwMode="auto">
            <a:xfrm>
              <a:off x="6993435" y="3082471"/>
              <a:ext cx="1611013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+mn-ea"/>
                  <a:ea typeface="+mn-ea"/>
                </a:rPr>
                <a:t>(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移动规则</a:t>
              </a:r>
              <a:r>
                <a:rPr lang="en-US" altLang="zh-CN" sz="2000" dirty="0">
                  <a:latin typeface="+mn-ea"/>
                  <a:ea typeface="+mn-ea"/>
                </a:rPr>
                <a:t>)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  <p:sp>
          <p:nvSpPr>
            <p:cNvPr id="27" name="左箭头 26"/>
            <p:cNvSpPr/>
            <p:nvPr/>
          </p:nvSpPr>
          <p:spPr bwMode="auto">
            <a:xfrm>
              <a:off x="6547739" y="3181618"/>
              <a:ext cx="432048" cy="144016"/>
            </a:xfrm>
            <a:prstGeom prst="lef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670782"/>
            <a:ext cx="1146147" cy="1072989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4061965" y="3645024"/>
            <a:ext cx="2958306" cy="1206316"/>
            <a:chOff x="4061965" y="3806860"/>
            <a:chExt cx="2776104" cy="1206316"/>
          </a:xfrm>
        </p:grpSpPr>
        <p:grpSp>
          <p:nvGrpSpPr>
            <p:cNvPr id="35" name="组合 34"/>
            <p:cNvGrpSpPr/>
            <p:nvPr/>
          </p:nvGrpSpPr>
          <p:grpSpPr>
            <a:xfrm>
              <a:off x="4061965" y="3806860"/>
              <a:ext cx="1349319" cy="1206316"/>
              <a:chOff x="4061965" y="3806860"/>
              <a:chExt cx="1349319" cy="1206316"/>
            </a:xfrm>
          </p:grpSpPr>
          <p:cxnSp>
            <p:nvCxnSpPr>
              <p:cNvPr id="46" name="直接连接符 45"/>
              <p:cNvCxnSpPr/>
              <p:nvPr/>
            </p:nvCxnSpPr>
            <p:spPr bwMode="auto">
              <a:xfrm>
                <a:off x="4154379" y="3806860"/>
                <a:ext cx="1256905" cy="120631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直接连接符 46"/>
              <p:cNvCxnSpPr/>
              <p:nvPr/>
            </p:nvCxnSpPr>
            <p:spPr bwMode="auto">
              <a:xfrm flipH="1">
                <a:off x="4061965" y="3832618"/>
                <a:ext cx="1216313" cy="118055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7" name="组合 36"/>
            <p:cNvGrpSpPr/>
            <p:nvPr/>
          </p:nvGrpSpPr>
          <p:grpSpPr>
            <a:xfrm>
              <a:off x="5478857" y="4160575"/>
              <a:ext cx="1359212" cy="307777"/>
              <a:chOff x="5478857" y="4160575"/>
              <a:chExt cx="1359212" cy="307777"/>
            </a:xfrm>
          </p:grpSpPr>
          <p:sp>
            <p:nvSpPr>
              <p:cNvPr id="39" name="右箭头 38"/>
              <p:cNvSpPr/>
              <p:nvPr/>
            </p:nvSpPr>
            <p:spPr bwMode="auto">
              <a:xfrm>
                <a:off x="5478857" y="4306471"/>
                <a:ext cx="360040" cy="140008"/>
              </a:xfrm>
              <a:prstGeom prst="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Text Box 4"/>
              <p:cNvSpPr txBox="1">
                <a:spLocks noChangeArrowheads="1"/>
              </p:cNvSpPr>
              <p:nvPr/>
            </p:nvSpPr>
            <p:spPr bwMode="auto">
              <a:xfrm>
                <a:off x="5912830" y="4160575"/>
                <a:ext cx="925239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更复杂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?</a:t>
                </a:r>
                <a:endParaRPr lang="zh-CN" altLang="en-US" sz="20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6034307" y="4416760"/>
            <a:ext cx="19940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求解过程更复杂！</a:t>
            </a:r>
          </a:p>
        </p:txBody>
      </p: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4211960" y="4997615"/>
            <a:ext cx="338437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解的构成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操作符序列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不同！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637016" y="1177007"/>
            <a:ext cx="43208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状态空间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+mn-ea"/>
                <a:ea typeface="+mn-ea"/>
              </a:rPr>
              <a:t>猴子和香蕉问题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00782" y="1772371"/>
            <a:ext cx="8075674" cy="694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8288" indent="-268288" eaLnBrk="1" hangingPunct="1">
              <a:lnSpc>
                <a:spcPts val="29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问题：</a:t>
            </a:r>
            <a:r>
              <a:rPr lang="zh-CN" altLang="en-US" sz="2000" dirty="0">
                <a:latin typeface="+mn-ea"/>
                <a:ea typeface="+mn-ea"/>
              </a:rPr>
              <a:t>房间中有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一只猴子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一个箱子</a:t>
            </a:r>
            <a:r>
              <a:rPr lang="zh-CN" altLang="en-US" sz="2000" dirty="0">
                <a:latin typeface="+mn-ea"/>
                <a:ea typeface="+mn-ea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一束香蕉</a:t>
            </a:r>
            <a:r>
              <a:rPr lang="zh-CN" altLang="en-US" sz="2000" dirty="0">
                <a:latin typeface="+mn-ea"/>
                <a:ea typeface="+mn-ea"/>
              </a:rPr>
              <a:t>。香蕉挂在天花板下方，猴子的高度不足以拿到。猴子如何才能拿到香蕉</a:t>
            </a:r>
            <a:r>
              <a:rPr lang="en-US" altLang="zh-CN" sz="2000" dirty="0">
                <a:latin typeface="+mn-ea"/>
                <a:ea typeface="+mn-ea"/>
              </a:rPr>
              <a:t>?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1619573" y="2636912"/>
            <a:ext cx="5976763" cy="31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1115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0613" y="1915666"/>
            <a:ext cx="3312368" cy="33855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猴子位于</a:t>
            </a:r>
            <a:r>
              <a:rPr lang="en-US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目标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物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香蕉挂在</a:t>
            </a:r>
            <a:r>
              <a:rPr lang="en-US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处上方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，猴子想吃香蕉，但高度不够。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1463" indent="-271463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处有可移动的</a:t>
            </a: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箱子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，若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猴子站在</a:t>
            </a: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箱子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即可拿到香蕉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，但箱子须移动到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处。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1463" indent="-271463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如何制定行动</a:t>
            </a: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规划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让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猴子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拿到香蕉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？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4005461" y="2024636"/>
            <a:ext cx="4598987" cy="2880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56505" y="1198576"/>
            <a:ext cx="57541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1954818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/>
              <p:cNvSpPr txBox="1">
                <a:spLocks noChangeArrowheads="1"/>
              </p:cNvSpPr>
              <p:nvPr/>
            </p:nvSpPr>
            <p:spPr bwMode="auto">
              <a:xfrm>
                <a:off x="611423" y="1779149"/>
                <a:ext cx="5328729" cy="31620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eaLnBrk="1" hangingPunct="1">
                  <a:lnSpc>
                    <a:spcPts val="32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状态空间表示法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四元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组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 =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w, x, y, z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</a:t>
                </a:r>
                <a:endPara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2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：猴子所在位置</a:t>
                </a:r>
              </a:p>
              <a:p>
                <a:pPr eaLnBrk="1" hangingPunct="1">
                  <a:lnSpc>
                    <a:spcPts val="32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：箱子所在位置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2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：猴子是否在箱子上（是取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；否取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</a:t>
                </a:r>
              </a:p>
              <a:p>
                <a:pPr eaLnBrk="1" hangingPunct="1">
                  <a:lnSpc>
                    <a:spcPts val="3200"/>
                  </a:lnSpc>
                  <a:spcAft>
                    <a:spcPts val="1200"/>
                  </a:spcAft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z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：猴子是否摘到香蕉（是取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；否取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</a:t>
                </a:r>
              </a:p>
              <a:p>
                <a:pPr eaLnBrk="1" hangingPunct="1">
                  <a:lnSpc>
                    <a:spcPts val="32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由此可得：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初始状态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2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目标状态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423" y="1779149"/>
                <a:ext cx="5328729" cy="3162019"/>
              </a:xfrm>
              <a:prstGeom prst="rect">
                <a:avLst/>
              </a:prstGeom>
              <a:blipFill>
                <a:blip r:embed="rId2"/>
                <a:stretch>
                  <a:fillRect l="-2860" t="-1156" r="-2403" b="-23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5940152" y="171224"/>
            <a:ext cx="2520653" cy="1361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638347" y="1177007"/>
            <a:ext cx="17734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问题求解</a:t>
            </a:r>
            <a:r>
              <a:rPr lang="zh-CN" altLang="zh-CN" sz="2000" dirty="0">
                <a:latin typeface="+mn-ea"/>
                <a:ea typeface="+mn-ea"/>
              </a:rPr>
              <a:t>过程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endParaRPr lang="zh-CN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367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99592" y="585065"/>
            <a:ext cx="7344171" cy="920371"/>
            <a:chOff x="899592" y="504068"/>
            <a:chExt cx="7344171" cy="836700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82"/>
            <a:stretch>
              <a:fillRect/>
            </a:stretch>
          </p:blipFill>
          <p:spPr bwMode="auto">
            <a:xfrm>
              <a:off x="899592" y="504068"/>
              <a:ext cx="1429734" cy="833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132" y="534391"/>
              <a:ext cx="1256502" cy="80270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6893" y="531365"/>
              <a:ext cx="1261240" cy="80573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9201" y="533223"/>
              <a:ext cx="1258331" cy="80387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6781" y="531364"/>
              <a:ext cx="1266982" cy="809404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656917" y="1714523"/>
            <a:ext cx="7875523" cy="3416320"/>
            <a:chOff x="656917" y="1714523"/>
            <a:chExt cx="7875523" cy="3416320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656917" y="1714523"/>
              <a:ext cx="787552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eaLnBrk="1" hangingPunct="1">
                <a:lnSpc>
                  <a:spcPct val="150000"/>
                </a:lnSpc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可能出现的状态：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S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(a,b,0,0)  ←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初始状态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S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(b,b,0,0)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S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(c,c,0,0)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S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(c,c,1,0)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S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 </a:t>
              </a: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(c,c,1,1)  ←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目标状态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" name="直接箭头连接符 2"/>
            <p:cNvCxnSpPr/>
            <p:nvPr/>
          </p:nvCxnSpPr>
          <p:spPr bwMode="auto">
            <a:xfrm>
              <a:off x="5508104" y="2827108"/>
              <a:ext cx="0" cy="1728192"/>
            </a:xfrm>
            <a:prstGeom prst="straightConnector1">
              <a:avLst/>
            </a:prstGeom>
            <a:ln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2185342" y="2677856"/>
            <a:ext cx="946498" cy="2249333"/>
            <a:chOff x="1924606" y="2677856"/>
            <a:chExt cx="946498" cy="2249333"/>
          </a:xfrm>
        </p:grpSpPr>
        <p:grpSp>
          <p:nvGrpSpPr>
            <p:cNvPr id="16" name="组合 15"/>
            <p:cNvGrpSpPr/>
            <p:nvPr/>
          </p:nvGrpSpPr>
          <p:grpSpPr>
            <a:xfrm>
              <a:off x="1924606" y="2677856"/>
              <a:ext cx="946498" cy="531352"/>
              <a:chOff x="1924606" y="2677856"/>
              <a:chExt cx="946498" cy="531352"/>
            </a:xfrm>
          </p:grpSpPr>
          <p:cxnSp>
            <p:nvCxnSpPr>
              <p:cNvPr id="6" name="直接连接符 5"/>
              <p:cNvCxnSpPr/>
              <p:nvPr/>
            </p:nvCxnSpPr>
            <p:spPr bwMode="auto">
              <a:xfrm flipH="1">
                <a:off x="2356622" y="2677856"/>
                <a:ext cx="514482" cy="2918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直接连接符 13"/>
              <p:cNvCxnSpPr/>
              <p:nvPr/>
            </p:nvCxnSpPr>
            <p:spPr bwMode="auto">
              <a:xfrm>
                <a:off x="2356622" y="2969656"/>
                <a:ext cx="514482" cy="21225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矩形 14"/>
                  <p:cNvSpPr/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noFill/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矩形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组合 16"/>
            <p:cNvGrpSpPr/>
            <p:nvPr/>
          </p:nvGrpSpPr>
          <p:grpSpPr>
            <a:xfrm>
              <a:off x="1924606" y="3246527"/>
              <a:ext cx="946498" cy="531352"/>
              <a:chOff x="1924606" y="2677856"/>
              <a:chExt cx="946498" cy="531352"/>
            </a:xfrm>
          </p:grpSpPr>
          <p:cxnSp>
            <p:nvCxnSpPr>
              <p:cNvPr id="18" name="直接连接符 17"/>
              <p:cNvCxnSpPr/>
              <p:nvPr/>
            </p:nvCxnSpPr>
            <p:spPr bwMode="auto">
              <a:xfrm flipH="1">
                <a:off x="2356622" y="2677856"/>
                <a:ext cx="514482" cy="2918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直接连接符 18"/>
              <p:cNvCxnSpPr/>
              <p:nvPr/>
            </p:nvCxnSpPr>
            <p:spPr bwMode="auto">
              <a:xfrm>
                <a:off x="2356622" y="2969656"/>
                <a:ext cx="514482" cy="21225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矩形 19"/>
                  <p:cNvSpPr/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noFill/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矩形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组合 20"/>
            <p:cNvGrpSpPr/>
            <p:nvPr/>
          </p:nvGrpSpPr>
          <p:grpSpPr>
            <a:xfrm>
              <a:off x="1924606" y="3808680"/>
              <a:ext cx="946498" cy="531352"/>
              <a:chOff x="1924606" y="2677856"/>
              <a:chExt cx="946498" cy="531352"/>
            </a:xfrm>
          </p:grpSpPr>
          <p:cxnSp>
            <p:nvCxnSpPr>
              <p:cNvPr id="22" name="直接连接符 21"/>
              <p:cNvCxnSpPr/>
              <p:nvPr/>
            </p:nvCxnSpPr>
            <p:spPr bwMode="auto">
              <a:xfrm flipH="1">
                <a:off x="2356622" y="2677856"/>
                <a:ext cx="514482" cy="2918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" name="直接连接符 22"/>
              <p:cNvCxnSpPr/>
              <p:nvPr/>
            </p:nvCxnSpPr>
            <p:spPr bwMode="auto">
              <a:xfrm>
                <a:off x="2356622" y="2969656"/>
                <a:ext cx="514482" cy="21225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/>
                  <p:cNvSpPr/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noFill/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矩形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/>
                    </a:stretch>
                  </a:blip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组合 24"/>
            <p:cNvGrpSpPr/>
            <p:nvPr/>
          </p:nvGrpSpPr>
          <p:grpSpPr>
            <a:xfrm>
              <a:off x="1924606" y="4395837"/>
              <a:ext cx="946498" cy="531352"/>
              <a:chOff x="1924606" y="2677856"/>
              <a:chExt cx="946498" cy="531352"/>
            </a:xfrm>
          </p:grpSpPr>
          <p:cxnSp>
            <p:nvCxnSpPr>
              <p:cNvPr id="26" name="直接连接符 25"/>
              <p:cNvCxnSpPr/>
              <p:nvPr/>
            </p:nvCxnSpPr>
            <p:spPr bwMode="auto">
              <a:xfrm flipH="1">
                <a:off x="2356622" y="2677856"/>
                <a:ext cx="514482" cy="2918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直接连接符 26"/>
              <p:cNvCxnSpPr/>
              <p:nvPr/>
            </p:nvCxnSpPr>
            <p:spPr bwMode="auto">
              <a:xfrm>
                <a:off x="2356622" y="2969656"/>
                <a:ext cx="514482" cy="21225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矩形 27"/>
                  <p:cNvSpPr/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noFill/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0" lang="en-US" altLang="zh-CN" sz="2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矩形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24606" y="2705152"/>
                    <a:ext cx="386691" cy="504056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/>
                    </a:stretch>
                  </a:blip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" name="组合 10"/>
          <p:cNvGrpSpPr/>
          <p:nvPr/>
        </p:nvGrpSpPr>
        <p:grpSpPr>
          <a:xfrm>
            <a:off x="656917" y="5138958"/>
            <a:ext cx="5499259" cy="568874"/>
            <a:chOff x="656917" y="5138958"/>
            <a:chExt cx="5309493" cy="568874"/>
          </a:xfrm>
        </p:grpSpPr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656917" y="5194374"/>
              <a:ext cx="2834963" cy="4839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eaLnBrk="1" hangingPunct="1">
                <a:lnSpc>
                  <a:spcPct val="150000"/>
                </a:lnSpc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允许的操作集：</a:t>
              </a:r>
              <a:endPara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3419872" y="5138958"/>
                  <a:ext cx="2546538" cy="5688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50000"/>
                    </a:lnSpc>
                  </a:pPr>
                  <a:r>
                    <a:rPr lang="en-US" altLang="zh-CN" sz="2800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F={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en-US" altLang="zh-CN" sz="2800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}</a:t>
                  </a:r>
                </a:p>
              </p:txBody>
            </p:sp>
          </mc:Choice>
          <mc:Fallback xmlns="">
            <p:sp>
              <p:nvSpPr>
                <p:cNvPr id="32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19872" y="5138958"/>
                  <a:ext cx="2546538" cy="568874"/>
                </a:xfrm>
                <a:prstGeom prst="rect">
                  <a:avLst/>
                </a:prstGeom>
                <a:blipFill>
                  <a:blip r:embed="rId11"/>
                  <a:stretch>
                    <a:fillRect l="-8083" r="-6005" b="-3871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1406081" y="173249"/>
            <a:ext cx="6460902" cy="475255"/>
            <a:chOff x="1406081" y="173249"/>
            <a:chExt cx="6460902" cy="475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/>
                <p:cNvSpPr/>
                <p:nvPr/>
              </p:nvSpPr>
              <p:spPr bwMode="auto">
                <a:xfrm>
                  <a:off x="1406081" y="173249"/>
                  <a:ext cx="416756" cy="475255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6081" y="173249"/>
                  <a:ext cx="416756" cy="47525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4706" r="-4412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/>
                <p:cNvSpPr/>
                <p:nvPr/>
              </p:nvSpPr>
              <p:spPr bwMode="auto">
                <a:xfrm>
                  <a:off x="2969212" y="183043"/>
                  <a:ext cx="416756" cy="432048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69212" y="183043"/>
                  <a:ext cx="416756" cy="432048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13235" r="-4412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/>
                <p:cNvSpPr/>
                <p:nvPr/>
              </p:nvSpPr>
              <p:spPr bwMode="auto">
                <a:xfrm>
                  <a:off x="4532343" y="180739"/>
                  <a:ext cx="416756" cy="432048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32343" y="180739"/>
                  <a:ext cx="416756" cy="432048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13043" r="-2899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/>
                <p:cNvSpPr/>
                <p:nvPr/>
              </p:nvSpPr>
              <p:spPr bwMode="auto">
                <a:xfrm>
                  <a:off x="5909988" y="180739"/>
                  <a:ext cx="416756" cy="432048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矩形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09988" y="180739"/>
                  <a:ext cx="416756" cy="432048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l="-13043" r="-2899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/>
                <p:cNvSpPr/>
                <p:nvPr/>
              </p:nvSpPr>
              <p:spPr bwMode="auto">
                <a:xfrm>
                  <a:off x="7450227" y="180739"/>
                  <a:ext cx="416756" cy="432048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altLang="zh-CN" sz="2400" b="1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50227" y="180739"/>
                  <a:ext cx="416756" cy="432048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13043" r="-2899"/>
                  </a:stretch>
                </a:blip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169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620796" y="1160109"/>
            <a:ext cx="25206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操作符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算子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集合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6372225" y="260350"/>
            <a:ext cx="2160588" cy="121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39552" y="5095049"/>
            <a:ext cx="8137525" cy="91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初始状态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目标状态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各状态量发生变化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u="wavyHeavy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每个状态量变化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就产生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一个新状态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，所有状态变化即为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状态集合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755650" y="1660738"/>
            <a:ext cx="7848600" cy="1859146"/>
            <a:chOff x="755650" y="1660738"/>
            <a:chExt cx="7848600" cy="1859146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755650" y="1673225"/>
              <a:ext cx="7848600" cy="1846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 </a:t>
              </a:r>
              <a:r>
                <a:rPr lang="en-US" altLang="zh-CN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goto(b)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：猴子走到位置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pushbox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：猴子推箱子到位置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climbbox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：猴子爬上箱顶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 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 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grasp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：猴子拿到香蕉</a:t>
              </a:r>
              <a:r>
                <a:rPr lang="zh-CN" altLang="en-US" sz="200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</a:t>
              </a:r>
              <a:endPara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矩形 5"/>
            <p:cNvSpPr>
              <a:spLocks noChangeArrowheads="1"/>
            </p:cNvSpPr>
            <p:nvPr/>
          </p:nvSpPr>
          <p:spPr bwMode="auto">
            <a:xfrm>
              <a:off x="5899273" y="1660738"/>
              <a:ext cx="256551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(w, x, y,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(b, x, y, z)</a:t>
              </a:r>
            </a:p>
          </p:txBody>
        </p:sp>
        <p:sp>
          <p:nvSpPr>
            <p:cNvPr id="10" name="矩形 6"/>
            <p:cNvSpPr>
              <a:spLocks noChangeArrowheads="1"/>
            </p:cNvSpPr>
            <p:nvPr/>
          </p:nvSpPr>
          <p:spPr bwMode="auto">
            <a:xfrm>
              <a:off x="5903029" y="2164794"/>
              <a:ext cx="250286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(b, x, y,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y, z)</a:t>
              </a:r>
            </a:p>
          </p:txBody>
        </p:sp>
        <p:sp>
          <p:nvSpPr>
            <p:cNvPr id="11" name="矩形 8"/>
            <p:cNvSpPr>
              <a:spLocks noChangeArrowheads="1"/>
            </p:cNvSpPr>
            <p:nvPr/>
          </p:nvSpPr>
          <p:spPr bwMode="auto">
            <a:xfrm>
              <a:off x="5876896" y="2596842"/>
              <a:ext cx="24979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y,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1, z)</a:t>
              </a:r>
            </a:p>
          </p:txBody>
        </p:sp>
        <p:sp>
          <p:nvSpPr>
            <p:cNvPr id="12" name="矩形 9"/>
            <p:cNvSpPr>
              <a:spLocks noChangeArrowheads="1"/>
            </p:cNvSpPr>
            <p:nvPr/>
          </p:nvSpPr>
          <p:spPr bwMode="auto">
            <a:xfrm>
              <a:off x="5823298" y="3068960"/>
              <a:ext cx="25506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1,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1, 1)</a:t>
              </a:r>
            </a:p>
          </p:txBody>
        </p:sp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39551" y="3693505"/>
            <a:ext cx="676875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初始状态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目标状态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的操作序列：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Step1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goto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Step2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pushbox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Step3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climbox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Step4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grasp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07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1"/>
          <p:cNvSpPr>
            <a:spLocks noChangeArrowheads="1"/>
          </p:cNvSpPr>
          <p:nvPr/>
        </p:nvSpPr>
        <p:spPr bwMode="auto">
          <a:xfrm>
            <a:off x="621573" y="1186243"/>
            <a:ext cx="15021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状态空间图</a:t>
            </a:r>
            <a:r>
              <a:rPr lang="en-US" altLang="zh-CN" sz="2000" dirty="0">
                <a:latin typeface="+mn-ea"/>
                <a:ea typeface="+mn-ea"/>
              </a:rPr>
              <a:t>: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621572" y="5651956"/>
            <a:ext cx="79834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操作符序列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{</a:t>
            </a:r>
            <a:r>
              <a:rPr lang="en-US" altLang="zh-CN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goto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pushbox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climbbox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grasp}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49" y="1844824"/>
            <a:ext cx="5283964" cy="3638907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2725809" y="230802"/>
            <a:ext cx="5879176" cy="1249246"/>
            <a:chOff x="2725809" y="230802"/>
            <a:chExt cx="5879176" cy="1249246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82"/>
            <a:stretch>
              <a:fillRect/>
            </a:stretch>
          </p:blipFill>
          <p:spPr bwMode="auto">
            <a:xfrm>
              <a:off x="2725809" y="323274"/>
              <a:ext cx="1804299" cy="1141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4727320" y="230802"/>
              <a:ext cx="2769989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kern="1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goto</a:t>
              </a:r>
              <a:r>
                <a:rPr lang="en-US" altLang="zh-CN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(U)</a:t>
              </a:r>
              <a:r>
                <a: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猴子走到水平位置</a:t>
              </a:r>
              <a:r>
                <a:rPr lang="en-US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727320" y="540701"/>
              <a:ext cx="3877665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kern="1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pushbox</a:t>
              </a:r>
              <a:r>
                <a:rPr lang="en-US" altLang="zh-CN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r>
                <a: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猴子</a:t>
              </a:r>
              <a:r>
                <a:rPr lang="zh-CN" altLang="en-US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</a:t>
              </a:r>
              <a:r>
                <a: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箱子推到水平位置</a:t>
              </a:r>
              <a:r>
                <a:rPr lang="en-US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727320" y="880664"/>
              <a:ext cx="2305118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kern="1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climbbox</a:t>
              </a:r>
              <a:r>
                <a: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猴子爬上箱顶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727320" y="1203049"/>
              <a:ext cx="1946046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grasp</a:t>
              </a:r>
              <a:r>
                <a:rPr lang="zh-CN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猴子摘到香蕉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78379" y="1988840"/>
            <a:ext cx="4469685" cy="3316945"/>
            <a:chOff x="678379" y="1988840"/>
            <a:chExt cx="4469685" cy="3316945"/>
          </a:xfrm>
        </p:grpSpPr>
        <p:grpSp>
          <p:nvGrpSpPr>
            <p:cNvPr id="31" name="组合 30"/>
            <p:cNvGrpSpPr/>
            <p:nvPr/>
          </p:nvGrpSpPr>
          <p:grpSpPr>
            <a:xfrm>
              <a:off x="678379" y="1988840"/>
              <a:ext cx="4469685" cy="307777"/>
              <a:chOff x="678379" y="1988840"/>
              <a:chExt cx="4469685" cy="307777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678379" y="1988840"/>
                <a:ext cx="1224136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(a,b,0,0) </a:t>
                </a:r>
                <a:endPara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直接箭头连接符 15"/>
              <p:cNvCxnSpPr>
                <a:stCxn id="13" idx="3"/>
              </p:cNvCxnSpPr>
              <p:nvPr/>
            </p:nvCxnSpPr>
            <p:spPr bwMode="auto">
              <a:xfrm flipV="1">
                <a:off x="1902515" y="2142728"/>
                <a:ext cx="3245549" cy="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2" name="组合 31"/>
            <p:cNvGrpSpPr/>
            <p:nvPr/>
          </p:nvGrpSpPr>
          <p:grpSpPr>
            <a:xfrm>
              <a:off x="678379" y="2693454"/>
              <a:ext cx="3821613" cy="307777"/>
              <a:chOff x="678379" y="2693454"/>
              <a:chExt cx="3821613" cy="307777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78379" y="2693454"/>
                <a:ext cx="1224136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(b,b,0,0)</a:t>
                </a:r>
              </a:p>
            </p:txBody>
          </p:sp>
          <p:cxnSp>
            <p:nvCxnSpPr>
              <p:cNvPr id="19" name="直接箭头连接符 18"/>
              <p:cNvCxnSpPr>
                <a:stCxn id="18" idx="3"/>
              </p:cNvCxnSpPr>
              <p:nvPr/>
            </p:nvCxnSpPr>
            <p:spPr bwMode="auto">
              <a:xfrm flipV="1">
                <a:off x="1902515" y="2847342"/>
                <a:ext cx="2597477" cy="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3" name="组合 32"/>
            <p:cNvGrpSpPr/>
            <p:nvPr/>
          </p:nvGrpSpPr>
          <p:grpSpPr>
            <a:xfrm>
              <a:off x="678379" y="3510388"/>
              <a:ext cx="2846910" cy="307777"/>
              <a:chOff x="678379" y="3510388"/>
              <a:chExt cx="2846910" cy="307777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678379" y="3510388"/>
                <a:ext cx="1152128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(c,c,0,0)</a:t>
                </a:r>
              </a:p>
            </p:txBody>
          </p:sp>
          <p:cxnSp>
            <p:nvCxnSpPr>
              <p:cNvPr id="23" name="直接箭头连接符 22"/>
              <p:cNvCxnSpPr>
                <a:stCxn id="22" idx="3"/>
              </p:cNvCxnSpPr>
              <p:nvPr/>
            </p:nvCxnSpPr>
            <p:spPr bwMode="auto">
              <a:xfrm flipV="1">
                <a:off x="1830507" y="3664276"/>
                <a:ext cx="1694782" cy="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5" name="组合 34"/>
            <p:cNvGrpSpPr/>
            <p:nvPr/>
          </p:nvGrpSpPr>
          <p:grpSpPr>
            <a:xfrm>
              <a:off x="678379" y="4327942"/>
              <a:ext cx="2741493" cy="306536"/>
              <a:chOff x="678379" y="4327942"/>
              <a:chExt cx="2741493" cy="306536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678379" y="4327942"/>
                <a:ext cx="1224136" cy="30653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(c,c,1,0)</a:t>
                </a:r>
              </a:p>
            </p:txBody>
          </p:sp>
          <p:cxnSp>
            <p:nvCxnSpPr>
              <p:cNvPr id="26" name="直接箭头连接符 25"/>
              <p:cNvCxnSpPr>
                <a:stCxn id="25" idx="3"/>
              </p:cNvCxnSpPr>
              <p:nvPr/>
            </p:nvCxnSpPr>
            <p:spPr bwMode="auto">
              <a:xfrm>
                <a:off x="1902515" y="4481210"/>
                <a:ext cx="1517357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6" name="组合 35"/>
            <p:cNvGrpSpPr/>
            <p:nvPr/>
          </p:nvGrpSpPr>
          <p:grpSpPr>
            <a:xfrm>
              <a:off x="678379" y="4998008"/>
              <a:ext cx="2570470" cy="307777"/>
              <a:chOff x="678379" y="4998008"/>
              <a:chExt cx="2570470" cy="307777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78379" y="4998008"/>
                <a:ext cx="1224136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(c,c,1,1) </a:t>
                </a:r>
                <a:endParaRPr lang="zh-CN" altLang="en-US" sz="2000" dirty="0"/>
              </a:p>
            </p:txBody>
          </p:sp>
          <p:cxnSp>
            <p:nvCxnSpPr>
              <p:cNvPr id="30" name="直接箭头连接符 29"/>
              <p:cNvCxnSpPr>
                <a:stCxn id="29" idx="3"/>
              </p:cNvCxnSpPr>
              <p:nvPr/>
            </p:nvCxnSpPr>
            <p:spPr bwMode="auto">
              <a:xfrm flipV="1">
                <a:off x="1902515" y="5151896"/>
                <a:ext cx="1346334" cy="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14104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630809" y="1178887"/>
            <a:ext cx="15741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代码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部分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  <a:endParaRPr lang="zh-CN" altLang="en-US" sz="2000" dirty="0">
              <a:latin typeface="+mn-ea"/>
              <a:ea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21573" y="1728105"/>
            <a:ext cx="7955978" cy="4392488"/>
            <a:chOff x="621573" y="1728105"/>
            <a:chExt cx="7955978" cy="439248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573" y="1728105"/>
              <a:ext cx="7577361" cy="4392488"/>
            </a:xfrm>
            <a:prstGeom prst="rect">
              <a:avLst/>
            </a:prstGeom>
          </p:spPr>
        </p:pic>
        <p:cxnSp>
          <p:nvCxnSpPr>
            <p:cNvPr id="8" name="直接连接符 7"/>
            <p:cNvCxnSpPr/>
            <p:nvPr/>
          </p:nvCxnSpPr>
          <p:spPr bwMode="auto">
            <a:xfrm>
              <a:off x="6921367" y="5949280"/>
              <a:ext cx="165618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24782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47269" y="1178620"/>
            <a:ext cx="861864" cy="306164"/>
          </a:xfrm>
          <a:noFill/>
        </p:spPr>
        <p:txBody>
          <a:bodyPr lIns="0" tIns="0" rIns="0" bIns="0"/>
          <a:lstStyle/>
          <a:p>
            <a:pPr eaLnBrk="1" hangingPunct="1"/>
            <a:r>
              <a:rPr lang="zh-CN" altLang="en-US" sz="2000" b="1" dirty="0">
                <a:latin typeface="+mn-ea"/>
                <a:ea typeface="+mn-ea"/>
              </a:rPr>
              <a:t>演示：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768" y="1806"/>
            <a:chExt cx="4608" cy="2562"/>
          </a:xfrm>
        </p:grpSpPr>
        <p:pic>
          <p:nvPicPr>
            <p:cNvPr id="6" name="Picture 14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06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AutoShape 15"/>
            <p:cNvSpPr>
              <a:spLocks noChangeArrowheads="1"/>
            </p:cNvSpPr>
            <p:nvPr/>
          </p:nvSpPr>
          <p:spPr bwMode="auto">
            <a:xfrm>
              <a:off x="3744" y="3360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8" name="Picture 16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544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Line 17"/>
            <p:cNvSpPr>
              <a:spLocks noChangeShapeType="1"/>
            </p:cNvSpPr>
            <p:nvPr/>
          </p:nvSpPr>
          <p:spPr bwMode="auto">
            <a:xfrm>
              <a:off x="3072" y="2064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2976" y="19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1766" y="3302"/>
              <a:ext cx="4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猴子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2490" y="2342"/>
              <a:ext cx="4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香蕉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4026" y="3014"/>
              <a:ext cx="4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箱子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14" name="Picture 22" descr="猴子-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3600"/>
              <a:ext cx="57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23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672" y="720"/>
            <a:chExt cx="4608" cy="2562"/>
          </a:xfrm>
        </p:grpSpPr>
        <p:pic>
          <p:nvPicPr>
            <p:cNvPr id="16" name="Picture 24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720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AutoShape 25"/>
            <p:cNvSpPr>
              <a:spLocks noChangeArrowheads="1"/>
            </p:cNvSpPr>
            <p:nvPr/>
          </p:nvSpPr>
          <p:spPr bwMode="auto">
            <a:xfrm>
              <a:off x="3648" y="2274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18" name="Picture 26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1458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Line 27"/>
            <p:cNvSpPr>
              <a:spLocks noChangeShapeType="1"/>
            </p:cNvSpPr>
            <p:nvPr/>
          </p:nvSpPr>
          <p:spPr bwMode="auto">
            <a:xfrm>
              <a:off x="2976" y="978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28"/>
            <p:cNvSpPr txBox="1">
              <a:spLocks noChangeArrowheads="1"/>
            </p:cNvSpPr>
            <p:nvPr/>
          </p:nvSpPr>
          <p:spPr bwMode="auto">
            <a:xfrm>
              <a:off x="2880" y="83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21" name="Picture 29" descr="猴子-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2514"/>
              <a:ext cx="528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1670" y="2216"/>
              <a:ext cx="4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猴子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31"/>
            <p:cNvSpPr txBox="1">
              <a:spLocks noChangeArrowheads="1"/>
            </p:cNvSpPr>
            <p:nvPr/>
          </p:nvSpPr>
          <p:spPr bwMode="auto">
            <a:xfrm>
              <a:off x="2394" y="1256"/>
              <a:ext cx="4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香蕉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3930" y="1928"/>
              <a:ext cx="4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箱子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33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3888" y="1008"/>
            <a:chExt cx="4608" cy="2562"/>
          </a:xfrm>
        </p:grpSpPr>
        <p:pic>
          <p:nvPicPr>
            <p:cNvPr id="26" name="Picture 34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1008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AutoShape 35"/>
            <p:cNvSpPr>
              <a:spLocks noChangeArrowheads="1"/>
            </p:cNvSpPr>
            <p:nvPr/>
          </p:nvSpPr>
          <p:spPr bwMode="auto">
            <a:xfrm>
              <a:off x="6864" y="2562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28" name="Picture 36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0" y="1746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Line 37"/>
            <p:cNvSpPr>
              <a:spLocks noChangeShapeType="1"/>
            </p:cNvSpPr>
            <p:nvPr/>
          </p:nvSpPr>
          <p:spPr bwMode="auto">
            <a:xfrm>
              <a:off x="6192" y="1266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38"/>
            <p:cNvSpPr txBox="1">
              <a:spLocks noChangeArrowheads="1"/>
            </p:cNvSpPr>
            <p:nvPr/>
          </p:nvSpPr>
          <p:spPr bwMode="auto">
            <a:xfrm>
              <a:off x="6096" y="112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31" name="Picture 39" descr="猴子-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6" y="2784"/>
              <a:ext cx="57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" name="Group 40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672" y="1536"/>
            <a:chExt cx="4608" cy="2562"/>
          </a:xfrm>
        </p:grpSpPr>
        <p:pic>
          <p:nvPicPr>
            <p:cNvPr id="33" name="Picture 41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1536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AutoShape 42"/>
            <p:cNvSpPr>
              <a:spLocks noChangeArrowheads="1"/>
            </p:cNvSpPr>
            <p:nvPr/>
          </p:nvSpPr>
          <p:spPr bwMode="auto">
            <a:xfrm>
              <a:off x="3648" y="3090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35" name="Picture 43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274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Line 44"/>
            <p:cNvSpPr>
              <a:spLocks noChangeShapeType="1"/>
            </p:cNvSpPr>
            <p:nvPr/>
          </p:nvSpPr>
          <p:spPr bwMode="auto">
            <a:xfrm>
              <a:off x="2976" y="1794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45"/>
            <p:cNvSpPr txBox="1">
              <a:spLocks noChangeArrowheads="1"/>
            </p:cNvSpPr>
            <p:nvPr/>
          </p:nvSpPr>
          <p:spPr bwMode="auto">
            <a:xfrm>
              <a:off x="2880" y="165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38" name="Picture 46" descr="猴子-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3312"/>
              <a:ext cx="57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9" name="Group 47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720" y="1518"/>
            <a:chExt cx="4608" cy="2562"/>
          </a:xfrm>
        </p:grpSpPr>
        <p:pic>
          <p:nvPicPr>
            <p:cNvPr id="40" name="Picture 48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1518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AutoShape 49"/>
            <p:cNvSpPr>
              <a:spLocks noChangeArrowheads="1"/>
            </p:cNvSpPr>
            <p:nvPr/>
          </p:nvSpPr>
          <p:spPr bwMode="auto">
            <a:xfrm>
              <a:off x="3696" y="3072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42" name="Picture 50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2256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Line 51"/>
            <p:cNvSpPr>
              <a:spLocks noChangeShapeType="1"/>
            </p:cNvSpPr>
            <p:nvPr/>
          </p:nvSpPr>
          <p:spPr bwMode="auto">
            <a:xfrm>
              <a:off x="3024" y="1776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52"/>
            <p:cNvSpPr txBox="1">
              <a:spLocks noChangeArrowheads="1"/>
            </p:cNvSpPr>
            <p:nvPr/>
          </p:nvSpPr>
          <p:spPr bwMode="auto">
            <a:xfrm>
              <a:off x="2928" y="163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45" name="Picture 53" descr="猴子-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3294"/>
              <a:ext cx="57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6" name="Group 54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672" y="912"/>
            <a:chExt cx="4608" cy="2562"/>
          </a:xfrm>
        </p:grpSpPr>
        <p:pic>
          <p:nvPicPr>
            <p:cNvPr id="47" name="Picture 55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912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56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1680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Line 57"/>
            <p:cNvSpPr>
              <a:spLocks noChangeShapeType="1"/>
            </p:cNvSpPr>
            <p:nvPr/>
          </p:nvSpPr>
          <p:spPr bwMode="auto">
            <a:xfrm>
              <a:off x="2976" y="1200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50" name="Picture 58" descr="猴子-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688"/>
              <a:ext cx="528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AutoShape 59"/>
            <p:cNvSpPr>
              <a:spLocks noChangeArrowheads="1"/>
            </p:cNvSpPr>
            <p:nvPr/>
          </p:nvSpPr>
          <p:spPr bwMode="auto">
            <a:xfrm>
              <a:off x="3648" y="2496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" name="Text Box 60"/>
            <p:cNvSpPr txBox="1">
              <a:spLocks noChangeArrowheads="1"/>
            </p:cNvSpPr>
            <p:nvPr/>
          </p:nvSpPr>
          <p:spPr bwMode="auto">
            <a:xfrm>
              <a:off x="2880" y="10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" name="Group 61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720" y="1182"/>
            <a:chExt cx="4608" cy="2562"/>
          </a:xfrm>
        </p:grpSpPr>
        <p:pic>
          <p:nvPicPr>
            <p:cNvPr id="54" name="Picture 62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1182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63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1950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Line 64"/>
            <p:cNvSpPr>
              <a:spLocks noChangeShapeType="1"/>
            </p:cNvSpPr>
            <p:nvPr/>
          </p:nvSpPr>
          <p:spPr bwMode="auto">
            <a:xfrm>
              <a:off x="3024" y="1470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57" name="Picture 65" descr="猴子-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2958"/>
              <a:ext cx="528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AutoShape 66"/>
            <p:cNvSpPr>
              <a:spLocks noChangeArrowheads="1"/>
            </p:cNvSpPr>
            <p:nvPr/>
          </p:nvSpPr>
          <p:spPr bwMode="auto">
            <a:xfrm>
              <a:off x="3072" y="2766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" name="Text Box 67"/>
            <p:cNvSpPr txBox="1">
              <a:spLocks noChangeArrowheads="1"/>
            </p:cNvSpPr>
            <p:nvPr/>
          </p:nvSpPr>
          <p:spPr bwMode="auto">
            <a:xfrm>
              <a:off x="2928" y="132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" name="Group 68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768" y="654"/>
            <a:chExt cx="4608" cy="2562"/>
          </a:xfrm>
        </p:grpSpPr>
        <p:pic>
          <p:nvPicPr>
            <p:cNvPr id="61" name="Picture 69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654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70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422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Line 71"/>
            <p:cNvSpPr>
              <a:spLocks noChangeShapeType="1"/>
            </p:cNvSpPr>
            <p:nvPr/>
          </p:nvSpPr>
          <p:spPr bwMode="auto">
            <a:xfrm>
              <a:off x="3072" y="942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64" name="Picture 72" descr="猴子-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2430"/>
              <a:ext cx="528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AutoShape 73"/>
            <p:cNvSpPr>
              <a:spLocks noChangeArrowheads="1"/>
            </p:cNvSpPr>
            <p:nvPr/>
          </p:nvSpPr>
          <p:spPr bwMode="auto">
            <a:xfrm>
              <a:off x="2352" y="2238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6" name="Text Box 74"/>
            <p:cNvSpPr txBox="1">
              <a:spLocks noChangeArrowheads="1"/>
            </p:cNvSpPr>
            <p:nvPr/>
          </p:nvSpPr>
          <p:spPr bwMode="auto">
            <a:xfrm>
              <a:off x="2976" y="79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" name="Group 75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768" y="654"/>
            <a:chExt cx="4608" cy="2562"/>
          </a:xfrm>
        </p:grpSpPr>
        <p:pic>
          <p:nvPicPr>
            <p:cNvPr id="68" name="Picture 76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654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" name="Picture 77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422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072" y="942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71" name="Picture 79" descr="猴子-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1920"/>
              <a:ext cx="52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AutoShape 80"/>
            <p:cNvSpPr>
              <a:spLocks noChangeArrowheads="1"/>
            </p:cNvSpPr>
            <p:nvPr/>
          </p:nvSpPr>
          <p:spPr bwMode="auto">
            <a:xfrm>
              <a:off x="2352" y="2238"/>
              <a:ext cx="768" cy="91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3" name="Text Box 81"/>
            <p:cNvSpPr txBox="1">
              <a:spLocks noChangeArrowheads="1"/>
            </p:cNvSpPr>
            <p:nvPr/>
          </p:nvSpPr>
          <p:spPr bwMode="auto">
            <a:xfrm>
              <a:off x="2976" y="79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4" name="Group 82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624" y="990"/>
            <a:chExt cx="4608" cy="2562"/>
          </a:xfrm>
        </p:grpSpPr>
        <p:pic>
          <p:nvPicPr>
            <p:cNvPr id="75" name="Picture 83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990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2928" y="1278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77" name="Picture 85" descr="猴子-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1914"/>
              <a:ext cx="798" cy="1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Picture 86" descr="香蕉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1758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2832" y="113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0" name="Group 88"/>
          <p:cNvGrpSpPr>
            <a:grpSpLocks/>
          </p:cNvGrpSpPr>
          <p:nvPr/>
        </p:nvGrpSpPr>
        <p:grpSpPr bwMode="auto">
          <a:xfrm>
            <a:off x="900113" y="1882775"/>
            <a:ext cx="7593012" cy="4067175"/>
            <a:chOff x="672" y="942"/>
            <a:chExt cx="4608" cy="2562"/>
          </a:xfrm>
        </p:grpSpPr>
        <p:pic>
          <p:nvPicPr>
            <p:cNvPr id="81" name="Picture 89" descr="图框（1）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942"/>
              <a:ext cx="4608" cy="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Line 90"/>
            <p:cNvSpPr>
              <a:spLocks noChangeShapeType="1"/>
            </p:cNvSpPr>
            <p:nvPr/>
          </p:nvSpPr>
          <p:spPr bwMode="auto">
            <a:xfrm>
              <a:off x="2976" y="1230"/>
              <a:ext cx="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2880" y="108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en-US" altLang="zh-CN" sz="2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84" name="Picture 92" descr="香蕉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1872"/>
              <a:ext cx="972" cy="1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5" name="Group 93"/>
          <p:cNvGrpSpPr>
            <a:grpSpLocks/>
          </p:cNvGrpSpPr>
          <p:nvPr/>
        </p:nvGrpSpPr>
        <p:grpSpPr bwMode="auto">
          <a:xfrm>
            <a:off x="684213" y="1882775"/>
            <a:ext cx="7848600" cy="4067175"/>
            <a:chOff x="624" y="1440"/>
            <a:chExt cx="4608" cy="2562"/>
          </a:xfrm>
        </p:grpSpPr>
        <p:grpSp>
          <p:nvGrpSpPr>
            <p:cNvPr id="86" name="Group 94"/>
            <p:cNvGrpSpPr>
              <a:grpSpLocks/>
            </p:cNvGrpSpPr>
            <p:nvPr/>
          </p:nvGrpSpPr>
          <p:grpSpPr bwMode="auto">
            <a:xfrm>
              <a:off x="624" y="1440"/>
              <a:ext cx="4608" cy="2562"/>
              <a:chOff x="672" y="942"/>
              <a:chExt cx="4608" cy="2562"/>
            </a:xfrm>
          </p:grpSpPr>
          <p:pic>
            <p:nvPicPr>
              <p:cNvPr id="89" name="Picture 95" descr="图框（1）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2" y="942"/>
                <a:ext cx="4608" cy="2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Line 96"/>
              <p:cNvSpPr>
                <a:spLocks noChangeShapeType="1"/>
              </p:cNvSpPr>
              <p:nvPr/>
            </p:nvSpPr>
            <p:spPr bwMode="auto">
              <a:xfrm>
                <a:off x="2960" y="123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Text Box 97"/>
              <p:cNvSpPr txBox="1">
                <a:spLocks noChangeArrowheads="1"/>
              </p:cNvSpPr>
              <p:nvPr/>
            </p:nvSpPr>
            <p:spPr bwMode="auto">
              <a:xfrm>
                <a:off x="2880" y="108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Char char="•"/>
                </a:pPr>
                <a:r>
                  <a:rPr kumimoji="1" lang="en-US" altLang="zh-CN" sz="2400" b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 </a:t>
                </a: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pic>
            <p:nvPicPr>
              <p:cNvPr id="92" name="Picture 98" descr="香蕉2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" y="1872"/>
                <a:ext cx="972" cy="1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7" name="AutoShape 99"/>
            <p:cNvSpPr>
              <a:spLocks noChangeArrowheads="1"/>
            </p:cNvSpPr>
            <p:nvPr/>
          </p:nvSpPr>
          <p:spPr bwMode="auto">
            <a:xfrm>
              <a:off x="2976" y="1920"/>
              <a:ext cx="1056" cy="432"/>
            </a:xfrm>
            <a:prstGeom prst="wedgeEllipseCallout">
              <a:avLst>
                <a:gd name="adj1" fmla="val -55398"/>
                <a:gd name="adj2" fmla="val 74537"/>
              </a:avLst>
            </a:prstGeom>
            <a:solidFill>
              <a:srgbClr val="00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8" name="Text Box 100"/>
            <p:cNvSpPr txBox="1">
              <a:spLocks noChangeArrowheads="1"/>
            </p:cNvSpPr>
            <p:nvPr/>
          </p:nvSpPr>
          <p:spPr bwMode="auto">
            <a:xfrm>
              <a:off x="3110" y="2016"/>
              <a:ext cx="6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dirty="0" err="1">
                  <a:solidFill>
                    <a:srgbClr val="FFFF99"/>
                  </a:solidFill>
                  <a:latin typeface="Times New Roman" panose="02020603050405020304" pitchFamily="18" charset="0"/>
                </a:rPr>
                <a:t>Ha!Ha</a:t>
              </a:r>
              <a:r>
                <a:rPr kumimoji="1" lang="en-US" altLang="zh-CN" sz="2400" dirty="0">
                  <a:solidFill>
                    <a:srgbClr val="FFFF99"/>
                  </a:solidFill>
                  <a:latin typeface="Times New Roman" panose="02020603050405020304" pitchFamily="18" charset="0"/>
                </a:rPr>
                <a:t>!</a:t>
              </a:r>
              <a:endParaRPr kumimoji="1" lang="en-US" altLang="zh-CN" sz="2400" b="0" dirty="0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182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09610" y="1835786"/>
            <a:ext cx="6742994" cy="2664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solidFill>
                  <a:srgbClr val="010004"/>
                </a:solidFill>
                <a:latin typeface="+mn-ea"/>
              </a:rPr>
              <a:t>将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问题的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所有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状态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都表示出来，须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定义一组操作符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。</a:t>
            </a:r>
            <a:endParaRPr lang="en-US" altLang="zh-CN" sz="2000" b="1" dirty="0">
              <a:solidFill>
                <a:srgbClr val="010004"/>
              </a:solidFill>
              <a:latin typeface="+mn-ea"/>
            </a:endParaRPr>
          </a:p>
          <a:p>
            <a:pPr marL="268288" indent="-268288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求解过程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是一个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不断将操作符作用于状态的过程</a:t>
            </a:r>
            <a:endParaRPr lang="en-US" altLang="zh-CN" sz="2000" dirty="0">
              <a:solidFill>
                <a:srgbClr val="010004"/>
              </a:solidFill>
              <a:latin typeface="+mn-ea"/>
            </a:endParaRPr>
          </a:p>
          <a:p>
            <a:pPr marL="268288" indent="-268288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70000"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解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就是从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初始状态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到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目标状态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所采用的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操作符序列</a:t>
            </a:r>
            <a:endParaRPr lang="en-US" altLang="zh-CN" sz="2000" dirty="0">
              <a:solidFill>
                <a:srgbClr val="010004"/>
              </a:solidFill>
              <a:latin typeface="+mn-ea"/>
            </a:endParaRPr>
          </a:p>
          <a:p>
            <a:pPr marL="268288" indent="-268288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操作符最少的解</a:t>
            </a: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即为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最优解</a:t>
            </a:r>
            <a:endParaRPr lang="zh-CN" altLang="en-US" sz="2000" b="1" dirty="0">
              <a:solidFill>
                <a:srgbClr val="010004"/>
              </a:solidFill>
              <a:latin typeface="+mn-ea"/>
            </a:endParaRPr>
          </a:p>
          <a:p>
            <a:pPr marL="268288" indent="-268288">
              <a:lnSpc>
                <a:spcPts val="3200"/>
              </a:lnSpc>
              <a:buClr>
                <a:srgbClr val="FF0000"/>
              </a:buClr>
              <a:buSzPct val="80000"/>
            </a:pPr>
            <a:r>
              <a:rPr lang="zh-CN" altLang="en-US" sz="2000" b="1" dirty="0">
                <a:solidFill>
                  <a:srgbClr val="010004"/>
                </a:solidFill>
                <a:latin typeface="+mn-ea"/>
              </a:rPr>
              <a:t>对任一个状态，可使用的操作符可能不止一个。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91" y="1171007"/>
            <a:ext cx="2484677" cy="313777"/>
          </a:xfrm>
          <a:noFill/>
        </p:spPr>
        <p:txBody>
          <a:bodyPr lIns="0" tIns="0" rIns="0" bIns="0"/>
          <a:lstStyle/>
          <a:p>
            <a:pPr eaLnBrk="1" hangingPunct="1"/>
            <a:r>
              <a:rPr lang="zh-CN" altLang="en-US" sz="2000" b="1" dirty="0">
                <a:latin typeface="+mn-ea"/>
                <a:ea typeface="+mn-ea"/>
              </a:rPr>
              <a:t>状态空间表示法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小结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498872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0796" y="1087238"/>
            <a:ext cx="237626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问题归约表示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1831073"/>
            <a:ext cx="525658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</a:rPr>
              <a:t>另一种</a:t>
            </a:r>
            <a:r>
              <a:rPr lang="zh-CN" altLang="en-US" sz="2000" dirty="0">
                <a:latin typeface="+mn-ea"/>
                <a:ea typeface="+mn-ea"/>
              </a:rPr>
              <a:t>基于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状态空间</a:t>
            </a:r>
            <a:r>
              <a:rPr lang="zh-CN" altLang="zh-CN" sz="2000" dirty="0">
                <a:latin typeface="+mn-ea"/>
                <a:ea typeface="+mn-ea"/>
              </a:rPr>
              <a:t>的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问题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表示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与求解</a:t>
            </a:r>
            <a:r>
              <a:rPr lang="zh-CN" altLang="zh-CN" sz="2000" dirty="0">
                <a:latin typeface="+mn-ea"/>
                <a:ea typeface="+mn-ea"/>
              </a:rPr>
              <a:t>方法</a:t>
            </a:r>
            <a:endParaRPr lang="en-US" altLang="zh-CN" sz="2000" dirty="0">
              <a:latin typeface="+mn-ea"/>
              <a:ea typeface="+mn-ea"/>
            </a:endParaRPr>
          </a:p>
        </p:txBody>
      </p:sp>
      <p:sp>
        <p:nvSpPr>
          <p:cNvPr id="2" name="线形标注 2(带强调线) 1"/>
          <p:cNvSpPr/>
          <p:nvPr/>
        </p:nvSpPr>
        <p:spPr bwMode="auto">
          <a:xfrm flipH="1">
            <a:off x="5508104" y="3953776"/>
            <a:ext cx="2110453" cy="699360"/>
          </a:xfrm>
          <a:prstGeom prst="accentCallout2">
            <a:avLst>
              <a:gd name="adj1" fmla="val 18750"/>
              <a:gd name="adj2" fmla="val -2918"/>
              <a:gd name="adj3" fmla="val 18750"/>
              <a:gd name="adj4" fmla="val -16667"/>
              <a:gd name="adj5" fmla="val -173430"/>
              <a:gd name="adj6" fmla="val -16285"/>
            </a:avLst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不能再分解或变换，</a:t>
            </a:r>
            <a:endParaRPr lang="en-US" altLang="zh-CN" sz="20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直接有解的子问题。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6364" y="2348880"/>
            <a:ext cx="8060091" cy="2880320"/>
            <a:chOff x="647428" y="2348880"/>
            <a:chExt cx="8060091" cy="2880320"/>
          </a:xfrm>
        </p:grpSpPr>
        <p:pic>
          <p:nvPicPr>
            <p:cNvPr id="7" name="图片 6" descr="图片1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424" y="3429000"/>
              <a:ext cx="4316712" cy="18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矩形 7"/>
            <p:cNvSpPr/>
            <p:nvPr/>
          </p:nvSpPr>
          <p:spPr>
            <a:xfrm>
              <a:off x="647428" y="2348880"/>
              <a:ext cx="8060091" cy="82073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342900" indent="-342900">
                <a:lnSpc>
                  <a:spcPts val="32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zh-CN" sz="2000" dirty="0">
                  <a:solidFill>
                    <a:srgbClr val="FF0000"/>
                  </a:solidFill>
                  <a:latin typeface="+mn-ea"/>
                  <a:ea typeface="+mn-ea"/>
                </a:rPr>
                <a:t>基本思想</a:t>
              </a:r>
              <a:r>
                <a:rPr lang="zh-CN" altLang="zh-CN" sz="2000" dirty="0">
                  <a:latin typeface="+mn-ea"/>
                  <a:ea typeface="+mn-ea"/>
                </a:rPr>
                <a:t>：</a:t>
              </a:r>
              <a:r>
                <a:rPr lang="zh-CN" altLang="en-US" sz="2000" dirty="0">
                  <a:latin typeface="+mn-ea"/>
                  <a:ea typeface="+mn-ea"/>
                </a:rPr>
                <a:t>将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原始</a:t>
              </a:r>
              <a:r>
                <a:rPr lang="zh-CN" altLang="zh-CN" sz="2000" dirty="0">
                  <a:solidFill>
                    <a:srgbClr val="FF0000"/>
                  </a:solidFill>
                  <a:latin typeface="+mn-ea"/>
                  <a:ea typeface="+mn-ea"/>
                </a:rPr>
                <a:t>问题</a:t>
              </a:r>
              <a:r>
                <a:rPr lang="zh-CN" altLang="zh-CN" sz="2000" dirty="0">
                  <a:solidFill>
                    <a:srgbClr val="0000FF"/>
                  </a:solidFill>
                  <a:latin typeface="+mn-ea"/>
                  <a:ea typeface="+mn-ea"/>
                </a:rPr>
                <a:t>变</a:t>
              </a:r>
              <a:r>
                <a:rPr lang="zh-CN" altLang="en-US" sz="2000" dirty="0">
                  <a:solidFill>
                    <a:srgbClr val="0000FF"/>
                  </a:solidFill>
                  <a:latin typeface="+mn-ea"/>
                  <a:ea typeface="+mn-ea"/>
                </a:rPr>
                <a:t>换</a:t>
              </a:r>
              <a:r>
                <a:rPr lang="zh-CN" altLang="zh-CN" sz="2000" dirty="0">
                  <a:solidFill>
                    <a:srgbClr val="0000FF"/>
                  </a:solidFill>
                  <a:latin typeface="+mn-ea"/>
                  <a:ea typeface="+mn-ea"/>
                </a:rPr>
                <a:t>为</a:t>
              </a:r>
              <a:r>
                <a:rPr lang="zh-CN" altLang="zh-CN" sz="2000" dirty="0">
                  <a:latin typeface="+mn-ea"/>
                  <a:ea typeface="+mn-ea"/>
                </a:rPr>
                <a:t>一个</a:t>
              </a:r>
              <a:r>
                <a:rPr lang="zh-CN" altLang="zh-CN" sz="2000" dirty="0">
                  <a:solidFill>
                    <a:srgbClr val="FF0000"/>
                  </a:solidFill>
                  <a:latin typeface="+mn-ea"/>
                  <a:ea typeface="+mn-ea"/>
                </a:rPr>
                <a:t>子问题集合</a:t>
              </a:r>
              <a:r>
                <a:rPr lang="zh-CN" altLang="zh-CN" sz="2000" dirty="0">
                  <a:latin typeface="+mn-ea"/>
                  <a:ea typeface="+mn-ea"/>
                </a:rPr>
                <a:t>，</a:t>
              </a:r>
              <a:r>
                <a:rPr lang="zh-CN" altLang="en-US" sz="2000" dirty="0">
                  <a:latin typeface="+mn-ea"/>
                  <a:ea typeface="+mn-ea"/>
                </a:rPr>
                <a:t>若</a:t>
              </a:r>
              <a:r>
                <a:rPr lang="zh-CN" altLang="zh-CN" sz="2000" dirty="0">
                  <a:latin typeface="+mn-ea"/>
                  <a:ea typeface="+mn-ea"/>
                </a:rPr>
                <a:t>这些</a:t>
              </a:r>
              <a:r>
                <a:rPr lang="zh-CN" altLang="zh-CN" sz="2000" dirty="0">
                  <a:solidFill>
                    <a:srgbClr val="FF0000"/>
                  </a:solidFill>
                  <a:latin typeface="+mn-ea"/>
                  <a:ea typeface="+mn-ea"/>
                </a:rPr>
                <a:t>子问题的解</a:t>
              </a:r>
              <a:r>
                <a:rPr lang="zh-CN" altLang="zh-CN" sz="2000" dirty="0">
                  <a:solidFill>
                    <a:srgbClr val="0000FF"/>
                  </a:solidFill>
                  <a:latin typeface="+mn-ea"/>
                  <a:ea typeface="+mn-ea"/>
                </a:rPr>
                <a:t>可直接得到</a:t>
              </a:r>
              <a:r>
                <a:rPr lang="en-US" altLang="zh-CN" sz="2000" dirty="0">
                  <a:latin typeface="+mn-ea"/>
                  <a:ea typeface="+mn-ea"/>
                </a:rPr>
                <a:t>(</a:t>
              </a:r>
              <a:r>
                <a:rPr lang="zh-CN" altLang="zh-CN" sz="2000" dirty="0">
                  <a:latin typeface="+mn-ea"/>
                  <a:ea typeface="+mn-ea"/>
                </a:rPr>
                <a:t>本原问题</a:t>
              </a:r>
              <a:r>
                <a:rPr lang="en-US" altLang="zh-CN" sz="2000" dirty="0">
                  <a:latin typeface="+mn-ea"/>
                  <a:ea typeface="+mn-ea"/>
                </a:rPr>
                <a:t>)</a:t>
              </a:r>
              <a:r>
                <a:rPr lang="zh-CN" altLang="zh-CN" sz="2000" dirty="0">
                  <a:latin typeface="+mn-ea"/>
                  <a:ea typeface="+mn-ea"/>
                </a:rPr>
                <a:t>，</a:t>
              </a:r>
              <a:r>
                <a:rPr lang="zh-CN" altLang="en-US" sz="2000" dirty="0">
                  <a:latin typeface="+mn-ea"/>
                  <a:ea typeface="+mn-ea"/>
                </a:rPr>
                <a:t>则原始</a:t>
              </a:r>
              <a:r>
                <a:rPr lang="zh-CN" altLang="zh-CN" sz="2000" dirty="0">
                  <a:latin typeface="+mn-ea"/>
                  <a:ea typeface="+mn-ea"/>
                </a:rPr>
                <a:t>问题</a:t>
              </a:r>
              <a:r>
                <a:rPr lang="zh-CN" altLang="en-US" sz="2000" dirty="0">
                  <a:latin typeface="+mn-ea"/>
                  <a:ea typeface="+mn-ea"/>
                </a:rPr>
                <a:t>得到解决</a:t>
              </a:r>
              <a:r>
                <a:rPr lang="zh-CN" altLang="zh-CN" sz="2000" dirty="0">
                  <a:latin typeface="+mn-ea"/>
                  <a:ea typeface="+mn-ea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992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468" y="1773629"/>
            <a:ext cx="5310212" cy="1672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元组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S,F,G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000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20725" indent="-277813" algn="just">
              <a:lnSpc>
                <a:spcPts val="3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一个初始问题描述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</a:p>
          <a:p>
            <a:pPr marL="720725" indent="-277813" algn="just">
              <a:lnSpc>
                <a:spcPts val="3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一套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将原始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问题变换为子问题的操作符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</a:p>
          <a:p>
            <a:pPr marL="720725" indent="-277813" algn="just">
              <a:lnSpc>
                <a:spcPts val="3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一套本原问题描述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lang="zh-CN" altLang="en-US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7937" y="1167771"/>
            <a:ext cx="290747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⑴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、问题归约表示的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构成</a:t>
            </a:r>
            <a:endParaRPr lang="zh-CN" altLang="zh-CN" sz="2000" kern="1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937" y="3744540"/>
            <a:ext cx="8021096" cy="130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3200"/>
              </a:lnSpc>
              <a:spcAft>
                <a:spcPts val="600"/>
              </a:spcAft>
            </a:pP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⑵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、问题归约的</a:t>
            </a:r>
            <a:r>
              <a:rPr lang="zh-CN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实质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（分而治之）</a:t>
            </a:r>
            <a:endParaRPr lang="en-US" altLang="zh-CN" sz="2000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从目标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需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解决的问题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出发</a:t>
            </a:r>
            <a:r>
              <a:rPr lang="zh-CN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逆向推理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，建立子问题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、子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子问题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、子子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子问题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，直到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en-US" sz="20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原始</a:t>
            </a:r>
            <a:r>
              <a:rPr lang="zh-CN" altLang="zh-CN" sz="20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归约为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一个</a:t>
            </a:r>
            <a:r>
              <a:rPr lang="zh-CN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本原问题集合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6876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1157265"/>
            <a:ext cx="536480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⑶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、问题归约</a:t>
            </a:r>
            <a:r>
              <a:rPr lang="zh-CN" altLang="en-US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举例 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- 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梵塔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汉诺塔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0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Hanoi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11560" y="1835532"/>
            <a:ext cx="7560840" cy="1953508"/>
            <a:chOff x="611560" y="1835532"/>
            <a:chExt cx="7297853" cy="1953508"/>
          </a:xfrm>
        </p:grpSpPr>
        <p:sp>
          <p:nvSpPr>
            <p:cNvPr id="6" name="矩形 5"/>
            <p:cNvSpPr/>
            <p:nvPr/>
          </p:nvSpPr>
          <p:spPr>
            <a:xfrm>
              <a:off x="611560" y="1835532"/>
              <a:ext cx="7297853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342900" indent="-342900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要求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zh-CN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从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柱</a:t>
              </a:r>
              <a:r>
                <a:rPr lang="en-US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zh-CN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移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动</a:t>
              </a:r>
              <a:r>
                <a:rPr lang="zh-CN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到</a:t>
              </a:r>
              <a:r>
                <a:rPr lang="en-US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，</a:t>
              </a:r>
              <a:r>
                <a:rPr lang="zh-CN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每次移动一个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圆盘，</a:t>
              </a:r>
              <a:r>
                <a:rPr lang="zh-CN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大盘在下小盘在上。</a:t>
              </a:r>
            </a:p>
          </p:txBody>
        </p:sp>
        <p:pic>
          <p:nvPicPr>
            <p:cNvPr id="7" name="图片 6" descr="图片1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117" y="2420888"/>
              <a:ext cx="5616624" cy="13681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矩形 8"/>
          <p:cNvSpPr/>
          <p:nvPr/>
        </p:nvSpPr>
        <p:spPr>
          <a:xfrm>
            <a:off x="611560" y="3933056"/>
            <a:ext cx="7416824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原始问题可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归约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个子问题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子问题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移动圆盘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至柱子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双圆盘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（借助柱子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子问题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移动圆盘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至柱子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单圆盘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直接有解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zh-CN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子问题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将圆盘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移至柱子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双圆盘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（借助柱子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6751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右箭头 1"/>
          <p:cNvSpPr/>
          <p:nvPr/>
        </p:nvSpPr>
        <p:spPr bwMode="auto">
          <a:xfrm>
            <a:off x="6372200" y="1556792"/>
            <a:ext cx="216024" cy="14401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右箭头 10"/>
          <p:cNvSpPr/>
          <p:nvPr/>
        </p:nvSpPr>
        <p:spPr bwMode="auto">
          <a:xfrm>
            <a:off x="6372200" y="3183323"/>
            <a:ext cx="216024" cy="14401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右箭头 11"/>
          <p:cNvSpPr/>
          <p:nvPr/>
        </p:nvSpPr>
        <p:spPr bwMode="auto">
          <a:xfrm>
            <a:off x="6336350" y="5229200"/>
            <a:ext cx="216024" cy="14401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51520" y="446293"/>
            <a:ext cx="8496944" cy="1758571"/>
            <a:chOff x="251520" y="503136"/>
            <a:chExt cx="8496944" cy="1758571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251520" y="503136"/>
              <a:ext cx="446449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子问题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：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移动圆盘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A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至柱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2</a:t>
              </a:r>
              <a:r>
                <a:rPr lang="en-US" altLang="zh-CN" sz="2000" b="1" dirty="0">
                  <a:latin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借柱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3</a:t>
              </a:r>
              <a:r>
                <a:rPr lang="en-US" altLang="zh-CN" sz="2000" b="1" dirty="0">
                  <a:latin typeface="+mn-ea"/>
                  <a:cs typeface="Times New Roman" panose="02020603050405020304" pitchFamily="18" charset="0"/>
                </a:rPr>
                <a:t>) </a:t>
              </a:r>
              <a:endParaRPr lang="en-US" altLang="zh-CN" sz="20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2041" y="988191"/>
              <a:ext cx="4180666" cy="1273516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 bwMode="auto">
            <a:xfrm>
              <a:off x="251520" y="503136"/>
              <a:ext cx="8496944" cy="1701728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51520" y="2491652"/>
            <a:ext cx="8496944" cy="1513412"/>
            <a:chOff x="251520" y="2491652"/>
            <a:chExt cx="8496944" cy="1513412"/>
          </a:xfrm>
        </p:grpSpPr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259763" y="2492433"/>
              <a:ext cx="309634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子问题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</a:t>
              </a: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：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移动圆盘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C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至柱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3</a:t>
              </a:r>
              <a:endPara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2082" y="2721053"/>
              <a:ext cx="4184560" cy="1284011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 bwMode="auto">
            <a:xfrm>
              <a:off x="251520" y="2491652"/>
              <a:ext cx="8496944" cy="144140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1520" y="4293096"/>
            <a:ext cx="8508494" cy="1804521"/>
            <a:chOff x="251520" y="4320522"/>
            <a:chExt cx="8508494" cy="1804521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51520" y="4325034"/>
              <a:ext cx="446449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子问题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3</a:t>
              </a: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：</a:t>
              </a:r>
              <a:r>
                <a:rPr lang="zh-CN" altLang="en-US" sz="2000" dirty="0">
                  <a:cs typeface="Times New Roman" panose="02020603050405020304" pitchFamily="18" charset="0"/>
                </a:rPr>
                <a:t>移动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圆盘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A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至柱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3</a:t>
              </a:r>
              <a:r>
                <a:rPr lang="en-US" altLang="zh-CN" sz="2000" b="1" dirty="0">
                  <a:latin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借柱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1</a:t>
              </a:r>
              <a:r>
                <a:rPr lang="en-US" altLang="zh-CN" sz="2000" b="1" dirty="0">
                  <a:latin typeface="+mn-ea"/>
                  <a:cs typeface="Times New Roman" panose="02020603050405020304" pitchFamily="18" charset="0"/>
                </a:rPr>
                <a:t>)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 </a:t>
              </a:r>
              <a:endPara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2082" y="4797152"/>
              <a:ext cx="4184560" cy="1327891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 bwMode="auto">
            <a:xfrm>
              <a:off x="263070" y="4320522"/>
              <a:ext cx="8496944" cy="1772773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801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55860" y="1167771"/>
            <a:ext cx="244827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归约过程（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个圆盘）</a:t>
            </a:r>
          </a:p>
        </p:txBody>
      </p:sp>
      <p:pic>
        <p:nvPicPr>
          <p:cNvPr id="7" name="图片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32856"/>
            <a:ext cx="7848872" cy="3456384"/>
          </a:xfrm>
          <a:prstGeom prst="rect">
            <a:avLst/>
          </a:prstGeom>
          <a:noFill/>
        </p:spPr>
      </p:pic>
      <p:grpSp>
        <p:nvGrpSpPr>
          <p:cNvPr id="3" name="组合 2"/>
          <p:cNvGrpSpPr/>
          <p:nvPr/>
        </p:nvGrpSpPr>
        <p:grpSpPr>
          <a:xfrm>
            <a:off x="323528" y="1772816"/>
            <a:ext cx="8568952" cy="3204356"/>
            <a:chOff x="323528" y="1772816"/>
            <a:chExt cx="8568952" cy="3204356"/>
          </a:xfrm>
        </p:grpSpPr>
        <p:sp>
          <p:nvSpPr>
            <p:cNvPr id="2" name="矩形 1"/>
            <p:cNvSpPr/>
            <p:nvPr/>
          </p:nvSpPr>
          <p:spPr bwMode="auto">
            <a:xfrm>
              <a:off x="1717153" y="1772816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111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4404716" y="1772816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113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6876256" y="1772816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123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323528" y="3284984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122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3203848" y="3284984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0000"/>
                  </a:solidFill>
                </a:rPr>
                <a:t>322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8172400" y="3284984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0000"/>
                  </a:solidFill>
                </a:rPr>
                <a:t>32</a:t>
              </a: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323528" y="4617132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0000"/>
                  </a:solidFill>
                </a:rPr>
                <a:t>33</a:t>
              </a: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6372200" y="4587532"/>
              <a:ext cx="72008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FF0000"/>
                  </a:solidFill>
                </a:rPr>
                <a:t>333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05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gray">
          <a:xfrm>
            <a:off x="261955" y="350768"/>
            <a:ext cx="2748880" cy="37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  <a:latin typeface="+mn-ea"/>
              </a:rPr>
              <a:t>梵塔问题归约图</a:t>
            </a:r>
            <a:r>
              <a:rPr lang="en-US" altLang="zh-CN" b="1" dirty="0">
                <a:solidFill>
                  <a:schemeClr val="tx2"/>
                </a:solidFill>
                <a:latin typeface="+mn-ea"/>
              </a:rPr>
              <a:t>:</a:t>
            </a:r>
            <a:endParaRPr lang="zh-CN" altLang="en-US" b="1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386" y="2492896"/>
            <a:ext cx="7548360" cy="428493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563888" y="253323"/>
            <a:ext cx="5184576" cy="1087445"/>
            <a:chOff x="3563888" y="253323"/>
            <a:chExt cx="5184576" cy="1087445"/>
          </a:xfrm>
        </p:grpSpPr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3563888" y="253323"/>
              <a:ext cx="518457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子问题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：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移动圆盘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A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至柱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2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（借柱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3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）</a:t>
              </a:r>
              <a:endParaRPr lang="en-US" altLang="zh-CN" sz="2000" b="1" dirty="0">
                <a:cs typeface="Times New Roman" panose="02020603050405020304" pitchFamily="18" charset="0"/>
              </a:endParaRPr>
            </a:p>
          </p:txBody>
        </p:sp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3563889" y="639807"/>
              <a:ext cx="316835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子问题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</a:t>
              </a: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：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移动圆盘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C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至柱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3</a:t>
              </a:r>
              <a:endParaRPr lang="zh-CN" altLang="en-US" sz="2000" b="1" dirty="0">
                <a:cs typeface="Times New Roman" panose="02020603050405020304" pitchFamily="18" charset="0"/>
              </a:endParaRPr>
            </a:p>
          </p:txBody>
        </p:sp>
        <p:sp>
          <p:nvSpPr>
            <p:cNvPr id="31" name="Text Box 9"/>
            <p:cNvSpPr txBox="1">
              <a:spLocks noChangeArrowheads="1"/>
            </p:cNvSpPr>
            <p:nvPr/>
          </p:nvSpPr>
          <p:spPr bwMode="auto">
            <a:xfrm>
              <a:off x="3563888" y="1026292"/>
              <a:ext cx="5184576" cy="314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子问题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3</a:t>
              </a:r>
              <a:r>
                <a:rPr lang="zh-CN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：</a:t>
              </a:r>
              <a:r>
                <a:rPr lang="zh-CN" altLang="en-US" sz="2000" dirty="0">
                  <a:cs typeface="Times New Roman" panose="02020603050405020304" pitchFamily="18" charset="0"/>
                </a:rPr>
                <a:t>将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圆盘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A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、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移至柱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3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（借柱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1</a:t>
              </a:r>
              <a:r>
                <a:rPr lang="zh-CN" altLang="en-US" sz="2000" b="1" dirty="0">
                  <a:cs typeface="Times New Roman" panose="02020603050405020304" pitchFamily="18" charset="0"/>
                </a:rPr>
                <a:t>）</a:t>
              </a:r>
              <a:endParaRPr lang="en-US" altLang="zh-CN" sz="2000" b="1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0963" y="1479087"/>
            <a:ext cx="8640989" cy="1528824"/>
            <a:chOff x="70963" y="1479087"/>
            <a:chExt cx="8640989" cy="1528824"/>
          </a:xfrm>
        </p:grpSpPr>
        <p:grpSp>
          <p:nvGrpSpPr>
            <p:cNvPr id="20" name="组合 19"/>
            <p:cNvGrpSpPr/>
            <p:nvPr/>
          </p:nvGrpSpPr>
          <p:grpSpPr>
            <a:xfrm>
              <a:off x="70963" y="1479087"/>
              <a:ext cx="4248501" cy="764641"/>
              <a:chOff x="70963" y="1407079"/>
              <a:chExt cx="4248501" cy="764641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5536" y="1559423"/>
                <a:ext cx="3923928" cy="612297"/>
              </a:xfrm>
              <a:prstGeom prst="rect">
                <a:avLst/>
              </a:prstGeom>
            </p:spPr>
          </p:pic>
          <p:sp>
            <p:nvSpPr>
              <p:cNvPr id="32" name="椭圆 31"/>
              <p:cNvSpPr/>
              <p:nvPr/>
            </p:nvSpPr>
            <p:spPr bwMode="auto">
              <a:xfrm>
                <a:off x="70963" y="1407079"/>
                <a:ext cx="395536" cy="458492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①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4518248" y="1491484"/>
              <a:ext cx="4193704" cy="752244"/>
              <a:chOff x="4518248" y="1419476"/>
              <a:chExt cx="4193704" cy="752244"/>
            </a:xfrm>
          </p:grpSpPr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16016" y="1559423"/>
                <a:ext cx="3995936" cy="612297"/>
              </a:xfrm>
              <a:prstGeom prst="rect">
                <a:avLst/>
              </a:prstGeom>
            </p:spPr>
          </p:pic>
          <p:sp>
            <p:nvSpPr>
              <p:cNvPr id="26" name="椭圆 25"/>
              <p:cNvSpPr/>
              <p:nvPr/>
            </p:nvSpPr>
            <p:spPr bwMode="auto">
              <a:xfrm>
                <a:off x="4518248" y="1419476"/>
                <a:ext cx="395536" cy="458492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③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9167" y="2348881"/>
              <a:ext cx="2970665" cy="659030"/>
              <a:chOff x="102815" y="2996952"/>
              <a:chExt cx="3029025" cy="802593"/>
            </a:xfrm>
          </p:grpSpPr>
          <p:sp>
            <p:nvSpPr>
              <p:cNvPr id="23" name="椭圆 22"/>
              <p:cNvSpPr/>
              <p:nvPr/>
            </p:nvSpPr>
            <p:spPr bwMode="auto">
              <a:xfrm>
                <a:off x="102815" y="2996952"/>
                <a:ext cx="395536" cy="458492"/>
              </a:xfrm>
              <a:prstGeom prst="ellips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②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544" y="3122262"/>
                <a:ext cx="2664296" cy="677283"/>
              </a:xfrm>
              <a:prstGeom prst="rect">
                <a:avLst/>
              </a:prstGeom>
            </p:spPr>
          </p:pic>
        </p:grpSp>
      </p:grpSp>
      <p:sp>
        <p:nvSpPr>
          <p:cNvPr id="3" name="动作按钮: 前进或下一项 2">
            <a:hlinkClick r:id="rId6" action="ppaction://hlinksldjump" highlightClick="1"/>
          </p:cNvPr>
          <p:cNvSpPr/>
          <p:nvPr/>
        </p:nvSpPr>
        <p:spPr bwMode="auto">
          <a:xfrm>
            <a:off x="323528" y="6381328"/>
            <a:ext cx="216024" cy="216024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53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36" y="2288238"/>
            <a:ext cx="3978812" cy="21209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428" y="2288238"/>
            <a:ext cx="3978812" cy="212090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74332" y="1177007"/>
            <a:ext cx="368164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演示：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圆盘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(3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阶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圆盘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(4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阶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20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6226" y="1090279"/>
            <a:ext cx="518457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思考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阶梵塔问题移动圆盘的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次数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？</a:t>
            </a:r>
            <a:endParaRPr lang="zh-CN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56226" y="1887254"/>
            <a:ext cx="4362647" cy="956912"/>
            <a:chOff x="656226" y="1887254"/>
            <a:chExt cx="4362647" cy="956912"/>
          </a:xfrm>
        </p:grpSpPr>
        <p:pic>
          <p:nvPicPr>
            <p:cNvPr id="5" name="4disk.avi">
              <a:hlinkClick r:id="" action="ppaction://media"/>
            </p:cNvPr>
            <p:cNvPicPr>
              <a:picLocks noRot="1" noChangeAspect="1" noChangeArrowheads="1"/>
            </p:cNvPicPr>
            <p:nvPr>
              <a:videoFile r:link="rId1"/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226" y="1888231"/>
              <a:ext cx="2071193" cy="955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5disk.avi">
              <a:hlinkClick r:id="" action="ppaction://media"/>
            </p:cNvPr>
            <p:cNvPicPr>
              <a:picLocks noRot="1" noChangeAspect="1" noChangeArrowheads="1"/>
            </p:cNvPicPr>
            <p:nvPr>
              <a:videoFile r:link="rId2"/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5816" y="1887254"/>
              <a:ext cx="2103057" cy="955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83500" y="3068960"/>
            <a:ext cx="393537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提示：</a:t>
            </a:r>
            <a:r>
              <a:rPr lang="zh-CN" altLang="en-US" sz="2000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离散数学 母函数和递推关系</a:t>
            </a:r>
          </a:p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h(1)=1</a:t>
            </a:r>
          </a:p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h(n)=2h(n-1)+1</a:t>
            </a:r>
          </a:p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H(x)=h(1)</a:t>
            </a:r>
            <a:r>
              <a:rPr lang="en-US" altLang="zh-CN" sz="2000" dirty="0" err="1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x+h</a:t>
            </a: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(2)x</a:t>
            </a:r>
            <a:r>
              <a:rPr lang="en-US" altLang="zh-CN" sz="2000" baseline="30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+…</a:t>
            </a:r>
          </a:p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最终求出： </a:t>
            </a: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h(n)=2</a:t>
            </a:r>
            <a:r>
              <a:rPr lang="en-US" altLang="zh-CN" sz="2000" baseline="30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chemeClr val="tx2"/>
                </a:solidFill>
                <a:ea typeface="+mn-ea"/>
                <a:cs typeface="Times New Roman" panose="02020603050405020304" pitchFamily="18" charset="0"/>
              </a:rPr>
              <a:t>-1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802" y="2132856"/>
            <a:ext cx="235598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4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638033" y="1154276"/>
            <a:ext cx="21245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、与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或图表示法</a:t>
            </a:r>
          </a:p>
        </p:txBody>
      </p:sp>
      <p:sp>
        <p:nvSpPr>
          <p:cNvPr id="5" name="矩形 4"/>
          <p:cNvSpPr/>
          <p:nvPr/>
        </p:nvSpPr>
        <p:spPr>
          <a:xfrm>
            <a:off x="610373" y="1739079"/>
            <a:ext cx="7994075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不同的知识表示，有不同的</a:t>
            </a: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形式化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知识模型。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如：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控制论中“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”方法，对知识模型进行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变换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简化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，可更简洁的表达知识，易于问题求解。</a:t>
            </a:r>
          </a:p>
        </p:txBody>
      </p:sp>
      <p:pic>
        <p:nvPicPr>
          <p:cNvPr id="2355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140968"/>
            <a:ext cx="4397771" cy="267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7542635" y="3800073"/>
            <a:ext cx="594661" cy="1418619"/>
            <a:chOff x="7762429" y="3919409"/>
            <a:chExt cx="594661" cy="1418619"/>
          </a:xfrm>
        </p:grpSpPr>
        <p:sp>
          <p:nvSpPr>
            <p:cNvPr id="2" name="椭圆 1"/>
            <p:cNvSpPr/>
            <p:nvPr/>
          </p:nvSpPr>
          <p:spPr bwMode="auto">
            <a:xfrm>
              <a:off x="7781026" y="3919409"/>
              <a:ext cx="576064" cy="400984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7762429" y="4937044"/>
              <a:ext cx="576064" cy="400984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1504920" y="4092817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复杂问题的简化</a:t>
            </a:r>
          </a:p>
        </p:txBody>
      </p:sp>
      <p:sp>
        <p:nvSpPr>
          <p:cNvPr id="7" name="动作按钮: 后退或前一项 6">
            <a:hlinkClick r:id="rId3" action="ppaction://hlinksldjump" highlightClick="1"/>
          </p:cNvPr>
          <p:cNvSpPr/>
          <p:nvPr/>
        </p:nvSpPr>
        <p:spPr bwMode="auto">
          <a:xfrm>
            <a:off x="8460432" y="5805264"/>
            <a:ext cx="242767" cy="216024"/>
          </a:xfrm>
          <a:prstGeom prst="actionButtonBackPrevio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37166" y="1727638"/>
            <a:ext cx="7300738" cy="4077626"/>
            <a:chOff x="637166" y="1727638"/>
            <a:chExt cx="7300738" cy="4077626"/>
          </a:xfrm>
        </p:grpSpPr>
        <p:sp>
          <p:nvSpPr>
            <p:cNvPr id="4" name="矩形 3"/>
            <p:cNvSpPr/>
            <p:nvPr/>
          </p:nvSpPr>
          <p:spPr>
            <a:xfrm>
              <a:off x="637166" y="1727638"/>
              <a:ext cx="7300738" cy="9233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361950" indent="-361950" algn="just">
                <a:lnSpc>
                  <a:spcPct val="150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分解：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将</a:t>
              </a:r>
              <a:r>
                <a:rPr lang="zh-CN" altLang="en-US" sz="2000" u="wavyDbl" dirty="0">
                  <a:latin typeface="+mn-ea"/>
                  <a:ea typeface="+mn-ea"/>
                  <a:cs typeface="Times New Roman" panose="02020603050405020304" pitchFamily="18" charset="0"/>
                </a:rPr>
                <a:t>复杂问题</a:t>
              </a:r>
              <a:r>
                <a:rPr lang="zh-CN" altLang="en-US" sz="2000" dirty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分解为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若干简单的子问题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，形成“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与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”树。</a:t>
              </a:r>
              <a:endParaRPr lang="en-US" altLang="zh-CN" sz="2000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marL="361950" indent="-361950" algn="just">
                <a:lnSpc>
                  <a:spcPct val="150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特点：</a:t>
              </a:r>
              <a:r>
                <a:rPr lang="zh-CN" altLang="en-US" sz="2000" dirty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各子问题之间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是“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与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</a:rPr>
                <a:t>”的逻辑关系。</a:t>
              </a:r>
              <a:endParaRPr lang="en-US" altLang="zh-CN" sz="2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24579" name="图片 6" descr="E:\教学\人工智能\pic\与树问题分解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5070" y="2996952"/>
              <a:ext cx="5190782" cy="2808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矩形 6"/>
          <p:cNvSpPr/>
          <p:nvPr/>
        </p:nvSpPr>
        <p:spPr>
          <a:xfrm>
            <a:off x="2455070" y="784419"/>
            <a:ext cx="6220618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6213" indent="-176213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或图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是一种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超图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，通常为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树图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形式，也称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或树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”。</a:t>
            </a:r>
            <a:endParaRPr lang="en-US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76213" indent="-176213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基于求解问题的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两种思维方法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分解、变换</a:t>
            </a:r>
            <a:endParaRPr lang="zh-CN" altLang="en-US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"/>
          <p:cNvSpPr>
            <a:spLocks noChangeArrowheads="1"/>
          </p:cNvSpPr>
          <p:nvPr/>
        </p:nvSpPr>
        <p:spPr bwMode="auto">
          <a:xfrm>
            <a:off x="610372" y="1808237"/>
            <a:ext cx="8138091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indent="-271463" algn="just">
              <a:lnSpc>
                <a:spcPts val="3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变换：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将一个问题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变换为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若干个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等价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等效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的新问题，形成“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”树。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1463" indent="-271463" algn="just">
              <a:lnSpc>
                <a:spcPts val="3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特点：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各新问题之间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是“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”的逻辑关系。若一个新问题可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等价变换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33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几个容易的子问题，其中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任何一个子问题可解决，原有问题</a:t>
            </a:r>
            <a:endParaRPr lang="en-US" altLang="zh-CN" sz="2000" u="wavyDbl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3300"/>
              </a:lnSpc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即被解决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5604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284984"/>
            <a:ext cx="4648126" cy="268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gray">
          <a:xfrm>
            <a:off x="630033" y="1143216"/>
            <a:ext cx="1565704" cy="36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与或图表示：</a:t>
            </a:r>
          </a:p>
        </p:txBody>
      </p:sp>
      <p:sp>
        <p:nvSpPr>
          <p:cNvPr id="9" name="Text Box 48"/>
          <p:cNvSpPr txBox="1">
            <a:spLocks noChangeArrowheads="1"/>
          </p:cNvSpPr>
          <p:nvPr/>
        </p:nvSpPr>
        <p:spPr bwMode="auto">
          <a:xfrm>
            <a:off x="2121895" y="4844566"/>
            <a:ext cx="96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atin typeface="+mn-ea"/>
              </a:rPr>
              <a:t>与或图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581483"/>
            <a:ext cx="3267190" cy="212392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355976" y="1844824"/>
            <a:ext cx="4370053" cy="3829807"/>
            <a:chOff x="4355976" y="2048607"/>
            <a:chExt cx="4370053" cy="3829807"/>
          </a:xfrm>
        </p:grpSpPr>
        <p:sp>
          <p:nvSpPr>
            <p:cNvPr id="8" name="Text Box 47"/>
            <p:cNvSpPr txBox="1">
              <a:spLocks noChangeArrowheads="1"/>
            </p:cNvSpPr>
            <p:nvPr/>
          </p:nvSpPr>
          <p:spPr bwMode="auto">
            <a:xfrm>
              <a:off x="5652120" y="5481539"/>
              <a:ext cx="2801181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latin typeface="+mn-ea"/>
                </a:rPr>
                <a:t>子问题替代集合结构图</a:t>
              </a:r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040" y="2048607"/>
              <a:ext cx="3793989" cy="3195996"/>
            </a:xfrm>
            <a:prstGeom prst="rect">
              <a:avLst/>
            </a:prstGeom>
          </p:spPr>
        </p:pic>
        <p:cxnSp>
          <p:nvCxnSpPr>
            <p:cNvPr id="3" name="直接箭头连接符 2"/>
            <p:cNvCxnSpPr/>
            <p:nvPr/>
          </p:nvCxnSpPr>
          <p:spPr bwMode="auto">
            <a:xfrm>
              <a:off x="4355976" y="2996952"/>
              <a:ext cx="864096" cy="0"/>
            </a:xfrm>
            <a:prstGeom prst="straightConnector1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291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gray">
          <a:xfrm>
            <a:off x="665096" y="1152452"/>
            <a:ext cx="1800200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与或图的术语：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930345"/>
            <a:ext cx="6624736" cy="500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80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/>
        </p:nvSpPr>
        <p:spPr bwMode="gray">
          <a:xfrm>
            <a:off x="647173" y="1162407"/>
            <a:ext cx="2115391" cy="32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与或图的</a:t>
            </a:r>
            <a:r>
              <a:rPr lang="zh-CN" altLang="en-US" sz="2000" dirty="0">
                <a:solidFill>
                  <a:schemeClr val="tx2"/>
                </a:solidFill>
                <a:latin typeface="+mn-ea"/>
              </a:rPr>
              <a:t>构成规则</a:t>
            </a:r>
            <a:endParaRPr lang="zh-CN" altLang="en-US" sz="20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/>
        </p:nvSpPr>
        <p:spPr bwMode="gray">
          <a:xfrm>
            <a:off x="620197" y="1791305"/>
            <a:ext cx="6112043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代表要解决的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单一问题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问题集合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起始节点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对应原始问题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791305"/>
            <a:ext cx="3384375" cy="3180593"/>
          </a:xfrm>
          <a:prstGeom prst="rect">
            <a:avLst/>
          </a:prstGeom>
        </p:spPr>
      </p:pic>
      <p:sp>
        <p:nvSpPr>
          <p:cNvPr id="5" name="Rectangle 3"/>
          <p:cNvSpPr>
            <a:spLocks noGrp="1" noChangeArrowheads="1"/>
          </p:cNvSpPr>
          <p:nvPr/>
        </p:nvSpPr>
        <p:spPr bwMode="gray">
          <a:xfrm>
            <a:off x="616143" y="2718164"/>
            <a:ext cx="5044614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本原问题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的节点，称为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终叶节点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没有后继节点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 bwMode="gray">
          <a:xfrm>
            <a:off x="616143" y="3645024"/>
            <a:ext cx="4536504" cy="129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ts val="3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控制符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作用问题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，将问题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变换为一个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子问题集合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有向弧线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指向后继节点，表示求得的</a:t>
            </a:r>
            <a:r>
              <a:rPr lang="zh-CN" altLang="en-US" sz="2000" u="wavyDbl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子问题集合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557079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gray">
          <a:xfrm>
            <a:off x="629251" y="1844824"/>
            <a:ext cx="8047205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  <a:latin typeface="+mn-ea"/>
              </a:rPr>
              <a:t>与或图搜索：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目的</a:t>
            </a:r>
            <a:r>
              <a:rPr lang="zh-CN" altLang="en-US" sz="2000" b="1" dirty="0">
                <a:latin typeface="+mn-ea"/>
              </a:rPr>
              <a:t>在于表明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起始节点有解</a:t>
            </a:r>
            <a:r>
              <a:rPr lang="zh-CN" altLang="en-US" sz="2000" b="1" dirty="0">
                <a:latin typeface="+mn-ea"/>
              </a:rPr>
              <a:t>（原始问题可解）</a:t>
            </a: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可解</a:t>
            </a:r>
            <a:r>
              <a:rPr lang="zh-CN" altLang="en-US" b="1" dirty="0">
                <a:solidFill>
                  <a:schemeClr val="tx2"/>
                </a:solidFill>
                <a:latin typeface="+mn-ea"/>
              </a:rPr>
              <a:t>节点</a:t>
            </a: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（判别）</a:t>
            </a:r>
          </a:p>
          <a:p>
            <a:pPr lvl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终叶节点</a:t>
            </a:r>
            <a:r>
              <a:rPr lang="zh-CN" altLang="en-US" sz="2000" b="1" dirty="0">
                <a:latin typeface="+mn-ea"/>
              </a:rPr>
              <a:t>是可解节点（对应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本原问题</a:t>
            </a:r>
            <a:r>
              <a:rPr lang="zh-CN" altLang="en-US" sz="2000" b="1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若某个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非终叶节点</a:t>
            </a:r>
            <a:r>
              <a:rPr lang="zh-CN" altLang="en-US" sz="2000" dirty="0">
                <a:latin typeface="+mn-ea"/>
              </a:rPr>
              <a:t>含有“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与</a:t>
            </a:r>
            <a:r>
              <a:rPr lang="zh-CN" altLang="en-US" sz="2000" dirty="0">
                <a:latin typeface="+mn-ea"/>
              </a:rPr>
              <a:t>”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后继节点</a:t>
            </a:r>
            <a:r>
              <a:rPr lang="zh-CN" altLang="en-US" sz="2000" dirty="0">
                <a:latin typeface="+mn-ea"/>
              </a:rPr>
              <a:t>，则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要求</a:t>
            </a:r>
            <a:r>
              <a:rPr lang="zh-CN" altLang="en-US" sz="2000" dirty="0">
                <a:latin typeface="+mn-ea"/>
              </a:rPr>
              <a:t>其后继节点</a:t>
            </a:r>
            <a:r>
              <a:rPr lang="zh-CN" altLang="en-US" sz="2000" u="wavyHeavy" dirty="0">
                <a:solidFill>
                  <a:srgbClr val="0000FF"/>
                </a:solidFill>
                <a:latin typeface="+mn-ea"/>
              </a:rPr>
              <a:t>全部可解</a:t>
            </a:r>
            <a:r>
              <a:rPr lang="zh-CN" altLang="en-US" sz="2000" dirty="0">
                <a:latin typeface="+mn-ea"/>
              </a:rPr>
              <a:t>，此非终叶节点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才可解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solidFill>
                <a:schemeClr val="tx2"/>
              </a:solidFill>
              <a:latin typeface="+mn-ea"/>
            </a:endParaRPr>
          </a:p>
          <a:p>
            <a:pPr lvl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若</a:t>
            </a:r>
            <a:r>
              <a:rPr lang="zh-CN" altLang="en-US" sz="2000" b="1" dirty="0">
                <a:latin typeface="+mn-ea"/>
              </a:rPr>
              <a:t>某个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非终叶节点</a:t>
            </a:r>
            <a:r>
              <a:rPr lang="zh-CN" altLang="en-US" sz="2000" b="1" dirty="0">
                <a:latin typeface="+mn-ea"/>
              </a:rPr>
              <a:t>含有“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或</a:t>
            </a:r>
            <a:r>
              <a:rPr lang="zh-CN" altLang="en-US" sz="2000" b="1" dirty="0">
                <a:latin typeface="+mn-ea"/>
              </a:rPr>
              <a:t>”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后继节点</a:t>
            </a:r>
            <a:r>
              <a:rPr lang="zh-CN" altLang="en-US" sz="2000" b="1" dirty="0">
                <a:latin typeface="+mn-ea"/>
              </a:rPr>
              <a:t>，其后继节点中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只要</a:t>
            </a:r>
            <a:r>
              <a:rPr lang="zh-CN" altLang="en-US" sz="2000" b="1" u="wavyHeavy" dirty="0">
                <a:solidFill>
                  <a:srgbClr val="0000FF"/>
                </a:solidFill>
                <a:latin typeface="+mn-ea"/>
              </a:rPr>
              <a:t>有一个可解</a:t>
            </a:r>
            <a:r>
              <a:rPr lang="zh-CN" altLang="en-US" sz="2000" b="1" dirty="0">
                <a:latin typeface="+mn-ea"/>
              </a:rPr>
              <a:t>，此非终叶节点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即可解</a:t>
            </a:r>
            <a:r>
              <a:rPr lang="zh-CN" altLang="en-US" sz="2000" b="1" dirty="0">
                <a:latin typeface="+mn-ea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188640"/>
            <a:ext cx="1426672" cy="1340768"/>
          </a:xfrm>
          <a:prstGeom prst="rect">
            <a:avLst/>
          </a:prstGeom>
        </p:spPr>
      </p:pic>
      <p:sp>
        <p:nvSpPr>
          <p:cNvPr id="5" name="Rectangle 3"/>
          <p:cNvSpPr>
            <a:spLocks noGrp="1" noChangeArrowheads="1"/>
          </p:cNvSpPr>
          <p:nvPr/>
        </p:nvSpPr>
        <p:spPr bwMode="gray">
          <a:xfrm>
            <a:off x="629666" y="1177324"/>
            <a:ext cx="2430166" cy="30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tx2"/>
                </a:solidFill>
                <a:latin typeface="+mn-ea"/>
              </a:rPr>
              <a:t>节点的可解</a:t>
            </a:r>
            <a:r>
              <a:rPr lang="en-US" altLang="zh-CN" sz="2000" dirty="0">
                <a:solidFill>
                  <a:schemeClr val="tx2"/>
                </a:solidFill>
                <a:latin typeface="+mn-ea"/>
              </a:rPr>
              <a:t>/</a:t>
            </a:r>
            <a:r>
              <a:rPr lang="zh-CN" altLang="en-US" sz="2000" dirty="0">
                <a:solidFill>
                  <a:schemeClr val="tx2"/>
                </a:solidFill>
                <a:latin typeface="+mn-ea"/>
              </a:rPr>
              <a:t>不可解</a:t>
            </a: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38567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/>
        </p:nvSpPr>
        <p:spPr bwMode="gray">
          <a:xfrm>
            <a:off x="611560" y="1746073"/>
            <a:ext cx="8208912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不可解</a:t>
            </a: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节点（判别）</a:t>
            </a:r>
          </a:p>
          <a:p>
            <a:pPr lvl="1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没有后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继节点</a:t>
            </a:r>
            <a:r>
              <a:rPr lang="zh-CN" altLang="en-US" sz="2000" b="1" dirty="0">
                <a:latin typeface="+mn-ea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非终叶节点</a:t>
            </a:r>
            <a:r>
              <a:rPr lang="zh-CN" altLang="en-US" sz="2000" dirty="0">
                <a:latin typeface="+mn-ea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不可解</a:t>
            </a:r>
            <a:r>
              <a:rPr lang="zh-CN" altLang="en-US" sz="2000" b="1" dirty="0">
                <a:latin typeface="+mn-ea"/>
              </a:rPr>
              <a:t>节点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若某个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非终叶节点</a:t>
            </a:r>
            <a:r>
              <a:rPr lang="zh-CN" altLang="en-US" sz="2000" dirty="0">
                <a:latin typeface="+mn-ea"/>
              </a:rPr>
              <a:t>含有“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与</a:t>
            </a:r>
            <a:r>
              <a:rPr lang="zh-CN" altLang="en-US" sz="2000" dirty="0">
                <a:latin typeface="+mn-ea"/>
              </a:rPr>
              <a:t>”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后继节点</a:t>
            </a:r>
            <a:r>
              <a:rPr lang="zh-CN" altLang="en-US" sz="2000" dirty="0">
                <a:latin typeface="+mn-ea"/>
              </a:rPr>
              <a:t>，则后继节点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只要有一个不可解</a:t>
            </a:r>
            <a:r>
              <a:rPr lang="zh-CN" altLang="en-US" sz="2000" dirty="0">
                <a:latin typeface="+mn-ea"/>
              </a:rPr>
              <a:t>，此非终叶节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就不可解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若</a:t>
            </a:r>
            <a:r>
              <a:rPr lang="zh-CN" altLang="en-US" sz="2000" b="1" dirty="0">
                <a:latin typeface="+mn-ea"/>
              </a:rPr>
              <a:t>某个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非终叶节点</a:t>
            </a:r>
            <a:r>
              <a:rPr lang="zh-CN" altLang="en-US" sz="2000" b="1" dirty="0">
                <a:latin typeface="+mn-ea"/>
              </a:rPr>
              <a:t>含有“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或</a:t>
            </a:r>
            <a:r>
              <a:rPr lang="zh-CN" altLang="en-US" sz="2000" b="1" dirty="0">
                <a:latin typeface="+mn-ea"/>
              </a:rPr>
              <a:t>”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后继节点</a:t>
            </a:r>
            <a:r>
              <a:rPr lang="zh-CN" altLang="en-US" sz="2000" b="1" dirty="0">
                <a:latin typeface="+mn-ea"/>
              </a:rPr>
              <a:t>，则当后继节点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全都不可解时</a:t>
            </a:r>
            <a:r>
              <a:rPr lang="zh-CN" altLang="en-US" sz="2000" b="1" dirty="0">
                <a:latin typeface="+mn-ea"/>
              </a:rPr>
              <a:t>，此非终叶节点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才不可解</a:t>
            </a:r>
            <a:r>
              <a:rPr lang="zh-CN" altLang="en-US" sz="2000" b="1" dirty="0">
                <a:latin typeface="+mn-ea"/>
              </a:rPr>
              <a:t>。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解树</a:t>
            </a:r>
          </a:p>
          <a:p>
            <a:pPr lvl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+mn-ea"/>
              </a:rPr>
              <a:t>由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可解节点</a:t>
            </a:r>
            <a:r>
              <a:rPr lang="zh-CN" altLang="en-US" sz="2000" b="1" dirty="0">
                <a:latin typeface="+mn-ea"/>
              </a:rPr>
              <a:t>构成，并且由这些可解节点，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可推出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初始节点为可解节点</a:t>
            </a:r>
            <a:r>
              <a:rPr lang="zh-CN" altLang="en-US" sz="2000" b="1" dirty="0">
                <a:latin typeface="+mn-ea"/>
              </a:rPr>
              <a:t>的子树。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+mn-ea"/>
              </a:rPr>
              <a:t>解树中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一定包含初始节点</a:t>
            </a:r>
            <a:r>
              <a:rPr lang="zh-CN" altLang="en-US" sz="2000" b="1" dirty="0">
                <a:latin typeface="+mn-ea"/>
              </a:rPr>
              <a:t>，它对应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原始问题</a:t>
            </a:r>
            <a:r>
              <a:rPr lang="zh-CN" altLang="en-US" sz="2000" b="1" dirty="0">
                <a:latin typeface="+mn-ea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837" y="212080"/>
            <a:ext cx="2939053" cy="2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9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Text Box 4"/>
              <p:cNvSpPr txBox="1">
                <a:spLocks noChangeArrowheads="1"/>
              </p:cNvSpPr>
              <p:nvPr/>
            </p:nvSpPr>
            <p:spPr bwMode="auto">
              <a:xfrm>
                <a:off x="629895" y="1856482"/>
                <a:ext cx="7848227" cy="33727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eaLnBrk="1" hangingPunct="1">
                  <a:lnSpc>
                    <a:spcPts val="3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先用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状态空间法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表示，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四元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组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S=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w, x, y, z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</a:t>
                </a:r>
                <a:endPara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5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：猴子所处的水平位置；</a:t>
                </a:r>
              </a:p>
              <a:p>
                <a:pPr eaLnBrk="1" hangingPunct="1">
                  <a:lnSpc>
                    <a:spcPts val="35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：箱子所在水平位置；</a:t>
                </a:r>
                <a:endPara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5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：猴子是否在箱子上（是取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；不是取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）；</a:t>
                </a:r>
              </a:p>
              <a:p>
                <a:pPr eaLnBrk="1" hangingPunct="1">
                  <a:lnSpc>
                    <a:spcPts val="3500"/>
                  </a:lnSpc>
                  <a:spcAft>
                    <a:spcPts val="12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z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：猴子摘到香蕉时取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；否则取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5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由此可得：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初始状态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zh-CN" altLang="en-US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35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             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目标状态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𝒈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67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895" y="1856482"/>
                <a:ext cx="7848227" cy="3372718"/>
              </a:xfrm>
              <a:prstGeom prst="rect">
                <a:avLst/>
              </a:prstGeom>
              <a:blipFill rotWithShape="0">
                <a:blip r:embed="rId2"/>
                <a:stretch>
                  <a:fillRect l="-2329" t="-2351" b="-25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5940152" y="171224"/>
            <a:ext cx="2520653" cy="1361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6" name="矩形 1"/>
          <p:cNvSpPr>
            <a:spLocks noChangeArrowheads="1"/>
          </p:cNvSpPr>
          <p:nvPr/>
        </p:nvSpPr>
        <p:spPr bwMode="auto">
          <a:xfrm>
            <a:off x="620797" y="1132071"/>
            <a:ext cx="122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求解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zh-CN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29757" y="620936"/>
            <a:ext cx="45183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indent="-271463" eaLnBrk="1" hangingPunct="1">
              <a:spcBef>
                <a:spcPct val="5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或图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示例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：猴子和香蕉问题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11789" y="1705470"/>
            <a:ext cx="80645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可能出现的状态：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S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(a,b,0,0)  ←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初始状态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S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(b,b,0,0)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S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(c,c,0,0)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S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(c,c,1,0)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S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 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(c,c,1,1)  ←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目标状态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允许的操作集：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F={f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f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f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f</a:t>
            </a:r>
            <a:r>
              <a:rPr lang="en-US" altLang="zh-CN" sz="2400" baseline="-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2525539" y="2588904"/>
            <a:ext cx="822325" cy="2274888"/>
            <a:chOff x="2093918" y="2616106"/>
            <a:chExt cx="821898" cy="2274659"/>
          </a:xfrm>
        </p:grpSpPr>
        <p:grpSp>
          <p:nvGrpSpPr>
            <p:cNvPr id="29702" name="组合 11"/>
            <p:cNvGrpSpPr>
              <a:grpSpLocks/>
            </p:cNvGrpSpPr>
            <p:nvPr/>
          </p:nvGrpSpPr>
          <p:grpSpPr bwMode="auto">
            <a:xfrm>
              <a:off x="2093918" y="2616106"/>
              <a:ext cx="821898" cy="524862"/>
              <a:chOff x="2093918" y="2616106"/>
              <a:chExt cx="821898" cy="524862"/>
            </a:xfrm>
          </p:grpSpPr>
          <p:cxnSp>
            <p:nvCxnSpPr>
              <p:cNvPr id="29715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2483768" y="2636912"/>
                <a:ext cx="432048" cy="28803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716" name="直接连接符 9"/>
              <p:cNvCxnSpPr>
                <a:cxnSpLocks noChangeShapeType="1"/>
              </p:cNvCxnSpPr>
              <p:nvPr/>
            </p:nvCxnSpPr>
            <p:spPr bwMode="auto">
              <a:xfrm>
                <a:off x="2483768" y="2924944"/>
                <a:ext cx="43204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717" name="矩形 10"/>
              <p:cNvSpPr>
                <a:spLocks noChangeArrowheads="1"/>
              </p:cNvSpPr>
              <p:nvPr/>
            </p:nvSpPr>
            <p:spPr bwMode="auto">
              <a:xfrm>
                <a:off x="2093918" y="2616106"/>
                <a:ext cx="389648" cy="461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baseline="-30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zh-CN" altLang="en-US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03" name="组合 12"/>
            <p:cNvGrpSpPr>
              <a:grpSpLocks/>
            </p:cNvGrpSpPr>
            <p:nvPr/>
          </p:nvGrpSpPr>
          <p:grpSpPr bwMode="auto">
            <a:xfrm>
              <a:off x="2093918" y="3201302"/>
              <a:ext cx="821898" cy="524862"/>
              <a:chOff x="2093918" y="2616106"/>
              <a:chExt cx="821898" cy="524862"/>
            </a:xfrm>
          </p:grpSpPr>
          <p:cxnSp>
            <p:nvCxnSpPr>
              <p:cNvPr id="29712" name="直接连接符 13"/>
              <p:cNvCxnSpPr>
                <a:cxnSpLocks noChangeShapeType="1"/>
              </p:cNvCxnSpPr>
              <p:nvPr/>
            </p:nvCxnSpPr>
            <p:spPr bwMode="auto">
              <a:xfrm flipH="1">
                <a:off x="2483768" y="2636912"/>
                <a:ext cx="432048" cy="28803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713" name="直接连接符 14"/>
              <p:cNvCxnSpPr>
                <a:cxnSpLocks noChangeShapeType="1"/>
              </p:cNvCxnSpPr>
              <p:nvPr/>
            </p:nvCxnSpPr>
            <p:spPr bwMode="auto">
              <a:xfrm>
                <a:off x="2483768" y="2924944"/>
                <a:ext cx="43204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714" name="矩形 15"/>
              <p:cNvSpPr>
                <a:spLocks noChangeArrowheads="1"/>
              </p:cNvSpPr>
              <p:nvPr/>
            </p:nvSpPr>
            <p:spPr bwMode="auto">
              <a:xfrm>
                <a:off x="2093918" y="2616106"/>
                <a:ext cx="389648" cy="461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baseline="-30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zh-CN" altLang="en-US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04" name="组合 16"/>
            <p:cNvGrpSpPr>
              <a:grpSpLocks/>
            </p:cNvGrpSpPr>
            <p:nvPr/>
          </p:nvGrpSpPr>
          <p:grpSpPr bwMode="auto">
            <a:xfrm>
              <a:off x="2093918" y="3769033"/>
              <a:ext cx="821898" cy="524862"/>
              <a:chOff x="2093918" y="2616106"/>
              <a:chExt cx="821898" cy="524862"/>
            </a:xfrm>
          </p:grpSpPr>
          <p:cxnSp>
            <p:nvCxnSpPr>
              <p:cNvPr id="29709" name="直接连接符 17"/>
              <p:cNvCxnSpPr>
                <a:cxnSpLocks noChangeShapeType="1"/>
              </p:cNvCxnSpPr>
              <p:nvPr/>
            </p:nvCxnSpPr>
            <p:spPr bwMode="auto">
              <a:xfrm flipH="1">
                <a:off x="2483768" y="2636912"/>
                <a:ext cx="432048" cy="28803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710" name="直接连接符 18"/>
              <p:cNvCxnSpPr>
                <a:cxnSpLocks noChangeShapeType="1"/>
              </p:cNvCxnSpPr>
              <p:nvPr/>
            </p:nvCxnSpPr>
            <p:spPr bwMode="auto">
              <a:xfrm>
                <a:off x="2483768" y="2924944"/>
                <a:ext cx="43204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711" name="矩形 19"/>
              <p:cNvSpPr>
                <a:spLocks noChangeArrowheads="1"/>
              </p:cNvSpPr>
              <p:nvPr/>
            </p:nvSpPr>
            <p:spPr bwMode="auto">
              <a:xfrm>
                <a:off x="2093918" y="2616106"/>
                <a:ext cx="389648" cy="461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baseline="-3000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zh-CN" altLang="en-US" sz="240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05" name="组合 20"/>
            <p:cNvGrpSpPr>
              <a:grpSpLocks/>
            </p:cNvGrpSpPr>
            <p:nvPr/>
          </p:nvGrpSpPr>
          <p:grpSpPr bwMode="auto">
            <a:xfrm>
              <a:off x="2093918" y="4365903"/>
              <a:ext cx="821898" cy="524862"/>
              <a:chOff x="2093918" y="2616106"/>
              <a:chExt cx="821898" cy="524862"/>
            </a:xfrm>
          </p:grpSpPr>
          <p:cxnSp>
            <p:nvCxnSpPr>
              <p:cNvPr id="29706" name="直接连接符 21"/>
              <p:cNvCxnSpPr>
                <a:cxnSpLocks noChangeShapeType="1"/>
              </p:cNvCxnSpPr>
              <p:nvPr/>
            </p:nvCxnSpPr>
            <p:spPr bwMode="auto">
              <a:xfrm flipH="1">
                <a:off x="2483768" y="2636912"/>
                <a:ext cx="432048" cy="28803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707" name="直接连接符 22"/>
              <p:cNvCxnSpPr>
                <a:cxnSpLocks noChangeShapeType="1"/>
              </p:cNvCxnSpPr>
              <p:nvPr/>
            </p:nvCxnSpPr>
            <p:spPr bwMode="auto">
              <a:xfrm>
                <a:off x="2483768" y="2924944"/>
                <a:ext cx="43204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708" name="矩形 23"/>
              <p:cNvSpPr>
                <a:spLocks noChangeArrowheads="1"/>
              </p:cNvSpPr>
              <p:nvPr/>
            </p:nvSpPr>
            <p:spPr bwMode="auto">
              <a:xfrm>
                <a:off x="2093918" y="2616106"/>
                <a:ext cx="389648" cy="461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baseline="-3000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4</a:t>
                </a:r>
                <a:endParaRPr lang="zh-CN" altLang="en-US" sz="240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3" name="直接箭头连接符 2"/>
          <p:cNvCxnSpPr/>
          <p:nvPr/>
        </p:nvCxnSpPr>
        <p:spPr bwMode="auto">
          <a:xfrm>
            <a:off x="5867400" y="2852936"/>
            <a:ext cx="0" cy="1597025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899592" y="609123"/>
            <a:ext cx="7344171" cy="920371"/>
            <a:chOff x="899592" y="504068"/>
            <a:chExt cx="7344171" cy="836700"/>
          </a:xfrm>
        </p:grpSpPr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82"/>
            <a:stretch>
              <a:fillRect/>
            </a:stretch>
          </p:blipFill>
          <p:spPr bwMode="auto">
            <a:xfrm>
              <a:off x="899592" y="504068"/>
              <a:ext cx="1429734" cy="833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132" y="534391"/>
              <a:ext cx="1256502" cy="802709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6893" y="531365"/>
              <a:ext cx="1261240" cy="805736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9201" y="533223"/>
              <a:ext cx="1258331" cy="803878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6781" y="531364"/>
              <a:ext cx="1266982" cy="8094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1"/>
          <p:cNvSpPr>
            <a:spLocks noChangeArrowheads="1"/>
          </p:cNvSpPr>
          <p:nvPr/>
        </p:nvSpPr>
        <p:spPr bwMode="auto">
          <a:xfrm>
            <a:off x="611188" y="883302"/>
            <a:ext cx="21606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操作符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算子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6372225" y="260350"/>
            <a:ext cx="2160588" cy="121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>
                <a:spLocks noChangeArrowheads="1"/>
              </p:cNvSpPr>
              <p:nvPr/>
            </p:nvSpPr>
            <p:spPr bwMode="auto">
              <a:xfrm>
                <a:off x="678845" y="4115367"/>
                <a:ext cx="8069619" cy="1423467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prstDash val="sysDash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>
                  <a:lnSpc>
                    <a:spcPts val="3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从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初始状态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到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目标状态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u="wavyDbl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各状态量发生变化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操作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均为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主操作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独立操作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，因此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原始问题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即变换为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个新问题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。新问题又分为</a:t>
                </a:r>
                <a:r>
                  <a:rPr lang="zh-CN" altLang="en-US" sz="2000" u="wavyDbl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子问题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zh-CN" altLang="en-US" sz="2000" u="wavyDbl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子子问题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…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这一分解变换过程</a:t>
                </a:r>
                <a:r>
                  <a:rPr lang="en-US" altLang="zh-CN" sz="2000" b="0" dirty="0">
                    <a:latin typeface="+mn-ea"/>
                    <a:ea typeface="+mn-ea"/>
                    <a:cs typeface="Times New Roman" panose="02020603050405020304" pitchFamily="18" charset="0"/>
                  </a:rPr>
                  <a:t>---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/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或图表示</a:t>
                </a:r>
                <a:endParaRPr lang="zh-CN" altLang="en-US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845" y="4115367"/>
                <a:ext cx="8069619" cy="1423467"/>
              </a:xfrm>
              <a:prstGeom prst="rect">
                <a:avLst/>
              </a:prstGeom>
              <a:blipFill rotWithShape="0">
                <a:blip r:embed="rId3"/>
                <a:stretch>
                  <a:fillRect l="-1357" b="-8475"/>
                </a:stretch>
              </a:blipFill>
              <a:ln w="9525">
                <a:solidFill>
                  <a:srgbClr val="FF0000"/>
                </a:solidFill>
                <a:prstDash val="sys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725" name="组合 10"/>
          <p:cNvGrpSpPr>
            <a:grpSpLocks/>
          </p:cNvGrpSpPr>
          <p:nvPr/>
        </p:nvGrpSpPr>
        <p:grpSpPr bwMode="auto">
          <a:xfrm>
            <a:off x="755650" y="1728018"/>
            <a:ext cx="7848600" cy="2205038"/>
            <a:chOff x="755650" y="1673225"/>
            <a:chExt cx="7848600" cy="2205732"/>
          </a:xfrm>
        </p:grpSpPr>
        <p:sp>
          <p:nvSpPr>
            <p:cNvPr id="30726" name="Text Box 4"/>
            <p:cNvSpPr txBox="1">
              <a:spLocks noChangeArrowheads="1"/>
            </p:cNvSpPr>
            <p:nvPr/>
          </p:nvSpPr>
          <p:spPr bwMode="auto">
            <a:xfrm>
              <a:off x="755650" y="1673225"/>
              <a:ext cx="7848600" cy="2205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43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 </a:t>
              </a:r>
              <a:r>
                <a:rPr lang="en-US" altLang="zh-CN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goto(b)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：猴子走到位置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</a:p>
            <a:p>
              <a:pPr eaLnBrk="1" hangingPunct="1">
                <a:lnSpc>
                  <a:spcPts val="43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pushbox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：猴子推箱子到位置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</a:p>
            <a:p>
              <a:pPr eaLnBrk="1" hangingPunct="1">
                <a:lnSpc>
                  <a:spcPts val="43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climbbox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：猴子爬上箱顶</a:t>
              </a:r>
            </a:p>
            <a:p>
              <a:pPr eaLnBrk="1" hangingPunct="1">
                <a:lnSpc>
                  <a:spcPts val="4300"/>
                </a:lnSpc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000" i="1" baseline="-30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 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 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grasp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：猴子拿到香蕉</a:t>
              </a:r>
              <a:r>
                <a:rPr lang="zh-CN" altLang="en-US" sz="200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</a:t>
              </a:r>
              <a:endPara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0727" name="矩形 5"/>
            <p:cNvSpPr>
              <a:spLocks noChangeArrowheads="1"/>
            </p:cNvSpPr>
            <p:nvPr/>
          </p:nvSpPr>
          <p:spPr bwMode="auto">
            <a:xfrm>
              <a:off x="5899273" y="1709623"/>
              <a:ext cx="2565511" cy="554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(w, x, y,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(b, x, y, z)</a:t>
              </a:r>
            </a:p>
          </p:txBody>
        </p:sp>
        <p:sp>
          <p:nvSpPr>
            <p:cNvPr id="30728" name="矩形 6"/>
            <p:cNvSpPr>
              <a:spLocks noChangeArrowheads="1"/>
            </p:cNvSpPr>
            <p:nvPr/>
          </p:nvSpPr>
          <p:spPr bwMode="auto">
            <a:xfrm>
              <a:off x="5903029" y="2226930"/>
              <a:ext cx="2502865" cy="554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(b, x, y,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y, z)</a:t>
              </a:r>
            </a:p>
          </p:txBody>
        </p:sp>
        <p:sp>
          <p:nvSpPr>
            <p:cNvPr id="30729" name="矩形 8"/>
            <p:cNvSpPr>
              <a:spLocks noChangeArrowheads="1"/>
            </p:cNvSpPr>
            <p:nvPr/>
          </p:nvSpPr>
          <p:spPr bwMode="auto">
            <a:xfrm>
              <a:off x="5876896" y="2762050"/>
              <a:ext cx="2497928" cy="554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y,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1, z)</a:t>
              </a:r>
            </a:p>
          </p:txBody>
        </p:sp>
        <p:sp>
          <p:nvSpPr>
            <p:cNvPr id="30730" name="矩形 9"/>
            <p:cNvSpPr>
              <a:spLocks noChangeArrowheads="1"/>
            </p:cNvSpPr>
            <p:nvPr/>
          </p:nvSpPr>
          <p:spPr bwMode="auto">
            <a:xfrm>
              <a:off x="5823298" y="3307050"/>
              <a:ext cx="2550698" cy="554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1, z)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0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(c, c, 1, 1)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矩形 4"/>
          <p:cNvSpPr>
            <a:spLocks noChangeArrowheads="1"/>
          </p:cNvSpPr>
          <p:nvPr/>
        </p:nvSpPr>
        <p:spPr bwMode="auto">
          <a:xfrm>
            <a:off x="655488" y="1169651"/>
            <a:ext cx="11525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与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或图：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20910"/>
            <a:ext cx="1715865" cy="1382453"/>
          </a:xfrm>
          <a:prstGeom prst="rect">
            <a:avLst/>
          </a:prstGeom>
        </p:spPr>
      </p:pic>
      <p:graphicFrame>
        <p:nvGraphicFramePr>
          <p:cNvPr id="317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390395"/>
              </p:ext>
            </p:extLst>
          </p:nvPr>
        </p:nvGraphicFramePr>
        <p:xfrm>
          <a:off x="684213" y="1844675"/>
          <a:ext cx="7835900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4" imgW="5304739" imgH="3018739" progId="Visio.Drawing.11">
                  <p:embed/>
                </p:oleObj>
              </mc:Choice>
              <mc:Fallback>
                <p:oleObj name="Visio" r:id="rId4" imgW="5304739" imgH="3018739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44675"/>
                        <a:ext cx="7835900" cy="410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6012160" y="5021531"/>
            <a:ext cx="2448272" cy="36004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终叶节点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+mn-ea"/>
              </a:rPr>
              <a:t>→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本原问题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9592" y="3753111"/>
            <a:ext cx="7683211" cy="2268177"/>
            <a:chOff x="899592" y="3753111"/>
            <a:chExt cx="7683211" cy="2268177"/>
          </a:xfrm>
        </p:grpSpPr>
        <p:sp>
          <p:nvSpPr>
            <p:cNvPr id="4" name="矩形 3"/>
            <p:cNvSpPr/>
            <p:nvPr/>
          </p:nvSpPr>
          <p:spPr bwMode="auto">
            <a:xfrm>
              <a:off x="899592" y="5157192"/>
              <a:ext cx="1584176" cy="864096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3917764" y="5157192"/>
              <a:ext cx="1584176" cy="864096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4970677" y="3753111"/>
              <a:ext cx="1584176" cy="864096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6998627" y="3753111"/>
              <a:ext cx="1584176" cy="864096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21080" y="1171706"/>
            <a:ext cx="4032864" cy="305722"/>
          </a:xfrm>
        </p:spPr>
        <p:txBody>
          <a:bodyPr lIns="0" tIns="0" rIns="0" bIns="0"/>
          <a:lstStyle/>
          <a:p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回看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）三阶梵塔问题的与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或树：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848"/>
            <a:ext cx="7337427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32656"/>
            <a:ext cx="1944216" cy="237691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81622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655488" y="1167771"/>
            <a:ext cx="23046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与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或图的求解思想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6170"/>
              </p:ext>
            </p:extLst>
          </p:nvPr>
        </p:nvGraphicFramePr>
        <p:xfrm>
          <a:off x="827584" y="4293096"/>
          <a:ext cx="3161223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Visio" r:id="rId3" imgW="5304739" imgH="3018739" progId="Visio.Drawing.11">
                  <p:embed/>
                </p:oleObj>
              </mc:Choice>
              <mc:Fallback>
                <p:oleObj name="Visio" r:id="rId3" imgW="5304739" imgH="301873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293096"/>
                        <a:ext cx="3161223" cy="1656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296" y="4293096"/>
            <a:ext cx="4018115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783" y="1772816"/>
            <a:ext cx="2528513" cy="2376264"/>
          </a:xfrm>
          <a:prstGeom prst="rect">
            <a:avLst/>
          </a:prstGeom>
        </p:spPr>
      </p:pic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4582296" y="1988840"/>
            <a:ext cx="40221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倒推</a:t>
            </a:r>
            <a:r>
              <a:rPr lang="zh-CN" altLang="en-US" sz="2000" dirty="0">
                <a:latin typeface="+mn-ea"/>
                <a:ea typeface="+mn-ea"/>
              </a:rPr>
              <a:t>→判别节点“可解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不可解”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>
                <a:srgbClr val="FF0000"/>
              </a:buClr>
              <a:buSzPct val="80000"/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1400" dirty="0">
                <a:latin typeface="+mn-ea"/>
                <a:ea typeface="+mn-ea"/>
              </a:rPr>
              <a:t>  ……</a:t>
            </a:r>
            <a:r>
              <a:rPr lang="zh-CN" altLang="en-US" sz="2000" dirty="0">
                <a:latin typeface="+mn-ea"/>
                <a:ea typeface="+mn-ea"/>
              </a:rPr>
              <a:t>→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初始节点</a:t>
            </a:r>
            <a:r>
              <a:rPr lang="zh-CN" altLang="en-US" sz="2000" dirty="0">
                <a:latin typeface="+mn-ea"/>
                <a:ea typeface="+mn-ea"/>
              </a:rPr>
              <a:t>是否可解</a:t>
            </a:r>
          </a:p>
        </p:txBody>
      </p:sp>
    </p:spTree>
    <p:extLst>
      <p:ext uri="{BB962C8B-B14F-4D97-AF65-F5344CB8AC3E}">
        <p14:creationId xmlns:p14="http://schemas.microsoft.com/office/powerpoint/2010/main" val="26616200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652752" y="1089624"/>
            <a:ext cx="30459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、产生式规则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latin typeface="+mn-ea"/>
                <a:ea typeface="+mn-ea"/>
              </a:rPr>
              <a:t>系统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endParaRPr lang="zh-CN" altLang="en-US" sz="24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1560" y="1824038"/>
            <a:ext cx="8064896" cy="3549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</a:rPr>
              <a:t>一种</a:t>
            </a:r>
            <a:r>
              <a:rPr lang="zh-CN" altLang="en-US" sz="2000" u="wavyDbl" dirty="0">
                <a:latin typeface="+mn-ea"/>
              </a:rPr>
              <a:t>描述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形式化语言</a:t>
            </a:r>
            <a:r>
              <a:rPr lang="zh-CN" altLang="en-US" sz="2000" dirty="0">
                <a:latin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语法</a:t>
            </a:r>
            <a:r>
              <a:rPr lang="zh-CN" altLang="en-US" sz="2000" dirty="0">
                <a:latin typeface="+mn-ea"/>
              </a:rPr>
              <a:t>，是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+mn-ea"/>
              </a:rPr>
              <a:t>中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应用最多</a:t>
            </a:r>
            <a:r>
              <a:rPr lang="zh-CN" altLang="en-US" sz="2000" dirty="0">
                <a:latin typeface="+mn-ea"/>
              </a:rPr>
              <a:t>的知识表示方法之一。</a:t>
            </a:r>
          </a:p>
          <a:p>
            <a:pPr marL="361950" indent="-361950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</a:rPr>
              <a:t>描述若干个不同，但以一个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“基本概念”</a:t>
            </a:r>
            <a:r>
              <a:rPr lang="zh-CN" altLang="en-US" sz="2000" dirty="0">
                <a:latin typeface="+mn-ea"/>
              </a:rPr>
              <a:t>为基础的系统。这个基本概念就是“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产生式规则</a:t>
            </a:r>
            <a:r>
              <a:rPr lang="zh-CN" altLang="en-US" sz="2000" dirty="0">
                <a:latin typeface="+mn-ea"/>
              </a:rPr>
              <a:t>”或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产生式的“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条件</a:t>
            </a:r>
            <a:r>
              <a:rPr lang="zh-CN" altLang="en-US" sz="20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操作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”对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361950" indent="-361950">
              <a:lnSpc>
                <a:spcPts val="35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产生式系统的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知识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分为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两部分</a:t>
            </a:r>
          </a:p>
          <a:p>
            <a:pPr marL="447675" indent="0" algn="just">
              <a:lnSpc>
                <a:spcPts val="35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事实：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真实现象，表示静态知识。（获取观察数据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真实数据）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marL="447675" indent="0" algn="just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产生式规则：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推理过程、行为。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</a:rPr>
              <a:t>建立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识库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并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存储</a:t>
            </a:r>
            <a:r>
              <a:rPr lang="en-US" altLang="zh-CN" sz="2000" dirty="0">
                <a:latin typeface="+mn-ea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规则集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marL="361950" indent="-361950" algn="just">
              <a:lnSpc>
                <a:spcPts val="35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产生式系统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也称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基于规则的系统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602324" y="1735872"/>
            <a:ext cx="677798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IF   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某微生物的染色斑是革兰氏阴性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	       此微生物的形状呈杆状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病人是中间宿主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THEN   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该微生物是绿脓杆菌，置信度为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CF=0.6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其中：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知识的强度（置信度）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30032" y="1170895"/>
            <a:ext cx="662473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Shortliffe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研制的的诊断感染性疾病的专家系统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MYCIN</a:t>
            </a:r>
          </a:p>
        </p:txBody>
      </p:sp>
    </p:spTree>
    <p:extLst>
      <p:ext uri="{BB962C8B-B14F-4D97-AF65-F5344CB8AC3E}">
        <p14:creationId xmlns:p14="http://schemas.microsoft.com/office/powerpoint/2010/main" val="26482286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1"/>
          <p:cNvSpPr txBox="1">
            <a:spLocks noChangeArrowheads="1"/>
          </p:cNvSpPr>
          <p:nvPr/>
        </p:nvSpPr>
        <p:spPr bwMode="auto">
          <a:xfrm>
            <a:off x="644820" y="1197359"/>
            <a:ext cx="16044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⑴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、基本结构</a:t>
            </a:r>
          </a:p>
        </p:txBody>
      </p:sp>
      <p:sp>
        <p:nvSpPr>
          <p:cNvPr id="35843" name="Rectangle 3"/>
          <p:cNvSpPr txBox="1">
            <a:spLocks noChangeArrowheads="1"/>
          </p:cNvSpPr>
          <p:nvPr/>
        </p:nvSpPr>
        <p:spPr bwMode="auto">
          <a:xfrm>
            <a:off x="611560" y="1823333"/>
            <a:ext cx="7849022" cy="39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indent="-271463" algn="just">
              <a:lnSpc>
                <a:spcPts val="32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产生式系统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包含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事实库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规则集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规则解释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控制器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三部分。       </a:t>
            </a:r>
          </a:p>
        </p:txBody>
      </p:sp>
      <p:graphicFrame>
        <p:nvGraphicFramePr>
          <p:cNvPr id="3584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977881"/>
              </p:ext>
            </p:extLst>
          </p:nvPr>
        </p:nvGraphicFramePr>
        <p:xfrm>
          <a:off x="1835150" y="2516411"/>
          <a:ext cx="6481763" cy="314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Visio" r:id="rId3" imgW="5178247" imgH="2092147" progId="Visio.Drawing.11">
                  <p:embed/>
                </p:oleObj>
              </mc:Choice>
              <mc:Fallback>
                <p:oleObj name="Visio" r:id="rId3" imgW="5178247" imgH="2092147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516411"/>
                        <a:ext cx="6481763" cy="314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850742" y="3572346"/>
            <a:ext cx="6999672" cy="936104"/>
            <a:chOff x="1850742" y="3861048"/>
            <a:chExt cx="6999672" cy="936104"/>
          </a:xfrm>
        </p:grpSpPr>
        <p:sp>
          <p:nvSpPr>
            <p:cNvPr id="2" name="矩形 1"/>
            <p:cNvSpPr/>
            <p:nvPr/>
          </p:nvSpPr>
          <p:spPr bwMode="auto">
            <a:xfrm>
              <a:off x="1850742" y="3861048"/>
              <a:ext cx="669652" cy="93610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条件</a:t>
              </a: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</a:t>
              </a:r>
            </a:p>
            <a:p>
              <a:pPr algn="ctr" eaLnBrk="1" hangingPunct="1"/>
              <a:r>
                <a:rPr lang="zh-CN" altLang="en-US" b="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↓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操作</a:t>
              </a: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6906198" y="3896717"/>
              <a:ext cx="1944216" cy="50472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事实</a:t>
              </a:r>
              <a:endPara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观察数据</a:t>
              </a:r>
              <a:r>
                <a:rPr lang="en-US" altLang="zh-CN" sz="1600" dirty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输入样本</a:t>
              </a:r>
              <a:r>
                <a:rPr lang="en-US" altLang="zh-CN" sz="1600" dirty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H="1" flipV="1">
              <a:off x="2535986" y="4005734"/>
              <a:ext cx="4988342" cy="7200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1332056" y="2786064"/>
            <a:ext cx="1728192" cy="1722386"/>
            <a:chOff x="1332056" y="2834557"/>
            <a:chExt cx="1728192" cy="1722386"/>
          </a:xfrm>
        </p:grpSpPr>
        <p:sp>
          <p:nvSpPr>
            <p:cNvPr id="3" name="矩形 2"/>
            <p:cNvSpPr/>
            <p:nvPr/>
          </p:nvSpPr>
          <p:spPr bwMode="auto">
            <a:xfrm>
              <a:off x="1835150" y="3620839"/>
              <a:ext cx="685244" cy="93610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1332056" y="2834557"/>
              <a:ext cx="1728192" cy="80418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FF0000"/>
                  </a:solidFill>
                </a:rPr>
                <a:t>某一条规则</a:t>
              </a:r>
              <a:endParaRPr lang="en-US" altLang="zh-CN" sz="2000" dirty="0">
                <a:solidFill>
                  <a:srgbClr val="FF0000"/>
                </a:solidFill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rPr>
                <a:t>（</a:t>
              </a: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IF-THEN</a:t>
              </a: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594968" y="1783025"/>
            <a:ext cx="8202360" cy="231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algn="just">
              <a:lnSpc>
                <a:spcPts val="32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</a:rPr>
              <a:t>存储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已知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可获取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的</a:t>
            </a:r>
            <a:r>
              <a:rPr lang="zh-CN" altLang="zh-CN" sz="2000" dirty="0">
                <a:latin typeface="+mn-ea"/>
              </a:rPr>
              <a:t>知识</a:t>
            </a:r>
            <a:r>
              <a:rPr lang="zh-CN" altLang="en-US" sz="2000" dirty="0">
                <a:latin typeface="+mn-ea"/>
              </a:rPr>
              <a:t>，</a:t>
            </a:r>
            <a:r>
              <a:rPr lang="zh-CN" altLang="zh-CN" sz="2000" dirty="0">
                <a:latin typeface="+mn-ea"/>
              </a:rPr>
              <a:t>包括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推理过程</a:t>
            </a:r>
            <a:r>
              <a:rPr lang="zh-CN" altLang="en-US" sz="2000" dirty="0">
                <a:latin typeface="+mn-ea"/>
              </a:rPr>
              <a:t>形成的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中间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结论知识。</a:t>
            </a: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pPr marL="609600" indent="-609600" algn="just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/>
            </a:pPr>
            <a:r>
              <a:rPr lang="en-US" altLang="zh-CN" sz="2000" dirty="0">
                <a:latin typeface="+mn-ea"/>
              </a:rPr>
              <a:t>   --- </a:t>
            </a:r>
            <a:r>
              <a:rPr lang="zh-CN" altLang="zh-CN" sz="2000" dirty="0">
                <a:latin typeface="+mn-ea"/>
              </a:rPr>
              <a:t>也称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综合数据库</a:t>
            </a:r>
            <a:r>
              <a:rPr lang="en-US" altLang="zh-CN" sz="2000" dirty="0">
                <a:latin typeface="+mn-ea"/>
              </a:rPr>
              <a:t>\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工作存储器</a:t>
            </a:r>
            <a:r>
              <a:rPr lang="zh-CN" altLang="zh-CN" sz="2000" dirty="0">
                <a:latin typeface="+mn-ea"/>
              </a:rPr>
              <a:t>。</a:t>
            </a:r>
            <a:r>
              <a:rPr lang="zh-CN" altLang="en-US" sz="2000" dirty="0">
                <a:latin typeface="+mn-ea"/>
              </a:rPr>
              <a:t>（叙述型知识）</a:t>
            </a:r>
            <a:endParaRPr lang="zh-CN" altLang="zh-CN" sz="2000" dirty="0">
              <a:latin typeface="+mn-ea"/>
            </a:endParaRPr>
          </a:p>
          <a:p>
            <a:pPr marL="271463" indent="-271463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dirty="0">
                <a:latin typeface="+mn-ea"/>
              </a:rPr>
              <a:t>事实库中的数据</a:t>
            </a:r>
            <a:r>
              <a:rPr lang="zh-CN" altLang="en-US" sz="2000" dirty="0">
                <a:latin typeface="+mn-ea"/>
              </a:rPr>
              <a:t>，</a:t>
            </a:r>
            <a:r>
              <a:rPr lang="zh-CN" altLang="zh-CN" sz="2000" dirty="0">
                <a:latin typeface="+mn-ea"/>
              </a:rPr>
              <a:t>由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规则解释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控制器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激活</a:t>
            </a:r>
            <a:r>
              <a:rPr lang="zh-CN" altLang="zh-CN" sz="2000" dirty="0">
                <a:latin typeface="+mn-ea"/>
              </a:rPr>
              <a:t>相应的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规则</a:t>
            </a:r>
            <a:r>
              <a:rPr lang="zh-CN" altLang="zh-CN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271463" indent="-271463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数据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类型</a:t>
            </a:r>
            <a:r>
              <a:rPr lang="zh-CN" altLang="zh-CN" sz="2000" dirty="0">
                <a:latin typeface="+mn-ea"/>
              </a:rPr>
              <a:t>可以是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常量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多元数组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谓词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\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表结构</a:t>
            </a:r>
            <a:r>
              <a:rPr lang="zh-CN" altLang="zh-CN" sz="2000" dirty="0">
                <a:latin typeface="+mn-ea"/>
              </a:rPr>
              <a:t>等，其基本含义是指一个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事实</a:t>
            </a:r>
            <a:r>
              <a:rPr lang="zh-CN" altLang="zh-CN" sz="2000" dirty="0">
                <a:latin typeface="+mn-ea"/>
              </a:rPr>
              <a:t>或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断言</a:t>
            </a:r>
            <a:r>
              <a:rPr lang="zh-CN" altLang="zh-CN" sz="2000" dirty="0">
                <a:latin typeface="+mn-ea"/>
              </a:rPr>
              <a:t>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6867" name="矩形 2"/>
          <p:cNvSpPr>
            <a:spLocks noChangeArrowheads="1"/>
          </p:cNvSpPr>
          <p:nvPr/>
        </p:nvSpPr>
        <p:spPr bwMode="auto">
          <a:xfrm>
            <a:off x="638033" y="1169651"/>
            <a:ext cx="1223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latin typeface="+mn-ea"/>
                <a:ea typeface="+mn-ea"/>
              </a:rPr>
              <a:t>① 事实库</a:t>
            </a:r>
            <a:endParaRPr lang="en-US" altLang="zh-CN" sz="2000" dirty="0">
              <a:latin typeface="+mn-ea"/>
              <a:ea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48376" y="4365104"/>
            <a:ext cx="8128080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indent="-271463">
              <a:lnSpc>
                <a:spcPts val="32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事实库的修改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更新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，在产生式系统中起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推理</a:t>
            </a:r>
            <a:r>
              <a:rPr lang="zh-CN" altLang="en-US" sz="2000" dirty="0">
                <a:latin typeface="+mn-ea"/>
                <a:ea typeface="+mn-ea"/>
              </a:rPr>
              <a:t>作用，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事实库中内容的不断完善</a:t>
            </a:r>
            <a:r>
              <a:rPr lang="zh-CN" altLang="en-US" sz="2000" dirty="0">
                <a:latin typeface="+mn-ea"/>
                <a:ea typeface="+mn-ea"/>
              </a:rPr>
              <a:t>，就构成了由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原始数据</a:t>
            </a:r>
            <a:r>
              <a:rPr lang="zh-CN" altLang="en-US" sz="2000" dirty="0">
                <a:latin typeface="+mn-ea"/>
                <a:ea typeface="+mn-ea"/>
              </a:rPr>
              <a:t>到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结论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变换过程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860784" y="188640"/>
            <a:ext cx="2703041" cy="1368810"/>
            <a:chOff x="5860784" y="188640"/>
            <a:chExt cx="2703041" cy="1368810"/>
          </a:xfrm>
        </p:grpSpPr>
        <p:graphicFrame>
          <p:nvGraphicFramePr>
            <p:cNvPr id="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1325128"/>
                </p:ext>
              </p:extLst>
            </p:nvPr>
          </p:nvGraphicFramePr>
          <p:xfrm>
            <a:off x="5860784" y="188640"/>
            <a:ext cx="2671458" cy="1296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Visio" r:id="rId3" imgW="5178247" imgH="2092147" progId="Visio.Drawing.11">
                    <p:embed/>
                  </p:oleObj>
                </mc:Choice>
                <mc:Fallback>
                  <p:oleObj name="Visio" r:id="rId3" imgW="5178247" imgH="2092147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0784" y="188640"/>
                          <a:ext cx="2671458" cy="1296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椭圆 2"/>
            <p:cNvSpPr/>
            <p:nvPr/>
          </p:nvSpPr>
          <p:spPr bwMode="auto">
            <a:xfrm>
              <a:off x="7483705" y="981386"/>
              <a:ext cx="1080120" cy="576064"/>
            </a:xfrm>
            <a:prstGeom prst="ellipse">
              <a:avLst/>
            </a:prstGeom>
            <a:noFill/>
            <a:ln w="222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 txBox="1">
            <a:spLocks noChangeArrowheads="1"/>
          </p:cNvSpPr>
          <p:nvPr/>
        </p:nvSpPr>
        <p:spPr bwMode="auto">
          <a:xfrm>
            <a:off x="611560" y="1776435"/>
            <a:ext cx="7632848" cy="432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1950" indent="-361950" algn="just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建立并存储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状态转移、性质变化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等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。（过程型知识）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892" name="矩形 5"/>
          <p:cNvSpPr>
            <a:spLocks noChangeArrowheads="1"/>
          </p:cNvSpPr>
          <p:nvPr/>
        </p:nvSpPr>
        <p:spPr bwMode="auto">
          <a:xfrm>
            <a:off x="638033" y="1217021"/>
            <a:ext cx="16597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② 规则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集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库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矩形 12"/>
          <p:cNvSpPr/>
          <p:nvPr/>
        </p:nvSpPr>
        <p:spPr>
          <a:xfrm>
            <a:off x="1502399" y="2924944"/>
            <a:ext cx="6552728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其中：“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”是产生式的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前提</a:t>
            </a: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，“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”是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结论</a:t>
            </a: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1"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Certainty Factor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确定性因子</a:t>
            </a: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置信度</a:t>
            </a:r>
            <a:r>
              <a:rPr kumimoji="1"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kumimoji="1"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11560" y="3915366"/>
            <a:ext cx="7848600" cy="2032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1950" indent="-3619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每条产生式规则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右部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两部分</a:t>
            </a:r>
            <a:r>
              <a:rPr lang="en-US" altLang="zh-CN" sz="2000" b="0" dirty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</a:p>
          <a:p>
            <a:pPr marL="704850" indent="-261938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左部：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激活规则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前提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规则前件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04850" indent="-261938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右部：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调用规则后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行为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规则后件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结论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“左部→右部”构成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“条件→动作”对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89706" y="2276872"/>
            <a:ext cx="5917713" cy="578983"/>
            <a:chOff x="697488" y="2348880"/>
            <a:chExt cx="5917713" cy="57898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1720" y="2348880"/>
              <a:ext cx="4563481" cy="578983"/>
            </a:xfrm>
            <a:prstGeom prst="rect">
              <a:avLst/>
            </a:prstGeom>
          </p:spPr>
        </p:pic>
        <p:sp>
          <p:nvSpPr>
            <p:cNvPr id="17" name="矩形 5"/>
            <p:cNvSpPr>
              <a:spLocks noChangeArrowheads="1"/>
            </p:cNvSpPr>
            <p:nvPr/>
          </p:nvSpPr>
          <p:spPr bwMode="auto">
            <a:xfrm>
              <a:off x="697488" y="2475974"/>
              <a:ext cx="13309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609600" indent="-609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0000"/>
                </a:lnSpc>
              </a:pP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一般形式：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817320" y="192115"/>
            <a:ext cx="2715120" cy="1351687"/>
            <a:chOff x="5817320" y="192115"/>
            <a:chExt cx="2715120" cy="1351687"/>
          </a:xfrm>
        </p:grpSpPr>
        <p:graphicFrame>
          <p:nvGraphicFramePr>
            <p:cNvPr id="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9185232"/>
                </p:ext>
              </p:extLst>
            </p:nvPr>
          </p:nvGraphicFramePr>
          <p:xfrm>
            <a:off x="5868144" y="192115"/>
            <a:ext cx="2664296" cy="1292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Visio" r:id="rId4" imgW="5178247" imgH="2092147" progId="Visio.Drawing.11">
                    <p:embed/>
                  </p:oleObj>
                </mc:Choice>
                <mc:Fallback>
                  <p:oleObj name="Visio" r:id="rId4" imgW="5178247" imgH="2092147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8144" y="192115"/>
                          <a:ext cx="2664296" cy="1292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椭圆 9"/>
            <p:cNvSpPr/>
            <p:nvPr/>
          </p:nvSpPr>
          <p:spPr bwMode="auto">
            <a:xfrm>
              <a:off x="5817320" y="967738"/>
              <a:ext cx="1080120" cy="576064"/>
            </a:xfrm>
            <a:prstGeom prst="ellipse">
              <a:avLst/>
            </a:prstGeom>
            <a:noFill/>
            <a:ln w="222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1772816"/>
            <a:ext cx="5904656" cy="3231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+mn-ea"/>
                <a:ea typeface="+mn-ea"/>
              </a:rPr>
              <a:t>&lt;产生式&gt; ::=  &lt;前提&gt; </a:t>
            </a:r>
            <a:r>
              <a:rPr kumimoji="1" lang="en-US" altLang="zh-CN" sz="2000" dirty="0">
                <a:latin typeface="+mn-ea"/>
                <a:ea typeface="+mn-ea"/>
                <a:sym typeface="Symbol" panose="05050102010706020507" pitchFamily="18" charset="2"/>
              </a:rPr>
              <a:t></a:t>
            </a:r>
            <a:r>
              <a:rPr kumimoji="1" lang="zh-CN" altLang="en-US" sz="2000" dirty="0">
                <a:latin typeface="+mn-ea"/>
                <a:ea typeface="+mn-ea"/>
              </a:rPr>
              <a:t> &lt;结论&gt;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+mn-ea"/>
                <a:ea typeface="+mn-ea"/>
              </a:rPr>
              <a:t>&lt;前提&gt; ::= &lt;简单条件&gt; | &lt;复合条件&gt;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+mn-ea"/>
                <a:ea typeface="+mn-ea"/>
              </a:rPr>
              <a:t>&lt;结论&gt; ::= &lt;事实&gt; | &lt;操作&gt;</a:t>
            </a:r>
          </a:p>
          <a:p>
            <a:pPr>
              <a:spcBef>
                <a:spcPct val="50000"/>
              </a:spcBef>
            </a:pPr>
            <a:r>
              <a:rPr kumimoji="1" lang="zh-CN" altLang="en-US" sz="2000" dirty="0">
                <a:latin typeface="+mn-ea"/>
                <a:ea typeface="+mn-ea"/>
              </a:rPr>
              <a:t>&lt;复合条件&gt; ::= &lt;简单条件&gt; </a:t>
            </a:r>
            <a:r>
              <a:rPr kumimoji="1" lang="en-US" altLang="zh-CN" sz="2000" dirty="0">
                <a:latin typeface="+mn-ea"/>
                <a:ea typeface="+mn-ea"/>
              </a:rPr>
              <a:t>AND &lt;</a:t>
            </a:r>
            <a:r>
              <a:rPr kumimoji="1" lang="zh-CN" altLang="en-US" sz="2000" dirty="0">
                <a:latin typeface="+mn-ea"/>
                <a:ea typeface="+mn-ea"/>
              </a:rPr>
              <a:t>简单条件&gt; </a:t>
            </a:r>
            <a:r>
              <a:rPr kumimoji="1" lang="en-US" altLang="zh-CN" sz="2000" dirty="0">
                <a:latin typeface="+mn-ea"/>
                <a:ea typeface="+mn-ea"/>
              </a:rPr>
              <a:t>...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dirty="0">
                <a:latin typeface="+mn-ea"/>
                <a:ea typeface="+mn-ea"/>
              </a:rPr>
              <a:t>               &lt;</a:t>
            </a:r>
            <a:r>
              <a:rPr kumimoji="1" lang="zh-CN" altLang="en-US" sz="2000" dirty="0">
                <a:latin typeface="+mn-ea"/>
                <a:ea typeface="+mn-ea"/>
              </a:rPr>
              <a:t>简单条件&gt; </a:t>
            </a:r>
            <a:r>
              <a:rPr kumimoji="1" lang="en-US" altLang="zh-CN" sz="2000" dirty="0">
                <a:latin typeface="+mn-ea"/>
                <a:ea typeface="+mn-ea"/>
              </a:rPr>
              <a:t>OR &lt;</a:t>
            </a:r>
            <a:r>
              <a:rPr kumimoji="1" lang="zh-CN" altLang="en-US" sz="2000" dirty="0">
                <a:latin typeface="+mn-ea"/>
                <a:ea typeface="+mn-ea"/>
              </a:rPr>
              <a:t>简单条件&gt; </a:t>
            </a:r>
            <a:r>
              <a:rPr kumimoji="1" lang="en-US" altLang="zh-CN" sz="2000" dirty="0">
                <a:latin typeface="+mn-ea"/>
                <a:ea typeface="+mn-ea"/>
              </a:rPr>
              <a:t>... 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+mn-ea"/>
                <a:ea typeface="+mn-ea"/>
              </a:rPr>
              <a:t>&lt;</a:t>
            </a:r>
            <a:r>
              <a:rPr kumimoji="1" lang="zh-CN" altLang="en-US" sz="2000" dirty="0">
                <a:latin typeface="+mn-ea"/>
                <a:ea typeface="+mn-ea"/>
              </a:rPr>
              <a:t>操作&gt; ::= &lt;操作名&gt; [(&lt;变元&gt;, ...)]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5836" y="1156212"/>
            <a:ext cx="2322752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dirty="0">
                <a:latin typeface="+mn-ea"/>
                <a:ea typeface="+mn-ea"/>
              </a:rPr>
              <a:t>产生式形式及语义：</a:t>
            </a:r>
          </a:p>
        </p:txBody>
      </p:sp>
    </p:spTree>
    <p:extLst>
      <p:ext uri="{BB962C8B-B14F-4D97-AF65-F5344CB8AC3E}">
        <p14:creationId xmlns:p14="http://schemas.microsoft.com/office/powerpoint/2010/main" val="37061386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06000" y="1782052"/>
            <a:ext cx="8070456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just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</a:rPr>
              <a:t>根据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建立的规则</a:t>
            </a:r>
            <a:r>
              <a:rPr lang="zh-CN" altLang="en-US" sz="2000" dirty="0">
                <a:latin typeface="+mn-ea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选择</a:t>
            </a:r>
            <a:r>
              <a:rPr lang="zh-CN" altLang="en-US" sz="2000" dirty="0">
                <a:latin typeface="+mn-ea"/>
              </a:rPr>
              <a:t>相应的控制策略。（控制型）</a:t>
            </a:r>
            <a:endParaRPr lang="en-US" altLang="zh-CN" sz="2000" dirty="0">
              <a:latin typeface="+mn-ea"/>
            </a:endParaRPr>
          </a:p>
          <a:p>
            <a:pPr marL="265113" indent="-265113" algn="just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</a:rPr>
              <a:t>通过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规则</a:t>
            </a:r>
            <a:r>
              <a:rPr lang="zh-CN" altLang="en-US" sz="2000" dirty="0">
                <a:latin typeface="+mn-ea"/>
              </a:rPr>
              <a:t>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事实</a:t>
            </a:r>
            <a:r>
              <a:rPr lang="zh-CN" altLang="en-US" sz="2000" dirty="0">
                <a:latin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匹配</a:t>
            </a:r>
            <a:r>
              <a:rPr lang="zh-CN" altLang="en-US" sz="2000" dirty="0">
                <a:latin typeface="+mn-ea"/>
              </a:rPr>
              <a:t>，实现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知识推理</a:t>
            </a:r>
            <a:r>
              <a:rPr lang="zh-CN" altLang="en-US" sz="2000" dirty="0">
                <a:latin typeface="+mn-ea"/>
              </a:rPr>
              <a:t>。（求解问题）</a:t>
            </a:r>
            <a:endParaRPr lang="en-US" altLang="zh-CN" sz="2000" dirty="0">
              <a:latin typeface="+mn-ea"/>
            </a:endParaRPr>
          </a:p>
          <a:p>
            <a:pPr marL="265113" indent="-265113" algn="just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选择规则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到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执行操作</a:t>
            </a:r>
            <a:r>
              <a:rPr lang="zh-CN" altLang="en-US" sz="2000" dirty="0">
                <a:latin typeface="+mn-ea"/>
              </a:rPr>
              <a:t>分</a:t>
            </a:r>
            <a:r>
              <a:rPr lang="en-US" altLang="zh-CN" sz="2000" dirty="0">
                <a:latin typeface="+mn-ea"/>
              </a:rPr>
              <a:t>3</a:t>
            </a:r>
            <a:r>
              <a:rPr lang="zh-CN" altLang="en-US" sz="2000" dirty="0">
                <a:latin typeface="+mn-ea"/>
              </a:rPr>
              <a:t>步：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匹配</a:t>
            </a:r>
            <a:r>
              <a:rPr lang="zh-CN" altLang="zh-CN" sz="2000" dirty="0">
                <a:latin typeface="+mn-ea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冲突解决</a:t>
            </a:r>
            <a:r>
              <a:rPr lang="zh-CN" altLang="zh-CN" sz="2000" dirty="0">
                <a:latin typeface="+mn-ea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操作</a:t>
            </a:r>
            <a:endParaRPr lang="en-US" altLang="zh-CN" sz="2000" dirty="0">
              <a:latin typeface="+mn-ea"/>
            </a:endParaRPr>
          </a:p>
          <a:p>
            <a:pPr marL="0" indent="0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+mn-ea"/>
              </a:rPr>
              <a:t>  </a:t>
            </a:r>
            <a:r>
              <a:rPr lang="zh-CN" altLang="zh-CN" sz="2000" dirty="0">
                <a:latin typeface="+mn-ea"/>
              </a:rPr>
              <a:t>其中</a:t>
            </a:r>
            <a:r>
              <a:rPr lang="zh-CN" altLang="en-US" sz="2000" dirty="0">
                <a:latin typeface="+mn-ea"/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匹配器</a:t>
            </a:r>
            <a:r>
              <a:rPr lang="en-US" altLang="zh-CN" sz="2000" b="0" dirty="0">
                <a:latin typeface="+mn-ea"/>
              </a:rPr>
              <a:t>--</a:t>
            </a:r>
            <a:r>
              <a:rPr lang="zh-CN" altLang="zh-CN" sz="2000" dirty="0">
                <a:latin typeface="+mn-ea"/>
              </a:rPr>
              <a:t>负责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判断</a:t>
            </a:r>
            <a:r>
              <a:rPr lang="zh-CN" altLang="zh-CN" sz="2000" u="wavyHeavy" dirty="0">
                <a:latin typeface="+mn-ea"/>
              </a:rPr>
              <a:t>规则</a:t>
            </a:r>
            <a:r>
              <a:rPr lang="zh-CN" altLang="en-US" sz="2000" u="wavyHeavy" dirty="0">
                <a:latin typeface="+mn-ea"/>
              </a:rPr>
              <a:t>的</a:t>
            </a:r>
            <a:r>
              <a:rPr lang="zh-CN" altLang="zh-CN" sz="2000" u="wavyHeavy" dirty="0">
                <a:solidFill>
                  <a:srgbClr val="0000FF"/>
                </a:solidFill>
                <a:latin typeface="+mn-ea"/>
              </a:rPr>
              <a:t>条件</a:t>
            </a:r>
            <a:r>
              <a:rPr lang="zh-CN" altLang="zh-CN" sz="2000" dirty="0">
                <a:latin typeface="+mn-ea"/>
              </a:rPr>
              <a:t>是否成立；</a:t>
            </a:r>
          </a:p>
          <a:p>
            <a:pPr marL="0" indent="0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+mn-ea"/>
              </a:rPr>
              <a:t>        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冲突解决器</a:t>
            </a:r>
            <a:r>
              <a:rPr lang="en-US" altLang="zh-CN" sz="2000" b="0" dirty="0">
                <a:latin typeface="+mn-ea"/>
              </a:rPr>
              <a:t>--</a:t>
            </a:r>
            <a:r>
              <a:rPr lang="zh-CN" altLang="zh-CN" sz="2000" dirty="0">
                <a:latin typeface="+mn-ea"/>
              </a:rPr>
              <a:t>负责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选择</a:t>
            </a:r>
            <a:r>
              <a:rPr lang="zh-CN" altLang="zh-CN" sz="2000" u="wavyHeavy" dirty="0">
                <a:latin typeface="+mn-ea"/>
              </a:rPr>
              <a:t>可调用的规则</a:t>
            </a:r>
            <a:r>
              <a:rPr lang="zh-CN" altLang="zh-CN" sz="2000" dirty="0">
                <a:latin typeface="+mn-ea"/>
              </a:rPr>
              <a:t>；</a:t>
            </a:r>
          </a:p>
          <a:p>
            <a: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+mn-ea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操作</a:t>
            </a:r>
            <a:r>
              <a:rPr lang="en-US" altLang="zh-CN" sz="2000" b="0" dirty="0">
                <a:latin typeface="+mn-ea"/>
              </a:rPr>
              <a:t>--</a:t>
            </a:r>
            <a:r>
              <a:rPr lang="zh-CN" altLang="zh-CN" sz="2000" dirty="0">
                <a:latin typeface="+mn-ea"/>
              </a:rPr>
              <a:t>负责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执行</a:t>
            </a:r>
            <a:r>
              <a:rPr lang="zh-CN" altLang="zh-CN" sz="2000" u="wavyHeavy" dirty="0">
                <a:latin typeface="+mn-ea"/>
              </a:rPr>
              <a:t>规则的动作</a:t>
            </a:r>
            <a:r>
              <a:rPr lang="zh-CN" altLang="zh-CN" sz="2000" dirty="0">
                <a:latin typeface="+mn-ea"/>
              </a:rPr>
              <a:t>，并在</a:t>
            </a:r>
            <a:r>
              <a:rPr lang="zh-CN" altLang="zh-CN" sz="2000" u="sng" dirty="0">
                <a:latin typeface="+mn-ea"/>
              </a:rPr>
              <a:t>满足结束条件</a:t>
            </a:r>
            <a:r>
              <a:rPr lang="zh-CN" altLang="zh-CN" sz="2000" dirty="0">
                <a:latin typeface="+mn-ea"/>
              </a:rPr>
              <a:t>时</a:t>
            </a:r>
            <a:r>
              <a:rPr lang="zh-CN" altLang="en-US" sz="2000" dirty="0">
                <a:latin typeface="+mn-ea"/>
              </a:rPr>
              <a:t>终止产生式</a:t>
            </a:r>
            <a:endParaRPr lang="en-US" altLang="zh-CN" sz="2000" dirty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+mn-ea"/>
              </a:rPr>
              <a:t>              </a:t>
            </a:r>
            <a:r>
              <a:rPr lang="zh-CN" altLang="zh-CN" sz="2000" dirty="0">
                <a:latin typeface="+mn-ea"/>
              </a:rPr>
              <a:t>系统的运行。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8915" name="矩形 4"/>
          <p:cNvSpPr>
            <a:spLocks noChangeArrowheads="1"/>
          </p:cNvSpPr>
          <p:nvPr/>
        </p:nvSpPr>
        <p:spPr bwMode="auto">
          <a:xfrm>
            <a:off x="639269" y="1175457"/>
            <a:ext cx="25202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③ 规则解释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控制器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089689"/>
              </p:ext>
            </p:extLst>
          </p:nvPr>
        </p:nvGraphicFramePr>
        <p:xfrm>
          <a:off x="5868144" y="192115"/>
          <a:ext cx="2664296" cy="1292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Visio" r:id="rId3" imgW="5178247" imgH="2092147" progId="Visio.Drawing.11">
                  <p:embed/>
                </p:oleObj>
              </mc:Choice>
              <mc:Fallback>
                <p:oleObj name="Visio" r:id="rId3" imgW="5178247" imgH="209214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92115"/>
                        <a:ext cx="2664296" cy="1292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 bwMode="auto">
          <a:xfrm>
            <a:off x="6660232" y="121054"/>
            <a:ext cx="1080120" cy="576064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3"/>
          <p:cNvSpPr>
            <a:spLocks noChangeArrowheads="1"/>
          </p:cNvSpPr>
          <p:nvPr/>
        </p:nvSpPr>
        <p:spPr bwMode="auto">
          <a:xfrm>
            <a:off x="629666" y="1819648"/>
            <a:ext cx="7951452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ts val="35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将</a:t>
            </a:r>
            <a:r>
              <a:rPr lang="zh-CN" altLang="en-US" sz="2000" u="wavyHeavy" dirty="0">
                <a:latin typeface="+mn-ea"/>
                <a:ea typeface="+mn-ea"/>
              </a:rPr>
              <a:t>事实库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观察数据集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中的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知识</a:t>
            </a:r>
            <a:r>
              <a:rPr lang="zh-CN" altLang="en-US" sz="2000" dirty="0">
                <a:latin typeface="+mn-ea"/>
                <a:ea typeface="+mn-ea"/>
              </a:rPr>
              <a:t>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规则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条件</a:t>
            </a:r>
            <a:r>
              <a:rPr lang="zh-CN" altLang="en-US" sz="2000" dirty="0">
                <a:latin typeface="+mn-ea"/>
                <a:ea typeface="+mn-ea"/>
              </a:rPr>
              <a:t>进行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匹配</a:t>
            </a:r>
            <a:endParaRPr lang="en-US" altLang="zh-CN" sz="2000" dirty="0">
              <a:latin typeface="+mn-ea"/>
              <a:ea typeface="+mn-ea"/>
            </a:endParaRPr>
          </a:p>
          <a:p>
            <a:pPr marL="628650" indent="-266700" algn="just">
              <a:lnSpc>
                <a:spcPts val="35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</a:rPr>
              <a:t>若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两者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完全匹配</a:t>
            </a:r>
            <a:r>
              <a:rPr lang="zh-CN" altLang="en-US" sz="2000" dirty="0">
                <a:latin typeface="+mn-ea"/>
                <a:ea typeface="+mn-ea"/>
              </a:rPr>
              <a:t>，该条规则称为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触发规则</a:t>
            </a:r>
            <a:r>
              <a:rPr lang="zh-CN" altLang="en-US" sz="2000" dirty="0">
                <a:latin typeface="+mn-ea"/>
                <a:ea typeface="+mn-ea"/>
              </a:rPr>
              <a:t>；当按该规则的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操作部分</a:t>
            </a:r>
            <a:r>
              <a:rPr lang="zh-CN" altLang="en-US" sz="2000" u="wavyHeavy" dirty="0">
                <a:latin typeface="+mn-ea"/>
                <a:ea typeface="+mn-ea"/>
              </a:rPr>
              <a:t>执行</a:t>
            </a:r>
            <a:r>
              <a:rPr lang="zh-CN" altLang="en-US" sz="2000" dirty="0">
                <a:latin typeface="+mn-ea"/>
                <a:ea typeface="+mn-ea"/>
              </a:rPr>
              <a:t>时，称该条规则为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启用规则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 marL="628650" indent="-266700" algn="just">
              <a:lnSpc>
                <a:spcPts val="3500"/>
              </a:lnSpc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触发规则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不一定就是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启用规则</a:t>
            </a:r>
            <a:r>
              <a:rPr lang="zh-CN" altLang="en-US" sz="2000" dirty="0">
                <a:latin typeface="+mn-ea"/>
                <a:ea typeface="+mn-ea"/>
              </a:rPr>
              <a:t>，因为可能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同时有</a:t>
            </a:r>
            <a:r>
              <a:rPr lang="zh-CN" altLang="en-US" sz="2000" u="wavyHeavy" dirty="0">
                <a:latin typeface="+mn-ea"/>
                <a:ea typeface="+mn-ea"/>
              </a:rPr>
              <a:t>若干条规则的条件部分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都满足</a:t>
            </a:r>
            <a:r>
              <a:rPr lang="zh-CN" altLang="en-US" sz="2000" dirty="0">
                <a:latin typeface="+mn-ea"/>
                <a:ea typeface="+mn-ea"/>
              </a:rPr>
              <a:t>，需要在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解决冲突步骤</a:t>
            </a:r>
            <a:r>
              <a:rPr lang="zh-CN" altLang="en-US" sz="2000" dirty="0">
                <a:latin typeface="+mn-ea"/>
                <a:ea typeface="+mn-ea"/>
              </a:rPr>
              <a:t>中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消解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 algn="just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复杂情况时，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事实库</a:t>
            </a:r>
            <a:r>
              <a:rPr lang="zh-CN" altLang="en-US" sz="2000" dirty="0">
                <a:latin typeface="+mn-ea"/>
                <a:ea typeface="+mn-ea"/>
              </a:rPr>
              <a:t>与</a:t>
            </a:r>
            <a:r>
              <a:rPr lang="zh-CN" altLang="en-US" sz="2000" u="wavyHeavy" dirty="0">
                <a:latin typeface="+mn-ea"/>
                <a:ea typeface="+mn-ea"/>
              </a:rPr>
              <a:t>规则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条件部分</a:t>
            </a:r>
            <a:r>
              <a:rPr lang="zh-CN" altLang="en-US" sz="2000" dirty="0">
                <a:latin typeface="+mn-ea"/>
                <a:ea typeface="+mn-ea"/>
              </a:rPr>
              <a:t>，需要进行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近似匹配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9939" name="矩形 1"/>
          <p:cNvSpPr>
            <a:spLocks noChangeArrowheads="1"/>
          </p:cNvSpPr>
          <p:nvPr/>
        </p:nvSpPr>
        <p:spPr bwMode="auto">
          <a:xfrm>
            <a:off x="641994" y="1202835"/>
            <a:ext cx="8336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ea typeface="+mn-ea"/>
              </a:rPr>
              <a:t>匹配</a:t>
            </a:r>
            <a:endParaRPr lang="en-US" altLang="zh-CN" sz="2000" dirty="0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99992" y="476672"/>
            <a:ext cx="4081126" cy="936104"/>
            <a:chOff x="4550420" y="264131"/>
            <a:chExt cx="4081126" cy="936104"/>
          </a:xfrm>
        </p:grpSpPr>
        <p:sp>
          <p:nvSpPr>
            <p:cNvPr id="5" name="矩形 4"/>
            <p:cNvSpPr/>
            <p:nvPr/>
          </p:nvSpPr>
          <p:spPr bwMode="auto">
            <a:xfrm>
              <a:off x="4550420" y="264131"/>
              <a:ext cx="1389732" cy="93610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 </a:t>
              </a:r>
              <a:r>
                <a: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条件</a:t>
              </a: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b="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↓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THEN </a:t>
              </a:r>
              <a:r>
                <a: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操作</a:t>
              </a: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7191584" y="408147"/>
              <a:ext cx="1439962" cy="64807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事实</a:t>
              </a:r>
              <a:endPara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（知识）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 bwMode="auto">
            <a:xfrm flipH="1" flipV="1">
              <a:off x="5702548" y="480155"/>
              <a:ext cx="1848728" cy="7200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 txBox="1">
            <a:spLocks noChangeArrowheads="1"/>
          </p:cNvSpPr>
          <p:nvPr/>
        </p:nvSpPr>
        <p:spPr bwMode="auto">
          <a:xfrm>
            <a:off x="611560" y="1824608"/>
            <a:ext cx="7943850" cy="88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ts val="35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当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事实库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观察样本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多条规则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同时匹配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，即需要决定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首先使用哪一条规则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0391" y="1169651"/>
            <a:ext cx="132932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冲突解决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50390" y="2924944"/>
            <a:ext cx="8026066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ea typeface="+mn-ea"/>
              </a:rPr>
              <a:t>操作</a:t>
            </a:r>
            <a:endParaRPr lang="en-US" altLang="zh-CN" sz="2000" dirty="0">
              <a:latin typeface="+mn-ea"/>
              <a:ea typeface="+mn-ea"/>
            </a:endParaRPr>
          </a:p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执行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规则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u="wavyHeavy" dirty="0">
                <a:latin typeface="+mn-ea"/>
                <a:ea typeface="+mn-ea"/>
              </a:rPr>
              <a:t>操作部分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后件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 algn="just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操作结果：</a:t>
            </a:r>
            <a:r>
              <a:rPr lang="zh-CN" altLang="en-US" sz="2000" u="wavyHeavy" dirty="0">
                <a:latin typeface="+mn-ea"/>
                <a:ea typeface="+mn-ea"/>
              </a:rPr>
              <a:t>当前事实库</a:t>
            </a:r>
            <a:r>
              <a:rPr lang="zh-CN" altLang="en-US" sz="2000" dirty="0">
                <a:latin typeface="+mn-ea"/>
                <a:ea typeface="+mn-ea"/>
              </a:rPr>
              <a:t>中的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知识被更新</a:t>
            </a:r>
            <a:r>
              <a:rPr lang="zh-CN" altLang="en-US" sz="2000" dirty="0">
                <a:latin typeface="+mn-ea"/>
                <a:ea typeface="+mn-ea"/>
              </a:rPr>
              <a:t>。然后，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其它未用规则</a:t>
            </a:r>
            <a:r>
              <a:rPr lang="zh-CN" altLang="en-US" sz="2000" dirty="0">
                <a:latin typeface="+mn-ea"/>
                <a:ea typeface="+mn-ea"/>
              </a:rPr>
              <a:t>才有</a:t>
            </a:r>
            <a:endParaRPr lang="en-US" altLang="zh-CN" sz="2000" dirty="0">
              <a:latin typeface="+mn-ea"/>
              <a:ea typeface="+mn-ea"/>
            </a:endParaRPr>
          </a:p>
          <a:p>
            <a:pPr algn="just">
              <a:lnSpc>
                <a:spcPts val="32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+mn-ea"/>
                <a:ea typeface="+mn-ea"/>
              </a:rPr>
              <a:t>              </a:t>
            </a:r>
            <a:r>
              <a:rPr lang="zh-CN" altLang="en-US" sz="2000" dirty="0">
                <a:latin typeface="+mn-ea"/>
                <a:ea typeface="+mn-ea"/>
              </a:rPr>
              <a:t>可能被使用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进入下一轮循环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21044" y="1872120"/>
            <a:ext cx="8055412" cy="249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lnSpc>
                <a:spcPts val="33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左部</a:t>
            </a:r>
            <a:r>
              <a:rPr lang="zh-CN" altLang="en-US" sz="2000" dirty="0">
                <a:latin typeface="+mn-ea"/>
              </a:rPr>
              <a:t>是一组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复杂模式</a:t>
            </a:r>
            <a:r>
              <a:rPr lang="zh-CN" altLang="en-US" sz="2000" dirty="0">
                <a:latin typeface="+mn-ea"/>
              </a:rPr>
              <a:t>，而不仅仅是一个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布尔表达式</a:t>
            </a:r>
            <a:r>
              <a:rPr lang="zh-CN" altLang="en-US" sz="2000" dirty="0">
                <a:latin typeface="+mn-ea"/>
              </a:rPr>
              <a:t>。</a:t>
            </a:r>
          </a:p>
          <a:p>
            <a:pPr marL="361950" indent="-361950">
              <a:lnSpc>
                <a:spcPts val="33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latin typeface="+mn-ea"/>
              </a:rPr>
              <a:t>规则之间的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控制流</a:t>
            </a: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pPr marL="720725" lvl="1" indent="-249238">
              <a:lnSpc>
                <a:spcPts val="33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+mn-ea"/>
              </a:rPr>
              <a:t>并非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传统语言</a:t>
            </a:r>
            <a:r>
              <a:rPr lang="zh-CN" altLang="en-US" sz="2000" dirty="0">
                <a:latin typeface="+mn-ea"/>
              </a:rPr>
              <a:t>中</a:t>
            </a:r>
            <a:r>
              <a:rPr lang="zh-CN" altLang="en-US" sz="2000" u="sng" dirty="0">
                <a:latin typeface="+mn-ea"/>
              </a:rPr>
              <a:t>从一条语句向下一条语句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传递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720725" lvl="1" indent="-249238">
              <a:lnSpc>
                <a:spcPts val="33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满足条件的规则被激活，但不一定执行</a:t>
            </a:r>
            <a:r>
              <a:rPr lang="zh-CN" altLang="en-US" sz="2000" dirty="0">
                <a:latin typeface="+mn-ea"/>
              </a:rPr>
              <a:t>，取决于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冲突消解策略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361950" indent="-361950">
              <a:lnSpc>
                <a:spcPts val="33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条件语句</a:t>
            </a:r>
            <a:r>
              <a:rPr lang="zh-CN" altLang="en-US" sz="2000" dirty="0">
                <a:latin typeface="+mn-ea"/>
              </a:rPr>
              <a:t>可视为产生式规则的一种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特殊形式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1987" name="矩形 1"/>
          <p:cNvSpPr>
            <a:spLocks noChangeArrowheads="1"/>
          </p:cNvSpPr>
          <p:nvPr/>
        </p:nvSpPr>
        <p:spPr bwMode="auto">
          <a:xfrm>
            <a:off x="639516" y="1160415"/>
            <a:ext cx="54009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产生式规则</a:t>
            </a:r>
            <a:r>
              <a:rPr lang="zh-CN" altLang="en-US" sz="2000" dirty="0">
                <a:latin typeface="+mn-ea"/>
                <a:ea typeface="+mn-ea"/>
              </a:rPr>
              <a:t>与传统程序设计中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条件语句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区别：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9928" y="1098916"/>
            <a:ext cx="4248472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kumimoji="1" lang="zh-CN" altLang="en-US" sz="2000" dirty="0">
                <a:solidFill>
                  <a:schemeClr val="tx2"/>
                </a:solidFill>
                <a:latin typeface="+mn-ea"/>
                <a:ea typeface="+mn-ea"/>
              </a:rPr>
              <a:t>⑵、产生式系统求解问题的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一般步骤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9928" y="1832818"/>
            <a:ext cx="8190544" cy="34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1200"/>
              </a:spcAft>
            </a:pP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① 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初始化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综合数据库</a:t>
            </a:r>
            <a:r>
              <a:rPr kumimoji="1" lang="zh-CN" altLang="en-US" dirty="0">
                <a:latin typeface="+mn-ea"/>
                <a:ea typeface="+mn-ea"/>
              </a:rPr>
              <a:t>，将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初始已知事实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送入</a:t>
            </a:r>
            <a:r>
              <a:rPr kumimoji="1" lang="zh-CN" altLang="en-US" dirty="0">
                <a:latin typeface="+mn-ea"/>
                <a:ea typeface="+mn-ea"/>
              </a:rPr>
              <a:t>综合数据库</a:t>
            </a:r>
            <a:r>
              <a:rPr kumimoji="1" lang="en-US" altLang="zh-CN" dirty="0">
                <a:latin typeface="+mn-ea"/>
                <a:ea typeface="+mn-ea"/>
              </a:rPr>
              <a:t>(</a:t>
            </a:r>
            <a:r>
              <a:rPr kumimoji="1" lang="zh-CN" altLang="en-US" dirty="0">
                <a:latin typeface="+mn-ea"/>
                <a:ea typeface="+mn-ea"/>
              </a:rPr>
              <a:t>事实库</a:t>
            </a:r>
            <a:r>
              <a:rPr kumimoji="1" lang="en-US" altLang="zh-CN" dirty="0">
                <a:latin typeface="+mn-ea"/>
                <a:ea typeface="+mn-ea"/>
              </a:rPr>
              <a:t>)</a:t>
            </a:r>
            <a:r>
              <a:rPr kumimoji="1" lang="zh-CN" altLang="en-US" dirty="0">
                <a:latin typeface="+mn-ea"/>
                <a:ea typeface="+mn-ea"/>
              </a:rPr>
              <a:t>。</a:t>
            </a:r>
          </a:p>
          <a:p>
            <a:pPr>
              <a:lnSpc>
                <a:spcPts val="2700"/>
              </a:lnSpc>
              <a:spcBef>
                <a:spcPts val="0"/>
              </a:spcBef>
            </a:pPr>
            <a:r>
              <a:rPr kumimoji="1" lang="zh-CN" altLang="en-US" dirty="0">
                <a:latin typeface="+mn-ea"/>
                <a:ea typeface="+mn-ea"/>
              </a:rPr>
              <a:t>② 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若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规则库</a:t>
            </a:r>
            <a:r>
              <a:rPr kumimoji="1" lang="en-US" altLang="zh-CN" dirty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集</a:t>
            </a:r>
            <a:r>
              <a:rPr kumimoji="1" lang="en-US" altLang="zh-CN" dirty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中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有未使用过的规则</a:t>
            </a:r>
            <a:r>
              <a:rPr kumimoji="1" lang="zh-CN" altLang="en-US" dirty="0">
                <a:latin typeface="+mn-ea"/>
                <a:ea typeface="+mn-ea"/>
              </a:rPr>
              <a:t>，且其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前提</a:t>
            </a:r>
            <a:r>
              <a:rPr kumimoji="1" lang="zh-CN" altLang="en-US" dirty="0">
                <a:latin typeface="+mn-ea"/>
                <a:ea typeface="+mn-ea"/>
              </a:rPr>
              <a:t>可与综合数据库中的</a:t>
            </a:r>
            <a:r>
              <a:rPr kumimoji="1" lang="zh-CN" altLang="en-US" u="wavyHeavy" dirty="0">
                <a:solidFill>
                  <a:srgbClr val="0000FF"/>
                </a:solidFill>
                <a:latin typeface="+mn-ea"/>
                <a:ea typeface="+mn-ea"/>
              </a:rPr>
              <a:t>已知事实</a:t>
            </a:r>
            <a:endParaRPr kumimoji="1" lang="en-US" altLang="zh-CN" u="wavyHeavy" dirty="0">
              <a:solidFill>
                <a:srgbClr val="0000FF"/>
              </a:solidFill>
              <a:latin typeface="+mn-ea"/>
              <a:ea typeface="+mn-ea"/>
            </a:endParaRP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1200"/>
              </a:spcAft>
            </a:pPr>
            <a:r>
              <a:rPr kumimoji="1" lang="zh-CN" altLang="en-US" dirty="0">
                <a:latin typeface="+mn-ea"/>
                <a:ea typeface="+mn-ea"/>
              </a:rPr>
              <a:t>   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匹配</a:t>
            </a:r>
            <a:r>
              <a:rPr kumimoji="1" lang="zh-CN" altLang="en-US" dirty="0">
                <a:latin typeface="+mn-ea"/>
                <a:ea typeface="+mn-ea"/>
              </a:rPr>
              <a:t>，继续。若不存在这样的事实，转⑤</a:t>
            </a:r>
            <a:r>
              <a:rPr kumimoji="1" lang="en-US" altLang="zh-CN" dirty="0">
                <a:latin typeface="+mn-ea"/>
                <a:ea typeface="+mn-ea"/>
              </a:rPr>
              <a:t>-</a:t>
            </a:r>
            <a:r>
              <a:rPr kumimoji="1" lang="zh-CN" altLang="en-US" dirty="0">
                <a:latin typeface="+mn-ea"/>
                <a:ea typeface="+mn-ea"/>
              </a:rPr>
              <a:t>提供更多事实。</a:t>
            </a:r>
          </a:p>
          <a:p>
            <a:pPr>
              <a:lnSpc>
                <a:spcPts val="2700"/>
              </a:lnSpc>
              <a:spcBef>
                <a:spcPts val="0"/>
              </a:spcBef>
            </a:pPr>
            <a:r>
              <a:rPr kumimoji="1" lang="zh-CN" altLang="en-US" dirty="0">
                <a:latin typeface="+mn-ea"/>
                <a:ea typeface="+mn-ea"/>
              </a:rPr>
              <a:t>③ 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执行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当前选中的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规则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，对该规则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做标记</a:t>
            </a:r>
            <a:r>
              <a:rPr kumimoji="1" lang="zh-CN" altLang="en-US" dirty="0">
                <a:latin typeface="+mn-ea"/>
                <a:ea typeface="+mn-ea"/>
              </a:rPr>
              <a:t>，并将</a:t>
            </a:r>
            <a:r>
              <a:rPr kumimoji="1" lang="zh-CN" altLang="en-US" u="wavyHeavy" dirty="0">
                <a:latin typeface="+mn-ea"/>
                <a:ea typeface="+mn-ea"/>
              </a:rPr>
              <a:t>执行后得到的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结论</a:t>
            </a:r>
            <a:r>
              <a:rPr kumimoji="1" lang="en-US" altLang="zh-CN" dirty="0">
                <a:latin typeface="+mn-ea"/>
                <a:ea typeface="+mn-ea"/>
              </a:rPr>
              <a:t>(</a:t>
            </a:r>
            <a:r>
              <a:rPr kumimoji="1" lang="zh-CN" altLang="en-US" dirty="0">
                <a:latin typeface="+mn-ea"/>
                <a:ea typeface="+mn-ea"/>
              </a:rPr>
              <a:t>中间结论</a:t>
            </a:r>
            <a:r>
              <a:rPr kumimoji="1" lang="en-US" altLang="zh-CN" dirty="0">
                <a:latin typeface="+mn-ea"/>
                <a:ea typeface="+mn-ea"/>
              </a:rPr>
              <a:t>)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加 </a:t>
            </a:r>
            <a:endParaRPr kumimoji="1"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1200"/>
              </a:spcAft>
            </a:pPr>
            <a:r>
              <a:rPr kumimoji="1" lang="en-US" altLang="zh-CN" dirty="0">
                <a:solidFill>
                  <a:srgbClr val="FF0000"/>
                </a:solidFill>
                <a:latin typeface="+mn-ea"/>
                <a:ea typeface="+mn-ea"/>
              </a:rPr>
              <a:t>   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入</a:t>
            </a:r>
            <a:r>
              <a:rPr kumimoji="1" lang="zh-CN" altLang="en-US" dirty="0">
                <a:latin typeface="+mn-ea"/>
                <a:ea typeface="+mn-ea"/>
              </a:rPr>
              <a:t>综合数据库。若该规则的结论是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某些操作</a:t>
            </a:r>
            <a:r>
              <a:rPr kumimoji="1" lang="zh-CN" altLang="en-US" dirty="0">
                <a:latin typeface="+mn-ea"/>
                <a:ea typeface="+mn-ea"/>
              </a:rPr>
              <a:t>，则执行操作。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1200"/>
              </a:spcAft>
            </a:pPr>
            <a:r>
              <a:rPr kumimoji="1" lang="zh-CN" altLang="en-US" dirty="0">
                <a:latin typeface="+mn-ea"/>
                <a:ea typeface="+mn-ea"/>
              </a:rPr>
              <a:t>④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 检查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综合数据库中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是否已出现问题的解</a:t>
            </a:r>
            <a:r>
              <a:rPr kumimoji="1" lang="zh-CN" altLang="en-US" dirty="0">
                <a:latin typeface="+mn-ea"/>
                <a:ea typeface="+mn-ea"/>
              </a:rPr>
              <a:t>。若出现，求解过程终止；否则转②。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1200"/>
              </a:spcAft>
            </a:pP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⑤ 要求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提供更多事实</a:t>
            </a:r>
            <a:r>
              <a:rPr kumimoji="1" lang="zh-CN" altLang="en-US" dirty="0">
                <a:latin typeface="+mn-ea"/>
                <a:ea typeface="+mn-ea"/>
              </a:rPr>
              <a:t>，若能提供，则转②；否则终止。</a:t>
            </a:r>
          </a:p>
          <a:p>
            <a:pPr>
              <a:lnSpc>
                <a:spcPts val="2700"/>
              </a:lnSpc>
              <a:spcBef>
                <a:spcPts val="0"/>
              </a:spcBef>
            </a:pPr>
            <a:r>
              <a:rPr kumimoji="1" lang="zh-CN" altLang="en-US" dirty="0">
                <a:latin typeface="+mn-ea"/>
                <a:ea typeface="+mn-ea"/>
              </a:rPr>
              <a:t>⑥ 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若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规则集中</a:t>
            </a:r>
            <a:r>
              <a:rPr kumimoji="1" lang="zh-CN" altLang="en-US" u="wavyHeavy" dirty="0">
                <a:solidFill>
                  <a:schemeClr val="tx2"/>
                </a:solidFill>
                <a:latin typeface="+mn-ea"/>
                <a:ea typeface="+mn-ea"/>
              </a:rPr>
              <a:t>已没有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  <a:ea typeface="+mn-ea"/>
              </a:rPr>
              <a:t>未使用过的规则</a:t>
            </a:r>
            <a:r>
              <a:rPr kumimoji="1" lang="zh-CN" altLang="en-US" dirty="0">
                <a:latin typeface="+mn-ea"/>
                <a:ea typeface="+mn-ea"/>
              </a:rPr>
              <a:t>，则求解过程终止。</a:t>
            </a:r>
          </a:p>
        </p:txBody>
      </p:sp>
    </p:spTree>
    <p:extLst>
      <p:ext uri="{BB962C8B-B14F-4D97-AF65-F5344CB8AC3E}">
        <p14:creationId xmlns:p14="http://schemas.microsoft.com/office/powerpoint/2010/main" val="2797093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24441" y="448318"/>
            <a:ext cx="5243703" cy="1036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每一条规则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仅描述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前提</a:t>
            </a:r>
            <a:r>
              <a:rPr lang="zh-CN" altLang="en-US" sz="1800" dirty="0">
                <a:latin typeface="+mn-ea"/>
              </a:rPr>
              <a:t>与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结论</a:t>
            </a:r>
            <a:r>
              <a:rPr lang="zh-CN" altLang="en-US" sz="1800" dirty="0">
                <a:latin typeface="+mn-ea"/>
              </a:rPr>
              <a:t>之间的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静态关系</a:t>
            </a:r>
            <a:endParaRPr lang="en-US" altLang="zh-CN" sz="1800" dirty="0">
              <a:latin typeface="+mn-ea"/>
            </a:endParaRPr>
          </a:p>
          <a:p>
            <a:pPr marL="361950" indent="-36195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规则的正确性</a:t>
            </a:r>
            <a:r>
              <a:rPr lang="zh-CN" altLang="en-US" sz="1800" dirty="0">
                <a:latin typeface="+mn-ea"/>
              </a:rPr>
              <a:t>可独立得到保证（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规则的自含性</a:t>
            </a:r>
            <a:r>
              <a:rPr lang="zh-CN" altLang="en-US" sz="1800" dirty="0">
                <a:latin typeface="+mn-ea"/>
              </a:rPr>
              <a:t>）</a:t>
            </a:r>
            <a:endParaRPr lang="en-US" altLang="zh-CN" sz="1800" dirty="0">
              <a:latin typeface="+mn-ea"/>
            </a:endParaRPr>
          </a:p>
          <a:p>
            <a:pPr marL="361950" indent="-36195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知识表示</a:t>
            </a:r>
            <a:r>
              <a:rPr lang="zh-CN" altLang="en-US" sz="1800" dirty="0">
                <a:latin typeface="+mn-ea"/>
              </a:rPr>
              <a:t>与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控制</a:t>
            </a:r>
            <a:r>
              <a:rPr lang="zh-CN" altLang="en-US" sz="1800" dirty="0">
                <a:latin typeface="+mn-ea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分离</a:t>
            </a:r>
            <a:r>
              <a:rPr lang="zh-CN" altLang="en-US" sz="1800" dirty="0">
                <a:latin typeface="+mn-ea"/>
              </a:rPr>
              <a:t>成为可能</a:t>
            </a:r>
            <a:endParaRPr lang="en-US" altLang="zh-CN" sz="1800" dirty="0">
              <a:latin typeface="+mn-ea"/>
            </a:endParaRPr>
          </a:p>
        </p:txBody>
      </p:sp>
      <p:pic>
        <p:nvPicPr>
          <p:cNvPr id="43011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693170"/>
            <a:ext cx="7416800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827088" y="924441"/>
            <a:ext cx="7921625" cy="4808815"/>
            <a:chOff x="827088" y="924441"/>
            <a:chExt cx="7921625" cy="4808815"/>
          </a:xfrm>
        </p:grpSpPr>
        <p:sp>
          <p:nvSpPr>
            <p:cNvPr id="43012" name="Rectangle 3"/>
            <p:cNvSpPr txBox="1">
              <a:spLocks noChangeArrowheads="1"/>
            </p:cNvSpPr>
            <p:nvPr/>
          </p:nvSpPr>
          <p:spPr bwMode="auto">
            <a:xfrm>
              <a:off x="827088" y="3728021"/>
              <a:ext cx="7777162" cy="2005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609600" indent="-609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ts val="3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R1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规则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若进攻方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前三次进攻的推进距离少于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10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码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(short yardage)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，</a:t>
              </a:r>
              <a:endPara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just">
                <a:lnSpc>
                  <a:spcPts val="3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则第四次进攻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(fourth dawn)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可以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踢悬空球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(punt)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。</a:t>
              </a:r>
              <a:endPara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just">
                <a:lnSpc>
                  <a:spcPts val="3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R2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规则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若进攻方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前三次进攻的推进距离少于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10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码，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并且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当前进攻</a:t>
              </a:r>
              <a:endPara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just">
                <a:lnSpc>
                  <a:spcPts val="3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位置离对方球门线在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30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码以内</a:t>
              </a:r>
              <a:r>
                <a:rPr lang="en-US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within 30 yards</a:t>
              </a:r>
              <a:r>
                <a:rPr lang="en-US" altLang="zh-CN" sz="2000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，则第四次</a:t>
              </a:r>
              <a:endPara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just">
                <a:lnSpc>
                  <a:spcPts val="3000"/>
                </a:lnSpc>
                <a:spcBef>
                  <a:spcPts val="0"/>
                </a:spcBef>
                <a:buFontTx/>
                <a:buNone/>
              </a:pP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进攻可以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直接射门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(field goal)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。</a:t>
              </a:r>
            </a:p>
          </p:txBody>
        </p:sp>
        <p:pic>
          <p:nvPicPr>
            <p:cNvPr id="46084" name="Picture 4" descr="https://timgsa.baidu.com/timg?image&amp;quality=80&amp;size=b9999_10000&amp;sec=1536862018140&amp;di=3a3f8d26467a16627f1ce1f0bcd14459&amp;imgtype=0&amp;src=http%3A%2F%2Fwww.csva.org.cn%2Fuploadfile%2F2016%2F0329%2F20160329042333639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3658" y="924441"/>
              <a:ext cx="2265055" cy="1698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组合 5"/>
          <p:cNvGrpSpPr/>
          <p:nvPr/>
        </p:nvGrpSpPr>
        <p:grpSpPr>
          <a:xfrm>
            <a:off x="2157098" y="3768281"/>
            <a:ext cx="6344120" cy="1530879"/>
            <a:chOff x="2157098" y="3768281"/>
            <a:chExt cx="6344120" cy="1530879"/>
          </a:xfrm>
        </p:grpSpPr>
        <p:sp>
          <p:nvSpPr>
            <p:cNvPr id="3" name="矩形 2"/>
            <p:cNvSpPr/>
            <p:nvPr/>
          </p:nvSpPr>
          <p:spPr bwMode="auto">
            <a:xfrm>
              <a:off x="5436096" y="3768281"/>
              <a:ext cx="1152128" cy="280394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5428802" y="4616199"/>
              <a:ext cx="1152128" cy="280394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11959" y="5000297"/>
              <a:ext cx="1028257" cy="280394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2157098" y="4157227"/>
              <a:ext cx="1334781" cy="324621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7616185" y="4974539"/>
              <a:ext cx="885033" cy="324621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 txBox="1">
            <a:spLocks noChangeArrowheads="1"/>
          </p:cNvSpPr>
          <p:nvPr/>
        </p:nvSpPr>
        <p:spPr bwMode="auto">
          <a:xfrm>
            <a:off x="666107" y="404664"/>
            <a:ext cx="7128147" cy="935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 algn="just">
              <a:lnSpc>
                <a:spcPts val="25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若某场比赛中，获取的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事实库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包含有事实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fourth dawn</a:t>
            </a:r>
          </a:p>
          <a:p>
            <a:pPr algn="just">
              <a:lnSpc>
                <a:spcPts val="25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short yardage</a:t>
            </a:r>
          </a:p>
          <a:p>
            <a:pPr algn="just">
              <a:lnSpc>
                <a:spcPts val="25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within 30 yards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611560" y="1863525"/>
            <a:ext cx="8064500" cy="318035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上述两条规则</a:t>
            </a:r>
            <a:r>
              <a:rPr lang="zh-CN" altLang="en-US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均会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被触发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因此必须有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冲突解决</a:t>
            </a:r>
            <a:r>
              <a:rPr lang="zh-CN" altLang="en-US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策略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决定首先使用哪一条规则。</a:t>
            </a:r>
            <a:endParaRPr lang="en-US" altLang="zh-CN" sz="8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有多种冲突解决策略，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其中一种策略是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先使用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R2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，因为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R2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条件部分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包括更多限制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，规定了一个更特殊的情况</a:t>
            </a:r>
            <a:r>
              <a:rPr lang="en-US" altLang="zh-CN" sz="2000" b="0" kern="100" dirty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这种按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专一性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编排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顺序的策略，称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专一性排序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此外，还有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其它一些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冲突解决策略，如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规则排序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数据排序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规模排序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就近排序</a:t>
            </a:r>
            <a:r>
              <a:rPr lang="en-US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……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79712" y="842375"/>
            <a:ext cx="3024336" cy="670447"/>
            <a:chOff x="1979712" y="842375"/>
            <a:chExt cx="3024336" cy="67044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9712" y="842376"/>
              <a:ext cx="912963" cy="64083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864" y="842375"/>
              <a:ext cx="1656184" cy="6704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5860" y="1121618"/>
            <a:ext cx="2952328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kumimoji="1" lang="zh-CN" altLang="en-US" sz="2000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⑶、产生式系统的优缺点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0197" y="1814428"/>
            <a:ext cx="7624211" cy="260584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2900" indent="-342900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latin typeface="+mn-ea"/>
                <a:ea typeface="+mn-ea"/>
              </a:rPr>
              <a:t>优点</a:t>
            </a:r>
          </a:p>
          <a:p>
            <a:pPr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  自然性</a:t>
            </a:r>
            <a:r>
              <a:rPr kumimoji="1" lang="zh-CN" altLang="en-US" sz="2000" dirty="0">
                <a:latin typeface="+mn-ea"/>
                <a:ea typeface="+mn-ea"/>
              </a:rPr>
              <a:t>：知识表示形式为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因果关系</a:t>
            </a:r>
            <a:r>
              <a:rPr kumimoji="1" lang="zh-CN" altLang="en-US" sz="2000" dirty="0">
                <a:latin typeface="+mn-ea"/>
                <a:ea typeface="+mn-ea"/>
              </a:rPr>
              <a:t>，直观自然，便于推理。</a:t>
            </a:r>
          </a:p>
          <a:p>
            <a:pPr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  模块性</a:t>
            </a:r>
            <a:r>
              <a:rPr kumimoji="1" lang="zh-CN" altLang="en-US" sz="2000" dirty="0">
                <a:latin typeface="+mn-ea"/>
                <a:ea typeface="+mn-ea"/>
              </a:rPr>
              <a:t>：规则是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最基本的</a:t>
            </a:r>
            <a:r>
              <a:rPr kumimoji="1" lang="zh-CN" altLang="en-US" sz="2000" dirty="0">
                <a:latin typeface="+mn-ea"/>
                <a:ea typeface="+mn-ea"/>
              </a:rPr>
              <a:t>知识单元，形式相同，易于模块化。</a:t>
            </a:r>
          </a:p>
          <a:p>
            <a:pPr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  有效性</a:t>
            </a:r>
            <a:r>
              <a:rPr kumimoji="1" lang="zh-CN" altLang="en-US" sz="2000" dirty="0">
                <a:latin typeface="+mn-ea"/>
                <a:ea typeface="+mn-ea"/>
              </a:rPr>
              <a:t>：可表示确定性、不确定性、启发性、过程性知识等。</a:t>
            </a:r>
          </a:p>
          <a:p>
            <a:pPr>
              <a:lnSpc>
                <a:spcPts val="32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  清晰性</a:t>
            </a:r>
            <a:r>
              <a:rPr kumimoji="1" lang="zh-CN" altLang="en-US" sz="2000" dirty="0">
                <a:latin typeface="+mn-ea"/>
                <a:ea typeface="+mn-ea"/>
              </a:rPr>
              <a:t>：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固定格式</a:t>
            </a:r>
            <a:r>
              <a:rPr kumimoji="1" lang="zh-CN" altLang="en-US" sz="2000" dirty="0">
                <a:latin typeface="+mn-ea"/>
                <a:ea typeface="+mn-ea"/>
              </a:rPr>
              <a:t>，便于规则设计，易于一致性、完整性检测。</a:t>
            </a:r>
          </a:p>
        </p:txBody>
      </p:sp>
    </p:spTree>
    <p:extLst>
      <p:ext uri="{BB962C8B-B14F-4D97-AF65-F5344CB8AC3E}">
        <p14:creationId xmlns:p14="http://schemas.microsoft.com/office/powerpoint/2010/main" val="6677035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2624" y="1772816"/>
            <a:ext cx="7948176" cy="3090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31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solidFill>
                  <a:schemeClr val="tx2"/>
                </a:solidFill>
                <a:latin typeface="+mn-ea"/>
                <a:ea typeface="+mn-ea"/>
              </a:rPr>
              <a:t> 缺点</a:t>
            </a:r>
            <a:endParaRPr kumimoji="1" lang="en-US" altLang="zh-CN" sz="2000" dirty="0">
              <a:solidFill>
                <a:schemeClr val="tx2"/>
              </a:solidFill>
              <a:latin typeface="+mn-ea"/>
              <a:ea typeface="+mn-ea"/>
            </a:endParaRPr>
          </a:p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效率不高</a:t>
            </a:r>
            <a:r>
              <a:rPr kumimoji="1" lang="zh-CN" altLang="en-US" sz="2000" dirty="0">
                <a:solidFill>
                  <a:schemeClr val="tx2"/>
                </a:solidFill>
                <a:latin typeface="+mn-ea"/>
                <a:ea typeface="+mn-ea"/>
              </a:rPr>
              <a:t>：</a:t>
            </a:r>
            <a:r>
              <a:rPr kumimoji="1" lang="zh-CN" altLang="en-US" sz="2000" dirty="0">
                <a:latin typeface="+mn-ea"/>
                <a:ea typeface="+mn-ea"/>
              </a:rPr>
              <a:t>求解过程是一个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反复进行</a:t>
            </a:r>
            <a:r>
              <a:rPr kumimoji="1" lang="zh-CN" altLang="en-US" sz="2000" dirty="0">
                <a:latin typeface="+mn-ea"/>
                <a:ea typeface="+mn-ea"/>
              </a:rPr>
              <a:t>“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匹配</a:t>
            </a:r>
            <a:r>
              <a:rPr kumimoji="1"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-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冲突消解</a:t>
            </a:r>
            <a:r>
              <a:rPr kumimoji="1"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-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执行</a:t>
            </a:r>
            <a:r>
              <a:rPr kumimoji="1" lang="zh-CN" altLang="en-US" sz="2000" dirty="0">
                <a:latin typeface="+mn-ea"/>
                <a:ea typeface="+mn-ea"/>
              </a:rPr>
              <a:t>”过程。</a:t>
            </a:r>
            <a:endParaRPr kumimoji="1" lang="en-US" altLang="zh-CN" sz="2000" dirty="0">
              <a:latin typeface="+mn-ea"/>
              <a:ea typeface="+mn-ea"/>
            </a:endParaRPr>
          </a:p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kumimoji="1" lang="en-US" altLang="zh-CN" sz="2000" dirty="0">
                <a:latin typeface="+mn-ea"/>
                <a:ea typeface="+mn-ea"/>
              </a:rPr>
              <a:t>          </a:t>
            </a:r>
            <a:r>
              <a:rPr kumimoji="1" lang="zh-CN" altLang="en-US" sz="2000" dirty="0">
                <a:latin typeface="+mn-ea"/>
                <a:ea typeface="+mn-ea"/>
              </a:rPr>
              <a:t>由于规则库一般都比较大，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匹配</a:t>
            </a:r>
            <a:r>
              <a:rPr kumimoji="1" lang="zh-CN" altLang="en-US" sz="2000" dirty="0">
                <a:latin typeface="+mn-ea"/>
                <a:ea typeface="+mn-ea"/>
              </a:rPr>
              <a:t>非常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耗时</a:t>
            </a:r>
            <a:r>
              <a:rPr kumimoji="1" lang="zh-CN" altLang="en-US" sz="2000" dirty="0">
                <a:latin typeface="+mn-ea"/>
                <a:ea typeface="+mn-ea"/>
              </a:rPr>
              <a:t>。</a:t>
            </a:r>
            <a:r>
              <a:rPr kumimoji="1" lang="en-US" altLang="zh-CN" sz="2000" dirty="0">
                <a:latin typeface="+mn-ea"/>
                <a:ea typeface="+mn-ea"/>
              </a:rPr>
              <a:t>          </a:t>
            </a:r>
          </a:p>
          <a:p>
            <a:pPr>
              <a:lnSpc>
                <a:spcPts val="31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</a:pPr>
            <a:r>
              <a:rPr kumimoji="1" lang="en-US" altLang="zh-CN" sz="2000" dirty="0">
                <a:latin typeface="+mn-ea"/>
                <a:ea typeface="+mn-ea"/>
              </a:rPr>
              <a:t>          </a:t>
            </a:r>
            <a:r>
              <a:rPr kumimoji="1" lang="zh-CN" altLang="en-US" sz="2000" dirty="0">
                <a:latin typeface="+mn-ea"/>
                <a:ea typeface="+mn-ea"/>
              </a:rPr>
              <a:t>求解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复杂问题</a:t>
            </a:r>
            <a:r>
              <a:rPr kumimoji="1" lang="zh-CN" altLang="en-US" sz="2000" dirty="0">
                <a:latin typeface="+mn-ea"/>
                <a:ea typeface="+mn-ea"/>
              </a:rPr>
              <a:t>时容易引起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组合爆炸</a:t>
            </a:r>
            <a:r>
              <a:rPr kumimoji="1" lang="zh-CN" altLang="en-US" sz="2000" dirty="0">
                <a:latin typeface="+mn-ea"/>
                <a:ea typeface="+mn-ea"/>
              </a:rPr>
              <a:t>。</a:t>
            </a:r>
            <a:endParaRPr kumimoji="1" lang="en-US" altLang="zh-CN" sz="2000" dirty="0">
              <a:latin typeface="+mn-ea"/>
              <a:ea typeface="+mn-ea"/>
            </a:endParaRPr>
          </a:p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不能表示具有结构性的知识</a:t>
            </a:r>
            <a:r>
              <a:rPr kumimoji="1" lang="zh-CN" altLang="en-US" sz="2000" dirty="0">
                <a:solidFill>
                  <a:schemeClr val="tx2"/>
                </a:solidFill>
                <a:latin typeface="+mn-ea"/>
                <a:ea typeface="+mn-ea"/>
              </a:rPr>
              <a:t>：无法表示“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具有结构关系的事物</a:t>
            </a:r>
            <a:r>
              <a:rPr kumimoji="1" lang="zh-CN" altLang="en-US" sz="2000" dirty="0">
                <a:latin typeface="+mn-ea"/>
                <a:ea typeface="+mn-ea"/>
              </a:rPr>
              <a:t>”之间的</a:t>
            </a:r>
            <a:endParaRPr kumimoji="1" lang="en-US" altLang="zh-CN" sz="2000" dirty="0">
              <a:latin typeface="+mn-ea"/>
              <a:ea typeface="+mn-ea"/>
            </a:endParaRPr>
          </a:p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kumimoji="1" lang="en-US" altLang="zh-CN" sz="2000" dirty="0">
                <a:latin typeface="+mn-ea"/>
                <a:ea typeface="+mn-ea"/>
              </a:rPr>
              <a:t>                          </a:t>
            </a:r>
            <a:r>
              <a:rPr kumimoji="1" lang="zh-CN" altLang="en-US" sz="2000" dirty="0">
                <a:latin typeface="+mn-ea"/>
                <a:ea typeface="+mn-ea"/>
              </a:rPr>
              <a:t>区别与联系。所以经常会与其它知识表示</a:t>
            </a:r>
            <a:endParaRPr kumimoji="1" lang="en-US" altLang="zh-CN" sz="2000" dirty="0">
              <a:latin typeface="+mn-ea"/>
              <a:ea typeface="+mn-ea"/>
            </a:endParaRPr>
          </a:p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kumimoji="1" lang="en-US" altLang="zh-CN" sz="2000" dirty="0">
                <a:latin typeface="+mn-ea"/>
                <a:ea typeface="+mn-ea"/>
              </a:rPr>
              <a:t>                          </a:t>
            </a:r>
            <a:r>
              <a:rPr kumimoji="1" lang="zh-CN" altLang="en-US" sz="2000" dirty="0">
                <a:latin typeface="+mn-ea"/>
                <a:ea typeface="+mn-ea"/>
              </a:rPr>
              <a:t>方法</a:t>
            </a:r>
            <a:r>
              <a:rPr kumimoji="1" lang="en-US" altLang="zh-CN" sz="2000" dirty="0">
                <a:latin typeface="+mn-ea"/>
                <a:ea typeface="+mn-ea"/>
              </a:rPr>
              <a:t>(</a:t>
            </a:r>
            <a:r>
              <a:rPr kumimoji="1" lang="zh-CN" altLang="en-US" sz="2000" dirty="0">
                <a:latin typeface="+mn-ea"/>
                <a:ea typeface="+mn-ea"/>
              </a:rPr>
              <a:t>框架、语义网络</a:t>
            </a:r>
            <a:r>
              <a:rPr kumimoji="1" lang="en-US" altLang="zh-CN" sz="2000" dirty="0">
                <a:latin typeface="+mn-ea"/>
                <a:ea typeface="+mn-ea"/>
              </a:rPr>
              <a:t>)</a:t>
            </a:r>
            <a:r>
              <a:rPr kumimoji="1" lang="zh-CN" altLang="en-US" sz="2000" dirty="0">
                <a:latin typeface="+mn-ea"/>
                <a:ea typeface="+mn-ea"/>
              </a:rPr>
              <a:t>相结合。</a:t>
            </a:r>
          </a:p>
        </p:txBody>
      </p:sp>
    </p:spTree>
    <p:extLst>
      <p:ext uri="{BB962C8B-B14F-4D97-AF65-F5344CB8AC3E}">
        <p14:creationId xmlns:p14="http://schemas.microsoft.com/office/powerpoint/2010/main" val="368786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1"/>
          <p:cNvSpPr txBox="1">
            <a:spLocks noChangeArrowheads="1"/>
          </p:cNvSpPr>
          <p:nvPr/>
        </p:nvSpPr>
        <p:spPr bwMode="auto">
          <a:xfrm>
            <a:off x="656505" y="1158535"/>
            <a:ext cx="417581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⑷、产生式系统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示例：动物识别系统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83568" y="1774255"/>
            <a:ext cx="7846283" cy="2590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lnSpc>
                <a:spcPct val="150000"/>
              </a:lnSpc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规则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用于将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哺乳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动物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动物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分开。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ct val="150000"/>
              </a:lnSpc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有毛发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哺乳动物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ct val="15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能产乳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哺乳动物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ct val="15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有羽毛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鸟类动物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ct val="15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能飞行、能生蛋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鸟类动物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226224" y="4392400"/>
            <a:ext cx="5077509" cy="949752"/>
            <a:chOff x="1226224" y="4392400"/>
            <a:chExt cx="5077509" cy="949752"/>
          </a:xfrm>
        </p:grpSpPr>
        <p:grpSp>
          <p:nvGrpSpPr>
            <p:cNvPr id="7" name="组合 6"/>
            <p:cNvGrpSpPr/>
            <p:nvPr/>
          </p:nvGrpSpPr>
          <p:grpSpPr>
            <a:xfrm>
              <a:off x="2051720" y="4392400"/>
              <a:ext cx="216024" cy="432048"/>
              <a:chOff x="2051720" y="4365104"/>
              <a:chExt cx="216024" cy="432048"/>
            </a:xfrm>
          </p:grpSpPr>
          <p:cxnSp>
            <p:nvCxnSpPr>
              <p:cNvPr id="4" name="直接连接符 3"/>
              <p:cNvCxnSpPr/>
              <p:nvPr/>
            </p:nvCxnSpPr>
            <p:spPr bwMode="auto">
              <a:xfrm>
                <a:off x="2051720" y="4365104"/>
                <a:ext cx="21602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" name="直接连接符 5"/>
              <p:cNvCxnSpPr/>
              <p:nvPr/>
            </p:nvCxnSpPr>
            <p:spPr bwMode="auto">
              <a:xfrm>
                <a:off x="2160904" y="4365104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8" name="矩形 7"/>
            <p:cNvSpPr/>
            <p:nvPr/>
          </p:nvSpPr>
          <p:spPr bwMode="auto">
            <a:xfrm>
              <a:off x="1226224" y="4982112"/>
              <a:ext cx="187929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左部</a:t>
              </a:r>
              <a:r>
                <a:rPr lang="en-US" altLang="zh-CN" sz="2000" dirty="0">
                  <a:latin typeface="+mn-ea"/>
                  <a:ea typeface="+mn-ea"/>
                </a:rPr>
                <a:t>\</a:t>
              </a: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前提</a:t>
              </a: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\</a:t>
              </a:r>
              <a:r>
                <a:rPr lang="zh-CN" altLang="en-US" sz="2000" dirty="0">
                  <a:latin typeface="+mn-ea"/>
                  <a:ea typeface="+mn-ea"/>
                </a:rPr>
                <a:t>条件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5148064" y="4392400"/>
              <a:ext cx="432048" cy="432048"/>
              <a:chOff x="2051720" y="4365104"/>
              <a:chExt cx="216024" cy="432048"/>
            </a:xfrm>
          </p:grpSpPr>
          <p:cxnSp>
            <p:nvCxnSpPr>
              <p:cNvPr id="11" name="直接连接符 10"/>
              <p:cNvCxnSpPr/>
              <p:nvPr/>
            </p:nvCxnSpPr>
            <p:spPr bwMode="auto">
              <a:xfrm>
                <a:off x="2051720" y="4365104"/>
                <a:ext cx="216024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直接连接符 11"/>
              <p:cNvCxnSpPr/>
              <p:nvPr/>
            </p:nvCxnSpPr>
            <p:spPr bwMode="auto">
              <a:xfrm>
                <a:off x="2160904" y="4365104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" name="矩形 12"/>
            <p:cNvSpPr/>
            <p:nvPr/>
          </p:nvSpPr>
          <p:spPr bwMode="auto">
            <a:xfrm>
              <a:off x="4424443" y="4982112"/>
              <a:ext cx="1879290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右部</a:t>
              </a:r>
              <a:r>
                <a:rPr lang="en-US" altLang="zh-CN" sz="2000" dirty="0">
                  <a:latin typeface="+mn-ea"/>
                  <a:ea typeface="+mn-ea"/>
                </a:rPr>
                <a:t>\</a:t>
              </a: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结论</a:t>
              </a: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\</a:t>
              </a:r>
              <a:r>
                <a:rPr lang="zh-CN" altLang="en-US" sz="2000" dirty="0">
                  <a:latin typeface="+mn-ea"/>
                  <a:ea typeface="+mn-ea"/>
                </a:rPr>
                <a:t>操作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 txBox="1">
            <a:spLocks noChangeArrowheads="1"/>
          </p:cNvSpPr>
          <p:nvPr/>
        </p:nvSpPr>
        <p:spPr bwMode="auto">
          <a:xfrm>
            <a:off x="641681" y="1772816"/>
            <a:ext cx="7921823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② 规则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R5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R8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，将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又细分为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食肉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动物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动物。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R5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哺乳动物，吃肉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食肉动物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R6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哺乳动物，长有爪子、利齿、眼睛前视，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食肉动物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R7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哺乳动物，长有蹄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R8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哺乳动物，反刍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，并且是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偶蹄动物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42625" y="1803880"/>
            <a:ext cx="7920880" cy="2273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规则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R9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食肉动物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进行细分</a:t>
            </a: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R9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食肉动物，颜色是黄褐色、有深色斑点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猎豹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R10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食肉动物，颜色是黄褐色、有黑色条纹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老虎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2625" y="1824905"/>
            <a:ext cx="7848872" cy="225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 规则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有蹄动物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进行细分</a:t>
            </a: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有蹄动物，有长腿、长颈、颜色是黄褐色、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有深色斑点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长颈鹿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有蹄动物，颜色是白色、有黑色条纹，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斑马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4054" y="1800112"/>
            <a:ext cx="8154987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 规则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R13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R15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进行分类的</a:t>
            </a: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鸟类，不会飞、长腿、长颈、颜色是黑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白相杂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鸵鸟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u="wavy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000" u="wavy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部分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，有长腿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有长颈，也出现在规则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u="wavy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000" u="wavy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部分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是有蹄动物，而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是鸟的分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类，不会混淆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R14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鸟类，不会飞行、能游水、颜色是黑色和白色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企鹅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609600" indent="-609600" algn="just">
              <a:lnSpc>
                <a:spcPts val="3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鸟类，会飞行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海燕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559" y="797223"/>
            <a:ext cx="8187481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09600" indent="-609600" algn="just">
              <a:buFontTx/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R11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：若该动物是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有蹄动物，有长腿、长颈、颜色是黄褐色、有深色 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09600" indent="-609600" algn="just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斑点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，那么它是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长颈鹿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060848"/>
            <a:ext cx="7588256" cy="3347223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4332" y="1189396"/>
            <a:ext cx="2592288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动物分类顺序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步骤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25027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1560" y="1268611"/>
            <a:ext cx="8029326" cy="2304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开始观察到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：动物的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颜色是黄褐色，深色斑点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（事实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特征）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有蹄动物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，有长腿、长颈，颜色是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黄褐色、有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深色斑点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长颈鹿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R9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食肉动物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，颜色是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黄褐色，有深色斑点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猎豹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再观察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：该动物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给幼兽喂奶，并能反刍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299" name="Rectangle 3"/>
          <p:cNvSpPr txBox="1">
            <a:spLocks noChangeArrowheads="1"/>
          </p:cNvSpPr>
          <p:nvPr/>
        </p:nvSpPr>
        <p:spPr bwMode="auto">
          <a:xfrm>
            <a:off x="539825" y="330094"/>
            <a:ext cx="6336431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sz="2800" dirty="0">
                <a:latin typeface="+mn-ea"/>
                <a:ea typeface="+mn-ea"/>
              </a:rPr>
              <a:t>识别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长颈鹿</a:t>
            </a:r>
            <a:r>
              <a:rPr lang="zh-CN" altLang="en-US" sz="2800" dirty="0">
                <a:latin typeface="+mn-ea"/>
                <a:ea typeface="+mn-ea"/>
              </a:rPr>
              <a:t>的过程</a:t>
            </a:r>
            <a:r>
              <a:rPr lang="zh-CN" altLang="en-US" sz="2000" dirty="0">
                <a:latin typeface="+mn-ea"/>
                <a:ea typeface="+mn-ea"/>
              </a:rPr>
              <a:t>（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前提</a:t>
            </a:r>
            <a:r>
              <a:rPr lang="zh-CN" altLang="en-US" sz="2000" dirty="0">
                <a:latin typeface="+mn-ea"/>
                <a:ea typeface="+mn-ea"/>
              </a:rPr>
              <a:t>：模式识别</a:t>
            </a:r>
            <a:r>
              <a:rPr lang="en-US" altLang="zh-CN" sz="2000" dirty="0">
                <a:latin typeface="+mn-ea"/>
                <a:ea typeface="+mn-ea"/>
              </a:rPr>
              <a:t>\</a:t>
            </a:r>
            <a:r>
              <a:rPr lang="zh-CN" altLang="en-US" sz="2000" dirty="0">
                <a:latin typeface="+mn-ea"/>
                <a:ea typeface="+mn-ea"/>
              </a:rPr>
              <a:t>机器视觉）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11560" y="4271030"/>
            <a:ext cx="8352928" cy="1015162"/>
            <a:chOff x="611560" y="4271030"/>
            <a:chExt cx="8352928" cy="1015162"/>
          </a:xfrm>
        </p:grpSpPr>
        <p:sp>
          <p:nvSpPr>
            <p:cNvPr id="2" name="矩形 1"/>
            <p:cNvSpPr/>
            <p:nvPr/>
          </p:nvSpPr>
          <p:spPr>
            <a:xfrm>
              <a:off x="3635896" y="4809138"/>
              <a:ext cx="5328592" cy="477054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609600" indent="-609600" algn="just">
                <a:lnSpc>
                  <a:spcPts val="3000"/>
                </a:lnSpc>
                <a:buFontTx/>
                <a:buNone/>
                <a:defRPr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→R2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若该动物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能产乳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，那么它是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哺乳动物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。</a:t>
              </a:r>
            </a:p>
          </p:txBody>
        </p:sp>
        <p:sp>
          <p:nvSpPr>
            <p:cNvPr id="6" name="Rectangle 3"/>
            <p:cNvSpPr txBox="1">
              <a:spLocks noChangeArrowheads="1"/>
            </p:cNvSpPr>
            <p:nvPr/>
          </p:nvSpPr>
          <p:spPr bwMode="auto">
            <a:xfrm>
              <a:off x="611560" y="4271030"/>
              <a:ext cx="8029326" cy="454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04925" indent="-395288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93863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913" indent="-398463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  <a:buClr>
                  <a:srgbClr val="FF0000"/>
                </a:buClr>
                <a:buFont typeface="Wingdings" panose="05000000000000000000" pitchFamily="2" charset="2"/>
                <a:buChar char="ü"/>
                <a:defRPr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事实库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规则集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进行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匹配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R2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首先可用</a:t>
              </a:r>
            </a:p>
          </p:txBody>
        </p:sp>
      </p:grp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1560" y="5462640"/>
            <a:ext cx="727280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→更新事实库为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哺乳动物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黄褐色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深色斑点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能产乳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反刍。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51520" y="1412776"/>
            <a:ext cx="8389366" cy="2786246"/>
            <a:chOff x="251520" y="1412776"/>
            <a:chExt cx="8389366" cy="2786246"/>
          </a:xfrm>
        </p:grpSpPr>
        <p:sp>
          <p:nvSpPr>
            <p:cNvPr id="5" name="矩形 4"/>
            <p:cNvSpPr/>
            <p:nvPr/>
          </p:nvSpPr>
          <p:spPr>
            <a:xfrm>
              <a:off x="611560" y="3645024"/>
              <a:ext cx="8029326" cy="55399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indent="0" algn="just">
                <a:lnSpc>
                  <a:spcPct val="150000"/>
                </a:lnSpc>
                <a:buNone/>
                <a:defRPr/>
              </a:pP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→事实库中知识增加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：动物的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颜色是黄褐色、深色斑点、能产乳、反刍</a:t>
              </a:r>
              <a:endPara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51520" y="1412776"/>
              <a:ext cx="288305" cy="2520280"/>
              <a:chOff x="251520" y="1412776"/>
              <a:chExt cx="288305" cy="2520280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>
                <a:off x="251520" y="1412776"/>
                <a:ext cx="0" cy="252028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" name="直接连接符 9"/>
              <p:cNvCxnSpPr/>
              <p:nvPr/>
            </p:nvCxnSpPr>
            <p:spPr bwMode="auto">
              <a:xfrm>
                <a:off x="251520" y="1412776"/>
                <a:ext cx="28830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直接连接符 11"/>
              <p:cNvCxnSpPr/>
              <p:nvPr/>
            </p:nvCxnSpPr>
            <p:spPr bwMode="auto">
              <a:xfrm>
                <a:off x="251520" y="3325928"/>
                <a:ext cx="28830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" name="直接连接符 12"/>
              <p:cNvCxnSpPr/>
              <p:nvPr/>
            </p:nvCxnSpPr>
            <p:spPr bwMode="auto">
              <a:xfrm>
                <a:off x="251520" y="3933056"/>
                <a:ext cx="28830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3" name="矩形 2"/>
          <p:cNvSpPr/>
          <p:nvPr/>
        </p:nvSpPr>
        <p:spPr bwMode="auto">
          <a:xfrm>
            <a:off x="3131840" y="3717032"/>
            <a:ext cx="5472608" cy="48199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939566" y="5424573"/>
            <a:ext cx="4608512" cy="48199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3852" y="855545"/>
            <a:ext cx="3960440" cy="2989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首先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：初始化一个事实库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观察样本库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16" grpId="0" animBg="1"/>
      <p:bldP spid="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544" y="332656"/>
            <a:ext cx="2232248" cy="40011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R8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又能用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467544" y="836713"/>
            <a:ext cx="83164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R8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哺乳动物，反刍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偶蹄动物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1196752"/>
            <a:ext cx="8280920" cy="11079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→更新事实库为：</a:t>
            </a:r>
          </a:p>
          <a:p>
            <a:pPr marL="609600" indent="-609600" algn="just">
              <a:lnSpc>
                <a:spcPct val="150000"/>
              </a:lnSpc>
              <a:buFontTx/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（有蹄动物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偶蹄动物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黄褐色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深色斑点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能产乳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反刍）</a:t>
            </a:r>
          </a:p>
        </p:txBody>
      </p:sp>
      <p:sp>
        <p:nvSpPr>
          <p:cNvPr id="5" name="矩形 4"/>
          <p:cNvSpPr/>
          <p:nvPr/>
        </p:nvSpPr>
        <p:spPr>
          <a:xfrm>
            <a:off x="413792" y="2348880"/>
            <a:ext cx="8478688" cy="147732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u="wavyHeavy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仍无法识别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，且事实库也</a:t>
            </a:r>
            <a:r>
              <a:rPr lang="zh-CN" altLang="en-US" sz="2000" u="wavyHeavy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不能和其它规则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的前提条件匹配，需再观察。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再观察：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腿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很长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事实库增加知识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  <a:defRPr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有长腿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有长颈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有蹄动物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偶蹄动物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哺乳动物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黄褐色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深色斑点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能产乳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反刍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3792" y="3914040"/>
            <a:ext cx="1781944" cy="40011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R11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可使用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7440" y="5357247"/>
            <a:ext cx="6160784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推理出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结论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：该动物为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长颈鹿！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矩形 2"/>
          <p:cNvSpPr>
            <a:spLocks noChangeArrowheads="1"/>
          </p:cNvSpPr>
          <p:nvPr/>
        </p:nvSpPr>
        <p:spPr bwMode="auto">
          <a:xfrm>
            <a:off x="441088" y="4293096"/>
            <a:ext cx="867684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→R11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：若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该动物是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有蹄动物，有长腿、长颈、颜色是黄褐色、有深色斑点，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长颈鹿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6437" y="5887985"/>
            <a:ext cx="3889539" cy="49558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 algn="just">
              <a:lnSpc>
                <a:spcPts val="36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问题求解过程终止，推理结束！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899592" y="1787090"/>
            <a:ext cx="6912768" cy="48199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99592" y="3312099"/>
            <a:ext cx="7632848" cy="48199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255568" y="5376268"/>
            <a:ext cx="3528392" cy="95436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推理过程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：通过将观察数据、中间结论不断添加到事实库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样本集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，实现对目标的逐步逼近，得出结论。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  <p:bldP spid="10" grpId="0"/>
      <p:bldP spid="11" grpId="0"/>
      <p:bldP spid="8" grpId="0"/>
      <p:bldP spid="12" grpId="0" animBg="1"/>
      <p:bldP spid="13" grpId="0" animBg="1"/>
      <p:bldP spid="1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7388" y="1161688"/>
            <a:ext cx="1809436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深度学习方法：</a:t>
            </a:r>
          </a:p>
        </p:txBody>
      </p:sp>
      <p:sp>
        <p:nvSpPr>
          <p:cNvPr id="5" name="矩形 4"/>
          <p:cNvSpPr/>
          <p:nvPr/>
        </p:nvSpPr>
        <p:spPr>
          <a:xfrm>
            <a:off x="594967" y="1800524"/>
            <a:ext cx="8009481" cy="2492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</a:rPr>
              <a:t>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arial" panose="020B0604020202020204" pitchFamily="34" charset="0"/>
              </a:rPr>
              <a:t>作为主要编程语言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>
                <a:latin typeface="arial" panose="020B0604020202020204" pitchFamily="34" charset="0"/>
              </a:rPr>
              <a:t>使用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MindSpore</a:t>
            </a:r>
            <a:r>
              <a:rPr lang="zh-CN" altLang="en-US" dirty="0">
                <a:latin typeface="arial" panose="020B0604020202020204" pitchFamily="34" charset="0"/>
              </a:rPr>
              <a:t>框架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>
                <a:latin typeface="arial" panose="020B0604020202020204" pitchFamily="34" charset="0"/>
              </a:rPr>
              <a:t>构建卷积神经网络模型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如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VGG…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，实现对动物图像的分类任务。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</a:rPr>
              <a:t>选择几种常见的动物类别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如猫、狗、鸡、马</a:t>
            </a:r>
            <a:r>
              <a:rPr lang="en-US" altLang="zh-CN" dirty="0">
                <a:latin typeface="+mn-ea"/>
                <a:ea typeface="+mn-ea"/>
              </a:rPr>
              <a:t>…)</a:t>
            </a:r>
            <a:r>
              <a:rPr lang="zh-CN" altLang="en-US" dirty="0">
                <a:latin typeface="arial" panose="020B0604020202020204" pitchFamily="34" charset="0"/>
              </a:rPr>
              <a:t>，作为识别的目标。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</a:rPr>
              <a:t>收集并建立这些动物的图像数据集。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</a:rPr>
              <a:t>经过数据预处理后，模型在训练过程中，通过卷积层提取图像特征，最终生成一个能够有效识别动物类别的高精度模型。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755576" y="4437112"/>
            <a:ext cx="7697255" cy="10081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7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作业</a:t>
            </a:r>
            <a:r>
              <a:rPr lang="zh-CN" altLang="en-US" sz="1600" dirty="0">
                <a:latin typeface="+mn-ea"/>
                <a:ea typeface="+mn-ea"/>
              </a:rPr>
              <a:t>：基于产生式与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CN" altLang="en-US" sz="1600" dirty="0"/>
              <a:t>的</a:t>
            </a:r>
            <a:r>
              <a:rPr lang="zh-CN" altLang="zh-CN" sz="1600" dirty="0"/>
              <a:t>动物识别</a:t>
            </a:r>
            <a:r>
              <a:rPr lang="zh-CN" altLang="en-US" sz="1600" dirty="0"/>
              <a:t>方法  </a:t>
            </a:r>
            <a:r>
              <a:rPr lang="en-US" altLang="zh-CN" sz="1600" dirty="0">
                <a:latin typeface="+mn-ea"/>
                <a:ea typeface="+mn-ea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时间</a:t>
            </a:r>
            <a:r>
              <a:rPr lang="zh-CN" altLang="en-US" sz="1600" dirty="0">
                <a:latin typeface="+mn-ea"/>
                <a:ea typeface="+mn-ea"/>
              </a:rPr>
              <a:t>：课程结束前 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形式</a:t>
            </a:r>
            <a:r>
              <a:rPr lang="zh-CN" altLang="en-US" sz="1600" dirty="0">
                <a:latin typeface="+mn-ea"/>
                <a:ea typeface="+mn-ea"/>
              </a:rPr>
              <a:t>：文档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代码 </a:t>
            </a:r>
            <a:endParaRPr lang="en-US" altLang="zh-CN" sz="1600" dirty="0">
              <a:latin typeface="+mn-ea"/>
              <a:ea typeface="+mn-ea"/>
            </a:endParaRPr>
          </a:p>
          <a:p>
            <a:pPr eaLnBrk="1" hangingPunct="1">
              <a:lnSpc>
                <a:spcPts val="27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目的</a:t>
            </a:r>
            <a:r>
              <a:rPr lang="zh-CN" altLang="en-US" sz="1600" dirty="0">
                <a:latin typeface="+mn-ea"/>
                <a:ea typeface="+mn-ea"/>
              </a:rPr>
              <a:t>：</a:t>
            </a:r>
            <a:r>
              <a:rPr lang="zh-CN" altLang="zh-CN" sz="1600" dirty="0">
                <a:solidFill>
                  <a:srgbClr val="0000FF"/>
                </a:solidFill>
              </a:rPr>
              <a:t>产生式系统</a:t>
            </a:r>
            <a:r>
              <a:rPr lang="zh-CN" altLang="zh-CN" sz="1600" dirty="0"/>
              <a:t>与</a:t>
            </a:r>
            <a:r>
              <a:rPr lang="zh-CN" altLang="zh-CN" sz="1600" dirty="0">
                <a:solidFill>
                  <a:srgbClr val="0000FF"/>
                </a:solidFill>
              </a:rPr>
              <a:t>深度学习</a:t>
            </a:r>
            <a:r>
              <a:rPr lang="zh-CN" altLang="en-US" sz="1600" dirty="0">
                <a:solidFill>
                  <a:srgbClr val="0000FF"/>
                </a:solidFill>
              </a:rPr>
              <a:t>方法</a:t>
            </a:r>
            <a:r>
              <a:rPr lang="zh-CN" altLang="zh-CN" sz="1600" dirty="0"/>
              <a:t>的比较</a:t>
            </a:r>
            <a:r>
              <a:rPr lang="en-US" altLang="zh-CN" sz="1600" dirty="0"/>
              <a:t>   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文件打包名称</a:t>
            </a:r>
            <a:r>
              <a:rPr lang="zh-CN" altLang="en-US" sz="1600" dirty="0">
                <a:latin typeface="+mn-ea"/>
                <a:ea typeface="+mn-ea"/>
              </a:rPr>
              <a:t>：动物识别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姓名 </a:t>
            </a:r>
            <a:endParaRPr lang="en-US" altLang="zh-CN" sz="1600" dirty="0"/>
          </a:p>
          <a:p>
            <a:pPr eaLnBrk="1" hangingPunct="1">
              <a:lnSpc>
                <a:spcPts val="2700"/>
              </a:lnSpc>
            </a:pPr>
            <a:r>
              <a:rPr lang="zh-CN" altLang="en-US" sz="1600" dirty="0">
                <a:solidFill>
                  <a:srgbClr val="FF0000"/>
                </a:solidFill>
              </a:rPr>
              <a:t>内容</a:t>
            </a:r>
            <a:r>
              <a:rPr lang="zh-CN" altLang="en-US" sz="1600" dirty="0"/>
              <a:t>：两种方法分析比较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算法原理、步骤、代码实现</a:t>
            </a:r>
            <a:r>
              <a:rPr lang="en-US" altLang="zh-CN" sz="1600" dirty="0">
                <a:latin typeface="+mn-ea"/>
                <a:ea typeface="+mn-ea"/>
              </a:rPr>
              <a:t>)   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提交</a:t>
            </a:r>
            <a:r>
              <a:rPr lang="zh-CN" altLang="en-US" sz="1600" dirty="0">
                <a:latin typeface="+mn-ea"/>
                <a:ea typeface="+mn-ea"/>
              </a:rPr>
              <a:t>：</a:t>
            </a:r>
            <a:r>
              <a:rPr lang="en-US" altLang="zh-CN" sz="16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ai_2019@sohu.com</a:t>
            </a:r>
            <a:endParaRPr kumimoji="1" lang="en-US" altLang="zh-CN" sz="1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21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 txBox="1">
            <a:spLocks noChangeArrowheads="1"/>
          </p:cNvSpPr>
          <p:nvPr/>
        </p:nvSpPr>
        <p:spPr bwMode="auto">
          <a:xfrm>
            <a:off x="655265" y="1799517"/>
            <a:ext cx="7877175" cy="2493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000"/>
              </a:lnSpc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事实库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综合数据库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观察数据集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ts val="3000"/>
              </a:lnSpc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②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若存在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未用过的规则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前提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，能与事实库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相匹配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转③，否则转⑤；</a:t>
            </a:r>
          </a:p>
          <a:p>
            <a:pPr algn="just">
              <a:lnSpc>
                <a:spcPts val="3000"/>
              </a:lnSpc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③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使用规则，更新事实库，并标记所用规则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ts val="3000"/>
              </a:lnSpc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④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事实库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是否包含解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。若有，即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终止求解过程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，否则转②；</a:t>
            </a:r>
          </a:p>
          <a:p>
            <a:pPr algn="just"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⑤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要求更多关于问题的知识，若不能提供所需知识，则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求解失败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否则更新事实库并转②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7347" name="Rectangle 3"/>
          <p:cNvSpPr txBox="1">
            <a:spLocks noChangeArrowheads="1"/>
          </p:cNvSpPr>
          <p:nvPr/>
        </p:nvSpPr>
        <p:spPr bwMode="auto">
          <a:xfrm>
            <a:off x="647637" y="1162637"/>
            <a:ext cx="3348299" cy="35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产生式系统的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问题求解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步骤：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7075" y="4509120"/>
            <a:ext cx="6869261" cy="9489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ts val="3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u="wavyHeavy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简单的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产生式系统，其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前提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结论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都是一些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简单的断言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u="wavyHeavy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实用</a:t>
            </a:r>
            <a:r>
              <a:rPr lang="zh-CN" altLang="en-US" sz="2000" u="wavyHeavy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性的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产生式系统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，其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结构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规模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更复杂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4"/>
          <p:cNvSpPr txBox="1">
            <a:spLocks noChangeArrowheads="1"/>
          </p:cNvSpPr>
          <p:nvPr/>
        </p:nvSpPr>
        <p:spPr bwMode="auto">
          <a:xfrm>
            <a:off x="668938" y="1052736"/>
            <a:ext cx="33085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、知识的逻辑表示方法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E490DE-CC0F-4768-8226-E6A4908D46A6}"/>
              </a:ext>
            </a:extLst>
          </p:cNvPr>
          <p:cNvSpPr/>
          <p:nvPr/>
        </p:nvSpPr>
        <p:spPr>
          <a:xfrm>
            <a:off x="602325" y="1719280"/>
            <a:ext cx="605790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逻辑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r>
              <a:rPr lang="zh-CN" altLang="zh-CN" sz="2000" dirty="0">
                <a:latin typeface="+mn-ea"/>
                <a:ea typeface="+mn-ea"/>
              </a:rPr>
              <a:t>进行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正确推理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充分论证</a:t>
            </a:r>
            <a:r>
              <a:rPr lang="zh-CN" altLang="zh-CN" sz="2000" dirty="0">
                <a:latin typeface="+mn-ea"/>
                <a:ea typeface="+mn-ea"/>
              </a:rPr>
              <a:t>的研究</a:t>
            </a:r>
            <a:endParaRPr lang="en-US" altLang="zh-CN" sz="2000" dirty="0">
              <a:latin typeface="+mn-ea"/>
              <a:ea typeface="+mn-ea"/>
            </a:endParaRPr>
          </a:p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符号主义人工智能</a:t>
            </a:r>
            <a:r>
              <a:rPr lang="en-US" altLang="zh-CN" sz="2000" dirty="0">
                <a:latin typeface="+mn-ea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AI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即来源</a:t>
            </a:r>
            <a:r>
              <a:rPr lang="zh-CN" altLang="zh-CN" sz="2000" dirty="0">
                <a:latin typeface="+mn-ea"/>
              </a:rPr>
              <a:t>于逻辑推理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6944" y="2852936"/>
            <a:ext cx="7992888" cy="2769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</a:rPr>
              <a:t>从一个或若干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前提</a:t>
            </a:r>
            <a:r>
              <a:rPr lang="zh-CN" altLang="zh-CN" sz="2000" dirty="0">
                <a:latin typeface="+mn-ea"/>
                <a:ea typeface="+mn-ea"/>
              </a:rPr>
              <a:t>出发，</a:t>
            </a:r>
            <a:r>
              <a:rPr lang="zh-CN" altLang="en-US" sz="2000" dirty="0">
                <a:latin typeface="+mn-ea"/>
                <a:ea typeface="+mn-ea"/>
              </a:rPr>
              <a:t>研究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是否存在</a:t>
            </a:r>
            <a:r>
              <a:rPr lang="zh-CN" altLang="zh-CN" sz="2000" dirty="0">
                <a:latin typeface="+mn-ea"/>
                <a:ea typeface="+mn-ea"/>
              </a:rPr>
              <a:t>一个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有效的论证</a:t>
            </a:r>
            <a:r>
              <a:rPr lang="zh-CN" altLang="zh-CN" sz="2000" dirty="0">
                <a:latin typeface="+mn-ea"/>
                <a:ea typeface="+mn-ea"/>
              </a:rPr>
              <a:t>或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推理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支持</a:t>
            </a:r>
            <a:r>
              <a:rPr lang="zh-CN" altLang="zh-CN" sz="2000" dirty="0">
                <a:latin typeface="+mn-ea"/>
                <a:ea typeface="+mn-ea"/>
              </a:rPr>
              <a:t>所得到的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结论</a:t>
            </a:r>
            <a:r>
              <a:rPr lang="zh-CN" altLang="en-US" sz="2000" dirty="0">
                <a:latin typeface="+mn-ea"/>
                <a:ea typeface="+mn-ea"/>
              </a:rPr>
              <a:t>。（</a:t>
            </a:r>
            <a:r>
              <a:rPr lang="zh-CN" altLang="zh-CN" sz="2000" dirty="0">
                <a:latin typeface="+mn-ea"/>
                <a:ea typeface="+mn-ea"/>
              </a:rPr>
              <a:t>在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前提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结论</a:t>
            </a:r>
            <a:r>
              <a:rPr lang="zh-CN" altLang="zh-CN" sz="2000" dirty="0">
                <a:latin typeface="+mn-ea"/>
                <a:ea typeface="+mn-ea"/>
              </a:rPr>
              <a:t>之间</a:t>
            </a:r>
            <a:r>
              <a:rPr lang="zh-CN" altLang="en-US" sz="2000" u="wavyDbl" dirty="0">
                <a:latin typeface="+mn-ea"/>
                <a:ea typeface="+mn-ea"/>
              </a:rPr>
              <a:t>建立</a:t>
            </a:r>
            <a:r>
              <a:rPr lang="zh-CN" altLang="zh-CN" sz="2000" u="wavyDbl" dirty="0">
                <a:latin typeface="+mn-ea"/>
                <a:ea typeface="+mn-ea"/>
              </a:rPr>
              <a:t>逻辑结构</a:t>
            </a:r>
            <a:r>
              <a:rPr lang="zh-CN" altLang="zh-CN" sz="2000" dirty="0">
                <a:latin typeface="+mn-ea"/>
                <a:ea typeface="+mn-ea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桥梁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pPr marL="271463" indent="-271463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逻辑</a:t>
            </a:r>
            <a:r>
              <a:rPr lang="zh-CN" altLang="zh-CN" sz="2000" dirty="0">
                <a:latin typeface="+mn-ea"/>
                <a:ea typeface="+mn-ea"/>
              </a:rPr>
              <a:t>与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推理</a:t>
            </a:r>
            <a:r>
              <a:rPr lang="zh-CN" altLang="en-US" sz="2000" dirty="0">
                <a:latin typeface="+mn-ea"/>
                <a:ea typeface="+mn-ea"/>
              </a:rPr>
              <a:t>也</a:t>
            </a:r>
            <a:r>
              <a:rPr lang="zh-CN" altLang="zh-CN" sz="2000" dirty="0">
                <a:latin typeface="+mn-ea"/>
                <a:ea typeface="+mn-ea"/>
              </a:rPr>
              <a:t>是人工智能的核心问题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zh-CN" sz="2000" dirty="0">
                <a:latin typeface="+mn-ea"/>
                <a:ea typeface="+mn-ea"/>
              </a:rPr>
              <a:t>人类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思维活动</a:t>
            </a:r>
            <a:r>
              <a:rPr lang="zh-CN" altLang="zh-CN" sz="2000" dirty="0">
                <a:latin typeface="+mn-ea"/>
                <a:ea typeface="+mn-ea"/>
              </a:rPr>
              <a:t>的一个重要功能就是</a:t>
            </a:r>
            <a:r>
              <a:rPr lang="zh-CN" altLang="en-US" sz="2000" dirty="0">
                <a:latin typeface="+mn-ea"/>
                <a:ea typeface="+mn-ea"/>
              </a:rPr>
              <a:t>先</a:t>
            </a:r>
            <a:r>
              <a:rPr lang="zh-CN" altLang="zh-CN" sz="2000" dirty="0">
                <a:latin typeface="+mn-ea"/>
                <a:ea typeface="+mn-ea"/>
              </a:rPr>
              <a:t>设定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zh-CN" sz="2000" dirty="0">
                <a:latin typeface="+mn-ea"/>
                <a:ea typeface="+mn-ea"/>
              </a:rPr>
              <a:t>一些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逻辑规则</a:t>
            </a:r>
            <a:r>
              <a:rPr lang="zh-CN" altLang="zh-CN" sz="2000" dirty="0">
                <a:latin typeface="+mn-ea"/>
                <a:ea typeface="+mn-ea"/>
              </a:rPr>
              <a:t>，然后进行分析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 marL="285750" indent="-285750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如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r>
              <a:rPr lang="zh-CN" altLang="zh-CN" sz="2000" dirty="0">
                <a:latin typeface="+mn-ea"/>
                <a:ea typeface="+mn-ea"/>
              </a:rPr>
              <a:t>通过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归纳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演绎</a:t>
            </a:r>
            <a:r>
              <a:rPr lang="zh-CN" altLang="zh-CN" sz="2000" dirty="0">
                <a:latin typeface="+mn-ea"/>
                <a:ea typeface="+mn-ea"/>
              </a:rPr>
              <a:t>等手段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zh-CN" sz="2000" dirty="0">
                <a:latin typeface="+mn-ea"/>
                <a:ea typeface="+mn-ea"/>
              </a:rPr>
              <a:t>对</a:t>
            </a:r>
            <a:r>
              <a:rPr lang="zh-CN" altLang="en-US" sz="2000" u="wavyDbl" dirty="0">
                <a:latin typeface="+mn-ea"/>
                <a:ea typeface="+mn-ea"/>
              </a:rPr>
              <a:t>已有</a:t>
            </a:r>
            <a:r>
              <a:rPr lang="zh-CN" altLang="zh-CN" sz="2000" u="wavyDbl" dirty="0">
                <a:latin typeface="+mn-ea"/>
                <a:ea typeface="+mn-ea"/>
              </a:rPr>
              <a:t>观测现象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由果溯因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zh-CN" sz="2000" dirty="0">
                <a:latin typeface="+mn-ea"/>
                <a:ea typeface="+mn-ea"/>
              </a:rPr>
              <a:t>归纳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zh-CN" sz="2000" dirty="0">
                <a:latin typeface="+mn-ea"/>
                <a:ea typeface="+mn-ea"/>
              </a:rPr>
              <a:t>或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由因溯果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zh-CN" sz="2000" dirty="0">
                <a:latin typeface="+mn-ea"/>
                <a:ea typeface="+mn-ea"/>
              </a:rPr>
              <a:t>推理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zh-CN" sz="2000" dirty="0">
                <a:latin typeface="+mn-ea"/>
                <a:ea typeface="+mn-ea"/>
              </a:rPr>
              <a:t>，从观测现象中得到结论。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4"/>
          <p:cNvSpPr txBox="1">
            <a:spLocks noChangeArrowheads="1"/>
          </p:cNvSpPr>
          <p:nvPr/>
        </p:nvSpPr>
        <p:spPr bwMode="auto">
          <a:xfrm>
            <a:off x="647173" y="1162056"/>
            <a:ext cx="16113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5.1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命题逻辑</a:t>
            </a:r>
            <a:endParaRPr lang="zh-CN" altLang="en-US" sz="2000" dirty="0">
              <a:solidFill>
                <a:schemeClr val="tx2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419" name="矩形 1"/>
          <p:cNvSpPr>
            <a:spLocks noChangeArrowheads="1"/>
          </p:cNvSpPr>
          <p:nvPr/>
        </p:nvSpPr>
        <p:spPr bwMode="auto">
          <a:xfrm>
            <a:off x="611419" y="1812164"/>
            <a:ext cx="7839777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indent="-27146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命题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：具有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真假含义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陈述句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349375" indent="-271463" algn="just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如：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天在下雨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天晴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血液是红色的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月亮是方的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</a:p>
          <a:p>
            <a:pPr marL="271463" indent="-27146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大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写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字母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命题变元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349375" indent="-271463" algn="just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北京是座古老的城市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人工智能是巨大的机遇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1463" indent="-271463" eaLnBrk="1" hangingPunct="1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一个命题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不能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同时既为真又为假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3400" indent="-261938" eaLnBrk="1" hangingPunct="1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但可在一种条件下为真，另一种条件下为假。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如：</a:t>
            </a:r>
            <a:r>
              <a:rPr lang="zh-CN" altLang="en-US" dirty="0">
                <a:latin typeface="+mn-ea"/>
                <a:ea typeface="+mn-ea"/>
              </a:rPr>
              <a:t>二进制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zh-CN" altLang="en-US" dirty="0">
                <a:latin typeface="+mn-ea"/>
                <a:ea typeface="+mn-ea"/>
              </a:rPr>
              <a:t>十进制</a:t>
            </a:r>
            <a:r>
              <a:rPr lang="en-US" altLang="zh-CN" dirty="0">
                <a:latin typeface="+mn-ea"/>
                <a:ea typeface="+mn-ea"/>
              </a:rPr>
              <a:t>)</a:t>
            </a:r>
            <a:endParaRPr lang="zh-CN" altLang="en-US" dirty="0">
              <a:latin typeface="+mn-ea"/>
              <a:ea typeface="+mn-ea"/>
            </a:endParaRPr>
          </a:p>
          <a:p>
            <a:pPr marL="271463" indent="-27146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没有真假含义的语句不是命题</a:t>
            </a:r>
            <a:endParaRPr lang="en-US" altLang="zh-CN" sz="2000" dirty="0">
              <a:latin typeface="+mn-ea"/>
              <a:ea typeface="+mn-ea"/>
            </a:endParaRPr>
          </a:p>
          <a:p>
            <a:pPr marL="533400" indent="-261938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如</a:t>
            </a:r>
            <a:r>
              <a:rPr lang="zh-CN" altLang="en-US" dirty="0">
                <a:latin typeface="+mn-ea"/>
                <a:ea typeface="+mn-ea"/>
              </a:rPr>
              <a:t>：祈使句、感叹句、疑问句</a:t>
            </a:r>
            <a:r>
              <a:rPr lang="en-US" altLang="zh-CN" dirty="0">
                <a:latin typeface="+mn-ea"/>
                <a:ea typeface="+mn-ea"/>
              </a:rPr>
              <a:t>…</a:t>
            </a:r>
          </a:p>
          <a:p>
            <a:pPr marL="271462" indent="0" algn="just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</a:rPr>
              <a:t>     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请出去</a:t>
            </a:r>
            <a:r>
              <a:rPr lang="en-US" altLang="zh-CN" dirty="0">
                <a:latin typeface="+mn-ea"/>
                <a:ea typeface="+mn-ea"/>
              </a:rPr>
              <a:t>\</a:t>
            </a:r>
            <a:r>
              <a:rPr lang="zh-CN" altLang="en-US" dirty="0">
                <a:latin typeface="+mn-ea"/>
                <a:ea typeface="+mn-ea"/>
              </a:rPr>
              <a:t>山真高啊</a:t>
            </a:r>
            <a:r>
              <a:rPr lang="en-US" altLang="zh-CN" dirty="0">
                <a:latin typeface="+mn-ea"/>
                <a:ea typeface="+mn-ea"/>
              </a:rPr>
              <a:t>\</a:t>
            </a:r>
            <a:r>
              <a:rPr lang="zh-CN" altLang="en-US" dirty="0">
                <a:latin typeface="+mn-ea"/>
                <a:ea typeface="+mn-ea"/>
              </a:rPr>
              <a:t>吃饭了吗</a:t>
            </a:r>
            <a:r>
              <a:rPr lang="en-US" altLang="zh-CN" dirty="0">
                <a:latin typeface="+mn-ea"/>
                <a:ea typeface="+mn-ea"/>
              </a:rPr>
              <a:t>?\</a:t>
            </a:r>
            <a:r>
              <a:rPr lang="zh-CN" altLang="en-US" dirty="0">
                <a:latin typeface="+mn-ea"/>
                <a:ea typeface="+mn-ea"/>
              </a:rPr>
              <a:t>我在说谎</a:t>
            </a:r>
            <a:r>
              <a:rPr lang="en-US" altLang="zh-CN" dirty="0">
                <a:latin typeface="+mn-ea"/>
                <a:ea typeface="+mn-ea"/>
              </a:rPr>
              <a:t>…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矩形 2"/>
          <p:cNvSpPr>
            <a:spLocks noChangeArrowheads="1"/>
          </p:cNvSpPr>
          <p:nvPr/>
        </p:nvSpPr>
        <p:spPr bwMode="auto">
          <a:xfrm>
            <a:off x="611560" y="1152452"/>
            <a:ext cx="28083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、原子命题、复合命题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629709" y="1763347"/>
            <a:ext cx="6966628" cy="3481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命题逻辑中，表达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单一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含义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命题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称为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原子命题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  （</a:t>
            </a:r>
            <a:r>
              <a:rPr lang="zh-CN" altLang="zh-CN" sz="2000" u="wavyDbl" dirty="0">
                <a:latin typeface="+mn-ea"/>
                <a:ea typeface="+mn-ea"/>
                <a:cs typeface="Times New Roman" panose="02020603050405020304" pitchFamily="18" charset="0"/>
              </a:rPr>
              <a:t>不包含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其它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命题作为其组成部分的命题，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也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称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简单命题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原子命题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可通过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连接词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构成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复合命题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  （</a:t>
            </a:r>
            <a:r>
              <a:rPr lang="zh-CN" altLang="zh-CN" sz="2000" u="wavyDbl" dirty="0">
                <a:latin typeface="+mn-ea"/>
                <a:ea typeface="+mn-ea"/>
              </a:rPr>
              <a:t>包含</a:t>
            </a:r>
            <a:r>
              <a:rPr lang="zh-CN" altLang="en-US" sz="2000" dirty="0">
                <a:latin typeface="+mn-ea"/>
                <a:ea typeface="+mn-ea"/>
              </a:rPr>
              <a:t>其它</a:t>
            </a:r>
            <a:r>
              <a:rPr lang="zh-CN" altLang="zh-CN" sz="2000" dirty="0">
                <a:latin typeface="+mn-ea"/>
                <a:ea typeface="+mn-ea"/>
              </a:rPr>
              <a:t>命题作为其组成部分的命题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原子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命题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：天在下雨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Q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：天晴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¬Q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天在下雨，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天不晴。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其中，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”和“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¬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是“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连接词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矩形 4"/>
          <p:cNvSpPr>
            <a:spLocks noChangeArrowheads="1"/>
          </p:cNvSpPr>
          <p:nvPr/>
        </p:nvSpPr>
        <p:spPr bwMode="auto">
          <a:xfrm>
            <a:off x="675160" y="1177423"/>
            <a:ext cx="1223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种连接词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B61BDD0-A3CC-4B3B-B1DA-AB1450A886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8559400"/>
                  </p:ext>
                </p:extLst>
              </p:nvPr>
            </p:nvGraphicFramePr>
            <p:xfrm>
              <a:off x="628980" y="1907596"/>
              <a:ext cx="7956996" cy="361507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0664">
                      <a:extLst>
                        <a:ext uri="{9D8B030D-6E8A-4147-A177-3AD203B41FA5}">
                          <a16:colId xmlns:a16="http://schemas.microsoft.com/office/drawing/2014/main" val="1315336471"/>
                        </a:ext>
                      </a:extLst>
                    </a:gridCol>
                    <a:gridCol w="749708">
                      <a:extLst>
                        <a:ext uri="{9D8B030D-6E8A-4147-A177-3AD203B41FA5}">
                          <a16:colId xmlns:a16="http://schemas.microsoft.com/office/drawing/2014/main" val="1383698265"/>
                        </a:ext>
                      </a:extLst>
                    </a:gridCol>
                    <a:gridCol w="5616624">
                      <a:extLst>
                        <a:ext uri="{9D8B030D-6E8A-4147-A177-3AD203B41FA5}">
                          <a16:colId xmlns:a16="http://schemas.microsoft.com/office/drawing/2014/main" val="617529282"/>
                        </a:ext>
                      </a:extLst>
                    </a:gridCol>
                  </a:tblGrid>
                  <a:tr h="45517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altLang="en-US" sz="2000" kern="0" dirty="0">
                              <a:solidFill>
                                <a:srgbClr val="0000FF"/>
                              </a:solidFill>
                              <a:effectLst/>
                            </a:rPr>
                            <a:t>连接</a:t>
                          </a:r>
                          <a:r>
                            <a:rPr lang="zh-CN" sz="2000" kern="0" dirty="0">
                              <a:solidFill>
                                <a:srgbClr val="0000FF"/>
                              </a:solidFill>
                              <a:effectLst/>
                            </a:rPr>
                            <a:t>词</a:t>
                          </a:r>
                          <a:endParaRPr lang="zh-CN" sz="2000" kern="100" dirty="0">
                            <a:solidFill>
                              <a:srgbClr val="0000FF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altLang="en-US" sz="2000" kern="100" dirty="0">
                              <a:solidFill>
                                <a:srgbClr val="0000FF"/>
                              </a:solidFill>
                              <a:effectLst/>
                            </a:rPr>
                            <a:t>形式</a:t>
                          </a:r>
                          <a:endParaRPr lang="zh-CN" sz="2000" kern="100" dirty="0">
                            <a:solidFill>
                              <a:srgbClr val="0000FF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2000" kern="0" dirty="0">
                              <a:solidFill>
                                <a:srgbClr val="0000FF"/>
                              </a:solidFill>
                              <a:effectLst/>
                            </a:rPr>
                            <a:t>意义</a:t>
                          </a:r>
                          <a:endParaRPr lang="zh-CN" sz="2000" kern="100" dirty="0">
                            <a:solidFill>
                              <a:srgbClr val="0000FF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99890933"/>
                      </a:ext>
                    </a:extLst>
                  </a:tr>
                  <a:tr h="6928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与</a:t>
                          </a:r>
                          <a:endParaRPr lang="en-US" altLang="zh-CN" sz="2000" b="1" kern="100" dirty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and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b="1" i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合取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conjunction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，即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oMath>
                          </a14:m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”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426182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或</a:t>
                          </a:r>
                          <a:endParaRPr lang="en-US" altLang="zh-CN" sz="2000" b="1" kern="100" dirty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or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b="1" i="1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析取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disjunction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，即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oMath>
                          </a14:m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 </m:t>
                              </m:r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”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5716141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非</a:t>
                          </a:r>
                          <a:endParaRPr lang="en-US" altLang="zh-CN" sz="2000" b="1" kern="100" dirty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not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sz="1800" b="1" i="1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否定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negation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，即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“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非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oMath>
                          </a14:m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”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94432710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条件</a:t>
                          </a:r>
                          <a:endParaRPr lang="en-US" altLang="zh-CN" sz="2000" b="1" kern="100" dirty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conditional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b="1" i="1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蕴含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implication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oMath>
                          </a14:m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称前件，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𝒒</m:t>
                              </m:r>
                            </m:oMath>
                          </a14:m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称后件，即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“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如果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oMath>
                          </a14:m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，则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”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433054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双向条件</a:t>
                          </a:r>
                          <a:endParaRPr lang="en-US" altLang="zh-CN" sz="2000" b="1" kern="100" dirty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bi-conditional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sz="1800" b="1" i="1" kern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b="1" i="1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双向蕴含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bi-implication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，即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oMath>
                          </a14:m>
                          <a:r>
                            <a:rPr lang="zh-CN" sz="1600" b="1" kern="100" dirty="0">
                              <a:effectLst/>
                              <a:latin typeface="+mn-ea"/>
                              <a:ea typeface="+mn-ea"/>
                            </a:rPr>
                            <a:t>当且仅当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 </m:t>
                              </m:r>
                              <m:r>
                                <a:rPr lang="en-US" sz="1600" b="1" i="1" kern="100"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”(</a:t>
                          </a:r>
                          <a:r>
                            <a:rPr lang="zh-CN" alt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等价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3445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B61BDD0-A3CC-4B3B-B1DA-AB1450A886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8559400"/>
                  </p:ext>
                </p:extLst>
              </p:nvPr>
            </p:nvGraphicFramePr>
            <p:xfrm>
              <a:off x="628980" y="1907596"/>
              <a:ext cx="7956996" cy="361507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0664">
                      <a:extLst>
                        <a:ext uri="{9D8B030D-6E8A-4147-A177-3AD203B41FA5}">
                          <a16:colId xmlns:a16="http://schemas.microsoft.com/office/drawing/2014/main" val="1315336471"/>
                        </a:ext>
                      </a:extLst>
                    </a:gridCol>
                    <a:gridCol w="749708">
                      <a:extLst>
                        <a:ext uri="{9D8B030D-6E8A-4147-A177-3AD203B41FA5}">
                          <a16:colId xmlns:a16="http://schemas.microsoft.com/office/drawing/2014/main" val="1383698265"/>
                        </a:ext>
                      </a:extLst>
                    </a:gridCol>
                    <a:gridCol w="5616624">
                      <a:extLst>
                        <a:ext uri="{9D8B030D-6E8A-4147-A177-3AD203B41FA5}">
                          <a16:colId xmlns:a16="http://schemas.microsoft.com/office/drawing/2014/main" val="617529282"/>
                        </a:ext>
                      </a:extLst>
                    </a:gridCol>
                  </a:tblGrid>
                  <a:tr h="45517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altLang="en-US" sz="2000" kern="0" dirty="0" smtClean="0">
                              <a:solidFill>
                                <a:srgbClr val="0000FF"/>
                              </a:solidFill>
                              <a:effectLst/>
                            </a:rPr>
                            <a:t>连接</a:t>
                          </a:r>
                          <a:r>
                            <a:rPr lang="zh-CN" sz="2000" kern="0" dirty="0" smtClean="0">
                              <a:solidFill>
                                <a:srgbClr val="0000FF"/>
                              </a:solidFill>
                              <a:effectLst/>
                            </a:rPr>
                            <a:t>词</a:t>
                          </a:r>
                          <a:endParaRPr lang="zh-CN" sz="2000" kern="100" dirty="0">
                            <a:solidFill>
                              <a:srgbClr val="0000FF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altLang="en-US" sz="2000" kern="100" dirty="0" smtClean="0">
                              <a:solidFill>
                                <a:srgbClr val="0000FF"/>
                              </a:solidFill>
                              <a:effectLst/>
                            </a:rPr>
                            <a:t>形式</a:t>
                          </a:r>
                          <a:endParaRPr lang="zh-CN" sz="2000" kern="100" dirty="0">
                            <a:solidFill>
                              <a:srgbClr val="0000FF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2000" kern="0" dirty="0">
                              <a:solidFill>
                                <a:srgbClr val="0000FF"/>
                              </a:solidFill>
                              <a:effectLst/>
                            </a:rPr>
                            <a:t>意义</a:t>
                          </a:r>
                          <a:endParaRPr lang="zh-CN" sz="2000" kern="100" dirty="0">
                            <a:solidFill>
                              <a:srgbClr val="0000FF"/>
                            </a:solidFill>
                            <a:effectLst/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99890933"/>
                      </a:ext>
                    </a:extLst>
                  </a:tr>
                  <a:tr h="6928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 smtClean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与</a:t>
                          </a:r>
                          <a:endParaRPr lang="en-US" altLang="zh-CN" sz="2000" b="1" kern="100" dirty="0" smtClean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 smtClean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and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13008" t="-67544" r="-751220" b="-36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41757" t="-67544" r="-217" b="-36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426182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 smtClean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或</a:t>
                          </a:r>
                          <a:endParaRPr lang="en-US" altLang="zh-CN" sz="2000" b="1" kern="100" dirty="0" smtClean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 smtClean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or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13008" t="-189109" r="-751220" b="-312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41757" t="-189109" r="-217" b="-312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5716141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 smtClean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非</a:t>
                          </a:r>
                          <a:endParaRPr lang="en-US" altLang="zh-CN" sz="2000" b="1" kern="100" dirty="0" smtClean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 smtClean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not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13008" t="-289109" r="-751220" b="-212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41757" t="-289109" r="-217" b="-212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432710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 smtClean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条件</a:t>
                          </a:r>
                          <a:endParaRPr lang="en-US" altLang="zh-CN" sz="2000" b="1" kern="100" dirty="0" smtClean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 smtClean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conditional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13008" t="-385294" r="-751220" b="-1107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41757" t="-385294" r="-217" b="-110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33054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2000" b="1" kern="100" dirty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双向</a:t>
                          </a:r>
                          <a:r>
                            <a:rPr lang="zh-CN" sz="2000" b="1" kern="100" dirty="0" smtClean="0">
                              <a:solidFill>
                                <a:srgbClr val="FF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条件</a:t>
                          </a:r>
                          <a:endParaRPr lang="en-US" altLang="zh-CN" sz="2000" b="1" kern="100" dirty="0" smtClean="0">
                            <a:solidFill>
                              <a:srgbClr val="FF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b="1" kern="100" dirty="0" smtClean="0">
                              <a:effectLst/>
                              <a:latin typeface="+mn-ea"/>
                              <a:ea typeface="+mn-ea"/>
                            </a:rPr>
                            <a:t>(</a:t>
                          </a:r>
                          <a:r>
                            <a:rPr lang="en-US" sz="1600" b="1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bi-conditional</a:t>
                          </a:r>
                          <a:r>
                            <a:rPr lang="en-US" sz="1600" b="1" kern="100" dirty="0">
                              <a:effectLst/>
                              <a:latin typeface="+mn-ea"/>
                              <a:ea typeface="+mn-ea"/>
                            </a:rPr>
                            <a:t>)</a:t>
                          </a:r>
                          <a:endParaRPr lang="zh-CN" sz="1600" b="1" kern="10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13008" t="-490099" r="-751220" b="-11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41757" t="-490099" r="-217" b="-11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344552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6604" y="1177007"/>
            <a:ext cx="86335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zh-CN" sz="2000" kern="100" dirty="0">
                <a:latin typeface="+mn-ea"/>
                <a:ea typeface="+mn-ea"/>
              </a:rPr>
              <a:t>真值表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510352" y="745732"/>
            <a:ext cx="5012852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2075" indent="-9207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原子命题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可用“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”表示具有“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真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zh-CN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假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含义</a:t>
            </a:r>
            <a:endParaRPr lang="en-US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92075" indent="-9207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复合命题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：其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真值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根据</a:t>
            </a:r>
            <a:r>
              <a:rPr lang="zh-CN" altLang="zh-CN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原子命题的真值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而定</a:t>
            </a:r>
            <a:endParaRPr lang="zh-CN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3B721F5-CC09-4648-8E74-AC3004F75BE8}"/>
                  </a:ext>
                </a:extLst>
              </p:cNvPr>
              <p:cNvSpPr/>
              <p:nvPr/>
            </p:nvSpPr>
            <p:spPr>
              <a:xfrm>
                <a:off x="656604" y="3717032"/>
                <a:ext cx="7947844" cy="1661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n-ea"/>
                    <a:ea typeface="+mn-ea"/>
                  </a:rPr>
                  <a:t>连</a:t>
                </a:r>
                <a:r>
                  <a:rPr lang="zh-CN" altLang="zh-CN" dirty="0">
                    <a:latin typeface="+mn-ea"/>
                    <a:ea typeface="+mn-ea"/>
                  </a:rPr>
                  <a:t>结词中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前件</a:t>
                </a:r>
                <a:r>
                  <a:rPr lang="zh-CN" altLang="zh-CN" dirty="0">
                    <a:latin typeface="+mn-ea"/>
                    <a:ea typeface="+mn-ea"/>
                  </a:rPr>
                  <a:t>为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假</a:t>
                </a:r>
                <a:r>
                  <a:rPr lang="zh-CN" altLang="zh-CN" dirty="0">
                    <a:latin typeface="+mn-ea"/>
                    <a:ea typeface="+mn-ea"/>
                  </a:rPr>
                  <a:t>时，无论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后件</a:t>
                </a:r>
                <a:r>
                  <a:rPr lang="zh-CN" altLang="zh-CN" dirty="0">
                    <a:latin typeface="+mn-ea"/>
                    <a:ea typeface="+mn-ea"/>
                  </a:rPr>
                  <a:t>取值如何，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复合命题均为真</a:t>
                </a:r>
                <a:r>
                  <a:rPr lang="zh-CN" altLang="zh-CN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71463" indent="-271463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  <m:r>
                      <a:rPr lang="en-US" altLang="zh-CN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定义的是一种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蕴含关系</a:t>
                </a:r>
                <a:r>
                  <a:rPr lang="zh-CN" altLang="zh-CN" dirty="0">
                    <a:latin typeface="+mn-ea"/>
                    <a:ea typeface="+mn-ea"/>
                  </a:rPr>
                  <a:t>，</a:t>
                </a:r>
                <a:r>
                  <a:rPr lang="zh-CN" altLang="en-US" dirty="0">
                    <a:latin typeface="+mn-ea"/>
                    <a:ea typeface="+mn-ea"/>
                  </a:rPr>
                  <a:t>即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命题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包含命题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的子集</a:t>
                </a:r>
                <a:r>
                  <a:rPr lang="zh-CN" altLang="en-US" dirty="0">
                    <a:latin typeface="+mn-ea"/>
                    <a:ea typeface="+mn-ea"/>
                  </a:rPr>
                  <a:t>）。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不成立相当于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是一个空集，而空集是任何集合的子集。因此，当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不成立时，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  <m:r>
                      <a:rPr lang="en-US" altLang="zh-CN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恒为真。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3B721F5-CC09-4648-8E74-AC3004F75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04" y="3717032"/>
                <a:ext cx="7947844" cy="1661993"/>
              </a:xfrm>
              <a:prstGeom prst="rect">
                <a:avLst/>
              </a:prstGeom>
              <a:blipFill>
                <a:blip r:embed="rId2"/>
                <a:stretch>
                  <a:fillRect l="-1305" t="-368" r="-77" b="-3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772816"/>
            <a:ext cx="5976664" cy="1832914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11560" y="1828232"/>
                <a:ext cx="6192688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342900" indent="-342900">
                  <a:spcBef>
                    <a:spcPct val="5000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两个命题</a:t>
                </a:r>
                <a:r>
                  <a:rPr lang="zh-CN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具有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相同</a:t>
                </a:r>
                <a:r>
                  <a:rPr lang="zh-CN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的真假结果，一般用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≡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”</a:t>
                </a:r>
                <a:r>
                  <a:rPr lang="zh-CN" altLang="zh-C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表示</a:t>
                </a:r>
                <a:r>
                  <a: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828232"/>
                <a:ext cx="6192688" cy="307777"/>
              </a:xfrm>
              <a:prstGeom prst="rect">
                <a:avLst/>
              </a:prstGeom>
              <a:blipFill>
                <a:blip r:embed="rId2"/>
                <a:stretch>
                  <a:fillRect l="-1870" t="-30000" r="-2165" b="-4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48136" y="1167863"/>
            <a:ext cx="107937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en-US" sz="2000" kern="100" dirty="0">
                <a:latin typeface="+mn-ea"/>
                <a:ea typeface="+mn-ea"/>
              </a:rPr>
              <a:t>逻辑等价</a:t>
            </a:r>
            <a:endParaRPr lang="zh-CN" altLang="zh-CN" sz="2000" kern="1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8AAC8E2-F248-4123-A9A0-F401BBE33663}"/>
                  </a:ext>
                </a:extLst>
              </p:cNvPr>
              <p:cNvSpPr/>
              <p:nvPr/>
            </p:nvSpPr>
            <p:spPr>
              <a:xfrm>
                <a:off x="626909" y="2348880"/>
                <a:ext cx="3729067" cy="32316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0975" indent="-180975">
                  <a:lnSpc>
                    <a:spcPts val="30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给定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命题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和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命题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，</a:t>
                </a: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在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所有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论域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都有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相同的真假结果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，</a:t>
                </a: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逻辑上等价，即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≡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180975" indent="-180975">
                  <a:lnSpc>
                    <a:spcPts val="30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命题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进行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形式转换</a:t>
                </a: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成为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可能</a:t>
                </a:r>
                <a:endParaRPr lang="en-US" altLang="zh-CN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 marL="180975" indent="-180975">
                  <a:lnSpc>
                    <a:spcPts val="3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基于命题转换</a:t>
                </a: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形式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，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无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需</a:t>
                </a: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再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逐一列出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真值表判断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两者是否在逻辑上等价，可直接根据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已有逻辑等价公式</a:t>
                </a:r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𝒒</m:t>
                    </m:r>
                  </m:oMath>
                </a14:m>
                <a:r>
                  <a:rPr lang="zh-CN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在逻辑上是否等价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8AAC8E2-F248-4123-A9A0-F401BBE33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9" y="2348880"/>
                <a:ext cx="3729067" cy="3231654"/>
              </a:xfrm>
              <a:prstGeom prst="rect">
                <a:avLst/>
              </a:prstGeom>
              <a:blipFill>
                <a:blip r:embed="rId3"/>
                <a:stretch>
                  <a:fillRect l="-2778" t="-943" r="-3105" b="-1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2382262"/>
            <a:ext cx="4176464" cy="195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6415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72816"/>
            <a:ext cx="6696744" cy="43204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3C5D3D-CF37-434E-9C0E-CF10582CDC0F}"/>
              </a:ext>
            </a:extLst>
          </p:cNvPr>
          <p:cNvSpPr/>
          <p:nvPr/>
        </p:nvSpPr>
        <p:spPr>
          <a:xfrm>
            <a:off x="628701" y="1188115"/>
            <a:ext cx="23762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zh-CN" altLang="zh-CN" sz="2000" b="1" kern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若干逻辑等价的解释</a:t>
            </a:r>
            <a:endParaRPr lang="zh-CN" altLang="zh-CN" sz="2000" kern="1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3C5D3D-CF37-434E-9C0E-CF10582CDC0F}"/>
                  </a:ext>
                </a:extLst>
              </p:cNvPr>
              <p:cNvSpPr/>
              <p:nvPr/>
            </p:nvSpPr>
            <p:spPr>
              <a:xfrm>
                <a:off x="1979712" y="3068960"/>
                <a:ext cx="6408712" cy="512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zh-CN" altLang="en-US" sz="1400" b="1" i="1" kern="0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zh-CN" altLang="en-US" sz="14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为真，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sz="1400" dirty="0"/>
                  <a:t>也为真；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1400" dirty="0"/>
                  <a:t>为假，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sz="1400" dirty="0"/>
                  <a:t>自动为真</a:t>
                </a:r>
                <a:r>
                  <a:rPr lang="en-US" altLang="zh-CN" sz="1400" dirty="0">
                    <a:latin typeface="+mn-ea"/>
                    <a:ea typeface="+mn-ea"/>
                  </a:rPr>
                  <a:t>(</a:t>
                </a:r>
                <a:r>
                  <a:rPr lang="zh-CN" altLang="en-US" sz="1400" dirty="0">
                    <a:latin typeface="+mn-ea"/>
                    <a:ea typeface="+mn-ea"/>
                  </a:rPr>
                  <a:t>条件不满足，无法判断结果是否违反条件</a:t>
                </a:r>
                <a:r>
                  <a:rPr lang="en-US" altLang="zh-CN" sz="1400" dirty="0">
                    <a:latin typeface="+mn-ea"/>
                    <a:ea typeface="+mn-ea"/>
                  </a:rPr>
                  <a:t>)</a:t>
                </a:r>
              </a:p>
              <a:p>
                <a:pPr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1400" dirty="0">
                    <a:latin typeface="+mn-ea"/>
                    <a:ea typeface="+mn-ea"/>
                  </a:rPr>
                  <a:t>的否定或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sz="1400" dirty="0">
                    <a:latin typeface="+mn-ea"/>
                    <a:ea typeface="+mn-ea"/>
                  </a:rPr>
                  <a:t>，至少有一个为真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3C5D3D-CF37-434E-9C0E-CF10582CD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068960"/>
                <a:ext cx="6408712" cy="512961"/>
              </a:xfrm>
              <a:prstGeom prst="rect">
                <a:avLst/>
              </a:prstGeom>
              <a:blipFill>
                <a:blip r:embed="rId3"/>
                <a:stretch>
                  <a:fillRect l="-665" t="-8046" r="-1045" b="-11494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B3C5D3D-CF37-434E-9C0E-CF10582CDC0F}"/>
                  </a:ext>
                </a:extLst>
              </p:cNvPr>
              <p:cNvSpPr/>
              <p:nvPr/>
            </p:nvSpPr>
            <p:spPr>
              <a:xfrm>
                <a:off x="683568" y="4007192"/>
                <a:ext cx="3384376" cy="512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dirty="0">
                    <a:latin typeface="+mn-ea"/>
                    <a:ea typeface="+mn-ea"/>
                  </a:rPr>
                  <a:t>既没有也没有</a:t>
                </a:r>
                <a:r>
                  <a:rPr lang="en-US" altLang="zh-CN" sz="1400" dirty="0">
                    <a:latin typeface="+mn-ea"/>
                    <a:ea typeface="+mn-ea"/>
                  </a:rPr>
                  <a:t>(</a:t>
                </a:r>
                <a:r>
                  <a:rPr lang="zh-CN" altLang="en-US" sz="1400" dirty="0">
                    <a:latin typeface="+mn-ea"/>
                    <a:ea typeface="+mn-ea"/>
                  </a:rPr>
                  <a:t>两者都没有</a:t>
                </a:r>
                <a:r>
                  <a:rPr lang="en-US" altLang="zh-CN" sz="1400" dirty="0">
                    <a:latin typeface="+mn-ea"/>
                    <a:ea typeface="+mn-ea"/>
                  </a:rPr>
                  <a:t>\</a:t>
                </a:r>
                <a:r>
                  <a:rPr lang="zh-CN" altLang="en-US" sz="1400" dirty="0">
                    <a:latin typeface="+mn-ea"/>
                    <a:ea typeface="+mn-ea"/>
                  </a:rPr>
                  <a:t>不能同时为真</a:t>
                </a:r>
                <a:r>
                  <a:rPr lang="en-US" altLang="zh-CN" sz="1400" dirty="0">
                    <a:latin typeface="+mn-ea"/>
                    <a:ea typeface="+mn-ea"/>
                  </a:rPr>
                  <a:t>)</a:t>
                </a:r>
              </a:p>
              <a:p>
                <a:pPr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zh-CN" alt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1400" dirty="0"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zh-CN" alt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sz="1400" dirty="0">
                    <a:latin typeface="+mn-ea"/>
                    <a:ea typeface="+mn-ea"/>
                  </a:rPr>
                  <a:t>中，至少有一个为真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B3C5D3D-CF37-434E-9C0E-CF10582CD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007192"/>
                <a:ext cx="3384376" cy="512961"/>
              </a:xfrm>
              <a:prstGeom prst="rect">
                <a:avLst/>
              </a:prstGeom>
              <a:blipFill>
                <a:blip r:embed="rId4"/>
                <a:stretch>
                  <a:fillRect l="-3052" t="-8140" r="-898" b="-12791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B3C5D3D-CF37-434E-9C0E-CF10582CDC0F}"/>
                  </a:ext>
                </a:extLst>
              </p:cNvPr>
              <p:cNvSpPr/>
              <p:nvPr/>
            </p:nvSpPr>
            <p:spPr>
              <a:xfrm>
                <a:off x="1547664" y="5536490"/>
                <a:ext cx="2520280" cy="512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dirty="0">
                    <a:latin typeface="+mn-ea"/>
                    <a:ea typeface="+mn-ea"/>
                  </a:rPr>
                  <a:t>既没有也没有</a:t>
                </a:r>
                <a:r>
                  <a:rPr lang="en-US" altLang="zh-CN" sz="1400" dirty="0">
                    <a:latin typeface="+mn-ea"/>
                    <a:ea typeface="+mn-ea"/>
                  </a:rPr>
                  <a:t>(</a:t>
                </a:r>
                <a:r>
                  <a:rPr lang="zh-CN" altLang="en-US" sz="1400" dirty="0">
                    <a:latin typeface="+mn-ea"/>
                    <a:ea typeface="+mn-ea"/>
                  </a:rPr>
                  <a:t>两者都不能为真</a:t>
                </a:r>
                <a:r>
                  <a:rPr lang="en-US" altLang="zh-CN" sz="1400" dirty="0">
                    <a:latin typeface="+mn-ea"/>
                    <a:ea typeface="+mn-ea"/>
                  </a:rPr>
                  <a:t>)</a:t>
                </a:r>
              </a:p>
              <a:p>
                <a:pPr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zh-CN" alt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1400" dirty="0"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zh-CN" alt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sz="1400" dirty="0">
                    <a:latin typeface="+mn-ea"/>
                    <a:ea typeface="+mn-ea"/>
                  </a:rPr>
                  <a:t>，都为真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B3C5D3D-CF37-434E-9C0E-CF10582CD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5536490"/>
                <a:ext cx="2520280" cy="512961"/>
              </a:xfrm>
              <a:prstGeom prst="rect">
                <a:avLst/>
              </a:prstGeom>
              <a:blipFill>
                <a:blip r:embed="rId5"/>
                <a:stretch>
                  <a:fillRect l="-4096" t="-8140" r="-3614" b="-12791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圆角矩形标注 1"/>
          <p:cNvSpPr/>
          <p:nvPr/>
        </p:nvSpPr>
        <p:spPr bwMode="auto">
          <a:xfrm>
            <a:off x="5292080" y="1052057"/>
            <a:ext cx="3096344" cy="288032"/>
          </a:xfrm>
          <a:prstGeom prst="wedgeRoundRectCallout">
            <a:avLst>
              <a:gd name="adj1" fmla="val 20332"/>
              <a:gd name="adj2" fmla="val 190768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秋天天气没有变凉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→大雁没有南飞越冬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491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6990" y="1170924"/>
            <a:ext cx="316835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命题逻辑推理的手段和方法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8AAC8E2-F248-4123-A9A0-F401BBE33663}"/>
                  </a:ext>
                </a:extLst>
              </p:cNvPr>
              <p:cNvSpPr/>
              <p:nvPr/>
            </p:nvSpPr>
            <p:spPr>
              <a:xfrm>
                <a:off x="933559" y="2704739"/>
                <a:ext cx="7309020" cy="276998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假言推理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Modus Ponens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endParaRPr lang="en-US" altLang="zh-CN" sz="2000" b="1" dirty="0"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与消解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And-Elimination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∧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∧⋯∧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⋯, 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与导入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And-Introduction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⋯, 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∧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∧⋯∧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双重否定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Double-Negation Elimination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¬¬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endParaRPr lang="en-US" altLang="zh-CN" sz="2000" b="1" dirty="0"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单项消解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或</a:t>
                </a: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单项归结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Unit Resolution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¬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endParaRPr lang="en-US" altLang="zh-CN" sz="2000" b="1" dirty="0"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消解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或</a:t>
                </a:r>
                <a:r>
                  <a:rPr lang="zh-CN" altLang="zh-CN" sz="2000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归结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Resolution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 ¬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𝜸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endParaRPr lang="zh-CN" altLang="zh-CN" sz="2000" dirty="0"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8AAC8E2-F248-4123-A9A0-F401BBE33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59" y="2704739"/>
                <a:ext cx="7309020" cy="2769989"/>
              </a:xfrm>
              <a:prstGeom prst="rect">
                <a:avLst/>
              </a:prstGeom>
              <a:blipFill>
                <a:blip r:embed="rId2"/>
                <a:stretch>
                  <a:fillRect l="-1585" b="-2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5B68FE3-530A-4B0D-BE27-D4B7E5695CE2}"/>
                  </a:ext>
                </a:extLst>
              </p:cNvPr>
              <p:cNvSpPr/>
              <p:nvPr/>
            </p:nvSpPr>
            <p:spPr>
              <a:xfrm>
                <a:off x="618576" y="1772816"/>
                <a:ext cx="7938986" cy="92333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 algn="just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逻辑推理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根据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某种特定策略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，从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前提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出发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推出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结论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的过程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indent="-271463" algn="just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用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表示推理过程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（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左侧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推理的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前提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右侧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推理的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结论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5B68FE3-530A-4B0D-BE27-D4B7E5695C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76" y="1772816"/>
                <a:ext cx="7938986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1458" b="-7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08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6409" y="1179062"/>
            <a:ext cx="160228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逻辑推理例子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38303" y="1916832"/>
            <a:ext cx="1002134" cy="1892805"/>
            <a:chOff x="638303" y="1916832"/>
            <a:chExt cx="1002134" cy="1892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8AAC8E2-F248-4123-A9A0-F401BBE33663}"/>
                    </a:ext>
                  </a:extLst>
                </p:cNvPr>
                <p:cNvSpPr/>
                <p:nvPr/>
              </p:nvSpPr>
              <p:spPr>
                <a:xfrm>
                  <a:off x="638303" y="1916832"/>
                  <a:ext cx="973606" cy="1477328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altLang="zh-CN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𝛃</m:t>
                        </m:r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𝛄</m:t>
                        </m:r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𝛃</m:t>
                        </m:r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𝛄</m:t>
                        </m:r>
                      </m:oMath>
                    </m:oMathPara>
                  </a14:m>
                  <a:endParaRPr lang="zh-CN" altLang="zh-CN" sz="2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8AAC8E2-F248-4123-A9A0-F401BBE336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303" y="1916832"/>
                  <a:ext cx="973606" cy="147732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6E021EC-9749-4C0A-91F7-A5F36D64F94A}"/>
                </a:ext>
              </a:extLst>
            </p:cNvPr>
            <p:cNvSpPr/>
            <p:nvPr/>
          </p:nvSpPr>
          <p:spPr>
            <a:xfrm>
              <a:off x="667941" y="3532638"/>
              <a:ext cx="972496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kern="0" dirty="0">
                  <a:latin typeface="+mn-ea"/>
                  <a:ea typeface="+mn-ea"/>
                  <a:cs typeface="Times New Roman" panose="02020603050405020304" pitchFamily="18" charset="0"/>
                </a:rPr>
                <a:t>已知条件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793547" y="2106516"/>
            <a:ext cx="1953090" cy="806445"/>
            <a:chOff x="1610798" y="2094377"/>
            <a:chExt cx="1953090" cy="806445"/>
          </a:xfrm>
        </p:grpSpPr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45967AA0-2587-4130-AB74-8AC5C18EC6D9}"/>
                </a:ext>
              </a:extLst>
            </p:cNvPr>
            <p:cNvSpPr/>
            <p:nvPr/>
          </p:nvSpPr>
          <p:spPr>
            <a:xfrm>
              <a:off x="1610798" y="2648375"/>
              <a:ext cx="1953090" cy="25244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3217AB48-6332-4B24-B6E3-A2D910D4ABBC}"/>
                    </a:ext>
                  </a:extLst>
                </p:cNvPr>
                <p:cNvSpPr/>
                <p:nvPr/>
              </p:nvSpPr>
              <p:spPr>
                <a:xfrm>
                  <a:off x="1792435" y="2094377"/>
                  <a:ext cx="1589815" cy="55399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应用归结法</a:t>
                  </a:r>
                  <a:endParaRPr lang="en-US" altLang="zh-CN" dirty="0"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证明命题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𝜸</m:t>
                      </m:r>
                    </m:oMath>
                  </a14:m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成立</a:t>
                  </a:r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3217AB48-6332-4B24-B6E3-A2D910D4AB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2435" y="2094377"/>
                  <a:ext cx="1589815" cy="553998"/>
                </a:xfrm>
                <a:prstGeom prst="rect">
                  <a:avLst/>
                </a:prstGeom>
                <a:blipFill>
                  <a:blip r:embed="rId3"/>
                  <a:stretch>
                    <a:fillRect l="-7280" t="-14444" r="-7663" b="-2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/>
          <p:cNvGrpSpPr/>
          <p:nvPr/>
        </p:nvGrpSpPr>
        <p:grpSpPr>
          <a:xfrm>
            <a:off x="4139952" y="1916832"/>
            <a:ext cx="4392488" cy="3301335"/>
            <a:chOff x="4139952" y="1916832"/>
            <a:chExt cx="4392488" cy="3301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9B116B3-571D-4D7F-92CE-DC90E652318E}"/>
                    </a:ext>
                  </a:extLst>
                </p:cNvPr>
                <p:cNvSpPr/>
                <p:nvPr/>
              </p:nvSpPr>
              <p:spPr>
                <a:xfrm>
                  <a:off x="4139952" y="1916832"/>
                  <a:ext cx="4392488" cy="2908489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①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𝛂</m:t>
                      </m:r>
                      <m:r>
                        <a:rPr lang="en-US" altLang="zh-CN" b="1" i="0" ker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altLang="zh-CN" b="1" i="0" ker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𝛃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已知</a:t>
                  </a:r>
                  <a:r>
                    <a:rPr lang="zh-CN" altLang="en-US" kern="0" dirty="0"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②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¬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𝛂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b="1" i="1" ker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𝛃</m:t>
                      </m:r>
                    </m:oMath>
                  </a14:m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进行蕴涵消除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③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¬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b="1" i="1" ker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</m:oMath>
                  </a14:m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进行蕴涵消除</a:t>
                  </a:r>
                  <a:r>
                    <a:rPr lang="zh-CN" altLang="en-US" kern="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④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(¬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𝛂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)∧(¬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由</a:t>
                  </a:r>
                  <a:r>
                    <a:rPr lang="zh-CN" altLang="en-US" kern="0" dirty="0">
                      <a:effectLst/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②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和</a:t>
                  </a:r>
                  <a:r>
                    <a:rPr lang="zh-CN" altLang="en-US" kern="0" dirty="0">
                      <a:effectLst/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③</a:t>
                  </a:r>
                  <a:r>
                    <a:rPr lang="zh-CN" altLang="en-US" kern="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⑤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(¬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𝛂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∧¬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)∨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kern="0" dirty="0">
                      <a:effectLst/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④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使用分配律</a:t>
                  </a:r>
                  <a:r>
                    <a:rPr lang="zh-CN" altLang="en-US" kern="0" dirty="0"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⑥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¬(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𝛂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)∨</m:t>
                      </m:r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kern="0" dirty="0">
                      <a:effectLst/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⑤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使用</a:t>
                  </a: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De Morgan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定律</a:t>
                  </a:r>
                  <a:r>
                    <a:rPr lang="zh-CN" altLang="en-US" kern="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⑦  </a:t>
                  </a:r>
                  <a14:m>
                    <m:oMath xmlns:m="http://schemas.openxmlformats.org/officeDocument/2006/math">
                      <m:r>
                        <a:rPr lang="en-US" altLang="zh-CN" b="1" i="0" kern="0">
                          <a:effectLst/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𝛄</m:t>
                      </m:r>
                    </m:oMath>
                  </a14:m>
                  <a:r>
                    <a:rPr lang="en-US" altLang="zh-CN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kern="0" dirty="0"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kern="0" dirty="0">
                      <a:effectLst/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①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和</a:t>
                  </a:r>
                  <a:r>
                    <a:rPr lang="en-US" altLang="zh-CN" kern="0" dirty="0">
                      <a:effectLst/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⑥</a:t>
                  </a:r>
                  <a:r>
                    <a:rPr lang="zh-CN" altLang="zh-CN" kern="0" dirty="0">
                      <a:effectLst/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进行归结</a:t>
                  </a:r>
                  <a:r>
                    <a:rPr lang="zh-CN" altLang="en-US" kern="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）</a:t>
                  </a:r>
                  <a:endParaRPr lang="zh-CN" altLang="zh-CN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9B116B3-571D-4D7F-92CE-DC90E6523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952" y="1916832"/>
                  <a:ext cx="4392488" cy="2908489"/>
                </a:xfrm>
                <a:prstGeom prst="rect">
                  <a:avLst/>
                </a:prstGeom>
                <a:blipFill>
                  <a:blip r:embed="rId4"/>
                  <a:stretch>
                    <a:fillRect l="-3043" r="-3043" b="-1458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E3B491B-C740-4B2F-8160-362864EA08C4}"/>
                </a:ext>
              </a:extLst>
            </p:cNvPr>
            <p:cNvSpPr/>
            <p:nvPr/>
          </p:nvSpPr>
          <p:spPr>
            <a:xfrm>
              <a:off x="5871325" y="4941168"/>
              <a:ext cx="929742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 kern="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推导过程</a:t>
              </a:r>
              <a:endParaRPr lang="zh-CN" altLang="en-US" dirty="0"/>
            </a:p>
          </p:txBody>
        </p:sp>
      </p:grpSp>
      <p:cxnSp>
        <p:nvCxnSpPr>
          <p:cNvPr id="3" name="直接箭头连接符 2"/>
          <p:cNvCxnSpPr/>
          <p:nvPr/>
        </p:nvCxnSpPr>
        <p:spPr bwMode="auto">
          <a:xfrm flipV="1">
            <a:off x="1475656" y="2106516"/>
            <a:ext cx="2520280" cy="983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 flipV="1">
            <a:off x="1475656" y="2564904"/>
            <a:ext cx="2592288" cy="956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/>
          <p:nvPr/>
        </p:nvCxnSpPr>
        <p:spPr bwMode="auto">
          <a:xfrm flipV="1">
            <a:off x="1475656" y="2996952"/>
            <a:ext cx="2592288" cy="216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8958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843132" y="2250545"/>
            <a:ext cx="2232248" cy="788795"/>
            <a:chOff x="1843132" y="2250545"/>
            <a:chExt cx="2232248" cy="788795"/>
          </a:xfrm>
        </p:grpSpPr>
        <p:sp>
          <p:nvSpPr>
            <p:cNvPr id="5" name="箭头: 右 6">
              <a:extLst>
                <a:ext uri="{FF2B5EF4-FFF2-40B4-BE49-F238E27FC236}">
                  <a16:creationId xmlns:a16="http://schemas.microsoft.com/office/drawing/2014/main" id="{45967AA0-2587-4130-AB74-8AC5C18EC6D9}"/>
                </a:ext>
              </a:extLst>
            </p:cNvPr>
            <p:cNvSpPr/>
            <p:nvPr/>
          </p:nvSpPr>
          <p:spPr>
            <a:xfrm>
              <a:off x="1843132" y="2823316"/>
              <a:ext cx="2232248" cy="216024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217AB48-6332-4B24-B6E3-A2D910D4ABBC}"/>
                </a:ext>
              </a:extLst>
            </p:cNvPr>
            <p:cNvSpPr/>
            <p:nvPr/>
          </p:nvSpPr>
          <p:spPr>
            <a:xfrm>
              <a:off x="2026873" y="2250545"/>
              <a:ext cx="1846659" cy="55399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zh-CN" dirty="0">
                  <a:latin typeface="+mn-ea"/>
                  <a:ea typeface="+mn-ea"/>
                </a:rPr>
                <a:t>应用归结法证明</a:t>
              </a:r>
              <a:endParaRPr lang="en-US" altLang="zh-CN" dirty="0">
                <a:latin typeface="+mn-ea"/>
                <a:ea typeface="+mn-ea"/>
              </a:endParaRPr>
            </a:p>
            <a:p>
              <a:pPr algn="ctr"/>
              <a:r>
                <a:rPr lang="zh-CN" altLang="zh-CN" dirty="0">
                  <a:latin typeface="+mn-ea"/>
                  <a:ea typeface="+mn-ea"/>
                </a:rPr>
                <a:t>命题集是不可满足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83568" y="2013866"/>
            <a:ext cx="972209" cy="2088385"/>
            <a:chOff x="683568" y="2013866"/>
            <a:chExt cx="972209" cy="20883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8AAC8E2-F248-4123-A9A0-F401BBE33663}"/>
                    </a:ext>
                  </a:extLst>
                </p:cNvPr>
                <p:cNvSpPr/>
                <p:nvPr/>
              </p:nvSpPr>
              <p:spPr>
                <a:xfrm>
                  <a:off x="683568" y="2013866"/>
                  <a:ext cx="972209" cy="1731243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lnSpc>
                      <a:spcPts val="27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ts val="27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ts val="27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ts val="27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ts val="2700"/>
                    </a:lnSpc>
                    <a:buClr>
                      <a:schemeClr val="bg1"/>
                    </a:buClr>
                    <a:buSzPct val="8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∨¬ 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CN" altLang="zh-CN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18AAC8E2-F248-4123-A9A0-F401BBE336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568" y="2013866"/>
                  <a:ext cx="972209" cy="1731243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3704" b="-1049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6E021EC-9749-4C0A-91F7-A5F36D64F94A}"/>
                </a:ext>
              </a:extLst>
            </p:cNvPr>
            <p:cNvSpPr/>
            <p:nvPr/>
          </p:nvSpPr>
          <p:spPr>
            <a:xfrm>
              <a:off x="704801" y="3825252"/>
              <a:ext cx="929742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 kern="0" dirty="0">
                  <a:latin typeface="+mn-ea"/>
                  <a:ea typeface="+mn-ea"/>
                  <a:cs typeface="Times New Roman" panose="02020603050405020304" pitchFamily="18" charset="0"/>
                </a:rPr>
                <a:t>已知条件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283968" y="1772816"/>
            <a:ext cx="4320480" cy="3816424"/>
            <a:chOff x="4283968" y="1772816"/>
            <a:chExt cx="4320480" cy="38164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39B116B3-571D-4D7F-92CE-DC90E652318E}"/>
                    </a:ext>
                  </a:extLst>
                </p:cNvPr>
                <p:cNvSpPr/>
                <p:nvPr/>
              </p:nvSpPr>
              <p:spPr>
                <a:xfrm>
                  <a:off x="4283968" y="1772816"/>
                  <a:ext cx="4320480" cy="3462486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α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∨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γ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已知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¬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β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∨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γ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已知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¬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γ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∨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α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已知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¬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α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∨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β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已知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¬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α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∨¬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γ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已知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α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zh-CN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①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和</a:t>
                  </a:r>
                  <a:r>
                    <a:rPr lang="zh-CN" altLang="en-US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③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进行归结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β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zh-CN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④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和</a:t>
                  </a:r>
                  <a:r>
                    <a:rPr lang="zh-CN" altLang="en-US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⑥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进行归结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γ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zh-CN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②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和</a:t>
                  </a:r>
                  <a:r>
                    <a:rPr lang="zh-CN" altLang="en-US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⑦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进行归结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¬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  <a:ea typeface="+mn-ea"/>
                        </a:rPr>
                        <m:t>α</m:t>
                      </m:r>
                    </m:oMath>
                  </a14:m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zh-CN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⑤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和</a:t>
                  </a:r>
                  <a:r>
                    <a:rPr lang="zh-CN" altLang="en-US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⑧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进行归结</a:t>
                  </a:r>
                  <a:r>
                    <a:rPr lang="en-US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marL="342900" lvl="0" indent="-342900">
                    <a:lnSpc>
                      <a:spcPts val="2700"/>
                    </a:lnSpc>
                    <a:buFont typeface="+mj-ea"/>
                    <a:buAutoNum type="circleNumDbPlain"/>
                  </a:pPr>
                  <a:r>
                    <a:rPr lang="en-US" altLang="zh-CN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⑥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和</a:t>
                  </a:r>
                  <a:r>
                    <a:rPr lang="zh-CN" altLang="en-US" dirty="0">
                      <a:latin typeface="宋体" panose="02010600030101010101" pitchFamily="2" charset="-122"/>
                      <a:cs typeface="Times New Roman" panose="02020603050405020304" pitchFamily="18" charset="0"/>
                    </a:rPr>
                    <a:t>⑨</a:t>
                  </a: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矛盾，因此原命题集是不可满足</a:t>
                  </a:r>
                  <a:endPara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39B116B3-571D-4D7F-92CE-DC90E6523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968" y="1772816"/>
                  <a:ext cx="4320480" cy="3462486"/>
                </a:xfrm>
                <a:prstGeom prst="rect">
                  <a:avLst/>
                </a:prstGeom>
                <a:blipFill>
                  <a:blip r:embed="rId3"/>
                  <a:stretch>
                    <a:fillRect l="-2676" t="-1579" r="-2113" b="-1404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3B491B-C740-4B2F-8160-362864EA08C4}"/>
                </a:ext>
              </a:extLst>
            </p:cNvPr>
            <p:cNvSpPr/>
            <p:nvPr/>
          </p:nvSpPr>
          <p:spPr>
            <a:xfrm>
              <a:off x="6012160" y="5312241"/>
              <a:ext cx="929742" cy="2769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 kern="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证明过程</a:t>
              </a:r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547664" y="1916832"/>
            <a:ext cx="2664296" cy="1684261"/>
            <a:chOff x="1547664" y="1916832"/>
            <a:chExt cx="2664296" cy="1684261"/>
          </a:xfrm>
        </p:grpSpPr>
        <p:cxnSp>
          <p:nvCxnSpPr>
            <p:cNvPr id="3" name="直接箭头连接符 2"/>
            <p:cNvCxnSpPr/>
            <p:nvPr/>
          </p:nvCxnSpPr>
          <p:spPr bwMode="auto">
            <a:xfrm flipV="1">
              <a:off x="1547664" y="1916832"/>
              <a:ext cx="2664296" cy="3337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箭头连接符 13"/>
            <p:cNvCxnSpPr/>
            <p:nvPr/>
          </p:nvCxnSpPr>
          <p:spPr bwMode="auto">
            <a:xfrm flipV="1">
              <a:off x="1547664" y="2250545"/>
              <a:ext cx="2664296" cy="31435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箭头连接符 15"/>
            <p:cNvCxnSpPr/>
            <p:nvPr/>
          </p:nvCxnSpPr>
          <p:spPr bwMode="auto">
            <a:xfrm flipV="1">
              <a:off x="1547664" y="2636912"/>
              <a:ext cx="2664296" cy="2880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箭头连接符 17"/>
            <p:cNvCxnSpPr/>
            <p:nvPr/>
          </p:nvCxnSpPr>
          <p:spPr bwMode="auto">
            <a:xfrm flipV="1">
              <a:off x="1547664" y="2996952"/>
              <a:ext cx="2664296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箭头连接符 19"/>
            <p:cNvCxnSpPr/>
            <p:nvPr/>
          </p:nvCxnSpPr>
          <p:spPr bwMode="auto">
            <a:xfrm flipV="1">
              <a:off x="1645160" y="3284984"/>
              <a:ext cx="2566800" cy="31610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42304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11560" y="1824929"/>
                <a:ext cx="8280920" cy="31239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复合命题</a:t>
                </a:r>
                <a:r>
                  <a:rPr lang="zh-CN" altLang="en-US" sz="2000" dirty="0">
                    <a:latin typeface="+mn-ea"/>
                    <a:ea typeface="+mn-ea"/>
                  </a:rPr>
                  <a:t>构成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简单推理</a:t>
                </a:r>
                <a:r>
                  <a:rPr lang="zh-CN" altLang="zh-CN" sz="2000" dirty="0">
                    <a:latin typeface="+mn-ea"/>
                    <a:ea typeface="+mn-ea"/>
                  </a:rPr>
                  <a:t>的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表达方法</a:t>
                </a:r>
                <a:endParaRPr lang="en-US" altLang="zh-CN" sz="2000" dirty="0">
                  <a:latin typeface="+mn-ea"/>
                  <a:ea typeface="+mn-ea"/>
                </a:endParaRPr>
              </a:p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FF0000"/>
                  </a:buClr>
                  <a:buFont typeface="Wingdings" panose="05000000000000000000" pitchFamily="2" charset="2"/>
                  <a:buChar char="p"/>
                </a:pP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复合命题</a:t>
                </a:r>
                <a:r>
                  <a:rPr lang="zh-CN" altLang="zh-CN" sz="2000" dirty="0">
                    <a:latin typeface="+mn-ea"/>
                    <a:ea typeface="+mn-ea"/>
                  </a:rPr>
                  <a:t>可利用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命题变元</a:t>
                </a:r>
                <a:r>
                  <a:rPr lang="zh-CN" altLang="zh-CN" sz="2000" dirty="0">
                    <a:latin typeface="+mn-ea"/>
                    <a:ea typeface="+mn-ea"/>
                  </a:rPr>
                  <a:t>构成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合式公式</a:t>
                </a:r>
                <a:endParaRPr lang="en-US" altLang="zh-CN" sz="24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628650" lvl="1" indent="-26670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为原子命题，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为合式公式，称原子公式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628650" lvl="1" indent="-26670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为合式公式，则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¬P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也是合式公式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628650" lvl="1" indent="-26670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是合式公式，则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∧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∨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↔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都是合式公式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628650" lvl="1" indent="-26670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由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原子公式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、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连接词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和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圆括号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组成的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符号串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均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是合式公式。</a:t>
                </a:r>
                <a:endPara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824929"/>
                <a:ext cx="8280920" cy="3123932"/>
              </a:xfrm>
              <a:prstGeom prst="rect">
                <a:avLst/>
              </a:prstGeom>
              <a:blipFill>
                <a:blip r:embed="rId2"/>
                <a:stretch>
                  <a:fillRect l="-1766" r="-1619" b="-2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5371" y="1162503"/>
            <a:ext cx="15302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、合式公式</a:t>
            </a:r>
          </a:p>
        </p:txBody>
      </p:sp>
    </p:spTree>
    <p:extLst>
      <p:ext uri="{BB962C8B-B14F-4D97-AF65-F5344CB8AC3E}">
        <p14:creationId xmlns:p14="http://schemas.microsoft.com/office/powerpoint/2010/main" val="35158247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8504" y="1186243"/>
            <a:ext cx="2304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基本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蕴含式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16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个）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700808"/>
            <a:ext cx="5544616" cy="4392488"/>
          </a:xfrm>
          <a:prstGeom prst="rect">
            <a:avLst/>
          </a:prstGeom>
        </p:spPr>
      </p:pic>
      <p:sp>
        <p:nvSpPr>
          <p:cNvPr id="3" name="动作按钮: 前进或下一项 2">
            <a:hlinkClick r:id="rId3" action="ppaction://hlinksldjump" highlightClick="1"/>
          </p:cNvPr>
          <p:cNvSpPr/>
          <p:nvPr/>
        </p:nvSpPr>
        <p:spPr bwMode="auto">
          <a:xfrm>
            <a:off x="8136396" y="1267487"/>
            <a:ext cx="360040" cy="226533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14867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5860" y="1178887"/>
            <a:ext cx="2304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基本等价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式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22</a:t>
            </a:r>
            <a:r>
              <a:rPr lang="zh-CN" altLang="en-US" sz="2000" kern="100" dirty="0">
                <a:latin typeface="+mn-ea"/>
                <a:ea typeface="+mn-ea"/>
                <a:cs typeface="Times New Roman" panose="02020603050405020304" pitchFamily="18" charset="0"/>
              </a:rPr>
              <a:t>个）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687160"/>
            <a:ext cx="4936357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586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/>
          <p:cNvSpPr>
            <a:spLocks noChangeArrowheads="1"/>
          </p:cNvSpPr>
          <p:nvPr/>
        </p:nvSpPr>
        <p:spPr bwMode="auto">
          <a:xfrm>
            <a:off x="665097" y="1158535"/>
            <a:ext cx="21602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5.2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谓词逻辑表示</a:t>
            </a:r>
          </a:p>
        </p:txBody>
      </p:sp>
      <p:sp>
        <p:nvSpPr>
          <p:cNvPr id="5" name="矩形 4"/>
          <p:cNvSpPr/>
          <p:nvPr/>
        </p:nvSpPr>
        <p:spPr>
          <a:xfrm>
            <a:off x="620612" y="1817665"/>
            <a:ext cx="7983835" cy="21544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为什么要从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命题逻辑</a:t>
            </a:r>
            <a:r>
              <a:rPr lang="zh-CN" altLang="en-US" sz="2000" dirty="0">
                <a:latin typeface="+mn-ea"/>
                <a:ea typeface="+mn-ea"/>
              </a:rPr>
              <a:t>到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谓词逻辑？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533400" indent="-1714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命题逻辑中，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原子命题</a:t>
            </a:r>
            <a:r>
              <a:rPr lang="zh-CN" altLang="zh-CN" dirty="0">
                <a:latin typeface="+mn-ea"/>
                <a:ea typeface="+mn-ea"/>
              </a:rPr>
              <a:t>是</a:t>
            </a:r>
            <a:r>
              <a:rPr lang="zh-CN" altLang="zh-CN" u="wavyDbl" dirty="0">
                <a:latin typeface="+mn-ea"/>
                <a:ea typeface="+mn-ea"/>
              </a:rPr>
              <a:t>最基本</a:t>
            </a:r>
            <a:r>
              <a:rPr lang="zh-CN" altLang="zh-CN" dirty="0">
                <a:latin typeface="+mn-ea"/>
                <a:ea typeface="+mn-ea"/>
              </a:rPr>
              <a:t>的单位。</a:t>
            </a:r>
            <a:endParaRPr lang="en-US" altLang="zh-CN" dirty="0">
              <a:latin typeface="+mn-ea"/>
              <a:ea typeface="+mn-ea"/>
            </a:endParaRPr>
          </a:p>
          <a:p>
            <a:pPr marL="533400" indent="-1714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由原子命题出发，通过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连接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词</a:t>
            </a:r>
            <a:r>
              <a:rPr lang="zh-CN" altLang="zh-CN" dirty="0">
                <a:latin typeface="+mn-ea"/>
                <a:ea typeface="+mn-ea"/>
              </a:rPr>
              <a:t>，构成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复合命题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533400" indent="-1714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命题逻辑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只能</a:t>
            </a:r>
            <a:r>
              <a:rPr lang="zh-CN" altLang="en-US" dirty="0">
                <a:latin typeface="+mn-ea"/>
                <a:ea typeface="+mn-ea"/>
              </a:rPr>
              <a:t>将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复合命题</a:t>
            </a:r>
            <a:r>
              <a:rPr lang="zh-CN" altLang="zh-CN" u="wavyDbl" dirty="0">
                <a:latin typeface="+mn-ea"/>
                <a:ea typeface="+mn-ea"/>
              </a:rPr>
              <a:t>分解为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简单命题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zh-CN" dirty="0">
                <a:latin typeface="+mn-ea"/>
                <a:ea typeface="+mn-ea"/>
              </a:rPr>
              <a:t>原子命题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，</a:t>
            </a:r>
            <a:r>
              <a:rPr lang="zh-CN" altLang="en-US" dirty="0">
                <a:latin typeface="+mn-ea"/>
                <a:ea typeface="+mn-ea"/>
              </a:rPr>
              <a:t>但</a:t>
            </a:r>
            <a:r>
              <a:rPr lang="zh-CN" altLang="zh-CN" dirty="0">
                <a:latin typeface="+mn-ea"/>
                <a:ea typeface="+mn-ea"/>
              </a:rPr>
              <a:t>无法对原子命题所包含的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丰富语义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zh-CN" dirty="0">
                <a:latin typeface="+mn-ea"/>
                <a:ea typeface="+mn-ea"/>
              </a:rPr>
              <a:t>如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zh-CN" altLang="zh-CN" dirty="0">
                <a:latin typeface="+mn-ea"/>
                <a:ea typeface="+mn-ea"/>
              </a:rPr>
              <a:t>个体</a:t>
            </a:r>
            <a:r>
              <a:rPr lang="en-US" altLang="zh-CN" dirty="0">
                <a:latin typeface="+mn-ea"/>
                <a:ea typeface="+mn-ea"/>
              </a:rPr>
              <a:t>\</a:t>
            </a:r>
            <a:r>
              <a:rPr lang="zh-CN" altLang="zh-CN" dirty="0">
                <a:latin typeface="+mn-ea"/>
                <a:ea typeface="+mn-ea"/>
              </a:rPr>
              <a:t>部分</a:t>
            </a:r>
            <a:r>
              <a:rPr lang="en-US" altLang="zh-CN" dirty="0">
                <a:latin typeface="+mn-ea"/>
                <a:ea typeface="+mn-ea"/>
              </a:rPr>
              <a:t>\</a:t>
            </a:r>
            <a:r>
              <a:rPr lang="zh-CN" altLang="zh-CN" dirty="0">
                <a:latin typeface="+mn-ea"/>
                <a:ea typeface="+mn-ea"/>
              </a:rPr>
              <a:t>全体</a:t>
            </a:r>
            <a:r>
              <a:rPr lang="en-US" altLang="zh-CN" dirty="0">
                <a:latin typeface="+mn-ea"/>
                <a:ea typeface="+mn-ea"/>
              </a:rPr>
              <a:t>…)</a:t>
            </a:r>
            <a:r>
              <a:rPr lang="zh-CN" altLang="zh-CN" dirty="0">
                <a:latin typeface="+mn-ea"/>
                <a:ea typeface="+mn-ea"/>
              </a:rPr>
              <a:t>进行刻画。</a:t>
            </a:r>
            <a:endParaRPr lang="en-US" altLang="zh-CN" dirty="0">
              <a:latin typeface="+mn-ea"/>
              <a:ea typeface="+mn-ea"/>
            </a:endParaRPr>
          </a:p>
          <a:p>
            <a:pPr marL="533400" indent="-1714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因此，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命题逻辑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无法表达</a:t>
            </a:r>
            <a:r>
              <a:rPr lang="zh-CN" altLang="zh-CN" u="wavyDbl" dirty="0">
                <a:latin typeface="+mn-ea"/>
                <a:ea typeface="+mn-ea"/>
              </a:rPr>
              <a:t>局部与整体</a:t>
            </a:r>
            <a:r>
              <a:rPr lang="zh-CN" altLang="zh-CN" dirty="0">
                <a:latin typeface="+mn-ea"/>
                <a:ea typeface="+mn-ea"/>
              </a:rPr>
              <a:t>、</a:t>
            </a:r>
            <a:r>
              <a:rPr lang="zh-CN" altLang="zh-CN" u="wavyDbl" dirty="0">
                <a:latin typeface="+mn-ea"/>
                <a:ea typeface="+mn-ea"/>
              </a:rPr>
              <a:t>一般与个别</a:t>
            </a:r>
            <a:r>
              <a:rPr lang="zh-CN" altLang="zh-CN" dirty="0">
                <a:latin typeface="+mn-ea"/>
                <a:ea typeface="+mn-ea"/>
              </a:rPr>
              <a:t>的关系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84925" y="4071416"/>
            <a:ext cx="7619522" cy="2080923"/>
            <a:chOff x="984925" y="4071416"/>
            <a:chExt cx="7619522" cy="2080923"/>
          </a:xfrm>
        </p:grpSpPr>
        <p:grpSp>
          <p:nvGrpSpPr>
            <p:cNvPr id="3" name="组合 2"/>
            <p:cNvGrpSpPr/>
            <p:nvPr/>
          </p:nvGrpSpPr>
          <p:grpSpPr>
            <a:xfrm>
              <a:off x="984925" y="4071416"/>
              <a:ext cx="2002899" cy="1369559"/>
              <a:chOff x="984925" y="4071416"/>
              <a:chExt cx="2002899" cy="13695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矩形: 圆角 6"/>
                  <p:cNvSpPr/>
                  <p:nvPr/>
                </p:nvSpPr>
                <p:spPr>
                  <a:xfrm>
                    <a:off x="984925" y="4071416"/>
                    <a:ext cx="2002899" cy="1013767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solidFill>
                      <a:srgbClr val="FF0000"/>
                    </a:solidFill>
                    <a:prstDash val="sysDash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0" rIns="0" bIns="0" rtlCol="0" anchor="ctr"/>
                  <a:lstStyle/>
                  <a:p>
                    <a:pPr>
                      <a:lnSpc>
                        <a:spcPct val="1500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a14:m>
                    <a:r>
                      <a:rPr lang="zh-CN" altLang="zh-CN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：所有人都</a:t>
                    </a:r>
                    <a:r>
                      <a:rPr lang="zh-CN" altLang="en-US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会</a:t>
                    </a:r>
                    <a:r>
                      <a:rPr lang="zh-CN" altLang="zh-CN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死</a:t>
                    </a:r>
                  </a:p>
                  <a:p>
                    <a:pPr>
                      <a:lnSpc>
                        <a:spcPct val="1500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oMath>
                    </a14:m>
                    <a:r>
                      <a:rPr lang="zh-CN" altLang="zh-CN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：苏格拉底是人</a:t>
                    </a:r>
                  </a:p>
                  <a:p>
                    <a:pPr>
                      <a:lnSpc>
                        <a:spcPct val="1500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oMath>
                    </a14:m>
                    <a:r>
                      <a:rPr lang="zh-CN" altLang="zh-CN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：所以苏格拉底</a:t>
                    </a:r>
                    <a:r>
                      <a:rPr lang="zh-CN" altLang="en-US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会</a:t>
                    </a:r>
                    <a:r>
                      <a:rPr lang="zh-CN" altLang="zh-CN" sz="16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死</a:t>
                    </a:r>
                  </a:p>
                </p:txBody>
              </p:sp>
            </mc:Choice>
            <mc:Fallback xmlns="">
              <p:sp>
                <p:nvSpPr>
                  <p:cNvPr id="6" name="矩形: 圆角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925" y="4071416"/>
                    <a:ext cx="2002899" cy="1013767"/>
                  </a:xfrm>
                  <a:prstGeom prst="roundRect">
                    <a:avLst>
                      <a:gd name="adj" fmla="val 0"/>
                    </a:avLst>
                  </a:prstGeom>
                  <a:blipFill>
                    <a:blip r:embed="rId2"/>
                    <a:stretch>
                      <a:fillRect l="-2727" t="-2976" r="-5758" b="-10714"/>
                    </a:stretch>
                  </a:blipFill>
                  <a:ln>
                    <a:solidFill>
                      <a:srgbClr val="FF0000"/>
                    </a:solidFill>
                    <a:prstDash val="sysDash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0BE4FC0-9D4B-49F5-A88C-382F623F0A92}"/>
                  </a:ext>
                </a:extLst>
              </p:cNvPr>
              <p:cNvSpPr/>
              <p:nvPr/>
            </p:nvSpPr>
            <p:spPr>
              <a:xfrm>
                <a:off x="1269281" y="5194754"/>
                <a:ext cx="1447512" cy="2462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zh-CN" sz="1600" dirty="0">
                    <a:solidFill>
                      <a:srgbClr val="0000FF"/>
                    </a:solidFill>
                  </a:rPr>
                  <a:t>苏格拉底三段论</a:t>
                </a:r>
                <a:endParaRPr lang="zh-CN" altLang="en-US" sz="1600" dirty="0"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3131839" y="4071416"/>
              <a:ext cx="5472608" cy="2080923"/>
              <a:chOff x="3131839" y="4071416"/>
              <a:chExt cx="5472608" cy="20809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A3E30BE4-A6DD-410B-BBAE-3DCE73AB85ED}"/>
                      </a:ext>
                    </a:extLst>
                  </p:cNvPr>
                  <p:cNvSpPr/>
                  <p:nvPr/>
                </p:nvSpPr>
                <p:spPr>
                  <a:xfrm>
                    <a:off x="3131839" y="4071416"/>
                    <a:ext cx="5472608" cy="1769715"/>
                  </a:xfrm>
                  <a:prstGeom prst="rect">
                    <a:avLst/>
                  </a:prstGeom>
                  <a:ln>
                    <a:solidFill>
                      <a:srgbClr val="FF0000"/>
                    </a:solidFill>
                    <a:prstDash val="sysDash"/>
                  </a:ln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180975" indent="-180975" algn="just">
                      <a:lnSpc>
                        <a:spcPts val="2200"/>
                      </a:lnSpc>
                      <a:spcAft>
                        <a:spcPts val="600"/>
                      </a:spcAft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Ø"/>
                    </a:pPr>
                    <a:r>
                      <a:rPr lang="zh-CN" altLang="en-US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三段论</a:t>
                    </a:r>
                    <a:r>
                      <a:rPr lang="zh-CN" altLang="en-US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虽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正确，但</a:t>
                    </a:r>
                    <a:r>
                      <a:rPr lang="zh-CN" altLang="zh-CN" sz="16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无法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通过命题逻辑推理判断</a:t>
                    </a:r>
                    <a:r>
                      <a:rPr lang="zh-CN" altLang="en-US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：</a:t>
                    </a:r>
                    <a14:m>
                      <m:oMath xmlns:m="http://schemas.openxmlformats.org/officeDocument/2006/math"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𝜷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𝜸</m:t>
                        </m:r>
                      </m:oMath>
                    </a14:m>
                    <a:endPara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endParaRPr>
                  </a:p>
                  <a:p>
                    <a:pPr marL="180975" indent="-180975" algn="just">
                      <a:lnSpc>
                        <a:spcPts val="2200"/>
                      </a:lnSpc>
                      <a:spcAft>
                        <a:spcPts val="0"/>
                      </a:spcAft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Ø"/>
                    </a:pP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原因</a:t>
                    </a:r>
                    <a:r>
                      <a:rPr lang="zh-CN" altLang="en-US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：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原子命题蕴涵了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个体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(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苏格拉底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)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、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群体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(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所有人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)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和</a:t>
                    </a:r>
                    <a:endPara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endParaRPr>
                  </a:p>
                  <a:p>
                    <a:pPr algn="just">
                      <a:lnSpc>
                        <a:spcPts val="2200"/>
                      </a:lnSpc>
                      <a:spcAft>
                        <a:spcPts val="0"/>
                      </a:spcAft>
                      <a:buClr>
                        <a:srgbClr val="FF0000"/>
                      </a:buClr>
                      <a:buSzPct val="80000"/>
                    </a:pP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             </a:t>
                    </a:r>
                    <a:r>
                      <a:rPr lang="en-US" altLang="zh-CN" sz="14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   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关系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(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都</a:t>
                    </a:r>
                    <a:r>
                      <a:rPr lang="zh-CN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会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死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)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rPr>
                      <a:t>…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内在丰富语义，</a:t>
                    </a:r>
                    <a:r>
                      <a:rPr lang="zh-CN" altLang="en-US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而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命题逻辑</a:t>
                    </a:r>
                    <a:r>
                      <a:rPr lang="zh-CN" altLang="zh-CN" sz="16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无法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表</a:t>
                    </a:r>
                    <a:endPara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endParaRPr>
                  </a:p>
                  <a:p>
                    <a:pPr algn="just">
                      <a:lnSpc>
                        <a:spcPts val="2200"/>
                      </a:lnSpc>
                      <a:spcAft>
                        <a:spcPts val="0"/>
                      </a:spcAft>
                      <a:buClr>
                        <a:srgbClr val="FF0000"/>
                      </a:buClr>
                      <a:buSzPct val="80000"/>
                    </a:pP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                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现这种内在丰富语义。</a:t>
                    </a:r>
                    <a:endPara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endParaRPr>
                  </a:p>
                  <a:p>
                    <a:pPr marL="180975" indent="-180975" algn="just">
                      <a:lnSpc>
                        <a:spcPts val="2200"/>
                      </a:lnSpc>
                      <a:spcAft>
                        <a:spcPts val="0"/>
                      </a:spcAft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Ø"/>
                    </a:pP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因此，需要引入</a:t>
                    </a:r>
                    <a:r>
                      <a:rPr lang="zh-CN" altLang="zh-CN" sz="16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更强的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逻辑表示方法，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分离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其</a:t>
                    </a:r>
                    <a:r>
                      <a:rPr lang="zh-CN" altLang="zh-CN" sz="16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rPr>
                      <a:t>主语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(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个体或群体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)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和</a:t>
                    </a:r>
                    <a:r>
                      <a:rPr lang="zh-CN" altLang="zh-CN" sz="16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谓语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(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关系</a:t>
                    </a:r>
                    <a:r>
                      <a:rPr lang="en-US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)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，</a:t>
                    </a:r>
                    <a:r>
                      <a:rPr lang="zh-CN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即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谓词逻辑</a:t>
                    </a:r>
                    <a:r>
                      <a:rPr lang="zh-CN" altLang="zh-CN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。</a:t>
                    </a:r>
                    <a:endParaRPr lang="en-US" altLang="zh-CN" sz="16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A3E30BE4-A6DD-410B-BBAE-3DCE73AB85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1839" y="4071416"/>
                    <a:ext cx="5472608" cy="176971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69" t="-3425" r="-2225" b="-3767"/>
                    </a:stretch>
                  </a:blipFill>
                  <a:ln>
                    <a:solidFill>
                      <a:srgbClr val="FF0000"/>
                    </a:solidFill>
                    <a:prstDash val="sysDash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9EC8B3A-982A-4DEF-BA02-C43A20939E2A}"/>
                  </a:ext>
                </a:extLst>
              </p:cNvPr>
              <p:cNvSpPr/>
              <p:nvPr/>
            </p:nvSpPr>
            <p:spPr>
              <a:xfrm>
                <a:off x="4213844" y="5906118"/>
                <a:ext cx="3308598" cy="2462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0000FF"/>
                    </a:solidFill>
                  </a:rPr>
                  <a:t>无法用命题逻辑表示</a:t>
                </a:r>
                <a:r>
                  <a:rPr lang="zh-CN" altLang="zh-CN" sz="1600" dirty="0">
                    <a:solidFill>
                      <a:srgbClr val="0000FF"/>
                    </a:solidFill>
                  </a:rPr>
                  <a:t>苏格拉底三段论</a:t>
                </a:r>
                <a:endParaRPr lang="zh-CN" altLang="en-US" sz="1600" dirty="0">
                  <a:solidFill>
                    <a:srgbClr val="0000FF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3808611" y="398610"/>
            <a:ext cx="4751537" cy="1102866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92075" indent="-92075">
              <a:lnSpc>
                <a:spcPts val="2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FF0000"/>
                </a:solidFill>
              </a:rPr>
              <a:t>命题逻辑</a:t>
            </a:r>
            <a:r>
              <a:rPr lang="zh-CN" altLang="en-US" sz="1400" dirty="0"/>
              <a:t>主要处理简单命题，以及简单命题之间的简单逻辑关系（如蕴含、合取、析取、否定）</a:t>
            </a:r>
            <a:endParaRPr lang="en-US" altLang="zh-CN" sz="1400" dirty="0"/>
          </a:p>
          <a:p>
            <a:pPr marL="92075" indent="-92075">
              <a:lnSpc>
                <a:spcPts val="2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400" dirty="0"/>
              <a:t>某些情况下，命题逻辑</a:t>
            </a:r>
            <a:r>
              <a:rPr lang="zh-CN" altLang="en-US" sz="1400" dirty="0">
                <a:solidFill>
                  <a:srgbClr val="FF0000"/>
                </a:solidFill>
              </a:rPr>
              <a:t>可能不足以表达</a:t>
            </a:r>
            <a:r>
              <a:rPr lang="zh-CN" altLang="en-US" sz="1400" dirty="0"/>
              <a:t>想要描述的</a:t>
            </a:r>
            <a:r>
              <a:rPr lang="zh-CN" altLang="en-US" sz="1400" dirty="0">
                <a:solidFill>
                  <a:srgbClr val="FF0000"/>
                </a:solidFill>
              </a:rPr>
              <a:t>复杂逻辑关系</a:t>
            </a:r>
            <a:r>
              <a:rPr lang="zh-CN" altLang="en-US" sz="1400" dirty="0"/>
              <a:t>，这就需要使用</a:t>
            </a:r>
            <a:r>
              <a:rPr lang="zh-CN" altLang="en-US" sz="1400" dirty="0">
                <a:solidFill>
                  <a:srgbClr val="FF0000"/>
                </a:solidFill>
              </a:rPr>
              <a:t>谓词逻辑</a:t>
            </a:r>
            <a:r>
              <a:rPr lang="zh-CN" altLang="en-US" sz="14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2416" y="2460985"/>
            <a:ext cx="7992888" cy="130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谓词逻辑</a:t>
            </a:r>
            <a:r>
              <a:rPr lang="zh-CN" altLang="zh-CN" sz="2000" dirty="0">
                <a:latin typeface="+mn-ea"/>
                <a:ea typeface="+mn-ea"/>
              </a:rPr>
              <a:t>：</a:t>
            </a:r>
            <a:r>
              <a:rPr lang="zh-CN" altLang="en-US" sz="2000" dirty="0">
                <a:latin typeface="+mn-ea"/>
                <a:ea typeface="+mn-ea"/>
              </a:rPr>
              <a:t>刻画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主体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个体和群体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之间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逻辑关系</a:t>
            </a:r>
            <a:r>
              <a:rPr lang="zh-CN" altLang="en-US" sz="2000" dirty="0">
                <a:latin typeface="+mn-ea"/>
                <a:ea typeface="+mn-ea"/>
              </a:rPr>
              <a:t>的方法</a:t>
            </a:r>
            <a:endParaRPr lang="en-US" altLang="zh-CN" sz="2000" dirty="0">
              <a:latin typeface="+mn-ea"/>
              <a:ea typeface="+mn-ea"/>
            </a:endParaRPr>
          </a:p>
          <a:p>
            <a:pPr marL="265113" indent="-265113">
              <a:lnSpc>
                <a:spcPts val="30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研究内容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原子命题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进一步</a:t>
            </a:r>
            <a:r>
              <a:rPr lang="zh-CN" altLang="zh-CN" sz="2000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细化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2000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分解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出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个体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量词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以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</a:t>
            </a:r>
            <a:endParaRPr lang="en-US" altLang="zh-CN" sz="20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buClr>
                <a:srgbClr val="FF0000"/>
              </a:buClr>
              <a:buSzPct val="80000"/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达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个体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总体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内在联系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数量关系</a:t>
            </a:r>
            <a:r>
              <a:rPr lang="zh-CN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F1DBAB-1A40-4B79-9BD2-F204657EA225}"/>
              </a:ext>
            </a:extLst>
          </p:cNvPr>
          <p:cNvSpPr/>
          <p:nvPr/>
        </p:nvSpPr>
        <p:spPr>
          <a:xfrm>
            <a:off x="602416" y="3914971"/>
            <a:ext cx="7858016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5113" indent="-26511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个体</a:t>
            </a:r>
            <a:r>
              <a:rPr lang="zh-CN" altLang="en-US" sz="2000" dirty="0">
                <a:latin typeface="+mn-ea"/>
                <a:ea typeface="+mn-ea"/>
              </a:rPr>
              <a:t>：研究领域中，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可以独立存在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具体</a:t>
            </a:r>
            <a:r>
              <a:rPr lang="zh-CN" altLang="en-US" sz="2000" dirty="0">
                <a:latin typeface="+mn-ea"/>
                <a:ea typeface="+mn-ea"/>
              </a:rPr>
              <a:t>或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抽象</a:t>
            </a:r>
            <a:r>
              <a:rPr lang="zh-CN" altLang="en-US" sz="2000" dirty="0">
                <a:latin typeface="+mn-ea"/>
                <a:ea typeface="+mn-ea"/>
              </a:rPr>
              <a:t>的概念。</a:t>
            </a:r>
            <a:endParaRPr lang="en-US" altLang="zh-CN" sz="2000" dirty="0">
              <a:latin typeface="+mn-ea"/>
              <a:ea typeface="+mn-ea"/>
            </a:endParaRPr>
          </a:p>
          <a:p>
            <a:pPr marL="265113" indent="-26511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谓词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刻画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个体属性</a:t>
            </a:r>
            <a:r>
              <a:rPr lang="zh-CN" altLang="en-US" sz="2000" dirty="0">
                <a:latin typeface="+mn-ea"/>
                <a:ea typeface="+mn-ea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描述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个体之间关系</a:t>
            </a:r>
            <a:r>
              <a:rPr lang="zh-CN" altLang="en-US" sz="2000" dirty="0">
                <a:latin typeface="+mn-ea"/>
                <a:ea typeface="+mn-ea"/>
              </a:rPr>
              <a:t>的元素，其值为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真</a:t>
            </a:r>
            <a:r>
              <a:rPr lang="zh-CN" altLang="en-US" sz="2000" dirty="0">
                <a:latin typeface="+mn-ea"/>
                <a:ea typeface="+mn-ea"/>
              </a:rPr>
              <a:t>或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假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02416" y="1818996"/>
            <a:ext cx="79928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谓词逻辑</a:t>
            </a:r>
            <a:r>
              <a:rPr lang="zh-CN" altLang="en-US" sz="2000" dirty="0">
                <a:latin typeface="+mn-ea"/>
                <a:ea typeface="+mn-ea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命题逻辑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en-US" sz="2000" dirty="0">
                <a:latin typeface="+mn-ea"/>
                <a:ea typeface="+mn-ea"/>
              </a:rPr>
              <a:t>，命题逻辑可视为谓词逻辑的特殊形式。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20796" y="1167771"/>
            <a:ext cx="280831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en-US" sz="2000" dirty="0">
                <a:latin typeface="+mn-ea"/>
                <a:ea typeface="+mn-ea"/>
              </a:rPr>
              <a:t>、命题逻辑与谓词逻辑</a:t>
            </a:r>
          </a:p>
        </p:txBody>
      </p:sp>
    </p:spTree>
    <p:extLst>
      <p:ext uri="{BB962C8B-B14F-4D97-AF65-F5344CB8AC3E}">
        <p14:creationId xmlns:p14="http://schemas.microsoft.com/office/powerpoint/2010/main" val="185352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10969" y="1770341"/>
            <a:ext cx="8028819" cy="331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 eaLnBrk="1" hangingPunct="1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命题无法反映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事物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逻辑特征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，也无法表述不同事物之间的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共同特征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447675" indent="-182563" eaLnBrk="1" hangingPunct="1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：小张是老张的儿子            （父子关系）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5112" eaLnBrk="1" hangingPunct="1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张三是学生、李四是学生      （共同特征）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47675" indent="-182563" eaLnBrk="1" hangingPunct="1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能否用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张三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李四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表示上述命题？</a:t>
            </a:r>
          </a:p>
          <a:p>
            <a:pPr eaLnBrk="1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en-US" altLang="zh-CN" sz="2000" b="0" dirty="0">
                <a:latin typeface="+mn-ea"/>
                <a:ea typeface="+mn-ea"/>
                <a:cs typeface="Times New Roman" panose="02020603050405020304" pitchFamily="18" charset="0"/>
              </a:rPr>
              <a:t>---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谓词逻辑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（用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表示更为丰富的语义关系）</a:t>
            </a:r>
          </a:p>
        </p:txBody>
      </p:sp>
      <p:sp>
        <p:nvSpPr>
          <p:cNvPr id="73731" name="Rectangle 5"/>
          <p:cNvSpPr>
            <a:spLocks noChangeArrowheads="1"/>
          </p:cNvSpPr>
          <p:nvPr/>
        </p:nvSpPr>
        <p:spPr bwMode="auto">
          <a:xfrm>
            <a:off x="665163" y="1189890"/>
            <a:ext cx="2538685" cy="304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、命题逻辑的局限性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53187" y="1173587"/>
            <a:ext cx="1468661" cy="294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、谓词逻辑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2744" y="1764904"/>
            <a:ext cx="6531544" cy="3372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65113">
              <a:lnSpc>
                <a:spcPts val="3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原理：</a:t>
            </a:r>
            <a:r>
              <a:rPr lang="zh-CN" altLang="en-US" sz="2000" dirty="0">
                <a:latin typeface="+mn-ea"/>
                <a:ea typeface="+mn-ea"/>
              </a:rPr>
              <a:t>将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谓词</a:t>
            </a:r>
            <a:r>
              <a:rPr lang="zh-CN" altLang="zh-CN" sz="2000" dirty="0">
                <a:latin typeface="+mn-ea"/>
                <a:ea typeface="+mn-ea"/>
              </a:rPr>
              <a:t>分解成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个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体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主体、客体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谓词名</a:t>
            </a:r>
            <a:r>
              <a:rPr lang="zh-CN" altLang="zh-CN" sz="2000" dirty="0">
                <a:latin typeface="+mn-ea"/>
                <a:ea typeface="+mn-ea"/>
              </a:rPr>
              <a:t>两部分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ts val="3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如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谓词逻辑中，可用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Human(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表示“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是人”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其中：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任何人的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体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，如张三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李四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500"/>
              </a:lnSpc>
              <a:spcAft>
                <a:spcPts val="1200"/>
              </a:spcAft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Human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谓词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indent="-265113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三段论：</a:t>
            </a:r>
            <a:r>
              <a:rPr lang="zh-CN" altLang="en-US" sz="2000" dirty="0">
                <a:latin typeface="宋体" panose="02010600030101010101" pitchFamily="2" charset="-122"/>
              </a:rPr>
              <a:t>①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所有人都会死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sz="2000" dirty="0">
                <a:latin typeface="宋体" panose="02010600030101010101" pitchFamily="2" charset="-122"/>
              </a:rPr>
              <a:t>②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因为诸葛亮是人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sz="2000" dirty="0">
                <a:latin typeface="宋体" panose="02010600030101010101" pitchFamily="2" charset="-122"/>
              </a:rPr>
              <a:t>③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所以诸葛亮会死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975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83568" y="1801267"/>
                <a:ext cx="6264696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①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+mn-ea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𝐇𝐮𝐦𝐚𝐧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</m:d>
                    <m:r>
                      <a:rPr lang="en-US" altLang="zh-CN" sz="2000" b="1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𝐃𝐢𝐞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</m:d>
                    <m:r>
                      <a:rPr lang="en-US" altLang="zh-CN" sz="2000" b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∀</m:t>
                    </m:r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”表示“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所有的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”。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② Human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ZGL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③ Die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ZGL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①、②、③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分别表示论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域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中相应的命题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证明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此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三段论正确，就是能够由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①、②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推出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③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801267"/>
                <a:ext cx="6264696" cy="2462213"/>
              </a:xfrm>
              <a:prstGeom prst="rect">
                <a:avLst/>
              </a:prstGeom>
              <a:blipFill>
                <a:blip r:embed="rId2"/>
                <a:stretch>
                  <a:fillRect l="-2432" b="-2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646624" y="1197359"/>
            <a:ext cx="1806585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谓词逻辑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线形标注 2(带强调线) 2"/>
          <p:cNvSpPr/>
          <p:nvPr/>
        </p:nvSpPr>
        <p:spPr bwMode="auto">
          <a:xfrm>
            <a:off x="6804248" y="2886546"/>
            <a:ext cx="1096431" cy="291654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45760"/>
              <a:gd name="adj6" fmla="val -209374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stealth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全称量词</a:t>
            </a:r>
          </a:p>
        </p:txBody>
      </p:sp>
      <p:sp>
        <p:nvSpPr>
          <p:cNvPr id="5" name="矩形 4"/>
          <p:cNvSpPr/>
          <p:nvPr/>
        </p:nvSpPr>
        <p:spPr>
          <a:xfrm>
            <a:off x="3563888" y="689603"/>
            <a:ext cx="17988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(P→Q)⇒Q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5652120" y="381827"/>
            <a:ext cx="79701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2000" dirty="0"/>
          </a:p>
        </p:txBody>
      </p:sp>
      <p:sp>
        <p:nvSpPr>
          <p:cNvPr id="7" name="动作按钮: 后退或前一项 6">
            <a:hlinkClick r:id="rId3" action="ppaction://hlinksldjump" highlightClick="1"/>
          </p:cNvPr>
          <p:cNvSpPr/>
          <p:nvPr/>
        </p:nvSpPr>
        <p:spPr bwMode="auto">
          <a:xfrm>
            <a:off x="8100392" y="5805264"/>
            <a:ext cx="343729" cy="288032"/>
          </a:xfrm>
          <a:prstGeom prst="actionButtonBackPrevio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875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204" name="Text Box 4"/>
              <p:cNvSpPr txBox="1">
                <a:spLocks noChangeArrowheads="1"/>
              </p:cNvSpPr>
              <p:nvPr/>
            </p:nvSpPr>
            <p:spPr bwMode="auto">
              <a:xfrm>
                <a:off x="637549" y="1772816"/>
                <a:ext cx="6603760" cy="35394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eaLnBrk="1" hangingPunct="1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一般形式：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+mn-ea"/>
                    <a:ea typeface="+mn-ea"/>
                  </a:rPr>
                  <a:t>           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一元谓词</a:t>
                </a:r>
                <a:endParaRPr lang="en-US" altLang="zh-CN" sz="20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sz="2000" b="1" dirty="0">
                    <a:ea typeface="+mn-ea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,…,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多元谓词</a:t>
                </a:r>
              </a:p>
              <a:p>
                <a:pPr eaLnBrk="1" hangingPunct="1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其中，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个体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小写字母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FF0000"/>
                  </a:buClr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</a:t>
                </a:r>
                <a:r>
                  <a:rPr lang="en-US" altLang="zh-CN" sz="2000" b="0" dirty="0">
                    <a:latin typeface="+mn-ea"/>
                    <a:ea typeface="+mn-ea"/>
                    <a:cs typeface="Times New Roman" panose="02020603050405020304" pitchFamily="18" charset="0"/>
                  </a:rPr>
                  <a:t>--- 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表示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独立存在的事物或某个抽象概念</a:t>
                </a:r>
              </a:p>
              <a:p>
                <a:pPr eaLnBrk="1" hangingPunct="1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谓词名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大写字母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   </a:t>
                </a:r>
                <a:r>
                  <a:rPr lang="en-US" altLang="zh-CN" sz="2000" b="0" dirty="0">
                    <a:latin typeface="+mn-ea"/>
                    <a:ea typeface="+mn-ea"/>
                    <a:cs typeface="Times New Roman" panose="02020603050405020304" pitchFamily="18" charset="0"/>
                  </a:rPr>
                  <a:t>---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表示个体的性质、状态或个体之间的关系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   </a:t>
                </a:r>
                <a:r>
                  <a:rPr lang="en-US" altLang="zh-CN" sz="2000" b="0" dirty="0">
                    <a:latin typeface="+mn-ea"/>
                    <a:ea typeface="+mn-ea"/>
                    <a:cs typeface="Times New Roman" panose="02020603050405020304" pitchFamily="18" charset="0"/>
                  </a:rPr>
                  <a:t>---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是一个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元谓词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20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549" y="1772816"/>
                <a:ext cx="6603760" cy="3539430"/>
              </a:xfrm>
              <a:prstGeom prst="rect">
                <a:avLst/>
              </a:prstGeom>
              <a:blipFill>
                <a:blip r:embed="rId2"/>
                <a:stretch>
                  <a:fillRect l="-1754" b="-18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611469" y="1193599"/>
            <a:ext cx="18630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的一般形式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274732" y="391865"/>
                <a:ext cx="4300408" cy="1038746"/>
              </a:xfrm>
              <a:prstGeom prst="rect">
                <a:avLst/>
              </a:prstGeom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27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张三是学生                  </a:t>
                </a:r>
                <a:r>
                  <a:rPr lang="en-US" altLang="zh-CN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Student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张三</a:t>
                </a:r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ts val="2700"/>
                  </a:lnSpc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Lucy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Lily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是姐妹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Sister(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Lucy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Lily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</a:pP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北京是中国的首都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𝐂𝐚𝐩𝐢𝐭𝐚𝐥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北京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中国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732" y="391865"/>
                <a:ext cx="4300408" cy="1038746"/>
              </a:xfrm>
              <a:prstGeom prst="rect">
                <a:avLst/>
              </a:prstGeom>
              <a:blipFill>
                <a:blip r:embed="rId3"/>
                <a:stretch>
                  <a:fillRect l="-3107" t="-5202" r="-1554" b="-7514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637847" y="1772816"/>
            <a:ext cx="7462545" cy="3513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 eaLnBrk="1" hangingPunct="1">
              <a:lnSpc>
                <a:spcPts val="35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命题：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“张三是学生”；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谓词表示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张三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spcAft>
                <a:spcPts val="12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其中：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张三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刻画特征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ts val="35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谓词表示中，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可以是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常量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变元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函数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539750" indent="-182563" eaLnBrk="1" hangingPunct="1">
              <a:lnSpc>
                <a:spcPts val="35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，命题“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&gt;10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more(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,10)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，其中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变元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常量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命题“小张的父亲是老师”：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Teacher(father(Zhang))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3500"/>
              </a:lnSpc>
              <a:spcAft>
                <a:spcPts val="12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其中“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father(Zhang)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”是一个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265113" indent="-265113" eaLnBrk="1" hangingPunct="1">
              <a:lnSpc>
                <a:spcPts val="4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当谓词中的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变元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特定个体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替代，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就有了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确定的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/>
              <p:cNvSpPr txBox="1">
                <a:spLocks noChangeArrowheads="1"/>
              </p:cNvSpPr>
              <p:nvPr/>
            </p:nvSpPr>
            <p:spPr bwMode="auto">
              <a:xfrm>
                <a:off x="601272" y="1845642"/>
                <a:ext cx="8147192" cy="35266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65113" lvl="1" indent="-265113" eaLnBrk="1" hangingPunct="1">
                  <a:lnSpc>
                    <a:spcPts val="3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元谓词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,…,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”中，若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每个个体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均为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常量、变元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或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函数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，即称为“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一阶谓词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65113" lvl="1" indent="-265113" eaLnBrk="1" hangingPunct="1">
                  <a:lnSpc>
                    <a:spcPts val="35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若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某个个体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本身又是一个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一阶谓词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，则称为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二阶谓词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，如此类推。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65113" lvl="1" indent="-265113" eaLnBrk="1" hangingPunct="1">
                  <a:lnSpc>
                    <a:spcPts val="3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u="wavyDbl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个体变元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取值范围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称为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个体域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，个体域可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有限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/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无限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lvl="1" indent="0" eaLnBrk="1" hangingPunct="1">
                  <a:lnSpc>
                    <a:spcPts val="3500"/>
                  </a:lnSpc>
                  <a:spcAft>
                    <a:spcPts val="1200"/>
                  </a:spcAft>
                  <a:buClr>
                    <a:srgbClr val="C00000"/>
                  </a:buClr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如：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表示“</a:t>
                </a:r>
                <a:r>
                  <a:rPr lang="en-US" altLang="zh-CN" sz="2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是整数”，则个体域为所有整数。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无限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65113" lvl="1" indent="-265113" eaLnBrk="1" hangingPunct="1">
                  <a:lnSpc>
                    <a:spcPts val="3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谓词与函数不同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，谓词的值有“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”或“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”，而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函数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是个体域中的一个个体，无真值可言。</a:t>
                </a:r>
                <a:endPara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272" y="1845642"/>
                <a:ext cx="8147192" cy="3526606"/>
              </a:xfrm>
              <a:prstGeom prst="rect">
                <a:avLst/>
              </a:prstGeom>
              <a:blipFill>
                <a:blip r:embed="rId2"/>
                <a:stretch>
                  <a:fillRect l="-1422" t="-173" r="-1347" b="-15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13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1560" y="1856532"/>
            <a:ext cx="7920880" cy="2436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一阶谓词逻辑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最直观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的一种逻辑表达，以谓词形式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表示动作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主体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客体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ts val="32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如：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张三与李四打网球（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Zhang and Li play tennis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ts val="3200"/>
              </a:lnSpc>
              <a:spcAft>
                <a:spcPts val="12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可写为：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play (Zhang, Li, tennis)</a:t>
            </a:r>
          </a:p>
          <a:p>
            <a:pPr eaLnBrk="1" hangingPunct="1">
              <a:lnSpc>
                <a:spcPts val="32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其中：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是动作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play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，动作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主体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Zhang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客体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tennis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圆角矩形标注 4"/>
          <p:cNvSpPr/>
          <p:nvPr/>
        </p:nvSpPr>
        <p:spPr bwMode="auto">
          <a:xfrm>
            <a:off x="5940152" y="980728"/>
            <a:ext cx="2592288" cy="288032"/>
          </a:xfrm>
          <a:prstGeom prst="wedgeRoundRectCallout">
            <a:avLst>
              <a:gd name="adj1" fmla="val -20525"/>
              <a:gd name="adj2" fmla="val 134811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自然语言描述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→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谓词描述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64088" y="3366228"/>
            <a:ext cx="1152128" cy="307777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三元谓词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2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20021" y="1754344"/>
            <a:ext cx="5301659" cy="3168352"/>
          </a:xfrm>
          <a:noFill/>
        </p:spPr>
        <p:txBody>
          <a:bodyPr lIns="0" tIns="0" rIns="0" bIns="0"/>
          <a:lstStyle/>
          <a:p>
            <a:pPr marL="357188" indent="-357188" eaLnBrk="1" hangingPunct="1">
              <a:lnSpc>
                <a:spcPts val="45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r>
              <a:rPr lang="zh-CN" altLang="en-US" sz="2400" b="1" u="wavyDbl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更细致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刻画知识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2788" lvl="1" indent="-241300" eaLnBrk="1" hangingPunct="1">
              <a:lnSpc>
                <a:spcPts val="45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表达能力强</a:t>
            </a:r>
          </a:p>
          <a:p>
            <a:pPr eaLnBrk="1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北京是个城市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北京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)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2788" lvl="1" indent="-241300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可表示变化情况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北京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),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地球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),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7" name="Rectangle 6"/>
          <p:cNvSpPr>
            <a:spLocks noChangeArrowheads="1"/>
          </p:cNvSpPr>
          <p:nvPr/>
        </p:nvSpPr>
        <p:spPr bwMode="auto">
          <a:xfrm>
            <a:off x="646900" y="1181488"/>
            <a:ext cx="13955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谓词的特点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圆角矩形标注 2"/>
              <p:cNvSpPr/>
              <p:nvPr/>
            </p:nvSpPr>
            <p:spPr bwMode="auto">
              <a:xfrm>
                <a:off x="6156176" y="2204864"/>
                <a:ext cx="2232248" cy="360040"/>
              </a:xfrm>
              <a:prstGeom prst="wedgeRoundRectCallout">
                <a:avLst>
                  <a:gd name="adj1" fmla="val -41737"/>
                  <a:gd name="adj2" fmla="val 121548"/>
                  <a:gd name="adj3" fmla="val 16667"/>
                </a:avLst>
              </a:prstGeom>
              <a:noFill/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Capital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北京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中国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en-US" sz="20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圆角矩形标注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6176" y="2204864"/>
                <a:ext cx="2232248" cy="360040"/>
              </a:xfrm>
              <a:prstGeom prst="wedgeRoundRectCallout">
                <a:avLst>
                  <a:gd name="adj1" fmla="val -41737"/>
                  <a:gd name="adj2" fmla="val 121548"/>
                  <a:gd name="adj3" fmla="val 16667"/>
                </a:avLst>
              </a:prstGeom>
              <a:blipFill>
                <a:blip r:embed="rId2"/>
                <a:stretch>
                  <a:fillRect l="-4348" t="-10577" r="-5163"/>
                </a:stretch>
              </a:blipFill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376" y="1670717"/>
            <a:ext cx="7489016" cy="2908489"/>
          </a:xfrm>
          <a:noFill/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lnSpc>
                <a:spcPct val="20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可在不同知识之间建立起联系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如：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)→Lawed(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)→Punished(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)→Lawed(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)→Punished(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某个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是人而受法律约束；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犯了罪，就应受到惩罚。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/>
          <p:cNvSpPr>
            <a:spLocks noChangeArrowheads="1"/>
          </p:cNvSpPr>
          <p:nvPr/>
        </p:nvSpPr>
        <p:spPr bwMode="auto">
          <a:xfrm>
            <a:off x="647453" y="1160415"/>
            <a:ext cx="160181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5.3 </a:t>
            </a:r>
            <a:r>
              <a:rPr lang="zh-CN" altLang="en-US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谓词演算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638493" y="1772816"/>
            <a:ext cx="6021739" cy="4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、谓词逻辑的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语法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基本符号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：谓词、变量、函数、常量、括号、逗号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原子公式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：由若干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谓词符号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组成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en-US" altLang="zh-CN" sz="20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规定论域内个体的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相应关系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常量</a:t>
            </a:r>
            <a:r>
              <a:rPr lang="en-US" altLang="zh-CN" sz="20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最简单的项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，表示论域内的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变量</a:t>
            </a:r>
            <a:r>
              <a:rPr lang="en-US" altLang="zh-CN" sz="20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也是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，但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不涉及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具体实体。（泛指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抽象）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0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论域内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一个实体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另一个实体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映射</a:t>
            </a:r>
            <a:endParaRPr lang="zh-CN" altLang="en-US" sz="20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Couple[father(LI)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mother(LI)]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：小李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(LI)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的父亲和母亲是夫妻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55952" y="1199387"/>
            <a:ext cx="1801713" cy="28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、连词、量词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614225" y="1820555"/>
                <a:ext cx="8064500" cy="23467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65113" indent="-265113" eaLnBrk="1" hangingPunct="1">
                  <a:lnSpc>
                    <a:spcPts val="30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>
                    <a:latin typeface="+mn-ea"/>
                    <a:ea typeface="+mn-ea"/>
                  </a:rPr>
                  <a:t>与命题逻辑对应，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谓词逻辑</a:t>
                </a:r>
                <a:r>
                  <a:rPr lang="zh-CN" altLang="zh-CN" sz="2000" dirty="0">
                    <a:latin typeface="+mn-ea"/>
                    <a:ea typeface="+mn-ea"/>
                  </a:rPr>
                  <a:t>中也有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谓词公式、原子谓词公式、复合谓词公式</a:t>
                </a:r>
                <a:r>
                  <a:rPr lang="zh-CN" altLang="zh-CN" sz="2000" dirty="0">
                    <a:latin typeface="+mn-ea"/>
                    <a:ea typeface="+mn-ea"/>
                  </a:rPr>
                  <a:t>等概念。</a:t>
                </a:r>
                <a:endParaRPr lang="en-US" altLang="zh-CN" sz="2000" dirty="0">
                  <a:latin typeface="+mn-ea"/>
                  <a:ea typeface="+mn-ea"/>
                </a:endParaRPr>
              </a:p>
              <a:p>
                <a:pPr eaLnBrk="1" hangingPunct="1">
                  <a:lnSpc>
                    <a:spcPts val="3500"/>
                  </a:lnSpc>
                  <a:buClr>
                    <a:srgbClr val="FF0000"/>
                  </a:buClr>
                </a:pPr>
                <a:r>
                  <a:rPr lang="en-US" altLang="zh-CN" sz="2000" dirty="0">
                    <a:ea typeface="+mn-ea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+mn-ea"/>
                      </a:rPr>
                      <m:t>𝐇𝐮𝐦𝐚𝐧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+mn-ea"/>
                    <a:ea typeface="+mn-ea"/>
                  </a:rPr>
                  <a:t>：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原子谓词公式</a:t>
                </a:r>
                <a:endParaRPr lang="en-US" altLang="zh-CN" sz="20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eaLnBrk="1" hangingPunct="1">
                  <a:lnSpc>
                    <a:spcPts val="3500"/>
                  </a:lnSpc>
                  <a:spcAft>
                    <a:spcPts val="1200"/>
                  </a:spcAft>
                  <a:buClr>
                    <a:srgbClr val="FF0000"/>
                  </a:buClr>
                </a:pPr>
                <a:r>
                  <a:rPr lang="en-US" altLang="zh-CN" sz="2000" b="1" dirty="0">
                    <a:ea typeface="+mn-ea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,…,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+mn-ea"/>
                    <a:ea typeface="+mn-ea"/>
                  </a:rPr>
                  <a:t>：</a:t>
                </a:r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元谓词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公式</a:t>
                </a:r>
                <a:endParaRPr lang="en-US" altLang="zh-CN" sz="20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marL="265113" indent="-265113" eaLnBrk="1" hangingPunct="1">
                  <a:lnSpc>
                    <a:spcPts val="3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复合谓词公式</a:t>
                </a:r>
                <a:r>
                  <a:rPr lang="zh-CN" altLang="zh-CN" sz="2000" dirty="0">
                    <a:latin typeface="+mn-ea"/>
                    <a:ea typeface="+mn-ea"/>
                  </a:rPr>
                  <a:t>由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原子谓词公式</a:t>
                </a:r>
                <a:r>
                  <a:rPr lang="zh-CN" altLang="zh-CN" sz="2000" dirty="0">
                    <a:latin typeface="+mn-ea"/>
                    <a:ea typeface="+mn-ea"/>
                  </a:rPr>
                  <a:t>通过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连接词</a:t>
                </a:r>
                <a:r>
                  <a:rPr lang="zh-CN" altLang="zh-CN" sz="2000" dirty="0">
                    <a:latin typeface="+mn-ea"/>
                    <a:ea typeface="+mn-ea"/>
                  </a:rPr>
                  <a:t>构成。</a:t>
                </a:r>
                <a:r>
                  <a:rPr lang="zh-CN" altLang="en-US" sz="2000" dirty="0">
                    <a:latin typeface="+mn-ea"/>
                    <a:ea typeface="+mn-ea"/>
                  </a:rPr>
                  <a:t>（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分子谓词公式</a:t>
                </a:r>
                <a:r>
                  <a:rPr lang="zh-CN" altLang="en-US" sz="2000" dirty="0">
                    <a:latin typeface="+mn-ea"/>
                    <a:ea typeface="+mn-ea"/>
                  </a:rPr>
                  <a:t>）</a:t>
                </a:r>
              </a:p>
            </p:txBody>
          </p:sp>
        </mc:Choice>
        <mc:Fallback xmlns=""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225" y="1820555"/>
                <a:ext cx="8064500" cy="2346796"/>
              </a:xfrm>
              <a:prstGeom prst="rect">
                <a:avLst/>
              </a:prstGeom>
              <a:blipFill>
                <a:blip r:embed="rId2"/>
                <a:stretch>
                  <a:fillRect l="-1738" t="-2338" r="-1134" b="-41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43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4"/>
          <p:cNvSpPr txBox="1">
            <a:spLocks noChangeArrowheads="1"/>
          </p:cNvSpPr>
          <p:nvPr/>
        </p:nvSpPr>
        <p:spPr bwMode="auto">
          <a:xfrm>
            <a:off x="618917" y="1719973"/>
            <a:ext cx="6624736" cy="3860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合取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”， 谓词之间具有“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”的关系。</a:t>
            </a:r>
          </a:p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析取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”，谓词之间具有“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”的关系。</a:t>
            </a:r>
          </a:p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蕴涵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那么、一旦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就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P→Q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：表示“如果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，那么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</a:p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否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：“ 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¬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（或“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”），表示对其后面命题的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否定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双条件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：符号“↔”，表示“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当且仅当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”的语义。</a:t>
            </a:r>
          </a:p>
          <a:p>
            <a:pPr eaLnBrk="1" hangingPunct="1">
              <a:lnSpc>
                <a:spcPts val="43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P↔Q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：读作“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当且仅当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0899" name="Rectangle 5"/>
          <p:cNvSpPr>
            <a:spLocks noChangeArrowheads="1"/>
          </p:cNvSpPr>
          <p:nvPr/>
        </p:nvSpPr>
        <p:spPr bwMode="auto">
          <a:xfrm>
            <a:off x="637481" y="1190880"/>
            <a:ext cx="1089264" cy="295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⑴、连词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5318" y="1728240"/>
            <a:ext cx="7923410" cy="3293209"/>
          </a:xfrm>
          <a:noFill/>
        </p:spPr>
        <p:txBody>
          <a:bodyPr wrap="square" lIns="0" tIns="0" rIns="0" bIns="0">
            <a:spAutoFit/>
          </a:bodyPr>
          <a:lstStyle/>
          <a:p>
            <a:pPr marL="265113" indent="-265113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将几个原子谓词公式连接起来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，构成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zh-CN" altLang="en-US" sz="2000" b="1" u="wavy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每个组成部分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合取项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如：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我喜爱音乐和绘画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LIKE(I , MUSIC)∧LIKE(I , PAINTING)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如：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“李”住在一幢黄色的房子里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LIVES(LI , HOUSE)∧COLOR(HOUSE , YELLOW)</a:t>
            </a:r>
          </a:p>
        </p:txBody>
      </p:sp>
      <p:sp>
        <p:nvSpPr>
          <p:cNvPr id="2" name="矩形 1"/>
          <p:cNvSpPr/>
          <p:nvPr/>
        </p:nvSpPr>
        <p:spPr>
          <a:xfrm>
            <a:off x="662750" y="1180604"/>
            <a:ext cx="86662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合取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843808" y="4999586"/>
            <a:ext cx="3037984" cy="27296"/>
            <a:chOff x="3190200" y="4883675"/>
            <a:chExt cx="3037984" cy="27296"/>
          </a:xfrm>
        </p:grpSpPr>
        <p:cxnSp>
          <p:nvCxnSpPr>
            <p:cNvPr id="4" name="直接连接符 3"/>
            <p:cNvCxnSpPr/>
            <p:nvPr/>
          </p:nvCxnSpPr>
          <p:spPr bwMode="auto">
            <a:xfrm>
              <a:off x="3190200" y="4883675"/>
              <a:ext cx="792088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直接连接符 5"/>
            <p:cNvCxnSpPr/>
            <p:nvPr/>
          </p:nvCxnSpPr>
          <p:spPr bwMode="auto">
            <a:xfrm>
              <a:off x="5436096" y="4910971"/>
              <a:ext cx="792088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28968" y="1700808"/>
            <a:ext cx="8191504" cy="2369880"/>
          </a:xfrm>
          <a:noFill/>
        </p:spPr>
        <p:txBody>
          <a:bodyPr wrap="square" lIns="0" tIns="0" rIns="0" bIns="0">
            <a:spAutoFit/>
          </a:bodyPr>
          <a:lstStyle/>
          <a:p>
            <a:pPr marL="265113" indent="-265113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将几个原子谓词公式连接起来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，构成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zh-CN" altLang="en-US" sz="2000" b="1" u="wavy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每个组成部分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析取项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如：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李明打篮球或踢足球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PLAYS(LIMING , BASKETBALL)∨PLAYS(LIMING , FOOTBALL)</a:t>
            </a:r>
          </a:p>
        </p:txBody>
      </p:sp>
      <p:sp>
        <p:nvSpPr>
          <p:cNvPr id="3" name="矩形 2"/>
          <p:cNvSpPr/>
          <p:nvPr/>
        </p:nvSpPr>
        <p:spPr>
          <a:xfrm>
            <a:off x="662750" y="1177007"/>
            <a:ext cx="86662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② 析取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4688" y="1556792"/>
            <a:ext cx="7861176" cy="3677930"/>
          </a:xfrm>
          <a:noFill/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lnSpc>
                <a:spcPct val="20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连词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连接两个公式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，构成的公式称为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蕴含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indent="-357188" eaLnBrk="1" hangingPunct="1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蕴含的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前项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\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前提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\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后项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\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495300" indent="-4953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如：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书是何平的，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它是兰色的。</a:t>
            </a:r>
          </a:p>
          <a:p>
            <a:pPr marL="495300" indent="-495300" eaLnBrk="1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表示：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OWNS(HEPING , BOOK)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COLOR(BOOK , BLUE)</a:t>
            </a:r>
          </a:p>
          <a:p>
            <a:pPr marL="495300" indent="-49530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如：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李华跑得最快，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他取得冠军。</a:t>
            </a:r>
          </a:p>
          <a:p>
            <a:pPr marL="495300" indent="-49530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表示：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RUNS(LIHUA , FASTEST) 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WINS(LIHUA , CHAMPION)</a:t>
            </a:r>
          </a:p>
        </p:txBody>
      </p:sp>
      <p:sp>
        <p:nvSpPr>
          <p:cNvPr id="3" name="矩形 2"/>
          <p:cNvSpPr/>
          <p:nvPr/>
        </p:nvSpPr>
        <p:spPr>
          <a:xfrm>
            <a:off x="662750" y="1177007"/>
            <a:ext cx="86662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③ 蕴含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772816"/>
            <a:ext cx="7866062" cy="1477328"/>
          </a:xfrm>
          <a:noFill/>
        </p:spPr>
        <p:txBody>
          <a:bodyPr lIns="0" tIns="0" rIns="0" bIns="0">
            <a:spAutoFit/>
          </a:bodyPr>
          <a:lstStyle/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含有符号“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的公式称为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否定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如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，机器人不在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号房间内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表示：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¬INROOM(ROBOT , r2)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2750" y="1177007"/>
            <a:ext cx="86662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④ 否定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84213" y="3452807"/>
            <a:ext cx="786606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等价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P↔Q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为真，当且仅当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同时为真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同时为假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637848" y="1736569"/>
            <a:ext cx="7030496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① 全称量词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符号“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”，表示“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所有的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任意的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任何一个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        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”：“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所有的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每一个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任一个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如：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命题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为真</a:t>
            </a:r>
            <a:r>
              <a:rPr lang="en-US" altLang="zh-CN" sz="2000" b="0" dirty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对论域中的所有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，都有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为真。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如：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所有的机器人都是灰色的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表示：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)(ROBOT(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=&gt; COLOR(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GRAY))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54439" y="1199071"/>
            <a:ext cx="1090777" cy="296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⑵、量词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637848" y="1710675"/>
            <a:ext cx="7992888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② 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存在量词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符号“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”，表示“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存在有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至少有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           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存在一个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某些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至少有一个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如：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为真</a:t>
            </a:r>
            <a:r>
              <a:rPr lang="en-US" altLang="zh-CN" sz="2000" b="0" dirty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论域中至少有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存在有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，使得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为真。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如：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号房间内有个物体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表示：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INROOM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Segoe UI Semilight" panose="020B0402040204020203" pitchFamily="34" charset="0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r1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619061" y="1811266"/>
            <a:ext cx="8020819" cy="327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ts val="3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运用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谓词公式</a:t>
            </a:r>
            <a:r>
              <a:rPr lang="zh-CN" altLang="en-US" sz="2000" dirty="0">
                <a:latin typeface="+mn-ea"/>
                <a:ea typeface="+mn-ea"/>
              </a:rPr>
              <a:t>表示知识，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首先</a:t>
            </a:r>
            <a:r>
              <a:rPr lang="zh-CN" altLang="en-US" sz="2000" dirty="0">
                <a:latin typeface="+mn-ea"/>
                <a:ea typeface="+mn-ea"/>
              </a:rPr>
              <a:t>需要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定义谓词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然后</a:t>
            </a:r>
            <a:r>
              <a:rPr lang="zh-CN" altLang="en-US" sz="2000" dirty="0">
                <a:latin typeface="+mn-ea"/>
                <a:ea typeface="+mn-ea"/>
              </a:rPr>
              <a:t>再用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连接词</a:t>
            </a:r>
            <a:r>
              <a:rPr lang="zh-CN" altLang="en-US" sz="2000" u="wavyHeavy" dirty="0">
                <a:latin typeface="+mn-ea"/>
                <a:ea typeface="+mn-ea"/>
              </a:rPr>
              <a:t>将有关的谓词连接起来</a:t>
            </a:r>
            <a:r>
              <a:rPr lang="zh-CN" altLang="en-US" sz="2000" dirty="0">
                <a:latin typeface="+mn-ea"/>
                <a:ea typeface="+mn-ea"/>
              </a:rPr>
              <a:t>，形成一个</a:t>
            </a:r>
            <a:r>
              <a:rPr lang="zh-CN" altLang="en-US" sz="2000" u="wavyHeavy" dirty="0">
                <a:latin typeface="+mn-ea"/>
                <a:ea typeface="+mn-ea"/>
              </a:rPr>
              <a:t>谓词公式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复合</a:t>
            </a:r>
            <a:r>
              <a:rPr lang="en-US" altLang="zh-CN" sz="2000" dirty="0">
                <a:latin typeface="+mn-ea"/>
                <a:ea typeface="+mn-ea"/>
              </a:rPr>
              <a:t>\</a:t>
            </a:r>
            <a:r>
              <a:rPr lang="zh-CN" altLang="en-US" sz="2000" dirty="0">
                <a:latin typeface="+mn-ea"/>
                <a:ea typeface="+mn-ea"/>
              </a:rPr>
              <a:t>合式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，从而表达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一个完整的含义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   如： </a:t>
            </a:r>
            <a:r>
              <a:rPr lang="zh-CN" altLang="en-US" sz="2000" dirty="0">
                <a:latin typeface="+mn-ea"/>
                <a:ea typeface="+mn-ea"/>
              </a:rPr>
              <a:t>设有下列知识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+mn-ea"/>
                <a:ea typeface="+mn-ea"/>
              </a:rPr>
              <a:t>         ① 刘欢比他父亲出名。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+mn-ea"/>
                <a:ea typeface="+mn-ea"/>
              </a:rPr>
              <a:t>         ② 高扬是计算机系的一名学生，但他不喜欢编程。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+mn-ea"/>
                <a:ea typeface="+mn-ea"/>
              </a:rPr>
              <a:t>         ③ 任何整数或者为正或者为负。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611561" y="1784859"/>
            <a:ext cx="6264696" cy="3500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ts val="39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用谓词公式表示上述知识，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首先定义谓词</a:t>
            </a:r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</a:p>
          <a:p>
            <a:pPr eaLnBrk="1" hangingPunct="1">
              <a:lnSpc>
                <a:spcPts val="39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FAMOUS(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i="1" dirty="0" err="1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出名</a:t>
            </a:r>
          </a:p>
          <a:p>
            <a:pPr eaLnBrk="1" hangingPunct="1">
              <a:lnSpc>
                <a:spcPts val="39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COMPUTER(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是计算机系的</a:t>
            </a:r>
          </a:p>
          <a:p>
            <a:pPr eaLnBrk="1" hangingPunct="1">
              <a:lnSpc>
                <a:spcPts val="39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LIKE(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喜欢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</a:p>
          <a:p>
            <a:pPr eaLnBrk="1" hangingPunct="1">
              <a:lnSpc>
                <a:spcPts val="39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I(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是整数</a:t>
            </a:r>
          </a:p>
          <a:p>
            <a:pPr eaLnBrk="1" hangingPunct="1">
              <a:lnSpc>
                <a:spcPts val="39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P(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是正数</a:t>
            </a:r>
          </a:p>
          <a:p>
            <a:pPr eaLnBrk="1" hangingPunct="1">
              <a:lnSpc>
                <a:spcPts val="39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N(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是负数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620278" y="1789410"/>
            <a:ext cx="8056178" cy="344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ts val="35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+mn-ea"/>
                <a:ea typeface="+mn-ea"/>
              </a:rPr>
              <a:t>知识的谓词逻辑表示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400" dirty="0">
                <a:latin typeface="+mn-ea"/>
                <a:ea typeface="+mn-ea"/>
              </a:rPr>
              <a:t>① </a:t>
            </a:r>
            <a:r>
              <a:rPr lang="zh-CN" altLang="en-US" sz="2400" dirty="0">
                <a:latin typeface="+mn-ea"/>
                <a:ea typeface="+mn-ea"/>
              </a:rPr>
              <a:t>刘欢比他父亲出名</a:t>
            </a:r>
          </a:p>
          <a:p>
            <a:pPr eaLnBrk="1" hangingPunct="1">
              <a:lnSpc>
                <a:spcPts val="3500"/>
              </a:lnSpc>
              <a:spcAft>
                <a:spcPts val="600"/>
              </a:spcAft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FAMOUS(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Liuhuan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, father(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Liuhuan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400" dirty="0">
                <a:latin typeface="+mn-ea"/>
                <a:ea typeface="+mn-ea"/>
              </a:rPr>
              <a:t>② </a:t>
            </a:r>
            <a:r>
              <a:rPr lang="zh-CN" altLang="en-US" sz="2400" dirty="0">
                <a:latin typeface="+mn-ea"/>
                <a:ea typeface="+mn-ea"/>
              </a:rPr>
              <a:t>高扬是计算机系的一名学生，但他不喜欢编程。</a:t>
            </a:r>
          </a:p>
          <a:p>
            <a:pPr eaLnBrk="1" hangingPunct="1">
              <a:lnSpc>
                <a:spcPts val="3500"/>
              </a:lnSpc>
              <a:spcAft>
                <a:spcPts val="600"/>
              </a:spcAft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COMPUTER(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gaoyang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)∧¬LIKE(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gaoyang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, programing)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400" dirty="0">
                <a:latin typeface="+mn-ea"/>
                <a:ea typeface="+mn-ea"/>
              </a:rPr>
              <a:t>③ </a:t>
            </a:r>
            <a:r>
              <a:rPr lang="zh-CN" altLang="en-US" sz="2400" dirty="0">
                <a:latin typeface="+mn-ea"/>
                <a:ea typeface="+mn-ea"/>
              </a:rPr>
              <a:t>任何整数或者为正或者为负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)→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)∨N(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)∨Z(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629348" y="1740688"/>
            <a:ext cx="792023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en-US" sz="2400" u="wavyHeavy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谓词逻辑描述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图中房屋结构的概念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个体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A,B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SUPPORT(</a:t>
            </a:r>
            <a:r>
              <a:rPr lang="en-US" altLang="zh-CN" sz="20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被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支撑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WEDGE(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是楔形块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BRICK(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是长方块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i="1" dirty="0" err="1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是个体变元，其个体域为｛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｝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房屋结构可表示成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一组合式谓词公式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合取式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SUPPORT(A,B)∧WEDGE(A)∧BRICK(B)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4211" name="Picture 5" descr="jc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3" y="1844824"/>
            <a:ext cx="2270976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2555776" y="836712"/>
            <a:ext cx="475252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除前述命题逻辑已列出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等价关系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否定之否定：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¬(¬P)= P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 )=(¬P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或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(¬P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Q)=(P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狄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•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摩根定律：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Q)= ¬P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¬Q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¬(P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Q)= ¬P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¬Q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分配律：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(Q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R)=(P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(Q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R)=(P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R)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交换律：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Q=Q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Q=Q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结合律：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(Q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R)=(P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(Q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R)=(P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逆否率：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Q)=(¬Q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¬P)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23528" y="260648"/>
            <a:ext cx="25922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+mn-ea"/>
                <a:ea typeface="+mn-ea"/>
                <a:cs typeface="Times New Roman" panose="02020603050405020304" pitchFamily="18" charset="0"/>
              </a:rPr>
              <a:t>逻辑关系表达：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4"/>
          <p:cNvSpPr txBox="1">
            <a:spLocks noChangeArrowheads="1"/>
          </p:cNvSpPr>
          <p:nvPr/>
        </p:nvSpPr>
        <p:spPr bwMode="auto">
          <a:xfrm>
            <a:off x="683568" y="1628800"/>
            <a:ext cx="813690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x)P(x)=(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x)(¬P(x))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x)P(x)=(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x)[¬P(x)]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x)[P(x)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Q(x)]=(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x)P(x)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x)Q(x)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x)[P(x)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Q(x)]=(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x)P(x)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x)Q(x)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x)P(x)=(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y)P(y)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x)P(x)=(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y)P(y)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5280" y="1053880"/>
            <a:ext cx="489654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还可确立以下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等价关系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（含有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69336" y="1824332"/>
            <a:ext cx="4159048" cy="281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没有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可使得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P(x)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为真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51920" y="2519969"/>
            <a:ext cx="33843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并非所有的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都使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P(x)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为真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38472" y="3396817"/>
            <a:ext cx="277348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都具有性质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6" name="矩形 5"/>
          <p:cNvSpPr/>
          <p:nvPr/>
        </p:nvSpPr>
        <p:spPr>
          <a:xfrm>
            <a:off x="5442348" y="4142807"/>
            <a:ext cx="347742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至少存在一个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具有性质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7" name="矩形 6"/>
          <p:cNvSpPr/>
          <p:nvPr/>
        </p:nvSpPr>
        <p:spPr>
          <a:xfrm>
            <a:off x="3400516" y="4872943"/>
            <a:ext cx="275566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都具有性质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8" name="矩形 7"/>
          <p:cNvSpPr/>
          <p:nvPr/>
        </p:nvSpPr>
        <p:spPr>
          <a:xfrm>
            <a:off x="3375160" y="5600559"/>
            <a:ext cx="403244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至少存在一个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和一个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具有性质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0" name="矩形 9"/>
          <p:cNvSpPr/>
          <p:nvPr/>
        </p:nvSpPr>
        <p:spPr>
          <a:xfrm>
            <a:off x="3869336" y="2105864"/>
            <a:ext cx="4159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都使得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P(x)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不为真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为假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不成立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53458" y="2819566"/>
            <a:ext cx="381488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至少存在一个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P(X)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不为真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不成立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55860" y="1183284"/>
            <a:ext cx="2376264" cy="329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/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置换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Substitution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4"/>
              <p:cNvSpPr txBox="1">
                <a:spLocks noChangeArrowheads="1"/>
              </p:cNvSpPr>
              <p:nvPr/>
            </p:nvSpPr>
            <p:spPr bwMode="auto">
              <a:xfrm>
                <a:off x="610036" y="1680456"/>
                <a:ext cx="7985275" cy="32316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68288" lvl="2" indent="-268288" eaLnBrk="1" hangingPunct="1">
                  <a:lnSpc>
                    <a:spcPct val="2000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定义</a:t>
                </a:r>
                <a:r>
                  <a:rPr lang="zh-CN" altLang="en-US" sz="2000" dirty="0">
                    <a:latin typeface="+mn-ea"/>
                    <a:ea typeface="+mn-ea"/>
                  </a:rPr>
                  <a:t>：用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常量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\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函数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替换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变元</a:t>
                </a:r>
                <a:r>
                  <a:rPr lang="zh-CN" altLang="en-US" sz="2000" dirty="0">
                    <a:latin typeface="+mn-ea"/>
                    <a:ea typeface="+mn-ea"/>
                  </a:rPr>
                  <a:t>，使变元不在公式中出现。</a:t>
                </a:r>
                <a:r>
                  <a:rPr lang="en-US" altLang="zh-CN" dirty="0">
                    <a:latin typeface="+mn-ea"/>
                    <a:ea typeface="+mn-ea"/>
                  </a:rPr>
                  <a:t>(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给变元赋值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endParaRPr lang="zh-CN" altLang="en-US" dirty="0">
                  <a:latin typeface="+mn-ea"/>
                  <a:ea typeface="+mn-ea"/>
                </a:endParaRPr>
              </a:p>
              <a:p>
                <a:pPr marL="268288" lvl="2" indent="-268288" eaLnBrk="1" hangingPunct="1">
                  <a:lnSpc>
                    <a:spcPct val="20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形式</a:t>
                </a:r>
                <a:r>
                  <a:rPr lang="zh-CN" altLang="en-US" sz="2000" dirty="0">
                    <a:latin typeface="+mn-ea"/>
                    <a:ea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,  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, …,  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r>
                  <a:rPr lang="zh-CN" altLang="en-US" sz="2000" dirty="0">
                    <a:latin typeface="+mn-ea"/>
                    <a:ea typeface="+mn-ea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有限集合</a:t>
                </a:r>
                <a:r>
                  <a:rPr lang="zh-CN" altLang="en-US" sz="2000" dirty="0">
                    <a:latin typeface="+mn-ea"/>
                    <a:ea typeface="+mn-ea"/>
                  </a:rPr>
                  <a:t>。</a:t>
                </a:r>
              </a:p>
              <a:p>
                <a:pPr eaLnBrk="1" hangingPunct="1">
                  <a:lnSpc>
                    <a:spcPct val="200000"/>
                  </a:lnSpc>
                </a:pP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  其中：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项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互不相同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变元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200000"/>
                  </a:lnSpc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如：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a/x , f(b)/y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w/z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} 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一个置换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200000"/>
                  </a:lnSpc>
                </a:pP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        {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g(y)/x , f(x)/y</a:t>
                </a:r>
                <a:r>
                  <a:rPr lang="en-US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}    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不是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一个置换</a:t>
                </a:r>
                <a:endParaRPr lang="en-US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036" y="1680456"/>
                <a:ext cx="7985275" cy="3231654"/>
              </a:xfrm>
              <a:prstGeom prst="rect">
                <a:avLst/>
              </a:prstGeom>
              <a:blipFill>
                <a:blip r:embed="rId2"/>
                <a:stretch>
                  <a:fillRect l="-1450" r="-1145" b="-9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06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8704" y="1736240"/>
            <a:ext cx="5527472" cy="353943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 marL="285750" indent="-28575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推理规则：</a:t>
            </a:r>
            <a:r>
              <a:rPr lang="zh-CN" altLang="en-US" sz="2000" dirty="0">
                <a:latin typeface="+mn-ea"/>
                <a:ea typeface="+mn-ea"/>
              </a:rPr>
              <a:t>用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合式公式集合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产生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新的合式公式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24512" y="2383160"/>
            <a:ext cx="4365192" cy="685800"/>
            <a:chOff x="724512" y="2383160"/>
            <a:chExt cx="4365192" cy="685800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2562404" y="2383160"/>
              <a:ext cx="2527300" cy="685800"/>
              <a:chOff x="2784" y="2496"/>
              <a:chExt cx="1592" cy="432"/>
            </a:xfrm>
          </p:grpSpPr>
          <p:grpSp>
            <p:nvGrpSpPr>
              <p:cNvPr id="6" name="Group 5"/>
              <p:cNvGrpSpPr>
                <a:grpSpLocks/>
              </p:cNvGrpSpPr>
              <p:nvPr/>
            </p:nvGrpSpPr>
            <p:grpSpPr bwMode="auto">
              <a:xfrm>
                <a:off x="2784" y="2496"/>
                <a:ext cx="1592" cy="432"/>
                <a:chOff x="1344" y="2160"/>
                <a:chExt cx="1592" cy="432"/>
              </a:xfrm>
            </p:grpSpPr>
            <p:sp>
              <p:nvSpPr>
                <p:cNvPr id="9" name="Rectangle 6"/>
                <p:cNvSpPr>
                  <a:spLocks noChangeArrowheads="1"/>
                </p:cNvSpPr>
                <p:nvPr/>
              </p:nvSpPr>
              <p:spPr bwMode="auto">
                <a:xfrm>
                  <a:off x="1344" y="2160"/>
                  <a:ext cx="1008" cy="432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" name="AutoShape 7"/>
                <p:cNvSpPr>
                  <a:spLocks noChangeArrowheads="1"/>
                </p:cNvSpPr>
                <p:nvPr/>
              </p:nvSpPr>
              <p:spPr bwMode="auto">
                <a:xfrm>
                  <a:off x="2256" y="2256"/>
                  <a:ext cx="336" cy="192"/>
                </a:xfrm>
                <a:prstGeom prst="rightArrow">
                  <a:avLst>
                    <a:gd name="adj1" fmla="val 50000"/>
                    <a:gd name="adj2" fmla="val 4375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" name="Rectangle 8"/>
                <p:cNvSpPr>
                  <a:spLocks noChangeArrowheads="1"/>
                </p:cNvSpPr>
                <p:nvPr/>
              </p:nvSpPr>
              <p:spPr bwMode="auto">
                <a:xfrm>
                  <a:off x="2592" y="2256"/>
                  <a:ext cx="34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zh-CN" altLang="en-US">
                      <a:ea typeface="宋体" panose="02010600030101010101" pitchFamily="2" charset="-122"/>
                    </a:rPr>
                    <a:t> </a:t>
                  </a:r>
                  <a:r>
                    <a:rPr lang="en-US" altLang="zh-CN" b="1">
                      <a:ea typeface="宋体" panose="02010600030101010101" pitchFamily="2" charset="-122"/>
                    </a:rPr>
                    <a:t>W</a:t>
                  </a:r>
                  <a:r>
                    <a:rPr lang="en-US" altLang="zh-CN" b="1" baseline="-25000">
                      <a:ea typeface="宋体" panose="02010600030101010101" pitchFamily="2" charset="-122"/>
                    </a:rPr>
                    <a:t>2</a:t>
                  </a:r>
                  <a:endParaRPr lang="zh-CN" altLang="en-US" b="1" baseline="-250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3076" y="2505"/>
                <a:ext cx="30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b="1">
                    <a:ea typeface="宋体" panose="02010600030101010101" pitchFamily="2" charset="-122"/>
                  </a:rPr>
                  <a:t>W</a:t>
                </a:r>
                <a:r>
                  <a:rPr lang="en-US" altLang="zh-CN" b="1" baseline="-25000">
                    <a:ea typeface="宋体" panose="02010600030101010101" pitchFamily="2" charset="-122"/>
                  </a:rPr>
                  <a:t>1</a:t>
                </a:r>
                <a:endParaRPr lang="zh-CN" altLang="en-US" b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8" name="Rectangle 10"/>
              <p:cNvSpPr>
                <a:spLocks noChangeArrowheads="1"/>
              </p:cNvSpPr>
              <p:nvPr/>
            </p:nvSpPr>
            <p:spPr bwMode="auto">
              <a:xfrm>
                <a:off x="2850" y="2688"/>
                <a:ext cx="75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>
                    <a:ea typeface="宋体" panose="02010600030101010101" pitchFamily="2" charset="-122"/>
                  </a:rPr>
                  <a:t> </a:t>
                </a:r>
                <a:r>
                  <a:rPr lang="en-US" altLang="zh-CN" b="1">
                    <a:ea typeface="宋体" panose="02010600030101010101" pitchFamily="2" charset="-122"/>
                  </a:rPr>
                  <a:t>W</a:t>
                </a:r>
                <a:r>
                  <a:rPr lang="en-US" altLang="zh-CN" b="1" baseline="-25000">
                    <a:ea typeface="宋体" panose="02010600030101010101" pitchFamily="2" charset="-122"/>
                  </a:rPr>
                  <a:t>1</a:t>
                </a:r>
                <a:r>
                  <a:rPr lang="en-US" altLang="zh-CN" b="1">
                    <a:ea typeface="宋体" panose="02010600030101010101" pitchFamily="2" charset="-122"/>
                  </a:rPr>
                  <a:t> </a:t>
                </a:r>
                <a:r>
                  <a:rPr lang="en-US" altLang="zh-CN" b="1">
                    <a:ea typeface="宋体" panose="02010600030101010101" pitchFamily="2" charset="-122"/>
                    <a:sym typeface="Symbol" panose="05050102010706020507" pitchFamily="18" charset="2"/>
                  </a:rPr>
                  <a:t> W</a:t>
                </a:r>
                <a:r>
                  <a:rPr lang="en-US" altLang="zh-CN" b="1" baseline="-25000"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zh-CN" altLang="en-US" b="1" baseline="-25000"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724512" y="2483242"/>
              <a:ext cx="1395895" cy="400110"/>
            </a:xfrm>
            <a:prstGeom prst="rect">
              <a:avLst/>
            </a:prstGeom>
          </p:spPr>
          <p:txBody>
            <a:bodyPr wrap="none" lIns="0">
              <a:spAutoFit/>
            </a:bodyPr>
            <a:lstStyle/>
            <a:p>
              <a:pPr marL="268288" indent="-268288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+mn-ea"/>
                  <a:ea typeface="+mn-ea"/>
                </a:rPr>
                <a:t>假言推理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24512" y="3456296"/>
            <a:ext cx="4599864" cy="685800"/>
            <a:chOff x="724512" y="3456296"/>
            <a:chExt cx="4599864" cy="685800"/>
          </a:xfrm>
        </p:grpSpPr>
        <p:sp>
          <p:nvSpPr>
            <p:cNvPr id="15" name="矩形 14"/>
            <p:cNvSpPr/>
            <p:nvPr/>
          </p:nvSpPr>
          <p:spPr>
            <a:xfrm>
              <a:off x="724512" y="3573016"/>
              <a:ext cx="1678865" cy="400110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268288" indent="-268288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+mn-ea"/>
                  <a:ea typeface="+mn-ea"/>
                </a:rPr>
                <a:t>全称化推理</a:t>
              </a:r>
            </a:p>
          </p:txBody>
        </p:sp>
        <p:grpSp>
          <p:nvGrpSpPr>
            <p:cNvPr id="16" name="Group 11"/>
            <p:cNvGrpSpPr>
              <a:grpSpLocks/>
            </p:cNvGrpSpPr>
            <p:nvPr/>
          </p:nvGrpSpPr>
          <p:grpSpPr bwMode="auto">
            <a:xfrm>
              <a:off x="2555776" y="3456296"/>
              <a:ext cx="2768600" cy="685800"/>
              <a:chOff x="2160" y="3072"/>
              <a:chExt cx="1744" cy="432"/>
            </a:xfrm>
          </p:grpSpPr>
          <p:grpSp>
            <p:nvGrpSpPr>
              <p:cNvPr id="17" name="Group 12"/>
              <p:cNvGrpSpPr>
                <a:grpSpLocks/>
              </p:cNvGrpSpPr>
              <p:nvPr/>
            </p:nvGrpSpPr>
            <p:grpSpPr bwMode="auto">
              <a:xfrm>
                <a:off x="2160" y="3072"/>
                <a:ext cx="1744" cy="432"/>
                <a:chOff x="1344" y="2160"/>
                <a:chExt cx="1744" cy="432"/>
              </a:xfrm>
            </p:grpSpPr>
            <p:sp>
              <p:nvSpPr>
                <p:cNvPr id="20" name="Rectangle 13"/>
                <p:cNvSpPr>
                  <a:spLocks noChangeArrowheads="1"/>
                </p:cNvSpPr>
                <p:nvPr/>
              </p:nvSpPr>
              <p:spPr bwMode="auto">
                <a:xfrm>
                  <a:off x="1344" y="2160"/>
                  <a:ext cx="1008" cy="432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AutoShape 14"/>
                <p:cNvSpPr>
                  <a:spLocks noChangeArrowheads="1"/>
                </p:cNvSpPr>
                <p:nvPr/>
              </p:nvSpPr>
              <p:spPr bwMode="auto">
                <a:xfrm>
                  <a:off x="2256" y="2256"/>
                  <a:ext cx="336" cy="192"/>
                </a:xfrm>
                <a:prstGeom prst="rightArrow">
                  <a:avLst>
                    <a:gd name="adj1" fmla="val 50000"/>
                    <a:gd name="adj2" fmla="val 4375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Rectangle 15"/>
                <p:cNvSpPr>
                  <a:spLocks noChangeArrowheads="1"/>
                </p:cNvSpPr>
                <p:nvPr/>
              </p:nvSpPr>
              <p:spPr bwMode="auto">
                <a:xfrm>
                  <a:off x="2592" y="2256"/>
                  <a:ext cx="4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zh-CN" altLang="en-US">
                      <a:ea typeface="宋体" panose="02010600030101010101" pitchFamily="2" charset="-122"/>
                    </a:rPr>
                    <a:t> </a:t>
                  </a:r>
                  <a:r>
                    <a:rPr lang="en-US" altLang="zh-CN" b="1">
                      <a:ea typeface="宋体" panose="02010600030101010101" pitchFamily="2" charset="-122"/>
                    </a:rPr>
                    <a:t>W(A)</a:t>
                  </a:r>
                  <a:endParaRPr lang="zh-CN" altLang="en-US" b="1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2289" y="3078"/>
                <a:ext cx="73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b="1">
                    <a:ea typeface="宋体" panose="02010600030101010101" pitchFamily="2" charset="-122"/>
                  </a:rPr>
                  <a:t>(</a:t>
                </a:r>
                <a:r>
                  <a:rPr lang="en-US" altLang="zh-CN" b="1">
                    <a:ea typeface="宋体" panose="02010600030101010101" pitchFamily="2" charset="-122"/>
                    <a:sym typeface="Symbol" panose="05050102010706020507" pitchFamily="18" charset="2"/>
                  </a:rPr>
                  <a:t></a:t>
                </a:r>
                <a:r>
                  <a:rPr lang="en-US" altLang="zh-CN" b="1">
                    <a:ea typeface="宋体" panose="02010600030101010101" pitchFamily="2" charset="-122"/>
                  </a:rPr>
                  <a:t>x) W(x)</a:t>
                </a:r>
                <a:endParaRPr lang="zh-CN" altLang="en-US" b="1">
                  <a:ea typeface="宋体" panose="02010600030101010101" pitchFamily="2" charset="-122"/>
                </a:endParaRPr>
              </a:p>
            </p:txBody>
          </p:sp>
          <p:sp>
            <p:nvSpPr>
              <p:cNvPr id="19" name="Rectangle 17"/>
              <p:cNvSpPr>
                <a:spLocks noChangeArrowheads="1"/>
              </p:cNvSpPr>
              <p:nvPr/>
            </p:nvSpPr>
            <p:spPr bwMode="auto">
              <a:xfrm>
                <a:off x="2208" y="3267"/>
                <a:ext cx="8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b="1">
                    <a:ea typeface="宋体" panose="02010600030101010101" pitchFamily="2" charset="-122"/>
                  </a:rPr>
                  <a:t> </a:t>
                </a:r>
                <a:r>
                  <a:rPr lang="zh-CN" altLang="en-US" b="1">
                    <a:ea typeface="宋体" panose="02010600030101010101" pitchFamily="2" charset="-122"/>
                  </a:rPr>
                  <a:t>任意常量</a:t>
                </a:r>
                <a:r>
                  <a:rPr lang="en-US" altLang="zh-CN" b="1">
                    <a:ea typeface="宋体" panose="02010600030101010101" pitchFamily="2" charset="-122"/>
                  </a:rPr>
                  <a:t>A</a:t>
                </a:r>
                <a:endParaRPr lang="en-US" altLang="zh-CN" b="1"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24512" y="4221088"/>
            <a:ext cx="7807928" cy="1014776"/>
            <a:chOff x="724512" y="4221088"/>
            <a:chExt cx="7807928" cy="1014776"/>
          </a:xfrm>
        </p:grpSpPr>
        <p:sp>
          <p:nvSpPr>
            <p:cNvPr id="23" name="矩形 22"/>
            <p:cNvSpPr/>
            <p:nvPr/>
          </p:nvSpPr>
          <p:spPr>
            <a:xfrm>
              <a:off x="724512" y="4581128"/>
              <a:ext cx="1395895" cy="400110"/>
            </a:xfrm>
            <a:prstGeom prst="rect">
              <a:avLst/>
            </a:prstGeom>
          </p:spPr>
          <p:txBody>
            <a:bodyPr wrap="none" lIns="0">
              <a:spAutoFit/>
            </a:bodyPr>
            <a:lstStyle/>
            <a:p>
              <a:pPr marL="268288" indent="-268288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+mn-ea"/>
                  <a:ea typeface="+mn-ea"/>
                </a:rPr>
                <a:t>综合推理</a:t>
              </a:r>
            </a:p>
          </p:txBody>
        </p:sp>
        <p:grpSp>
          <p:nvGrpSpPr>
            <p:cNvPr id="24" name="Group 18"/>
            <p:cNvGrpSpPr>
              <a:grpSpLocks/>
            </p:cNvGrpSpPr>
            <p:nvPr/>
          </p:nvGrpSpPr>
          <p:grpSpPr bwMode="auto">
            <a:xfrm>
              <a:off x="2339752" y="4550064"/>
              <a:ext cx="3530600" cy="685800"/>
              <a:chOff x="1248" y="3552"/>
              <a:chExt cx="2224" cy="432"/>
            </a:xfrm>
          </p:grpSpPr>
          <p:sp>
            <p:nvSpPr>
              <p:cNvPr id="25" name="Rectangle 19"/>
              <p:cNvSpPr>
                <a:spLocks noChangeArrowheads="1"/>
              </p:cNvSpPr>
              <p:nvPr/>
            </p:nvSpPr>
            <p:spPr bwMode="auto">
              <a:xfrm>
                <a:off x="1248" y="3552"/>
                <a:ext cx="1488" cy="43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" name="AutoShape 20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336" cy="192"/>
              </a:xfrm>
              <a:prstGeom prst="rightArrow">
                <a:avLst>
                  <a:gd name="adj1" fmla="val 50000"/>
                  <a:gd name="adj2" fmla="val 437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7" name="Rectangle 21"/>
              <p:cNvSpPr>
                <a:spLocks noChangeArrowheads="1"/>
              </p:cNvSpPr>
              <p:nvPr/>
            </p:nvSpPr>
            <p:spPr bwMode="auto">
              <a:xfrm>
                <a:off x="2928" y="3657"/>
                <a:ext cx="5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zh-CN" altLang="en-US">
                    <a:ea typeface="宋体" panose="02010600030101010101" pitchFamily="2" charset="-122"/>
                  </a:rPr>
                  <a:t> </a:t>
                </a:r>
                <a:r>
                  <a:rPr lang="en-US" altLang="zh-CN" b="1">
                    <a:ea typeface="宋体" panose="02010600030101010101" pitchFamily="2" charset="-122"/>
                  </a:rPr>
                  <a:t>W</a:t>
                </a:r>
                <a:r>
                  <a:rPr lang="en-US" altLang="zh-CN" b="1" baseline="-25000">
                    <a:ea typeface="宋体" panose="02010600030101010101" pitchFamily="2" charset="-122"/>
                  </a:rPr>
                  <a:t>2</a:t>
                </a:r>
                <a:r>
                  <a:rPr lang="en-US" altLang="zh-CN" b="1">
                    <a:ea typeface="宋体" panose="02010600030101010101" pitchFamily="2" charset="-122"/>
                  </a:rPr>
                  <a:t>(A)</a:t>
                </a:r>
                <a:endParaRPr lang="zh-CN" altLang="en-US" b="1"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22"/>
              <p:cNvSpPr>
                <a:spLocks noChangeArrowheads="1"/>
              </p:cNvSpPr>
              <p:nvPr/>
            </p:nvSpPr>
            <p:spPr bwMode="auto">
              <a:xfrm>
                <a:off x="1248" y="3552"/>
                <a:ext cx="14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zh-CN" b="1">
                    <a:ea typeface="宋体" panose="02010600030101010101" pitchFamily="2" charset="-122"/>
                  </a:rPr>
                  <a:t>            W</a:t>
                </a:r>
                <a:r>
                  <a:rPr lang="en-US" altLang="zh-CN" b="1" baseline="-25000">
                    <a:ea typeface="宋体" panose="02010600030101010101" pitchFamily="2" charset="-122"/>
                  </a:rPr>
                  <a:t>1</a:t>
                </a:r>
                <a:r>
                  <a:rPr lang="en-US" altLang="zh-CN" b="1">
                    <a:ea typeface="宋体" panose="02010600030101010101" pitchFamily="2" charset="-122"/>
                  </a:rPr>
                  <a:t>(A)</a:t>
                </a:r>
              </a:p>
              <a:p>
                <a:pPr eaLnBrk="1" hangingPunct="1"/>
                <a:r>
                  <a:rPr lang="en-US" altLang="zh-CN" b="1">
                    <a:ea typeface="宋体" panose="02010600030101010101" pitchFamily="2" charset="-122"/>
                  </a:rPr>
                  <a:t>(</a:t>
                </a:r>
                <a:r>
                  <a:rPr lang="en-US" altLang="zh-CN" b="1">
                    <a:ea typeface="宋体" panose="02010600030101010101" pitchFamily="2" charset="-122"/>
                    <a:sym typeface="Symbol" panose="05050102010706020507" pitchFamily="18" charset="2"/>
                  </a:rPr>
                  <a:t></a:t>
                </a:r>
                <a:r>
                  <a:rPr lang="en-US" altLang="zh-CN" b="1">
                    <a:ea typeface="宋体" panose="02010600030101010101" pitchFamily="2" charset="-122"/>
                  </a:rPr>
                  <a:t>x) W</a:t>
                </a:r>
                <a:r>
                  <a:rPr lang="en-US" altLang="zh-CN" b="1" baseline="-25000">
                    <a:ea typeface="宋体" panose="02010600030101010101" pitchFamily="2" charset="-122"/>
                  </a:rPr>
                  <a:t>1</a:t>
                </a:r>
                <a:r>
                  <a:rPr lang="en-US" altLang="zh-CN" b="1">
                    <a:ea typeface="宋体" panose="02010600030101010101" pitchFamily="2" charset="-122"/>
                  </a:rPr>
                  <a:t>(x) </a:t>
                </a:r>
                <a:r>
                  <a:rPr lang="en-US" altLang="zh-CN" b="1">
                    <a:ea typeface="宋体" panose="02010600030101010101" pitchFamily="2" charset="-122"/>
                    <a:sym typeface="Symbol" panose="05050102010706020507" pitchFamily="18" charset="2"/>
                  </a:rPr>
                  <a:t> W</a:t>
                </a:r>
                <a:r>
                  <a:rPr lang="en-US" altLang="zh-CN" b="1" baseline="-25000"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b="1">
                    <a:ea typeface="宋体" panose="02010600030101010101" pitchFamily="2" charset="-122"/>
                    <a:sym typeface="Symbol" panose="05050102010706020507" pitchFamily="18" charset="2"/>
                  </a:rPr>
                  <a:t>(x)</a:t>
                </a:r>
                <a:endParaRPr lang="zh-CN" altLang="en-US" b="1"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标注 29"/>
                <p:cNvSpPr/>
                <p:nvPr/>
              </p:nvSpPr>
              <p:spPr bwMode="auto">
                <a:xfrm>
                  <a:off x="6084168" y="4221088"/>
                  <a:ext cx="2448272" cy="576064"/>
                </a:xfrm>
                <a:prstGeom prst="wedgeRectCallout">
                  <a:avLst>
                    <a:gd name="adj1" fmla="val -60862"/>
                    <a:gd name="adj2" fmla="val 41222"/>
                  </a:avLst>
                </a:prstGeom>
                <a:noFill/>
                <a:ln w="95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eaLnBrk="1" hangingPunct="1"/>
                  <a:r>
                    <a:rPr kumimoji="0" lang="en-US" altLang="zh-CN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0" lang="zh-CN" altLang="en-US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对</a:t>
                  </a:r>
                  <a:r>
                    <a:rPr kumimoji="0" lang="en-US" altLang="zh-CN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kumimoji="0" lang="zh-CN" altLang="en-US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的置换，使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0" lang="en-US" altLang="zh-CN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kumimoji="0" lang="en-US" altLang="zh-CN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(A)</a:t>
                  </a:r>
                  <a:r>
                    <a:rPr kumimoji="0" lang="zh-CN" altLang="en-US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(X)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一致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矩形标注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4168" y="4221088"/>
                  <a:ext cx="2448272" cy="576064"/>
                </a:xfrm>
                <a:prstGeom prst="wedgeRectCallout">
                  <a:avLst>
                    <a:gd name="adj1" fmla="val -60862"/>
                    <a:gd name="adj2" fmla="val 41222"/>
                  </a:avLst>
                </a:prstGeom>
                <a:blipFill rotWithShape="0">
                  <a:blip r:embed="rId2"/>
                  <a:stretch>
                    <a:fillRect t="-14433" r="-2679" b="-19588"/>
                  </a:stretch>
                </a:blipFill>
                <a:ln w="9525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5346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19560" y="1756261"/>
            <a:ext cx="792088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C(x)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是乌鸦；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C(y)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是乌鸦；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B(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一般黑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(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y)[C(x)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C(y)]→B(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=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(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y)[¬(C(x)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C(y))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B(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)]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=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(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y)¬[(C(x)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C(y))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¬B(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)]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= ¬(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x)(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y)[(C(x)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C(y))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¬B(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)]</a:t>
            </a:r>
          </a:p>
        </p:txBody>
      </p:sp>
      <p:sp>
        <p:nvSpPr>
          <p:cNvPr id="2" name="矩形 1"/>
          <p:cNvSpPr/>
          <p:nvPr/>
        </p:nvSpPr>
        <p:spPr>
          <a:xfrm>
            <a:off x="642337" y="1177007"/>
            <a:ext cx="238055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如：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天下乌鸦一般黑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83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23037" y="1772816"/>
            <a:ext cx="4751884" cy="379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①</a:t>
            </a:r>
            <a:r>
              <a:rPr lang="zh-CN" altLang="zh-CN" sz="2000" dirty="0">
                <a:latin typeface="+mn-ea"/>
                <a:ea typeface="+mn-ea"/>
              </a:rPr>
              <a:t> 马科斯是男人；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②</a:t>
            </a:r>
            <a:r>
              <a:rPr lang="zh-CN" altLang="zh-CN" sz="2000" dirty="0">
                <a:latin typeface="+mn-ea"/>
                <a:ea typeface="+mn-ea"/>
              </a:rPr>
              <a:t> 马科斯是庞贝人；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③</a:t>
            </a:r>
            <a:r>
              <a:rPr lang="zh-CN" altLang="zh-CN" sz="2000" dirty="0">
                <a:latin typeface="+mn-ea"/>
                <a:ea typeface="+mn-ea"/>
              </a:rPr>
              <a:t> 所有庞贝人都是罗马人；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④</a:t>
            </a:r>
            <a:r>
              <a:rPr lang="zh-CN" altLang="zh-CN" sz="2000" dirty="0">
                <a:latin typeface="+mn-ea"/>
                <a:ea typeface="+mn-ea"/>
              </a:rPr>
              <a:t> 凯撒是统治者；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⑤</a:t>
            </a:r>
            <a:r>
              <a:rPr lang="zh-CN" altLang="zh-CN" sz="2000" dirty="0">
                <a:latin typeface="+mn-ea"/>
                <a:ea typeface="+mn-ea"/>
              </a:rPr>
              <a:t> 所有罗马人或忠于凯撒或仇恨他；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⑥</a:t>
            </a:r>
            <a:r>
              <a:rPr lang="zh-CN" altLang="zh-CN" sz="2000" dirty="0">
                <a:latin typeface="+mn-ea"/>
                <a:ea typeface="+mn-ea"/>
              </a:rPr>
              <a:t> 每个人</a:t>
            </a:r>
            <a:r>
              <a:rPr lang="zh-CN" altLang="en-US" sz="2000" dirty="0">
                <a:latin typeface="+mn-ea"/>
                <a:ea typeface="+mn-ea"/>
              </a:rPr>
              <a:t>都</a:t>
            </a:r>
            <a:r>
              <a:rPr lang="zh-CN" altLang="zh-CN" sz="2000" dirty="0">
                <a:latin typeface="+mn-ea"/>
                <a:ea typeface="+mn-ea"/>
              </a:rPr>
              <a:t>忠于某个人；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⑦</a:t>
            </a:r>
            <a:r>
              <a:rPr lang="zh-CN" altLang="zh-CN" sz="2000" dirty="0">
                <a:latin typeface="+mn-ea"/>
                <a:ea typeface="+mn-ea"/>
              </a:rPr>
              <a:t> 人们只想暗杀他们不忠于的统治者；</a:t>
            </a:r>
          </a:p>
          <a:p>
            <a:pPr>
              <a:lnSpc>
                <a:spcPts val="3700"/>
              </a:lnSpc>
            </a:pPr>
            <a:r>
              <a:rPr lang="zh-CN" altLang="en-US" sz="2000" dirty="0">
                <a:latin typeface="+mn-ea"/>
                <a:ea typeface="+mn-ea"/>
              </a:rPr>
              <a:t>⑧</a:t>
            </a:r>
            <a:r>
              <a:rPr lang="zh-CN" altLang="zh-CN" sz="2000" dirty="0">
                <a:latin typeface="+mn-ea"/>
                <a:ea typeface="+mn-ea"/>
              </a:rPr>
              <a:t> 马科斯试图谋杀凯撒。</a:t>
            </a:r>
            <a:endParaRPr lang="en-US" altLang="zh-CN" sz="2000" b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5860" y="1160415"/>
            <a:ext cx="266429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示例：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设有以下命题集</a:t>
            </a:r>
          </a:p>
        </p:txBody>
      </p:sp>
    </p:spTree>
    <p:extLst>
      <p:ext uri="{BB962C8B-B14F-4D97-AF65-F5344CB8AC3E}">
        <p14:creationId xmlns:p14="http://schemas.microsoft.com/office/powerpoint/2010/main" val="16286173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/>
              <p:cNvSpPr txBox="1">
                <a:spLocks noChangeArrowheads="1"/>
              </p:cNvSpPr>
              <p:nvPr/>
            </p:nvSpPr>
            <p:spPr bwMode="auto">
              <a:xfrm>
                <a:off x="618916" y="1738310"/>
                <a:ext cx="7992244" cy="3634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①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Man(Marcus)</a:t>
                </a:r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②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Pompeian(Marcus)</a:t>
                </a:r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③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𝐏𝐨𝐦𝐩𝐞𝐢𝐚𝐧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𝐑𝐨𝐦𝐚𝐧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④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ruler(Caesar)</a:t>
                </a:r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⑤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𝐑𝐨𝐦𝐚𝐧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𝐥𝐨𝐲𝐚𝐥𝐭𝐨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𝐂𝐚𝐞𝐬𝐚𝐫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000" b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𝐡𝐚𝐭𝐞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𝐂𝐚𝐞𝐬𝐚𝐫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⑥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𝐥𝐨𝐲𝐚𝐥𝐭𝐨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⑦</a:t>
                </a:r>
                <a:r>
                  <a:rPr lang="zh-CN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𝐩𝐞𝐫𝐬𝐨𝐧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000" b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𝐫𝐮𝐥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000" b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𝐭𝐫𝐲𝐚𝐬𝐬𝐚𝐬𝐢𝐧𝐚𝐭𝐞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0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𝐥𝐨𝐲𝐚𝐥𝐭𝐨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⑧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Tryassasinate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(Marcus, Caesar)</a:t>
                </a:r>
                <a:endPara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916" y="1738310"/>
                <a:ext cx="7992244" cy="3634906"/>
              </a:xfrm>
              <a:prstGeom prst="rect">
                <a:avLst/>
              </a:prstGeom>
              <a:blipFill>
                <a:blip r:embed="rId2"/>
                <a:stretch>
                  <a:fillRect l="-1983" b="-35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621670" y="1186243"/>
            <a:ext cx="2838919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谓词逻辑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合式公式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表达：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00159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9560" y="1760470"/>
            <a:ext cx="7984888" cy="1749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一个有凹室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alcove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的房间，有两张桌子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，一个机器人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robot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和一个箱子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box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，如图所示。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要求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机器人从凹室出发，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桌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上的箱子移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桌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上，然后回到凹室，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如何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制定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相应的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行动规划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212976"/>
            <a:ext cx="3816424" cy="263766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60993" y="1177007"/>
            <a:ext cx="11564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应用示例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627820" y="4005064"/>
            <a:ext cx="3187274" cy="1326073"/>
            <a:chOff x="4627820" y="4005064"/>
            <a:chExt cx="3187274" cy="1326073"/>
          </a:xfrm>
        </p:grpSpPr>
        <p:grpSp>
          <p:nvGrpSpPr>
            <p:cNvPr id="16" name="组合 15"/>
            <p:cNvGrpSpPr/>
            <p:nvPr/>
          </p:nvGrpSpPr>
          <p:grpSpPr>
            <a:xfrm>
              <a:off x="5436096" y="4005064"/>
              <a:ext cx="2378998" cy="1287436"/>
              <a:chOff x="5436096" y="4005064"/>
              <a:chExt cx="2378998" cy="1287436"/>
            </a:xfrm>
          </p:grpSpPr>
          <p:cxnSp>
            <p:nvCxnSpPr>
              <p:cNvPr id="3" name="直接箭头连接符 2"/>
              <p:cNvCxnSpPr/>
              <p:nvPr/>
            </p:nvCxnSpPr>
            <p:spPr bwMode="auto">
              <a:xfrm flipH="1">
                <a:off x="5436096" y="4149080"/>
                <a:ext cx="576064" cy="936104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" name="直接箭头连接符 9"/>
              <p:cNvCxnSpPr/>
              <p:nvPr/>
            </p:nvCxnSpPr>
            <p:spPr bwMode="auto">
              <a:xfrm>
                <a:off x="5436096" y="5157192"/>
                <a:ext cx="1584176" cy="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直接箭头连接符 11"/>
              <p:cNvCxnSpPr/>
              <p:nvPr/>
            </p:nvCxnSpPr>
            <p:spPr bwMode="auto">
              <a:xfrm flipH="1" flipV="1">
                <a:off x="6516216" y="4005064"/>
                <a:ext cx="531352" cy="1093768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矩形 14"/>
              <p:cNvSpPr/>
              <p:nvPr/>
            </p:nvSpPr>
            <p:spPr bwMode="auto">
              <a:xfrm>
                <a:off x="7211734" y="4932460"/>
                <a:ext cx="603360" cy="360040"/>
              </a:xfrm>
              <a:prstGeom prst="rect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box</a:t>
                </a:r>
                <a:endPara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 bwMode="auto">
            <a:xfrm>
              <a:off x="4627820" y="4848668"/>
              <a:ext cx="644109" cy="48246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563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29666" y="1792362"/>
            <a:ext cx="7848228" cy="40010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1950" indent="-361950" eaLnBrk="1" hangingPunct="1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首先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</a:t>
            </a:r>
            <a:r>
              <a:rPr lang="zh-CN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与问题有关的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●</a:t>
            </a:r>
            <a:r>
              <a:rPr lang="en-US" altLang="zh-CN" sz="8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是桌子</a:t>
            </a: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●</a:t>
            </a:r>
            <a:r>
              <a:rPr lang="en-US" altLang="zh-CN" sz="8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EMPTYHANDED(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手中是空的</a:t>
            </a: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●</a:t>
            </a:r>
            <a:r>
              <a:rPr lang="en-US" altLang="zh-CN" sz="8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AT(</a:t>
            </a:r>
            <a:r>
              <a:rPr lang="en-US" altLang="zh-CN" sz="2000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y,z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的附近</a:t>
            </a: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●</a:t>
            </a:r>
            <a:r>
              <a:rPr lang="en-US" altLang="zh-CN" sz="8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HOLDS(</a:t>
            </a:r>
            <a:r>
              <a:rPr lang="en-US" altLang="zh-CN" sz="2000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y,w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手中拿着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endParaRPr lang="zh-CN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Aft>
                <a:spcPts val="12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8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●</a:t>
            </a:r>
            <a:r>
              <a:rPr lang="en-US" altLang="zh-CN" sz="8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ON(</a:t>
            </a:r>
            <a:r>
              <a:rPr lang="en-US" altLang="zh-CN" sz="2000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w,x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之上</a:t>
            </a:r>
          </a:p>
          <a:p>
            <a:pPr marL="342900" indent="-342900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各</a:t>
            </a:r>
            <a:r>
              <a:rPr lang="zh-CN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实体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之间的关系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其中，变量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x, y, z, w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体域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分别为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={A,B}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={ROBOT}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={A,B,ALCOVE}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={BOX}</a:t>
            </a:r>
            <a:endParaRPr lang="zh-CN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圆角矩形标注 2"/>
          <p:cNvSpPr/>
          <p:nvPr/>
        </p:nvSpPr>
        <p:spPr bwMode="auto">
          <a:xfrm>
            <a:off x="4788024" y="3284984"/>
            <a:ext cx="1512168" cy="432048"/>
          </a:xfrm>
          <a:prstGeom prst="wedgeRoundRectCallout">
            <a:avLst>
              <a:gd name="adj1" fmla="val -241157"/>
              <a:gd name="adj2" fmla="val 434787"/>
              <a:gd name="adj3" fmla="val 16667"/>
            </a:avLst>
          </a:prstGeom>
          <a:solidFill>
            <a:schemeClr val="bg1"/>
          </a:solidFill>
          <a:ln w="158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桌、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桌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1560" y="971436"/>
            <a:ext cx="53285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一阶谓词逻辑</a:t>
            </a:r>
            <a:r>
              <a:rPr lang="zh-CN" altLang="zh-CN" sz="2400" dirty="0">
                <a:latin typeface="+mn-ea"/>
                <a:ea typeface="+mn-ea"/>
              </a:rPr>
              <a:t>描述机器人的行动过程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</a:p>
        </p:txBody>
      </p:sp>
      <p:sp>
        <p:nvSpPr>
          <p:cNvPr id="6" name="圆角矩形标注 5"/>
          <p:cNvSpPr/>
          <p:nvPr/>
        </p:nvSpPr>
        <p:spPr bwMode="auto">
          <a:xfrm>
            <a:off x="4886899" y="3284984"/>
            <a:ext cx="1053253" cy="432048"/>
          </a:xfrm>
          <a:prstGeom prst="wedgeRoundRectCallout">
            <a:avLst>
              <a:gd name="adj1" fmla="val -219735"/>
              <a:gd name="adj2" fmla="val 448530"/>
              <a:gd name="adj3" fmla="val 16667"/>
            </a:avLst>
          </a:prstGeom>
          <a:solidFill>
            <a:schemeClr val="bg1"/>
          </a:solidFill>
          <a:ln w="158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机器人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5064770" y="3284984"/>
            <a:ext cx="3190923" cy="432048"/>
          </a:xfrm>
          <a:prstGeom prst="wedgeRoundRectCallout">
            <a:avLst>
              <a:gd name="adj1" fmla="val -50774"/>
              <a:gd name="adj2" fmla="val 443032"/>
              <a:gd name="adj3" fmla="val 16667"/>
            </a:avLst>
          </a:prstGeom>
          <a:solidFill>
            <a:schemeClr val="bg1"/>
          </a:solidFill>
          <a:ln w="158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桌处、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桌处、凹室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7391597" y="3284984"/>
            <a:ext cx="864096" cy="432048"/>
          </a:xfrm>
          <a:prstGeom prst="wedgeRoundRectCallout">
            <a:avLst>
              <a:gd name="adj1" fmla="val -122159"/>
              <a:gd name="adj2" fmla="val 443033"/>
              <a:gd name="adj3" fmla="val 16667"/>
            </a:avLst>
          </a:prstGeom>
          <a:solidFill>
            <a:schemeClr val="bg1"/>
          </a:solidFill>
          <a:ln w="158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箱子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189" y="298158"/>
            <a:ext cx="2494816" cy="208521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575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1560" y="971436"/>
            <a:ext cx="2592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>
                <a:latin typeface="+mn-ea"/>
                <a:ea typeface="+mn-ea"/>
              </a:rPr>
              <a:t>问题的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状态</a:t>
            </a:r>
            <a:r>
              <a:rPr lang="zh-CN" altLang="en-US" sz="2400" dirty="0">
                <a:latin typeface="+mn-ea"/>
                <a:ea typeface="+mn-ea"/>
              </a:rPr>
              <a:t>描述：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4" y="1916833"/>
            <a:ext cx="3744416" cy="23544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zh-CN" sz="28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初始状态</a:t>
            </a:r>
            <a:endParaRPr lang="en-US" altLang="zh-CN" sz="2800" kern="1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AT(ROBOT, ALCOVE)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EMPTYHANDED(ROBOT)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ON(BOX,A)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TABLE(A)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TABLE(B)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7583" y="4499738"/>
            <a:ext cx="7647151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初始状态</a:t>
            </a:r>
            <a:r>
              <a:rPr lang="zh-CN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目标状态</a:t>
            </a:r>
            <a:r>
              <a:rPr lang="zh-CN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，机器人</a:t>
            </a:r>
            <a:r>
              <a:rPr lang="zh-CN" altLang="en-US" sz="2400" kern="100" dirty="0">
                <a:latin typeface="+mn-ea"/>
                <a:ea typeface="+mn-ea"/>
                <a:cs typeface="Times New Roman" panose="02020603050405020304" pitchFamily="18" charset="0"/>
              </a:rPr>
              <a:t>需完成</a:t>
            </a:r>
            <a:r>
              <a:rPr lang="zh-CN" altLang="zh-CN" sz="28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一系列操作</a:t>
            </a:r>
            <a:r>
              <a:rPr lang="zh-CN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07904" y="1916832"/>
            <a:ext cx="5040560" cy="2354491"/>
            <a:chOff x="3707904" y="1916832"/>
            <a:chExt cx="5040560" cy="2354491"/>
          </a:xfrm>
        </p:grpSpPr>
        <p:sp>
          <p:nvSpPr>
            <p:cNvPr id="7" name="矩形 6"/>
            <p:cNvSpPr/>
            <p:nvPr/>
          </p:nvSpPr>
          <p:spPr>
            <a:xfrm>
              <a:off x="5004048" y="1916832"/>
              <a:ext cx="3744416" cy="235449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2800" kern="1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目标</a:t>
              </a:r>
              <a:r>
                <a:rPr lang="zh-CN" altLang="zh-CN" sz="2800" kern="1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状态</a:t>
              </a:r>
              <a:endParaRPr lang="en-US" altLang="zh-CN" sz="28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AT(ROBOT, ALCOVE)</a:t>
              </a:r>
              <a:endPara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EMPTYHANDED(ROBOT)</a:t>
              </a:r>
              <a:endPara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ON(BOX,B)</a:t>
              </a:r>
              <a:endPara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TABLE(A)</a:t>
              </a:r>
              <a:endPara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TABLE(B)</a:t>
              </a:r>
              <a:endParaRPr lang="zh-CN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" name="直接箭头连接符 2"/>
            <p:cNvCxnSpPr/>
            <p:nvPr/>
          </p:nvCxnSpPr>
          <p:spPr bwMode="auto">
            <a:xfrm>
              <a:off x="3707904" y="2132857"/>
              <a:ext cx="223224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4211960" y="-22703"/>
            <a:ext cx="4262775" cy="1564831"/>
            <a:chOff x="4211960" y="-22703"/>
            <a:chExt cx="4262775" cy="1564831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960" y="-22703"/>
              <a:ext cx="1872208" cy="156483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0232" y="4497"/>
              <a:ext cx="1814503" cy="1516886"/>
            </a:xfrm>
            <a:prstGeom prst="rect">
              <a:avLst/>
            </a:prstGeom>
          </p:spPr>
        </p:pic>
        <p:cxnSp>
          <p:nvCxnSpPr>
            <p:cNvPr id="11" name="直接箭头连接符 10"/>
            <p:cNvCxnSpPr/>
            <p:nvPr/>
          </p:nvCxnSpPr>
          <p:spPr bwMode="auto">
            <a:xfrm>
              <a:off x="6156176" y="908720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组合 13"/>
          <p:cNvGrpSpPr/>
          <p:nvPr/>
        </p:nvGrpSpPr>
        <p:grpSpPr>
          <a:xfrm>
            <a:off x="742697" y="3140967"/>
            <a:ext cx="5958519" cy="413602"/>
            <a:chOff x="742697" y="3140967"/>
            <a:chExt cx="5958519" cy="413602"/>
          </a:xfrm>
        </p:grpSpPr>
        <p:sp>
          <p:nvSpPr>
            <p:cNvPr id="6" name="矩形 5"/>
            <p:cNvSpPr/>
            <p:nvPr/>
          </p:nvSpPr>
          <p:spPr bwMode="auto">
            <a:xfrm>
              <a:off x="742697" y="3140968"/>
              <a:ext cx="1800200" cy="413601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4901016" y="3140967"/>
              <a:ext cx="1800200" cy="413601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218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9268" y="1110032"/>
            <a:ext cx="12961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操作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集：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49252" y="1837854"/>
            <a:ext cx="795519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GO-TO-A(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：从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走到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PICK-UP-BOX(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：从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拿起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箱子</a:t>
            </a:r>
          </a:p>
          <a:p>
            <a:pPr>
              <a:lnSpc>
                <a:spcPts val="3200"/>
              </a:lnSpc>
            </a:pPr>
            <a:r>
              <a:rPr lang="en-US" altLang="zh-CN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SET-DOWN-BOX(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：在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放下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箱子</a:t>
            </a:r>
          </a:p>
        </p:txBody>
      </p:sp>
      <p:sp>
        <p:nvSpPr>
          <p:cNvPr id="7" name="矩形 6"/>
          <p:cNvSpPr/>
          <p:nvPr/>
        </p:nvSpPr>
        <p:spPr>
          <a:xfrm>
            <a:off x="643344" y="3692351"/>
            <a:ext cx="7955196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规划中，</a:t>
            </a: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需要</a:t>
            </a:r>
            <a:r>
              <a:rPr lang="zh-CN" altLang="zh-CN" sz="2400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为每一个操作</a:t>
            </a:r>
            <a:r>
              <a:rPr lang="zh-CN" altLang="zh-CN" sz="2400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zh-CN" sz="3200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条件</a:t>
            </a: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zh-CN" sz="3200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行动</a:t>
            </a: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670991"/>
            <a:ext cx="1872208" cy="156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8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1844824"/>
            <a:ext cx="6408712" cy="24622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zh-CN" altLang="zh-CN" sz="2400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sz="24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en-US" sz="2400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zh-CN" altLang="en-US" sz="2400" kern="1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en-US" sz="2400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PICK-UP-BOX(A)</a:t>
            </a:r>
            <a:endParaRPr lang="zh-CN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ON(BOX,A)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AT(ROBOT,A)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EMPTYHANDED(ROBOT)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行动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EMPTYHANDED(ROBOT)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HOLDS(ROBOT,BOX)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1628800"/>
            <a:ext cx="1872208" cy="1564831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3078304" y="3266512"/>
            <a:ext cx="3420380" cy="0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1403648" y="3933056"/>
            <a:ext cx="5472608" cy="1719827"/>
            <a:chOff x="1403648" y="3933056"/>
            <a:chExt cx="5472608" cy="1719827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2627784" y="4575665"/>
              <a:ext cx="4248472" cy="107721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sys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3000"/>
                </a:lnSpc>
              </a:pPr>
              <a:r>
                <a:rPr lang="zh-CN" altLang="en-US" sz="2000" dirty="0">
                  <a:latin typeface="+mn-ea"/>
                  <a:ea typeface="+mn-ea"/>
                </a:rPr>
                <a:t>操作的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结果</a:t>
              </a:r>
              <a:r>
                <a:rPr lang="zh-CN" altLang="en-US" sz="2000" dirty="0">
                  <a:latin typeface="+mn-ea"/>
                  <a:ea typeface="+mn-ea"/>
                </a:rPr>
                <a:t>：</a:t>
              </a:r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ON(BOX,A)</a:t>
              </a:r>
              <a:endPara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ts val="3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 AT(ROBOT,A)</a:t>
              </a:r>
              <a:endPara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 HOLDS(ROBOT,BOX)</a:t>
              </a:r>
              <a:endParaRPr lang="zh-CN" altLang="zh-CN" sz="2000" dirty="0">
                <a:latin typeface="+mn-ea"/>
                <a:ea typeface="+mn-ea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 bwMode="auto">
            <a:xfrm>
              <a:off x="2699792" y="3933056"/>
              <a:ext cx="0" cy="64260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1403648" y="4929608"/>
              <a:ext cx="12961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新状态：</a:t>
              </a:r>
              <a:endParaRPr lang="zh-CN" altLang="zh-CN" sz="2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60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7564" y="1916832"/>
            <a:ext cx="7886439" cy="18723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zh-CN" altLang="en-US" sz="2400" kern="1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GO-TO-A(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60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</a:t>
            </a:r>
            <a:r>
              <a:rPr lang="zh-CN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条件：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AT(ROBOT, 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行动：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AT(ROBOT, 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120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AT(ROBOT, 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1560" y="260648"/>
            <a:ext cx="7992888" cy="1246495"/>
            <a:chOff x="611560" y="260648"/>
            <a:chExt cx="7992888" cy="1246495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5868144" y="744959"/>
              <a:ext cx="27363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可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表示</a:t>
              </a:r>
              <a:r>
                <a:rPr lang="zh-CN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如下：</a:t>
              </a: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11560" y="260648"/>
              <a:ext cx="4896544" cy="12464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① 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GO-TO-A(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：机器人从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</a:t>
              </a:r>
              <a:r>
                <a: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走到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② 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PICK-UP-BOX(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：机器人从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</a:t>
              </a:r>
              <a:r>
                <a: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拿起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箱子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③ 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SET-DOWN-BOX(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：机器人在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</a:t>
              </a:r>
              <a:r>
                <a: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放下</a:t>
              </a:r>
              <a:r>
                <a:rPr lang="zh-CN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箱子</a:t>
              </a:r>
            </a:p>
          </p:txBody>
        </p:sp>
        <p:sp>
          <p:nvSpPr>
            <p:cNvPr id="2" name="右大括号 1"/>
            <p:cNvSpPr/>
            <p:nvPr/>
          </p:nvSpPr>
          <p:spPr bwMode="auto">
            <a:xfrm>
              <a:off x="5436096" y="476672"/>
              <a:ext cx="360040" cy="873969"/>
            </a:xfrm>
            <a:prstGeom prst="rightBrace">
              <a:avLst>
                <a:gd name="adj1" fmla="val 30432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736" y="1700808"/>
            <a:ext cx="2412267" cy="2016224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027016" y="3338914"/>
            <a:ext cx="4409080" cy="1027330"/>
            <a:chOff x="1459064" y="3933056"/>
            <a:chExt cx="4409080" cy="1027330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2627784" y="4575665"/>
              <a:ext cx="3240360" cy="3847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sys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3000"/>
                </a:lnSpc>
              </a:pPr>
              <a:r>
                <a:rPr lang="zh-CN" altLang="en-US" sz="2000" dirty="0">
                  <a:latin typeface="+mn-ea"/>
                  <a:ea typeface="+mn-ea"/>
                </a:rPr>
                <a:t>操作的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结果</a:t>
              </a:r>
              <a:r>
                <a:rPr lang="zh-CN" altLang="en-US" sz="2000" dirty="0">
                  <a:latin typeface="+mn-ea"/>
                  <a:ea typeface="+mn-ea"/>
                </a:rPr>
                <a:t>：</a:t>
              </a:r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AT(ROBOT, 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lang="zh-CN" altLang="zh-CN" sz="2000" dirty="0">
                <a:latin typeface="+mn-ea"/>
                <a:ea typeface="+mn-ea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>
              <a:off x="2699792" y="3933056"/>
              <a:ext cx="0" cy="64260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1459064" y="4564142"/>
              <a:ext cx="12961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新状态：</a:t>
              </a:r>
              <a:endParaRPr lang="zh-CN" altLang="zh-CN" sz="2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 bwMode="auto">
          <a:xfrm>
            <a:off x="2788392" y="2618440"/>
            <a:ext cx="216024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8006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3568" y="1771527"/>
            <a:ext cx="7848872" cy="3744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3500"/>
              </a:lnSpc>
              <a:spcAft>
                <a:spcPts val="600"/>
              </a:spcAft>
            </a:pP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zh-CN" altLang="en-US" sz="2400" kern="1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PICK-UP-BOX(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</a:t>
            </a:r>
            <a:r>
              <a:rPr lang="zh-CN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条件：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ON(BOX, 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TABLE(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AT(ROBOT, &lt;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ts val="3500"/>
              </a:lnSpc>
              <a:spcAft>
                <a:spcPts val="60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EMPTYHAND(ROBOT)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52400"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行动：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EMPTYHANDED(ROBOT)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52400"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ON(BOX, 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HOLDS(ROBOT,BOX)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27784" y="2537196"/>
            <a:ext cx="3960440" cy="1323852"/>
            <a:chOff x="2627784" y="2537196"/>
            <a:chExt cx="3960440" cy="1323852"/>
          </a:xfrm>
        </p:grpSpPr>
        <p:cxnSp>
          <p:nvCxnSpPr>
            <p:cNvPr id="3" name="直接连接符 2"/>
            <p:cNvCxnSpPr/>
            <p:nvPr/>
          </p:nvCxnSpPr>
          <p:spPr bwMode="auto">
            <a:xfrm>
              <a:off x="2627784" y="3861048"/>
              <a:ext cx="39604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连接符 4"/>
            <p:cNvCxnSpPr/>
            <p:nvPr/>
          </p:nvCxnSpPr>
          <p:spPr bwMode="auto">
            <a:xfrm>
              <a:off x="2815845" y="2537196"/>
              <a:ext cx="1847575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905088" y="1679167"/>
            <a:ext cx="2627352" cy="1538883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000"/>
              </a:lnSpc>
            </a:pPr>
            <a:r>
              <a:rPr lang="zh-CN" altLang="en-US" sz="2000" dirty="0">
                <a:latin typeface="+mn-ea"/>
                <a:ea typeface="+mn-ea"/>
              </a:rPr>
              <a:t>操作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结果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ts val="3000"/>
              </a:lnSpc>
            </a:pP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TABLE(</a:t>
            </a:r>
            <a:r>
              <a:rPr lang="en-US" altLang="zh-CN" sz="20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AT(ROBOT, 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HOLDS(ROBOT,BOX)</a:t>
            </a:r>
            <a:endParaRPr lang="zh-CN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71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3568" y="1772816"/>
            <a:ext cx="7848872" cy="3295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3500"/>
              </a:lnSpc>
              <a:spcAft>
                <a:spcPts val="600"/>
              </a:spcAft>
            </a:pP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zh-CN" altLang="en-US" sz="2400" kern="1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SET-DOWN-BOX(&gt;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52400"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</a:t>
            </a:r>
            <a:r>
              <a:rPr lang="zh-CN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条件：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AT(ROBOT, &gt;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TABLE(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ts val="3500"/>
              </a:lnSpc>
              <a:spcAft>
                <a:spcPts val="60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HOLDS(ROBOT,BOX)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52400"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行动：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HOLDS(ROBOT,BOX)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52400"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</a:t>
            </a:r>
            <a:r>
              <a:rPr lang="zh-CN" altLang="zh-CN" sz="2400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EMPTYHANDED(ROBOT)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ON(BOX, </a:t>
            </a:r>
            <a:r>
              <a:rPr lang="en-US" altLang="zh-CN" sz="24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&lt;x</a:t>
            </a:r>
            <a:r>
              <a:rPr lang="en-US" altLang="zh-CN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4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2555776" y="3429000"/>
            <a:ext cx="36004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508104" y="404664"/>
            <a:ext cx="3168352" cy="1987724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prstDash val="sys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000"/>
              </a:lnSpc>
              <a:spcAft>
                <a:spcPts val="0"/>
              </a:spcAft>
            </a:pPr>
            <a:r>
              <a:rPr lang="zh-CN" altLang="en-US" sz="2000" dirty="0">
                <a:latin typeface="+mn-ea"/>
                <a:ea typeface="+mn-ea"/>
              </a:rPr>
              <a:t>操作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结果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ts val="3000"/>
              </a:lnSpc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AT(ROBOT, 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3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TABLE(</a:t>
            </a:r>
            <a:r>
              <a:rPr lang="en-US" altLang="zh-CN" sz="20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ts val="3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EMPTYHANDED(ROBOT)</a:t>
            </a:r>
            <a:endParaRPr lang="zh-CN" altLang="zh-CN" sz="20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ON(BOX, </a:t>
            </a:r>
            <a:r>
              <a:rPr lang="en-US" altLang="zh-CN" sz="20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46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4"/>
          <p:cNvSpPr txBox="1">
            <a:spLocks noChangeArrowheads="1"/>
          </p:cNvSpPr>
          <p:nvPr/>
        </p:nvSpPr>
        <p:spPr bwMode="auto">
          <a:xfrm>
            <a:off x="684213" y="1764071"/>
            <a:ext cx="4464050" cy="437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状态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AT(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ONBOX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：猴子在箱子上</a:t>
            </a:r>
          </a:p>
          <a:p>
            <a:pPr eaLnBrk="1" hangingPunct="1">
              <a:lnSpc>
                <a:spcPts val="2500"/>
              </a:lnSpc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：猴子拿到香蕉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个体域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x={monkey, box, banana}</a:t>
            </a:r>
          </a:p>
          <a:p>
            <a:pPr eaLnBrk="1" hangingPunct="1">
              <a:lnSpc>
                <a:spcPts val="25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y={a, b, c}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初始状态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a)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AT(box, b)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¬ ONBOX </a:t>
            </a:r>
          </a:p>
          <a:p>
            <a:pPr eaLnBrk="1" hangingPunct="1">
              <a:lnSpc>
                <a:spcPts val="25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¬ HB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目标状态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c)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AT(box, c)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ONBOX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HB</a:t>
            </a:r>
          </a:p>
        </p:txBody>
      </p:sp>
      <p:sp>
        <p:nvSpPr>
          <p:cNvPr id="105475" name="Text Box 5"/>
          <p:cNvSpPr txBox="1">
            <a:spLocks noChangeArrowheads="1"/>
          </p:cNvSpPr>
          <p:nvPr/>
        </p:nvSpPr>
        <p:spPr bwMode="auto">
          <a:xfrm>
            <a:off x="684213" y="909881"/>
            <a:ext cx="575999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谓词逻辑表示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猴子和香蕉问题</a:t>
            </a:r>
          </a:p>
        </p:txBody>
      </p:sp>
      <p:pic>
        <p:nvPicPr>
          <p:cNvPr id="10547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/>
          <a:stretch>
            <a:fillRect/>
          </a:stretch>
        </p:blipFill>
        <p:spPr bwMode="auto">
          <a:xfrm>
            <a:off x="5436096" y="1764071"/>
            <a:ext cx="3124838" cy="1762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4"/>
          <p:cNvSpPr txBox="1">
            <a:spLocks noChangeArrowheads="1"/>
          </p:cNvSpPr>
          <p:nvPr/>
        </p:nvSpPr>
        <p:spPr bwMode="auto">
          <a:xfrm>
            <a:off x="684213" y="1738313"/>
            <a:ext cx="7992243" cy="436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谓词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Goto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(u, v)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：猴子从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处到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 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条件：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¬ONBOX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u)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动作：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u)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添加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v)</a:t>
            </a:r>
          </a:p>
          <a:p>
            <a:pPr eaLnBrk="1" hangingPunct="1">
              <a:lnSpc>
                <a:spcPts val="2500"/>
              </a:lnSpc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Pushbox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(v, w)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：猴子推箱子从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处到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条件：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 ONBOX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v)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AT(box, v)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动作：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v)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AT(box, v)</a:t>
            </a:r>
          </a:p>
          <a:p>
            <a:pPr eaLnBrk="1" hangingPunct="1">
              <a:lnSpc>
                <a:spcPts val="25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添加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w)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box,w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Climbbox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：猴子爬上箱子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条件：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 ONBOX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AT(monkey, w)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box,w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5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动作：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 ONBOX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添加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ONBOX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Grasp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：猴子拿到香蕉</a:t>
            </a:r>
          </a:p>
          <a:p>
            <a:pPr eaLnBrk="1" hangingPunct="1">
              <a:lnSpc>
                <a:spcPts val="25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条件：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ONBOX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AT(box, c)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动作：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删除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 HB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添加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4"/>
          <p:cNvSpPr>
            <a:spLocks noChangeArrowheads="1"/>
          </p:cNvSpPr>
          <p:nvPr/>
        </p:nvSpPr>
        <p:spPr bwMode="auto">
          <a:xfrm>
            <a:off x="712788" y="1055688"/>
            <a:ext cx="37125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猴子和香蕉问题求解过程：</a:t>
            </a:r>
          </a:p>
        </p:txBody>
      </p:sp>
      <p:grpSp>
        <p:nvGrpSpPr>
          <p:cNvPr id="107523" name="Group 19"/>
          <p:cNvGrpSpPr>
            <a:grpSpLocks/>
          </p:cNvGrpSpPr>
          <p:nvPr/>
        </p:nvGrpSpPr>
        <p:grpSpPr bwMode="auto">
          <a:xfrm>
            <a:off x="304800" y="1863725"/>
            <a:ext cx="8686800" cy="4157663"/>
            <a:chOff x="192" y="1174"/>
            <a:chExt cx="5472" cy="2619"/>
          </a:xfrm>
        </p:grpSpPr>
        <p:sp>
          <p:nvSpPr>
            <p:cNvPr id="107524" name="Rectangle 5"/>
            <p:cNvSpPr>
              <a:spLocks noChangeArrowheads="1"/>
            </p:cNvSpPr>
            <p:nvPr/>
          </p:nvSpPr>
          <p:spPr bwMode="auto">
            <a:xfrm>
              <a:off x="192" y="1339"/>
              <a:ext cx="1104" cy="939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初始状态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AT(monkey, a)     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AT(box, b)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¬ ONBOX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¬ HB</a:t>
              </a:r>
            </a:p>
          </p:txBody>
        </p:sp>
        <p:pic>
          <p:nvPicPr>
            <p:cNvPr id="107525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82"/>
            <a:stretch>
              <a:fillRect/>
            </a:stretch>
          </p:blipFill>
          <p:spPr bwMode="auto">
            <a:xfrm>
              <a:off x="1680" y="1174"/>
              <a:ext cx="2640" cy="1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7526" name="Rectangle 7"/>
            <p:cNvSpPr>
              <a:spLocks noChangeArrowheads="1"/>
            </p:cNvSpPr>
            <p:nvPr/>
          </p:nvSpPr>
          <p:spPr bwMode="auto">
            <a:xfrm>
              <a:off x="768" y="2326"/>
              <a:ext cx="7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Goto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(a, b)</a:t>
              </a:r>
            </a:p>
          </p:txBody>
        </p:sp>
        <p:sp>
          <p:nvSpPr>
            <p:cNvPr id="107527" name="AutoShape 8"/>
            <p:cNvSpPr>
              <a:spLocks noChangeArrowheads="1"/>
            </p:cNvSpPr>
            <p:nvPr/>
          </p:nvSpPr>
          <p:spPr bwMode="auto">
            <a:xfrm rot="5400000">
              <a:off x="576" y="2422"/>
              <a:ext cx="336" cy="144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528" name="Rectangle 9"/>
            <p:cNvSpPr>
              <a:spLocks noChangeArrowheads="1"/>
            </p:cNvSpPr>
            <p:nvPr/>
          </p:nvSpPr>
          <p:spPr bwMode="auto">
            <a:xfrm>
              <a:off x="192" y="2731"/>
              <a:ext cx="1104" cy="939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状态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AT(monkey, b)     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AT(box, b)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¬ ONBOX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¬ HB</a:t>
              </a:r>
            </a:p>
          </p:txBody>
        </p:sp>
        <p:sp>
          <p:nvSpPr>
            <p:cNvPr id="107529" name="AutoShape 10"/>
            <p:cNvSpPr>
              <a:spLocks noChangeArrowheads="1"/>
            </p:cNvSpPr>
            <p:nvPr/>
          </p:nvSpPr>
          <p:spPr bwMode="auto">
            <a:xfrm>
              <a:off x="1344" y="3190"/>
              <a:ext cx="1008" cy="144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530" name="Rectangle 11"/>
            <p:cNvSpPr>
              <a:spLocks noChangeArrowheads="1"/>
            </p:cNvSpPr>
            <p:nvPr/>
          </p:nvSpPr>
          <p:spPr bwMode="auto">
            <a:xfrm>
              <a:off x="1344" y="2911"/>
              <a:ext cx="9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Pushbox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(b, c)</a:t>
              </a:r>
            </a:p>
          </p:txBody>
        </p:sp>
        <p:sp>
          <p:nvSpPr>
            <p:cNvPr id="107531" name="Rectangle 12"/>
            <p:cNvSpPr>
              <a:spLocks noChangeArrowheads="1"/>
            </p:cNvSpPr>
            <p:nvPr/>
          </p:nvSpPr>
          <p:spPr bwMode="auto">
            <a:xfrm>
              <a:off x="2400" y="2806"/>
              <a:ext cx="1104" cy="939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状态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AT(monkey, c)     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AT(box, c)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¬ ONBOX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¬ HB</a:t>
              </a:r>
            </a:p>
          </p:txBody>
        </p:sp>
        <p:sp>
          <p:nvSpPr>
            <p:cNvPr id="107532" name="Rectangle 13"/>
            <p:cNvSpPr>
              <a:spLocks noChangeArrowheads="1"/>
            </p:cNvSpPr>
            <p:nvPr/>
          </p:nvSpPr>
          <p:spPr bwMode="auto">
            <a:xfrm>
              <a:off x="3692" y="2950"/>
              <a:ext cx="7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Climbbox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533" name="AutoShape 14"/>
            <p:cNvSpPr>
              <a:spLocks noChangeArrowheads="1"/>
            </p:cNvSpPr>
            <p:nvPr/>
          </p:nvSpPr>
          <p:spPr bwMode="auto">
            <a:xfrm>
              <a:off x="3552" y="3190"/>
              <a:ext cx="960" cy="144"/>
            </a:xfrm>
            <a:prstGeom prst="rightArrow">
              <a:avLst>
                <a:gd name="adj1" fmla="val 50000"/>
                <a:gd name="adj2" fmla="val 16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534" name="Rectangle 15"/>
            <p:cNvSpPr>
              <a:spLocks noChangeArrowheads="1"/>
            </p:cNvSpPr>
            <p:nvPr/>
          </p:nvSpPr>
          <p:spPr bwMode="auto">
            <a:xfrm>
              <a:off x="4560" y="2854"/>
              <a:ext cx="1104" cy="939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状态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AT(monkey, c)     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AT(box, c)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ONBOX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¬ HB</a:t>
              </a:r>
            </a:p>
          </p:txBody>
        </p:sp>
        <p:sp>
          <p:nvSpPr>
            <p:cNvPr id="107535" name="Rectangle 16"/>
            <p:cNvSpPr>
              <a:spLocks noChangeArrowheads="1"/>
            </p:cNvSpPr>
            <p:nvPr/>
          </p:nvSpPr>
          <p:spPr bwMode="auto">
            <a:xfrm>
              <a:off x="4512" y="1339"/>
              <a:ext cx="1104" cy="939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目标状态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AT(monkey, c)     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AT(box, c)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ONBOX 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HB</a:t>
              </a:r>
            </a:p>
          </p:txBody>
        </p:sp>
        <p:sp>
          <p:nvSpPr>
            <p:cNvPr id="107536" name="AutoShape 17"/>
            <p:cNvSpPr>
              <a:spLocks noChangeArrowheads="1"/>
            </p:cNvSpPr>
            <p:nvPr/>
          </p:nvSpPr>
          <p:spPr bwMode="auto">
            <a:xfrm rot="-5400000">
              <a:off x="5136" y="2470"/>
              <a:ext cx="336" cy="144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537" name="Rectangle 18"/>
            <p:cNvSpPr>
              <a:spLocks noChangeArrowheads="1"/>
            </p:cNvSpPr>
            <p:nvPr/>
          </p:nvSpPr>
          <p:spPr bwMode="auto">
            <a:xfrm>
              <a:off x="4732" y="2431"/>
              <a:ext cx="5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Grasp</a:t>
              </a:r>
            </a:p>
          </p:txBody>
        </p:sp>
      </p:grpSp>
      <p:sp>
        <p:nvSpPr>
          <p:cNvPr id="2" name="矩形 1"/>
          <p:cNvSpPr/>
          <p:nvPr/>
        </p:nvSpPr>
        <p:spPr bwMode="auto">
          <a:xfrm>
            <a:off x="3491880" y="446535"/>
            <a:ext cx="5181600" cy="4013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pushbox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climbbox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grasp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4"/>
          <p:cNvSpPr txBox="1">
            <a:spLocks noChangeArrowheads="1"/>
          </p:cNvSpPr>
          <p:nvPr/>
        </p:nvSpPr>
        <p:spPr bwMode="auto">
          <a:xfrm>
            <a:off x="629848" y="1758291"/>
            <a:ext cx="7542552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自然：</a:t>
            </a:r>
            <a:r>
              <a:rPr lang="zh-CN" altLang="en-US" sz="2000" dirty="0">
                <a:latin typeface="+mn-ea"/>
                <a:ea typeface="+mn-ea"/>
              </a:rPr>
              <a:t>接近自然语言的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形式语言</a:t>
            </a:r>
            <a:r>
              <a:rPr lang="zh-CN" altLang="en-US" sz="2000" dirty="0">
                <a:latin typeface="+mn-ea"/>
                <a:ea typeface="+mn-ea"/>
              </a:rPr>
              <a:t>系统  （直观）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明确：</a:t>
            </a:r>
            <a:r>
              <a:rPr lang="zh-CN" altLang="en-US" sz="2000" dirty="0">
                <a:latin typeface="+mn-ea"/>
                <a:ea typeface="+mn-ea"/>
              </a:rPr>
              <a:t>一种标准的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知识解释方法  </a:t>
            </a:r>
            <a:r>
              <a:rPr lang="zh-CN" altLang="en-US" sz="2000" dirty="0">
                <a:latin typeface="+mn-ea"/>
                <a:ea typeface="+mn-ea"/>
              </a:rPr>
              <a:t>（清晰）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精确：</a:t>
            </a:r>
            <a:r>
              <a:rPr lang="zh-CN" altLang="en-US" sz="2000" dirty="0">
                <a:latin typeface="+mn-ea"/>
                <a:ea typeface="+mn-ea"/>
              </a:rPr>
              <a:t>谓词逻辑的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值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只有</a:t>
            </a:r>
            <a:r>
              <a:rPr lang="zh-CN" altLang="en-US" sz="2000" dirty="0">
                <a:latin typeface="+mn-ea"/>
                <a:ea typeface="+mn-ea"/>
              </a:rPr>
              <a:t>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真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假</a:t>
            </a:r>
            <a:r>
              <a:rPr lang="zh-CN" altLang="en-US" sz="2000" dirty="0">
                <a:latin typeface="+mn-ea"/>
                <a:ea typeface="+mn-ea"/>
              </a:rPr>
              <a:t>”  （表示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</a:t>
            </a:r>
            <a:r>
              <a:rPr lang="zh-CN" altLang="en-US" sz="2000" dirty="0">
                <a:latin typeface="+mn-ea"/>
                <a:ea typeface="+mn-ea"/>
              </a:rPr>
              <a:t>推理→精确</a:t>
            </a:r>
            <a:r>
              <a:rPr lang="en-US" altLang="zh-CN" sz="2000" dirty="0">
                <a:latin typeface="+mn-ea"/>
                <a:ea typeface="+mn-ea"/>
              </a:rPr>
              <a:t>\</a:t>
            </a:r>
            <a:r>
              <a:rPr lang="zh-CN" altLang="en-US" sz="2000" dirty="0">
                <a:latin typeface="+mn-ea"/>
                <a:ea typeface="+mn-ea"/>
              </a:rPr>
              <a:t>确定）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灵活：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知识</a:t>
            </a:r>
            <a:r>
              <a:rPr lang="zh-CN" altLang="en-US" sz="2000" dirty="0">
                <a:latin typeface="+mn-ea"/>
                <a:ea typeface="+mn-ea"/>
              </a:rPr>
              <a:t>和处理知识的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程序</a:t>
            </a:r>
            <a:r>
              <a:rPr lang="zh-CN" altLang="en-US" sz="2000" dirty="0">
                <a:latin typeface="+mn-ea"/>
                <a:ea typeface="+mn-ea"/>
              </a:rPr>
              <a:t>是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分开</a:t>
            </a:r>
            <a:r>
              <a:rPr lang="zh-CN" altLang="en-US" sz="2000" dirty="0">
                <a:latin typeface="+mn-ea"/>
                <a:ea typeface="+mn-ea"/>
              </a:rPr>
              <a:t>的  （各自独立）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模块化：</a:t>
            </a:r>
            <a:r>
              <a:rPr lang="zh-CN" altLang="en-US" sz="2000" dirty="0">
                <a:latin typeface="+mn-ea"/>
                <a:ea typeface="+mn-ea"/>
              </a:rPr>
              <a:t>知识之间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相对独立  </a:t>
            </a:r>
            <a:r>
              <a:rPr lang="zh-CN" altLang="en-US" sz="2000" dirty="0">
                <a:latin typeface="+mn-ea"/>
                <a:ea typeface="+mn-ea"/>
              </a:rPr>
              <a:t>（便于知识的增加、删除、修改）</a:t>
            </a:r>
          </a:p>
        </p:txBody>
      </p:sp>
      <p:sp>
        <p:nvSpPr>
          <p:cNvPr id="108547" name="Rectangle 5"/>
          <p:cNvSpPr>
            <a:spLocks noChangeArrowheads="1"/>
          </p:cNvSpPr>
          <p:nvPr/>
        </p:nvSpPr>
        <p:spPr bwMode="auto">
          <a:xfrm>
            <a:off x="639983" y="1178280"/>
            <a:ext cx="1897322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谓词表示的优点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4"/>
          <p:cNvSpPr txBox="1">
            <a:spLocks noChangeArrowheads="1"/>
          </p:cNvSpPr>
          <p:nvPr/>
        </p:nvSpPr>
        <p:spPr bwMode="auto">
          <a:xfrm>
            <a:off x="632697" y="1822946"/>
            <a:ext cx="8043759" cy="3257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知识表示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能力：只能表示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确定性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知识，不能表示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非确定性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知识、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过程性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Aft>
                <a:spcPts val="600"/>
              </a:spcAft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知识、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启发式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知识。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Aft>
                <a:spcPts val="120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知识库管理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困难：缺乏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知识组织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原则。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存在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组合爆炸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：因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难以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表示启发式知识，只能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盲目使用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推理规则，当系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Aft>
                <a:spcPts val="1200"/>
              </a:spcAft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统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知识量较大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时，容易发生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组合爆炸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系统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效率低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推理演算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知识含义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完全分开，未考虑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表达内容中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所含有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语义信息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，使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推理过程冗长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，导致系统效率不高。</a:t>
            </a:r>
            <a:endParaRPr lang="zh-CN" altLang="en-US" sz="2000" b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571" name="Rectangle 5"/>
          <p:cNvSpPr>
            <a:spLocks noChangeArrowheads="1"/>
          </p:cNvSpPr>
          <p:nvPr/>
        </p:nvSpPr>
        <p:spPr bwMode="auto">
          <a:xfrm>
            <a:off x="675069" y="1193287"/>
            <a:ext cx="584563" cy="311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</a:rPr>
              <a:t>缺点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597" y="1083080"/>
            <a:ext cx="4582712" cy="394348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2.6 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语义网络表示（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Semantic Network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0595" name="Text Box 5"/>
          <p:cNvSpPr txBox="1">
            <a:spLocks noChangeArrowheads="1"/>
          </p:cNvSpPr>
          <p:nvPr/>
        </p:nvSpPr>
        <p:spPr bwMode="auto">
          <a:xfrm>
            <a:off x="593272" y="1819066"/>
            <a:ext cx="8011176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1968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提出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，作为人类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联想记忆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的一个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显式心理学模型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5113" indent="-265113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原因：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产生式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逻辑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，虽可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不同状态间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的关系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但不便于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事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物</a:t>
            </a:r>
            <a:r>
              <a:rPr lang="zh-CN" altLang="zh-CN" sz="2000" u="wavyDbl" dirty="0">
                <a:latin typeface="+mn-ea"/>
                <a:ea typeface="+mn-ea"/>
                <a:cs typeface="Times New Roman" panose="02020603050405020304" pitchFamily="18" charset="0"/>
              </a:rPr>
              <a:t>中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各部分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之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间的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分类知识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（槽、填槽→信息补全）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5113" indent="-265113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对人脑功能的模拟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5113" indent="-265113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通过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概念与概念之间的语义关系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，表达知识的一种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网络图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5113" indent="-2651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形式：带有标识的有向图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知识的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结构化图解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节点：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表示各种事物、概念、属性、状态动作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弧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边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表示节点之间的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语义联系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联想弧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413" y="1163725"/>
            <a:ext cx="3421531" cy="313703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2.6.1 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语义网络的结构和表示</a:t>
            </a:r>
          </a:p>
        </p:txBody>
      </p:sp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20957" y="1775202"/>
            <a:ext cx="7047387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最简单的语义网络结构</a:t>
            </a:r>
            <a:r>
              <a:rPr lang="zh-CN" altLang="en-US" sz="2000" dirty="0">
                <a:latin typeface="+mn-ea"/>
              </a:rPr>
              <a:t>是一个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三元组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：节点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1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，弧，节点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2</a:t>
            </a:r>
          </a:p>
          <a:p>
            <a:pPr marL="361950" indent="-3619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三元组→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基本网元</a:t>
            </a:r>
            <a:endParaRPr lang="en-US" altLang="zh-CN" sz="2400" dirty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  <a:p>
            <a:pPr marL="361950" indent="-3619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多个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基本网元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关联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在一起，构成一个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语义网络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。</a:t>
            </a:r>
            <a:endParaRPr lang="en-US" altLang="zh-CN" sz="2000" dirty="0">
              <a:latin typeface="+mn-ea"/>
              <a:sym typeface="Wingdings" panose="05000000000000000000" pitchFamily="2" charset="2"/>
            </a:endParaRPr>
          </a:p>
          <a:p>
            <a:pPr marL="361950" indent="-36195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关联方法：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节点合并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24568" y="4726145"/>
            <a:ext cx="7148642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8288" indent="-268288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此语义联系可理解为“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类属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”关系。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8288" indent="-268288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箭头方向的含义：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箭头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代表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上层概念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箭尾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代表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下层概念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695523"/>
            <a:ext cx="2816029" cy="71725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152548" y="3501008"/>
            <a:ext cx="7354134" cy="1265637"/>
            <a:chOff x="1152548" y="3593508"/>
            <a:chExt cx="7354134" cy="12656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2548" y="3757350"/>
              <a:ext cx="4419678" cy="86527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7959" y="3593508"/>
              <a:ext cx="2288723" cy="1265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299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37388" y="1115508"/>
            <a:ext cx="2016224" cy="360040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、基本语义关系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619511" y="1758279"/>
            <a:ext cx="6949117" cy="208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Aft>
                <a:spcPts val="1200"/>
              </a:spcAft>
            </a:pPr>
            <a:r>
              <a:rPr lang="zh-CN" altLang="en-US" sz="2000" dirty="0">
                <a:latin typeface="+mn-ea"/>
                <a:ea typeface="+mn-ea"/>
              </a:rPr>
              <a:t>⑴、类属关系</a:t>
            </a:r>
            <a:endParaRPr lang="en-US" altLang="zh-CN" sz="2000" dirty="0">
              <a:latin typeface="+mn-ea"/>
              <a:ea typeface="+mn-ea"/>
            </a:endParaRPr>
          </a:p>
          <a:p>
            <a:pPr marL="342900" lvl="2" indent="-342900" eaLnBrk="1" hangingPunct="1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具体与抽象</a:t>
            </a:r>
            <a:endParaRPr lang="en-US" altLang="zh-CN" sz="2000" dirty="0">
              <a:latin typeface="+mn-ea"/>
              <a:ea typeface="+mn-ea"/>
            </a:endParaRPr>
          </a:p>
          <a:p>
            <a:pPr marL="0" lvl="2" eaLnBrk="1" hangingPunct="1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</a:pPr>
            <a:r>
              <a:rPr lang="en-US" altLang="zh-CN" sz="2000" dirty="0">
                <a:latin typeface="+mn-ea"/>
                <a:ea typeface="+mn-ea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具有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共同属性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不同事物之间</a:t>
            </a:r>
            <a:r>
              <a:rPr lang="zh-CN" altLang="en-US" sz="2000" dirty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en-US" altLang="zh-CN" sz="2000" dirty="0">
                <a:latin typeface="+mn-ea"/>
                <a:ea typeface="+mn-ea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成员</a:t>
            </a:r>
            <a:r>
              <a:rPr lang="en-US" altLang="zh-CN" sz="2000" dirty="0">
                <a:latin typeface="+mn-ea"/>
                <a:ea typeface="+mn-ea"/>
              </a:rPr>
              <a:t>\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分类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…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关系</a:t>
            </a:r>
            <a:endParaRPr lang="en-US" altLang="zh-CN" sz="2000" dirty="0">
              <a:latin typeface="+mn-ea"/>
              <a:ea typeface="+mn-ea"/>
            </a:endParaRPr>
          </a:p>
          <a:p>
            <a:pPr marL="342900" lvl="2" indent="-342900" eaLnBrk="1" hangingPunct="1">
              <a:lnSpc>
                <a:spcPts val="32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常用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类属关系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Is-a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A-member-of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A-kind-of</a:t>
            </a:r>
            <a:endParaRPr lang="zh-CN" altLang="en-US" sz="2000" dirty="0"/>
          </a:p>
        </p:txBody>
      </p:sp>
      <p:grpSp>
        <p:nvGrpSpPr>
          <p:cNvPr id="57" name="组合 56"/>
          <p:cNvGrpSpPr/>
          <p:nvPr/>
        </p:nvGrpSpPr>
        <p:grpSpPr>
          <a:xfrm>
            <a:off x="1017850" y="4005064"/>
            <a:ext cx="5136096" cy="960635"/>
            <a:chOff x="1164096" y="4296663"/>
            <a:chExt cx="5136096" cy="960635"/>
          </a:xfrm>
        </p:grpSpPr>
        <p:sp>
          <p:nvSpPr>
            <p:cNvPr id="15" name="矩形 14"/>
            <p:cNvSpPr/>
            <p:nvPr/>
          </p:nvSpPr>
          <p:spPr>
            <a:xfrm>
              <a:off x="1164096" y="4296663"/>
              <a:ext cx="2448272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张三是一个学生</a:t>
              </a: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3680" y="4653135"/>
              <a:ext cx="2516512" cy="6041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025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69920" y="476672"/>
            <a:ext cx="4406136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一个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en-US" sz="2000" dirty="0">
                <a:latin typeface="+mn-ea"/>
                <a:ea typeface="+mn-ea"/>
              </a:rPr>
              <a:t>可</a:t>
            </a:r>
            <a:r>
              <a:rPr lang="zh-CN" altLang="zh-CN" sz="2000" dirty="0">
                <a:latin typeface="+mn-ea"/>
                <a:ea typeface="+mn-ea"/>
              </a:rPr>
              <a:t>与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多个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2000" dirty="0">
                <a:latin typeface="+mn-ea"/>
                <a:ea typeface="+mn-ea"/>
              </a:rPr>
              <a:t>连接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多个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2000" dirty="0">
                <a:latin typeface="+mn-ea"/>
                <a:ea typeface="+mn-ea"/>
              </a:rPr>
              <a:t>也</a:t>
            </a:r>
            <a:r>
              <a:rPr lang="zh-CN" altLang="en-US" sz="2000" dirty="0">
                <a:latin typeface="+mn-ea"/>
                <a:ea typeface="+mn-ea"/>
              </a:rPr>
              <a:t>可</a:t>
            </a:r>
            <a:r>
              <a:rPr lang="zh-CN" altLang="zh-CN" sz="2000" dirty="0">
                <a:latin typeface="+mn-ea"/>
                <a:ea typeface="+mn-ea"/>
              </a:rPr>
              <a:t>与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一个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2000" dirty="0">
                <a:latin typeface="+mn-ea"/>
                <a:ea typeface="+mn-ea"/>
              </a:rPr>
              <a:t>连接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32040" y="629396"/>
            <a:ext cx="2664296" cy="648072"/>
            <a:chOff x="5148064" y="629396"/>
            <a:chExt cx="2664296" cy="648072"/>
          </a:xfrm>
        </p:grpSpPr>
        <p:sp>
          <p:nvSpPr>
            <p:cNvPr id="2" name="右大括号 1"/>
            <p:cNvSpPr/>
            <p:nvPr/>
          </p:nvSpPr>
          <p:spPr bwMode="auto">
            <a:xfrm>
              <a:off x="5148064" y="629396"/>
              <a:ext cx="216024" cy="648072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 bwMode="auto">
            <a:xfrm>
              <a:off x="5464816" y="700232"/>
              <a:ext cx="2347544" cy="44075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1:1</a:t>
              </a: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:n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m:n</a:t>
              </a:r>
              <a:endPara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26391" y="1727551"/>
            <a:ext cx="7474001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indent="-271463" eaLnBrk="1" hangingPunct="1">
              <a:lnSpc>
                <a:spcPts val="32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点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更抽象的类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点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之间的联系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1463" indent="-271463" eaLnBrk="1" hangingPunct="1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AKO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Kind Of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将问题域中的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所有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点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组织成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一个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层次网络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636912"/>
            <a:ext cx="5688632" cy="342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7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56272" y="1785646"/>
            <a:ext cx="5787936" cy="923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lvl="2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一个事物是另一事物的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组成部分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或某个方面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marL="265113" lvl="2" indent="-265113"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常用聚集关系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A-Part-of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8343" y="2852936"/>
            <a:ext cx="5982699" cy="581303"/>
            <a:chOff x="998343" y="2992440"/>
            <a:chExt cx="5982699" cy="581303"/>
          </a:xfrm>
        </p:grpSpPr>
        <p:sp>
          <p:nvSpPr>
            <p:cNvPr id="7" name="矩形 6"/>
            <p:cNvSpPr/>
            <p:nvPr/>
          </p:nvSpPr>
          <p:spPr>
            <a:xfrm>
              <a:off x="998343" y="3147065"/>
              <a:ext cx="2763600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手是人体的一部分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7362" y="2992440"/>
              <a:ext cx="2983680" cy="581303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1007396" y="3879935"/>
            <a:ext cx="7092996" cy="1642536"/>
            <a:chOff x="1007396" y="4306744"/>
            <a:chExt cx="7092996" cy="1642536"/>
          </a:xfrm>
        </p:grpSpPr>
        <p:sp>
          <p:nvSpPr>
            <p:cNvPr id="32" name="Text Box 5"/>
            <p:cNvSpPr txBox="1">
              <a:spLocks noChangeArrowheads="1"/>
            </p:cNvSpPr>
            <p:nvPr/>
          </p:nvSpPr>
          <p:spPr bwMode="auto">
            <a:xfrm>
              <a:off x="1007396" y="4451077"/>
              <a:ext cx="1656184" cy="39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：鸟有翅膀</a:t>
              </a: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6069" y="4306744"/>
              <a:ext cx="4964323" cy="1642536"/>
            </a:xfrm>
            <a:prstGeom prst="rect">
              <a:avLst/>
            </a:prstGeom>
          </p:spPr>
        </p:pic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55860" y="1128169"/>
            <a:ext cx="1656184" cy="358495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⑵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、聚集关系</a:t>
            </a:r>
          </a:p>
        </p:txBody>
      </p:sp>
    </p:spTree>
    <p:extLst>
      <p:ext uri="{BB962C8B-B14F-4D97-AF65-F5344CB8AC3E}">
        <p14:creationId xmlns:p14="http://schemas.microsoft.com/office/powerpoint/2010/main" val="333058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9113" y="1831176"/>
            <a:ext cx="7627760" cy="87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对象及其属性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间的</a:t>
            </a:r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联系</a:t>
            </a:r>
            <a:endParaRPr lang="en-US" altLang="zh-CN" sz="20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lvl="2" indent="-265113"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常用属性关系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Have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（有）、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（能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会）、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Owner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（所有者）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977812" y="2924944"/>
            <a:ext cx="7279061" cy="2448272"/>
            <a:chOff x="1160465" y="3237965"/>
            <a:chExt cx="7279061" cy="2448272"/>
          </a:xfrm>
        </p:grpSpPr>
        <p:sp>
          <p:nvSpPr>
            <p:cNvPr id="17" name="矩形 16"/>
            <p:cNvSpPr/>
            <p:nvPr/>
          </p:nvSpPr>
          <p:spPr>
            <a:xfrm>
              <a:off x="1160465" y="3237965"/>
              <a:ext cx="5127848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张三会说英语，年龄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18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岁，身高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180cm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。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6210" y="3958045"/>
              <a:ext cx="5463316" cy="1728192"/>
            </a:xfrm>
            <a:prstGeom prst="rect">
              <a:avLst/>
            </a:prstGeom>
          </p:spPr>
        </p:pic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47173" y="1134213"/>
            <a:ext cx="1683343" cy="350571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、属性关系</a:t>
            </a:r>
          </a:p>
        </p:txBody>
      </p:sp>
    </p:spTree>
    <p:extLst>
      <p:ext uri="{BB962C8B-B14F-4D97-AF65-F5344CB8AC3E}">
        <p14:creationId xmlns:p14="http://schemas.microsoft.com/office/powerpoint/2010/main" val="407135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50197" y="691711"/>
            <a:ext cx="7882243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indent="-265113" eaLnBrk="1" hangingPunct="1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</a:rPr>
              <a:t>表示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个体</a:t>
            </a:r>
            <a:r>
              <a:rPr lang="zh-CN" altLang="zh-CN" sz="2000" dirty="0">
                <a:latin typeface="+mn-ea"/>
                <a:ea typeface="+mn-ea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属性</a:t>
            </a:r>
            <a:r>
              <a:rPr lang="zh-CN" altLang="zh-CN" sz="2000" dirty="0">
                <a:latin typeface="+mn-ea"/>
                <a:ea typeface="+mn-ea"/>
              </a:rPr>
              <a:t>及其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取值</a:t>
            </a:r>
            <a:r>
              <a:rPr lang="zh-CN" altLang="zh-CN" sz="2000" dirty="0">
                <a:latin typeface="+mn-ea"/>
                <a:ea typeface="+mn-ea"/>
              </a:rPr>
              <a:t>之间的联系，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有向弧</a:t>
            </a:r>
            <a:r>
              <a:rPr lang="zh-CN" altLang="zh-CN" sz="2000" dirty="0">
                <a:latin typeface="+mn-ea"/>
                <a:ea typeface="+mn-ea"/>
              </a:rPr>
              <a:t>表示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属性</a:t>
            </a:r>
            <a:r>
              <a:rPr lang="zh-CN" altLang="zh-CN" sz="2000" dirty="0">
                <a:latin typeface="+mn-ea"/>
                <a:ea typeface="+mn-ea"/>
              </a:rPr>
              <a:t>，弧指向的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节点</a:t>
            </a:r>
            <a:r>
              <a:rPr lang="zh-CN" altLang="zh-CN" sz="2000" dirty="0">
                <a:latin typeface="+mn-ea"/>
                <a:ea typeface="+mn-ea"/>
              </a:rPr>
              <a:t>表示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属性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的值</a:t>
            </a:r>
            <a:r>
              <a:rPr lang="zh-CN" altLang="zh-CN" sz="2000" dirty="0">
                <a:latin typeface="+mn-ea"/>
                <a:ea typeface="+mn-ea"/>
              </a:rPr>
              <a:t>。</a:t>
            </a:r>
          </a:p>
          <a:p>
            <a:pPr>
              <a:lnSpc>
                <a:spcPts val="3200"/>
              </a:lnSpc>
            </a:pPr>
            <a:endParaRPr lang="zh-CN" altLang="en-US" sz="2000" dirty="0">
              <a:latin typeface="+mn-ea"/>
              <a:ea typeface="+mn-ea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378302"/>
              </p:ext>
            </p:extLst>
          </p:nvPr>
        </p:nvGraphicFramePr>
        <p:xfrm>
          <a:off x="683568" y="1916832"/>
          <a:ext cx="7848872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r:id="rId3" imgW="5077968" imgH="1990344" progId="Visio.Drawing.6">
                  <p:embed/>
                </p:oleObj>
              </mc:Choice>
              <mc:Fallback>
                <p:oleObj r:id="rId3" imgW="5077968" imgH="19903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916832"/>
                        <a:ext cx="7848872" cy="3528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115616" y="1963082"/>
            <a:ext cx="7026141" cy="3843642"/>
            <a:chOff x="1115616" y="1963082"/>
            <a:chExt cx="7026141" cy="3843642"/>
          </a:xfrm>
        </p:grpSpPr>
        <p:grpSp>
          <p:nvGrpSpPr>
            <p:cNvPr id="3" name="组合 2"/>
            <p:cNvGrpSpPr/>
            <p:nvPr/>
          </p:nvGrpSpPr>
          <p:grpSpPr>
            <a:xfrm>
              <a:off x="1115616" y="2976460"/>
              <a:ext cx="7026141" cy="2830264"/>
              <a:chOff x="1115616" y="2976460"/>
              <a:chExt cx="7026141" cy="2830264"/>
            </a:xfrm>
          </p:grpSpPr>
          <p:sp>
            <p:nvSpPr>
              <p:cNvPr id="2" name="矩形 1"/>
              <p:cNvSpPr/>
              <p:nvPr/>
            </p:nvSpPr>
            <p:spPr bwMode="auto">
              <a:xfrm>
                <a:off x="2419373" y="2976460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属性</a:t>
                </a:r>
              </a:p>
            </p:txBody>
          </p:sp>
          <p:sp>
            <p:nvSpPr>
              <p:cNvPr id="6" name="矩形 5"/>
              <p:cNvSpPr/>
              <p:nvPr/>
            </p:nvSpPr>
            <p:spPr bwMode="auto">
              <a:xfrm>
                <a:off x="6084168" y="2976460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属性</a:t>
                </a:r>
              </a:p>
            </p:txBody>
          </p:sp>
          <p:sp>
            <p:nvSpPr>
              <p:cNvPr id="7" name="矩形 6"/>
              <p:cNvSpPr/>
              <p:nvPr/>
            </p:nvSpPr>
            <p:spPr bwMode="auto">
              <a:xfrm>
                <a:off x="3203848" y="3861048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属性</a:t>
                </a:r>
              </a:p>
            </p:txBody>
          </p:sp>
          <p:sp>
            <p:nvSpPr>
              <p:cNvPr id="8" name="矩形 7"/>
              <p:cNvSpPr/>
              <p:nvPr/>
            </p:nvSpPr>
            <p:spPr bwMode="auto">
              <a:xfrm>
                <a:off x="5508104" y="3861048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属性</a:t>
                </a:r>
              </a:p>
            </p:txBody>
          </p:sp>
          <p:sp>
            <p:nvSpPr>
              <p:cNvPr id="9" name="矩形 8"/>
              <p:cNvSpPr/>
              <p:nvPr/>
            </p:nvSpPr>
            <p:spPr bwMode="auto">
              <a:xfrm>
                <a:off x="4932040" y="3157352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个体</a:t>
                </a:r>
              </a:p>
            </p:txBody>
          </p:sp>
          <p:sp>
            <p:nvSpPr>
              <p:cNvPr id="10" name="矩形 9"/>
              <p:cNvSpPr/>
              <p:nvPr/>
            </p:nvSpPr>
            <p:spPr bwMode="auto">
              <a:xfrm>
                <a:off x="1115616" y="5446684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值</a:t>
                </a:r>
              </a:p>
            </p:txBody>
          </p:sp>
          <p:sp>
            <p:nvSpPr>
              <p:cNvPr id="11" name="矩形 10"/>
              <p:cNvSpPr/>
              <p:nvPr/>
            </p:nvSpPr>
            <p:spPr bwMode="auto">
              <a:xfrm>
                <a:off x="2933242" y="5446684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值</a:t>
                </a:r>
              </a:p>
            </p:txBody>
          </p:sp>
          <p:sp>
            <p:nvSpPr>
              <p:cNvPr id="12" name="矩形 11"/>
              <p:cNvSpPr/>
              <p:nvPr/>
            </p:nvSpPr>
            <p:spPr bwMode="auto">
              <a:xfrm>
                <a:off x="5027987" y="5445224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值</a:t>
                </a:r>
              </a:p>
            </p:txBody>
          </p:sp>
          <p:sp>
            <p:nvSpPr>
              <p:cNvPr id="13" name="矩形 12"/>
              <p:cNvSpPr/>
              <p:nvPr/>
            </p:nvSpPr>
            <p:spPr bwMode="auto">
              <a:xfrm>
                <a:off x="7565693" y="5445224"/>
                <a:ext cx="57606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Verdana" panose="020B0604030504040204" pitchFamily="34" charset="0"/>
                    <a:ea typeface="宋体" panose="02010600030101010101" pitchFamily="2" charset="-122"/>
                  </a:rPr>
                  <a:t>值</a:t>
                </a:r>
              </a:p>
            </p:txBody>
          </p:sp>
        </p:grpSp>
        <p:sp>
          <p:nvSpPr>
            <p:cNvPr id="14" name="矩形 13"/>
            <p:cNvSpPr/>
            <p:nvPr/>
          </p:nvSpPr>
          <p:spPr bwMode="auto">
            <a:xfrm>
              <a:off x="5030296" y="1963082"/>
              <a:ext cx="576064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rPr>
                <a:t>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03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30514" y="1844824"/>
            <a:ext cx="6965822" cy="87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lvl="2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一个概念可由另一个概念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，两者之间存在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因果关系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lvl="2" indent="-265113"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常用推论关系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Fetch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89290" y="3041801"/>
            <a:ext cx="6319014" cy="1323303"/>
            <a:chOff x="955919" y="3689873"/>
            <a:chExt cx="6319014" cy="1323303"/>
          </a:xfrm>
        </p:grpSpPr>
        <p:sp>
          <p:nvSpPr>
            <p:cNvPr id="5" name="矩形 4"/>
            <p:cNvSpPr/>
            <p:nvPr/>
          </p:nvSpPr>
          <p:spPr>
            <a:xfrm>
              <a:off x="955919" y="3689873"/>
              <a:ext cx="2736304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饥饿推出需要进食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5996" y="4414481"/>
              <a:ext cx="3928937" cy="598695"/>
            </a:xfrm>
            <a:prstGeom prst="rect">
              <a:avLst/>
            </a:prstGeom>
          </p:spPr>
        </p:pic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29666" y="1152086"/>
            <a:ext cx="1638078" cy="341934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⑷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、推论关系</a:t>
            </a:r>
          </a:p>
        </p:txBody>
      </p:sp>
    </p:spTree>
    <p:extLst>
      <p:ext uri="{BB962C8B-B14F-4D97-AF65-F5344CB8AC3E}">
        <p14:creationId xmlns:p14="http://schemas.microsoft.com/office/powerpoint/2010/main" val="231762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43393" y="1831176"/>
            <a:ext cx="7948176" cy="109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lvl="2" indent="-265113" eaLnBrk="1" hangingPunct="1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不同事物在形状、内容等方面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相似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\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lvl="2" indent="-265113" eaLnBrk="1" hangingPunct="1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常用相近关系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Similar-to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（相似）、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Near-to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（接近）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16449" y="3163807"/>
            <a:ext cx="5571775" cy="1184555"/>
            <a:chOff x="977812" y="3717032"/>
            <a:chExt cx="5571775" cy="1184555"/>
          </a:xfrm>
        </p:grpSpPr>
        <p:sp>
          <p:nvSpPr>
            <p:cNvPr id="5" name="矩形 4"/>
            <p:cNvSpPr/>
            <p:nvPr/>
          </p:nvSpPr>
          <p:spPr>
            <a:xfrm>
              <a:off x="977812" y="3717032"/>
              <a:ext cx="2016224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猫和虎相似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100" y="4270257"/>
              <a:ext cx="3278487" cy="631330"/>
            </a:xfrm>
            <a:prstGeom prst="rect">
              <a:avLst/>
            </a:prstGeom>
          </p:spPr>
        </p:pic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56409" y="1182293"/>
            <a:ext cx="1611335" cy="302491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⑸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、相近关系</a:t>
            </a:r>
          </a:p>
        </p:txBody>
      </p:sp>
    </p:spTree>
    <p:extLst>
      <p:ext uri="{BB962C8B-B14F-4D97-AF65-F5344CB8AC3E}">
        <p14:creationId xmlns:p14="http://schemas.microsoft.com/office/powerpoint/2010/main" val="325156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56272" y="1759168"/>
            <a:ext cx="7876168" cy="1813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lvl="2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表示不同事物之间在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位置方面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的相互关系。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lvl="2" indent="-265113"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常用方位关系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Located-on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（在上）、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Located-under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（在下）、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Located-inside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（在内）、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Located-outside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（在外）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2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Located-at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（位于某处）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028343" y="3742790"/>
            <a:ext cx="5787022" cy="1198378"/>
            <a:chOff x="1205730" y="4371201"/>
            <a:chExt cx="5787022" cy="1198378"/>
          </a:xfrm>
        </p:grpSpPr>
        <p:sp>
          <p:nvSpPr>
            <p:cNvPr id="3" name="矩形 2"/>
            <p:cNvSpPr/>
            <p:nvPr/>
          </p:nvSpPr>
          <p:spPr>
            <a:xfrm>
              <a:off x="1205730" y="4371201"/>
              <a:ext cx="2016224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书在桌子上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864" y="4797152"/>
              <a:ext cx="3644888" cy="772427"/>
            </a:xfrm>
            <a:prstGeom prst="rect">
              <a:avLst/>
            </a:prstGeom>
          </p:spPr>
        </p:pic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56409" y="1181943"/>
            <a:ext cx="1611335" cy="313957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⑹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、方位关系</a:t>
            </a:r>
          </a:p>
        </p:txBody>
      </p:sp>
    </p:spTree>
    <p:extLst>
      <p:ext uri="{BB962C8B-B14F-4D97-AF65-F5344CB8AC3E}">
        <p14:creationId xmlns:p14="http://schemas.microsoft.com/office/powerpoint/2010/main" val="383699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56272" y="1759168"/>
            <a:ext cx="4635808" cy="949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lvl="2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表示不同事件在时间方面的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先后次序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lvl="2" indent="-265113" eaLnBrk="1" hangingPunct="1">
              <a:lnSpc>
                <a:spcPct val="150000"/>
              </a:lnSpc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常用时间关系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Before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After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17850" y="2924944"/>
            <a:ext cx="6364000" cy="1302575"/>
            <a:chOff x="1160328" y="3429000"/>
            <a:chExt cx="6364000" cy="1302575"/>
          </a:xfrm>
        </p:grpSpPr>
        <p:sp>
          <p:nvSpPr>
            <p:cNvPr id="5" name="矩形 4"/>
            <p:cNvSpPr/>
            <p:nvPr/>
          </p:nvSpPr>
          <p:spPr>
            <a:xfrm>
              <a:off x="1160328" y="3429000"/>
              <a:ext cx="4032448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图书馆开放后才能供读者阅览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0422" y="3998967"/>
              <a:ext cx="3313906" cy="732608"/>
            </a:xfrm>
            <a:prstGeom prst="rect">
              <a:avLst/>
            </a:prstGeom>
          </p:spPr>
        </p:pic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990" y="1116925"/>
            <a:ext cx="1602282" cy="367859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⑺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、时间关系</a:t>
            </a:r>
          </a:p>
        </p:txBody>
      </p:sp>
    </p:spTree>
    <p:extLst>
      <p:ext uri="{BB962C8B-B14F-4D97-AF65-F5344CB8AC3E}">
        <p14:creationId xmlns:p14="http://schemas.microsoft.com/office/powerpoint/2010/main" val="157636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56272" y="1759168"/>
            <a:ext cx="7948176" cy="87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5113" lvl="2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一对多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的联系，</a:t>
            </a:r>
            <a:r>
              <a:rPr lang="zh-CN" altLang="en-US" sz="2000" u="wavyHeavy" dirty="0">
                <a:latin typeface="楷体" panose="02010609060101010101" pitchFamily="49" charset="-122"/>
                <a:ea typeface="楷体" panose="02010609060101010101" pitchFamily="49" charset="-122"/>
              </a:rPr>
              <a:t>联系的节点间</a:t>
            </a:r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不具有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属性继承性。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65113" lvl="2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常用构成关系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Composed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（组成、构成）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98759" y="2889148"/>
            <a:ext cx="7138940" cy="2340051"/>
            <a:chOff x="1160328" y="3429000"/>
            <a:chExt cx="7138940" cy="2340051"/>
          </a:xfrm>
        </p:grpSpPr>
        <p:sp>
          <p:nvSpPr>
            <p:cNvPr id="5" name="矩形 4"/>
            <p:cNvSpPr/>
            <p:nvPr/>
          </p:nvSpPr>
          <p:spPr>
            <a:xfrm>
              <a:off x="1160328" y="3429000"/>
              <a:ext cx="4275768" cy="353943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整数由正整数、负整数和零组成</a:t>
              </a: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5895" y="4029798"/>
              <a:ext cx="4663373" cy="1739253"/>
            </a:xfrm>
            <a:prstGeom prst="rect">
              <a:avLst/>
            </a:prstGeom>
          </p:spPr>
        </p:pic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65279" y="1144450"/>
            <a:ext cx="1593229" cy="358806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⑻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、构成关系</a:t>
            </a:r>
          </a:p>
        </p:txBody>
      </p:sp>
    </p:spTree>
    <p:extLst>
      <p:ext uri="{BB962C8B-B14F-4D97-AF65-F5344CB8AC3E}">
        <p14:creationId xmlns:p14="http://schemas.microsoft.com/office/powerpoint/2010/main" val="155541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11560" y="1772816"/>
            <a:ext cx="7848872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语义网络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具有</a:t>
            </a:r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表达谓词公式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能力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既能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表达</a:t>
            </a:r>
            <a:r>
              <a:rPr lang="zh-CN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基本命题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，还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表达</a:t>
            </a:r>
            <a:r>
              <a:rPr lang="zh-CN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命题之间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∧</a:t>
            </a:r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与、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∨</a:t>
            </a:r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¬</a:t>
            </a:r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→</a:t>
            </a:r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蕴含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”关系。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56409" y="1117388"/>
            <a:ext cx="3627559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、连接词在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语义网络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中的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26985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38303" y="1803801"/>
            <a:ext cx="7844934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引入“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与结点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合取关系网络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zh-CN" altLang="zh-CN" sz="2000" u="wavyHeavy" dirty="0">
                <a:latin typeface="楷体" panose="02010609060101010101" pitchFamily="49" charset="-122"/>
                <a:ea typeface="楷体" panose="02010609060101010101" pitchFamily="49" charset="-122"/>
              </a:rPr>
              <a:t>与结点</a:t>
            </a:r>
            <a:r>
              <a:rPr lang="zh-CN" altLang="zh-CN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引出的弧</a:t>
            </a:r>
            <a:r>
              <a:rPr lang="en-US" altLang="zh-CN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边</a:t>
            </a:r>
            <a:r>
              <a:rPr lang="en-US" altLang="zh-CN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构成</a:t>
            </a:r>
            <a:r>
              <a:rPr lang="zh-CN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多元关系网络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632376" y="1197830"/>
            <a:ext cx="113443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zh-CN" sz="2000" dirty="0">
                <a:latin typeface="+mn-ea"/>
                <a:ea typeface="+mn-ea"/>
              </a:rPr>
              <a:t>⑴、合取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515" y="3284984"/>
            <a:ext cx="6548790" cy="273630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16371" y="2603254"/>
            <a:ext cx="7844934" cy="465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give(John, Mary,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战争与和平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read(Mary,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战争与和平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8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29666" y="1745657"/>
            <a:ext cx="4968552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通过引入“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构成多元关系网络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9301" y="1141957"/>
            <a:ext cx="1115916" cy="353943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r>
              <a:rPr lang="zh-CN" altLang="zh-CN" sz="2000" dirty="0">
                <a:latin typeface="+mn-ea"/>
                <a:ea typeface="+mn-ea"/>
              </a:rPr>
              <a:t>⑵、</a:t>
            </a:r>
            <a:r>
              <a:rPr lang="zh-CN" altLang="en-US" sz="2000" dirty="0">
                <a:latin typeface="+mn-ea"/>
                <a:ea typeface="+mn-ea"/>
              </a:rPr>
              <a:t>析取</a:t>
            </a:r>
            <a:endParaRPr lang="en-US" altLang="zh-CN" sz="2000" dirty="0"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99592" y="2315483"/>
            <a:ext cx="7704856" cy="3777813"/>
            <a:chOff x="827585" y="2243475"/>
            <a:chExt cx="7704856" cy="377781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85" y="2780928"/>
              <a:ext cx="7704856" cy="3240360"/>
            </a:xfrm>
            <a:prstGeom prst="rect">
              <a:avLst/>
            </a:prstGeom>
          </p:spPr>
        </p:pic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899593" y="2243475"/>
              <a:ext cx="5328592" cy="3896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lvl="2" indent="0"/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John is a programmer or Mary is a lawyer</a:t>
              </a:r>
              <a:endPara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907704" y="741847"/>
            <a:ext cx="68407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indent="0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Occupation(John, programmer)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Occupation(Mary, lawyer)</a:t>
            </a:r>
          </a:p>
        </p:txBody>
      </p:sp>
    </p:spTree>
    <p:extLst>
      <p:ext uri="{BB962C8B-B14F-4D97-AF65-F5344CB8AC3E}">
        <p14:creationId xmlns:p14="http://schemas.microsoft.com/office/powerpoint/2010/main" val="156758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11560" y="1731872"/>
            <a:ext cx="7992888" cy="1409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ts val="3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对基本联系的否定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直接采用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¬ISA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¬AKO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¬part-of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”的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有向弧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标注。一般情况下，需引入“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非结点</a:t>
            </a: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”表示。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¬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give(John, Mary, “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战争与和平”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read(Mary, “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战争与和平”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zh-CN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284984"/>
            <a:ext cx="6134062" cy="27363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7107" y="1124744"/>
            <a:ext cx="1179287" cy="353943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⑶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否定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53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11560" y="1191806"/>
            <a:ext cx="111577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/>
              <a:t>⑷</a:t>
            </a:r>
            <a:r>
              <a:rPr lang="zh-CN" altLang="zh-CN" sz="2000" dirty="0"/>
              <a:t>、</a:t>
            </a:r>
            <a:r>
              <a:rPr lang="zh-CN" altLang="en-US" sz="2000" dirty="0"/>
              <a:t>蕴含</a:t>
            </a:r>
            <a:endParaRPr lang="en-US" altLang="zh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>
                <a:spLocks noChangeArrowheads="1"/>
              </p:cNvSpPr>
              <p:nvPr/>
            </p:nvSpPr>
            <p:spPr bwMode="auto">
              <a:xfrm>
                <a:off x="611561" y="1731872"/>
                <a:ext cx="6508158" cy="1379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68288" indent="-268288">
                  <a:lnSpc>
                    <a:spcPts val="2700"/>
                  </a:lnSpc>
                  <a:spcAft>
                    <a:spcPts val="0"/>
                  </a:spcAft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蕴含关系结点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:r>
                  <a:rPr lang="zh-CN" altLang="zh-CN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规则中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前提条件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结论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之间的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因果联系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68288" indent="-268288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从蕴含结点出发，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一条弧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指向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规则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前提条件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ANTE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700"/>
                  </a:lnSpc>
                  <a:buClr>
                    <a:srgbClr val="FF0000"/>
                  </a:buClr>
                </a:pPr>
                <a:r>
                  <a:rPr lang="en-US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另一条弧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指向规则的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结论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CONSE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7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如：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规则“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车库起火，</a:t>
                </a:r>
                <a:r>
                  <a:rPr lang="zh-CN" altLang="zh-CN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zh-CN" altLang="zh-CN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沙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进行</a:t>
                </a:r>
                <a:r>
                  <a:rPr lang="zh-CN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灭火”</a:t>
                </a:r>
                <a:endParaRPr lang="zh-CN" altLang="zh-CN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1" y="1731872"/>
                <a:ext cx="6508158" cy="1379426"/>
              </a:xfrm>
              <a:prstGeom prst="rect">
                <a:avLst/>
              </a:prstGeom>
              <a:blipFill>
                <a:blip r:embed="rId2"/>
                <a:stretch>
                  <a:fillRect l="-2154" t="-4425" r="-1873" b="-66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356992"/>
            <a:ext cx="6669448" cy="273630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608605" y="3032956"/>
            <a:ext cx="5987731" cy="1072510"/>
            <a:chOff x="1608605" y="3032956"/>
            <a:chExt cx="5987731" cy="1072510"/>
          </a:xfrm>
        </p:grpSpPr>
        <p:grpSp>
          <p:nvGrpSpPr>
            <p:cNvPr id="3" name="组合 2"/>
            <p:cNvGrpSpPr/>
            <p:nvPr/>
          </p:nvGrpSpPr>
          <p:grpSpPr>
            <a:xfrm>
              <a:off x="4594304" y="3032956"/>
              <a:ext cx="3002032" cy="1072510"/>
              <a:chOff x="4594304" y="3032956"/>
              <a:chExt cx="3002032" cy="1072510"/>
            </a:xfrm>
          </p:grpSpPr>
          <p:sp>
            <p:nvSpPr>
              <p:cNvPr id="2" name="矩形 1"/>
              <p:cNvSpPr/>
              <p:nvPr/>
            </p:nvSpPr>
            <p:spPr bwMode="auto">
              <a:xfrm>
                <a:off x="4594304" y="3505005"/>
                <a:ext cx="432048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</a:rPr>
                  <a:t>①</a:t>
                </a:r>
                <a:endPara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 bwMode="auto">
              <a:xfrm>
                <a:off x="7164288" y="3032956"/>
                <a:ext cx="432048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</a:rPr>
                  <a:t>②</a:t>
                </a:r>
                <a:endPara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 bwMode="auto">
              <a:xfrm>
                <a:off x="6516216" y="3745426"/>
                <a:ext cx="432048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③</a:t>
                </a:r>
                <a:endPara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 bwMode="auto">
            <a:xfrm>
              <a:off x="1608605" y="3314362"/>
              <a:ext cx="432048" cy="36004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</a:rPr>
                <a:t>④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</p:grpSp>
      <p:sp>
        <p:nvSpPr>
          <p:cNvPr id="11" name="矩形 10"/>
          <p:cNvSpPr/>
          <p:nvPr/>
        </p:nvSpPr>
        <p:spPr bwMode="auto">
          <a:xfrm>
            <a:off x="4067944" y="4427736"/>
            <a:ext cx="4032448" cy="350291"/>
          </a:xfrm>
          <a:prstGeom prst="rect">
            <a:avLst/>
          </a:pr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191447" y="3404476"/>
            <a:ext cx="504056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233388" y="853252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93112" y="4478676"/>
            <a:ext cx="86409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车库起火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093482" y="2760646"/>
            <a:ext cx="6871615" cy="1470064"/>
            <a:chOff x="1093482" y="2760646"/>
            <a:chExt cx="6871615" cy="1470064"/>
          </a:xfrm>
        </p:grpSpPr>
        <p:sp>
          <p:nvSpPr>
            <p:cNvPr id="15" name="矩形 14"/>
            <p:cNvSpPr/>
            <p:nvPr/>
          </p:nvSpPr>
          <p:spPr bwMode="auto">
            <a:xfrm>
              <a:off x="1093482" y="3572325"/>
              <a:ext cx="515123" cy="533141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Class</a:t>
              </a: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地址</a:t>
              </a: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857988" y="3164428"/>
              <a:ext cx="515123" cy="533141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Class</a:t>
              </a:r>
              <a:endParaRPr lang="en-US" altLang="zh-CN" sz="1600" dirty="0">
                <a:latin typeface="+mn-ea"/>
                <a:ea typeface="+mn-ea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事件</a:t>
              </a:r>
              <a:r>
                <a:rPr kumimoji="0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1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7449974" y="2760646"/>
              <a:ext cx="515123" cy="533141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Class</a:t>
              </a:r>
              <a:endParaRPr lang="en-US" altLang="zh-CN" sz="1600" dirty="0">
                <a:latin typeface="+mn-ea"/>
                <a:ea typeface="+mn-ea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状态</a:t>
              </a: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6258654" y="3697569"/>
              <a:ext cx="515123" cy="533141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Class</a:t>
              </a:r>
              <a:endParaRPr lang="en-US" altLang="zh-CN" sz="1600" dirty="0">
                <a:latin typeface="+mn-ea"/>
                <a:ea typeface="+mn-ea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事件</a:t>
              </a:r>
              <a:r>
                <a:rPr kumimoji="0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2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587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38120" y="1152269"/>
            <a:ext cx="3276572" cy="35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latin typeface="+mn-ea"/>
                <a:ea typeface="+mn-ea"/>
              </a:rPr>
              <a:t>语义网络的二元关系表示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606412" y="1700808"/>
                <a:ext cx="8177848" cy="2733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45720" rIns="91440" bIns="0" numCol="1" anchor="t" anchorCtr="0" compatLnSpc="1">
                <a:prstTxWarp prst="textNoShape">
                  <a:avLst/>
                </a:prstTxWarp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04925" indent="-39528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93863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93913" indent="-398463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1950" indent="-361950">
                  <a:lnSpc>
                    <a:spcPct val="150000"/>
                  </a:lnSpc>
                  <a:spcBef>
                    <a:spcPct val="10000"/>
                  </a:spcBef>
                  <a:spcAft>
                    <a:spcPts val="1200"/>
                  </a:spcAft>
                  <a:buClr>
                    <a:srgbClr val="FF0000"/>
                  </a:buClr>
                  <a:buSzPct val="80000"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+mn-ea"/>
                  </a:rPr>
                  <a:t>一元关系</a:t>
                </a:r>
              </a:p>
              <a:p>
                <a:pPr marL="803275" lvl="1" indent="-331788">
                  <a:lnSpc>
                    <a:spcPct val="15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用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一元谓词</a:t>
                </a: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表示的关系。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如：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Student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张三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endPara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3275" lvl="1" indent="-331788">
                  <a:lnSpc>
                    <a:spcPct val="15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描述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最简单、最直观</a:t>
                </a: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的事物</a:t>
                </a:r>
                <a:r>
                  <a:rPr lang="en-US" altLang="zh-CN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概念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常用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“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会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\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能</a:t>
                </a:r>
                <a:r>
                  <a:rPr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”等语义关系说明。</a:t>
                </a:r>
                <a:endPara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471487" lvl="1" indent="0">
                  <a:lnSpc>
                    <a:spcPct val="150000"/>
                  </a:lnSpc>
                  <a:spcBef>
                    <a:spcPct val="10000"/>
                  </a:spcBef>
                  <a:spcAft>
                    <a:spcPct val="10000"/>
                  </a:spcAft>
                  <a:buClr>
                    <a:srgbClr val="FF0000"/>
                  </a:buClr>
                  <a:buNone/>
                </a:pPr>
                <a:r>
                  <a:rPr lang="en-US" altLang="zh-CN" sz="2000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en-US" altLang="zh-CN" sz="1400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如：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Color(</a:t>
                </a:r>
                <a:r>
                  <a:rPr lang="en-US" altLang="zh-CN" sz="2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Snow</a:t>
                </a:r>
                <a:r>
                  <a:rPr lang="en-US" altLang="zh-CN" sz="2000" dirty="0" err="1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White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endPara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412" y="1700808"/>
                <a:ext cx="8177848" cy="2733416"/>
              </a:xfrm>
              <a:prstGeom prst="rect">
                <a:avLst/>
              </a:prstGeom>
              <a:blipFill>
                <a:blip r:embed="rId2"/>
                <a:stretch>
                  <a:fillRect l="-1416" b="-2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67736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331640" y="548680"/>
            <a:ext cx="6408711" cy="823404"/>
            <a:chOff x="1331640" y="2144927"/>
            <a:chExt cx="6408711" cy="823404"/>
          </a:xfrm>
        </p:grpSpPr>
        <p:sp>
          <p:nvSpPr>
            <p:cNvPr id="6" name="矩形 5"/>
            <p:cNvSpPr/>
            <p:nvPr/>
          </p:nvSpPr>
          <p:spPr>
            <a:xfrm>
              <a:off x="1331640" y="2348880"/>
              <a:ext cx="3060340" cy="415498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pPr eaLnBrk="1" hangingPunct="1">
                <a:buClr>
                  <a:srgbClr val="C00000"/>
                </a:buClr>
              </a:pP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（节点</a:t>
              </a: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，弧，节点</a:t>
              </a: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</a:t>
              </a:r>
              <a:endPara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4088" y="2144927"/>
              <a:ext cx="2376263" cy="823404"/>
            </a:xfrm>
            <a:prstGeom prst="rect">
              <a:avLst/>
            </a:prstGeom>
          </p:spPr>
        </p:pic>
      </p:grp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42624" y="1703696"/>
            <a:ext cx="6377648" cy="100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节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点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000" b="1" dirty="0">
                <a:latin typeface="+mn-ea"/>
              </a:rPr>
              <a:t>表示实体。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节点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000" b="1" dirty="0">
                <a:latin typeface="+mn-ea"/>
              </a:rPr>
              <a:t>表示实体的性质或属性等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弧：</a:t>
            </a:r>
            <a:r>
              <a:rPr lang="zh-CN" altLang="en-US" sz="2000" b="1" dirty="0">
                <a:latin typeface="+mn-ea"/>
              </a:rPr>
              <a:t>表示节点间的语义关系。（二元关系）</a:t>
            </a:r>
            <a:endParaRPr lang="en-US" altLang="zh-CN" sz="2000" b="1" dirty="0">
              <a:latin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42624" y="2852936"/>
            <a:ext cx="7457768" cy="2686092"/>
            <a:chOff x="642624" y="2903148"/>
            <a:chExt cx="7457768" cy="2686092"/>
          </a:xfrm>
        </p:grpSpPr>
        <p:sp>
          <p:nvSpPr>
            <p:cNvPr id="22" name="Rectangle 3"/>
            <p:cNvSpPr txBox="1">
              <a:spLocks noChangeArrowheads="1"/>
            </p:cNvSpPr>
            <p:nvPr/>
          </p:nvSpPr>
          <p:spPr bwMode="auto">
            <a:xfrm>
              <a:off x="642624" y="2903148"/>
              <a:ext cx="5081504" cy="508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45720" rIns="91440" bIns="0" numCol="1" anchor="t" anchorCtr="0" compatLnSpc="1">
              <a:prstTxWarp prst="textNoShape">
                <a:avLst/>
              </a:prstTxWarp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04925" indent="-395288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93863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913" indent="-398463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spcBef>
                  <a:spcPct val="10000"/>
                </a:spcBef>
                <a:spcAft>
                  <a:spcPct val="10000"/>
                </a:spcAft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如：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用语义网络表示“动物能运动、会吃” </a:t>
              </a: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339752" y="3632126"/>
              <a:ext cx="5760640" cy="1957114"/>
              <a:chOff x="1979711" y="3717032"/>
              <a:chExt cx="5760640" cy="1957114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4126" y="4918176"/>
                <a:ext cx="5340559" cy="755970"/>
              </a:xfrm>
              <a:prstGeom prst="rect">
                <a:avLst/>
              </a:prstGeom>
            </p:spPr>
          </p:pic>
          <p:grpSp>
            <p:nvGrpSpPr>
              <p:cNvPr id="28" name="组合 27"/>
              <p:cNvGrpSpPr/>
              <p:nvPr/>
            </p:nvGrpSpPr>
            <p:grpSpPr>
              <a:xfrm>
                <a:off x="1979711" y="3717032"/>
                <a:ext cx="5760640" cy="1124881"/>
                <a:chOff x="1979711" y="3717032"/>
                <a:chExt cx="5760640" cy="1124881"/>
              </a:xfrm>
            </p:grpSpPr>
            <p:pic>
              <p:nvPicPr>
                <p:cNvPr id="9" name="图片 8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79711" y="3717032"/>
                  <a:ext cx="5760640" cy="711700"/>
                </a:xfrm>
                <a:prstGeom prst="rect">
                  <a:avLst/>
                </a:prstGeom>
              </p:spPr>
            </p:pic>
            <p:grpSp>
              <p:nvGrpSpPr>
                <p:cNvPr id="27" name="组合 26"/>
                <p:cNvGrpSpPr/>
                <p:nvPr/>
              </p:nvGrpSpPr>
              <p:grpSpPr>
                <a:xfrm>
                  <a:off x="4211960" y="4428732"/>
                  <a:ext cx="1296144" cy="413181"/>
                  <a:chOff x="4211960" y="4493120"/>
                  <a:chExt cx="1296144" cy="413181"/>
                </a:xfrm>
              </p:grpSpPr>
              <p:cxnSp>
                <p:nvCxnSpPr>
                  <p:cNvPr id="20" name="直接箭头连接符 19"/>
                  <p:cNvCxnSpPr/>
                  <p:nvPr/>
                </p:nvCxnSpPr>
                <p:spPr bwMode="auto">
                  <a:xfrm>
                    <a:off x="4211960" y="4493120"/>
                    <a:ext cx="504056" cy="413181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5" name="直接箭头连接符 24"/>
                  <p:cNvCxnSpPr/>
                  <p:nvPr/>
                </p:nvCxnSpPr>
                <p:spPr bwMode="auto">
                  <a:xfrm flipH="1">
                    <a:off x="5076056" y="4493120"/>
                    <a:ext cx="432048" cy="413181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57039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20796" y="297592"/>
            <a:ext cx="4991253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如：</a:t>
            </a:r>
            <a:r>
              <a:rPr lang="zh-CN" altLang="en-US" sz="1800" dirty="0">
                <a:latin typeface="+mn-ea"/>
              </a:rPr>
              <a:t>语义网络表示</a:t>
            </a:r>
            <a:endParaRPr lang="en-US" altLang="zh-CN" sz="1800" dirty="0">
              <a:latin typeface="+mn-ea"/>
            </a:endParaRPr>
          </a:p>
          <a:p>
            <a:pPr marL="720725" lvl="1" indent="-187325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+mn-ea"/>
              </a:rPr>
              <a:t>动物能运动、会吃；</a:t>
            </a:r>
            <a:endParaRPr lang="en-US" altLang="zh-CN" sz="1800" dirty="0">
              <a:latin typeface="+mn-ea"/>
            </a:endParaRPr>
          </a:p>
          <a:p>
            <a:pPr marL="720725" lvl="1" indent="-187325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+mn-ea"/>
              </a:rPr>
              <a:t>鸟是一种动物，鸟有翅膀、会飞；</a:t>
            </a:r>
            <a:endParaRPr lang="en-US" altLang="zh-CN" sz="1800" dirty="0">
              <a:latin typeface="+mn-ea"/>
            </a:endParaRPr>
          </a:p>
          <a:p>
            <a:pPr marL="720725" lvl="1" indent="-187325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+mn-ea"/>
              </a:rPr>
              <a:t>鱼是一种动物，鱼生活在水中、会游泳。</a:t>
            </a:r>
            <a:endParaRPr lang="en-US" altLang="zh-CN" sz="1800" b="1" dirty="0">
              <a:latin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988840"/>
            <a:ext cx="6660628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9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56409" y="416666"/>
            <a:ext cx="3195511" cy="1049646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张三是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公司的经理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公司位于中关村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张三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28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岁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700808"/>
            <a:ext cx="7321288" cy="226968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834167" y="3789040"/>
            <a:ext cx="5546145" cy="1944216"/>
            <a:chOff x="1907704" y="3789040"/>
            <a:chExt cx="5546145" cy="194421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7704" y="4653136"/>
              <a:ext cx="5546145" cy="1080120"/>
            </a:xfrm>
            <a:prstGeom prst="rect">
              <a:avLst/>
            </a:prstGeom>
          </p:spPr>
        </p:pic>
        <p:cxnSp>
          <p:nvCxnSpPr>
            <p:cNvPr id="6" name="直接箭头连接符 5"/>
            <p:cNvCxnSpPr/>
            <p:nvPr/>
          </p:nvCxnSpPr>
          <p:spPr bwMode="auto">
            <a:xfrm>
              <a:off x="4357505" y="3789040"/>
              <a:ext cx="0" cy="72008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0011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38120" y="1144364"/>
            <a:ext cx="4068660" cy="323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变元和量词在语义网络中的表示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19831" y="1754344"/>
            <a:ext cx="5733897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存在量词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直接用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ISA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弧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全称量词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分块方法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25918" y="2278655"/>
            <a:ext cx="7002466" cy="3128592"/>
            <a:chOff x="1025918" y="2334071"/>
            <a:chExt cx="7002466" cy="3128592"/>
          </a:xfrm>
        </p:grpSpPr>
        <p:sp>
          <p:nvSpPr>
            <p:cNvPr id="2" name="矩形 1"/>
            <p:cNvSpPr/>
            <p:nvPr/>
          </p:nvSpPr>
          <p:spPr>
            <a:xfrm>
              <a:off x="1025918" y="2334071"/>
              <a:ext cx="4626202" cy="507831"/>
            </a:xfrm>
            <a:prstGeom prst="rect">
              <a:avLst/>
            </a:prstGeom>
          </p:spPr>
          <p:txBody>
            <a:bodyPr wrap="square" lIns="0" bIns="0">
              <a:spAutoFit/>
            </a:bodyPr>
            <a:lstStyle/>
            <a:p>
              <a:pPr marL="342900" indent="-342900">
                <a:lnSpc>
                  <a:spcPct val="150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0000FF"/>
                  </a:solidFill>
                  <a:latin typeface="+mn-ea"/>
                  <a:ea typeface="+mn-ea"/>
                </a:rPr>
                <a:t>存在量词</a:t>
              </a:r>
              <a:r>
                <a:rPr lang="zh-CN" altLang="zh-CN" sz="2000" dirty="0">
                  <a:solidFill>
                    <a:srgbClr val="0000FF"/>
                  </a:solidFill>
                  <a:latin typeface="+mn-ea"/>
                  <a:ea typeface="+mn-ea"/>
                </a:rPr>
                <a:t>：</a:t>
              </a:r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The dog bit the postman</a:t>
              </a:r>
              <a:endPara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5696" y="3196384"/>
              <a:ext cx="6192688" cy="22662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829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29250" y="1727550"/>
            <a:ext cx="7848872" cy="141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全称量词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分块方法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（复合）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若命题中包含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变量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量词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简单的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语义网络较难表示， 应采用“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网络分块化方法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”解决。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7356" y="3293933"/>
            <a:ext cx="7830766" cy="2367315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基本原理：</a:t>
            </a:r>
            <a:endParaRPr kumimoji="1"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20725" lvl="1" indent="-263525">
              <a:lnSpc>
                <a:spcPts val="3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表示一个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复杂命题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时，可分成</a:t>
            </a:r>
            <a:r>
              <a:rPr kumimoji="1"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若干子命题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每个子命题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用一个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小语义网络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子空间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复杂命题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可视为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大空间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20725" lvl="1" indent="-263525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子空间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不仅可视为大空间中的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，而且还可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层层嵌套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，也能用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弧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相互连接。（</a:t>
            </a:r>
            <a:r>
              <a:rPr kumimoji="1"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复合网络，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表达能力较强）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83568" y="476672"/>
            <a:ext cx="4248472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Every dog has bitten a postman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960614"/>
            <a:ext cx="53103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x)DOG(x)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y)[POSTMAN(y)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BITE(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04864"/>
            <a:ext cx="774525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6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46624" y="1189396"/>
            <a:ext cx="4680520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如：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每个学生都学习了一门程序设计语言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437112"/>
            <a:ext cx="6696744" cy="1698171"/>
          </a:xfrm>
          <a:prstGeom prst="rect">
            <a:avLst/>
          </a:prstGeom>
        </p:spPr>
      </p:pic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700944" y="1772816"/>
            <a:ext cx="7903504" cy="2469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bIns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GS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概念结点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全体命题的集合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g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实例结点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，代表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GS 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中的一个具体例子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。（如本例所述事实）</a:t>
            </a:r>
          </a:p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s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全称变量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每一个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所有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学生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r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存在变量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某一次学习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p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存在变量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某一门程序设计语言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F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弧“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代表的命题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。（子空间及其具体形式）</a:t>
            </a:r>
          </a:p>
          <a:p>
            <a:pPr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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弧“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”，所代表的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全称变量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en-US" altLang="zh-CN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多个全称变量有多个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弧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8050948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55860" y="1124744"/>
            <a:ext cx="4968552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如：</a:t>
            </a:r>
            <a:r>
              <a:rPr lang="zh-CN" altLang="en-US" sz="2000" dirty="0">
                <a:latin typeface="+mn-ea"/>
                <a:ea typeface="+mn-ea"/>
              </a:rPr>
              <a:t>每个学生都学习了所有的程序设计课程</a:t>
            </a:r>
            <a:endParaRPr lang="en-US" altLang="zh-CN" sz="2000" dirty="0">
              <a:latin typeface="+mn-ea"/>
              <a:ea typeface="+mn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988840"/>
            <a:ext cx="7384695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0093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55860" y="1124744"/>
            <a:ext cx="86409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结论：</a:t>
            </a:r>
          </a:p>
        </p:txBody>
      </p:sp>
      <p:sp>
        <p:nvSpPr>
          <p:cNvPr id="6" name="矩形 5"/>
          <p:cNvSpPr/>
          <p:nvPr/>
        </p:nvSpPr>
        <p:spPr>
          <a:xfrm>
            <a:off x="629250" y="1763580"/>
            <a:ext cx="7759174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优点：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直观、清晰</a:t>
            </a:r>
            <a:endParaRPr lang="en-US" altLang="zh-CN" sz="20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缺点</a:t>
            </a:r>
            <a:r>
              <a:rPr lang="zh-CN" altLang="en-US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表达范围有限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：若</a:t>
            </a:r>
            <a:r>
              <a:rPr lang="zh-CN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结点</a:t>
            </a:r>
            <a:r>
              <a:rPr lang="zh-CN" altLang="en-US" kern="1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过多</a:t>
            </a:r>
            <a:r>
              <a:rPr lang="zh-CN" altLang="zh-CN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，且各结点之间又有联系，则这个网络</a:t>
            </a:r>
            <a:r>
              <a:rPr lang="zh-CN" altLang="en-US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zh-CN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很难</a:t>
            </a:r>
            <a:r>
              <a:rPr lang="zh-CN" altLang="en-US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表示清楚</a:t>
            </a:r>
            <a:r>
              <a:rPr lang="zh-CN" altLang="zh-CN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7988112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37361" y="1091351"/>
            <a:ext cx="7102992" cy="367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2.7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知识图谱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Knowledge Graph</a:t>
            </a: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Mapping Knowledge Domain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1181" y="1844824"/>
            <a:ext cx="8062520" cy="34624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年由谷歌提出，</a:t>
            </a:r>
            <a:r>
              <a:rPr lang="zh-CN" altLang="en-US" dirty="0">
                <a:latin typeface="+mn-ea"/>
                <a:ea typeface="+mn-ea"/>
              </a:rPr>
              <a:t>将数学、图形学、信息可视化</a:t>
            </a:r>
            <a:r>
              <a:rPr lang="en-US" altLang="zh-CN" dirty="0">
                <a:latin typeface="+mn-ea"/>
                <a:ea typeface="+mn-ea"/>
              </a:rPr>
              <a:t>…</a:t>
            </a:r>
            <a:r>
              <a:rPr lang="zh-CN" altLang="en-US" dirty="0">
                <a:latin typeface="+mn-ea"/>
                <a:ea typeface="+mn-ea"/>
              </a:rPr>
              <a:t>学科的理论方法，与计量学引文分析、共现分析结合。</a:t>
            </a:r>
            <a:endParaRPr lang="en-US" altLang="zh-CN" dirty="0">
              <a:latin typeface="+mn-ea"/>
              <a:ea typeface="+mn-ea"/>
            </a:endParaRPr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依据：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构成世界的是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实体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，而非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strings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实体及其相互之间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关系图</a:t>
            </a:r>
            <a:r>
              <a:rPr lang="zh-CN" altLang="en-US" dirty="0">
                <a:latin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资源</a:t>
            </a:r>
            <a:r>
              <a:rPr lang="zh-CN" altLang="en-US" dirty="0">
                <a:latin typeface="+mn-ea"/>
              </a:rPr>
              <a:t>的通用描述方式。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本质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知识库、语义网络</a:t>
            </a:r>
            <a:endParaRPr lang="en-US" altLang="zh-CN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形式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图数据库</a:t>
            </a:r>
            <a:r>
              <a:rPr lang="zh-CN" altLang="en-US" dirty="0">
                <a:latin typeface="+mn-ea"/>
                <a:ea typeface="+mn-ea"/>
              </a:rPr>
              <a:t>（基于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图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zh-CN" altLang="en-US" u="wavyDbl" dirty="0">
                <a:latin typeface="+mn-ea"/>
                <a:ea typeface="+mn-ea"/>
              </a:rPr>
              <a:t>数据结构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u="wavyDbl" dirty="0">
                <a:latin typeface="+mn-ea"/>
                <a:ea typeface="+mn-ea"/>
              </a:rPr>
              <a:t>存储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zh-CN" altLang="en-US" u="wavyDbl" dirty="0">
                <a:latin typeface="+mn-ea"/>
                <a:ea typeface="+mn-ea"/>
              </a:rPr>
              <a:t>查询</a:t>
            </a:r>
            <a:r>
              <a:rPr lang="zh-CN" altLang="en-US" dirty="0">
                <a:latin typeface="+mn-ea"/>
                <a:ea typeface="+mn-ea"/>
              </a:rPr>
              <a:t>图数据的数据库）</a:t>
            </a:r>
            <a:endParaRPr lang="en-US" altLang="zh-CN" dirty="0">
              <a:latin typeface="+mn-ea"/>
              <a:ea typeface="+mn-ea"/>
            </a:endParaRPr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网络多源数据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知识库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，增强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语义搜索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，提升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搜索质量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。用户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不仅能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得到搜索的网页链接，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看到与查询关键词有关的、更加智能化的答案。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12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474792"/>
            <a:ext cx="8136904" cy="10387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知识</a:t>
            </a:r>
            <a:r>
              <a:rPr lang="zh-CN" altLang="en-US" dirty="0">
                <a:latin typeface="+mn-ea"/>
                <a:ea typeface="+mn-ea"/>
              </a:rPr>
              <a:t>：可理解为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精炼的数据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285750" indent="-285750">
              <a:lnSpc>
                <a:spcPts val="2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知识图谱</a:t>
            </a:r>
            <a:r>
              <a:rPr lang="zh-CN" altLang="en-US" dirty="0">
                <a:latin typeface="+mn-ea"/>
                <a:ea typeface="+mn-ea"/>
              </a:rPr>
              <a:t>：对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知识的图形化表示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本质</a:t>
            </a:r>
            <a:r>
              <a:rPr lang="zh-CN" altLang="en-US" dirty="0">
                <a:latin typeface="+mn-ea"/>
                <a:ea typeface="+mn-ea"/>
              </a:rPr>
              <a:t>是一种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大规模语义网络</a:t>
            </a:r>
            <a:r>
              <a:rPr lang="zh-CN" altLang="en-US" dirty="0">
                <a:latin typeface="+mn-ea"/>
                <a:ea typeface="+mn-ea"/>
              </a:rPr>
              <a:t>。富含</a:t>
            </a:r>
            <a:r>
              <a:rPr lang="zh-CN" altLang="en-US" u="wavyDbl" dirty="0">
                <a:latin typeface="+mn-ea"/>
                <a:ea typeface="+mn-ea"/>
              </a:rPr>
              <a:t>实体</a:t>
            </a:r>
            <a:r>
              <a:rPr lang="zh-CN" altLang="en-US" dirty="0">
                <a:latin typeface="+mn-ea"/>
                <a:ea typeface="+mn-ea"/>
              </a:rPr>
              <a:t>、 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ts val="2500"/>
              </a:lnSpc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</a:rPr>
              <a:t>        </a:t>
            </a:r>
            <a:r>
              <a:rPr lang="en-US" altLang="zh-CN" sz="1600" dirty="0">
                <a:latin typeface="+mn-ea"/>
                <a:ea typeface="+mn-ea"/>
              </a:rPr>
              <a:t>     </a:t>
            </a:r>
            <a:r>
              <a:rPr lang="zh-CN" altLang="en-US" u="wavyDbl" dirty="0">
                <a:latin typeface="+mn-ea"/>
                <a:ea typeface="+mn-ea"/>
              </a:rPr>
              <a:t>概念</a:t>
            </a:r>
            <a:r>
              <a:rPr lang="zh-CN" altLang="en-US" dirty="0">
                <a:latin typeface="+mn-ea"/>
                <a:ea typeface="+mn-ea"/>
              </a:rPr>
              <a:t>及其之间的</a:t>
            </a:r>
            <a:r>
              <a:rPr lang="zh-CN" altLang="en-US" u="wavyDbl" dirty="0">
                <a:latin typeface="+mn-ea"/>
                <a:ea typeface="+mn-ea"/>
              </a:rPr>
              <a:t>各种语义关系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39552" y="1916832"/>
            <a:ext cx="8037216" cy="3744416"/>
            <a:chOff x="539552" y="1916832"/>
            <a:chExt cx="8037216" cy="374441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2" y="2348880"/>
              <a:ext cx="8037216" cy="3312368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3358598" y="1916832"/>
              <a:ext cx="239912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2000" dirty="0">
                  <a:latin typeface="+mn-ea"/>
                  <a:ea typeface="+mn-ea"/>
                </a:rPr>
                <a:t>人工智能与知识图谱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70246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4013616" cy="2592288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630032" y="486262"/>
            <a:ext cx="4499560" cy="1011235"/>
          </a:xfrm>
        </p:spPr>
        <p:txBody>
          <a:bodyPr lIns="0" tIns="0" rIns="0" bIns="0">
            <a:noAutofit/>
          </a:bodyPr>
          <a:lstStyle/>
          <a:p>
            <a:pPr marL="268288" indent="-268288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b="1" dirty="0">
                <a:latin typeface="+mn-ea"/>
              </a:rPr>
              <a:t>本质上是一种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</a:rPr>
              <a:t>语义网络</a:t>
            </a:r>
            <a:endParaRPr lang="en-US" altLang="zh-CN" sz="1800" b="1" dirty="0">
              <a:solidFill>
                <a:srgbClr val="FF0000"/>
              </a:solidFill>
              <a:latin typeface="+mn-ea"/>
            </a:endParaRPr>
          </a:p>
          <a:p>
            <a:pPr indent="-201613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800" b="1" dirty="0">
                <a:solidFill>
                  <a:srgbClr val="FF0000"/>
                </a:solidFill>
                <a:latin typeface="+mn-ea"/>
              </a:rPr>
              <a:t>节点</a:t>
            </a:r>
            <a:r>
              <a:rPr lang="zh-CN" altLang="zh-CN" sz="1800" b="1" dirty="0">
                <a:latin typeface="+mn-ea"/>
              </a:rPr>
              <a:t>代表实体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zh-CN" sz="1800" b="1" dirty="0">
                <a:latin typeface="+mn-ea"/>
              </a:rPr>
              <a:t>或概念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pPr indent="-201613">
              <a:lnSpc>
                <a:spcPts val="2700"/>
              </a:lnSpc>
              <a:spcBef>
                <a:spcPts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800" b="1" dirty="0">
                <a:solidFill>
                  <a:srgbClr val="FF0000"/>
                </a:solidFill>
                <a:latin typeface="+mn-ea"/>
              </a:rPr>
              <a:t>边</a:t>
            </a:r>
            <a:r>
              <a:rPr lang="zh-CN" altLang="zh-CN" sz="1800" b="1" dirty="0">
                <a:latin typeface="+mn-ea"/>
              </a:rPr>
              <a:t>代表实体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zh-CN" sz="1800" b="1" dirty="0">
                <a:latin typeface="+mn-ea"/>
              </a:rPr>
              <a:t>概念之间的各种语义关系</a:t>
            </a:r>
            <a:endParaRPr lang="zh-CN" altLang="en-US" sz="1800" b="1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81160" y="486262"/>
            <a:ext cx="4401918" cy="4958962"/>
            <a:chOff x="4487266" y="486262"/>
            <a:chExt cx="4401918" cy="4958962"/>
          </a:xfrm>
        </p:grpSpPr>
        <p:pic>
          <p:nvPicPr>
            <p:cNvPr id="7" name="Picture 2" descr="C:\Users\xxx\Desktop\课件截图\截图44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7266" y="3284984"/>
              <a:ext cx="4401918" cy="216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8104" y="486262"/>
              <a:ext cx="3074895" cy="19442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8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988840"/>
            <a:ext cx="4017970" cy="339802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30" name="组合 29"/>
          <p:cNvGrpSpPr/>
          <p:nvPr/>
        </p:nvGrpSpPr>
        <p:grpSpPr>
          <a:xfrm>
            <a:off x="5131787" y="2852936"/>
            <a:ext cx="3096344" cy="2767724"/>
            <a:chOff x="5131787" y="2852936"/>
            <a:chExt cx="3096344" cy="2767724"/>
          </a:xfrm>
        </p:grpSpPr>
        <p:sp>
          <p:nvSpPr>
            <p:cNvPr id="7" name="文本框 98"/>
            <p:cNvSpPr txBox="1"/>
            <p:nvPr/>
          </p:nvSpPr>
          <p:spPr>
            <a:xfrm>
              <a:off x="5131787" y="4869160"/>
              <a:ext cx="3096344" cy="751500"/>
            </a:xfrm>
            <a:prstGeom prst="rect">
              <a:avLst/>
            </a:prstGeom>
            <a:noFill/>
            <a:ln w="6350">
              <a:solidFill>
                <a:srgbClr val="0000FF"/>
              </a:solidFill>
              <a:prstDash val="sysDash"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kern="100" dirty="0">
                  <a:effectLst/>
                  <a:latin typeface="Lucida Console"/>
                  <a:ea typeface="宋体"/>
                  <a:cs typeface="Times New Roman"/>
                </a:rPr>
                <a:t>{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  <a:p>
              <a:pPr algn="just">
                <a:spcAft>
                  <a:spcPts val="0"/>
                </a:spcAft>
              </a:pPr>
              <a:r>
                <a:rPr lang="zh-CN" sz="1600" b="1" kern="100" dirty="0">
                  <a:effectLst/>
                  <a:latin typeface="Lucida Console"/>
                  <a:ea typeface="宋体"/>
                  <a:cs typeface="Times New Roman"/>
                </a:rPr>
                <a:t>‘成立时间’：‘</a:t>
              </a:r>
              <a:r>
                <a:rPr lang="en-US" sz="1600" b="1" kern="100" dirty="0">
                  <a:solidFill>
                    <a:srgbClr val="333333"/>
                  </a:solidFill>
                  <a:effectLst/>
                  <a:latin typeface="Arial"/>
                  <a:ea typeface="宋体"/>
                  <a:cs typeface="Times New Roman"/>
                </a:rPr>
                <a:t>2000</a:t>
              </a:r>
              <a:r>
                <a:rPr lang="zh-CN" sz="1600" b="1" kern="100" dirty="0">
                  <a:solidFill>
                    <a:srgbClr val="333333"/>
                  </a:solidFill>
                  <a:effectLst/>
                  <a:latin typeface="Arial"/>
                  <a:ea typeface="宋体"/>
                  <a:cs typeface="Arial"/>
                </a:rPr>
                <a:t>年</a:t>
              </a:r>
              <a:r>
                <a:rPr lang="en-US" sz="1600" b="1" kern="100" dirty="0">
                  <a:solidFill>
                    <a:srgbClr val="333333"/>
                  </a:solidFill>
                  <a:effectLst/>
                  <a:latin typeface="Arial"/>
                  <a:ea typeface="宋体"/>
                  <a:cs typeface="Times New Roman"/>
                </a:rPr>
                <a:t>1</a:t>
              </a:r>
              <a:r>
                <a:rPr lang="zh-CN" sz="1600" b="1" kern="100" dirty="0">
                  <a:solidFill>
                    <a:srgbClr val="333333"/>
                  </a:solidFill>
                  <a:effectLst/>
                  <a:latin typeface="Arial"/>
                  <a:ea typeface="宋体"/>
                  <a:cs typeface="Arial"/>
                </a:rPr>
                <a:t>月’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  <a:p>
              <a:pPr algn="just">
                <a:spcAft>
                  <a:spcPts val="0"/>
                </a:spcAft>
              </a:pPr>
              <a:r>
                <a:rPr lang="en-US" sz="1600" b="1" kern="100" dirty="0">
                  <a:effectLst/>
                  <a:latin typeface="Lucida Console"/>
                  <a:ea typeface="宋体"/>
                  <a:cs typeface="Times New Roman"/>
                </a:rPr>
                <a:t>}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</p:txBody>
        </p:sp>
        <p:sp>
          <p:nvSpPr>
            <p:cNvPr id="6" name="文本框 97"/>
            <p:cNvSpPr txBox="1"/>
            <p:nvPr/>
          </p:nvSpPr>
          <p:spPr>
            <a:xfrm>
              <a:off x="5943602" y="2852936"/>
              <a:ext cx="2284529" cy="1020177"/>
            </a:xfrm>
            <a:prstGeom prst="rect">
              <a:avLst/>
            </a:prstGeom>
            <a:noFill/>
            <a:ln w="6350">
              <a:solidFill>
                <a:srgbClr val="0000FF"/>
              </a:solidFill>
              <a:prstDash val="sysDash"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kern="100" dirty="0">
                  <a:effectLst/>
                  <a:latin typeface="Lucida Console"/>
                  <a:ea typeface="宋体"/>
                  <a:cs typeface="Times New Roman"/>
                </a:rPr>
                <a:t>{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  <a:p>
              <a:pPr algn="just">
                <a:spcAft>
                  <a:spcPts val="0"/>
                </a:spcAft>
              </a:pPr>
              <a:r>
                <a:rPr lang="zh-CN" sz="1600" b="1" kern="100" dirty="0">
                  <a:effectLst/>
                  <a:latin typeface="Lucida Console"/>
                  <a:ea typeface="宋体"/>
                  <a:cs typeface="Times New Roman"/>
                </a:rPr>
                <a:t>‘年龄’：‘</a:t>
              </a:r>
              <a:r>
                <a:rPr lang="en-US" sz="1600" b="1" kern="100" dirty="0">
                  <a:effectLst/>
                  <a:latin typeface="Lucida Console"/>
                  <a:ea typeface="宋体"/>
                  <a:cs typeface="Times New Roman"/>
                </a:rPr>
                <a:t>35</a:t>
              </a:r>
              <a:r>
                <a:rPr lang="zh-CN" sz="1600" b="1" kern="100" dirty="0">
                  <a:effectLst/>
                  <a:latin typeface="Lucida Console"/>
                  <a:ea typeface="宋体"/>
                  <a:cs typeface="Times New Roman"/>
                </a:rPr>
                <a:t>’，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  <a:p>
              <a:pPr algn="just">
                <a:spcAft>
                  <a:spcPts val="0"/>
                </a:spcAft>
              </a:pPr>
              <a:r>
                <a:rPr lang="zh-CN" sz="1600" b="1" kern="100" dirty="0">
                  <a:effectLst/>
                  <a:latin typeface="Lucida Console"/>
                  <a:ea typeface="宋体"/>
                  <a:cs typeface="Times New Roman"/>
                </a:rPr>
                <a:t>‘职位’：‘区域经理’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  <a:p>
              <a:pPr algn="just">
                <a:spcAft>
                  <a:spcPts val="0"/>
                </a:spcAft>
              </a:pPr>
              <a:r>
                <a:rPr lang="en-US" sz="1600" b="1" kern="100" dirty="0">
                  <a:effectLst/>
                  <a:latin typeface="Lucida Console"/>
                  <a:ea typeface="宋体"/>
                  <a:cs typeface="Times New Roman"/>
                </a:rPr>
                <a:t>}</a:t>
              </a:r>
              <a:endParaRPr lang="zh-CN" sz="1200" kern="100" dirty="0">
                <a:effectLst/>
                <a:latin typeface="Lucida Console"/>
                <a:ea typeface="宋体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16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602103760118&amp;di=68e3305ce5bf7b9b6ba774501022b81a&amp;imgtype=0&amp;src=http%3A%2F%2Fattachbak.dataguru.cn%2Fattachments%2Fportal%2F201709%2F29%2F164021zq3oa8sp48a84q0q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136904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06068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7"/>
          <p:cNvSpPr>
            <a:spLocks noGrp="1"/>
          </p:cNvSpPr>
          <p:nvPr>
            <p:ph idx="1"/>
          </p:nvPr>
        </p:nvSpPr>
        <p:spPr>
          <a:xfrm>
            <a:off x="608464" y="1844092"/>
            <a:ext cx="8004621" cy="2232980"/>
          </a:xfrm>
        </p:spPr>
        <p:txBody>
          <a:bodyPr lIns="0" tIns="0" rIns="0" bIns="0">
            <a:noAutofit/>
          </a:bodyPr>
          <a:lstStyle/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latin typeface="+mn-ea"/>
              </a:rPr>
              <a:t>科学知识图谱、知识域可视化、知识域映射地图。</a:t>
            </a:r>
            <a:endParaRPr lang="en-US" altLang="zh-CN" sz="2000" b="1" dirty="0">
              <a:latin typeface="+mn-ea"/>
            </a:endParaRPr>
          </a:p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latin typeface="+mn-ea"/>
              </a:rPr>
              <a:t>利用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可视化技术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描述</a:t>
            </a:r>
            <a:r>
              <a:rPr lang="zh-CN" altLang="en-US" sz="2000" b="1" dirty="0">
                <a:latin typeface="+mn-ea"/>
              </a:rPr>
              <a:t>知识及其载体，</a:t>
            </a:r>
            <a:r>
              <a:rPr lang="zh-CN" altLang="en-US" sz="2000" b="1" u="wavyHeavy" dirty="0">
                <a:latin typeface="+mn-ea"/>
              </a:rPr>
              <a:t>挖掘、分析、构建、绘制</a:t>
            </a:r>
            <a:r>
              <a:rPr lang="zh-CN" altLang="en-US" sz="2000" b="1" dirty="0">
                <a:latin typeface="+mn-ea"/>
              </a:rPr>
              <a:t>和</a:t>
            </a:r>
            <a:r>
              <a:rPr lang="zh-CN" altLang="en-US" sz="2000" b="1" u="wavyHeavy" dirty="0">
                <a:latin typeface="+mn-ea"/>
              </a:rPr>
              <a:t>显示</a:t>
            </a:r>
            <a:r>
              <a:rPr lang="zh-CN" altLang="en-US" sz="2000" b="1" dirty="0">
                <a:latin typeface="+mn-ea"/>
              </a:rPr>
              <a:t>知识及其相互关系。</a:t>
            </a:r>
            <a:endParaRPr lang="en-US" altLang="zh-CN" sz="2000" b="1" dirty="0">
              <a:latin typeface="+mn-ea"/>
            </a:endParaRPr>
          </a:p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原理：</a:t>
            </a:r>
            <a:r>
              <a:rPr lang="zh-CN" altLang="en-US" sz="2000" b="1" dirty="0">
                <a:latin typeface="+mn-ea"/>
              </a:rPr>
              <a:t>将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复杂的知识域</a:t>
            </a:r>
            <a:r>
              <a:rPr lang="zh-CN" altLang="en-US" sz="2000" b="1" dirty="0">
                <a:latin typeface="+mn-ea"/>
              </a:rPr>
              <a:t>，通过数据挖掘、信息处理、知识计量及图形绘制而显示出来，揭示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知识间的联系</a:t>
            </a:r>
            <a:r>
              <a:rPr lang="zh-CN" altLang="en-US" sz="2000" b="1" dirty="0">
                <a:latin typeface="+mn-ea"/>
              </a:rPr>
              <a:t>及其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动态发展规律</a:t>
            </a:r>
            <a:r>
              <a:rPr lang="zh-CN" altLang="en-US" sz="2000" b="1" dirty="0">
                <a:latin typeface="+mn-ea"/>
              </a:rPr>
              <a:t>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64703" y="1154002"/>
            <a:ext cx="532158" cy="32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5220072" y="1100614"/>
            <a:ext cx="3312368" cy="35922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→图形化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\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网络化的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知识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结构</a:t>
            </a:r>
          </a:p>
        </p:txBody>
      </p:sp>
      <p:sp>
        <p:nvSpPr>
          <p:cNvPr id="6" name="内容占位符 7"/>
          <p:cNvSpPr txBox="1">
            <a:spLocks/>
          </p:cNvSpPr>
          <p:nvPr/>
        </p:nvSpPr>
        <p:spPr bwMode="auto">
          <a:xfrm>
            <a:off x="608465" y="4221088"/>
            <a:ext cx="6771848" cy="1440892"/>
          </a:xfrm>
          <a:prstGeom prst="rect">
            <a:avLst/>
          </a:prstGeom>
          <a:noFill/>
          <a:ln w="9525">
            <a:solidFill>
              <a:srgbClr val="0000FF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知识图谱</a:t>
            </a:r>
            <a:r>
              <a:rPr lang="zh-CN" altLang="en-US" sz="2000" b="1" dirty="0">
                <a:latin typeface="+mn-ea"/>
              </a:rPr>
              <a:t>：一个由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知识点相互连接</a:t>
            </a:r>
            <a:r>
              <a:rPr lang="zh-CN" altLang="en-US" sz="2000" b="1" dirty="0">
                <a:latin typeface="+mn-ea"/>
              </a:rPr>
              <a:t>而构成的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语义网络</a:t>
            </a:r>
            <a:endParaRPr lang="en-US" altLang="zh-CN" sz="2400" b="1" dirty="0">
              <a:latin typeface="+mn-ea"/>
            </a:endParaRPr>
          </a:p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latin typeface="+mn-ea"/>
              </a:rPr>
              <a:t>网络中的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节点</a:t>
            </a:r>
            <a:r>
              <a:rPr lang="zh-CN" altLang="en-US" sz="2000" b="1" dirty="0">
                <a:latin typeface="+mn-ea"/>
              </a:rPr>
              <a:t>表示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概念</a:t>
            </a:r>
            <a:r>
              <a:rPr lang="zh-CN" altLang="en-US" sz="2000" b="1" dirty="0">
                <a:latin typeface="+mn-ea"/>
              </a:rPr>
              <a:t>或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实体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边</a:t>
            </a:r>
            <a:r>
              <a:rPr lang="zh-CN" altLang="en-US" sz="2000" b="1" dirty="0">
                <a:latin typeface="+mn-ea"/>
              </a:rPr>
              <a:t>表示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语义关系属性</a:t>
            </a:r>
            <a:r>
              <a:rPr lang="zh-CN" altLang="en-US" sz="2000" b="1" dirty="0">
                <a:latin typeface="+mn-ea"/>
              </a:rPr>
              <a:t>。</a:t>
            </a:r>
            <a:endParaRPr lang="en-US" altLang="zh-CN" sz="2000" b="1" dirty="0">
              <a:latin typeface="+mn-ea"/>
            </a:endParaRPr>
          </a:p>
          <a:p>
            <a:pPr marL="265113" indent="-265113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应用</a:t>
            </a:r>
            <a:r>
              <a:rPr lang="zh-CN" altLang="en-US" sz="2000" b="1" dirty="0">
                <a:latin typeface="+mn-ea"/>
              </a:rPr>
              <a:t>：智能问答、智能推荐、智能社区</a:t>
            </a:r>
            <a:r>
              <a:rPr lang="en-US" altLang="zh-CN" sz="2000" b="1" dirty="0">
                <a:latin typeface="+mn-ea"/>
              </a:rPr>
              <a:t>…</a:t>
            </a:r>
            <a:endParaRPr lang="zh-CN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3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36995" y="1125562"/>
            <a:ext cx="1900310" cy="359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知识表示与推理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0613" y="1809084"/>
            <a:ext cx="8208912" cy="3154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状态空间、问题规约、产生式、命题逻辑、一阶谓词逻辑、语义网络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框架（结构化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模块化，与某个框架相关的对象集合）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Petri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网（</a:t>
            </a:r>
            <a:r>
              <a:rPr lang="zh-CN" altLang="en-US" sz="2000" dirty="0">
                <a:latin typeface="+mn-ea"/>
                <a:ea typeface="+mn-ea"/>
              </a:rPr>
              <a:t>三种基本元素：位置、转换、标记；有向图；产生式规则。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脚本（</a:t>
            </a:r>
            <a:r>
              <a:rPr lang="zh-CN" altLang="en-US" sz="2000" dirty="0">
                <a:latin typeface="+mn-ea"/>
                <a:ea typeface="+mn-ea"/>
              </a:rPr>
              <a:t>框架表示的特殊形式，因果结构的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动作序列）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面向对象（</a:t>
            </a:r>
            <a:r>
              <a:rPr lang="zh-CN" altLang="en-US" sz="2000" dirty="0">
                <a:latin typeface="+mn-ea"/>
                <a:ea typeface="+mn-ea"/>
              </a:rPr>
              <a:t>对象、类、封装、继承）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蕴含、等价、置换</a:t>
            </a:r>
          </a:p>
        </p:txBody>
      </p:sp>
    </p:spTree>
    <p:extLst>
      <p:ext uri="{BB962C8B-B14F-4D97-AF65-F5344CB8AC3E}">
        <p14:creationId xmlns:p14="http://schemas.microsoft.com/office/powerpoint/2010/main" val="327990512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46230" y="1164339"/>
            <a:ext cx="504999" cy="329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4515" y="1845296"/>
            <a:ext cx="3537445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29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XX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路发生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追尾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29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追尾定义为一种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交通事故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29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交通事故会导致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拥堵</a:t>
            </a:r>
            <a:endParaRPr lang="zh-CN" altLang="en-US" sz="20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16016" y="1845296"/>
            <a:ext cx="3888432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推理规则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29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如果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员工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所在道路发生交通事故，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那么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员工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会堵在路上。</a:t>
            </a:r>
            <a:endParaRPr lang="en-US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915816" y="3284984"/>
            <a:ext cx="5256584" cy="2034330"/>
            <a:chOff x="2915816" y="3284984"/>
            <a:chExt cx="5256584" cy="2034330"/>
          </a:xfrm>
        </p:grpSpPr>
        <p:grpSp>
          <p:nvGrpSpPr>
            <p:cNvPr id="13" name="组合 12"/>
            <p:cNvGrpSpPr/>
            <p:nvPr/>
          </p:nvGrpSpPr>
          <p:grpSpPr>
            <a:xfrm>
              <a:off x="2915816" y="4167186"/>
              <a:ext cx="1080120" cy="1152128"/>
              <a:chOff x="827585" y="3975523"/>
              <a:chExt cx="1080120" cy="1152128"/>
            </a:xfrm>
          </p:grpSpPr>
          <p:sp>
            <p:nvSpPr>
              <p:cNvPr id="9" name="矩形 8"/>
              <p:cNvSpPr/>
              <p:nvPr/>
            </p:nvSpPr>
            <p:spPr bwMode="auto">
              <a:xfrm>
                <a:off x="827585" y="3975523"/>
                <a:ext cx="1080120" cy="288032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dirty="0"/>
                  <a:t>张三   ？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 bwMode="auto">
              <a:xfrm>
                <a:off x="827585" y="4263555"/>
                <a:ext cx="1080120" cy="288032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dirty="0"/>
                  <a:t>李四   ？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 bwMode="auto">
              <a:xfrm>
                <a:off x="827585" y="4551587"/>
                <a:ext cx="1080120" cy="288032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dirty="0"/>
                  <a:t>王五   ？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 bwMode="auto">
              <a:xfrm>
                <a:off x="827585" y="4839619"/>
                <a:ext cx="1080120" cy="288032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dirty="0"/>
                  <a:t>赵六   ？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436096" y="3284984"/>
              <a:ext cx="2736304" cy="928662"/>
              <a:chOff x="5436096" y="3284984"/>
              <a:chExt cx="2736304" cy="928662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5436096" y="3925614"/>
                <a:ext cx="2736304" cy="28803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哪些员工会堵在路上 ？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endParaRPr>
              </a:p>
            </p:txBody>
          </p:sp>
          <p:sp>
            <p:nvSpPr>
              <p:cNvPr id="16" name="下箭头 15"/>
              <p:cNvSpPr/>
              <p:nvPr/>
            </p:nvSpPr>
            <p:spPr bwMode="auto">
              <a:xfrm>
                <a:off x="6372200" y="3284984"/>
                <a:ext cx="864096" cy="432048"/>
              </a:xfrm>
              <a:prstGeom prst="down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4139952" y="4326093"/>
              <a:ext cx="2664296" cy="432048"/>
              <a:chOff x="4139952" y="4326093"/>
              <a:chExt cx="2664296" cy="432048"/>
            </a:xfrm>
          </p:grpSpPr>
          <p:cxnSp>
            <p:nvCxnSpPr>
              <p:cNvPr id="18" name="直接连接符 17"/>
              <p:cNvCxnSpPr/>
              <p:nvPr/>
            </p:nvCxnSpPr>
            <p:spPr bwMode="auto">
              <a:xfrm>
                <a:off x="6804248" y="4326093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444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直接箭头连接符 19"/>
              <p:cNvCxnSpPr/>
              <p:nvPr/>
            </p:nvCxnSpPr>
            <p:spPr bwMode="auto">
              <a:xfrm flipH="1">
                <a:off x="4139952" y="4746266"/>
                <a:ext cx="2664296" cy="0"/>
              </a:xfrm>
              <a:prstGeom prst="straightConnector1">
                <a:avLst/>
              </a:prstGeom>
              <a:solidFill>
                <a:schemeClr val="accent1"/>
              </a:solidFill>
              <a:ln w="476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30" name="组合 29"/>
          <p:cNvGrpSpPr/>
          <p:nvPr/>
        </p:nvGrpSpPr>
        <p:grpSpPr>
          <a:xfrm>
            <a:off x="1847308" y="4326093"/>
            <a:ext cx="996500" cy="917998"/>
            <a:chOff x="1847308" y="4326093"/>
            <a:chExt cx="996500" cy="917998"/>
          </a:xfrm>
        </p:grpSpPr>
        <p:cxnSp>
          <p:nvCxnSpPr>
            <p:cNvPr id="26" name="直接箭头连接符 25"/>
            <p:cNvCxnSpPr/>
            <p:nvPr/>
          </p:nvCxnSpPr>
          <p:spPr bwMode="auto">
            <a:xfrm flipH="1">
              <a:off x="2267744" y="4737154"/>
              <a:ext cx="576064" cy="0"/>
            </a:xfrm>
            <a:prstGeom prst="straightConnector1">
              <a:avLst/>
            </a:prstGeom>
            <a:solidFill>
              <a:schemeClr val="accent1"/>
            </a:solidFill>
            <a:ln w="476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文本框 27"/>
            <p:cNvSpPr txBox="1"/>
            <p:nvPr/>
          </p:nvSpPr>
          <p:spPr>
            <a:xfrm>
              <a:off x="1847308" y="4326093"/>
              <a:ext cx="492443" cy="9179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</a:rPr>
                <a:t>推理机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159272" y="2384312"/>
            <a:ext cx="816104" cy="1134984"/>
            <a:chOff x="3159272" y="2384312"/>
            <a:chExt cx="816104" cy="1134984"/>
          </a:xfrm>
        </p:grpSpPr>
        <p:sp>
          <p:nvSpPr>
            <p:cNvPr id="2" name="下箭头 1"/>
            <p:cNvSpPr/>
            <p:nvPr/>
          </p:nvSpPr>
          <p:spPr bwMode="auto">
            <a:xfrm>
              <a:off x="3159272" y="2384312"/>
              <a:ext cx="144016" cy="288032"/>
            </a:xfrm>
            <a:prstGeom prst="downArrow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下箭头 22"/>
            <p:cNvSpPr/>
            <p:nvPr/>
          </p:nvSpPr>
          <p:spPr bwMode="auto">
            <a:xfrm>
              <a:off x="3831360" y="3231264"/>
              <a:ext cx="144016" cy="288032"/>
            </a:xfrm>
            <a:prstGeom prst="downArrow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80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06" y="548680"/>
            <a:ext cx="1524466" cy="9637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548680"/>
            <a:ext cx="1524466" cy="963736"/>
          </a:xfrm>
          <a:prstGeom prst="rect">
            <a:avLst/>
          </a:prstGeom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11560" y="1782052"/>
            <a:ext cx="5256584" cy="311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背景：因法航飞行员罢工，众多航班取消。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276872"/>
            <a:ext cx="7459424" cy="37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9761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72816"/>
            <a:ext cx="7920880" cy="417646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83568" y="1052736"/>
            <a:ext cx="201622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事件语义链接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51381" y="1628800"/>
            <a:ext cx="7985254" cy="3744416"/>
            <a:chOff x="651381" y="1628800"/>
            <a:chExt cx="7985254" cy="374441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381" y="1844824"/>
              <a:ext cx="1165291" cy="504056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1344" y="1628800"/>
              <a:ext cx="1165291" cy="50405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8304" y="4869160"/>
              <a:ext cx="1165291" cy="50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787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44651" y="1772816"/>
            <a:ext cx="7275513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200" b="0" dirty="0">
                <a:latin typeface="楷体_GB2312" pitchFamily="49" charset="-122"/>
                <a:ea typeface="楷体_GB2312" pitchFamily="49" charset="-122"/>
              </a:rPr>
              <a:t>■</a:t>
            </a:r>
            <a:r>
              <a:rPr kumimoji="0" lang="en-US" altLang="zh-CN" sz="2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000" dirty="0">
                <a:latin typeface="楷体_GB2312" pitchFamily="49" charset="-122"/>
                <a:ea typeface="楷体_GB2312" pitchFamily="49" charset="-122"/>
              </a:rPr>
              <a:t>公司有许多部门，部门名称唯一地确定一个部门；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 b="0" dirty="0">
                <a:latin typeface="楷体_GB2312" pitchFamily="49" charset="-122"/>
                <a:ea typeface="楷体_GB2312" pitchFamily="49" charset="-122"/>
              </a:rPr>
              <a:t>■</a:t>
            </a:r>
            <a:r>
              <a:rPr kumimoji="0" lang="zh-CN" altLang="en-US" sz="2000" dirty="0">
                <a:latin typeface="楷体_GB2312" pitchFamily="49" charset="-122"/>
                <a:ea typeface="楷体_GB2312" pitchFamily="49" charset="-122"/>
              </a:rPr>
              <a:t> 每个部门由一名经理管理，也有的经理不管理任何一个部门；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 b="0" dirty="0">
                <a:latin typeface="楷体_GB2312" pitchFamily="49" charset="-122"/>
                <a:ea typeface="楷体_GB2312" pitchFamily="49" charset="-122"/>
              </a:rPr>
              <a:t>■</a:t>
            </a:r>
            <a:r>
              <a:rPr kumimoji="0" lang="zh-CN" altLang="en-US" sz="2000" dirty="0">
                <a:latin typeface="楷体_GB2312" pitchFamily="49" charset="-122"/>
                <a:ea typeface="楷体_GB2312" pitchFamily="49" charset="-122"/>
              </a:rPr>
              <a:t> 每个部门生产多种产品，每个产品仅由一个部门生产。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 b="0" dirty="0">
                <a:latin typeface="楷体_GB2312" pitchFamily="49" charset="-122"/>
                <a:ea typeface="楷体_GB2312" pitchFamily="49" charset="-122"/>
              </a:rPr>
              <a:t>■</a:t>
            </a:r>
            <a:r>
              <a:rPr kumimoji="0" lang="zh-CN" altLang="en-US" sz="2000" dirty="0">
                <a:latin typeface="楷体_GB2312" pitchFamily="49" charset="-122"/>
                <a:ea typeface="楷体_GB2312" pitchFamily="49" charset="-122"/>
              </a:rPr>
              <a:t> 公司有许多员工，员工又进一步划分为经理和工人两类。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 b="0" dirty="0">
                <a:latin typeface="楷体_GB2312" pitchFamily="49" charset="-122"/>
                <a:ea typeface="楷体_GB2312" pitchFamily="49" charset="-122"/>
              </a:rPr>
              <a:t>■</a:t>
            </a:r>
            <a:r>
              <a:rPr kumimoji="0" lang="zh-CN" altLang="en-US" sz="2400" b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000" dirty="0">
                <a:latin typeface="楷体_GB2312" pitchFamily="49" charset="-122"/>
                <a:ea typeface="楷体_GB2312" pitchFamily="49" charset="-122"/>
              </a:rPr>
              <a:t>每名工人可参加多个项目，每个项目需要多名工人；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 b="0" dirty="0">
                <a:latin typeface="楷体_GB2312" pitchFamily="49" charset="-122"/>
                <a:ea typeface="楷体_GB2312" pitchFamily="49" charset="-122"/>
              </a:rPr>
              <a:t>■</a:t>
            </a:r>
            <a:r>
              <a:rPr kumimoji="0" lang="zh-CN" altLang="en-US" sz="2000" dirty="0">
                <a:latin typeface="楷体_GB2312" pitchFamily="49" charset="-122"/>
                <a:ea typeface="楷体_GB2312" pitchFamily="49" charset="-122"/>
              </a:rPr>
              <a:t> 每位经理可主持多个项目，每个项目仅有一人主持。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11560" y="908720"/>
            <a:ext cx="4826421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</a:rPr>
              <a:t>某公司的对象模型，表明各种关系：</a:t>
            </a:r>
          </a:p>
        </p:txBody>
      </p:sp>
      <p:grpSp>
        <p:nvGrpSpPr>
          <p:cNvPr id="6" name="组合 3"/>
          <p:cNvGrpSpPr>
            <a:grpSpLocks/>
          </p:cNvGrpSpPr>
          <p:nvPr/>
        </p:nvGrpSpPr>
        <p:grpSpPr bwMode="auto">
          <a:xfrm>
            <a:off x="944441" y="2294281"/>
            <a:ext cx="5603875" cy="3168650"/>
            <a:chOff x="1725966" y="2240316"/>
            <a:chExt cx="5603875" cy="3168321"/>
          </a:xfrm>
        </p:grpSpPr>
        <p:grpSp>
          <p:nvGrpSpPr>
            <p:cNvPr id="7" name="组合 2"/>
            <p:cNvGrpSpPr>
              <a:grpSpLocks/>
            </p:cNvGrpSpPr>
            <p:nvPr/>
          </p:nvGrpSpPr>
          <p:grpSpPr bwMode="auto">
            <a:xfrm>
              <a:off x="1725966" y="2240316"/>
              <a:ext cx="5603875" cy="3168321"/>
              <a:chOff x="1725966" y="2240316"/>
              <a:chExt cx="5603875" cy="3168321"/>
            </a:xfrm>
          </p:grpSpPr>
          <p:grpSp>
            <p:nvGrpSpPr>
              <p:cNvPr id="9" name="Group 15"/>
              <p:cNvGrpSpPr>
                <a:grpSpLocks/>
              </p:cNvGrpSpPr>
              <p:nvPr/>
            </p:nvGrpSpPr>
            <p:grpSpPr bwMode="auto">
              <a:xfrm>
                <a:off x="1725966" y="2240316"/>
                <a:ext cx="5603875" cy="2513013"/>
                <a:chOff x="1156" y="1480"/>
                <a:chExt cx="3530" cy="1583"/>
              </a:xfrm>
            </p:grpSpPr>
            <p:sp>
              <p:nvSpPr>
                <p:cNvPr id="14" name="Line 6"/>
                <p:cNvSpPr>
                  <a:spLocks noChangeShapeType="1"/>
                </p:cNvSpPr>
                <p:nvPr/>
              </p:nvSpPr>
              <p:spPr bwMode="auto">
                <a:xfrm>
                  <a:off x="1156" y="1480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7"/>
                <p:cNvSpPr>
                  <a:spLocks noChangeShapeType="1"/>
                </p:cNvSpPr>
                <p:nvPr/>
              </p:nvSpPr>
              <p:spPr bwMode="auto">
                <a:xfrm>
                  <a:off x="1951" y="1480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8"/>
                <p:cNvSpPr>
                  <a:spLocks noChangeShapeType="1"/>
                </p:cNvSpPr>
                <p:nvPr/>
              </p:nvSpPr>
              <p:spPr bwMode="auto">
                <a:xfrm>
                  <a:off x="2274" y="1856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9"/>
                <p:cNvSpPr>
                  <a:spLocks noChangeShapeType="1"/>
                </p:cNvSpPr>
                <p:nvPr/>
              </p:nvSpPr>
              <p:spPr bwMode="auto">
                <a:xfrm>
                  <a:off x="2442" y="2251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10"/>
                <p:cNvSpPr>
                  <a:spLocks noChangeShapeType="1"/>
                </p:cNvSpPr>
                <p:nvPr/>
              </p:nvSpPr>
              <p:spPr bwMode="auto">
                <a:xfrm>
                  <a:off x="1951" y="2638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11"/>
                <p:cNvSpPr>
                  <a:spLocks noChangeShapeType="1"/>
                </p:cNvSpPr>
                <p:nvPr/>
              </p:nvSpPr>
              <p:spPr bwMode="auto">
                <a:xfrm>
                  <a:off x="3891" y="2643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Line 12"/>
                <p:cNvSpPr>
                  <a:spLocks noChangeShapeType="1"/>
                </p:cNvSpPr>
                <p:nvPr/>
              </p:nvSpPr>
              <p:spPr bwMode="auto">
                <a:xfrm>
                  <a:off x="4368" y="2643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Line 13"/>
                <p:cNvSpPr>
                  <a:spLocks noChangeShapeType="1"/>
                </p:cNvSpPr>
                <p:nvPr/>
              </p:nvSpPr>
              <p:spPr bwMode="auto">
                <a:xfrm>
                  <a:off x="2598" y="3063"/>
                  <a:ext cx="31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>
                <a:off x="2203495" y="2814278"/>
                <a:ext cx="50482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6"/>
              <p:cNvSpPr>
                <a:spLocks noChangeShapeType="1"/>
              </p:cNvSpPr>
              <p:nvPr/>
            </p:nvSpPr>
            <p:spPr bwMode="auto">
              <a:xfrm>
                <a:off x="2218871" y="4758966"/>
                <a:ext cx="50482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6"/>
              <p:cNvSpPr>
                <a:spLocks noChangeShapeType="1"/>
              </p:cNvSpPr>
              <p:nvPr/>
            </p:nvSpPr>
            <p:spPr bwMode="auto">
              <a:xfrm>
                <a:off x="2205223" y="5404280"/>
                <a:ext cx="50482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6"/>
              <p:cNvSpPr>
                <a:spLocks noChangeShapeType="1"/>
              </p:cNvSpPr>
              <p:nvPr/>
            </p:nvSpPr>
            <p:spPr bwMode="auto">
              <a:xfrm>
                <a:off x="3991968" y="5408637"/>
                <a:ext cx="50482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205223" y="3477927"/>
              <a:ext cx="5048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288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772816"/>
            <a:ext cx="5561461" cy="4176464"/>
          </a:xfrm>
          <a:prstGeom prst="rect">
            <a:avLst/>
          </a:prstGeom>
        </p:spPr>
      </p:pic>
      <p:sp>
        <p:nvSpPr>
          <p:cNvPr id="5" name="Rectangle 65"/>
          <p:cNvSpPr>
            <a:spLocks noChangeArrowheads="1"/>
          </p:cNvSpPr>
          <p:nvPr/>
        </p:nvSpPr>
        <p:spPr bwMode="auto">
          <a:xfrm>
            <a:off x="683568" y="980728"/>
            <a:ext cx="388843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</a:rPr>
              <a:t>结构化的数据模型（</a:t>
            </a:r>
            <a:r>
              <a:rPr kumimoji="0" lang="en-US" altLang="zh-CN" sz="2400" dirty="0">
                <a:latin typeface="楷体_GB2312" pitchFamily="49" charset="-122"/>
                <a:ea typeface="楷体_GB2312" pitchFamily="49" charset="-122"/>
              </a:rPr>
              <a:t>E-R</a:t>
            </a: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</a:rPr>
              <a:t>图）</a:t>
            </a:r>
          </a:p>
        </p:txBody>
      </p:sp>
    </p:spTree>
    <p:extLst>
      <p:ext uri="{BB962C8B-B14F-4D97-AF65-F5344CB8AC3E}">
        <p14:creationId xmlns:p14="http://schemas.microsoft.com/office/powerpoint/2010/main" val="58935445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72816"/>
            <a:ext cx="4752528" cy="4230974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83568" y="980728"/>
            <a:ext cx="1296442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latin typeface="Tahoma" panose="020B0604030504040204" pitchFamily="34" charset="0"/>
                <a:ea typeface="楷体_GB2312" pitchFamily="49" charset="-122"/>
              </a:rPr>
              <a:t>对象模型</a:t>
            </a:r>
          </a:p>
        </p:txBody>
      </p:sp>
    </p:spTree>
    <p:extLst>
      <p:ext uri="{BB962C8B-B14F-4D97-AF65-F5344CB8AC3E}">
        <p14:creationId xmlns:p14="http://schemas.microsoft.com/office/powerpoint/2010/main" val="135712343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1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64704"/>
            <a:ext cx="8276968" cy="539899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2528571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789931" y="1196950"/>
            <a:ext cx="7489825" cy="5072064"/>
            <a:chOff x="748" y="1162"/>
            <a:chExt cx="4672" cy="3195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929" y="1253"/>
              <a:ext cx="500" cy="318"/>
              <a:chOff x="929" y="1616"/>
              <a:chExt cx="500" cy="318"/>
            </a:xfrm>
          </p:grpSpPr>
          <p:sp>
            <p:nvSpPr>
              <p:cNvPr id="109" name="Rectangle 6"/>
              <p:cNvSpPr>
                <a:spLocks noChangeArrowheads="1"/>
              </p:cNvSpPr>
              <p:nvPr/>
            </p:nvSpPr>
            <p:spPr bwMode="auto">
              <a:xfrm>
                <a:off x="975" y="1661"/>
                <a:ext cx="408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总行</a:t>
                </a:r>
              </a:p>
            </p:txBody>
          </p:sp>
          <p:sp>
            <p:nvSpPr>
              <p:cNvPr id="110" name="Rectangle 7"/>
              <p:cNvSpPr>
                <a:spLocks noChangeArrowheads="1"/>
              </p:cNvSpPr>
              <p:nvPr/>
            </p:nvSpPr>
            <p:spPr bwMode="auto">
              <a:xfrm>
                <a:off x="929" y="1616"/>
                <a:ext cx="500" cy="3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748" y="1842"/>
              <a:ext cx="862" cy="363"/>
              <a:chOff x="977" y="2002"/>
              <a:chExt cx="862" cy="363"/>
            </a:xfrm>
          </p:grpSpPr>
          <p:sp>
            <p:nvSpPr>
              <p:cNvPr id="107" name="Rectangle 9"/>
              <p:cNvSpPr>
                <a:spLocks noChangeArrowheads="1"/>
              </p:cNvSpPr>
              <p:nvPr/>
            </p:nvSpPr>
            <p:spPr bwMode="auto">
              <a:xfrm>
                <a:off x="1029" y="2036"/>
                <a:ext cx="762" cy="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中央计算机</a:t>
                </a:r>
              </a:p>
            </p:txBody>
          </p:sp>
          <p:sp>
            <p:nvSpPr>
              <p:cNvPr id="108" name="Rectangle 10"/>
              <p:cNvSpPr>
                <a:spLocks noChangeArrowheads="1"/>
              </p:cNvSpPr>
              <p:nvPr/>
            </p:nvSpPr>
            <p:spPr bwMode="auto">
              <a:xfrm>
                <a:off x="977" y="2002"/>
                <a:ext cx="862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11"/>
            <p:cNvGrpSpPr>
              <a:grpSpLocks/>
            </p:cNvGrpSpPr>
            <p:nvPr/>
          </p:nvGrpSpPr>
          <p:grpSpPr bwMode="auto">
            <a:xfrm>
              <a:off x="930" y="3339"/>
              <a:ext cx="500" cy="318"/>
              <a:chOff x="929" y="1616"/>
              <a:chExt cx="500" cy="318"/>
            </a:xfrm>
          </p:grpSpPr>
          <p:sp>
            <p:nvSpPr>
              <p:cNvPr id="105" name="Rectangle 12"/>
              <p:cNvSpPr>
                <a:spLocks noChangeArrowheads="1"/>
              </p:cNvSpPr>
              <p:nvPr/>
            </p:nvSpPr>
            <p:spPr bwMode="auto">
              <a:xfrm>
                <a:off x="975" y="1661"/>
                <a:ext cx="408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ATM</a:t>
                </a:r>
              </a:p>
            </p:txBody>
          </p:sp>
          <p:sp>
            <p:nvSpPr>
              <p:cNvPr id="106" name="Rectangle 13"/>
              <p:cNvSpPr>
                <a:spLocks noChangeArrowheads="1"/>
              </p:cNvSpPr>
              <p:nvPr/>
            </p:nvSpPr>
            <p:spPr bwMode="auto">
              <a:xfrm>
                <a:off x="929" y="1616"/>
                <a:ext cx="500" cy="3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1215" y="1592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拥有</a:t>
              </a: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80" y="157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16"/>
            <p:cNvGrpSpPr>
              <a:grpSpLocks/>
            </p:cNvGrpSpPr>
            <p:nvPr/>
          </p:nvGrpSpPr>
          <p:grpSpPr bwMode="auto">
            <a:xfrm>
              <a:off x="1383" y="1266"/>
              <a:ext cx="363" cy="278"/>
              <a:chOff x="2290" y="1837"/>
              <a:chExt cx="363" cy="278"/>
            </a:xfrm>
          </p:grpSpPr>
          <p:sp>
            <p:nvSpPr>
              <p:cNvPr id="101" name="Rectangle 17"/>
              <p:cNvSpPr>
                <a:spLocks noChangeArrowheads="1"/>
              </p:cNvSpPr>
              <p:nvPr/>
            </p:nvSpPr>
            <p:spPr bwMode="auto">
              <a:xfrm>
                <a:off x="2290" y="1842"/>
                <a:ext cx="3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400"/>
                  <a:t>分行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400"/>
                  <a:t>代码</a:t>
                </a:r>
              </a:p>
            </p:txBody>
          </p:sp>
          <p:sp>
            <p:nvSpPr>
              <p:cNvPr id="102" name="Line 18"/>
              <p:cNvSpPr>
                <a:spLocks noChangeShapeType="1"/>
              </p:cNvSpPr>
              <p:nvPr/>
            </p:nvSpPr>
            <p:spPr bwMode="auto">
              <a:xfrm>
                <a:off x="2336" y="1837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19"/>
              <p:cNvSpPr>
                <a:spLocks noChangeShapeType="1"/>
              </p:cNvSpPr>
              <p:nvPr/>
            </p:nvSpPr>
            <p:spPr bwMode="auto">
              <a:xfrm>
                <a:off x="2608" y="1837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0"/>
              <p:cNvSpPr>
                <a:spLocks noChangeShapeType="1"/>
              </p:cNvSpPr>
              <p:nvPr/>
            </p:nvSpPr>
            <p:spPr bwMode="auto">
              <a:xfrm>
                <a:off x="2336" y="2107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Group 21"/>
            <p:cNvGrpSpPr>
              <a:grpSpLocks/>
            </p:cNvGrpSpPr>
            <p:nvPr/>
          </p:nvGrpSpPr>
          <p:grpSpPr bwMode="auto">
            <a:xfrm>
              <a:off x="1701" y="1344"/>
              <a:ext cx="862" cy="136"/>
              <a:chOff x="2018" y="1933"/>
              <a:chExt cx="862" cy="136"/>
            </a:xfrm>
          </p:grpSpPr>
          <p:sp>
            <p:nvSpPr>
              <p:cNvPr id="98" name="AutoShape 22"/>
              <p:cNvSpPr>
                <a:spLocks noChangeArrowheads="1"/>
              </p:cNvSpPr>
              <p:nvPr/>
            </p:nvSpPr>
            <p:spPr bwMode="auto">
              <a:xfrm rot="-5400000">
                <a:off x="2245" y="1933"/>
                <a:ext cx="136" cy="136"/>
              </a:xfrm>
              <a:prstGeom prst="triangle">
                <a:avLst>
                  <a:gd name="adj" fmla="val 55144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" name="Line 23"/>
              <p:cNvSpPr>
                <a:spLocks noChangeShapeType="1"/>
              </p:cNvSpPr>
              <p:nvPr/>
            </p:nvSpPr>
            <p:spPr bwMode="auto">
              <a:xfrm>
                <a:off x="2018" y="199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4"/>
              <p:cNvSpPr>
                <a:spLocks noChangeShapeType="1"/>
              </p:cNvSpPr>
              <p:nvPr/>
            </p:nvSpPr>
            <p:spPr bwMode="auto">
              <a:xfrm>
                <a:off x="2381" y="199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Rectangle 25"/>
            <p:cNvSpPr>
              <a:spLocks noChangeArrowheads="1"/>
            </p:cNvSpPr>
            <p:nvPr/>
          </p:nvSpPr>
          <p:spPr bwMode="auto">
            <a:xfrm>
              <a:off x="2106" y="1207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组成</a:t>
              </a:r>
            </a:p>
          </p:txBody>
        </p:sp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2561" y="1253"/>
              <a:ext cx="500" cy="318"/>
              <a:chOff x="929" y="1616"/>
              <a:chExt cx="500" cy="318"/>
            </a:xfrm>
          </p:grpSpPr>
          <p:sp>
            <p:nvSpPr>
              <p:cNvPr id="96" name="Rectangle 27"/>
              <p:cNvSpPr>
                <a:spLocks noChangeArrowheads="1"/>
              </p:cNvSpPr>
              <p:nvPr/>
            </p:nvSpPr>
            <p:spPr bwMode="auto">
              <a:xfrm>
                <a:off x="975" y="1661"/>
                <a:ext cx="408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分行</a:t>
                </a:r>
              </a:p>
            </p:txBody>
          </p:sp>
          <p:sp>
            <p:nvSpPr>
              <p:cNvPr id="97" name="Rectangle 28"/>
              <p:cNvSpPr>
                <a:spLocks noChangeArrowheads="1"/>
              </p:cNvSpPr>
              <p:nvPr/>
            </p:nvSpPr>
            <p:spPr bwMode="auto">
              <a:xfrm>
                <a:off x="929" y="1616"/>
                <a:ext cx="500" cy="3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29"/>
            <p:cNvGrpSpPr>
              <a:grpSpLocks/>
            </p:cNvGrpSpPr>
            <p:nvPr/>
          </p:nvGrpSpPr>
          <p:grpSpPr bwMode="auto">
            <a:xfrm>
              <a:off x="2018" y="1842"/>
              <a:ext cx="862" cy="363"/>
              <a:chOff x="977" y="2002"/>
              <a:chExt cx="862" cy="363"/>
            </a:xfrm>
          </p:grpSpPr>
          <p:sp>
            <p:nvSpPr>
              <p:cNvPr id="94" name="Rectangle 30"/>
              <p:cNvSpPr>
                <a:spLocks noChangeArrowheads="1"/>
              </p:cNvSpPr>
              <p:nvPr/>
            </p:nvSpPr>
            <p:spPr bwMode="auto">
              <a:xfrm>
                <a:off x="1029" y="2036"/>
                <a:ext cx="762" cy="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分行计算机</a:t>
                </a:r>
              </a:p>
            </p:txBody>
          </p:sp>
          <p:sp>
            <p:nvSpPr>
              <p:cNvPr id="95" name="Rectangle 31"/>
              <p:cNvSpPr>
                <a:spLocks noChangeArrowheads="1"/>
              </p:cNvSpPr>
              <p:nvPr/>
            </p:nvSpPr>
            <p:spPr bwMode="auto">
              <a:xfrm>
                <a:off x="977" y="2002"/>
                <a:ext cx="862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>
              <a:off x="1610" y="202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33"/>
            <p:cNvSpPr>
              <a:spLocks noChangeArrowheads="1"/>
            </p:cNvSpPr>
            <p:nvPr/>
          </p:nvSpPr>
          <p:spPr bwMode="auto">
            <a:xfrm>
              <a:off x="1615" y="1847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通信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1858" y="1760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18" name="Line 35"/>
            <p:cNvSpPr>
              <a:spLocks noChangeShapeType="1"/>
            </p:cNvSpPr>
            <p:nvPr/>
          </p:nvSpPr>
          <p:spPr bwMode="auto">
            <a:xfrm>
              <a:off x="2699" y="157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36"/>
            <p:cNvSpPr>
              <a:spLocks noChangeArrowheads="1"/>
            </p:cNvSpPr>
            <p:nvPr/>
          </p:nvSpPr>
          <p:spPr bwMode="auto">
            <a:xfrm>
              <a:off x="2434" y="1610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拥有</a:t>
              </a:r>
            </a:p>
          </p:txBody>
        </p:sp>
        <p:sp>
          <p:nvSpPr>
            <p:cNvPr id="20" name="Line 37"/>
            <p:cNvSpPr>
              <a:spLocks noChangeShapeType="1"/>
            </p:cNvSpPr>
            <p:nvPr/>
          </p:nvSpPr>
          <p:spPr bwMode="auto">
            <a:xfrm>
              <a:off x="1186" y="2205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38"/>
            <p:cNvSpPr>
              <a:spLocks noChangeArrowheads="1"/>
            </p:cNvSpPr>
            <p:nvPr/>
          </p:nvSpPr>
          <p:spPr bwMode="auto">
            <a:xfrm>
              <a:off x="1202" y="2296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通信</a:t>
              </a:r>
            </a:p>
          </p:txBody>
        </p:sp>
        <p:sp>
          <p:nvSpPr>
            <p:cNvPr id="22" name="Rectangle 39"/>
            <p:cNvSpPr>
              <a:spLocks noChangeArrowheads="1"/>
            </p:cNvSpPr>
            <p:nvPr/>
          </p:nvSpPr>
          <p:spPr bwMode="auto">
            <a:xfrm>
              <a:off x="1263" y="3169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grpSp>
          <p:nvGrpSpPr>
            <p:cNvPr id="23" name="Group 40"/>
            <p:cNvGrpSpPr>
              <a:grpSpLocks/>
            </p:cNvGrpSpPr>
            <p:nvPr/>
          </p:nvGrpSpPr>
          <p:grpSpPr bwMode="auto">
            <a:xfrm>
              <a:off x="3696" y="1252"/>
              <a:ext cx="500" cy="318"/>
              <a:chOff x="929" y="1616"/>
              <a:chExt cx="500" cy="318"/>
            </a:xfrm>
          </p:grpSpPr>
          <p:sp>
            <p:nvSpPr>
              <p:cNvPr id="92" name="Rectangle 41"/>
              <p:cNvSpPr>
                <a:spLocks noChangeArrowheads="1"/>
              </p:cNvSpPr>
              <p:nvPr/>
            </p:nvSpPr>
            <p:spPr bwMode="auto">
              <a:xfrm>
                <a:off x="975" y="1661"/>
                <a:ext cx="408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账户</a:t>
                </a:r>
              </a:p>
            </p:txBody>
          </p:sp>
          <p:sp>
            <p:nvSpPr>
              <p:cNvPr id="93" name="Rectangle 42"/>
              <p:cNvSpPr>
                <a:spLocks noChangeArrowheads="1"/>
              </p:cNvSpPr>
              <p:nvPr/>
            </p:nvSpPr>
            <p:spPr bwMode="auto">
              <a:xfrm>
                <a:off x="929" y="1616"/>
                <a:ext cx="500" cy="3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" name="Group 43"/>
            <p:cNvGrpSpPr>
              <a:grpSpLocks/>
            </p:cNvGrpSpPr>
            <p:nvPr/>
          </p:nvGrpSpPr>
          <p:grpSpPr bwMode="auto">
            <a:xfrm>
              <a:off x="4784" y="1253"/>
              <a:ext cx="500" cy="318"/>
              <a:chOff x="929" y="1616"/>
              <a:chExt cx="500" cy="318"/>
            </a:xfrm>
          </p:grpSpPr>
          <p:sp>
            <p:nvSpPr>
              <p:cNvPr id="90" name="Rectangle 44"/>
              <p:cNvSpPr>
                <a:spLocks noChangeArrowheads="1"/>
              </p:cNvSpPr>
              <p:nvPr/>
            </p:nvSpPr>
            <p:spPr bwMode="auto">
              <a:xfrm>
                <a:off x="975" y="1661"/>
                <a:ext cx="408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储户</a:t>
                </a:r>
              </a:p>
            </p:txBody>
          </p:sp>
          <p:sp>
            <p:nvSpPr>
              <p:cNvPr id="91" name="Rectangle 45"/>
              <p:cNvSpPr>
                <a:spLocks noChangeArrowheads="1"/>
              </p:cNvSpPr>
              <p:nvPr/>
            </p:nvSpPr>
            <p:spPr bwMode="auto">
              <a:xfrm>
                <a:off x="929" y="1616"/>
                <a:ext cx="500" cy="3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3061" y="138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47"/>
            <p:cNvSpPr>
              <a:spLocks noChangeArrowheads="1"/>
            </p:cNvSpPr>
            <p:nvPr/>
          </p:nvSpPr>
          <p:spPr bwMode="auto">
            <a:xfrm>
              <a:off x="3061" y="1207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保管</a:t>
              </a:r>
            </a:p>
          </p:txBody>
        </p:sp>
        <p:sp>
          <p:nvSpPr>
            <p:cNvPr id="27" name="Rectangle 48"/>
            <p:cNvSpPr>
              <a:spLocks noChangeArrowheads="1"/>
            </p:cNvSpPr>
            <p:nvPr/>
          </p:nvSpPr>
          <p:spPr bwMode="auto">
            <a:xfrm>
              <a:off x="3536" y="1162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4195" y="1389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50"/>
            <p:cNvSpPr>
              <a:spLocks noChangeArrowheads="1"/>
            </p:cNvSpPr>
            <p:nvPr/>
          </p:nvSpPr>
          <p:spPr bwMode="auto">
            <a:xfrm>
              <a:off x="4521" y="1380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拥有</a:t>
              </a:r>
            </a:p>
          </p:txBody>
        </p:sp>
        <p:sp>
          <p:nvSpPr>
            <p:cNvPr id="30" name="Rectangle 51"/>
            <p:cNvSpPr>
              <a:spLocks noChangeArrowheads="1"/>
            </p:cNvSpPr>
            <p:nvPr/>
          </p:nvSpPr>
          <p:spPr bwMode="auto">
            <a:xfrm>
              <a:off x="4244" y="1421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grpSp>
          <p:nvGrpSpPr>
            <p:cNvPr id="31" name="Group 52"/>
            <p:cNvGrpSpPr>
              <a:grpSpLocks/>
            </p:cNvGrpSpPr>
            <p:nvPr/>
          </p:nvGrpSpPr>
          <p:grpSpPr bwMode="auto">
            <a:xfrm>
              <a:off x="2426" y="2523"/>
              <a:ext cx="862" cy="363"/>
              <a:chOff x="977" y="2002"/>
              <a:chExt cx="862" cy="363"/>
            </a:xfrm>
          </p:grpSpPr>
          <p:sp>
            <p:nvSpPr>
              <p:cNvPr id="88" name="Rectangle 53"/>
              <p:cNvSpPr>
                <a:spLocks noChangeArrowheads="1"/>
              </p:cNvSpPr>
              <p:nvPr/>
            </p:nvSpPr>
            <p:spPr bwMode="auto">
              <a:xfrm>
                <a:off x="1029" y="2036"/>
                <a:ext cx="762" cy="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柜员终端</a:t>
                </a:r>
              </a:p>
            </p:txBody>
          </p:sp>
          <p:sp>
            <p:nvSpPr>
              <p:cNvPr id="89" name="Rectangle 54"/>
              <p:cNvSpPr>
                <a:spLocks noChangeArrowheads="1"/>
              </p:cNvSpPr>
              <p:nvPr/>
            </p:nvSpPr>
            <p:spPr bwMode="auto">
              <a:xfrm>
                <a:off x="977" y="2002"/>
                <a:ext cx="862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" name="Line 55"/>
            <p:cNvSpPr>
              <a:spLocks noChangeShapeType="1"/>
            </p:cNvSpPr>
            <p:nvPr/>
          </p:nvSpPr>
          <p:spPr bwMode="auto">
            <a:xfrm>
              <a:off x="2562" y="220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56"/>
            <p:cNvSpPr>
              <a:spLocks noChangeArrowheads="1"/>
            </p:cNvSpPr>
            <p:nvPr/>
          </p:nvSpPr>
          <p:spPr bwMode="auto">
            <a:xfrm>
              <a:off x="2245" y="2205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通信</a:t>
              </a:r>
            </a:p>
          </p:txBody>
        </p:sp>
        <p:sp>
          <p:nvSpPr>
            <p:cNvPr id="34" name="Rectangle 57"/>
            <p:cNvSpPr>
              <a:spLocks noChangeArrowheads="1"/>
            </p:cNvSpPr>
            <p:nvPr/>
          </p:nvSpPr>
          <p:spPr bwMode="auto">
            <a:xfrm>
              <a:off x="2624" y="2373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35" name="Line 58"/>
            <p:cNvSpPr>
              <a:spLocks noChangeShapeType="1"/>
            </p:cNvSpPr>
            <p:nvPr/>
          </p:nvSpPr>
          <p:spPr bwMode="auto">
            <a:xfrm>
              <a:off x="2971" y="1570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59"/>
            <p:cNvSpPr>
              <a:spLocks noChangeArrowheads="1"/>
            </p:cNvSpPr>
            <p:nvPr/>
          </p:nvSpPr>
          <p:spPr bwMode="auto">
            <a:xfrm>
              <a:off x="2992" y="1600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拥有</a:t>
              </a:r>
            </a:p>
          </p:txBody>
        </p:sp>
        <p:sp>
          <p:nvSpPr>
            <p:cNvPr id="37" name="Rectangle 60"/>
            <p:cNvSpPr>
              <a:spLocks noChangeArrowheads="1"/>
            </p:cNvSpPr>
            <p:nvPr/>
          </p:nvSpPr>
          <p:spPr bwMode="auto">
            <a:xfrm>
              <a:off x="3030" y="2365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grpSp>
          <p:nvGrpSpPr>
            <p:cNvPr id="38" name="Group 61"/>
            <p:cNvGrpSpPr>
              <a:grpSpLocks/>
            </p:cNvGrpSpPr>
            <p:nvPr/>
          </p:nvGrpSpPr>
          <p:grpSpPr bwMode="auto">
            <a:xfrm>
              <a:off x="3334" y="1842"/>
              <a:ext cx="500" cy="318"/>
              <a:chOff x="929" y="1616"/>
              <a:chExt cx="500" cy="318"/>
            </a:xfrm>
          </p:grpSpPr>
          <p:sp>
            <p:nvSpPr>
              <p:cNvPr id="86" name="Rectangle 62"/>
              <p:cNvSpPr>
                <a:spLocks noChangeArrowheads="1"/>
              </p:cNvSpPr>
              <p:nvPr/>
            </p:nvSpPr>
            <p:spPr bwMode="auto">
              <a:xfrm>
                <a:off x="975" y="1661"/>
                <a:ext cx="408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柜员</a:t>
                </a:r>
              </a:p>
            </p:txBody>
          </p:sp>
          <p:sp>
            <p:nvSpPr>
              <p:cNvPr id="87" name="Rectangle 63"/>
              <p:cNvSpPr>
                <a:spLocks noChangeArrowheads="1"/>
              </p:cNvSpPr>
              <p:nvPr/>
            </p:nvSpPr>
            <p:spPr bwMode="auto">
              <a:xfrm>
                <a:off x="929" y="1616"/>
                <a:ext cx="500" cy="3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64"/>
            <p:cNvGrpSpPr>
              <a:grpSpLocks/>
            </p:cNvGrpSpPr>
            <p:nvPr/>
          </p:nvGrpSpPr>
          <p:grpSpPr bwMode="auto">
            <a:xfrm>
              <a:off x="3061" y="1480"/>
              <a:ext cx="499" cy="362"/>
              <a:chOff x="3061" y="1480"/>
              <a:chExt cx="499" cy="362"/>
            </a:xfrm>
          </p:grpSpPr>
          <p:sp>
            <p:nvSpPr>
              <p:cNvPr id="84" name="Line 65"/>
              <p:cNvSpPr>
                <a:spLocks noChangeShapeType="1"/>
              </p:cNvSpPr>
              <p:nvPr/>
            </p:nvSpPr>
            <p:spPr bwMode="auto">
              <a:xfrm>
                <a:off x="3061" y="1480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66"/>
              <p:cNvSpPr>
                <a:spLocks noChangeShapeType="1"/>
              </p:cNvSpPr>
              <p:nvPr/>
            </p:nvSpPr>
            <p:spPr bwMode="auto">
              <a:xfrm>
                <a:off x="3560" y="1480"/>
                <a:ext cx="0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" name="Rectangle 67"/>
            <p:cNvSpPr>
              <a:spLocks noChangeArrowheads="1"/>
            </p:cNvSpPr>
            <p:nvPr/>
          </p:nvSpPr>
          <p:spPr bwMode="auto">
            <a:xfrm>
              <a:off x="3288" y="1458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雇佣</a:t>
              </a:r>
            </a:p>
          </p:txBody>
        </p:sp>
        <p:sp>
          <p:nvSpPr>
            <p:cNvPr id="41" name="Rectangle 68"/>
            <p:cNvSpPr>
              <a:spLocks noChangeArrowheads="1"/>
            </p:cNvSpPr>
            <p:nvPr/>
          </p:nvSpPr>
          <p:spPr bwMode="auto">
            <a:xfrm>
              <a:off x="3395" y="1693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grpSp>
          <p:nvGrpSpPr>
            <p:cNvPr id="42" name="Group 69"/>
            <p:cNvGrpSpPr>
              <a:grpSpLocks/>
            </p:cNvGrpSpPr>
            <p:nvPr/>
          </p:nvGrpSpPr>
          <p:grpSpPr bwMode="auto">
            <a:xfrm>
              <a:off x="3696" y="2523"/>
              <a:ext cx="862" cy="363"/>
              <a:chOff x="977" y="2002"/>
              <a:chExt cx="862" cy="363"/>
            </a:xfrm>
          </p:grpSpPr>
          <p:sp>
            <p:nvSpPr>
              <p:cNvPr id="82" name="Rectangle 70"/>
              <p:cNvSpPr>
                <a:spLocks noChangeArrowheads="1"/>
              </p:cNvSpPr>
              <p:nvPr/>
            </p:nvSpPr>
            <p:spPr bwMode="auto">
              <a:xfrm>
                <a:off x="1029" y="2036"/>
                <a:ext cx="762" cy="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柜员事务</a:t>
                </a:r>
              </a:p>
            </p:txBody>
          </p:sp>
          <p:sp>
            <p:nvSpPr>
              <p:cNvPr id="83" name="Rectangle 71"/>
              <p:cNvSpPr>
                <a:spLocks noChangeArrowheads="1"/>
              </p:cNvSpPr>
              <p:nvPr/>
            </p:nvSpPr>
            <p:spPr bwMode="auto">
              <a:xfrm>
                <a:off x="977" y="2002"/>
                <a:ext cx="862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3" name="Line 72"/>
            <p:cNvSpPr>
              <a:spLocks noChangeShapeType="1"/>
            </p:cNvSpPr>
            <p:nvPr/>
          </p:nvSpPr>
          <p:spPr bwMode="auto">
            <a:xfrm>
              <a:off x="3288" y="270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73"/>
            <p:cNvSpPr>
              <a:spLocks noChangeArrowheads="1"/>
            </p:cNvSpPr>
            <p:nvPr/>
          </p:nvSpPr>
          <p:spPr bwMode="auto">
            <a:xfrm>
              <a:off x="3302" y="2523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输入</a:t>
              </a:r>
            </a:p>
          </p:txBody>
        </p:sp>
        <p:sp>
          <p:nvSpPr>
            <p:cNvPr id="45" name="Rectangle 74"/>
            <p:cNvSpPr>
              <a:spLocks noChangeArrowheads="1"/>
            </p:cNvSpPr>
            <p:nvPr/>
          </p:nvSpPr>
          <p:spPr bwMode="auto">
            <a:xfrm>
              <a:off x="3531" y="2704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46" name="Line 75"/>
            <p:cNvSpPr>
              <a:spLocks noChangeShapeType="1"/>
            </p:cNvSpPr>
            <p:nvPr/>
          </p:nvSpPr>
          <p:spPr bwMode="auto">
            <a:xfrm>
              <a:off x="3787" y="2160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76"/>
            <p:cNvSpPr>
              <a:spLocks noChangeArrowheads="1"/>
            </p:cNvSpPr>
            <p:nvPr/>
          </p:nvSpPr>
          <p:spPr bwMode="auto">
            <a:xfrm>
              <a:off x="3531" y="2152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输入</a:t>
              </a:r>
            </a:p>
          </p:txBody>
        </p:sp>
        <p:sp>
          <p:nvSpPr>
            <p:cNvPr id="48" name="Rectangle 77"/>
            <p:cNvSpPr>
              <a:spLocks noChangeArrowheads="1"/>
            </p:cNvSpPr>
            <p:nvPr/>
          </p:nvSpPr>
          <p:spPr bwMode="auto">
            <a:xfrm>
              <a:off x="3825" y="2381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49" name="Line 78"/>
            <p:cNvSpPr>
              <a:spLocks noChangeShapeType="1"/>
            </p:cNvSpPr>
            <p:nvPr/>
          </p:nvSpPr>
          <p:spPr bwMode="auto">
            <a:xfrm>
              <a:off x="4038" y="1570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79"/>
            <p:cNvSpPr>
              <a:spLocks noChangeArrowheads="1"/>
            </p:cNvSpPr>
            <p:nvPr/>
          </p:nvSpPr>
          <p:spPr bwMode="auto">
            <a:xfrm>
              <a:off x="3902" y="1616"/>
              <a:ext cx="1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修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改</a:t>
              </a:r>
            </a:p>
          </p:txBody>
        </p:sp>
        <p:sp>
          <p:nvSpPr>
            <p:cNvPr id="51" name="Rectangle 80"/>
            <p:cNvSpPr>
              <a:spLocks noChangeArrowheads="1"/>
            </p:cNvSpPr>
            <p:nvPr/>
          </p:nvSpPr>
          <p:spPr bwMode="auto">
            <a:xfrm>
              <a:off x="4067" y="2381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grpSp>
          <p:nvGrpSpPr>
            <p:cNvPr id="52" name="Group 81"/>
            <p:cNvGrpSpPr>
              <a:grpSpLocks/>
            </p:cNvGrpSpPr>
            <p:nvPr/>
          </p:nvGrpSpPr>
          <p:grpSpPr bwMode="auto">
            <a:xfrm>
              <a:off x="2426" y="3294"/>
              <a:ext cx="862" cy="363"/>
              <a:chOff x="977" y="2002"/>
              <a:chExt cx="862" cy="363"/>
            </a:xfrm>
          </p:grpSpPr>
          <p:sp>
            <p:nvSpPr>
              <p:cNvPr id="80" name="Rectangle 82"/>
              <p:cNvSpPr>
                <a:spLocks noChangeArrowheads="1"/>
              </p:cNvSpPr>
              <p:nvPr/>
            </p:nvSpPr>
            <p:spPr bwMode="auto">
              <a:xfrm>
                <a:off x="1029" y="2036"/>
                <a:ext cx="762" cy="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远程事务</a:t>
                </a:r>
              </a:p>
            </p:txBody>
          </p:sp>
          <p:sp>
            <p:nvSpPr>
              <p:cNvPr id="81" name="Rectangle 83"/>
              <p:cNvSpPr>
                <a:spLocks noChangeArrowheads="1"/>
              </p:cNvSpPr>
              <p:nvPr/>
            </p:nvSpPr>
            <p:spPr bwMode="auto">
              <a:xfrm>
                <a:off x="977" y="2002"/>
                <a:ext cx="862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84"/>
            <p:cNvGrpSpPr>
              <a:grpSpLocks/>
            </p:cNvGrpSpPr>
            <p:nvPr/>
          </p:nvGrpSpPr>
          <p:grpSpPr bwMode="auto">
            <a:xfrm>
              <a:off x="3288" y="1570"/>
              <a:ext cx="1361" cy="1815"/>
              <a:chOff x="3288" y="1570"/>
              <a:chExt cx="1361" cy="1815"/>
            </a:xfrm>
          </p:grpSpPr>
          <p:sp>
            <p:nvSpPr>
              <p:cNvPr id="76" name="Line 85"/>
              <p:cNvSpPr>
                <a:spLocks noChangeShapeType="1"/>
              </p:cNvSpPr>
              <p:nvPr/>
            </p:nvSpPr>
            <p:spPr bwMode="auto">
              <a:xfrm>
                <a:off x="4105" y="1570"/>
                <a:ext cx="0" cy="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86"/>
              <p:cNvSpPr>
                <a:spLocks noChangeShapeType="1"/>
              </p:cNvSpPr>
              <p:nvPr/>
            </p:nvSpPr>
            <p:spPr bwMode="auto">
              <a:xfrm>
                <a:off x="4105" y="2341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87"/>
              <p:cNvSpPr>
                <a:spLocks noChangeShapeType="1"/>
              </p:cNvSpPr>
              <p:nvPr/>
            </p:nvSpPr>
            <p:spPr bwMode="auto">
              <a:xfrm>
                <a:off x="3288" y="3385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88"/>
              <p:cNvSpPr>
                <a:spLocks noChangeShapeType="1"/>
              </p:cNvSpPr>
              <p:nvPr/>
            </p:nvSpPr>
            <p:spPr bwMode="auto">
              <a:xfrm>
                <a:off x="4649" y="2341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" name="Rectangle 89"/>
            <p:cNvSpPr>
              <a:spLocks noChangeArrowheads="1"/>
            </p:cNvSpPr>
            <p:nvPr/>
          </p:nvSpPr>
          <p:spPr bwMode="auto">
            <a:xfrm>
              <a:off x="4401" y="3211"/>
              <a:ext cx="24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修改</a:t>
              </a:r>
            </a:p>
          </p:txBody>
        </p:sp>
        <p:sp>
          <p:nvSpPr>
            <p:cNvPr id="55" name="Rectangle 90"/>
            <p:cNvSpPr>
              <a:spLocks noChangeArrowheads="1"/>
            </p:cNvSpPr>
            <p:nvPr/>
          </p:nvSpPr>
          <p:spPr bwMode="auto">
            <a:xfrm>
              <a:off x="3355" y="3243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grpSp>
          <p:nvGrpSpPr>
            <p:cNvPr id="56" name="Group 91"/>
            <p:cNvGrpSpPr>
              <a:grpSpLocks/>
            </p:cNvGrpSpPr>
            <p:nvPr/>
          </p:nvGrpSpPr>
          <p:grpSpPr bwMode="auto">
            <a:xfrm>
              <a:off x="4785" y="3294"/>
              <a:ext cx="590" cy="363"/>
              <a:chOff x="977" y="2002"/>
              <a:chExt cx="862" cy="363"/>
            </a:xfrm>
          </p:grpSpPr>
          <p:sp>
            <p:nvSpPr>
              <p:cNvPr id="74" name="Rectangle 92"/>
              <p:cNvSpPr>
                <a:spLocks noChangeArrowheads="1"/>
              </p:cNvSpPr>
              <p:nvPr/>
            </p:nvSpPr>
            <p:spPr bwMode="auto">
              <a:xfrm>
                <a:off x="1029" y="2036"/>
                <a:ext cx="762" cy="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800"/>
                  <a:t>银行卡</a:t>
                </a:r>
              </a:p>
            </p:txBody>
          </p:sp>
          <p:sp>
            <p:nvSpPr>
              <p:cNvPr id="75" name="Rectangle 93"/>
              <p:cNvSpPr>
                <a:spLocks noChangeArrowheads="1"/>
              </p:cNvSpPr>
              <p:nvPr/>
            </p:nvSpPr>
            <p:spPr bwMode="auto">
              <a:xfrm>
                <a:off x="977" y="2002"/>
                <a:ext cx="862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¡"/>
                  <a:defRPr sz="2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5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¡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¡"/>
                  <a:defRPr sz="19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94"/>
            <p:cNvGrpSpPr>
              <a:grpSpLocks/>
            </p:cNvGrpSpPr>
            <p:nvPr/>
          </p:nvGrpSpPr>
          <p:grpSpPr bwMode="auto">
            <a:xfrm>
              <a:off x="4150" y="1570"/>
              <a:ext cx="726" cy="1724"/>
              <a:chOff x="4150" y="1570"/>
              <a:chExt cx="726" cy="1724"/>
            </a:xfrm>
          </p:grpSpPr>
          <p:sp>
            <p:nvSpPr>
              <p:cNvPr id="71" name="Line 95"/>
              <p:cNvSpPr>
                <a:spLocks noChangeShapeType="1"/>
              </p:cNvSpPr>
              <p:nvPr/>
            </p:nvSpPr>
            <p:spPr bwMode="auto">
              <a:xfrm>
                <a:off x="4150" y="1570"/>
                <a:ext cx="0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96"/>
              <p:cNvSpPr>
                <a:spLocks noChangeShapeType="1"/>
              </p:cNvSpPr>
              <p:nvPr/>
            </p:nvSpPr>
            <p:spPr bwMode="auto">
              <a:xfrm>
                <a:off x="4150" y="2251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97"/>
              <p:cNvSpPr>
                <a:spLocks noChangeShapeType="1"/>
              </p:cNvSpPr>
              <p:nvPr/>
            </p:nvSpPr>
            <p:spPr bwMode="auto">
              <a:xfrm>
                <a:off x="4876" y="2251"/>
                <a:ext cx="0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" name="Line 98"/>
            <p:cNvSpPr>
              <a:spLocks noChangeShapeType="1"/>
            </p:cNvSpPr>
            <p:nvPr/>
          </p:nvSpPr>
          <p:spPr bwMode="auto">
            <a:xfrm>
              <a:off x="3288" y="3475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99"/>
            <p:cNvSpPr>
              <a:spLocks noChangeArrowheads="1"/>
            </p:cNvSpPr>
            <p:nvPr/>
          </p:nvSpPr>
          <p:spPr bwMode="auto">
            <a:xfrm>
              <a:off x="4516" y="3481"/>
              <a:ext cx="24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授权</a:t>
              </a:r>
            </a:p>
          </p:txBody>
        </p:sp>
        <p:sp>
          <p:nvSpPr>
            <p:cNvPr id="60" name="Rectangle 100"/>
            <p:cNvSpPr>
              <a:spLocks noChangeArrowheads="1"/>
            </p:cNvSpPr>
            <p:nvPr/>
          </p:nvSpPr>
          <p:spPr bwMode="auto">
            <a:xfrm>
              <a:off x="3358" y="3492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61" name="Line 101"/>
            <p:cNvSpPr>
              <a:spLocks noChangeShapeType="1"/>
            </p:cNvSpPr>
            <p:nvPr/>
          </p:nvSpPr>
          <p:spPr bwMode="auto">
            <a:xfrm>
              <a:off x="1429" y="3475"/>
              <a:ext cx="9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102"/>
            <p:cNvSpPr>
              <a:spLocks noChangeArrowheads="1"/>
            </p:cNvSpPr>
            <p:nvPr/>
          </p:nvSpPr>
          <p:spPr bwMode="auto">
            <a:xfrm>
              <a:off x="1610" y="3293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输入</a:t>
              </a:r>
            </a:p>
          </p:txBody>
        </p:sp>
        <p:sp>
          <p:nvSpPr>
            <p:cNvPr id="63" name="Rectangle 103"/>
            <p:cNvSpPr>
              <a:spLocks noChangeArrowheads="1"/>
            </p:cNvSpPr>
            <p:nvPr/>
          </p:nvSpPr>
          <p:spPr bwMode="auto">
            <a:xfrm>
              <a:off x="2245" y="3305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64" name="Rectangle 104"/>
            <p:cNvSpPr>
              <a:spLocks noChangeArrowheads="1"/>
            </p:cNvSpPr>
            <p:nvPr/>
          </p:nvSpPr>
          <p:spPr bwMode="auto">
            <a:xfrm>
              <a:off x="4905" y="3142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65" name="Rectangle 105"/>
            <p:cNvSpPr>
              <a:spLocks noChangeArrowheads="1"/>
            </p:cNvSpPr>
            <p:nvPr/>
          </p:nvSpPr>
          <p:spPr bwMode="auto">
            <a:xfrm>
              <a:off x="4468" y="2069"/>
              <a:ext cx="27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访问</a:t>
              </a:r>
            </a:p>
          </p:txBody>
        </p:sp>
        <p:sp>
          <p:nvSpPr>
            <p:cNvPr id="66" name="Rectangle 106"/>
            <p:cNvSpPr>
              <a:spLocks noChangeArrowheads="1"/>
            </p:cNvSpPr>
            <p:nvPr/>
          </p:nvSpPr>
          <p:spPr bwMode="auto">
            <a:xfrm>
              <a:off x="4174" y="1645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67" name="Line 107"/>
            <p:cNvSpPr>
              <a:spLocks noChangeShapeType="1"/>
            </p:cNvSpPr>
            <p:nvPr/>
          </p:nvSpPr>
          <p:spPr bwMode="auto">
            <a:xfrm>
              <a:off x="5148" y="1570"/>
              <a:ext cx="0" cy="1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108"/>
            <p:cNvSpPr>
              <a:spLocks noChangeArrowheads="1"/>
            </p:cNvSpPr>
            <p:nvPr/>
          </p:nvSpPr>
          <p:spPr bwMode="auto">
            <a:xfrm>
              <a:off x="5148" y="1797"/>
              <a:ext cx="27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/>
                <a:t>拥有</a:t>
              </a:r>
            </a:p>
          </p:txBody>
        </p:sp>
        <p:sp>
          <p:nvSpPr>
            <p:cNvPr id="69" name="Rectangle 109"/>
            <p:cNvSpPr>
              <a:spLocks noChangeArrowheads="1"/>
            </p:cNvSpPr>
            <p:nvPr/>
          </p:nvSpPr>
          <p:spPr bwMode="auto">
            <a:xfrm>
              <a:off x="5201" y="3145"/>
              <a:ext cx="13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/>
                <a:t>1+</a:t>
              </a:r>
            </a:p>
          </p:txBody>
        </p:sp>
        <p:sp>
          <p:nvSpPr>
            <p:cNvPr id="70" name="Rectangle 110"/>
            <p:cNvSpPr>
              <a:spLocks noChangeArrowheads="1"/>
            </p:cNvSpPr>
            <p:nvPr/>
          </p:nvSpPr>
          <p:spPr bwMode="auto">
            <a:xfrm>
              <a:off x="2290" y="4065"/>
              <a:ext cx="162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dirty="0">
                  <a:latin typeface="Arial" panose="020B0604020202020204" pitchFamily="34" charset="0"/>
                  <a:ea typeface="黑体" panose="02010609060101010101" pitchFamily="49" charset="-122"/>
                </a:rPr>
                <a:t>ATM</a:t>
              </a:r>
              <a:r>
                <a:rPr kumimoji="0"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系统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构成</a:t>
              </a:r>
              <a:endPara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1" name="Group 124"/>
          <p:cNvGrpSpPr>
            <a:grpSpLocks/>
          </p:cNvGrpSpPr>
          <p:nvPr/>
        </p:nvGrpSpPr>
        <p:grpSpPr bwMode="auto">
          <a:xfrm>
            <a:off x="683568" y="476672"/>
            <a:ext cx="1979613" cy="2952750"/>
            <a:chOff x="726" y="527"/>
            <a:chExt cx="1247" cy="1860"/>
          </a:xfrm>
        </p:grpSpPr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726" y="1003"/>
              <a:ext cx="1247" cy="1384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1065" y="527"/>
              <a:ext cx="4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总行</a:t>
              </a:r>
            </a:p>
          </p:txBody>
        </p:sp>
      </p:grpSp>
      <p:grpSp>
        <p:nvGrpSpPr>
          <p:cNvPr id="114" name="Group 125"/>
          <p:cNvGrpSpPr>
            <a:grpSpLocks/>
          </p:cNvGrpSpPr>
          <p:nvPr/>
        </p:nvGrpSpPr>
        <p:grpSpPr bwMode="auto">
          <a:xfrm>
            <a:off x="2771131" y="506834"/>
            <a:ext cx="4140200" cy="3570288"/>
            <a:chOff x="2041" y="546"/>
            <a:chExt cx="2608" cy="2249"/>
          </a:xfrm>
        </p:grpSpPr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2041" y="1005"/>
              <a:ext cx="2608" cy="17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3160" y="546"/>
              <a:ext cx="4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分行</a:t>
              </a:r>
            </a:p>
          </p:txBody>
        </p:sp>
      </p:grpSp>
      <p:grpSp>
        <p:nvGrpSpPr>
          <p:cNvPr id="117" name="Group 126"/>
          <p:cNvGrpSpPr>
            <a:grpSpLocks/>
          </p:cNvGrpSpPr>
          <p:nvPr/>
        </p:nvGrpSpPr>
        <p:grpSpPr bwMode="auto">
          <a:xfrm>
            <a:off x="718493" y="548109"/>
            <a:ext cx="7705725" cy="4864100"/>
            <a:chOff x="748" y="572"/>
            <a:chExt cx="4854" cy="3064"/>
          </a:xfrm>
        </p:grpSpPr>
        <p:grpSp>
          <p:nvGrpSpPr>
            <p:cNvPr id="118" name="Group 121"/>
            <p:cNvGrpSpPr>
              <a:grpSpLocks/>
            </p:cNvGrpSpPr>
            <p:nvPr/>
          </p:nvGrpSpPr>
          <p:grpSpPr bwMode="auto">
            <a:xfrm>
              <a:off x="748" y="1005"/>
              <a:ext cx="4854" cy="2631"/>
              <a:chOff x="748" y="981"/>
              <a:chExt cx="4854" cy="2631"/>
            </a:xfrm>
          </p:grpSpPr>
          <p:sp>
            <p:nvSpPr>
              <p:cNvPr id="120" name="Line 115"/>
              <p:cNvSpPr>
                <a:spLocks noChangeShapeType="1"/>
              </p:cNvSpPr>
              <p:nvPr/>
            </p:nvSpPr>
            <p:spPr bwMode="auto">
              <a:xfrm>
                <a:off x="748" y="2931"/>
                <a:ext cx="3992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116"/>
              <p:cNvSpPr>
                <a:spLocks noChangeShapeType="1"/>
              </p:cNvSpPr>
              <p:nvPr/>
            </p:nvSpPr>
            <p:spPr bwMode="auto">
              <a:xfrm>
                <a:off x="748" y="2931"/>
                <a:ext cx="0" cy="681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117"/>
              <p:cNvSpPr>
                <a:spLocks noChangeShapeType="1"/>
              </p:cNvSpPr>
              <p:nvPr/>
            </p:nvSpPr>
            <p:spPr bwMode="auto">
              <a:xfrm>
                <a:off x="748" y="3612"/>
                <a:ext cx="4854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118"/>
              <p:cNvSpPr>
                <a:spLocks noChangeShapeType="1"/>
              </p:cNvSpPr>
              <p:nvPr/>
            </p:nvSpPr>
            <p:spPr bwMode="auto">
              <a:xfrm flipV="1">
                <a:off x="4740" y="981"/>
                <a:ext cx="0" cy="195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119"/>
              <p:cNvSpPr>
                <a:spLocks noChangeShapeType="1"/>
              </p:cNvSpPr>
              <p:nvPr/>
            </p:nvSpPr>
            <p:spPr bwMode="auto">
              <a:xfrm>
                <a:off x="4740" y="981"/>
                <a:ext cx="862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120"/>
              <p:cNvSpPr>
                <a:spLocks noChangeShapeType="1"/>
              </p:cNvSpPr>
              <p:nvPr/>
            </p:nvSpPr>
            <p:spPr bwMode="auto">
              <a:xfrm>
                <a:off x="5602" y="981"/>
                <a:ext cx="0" cy="2631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" name="Rectangle 122"/>
            <p:cNvSpPr>
              <a:spLocks noChangeArrowheads="1"/>
            </p:cNvSpPr>
            <p:nvPr/>
          </p:nvSpPr>
          <p:spPr bwMode="auto">
            <a:xfrm>
              <a:off x="4921" y="572"/>
              <a:ext cx="4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dirty="0">
                  <a:solidFill>
                    <a:srgbClr val="0099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ATM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50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24472" y="1159808"/>
            <a:ext cx="2142687" cy="31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构建知识图谱目的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15236" y="1808568"/>
            <a:ext cx="5118128" cy="3151072"/>
          </a:xfrm>
        </p:spPr>
        <p:txBody>
          <a:bodyPr lIns="0" tIns="0" rIns="0" bIns="0"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、找到正确的内容</a:t>
            </a:r>
            <a:br>
              <a:rPr lang="zh-CN" altLang="en-US" sz="2000" b="1" dirty="0">
                <a:latin typeface="+mn-ea"/>
              </a:rPr>
            </a:br>
            <a:r>
              <a:rPr lang="zh-CN" altLang="en-US" sz="2000" b="1" dirty="0">
                <a:latin typeface="+mn-ea"/>
              </a:rPr>
              <a:t>    </a:t>
            </a:r>
            <a:r>
              <a:rPr lang="en-US" altLang="zh-CN" sz="2000" dirty="0">
                <a:latin typeface="+mn-ea"/>
              </a:rPr>
              <a:t>---</a:t>
            </a:r>
            <a:r>
              <a:rPr lang="zh-CN" altLang="en-US" sz="2000" b="1" dirty="0">
                <a:latin typeface="+mn-ea"/>
              </a:rPr>
              <a:t>搜索引擎经常会面临一词多义情况</a:t>
            </a:r>
            <a:endParaRPr lang="en-US" altLang="zh-CN" sz="2000" b="1" dirty="0">
              <a:latin typeface="+mn-ea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b="1" dirty="0">
                <a:latin typeface="+mn-ea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如：</a:t>
            </a:r>
            <a:r>
              <a:rPr lang="zh-CN" altLang="en-US" sz="2000" b="1" dirty="0">
                <a:latin typeface="+mn-ea"/>
              </a:rPr>
              <a:t>“笑傲江湖”，小说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电影</a:t>
            </a:r>
            <a:r>
              <a:rPr lang="en-US" altLang="zh-CN" sz="2000" b="1" dirty="0">
                <a:latin typeface="+mn-ea"/>
              </a:rPr>
              <a:t>…</a:t>
            </a:r>
            <a:r>
              <a:rPr lang="zh-CN" altLang="en-US" sz="2000" b="1" dirty="0">
                <a:latin typeface="+mn-ea"/>
              </a:rPr>
              <a:t>？</a:t>
            </a: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b="1" dirty="0">
                <a:latin typeface="+mn-ea"/>
              </a:rPr>
              <a:t>        “李娜”</a:t>
            </a:r>
            <a:r>
              <a:rPr lang="en-US" altLang="zh-CN" sz="2000" b="1" dirty="0">
                <a:latin typeface="+mn-ea"/>
              </a:rPr>
              <a:t>,</a:t>
            </a:r>
            <a:r>
              <a:rPr lang="zh-CN" altLang="en-US" sz="2000" b="1" dirty="0">
                <a:latin typeface="+mn-ea"/>
              </a:rPr>
              <a:t> 运动员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歌手</a:t>
            </a:r>
            <a:r>
              <a:rPr lang="en-US" altLang="zh-CN" sz="2000" b="1" dirty="0">
                <a:latin typeface="+mn-ea"/>
              </a:rPr>
              <a:t>…?</a:t>
            </a:r>
            <a:endParaRPr lang="zh-CN" altLang="en-US" sz="2000" b="1" dirty="0">
              <a:latin typeface="+mn-ea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b="1" dirty="0">
                <a:latin typeface="+mn-ea"/>
              </a:rPr>
              <a:t>        “文章”</a:t>
            </a:r>
            <a:r>
              <a:rPr lang="en-US" altLang="zh-CN" sz="2000" b="1" dirty="0">
                <a:latin typeface="+mn-ea"/>
              </a:rPr>
              <a:t>,</a:t>
            </a:r>
            <a:r>
              <a:rPr lang="zh-CN" altLang="en-US" sz="2000" b="1" dirty="0">
                <a:latin typeface="+mn-ea"/>
              </a:rPr>
              <a:t> 人名</a:t>
            </a:r>
            <a:r>
              <a:rPr lang="en-US" altLang="zh-CN" sz="2000" b="1" dirty="0">
                <a:latin typeface="+mn-ea"/>
              </a:rPr>
              <a:t>/article…</a:t>
            </a:r>
            <a:r>
              <a:rPr lang="zh-CN" altLang="en-US" sz="2000" b="1" dirty="0">
                <a:latin typeface="+mn-ea"/>
              </a:rPr>
              <a:t>？</a:t>
            </a: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b="1" dirty="0">
                <a:latin typeface="+mn-ea"/>
              </a:rPr>
              <a:t>        “小米”，公司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手机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农作物</a:t>
            </a:r>
            <a:r>
              <a:rPr lang="en-US" altLang="zh-CN" sz="2000" b="1" dirty="0">
                <a:latin typeface="+mn-ea"/>
              </a:rPr>
              <a:t>…</a:t>
            </a:r>
            <a:r>
              <a:rPr lang="zh-CN" altLang="en-US" sz="2000" b="1" dirty="0">
                <a:latin typeface="+mn-ea"/>
              </a:rPr>
              <a:t>？</a:t>
            </a: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b="1" dirty="0">
                <a:latin typeface="+mn-ea"/>
              </a:rPr>
              <a:t>        “火箭”，太空运载工具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武器</a:t>
            </a:r>
            <a:r>
              <a:rPr lang="en-US" altLang="zh-CN" sz="2000" b="1" dirty="0">
                <a:latin typeface="+mn-ea"/>
              </a:rPr>
              <a:t>…</a:t>
            </a:r>
            <a:r>
              <a:rPr lang="zh-CN" altLang="en-US" sz="2000" b="1" dirty="0">
                <a:latin typeface="+mn-ea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81848419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30083" y="1836187"/>
            <a:ext cx="8236071" cy="3204148"/>
          </a:xfrm>
        </p:spPr>
        <p:txBody>
          <a:bodyPr lIns="0" tIns="0" rIns="0" bIns="0">
            <a:noAutofit/>
          </a:bodyPr>
          <a:lstStyle/>
          <a:p>
            <a:pPr marL="271463" indent="-271463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+mn-ea"/>
              </a:rPr>
              <a:t>用户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搜索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某个目标</a:t>
            </a:r>
            <a:r>
              <a:rPr lang="zh-CN" altLang="en-US" sz="2000" b="1" dirty="0">
                <a:latin typeface="+mn-ea"/>
              </a:rPr>
              <a:t>时</a:t>
            </a:r>
            <a:r>
              <a:rPr lang="en-US" altLang="zh-CN" sz="2000" b="1" dirty="0">
                <a:latin typeface="+mn-ea"/>
              </a:rPr>
              <a:t>(</a:t>
            </a:r>
            <a:r>
              <a:rPr lang="zh-CN" altLang="en-US" sz="2000" b="1" dirty="0">
                <a:latin typeface="+mn-ea"/>
              </a:rPr>
              <a:t>如居里夫人</a:t>
            </a:r>
            <a:r>
              <a:rPr lang="en-US" altLang="zh-CN" sz="2000" b="1" dirty="0">
                <a:latin typeface="+mn-ea"/>
              </a:rPr>
              <a:t>)</a:t>
            </a:r>
            <a:r>
              <a:rPr lang="zh-CN" altLang="en-US" sz="2000" b="1" dirty="0">
                <a:latin typeface="+mn-ea"/>
              </a:rPr>
              <a:t>，诸如她的简介、出生年代、籍贯，家庭、学术成就</a:t>
            </a:r>
            <a:r>
              <a:rPr lang="en-US" altLang="zh-CN" sz="2000" b="1" dirty="0">
                <a:latin typeface="+mn-ea"/>
              </a:rPr>
              <a:t>…</a:t>
            </a:r>
            <a:r>
              <a:rPr lang="zh-CN" altLang="en-US" sz="2000" b="1" dirty="0">
                <a:latin typeface="+mn-ea"/>
              </a:rPr>
              <a:t>都可能是感兴趣的内容。</a:t>
            </a:r>
            <a:endParaRPr lang="en-US" altLang="zh-CN" sz="2000" b="1" dirty="0">
              <a:latin typeface="+mn-ea"/>
            </a:endParaRPr>
          </a:p>
          <a:p>
            <a:pPr marL="271463" indent="-271463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借助知识图谱</a:t>
            </a:r>
            <a:r>
              <a:rPr lang="zh-CN" altLang="en-US" sz="2000" b="1" dirty="0">
                <a:latin typeface="+mn-ea"/>
              </a:rPr>
              <a:t>，可将这些信息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条理清晰</a:t>
            </a:r>
            <a:r>
              <a:rPr lang="zh-CN" altLang="en-US" sz="2000" b="1" dirty="0">
                <a:latin typeface="+mn-ea"/>
              </a:rPr>
              <a:t>的进行展示，无需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再逐层</a:t>
            </a:r>
            <a:r>
              <a:rPr lang="zh-CN" altLang="en-US" sz="2000" b="1" dirty="0">
                <a:latin typeface="+mn-ea"/>
              </a:rPr>
              <a:t>打开网页了解。</a:t>
            </a:r>
            <a:endParaRPr lang="en-US" altLang="zh-CN" sz="2000" b="1" dirty="0">
              <a:latin typeface="+mn-ea"/>
            </a:endParaRPr>
          </a:p>
          <a:p>
            <a:pPr marL="271463" indent="-271463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+mn-ea"/>
              </a:rPr>
              <a:t>若一个目标的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属性特别多</a:t>
            </a:r>
            <a:r>
              <a:rPr lang="zh-CN" altLang="en-US" sz="2000" b="1" dirty="0">
                <a:latin typeface="+mn-ea"/>
              </a:rPr>
              <a:t>，且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关注点</a:t>
            </a:r>
            <a:r>
              <a:rPr lang="zh-CN" altLang="en-US" sz="2000" b="1" dirty="0">
                <a:latin typeface="+mn-ea"/>
              </a:rPr>
              <a:t>各不相同，不可能将知识图谱中所有的内容都展示给用户。利用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特定算法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计算</a:t>
            </a:r>
            <a:r>
              <a:rPr lang="zh-CN" altLang="en-US" sz="2000" b="1" dirty="0">
                <a:latin typeface="+mn-ea"/>
              </a:rPr>
              <a:t>出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哪些才是用户最关心的内容</a:t>
            </a:r>
            <a:r>
              <a:rPr lang="zh-CN" altLang="en-US" sz="2000" b="1" dirty="0">
                <a:latin typeface="+mn-ea"/>
              </a:rPr>
              <a:t>，仅将这些最感兴趣的内容呈现出来。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55860" y="1170924"/>
            <a:ext cx="2592288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、展示更恰当的摘要</a:t>
            </a: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998515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25345" y="1803052"/>
            <a:ext cx="7992888" cy="3426147"/>
          </a:xfrm>
        </p:spPr>
        <p:txBody>
          <a:bodyPr lIns="0" tIns="0" rIns="0" bIns="0">
            <a:noAutofit/>
          </a:bodyPr>
          <a:lstStyle/>
          <a:p>
            <a:pPr marL="271463" indent="-271463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+mn-ea"/>
              </a:rPr>
              <a:t>激发用户的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求知</a:t>
            </a:r>
            <a:r>
              <a:rPr lang="zh-CN" altLang="en-US" sz="2000" b="1" dirty="0">
                <a:latin typeface="+mn-ea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探索欲</a:t>
            </a:r>
            <a:endParaRPr lang="en-US" altLang="zh-CN" sz="2000" b="1" dirty="0">
              <a:latin typeface="+mn-ea"/>
            </a:endParaRPr>
          </a:p>
          <a:p>
            <a:pPr marL="0" indent="0">
              <a:lnSpc>
                <a:spcPts val="29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zh-CN" altLang="en-US" sz="2000" b="1" dirty="0">
                <a:latin typeface="+mn-ea"/>
              </a:rPr>
              <a:t>    通过知识图谱，可了解以前不知道的事物，以及这些不同事物之间的关联。</a:t>
            </a:r>
          </a:p>
          <a:p>
            <a:pPr marL="271463" indent="-271463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+mn-ea"/>
              </a:rPr>
              <a:t>根据事物的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相关度</a:t>
            </a:r>
            <a:r>
              <a:rPr lang="zh-CN" altLang="en-US" sz="2000" b="1" dirty="0">
                <a:latin typeface="+mn-ea"/>
              </a:rPr>
              <a:t>做出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推荐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 marL="628650" indent="-266700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+mn-ea"/>
              </a:rPr>
              <a:t>搜索一本书时，可通过该书获得的奖项，将同样获得过这些奖的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其它图书</a:t>
            </a:r>
            <a:r>
              <a:rPr lang="zh-CN" altLang="en-US" sz="2000" b="1" dirty="0">
                <a:latin typeface="+mn-ea"/>
              </a:rPr>
              <a:t>也推荐给用户。</a:t>
            </a:r>
            <a:endParaRPr lang="en-US" altLang="zh-CN" sz="2000" b="1" dirty="0">
              <a:latin typeface="+mn-ea"/>
            </a:endParaRPr>
          </a:p>
          <a:p>
            <a:pPr marL="628650" indent="-266700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+mn-ea"/>
              </a:rPr>
              <a:t>搜索某个学者时，可将与该学者同年代、同领域的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其他学者</a:t>
            </a:r>
            <a:r>
              <a:rPr lang="zh-CN" altLang="en-US" sz="2000" b="1" dirty="0">
                <a:latin typeface="+mn-ea"/>
              </a:rPr>
              <a:t>也推</a:t>
            </a:r>
            <a:r>
              <a:rPr lang="en-US" altLang="zh-CN" sz="1600" b="1" dirty="0">
                <a:latin typeface="+mn-ea"/>
              </a:rPr>
              <a:t>  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zh-CN" altLang="en-US" sz="2000" b="1" dirty="0">
                <a:latin typeface="+mn-ea"/>
              </a:rPr>
              <a:t>荐给用户。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647356" y="1196752"/>
            <a:ext cx="1476372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000" dirty="0">
                <a:latin typeface="+mn-ea"/>
              </a:rPr>
              <a:t>3</a:t>
            </a:r>
            <a:r>
              <a:rPr lang="zh-CN" altLang="en-US" sz="2000" b="1" dirty="0">
                <a:latin typeface="+mn-ea"/>
              </a:rPr>
              <a:t>、深度更广</a:t>
            </a:r>
            <a:endParaRPr lang="en-US" altLang="zh-CN" sz="20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46256" y="539444"/>
            <a:ext cx="5886184" cy="945340"/>
            <a:chOff x="2646256" y="539444"/>
            <a:chExt cx="5886184" cy="945340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664602" y="548680"/>
              <a:ext cx="1867838" cy="93610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找到正确的内容</a:t>
              </a:r>
              <a:endParaRPr lang="en-US" altLang="zh-CN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2500"/>
                </a:lnSpc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展示更恰当的摘要</a:t>
              </a:r>
              <a:endParaRPr lang="en-US" altLang="zh-CN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2500"/>
                </a:lnSpc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深度更广</a:t>
              </a:r>
            </a:p>
          </p:txBody>
        </p:sp>
        <p:sp>
          <p:nvSpPr>
            <p:cNvPr id="6" name="内容占位符 2"/>
            <p:cNvSpPr txBox="1">
              <a:spLocks/>
            </p:cNvSpPr>
            <p:nvPr/>
          </p:nvSpPr>
          <p:spPr bwMode="auto">
            <a:xfrm>
              <a:off x="2646256" y="539444"/>
              <a:ext cx="3888432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56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04925" indent="-395288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93863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913" indent="-398463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+mn-ea"/>
                </a:rPr>
                <a:t>基于知识图谱的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</a:rPr>
                <a:t>搜索</a:t>
              </a:r>
              <a:r>
                <a:rPr lang="zh-CN" altLang="en-US" sz="2000" dirty="0">
                  <a:latin typeface="+mn-ea"/>
                </a:rPr>
                <a:t>、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</a:rPr>
                <a:t>查询</a:t>
              </a:r>
              <a:r>
                <a:rPr lang="zh-CN" altLang="en-US" sz="2000" dirty="0">
                  <a:latin typeface="+mn-ea"/>
                </a:rPr>
                <a:t>与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</a:rPr>
                <a:t>推理</a:t>
              </a:r>
              <a:endParaRPr lang="en-US" altLang="zh-CN" sz="2000" b="1" dirty="0">
                <a:solidFill>
                  <a:srgbClr val="FF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83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611560" y="1159808"/>
            <a:ext cx="792088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+mn-ea"/>
                <a:ea typeface="+mn-ea"/>
              </a:rPr>
              <a:t>从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语义网络</a:t>
            </a:r>
            <a:r>
              <a:rPr lang="zh-CN" altLang="zh-CN" sz="2000" dirty="0">
                <a:latin typeface="+mn-ea"/>
                <a:ea typeface="+mn-ea"/>
              </a:rPr>
              <a:t>到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知识图谱</a:t>
            </a:r>
            <a:r>
              <a:rPr lang="en-US" altLang="zh-CN" sz="2000" dirty="0">
                <a:latin typeface="+mn-ea"/>
                <a:ea typeface="+mn-ea"/>
              </a:rPr>
              <a:t>,</a:t>
            </a:r>
            <a:r>
              <a:rPr lang="zh-CN" altLang="zh-CN" sz="2000" dirty="0">
                <a:latin typeface="+mn-ea"/>
                <a:ea typeface="+mn-ea"/>
              </a:rPr>
              <a:t>再到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图神经网络</a:t>
            </a:r>
            <a:r>
              <a:rPr lang="zh-CN" altLang="en-US" sz="2000" dirty="0">
                <a:latin typeface="+mn-ea"/>
                <a:ea typeface="+mn-ea"/>
              </a:rPr>
              <a:t>→知识表示方法的演进与发展</a:t>
            </a:r>
            <a:endParaRPr lang="zh-CN" altLang="en-US" sz="2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2323" y="1776031"/>
            <a:ext cx="7957825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latin typeface="+mn-ea"/>
                <a:ea typeface="+mn-ea"/>
              </a:rPr>
              <a:t>大数据时代，海量信息</a:t>
            </a:r>
            <a:r>
              <a:rPr lang="zh-CN" altLang="en-US" dirty="0">
                <a:latin typeface="+mn-ea"/>
                <a:ea typeface="+mn-ea"/>
              </a:rPr>
              <a:t>需要</a:t>
            </a:r>
            <a:r>
              <a:rPr lang="zh-CN" altLang="zh-CN" dirty="0">
                <a:latin typeface="+mn-ea"/>
                <a:ea typeface="+mn-ea"/>
              </a:rPr>
              <a:t>有效组织、管理和理解</a:t>
            </a:r>
            <a:r>
              <a:rPr lang="zh-CN" altLang="en-US" dirty="0">
                <a:latin typeface="+mn-ea"/>
                <a:ea typeface="+mn-ea"/>
              </a:rPr>
              <a:t>。而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语义网络</a:t>
            </a:r>
            <a:r>
              <a:rPr lang="zh-CN" altLang="zh-CN" dirty="0">
                <a:latin typeface="+mn-ea"/>
                <a:ea typeface="+mn-ea"/>
              </a:rPr>
              <a:t>、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知识图谱</a:t>
            </a:r>
            <a:r>
              <a:rPr lang="zh-CN" altLang="en-US" dirty="0">
                <a:latin typeface="+mn-ea"/>
                <a:ea typeface="+mn-ea"/>
              </a:rPr>
              <a:t>以及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图神经网络</a:t>
            </a:r>
            <a:r>
              <a:rPr lang="zh-CN" altLang="zh-CN" dirty="0">
                <a:latin typeface="+mn-ea"/>
                <a:ea typeface="+mn-ea"/>
              </a:rPr>
              <a:t>，提供了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处理复杂数据结构、关系</a:t>
            </a:r>
            <a:r>
              <a:rPr lang="zh-CN" altLang="zh-CN" dirty="0">
                <a:latin typeface="+mn-ea"/>
                <a:ea typeface="+mn-ea"/>
              </a:rPr>
              <a:t>的</a:t>
            </a:r>
            <a:r>
              <a:rPr lang="zh-CN" altLang="zh-CN" u="wavyDbl" dirty="0">
                <a:latin typeface="+mn-ea"/>
                <a:ea typeface="+mn-ea"/>
              </a:rPr>
              <a:t>方法和工具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6941" y="2780928"/>
            <a:ext cx="7948588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认识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人工智能领域中，知识表示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处理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方法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发展脉络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、在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概念和技术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层面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关联与演进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从基础概念到高级应用的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逐步深入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560" y="3785825"/>
            <a:ext cx="7992888" cy="124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从简单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知识表示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语义网络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到更复杂和系统的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知识库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知识图谱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，再到能够学习图数据特征的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深度学习模型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图神经网络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，通过这一演进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过程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，了解知识表示方法的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知识体系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607103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18916" y="1186299"/>
            <a:ext cx="5112568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图神经网络（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15" y="1844824"/>
            <a:ext cx="2467293" cy="118235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75856" y="1731038"/>
            <a:ext cx="5400600" cy="1296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t"/>
          <a:lstStyle/>
          <a:p>
            <a:pPr marL="268288" indent="-268288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神经网络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深层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，针对文本、语音、图像、视频等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欧氏空间数据建模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方面成效显著。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marL="268288" indent="-268288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但，以“</a:t>
            </a:r>
            <a:r>
              <a:rPr lang="zh-CN" altLang="en-US" dirty="0">
                <a:solidFill>
                  <a:srgbClr val="FF0000"/>
                </a:solidFill>
              </a:rPr>
              <a:t>图形式</a:t>
            </a:r>
            <a:r>
              <a:rPr lang="zh-CN" altLang="en-US" dirty="0">
                <a:solidFill>
                  <a:schemeClr val="tx1"/>
                </a:solidFill>
              </a:rPr>
              <a:t>”存在的</a:t>
            </a:r>
            <a:r>
              <a:rPr lang="zh-CN" altLang="en-US" dirty="0">
                <a:solidFill>
                  <a:srgbClr val="FF0000"/>
                </a:solidFill>
              </a:rPr>
              <a:t>非欧空间数据</a:t>
            </a:r>
            <a:r>
              <a:rPr lang="zh-CN" altLang="en-US" dirty="0">
                <a:solidFill>
                  <a:schemeClr val="tx1"/>
                </a:solidFill>
              </a:rPr>
              <a:t>，也是常见的数据表示形式。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8915" y="3140968"/>
            <a:ext cx="8129549" cy="1008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t"/>
          <a:lstStyle/>
          <a:p>
            <a:pPr marL="268288" indent="-268288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solidFill>
                  <a:schemeClr val="tx1"/>
                </a:solidFill>
                <a:latin typeface="+mn-ea"/>
              </a:rPr>
              <a:t>提出</a:t>
            </a:r>
            <a:r>
              <a:rPr lang="zh-CN" altLang="zh-CN" dirty="0">
                <a:solidFill>
                  <a:srgbClr val="FF0000"/>
                </a:solidFill>
                <a:latin typeface="+mn-ea"/>
              </a:rPr>
              <a:t>图神经网络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将神经网络模型</a:t>
            </a:r>
            <a:r>
              <a:rPr lang="zh-CN" altLang="zh-CN" dirty="0">
                <a:solidFill>
                  <a:srgbClr val="FF0000"/>
                </a:solidFill>
                <a:latin typeface="+mn-ea"/>
              </a:rPr>
              <a:t>迁移到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图数据上，通过</a:t>
            </a:r>
            <a:r>
              <a:rPr lang="zh-CN" altLang="zh-CN" dirty="0">
                <a:solidFill>
                  <a:srgbClr val="FF0000"/>
                </a:solidFill>
                <a:latin typeface="+mn-ea"/>
              </a:rPr>
              <a:t>端到端方式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自动学习和提取图数据的特征。在节点分类、图分类、推荐、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自然语言处理、计算机视觉、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知识推理等任务中应用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广泛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8915" y="4349703"/>
            <a:ext cx="7697501" cy="1599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t"/>
          <a:lstStyle/>
          <a:p>
            <a:pPr marL="263525" indent="-263525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关注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：图神经网络的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表达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能力和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推理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能力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marL="631825" indent="-271463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度量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solidFill>
                  <a:schemeClr val="tx1"/>
                </a:solidFill>
                <a:latin typeface="+mn-ea"/>
              </a:rPr>
              <a:t>表达能力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理论支持</a:t>
            </a:r>
            <a:endParaRPr lang="en-US" altLang="zh-CN" sz="1600" dirty="0">
              <a:solidFill>
                <a:srgbClr val="0000FF"/>
              </a:solidFill>
              <a:latin typeface="+mn-ea"/>
            </a:endParaRPr>
          </a:p>
          <a:p>
            <a:pPr marL="631825" indent="-271463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solidFill>
                  <a:schemeClr val="tx1"/>
                </a:solidFill>
                <a:latin typeface="+mn-ea"/>
              </a:rPr>
              <a:t>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</a:rPr>
              <a:t>刻画复杂结构关联</a:t>
            </a:r>
            <a:r>
              <a:rPr lang="zh-CN" altLang="zh-CN" sz="1600" dirty="0">
                <a:solidFill>
                  <a:schemeClr val="tx1"/>
                </a:solidFill>
                <a:latin typeface="+mn-ea"/>
              </a:rPr>
              <a:t>的同时，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具有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何种</a:t>
            </a:r>
            <a:r>
              <a:rPr lang="zh-CN" altLang="zh-CN" sz="1600" dirty="0">
                <a:solidFill>
                  <a:srgbClr val="0000FF"/>
                </a:solidFill>
                <a:latin typeface="+mn-ea"/>
              </a:rPr>
              <a:t>推理能力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631825" indent="-271463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作为</a:t>
            </a:r>
            <a:r>
              <a:rPr lang="zh-CN" altLang="zh-CN" sz="1600" dirty="0">
                <a:solidFill>
                  <a:schemeClr val="tx1"/>
                </a:solidFill>
                <a:latin typeface="+mn-ea"/>
              </a:rPr>
              <a:t>知识表示的一种形式，能否在知识图谱基础上，利用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solidFill>
                  <a:schemeClr val="tx1"/>
                </a:solidFill>
                <a:latin typeface="+mn-ea"/>
              </a:rPr>
              <a:t>进行</a:t>
            </a:r>
            <a:r>
              <a:rPr lang="zh-CN" altLang="zh-CN" sz="1600" dirty="0">
                <a:solidFill>
                  <a:srgbClr val="0000FF"/>
                </a:solidFill>
                <a:latin typeface="+mn-ea"/>
              </a:rPr>
              <a:t>知识推理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631825" indent="-271463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用推理过程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模拟思维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，推动</a:t>
            </a:r>
            <a:r>
              <a:rPr lang="zh-CN" altLang="zh-CN" sz="1600" dirty="0">
                <a:solidFill>
                  <a:schemeClr val="tx1"/>
                </a:solidFill>
                <a:latin typeface="+mn-ea"/>
              </a:rPr>
              <a:t>人工智能技术</a:t>
            </a:r>
            <a:r>
              <a:rPr lang="zh-CN" altLang="zh-CN" sz="1600" dirty="0">
                <a:solidFill>
                  <a:srgbClr val="0000FF"/>
                </a:solidFill>
                <a:latin typeface="+mn-ea"/>
              </a:rPr>
              <a:t>从感知到认知的跨越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6549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64714" y="1180280"/>
            <a:ext cx="1296144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图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Graph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1560" y="1772816"/>
            <a:ext cx="7920879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3525" lvl="0" indent="-263525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tabLst>
                <a:tab pos="457200" algn="l"/>
              </a:tabLst>
            </a:pPr>
            <a:r>
              <a:rPr lang="zh-CN" altLang="en-US" dirty="0">
                <a:latin typeface="+mn-ea"/>
                <a:ea typeface="+mn-ea"/>
              </a:rPr>
              <a:t>图论中：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图</a:t>
            </a:r>
            <a:r>
              <a:rPr lang="zh-CN" altLang="en-US" dirty="0">
                <a:latin typeface="+mn-ea"/>
                <a:ea typeface="+mn-ea"/>
              </a:rPr>
              <a:t>是某类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离散事物</a:t>
            </a:r>
            <a:r>
              <a:rPr lang="zh-CN" altLang="en-US" dirty="0">
                <a:latin typeface="+mn-ea"/>
                <a:ea typeface="+mn-ea"/>
              </a:rPr>
              <a:t>的集合，以及</a:t>
            </a:r>
            <a:r>
              <a:rPr lang="zh-CN" altLang="en-US" u="wavyDbl" dirty="0">
                <a:latin typeface="+mn-ea"/>
                <a:ea typeface="+mn-ea"/>
              </a:rPr>
              <a:t>集合中</a:t>
            </a:r>
            <a:r>
              <a:rPr lang="zh-CN" altLang="en-US" dirty="0">
                <a:latin typeface="+mn-ea"/>
                <a:ea typeface="+mn-ea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每对事物</a:t>
            </a:r>
            <a:r>
              <a:rPr lang="zh-CN" altLang="en-US" dirty="0">
                <a:latin typeface="+mn-ea"/>
                <a:ea typeface="+mn-ea"/>
              </a:rPr>
              <a:t>”之间，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以某种方式相联系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数学模型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167376"/>
            <a:ext cx="2739009" cy="1573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1560" y="2852936"/>
                <a:ext cx="6696744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lvl="0" indent="-268288"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tabLst>
                    <a:tab pos="457200" algn="l"/>
                  </a:tabLst>
                </a:pP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定义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zh-CN" altLang="en-US" dirty="0">
                    <a:solidFill>
                      <a:srgbClr val="0000FF"/>
                    </a:solidFill>
                    <a:latin typeface="+mn-ea"/>
                    <a:ea typeface="+mn-ea"/>
                  </a:rPr>
                  <a:t>图</a:t>
                </a:r>
                <a:r>
                  <a:rPr lang="zh-CN" altLang="en-US" dirty="0">
                    <a:latin typeface="+mn-ea"/>
                    <a:ea typeface="+mn-ea"/>
                  </a:rPr>
                  <a:t>是一个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序偶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𝑽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𝑬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&gt;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𝑮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=&lt;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𝑽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𝑬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&gt;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 或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𝑮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=(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𝑽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𝑬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852936"/>
                <a:ext cx="6696744" cy="276999"/>
              </a:xfrm>
              <a:prstGeom prst="rect">
                <a:avLst/>
              </a:prstGeom>
              <a:blipFill>
                <a:blip r:embed="rId3"/>
                <a:stretch>
                  <a:fillRect l="-1547" t="-33333" r="-546" b="-4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918063" y="3303456"/>
                <a:ext cx="6912769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lvl="0" indent="-268288"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𝑽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={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,…,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是有限非空集合，</a:t>
                </a:r>
                <a:r>
                  <a:rPr lang="zh-CN" altLang="en-US" sz="1600" dirty="0">
                    <a:latin typeface="+mn-ea"/>
                  </a:rPr>
                  <a:t>称“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</a:rPr>
                  <a:t>节点集</a:t>
                </a:r>
                <a:r>
                  <a:rPr lang="zh-CN" altLang="en-US" sz="1600" dirty="0">
                    <a:latin typeface="+mn-ea"/>
                  </a:rPr>
                  <a:t>”，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称“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节点</a:t>
                </a:r>
                <a:r>
                  <a:rPr lang="zh-CN" altLang="en-US" sz="1600" dirty="0">
                    <a:latin typeface="+mn-ea"/>
                    <a:ea typeface="+mn-ea"/>
                  </a:rPr>
                  <a:t>”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node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63" y="3303456"/>
                <a:ext cx="6912769" cy="246221"/>
              </a:xfrm>
              <a:prstGeom prst="rect">
                <a:avLst/>
              </a:prstGeom>
              <a:blipFill>
                <a:blip r:embed="rId4"/>
                <a:stretch>
                  <a:fillRect l="-1411" t="-30000" r="-529" b="-5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918063" y="3613698"/>
                <a:ext cx="7689090" cy="18081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lvl="0" indent="-268288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𝑬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={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是有限集合，称“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边集</a:t>
                </a:r>
                <a:r>
                  <a:rPr lang="zh-CN" altLang="en-US" sz="1600" dirty="0">
                    <a:latin typeface="+mn-ea"/>
                    <a:ea typeface="+mn-ea"/>
                  </a:rPr>
                  <a:t>”，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𝑬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中的每个元素“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”都有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𝑽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中的“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节点对</a:t>
                </a:r>
                <a:r>
                  <a:rPr lang="zh-CN" altLang="en-US" sz="1600" dirty="0">
                    <a:latin typeface="+mn-ea"/>
                    <a:ea typeface="+mn-ea"/>
                  </a:rPr>
                  <a:t>”与之对应，称为“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边</a:t>
                </a:r>
                <a:r>
                  <a:rPr lang="zh-CN" altLang="en-US" sz="1600" dirty="0">
                    <a:latin typeface="+mn-ea"/>
                    <a:ea typeface="+mn-ea"/>
                  </a:rPr>
                  <a:t>”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edge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  <a:r>
                  <a:rPr lang="zh-CN" altLang="en-US" sz="1600" dirty="0">
                    <a:latin typeface="+mn-ea"/>
                    <a:ea typeface="+mn-ea"/>
                  </a:rPr>
                  <a:t>或“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弧</a:t>
                </a:r>
                <a:r>
                  <a:rPr lang="zh-CN" altLang="en-US" sz="1600" dirty="0">
                    <a:latin typeface="+mn-ea"/>
                    <a:ea typeface="+mn-ea"/>
                  </a:rPr>
                  <a:t>”。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268288" lvl="0" indent="-268288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tabLst>
                    <a:tab pos="457200" algn="l"/>
                  </a:tabLst>
                </a:pPr>
                <a:r>
                  <a:rPr lang="zh-CN" altLang="en-US" sz="1600" dirty="0">
                    <a:latin typeface="+mn-ea"/>
                    <a:ea typeface="+mn-ea"/>
                  </a:rPr>
                  <a:t>与“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边</a:t>
                </a:r>
                <a:r>
                  <a:rPr lang="zh-CN" altLang="en-US" sz="1600" dirty="0">
                    <a:latin typeface="+mn-ea"/>
                    <a:ea typeface="+mn-ea"/>
                  </a:rPr>
                  <a:t>”对应的“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节点对</a:t>
                </a:r>
                <a:r>
                  <a:rPr lang="zh-CN" altLang="en-US" sz="1600" dirty="0">
                    <a:latin typeface="+mn-ea"/>
                    <a:ea typeface="+mn-ea"/>
                  </a:rPr>
                  <a:t>”，可以是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有序</a:t>
                </a:r>
                <a:r>
                  <a:rPr lang="zh-CN" altLang="en-US" sz="1600" dirty="0">
                    <a:latin typeface="+mn-ea"/>
                    <a:ea typeface="+mn-ea"/>
                  </a:rPr>
                  <a:t>的，也可以是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无序</a:t>
                </a:r>
                <a:r>
                  <a:rPr lang="zh-CN" altLang="en-US" sz="1600" dirty="0">
                    <a:latin typeface="+mn-ea"/>
                    <a:ea typeface="+mn-ea"/>
                  </a:rPr>
                  <a:t>的。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442913" lvl="0" indent="-82550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zh-CN" altLang="en-US" sz="1600" dirty="0">
                    <a:latin typeface="+mn-ea"/>
                    <a:ea typeface="+mn-ea"/>
                  </a:rPr>
                  <a:t>若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𝒆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与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无序节点对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𝒖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𝒗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对应，称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为“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无向边</a:t>
                </a:r>
                <a:r>
                  <a:rPr lang="zh-CN" altLang="en-US" sz="1600" dirty="0">
                    <a:latin typeface="+mn-ea"/>
                    <a:ea typeface="+mn-ea"/>
                  </a:rPr>
                  <a:t>”，记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𝒆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𝒖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</m:e>
                    </m:d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𝒖</m:t>
                        </m:r>
                      </m:e>
                    </m:d>
                  </m:oMath>
                </a14:m>
                <a:endParaRPr lang="en-US" altLang="zh-CN" sz="1600" dirty="0">
                  <a:latin typeface="+mn-ea"/>
                  <a:ea typeface="+mn-ea"/>
                </a:endParaRPr>
              </a:p>
              <a:p>
                <a:pPr marL="442913" lvl="0" indent="-82550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zh-CN" altLang="en-US" sz="1600" dirty="0">
                    <a:latin typeface="+mn-ea"/>
                  </a:rPr>
                  <a:t>若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</a:rPr>
                  <a:t>边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与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</a:rPr>
                  <a:t>有序节点对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对应，称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为“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</a:rPr>
                  <a:t>有向边</a:t>
                </a:r>
                <a:r>
                  <a:rPr lang="zh-CN" altLang="en-US" sz="1600" dirty="0">
                    <a:latin typeface="+mn-ea"/>
                  </a:rPr>
                  <a:t>”，记为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endParaRPr lang="en-US" altLang="zh-CN" sz="16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63" y="3613698"/>
                <a:ext cx="7689090" cy="1808187"/>
              </a:xfrm>
              <a:prstGeom prst="rect">
                <a:avLst/>
              </a:prstGeom>
              <a:blipFill>
                <a:blip r:embed="rId5"/>
                <a:stretch>
                  <a:fillRect l="-1269" t="-1014" r="-1190" b="-33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2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39268" y="1195535"/>
            <a:ext cx="1152128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图的分类</a:t>
            </a:r>
          </a:p>
        </p:txBody>
      </p:sp>
      <p:sp>
        <p:nvSpPr>
          <p:cNvPr id="3" name="矩形 2"/>
          <p:cNvSpPr/>
          <p:nvPr/>
        </p:nvSpPr>
        <p:spPr>
          <a:xfrm>
            <a:off x="614512" y="1782052"/>
            <a:ext cx="2013272" cy="1154162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268288" lvl="0" indent="-268288">
              <a:lnSpc>
                <a:spcPts val="21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tabLst>
                <a:tab pos="457200" algn="l"/>
              </a:tabLst>
            </a:pP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GNN</a:t>
            </a:r>
            <a:r>
              <a:rPr lang="zh-CN" altLang="en-US" dirty="0">
                <a:latin typeface="+mn-ea"/>
                <a:ea typeface="+mn-ea"/>
              </a:rPr>
              <a:t>常用的图</a:t>
            </a:r>
            <a:endParaRPr lang="en-US" altLang="zh-CN" dirty="0">
              <a:latin typeface="+mn-ea"/>
              <a:ea typeface="+mn-ea"/>
            </a:endParaRPr>
          </a:p>
          <a:p>
            <a:pPr marL="534988" lvl="0" indent="-174625">
              <a:lnSpc>
                <a:spcPts val="21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631825" algn="l"/>
              </a:tabLst>
            </a:pPr>
            <a:r>
              <a:rPr lang="zh-CN" altLang="en-US" sz="1600" dirty="0">
                <a:latin typeface="+mn-ea"/>
                <a:ea typeface="+mn-ea"/>
              </a:rPr>
              <a:t>同质图、异质图</a:t>
            </a:r>
            <a:endParaRPr lang="en-US" altLang="zh-CN" sz="1600" dirty="0">
              <a:latin typeface="+mn-ea"/>
              <a:ea typeface="+mn-ea"/>
            </a:endParaRPr>
          </a:p>
          <a:p>
            <a:pPr marL="534988" lvl="0" indent="-174625">
              <a:lnSpc>
                <a:spcPts val="21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631825" algn="l"/>
              </a:tabLst>
            </a:pPr>
            <a:r>
              <a:rPr lang="zh-CN" altLang="en-US" sz="1600" dirty="0">
                <a:latin typeface="+mn-ea"/>
                <a:ea typeface="+mn-ea"/>
              </a:rPr>
              <a:t>无向图、有向图</a:t>
            </a:r>
            <a:endParaRPr lang="en-US" altLang="zh-CN" sz="1600" dirty="0">
              <a:latin typeface="+mn-ea"/>
              <a:ea typeface="+mn-ea"/>
            </a:endParaRPr>
          </a:p>
          <a:p>
            <a:pPr marL="534988" lvl="0" indent="-174625">
              <a:lnSpc>
                <a:spcPts val="21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631825" algn="l"/>
              </a:tabLst>
            </a:pPr>
            <a:r>
              <a:rPr lang="zh-CN" altLang="en-US" sz="1600" dirty="0">
                <a:latin typeface="+mn-ea"/>
                <a:ea typeface="+mn-ea"/>
              </a:rPr>
              <a:t>赋权图、无权图</a:t>
            </a:r>
            <a:endParaRPr lang="en-US" altLang="zh-CN" sz="1600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692" y="1812897"/>
            <a:ext cx="4752528" cy="113810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611103" y="4643867"/>
            <a:ext cx="8365216" cy="1329781"/>
            <a:chOff x="611103" y="4581128"/>
            <a:chExt cx="8365216" cy="1329781"/>
          </a:xfrm>
        </p:grpSpPr>
        <p:sp>
          <p:nvSpPr>
            <p:cNvPr id="14" name="矩形 13"/>
            <p:cNvSpPr/>
            <p:nvPr/>
          </p:nvSpPr>
          <p:spPr>
            <a:xfrm>
              <a:off x="614512" y="4581128"/>
              <a:ext cx="8361807" cy="692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68288" lvl="0" indent="-268288"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tabLst>
                  <a:tab pos="457200" algn="l"/>
                </a:tabLst>
              </a:pPr>
              <a:r>
                <a:rPr lang="zh-CN" altLang="en-US" dirty="0">
                  <a:solidFill>
                    <a:srgbClr val="FF0000"/>
                  </a:solidFill>
                  <a:latin typeface="+mn-ea"/>
                  <a:ea typeface="+mn-ea"/>
                </a:rPr>
                <a:t>同构图</a:t>
              </a:r>
              <a:r>
                <a:rPr lang="zh-CN" altLang="en-US" dirty="0">
                  <a:latin typeface="+mn-ea"/>
                  <a:ea typeface="+mn-ea"/>
                </a:rPr>
                <a:t>：两个图可通过“重新标记节点”的方式变得相同，强调结构相似性。</a:t>
              </a:r>
              <a:endParaRPr lang="en-US" altLang="zh-CN" dirty="0">
                <a:latin typeface="+mn-ea"/>
                <a:ea typeface="+mn-ea"/>
              </a:endParaRPr>
            </a:p>
            <a:p>
              <a:pPr marL="268288" lvl="0" indent="-268288"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tabLst>
                  <a:tab pos="457200" algn="l"/>
                </a:tabLst>
              </a:pPr>
              <a:r>
                <a:rPr lang="zh-CN" altLang="en-US" dirty="0">
                  <a:solidFill>
                    <a:srgbClr val="FF0000"/>
                  </a:solidFill>
                  <a:latin typeface="+mn-ea"/>
                  <a:ea typeface="+mn-ea"/>
                </a:rPr>
                <a:t>同质图</a:t>
              </a:r>
              <a:r>
                <a:rPr lang="zh-CN" altLang="en-US" dirty="0">
                  <a:latin typeface="+mn-ea"/>
                  <a:ea typeface="+mn-ea"/>
                </a:rPr>
                <a:t>：图中所有节点和边均属于同一类型，即节点和边之间没有类型的区别。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11103" y="5266052"/>
              <a:ext cx="8205960" cy="6448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68288" lvl="0" indent="-268288"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tabLst>
                  <a:tab pos="457200" algn="l"/>
                </a:tabLst>
              </a:pPr>
              <a:r>
                <a:rPr lang="zh-CN" altLang="en-US" dirty="0">
                  <a:solidFill>
                    <a:srgbClr val="FF0000"/>
                  </a:solidFill>
                  <a:latin typeface="+mn-ea"/>
                  <a:ea typeface="+mn-ea"/>
                </a:rPr>
                <a:t>异构图、异质图</a:t>
              </a:r>
              <a:r>
                <a:rPr lang="zh-CN" altLang="en-US" dirty="0">
                  <a:latin typeface="+mn-ea"/>
                  <a:ea typeface="+mn-ea"/>
                </a:rPr>
                <a:t>：图中存在不同类型的节点和边。这类图模型常用于表示复杂</a:t>
              </a:r>
              <a:endParaRPr lang="en-US" altLang="zh-CN" dirty="0">
                <a:latin typeface="+mn-ea"/>
                <a:ea typeface="+mn-ea"/>
              </a:endParaRPr>
            </a:p>
            <a:p>
              <a:pPr lvl="0"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tabLst>
                  <a:tab pos="457200" algn="l"/>
                </a:tabLst>
              </a:pPr>
              <a:r>
                <a:rPr lang="en-US" altLang="zh-CN" dirty="0">
                  <a:latin typeface="+mn-ea"/>
                  <a:ea typeface="+mn-ea"/>
                </a:rPr>
                <a:t>                  </a:t>
              </a:r>
              <a:r>
                <a:rPr lang="zh-CN" altLang="en-US" dirty="0">
                  <a:latin typeface="+mn-ea"/>
                  <a:ea typeface="+mn-ea"/>
                </a:rPr>
                <a:t>系统中的多样性和关联，如社交网络、知识图谱</a:t>
              </a:r>
              <a:r>
                <a:rPr lang="en-US" altLang="zh-CN" dirty="0">
                  <a:latin typeface="+mn-ea"/>
                  <a:ea typeface="+mn-ea"/>
                </a:rPr>
                <a:t>……</a:t>
              </a:r>
              <a:r>
                <a:rPr lang="zh-CN" altLang="en-US" dirty="0">
                  <a:latin typeface="+mn-ea"/>
                  <a:ea typeface="+mn-ea"/>
                </a:rPr>
                <a:t>。</a:t>
              </a:r>
              <a:endParaRPr lang="en-US" altLang="zh-CN" dirty="0">
                <a:latin typeface="+mn-ea"/>
                <a:ea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856" y="3141337"/>
            <a:ext cx="7252472" cy="1295775"/>
          </a:xfrm>
          <a:prstGeom prst="rect">
            <a:avLst/>
          </a:prstGeom>
        </p:spPr>
      </p:pic>
      <p:pic>
        <p:nvPicPr>
          <p:cNvPr id="11" name="Picture 2" descr="C:\Users\xxx\Desktop\课件截图\截图4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52842"/>
            <a:ext cx="2808312" cy="137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1713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30032" y="1178943"/>
            <a:ext cx="1080120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图的属性</a:t>
            </a: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620796" y="1789408"/>
            <a:ext cx="2648521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 indent="-268288"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邻接矩阵、关联矩阵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213865"/>
            <a:ext cx="2426993" cy="1265571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30033" y="2276873"/>
            <a:ext cx="2213776" cy="3858847"/>
            <a:chOff x="630033" y="2276873"/>
            <a:chExt cx="2213776" cy="38588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033" y="2276873"/>
              <a:ext cx="2213776" cy="195887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033" y="4293096"/>
              <a:ext cx="2213776" cy="1842624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3419872" y="2564904"/>
            <a:ext cx="4824536" cy="1246495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lIns="36000" tIns="0" rIns="0" bIns="0">
            <a:spAutoFit/>
          </a:bodyPr>
          <a:lstStyle/>
          <a:p>
            <a:pPr marL="176213" indent="-176213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用邻接矩阵表示图结构</a:t>
            </a:r>
            <a:endParaRPr lang="en-US" altLang="zh-CN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76213" indent="-176213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用邻接矩阵保存了图中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之间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关系结构。</a:t>
            </a:r>
            <a:endParaRPr lang="en-US" altLang="zh-CN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76213" indent="-176213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因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无向图连接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图的邻接矩阵是对称矩阵。</a:t>
            </a:r>
            <a:endParaRPr lang="zh-CN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19694" y="4653136"/>
            <a:ext cx="4824714" cy="830997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lIns="36000" tIns="0" rIns="0" bIns="0">
            <a:spAutoFit/>
          </a:bodyPr>
          <a:lstStyle/>
          <a:p>
            <a:pPr marL="176213" indent="-176213" algn="just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关联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矩阵表示图结构</a:t>
            </a:r>
            <a:endParaRPr lang="en-US" altLang="zh-CN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76213" indent="-176213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关联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矩阵保存图中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与边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之间的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关系结构。</a:t>
            </a:r>
            <a:endParaRPr lang="zh-CN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990072" y="2555668"/>
            <a:ext cx="1728192" cy="124649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9676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30032" y="1169044"/>
            <a:ext cx="1368152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 indent="-268288"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邻居、度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26857" y="1718906"/>
            <a:ext cx="7351934" cy="870431"/>
            <a:chOff x="948205" y="2123867"/>
            <a:chExt cx="7351934" cy="87043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0072" y="2664342"/>
              <a:ext cx="3080067" cy="294327"/>
            </a:xfrm>
            <a:prstGeom prst="rect">
              <a:avLst/>
            </a:prstGeom>
            <a:ln>
              <a:solidFill>
                <a:srgbClr val="0000FF"/>
              </a:solidFill>
              <a:prstDash val="sysDash"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 txBox="1">
                  <a:spLocks noChangeArrowheads="1"/>
                </p:cNvSpPr>
                <p:nvPr/>
              </p:nvSpPr>
              <p:spPr>
                <a:xfrm>
                  <a:off x="948205" y="2123867"/>
                  <a:ext cx="6336704" cy="870431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numCol="1" rtlCol="0" anchor="b" anchorCtr="0" compatLnSpc="1">
                  <a:prstTxWarp prst="textNoShape">
                    <a:avLst/>
                  </a:prstTxWarp>
                  <a:sp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marL="179388" indent="-179388" fontAlgn="auto">
                    <a:lnSpc>
                      <a:spcPct val="1500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Ø"/>
                  </a:pPr>
                  <a:r>
                    <a:rPr lang="zh-CN" altLang="en-US" sz="1800" dirty="0">
                      <a:latin typeface="+mn-ea"/>
                      <a:ea typeface="+mn-ea"/>
                    </a:rPr>
                    <a:t>若节点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latin typeface="+mn-ea"/>
                      <a:ea typeface="+mn-ea"/>
                    </a:rPr>
                    <a:t>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zh-CN" altLang="en-US" sz="1800" dirty="0">
                      <a:latin typeface="+mn-ea"/>
                      <a:ea typeface="+mn-ea"/>
                    </a:rPr>
                    <a:t>之间</a:t>
                  </a:r>
                  <a:r>
                    <a:rPr lang="zh-CN" altLang="en-US" sz="18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有连接边</a:t>
                  </a:r>
                  <a:r>
                    <a:rPr lang="zh-CN" altLang="zh-CN" sz="1800" dirty="0">
                      <a:latin typeface="+mn-ea"/>
                      <a:ea typeface="+mn-ea"/>
                    </a:rPr>
                    <a:t>，</a:t>
                  </a:r>
                  <a:r>
                    <a:rPr lang="zh-CN" altLang="en-US" sz="1800" dirty="0">
                      <a:latin typeface="+mn-ea"/>
                      <a:ea typeface="+mn-ea"/>
                    </a:rPr>
                    <a:t>即</a:t>
                  </a:r>
                  <a:r>
                    <a:rPr lang="zh-CN" altLang="zh-CN" sz="1800" dirty="0">
                      <a:latin typeface="+mn-ea"/>
                      <a:ea typeface="+mn-ea"/>
                    </a:rPr>
                    <a:t>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  <a:ea typeface="+mn-ea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latin typeface="Cambria Math" panose="02040503050406030204" pitchFamily="18" charset="0"/>
                              <a:ea typeface="+mn-ea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latin typeface="+mn-ea"/>
                      <a:ea typeface="+mn-ea"/>
                    </a:rPr>
                    <a:t>是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  <a:ea typeface="+mn-ea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latin typeface="Cambria Math" panose="02040503050406030204" pitchFamily="18" charset="0"/>
                              <a:ea typeface="+mn-ea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latin typeface="+mn-ea"/>
                      <a:ea typeface="+mn-ea"/>
                    </a:rPr>
                    <a:t>的</a:t>
                  </a:r>
                  <a:r>
                    <a:rPr lang="zh-CN" altLang="zh-CN" sz="18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邻居</a:t>
                  </a:r>
                  <a:r>
                    <a:rPr lang="zh-CN" altLang="zh-CN" sz="1800" dirty="0">
                      <a:latin typeface="+mn-ea"/>
                      <a:ea typeface="+mn-ea"/>
                    </a:rPr>
                    <a:t>，反之亦然</a:t>
                  </a:r>
                  <a:r>
                    <a:rPr lang="zh-CN" altLang="en-US" sz="1800" dirty="0">
                      <a:latin typeface="+mn-ea"/>
                      <a:ea typeface="+mn-ea"/>
                    </a:rPr>
                    <a:t>。</a:t>
                  </a:r>
                  <a:endParaRPr lang="en-US" altLang="zh-CN" sz="1800" dirty="0">
                    <a:latin typeface="+mn-ea"/>
                    <a:ea typeface="+mn-ea"/>
                  </a:endParaRPr>
                </a:p>
                <a:p>
                  <a:pPr marL="179388" indent="-179388" fontAlgn="auto">
                    <a:lnSpc>
                      <a:spcPct val="1500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Ø"/>
                  </a:pPr>
                  <a:r>
                    <a:rPr lang="zh-CN" altLang="zh-CN" sz="1800" dirty="0">
                      <a:latin typeface="+mn-ea"/>
                      <a:ea typeface="+mn-ea"/>
                    </a:rPr>
                    <a:t>记</a:t>
                  </a:r>
                  <a:r>
                    <a:rPr lang="zh-CN" altLang="en-US" sz="1800" dirty="0">
                      <a:latin typeface="+mn-ea"/>
                      <a:ea typeface="+mn-ea"/>
                    </a:rPr>
                    <a:t>节点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latin typeface="+mn-ea"/>
                      <a:ea typeface="+mn-ea"/>
                    </a:rPr>
                    <a:t>的</a:t>
                  </a:r>
                  <a:r>
                    <a:rPr lang="zh-CN" altLang="zh-CN" sz="1800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所有邻居</a:t>
                  </a:r>
                  <a:r>
                    <a:rPr lang="zh-CN" altLang="zh-CN" sz="1800" dirty="0">
                      <a:latin typeface="+mn-ea"/>
                      <a:ea typeface="+mn-ea"/>
                    </a:rPr>
                    <a:t>为</a:t>
                  </a:r>
                  <a:r>
                    <a:rPr lang="zh-CN" altLang="en-US" sz="1800" dirty="0">
                      <a:latin typeface="+mn-ea"/>
                      <a:ea typeface="+mn-ea"/>
                    </a:rPr>
                    <a:t>集合</a:t>
                  </a:r>
                  <a:r>
                    <a:rPr lang="en-US" altLang="zh-CN" sz="1800" dirty="0">
                      <a:latin typeface="+mn-ea"/>
                      <a:ea typeface="+mn-ea"/>
                    </a:rPr>
                    <a:t>“</a:t>
                  </a:r>
                  <a14:m>
                    <m:oMath xmlns:m="http://schemas.openxmlformats.org/officeDocument/2006/math">
                      <m:r>
                        <a:rPr lang="en-US" altLang="zh-CN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𝑵</m:t>
                      </m:r>
                      <m:r>
                        <a:rPr lang="en-US" altLang="zh-CN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sSub>
                        <m:sSubPr>
                          <m:ctrlPr>
                            <a:rPr lang="zh-CN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𝒊</m:t>
                          </m:r>
                        </m:sub>
                      </m:sSub>
                      <m:r>
                        <a:rPr lang="en-US" altLang="zh-CN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a14:m>
                  <a:r>
                    <a:rPr lang="en-US" altLang="zh-CN" sz="1800" dirty="0">
                      <a:latin typeface="+mn-ea"/>
                      <a:ea typeface="+mn-ea"/>
                    </a:rPr>
                    <a:t>”</a:t>
                  </a:r>
                  <a:endParaRPr lang="zh-CN" altLang="en-US" sz="180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205" y="2123867"/>
                  <a:ext cx="6336704" cy="870431"/>
                </a:xfrm>
                <a:prstGeom prst="rect">
                  <a:avLst/>
                </a:prstGeom>
                <a:blipFill>
                  <a:blip r:embed="rId3"/>
                  <a:stretch>
                    <a:fillRect l="-1635" r="-2115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213865"/>
            <a:ext cx="2426993" cy="1265571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925114" y="2736360"/>
            <a:ext cx="7774431" cy="728958"/>
            <a:chOff x="948205" y="3204098"/>
            <a:chExt cx="7774431" cy="7289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/>
                <p:cNvSpPr/>
                <p:nvPr/>
              </p:nvSpPr>
              <p:spPr>
                <a:xfrm>
                  <a:off x="948205" y="3204098"/>
                  <a:ext cx="7512227" cy="276999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76213" indent="-176213"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Ø"/>
                  </a:pPr>
                  <a:r>
                    <a:rPr lang="zh-CN" altLang="zh-CN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以</a:t>
                  </a:r>
                  <a:r>
                    <a:rPr lang="zh-CN" altLang="en-US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节点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为端点</a:t>
                  </a:r>
                  <a:r>
                    <a:rPr lang="zh-CN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的</a:t>
                  </a:r>
                  <a:r>
                    <a:rPr lang="en-US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“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边的数目</a:t>
                  </a:r>
                  <a:r>
                    <a:rPr lang="en-US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”</a:t>
                  </a:r>
                  <a:r>
                    <a:rPr lang="zh-CN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的</a:t>
                  </a:r>
                  <a:r>
                    <a:rPr lang="en-US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“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度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”(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Degree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，记为：</a:t>
                  </a:r>
                  <a14:m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𝐝𝐞𝐠</m:t>
                      </m:r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zh-CN" altLang="zh-CN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。</a:t>
                  </a:r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205" y="3204098"/>
                  <a:ext cx="75122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380" t="-33333" r="-1461" b="-4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0428" y="3601785"/>
              <a:ext cx="1872208" cy="331271"/>
            </a:xfrm>
            <a:prstGeom prst="rect">
              <a:avLst/>
            </a:prstGeom>
            <a:ln>
              <a:solidFill>
                <a:srgbClr val="0000FF"/>
              </a:solidFill>
              <a:prstDash val="sysDash"/>
            </a:ln>
          </p:spPr>
        </p:pic>
      </p:grpSp>
      <p:grpSp>
        <p:nvGrpSpPr>
          <p:cNvPr id="15" name="组合 14"/>
          <p:cNvGrpSpPr/>
          <p:nvPr/>
        </p:nvGrpSpPr>
        <p:grpSpPr>
          <a:xfrm>
            <a:off x="925114" y="3675333"/>
            <a:ext cx="6120593" cy="532986"/>
            <a:chOff x="948205" y="4151496"/>
            <a:chExt cx="6120593" cy="532986"/>
          </a:xfrm>
        </p:grpSpPr>
        <p:sp>
          <p:nvSpPr>
            <p:cNvPr id="13" name="矩形 12"/>
            <p:cNvSpPr/>
            <p:nvPr/>
          </p:nvSpPr>
          <p:spPr>
            <a:xfrm>
              <a:off x="948205" y="4278811"/>
              <a:ext cx="4559899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176213" indent="-176213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zh-CN" dirty="0">
                  <a:latin typeface="+mn-ea"/>
                  <a:ea typeface="+mn-ea"/>
                  <a:cs typeface="Times New Roman" panose="02020603050405020304" pitchFamily="18" charset="0"/>
                </a:rPr>
                <a:t>所有节点的</a:t>
              </a: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度之和</a:t>
              </a: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latin typeface="+mn-ea"/>
                  <a:ea typeface="+mn-ea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边数</a:t>
              </a: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”</a:t>
              </a: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latin typeface="+mn-ea"/>
                  <a:ea typeface="+mn-ea"/>
                  <a:cs typeface="Times New Roman" panose="02020603050405020304" pitchFamily="18" charset="0"/>
                </a:rPr>
                <a:t>关系：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80112" y="4151496"/>
              <a:ext cx="1488686" cy="532986"/>
            </a:xfrm>
            <a:prstGeom prst="rect">
              <a:avLst/>
            </a:prstGeom>
            <a:ln>
              <a:solidFill>
                <a:srgbClr val="0000FF"/>
              </a:solidFill>
              <a:prstDash val="sysDash"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25114" y="4432548"/>
                <a:ext cx="7895358" cy="138499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76213" indent="-176213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u="wavyDbl" dirty="0">
                    <a:cs typeface="Times New Roman" panose="02020603050405020304" pitchFamily="18" charset="0"/>
                  </a:rPr>
                  <a:t>有向图</a:t>
                </a:r>
                <a:r>
                  <a:rPr lang="zh-CN" altLang="zh-CN" dirty="0">
                    <a:cs typeface="Times New Roman" panose="02020603050405020304" pitchFamily="18" charset="0"/>
                  </a:rPr>
                  <a:t>中，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应</a:t>
                </a:r>
                <a:r>
                  <a:rPr lang="zh-CN" altLang="zh-CN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同时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出度</a:t>
                </a:r>
                <a:r>
                  <a:rPr lang="zh-CN" altLang="en-US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en-US" altLang="zh-CN" sz="16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600" dirty="0" err="1"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outdegree</a:t>
                </a:r>
                <a:r>
                  <a:rPr lang="en-US" altLang="zh-CN" sz="16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入度</a:t>
                </a:r>
                <a:r>
                  <a:rPr lang="zh-CN" altLang="en-US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600" dirty="0" err="1"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indegree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dirty="0">
                    <a:solidFill>
                      <a:srgbClr val="FF0000"/>
                    </a:solidFill>
                    <a:effectLst/>
                    <a:cs typeface="Times New Roman" panose="02020603050405020304" pitchFamily="18" charset="0"/>
                  </a:rPr>
                  <a:t>节点的度数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即</a:t>
                </a:r>
                <a:r>
                  <a:rPr lang="zh-CN" altLang="zh-CN" dirty="0">
                    <a:effectLst/>
                    <a:cs typeface="Times New Roman" panose="02020603050405020304" pitchFamily="18" charset="0"/>
                  </a:rPr>
                  <a:t>等于</a:t>
                </a:r>
                <a:r>
                  <a:rPr lang="zh-CN" altLang="zh-CN" dirty="0">
                    <a:solidFill>
                      <a:srgbClr val="0000FF"/>
                    </a:solidFill>
                    <a:effectLst/>
                    <a:cs typeface="Times New Roman" panose="02020603050405020304" pitchFamily="18" charset="0"/>
                  </a:rPr>
                  <a:t>该节点</a:t>
                </a:r>
                <a:r>
                  <a:rPr lang="zh-CN" altLang="zh-CN" dirty="0">
                    <a:effectLst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出度与入度之和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  <a:r>
                  <a: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其中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endParaRPr lang="en-US" altLang="zh-CN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442913" indent="-174625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出度</a:t>
                </a:r>
                <a:r>
                  <a:rPr lang="en-US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---</a:t>
                </a:r>
                <a:r>
                  <a:rPr lang="zh-CN" altLang="zh-CN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起点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的所有有向边的数目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（发散）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442913" indent="-174625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入度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---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终点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的所有有向边的数目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（汇集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汇入）</a:t>
                </a:r>
                <a:endParaRPr lang="zh-CN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14" y="4432548"/>
                <a:ext cx="7895358" cy="1384995"/>
              </a:xfrm>
              <a:prstGeom prst="rect">
                <a:avLst/>
              </a:prstGeom>
              <a:blipFill>
                <a:blip r:embed="rId8"/>
                <a:stretch>
                  <a:fillRect l="-1313" t="-4405" r="-1699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/>
          <p:cNvGrpSpPr/>
          <p:nvPr/>
        </p:nvGrpSpPr>
        <p:grpSpPr>
          <a:xfrm>
            <a:off x="6301364" y="439728"/>
            <a:ext cx="853688" cy="757024"/>
            <a:chOff x="6301364" y="439728"/>
            <a:chExt cx="853688" cy="757024"/>
          </a:xfrm>
        </p:grpSpPr>
        <p:cxnSp>
          <p:nvCxnSpPr>
            <p:cNvPr id="19" name="直接箭头连接符 18"/>
            <p:cNvCxnSpPr/>
            <p:nvPr/>
          </p:nvCxnSpPr>
          <p:spPr bwMode="auto">
            <a:xfrm>
              <a:off x="6434972" y="439728"/>
              <a:ext cx="72008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箭头连接符 20"/>
            <p:cNvCxnSpPr/>
            <p:nvPr/>
          </p:nvCxnSpPr>
          <p:spPr bwMode="auto">
            <a:xfrm flipH="1" flipV="1">
              <a:off x="6301364" y="548680"/>
              <a:ext cx="286860" cy="648072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169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39268" y="1204771"/>
            <a:ext cx="1080120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GNN</a:t>
            </a:r>
            <a:r>
              <a:rPr lang="zh-CN" altLang="en-US" sz="2000" dirty="0">
                <a:latin typeface="+mn-ea"/>
                <a:ea typeface="+mn-ea"/>
              </a:rPr>
              <a:t>定义</a:t>
            </a:r>
          </a:p>
        </p:txBody>
      </p:sp>
      <p:sp>
        <p:nvSpPr>
          <p:cNvPr id="3" name="矩形 2"/>
          <p:cNvSpPr/>
          <p:nvPr/>
        </p:nvSpPr>
        <p:spPr>
          <a:xfrm>
            <a:off x="602324" y="1756224"/>
            <a:ext cx="8074132" cy="2808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t"/>
          <a:lstStyle/>
          <a:p>
            <a:pPr marL="268288" indent="-268288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一种直接作用于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图结构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神经网络模型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，用于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处理图结构数据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深度学习模型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运用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神经网络模型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学习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图结构数据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  <a:p>
            <a:pPr marL="631825" indent="-27146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端到端方式</a:t>
            </a:r>
            <a:r>
              <a:rPr lang="zh-CN" altLang="zh-CN" sz="2000" dirty="0">
                <a:solidFill>
                  <a:schemeClr val="tx1"/>
                </a:solidFill>
                <a:latin typeface="+mn-ea"/>
              </a:rPr>
              <a:t>自动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学习和提取</a:t>
            </a:r>
            <a:r>
              <a:rPr lang="zh-CN" altLang="zh-CN" sz="2000" dirty="0">
                <a:solidFill>
                  <a:schemeClr val="tx1"/>
                </a:solidFill>
                <a:latin typeface="+mn-ea"/>
              </a:rPr>
              <a:t>图数据的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特征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和模式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，学习节点间的关系、节点自身的特征表示。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  <a:p>
            <a:pPr marL="631825" indent="-271463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对复杂数据处理，提高任务完成精度，满足分类、聚类、预测、分割、生成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……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图学习任务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算法总称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54871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30032" y="1186299"/>
            <a:ext cx="1368152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图结构数据</a:t>
            </a:r>
          </a:p>
        </p:txBody>
      </p:sp>
      <p:sp>
        <p:nvSpPr>
          <p:cNvPr id="3" name="矩形 2"/>
          <p:cNvSpPr/>
          <p:nvPr/>
        </p:nvSpPr>
        <p:spPr>
          <a:xfrm>
            <a:off x="602324" y="1766010"/>
            <a:ext cx="8046424" cy="35009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27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基本构成：节点、边</a:t>
            </a:r>
            <a:endParaRPr lang="en-US" altLang="zh-CN" dirty="0">
              <a:latin typeface="+mn-ea"/>
              <a:ea typeface="+mn-ea"/>
            </a:endParaRPr>
          </a:p>
          <a:p>
            <a:pPr marL="268288" indent="-268288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特性</a:t>
            </a:r>
            <a:endParaRPr lang="en-US" altLang="zh-CN" dirty="0">
              <a:latin typeface="+mn-ea"/>
              <a:ea typeface="+mn-ea"/>
            </a:endParaRPr>
          </a:p>
          <a:p>
            <a:pPr marL="442913" indent="-174625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复杂性</a:t>
            </a:r>
            <a:r>
              <a:rPr lang="zh-CN" altLang="en-US" sz="1600" dirty="0">
                <a:latin typeface="+mn-ea"/>
                <a:ea typeface="+mn-ea"/>
              </a:rPr>
              <a:t>：比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线性表</a:t>
            </a:r>
            <a:r>
              <a:rPr lang="zh-CN" altLang="en-US" sz="1600" dirty="0">
                <a:latin typeface="+mn-ea"/>
                <a:ea typeface="+mn-ea"/>
              </a:rPr>
              <a:t>或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树形结构</a:t>
            </a:r>
            <a:r>
              <a:rPr lang="zh-CN" altLang="en-US" sz="1600" dirty="0">
                <a:latin typeface="+mn-ea"/>
                <a:ea typeface="+mn-ea"/>
              </a:rPr>
              <a:t>更复杂，</a:t>
            </a:r>
            <a:r>
              <a:rPr lang="zh-CN" altLang="en-US" sz="1600" u="wavyDbl" dirty="0">
                <a:latin typeface="+mn-ea"/>
                <a:ea typeface="+mn-ea"/>
              </a:rPr>
              <a:t>任意两个节点间</a:t>
            </a:r>
            <a:r>
              <a:rPr lang="zh-CN" altLang="en-US" sz="1600" dirty="0">
                <a:latin typeface="+mn-ea"/>
                <a:ea typeface="+mn-ea"/>
              </a:rPr>
              <a:t>都可能存在连接，形成多对多</a:t>
            </a:r>
            <a:endParaRPr lang="en-US" altLang="zh-CN" sz="1600" dirty="0">
              <a:latin typeface="+mn-ea"/>
              <a:ea typeface="+mn-ea"/>
            </a:endParaRPr>
          </a:p>
          <a:p>
            <a:pPr marL="268288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1600" dirty="0">
                <a:latin typeface="+mn-ea"/>
                <a:ea typeface="+mn-ea"/>
              </a:rPr>
              <a:t>       </a:t>
            </a:r>
            <a:r>
              <a:rPr lang="en-US" altLang="zh-CN" sz="1400" dirty="0">
                <a:latin typeface="+mn-ea"/>
                <a:ea typeface="+mn-ea"/>
              </a:rPr>
              <a:t>   </a:t>
            </a:r>
            <a:r>
              <a:rPr lang="zh-CN" altLang="en-US" sz="1600" dirty="0">
                <a:latin typeface="+mn-ea"/>
                <a:ea typeface="+mn-ea"/>
              </a:rPr>
              <a:t>关系。</a:t>
            </a:r>
            <a:endParaRPr lang="en-US" altLang="zh-CN" sz="1600" dirty="0">
              <a:latin typeface="+mn-ea"/>
              <a:ea typeface="+mn-ea"/>
            </a:endParaRPr>
          </a:p>
          <a:p>
            <a:pPr marL="442913" indent="-174625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无固定形式</a:t>
            </a:r>
            <a:r>
              <a:rPr lang="zh-CN" altLang="en-US" sz="1600" dirty="0">
                <a:latin typeface="+mn-ea"/>
                <a:ea typeface="+mn-ea"/>
              </a:rPr>
              <a:t>：“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图</a:t>
            </a:r>
            <a:r>
              <a:rPr lang="zh-CN" altLang="en-US" sz="1600" dirty="0">
                <a:latin typeface="+mn-ea"/>
                <a:ea typeface="+mn-ea"/>
              </a:rPr>
              <a:t>”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没有固定形式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r>
              <a:rPr lang="zh-CN" altLang="en-US" sz="1600" u="wavyDbl" dirty="0">
                <a:latin typeface="+mn-ea"/>
                <a:ea typeface="+mn-ea"/>
              </a:rPr>
              <a:t>不同的图具有完全不同的结构和外观</a:t>
            </a:r>
            <a:r>
              <a:rPr lang="zh-CN" altLang="en-US" sz="1600" dirty="0">
                <a:latin typeface="+mn-ea"/>
                <a:ea typeface="+mn-ea"/>
              </a:rPr>
              <a:t>。但转换为          </a:t>
            </a:r>
            <a:endParaRPr lang="en-US" altLang="zh-CN" sz="1600" dirty="0">
              <a:latin typeface="+mn-ea"/>
              <a:ea typeface="+mn-ea"/>
            </a:endParaRPr>
          </a:p>
          <a:p>
            <a:pPr marL="268288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altLang="zh-CN" sz="1600" dirty="0">
                <a:latin typeface="+mn-ea"/>
                <a:ea typeface="+mn-ea"/>
              </a:rPr>
              <a:t>             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邻接矩阵</a:t>
            </a:r>
            <a:r>
              <a:rPr lang="zh-CN" altLang="en-US" sz="1600" dirty="0">
                <a:latin typeface="+mn-ea"/>
                <a:ea typeface="+mn-ea"/>
              </a:rPr>
              <a:t>时，即可能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具有相同的数学表示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不考虑边的权重和方向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</a:p>
          <a:p>
            <a:pPr marL="442913" indent="-174625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难直观显示</a:t>
            </a:r>
            <a:r>
              <a:rPr lang="zh-CN" altLang="en-US" sz="1600" dirty="0">
                <a:latin typeface="+mn-ea"/>
                <a:ea typeface="+mn-ea"/>
              </a:rPr>
              <a:t>：图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无法</a:t>
            </a:r>
            <a:r>
              <a:rPr lang="zh-CN" altLang="en-US" sz="1600" dirty="0">
                <a:latin typeface="+mn-ea"/>
                <a:ea typeface="+mn-ea"/>
              </a:rPr>
              <a:t>在欧式空间中直接用坐标系表示，因此很难直观显示并解释，导</a:t>
            </a:r>
            <a:endParaRPr lang="en-US" altLang="zh-CN" sz="1600" dirty="0">
              <a:latin typeface="+mn-ea"/>
              <a:ea typeface="+mn-ea"/>
            </a:endParaRPr>
          </a:p>
          <a:p>
            <a:pPr marL="268288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1600" dirty="0">
                <a:latin typeface="+mn-ea"/>
                <a:ea typeface="+mn-ea"/>
              </a:rPr>
              <a:t>            </a:t>
            </a:r>
            <a:r>
              <a:rPr lang="en-US" altLang="zh-CN" sz="1400" dirty="0">
                <a:latin typeface="+mn-ea"/>
                <a:ea typeface="+mn-ea"/>
              </a:rPr>
              <a:t>  </a:t>
            </a:r>
            <a:r>
              <a:rPr lang="zh-CN" altLang="en-US" sz="1600" dirty="0">
                <a:latin typeface="+mn-ea"/>
                <a:ea typeface="+mn-ea"/>
              </a:rPr>
              <a:t>致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对图数据的解析</a:t>
            </a:r>
            <a:r>
              <a:rPr lang="zh-CN" altLang="en-US" sz="1600" dirty="0">
                <a:latin typeface="+mn-ea"/>
                <a:ea typeface="+mn-ea"/>
              </a:rPr>
              <a:t>比较困难。</a:t>
            </a:r>
            <a:endParaRPr lang="en-US" altLang="zh-CN" sz="1600" dirty="0">
              <a:latin typeface="+mn-ea"/>
              <a:ea typeface="+mn-ea"/>
            </a:endParaRPr>
          </a:p>
          <a:p>
            <a:pPr marL="268288" indent="-268288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表示方法：邻接矩阵、特征矩阵、关联矩阵</a:t>
            </a:r>
            <a:endParaRPr lang="en-US" altLang="zh-CN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562168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37388" y="1189396"/>
            <a:ext cx="1080120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核心思想</a:t>
            </a:r>
          </a:p>
        </p:txBody>
      </p:sp>
      <p:sp>
        <p:nvSpPr>
          <p:cNvPr id="3" name="矩形 2"/>
          <p:cNvSpPr/>
          <p:nvPr/>
        </p:nvSpPr>
        <p:spPr>
          <a:xfrm>
            <a:off x="618916" y="1754344"/>
            <a:ext cx="8039068" cy="4001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28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</a:rPr>
              <a:t>将图中的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节点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边</a:t>
            </a:r>
            <a:r>
              <a:rPr lang="zh-CN" altLang="en-US" dirty="0">
                <a:latin typeface="+mn-ea"/>
              </a:rPr>
              <a:t>转化为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向量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张量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表示，使用神经网络模型对向量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张量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进行学习和预测。这种向量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张量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表示方法，能更好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捕捉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图数据中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结构信息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语义信息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marL="268288" indent="-268288">
              <a:lnSpc>
                <a:spcPts val="28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节点和边之间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信息传递</a:t>
            </a:r>
            <a:r>
              <a:rPr lang="zh-CN" altLang="en-US" dirty="0">
                <a:solidFill>
                  <a:srgbClr val="0000FF"/>
                </a:solidFill>
              </a:rPr>
              <a:t>处理图结构数据</a:t>
            </a:r>
            <a:endParaRPr lang="en-US" altLang="zh-CN" dirty="0"/>
          </a:p>
          <a:p>
            <a:pPr marL="442913" indent="-174625">
              <a:lnSpc>
                <a:spcPts val="28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u="wavyDbl" dirty="0"/>
              <a:t>节点</a:t>
            </a:r>
            <a:r>
              <a:rPr lang="zh-CN" altLang="en-US" dirty="0"/>
              <a:t>可从</a:t>
            </a:r>
            <a:r>
              <a:rPr lang="zh-CN" altLang="en-US" u="wavyDbl" dirty="0"/>
              <a:t>其相邻节点</a:t>
            </a:r>
            <a:r>
              <a:rPr lang="zh-CN" altLang="en-US" dirty="0">
                <a:solidFill>
                  <a:srgbClr val="FF0000"/>
                </a:solidFill>
              </a:rPr>
              <a:t>接收</a:t>
            </a:r>
            <a:r>
              <a:rPr lang="zh-CN" altLang="en-US" dirty="0"/>
              <a:t>信息，并</a:t>
            </a:r>
            <a:r>
              <a:rPr lang="zh-CN" altLang="en-US" u="wavyDbl" dirty="0"/>
              <a:t>根据接收的信息</a:t>
            </a:r>
            <a:r>
              <a:rPr lang="zh-CN" altLang="en-US" dirty="0">
                <a:solidFill>
                  <a:srgbClr val="FF0000"/>
                </a:solidFill>
              </a:rPr>
              <a:t>更新</a:t>
            </a:r>
            <a:r>
              <a:rPr lang="zh-CN" altLang="en-US" dirty="0"/>
              <a:t>自己的状态。</a:t>
            </a:r>
            <a:endParaRPr lang="en-US" altLang="zh-CN" dirty="0"/>
          </a:p>
          <a:p>
            <a:pPr marL="442913" indent="-174625">
              <a:lnSpc>
                <a:spcPts val="28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/>
              <a:t>这个</a:t>
            </a:r>
            <a:r>
              <a:rPr lang="zh-CN" altLang="en-US" u="wavyDbl" dirty="0"/>
              <a:t>过程会重复多次</a:t>
            </a:r>
            <a:r>
              <a:rPr lang="zh-CN" altLang="en-US" dirty="0"/>
              <a:t>，以便信息能充分地在</a:t>
            </a:r>
            <a:r>
              <a:rPr lang="zh-CN" altLang="en-US" dirty="0">
                <a:solidFill>
                  <a:srgbClr val="0000FF"/>
                </a:solidFill>
              </a:rPr>
              <a:t>节点之间</a:t>
            </a:r>
            <a:r>
              <a:rPr lang="zh-CN" altLang="en-US" dirty="0">
                <a:solidFill>
                  <a:srgbClr val="FF0000"/>
                </a:solidFill>
              </a:rPr>
              <a:t>流动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聚合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68288" indent="-268288">
              <a:lnSpc>
                <a:spcPts val="28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</a:rPr>
              <a:t>通过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多层非线性变换</a:t>
            </a:r>
            <a:r>
              <a:rPr lang="zh-CN" altLang="en-US" dirty="0">
                <a:latin typeface="+mn-ea"/>
              </a:rPr>
              <a:t>，对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节点特征</a:t>
            </a:r>
            <a:r>
              <a:rPr lang="zh-CN" altLang="en-US" dirty="0">
                <a:latin typeface="+mn-ea"/>
              </a:rPr>
              <a:t>进行高阶抽象，</a:t>
            </a:r>
            <a:r>
              <a:rPr lang="zh-CN" altLang="en-US" u="wavyDbl" dirty="0">
                <a:latin typeface="+mn-ea"/>
              </a:rPr>
              <a:t>学习更复杂的节点表示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631825" indent="-271463">
              <a:lnSpc>
                <a:spcPts val="28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</a:rPr>
              <a:t>将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每个节点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特征</a:t>
            </a:r>
            <a:r>
              <a:rPr lang="zh-CN" altLang="en-US" dirty="0">
                <a:latin typeface="+mn-ea"/>
                <a:ea typeface="+mn-ea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周围节点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特征</a:t>
            </a:r>
            <a:r>
              <a:rPr lang="zh-CN" altLang="en-US" dirty="0">
                <a:latin typeface="+mn-ea"/>
                <a:ea typeface="+mn-ea"/>
              </a:rPr>
              <a:t>进行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聚合</a:t>
            </a:r>
            <a:r>
              <a:rPr lang="zh-CN" altLang="en-US" dirty="0">
                <a:latin typeface="+mn-ea"/>
                <a:ea typeface="+mn-ea"/>
              </a:rPr>
              <a:t>，形成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新的</a:t>
            </a:r>
            <a:r>
              <a:rPr lang="zh-CN" altLang="en-US" dirty="0">
                <a:latin typeface="+mn-ea"/>
                <a:ea typeface="+mn-ea"/>
              </a:rPr>
              <a:t>节点表示。</a:t>
            </a:r>
            <a:endParaRPr lang="en-US" altLang="zh-CN" dirty="0">
              <a:latin typeface="+mn-ea"/>
              <a:ea typeface="+mn-ea"/>
            </a:endParaRPr>
          </a:p>
          <a:p>
            <a:pPr marL="631825" indent="-271463">
              <a:lnSpc>
                <a:spcPts val="28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</a:rPr>
              <a:t>这一过程通过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信息传递机制</a:t>
            </a:r>
            <a:r>
              <a:rPr lang="zh-CN" altLang="en-US" dirty="0">
                <a:latin typeface="+mn-ea"/>
                <a:ea typeface="+mn-ea"/>
              </a:rPr>
              <a:t>实现，每个节点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接收</a:t>
            </a:r>
            <a:r>
              <a:rPr lang="zh-CN" altLang="en-US" dirty="0">
                <a:latin typeface="+mn-ea"/>
                <a:ea typeface="+mn-ea"/>
              </a:rPr>
              <a:t>来自其邻居节点的信息，并将这些信息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聚合成</a:t>
            </a:r>
            <a:r>
              <a:rPr lang="zh-CN" altLang="en-US" dirty="0">
                <a:latin typeface="+mn-ea"/>
                <a:ea typeface="+mn-ea"/>
              </a:rPr>
              <a:t>一个新的节点表示。</a:t>
            </a:r>
            <a:endParaRPr lang="zh-CN" altLang="en-US" i="0" dirty="0"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415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1844824"/>
            <a:ext cx="7992888" cy="2520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t"/>
          <a:lstStyle/>
          <a:p>
            <a:pPr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① 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节点表示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：通过学习节点的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嵌入表示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捕捉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节点的特性及其在图中的位置。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② 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邻居聚合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：通过聚合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一个节点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邻居节点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信息，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更新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该节点的表示，此过程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    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可视为在图中进行信息传播。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③ 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权重共享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：所有节点和边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共享参数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，因而模型可在不同大小和形状的图上进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    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行推理。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④ 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可微分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：所有操作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均可微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，能运用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梯度下降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等优化算法训练模型。</a:t>
            </a:r>
          </a:p>
        </p:txBody>
      </p:sp>
    </p:spTree>
    <p:extLst>
      <p:ext uri="{BB962C8B-B14F-4D97-AF65-F5344CB8AC3E}">
        <p14:creationId xmlns:p14="http://schemas.microsoft.com/office/powerpoint/2010/main" val="402876671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55860" y="1169707"/>
            <a:ext cx="504056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例：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156764"/>
            <a:ext cx="4848929" cy="132072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25347" y="1770936"/>
            <a:ext cx="4315929" cy="1731243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lIns="36000" tIns="0" rIns="0" bIns="0">
            <a:spAutoFit/>
          </a:bodyPr>
          <a:lstStyle/>
          <a:p>
            <a:pPr marL="268288" indent="-268288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可视为一个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由语义网络构成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知识图谱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8288" indent="-268288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latin typeface="+mn-ea"/>
                <a:ea typeface="+mn-ea"/>
              </a:rPr>
              <a:t>利用图结构更新节点</a:t>
            </a:r>
            <a:r>
              <a:rPr lang="zh-CN" altLang="en-US" dirty="0">
                <a:latin typeface="+mn-ea"/>
                <a:ea typeface="+mn-ea"/>
              </a:rPr>
              <a:t>表示</a:t>
            </a:r>
            <a:endParaRPr lang="en-US" altLang="zh-CN" dirty="0">
              <a:latin typeface="+mn-ea"/>
              <a:ea typeface="+mn-ea"/>
            </a:endParaRPr>
          </a:p>
          <a:p>
            <a:pPr marL="268288" indent="-268288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本质：</a:t>
            </a:r>
            <a:r>
              <a:rPr lang="zh-CN" altLang="zh-CN" dirty="0">
                <a:latin typeface="+mn-ea"/>
                <a:ea typeface="+mn-ea"/>
              </a:rPr>
              <a:t>节点嵌入、边嵌入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ts val="2700"/>
              </a:lnSpc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</a:rPr>
              <a:t>     </a:t>
            </a:r>
            <a:r>
              <a:rPr lang="en-US" altLang="zh-CN" sz="1600" dirty="0">
                <a:latin typeface="+mn-ea"/>
                <a:ea typeface="+mn-ea"/>
              </a:rPr>
              <a:t>    </a:t>
            </a:r>
            <a:r>
              <a:rPr lang="zh-CN" altLang="en-US" dirty="0">
                <a:latin typeface="+mn-ea"/>
                <a:ea typeface="+mn-ea"/>
              </a:rPr>
              <a:t>实体嵌入、关系嵌入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ts val="2700"/>
              </a:lnSpc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</a:rPr>
              <a:t>     </a:t>
            </a:r>
            <a:r>
              <a:rPr lang="en-US" altLang="zh-CN" sz="1600" dirty="0">
                <a:latin typeface="+mn-ea"/>
                <a:ea typeface="+mn-ea"/>
              </a:rPr>
              <a:t>    </a:t>
            </a:r>
            <a:r>
              <a:rPr lang="zh-CN" altLang="en-US" dirty="0">
                <a:latin typeface="+mn-ea"/>
                <a:ea typeface="+mn-ea"/>
              </a:rPr>
              <a:t>图嵌入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411760" y="3645024"/>
                <a:ext cx="6157619" cy="2321148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dash"/>
              </a:ln>
            </p:spPr>
            <p:txBody>
              <a:bodyPr wrap="square" lIns="36000" tIns="0" rIns="0" bIns="0">
                <a:spAutoFit/>
              </a:bodyPr>
              <a:lstStyle/>
              <a:p>
                <a:pPr marL="268288" indent="-268288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n-ea"/>
                    <a:ea typeface="+mn-ea"/>
                  </a:rPr>
                  <a:t>以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红色</a:t>
                </a:r>
                <a:r>
                  <a:rPr lang="zh-CN" altLang="en-US" dirty="0">
                    <a:latin typeface="+mn-ea"/>
                    <a:ea typeface="+mn-ea"/>
                  </a:rPr>
                  <a:t>中心节点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为例：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450850" indent="-90488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dirty="0">
                    <a:latin typeface="+mn-ea"/>
                    <a:ea typeface="+mn-ea"/>
                  </a:rPr>
                  <a:t>通过</a:t>
                </a:r>
                <a:r>
                  <a:rPr lang="en-US" altLang="zh-CN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GNN</a:t>
                </a:r>
                <a:r>
                  <a:rPr lang="zh-CN" altLang="zh-CN" dirty="0">
                    <a:latin typeface="+mn-ea"/>
                    <a:ea typeface="+mn-ea"/>
                  </a:rPr>
                  <a:t>模型更新节点表示，</a:t>
                </a:r>
                <a:r>
                  <a:rPr lang="zh-CN" altLang="en-US" dirty="0">
                    <a:latin typeface="+mn-ea"/>
                    <a:ea typeface="+mn-ea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变成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r>
                  <a:rPr lang="en-US" altLang="zh-CN" dirty="0">
                    <a:latin typeface="+mn-ea"/>
                    <a:ea typeface="+mn-ea"/>
                  </a:rPr>
                  <a:t>(</a:t>
                </a:r>
                <a:r>
                  <a:rPr lang="zh-CN" altLang="en-US" dirty="0">
                    <a:latin typeface="+mn-ea"/>
                    <a:ea typeface="+mn-ea"/>
                  </a:rPr>
                  <a:t>一层更新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</a:p>
              <a:p>
                <a:pPr marL="450850" indent="-90488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表示更新</a:t>
                </a:r>
                <a:r>
                  <a:rPr lang="zh-CN" altLang="zh-CN" dirty="0"/>
                  <a:t>，需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聚合</a:t>
                </a:r>
                <a:r>
                  <a:rPr lang="zh-CN" altLang="en-US" dirty="0"/>
                  <a:t>其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所有邻居节点</a:t>
                </a:r>
                <a:r>
                  <a:rPr lang="zh-CN" altLang="en-US" dirty="0"/>
                  <a:t>的</a:t>
                </a:r>
                <a:r>
                  <a:rPr lang="zh-CN" altLang="zh-CN" dirty="0"/>
                  <a:t>信息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0850" indent="-90488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邻居节点</a:t>
                </a:r>
                <a:r>
                  <a:rPr lang="en-US" altLang="zh-CN" dirty="0">
                    <a:latin typeface="+mn-ea"/>
                    <a:ea typeface="+mn-ea"/>
                  </a:rPr>
                  <a:t>(</a:t>
                </a:r>
                <a:r>
                  <a:rPr lang="zh-CN" altLang="en-US" dirty="0">
                    <a:latin typeface="+mn-ea"/>
                    <a:ea typeface="+mn-ea"/>
                  </a:rPr>
                  <a:t>橙、蓝、深绿、浅绿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</a:p>
              <a:p>
                <a:pPr marL="450850" indent="-90488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同理，也可对图中其它节点进行表示更新。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68288" indent="-268288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通过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</a:t>
                </a:r>
                <a:r>
                  <a:rPr lang="zh-CN" altLang="zh-CN" dirty="0"/>
                  <a:t>模型嵌入，</a:t>
                </a:r>
                <a:r>
                  <a:rPr lang="zh-CN" altLang="en-US" dirty="0"/>
                  <a:t>对</a:t>
                </a:r>
                <a:r>
                  <a:rPr lang="zh-CN" altLang="zh-CN" dirty="0"/>
                  <a:t>图结构</a:t>
                </a:r>
                <a:r>
                  <a:rPr lang="zh-CN" altLang="en-US" dirty="0"/>
                  <a:t>进行</a:t>
                </a:r>
                <a:r>
                  <a:rPr lang="zh-CN" altLang="zh-CN" dirty="0"/>
                  <a:t>表示</a:t>
                </a:r>
                <a:r>
                  <a:rPr lang="zh-CN" altLang="en-US" dirty="0"/>
                  <a:t>更新。</a:t>
                </a:r>
                <a:endParaRPr lang="en-US" altLang="zh-CN" dirty="0"/>
              </a:p>
              <a:p>
                <a:pPr>
                  <a:lnSpc>
                    <a:spcPts val="25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latin typeface="+mn-ea"/>
                    <a:ea typeface="+mn-ea"/>
                  </a:rPr>
                  <a:t>  (</a:t>
                </a:r>
                <a:r>
                  <a:rPr lang="zh-CN" altLang="en-US" dirty="0">
                    <a:latin typeface="+mn-ea"/>
                    <a:ea typeface="+mn-ea"/>
                  </a:rPr>
                  <a:t>注：这里未涉及边信息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645024"/>
                <a:ext cx="6157619" cy="2321148"/>
              </a:xfrm>
              <a:prstGeom prst="rect">
                <a:avLst/>
              </a:prstGeom>
              <a:blipFill>
                <a:blip r:embed="rId3"/>
                <a:stretch>
                  <a:fillRect l="-988" t="-3133" r="-889" b="-2872"/>
                </a:stretch>
              </a:blipFill>
              <a:ln>
                <a:solidFill>
                  <a:srgbClr val="0000FF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圆角矩形标注 2"/>
          <p:cNvSpPr/>
          <p:nvPr/>
        </p:nvSpPr>
        <p:spPr bwMode="auto">
          <a:xfrm>
            <a:off x="5185002" y="1895093"/>
            <a:ext cx="3384377" cy="957843"/>
          </a:xfrm>
          <a:prstGeom prst="wedgeRoundRectCallout">
            <a:avLst>
              <a:gd name="adj1" fmla="val -55295"/>
              <a:gd name="adj2" fmla="val -11905"/>
              <a:gd name="adj3" fmla="val 16667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+mn-ea"/>
                <a:ea typeface="+mn-ea"/>
              </a:rPr>
              <a:t>将图中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各个元素及其关系</a:t>
            </a:r>
            <a:r>
              <a:rPr lang="zh-CN" altLang="en-US" sz="1400" dirty="0">
                <a:latin typeface="+mn-ea"/>
                <a:ea typeface="+mn-ea"/>
              </a:rPr>
              <a:t>，用合适的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向量</a:t>
            </a:r>
            <a:r>
              <a:rPr lang="zh-CN" altLang="en-US" sz="1400" dirty="0">
                <a:latin typeface="+mn-ea"/>
                <a:ea typeface="+mn-ea"/>
              </a:rPr>
              <a:t>表示，并通过一定方法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不断更新</a:t>
            </a:r>
            <a:r>
              <a:rPr lang="zh-CN" altLang="en-US" sz="1400" dirty="0">
                <a:latin typeface="+mn-ea"/>
                <a:ea typeface="+mn-ea"/>
              </a:rPr>
              <a:t>这些表示，使其能更好反映图中的信息。</a:t>
            </a:r>
            <a:endParaRPr kumimoji="0" lang="zh-CN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9464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4664"/>
            <a:ext cx="3436839" cy="936104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427984" y="692696"/>
            <a:ext cx="4019569" cy="360040"/>
            <a:chOff x="3563888" y="2515488"/>
            <a:chExt cx="4019569" cy="360040"/>
          </a:xfrm>
        </p:grpSpPr>
        <p:pic>
          <p:nvPicPr>
            <p:cNvPr id="4" name="图片 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067944" y="2515488"/>
              <a:ext cx="3515513" cy="360040"/>
            </a:xfrm>
            <a:prstGeom prst="rect">
              <a:avLst/>
            </a:prstGeom>
            <a:ln>
              <a:solidFill>
                <a:srgbClr val="FF0000"/>
              </a:solidFill>
              <a:prstDash val="sysDash"/>
            </a:ln>
          </p:spPr>
        </p:pic>
        <p:cxnSp>
          <p:nvCxnSpPr>
            <p:cNvPr id="5" name="直接箭头连接符 4"/>
            <p:cNvCxnSpPr/>
            <p:nvPr/>
          </p:nvCxnSpPr>
          <p:spPr>
            <a:xfrm flipH="1" flipV="1">
              <a:off x="3563888" y="2695508"/>
              <a:ext cx="504056" cy="1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07159" y="1789408"/>
            <a:ext cx="6629137" cy="1805537"/>
            <a:chOff x="607159" y="1789408"/>
            <a:chExt cx="6629137" cy="1805537"/>
          </a:xfrm>
        </p:grpSpPr>
        <p:sp>
          <p:nvSpPr>
            <p:cNvPr id="7" name="Rectangle 4"/>
            <p:cNvSpPr txBox="1">
              <a:spLocks noChangeArrowheads="1"/>
            </p:cNvSpPr>
            <p:nvPr/>
          </p:nvSpPr>
          <p:spPr>
            <a:xfrm>
              <a:off x="607159" y="1789408"/>
              <a:ext cx="20162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buClr>
                  <a:srgbClr val="FF0000"/>
                </a:buClr>
                <a:buSzPct val="80000"/>
              </a:pPr>
              <a:r>
                <a:rPr lang="zh-CN" altLang="en-US" sz="2000" dirty="0">
                  <a:latin typeface="+mn-ea"/>
                  <a:ea typeface="+mn-ea"/>
                </a:rPr>
                <a:t>更新</a:t>
              </a:r>
              <a:r>
                <a:rPr lang="en-US" altLang="zh-CN" sz="2000" dirty="0">
                  <a:latin typeface="+mn-ea"/>
                  <a:ea typeface="+mn-ea"/>
                </a:rPr>
                <a:t>(</a:t>
              </a:r>
              <a:r>
                <a:rPr lang="zh-CN" altLang="en-US" sz="2000" dirty="0">
                  <a:latin typeface="+mn-ea"/>
                  <a:ea typeface="+mn-ea"/>
                </a:rPr>
                <a:t>嵌入</a:t>
              </a:r>
              <a:r>
                <a:rPr lang="en-US" altLang="zh-CN" sz="2000" dirty="0">
                  <a:latin typeface="+mn-ea"/>
                  <a:ea typeface="+mn-ea"/>
                </a:rPr>
                <a:t>)</a:t>
              </a:r>
              <a:r>
                <a:rPr lang="zh-CN" altLang="en-US" sz="2000" dirty="0">
                  <a:latin typeface="+mn-ea"/>
                  <a:ea typeface="+mn-ea"/>
                </a:rPr>
                <a:t>过程：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07159" y="2204864"/>
              <a:ext cx="6629137" cy="1390081"/>
              <a:chOff x="607159" y="2204864"/>
              <a:chExt cx="6629137" cy="139008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矩形 7"/>
                  <p:cNvSpPr/>
                  <p:nvPr/>
                </p:nvSpPr>
                <p:spPr>
                  <a:xfrm>
                    <a:off x="607159" y="2204864"/>
                    <a:ext cx="6629137" cy="1282402"/>
                  </a:xfrm>
                  <a:prstGeom prst="rect">
                    <a:avLst/>
                  </a:prstGeom>
                  <a:ln>
                    <a:solidFill>
                      <a:srgbClr val="0000FF"/>
                    </a:solidFill>
                    <a:prstDash val="dash"/>
                  </a:ln>
                </p:spPr>
                <p:txBody>
                  <a:bodyPr wrap="square" lIns="36000" tIns="0" rIns="0" bIns="0">
                    <a:spAutoFit/>
                  </a:bodyPr>
                  <a:lstStyle/>
                  <a:p>
                    <a:pPr marL="269875" indent="-269875">
                      <a:lnSpc>
                        <a:spcPts val="2500"/>
                      </a:lnSpc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p"/>
                    </a:pPr>
                    <a:r>
                      <a:rPr lang="zh-CN" altLang="en-US" dirty="0">
                        <a:latin typeface="+mn-ea"/>
                        <a:ea typeface="+mn-ea"/>
                      </a:rPr>
                      <a:t>式中</a:t>
                    </a:r>
                    <a:endParaRPr lang="en-US" altLang="zh-CN" sz="1600" dirty="0">
                      <a:latin typeface="+mn-ea"/>
                      <a:ea typeface="+mn-ea"/>
                    </a:endParaRPr>
                  </a:p>
                  <a:p>
                    <a:pPr marL="442913" indent="-173038">
                      <a:lnSpc>
                        <a:spcPts val="2500"/>
                      </a:lnSpc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Ø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latin typeface="+mn-ea"/>
                        <a:ea typeface="+mn-ea"/>
                      </a:rPr>
                      <a:t>即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中心节点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latin typeface="+mn-ea"/>
                        <a:ea typeface="+mn-ea"/>
                      </a:rPr>
                      <a:t>；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a14:m>
                    <a:r>
                      <a:rPr lang="zh-CN" altLang="zh-CN" sz="1600" dirty="0">
                        <a:latin typeface="+mn-ea"/>
                        <a:ea typeface="+mn-ea"/>
                      </a:rPr>
                      <a:t>是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</m:oMath>
                    </a14:m>
                    <a:r>
                      <a:rPr lang="zh-CN" altLang="zh-CN" sz="1600" dirty="0">
                        <a:latin typeface="+mn-ea"/>
                        <a:ea typeface="+mn-ea"/>
                      </a:rPr>
                      <a:t>的</a:t>
                    </a:r>
                    <a:r>
                      <a:rPr lang="zh-CN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邻居节点</a:t>
                    </a:r>
                    <a:r>
                      <a:rPr lang="en-US" altLang="zh-CN" sz="1600" dirty="0">
                        <a:latin typeface="+mn-ea"/>
                        <a:ea typeface="+mn-ea"/>
                      </a:rPr>
                      <a:t>(4</a:t>
                    </a:r>
                    <a:r>
                      <a:rPr lang="zh-CN" altLang="en-US" sz="1600" dirty="0">
                        <a:latin typeface="+mn-ea"/>
                        <a:ea typeface="+mn-ea"/>
                      </a:rPr>
                      <a:t>个</a:t>
                    </a:r>
                    <a:r>
                      <a:rPr lang="zh-CN" altLang="zh-CN" sz="1600" dirty="0">
                        <a:latin typeface="+mn-ea"/>
                        <a:ea typeface="+mn-ea"/>
                      </a:rPr>
                      <a:t>一阶邻居</a:t>
                    </a:r>
                    <a:r>
                      <a:rPr lang="zh-CN" altLang="en-US" sz="1600" dirty="0">
                        <a:latin typeface="+mn-ea"/>
                        <a:ea typeface="+mn-ea"/>
                      </a:rPr>
                      <a:t>节点：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𝒋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𝒋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𝟒</m:t>
                            </m:r>
                          </m:sub>
                        </m:sSub>
                      </m:oMath>
                    </a14:m>
                    <a:r>
                      <a:rPr lang="en-US" altLang="zh-CN" sz="1600" dirty="0">
                        <a:latin typeface="+mn-ea"/>
                        <a:ea typeface="+mn-ea"/>
                      </a:rPr>
                      <a:t>)</a:t>
                    </a:r>
                  </a:p>
                  <a:p>
                    <a:pPr marL="442913" indent="-173038">
                      <a:lnSpc>
                        <a:spcPts val="2500"/>
                      </a:lnSpc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Ø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𝒋𝒊</m:t>
                            </m:r>
                          </m:sub>
                        </m:sSub>
                      </m:oMath>
                    </a14:m>
                    <a:r>
                      <a:rPr lang="zh-CN" altLang="zh-CN" sz="1600" dirty="0">
                        <a:latin typeface="+mn-ea"/>
                        <a:ea typeface="+mn-ea"/>
                      </a:rPr>
                      <a:t>是由</a:t>
                    </a:r>
                    <a14:m>
                      <m:oMath xmlns:m="http://schemas.openxmlformats.org/officeDocument/2006/math"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oMath>
                    </a14:m>
                    <a:r>
                      <a:rPr lang="zh-CN" altLang="zh-CN" sz="1600" dirty="0">
                        <a:latin typeface="+mn-ea"/>
                        <a:ea typeface="+mn-ea"/>
                      </a:rPr>
                      <a:t>指向</a:t>
                    </a:r>
                    <a14:m>
                      <m:oMath xmlns:m="http://schemas.openxmlformats.org/officeDocument/2006/math"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oMath>
                    </a14:m>
                    <a:r>
                      <a:rPr lang="zh-CN" altLang="zh-CN" sz="1600" dirty="0">
                        <a:latin typeface="+mn-ea"/>
                        <a:ea typeface="+mn-ea"/>
                      </a:rPr>
                      <a:t>的</a:t>
                    </a:r>
                    <a:r>
                      <a:rPr lang="zh-CN" altLang="zh-CN" sz="1600" dirty="0">
                        <a:solidFill>
                          <a:srgbClr val="0000FF"/>
                        </a:solidFill>
                        <a:latin typeface="+mn-ea"/>
                        <a:ea typeface="+mn-ea"/>
                      </a:rPr>
                      <a:t>边信息</a:t>
                    </a:r>
                    <a:r>
                      <a:rPr lang="zh-CN" altLang="zh-CN" sz="1600" dirty="0">
                        <a:latin typeface="+mn-ea"/>
                        <a:ea typeface="+mn-ea"/>
                      </a:rPr>
                      <a:t>。</a:t>
                    </a:r>
                    <a:r>
                      <a:rPr lang="en-US" altLang="zh-CN" sz="1600" dirty="0">
                        <a:latin typeface="+mn-ea"/>
                        <a:ea typeface="+mn-ea"/>
                      </a:rPr>
                      <a:t>(</a:t>
                    </a:r>
                    <a:r>
                      <a:rPr lang="zh-CN" altLang="en-US" sz="1600" dirty="0">
                        <a:latin typeface="+mn-ea"/>
                        <a:ea typeface="+mn-ea"/>
                      </a:rPr>
                      <a:t>若</a:t>
                    </a:r>
                    <a:r>
                      <a:rPr lang="zh-CN" altLang="zh-CN" sz="1600" dirty="0">
                        <a:latin typeface="+mn-ea"/>
                        <a:ea typeface="+mn-ea"/>
                      </a:rPr>
                      <a:t>不用边信息，可将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𝒋𝒊</m:t>
                            </m:r>
                          </m:sub>
                        </m:sSub>
                      </m:oMath>
                    </a14:m>
                    <a:r>
                      <a:rPr lang="zh-CN" altLang="zh-CN" sz="1600" dirty="0">
                        <a:latin typeface="+mn-ea"/>
                        <a:ea typeface="+mn-ea"/>
                      </a:rPr>
                      <a:t>去掉</a:t>
                    </a:r>
                    <a:r>
                      <a:rPr lang="en-US" altLang="zh-CN" sz="1600" dirty="0">
                        <a:latin typeface="+mn-ea"/>
                        <a:ea typeface="+mn-ea"/>
                      </a:rPr>
                      <a:t>)</a:t>
                    </a:r>
                  </a:p>
                  <a:p>
                    <a:pPr marL="442913" indent="-173038">
                      <a:lnSpc>
                        <a:spcPts val="2500"/>
                      </a:lnSpc>
                      <a:buClr>
                        <a:srgbClr val="FF0000"/>
                      </a:buClr>
                      <a:buSzPct val="80000"/>
                      <a:buFont typeface="Wingdings" panose="05000000000000000000" pitchFamily="2" charset="2"/>
                      <a:buChar char="Ø"/>
                    </a:pPr>
                    <a:r>
                      <a:rPr lang="zh-CN" altLang="en-US" sz="1600" dirty="0">
                        <a:latin typeface="+mn-ea"/>
                        <a:ea typeface="+mn-ea"/>
                      </a:rPr>
                      <a:t>图示</a:t>
                    </a:r>
                    <a:r>
                      <a:rPr lang="zh-CN" altLang="zh-CN" sz="1600" dirty="0">
                        <a:latin typeface="+mn-ea"/>
                        <a:ea typeface="+mn-ea"/>
                      </a:rPr>
                      <a:t>节点更新</a:t>
                    </a:r>
                    <a:r>
                      <a:rPr lang="en-US" altLang="zh-CN" sz="1600" dirty="0">
                        <a:latin typeface="+mn-ea"/>
                        <a:ea typeface="+mn-ea"/>
                      </a:rPr>
                      <a:t>(</a:t>
                    </a:r>
                    <a:r>
                      <a:rPr lang="zh-CN" altLang="zh-CN" sz="1600" dirty="0">
                        <a:latin typeface="+mn-ea"/>
                        <a:ea typeface="+mn-ea"/>
                      </a:rPr>
                      <a:t>嵌入</a:t>
                    </a:r>
                    <a:r>
                      <a:rPr lang="en-US" altLang="zh-CN" sz="1600" dirty="0">
                        <a:latin typeface="+mn-ea"/>
                        <a:ea typeface="+mn-ea"/>
                      </a:rPr>
                      <a:t>)</a:t>
                    </a:r>
                    <a:r>
                      <a:rPr lang="zh-CN" altLang="zh-CN" sz="1600" dirty="0">
                        <a:latin typeface="+mn-ea"/>
                        <a:ea typeface="+mn-ea"/>
                      </a:rPr>
                      <a:t>公式</a:t>
                    </a:r>
                    <a:r>
                      <a:rPr lang="en-US" altLang="zh-CN" sz="1600" dirty="0">
                        <a:latin typeface="+mn-ea"/>
                        <a:ea typeface="+mn-ea"/>
                      </a:rPr>
                      <a:t>---</a:t>
                    </a:r>
                    <a:endParaRPr lang="zh-CN" altLang="en-US" sz="1600" dirty="0">
                      <a:latin typeface="+mn-ea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8" name="矩形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159" y="2204864"/>
                    <a:ext cx="6629137" cy="128240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918" t="-5660" r="-826" b="-4717"/>
                    </a:stretch>
                  </a:blipFill>
                  <a:ln>
                    <a:solidFill>
                      <a:srgbClr val="0000FF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" name="图片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1920" y="3221436"/>
                <a:ext cx="2647837" cy="3735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FF"/>
                </a:solidFill>
                <a:prstDash val="sysDash"/>
              </a:ln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380312" y="1827165"/>
                <a:ext cx="1224136" cy="20351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txBody>
              <a:bodyPr wrap="square" lIns="36000" tIns="0" rIns="0" bIns="0" rtlCol="0">
                <a:spAutoFit/>
              </a:bodyPr>
              <a:lstStyle/>
              <a:p>
                <a:pPr marL="92075" indent="-92075">
                  <a:lnSpc>
                    <a:spcPts val="2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GNN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任务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：通过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两个部分</a:t>
                </a:r>
                <a:r>
                  <a:rPr lang="zh-CN" altLang="en-US" sz="1600" dirty="0">
                    <a:latin typeface="+mn-ea"/>
                    <a:ea typeface="+mn-ea"/>
                  </a:rPr>
                  <a:t>的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聚合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，并进行更新，即得到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更新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嵌入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后的节点表示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𝑿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312" y="1827165"/>
                <a:ext cx="1224136" cy="2035109"/>
              </a:xfrm>
              <a:prstGeom prst="rect">
                <a:avLst/>
              </a:prstGeom>
              <a:blipFill>
                <a:blip r:embed="rId6"/>
                <a:stretch>
                  <a:fillRect l="-5941" t="-3869" r="-7426" b="-4167"/>
                </a:stretch>
              </a:blipFill>
              <a:ln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07159" y="3969953"/>
                <a:ext cx="7493233" cy="1603003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dash"/>
              </a:ln>
            </p:spPr>
            <p:txBody>
              <a:bodyPr wrap="square" lIns="36000" tIns="0" rIns="0" bIns="0">
                <a:spAutoFit/>
              </a:bodyPr>
              <a:lstStyle/>
              <a:p>
                <a:pPr marL="269875" indent="-269875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理解</a:t>
                </a:r>
                <a:endParaRPr lang="en-US" altLang="zh-CN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 marL="541338" indent="-271463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选择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：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用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哪些信息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更新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聚合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\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嵌入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中心节点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600" dirty="0">
                    <a:solidFill>
                      <a:schemeClr val="tx1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600" dirty="0">
                    <a:solidFill>
                      <a:schemeClr val="tx1"/>
                    </a:solidFill>
                  </a:rPr>
                  <a:t>的邻居、边信息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)</a:t>
                </a:r>
              </a:p>
              <a:p>
                <a:pPr marL="269875">
                  <a:lnSpc>
                    <a:spcPts val="25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       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r>
                      <a:rPr lang="zh-CN" alt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∅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”为采用的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某个映射函数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，“</a:t>
                </a:r>
                <a14:m>
                  <m:oMath xmlns:m="http://schemas.openxmlformats.org/officeDocument/2006/math">
                    <m:r>
                      <a:rPr lang="zh-CN" alt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𝜽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”为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参数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  <a:endParaRPr lang="en-US" altLang="zh-CN" sz="16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 marL="541338" indent="-271463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srgbClr val="FF0000"/>
                    </a:solidFill>
                  </a:rPr>
                  <a:t>聚合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“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⊕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”</a:t>
                </a:r>
                <a:r>
                  <a:rPr lang="zh-CN" altLang="zh-CN" sz="1600" dirty="0">
                    <a:solidFill>
                      <a:schemeClr val="tx1"/>
                    </a:solidFill>
                  </a:rPr>
                  <a:t>表示</a:t>
                </a:r>
                <a:r>
                  <a:rPr lang="zh-CN" altLang="zh-CN" sz="1600" dirty="0">
                    <a:solidFill>
                      <a:srgbClr val="0000FF"/>
                    </a:solidFill>
                  </a:rPr>
                  <a:t>聚合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算子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如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max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、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add</a:t>
                </a:r>
                <a:r>
                  <a:rPr lang="zh-CN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、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LSTM…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)</a:t>
                </a:r>
              </a:p>
              <a:p>
                <a:pPr marL="541338" indent="-271463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更新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：“</a:t>
                </a:r>
                <a14:m>
                  <m:oMath xmlns:m="http://schemas.openxmlformats.org/officeDocument/2006/math">
                    <m:r>
                      <a:rPr lang="zh-CN" alt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𝜸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”为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更新函数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zh-CN" sz="1600" dirty="0">
                    <a:solidFill>
                      <a:schemeClr val="tx1"/>
                    </a:solidFill>
                  </a:rPr>
                  <a:t>第一层嵌入时需要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中心节点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ea typeface="+mn-ea"/>
                  </a:rPr>
                  <a:t>)</a:t>
                </a:r>
                <a:endParaRPr lang="zh-CN" altLang="en-US" sz="16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59" y="3969953"/>
                <a:ext cx="7493233" cy="1603003"/>
              </a:xfrm>
              <a:prstGeom prst="rect">
                <a:avLst/>
              </a:prstGeom>
              <a:blipFill>
                <a:blip r:embed="rId7"/>
                <a:stretch>
                  <a:fillRect l="-812" t="-4528" r="-650" b="-3774"/>
                </a:stretch>
              </a:blipFill>
              <a:ln>
                <a:solidFill>
                  <a:srgbClr val="0000FF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spect="1"/>
          </p:cNvSpPr>
          <p:nvPr/>
        </p:nvSpPr>
        <p:spPr bwMode="auto">
          <a:xfrm>
            <a:off x="539552" y="1484784"/>
            <a:ext cx="8136904" cy="2880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9555"/>
            <a:ext cx="7272808" cy="1261559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131840" y="557574"/>
            <a:ext cx="4258478" cy="1078291"/>
            <a:chOff x="3359696" y="1180647"/>
            <a:chExt cx="4258478" cy="1078291"/>
          </a:xfrm>
        </p:grpSpPr>
        <p:sp>
          <p:nvSpPr>
            <p:cNvPr id="4" name="矩形 3"/>
            <p:cNvSpPr/>
            <p:nvPr/>
          </p:nvSpPr>
          <p:spPr>
            <a:xfrm>
              <a:off x="3678226" y="1743097"/>
              <a:ext cx="3939948" cy="51584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圆角矩形标注 4"/>
                <p:cNvSpPr/>
                <p:nvPr/>
              </p:nvSpPr>
              <p:spPr>
                <a:xfrm>
                  <a:off x="3359696" y="1180647"/>
                  <a:ext cx="3950434" cy="278277"/>
                </a:xfrm>
                <a:prstGeom prst="wedgeRoundRectCallout">
                  <a:avLst>
                    <a:gd name="adj1" fmla="val -20792"/>
                    <a:gd name="adj2" fmla="val 179826"/>
                    <a:gd name="adj3" fmla="val 16667"/>
                  </a:avLst>
                </a:pr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r>
                    <a:rPr lang="zh-CN" altLang="en-US" sz="1600" dirty="0">
                      <a:solidFill>
                        <a:schemeClr val="tx1"/>
                      </a:solidFill>
                    </a:rPr>
                    <a:t>聚合函数</a:t>
                  </a:r>
                  <a:r>
                    <a:rPr lang="en-US" altLang="zh-CN" sz="1600" dirty="0">
                      <a:solidFill>
                        <a:schemeClr val="tx1"/>
                      </a:solidFill>
                      <a:latin typeface="+mn-ea"/>
                    </a:rPr>
                    <a:t>(</a:t>
                  </a:r>
                  <a:r>
                    <a:rPr lang="zh-CN" altLang="en-US" sz="1600" dirty="0">
                      <a:solidFill>
                        <a:schemeClr val="tx1"/>
                      </a:solidFill>
                    </a:rPr>
                    <a:t>选择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</a:rPr>
                    <a:t>个邻居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</a:rPr>
                    <a:t>的信息并聚合</a:t>
                  </a:r>
                  <a:r>
                    <a:rPr lang="en-US" altLang="zh-CN" sz="1600" dirty="0">
                      <a:solidFill>
                        <a:schemeClr val="tx1"/>
                      </a:solidFill>
                      <a:latin typeface="+mn-ea"/>
                    </a:rPr>
                    <a:t>)</a:t>
                  </a:r>
                  <a:endParaRPr lang="zh-CN" altLang="en-US" sz="1600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5" name="圆角矩形标注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696" y="1180647"/>
                  <a:ext cx="3950434" cy="278277"/>
                </a:xfrm>
                <a:prstGeom prst="wedgeRoundRectCallout">
                  <a:avLst>
                    <a:gd name="adj1" fmla="val -20792"/>
                    <a:gd name="adj2" fmla="val 179826"/>
                    <a:gd name="adj3" fmla="val 16667"/>
                  </a:avLst>
                </a:prstGeom>
                <a:blipFill>
                  <a:blip r:embed="rId3"/>
                  <a:stretch>
                    <a:fillRect l="-2769" t="-6481" r="-1385"/>
                  </a:stretch>
                </a:blipFill>
                <a:ln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/>
          <p:cNvGrpSpPr/>
          <p:nvPr/>
        </p:nvGrpSpPr>
        <p:grpSpPr>
          <a:xfrm>
            <a:off x="460370" y="562470"/>
            <a:ext cx="1087294" cy="1038834"/>
            <a:chOff x="688226" y="1185543"/>
            <a:chExt cx="1087294" cy="1038834"/>
          </a:xfrm>
        </p:grpSpPr>
        <p:sp>
          <p:nvSpPr>
            <p:cNvPr id="7" name="矩形 6"/>
            <p:cNvSpPr/>
            <p:nvPr/>
          </p:nvSpPr>
          <p:spPr>
            <a:xfrm>
              <a:off x="688226" y="1730218"/>
              <a:ext cx="773504" cy="494159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" name="圆角矩形标注 7"/>
            <p:cNvSpPr/>
            <p:nvPr/>
          </p:nvSpPr>
          <p:spPr>
            <a:xfrm>
              <a:off x="688226" y="1185543"/>
              <a:ext cx="1087294" cy="273381"/>
            </a:xfrm>
            <a:prstGeom prst="wedgeRoundRectCallout">
              <a:avLst>
                <a:gd name="adj1" fmla="val -22023"/>
                <a:gd name="adj2" fmla="val 114858"/>
                <a:gd name="adj3" fmla="val 16667"/>
              </a:avLst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更新后表示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17882" y="1635865"/>
            <a:ext cx="2028220" cy="641007"/>
            <a:chOff x="3645738" y="2258938"/>
            <a:chExt cx="2028220" cy="641007"/>
          </a:xfrm>
        </p:grpSpPr>
        <p:sp>
          <p:nvSpPr>
            <p:cNvPr id="10" name="矩形 9"/>
            <p:cNvSpPr/>
            <p:nvPr/>
          </p:nvSpPr>
          <p:spPr>
            <a:xfrm>
              <a:off x="3645738" y="2405786"/>
              <a:ext cx="660068" cy="494159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305806" y="2258938"/>
              <a:ext cx="1368152" cy="377974"/>
              <a:chOff x="4305806" y="2258938"/>
              <a:chExt cx="1368152" cy="377974"/>
            </a:xfrm>
          </p:grpSpPr>
          <p:cxnSp>
            <p:nvCxnSpPr>
              <p:cNvPr id="12" name="直接连接符 11"/>
              <p:cNvCxnSpPr/>
              <p:nvPr/>
            </p:nvCxnSpPr>
            <p:spPr>
              <a:xfrm>
                <a:off x="5673958" y="2258938"/>
                <a:ext cx="0" cy="37797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H="1">
                <a:off x="4305806" y="2636912"/>
                <a:ext cx="1368152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140968"/>
            <a:ext cx="3843526" cy="179350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608004" y="2514955"/>
            <a:ext cx="4068452" cy="3160481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txBody>
          <a:bodyPr wrap="square" lIns="36000" tIns="0" rIns="0" bIns="0" rtlCol="0">
            <a:spAutoFit/>
          </a:bodyPr>
          <a:lstStyle/>
          <a:p>
            <a:pPr marL="268288" indent="-268288">
              <a:lnSpc>
                <a:spcPts val="21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/>
              <a:t>根据输入的图结构，更新图中的一个节点表示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如节点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268288" indent="-268288">
              <a:lnSpc>
                <a:spcPts val="21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/>
              <a:t>更新过程中，会用到该节点所有邻居节点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B,C,D</a:t>
            </a:r>
            <a:r>
              <a:rPr lang="zh-CN" altLang="en-US" sz="1600" dirty="0"/>
              <a:t>的信息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或包括与节点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+mn-ea"/>
                <a:ea typeface="+mn-ea"/>
              </a:rPr>
              <a:t>连接的“边信息”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268288" indent="-268288">
              <a:lnSpc>
                <a:spcPts val="21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  <a:ea typeface="+mn-ea"/>
              </a:rPr>
              <a:t>进一步要获取节点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B,C,D</a:t>
            </a:r>
            <a:r>
              <a:rPr lang="zh-CN" altLang="en-US" sz="1600" dirty="0">
                <a:latin typeface="+mn-ea"/>
                <a:ea typeface="+mn-ea"/>
              </a:rPr>
              <a:t>的信息，同样需要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B,C,D</a:t>
            </a:r>
            <a:r>
              <a:rPr lang="zh-CN" altLang="en-US" sz="1600" dirty="0">
                <a:latin typeface="+mn-ea"/>
                <a:ea typeface="+mn-ea"/>
              </a:rPr>
              <a:t>的邻居信息。 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扩散、传递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</a:p>
          <a:p>
            <a:pPr marL="534988" indent="-176213">
              <a:lnSpc>
                <a:spcPts val="21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n-ea"/>
                <a:ea typeface="+mn-ea"/>
              </a:rPr>
              <a:t>如节点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+mn-ea"/>
                <a:ea typeface="+mn-ea"/>
              </a:rPr>
              <a:t>，即需要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+mn-ea"/>
                <a:ea typeface="+mn-ea"/>
              </a:rPr>
              <a:t>的所有邻居信息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如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1600" dirty="0">
                <a:latin typeface="+mn-ea"/>
                <a:ea typeface="+mn-ea"/>
              </a:rPr>
              <a:t>,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+mn-ea"/>
                <a:ea typeface="+mn-ea"/>
              </a:rPr>
              <a:t>,</a:t>
            </a:r>
            <a:r>
              <a:rPr lang="zh-CN" altLang="en-US" sz="1600" dirty="0">
                <a:latin typeface="+mn-ea"/>
                <a:ea typeface="+mn-ea"/>
              </a:rPr>
              <a:t>边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en-US" sz="1600" dirty="0">
                <a:latin typeface="+mn-ea"/>
                <a:ea typeface="+mn-ea"/>
              </a:rPr>
              <a:t>。此时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+mn-ea"/>
                <a:ea typeface="+mn-ea"/>
              </a:rPr>
              <a:t>的下一个邻居节点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+mn-ea"/>
                <a:ea typeface="+mn-ea"/>
              </a:rPr>
              <a:t>即称为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+mn-ea"/>
                <a:ea typeface="+mn-ea"/>
              </a:rPr>
              <a:t>的“</a:t>
            </a:r>
            <a:r>
              <a:rPr lang="en-US" altLang="zh-CN" sz="1600" dirty="0">
                <a:latin typeface="+mn-ea"/>
                <a:ea typeface="+mn-ea"/>
              </a:rPr>
              <a:t>2</a:t>
            </a:r>
            <a:r>
              <a:rPr lang="zh-CN" altLang="en-US" sz="1600" dirty="0">
                <a:latin typeface="+mn-ea"/>
                <a:ea typeface="+mn-ea"/>
              </a:rPr>
              <a:t>阶邻居”。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类推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</a:p>
          <a:p>
            <a:pPr marL="268288" indent="-268288">
              <a:lnSpc>
                <a:spcPts val="21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  <a:ea typeface="+mn-ea"/>
              </a:rPr>
              <a:t>如此，得到更新后的表示。</a:t>
            </a:r>
          </a:p>
        </p:txBody>
      </p:sp>
    </p:spTree>
    <p:extLst>
      <p:ext uri="{BB962C8B-B14F-4D97-AF65-F5344CB8AC3E}">
        <p14:creationId xmlns:p14="http://schemas.microsoft.com/office/powerpoint/2010/main" val="347313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46624" y="1188179"/>
            <a:ext cx="1080120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常用模型</a:t>
            </a:r>
          </a:p>
        </p:txBody>
      </p:sp>
      <p:sp>
        <p:nvSpPr>
          <p:cNvPr id="3" name="矩形 2"/>
          <p:cNvSpPr/>
          <p:nvPr/>
        </p:nvSpPr>
        <p:spPr>
          <a:xfrm>
            <a:off x="618916" y="1772816"/>
            <a:ext cx="7579667" cy="4244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  <a:ea typeface="+mn-ea"/>
              </a:rPr>
              <a:t>图卷积网络</a:t>
            </a:r>
            <a:r>
              <a:rPr lang="zh-CN" altLang="en-US" sz="1600" b="0" dirty="0">
                <a:latin typeface="+mn-ea"/>
                <a:ea typeface="+mn-ea"/>
              </a:rPr>
              <a:t>（</a:t>
            </a:r>
            <a:r>
              <a:rPr lang="en-US" altLang="zh-CN" sz="16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Graph Convolutional Network, GCN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通过卷积操作，提取图结构数据中的特征表示。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卷积操作主要有基于谱分解和基于节点空间变换两种方法。</a:t>
            </a:r>
            <a:endParaRPr lang="en-US" altLang="zh-CN" sz="1600" b="0" dirty="0">
              <a:latin typeface="+mn-ea"/>
              <a:ea typeface="+mn-ea"/>
            </a:endParaRPr>
          </a:p>
          <a:p>
            <a:pPr marL="360363" indent="-3603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  <a:ea typeface="+mn-ea"/>
              </a:rPr>
              <a:t>图注意力网络</a:t>
            </a:r>
            <a:r>
              <a:rPr lang="zh-CN" altLang="en-US" sz="1600" b="0" dirty="0">
                <a:latin typeface="+mn-ea"/>
                <a:ea typeface="+mn-ea"/>
              </a:rPr>
              <a:t>（</a:t>
            </a:r>
            <a:r>
              <a:rPr lang="en-US" altLang="zh-CN" sz="16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Graph Attention Network, GAT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在图神经网络中引入注意力机制，使网络能够关注与任务更相关的节点和边。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提升训练的有效性和测试的精度。</a:t>
            </a:r>
          </a:p>
          <a:p>
            <a:pPr marL="342900" indent="-342900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  <a:ea typeface="+mn-ea"/>
              </a:rPr>
              <a:t>其他</a:t>
            </a:r>
            <a:endParaRPr lang="en-US" altLang="zh-CN" sz="160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16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GraphSAGE</a:t>
            </a:r>
            <a:r>
              <a:rPr lang="zh-CN" altLang="en-US" sz="1600" b="0" dirty="0">
                <a:latin typeface="+mn-ea"/>
                <a:ea typeface="+mn-ea"/>
              </a:rPr>
              <a:t>（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Sample and Aggregated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图脉冲（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Spiking Neural Networks,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GSpikingNN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图循环（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Recurrent Neural Networks, GRNNs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图自编码器（</a:t>
            </a:r>
            <a:r>
              <a:rPr lang="en-US" altLang="zh-CN" sz="16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Graph Auto-encoder, GAE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图生成网络（</a:t>
            </a:r>
            <a:r>
              <a:rPr lang="en-US" altLang="zh-CN" sz="16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Graph Generative Network, GGN</a:t>
            </a:r>
            <a:r>
              <a:rPr lang="zh-CN" altLang="en-US" sz="1600" b="0" dirty="0">
                <a:latin typeface="+mn-ea"/>
                <a:ea typeface="+mn-ea"/>
              </a:rPr>
              <a:t>）</a:t>
            </a:r>
            <a:endParaRPr lang="en-US" altLang="zh-CN" sz="1600" b="0" dirty="0">
              <a:latin typeface="+mn-ea"/>
              <a:ea typeface="+mn-ea"/>
            </a:endParaRP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1600" b="0" dirty="0">
                <a:latin typeface="+mn-ea"/>
                <a:ea typeface="+mn-ea"/>
              </a:rPr>
              <a:t>……</a:t>
            </a:r>
          </a:p>
          <a:p>
            <a:pPr marL="631825" indent="-271463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+mn-ea"/>
                <a:ea typeface="+mn-ea"/>
              </a:rPr>
              <a:t>各自具有不同的特点和应用场景</a:t>
            </a:r>
            <a:endParaRPr lang="zh-CN" altLang="en-US" sz="1600" b="0" i="0" dirty="0"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71476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20796" y="1177007"/>
            <a:ext cx="1080120" cy="307777"/>
          </a:xfrm>
          <a:prstGeom prst="rect">
            <a:avLst/>
          </a:prstGeom>
          <a:noFill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</a:t>
            </a:r>
            <a:r>
              <a:rPr lang="zh-CN" altLang="en-US" sz="2000" dirty="0">
                <a:latin typeface="+mn-ea"/>
                <a:ea typeface="+mn-ea"/>
              </a:rPr>
              <a:t>应用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1844824"/>
            <a:ext cx="8461448" cy="361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lvl="1" indent="-268288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tabLst>
                <a:tab pos="914400" algn="l"/>
              </a:tabLst>
            </a:pPr>
            <a:r>
              <a:rPr lang="zh-CN" altLang="zh-CN" sz="1600" dirty="0">
                <a:solidFill>
                  <a:srgbClr val="0000FF"/>
                </a:solidFill>
              </a:rPr>
              <a:t>语义网络</a:t>
            </a:r>
            <a:r>
              <a:rPr lang="zh-CN" altLang="zh-CN" sz="1600" dirty="0"/>
              <a:t>是</a:t>
            </a:r>
            <a:r>
              <a:rPr lang="zh-CN" altLang="zh-CN" sz="1600" dirty="0">
                <a:solidFill>
                  <a:srgbClr val="FF0000"/>
                </a:solidFill>
              </a:rPr>
              <a:t>知识图谱</a:t>
            </a:r>
            <a:r>
              <a:rPr lang="zh-CN" altLang="zh-CN" sz="1600" dirty="0"/>
              <a:t>的基础和</a:t>
            </a:r>
            <a:r>
              <a:rPr lang="zh-CN" altLang="en-US" sz="1600" dirty="0"/>
              <a:t>构成</a:t>
            </a:r>
            <a:endParaRPr lang="en-US" altLang="zh-CN" sz="1600" dirty="0"/>
          </a:p>
          <a:p>
            <a:pPr marL="442913" lvl="1" indent="-174625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dirty="0"/>
              <a:t>为知识图谱提供了基本的表示和描述方法。</a:t>
            </a:r>
            <a:endParaRPr lang="en-US" altLang="zh-CN" sz="1600" dirty="0"/>
          </a:p>
          <a:p>
            <a:pPr marL="442913" lvl="1" indent="-174625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dirty="0"/>
              <a:t>通过关系抽取</a:t>
            </a:r>
            <a:r>
              <a:rPr lang="zh-CN" altLang="en-US" sz="1600" dirty="0"/>
              <a:t>、</a:t>
            </a:r>
            <a:r>
              <a:rPr lang="zh-CN" altLang="zh-CN" sz="1600" dirty="0"/>
              <a:t>数据融合</a:t>
            </a:r>
            <a:r>
              <a:rPr lang="en-US" altLang="zh-CN" sz="1600" dirty="0">
                <a:latin typeface="+mn-ea"/>
                <a:ea typeface="+mn-ea"/>
              </a:rPr>
              <a:t>…</a:t>
            </a:r>
            <a:r>
              <a:rPr lang="zh-CN" altLang="zh-CN" sz="1600" dirty="0"/>
              <a:t>将</a:t>
            </a:r>
            <a:r>
              <a:rPr lang="zh-CN" altLang="zh-CN" sz="1600" dirty="0">
                <a:solidFill>
                  <a:srgbClr val="FF0000"/>
                </a:solidFill>
              </a:rPr>
              <a:t>语义网络</a:t>
            </a:r>
            <a:r>
              <a:rPr lang="zh-CN" altLang="zh-CN" sz="1600" dirty="0"/>
              <a:t>中的</a:t>
            </a:r>
            <a:r>
              <a:rPr lang="zh-CN" altLang="zh-CN" sz="1600" dirty="0">
                <a:solidFill>
                  <a:srgbClr val="0000FF"/>
                </a:solidFill>
              </a:rPr>
              <a:t>实体</a:t>
            </a:r>
            <a:r>
              <a:rPr lang="zh-CN" altLang="zh-CN" sz="1600" dirty="0"/>
              <a:t>和</a:t>
            </a:r>
            <a:r>
              <a:rPr lang="zh-CN" altLang="zh-CN" sz="1600" dirty="0">
                <a:solidFill>
                  <a:srgbClr val="0000FF"/>
                </a:solidFill>
              </a:rPr>
              <a:t>关系</a:t>
            </a:r>
            <a:r>
              <a:rPr lang="zh-CN" altLang="en-US" sz="1600" dirty="0"/>
              <a:t>，</a:t>
            </a:r>
            <a:r>
              <a:rPr lang="zh-CN" altLang="zh-CN" sz="1600" dirty="0"/>
              <a:t>转化为</a:t>
            </a:r>
            <a:r>
              <a:rPr lang="zh-CN" altLang="zh-CN" sz="1600" dirty="0">
                <a:solidFill>
                  <a:srgbClr val="FF0000"/>
                </a:solidFill>
              </a:rPr>
              <a:t>知识图谱</a:t>
            </a:r>
            <a:r>
              <a:rPr lang="zh-CN" altLang="zh-CN" sz="1600" dirty="0"/>
              <a:t>中的</a:t>
            </a:r>
            <a:r>
              <a:rPr lang="zh-CN" altLang="zh-CN" sz="1600" dirty="0">
                <a:solidFill>
                  <a:srgbClr val="0000FF"/>
                </a:solidFill>
              </a:rPr>
              <a:t>节点</a:t>
            </a:r>
            <a:r>
              <a:rPr lang="zh-CN" altLang="zh-CN" sz="1600" dirty="0"/>
              <a:t>和</a:t>
            </a:r>
            <a:r>
              <a:rPr lang="zh-CN" altLang="zh-CN" sz="1600" dirty="0">
                <a:solidFill>
                  <a:srgbClr val="0000FF"/>
                </a:solidFill>
              </a:rPr>
              <a:t>边</a:t>
            </a:r>
            <a:r>
              <a:rPr lang="zh-CN" altLang="zh-CN" sz="1600" dirty="0"/>
              <a:t>。</a:t>
            </a:r>
            <a:endParaRPr lang="en-US" altLang="zh-CN" sz="1600" dirty="0"/>
          </a:p>
          <a:p>
            <a:pPr marL="342900" indent="-34290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</a:rPr>
              <a:t>知识图谱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本质</a:t>
            </a:r>
            <a:r>
              <a:rPr lang="zh-CN" altLang="en-US" sz="1600" dirty="0">
                <a:latin typeface="+mn-ea"/>
              </a:rPr>
              <a:t>：一种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语义网络</a:t>
            </a:r>
            <a:r>
              <a:rPr lang="zh-CN" altLang="en-US" sz="1600" dirty="0">
                <a:latin typeface="+mn-ea"/>
              </a:rPr>
              <a:t>，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节点</a:t>
            </a:r>
            <a:r>
              <a:rPr lang="zh-CN" altLang="en-US" sz="1600" dirty="0">
                <a:latin typeface="+mn-ea"/>
              </a:rPr>
              <a:t>代表实体，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边</a:t>
            </a:r>
            <a:r>
              <a:rPr lang="zh-CN" altLang="en-US" sz="1600" dirty="0">
                <a:latin typeface="+mn-ea"/>
              </a:rPr>
              <a:t>代表实体之间的各种语义关系。</a:t>
            </a:r>
            <a:endParaRPr lang="en-US" altLang="zh-CN" sz="1600" dirty="0">
              <a:latin typeface="+mn-ea"/>
            </a:endParaRPr>
          </a:p>
          <a:p>
            <a:pPr marL="342900" indent="-34290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</a:rPr>
              <a:t>知识图谱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推理</a:t>
            </a:r>
            <a:r>
              <a:rPr lang="zh-CN" altLang="en-US" sz="1600" dirty="0">
                <a:latin typeface="+mn-ea"/>
              </a:rPr>
              <a:t>：知识图谱补全、链接预测。</a:t>
            </a:r>
            <a:endParaRPr lang="en-US" altLang="zh-CN" sz="1600" dirty="0">
              <a:latin typeface="+mn-ea"/>
            </a:endParaRPr>
          </a:p>
          <a:p>
            <a:pPr marL="1976438" indent="-18415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n-ea"/>
              </a:rPr>
              <a:t>给定两个实体，预测它们之间的连边</a:t>
            </a:r>
            <a:r>
              <a:rPr lang="en-US" altLang="zh-CN" sz="1600" dirty="0">
                <a:latin typeface="+mn-ea"/>
              </a:rPr>
              <a:t>(</a:t>
            </a:r>
            <a:r>
              <a:rPr lang="zh-CN" altLang="en-US" sz="1600" dirty="0">
                <a:latin typeface="+mn-ea"/>
              </a:rPr>
              <a:t>关系</a:t>
            </a:r>
            <a:r>
              <a:rPr lang="en-US" altLang="zh-CN" sz="1600" dirty="0">
                <a:latin typeface="+mn-ea"/>
              </a:rPr>
              <a:t>)</a:t>
            </a:r>
            <a:r>
              <a:rPr lang="zh-CN" altLang="en-US" sz="1600" dirty="0">
                <a:latin typeface="+mn-ea"/>
              </a:rPr>
              <a:t>。</a:t>
            </a:r>
            <a:endParaRPr lang="en-US" altLang="zh-CN" sz="1600" dirty="0">
              <a:latin typeface="+mn-ea"/>
            </a:endParaRPr>
          </a:p>
          <a:p>
            <a:pPr marL="1976438" indent="-184150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n-ea"/>
              </a:rPr>
              <a:t>给定头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尾实体和关系，预测尾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头实体。</a:t>
            </a:r>
            <a:endParaRPr lang="en-US" altLang="zh-CN" sz="1600" dirty="0"/>
          </a:p>
          <a:p>
            <a:pPr marL="342900" lvl="1" indent="-34290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tabLst>
                <a:tab pos="914400" algn="l"/>
              </a:tabLst>
            </a:pPr>
            <a:r>
              <a:rPr lang="zh-CN" altLang="zh-CN" sz="1600" dirty="0"/>
              <a:t>知识图谱为图神经网络提供了丰富的数据基础和应用场景</a:t>
            </a:r>
            <a:endParaRPr lang="en-US" altLang="zh-CN" sz="1600" dirty="0"/>
          </a:p>
          <a:p>
            <a:pPr marL="631825" lvl="1" indent="-288925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</a:t>
            </a:r>
            <a:r>
              <a:rPr lang="zh-CN" altLang="en-US" sz="1600" dirty="0"/>
              <a:t>可</a:t>
            </a:r>
            <a:r>
              <a:rPr lang="zh-CN" altLang="zh-CN" sz="1600" dirty="0"/>
              <a:t>直接处理知识图谱中的图结构数据</a:t>
            </a:r>
            <a:endParaRPr lang="en-US" altLang="zh-CN" sz="1600" dirty="0"/>
          </a:p>
          <a:p>
            <a:pPr marL="631825" lvl="1" indent="-288925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en-US" sz="1600" dirty="0"/>
              <a:t>通过利用所</a:t>
            </a:r>
            <a:r>
              <a:rPr lang="zh-CN" altLang="zh-CN" sz="1600" dirty="0"/>
              <a:t>提取的信息，为知识图谱的分析和应用提供新方法。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79685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1844824"/>
            <a:ext cx="8136904" cy="3103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kern="0" dirty="0">
                <a:latin typeface="+mn-ea"/>
                <a:ea typeface="+mn-ea"/>
                <a:cs typeface="Segoe UI" panose="020B0502040204020203" pitchFamily="34" charset="0"/>
              </a:rPr>
              <a:t>从语义网络到知识图谱，再到图神经网络</a:t>
            </a:r>
            <a:r>
              <a:rPr lang="zh-CN" altLang="en-US" sz="2000" kern="0" dirty="0">
                <a:latin typeface="+mn-ea"/>
                <a:ea typeface="+mn-ea"/>
                <a:cs typeface="Segoe UI" panose="020B0502040204020203" pitchFamily="34" charset="0"/>
              </a:rPr>
              <a:t>：</a:t>
            </a:r>
            <a:endParaRPr lang="en-US" altLang="zh-CN" sz="2000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marL="631825" indent="-271463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kern="0" dirty="0">
                <a:latin typeface="+mn-ea"/>
                <a:ea typeface="+mn-ea"/>
                <a:cs typeface="Segoe UI" panose="020B0502040204020203" pitchFamily="34" charset="0"/>
              </a:rPr>
              <a:t>反映了</a:t>
            </a:r>
            <a:r>
              <a:rPr lang="zh-CN" altLang="zh-CN" u="wavyDbl" kern="0" dirty="0">
                <a:latin typeface="+mn-ea"/>
                <a:ea typeface="+mn-ea"/>
                <a:cs typeface="Segoe UI" panose="020B0502040204020203" pitchFamily="34" charset="0"/>
              </a:rPr>
              <a:t>从基础到高级</a:t>
            </a:r>
            <a:r>
              <a:rPr lang="zh-CN" altLang="zh-CN" kern="0" dirty="0">
                <a:latin typeface="+mn-ea"/>
                <a:ea typeface="+mn-ea"/>
                <a:cs typeface="Segoe UI" panose="020B0502040204020203" pitchFamily="34" charset="0"/>
              </a:rPr>
              <a:t>、</a:t>
            </a:r>
            <a:r>
              <a:rPr lang="zh-CN" altLang="zh-CN" u="wavyDbl" kern="0" dirty="0">
                <a:latin typeface="+mn-ea"/>
                <a:ea typeface="+mn-ea"/>
                <a:cs typeface="Segoe UI" panose="020B0502040204020203" pitchFamily="34" charset="0"/>
              </a:rPr>
              <a:t>从简单到复杂</a:t>
            </a:r>
            <a:r>
              <a:rPr lang="zh-CN" altLang="zh-CN" kern="0" dirty="0">
                <a:latin typeface="+mn-ea"/>
                <a:ea typeface="+mn-ea"/>
                <a:cs typeface="Segoe UI" panose="020B0502040204020203" pitchFamily="34" charset="0"/>
              </a:rPr>
              <a:t>的</a:t>
            </a:r>
            <a:r>
              <a:rPr lang="zh-CN" altLang="zh-CN" kern="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知识表示</a:t>
            </a:r>
            <a:r>
              <a:rPr lang="zh-CN" altLang="en-US" kern="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与</a:t>
            </a:r>
            <a:r>
              <a:rPr lang="zh-CN" altLang="zh-CN" kern="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处理</a:t>
            </a:r>
            <a:r>
              <a:rPr lang="zh-CN" altLang="zh-CN" kern="0" dirty="0">
                <a:latin typeface="+mn-ea"/>
                <a:ea typeface="+mn-ea"/>
                <a:cs typeface="Segoe UI" panose="020B0502040204020203" pitchFamily="34" charset="0"/>
              </a:rPr>
              <a:t>的</a:t>
            </a:r>
            <a:r>
              <a:rPr lang="zh-CN" altLang="en-US" kern="0" dirty="0">
                <a:solidFill>
                  <a:srgbClr val="0000FF"/>
                </a:solidFill>
                <a:latin typeface="+mn-ea"/>
                <a:ea typeface="+mn-ea"/>
                <a:cs typeface="Segoe UI" panose="020B0502040204020203" pitchFamily="34" charset="0"/>
              </a:rPr>
              <a:t>演进</a:t>
            </a:r>
            <a:r>
              <a:rPr lang="zh-CN" altLang="zh-CN" kern="0" dirty="0">
                <a:solidFill>
                  <a:srgbClr val="0000FF"/>
                </a:solidFill>
                <a:latin typeface="+mn-ea"/>
                <a:ea typeface="+mn-ea"/>
                <a:cs typeface="Segoe UI" panose="020B0502040204020203" pitchFamily="34" charset="0"/>
              </a:rPr>
              <a:t>过程</a:t>
            </a:r>
            <a:r>
              <a:rPr lang="zh-CN" altLang="en-US" kern="0" dirty="0">
                <a:latin typeface="+mn-ea"/>
                <a:ea typeface="+mn-ea"/>
                <a:cs typeface="Segoe UI" panose="020B0502040204020203" pitchFamily="34" charset="0"/>
              </a:rPr>
              <a:t>。</a:t>
            </a:r>
            <a:endParaRPr lang="en-US" altLang="zh-CN" kern="0" dirty="0">
              <a:latin typeface="+mn-ea"/>
              <a:ea typeface="+mn-ea"/>
              <a:cs typeface="Segoe UI" panose="020B0502040204020203" pitchFamily="34" charset="0"/>
            </a:endParaRPr>
          </a:p>
          <a:p>
            <a:pPr marL="631825" indent="-271463">
              <a:lnSpc>
                <a:spcPts val="3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体现了人工智能领域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zh-CN" dirty="0">
                <a:latin typeface="+mn-ea"/>
                <a:ea typeface="+mn-ea"/>
              </a:rPr>
              <a:t>对于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知识表示和学习</a:t>
            </a:r>
            <a:r>
              <a:rPr lang="zh-CN" altLang="zh-CN" dirty="0">
                <a:latin typeface="+mn-ea"/>
                <a:ea typeface="+mn-ea"/>
              </a:rPr>
              <a:t>的不断发展和深化。</a:t>
            </a:r>
            <a:endParaRPr lang="en-US" altLang="zh-CN" dirty="0">
              <a:latin typeface="+mn-ea"/>
              <a:ea typeface="+mn-ea"/>
            </a:endParaRPr>
          </a:p>
          <a:p>
            <a:pPr marL="895350" indent="-174625">
              <a:lnSpc>
                <a:spcPts val="3200"/>
              </a:lnSpc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语义网络</a:t>
            </a:r>
            <a:r>
              <a:rPr lang="zh-CN" altLang="zh-CN" u="wavyDbl" dirty="0">
                <a:latin typeface="+mn-ea"/>
                <a:ea typeface="+mn-ea"/>
              </a:rPr>
              <a:t>提供了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知识表示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的基础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zh-CN" dirty="0">
                <a:latin typeface="+mn-ea"/>
                <a:ea typeface="+mn-ea"/>
              </a:rPr>
              <a:t>框架</a:t>
            </a:r>
            <a:r>
              <a:rPr lang="en-US" altLang="zh-CN" dirty="0">
                <a:latin typeface="+mn-ea"/>
                <a:ea typeface="+mn-ea"/>
              </a:rPr>
              <a:t>)</a:t>
            </a:r>
          </a:p>
          <a:p>
            <a:pPr marL="895350" indent="-174625">
              <a:lnSpc>
                <a:spcPts val="3200"/>
              </a:lnSpc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知识图谱</a:t>
            </a:r>
            <a:r>
              <a:rPr lang="zh-CN" altLang="zh-CN" u="wavyDbl" dirty="0">
                <a:latin typeface="+mn-ea"/>
                <a:ea typeface="+mn-ea"/>
              </a:rPr>
              <a:t>扩展了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知识的范围和深度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zh-CN" kern="0" dirty="0">
                <a:latin typeface="+mn-ea"/>
                <a:ea typeface="+mn-ea"/>
                <a:cs typeface="Segoe UI" panose="020B0502040204020203" pitchFamily="34" charset="0"/>
              </a:rPr>
              <a:t>构建更丰富和结构化的知识库</a:t>
            </a:r>
            <a:r>
              <a:rPr lang="en-US" altLang="zh-CN" dirty="0">
                <a:latin typeface="+mn-ea"/>
                <a:ea typeface="+mn-ea"/>
              </a:rPr>
              <a:t>)</a:t>
            </a:r>
          </a:p>
          <a:p>
            <a:pPr marL="895350" indent="-174625">
              <a:lnSpc>
                <a:spcPts val="3200"/>
              </a:lnSpc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图神经网络</a:t>
            </a:r>
            <a:r>
              <a:rPr lang="zh-CN" altLang="en-US" dirty="0">
                <a:latin typeface="+mn-ea"/>
                <a:ea typeface="+mn-ea"/>
              </a:rPr>
              <a:t>运用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深度学习</a:t>
            </a:r>
            <a:r>
              <a:rPr lang="zh-CN" altLang="zh-CN" dirty="0">
                <a:latin typeface="+mn-ea"/>
                <a:ea typeface="+mn-ea"/>
              </a:rPr>
              <a:t>技术</a:t>
            </a:r>
            <a:r>
              <a:rPr lang="zh-CN" altLang="en-US" dirty="0">
                <a:latin typeface="+mn-ea"/>
                <a:ea typeface="+mn-ea"/>
              </a:rPr>
              <a:t>，进一步</a:t>
            </a:r>
            <a:r>
              <a:rPr lang="zh-CN" altLang="zh-CN" dirty="0">
                <a:latin typeface="+mn-ea"/>
                <a:ea typeface="+mn-ea"/>
              </a:rPr>
              <a:t>学习和推理图结构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知识图谱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中的复杂模式和特征。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630622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1163568"/>
            <a:ext cx="636289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智慧医疗应用</a:t>
            </a:r>
            <a:r>
              <a:rPr lang="en-US" altLang="zh-CN" sz="2000" dirty="0">
                <a:latin typeface="+mn-ea"/>
                <a:ea typeface="+mn-ea"/>
              </a:rPr>
              <a:t>---</a:t>
            </a:r>
            <a:r>
              <a:rPr lang="zh-CN" altLang="en-US" sz="2000" dirty="0">
                <a:latin typeface="+mn-ea"/>
                <a:ea typeface="+mn-ea"/>
              </a:rPr>
              <a:t>疾病预测和个性化治疗推荐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基本思想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5303" y="1772816"/>
            <a:ext cx="7999146" cy="1551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2300"/>
              </a:lnSpc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、语义网络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zh-CN" altLang="zh-CN" sz="1600" dirty="0">
                <a:latin typeface="+mn-ea"/>
                <a:ea typeface="+mn-ea"/>
              </a:rPr>
              <a:t>⑴</a:t>
            </a:r>
            <a:r>
              <a:rPr lang="zh-CN" altLang="en-US" sz="1600" dirty="0">
                <a:latin typeface="+mn-ea"/>
                <a:ea typeface="+mn-ea"/>
              </a:rPr>
              <a:t>、作用：捕捉医学领域中的概念、术语及其之间的关系，形成基本的医学语义网络。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zh-CN" altLang="en-US" sz="1600" dirty="0">
                <a:latin typeface="+mn-ea"/>
                <a:ea typeface="+mn-ea"/>
              </a:rPr>
              <a:t>⑵、实现：收集医学文献、病例报告、专家意见等数据，利用自然语言处理技术提取医学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      </a:t>
            </a:r>
            <a:r>
              <a:rPr lang="zh-CN" altLang="en-US" sz="1600" dirty="0">
                <a:latin typeface="+mn-ea"/>
                <a:ea typeface="+mn-ea"/>
              </a:rPr>
              <a:t>术语和概念，构建医学领域的语义网络，描述疾病、症状、治疗方法、药物等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      </a:t>
            </a:r>
            <a:r>
              <a:rPr lang="zh-CN" altLang="en-US" sz="1600" dirty="0">
                <a:latin typeface="+mn-ea"/>
                <a:ea typeface="+mn-ea"/>
              </a:rPr>
              <a:t>之间的复杂关系。</a:t>
            </a:r>
            <a:endParaRPr lang="zh-CN" altLang="en-US" sz="1600" i="0" dirty="0">
              <a:effectLst/>
              <a:latin typeface="+mn-ea"/>
              <a:ea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05303" y="3212976"/>
            <a:ext cx="8087423" cy="2647940"/>
            <a:chOff x="605303" y="3212976"/>
            <a:chExt cx="8087423" cy="2647940"/>
          </a:xfrm>
        </p:grpSpPr>
        <p:sp>
          <p:nvSpPr>
            <p:cNvPr id="4" name="矩形 3"/>
            <p:cNvSpPr/>
            <p:nvPr/>
          </p:nvSpPr>
          <p:spPr>
            <a:xfrm>
              <a:off x="605303" y="3625994"/>
              <a:ext cx="3894689" cy="1892826"/>
            </a:xfrm>
            <a:prstGeom prst="rect">
              <a:avLst/>
            </a:prstGeom>
            <a:ln>
              <a:solidFill>
                <a:schemeClr val="tx1"/>
              </a:solidFill>
              <a:prstDash val="sysDash"/>
            </a:ln>
          </p:spPr>
          <p:txBody>
            <a:bodyPr wrap="square" lIns="0" tIns="0" rIns="0" bIns="0">
              <a:spAutoFit/>
            </a:bodyPr>
            <a:lstStyle/>
            <a:p>
              <a:pPr marL="268288" indent="-268288">
                <a:lnSpc>
                  <a:spcPct val="150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dirty="0">
                  <a:latin typeface="-apple-system"/>
                </a:rPr>
                <a:t>概念与术语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PingFang-SC-Regular"/>
                </a:rPr>
                <a:t>① 疾病：心脏病、高血压、糖尿病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宋体" panose="02010600030101010101" pitchFamily="2" charset="-122"/>
                </a:rPr>
                <a:t>② </a:t>
              </a:r>
              <a:r>
                <a:rPr lang="zh-CN" altLang="en-US" sz="1600" dirty="0">
                  <a:latin typeface="PingFang-SC-Regular"/>
                </a:rPr>
                <a:t>症状：胸痛、心悸、头痛、多尿、口渴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宋体" panose="02010600030101010101" pitchFamily="2" charset="-122"/>
                </a:rPr>
                <a:t>③ </a:t>
              </a:r>
              <a:r>
                <a:rPr lang="zh-CN" altLang="en-US" sz="1600" dirty="0">
                  <a:latin typeface="PingFang-SC-Regular"/>
                </a:rPr>
                <a:t>治疗方法：药物、手术、生活方式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宋体" panose="02010600030101010101" pitchFamily="2" charset="-122"/>
                </a:rPr>
                <a:t>④ </a:t>
              </a:r>
              <a:r>
                <a:rPr lang="zh-CN" altLang="en-US" sz="1600" dirty="0">
                  <a:latin typeface="PingFang-SC-Regular"/>
                </a:rPr>
                <a:t>药物：阿司匹林、美托洛尔、二甲双胍</a:t>
              </a:r>
              <a:endParaRPr lang="zh-CN" altLang="en-US" sz="1600" i="0" dirty="0">
                <a:effectLst/>
                <a:latin typeface="PingFang-SC-Regular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04876" y="3212976"/>
              <a:ext cx="2152634" cy="72008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4876" y="4242186"/>
              <a:ext cx="2152634" cy="660441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7481" y="3924334"/>
              <a:ext cx="1685245" cy="1296144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2152" y="5244294"/>
              <a:ext cx="2078082" cy="6166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02023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 bwMode="auto">
          <a:xfrm>
            <a:off x="539552" y="1484784"/>
            <a:ext cx="8064896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2764" y="404664"/>
            <a:ext cx="8640960" cy="1551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lvl="0" indent="-342900">
              <a:lnSpc>
                <a:spcPts val="23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、构建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知识图谱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lvl="0" indent="-342900">
              <a:lnSpc>
                <a:spcPts val="23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zh-CN" altLang="zh-CN" sz="1600" dirty="0">
                <a:latin typeface="+mn-ea"/>
                <a:ea typeface="+mn-ea"/>
              </a:rPr>
              <a:t>⑴</a:t>
            </a:r>
            <a:r>
              <a:rPr lang="zh-CN" altLang="en-US" sz="1600" dirty="0">
                <a:latin typeface="+mn-ea"/>
                <a:ea typeface="+mn-ea"/>
              </a:rPr>
              <a:t>、</a:t>
            </a:r>
            <a:r>
              <a:rPr lang="zh-CN" altLang="zh-CN" sz="1600" dirty="0">
                <a:latin typeface="+mn-ea"/>
                <a:ea typeface="+mn-ea"/>
              </a:rPr>
              <a:t>作用：将语义网络中的概念、术语及其关系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r>
              <a:rPr lang="zh-CN" altLang="zh-CN" sz="1600" dirty="0">
                <a:latin typeface="+mn-ea"/>
                <a:ea typeface="+mn-ea"/>
              </a:rPr>
              <a:t>以结构化形式表示，形成医学知识图谱。</a:t>
            </a: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zh-CN" altLang="en-US" sz="1600" dirty="0">
                <a:latin typeface="+mn-ea"/>
                <a:ea typeface="+mn-ea"/>
              </a:rPr>
              <a:t>⑵、</a:t>
            </a:r>
            <a:r>
              <a:rPr lang="zh-CN" altLang="zh-CN" sz="1600" dirty="0">
                <a:latin typeface="+mn-ea"/>
                <a:ea typeface="+mn-ea"/>
              </a:rPr>
              <a:t>实现：基于语义网络，将医学概念作为节点，概念之间的关系作为边，构建医学知识图谱。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      </a:t>
            </a:r>
            <a:r>
              <a:rPr lang="zh-CN" altLang="zh-CN" sz="1600" dirty="0">
                <a:latin typeface="+mn-ea"/>
                <a:ea typeface="+mn-ea"/>
              </a:rPr>
              <a:t>图谱中的节点可包括疾病、症状、药物、治疗方法等，边表示它们之间的关联关系，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      </a:t>
            </a:r>
            <a:r>
              <a:rPr lang="zh-CN" altLang="zh-CN" sz="1600" dirty="0">
                <a:latin typeface="+mn-ea"/>
                <a:ea typeface="+mn-ea"/>
              </a:rPr>
              <a:t>如因果关系、治疗关系等。</a:t>
            </a:r>
            <a:endParaRPr lang="zh-CN" altLang="en-US" sz="16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060848"/>
            <a:ext cx="6768752" cy="40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6579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 bwMode="auto">
          <a:xfrm>
            <a:off x="602324" y="1484784"/>
            <a:ext cx="8064896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4237" y="404664"/>
            <a:ext cx="8271684" cy="4578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lvl="0" indent="-342900">
              <a:lnSpc>
                <a:spcPts val="2700"/>
              </a:lnSpc>
              <a:spcAft>
                <a:spcPts val="1200"/>
              </a:spcAft>
              <a:tabLst>
                <a:tab pos="457200" algn="l"/>
              </a:tabLst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图神经网络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运用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lvl="0" indent="-342900">
              <a:lnSpc>
                <a:spcPts val="2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zh-CN" altLang="en-US" sz="1600" dirty="0">
                <a:latin typeface="+mn-ea"/>
                <a:ea typeface="+mn-ea"/>
              </a:rPr>
              <a:t>⑴、</a:t>
            </a:r>
            <a:r>
              <a:rPr lang="zh-CN" altLang="zh-CN" sz="1600" dirty="0">
                <a:latin typeface="+mn-ea"/>
                <a:ea typeface="+mn-ea"/>
              </a:rPr>
              <a:t>作用：在图结构数据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zh-CN" sz="1600" dirty="0">
                <a:latin typeface="+mn-ea"/>
                <a:ea typeface="+mn-ea"/>
              </a:rPr>
              <a:t>知识图谱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zh-CN" sz="1600" dirty="0">
                <a:latin typeface="+mn-ea"/>
                <a:ea typeface="+mn-ea"/>
              </a:rPr>
              <a:t>上</a:t>
            </a:r>
            <a:r>
              <a:rPr lang="zh-CN" altLang="en-US" sz="1600" dirty="0">
                <a:latin typeface="+mn-ea"/>
                <a:ea typeface="+mn-ea"/>
              </a:rPr>
              <a:t>运用</a:t>
            </a:r>
            <a:r>
              <a:rPr lang="zh-CN" altLang="zh-CN" sz="1600" dirty="0">
                <a:latin typeface="+mn-ea"/>
                <a:ea typeface="+mn-ea"/>
              </a:rPr>
              <a:t>深度学习技术，学习节点和边的特征，用于疾病</a:t>
            </a:r>
            <a:endParaRPr lang="en-US" altLang="zh-CN" sz="1600" dirty="0">
              <a:latin typeface="+mn-ea"/>
              <a:ea typeface="+mn-ea"/>
            </a:endParaRPr>
          </a:p>
          <a:p>
            <a:pPr marL="342900" lvl="0" indent="-342900">
              <a:lnSpc>
                <a:spcPts val="2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      </a:t>
            </a:r>
            <a:r>
              <a:rPr lang="zh-CN" altLang="zh-CN" sz="1600" dirty="0">
                <a:latin typeface="+mn-ea"/>
                <a:ea typeface="+mn-ea"/>
              </a:rPr>
              <a:t>预测</a:t>
            </a:r>
            <a:r>
              <a:rPr lang="zh-CN" altLang="en-US" sz="1600" dirty="0">
                <a:latin typeface="+mn-ea"/>
                <a:ea typeface="+mn-ea"/>
              </a:rPr>
              <a:t>以及</a:t>
            </a:r>
            <a:r>
              <a:rPr lang="zh-CN" altLang="zh-CN" sz="1600" dirty="0">
                <a:latin typeface="+mn-ea"/>
                <a:ea typeface="+mn-ea"/>
              </a:rPr>
              <a:t>个性化</a:t>
            </a:r>
            <a:r>
              <a:rPr lang="zh-CN" altLang="en-US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latin typeface="+mn-ea"/>
                <a:ea typeface="+mn-ea"/>
              </a:rPr>
              <a:t>治疗推荐。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zh-CN" altLang="en-US" sz="1600" dirty="0">
                <a:latin typeface="+mn-ea"/>
                <a:ea typeface="+mn-ea"/>
              </a:rPr>
              <a:t>⑵、</a:t>
            </a:r>
            <a:r>
              <a:rPr lang="zh-CN" altLang="zh-CN" sz="1600" dirty="0">
                <a:latin typeface="+mn-ea"/>
                <a:ea typeface="+mn-ea"/>
              </a:rPr>
              <a:t>实现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</a:t>
            </a:r>
            <a:r>
              <a:rPr lang="zh-CN" altLang="en-US" sz="1600" dirty="0">
                <a:latin typeface="+mn-ea"/>
                <a:ea typeface="+mn-ea"/>
              </a:rPr>
              <a:t>①</a:t>
            </a:r>
            <a:r>
              <a:rPr lang="zh-CN" altLang="zh-CN" sz="1600" dirty="0">
                <a:latin typeface="+mn-ea"/>
                <a:ea typeface="+mn-ea"/>
              </a:rPr>
              <a:t>数据准备：将知识图谱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图结构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zh-CN" sz="1600" dirty="0">
                <a:latin typeface="+mn-ea"/>
                <a:ea typeface="+mn-ea"/>
              </a:rPr>
              <a:t>作为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latin typeface="+mn-ea"/>
                <a:ea typeface="+mn-ea"/>
              </a:rPr>
              <a:t>的输入数据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r>
              <a:rPr lang="zh-CN" altLang="zh-CN" sz="1600" dirty="0">
                <a:latin typeface="+mn-ea"/>
                <a:ea typeface="+mn-ea"/>
              </a:rPr>
              <a:t>其中每个节点和边</a:t>
            </a:r>
            <a:r>
              <a:rPr lang="zh-CN" altLang="en-US" sz="1600" dirty="0">
                <a:latin typeface="+mn-ea"/>
                <a:ea typeface="+mn-ea"/>
              </a:rPr>
              <a:t>均</a:t>
            </a:r>
            <a:r>
              <a:rPr lang="zh-CN" altLang="zh-CN" sz="1600" dirty="0">
                <a:latin typeface="+mn-ea"/>
                <a:ea typeface="+mn-ea"/>
              </a:rPr>
              <a:t>可以包含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600"/>
              </a:spcAft>
              <a:buSzPts val="1000"/>
              <a:tabLst>
                <a:tab pos="9144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            </a:t>
            </a:r>
            <a:r>
              <a:rPr lang="zh-CN" altLang="zh-CN" sz="1600" dirty="0">
                <a:latin typeface="+mn-ea"/>
                <a:ea typeface="+mn-ea"/>
              </a:rPr>
              <a:t>丰富的特征信息，如疾病的发病率、症状的严重程度、药物的疗效等。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②</a:t>
            </a:r>
            <a:r>
              <a:rPr lang="zh-CN" altLang="zh-CN" sz="1600" dirty="0">
                <a:latin typeface="+mn-ea"/>
                <a:ea typeface="+mn-ea"/>
              </a:rPr>
              <a:t>模型训练：使用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latin typeface="+mn-ea"/>
                <a:ea typeface="+mn-ea"/>
              </a:rPr>
              <a:t>模型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zh-CN" sz="1600" dirty="0">
                <a:latin typeface="+mn-ea"/>
                <a:ea typeface="+mn-ea"/>
              </a:rPr>
              <a:t>如图卷积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GCN</a:t>
            </a:r>
            <a:r>
              <a:rPr lang="zh-CN" altLang="en-US" sz="1600" dirty="0">
                <a:latin typeface="+mn-ea"/>
                <a:ea typeface="+mn-ea"/>
              </a:rPr>
              <a:t>、</a:t>
            </a:r>
            <a:r>
              <a:rPr lang="zh-CN" altLang="zh-CN" sz="1600" dirty="0">
                <a:latin typeface="+mn-ea"/>
                <a:ea typeface="+mn-ea"/>
              </a:rPr>
              <a:t>图注意力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GAT</a:t>
            </a:r>
            <a:r>
              <a:rPr lang="zh-CN" altLang="zh-CN" sz="1600" dirty="0">
                <a:latin typeface="+mn-ea"/>
                <a:ea typeface="+mn-ea"/>
              </a:rPr>
              <a:t>，在知识图谱上训练。通过聚合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600"/>
              </a:spcAft>
              <a:buSzPts val="1000"/>
              <a:tabLst>
                <a:tab pos="9144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            </a:t>
            </a:r>
            <a:r>
              <a:rPr lang="zh-CN" altLang="zh-CN" sz="1600" dirty="0">
                <a:latin typeface="+mn-ea"/>
                <a:ea typeface="+mn-ea"/>
              </a:rPr>
              <a:t>邻居节点的信息，模型可以学习每个节点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zh-CN" sz="1600" dirty="0">
                <a:latin typeface="+mn-ea"/>
                <a:ea typeface="+mn-ea"/>
              </a:rPr>
              <a:t>疾病</a:t>
            </a:r>
            <a:r>
              <a:rPr lang="en-US" altLang="zh-CN" sz="1600" dirty="0">
                <a:latin typeface="+mn-ea"/>
                <a:ea typeface="+mn-ea"/>
              </a:rPr>
              <a:t>/</a:t>
            </a:r>
            <a:r>
              <a:rPr lang="zh-CN" altLang="zh-CN" sz="1600" dirty="0">
                <a:latin typeface="+mn-ea"/>
                <a:ea typeface="+mn-ea"/>
              </a:rPr>
              <a:t>患者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zh-CN" sz="1600" dirty="0">
                <a:latin typeface="+mn-ea"/>
                <a:ea typeface="+mn-ea"/>
              </a:rPr>
              <a:t>的潜在表示。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0"/>
              </a:spcAft>
              <a:buSzPts val="1000"/>
              <a:tabLst>
                <a:tab pos="9144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③</a:t>
            </a:r>
            <a:r>
              <a:rPr lang="zh-CN" altLang="zh-CN" sz="1600" dirty="0">
                <a:latin typeface="+mn-ea"/>
                <a:ea typeface="+mn-ea"/>
              </a:rPr>
              <a:t>疾病预测：基于学习到的节点表示，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latin typeface="+mn-ea"/>
                <a:ea typeface="+mn-ea"/>
              </a:rPr>
              <a:t>模型可对新患者的疾病风险进行预测。</a:t>
            </a:r>
            <a:endParaRPr lang="en-US" altLang="zh-CN" sz="1600" dirty="0">
              <a:latin typeface="+mn-ea"/>
              <a:ea typeface="+mn-ea"/>
            </a:endParaRPr>
          </a:p>
          <a:p>
            <a:pPr marL="0" lvl="1">
              <a:lnSpc>
                <a:spcPts val="2500"/>
              </a:lnSpc>
              <a:spcAft>
                <a:spcPts val="600"/>
              </a:spcAft>
              <a:buSzPts val="1000"/>
              <a:tabLst>
                <a:tab pos="914400" algn="l"/>
              </a:tabLst>
            </a:pPr>
            <a:r>
              <a:rPr lang="en-US" altLang="zh-CN" sz="1600" dirty="0">
                <a:latin typeface="+mn-ea"/>
                <a:ea typeface="+mn-ea"/>
              </a:rPr>
              <a:t>      </a:t>
            </a:r>
            <a:r>
              <a:rPr lang="zh-CN" altLang="zh-CN" sz="1600" dirty="0">
                <a:latin typeface="+mn-ea"/>
                <a:ea typeface="+mn-ea"/>
              </a:rPr>
              <a:t>如，输入患者的症状、年龄、性别等信息，模型可计算患者某种疾病的可能性。</a:t>
            </a:r>
          </a:p>
          <a:p>
            <a:pPr>
              <a:lnSpc>
                <a:spcPts val="25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④</a:t>
            </a:r>
            <a:r>
              <a:rPr lang="zh-CN" altLang="zh-CN" sz="1600" dirty="0">
                <a:latin typeface="+mn-ea"/>
                <a:ea typeface="+mn-ea"/>
              </a:rPr>
              <a:t>个性化治疗推荐：在疾病预测基础上，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GNN</a:t>
            </a:r>
            <a:r>
              <a:rPr lang="zh-CN" altLang="zh-CN" sz="1600" dirty="0">
                <a:latin typeface="+mn-ea"/>
                <a:ea typeface="+mn-ea"/>
              </a:rPr>
              <a:t>模型可结合知识图谱中的治疗方法和药物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5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                  </a:t>
            </a:r>
            <a:r>
              <a:rPr lang="zh-CN" altLang="zh-CN" sz="1600" dirty="0">
                <a:latin typeface="+mn-ea"/>
                <a:ea typeface="+mn-ea"/>
              </a:rPr>
              <a:t>信息，为患者推荐治疗方案。</a:t>
            </a:r>
            <a:r>
              <a:rPr lang="zh-CN" altLang="en-US" sz="1600" dirty="0">
                <a:latin typeface="+mn-ea"/>
                <a:ea typeface="+mn-ea"/>
              </a:rPr>
              <a:t>如，</a:t>
            </a:r>
            <a:r>
              <a:rPr lang="zh-CN" altLang="zh-CN" sz="1600" dirty="0">
                <a:latin typeface="+mn-ea"/>
                <a:ea typeface="+mn-ea"/>
              </a:rPr>
              <a:t>模型可根据患者的疾病特征，从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ts val="2500"/>
              </a:lnSpc>
              <a:spcAft>
                <a:spcPts val="0"/>
              </a:spcAft>
            </a:pPr>
            <a:r>
              <a:rPr lang="en-US" altLang="zh-CN" sz="1600" dirty="0">
                <a:latin typeface="+mn-ea"/>
                <a:ea typeface="+mn-ea"/>
              </a:rPr>
              <a:t>                      </a:t>
            </a:r>
            <a:r>
              <a:rPr lang="zh-CN" altLang="zh-CN" sz="1600" dirty="0">
                <a:latin typeface="+mn-ea"/>
                <a:ea typeface="+mn-ea"/>
              </a:rPr>
              <a:t>知识图谱中筛选出最适合的治疗方法和药物。</a:t>
            </a:r>
            <a:endParaRPr lang="zh-CN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609356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 bwMode="auto">
          <a:xfrm>
            <a:off x="539552" y="1484784"/>
            <a:ext cx="8120554" cy="2880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3096430" cy="266429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860" y="3212976"/>
            <a:ext cx="6341246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6381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010" y="610886"/>
            <a:ext cx="2863910" cy="151216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397856" y="476672"/>
            <a:ext cx="3888432" cy="1656184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56" y="2564904"/>
            <a:ext cx="3888432" cy="2736304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4992588" y="2276872"/>
            <a:ext cx="3312368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9736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3429000" y="1916113"/>
            <a:ext cx="5184775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pPr marL="265113" indent="-265113" eaLnBrk="1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+mn-ea"/>
                <a:ea typeface="+mn-ea"/>
              </a:rPr>
              <a:t>知识图谱可视为</a:t>
            </a:r>
            <a:r>
              <a:rPr lang="zh-CN" altLang="en-US" sz="2000" b="1" dirty="0">
                <a:latin typeface="+mn-ea"/>
                <a:ea typeface="+mn-ea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</a:rPr>
              <a:t>包含多种关系的图</a:t>
            </a:r>
            <a:r>
              <a:rPr lang="zh-CN" altLang="en-US" sz="2000" b="1" dirty="0">
                <a:latin typeface="+mn-ea"/>
                <a:ea typeface="+mn-ea"/>
              </a:rPr>
              <a:t>”</a:t>
            </a:r>
            <a:r>
              <a:rPr lang="zh-CN" altLang="zh-CN" sz="2000" b="1" dirty="0">
                <a:latin typeface="+mn-ea"/>
                <a:ea typeface="+mn-ea"/>
              </a:rPr>
              <a:t>，图中</a:t>
            </a:r>
            <a:r>
              <a:rPr lang="zh-CN" altLang="zh-CN" sz="2000" b="1" u="wavyDbl" dirty="0">
                <a:solidFill>
                  <a:srgbClr val="0000FF"/>
                </a:solidFill>
                <a:latin typeface="+mn-ea"/>
                <a:ea typeface="+mn-ea"/>
              </a:rPr>
              <a:t>每一个节点</a:t>
            </a:r>
            <a:r>
              <a:rPr lang="zh-CN" altLang="zh-CN" sz="2000" b="1" dirty="0">
                <a:latin typeface="+mn-ea"/>
                <a:ea typeface="+mn-ea"/>
              </a:rPr>
              <a:t>都是一个</a:t>
            </a:r>
            <a:r>
              <a:rPr lang="zh-CN" altLang="en-US" sz="2000" b="1" dirty="0">
                <a:latin typeface="+mn-ea"/>
                <a:ea typeface="+mn-ea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</a:rPr>
              <a:t>实体</a:t>
            </a:r>
            <a:r>
              <a:rPr lang="zh-CN" altLang="en-US" sz="2000" b="1" dirty="0">
                <a:latin typeface="+mn-ea"/>
                <a:ea typeface="+mn-ea"/>
              </a:rPr>
              <a:t>”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zh-CN" sz="2000" b="1" dirty="0">
                <a:latin typeface="+mn-ea"/>
                <a:ea typeface="+mn-ea"/>
              </a:rPr>
              <a:t>如人名、地名、事件、活动</a:t>
            </a:r>
            <a:r>
              <a:rPr lang="en-US" altLang="zh-CN" sz="2000" b="1" dirty="0">
                <a:latin typeface="+mn-ea"/>
                <a:ea typeface="+mn-ea"/>
              </a:rPr>
              <a:t>…)</a:t>
            </a:r>
            <a:r>
              <a:rPr lang="zh-CN" altLang="zh-CN" sz="2000" b="1" dirty="0">
                <a:latin typeface="+mn-ea"/>
                <a:ea typeface="+mn-ea"/>
              </a:rPr>
              <a:t> 。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2523" y="1115452"/>
            <a:ext cx="67759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形式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3348038" y="644525"/>
            <a:ext cx="5256212" cy="4800698"/>
            <a:chOff x="3348038" y="644525"/>
            <a:chExt cx="5255491" cy="4800326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3841682" y="4290828"/>
              <a:ext cx="4761847" cy="11540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9pPr>
            </a:lstStyle>
            <a:p>
              <a:pPr marL="265113" indent="-265113" eaLnBrk="1" hangingPunct="1">
                <a:lnSpc>
                  <a:spcPts val="3000"/>
                </a:lnSpc>
                <a:spcBef>
                  <a:spcPts val="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lang="zh-CN" altLang="zh-CN" sz="2000" b="1" dirty="0">
                  <a:latin typeface="+mn-ea"/>
                  <a:ea typeface="+mn-ea"/>
                </a:rPr>
                <a:t>可将</a:t>
              </a:r>
              <a:r>
                <a:rPr lang="zh-CN" altLang="zh-CN" sz="2000" b="1" u="wavyHeavy" dirty="0">
                  <a:solidFill>
                    <a:srgbClr val="0000FF"/>
                  </a:solidFill>
                  <a:latin typeface="+mn-ea"/>
                  <a:ea typeface="+mn-ea"/>
                </a:rPr>
                <a:t>任意两个</a:t>
              </a:r>
              <a:r>
                <a:rPr lang="zh-CN" altLang="zh-CN" sz="2000" b="1" dirty="0">
                  <a:solidFill>
                    <a:srgbClr val="FF0000"/>
                  </a:solidFill>
                  <a:latin typeface="+mn-ea"/>
                  <a:ea typeface="+mn-ea"/>
                </a:rPr>
                <a:t>相连节点</a:t>
              </a:r>
              <a:r>
                <a:rPr lang="zh-CN" altLang="zh-CN" sz="2000" b="1" dirty="0">
                  <a:latin typeface="+mn-ea"/>
                  <a:ea typeface="+mn-ea"/>
                </a:rPr>
                <a:t>及其</a:t>
              </a:r>
              <a:r>
                <a:rPr lang="zh-CN" altLang="zh-CN" sz="2000" b="1" dirty="0">
                  <a:solidFill>
                    <a:srgbClr val="FF0000"/>
                  </a:solidFill>
                  <a:latin typeface="+mn-ea"/>
                  <a:ea typeface="+mn-ea"/>
                </a:rPr>
                <a:t>连接边</a:t>
              </a:r>
              <a:r>
                <a:rPr lang="zh-CN" altLang="zh-CN" sz="2000" b="1" dirty="0">
                  <a:latin typeface="+mn-ea"/>
                  <a:ea typeface="+mn-ea"/>
                </a:rPr>
                <a:t>表示成一个</a:t>
              </a:r>
              <a:r>
                <a:rPr lang="en-US" altLang="zh-CN" sz="2000" b="1" dirty="0">
                  <a:latin typeface="+mn-ea"/>
                  <a:ea typeface="+mn-ea"/>
                </a:rPr>
                <a:t>“</a:t>
              </a:r>
              <a:r>
                <a:rPr lang="zh-CN" altLang="zh-CN" sz="2000" b="1" dirty="0">
                  <a:solidFill>
                    <a:srgbClr val="FF0000"/>
                  </a:solidFill>
                  <a:latin typeface="+mn-ea"/>
                  <a:ea typeface="+mn-ea"/>
                </a:rPr>
                <a:t>三元组</a:t>
              </a:r>
              <a:r>
                <a:rPr lang="zh-CN" altLang="en-US" sz="2000" b="1" dirty="0">
                  <a:latin typeface="+mn-ea"/>
                  <a:ea typeface="+mn-ea"/>
                </a:rPr>
                <a:t>”</a:t>
              </a:r>
              <a:r>
                <a:rPr lang="en-US" altLang="zh-CN" sz="2000" b="1" dirty="0">
                  <a:latin typeface="+mn-ea"/>
                  <a:ea typeface="+mn-ea"/>
                </a:rPr>
                <a:t>(</a:t>
              </a:r>
              <a:r>
                <a:rPr lang="en-US" altLang="zh-CN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triplet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</a:p>
            <a:p>
              <a:pPr eaLnBrk="1" hangingPunct="1">
                <a:lnSpc>
                  <a:spcPts val="3000"/>
                </a:lnSpc>
                <a:spcBef>
                  <a:spcPts val="0"/>
                </a:spcBef>
                <a:buClr>
                  <a:srgbClr val="FF0000"/>
                </a:buClr>
                <a:buSzPct val="80000"/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100" b="1" dirty="0">
                  <a:solidFill>
                    <a:srgbClr val="FF0000"/>
                  </a:solidFill>
                  <a:latin typeface="+mn-ea"/>
                  <a:ea typeface="+mn-ea"/>
                </a:rPr>
                <a:t>  </a:t>
              </a:r>
              <a:r>
                <a:rPr lang="zh-CN" altLang="en-US" sz="2000" b="1" dirty="0">
                  <a:solidFill>
                    <a:srgbClr val="FF0000"/>
                  </a:solidFill>
                  <a:latin typeface="+mn-ea"/>
                  <a:ea typeface="+mn-ea"/>
                </a:rPr>
                <a:t>即</a:t>
              </a:r>
              <a:r>
                <a:rPr lang="zh-CN" altLang="en-US" sz="2000" b="1" dirty="0">
                  <a:latin typeface="+mn-ea"/>
                  <a:ea typeface="+mn-ea"/>
                </a:rPr>
                <a:t>：</a:t>
              </a:r>
              <a:r>
                <a:rPr lang="en-US" altLang="zh-CN" sz="2000" b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leftnode</a:t>
              </a:r>
              <a:r>
                <a:rPr lang="en-US" altLang="zh-CN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---relation---</a:t>
              </a:r>
              <a:r>
                <a:rPr lang="en-US" altLang="zh-CN" sz="2000" b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rightnode</a:t>
              </a:r>
              <a:endParaRPr kumimoji="1" lang="zh-CN" altLang="en-US" sz="2000" b="1" dirty="0">
                <a:latin typeface="+mn-ea"/>
                <a:ea typeface="+mn-ea"/>
              </a:endParaRPr>
            </a:p>
          </p:txBody>
        </p:sp>
        <p:grpSp>
          <p:nvGrpSpPr>
            <p:cNvPr id="4107" name="组合 14"/>
            <p:cNvGrpSpPr>
              <a:grpSpLocks/>
            </p:cNvGrpSpPr>
            <p:nvPr/>
          </p:nvGrpSpPr>
          <p:grpSpPr bwMode="auto">
            <a:xfrm>
              <a:off x="3348038" y="644525"/>
              <a:ext cx="5171896" cy="757346"/>
              <a:chOff x="3347864" y="643813"/>
              <a:chExt cx="5171498" cy="757527"/>
            </a:xfrm>
          </p:grpSpPr>
          <p:pic>
            <p:nvPicPr>
              <p:cNvPr id="4108" name="图片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73056" y="643813"/>
                <a:ext cx="2346306" cy="739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09" name="图片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7864" y="652021"/>
                <a:ext cx="2376264" cy="749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102" name="组合 17"/>
          <p:cNvGrpSpPr>
            <a:grpSpLocks/>
          </p:cNvGrpSpPr>
          <p:nvPr/>
        </p:nvGrpSpPr>
        <p:grpSpPr bwMode="auto">
          <a:xfrm>
            <a:off x="539750" y="1916113"/>
            <a:ext cx="3108325" cy="2547937"/>
            <a:chOff x="539750" y="1916113"/>
            <a:chExt cx="3109063" cy="2548270"/>
          </a:xfrm>
        </p:grpSpPr>
        <p:pic>
          <p:nvPicPr>
            <p:cNvPr id="4104" name="图片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750" y="1916113"/>
              <a:ext cx="2858019" cy="2088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/>
            <p:cNvSpPr txBox="1"/>
            <p:nvPr/>
          </p:nvSpPr>
          <p:spPr>
            <a:xfrm>
              <a:off x="552453" y="4188122"/>
              <a:ext cx="3096360" cy="27626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800" b="1" dirty="0">
                  <a:latin typeface="+mn-ea"/>
                  <a:ea typeface="+mn-ea"/>
                </a:rPr>
                <a:t>家庭关系知识图谱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zh-CN" altLang="en-US" sz="1800" b="1" dirty="0">
                  <a:latin typeface="+mn-ea"/>
                  <a:ea typeface="+mn-ea"/>
                </a:rPr>
                <a:t>语义网络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</p:grp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827463" y="3284984"/>
            <a:ext cx="47752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pPr marL="265113" indent="-265113" eaLnBrk="1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u="wavyDbl" dirty="0">
                <a:latin typeface="+mn-ea"/>
                <a:ea typeface="+mn-ea"/>
              </a:rPr>
              <a:t>任意两个节点之间</a:t>
            </a:r>
            <a:r>
              <a:rPr lang="zh-CN" altLang="zh-CN" sz="2000" b="1" dirty="0">
                <a:latin typeface="+mn-ea"/>
                <a:ea typeface="+mn-ea"/>
              </a:rPr>
              <a:t>的</a:t>
            </a:r>
            <a:r>
              <a:rPr lang="en-US" altLang="zh-CN" sz="2000" b="1" dirty="0">
                <a:latin typeface="+mn-ea"/>
                <a:ea typeface="+mn-ea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</a:rPr>
              <a:t>边</a:t>
            </a:r>
            <a:r>
              <a:rPr lang="en-US" altLang="zh-CN" sz="2000" b="1" dirty="0">
                <a:latin typeface="+mn-ea"/>
                <a:ea typeface="+mn-ea"/>
              </a:rPr>
              <a:t>”</a:t>
            </a:r>
            <a:r>
              <a:rPr lang="zh-CN" altLang="zh-CN" sz="2000" b="1" dirty="0">
                <a:latin typeface="+mn-ea"/>
                <a:ea typeface="+mn-ea"/>
              </a:rPr>
              <a:t>表示这两个节点之间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</a:rPr>
              <a:t>定义的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</a:rPr>
              <a:t>关系</a:t>
            </a:r>
            <a:r>
              <a:rPr lang="zh-CN" altLang="zh-CN" sz="2000" b="1" dirty="0">
                <a:latin typeface="+mn-ea"/>
                <a:ea typeface="+mn-ea"/>
              </a:rPr>
              <a:t>。</a:t>
            </a:r>
            <a:endParaRPr lang="en-US" altLang="zh-CN" sz="20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13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13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611560" y="1916832"/>
            <a:ext cx="8063681" cy="2300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知识图谱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来自于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知识工程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”(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Knowledge Engineering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ts val="3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知识工程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一种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基于知识的系统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计算机程序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其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包含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大量的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   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规则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推理机制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因而，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可以从</a:t>
            </a:r>
            <a:r>
              <a:rPr lang="zh-CN" altLang="zh-CN" sz="2000" b="1" u="wavyHeavy" dirty="0">
                <a:latin typeface="+mn-ea"/>
                <a:ea typeface="+mn-ea"/>
                <a:cs typeface="Times New Roman" panose="02020603050405020304" pitchFamily="18" charset="0"/>
              </a:rPr>
              <a:t>知识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b="1" u="wavyHeavy" dirty="0">
                <a:latin typeface="+mn-ea"/>
                <a:ea typeface="+mn-ea"/>
                <a:cs typeface="Times New Roman" panose="02020603050405020304" pitchFamily="18" charset="0"/>
              </a:rPr>
              <a:t>推理机制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出发，让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计算机程序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一定程度上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能够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表现出</a:t>
            </a:r>
            <a:r>
              <a:rPr lang="zh-CN" altLang="en-US" sz="2000" b="1" u="wavyHeavy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某种</a:t>
            </a:r>
            <a:r>
              <a:rPr lang="zh-CN" altLang="zh-CN" sz="2000" b="1" u="wavyHeavy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专家的能力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，这种能力所构成的结构就是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专家系统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3287" y="1133924"/>
            <a:ext cx="67759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来源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5076825" y="260350"/>
            <a:ext cx="3240088" cy="1296988"/>
            <a:chOff x="3923928" y="260648"/>
            <a:chExt cx="3240360" cy="1296144"/>
          </a:xfrm>
        </p:grpSpPr>
        <p:graphicFrame>
          <p:nvGraphicFramePr>
            <p:cNvPr id="5125" name="Object 13"/>
            <p:cNvGraphicFramePr>
              <a:graphicFrameLocks noChangeAspect="1"/>
            </p:cNvGraphicFramePr>
            <p:nvPr/>
          </p:nvGraphicFramePr>
          <p:xfrm>
            <a:off x="3923928" y="260648"/>
            <a:ext cx="2671458" cy="1296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7" name="Visio" r:id="rId3" imgW="5178247" imgH="2092147" progId="Visio.Drawing.11">
                    <p:embed/>
                  </p:oleObj>
                </mc:Choice>
                <mc:Fallback>
                  <p:oleObj name="Visio" r:id="rId3" imgW="5178247" imgH="2092147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260648"/>
                          <a:ext cx="2671458" cy="1296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圆角矩形标注 1"/>
            <p:cNvSpPr/>
            <p:nvPr/>
          </p:nvSpPr>
          <p:spPr>
            <a:xfrm>
              <a:off x="6443502" y="725483"/>
              <a:ext cx="720786" cy="288737"/>
            </a:xfrm>
            <a:prstGeom prst="wedgeRoundRectCallout">
              <a:avLst>
                <a:gd name="adj1" fmla="val -67010"/>
                <a:gd name="adj2" fmla="val 102183"/>
                <a:gd name="adj3" fmla="val 16667"/>
              </a:avLst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rgbClr val="FF0000"/>
                  </a:solidFill>
                </a:rPr>
                <a:t>知识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33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16113"/>
            <a:ext cx="7775575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33413" y="1052513"/>
            <a:ext cx="1973262" cy="3683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例：水利大坝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27538" y="427038"/>
            <a:ext cx="4248150" cy="10382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实体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边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269875" indent="-2698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推理机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从知识图谱中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挖掘和分析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pPr marL="630238" indent="-268288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+mn-ea"/>
                <a:ea typeface="+mn-ea"/>
              </a:rPr>
              <a:t>同一流域、反调节关系</a:t>
            </a:r>
          </a:p>
        </p:txBody>
      </p:sp>
    </p:spTree>
    <p:extLst>
      <p:ext uri="{BB962C8B-B14F-4D97-AF65-F5344CB8AC3E}">
        <p14:creationId xmlns:p14="http://schemas.microsoft.com/office/powerpoint/2010/main" val="261243145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3413" y="1180353"/>
            <a:ext cx="221039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ea"/>
                <a:ea typeface="+mn-ea"/>
              </a:rPr>
              <a:t>知识图谱包含的因素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5705" y="1791288"/>
            <a:ext cx="7638703" cy="348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ts val="31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</a:rPr>
              <a:t>概念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之间的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</a:rPr>
              <a:t>层次化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关系</a:t>
            </a:r>
            <a:r>
              <a:rPr lang="zh-CN" altLang="en-US" sz="2000" b="1" dirty="0">
                <a:latin typeface="+mn-ea"/>
                <a:ea typeface="+mn-ea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ontology</a:t>
            </a:r>
            <a:r>
              <a:rPr lang="zh-CN" altLang="en-US" sz="2000" b="1" dirty="0">
                <a:latin typeface="+mn-ea"/>
                <a:ea typeface="+mn-ea"/>
              </a:rPr>
              <a:t>）</a:t>
            </a:r>
            <a:endParaRPr lang="en-US" altLang="zh-CN" sz="2000" b="1" dirty="0">
              <a:latin typeface="+mn-ea"/>
              <a:ea typeface="+mn-ea"/>
            </a:endParaRPr>
          </a:p>
          <a:p>
            <a:pPr marL="539750" indent="-176213">
              <a:lnSpc>
                <a:spcPts val="31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如</a:t>
            </a:r>
            <a:r>
              <a:rPr lang="zh-CN" altLang="en-US" sz="1800" b="1" dirty="0">
                <a:latin typeface="+mn-ea"/>
                <a:ea typeface="+mn-ea"/>
              </a:rPr>
              <a:t>：</a:t>
            </a:r>
            <a:r>
              <a:rPr lang="en-US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latin typeface="+mn-ea"/>
                <a:ea typeface="+mn-ea"/>
              </a:rPr>
              <a:t>水利工程</a:t>
            </a:r>
            <a:r>
              <a:rPr lang="en-US" altLang="zh-CN" sz="1800" b="1" dirty="0">
                <a:latin typeface="+mn-ea"/>
                <a:ea typeface="+mn-ea"/>
              </a:rPr>
              <a:t>”</a:t>
            </a:r>
            <a:r>
              <a:rPr lang="zh-CN" altLang="zh-CN" sz="1800" b="1" dirty="0">
                <a:latin typeface="+mn-ea"/>
                <a:ea typeface="+mn-ea"/>
              </a:rPr>
              <a:t>是</a:t>
            </a:r>
            <a:r>
              <a:rPr lang="en-US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latin typeface="+mn-ea"/>
                <a:ea typeface="+mn-ea"/>
              </a:rPr>
              <a:t>工程</a:t>
            </a:r>
            <a:r>
              <a:rPr lang="en-US" altLang="zh-CN" sz="1800" b="1" dirty="0">
                <a:latin typeface="+mn-ea"/>
                <a:ea typeface="+mn-ea"/>
              </a:rPr>
              <a:t>”</a:t>
            </a:r>
            <a:r>
              <a:rPr lang="zh-CN" altLang="en-US" sz="1800" b="1" dirty="0">
                <a:latin typeface="+mn-ea"/>
                <a:ea typeface="+mn-ea"/>
              </a:rPr>
              <a:t>中</a:t>
            </a:r>
            <a:r>
              <a:rPr lang="zh-CN" altLang="zh-CN" sz="1800" b="1" dirty="0">
                <a:latin typeface="+mn-ea"/>
                <a:ea typeface="+mn-ea"/>
              </a:rPr>
              <a:t>的一类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zh-CN" sz="1800" b="1" dirty="0">
                <a:latin typeface="+mn-ea"/>
                <a:ea typeface="+mn-ea"/>
              </a:rPr>
              <a:t>下一</a:t>
            </a:r>
            <a:r>
              <a:rPr lang="zh-CN" altLang="en-US" sz="1800" b="1" dirty="0">
                <a:latin typeface="+mn-ea"/>
                <a:ea typeface="+mn-ea"/>
              </a:rPr>
              <a:t>级</a:t>
            </a:r>
            <a:r>
              <a:rPr lang="zh-CN" altLang="zh-CN" sz="1800" b="1" dirty="0">
                <a:latin typeface="+mn-ea"/>
                <a:ea typeface="+mn-ea"/>
              </a:rPr>
              <a:t>分类层次</a:t>
            </a:r>
            <a:r>
              <a:rPr lang="zh-CN" altLang="en-US" sz="1800" b="1" dirty="0">
                <a:latin typeface="+mn-ea"/>
                <a:ea typeface="+mn-ea"/>
              </a:rPr>
              <a:t>、类的等级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marL="539750" indent="-176213">
              <a:lnSpc>
                <a:spcPts val="31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latin typeface="+mn-ea"/>
                <a:ea typeface="+mn-ea"/>
              </a:rPr>
              <a:t>现有方法多在</a:t>
            </a:r>
            <a:r>
              <a:rPr lang="zh-CN" altLang="zh-CN" sz="1800" b="1" u="wavyHeavy" dirty="0">
                <a:latin typeface="+mn-ea"/>
                <a:ea typeface="+mn-ea"/>
              </a:rPr>
              <a:t>传统分类方法</a:t>
            </a:r>
            <a:r>
              <a:rPr lang="zh-CN" altLang="zh-CN" sz="1800" b="1" dirty="0">
                <a:latin typeface="+mn-ea"/>
                <a:ea typeface="+mn-ea"/>
              </a:rPr>
              <a:t>中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结合机器学习</a:t>
            </a:r>
            <a:r>
              <a:rPr lang="zh-CN" altLang="zh-CN" sz="1800" b="1" dirty="0">
                <a:latin typeface="+mn-ea"/>
                <a:ea typeface="+mn-ea"/>
              </a:rPr>
              <a:t>来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</a:rPr>
              <a:t>构建语义网络</a:t>
            </a:r>
            <a:r>
              <a:rPr lang="zh-CN" altLang="zh-CN" sz="1800" b="1" dirty="0">
                <a:latin typeface="+mn-ea"/>
                <a:ea typeface="+mn-ea"/>
              </a:rPr>
              <a:t>分类体系</a:t>
            </a:r>
            <a:endParaRPr lang="en-US" altLang="zh-CN" sz="1800" b="1" dirty="0">
              <a:latin typeface="+mn-ea"/>
              <a:ea typeface="+mn-ea"/>
            </a:endParaRPr>
          </a:p>
          <a:p>
            <a:pPr marL="539750" indent="-176213">
              <a:lnSpc>
                <a:spcPts val="3100"/>
              </a:lnSpc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latin typeface="+mn-ea"/>
                <a:ea typeface="+mn-ea"/>
              </a:rPr>
              <a:t>概念之间的层次化，一般通过</a:t>
            </a:r>
            <a:r>
              <a:rPr lang="en-US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</a:rPr>
              <a:t>分类识别</a:t>
            </a:r>
            <a:r>
              <a:rPr lang="en-US" altLang="zh-CN" sz="1800" b="1" dirty="0">
                <a:latin typeface="+mn-ea"/>
                <a:ea typeface="+mn-ea"/>
              </a:rPr>
              <a:t>”…</a:t>
            </a:r>
            <a:r>
              <a:rPr lang="zh-CN" altLang="en-US" sz="1800" b="1" dirty="0">
                <a:latin typeface="+mn-ea"/>
                <a:ea typeface="+mn-ea"/>
              </a:rPr>
              <a:t>方式</a:t>
            </a:r>
            <a:r>
              <a:rPr lang="zh-CN" altLang="zh-CN" sz="1800" b="1" dirty="0">
                <a:latin typeface="+mn-ea"/>
                <a:ea typeface="+mn-ea"/>
              </a:rPr>
              <a:t>实现</a:t>
            </a:r>
            <a:r>
              <a:rPr lang="zh-CN" altLang="en-US" sz="1800" b="1" dirty="0">
                <a:latin typeface="+mn-ea"/>
                <a:ea typeface="+mn-ea"/>
              </a:rPr>
              <a:t>。</a:t>
            </a:r>
            <a:endParaRPr lang="en-US" altLang="zh-CN" sz="1800" b="1" dirty="0">
              <a:latin typeface="+mn-ea"/>
              <a:ea typeface="+mn-ea"/>
            </a:endParaRPr>
          </a:p>
          <a:p>
            <a:pPr marL="342900" indent="-342900">
              <a:lnSpc>
                <a:spcPts val="31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概念对应的实例</a:t>
            </a:r>
            <a:r>
              <a:rPr lang="zh-CN" altLang="en-US" sz="2000" b="1" dirty="0">
                <a:latin typeface="+mn-ea"/>
                <a:ea typeface="+mn-ea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instance</a:t>
            </a:r>
            <a:r>
              <a:rPr lang="zh-CN" altLang="en-US" sz="2000" b="1" dirty="0">
                <a:latin typeface="+mn-ea"/>
                <a:ea typeface="+mn-ea"/>
              </a:rPr>
              <a:t>）</a:t>
            </a:r>
            <a:endParaRPr lang="en-US" altLang="zh-CN" sz="2000" b="1" dirty="0">
              <a:latin typeface="+mn-ea"/>
              <a:ea typeface="+mn-ea"/>
            </a:endParaRPr>
          </a:p>
          <a:p>
            <a:pPr marL="539750" indent="-176213">
              <a:lnSpc>
                <a:spcPts val="31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  <a:ea typeface="+mn-ea"/>
              </a:rPr>
              <a:t>实例</a:t>
            </a:r>
            <a:r>
              <a:rPr lang="zh-CN" altLang="zh-CN" sz="1800" b="1" dirty="0">
                <a:latin typeface="+mn-ea"/>
                <a:ea typeface="+mn-ea"/>
              </a:rPr>
              <a:t>是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概念的具体化</a:t>
            </a:r>
            <a:endParaRPr lang="en-US" altLang="zh-CN" sz="1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539750" indent="-176213">
              <a:lnSpc>
                <a:spcPts val="31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如</a:t>
            </a:r>
            <a:r>
              <a:rPr lang="zh-CN" altLang="en-US" sz="1800" b="1" dirty="0">
                <a:latin typeface="+mn-ea"/>
                <a:ea typeface="+mn-ea"/>
              </a:rPr>
              <a:t>：</a:t>
            </a:r>
            <a:r>
              <a:rPr lang="zh-CN" altLang="zh-CN" sz="1800" b="1" dirty="0">
                <a:latin typeface="+mn-ea"/>
                <a:ea typeface="+mn-ea"/>
              </a:rPr>
              <a:t>“三峡大坝</a:t>
            </a:r>
            <a:r>
              <a:rPr lang="zh-CN" altLang="en-US" sz="1800" b="1" dirty="0">
                <a:latin typeface="+mn-ea"/>
                <a:ea typeface="+mn-ea"/>
              </a:rPr>
              <a:t>”、“</a:t>
            </a:r>
            <a:r>
              <a:rPr lang="zh-CN" altLang="zh-CN" sz="1800" b="1" dirty="0">
                <a:latin typeface="+mn-ea"/>
                <a:ea typeface="+mn-ea"/>
              </a:rPr>
              <a:t>葛洲坝”属于“水利工程”的实例</a:t>
            </a:r>
            <a:endParaRPr lang="en-US" altLang="zh-CN" sz="1800" b="1" dirty="0">
              <a:latin typeface="+mn-ea"/>
              <a:ea typeface="+mn-ea"/>
            </a:endParaRPr>
          </a:p>
          <a:p>
            <a:pPr marL="539750" indent="-176213">
              <a:lnSpc>
                <a:spcPts val="31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latin typeface="+mn-ea"/>
                <a:ea typeface="+mn-ea"/>
              </a:rPr>
              <a:t>可用</a:t>
            </a:r>
            <a:r>
              <a:rPr lang="en-US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</a:rPr>
              <a:t>属性</a:t>
            </a:r>
            <a:r>
              <a:rPr lang="en-US" altLang="zh-CN" sz="1800" b="1" dirty="0">
                <a:latin typeface="+mn-ea"/>
                <a:ea typeface="+mn-ea"/>
              </a:rPr>
              <a:t>”</a:t>
            </a:r>
            <a:r>
              <a:rPr lang="zh-CN" altLang="en-US" sz="1800" b="1" dirty="0">
                <a:latin typeface="+mn-ea"/>
                <a:ea typeface="+mn-ea"/>
              </a:rPr>
              <a:t>刻画实例（一组属性描述实例）</a:t>
            </a:r>
            <a:endParaRPr lang="zh-CN" altLang="zh-CN" sz="1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361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84213" y="549275"/>
            <a:ext cx="8064500" cy="54625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69875" indent="-269875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属性</a:t>
            </a:r>
            <a:endParaRPr lang="en-US" altLang="zh-CN" sz="2000" b="1" kern="1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对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概念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实体内涵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的描述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：水利工程有建设时间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规模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……</a:t>
            </a:r>
            <a:r>
              <a:rPr lang="zh-CN" altLang="en-US" sz="18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性质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属性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63537" algn="just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defRPr/>
            </a:pP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sz="1400" b="1" kern="100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三峡大坝具有发电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、调节、灌溉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……</a:t>
            </a:r>
            <a:r>
              <a:rPr lang="zh-CN" altLang="en-US" sz="18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功能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属性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</a:t>
            </a:r>
            <a:endParaRPr lang="en-US" altLang="zh-CN" sz="2000" b="1" kern="1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概念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实体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相互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之间的关系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三峡大坝和葛洲坝之间具有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梯级调节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关系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三元组</a:t>
            </a:r>
            <a:endParaRPr lang="en-US" altLang="zh-CN" sz="2000" b="1" kern="1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用三元组</a:t>
            </a:r>
            <a:r>
              <a:rPr lang="zh-CN" altLang="en-US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描述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属性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关系表达</a:t>
            </a:r>
            <a:endParaRPr lang="en-US" altLang="zh-CN" sz="1800" b="1" kern="100" dirty="0">
              <a:solidFill>
                <a:srgbClr val="0000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zh-CN" sz="18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已有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知识图谱出发，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学习</a:t>
            </a:r>
            <a:r>
              <a:rPr lang="zh-CN" altLang="en-US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出</a:t>
            </a:r>
            <a:r>
              <a:rPr lang="zh-CN" altLang="zh-CN" sz="18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新的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概念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实体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描述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关系。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新的三元组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学习</a:t>
            </a:r>
            <a:endParaRPr lang="en-US" altLang="zh-CN" sz="2000" b="1" kern="10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学习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属性描述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1800" b="1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关系表达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是丰富知识图谱的关键</a:t>
            </a:r>
            <a:r>
              <a:rPr lang="zh-CN" altLang="en-US" sz="1800" b="1" kern="1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 algn="just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这种</a:t>
            </a:r>
            <a:r>
              <a:rPr lang="zh-CN" altLang="zh-CN" sz="1800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学习过程</a:t>
            </a:r>
            <a:r>
              <a:rPr lang="zh-CN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称为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b="1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知识图谱推理</a:t>
            </a:r>
            <a:r>
              <a:rPr lang="en-US" altLang="zh-CN" sz="1800" b="1" kern="100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endParaRPr lang="zh-CN" altLang="zh-CN" sz="1800" b="1" kern="1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1043608" y="4346816"/>
            <a:ext cx="5976664" cy="28803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043608" y="4869160"/>
            <a:ext cx="5400600" cy="10801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518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4051" y="1207785"/>
            <a:ext cx="146967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ea"/>
                <a:ea typeface="+mn-ea"/>
              </a:rPr>
              <a:t>知识图谱推理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4363" y="1792288"/>
            <a:ext cx="6477917" cy="3079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+mn-ea"/>
                <a:ea typeface="+mn-ea"/>
              </a:rPr>
              <a:t>通过机器学习</a:t>
            </a:r>
            <a:r>
              <a:rPr lang="en-US" altLang="zh-CN" sz="2000" b="1" dirty="0">
                <a:latin typeface="+mn-ea"/>
                <a:ea typeface="+mn-ea"/>
              </a:rPr>
              <a:t>…</a:t>
            </a:r>
            <a:r>
              <a:rPr lang="zh-CN" altLang="en-US" sz="2000" b="1" dirty="0">
                <a:latin typeface="+mn-ea"/>
                <a:ea typeface="+mn-ea"/>
              </a:rPr>
              <a:t>方法，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挖掘出</a:t>
            </a:r>
            <a:r>
              <a:rPr lang="zh-CN" altLang="en-US" sz="2000" b="1" dirty="0">
                <a:latin typeface="+mn-ea"/>
                <a:ea typeface="+mn-ea"/>
              </a:rPr>
              <a:t>知识图谱中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蕴含的关系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</p:txBody>
      </p:sp>
      <p:pic>
        <p:nvPicPr>
          <p:cNvPr id="9220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443163"/>
            <a:ext cx="7380287" cy="308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标注 7"/>
          <p:cNvSpPr/>
          <p:nvPr/>
        </p:nvSpPr>
        <p:spPr>
          <a:xfrm>
            <a:off x="3132138" y="472629"/>
            <a:ext cx="5291137" cy="652115"/>
          </a:xfrm>
          <a:prstGeom prst="wedgeRoundRectCallout">
            <a:avLst>
              <a:gd name="adj1" fmla="val -34743"/>
              <a:gd name="adj2" fmla="val 151196"/>
              <a:gd name="adj3" fmla="val 16667"/>
            </a:avLst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5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知识图谱</a:t>
            </a:r>
            <a:r>
              <a:rPr lang="zh-CN" altLang="zh-CN" sz="1600" b="1" dirty="0">
                <a:solidFill>
                  <a:srgbClr val="0000FF"/>
                </a:solidFill>
                <a:latin typeface="+mn-ea"/>
              </a:rPr>
              <a:t>推理过程</a:t>
            </a: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是</a:t>
            </a:r>
            <a:r>
              <a:rPr lang="zh-CN" altLang="zh-CN" sz="1600" b="1" dirty="0">
                <a:solidFill>
                  <a:srgbClr val="FF0000"/>
                </a:solidFill>
                <a:latin typeface="+mn-ea"/>
              </a:rPr>
              <a:t>学习过程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176213" indent="-176213">
              <a:lnSpc>
                <a:spcPts val="25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从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当前</a:t>
            </a: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知识图谱出发，</a:t>
            </a:r>
            <a:r>
              <a:rPr lang="zh-CN" altLang="zh-CN" sz="1600" b="1" dirty="0">
                <a:solidFill>
                  <a:srgbClr val="FF0000"/>
                </a:solidFill>
                <a:latin typeface="+mn-ea"/>
              </a:rPr>
              <a:t>学习新的</a:t>
            </a: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概念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\</a:t>
            </a: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实体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\</a:t>
            </a: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描述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\</a:t>
            </a:r>
            <a:r>
              <a:rPr lang="zh-CN" altLang="zh-CN" sz="1600" b="1" dirty="0">
                <a:solidFill>
                  <a:schemeClr val="tx1"/>
                </a:solidFill>
                <a:latin typeface="+mn-ea"/>
              </a:rPr>
              <a:t>关系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3708400" y="5661025"/>
            <a:ext cx="2303463" cy="576263"/>
          </a:xfrm>
          <a:prstGeom prst="wedgeRoundRectCallout">
            <a:avLst>
              <a:gd name="adj1" fmla="val -57710"/>
              <a:gd name="adj2" fmla="val -110662"/>
              <a:gd name="adj3" fmla="val 16667"/>
            </a:avLst>
          </a:prstGeom>
          <a:solidFill>
            <a:schemeClr val="bg1"/>
          </a:solidFill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93663" indent="-93663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归纳</a:t>
            </a:r>
            <a:r>
              <a:rPr lang="en-US" altLang="zh-CN" sz="2000" b="1" dirty="0">
                <a:solidFill>
                  <a:srgbClr val="FF0000"/>
                </a:solidFill>
              </a:rPr>
              <a:t>&amp;</a:t>
            </a:r>
            <a:r>
              <a:rPr lang="zh-CN" altLang="en-US" sz="2000" b="1" dirty="0">
                <a:solidFill>
                  <a:srgbClr val="FF0000"/>
                </a:solidFill>
              </a:rPr>
              <a:t>演绎推理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93663" indent="-93663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规律</a:t>
            </a:r>
            <a:r>
              <a:rPr lang="zh-CN" alt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→新关系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54050" y="1084263"/>
            <a:ext cx="2262188" cy="3683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ea"/>
                <a:ea typeface="+mn-ea"/>
              </a:rPr>
              <a:t>知识图谱的构成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9763" y="1844675"/>
            <a:ext cx="6092825" cy="23082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概念</a:t>
            </a:r>
            <a:r>
              <a:rPr lang="zh-CN" altLang="en-US" sz="2000" b="1" dirty="0">
                <a:latin typeface="+mn-ea"/>
                <a:ea typeface="+mn-ea"/>
              </a:rPr>
              <a:t>：层次化组织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实体</a:t>
            </a:r>
            <a:r>
              <a:rPr lang="zh-CN" altLang="en-US" sz="2000" b="1" dirty="0">
                <a:latin typeface="+mn-ea"/>
                <a:ea typeface="+mn-ea"/>
              </a:rPr>
              <a:t>：概念的具体化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实例化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描述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属性</a:t>
            </a:r>
            <a:r>
              <a:rPr lang="zh-CN" altLang="en-US" sz="2000" b="1" dirty="0">
                <a:latin typeface="+mn-ea"/>
                <a:ea typeface="+mn-ea"/>
              </a:rPr>
              <a:t>：对概念或实体的内涵描述信息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关系</a:t>
            </a:r>
            <a:r>
              <a:rPr lang="zh-CN" altLang="en-US" sz="2000" b="1" dirty="0">
                <a:latin typeface="+mn-ea"/>
                <a:ea typeface="+mn-ea"/>
              </a:rPr>
              <a:t>：概念或实体之间的关联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推理规则</a:t>
            </a:r>
            <a:r>
              <a:rPr lang="zh-CN" altLang="en-US" sz="2000" b="1" dirty="0">
                <a:latin typeface="+mn-ea"/>
                <a:ea typeface="+mn-ea"/>
              </a:rPr>
              <a:t>：产生原始语义网络中上述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新元素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268538" y="4293096"/>
            <a:ext cx="6335712" cy="9223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+mn-ea"/>
                <a:ea typeface="+mn-ea"/>
              </a:rPr>
              <a:t>实际中，知识图谱通常是一种“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多关系图</a:t>
            </a:r>
            <a:r>
              <a:rPr lang="zh-CN" altLang="en-US" sz="2000" b="1" dirty="0">
                <a:latin typeface="+mn-ea"/>
                <a:ea typeface="+mn-ea"/>
              </a:rPr>
              <a:t>”</a:t>
            </a:r>
            <a:endParaRPr lang="en-US" altLang="zh-CN" sz="2000" b="1" dirty="0">
              <a:latin typeface="+mn-ea"/>
              <a:ea typeface="+mn-ea"/>
            </a:endParaRPr>
          </a:p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latin typeface="+mn-ea"/>
                <a:ea typeface="+mn-ea"/>
              </a:rPr>
              <a:t>任意</a:t>
            </a:r>
            <a:r>
              <a:rPr lang="zh-CN" altLang="zh-CN" sz="2000" b="1" u="wavyDbl" dirty="0">
                <a:latin typeface="+mn-ea"/>
                <a:ea typeface="+mn-ea"/>
              </a:rPr>
              <a:t>两个节点</a:t>
            </a:r>
            <a:r>
              <a:rPr lang="zh-CN" altLang="zh-CN" sz="2000" b="1" dirty="0">
                <a:latin typeface="+mn-ea"/>
                <a:ea typeface="+mn-ea"/>
              </a:rPr>
              <a:t>之间的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</a:rPr>
              <a:t>关系</a:t>
            </a:r>
            <a:r>
              <a:rPr lang="zh-CN" altLang="zh-CN" sz="2000" b="1" dirty="0">
                <a:latin typeface="+mn-ea"/>
                <a:ea typeface="+mn-ea"/>
              </a:rPr>
              <a:t>有</a:t>
            </a:r>
            <a:r>
              <a:rPr lang="en-US" altLang="zh-CN" sz="2000" b="1" dirty="0">
                <a:latin typeface="+mn-ea"/>
                <a:ea typeface="+mn-ea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</a:rPr>
              <a:t>标注信息</a:t>
            </a:r>
            <a:r>
              <a:rPr lang="en-US" altLang="zh-CN" sz="2000" b="1" dirty="0">
                <a:latin typeface="+mn-ea"/>
                <a:ea typeface="+mn-ea"/>
              </a:rPr>
              <a:t>”(</a:t>
            </a:r>
            <a:r>
              <a:rPr lang="zh-CN" altLang="en-US" sz="2000" b="1" dirty="0">
                <a:latin typeface="+mn-ea"/>
                <a:ea typeface="+mn-ea"/>
              </a:rPr>
              <a:t>刻画联系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</p:txBody>
      </p:sp>
      <p:sp>
        <p:nvSpPr>
          <p:cNvPr id="16" name="圆角矩形标注 15"/>
          <p:cNvSpPr/>
          <p:nvPr/>
        </p:nvSpPr>
        <p:spPr>
          <a:xfrm>
            <a:off x="5003800" y="1773238"/>
            <a:ext cx="3600450" cy="719137"/>
          </a:xfrm>
          <a:prstGeom prst="wedgeRoundRectCallout">
            <a:avLst>
              <a:gd name="adj1" fmla="val -37088"/>
              <a:gd name="adj2" fmla="val 212690"/>
              <a:gd name="adj3" fmla="val 16667"/>
            </a:avLst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7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设定推理规则，推理出</a:t>
            </a:r>
            <a:r>
              <a:rPr lang="zh-CN" altLang="en-US" sz="2000" b="1" dirty="0">
                <a:solidFill>
                  <a:srgbClr val="FF0000"/>
                </a:solidFill>
              </a:rPr>
              <a:t>新的</a:t>
            </a:r>
            <a:r>
              <a:rPr lang="en-US" altLang="zh-CN" sz="2000" b="1" dirty="0">
                <a:solidFill>
                  <a:schemeClr val="tx1"/>
                </a:solidFill>
              </a:rPr>
              <a:t>…</a:t>
            </a:r>
          </a:p>
          <a:p>
            <a:pPr marL="176213" indent="-176213">
              <a:lnSpc>
                <a:spcPts val="27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推理规则的</a:t>
            </a:r>
            <a:r>
              <a:rPr lang="zh-CN" altLang="en-US" sz="2000" b="1" dirty="0">
                <a:solidFill>
                  <a:srgbClr val="FF0000"/>
                </a:solidFill>
              </a:rPr>
              <a:t>目标</a:t>
            </a:r>
            <a:r>
              <a:rPr lang="zh-CN" altLang="en-US" sz="2000" b="1" dirty="0">
                <a:solidFill>
                  <a:schemeClr val="tx1"/>
                </a:solidFill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任务</a:t>
            </a:r>
          </a:p>
        </p:txBody>
      </p:sp>
    </p:spTree>
    <p:extLst>
      <p:ext uri="{BB962C8B-B14F-4D97-AF65-F5344CB8AC3E}">
        <p14:creationId xmlns:p14="http://schemas.microsoft.com/office/powerpoint/2010/main" val="21151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050" y="1115452"/>
            <a:ext cx="190172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知识图谱推理</a:t>
            </a:r>
          </a:p>
        </p:txBody>
      </p:sp>
      <p:pic>
        <p:nvPicPr>
          <p:cNvPr id="11267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717800"/>
            <a:ext cx="2276475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54050" y="1803400"/>
            <a:ext cx="5616575" cy="7699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1800" b="1" dirty="0">
                <a:latin typeface="+mn-ea"/>
                <a:ea typeface="+mn-ea"/>
              </a:rPr>
              <a:t>具有“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边</a:t>
            </a:r>
            <a:r>
              <a:rPr lang="zh-CN" altLang="en-US" sz="1800" b="1" dirty="0">
                <a:latin typeface="+mn-ea"/>
                <a:ea typeface="+mn-ea"/>
              </a:rPr>
              <a:t>”的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</a:rPr>
              <a:t>两个实体</a:t>
            </a:r>
            <a:r>
              <a:rPr lang="zh-CN" altLang="en-US" sz="1800" b="1" dirty="0">
                <a:latin typeface="+mn-ea"/>
                <a:ea typeface="+mn-ea"/>
              </a:rPr>
              <a:t>，可表示为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三元组</a:t>
            </a:r>
            <a:r>
              <a:rPr lang="zh-CN" altLang="en-US" sz="1800" b="1" dirty="0">
                <a:latin typeface="+mn-ea"/>
                <a:ea typeface="+mn-ea"/>
              </a:rPr>
              <a:t>形式。</a:t>
            </a:r>
            <a:endParaRPr lang="en-US" altLang="zh-CN" sz="1800" b="1" dirty="0">
              <a:latin typeface="+mn-ea"/>
              <a:ea typeface="+mn-ea"/>
            </a:endParaRPr>
          </a:p>
          <a:p>
            <a:pPr marL="269875" indent="-2698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三元组</a:t>
            </a:r>
            <a:r>
              <a:rPr lang="zh-CN" altLang="en-US" sz="1800" b="1" dirty="0">
                <a:latin typeface="+mn-ea"/>
                <a:ea typeface="+mn-ea"/>
              </a:rPr>
              <a:t>也可表示为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一阶逻辑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</a:t>
            </a:r>
            <a:r>
              <a:rPr lang="zh-CN" altLang="en-US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 order logic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4050" y="4522788"/>
            <a:ext cx="7759700" cy="92333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三元组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一阶逻辑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形式，为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基于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知识图谱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的推理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创造了条件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可利用一阶逻辑进行知识图谱的推理。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5387975" y="5499100"/>
            <a:ext cx="2108200" cy="360363"/>
          </a:xfrm>
          <a:prstGeom prst="wedgeRoundRectCallout">
            <a:avLst>
              <a:gd name="adj1" fmla="val -23331"/>
              <a:gd name="adj2" fmla="val -113636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7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推理出新的知识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535113" y="582613"/>
            <a:ext cx="72707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Birthplace(Obama, Hawaii)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⋀ </a:t>
            </a:r>
            <a:r>
              <a:rPr lang="en-US" altLang="zh-CN" sz="1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Belongto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Hawaii,USA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→ Nationality(</a:t>
            </a:r>
            <a:r>
              <a:rPr lang="en-US" altLang="zh-CN" sz="1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Obama,USA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493838" y="190500"/>
            <a:ext cx="7294562" cy="4025900"/>
            <a:chOff x="1494210" y="190486"/>
            <a:chExt cx="7293534" cy="4026019"/>
          </a:xfrm>
        </p:grpSpPr>
        <p:pic>
          <p:nvPicPr>
            <p:cNvPr id="11273" name="图片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2717947"/>
              <a:ext cx="2301358" cy="1498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274" name="组合 17"/>
            <p:cNvGrpSpPr>
              <a:grpSpLocks/>
            </p:cNvGrpSpPr>
            <p:nvPr/>
          </p:nvGrpSpPr>
          <p:grpSpPr bwMode="auto">
            <a:xfrm>
              <a:off x="1494210" y="190486"/>
              <a:ext cx="7293534" cy="717571"/>
              <a:chOff x="1494210" y="190486"/>
              <a:chExt cx="7293534" cy="71757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1557701" y="190486"/>
                <a:ext cx="7230043" cy="311633"/>
              </a:xfrm>
              <a:prstGeom prst="rect">
                <a:avLst/>
              </a:prstGeom>
              <a:noFill/>
            </p:spPr>
            <p:txBody>
              <a:bodyPr lIns="0" tIns="0" rIns="0" bIns="0">
                <a:spAutoFit/>
              </a:bodyPr>
              <a:lstStyle/>
              <a:p>
                <a:pPr marL="182563" indent="-182563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如</a:t>
                </a:r>
                <a:r>
                  <a:rPr lang="zh-CN" altLang="en-US" sz="1600" b="1" dirty="0">
                    <a:latin typeface="+mn-ea"/>
                    <a:ea typeface="+mn-ea"/>
                  </a:rPr>
                  <a:t>：</a:t>
                </a:r>
                <a:r>
                  <a:rPr lang="en-US" altLang="zh-CN" sz="1600" b="1" dirty="0">
                    <a:latin typeface="+mn-ea"/>
                    <a:ea typeface="+mn-ea"/>
                  </a:rPr>
                  <a:t>(</a:t>
                </a:r>
                <a:r>
                  <a:rPr lang="zh-CN" altLang="en-US" sz="1600" b="1" dirty="0">
                    <a:latin typeface="+mn-ea"/>
                    <a:ea typeface="+mn-ea"/>
                  </a:rPr>
                  <a:t>奥巴马</a:t>
                </a:r>
                <a:r>
                  <a:rPr lang="en-US" altLang="zh-CN" sz="1600" b="1" dirty="0">
                    <a:latin typeface="+mn-ea"/>
                    <a:ea typeface="+mn-ea"/>
                  </a:rPr>
                  <a:t>,</a:t>
                </a:r>
                <a:r>
                  <a:rPr lang="zh-CN" altLang="en-US" sz="1600" b="1" dirty="0">
                    <a:latin typeface="+mn-ea"/>
                    <a:ea typeface="+mn-ea"/>
                  </a:rPr>
                  <a:t>出生地</a:t>
                </a:r>
                <a:r>
                  <a:rPr lang="en-US" altLang="zh-CN" sz="1600" b="1" dirty="0">
                    <a:latin typeface="+mn-ea"/>
                    <a:ea typeface="+mn-ea"/>
                  </a:rPr>
                  <a:t>,</a:t>
                </a:r>
                <a:r>
                  <a:rPr lang="zh-CN" altLang="en-US" sz="1600" b="1" dirty="0">
                    <a:latin typeface="+mn-ea"/>
                    <a:ea typeface="+mn-ea"/>
                  </a:rPr>
                  <a:t>夏威夷）和</a:t>
                </a:r>
                <a:r>
                  <a:rPr lang="en-US" altLang="zh-CN" sz="1600" b="1" dirty="0">
                    <a:latin typeface="+mn-ea"/>
                    <a:ea typeface="+mn-ea"/>
                  </a:rPr>
                  <a:t>(</a:t>
                </a:r>
                <a:r>
                  <a:rPr lang="zh-CN" altLang="en-US" sz="1600" b="1" dirty="0">
                    <a:latin typeface="+mn-ea"/>
                    <a:ea typeface="+mn-ea"/>
                  </a:rPr>
                  <a:t>夏威夷</a:t>
                </a:r>
                <a:r>
                  <a:rPr lang="en-US" altLang="zh-CN" sz="1600" b="1" dirty="0">
                    <a:latin typeface="+mn-ea"/>
                    <a:ea typeface="+mn-ea"/>
                  </a:rPr>
                  <a:t>,</a:t>
                </a:r>
                <a:r>
                  <a:rPr lang="zh-CN" altLang="en-US" sz="1600" b="1" dirty="0">
                    <a:latin typeface="+mn-ea"/>
                    <a:ea typeface="+mn-ea"/>
                  </a:rPr>
                  <a:t>属于</a:t>
                </a:r>
                <a:r>
                  <a:rPr lang="en-US" altLang="zh-CN" sz="1600" b="1" dirty="0">
                    <a:latin typeface="+mn-ea"/>
                    <a:ea typeface="+mn-ea"/>
                  </a:rPr>
                  <a:t>,</a:t>
                </a:r>
                <a:r>
                  <a:rPr lang="zh-CN" altLang="en-US" sz="1600" b="1" dirty="0">
                    <a:latin typeface="+mn-ea"/>
                    <a:ea typeface="+mn-ea"/>
                  </a:rPr>
                  <a:t>美国</a:t>
                </a:r>
                <a:r>
                  <a:rPr lang="en-US" altLang="zh-CN" sz="1600" b="1" dirty="0">
                    <a:latin typeface="+mn-ea"/>
                    <a:ea typeface="+mn-ea"/>
                  </a:rPr>
                  <a:t>)→(</a:t>
                </a:r>
                <a:r>
                  <a:rPr lang="zh-CN" altLang="en-US" sz="1600" b="1" dirty="0">
                    <a:latin typeface="+mn-ea"/>
                    <a:ea typeface="+mn-ea"/>
                  </a:rPr>
                  <a:t>奥巴马</a:t>
                </a:r>
                <a:r>
                  <a:rPr lang="en-US" altLang="zh-CN" sz="1600" b="1" dirty="0">
                    <a:latin typeface="+mn-ea"/>
                    <a:ea typeface="+mn-ea"/>
                  </a:rPr>
                  <a:t>,</a:t>
                </a:r>
                <a:r>
                  <a:rPr lang="zh-CN" altLang="en-US" sz="1600" b="1" dirty="0">
                    <a:latin typeface="+mn-ea"/>
                    <a:ea typeface="+mn-ea"/>
                  </a:rPr>
                  <a:t>国籍</a:t>
                </a:r>
                <a:r>
                  <a:rPr lang="en-US" altLang="zh-CN" sz="1600" b="1" dirty="0">
                    <a:latin typeface="+mn-ea"/>
                    <a:ea typeface="+mn-ea"/>
                  </a:rPr>
                  <a:t>,</a:t>
                </a:r>
                <a:r>
                  <a:rPr lang="zh-CN" altLang="en-US" sz="1600" b="1" dirty="0">
                    <a:latin typeface="+mn-ea"/>
                    <a:ea typeface="+mn-ea"/>
                  </a:rPr>
                  <a:t>美国</a:t>
                </a:r>
                <a:r>
                  <a:rPr lang="en-US" altLang="zh-CN" sz="1600" b="1" dirty="0">
                    <a:latin typeface="+mn-ea"/>
                    <a:ea typeface="+mn-ea"/>
                  </a:rPr>
                  <a:t>)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494210" y="190486"/>
                <a:ext cx="7252265" cy="717571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13" name="文本框 12"/>
          <p:cNvSpPr txBox="1"/>
          <p:nvPr/>
        </p:nvSpPr>
        <p:spPr>
          <a:xfrm>
            <a:off x="6795012" y="1708219"/>
            <a:ext cx="1808796" cy="41549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+mn-ea"/>
                <a:ea typeface="+mn-ea"/>
              </a:rPr>
              <a:t>谓词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主语</a:t>
            </a:r>
            <a:r>
              <a:rPr lang="en-US" altLang="zh-CN" b="1" dirty="0">
                <a:latin typeface="+mn-ea"/>
                <a:ea typeface="+mn-ea"/>
              </a:rPr>
              <a:t>,</a:t>
            </a:r>
            <a:r>
              <a:rPr lang="zh-CN" altLang="en-US" b="1" dirty="0">
                <a:latin typeface="+mn-ea"/>
                <a:ea typeface="+mn-ea"/>
              </a:rPr>
              <a:t>宾语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781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3" grpId="0"/>
      <p:bldP spid="13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16113"/>
            <a:ext cx="2519363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32138" y="1862138"/>
            <a:ext cx="5544318" cy="1846659"/>
          </a:xfrm>
          <a:prstGeom prst="rect">
            <a:avLst/>
          </a:prstGeom>
          <a:blipFill rotWithShape="0">
            <a:blip r:embed="rId3"/>
            <a:stretch>
              <a:fillRect l="-2090" t="-2970" r="-2530" b="-462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3959225" y="4292600"/>
            <a:ext cx="4357191" cy="360363"/>
          </a:xfrm>
          <a:prstGeom prst="wedgeRoundRectCallout">
            <a:avLst>
              <a:gd name="adj1" fmla="val -21228"/>
              <a:gd name="adj2" fmla="val -191912"/>
              <a:gd name="adj3" fmla="val 16667"/>
            </a:avLst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7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新知识</a:t>
            </a:r>
            <a:r>
              <a:rPr lang="zh-CN" altLang="en-US" sz="2000" b="1" dirty="0">
                <a:solidFill>
                  <a:schemeClr val="tx1"/>
                </a:solidFill>
              </a:rPr>
              <a:t>在</a:t>
            </a:r>
            <a:r>
              <a:rPr lang="zh-CN" altLang="en-US" sz="2000" b="1" dirty="0">
                <a:solidFill>
                  <a:srgbClr val="0000FF"/>
                </a:solidFill>
              </a:rPr>
              <a:t>原始</a:t>
            </a:r>
            <a:r>
              <a:rPr lang="zh-CN" altLang="en-US" sz="2000" b="1" dirty="0">
                <a:solidFill>
                  <a:schemeClr val="tx1"/>
                </a:solidFill>
              </a:rPr>
              <a:t>知识图谱中原本</a:t>
            </a:r>
            <a:r>
              <a:rPr lang="zh-CN" altLang="en-US" sz="2000" b="1" dirty="0">
                <a:solidFill>
                  <a:srgbClr val="FF0000"/>
                </a:solidFill>
              </a:rPr>
              <a:t>不存在</a:t>
            </a:r>
          </a:p>
        </p:txBody>
      </p:sp>
    </p:spTree>
    <p:extLst>
      <p:ext uri="{BB962C8B-B14F-4D97-AF65-F5344CB8AC3E}">
        <p14:creationId xmlns:p14="http://schemas.microsoft.com/office/powerpoint/2010/main" val="325749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61950"/>
            <a:ext cx="2879551" cy="23028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32615" y="2222242"/>
            <a:ext cx="3016852" cy="369332"/>
          </a:xfrm>
          <a:prstGeom prst="rect">
            <a:avLst/>
          </a:prstGeom>
          <a:blipFill rotWithShape="0">
            <a:blip r:embed="rId3"/>
            <a:stretch>
              <a:fillRect l="-2626" r="-2424" b="-40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文本框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44907" y="3255367"/>
            <a:ext cx="6859541" cy="461665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solidFill>
              <a:srgbClr val="FF0000"/>
            </a:solidFill>
            <a:prstDash val="sysDash"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3852863" y="4400550"/>
            <a:ext cx="4176712" cy="1189038"/>
          </a:xfrm>
          <a:prstGeom prst="wedgeRoundRectCallout">
            <a:avLst>
              <a:gd name="adj1" fmla="val -21938"/>
              <a:gd name="adj2" fmla="val -90691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32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若能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学习出这条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规则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，即可推出。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marL="176213" indent="-176213">
              <a:lnSpc>
                <a:spcPts val="32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归纳推理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（从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具体实例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中学习）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marL="176213" indent="-176213">
              <a:lnSpc>
                <a:spcPts val="32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实例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：知识图谱中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已知的三元组</a:t>
            </a:r>
          </a:p>
        </p:txBody>
      </p:sp>
      <p:sp>
        <p:nvSpPr>
          <p:cNvPr id="9" name="上箭头 8"/>
          <p:cNvSpPr/>
          <p:nvPr/>
        </p:nvSpPr>
        <p:spPr>
          <a:xfrm>
            <a:off x="5075238" y="2781300"/>
            <a:ext cx="323850" cy="288925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236296" y="405403"/>
            <a:ext cx="1224136" cy="110799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lIns="72000" tIns="0" rIns="0" bIns="0">
            <a:spAutoFit/>
          </a:bodyPr>
          <a:lstStyle/>
          <a:p>
            <a:pPr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x=David</a:t>
            </a:r>
          </a:p>
          <a:p>
            <a:pPr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y=Ann</a:t>
            </a:r>
          </a:p>
          <a:p>
            <a:pPr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z=James</a:t>
            </a:r>
            <a:endParaRPr lang="zh-CN" altLang="en-US" sz="24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6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051" y="1177007"/>
            <a:ext cx="341389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+mn-ea"/>
                <a:ea typeface="+mn-ea"/>
              </a:rPr>
              <a:t>知识图谱推理：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归纳学习推理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0713" y="1844675"/>
            <a:ext cx="8045450" cy="292387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归纳逻辑程序设计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ILP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inductive logic programming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9875" indent="-269875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机器学习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逻辑程序设计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交叉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研究内容</a:t>
            </a:r>
            <a:endParaRPr lang="en-US" altLang="zh-CN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9875" indent="-269875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一阶谓词逻辑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知识表示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，通过</a:t>
            </a:r>
            <a:r>
              <a:rPr lang="zh-CN" altLang="en-US" sz="2400" b="1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修改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400" b="1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扩充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逻辑表达式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，对已有知识进行归纳，从而完成推理任务。</a:t>
            </a:r>
            <a:endParaRPr lang="en-US" altLang="zh-CN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9875" indent="-269875">
              <a:lnSpc>
                <a:spcPts val="3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代表方法：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一阶归纳学习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FOIL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 Order Inductive Learner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buClr>
                <a:srgbClr val="FF0000"/>
              </a:buClr>
              <a:buSzPct val="80000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通过“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序贯覆盖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”实现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规则的推理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6638471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051" y="1082675"/>
            <a:ext cx="40576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ea"/>
                <a:ea typeface="+mn-ea"/>
              </a:rPr>
              <a:t>知识图谱推理：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一阶归纳学习</a:t>
            </a:r>
            <a:r>
              <a:rPr lang="zh-CN" altLang="en-US" sz="1800" b="1" dirty="0">
                <a:latin typeface="+mn-ea"/>
                <a:ea typeface="+mn-ea"/>
              </a:rPr>
              <a:t>（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FOIL</a:t>
            </a:r>
            <a:r>
              <a:rPr lang="zh-CN" altLang="en-US" sz="1800" b="1" dirty="0">
                <a:latin typeface="+mn-ea"/>
                <a:ea typeface="+mn-ea"/>
              </a:rPr>
              <a:t>）</a:t>
            </a: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616075" y="2832100"/>
            <a:ext cx="4608513" cy="996950"/>
            <a:chOff x="1616699" y="2832032"/>
            <a:chExt cx="4608512" cy="99677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1616699" y="2832032"/>
              <a:ext cx="460851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5378" name="组合 13"/>
            <p:cNvGrpSpPr>
              <a:grpSpLocks/>
            </p:cNvGrpSpPr>
            <p:nvPr/>
          </p:nvGrpSpPr>
          <p:grpSpPr bwMode="auto">
            <a:xfrm>
              <a:off x="3128867" y="2997384"/>
              <a:ext cx="1584176" cy="831418"/>
              <a:chOff x="2853664" y="2658248"/>
              <a:chExt cx="1584176" cy="831418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2854384" y="2903985"/>
                <a:ext cx="1582737" cy="585681"/>
              </a:xfrm>
              <a:prstGeom prst="rect">
                <a:avLst/>
              </a:prstGeom>
              <a:no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前提约束谓词</a:t>
                </a:r>
                <a:endParaRPr lang="en-US" altLang="zh-CN" sz="2000" b="1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algn="ctr">
                  <a:defRPr/>
                </a:pPr>
                <a:r>
                  <a:rPr lang="en-US" altLang="zh-CN" sz="1800" b="1" dirty="0">
                    <a:latin typeface="+mn-ea"/>
                    <a:ea typeface="+mn-ea"/>
                  </a:rPr>
                  <a:t>(</a:t>
                </a:r>
                <a:r>
                  <a:rPr lang="zh-CN" altLang="en-US" sz="1800" b="1" dirty="0">
                    <a:solidFill>
                      <a:srgbClr val="0000FF"/>
                    </a:solidFill>
                    <a:latin typeface="+mn-ea"/>
                    <a:ea typeface="+mn-ea"/>
                  </a:rPr>
                  <a:t>学习得到</a:t>
                </a:r>
                <a:r>
                  <a:rPr lang="en-US" altLang="zh-CN" sz="1800" b="1" dirty="0">
                    <a:latin typeface="+mn-ea"/>
                    <a:ea typeface="+mn-ea"/>
                  </a:rPr>
                  <a:t>)</a:t>
                </a:r>
                <a:endParaRPr lang="zh-CN" altLang="en-US" sz="1800" b="1" dirty="0">
                  <a:latin typeface="+mn-ea"/>
                  <a:ea typeface="+mn-ea"/>
                </a:endParaRPr>
              </a:p>
            </p:txBody>
          </p:sp>
          <p:sp>
            <p:nvSpPr>
              <p:cNvPr id="9" name="上箭头 8"/>
              <p:cNvSpPr/>
              <p:nvPr/>
            </p:nvSpPr>
            <p:spPr>
              <a:xfrm>
                <a:off x="3527484" y="2657966"/>
                <a:ext cx="215900" cy="215861"/>
              </a:xfrm>
              <a:prstGeom prst="up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6678613" y="2832100"/>
            <a:ext cx="1368425" cy="987425"/>
            <a:chOff x="6678775" y="2832032"/>
            <a:chExt cx="1368152" cy="987071"/>
          </a:xfrm>
        </p:grpSpPr>
        <p:grpSp>
          <p:nvGrpSpPr>
            <p:cNvPr id="15373" name="组合 14"/>
            <p:cNvGrpSpPr>
              <a:grpSpLocks/>
            </p:cNvGrpSpPr>
            <p:nvPr/>
          </p:nvGrpSpPr>
          <p:grpSpPr bwMode="auto">
            <a:xfrm>
              <a:off x="6786787" y="2987685"/>
              <a:ext cx="1152128" cy="831418"/>
              <a:chOff x="6406868" y="2658248"/>
              <a:chExt cx="1152128" cy="831418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6406784" y="2904089"/>
                <a:ext cx="1152295" cy="585577"/>
              </a:xfrm>
              <a:prstGeom prst="rect">
                <a:avLst/>
              </a:prstGeom>
              <a:noFill/>
            </p:spPr>
            <p:txBody>
              <a:bodyPr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目标谓词</a:t>
                </a:r>
                <a:endParaRPr lang="en-US" altLang="zh-CN" sz="2000" b="1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algn="ctr">
                  <a:defRPr/>
                </a:pPr>
                <a:r>
                  <a:rPr lang="en-US" altLang="zh-CN" sz="1800" b="1" dirty="0">
                    <a:latin typeface="+mn-ea"/>
                    <a:ea typeface="+mn-ea"/>
                  </a:rPr>
                  <a:t>(</a:t>
                </a:r>
                <a:r>
                  <a:rPr lang="zh-CN" altLang="en-US" sz="1800" b="1" dirty="0">
                    <a:solidFill>
                      <a:srgbClr val="0000FF"/>
                    </a:solidFill>
                    <a:latin typeface="+mn-ea"/>
                    <a:ea typeface="+mn-ea"/>
                  </a:rPr>
                  <a:t>已知</a:t>
                </a:r>
                <a:r>
                  <a:rPr lang="en-US" altLang="zh-CN" sz="1800" b="1" dirty="0">
                    <a:latin typeface="+mn-ea"/>
                    <a:ea typeface="+mn-ea"/>
                  </a:rPr>
                  <a:t>)</a:t>
                </a:r>
                <a:endParaRPr lang="zh-CN" altLang="en-US" sz="1800" b="1" dirty="0">
                  <a:latin typeface="+mn-ea"/>
                  <a:ea typeface="+mn-ea"/>
                </a:endParaRPr>
              </a:p>
            </p:txBody>
          </p:sp>
          <p:sp>
            <p:nvSpPr>
              <p:cNvPr id="11" name="上箭头 10"/>
              <p:cNvSpPr/>
              <p:nvPr/>
            </p:nvSpPr>
            <p:spPr>
              <a:xfrm>
                <a:off x="6875003" y="2658114"/>
                <a:ext cx="215857" cy="215823"/>
              </a:xfrm>
              <a:prstGeom prst="up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6678775" y="2832032"/>
              <a:ext cx="136815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620713" y="1844675"/>
            <a:ext cx="4887912" cy="3841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已有“图谱”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学习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推理规则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654050" y="4076700"/>
            <a:ext cx="8093075" cy="792163"/>
            <a:chOff x="654051" y="4077072"/>
            <a:chExt cx="8093558" cy="792088"/>
          </a:xfrm>
        </p:grpSpPr>
        <p:sp>
          <p:nvSpPr>
            <p:cNvPr id="16" name="文本框 15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8477" y="4653716"/>
              <a:ext cx="8069132" cy="215444"/>
            </a:xfrm>
            <a:prstGeom prst="rect">
              <a:avLst/>
            </a:prstGeom>
            <a:blipFill rotWithShape="0">
              <a:blip r:embed="rId2"/>
              <a:stretch>
                <a:fillRect l="-151" r="-151" b="-36111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54051" y="4077072"/>
              <a:ext cx="1612996" cy="384139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marL="269875" indent="-269875">
                <a:lnSpc>
                  <a:spcPts val="3000"/>
                </a:lnSpc>
                <a:spcAft>
                  <a:spcPts val="60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推理思想</a:t>
              </a:r>
            </a:p>
          </p:txBody>
        </p:sp>
      </p:grpSp>
      <p:sp>
        <p:nvSpPr>
          <p:cNvPr id="22" name="圆角矩形标注 21"/>
          <p:cNvSpPr/>
          <p:nvPr/>
        </p:nvSpPr>
        <p:spPr>
          <a:xfrm>
            <a:off x="1973263" y="5300663"/>
            <a:ext cx="5911850" cy="720725"/>
          </a:xfrm>
          <a:prstGeom prst="wedgeRoundRectCallout">
            <a:avLst>
              <a:gd name="adj1" fmla="val -21842"/>
              <a:gd name="adj2" fmla="val -70298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9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利用图谱中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</a:rPr>
              <a:t>已有的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</a:rPr>
              <a:t>正例、反例、背景知识样例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”</a:t>
            </a:r>
          </a:p>
          <a:p>
            <a:pPr marL="176213" indent="-176213">
              <a:lnSpc>
                <a:spcPts val="29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</a:rPr>
              <a:t>推出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</a:rPr>
              <a:t>需要的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假设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</a:rPr>
              <a:t>推理规则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”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473200" y="406400"/>
            <a:ext cx="7131050" cy="2322513"/>
            <a:chOff x="1472683" y="405739"/>
            <a:chExt cx="7130996" cy="2322926"/>
          </a:xfrm>
        </p:grpSpPr>
        <p:sp>
          <p:nvSpPr>
            <p:cNvPr id="5" name="文本框 4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472683" y="2420888"/>
              <a:ext cx="6843733" cy="307777"/>
            </a:xfrm>
            <a:prstGeom prst="rect">
              <a:avLst/>
            </a:prstGeom>
            <a:blipFill rotWithShape="0">
              <a:blip r:embed="rId3"/>
              <a:stretch>
                <a:fillRect l="-624" r="-713" b="-37255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pic>
          <p:nvPicPr>
            <p:cNvPr id="15370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405739"/>
              <a:ext cx="2231479" cy="17846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0777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75" y="188913"/>
            <a:ext cx="2251075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60" y="1791985"/>
            <a:ext cx="7992888" cy="2731517"/>
          </a:xfrm>
          <a:prstGeom prst="rect">
            <a:avLst/>
          </a:prstGeom>
          <a:blipFill rotWithShape="0">
            <a:blip r:embed="rId3"/>
            <a:stretch>
              <a:fillRect l="-1449" t="-3125" r="-1068" b="-245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文本框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60" y="4653136"/>
            <a:ext cx="7992888" cy="1115690"/>
          </a:xfrm>
          <a:prstGeom prst="rect">
            <a:avLst/>
          </a:prstGeom>
          <a:blipFill rotWithShape="0">
            <a:blip r:embed="rId4"/>
            <a:stretch>
              <a:fillRect l="-1449" t="-7650" b="-765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3609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7"/>
          <p:cNvGrpSpPr>
            <a:grpSpLocks/>
          </p:cNvGrpSpPr>
          <p:nvPr/>
        </p:nvGrpSpPr>
        <p:grpSpPr bwMode="auto">
          <a:xfrm>
            <a:off x="1257300" y="1876425"/>
            <a:ext cx="6843713" cy="1408113"/>
            <a:chOff x="1256659" y="1877070"/>
            <a:chExt cx="6843733" cy="1407914"/>
          </a:xfrm>
        </p:grpSpPr>
        <p:sp>
          <p:nvSpPr>
            <p:cNvPr id="4" name="文本框 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256659" y="1877070"/>
              <a:ext cx="6843733" cy="307777"/>
            </a:xfrm>
            <a:prstGeom prst="rect">
              <a:avLst/>
            </a:prstGeom>
            <a:blipFill rotWithShape="0">
              <a:blip r:embed="rId2"/>
              <a:stretch>
                <a:fillRect l="-623" r="-623" b="-40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grpSp>
          <p:nvGrpSpPr>
            <p:cNvPr id="17416" name="组合 4"/>
            <p:cNvGrpSpPr>
              <a:grpSpLocks/>
            </p:cNvGrpSpPr>
            <p:nvPr/>
          </p:nvGrpSpPr>
          <p:grpSpPr bwMode="auto">
            <a:xfrm>
              <a:off x="1400675" y="2288214"/>
              <a:ext cx="4608512" cy="996770"/>
              <a:chOff x="1616699" y="2832032"/>
              <a:chExt cx="4608512" cy="996770"/>
            </a:xfrm>
          </p:grpSpPr>
          <p:cxnSp>
            <p:nvCxnSpPr>
              <p:cNvPr id="6" name="直接连接符 5"/>
              <p:cNvCxnSpPr/>
              <p:nvPr/>
            </p:nvCxnSpPr>
            <p:spPr>
              <a:xfrm>
                <a:off x="1617146" y="2831993"/>
                <a:ext cx="4608525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7423" name="组合 6"/>
              <p:cNvGrpSpPr>
                <a:grpSpLocks/>
              </p:cNvGrpSpPr>
              <p:nvPr/>
            </p:nvGrpSpPr>
            <p:grpSpPr bwMode="auto">
              <a:xfrm>
                <a:off x="3128867" y="2997384"/>
                <a:ext cx="1584176" cy="831418"/>
                <a:chOff x="2853664" y="2658248"/>
                <a:chExt cx="1584176" cy="831418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>
                  <a:off x="2861184" y="2903961"/>
                  <a:ext cx="1576392" cy="585705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前提约束谓词</a:t>
                  </a:r>
                  <a:endParaRPr lang="en-US" altLang="zh-CN" sz="2000" b="1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  <a:p>
                  <a:pPr algn="ctr">
                    <a:defRPr/>
                  </a:pPr>
                  <a:r>
                    <a:rPr lang="en-US" altLang="zh-CN" sz="1800" b="1" dirty="0">
                      <a:latin typeface="+mn-ea"/>
                      <a:ea typeface="+mn-ea"/>
                    </a:rPr>
                    <a:t>(</a:t>
                  </a:r>
                  <a:r>
                    <a:rPr lang="zh-CN" altLang="en-US" sz="1800" b="1" dirty="0">
                      <a:latin typeface="+mn-ea"/>
                      <a:ea typeface="+mn-ea"/>
                    </a:rPr>
                    <a:t>学习得到</a:t>
                  </a:r>
                  <a:r>
                    <a:rPr lang="en-US" altLang="zh-CN" sz="1800" b="1" dirty="0">
                      <a:latin typeface="+mn-ea"/>
                      <a:ea typeface="+mn-ea"/>
                    </a:rPr>
                    <a:t>)</a:t>
                  </a:r>
                  <a:endParaRPr lang="zh-CN" altLang="en-US" sz="1800" b="1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9" name="上箭头 8"/>
                <p:cNvSpPr/>
                <p:nvPr/>
              </p:nvSpPr>
              <p:spPr>
                <a:xfrm>
                  <a:off x="3527936" y="2657934"/>
                  <a:ext cx="215901" cy="215869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  <p:grpSp>
          <p:nvGrpSpPr>
            <p:cNvPr id="17417" name="组合 9"/>
            <p:cNvGrpSpPr>
              <a:grpSpLocks/>
            </p:cNvGrpSpPr>
            <p:nvPr/>
          </p:nvGrpSpPr>
          <p:grpSpPr bwMode="auto">
            <a:xfrm>
              <a:off x="6462751" y="2288214"/>
              <a:ext cx="1368152" cy="987071"/>
              <a:chOff x="6678775" y="2832032"/>
              <a:chExt cx="1368152" cy="987071"/>
            </a:xfrm>
          </p:grpSpPr>
          <p:grpSp>
            <p:nvGrpSpPr>
              <p:cNvPr id="17418" name="组合 10"/>
              <p:cNvGrpSpPr>
                <a:grpSpLocks/>
              </p:cNvGrpSpPr>
              <p:nvPr/>
            </p:nvGrpSpPr>
            <p:grpSpPr bwMode="auto">
              <a:xfrm>
                <a:off x="6786787" y="2987685"/>
                <a:ext cx="1152128" cy="831418"/>
                <a:chOff x="6406868" y="2658248"/>
                <a:chExt cx="1152128" cy="831418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6406142" y="2904136"/>
                  <a:ext cx="1152528" cy="585705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目标谓词</a:t>
                  </a:r>
                  <a:endParaRPr lang="en-US" altLang="zh-CN" sz="2000" b="1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  <a:p>
                  <a:pPr algn="ctr">
                    <a:defRPr/>
                  </a:pPr>
                  <a:r>
                    <a:rPr lang="en-US" altLang="zh-CN" sz="1800" b="1" dirty="0">
                      <a:latin typeface="+mn-ea"/>
                      <a:ea typeface="+mn-ea"/>
                    </a:rPr>
                    <a:t>(</a:t>
                  </a:r>
                  <a:r>
                    <a:rPr lang="zh-CN" altLang="en-US" sz="1800" b="1" dirty="0">
                      <a:latin typeface="+mn-ea"/>
                      <a:ea typeface="+mn-ea"/>
                    </a:rPr>
                    <a:t>已知</a:t>
                  </a:r>
                  <a:r>
                    <a:rPr lang="en-US" altLang="zh-CN" sz="1800" b="1" dirty="0">
                      <a:latin typeface="+mn-ea"/>
                      <a:ea typeface="+mn-ea"/>
                    </a:rPr>
                    <a:t>)</a:t>
                  </a:r>
                  <a:endParaRPr lang="zh-CN" altLang="en-US" sz="1800" b="1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4" name="上箭头 13"/>
                <p:cNvSpPr/>
                <p:nvPr/>
              </p:nvSpPr>
              <p:spPr>
                <a:xfrm>
                  <a:off x="6874455" y="2658109"/>
                  <a:ext cx="215901" cy="215869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12" name="直接连接符 11"/>
              <p:cNvCxnSpPr/>
              <p:nvPr/>
            </p:nvCxnSpPr>
            <p:spPr>
              <a:xfrm>
                <a:off x="6678111" y="2831993"/>
                <a:ext cx="1368429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文本框 14"/>
          <p:cNvSpPr txBox="1"/>
          <p:nvPr/>
        </p:nvSpPr>
        <p:spPr>
          <a:xfrm>
            <a:off x="673100" y="5313363"/>
            <a:ext cx="7993063" cy="7445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推理思路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b="1" u="wavyHeavy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从一般到特殊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，逐步给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目标谓词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添加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前提约束谓词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，直到构成的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推理规则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不覆盖任何反例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6" name="圆角矩形标注 15"/>
          <p:cNvSpPr/>
          <p:nvPr/>
        </p:nvSpPr>
        <p:spPr>
          <a:xfrm>
            <a:off x="6372225" y="1131888"/>
            <a:ext cx="2092325" cy="360362"/>
          </a:xfrm>
          <a:prstGeom prst="wedgeRoundRectCallout">
            <a:avLst>
              <a:gd name="adj1" fmla="val -21725"/>
              <a:gd name="adj2" fmla="val 142569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7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已给定</a:t>
            </a:r>
            <a:r>
              <a:rPr lang="zh-CN" altLang="en-US" sz="2000" b="1" dirty="0">
                <a:solidFill>
                  <a:schemeClr val="tx1"/>
                </a:solidFill>
              </a:rPr>
              <a:t>目标谓词</a:t>
            </a:r>
          </a:p>
        </p:txBody>
      </p:sp>
      <p:sp>
        <p:nvSpPr>
          <p:cNvPr id="17" name="圆角矩形标注 16"/>
          <p:cNvSpPr/>
          <p:nvPr/>
        </p:nvSpPr>
        <p:spPr>
          <a:xfrm>
            <a:off x="1763713" y="265113"/>
            <a:ext cx="4392612" cy="792162"/>
          </a:xfrm>
          <a:prstGeom prst="wedgeRoundRectCallout">
            <a:avLst>
              <a:gd name="adj1" fmla="val -198"/>
              <a:gd name="adj2" fmla="val 138634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176213" indent="-176213">
              <a:lnSpc>
                <a:spcPts val="27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目的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 sz="2000" b="1" u="wavyDbl" dirty="0">
                <a:solidFill>
                  <a:schemeClr val="tx1"/>
                </a:solidFill>
                <a:latin typeface="+mn-ea"/>
              </a:rPr>
              <a:t>学习得到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规则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前提约束谓词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ts val="2700"/>
              </a:lnSpc>
              <a:buClr>
                <a:srgbClr val="FF0000"/>
              </a:buClr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</a:rPr>
              <a:t>合式公式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前提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部分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2625" y="3435350"/>
            <a:ext cx="7273925" cy="16922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176213" indent="-176213"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  <a:ea typeface="+mn-ea"/>
              </a:rPr>
              <a:t>学习得到的</a:t>
            </a:r>
            <a:r>
              <a:rPr lang="zh-CN" altLang="zh-CN" sz="1800" b="1" dirty="0">
                <a:latin typeface="+mn-ea"/>
                <a:ea typeface="+mn-ea"/>
              </a:rPr>
              <a:t>是一个</a:t>
            </a:r>
            <a:r>
              <a:rPr lang="en-US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</a:rPr>
              <a:t>普遍化的推理规则</a:t>
            </a:r>
            <a:r>
              <a:rPr lang="en-US" altLang="zh-CN" sz="1800" b="1" dirty="0">
                <a:latin typeface="+mn-ea"/>
                <a:ea typeface="+mn-ea"/>
              </a:rPr>
              <a:t>”</a:t>
            </a:r>
          </a:p>
          <a:p>
            <a:pPr marL="176213" indent="-176213"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latin typeface="+mn-ea"/>
                <a:ea typeface="+mn-ea"/>
              </a:rPr>
              <a:t>而图谱中</a:t>
            </a:r>
            <a:r>
              <a:rPr lang="zh-CN" altLang="en-US" sz="1800" b="1" dirty="0">
                <a:latin typeface="+mn-ea"/>
                <a:ea typeface="+mn-ea"/>
              </a:rPr>
              <a:t>的</a:t>
            </a:r>
            <a:r>
              <a:rPr lang="zh-CN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样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</a:rPr>
              <a:t>本</a:t>
            </a:r>
            <a:r>
              <a:rPr lang="zh-CN" altLang="zh-CN" sz="1800" b="1" dirty="0">
                <a:latin typeface="+mn-ea"/>
                <a:ea typeface="+mn-ea"/>
              </a:rPr>
              <a:t>”都是“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</a:rPr>
              <a:t>特指的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实体关系</a:t>
            </a:r>
            <a:r>
              <a:rPr lang="zh-CN" altLang="zh-CN" sz="1800" b="1" dirty="0"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（特定样本）</a:t>
            </a:r>
            <a:endParaRPr lang="en-US" altLang="zh-CN" sz="1800" b="1" dirty="0">
              <a:latin typeface="+mn-ea"/>
              <a:ea typeface="+mn-ea"/>
            </a:endParaRPr>
          </a:p>
          <a:p>
            <a:pPr marL="176213" indent="-176213"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  <a:ea typeface="+mn-ea"/>
              </a:rPr>
              <a:t>因而，</a:t>
            </a:r>
            <a:r>
              <a:rPr lang="zh-CN" altLang="zh-CN" sz="1800" b="1" dirty="0">
                <a:latin typeface="+mn-ea"/>
                <a:ea typeface="+mn-ea"/>
              </a:rPr>
              <a:t>需要从图谱中的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</a:rPr>
              <a:t>特定样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</a:rPr>
              <a:t>本</a:t>
            </a:r>
            <a:r>
              <a:rPr lang="zh-CN" altLang="zh-CN" sz="1800" b="1" dirty="0">
                <a:latin typeface="+mn-ea"/>
                <a:ea typeface="+mn-ea"/>
              </a:rPr>
              <a:t>出发，推理出</a:t>
            </a:r>
            <a:r>
              <a:rPr lang="en-US" altLang="zh-CN" sz="1800" b="1" dirty="0">
                <a:latin typeface="+mn-ea"/>
                <a:ea typeface="+mn-ea"/>
              </a:rPr>
              <a:t>“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</a:rPr>
              <a:t>泛化的</a:t>
            </a:r>
            <a:r>
              <a:rPr lang="en-US" altLang="zh-CN" sz="1800" b="1" dirty="0">
                <a:latin typeface="+mn-ea"/>
                <a:ea typeface="+mn-ea"/>
              </a:rPr>
              <a:t>”</a:t>
            </a:r>
            <a:r>
              <a:rPr lang="zh-CN" altLang="zh-CN" sz="1800" b="1" dirty="0">
                <a:latin typeface="+mn-ea"/>
                <a:ea typeface="+mn-ea"/>
              </a:rPr>
              <a:t>规则</a:t>
            </a:r>
            <a:r>
              <a:rPr lang="zh-CN" altLang="en-US" sz="1800" b="1" dirty="0">
                <a:latin typeface="+mn-ea"/>
                <a:ea typeface="+mn-ea"/>
              </a:rPr>
              <a:t>。</a:t>
            </a:r>
            <a:endParaRPr lang="en-US" altLang="zh-CN" sz="1800" b="1" dirty="0">
              <a:latin typeface="+mn-ea"/>
              <a:ea typeface="+mn-ea"/>
            </a:endParaRPr>
          </a:p>
          <a:p>
            <a:pPr marL="176213" indent="-176213"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目标谓词中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都是“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变量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”，需要给变量“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赋值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”（变量确定化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置换）</a:t>
            </a:r>
            <a:endParaRPr lang="en-US" altLang="zh-CN" sz="18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76213" indent="-176213"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确定的取值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中进行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归纳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学习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前提约束谓词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4212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9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11188" y="3789363"/>
            <a:ext cx="8066087" cy="16922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700"/>
              </a:lnSpc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已知“目标谓词”，要学习得到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若干个前提约束谓词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需要知道</a:t>
            </a:r>
            <a:r>
              <a:rPr lang="zh-CN" altLang="en-US" sz="2000" b="1" u="wavyHeavy" dirty="0">
                <a:latin typeface="+mn-ea"/>
                <a:ea typeface="+mn-ea"/>
                <a:cs typeface="Times New Roman" panose="02020603050405020304" pitchFamily="18" charset="0"/>
              </a:rPr>
              <a:t>推理规则中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哪些前提约束谓词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能够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满足目标谓词的推理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FOIL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：定义了一个“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信息增益值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endParaRPr lang="en-US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76213">
              <a:lnSpc>
                <a:spcPts val="2700"/>
              </a:lnSpc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用以判断“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哪些谓词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b="1" u="wavyHeavy" dirty="0">
                <a:latin typeface="+mn-ea"/>
                <a:ea typeface="+mn-ea"/>
                <a:cs typeface="Times New Roman" panose="02020603050405020304" pitchFamily="18" charset="0"/>
              </a:rPr>
              <a:t>能</a:t>
            </a:r>
            <a:r>
              <a:rPr lang="en-US" altLang="zh-CN" sz="2000" b="1" u="wavyHeavy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u="wavyHeavy" dirty="0">
                <a:latin typeface="+mn-ea"/>
                <a:ea typeface="+mn-ea"/>
                <a:cs typeface="Times New Roman" panose="02020603050405020304" pitchFamily="18" charset="0"/>
              </a:rPr>
              <a:t>不能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作为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目标谓词的前提约束谓词。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098" y="1859463"/>
            <a:ext cx="8066087" cy="1692771"/>
          </a:xfrm>
          <a:prstGeom prst="rect">
            <a:avLst/>
          </a:prstGeom>
          <a:blipFill rotWithShape="0">
            <a:blip r:embed="rId2"/>
            <a:stretch>
              <a:fillRect l="-1436" t="-5036" r="-605" b="-467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1843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908050"/>
            <a:ext cx="79279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61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446088"/>
            <a:ext cx="4608512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流程图: 顺序访问存储器 16"/>
          <p:cNvSpPr/>
          <p:nvPr/>
        </p:nvSpPr>
        <p:spPr>
          <a:xfrm>
            <a:off x="635000" y="1773238"/>
            <a:ext cx="1944688" cy="1439862"/>
          </a:xfrm>
          <a:prstGeom prst="flowChartMagneticTap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哪些谓词</a:t>
            </a:r>
            <a:r>
              <a:rPr lang="zh-CN" altLang="en-US" sz="2000" b="1" dirty="0">
                <a:solidFill>
                  <a:schemeClr val="tx1"/>
                </a:solidFill>
              </a:rPr>
              <a:t>可以作为</a:t>
            </a:r>
            <a:r>
              <a:rPr lang="zh-CN" altLang="en-US" sz="2000" b="1" dirty="0">
                <a:solidFill>
                  <a:srgbClr val="0000FF"/>
                </a:solidFill>
              </a:rPr>
              <a:t>目标谓词</a:t>
            </a:r>
            <a:r>
              <a:rPr lang="zh-CN" altLang="en-US" sz="2000" b="1" dirty="0">
                <a:solidFill>
                  <a:schemeClr val="tx1"/>
                </a:solidFill>
              </a:rPr>
              <a:t>的</a:t>
            </a:r>
            <a:r>
              <a:rPr lang="zh-CN" altLang="en-US" sz="2000" b="1" u="wavyHeavy" dirty="0">
                <a:solidFill>
                  <a:schemeClr val="tx1"/>
                </a:solidFill>
              </a:rPr>
              <a:t>前提约束谓词</a:t>
            </a:r>
            <a:r>
              <a:rPr lang="zh-CN" altLang="en-US" sz="2000" b="1" dirty="0">
                <a:solidFill>
                  <a:schemeClr val="tx1"/>
                </a:solidFill>
              </a:rPr>
              <a:t>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050" y="1052513"/>
            <a:ext cx="3702050" cy="3698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ea"/>
                <a:ea typeface="+mn-ea"/>
              </a:rPr>
              <a:t>信息增益值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Information gain</a:t>
            </a:r>
            <a:r>
              <a:rPr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0" y="2152650"/>
            <a:ext cx="573405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6289" y="3820542"/>
            <a:ext cx="8066087" cy="1192634"/>
          </a:xfrm>
          <a:prstGeom prst="rect">
            <a:avLst/>
          </a:prstGeom>
          <a:blipFill rotWithShape="0">
            <a:blip r:embed="rId4"/>
            <a:stretch>
              <a:fillRect l="-1436" t="-7179" r="-1436" b="-871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2168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446088"/>
            <a:ext cx="4608512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00113" y="3068638"/>
          <a:ext cx="7343774" cy="180892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2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2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zh-CN" alt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背景知识样本集合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Sibling(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Ann,Mike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Couple(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David,James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Mother(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James,Ann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Mother(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James,Mike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lang="zh-CN" alt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目标谓词训练样本集合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Father(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David,Mike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¬Father(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David,James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¬Father(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James,Ann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¬Father(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James,Mike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>
                        <a:lnSpc>
                          <a:spcPts val="2900"/>
                        </a:lnSpc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¬Father(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Ann,Mike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49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61950"/>
            <a:ext cx="2305050" cy="18430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2987675" y="1844675"/>
            <a:ext cx="5545138" cy="3079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样本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→学习若干个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前提约束谓词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目标谓词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56238" y="3070225"/>
            <a:ext cx="2263775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4" name="圆角矩形标注 13"/>
          <p:cNvSpPr/>
          <p:nvPr/>
        </p:nvSpPr>
        <p:spPr>
          <a:xfrm>
            <a:off x="6732588" y="2492375"/>
            <a:ext cx="1800225" cy="360363"/>
          </a:xfrm>
          <a:prstGeom prst="wedgeRoundRectCallout">
            <a:avLst>
              <a:gd name="adj1" fmla="val -36297"/>
              <a:gd name="adj2" fmla="val 108677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93663" indent="-93663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目标谓词的</a:t>
            </a:r>
            <a:r>
              <a:rPr lang="zh-CN" altLang="en-US" sz="1800" b="1" dirty="0">
                <a:solidFill>
                  <a:srgbClr val="FF0000"/>
                </a:solidFill>
              </a:rPr>
              <a:t>正例</a:t>
            </a:r>
          </a:p>
        </p:txBody>
      </p:sp>
      <p:sp>
        <p:nvSpPr>
          <p:cNvPr id="16" name="矩形 15"/>
          <p:cNvSpPr/>
          <p:nvPr/>
        </p:nvSpPr>
        <p:spPr>
          <a:xfrm>
            <a:off x="5456238" y="3509963"/>
            <a:ext cx="2500312" cy="1431925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5867400" y="5167313"/>
            <a:ext cx="1800225" cy="360362"/>
          </a:xfrm>
          <a:prstGeom prst="wedgeRoundRectCallout">
            <a:avLst>
              <a:gd name="adj1" fmla="val -20713"/>
              <a:gd name="adj2" fmla="val -110662"/>
              <a:gd name="adj3" fmla="val 16667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93663" indent="-93663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目标谓词的</a:t>
            </a:r>
            <a:r>
              <a:rPr lang="zh-CN" altLang="en-US" sz="1800" b="1" dirty="0">
                <a:solidFill>
                  <a:srgbClr val="FF0000"/>
                </a:solidFill>
              </a:rPr>
              <a:t>反例</a:t>
            </a:r>
          </a:p>
        </p:txBody>
      </p:sp>
      <p:sp>
        <p:nvSpPr>
          <p:cNvPr id="18" name="矩形 17"/>
          <p:cNvSpPr/>
          <p:nvPr/>
        </p:nvSpPr>
        <p:spPr>
          <a:xfrm>
            <a:off x="1947863" y="3254375"/>
            <a:ext cx="2408237" cy="1430338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圆角矩形标注 18"/>
          <p:cNvSpPr/>
          <p:nvPr/>
        </p:nvSpPr>
        <p:spPr>
          <a:xfrm>
            <a:off x="2571750" y="2492375"/>
            <a:ext cx="1568450" cy="360363"/>
          </a:xfrm>
          <a:prstGeom prst="wedgeRoundRectCallout">
            <a:avLst>
              <a:gd name="adj1" fmla="val -38044"/>
              <a:gd name="adj2" fmla="val 154671"/>
              <a:gd name="adj3" fmla="val 16667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93663" indent="-93663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背景知识</a:t>
            </a:r>
            <a:r>
              <a:rPr lang="zh-CN" altLang="en-US" sz="1800" b="1" dirty="0">
                <a:solidFill>
                  <a:srgbClr val="FF0000"/>
                </a:solidFill>
              </a:rPr>
              <a:t>样例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1825" y="5229200"/>
            <a:ext cx="386816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根据这些样本 </a:t>
            </a:r>
            <a:r>
              <a:rPr lang="zh-CN" altLang="en-US" b="1" dirty="0">
                <a:latin typeface="Cambria Math" panose="02040503050406030204" pitchFamily="18" charset="0"/>
                <a:ea typeface="+mn-ea"/>
                <a:cs typeface="Times New Roman" panose="02020603050405020304" pitchFamily="18" charset="0"/>
              </a:rPr>
              <a:t>⟹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泛化的推理规则</a:t>
            </a:r>
          </a:p>
        </p:txBody>
      </p:sp>
    </p:spTree>
    <p:extLst>
      <p:ext uri="{BB962C8B-B14F-4D97-AF65-F5344CB8AC3E}">
        <p14:creationId xmlns:p14="http://schemas.microsoft.com/office/powerpoint/2010/main" val="1570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73238"/>
            <a:ext cx="5018087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488" y="239713"/>
            <a:ext cx="481012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54013" y="2398713"/>
            <a:ext cx="5018087" cy="215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36096" y="1773238"/>
            <a:ext cx="3384376" cy="2539157"/>
          </a:xfrm>
          <a:prstGeom prst="rect">
            <a:avLst/>
          </a:prstGeom>
          <a:blipFill rotWithShape="0">
            <a:blip r:embed="rId4"/>
            <a:stretch>
              <a:fillRect l="-3423" t="-2644" r="-1982" b="-168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pic>
        <p:nvPicPr>
          <p:cNvPr id="21510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19511"/>
            <a:ext cx="1495425" cy="1195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3" y="1468407"/>
            <a:ext cx="5499264" cy="24996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5652120" y="4367259"/>
            <a:ext cx="3077790" cy="141064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2200"/>
              </a:lnSpc>
              <a:buClr>
                <a:srgbClr val="FF0000"/>
              </a:buClr>
              <a:buSzPct val="80000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说明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初始状态时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，因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未添加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任何前提约束谓词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空集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因此，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产生的新规则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就是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目标谓词自己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。所以，新规则覆盖的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正例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反例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就是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训练样本中的正例、反例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4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773238"/>
            <a:ext cx="50180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5405438" y="1700213"/>
            <a:ext cx="3270250" cy="933450"/>
            <a:chOff x="5404923" y="1765553"/>
            <a:chExt cx="3271533" cy="932334"/>
          </a:xfrm>
        </p:grpSpPr>
        <p:sp>
          <p:nvSpPr>
            <p:cNvPr id="7" name="文本框 6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404923" y="1765553"/>
              <a:ext cx="3271533" cy="555088"/>
            </a:xfrm>
            <a:prstGeom prst="rect">
              <a:avLst/>
            </a:prstGeom>
            <a:blipFill rotWithShape="0">
              <a:blip r:embed="rId3"/>
              <a:stretch>
                <a:fillRect l="-3172" t="-17582" r="-1866" b="-25275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9" name="文本框 8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546634" y="2420888"/>
              <a:ext cx="3088987" cy="276999"/>
            </a:xfrm>
            <a:prstGeom prst="rect">
              <a:avLst/>
            </a:prstGeom>
            <a:blipFill rotWithShape="0">
              <a:blip r:embed="rId4"/>
              <a:stretch>
                <a:fillRect l="-1572" r="-2161" b="-34043"/>
              </a:stretch>
            </a:blipFill>
            <a:ln>
              <a:solidFill>
                <a:srgbClr val="FF0000"/>
              </a:solidFill>
              <a:prstDash val="sysDash"/>
            </a:ln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12" name="文本框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04922" y="4860956"/>
            <a:ext cx="3559565" cy="1179810"/>
          </a:xfrm>
          <a:prstGeom prst="rect">
            <a:avLst/>
          </a:prstGeom>
          <a:blipFill rotWithShape="0">
            <a:blip r:embed="rId5"/>
            <a:stretch>
              <a:fillRect l="-2911" t="-8247" b="-82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2253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61938"/>
            <a:ext cx="4017963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5405438" y="2820988"/>
            <a:ext cx="3270250" cy="1173162"/>
            <a:chOff x="5404924" y="2996952"/>
            <a:chExt cx="3271532" cy="1172355"/>
          </a:xfrm>
        </p:grpSpPr>
        <p:sp>
          <p:nvSpPr>
            <p:cNvPr id="10" name="文本框 9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404924" y="2996952"/>
              <a:ext cx="3271532" cy="589905"/>
            </a:xfrm>
            <a:prstGeom prst="rect">
              <a:avLst/>
            </a:prstGeom>
            <a:blipFill rotWithShape="0">
              <a:blip r:embed="rId7"/>
              <a:stretch>
                <a:fillRect l="-3172" t="-16495" r="-1493" b="-16495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grpSp>
          <p:nvGrpSpPr>
            <p:cNvPr id="22543" name="组合 22"/>
            <p:cNvGrpSpPr>
              <a:grpSpLocks/>
            </p:cNvGrpSpPr>
            <p:nvPr/>
          </p:nvGrpSpPr>
          <p:grpSpPr bwMode="auto">
            <a:xfrm>
              <a:off x="5610556" y="3615309"/>
              <a:ext cx="2423740" cy="553998"/>
              <a:chOff x="5882285" y="3615309"/>
              <a:chExt cx="2423740" cy="553998"/>
            </a:xfrm>
          </p:grpSpPr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285" y="3615309"/>
                <a:ext cx="2423740" cy="553998"/>
              </a:xfrm>
              <a:prstGeom prst="rect">
                <a:avLst/>
              </a:prstGeom>
              <a:blipFill rotWithShape="0">
                <a:blip r:embed="rId8"/>
                <a:stretch>
                  <a:fillRect l="-1750" r="-3000" b="-16129"/>
                </a:stretch>
              </a:blipFill>
              <a:ln>
                <a:solidFill>
                  <a:srgbClr val="0000FF"/>
                </a:solidFill>
                <a:prstDash val="sysDash"/>
              </a:ln>
            </p:spPr>
            <p:txBody>
              <a:bodyPr/>
              <a:lstStyle/>
              <a:p>
                <a:pPr>
                  <a:defRPr/>
                </a:pPr>
                <a:r>
                  <a:rPr lang="zh-CN" altLang="en-US">
                    <a:noFill/>
                  </a:rPr>
                  <a:t> </a:t>
                </a:r>
              </a:p>
            </p:txBody>
          </p:sp>
          <p:cxnSp>
            <p:nvCxnSpPr>
              <p:cNvPr id="22" name="直接连接符 21"/>
              <p:cNvCxnSpPr>
                <a:stCxn id="11" idx="1"/>
                <a:endCxn id="11" idx="3"/>
              </p:cNvCxnSpPr>
              <p:nvPr/>
            </p:nvCxnSpPr>
            <p:spPr>
              <a:xfrm>
                <a:off x="5881521" y="3893272"/>
                <a:ext cx="2425064" cy="0"/>
              </a:xfrm>
              <a:prstGeom prst="line">
                <a:avLst/>
              </a:prstGeom>
              <a:ln>
                <a:solidFill>
                  <a:srgbClr val="0000FF"/>
                </a:solidFill>
                <a:prstDash val="sys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左箭头 27"/>
          <p:cNvSpPr/>
          <p:nvPr/>
        </p:nvSpPr>
        <p:spPr>
          <a:xfrm>
            <a:off x="8101013" y="3440113"/>
            <a:ext cx="461962" cy="23971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400" b="1" dirty="0">
                <a:solidFill>
                  <a:srgbClr val="0000FF"/>
                </a:solidFill>
              </a:rPr>
              <a:t>先</a:t>
            </a:r>
          </a:p>
        </p:txBody>
      </p:sp>
      <p:sp>
        <p:nvSpPr>
          <p:cNvPr id="29" name="左箭头 28"/>
          <p:cNvSpPr/>
          <p:nvPr/>
        </p:nvSpPr>
        <p:spPr>
          <a:xfrm>
            <a:off x="8101013" y="3756025"/>
            <a:ext cx="461962" cy="252413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400" b="1" dirty="0">
                <a:solidFill>
                  <a:srgbClr val="0000FF"/>
                </a:solidFill>
              </a:rPr>
              <a:t>同理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925" y="4232275"/>
            <a:ext cx="35861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388" y="4538663"/>
            <a:ext cx="36353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/>
          <p:cNvSpPr/>
          <p:nvPr/>
        </p:nvSpPr>
        <p:spPr>
          <a:xfrm>
            <a:off x="395535" y="2565688"/>
            <a:ext cx="4905127" cy="2460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defRPr/>
            </a:pP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状态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1</a:t>
            </a:r>
            <a:endParaRPr lang="zh-CN" altLang="en-US" sz="1600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23" name="图片 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63" y="139700"/>
            <a:ext cx="1674812" cy="1338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文本框 3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3515" y="1088325"/>
            <a:ext cx="4176464" cy="276999"/>
          </a:xfrm>
          <a:prstGeom prst="rect">
            <a:avLst/>
          </a:prstGeom>
          <a:blipFill rotWithShape="0">
            <a:blip r:embed="rId12"/>
            <a:stretch>
              <a:fillRect l="-3212" t="-33333" r="-1460" b="-4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6995912" y="1399184"/>
            <a:ext cx="648072" cy="28674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第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1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5480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21" grpId="0" animBg="1"/>
      <p:bldP spid="2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374491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20713"/>
            <a:ext cx="5735638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40200" y="3429000"/>
            <a:ext cx="4679950" cy="1046440"/>
          </a:xfrm>
          <a:prstGeom prst="rect">
            <a:avLst/>
          </a:prstGeom>
          <a:blipFill rotWithShape="0">
            <a:blip r:embed="rId4"/>
            <a:stretch>
              <a:fillRect l="-3125" t="-8772" r="-2995" b="-1286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140200" y="2205038"/>
            <a:ext cx="4679950" cy="858837"/>
            <a:chOff x="4140200" y="2205038"/>
            <a:chExt cx="4679950" cy="859586"/>
          </a:xfrm>
        </p:grpSpPr>
        <p:sp>
          <p:nvSpPr>
            <p:cNvPr id="6" name="文本框 5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4140200" y="2205038"/>
              <a:ext cx="4679950" cy="307886"/>
            </a:xfrm>
            <a:prstGeom prst="rect">
              <a:avLst/>
            </a:prstGeom>
            <a:blipFill rotWithShape="0">
              <a:blip r:embed="rId5"/>
              <a:stretch>
                <a:fillRect l="-3125" t="-30000" r="-2604" b="-48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2" name="文本框 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246504" y="2695292"/>
              <a:ext cx="2467342" cy="369332"/>
            </a:xfrm>
            <a:prstGeom prst="rect">
              <a:avLst/>
            </a:prstGeom>
            <a:blipFill rotWithShape="0">
              <a:blip r:embed="rId6"/>
              <a:stretch>
                <a:fillRect l="-1485" t="-14754" r="-2475" b="-18033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140200" y="4797425"/>
            <a:ext cx="4535488" cy="76993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marL="285750" indent="-285750">
              <a:lnSpc>
                <a:spcPts val="3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同理</a:t>
            </a:r>
            <a:r>
              <a:rPr lang="zh-CN" altLang="en-US" sz="2000" b="1" dirty="0">
                <a:latin typeface="+mn-ea"/>
                <a:ea typeface="+mn-ea"/>
              </a:rPr>
              <a:t>，计算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其它前提约束谓词</a:t>
            </a:r>
            <a:r>
              <a:rPr lang="zh-CN" altLang="en-US" sz="2000" b="1" dirty="0">
                <a:latin typeface="+mn-ea"/>
                <a:ea typeface="+mn-ea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信息增益值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282575" y="2606675"/>
            <a:ext cx="3786188" cy="204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状态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1</a:t>
            </a:r>
            <a:endParaRPr lang="zh-CN" altLang="en-US" dirty="0">
              <a:solidFill>
                <a:srgbClr val="0000FF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849023" y="1745830"/>
                <a:ext cx="3117841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𝑴𝒐𝒕𝒉𝒆𝒓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𝑭𝒂𝒕𝒉𝒆𝒓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023" y="1745830"/>
                <a:ext cx="3117841" cy="276999"/>
              </a:xfrm>
              <a:prstGeom prst="rect">
                <a:avLst/>
              </a:prstGeom>
              <a:blipFill>
                <a:blip r:embed="rId7"/>
                <a:stretch>
                  <a:fillRect l="-778" r="-1556" b="-33333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标注 4"/>
          <p:cNvSpPr/>
          <p:nvPr/>
        </p:nvSpPr>
        <p:spPr bwMode="auto">
          <a:xfrm>
            <a:off x="6850486" y="554944"/>
            <a:ext cx="1825202" cy="792088"/>
          </a:xfrm>
          <a:prstGeom prst="wedgeRoundRectCallout">
            <a:avLst>
              <a:gd name="adj1" fmla="val -82315"/>
              <a:gd name="adj2" fmla="val -3302"/>
              <a:gd name="adj3" fmla="val 1666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原有规则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前提约束谓词为“空”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在训练集中覆盖“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正、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4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反”</a:t>
            </a:r>
          </a:p>
        </p:txBody>
      </p:sp>
    </p:spTree>
    <p:extLst>
      <p:ext uri="{BB962C8B-B14F-4D97-AF65-F5344CB8AC3E}">
        <p14:creationId xmlns:p14="http://schemas.microsoft.com/office/powerpoint/2010/main" val="51388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41402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683569" y="5035550"/>
            <a:ext cx="3780482" cy="2174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状态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14</a:t>
            </a:r>
            <a:endParaRPr lang="zh-CN" altLang="en-US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2458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88913"/>
            <a:ext cx="4017963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/>
          <p:cNvSpPr txBox="1"/>
          <p:nvPr/>
        </p:nvSpPr>
        <p:spPr>
          <a:xfrm>
            <a:off x="4114800" y="2971800"/>
            <a:ext cx="0" cy="369888"/>
          </a:xfrm>
          <a:prstGeom prst="rect">
            <a:avLst/>
          </a:prstGeom>
          <a:blipFill rotWithShape="0">
            <a:blip r:embed="rId4"/>
            <a:stretch>
              <a:fillRect l="-1438" t="-7407" r="-681" b="-10582"/>
            </a:stretch>
          </a:blipFill>
        </p:spPr>
        <p:txBody>
          <a:bodyPr wrap="none" lIns="0" tIns="0" rIns="0" bIns="0">
            <a:spAutoFit/>
          </a:bodyPr>
          <a:lstStyle/>
          <a:p>
            <a:pPr>
              <a:defRPr/>
            </a:pPr>
            <a:endParaRPr lang="zh-CN" altLang="en-US" i="1" dirty="0">
              <a:noFill/>
              <a:latin typeface="Cambria Math" panose="02040503050406030204" pitchFamily="18" charset="0"/>
            </a:endParaRPr>
          </a:p>
        </p:txBody>
      </p:sp>
      <p:sp>
        <p:nvSpPr>
          <p:cNvPr id="22" name="文本框 2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66220" y="1916832"/>
            <a:ext cx="4068712" cy="1538883"/>
          </a:xfrm>
          <a:prstGeom prst="rect">
            <a:avLst/>
          </a:prstGeom>
          <a:blipFill rotWithShape="0">
            <a:blip r:embed="rId5"/>
            <a:stretch>
              <a:fillRect l="-2849" t="-3557" r="-3298" b="-395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23" name="文本框 2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66220" y="3659588"/>
            <a:ext cx="4182244" cy="1593450"/>
          </a:xfrm>
          <a:prstGeom prst="rect">
            <a:avLst/>
          </a:prstGeom>
          <a:blipFill rotWithShape="0">
            <a:blip r:embed="rId6"/>
            <a:stretch>
              <a:fillRect l="-2770" t="-2290" r="-437" b="-80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矩形 7"/>
          <p:cNvSpPr/>
          <p:nvPr/>
        </p:nvSpPr>
        <p:spPr>
          <a:xfrm>
            <a:off x="685448" y="3532372"/>
            <a:ext cx="3780482" cy="2174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状态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6</a:t>
            </a:r>
            <a:endParaRPr lang="zh-CN" altLang="en-US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3568" y="4651672"/>
            <a:ext cx="3780482" cy="2174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状态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12</a:t>
            </a:r>
            <a:endParaRPr lang="zh-CN" altLang="en-US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03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61938"/>
            <a:ext cx="4017963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4096" y="2389715"/>
            <a:ext cx="4104456" cy="1154162"/>
          </a:xfrm>
          <a:prstGeom prst="rect">
            <a:avLst/>
          </a:prstGeom>
          <a:blipFill rotWithShape="0">
            <a:blip r:embed="rId3"/>
            <a:stretch>
              <a:fillRect l="-3566" t="-4762" b="-846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4096" y="3782941"/>
            <a:ext cx="5180392" cy="345544"/>
          </a:xfrm>
          <a:prstGeom prst="rect">
            <a:avLst/>
          </a:prstGeom>
          <a:blipFill rotWithShape="0">
            <a:blip r:embed="rId4"/>
            <a:stretch>
              <a:fillRect l="-2824" t="-16071" r="-3765" b="-4285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3784600" y="4437063"/>
            <a:ext cx="4981575" cy="952500"/>
            <a:chOff x="3784096" y="4367549"/>
            <a:chExt cx="4982411" cy="953240"/>
          </a:xfrm>
        </p:grpSpPr>
        <p:pic>
          <p:nvPicPr>
            <p:cNvPr id="25611" name="图片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5987" y="4869160"/>
              <a:ext cx="4680520" cy="45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2" name="文本框 14"/>
            <p:cNvSpPr txBox="1">
              <a:spLocks noChangeArrowheads="1"/>
            </p:cNvSpPr>
            <p:nvPr/>
          </p:nvSpPr>
          <p:spPr bwMode="auto">
            <a:xfrm>
              <a:off x="3784096" y="4367549"/>
              <a:ext cx="2084048" cy="3847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2857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ts val="3000"/>
                </a:lnSpc>
                <a:buClr>
                  <a:srgbClr val="FF0000"/>
                </a:buClr>
                <a:buFont typeface="Wingdings" panose="05000000000000000000" pitchFamily="2" charset="2"/>
                <a:buChar char="p"/>
              </a:pPr>
              <a:r>
                <a:rPr lang="zh-CN" altLang="en-US" sz="2000" b="1"/>
                <a:t>代入增益公式：</a:t>
              </a:r>
              <a:endParaRPr lang="en-US" altLang="zh-CN" sz="2000" b="1"/>
            </a:p>
          </p:txBody>
        </p:sp>
      </p:grpSp>
      <p:grpSp>
        <p:nvGrpSpPr>
          <p:cNvPr id="25606" name="组合 17"/>
          <p:cNvGrpSpPr>
            <a:grpSpLocks/>
          </p:cNvGrpSpPr>
          <p:nvPr/>
        </p:nvGrpSpPr>
        <p:grpSpPr bwMode="auto">
          <a:xfrm>
            <a:off x="328613" y="1876425"/>
            <a:ext cx="3459162" cy="4103688"/>
            <a:chOff x="328231" y="1875997"/>
            <a:chExt cx="3459445" cy="4104456"/>
          </a:xfrm>
        </p:grpSpPr>
        <p:pic>
          <p:nvPicPr>
            <p:cNvPr id="25609" name="图片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231" y="1875997"/>
              <a:ext cx="3438663" cy="410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矩形 15"/>
            <p:cNvSpPr/>
            <p:nvPr/>
          </p:nvSpPr>
          <p:spPr>
            <a:xfrm>
              <a:off x="467173" y="5019835"/>
              <a:ext cx="3320503" cy="2254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dirty="0">
                  <a:solidFill>
                    <a:srgbClr val="0000FF"/>
                  </a:solidFill>
                  <a:latin typeface="+mn-ea"/>
                </a:rPr>
                <a:t>状态</a:t>
              </a:r>
              <a:r>
                <a:rPr lang="en-US" altLang="zh-CN" dirty="0">
                  <a:solidFill>
                    <a:srgbClr val="0000FF"/>
                  </a:solidFill>
                  <a:latin typeface="+mn-ea"/>
                </a:rPr>
                <a:t>14</a:t>
              </a:r>
              <a:endParaRPr lang="zh-CN" altLang="en-US" dirty="0">
                <a:solidFill>
                  <a:srgbClr val="0000FF"/>
                </a:solidFill>
                <a:latin typeface="+mn-ea"/>
              </a:endParaRPr>
            </a:p>
          </p:txBody>
        </p:sp>
      </p:grp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24155" y="1735748"/>
            <a:ext cx="4100274" cy="477054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900113" y="692150"/>
            <a:ext cx="3671887" cy="433388"/>
          </a:xfrm>
          <a:prstGeom prst="wedgeRoundRectCallout">
            <a:avLst>
              <a:gd name="adj1" fmla="val 43980"/>
              <a:gd name="adj2" fmla="val 216423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，此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规则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的信息增益值为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1.32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9387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组合 7"/>
          <p:cNvGrpSpPr>
            <a:grpSpLocks/>
          </p:cNvGrpSpPr>
          <p:nvPr/>
        </p:nvGrpSpPr>
        <p:grpSpPr bwMode="auto">
          <a:xfrm>
            <a:off x="328613" y="1835150"/>
            <a:ext cx="3438525" cy="4103688"/>
            <a:chOff x="328231" y="1875997"/>
            <a:chExt cx="3438663" cy="4104456"/>
          </a:xfrm>
        </p:grpSpPr>
        <p:pic>
          <p:nvPicPr>
            <p:cNvPr id="26636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231" y="1875997"/>
              <a:ext cx="3438663" cy="410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467168" y="5019835"/>
              <a:ext cx="3288613" cy="2254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dirty="0">
                  <a:solidFill>
                    <a:srgbClr val="0000FF"/>
                  </a:solidFill>
                  <a:latin typeface="+mn-ea"/>
                </a:rPr>
                <a:t>状态</a:t>
              </a:r>
              <a:r>
                <a:rPr lang="en-US" altLang="zh-CN" dirty="0">
                  <a:solidFill>
                    <a:srgbClr val="0000FF"/>
                  </a:solidFill>
                  <a:latin typeface="+mn-ea"/>
                </a:rPr>
                <a:t>14</a:t>
              </a:r>
              <a:endParaRPr lang="zh-CN" altLang="en-US" dirty="0">
                <a:solidFill>
                  <a:srgbClr val="0000FF"/>
                </a:solidFill>
                <a:latin typeface="+mn-ea"/>
              </a:endParaRPr>
            </a:p>
          </p:txBody>
        </p:sp>
      </p:grpSp>
      <p:pic>
        <p:nvPicPr>
          <p:cNvPr id="26627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119063"/>
            <a:ext cx="4716463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7092950" y="815975"/>
            <a:ext cx="1800225" cy="534988"/>
            <a:chOff x="7092280" y="816659"/>
            <a:chExt cx="1800929" cy="5345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7092280" y="1351159"/>
              <a:ext cx="1800929" cy="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7092280" y="1094219"/>
              <a:ext cx="1800929" cy="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092280" y="816659"/>
              <a:ext cx="1800929" cy="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77385" y="1716093"/>
            <a:ext cx="4981469" cy="800219"/>
          </a:xfrm>
          <a:prstGeom prst="rect">
            <a:avLst/>
          </a:prstGeom>
          <a:blipFill rotWithShape="0">
            <a:blip r:embed="rId4"/>
            <a:stretch>
              <a:fillRect l="-2326" t="-9924" r="-612" b="-1450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文本框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91224" y="2643825"/>
            <a:ext cx="3797819" cy="800219"/>
          </a:xfrm>
          <a:prstGeom prst="rect">
            <a:avLst/>
          </a:prstGeom>
          <a:blipFill rotWithShape="0">
            <a:blip r:embed="rId5"/>
            <a:stretch>
              <a:fillRect l="-3050" t="-9924" b="-13740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22" name="文本框 2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66995" y="3564712"/>
            <a:ext cx="4981468" cy="1292662"/>
          </a:xfrm>
          <a:prstGeom prst="rect">
            <a:avLst/>
          </a:prstGeom>
          <a:blipFill rotWithShape="0">
            <a:blip r:embed="rId6"/>
            <a:stretch>
              <a:fillRect l="-2326" t="-6132" r="-2081" b="-8491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23" name="文本框 2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0833" y="4935687"/>
            <a:ext cx="3455464" cy="1046440"/>
          </a:xfrm>
          <a:prstGeom prst="rect">
            <a:avLst/>
          </a:prstGeom>
          <a:blipFill rotWithShape="0">
            <a:blip r:embed="rId7"/>
            <a:stretch>
              <a:fillRect l="-3351" t="-7602" r="-529" b="-1052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9552" y="886491"/>
            <a:ext cx="3509838" cy="56425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176213" indent="-176213">
              <a:lnSpc>
                <a:spcPts val="22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轮计算结束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，将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12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14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增益值排序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取最大值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72707" y="3532372"/>
            <a:ext cx="3126245" cy="1299844"/>
            <a:chOff x="472707" y="3532372"/>
            <a:chExt cx="3126245" cy="1299844"/>
          </a:xfrm>
        </p:grpSpPr>
        <p:sp>
          <p:nvSpPr>
            <p:cNvPr id="21" name="矩形 20"/>
            <p:cNvSpPr/>
            <p:nvPr/>
          </p:nvSpPr>
          <p:spPr>
            <a:xfrm>
              <a:off x="474587" y="3532372"/>
              <a:ext cx="3124365" cy="21748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dirty="0">
                  <a:solidFill>
                    <a:srgbClr val="0000FF"/>
                  </a:solidFill>
                  <a:latin typeface="+mn-ea"/>
                </a:rPr>
                <a:t>状态</a:t>
              </a:r>
              <a:r>
                <a:rPr lang="en-US" altLang="zh-CN" dirty="0">
                  <a:solidFill>
                    <a:srgbClr val="0000FF"/>
                  </a:solidFill>
                  <a:latin typeface="+mn-ea"/>
                </a:rPr>
                <a:t>6</a:t>
              </a:r>
              <a:endParaRPr lang="zh-CN" altLang="en-US" dirty="0">
                <a:solidFill>
                  <a:srgbClr val="0000FF"/>
                </a:solidFill>
                <a:latin typeface="+mn-e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72707" y="4614728"/>
              <a:ext cx="3124365" cy="21748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dirty="0">
                  <a:solidFill>
                    <a:srgbClr val="0000FF"/>
                  </a:solidFill>
                  <a:latin typeface="+mn-ea"/>
                </a:rPr>
                <a:t>状态</a:t>
              </a:r>
              <a:r>
                <a:rPr lang="en-US" altLang="zh-CN" dirty="0">
                  <a:solidFill>
                    <a:srgbClr val="0000FF"/>
                  </a:solidFill>
                  <a:latin typeface="+mn-ea"/>
                </a:rPr>
                <a:t>12</a:t>
              </a:r>
              <a:endParaRPr lang="zh-CN" altLang="en-US" dirty="0">
                <a:solidFill>
                  <a:srgbClr val="0000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7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1825" y="779605"/>
            <a:ext cx="2787650" cy="750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lnSpc>
                <a:spcPts val="3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迭代：继续第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轮计算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ts val="3000"/>
              </a:lnSpc>
              <a:defRPr/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将其它约束谓词</a:t>
            </a:r>
            <a:r>
              <a:rPr lang="zh-CN" altLang="en-US" sz="1800" b="1" u="wavyHeavy" dirty="0">
                <a:solidFill>
                  <a:schemeClr val="tx1"/>
                </a:solidFill>
                <a:latin typeface="+mn-ea"/>
              </a:rPr>
              <a:t>加入前提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7651" name="组合 8"/>
          <p:cNvGrpSpPr>
            <a:grpSpLocks/>
          </p:cNvGrpSpPr>
          <p:nvPr/>
        </p:nvGrpSpPr>
        <p:grpSpPr bwMode="auto">
          <a:xfrm>
            <a:off x="323850" y="1844675"/>
            <a:ext cx="4332289" cy="3887788"/>
            <a:chOff x="323528" y="1844824"/>
            <a:chExt cx="4332605" cy="3888432"/>
          </a:xfrm>
        </p:grpSpPr>
        <p:pic>
          <p:nvPicPr>
            <p:cNvPr id="27664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844824"/>
              <a:ext cx="4332604" cy="3888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/>
            <p:cNvSpPr/>
            <p:nvPr/>
          </p:nvSpPr>
          <p:spPr>
            <a:xfrm>
              <a:off x="323529" y="3786081"/>
              <a:ext cx="4332604" cy="1659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zh-CN" dirty="0">
                  <a:solidFill>
                    <a:srgbClr val="0000FF"/>
                  </a:solidFill>
                  <a:latin typeface="+mn-ea"/>
                </a:rPr>
                <a:t>2</a:t>
              </a:r>
              <a:r>
                <a:rPr lang="zh-CN" altLang="en-US" dirty="0">
                  <a:solidFill>
                    <a:srgbClr val="0000FF"/>
                  </a:solidFill>
                  <a:latin typeface="+mn-ea"/>
                </a:rPr>
                <a:t>轮状</a:t>
              </a:r>
              <a:r>
                <a:rPr lang="en-US" altLang="zh-CN" dirty="0">
                  <a:solidFill>
                    <a:srgbClr val="0000FF"/>
                  </a:solidFill>
                  <a:latin typeface="+mn-ea"/>
                </a:rPr>
                <a:t>6</a:t>
              </a:r>
              <a:endParaRPr lang="zh-CN" altLang="en-US" dirty="0">
                <a:solidFill>
                  <a:srgbClr val="0000FF"/>
                </a:solidFill>
                <a:latin typeface="+mn-ea"/>
              </a:endParaRP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4691063" y="3433763"/>
            <a:ext cx="4143375" cy="1147762"/>
            <a:chOff x="4690376" y="3177326"/>
            <a:chExt cx="4144364" cy="1148087"/>
          </a:xfrm>
        </p:grpSpPr>
        <p:sp>
          <p:nvSpPr>
            <p:cNvPr id="14" name="文本框 1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690376" y="3177326"/>
              <a:ext cx="4144364" cy="692497"/>
            </a:xfrm>
            <a:prstGeom prst="rect">
              <a:avLst/>
            </a:prstGeom>
            <a:blipFill rotWithShape="0">
              <a:blip r:embed="rId3"/>
              <a:stretch>
                <a:fillRect l="-3088" t="-8850" r="-294" b="-12389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5" name="文本框 14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530846" y="3953002"/>
              <a:ext cx="2625206" cy="372411"/>
            </a:xfrm>
            <a:prstGeom prst="rect">
              <a:avLst/>
            </a:prstGeom>
            <a:blipFill rotWithShape="0">
              <a:blip r:embed="rId4"/>
              <a:stretch>
                <a:fillRect l="-1856" r="-3248" b="-14754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719638" y="4897438"/>
            <a:ext cx="3740150" cy="6445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27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此时</a:t>
            </a:r>
            <a:r>
              <a:rPr lang="zh-CN" altLang="en-US" sz="1800" b="1" dirty="0">
                <a:latin typeface="+mn-ea"/>
                <a:ea typeface="+mn-ea"/>
              </a:rPr>
              <a:t>，推理规则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</a:rPr>
              <a:t>不覆盖</a:t>
            </a:r>
            <a:r>
              <a:rPr lang="zh-CN" altLang="en-US" sz="1800" b="1" u="wavyHeavy" dirty="0">
                <a:latin typeface="+mn-ea"/>
                <a:ea typeface="+mn-ea"/>
              </a:rPr>
              <a:t>任意反例</a:t>
            </a:r>
            <a:r>
              <a:rPr lang="zh-CN" altLang="en-US" sz="1800" b="1" dirty="0">
                <a:latin typeface="+mn-ea"/>
                <a:ea typeface="+mn-ea"/>
              </a:rPr>
              <a:t>，因而，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算法学习过程结束</a:t>
            </a:r>
            <a:r>
              <a:rPr lang="zh-CN" altLang="en-US" sz="1800" b="1" dirty="0">
                <a:latin typeface="+mn-ea"/>
                <a:ea typeface="+mn-ea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4719638" y="1808163"/>
            <a:ext cx="3956050" cy="1398587"/>
            <a:chOff x="4719638" y="1807631"/>
            <a:chExt cx="3956818" cy="1398528"/>
          </a:xfrm>
        </p:grpSpPr>
        <p:sp>
          <p:nvSpPr>
            <p:cNvPr id="19" name="文本框 18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719638" y="1807631"/>
              <a:ext cx="3956818" cy="1038746"/>
            </a:xfrm>
            <a:prstGeom prst="rect">
              <a:avLst/>
            </a:prstGeom>
            <a:blipFill rotWithShape="0">
              <a:blip r:embed="rId5"/>
              <a:stretch>
                <a:fillRect l="-2619" t="-5882" r="-1541" b="-8235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pic>
          <p:nvPicPr>
            <p:cNvPr id="27661" name="图片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660" y="2900347"/>
              <a:ext cx="3757118" cy="305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655" name="图片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119063"/>
            <a:ext cx="4716463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6" name="组合 20"/>
          <p:cNvGrpSpPr>
            <a:grpSpLocks/>
          </p:cNvGrpSpPr>
          <p:nvPr/>
        </p:nvGrpSpPr>
        <p:grpSpPr bwMode="auto">
          <a:xfrm>
            <a:off x="7092950" y="815975"/>
            <a:ext cx="1800225" cy="534988"/>
            <a:chOff x="7092280" y="816659"/>
            <a:chExt cx="1800929" cy="534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7092280" y="1351159"/>
              <a:ext cx="1800929" cy="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092280" y="1094219"/>
              <a:ext cx="1800929" cy="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092280" y="816659"/>
              <a:ext cx="1800929" cy="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 bwMode="auto">
          <a:xfrm>
            <a:off x="530316" y="2910161"/>
            <a:ext cx="1368152" cy="168035"/>
          </a:xfrm>
          <a:prstGeom prst="rect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83568" y="169168"/>
                <a:ext cx="2807865" cy="56425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 marL="176213" indent="-176213">
                  <a:lnSpc>
                    <a:spcPts val="22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轮计算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后，得到新规则：</a:t>
                </a:r>
                <a:endParaRPr lang="en-US" altLang="zh-CN" sz="16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200"/>
                  </a:lnSpc>
                  <a:buClr>
                    <a:srgbClr val="FF0000"/>
                  </a:buClr>
                  <a:buSzPct val="8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𝑪𝒐𝒖𝒑𝒍𝒆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𝒛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)→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𝑭𝒂𝒕𝒉𝒆𝒓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b="1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69168"/>
                <a:ext cx="2807865" cy="564257"/>
              </a:xfrm>
              <a:prstGeom prst="rect">
                <a:avLst/>
              </a:prstGeom>
              <a:blipFill>
                <a:blip r:embed="rId8"/>
                <a:stretch>
                  <a:fillRect l="-3024" t="-10638" r="-2376" b="-10638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37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32125"/>
            <a:ext cx="2252663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下箭头 9"/>
          <p:cNvSpPr/>
          <p:nvPr/>
        </p:nvSpPr>
        <p:spPr>
          <a:xfrm>
            <a:off x="5219700" y="3925888"/>
            <a:ext cx="360363" cy="360362"/>
          </a:xfrm>
          <a:prstGeom prst="downArrow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8676" name="组合 26"/>
          <p:cNvGrpSpPr>
            <a:grpSpLocks/>
          </p:cNvGrpSpPr>
          <p:nvPr/>
        </p:nvGrpSpPr>
        <p:grpSpPr bwMode="auto">
          <a:xfrm>
            <a:off x="2316163" y="2198688"/>
            <a:ext cx="6143625" cy="1406525"/>
            <a:chOff x="1814185" y="2420888"/>
            <a:chExt cx="6142191" cy="1407600"/>
          </a:xfrm>
        </p:grpSpPr>
        <p:sp>
          <p:nvSpPr>
            <p:cNvPr id="4" name="文本框 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835696" y="2420888"/>
              <a:ext cx="6120680" cy="369332"/>
            </a:xfrm>
            <a:prstGeom prst="rect">
              <a:avLst/>
            </a:prstGeom>
            <a:blipFill rotWithShape="0">
              <a:blip r:embed="rId3"/>
              <a:stretch>
                <a:fillRect l="-1892" r="-996" b="-40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grpSp>
          <p:nvGrpSpPr>
            <p:cNvPr id="28680" name="组合 25"/>
            <p:cNvGrpSpPr>
              <a:grpSpLocks/>
            </p:cNvGrpSpPr>
            <p:nvPr/>
          </p:nvGrpSpPr>
          <p:grpSpPr bwMode="auto">
            <a:xfrm>
              <a:off x="1814185" y="2863327"/>
              <a:ext cx="3816870" cy="965161"/>
              <a:chOff x="1814185" y="2863327"/>
              <a:chExt cx="3816870" cy="965161"/>
            </a:xfrm>
          </p:grpSpPr>
          <p:cxnSp>
            <p:nvCxnSpPr>
              <p:cNvPr id="19" name="直接连接符 18"/>
              <p:cNvCxnSpPr/>
              <p:nvPr/>
            </p:nvCxnSpPr>
            <p:spPr bwMode="auto">
              <a:xfrm>
                <a:off x="1814185" y="2862550"/>
                <a:ext cx="3817046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28687" name="组合 6"/>
              <p:cNvGrpSpPr>
                <a:grpSpLocks/>
              </p:cNvGrpSpPr>
              <p:nvPr/>
            </p:nvGrpSpPr>
            <p:grpSpPr bwMode="auto">
              <a:xfrm>
                <a:off x="3019002" y="2996952"/>
                <a:ext cx="1584171" cy="831536"/>
                <a:chOff x="2853664" y="2658248"/>
                <a:chExt cx="1584176" cy="831418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2855066" y="2903514"/>
                  <a:ext cx="1582372" cy="586152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前提约束谓词</a:t>
                  </a:r>
                  <a:endParaRPr lang="en-US" altLang="zh-CN" sz="2000" b="1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  <a:p>
                  <a:pPr algn="ctr">
                    <a:defRPr/>
                  </a:pPr>
                  <a:r>
                    <a:rPr lang="en-US" altLang="zh-CN" sz="1800" b="1" dirty="0">
                      <a:latin typeface="+mn-ea"/>
                      <a:ea typeface="+mn-ea"/>
                    </a:rPr>
                    <a:t>(</a:t>
                  </a:r>
                  <a:r>
                    <a:rPr lang="zh-CN" altLang="en-US" sz="1800" b="1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学习得到</a:t>
                  </a:r>
                  <a:r>
                    <a:rPr lang="en-US" altLang="zh-CN" sz="1800" b="1" dirty="0">
                      <a:latin typeface="+mn-ea"/>
                      <a:ea typeface="+mn-ea"/>
                    </a:rPr>
                    <a:t>)</a:t>
                  </a:r>
                  <a:endParaRPr lang="zh-CN" altLang="en-US" sz="1800" b="1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22" name="上箭头 21"/>
                <p:cNvSpPr/>
                <p:nvPr/>
              </p:nvSpPr>
              <p:spPr>
                <a:xfrm>
                  <a:off x="3528011" y="2652532"/>
                  <a:ext cx="215850" cy="220800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  <p:grpSp>
          <p:nvGrpSpPr>
            <p:cNvPr id="28681" name="组合 24"/>
            <p:cNvGrpSpPr>
              <a:grpSpLocks/>
            </p:cNvGrpSpPr>
            <p:nvPr/>
          </p:nvGrpSpPr>
          <p:grpSpPr bwMode="auto">
            <a:xfrm>
              <a:off x="6145840" y="2862598"/>
              <a:ext cx="1635347" cy="957288"/>
              <a:chOff x="6145840" y="2862598"/>
              <a:chExt cx="1635347" cy="957288"/>
            </a:xfrm>
          </p:grpSpPr>
          <p:grpSp>
            <p:nvGrpSpPr>
              <p:cNvPr id="28682" name="组合 10"/>
              <p:cNvGrpSpPr>
                <a:grpSpLocks/>
              </p:cNvGrpSpPr>
              <p:nvPr/>
            </p:nvGrpSpPr>
            <p:grpSpPr bwMode="auto">
              <a:xfrm>
                <a:off x="6389599" y="2988350"/>
                <a:ext cx="1152125" cy="831536"/>
                <a:chOff x="6406868" y="2658248"/>
                <a:chExt cx="1152128" cy="831418"/>
              </a:xfrm>
            </p:grpSpPr>
            <p:sp>
              <p:nvSpPr>
                <p:cNvPr id="17" name="文本框 16"/>
                <p:cNvSpPr txBox="1"/>
                <p:nvPr/>
              </p:nvSpPr>
              <p:spPr>
                <a:xfrm>
                  <a:off x="6407148" y="2904172"/>
                  <a:ext cx="1152259" cy="586151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目标谓词</a:t>
                  </a:r>
                  <a:endParaRPr lang="en-US" altLang="zh-CN" sz="2000" b="1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  <a:p>
                  <a:pPr algn="ctr">
                    <a:defRPr/>
                  </a:pPr>
                  <a:r>
                    <a:rPr lang="en-US" altLang="zh-CN" sz="1800" b="1" dirty="0">
                      <a:latin typeface="+mn-ea"/>
                      <a:ea typeface="+mn-ea"/>
                    </a:rPr>
                    <a:t>(</a:t>
                  </a:r>
                  <a:r>
                    <a:rPr lang="zh-CN" altLang="en-US" sz="1800" b="1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已知</a:t>
                  </a:r>
                  <a:r>
                    <a:rPr lang="en-US" altLang="zh-CN" sz="1800" b="1" dirty="0">
                      <a:latin typeface="+mn-ea"/>
                      <a:ea typeface="+mn-ea"/>
                    </a:rPr>
                    <a:t>)</a:t>
                  </a:r>
                  <a:endParaRPr lang="zh-CN" altLang="en-US" sz="1800" b="1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8" name="上箭头 17"/>
                <p:cNvSpPr/>
                <p:nvPr/>
              </p:nvSpPr>
              <p:spPr>
                <a:xfrm>
                  <a:off x="6875353" y="2657956"/>
                  <a:ext cx="215850" cy="216034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16" name="直接连接符 15"/>
              <p:cNvCxnSpPr/>
              <p:nvPr/>
            </p:nvCxnSpPr>
            <p:spPr bwMode="auto">
              <a:xfrm flipV="1">
                <a:off x="6145461" y="2862550"/>
                <a:ext cx="1636331" cy="1588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本框 1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30622" y="4574158"/>
            <a:ext cx="4537509" cy="1231106"/>
          </a:xfrm>
          <a:prstGeom prst="rect">
            <a:avLst/>
          </a:prstGeom>
          <a:blipFill rotWithShape="0">
            <a:blip r:embed="rId4"/>
            <a:stretch>
              <a:fillRect l="-4167" t="-9901" r="-1344" b="-1039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23307" y="952243"/>
            <a:ext cx="5189719" cy="400110"/>
          </a:xfrm>
          <a:prstGeom prst="rect">
            <a:avLst/>
          </a:prstGeom>
          <a:blipFill rotWithShape="0">
            <a:blip r:embed="rId5"/>
            <a:stretch>
              <a:fillRect l="-588" b="-1818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60650124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组合 17"/>
          <p:cNvGrpSpPr>
            <a:grpSpLocks/>
          </p:cNvGrpSpPr>
          <p:nvPr/>
        </p:nvGrpSpPr>
        <p:grpSpPr bwMode="auto">
          <a:xfrm>
            <a:off x="1042988" y="765175"/>
            <a:ext cx="6843712" cy="1408113"/>
            <a:chOff x="1256659" y="1877070"/>
            <a:chExt cx="6843733" cy="1407914"/>
          </a:xfrm>
        </p:grpSpPr>
        <p:sp>
          <p:nvSpPr>
            <p:cNvPr id="5" name="文本框 4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256659" y="1877070"/>
              <a:ext cx="6843733" cy="307777"/>
            </a:xfrm>
            <a:prstGeom prst="rect">
              <a:avLst/>
            </a:prstGeom>
            <a:blipFill rotWithShape="0">
              <a:blip r:embed="rId3"/>
              <a:stretch>
                <a:fillRect l="-623" r="-623" b="-4000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grpSp>
          <p:nvGrpSpPr>
            <p:cNvPr id="29707" name="组合 4"/>
            <p:cNvGrpSpPr>
              <a:grpSpLocks/>
            </p:cNvGrpSpPr>
            <p:nvPr/>
          </p:nvGrpSpPr>
          <p:grpSpPr bwMode="auto">
            <a:xfrm>
              <a:off x="1400675" y="2288214"/>
              <a:ext cx="4608512" cy="996770"/>
              <a:chOff x="1616699" y="2832032"/>
              <a:chExt cx="4608512" cy="996770"/>
            </a:xfrm>
          </p:grpSpPr>
          <p:cxnSp>
            <p:nvCxnSpPr>
              <p:cNvPr id="12" name="直接连接符 11"/>
              <p:cNvCxnSpPr/>
              <p:nvPr/>
            </p:nvCxnSpPr>
            <p:spPr>
              <a:xfrm>
                <a:off x="1617145" y="2831993"/>
                <a:ext cx="4608527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29714" name="组合 6"/>
              <p:cNvGrpSpPr>
                <a:grpSpLocks/>
              </p:cNvGrpSpPr>
              <p:nvPr/>
            </p:nvGrpSpPr>
            <p:grpSpPr bwMode="auto">
              <a:xfrm>
                <a:off x="3128867" y="2997384"/>
                <a:ext cx="1584176" cy="831418"/>
                <a:chOff x="2853664" y="2658248"/>
                <a:chExt cx="1584176" cy="831418"/>
              </a:xfrm>
            </p:grpSpPr>
            <p:sp>
              <p:nvSpPr>
                <p:cNvPr id="14" name="文本框 13"/>
                <p:cNvSpPr txBox="1"/>
                <p:nvPr/>
              </p:nvSpPr>
              <p:spPr>
                <a:xfrm>
                  <a:off x="2861185" y="2903961"/>
                  <a:ext cx="1576392" cy="585705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前提约束谓词</a:t>
                  </a:r>
                  <a:endParaRPr lang="en-US" altLang="zh-CN" sz="2000" b="1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  <a:p>
                  <a:pPr algn="ctr">
                    <a:defRPr/>
                  </a:pPr>
                  <a:r>
                    <a:rPr lang="en-US" altLang="zh-CN" sz="1800" b="1" dirty="0">
                      <a:latin typeface="+mn-ea"/>
                      <a:ea typeface="+mn-ea"/>
                    </a:rPr>
                    <a:t>(</a:t>
                  </a:r>
                  <a:r>
                    <a:rPr lang="zh-CN" altLang="en-US" sz="1800" b="1" dirty="0">
                      <a:latin typeface="+mn-ea"/>
                      <a:ea typeface="+mn-ea"/>
                    </a:rPr>
                    <a:t>学习得到</a:t>
                  </a:r>
                  <a:r>
                    <a:rPr lang="en-US" altLang="zh-CN" sz="1800" b="1" dirty="0">
                      <a:latin typeface="+mn-ea"/>
                      <a:ea typeface="+mn-ea"/>
                    </a:rPr>
                    <a:t>)</a:t>
                  </a:r>
                  <a:endParaRPr lang="zh-CN" altLang="en-US" sz="1800" b="1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5" name="上箭头 14"/>
                <p:cNvSpPr/>
                <p:nvPr/>
              </p:nvSpPr>
              <p:spPr>
                <a:xfrm>
                  <a:off x="3527937" y="2657934"/>
                  <a:ext cx="215901" cy="215869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  <p:grpSp>
          <p:nvGrpSpPr>
            <p:cNvPr id="29708" name="组合 9"/>
            <p:cNvGrpSpPr>
              <a:grpSpLocks/>
            </p:cNvGrpSpPr>
            <p:nvPr/>
          </p:nvGrpSpPr>
          <p:grpSpPr bwMode="auto">
            <a:xfrm>
              <a:off x="6462751" y="2288214"/>
              <a:ext cx="1368152" cy="987071"/>
              <a:chOff x="6678775" y="2832032"/>
              <a:chExt cx="1368152" cy="987071"/>
            </a:xfrm>
          </p:grpSpPr>
          <p:grpSp>
            <p:nvGrpSpPr>
              <p:cNvPr id="29709" name="组合 10"/>
              <p:cNvGrpSpPr>
                <a:grpSpLocks/>
              </p:cNvGrpSpPr>
              <p:nvPr/>
            </p:nvGrpSpPr>
            <p:grpSpPr bwMode="auto">
              <a:xfrm>
                <a:off x="6786787" y="2987685"/>
                <a:ext cx="1152128" cy="831418"/>
                <a:chOff x="6406868" y="2658248"/>
                <a:chExt cx="1152128" cy="831418"/>
              </a:xfrm>
            </p:grpSpPr>
            <p:sp>
              <p:nvSpPr>
                <p:cNvPr id="10" name="文本框 9"/>
                <p:cNvSpPr txBox="1"/>
                <p:nvPr/>
              </p:nvSpPr>
              <p:spPr>
                <a:xfrm>
                  <a:off x="6406142" y="2904136"/>
                  <a:ext cx="1152528" cy="585705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defRPr/>
                  </a:pP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目标谓词</a:t>
                  </a:r>
                  <a:endParaRPr lang="en-US" altLang="zh-CN" sz="2000" b="1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  <a:p>
                  <a:pPr algn="ctr">
                    <a:defRPr/>
                  </a:pPr>
                  <a:r>
                    <a:rPr lang="en-US" altLang="zh-CN" sz="1800" b="1" dirty="0">
                      <a:latin typeface="+mn-ea"/>
                      <a:ea typeface="+mn-ea"/>
                    </a:rPr>
                    <a:t>(</a:t>
                  </a:r>
                  <a:r>
                    <a:rPr lang="zh-CN" altLang="en-US" sz="1800" b="1" dirty="0">
                      <a:latin typeface="+mn-ea"/>
                      <a:ea typeface="+mn-ea"/>
                    </a:rPr>
                    <a:t>已知</a:t>
                  </a:r>
                  <a:r>
                    <a:rPr lang="en-US" altLang="zh-CN" sz="1800" b="1" dirty="0">
                      <a:latin typeface="+mn-ea"/>
                      <a:ea typeface="+mn-ea"/>
                    </a:rPr>
                    <a:t>)</a:t>
                  </a:r>
                  <a:endParaRPr lang="zh-CN" altLang="en-US" sz="1800" b="1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1" name="上箭头 10"/>
                <p:cNvSpPr/>
                <p:nvPr/>
              </p:nvSpPr>
              <p:spPr>
                <a:xfrm>
                  <a:off x="6874456" y="2658109"/>
                  <a:ext cx="215901" cy="215869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6678111" y="2831993"/>
                <a:ext cx="1368429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699" name="组合 22"/>
          <p:cNvGrpSpPr>
            <a:grpSpLocks/>
          </p:cNvGrpSpPr>
          <p:nvPr/>
        </p:nvGrpSpPr>
        <p:grpSpPr bwMode="auto">
          <a:xfrm>
            <a:off x="539750" y="2535238"/>
            <a:ext cx="8135938" cy="741362"/>
            <a:chOff x="611560" y="3197934"/>
            <a:chExt cx="8136904" cy="741754"/>
          </a:xfrm>
        </p:grpSpPr>
        <p:sp>
          <p:nvSpPr>
            <p:cNvPr id="19" name="文本框 18"/>
            <p:cNvSpPr txBox="1"/>
            <p:nvPr/>
          </p:nvSpPr>
          <p:spPr bwMode="auto">
            <a:xfrm>
              <a:off x="657603" y="3197934"/>
              <a:ext cx="2332314" cy="38437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marL="269875" indent="-269875">
                <a:lnSpc>
                  <a:spcPts val="3000"/>
                </a:lnSpc>
                <a:spcAft>
                  <a:spcPts val="60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FOIL</a:t>
              </a:r>
              <a:r>
                <a:rPr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的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推理思想</a:t>
              </a:r>
            </a:p>
          </p:txBody>
        </p:sp>
        <p:pic>
          <p:nvPicPr>
            <p:cNvPr id="29705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3582109"/>
              <a:ext cx="8136904" cy="357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文本框 24"/>
          <p:cNvSpPr txBox="1"/>
          <p:nvPr/>
        </p:nvSpPr>
        <p:spPr>
          <a:xfrm>
            <a:off x="4464050" y="3668713"/>
            <a:ext cx="4211638" cy="2078037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1800" b="1" dirty="0">
                <a:latin typeface="+mn-ea"/>
                <a:ea typeface="+mn-ea"/>
              </a:rPr>
              <a:t>给定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目标谓词</a:t>
            </a:r>
            <a:endParaRPr lang="en-US" altLang="zh-CN" sz="1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269875" indent="-269875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FOIL</a:t>
            </a:r>
            <a:r>
              <a:rPr lang="zh-CN" altLang="en-US" sz="1800" b="1" dirty="0">
                <a:latin typeface="+mn-ea"/>
                <a:ea typeface="+mn-ea"/>
              </a:rPr>
              <a:t>从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</a:rPr>
              <a:t>正例、反例、背景样例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1800" b="1" dirty="0">
                <a:latin typeface="+mn-ea"/>
                <a:ea typeface="+mn-ea"/>
              </a:rPr>
              <a:t>出发，不断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测试</a:t>
            </a:r>
            <a:r>
              <a:rPr lang="zh-CN" altLang="en-US" sz="1800" b="1" dirty="0">
                <a:latin typeface="+mn-ea"/>
                <a:ea typeface="+mn-ea"/>
              </a:rPr>
              <a:t>得到的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推理规则</a:t>
            </a:r>
            <a:r>
              <a:rPr lang="zh-CN" altLang="en-US" sz="1800" b="1" u="wavyDbl" dirty="0">
                <a:solidFill>
                  <a:srgbClr val="0000FF"/>
                </a:solidFill>
                <a:latin typeface="+mn-ea"/>
                <a:ea typeface="+mn-ea"/>
              </a:rPr>
              <a:t>是否包含反例</a:t>
            </a:r>
            <a:r>
              <a:rPr lang="zh-CN" altLang="en-US" sz="1800" b="1" dirty="0">
                <a:latin typeface="+mn-ea"/>
                <a:ea typeface="+mn-ea"/>
              </a:rPr>
              <a:t>，一旦得到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新推理规则</a:t>
            </a:r>
            <a:r>
              <a:rPr lang="zh-CN" altLang="en-US" sz="1800" b="1" dirty="0">
                <a:latin typeface="+mn-ea"/>
                <a:ea typeface="+mn-ea"/>
              </a:rPr>
              <a:t>已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不包含反例</a:t>
            </a:r>
            <a:r>
              <a:rPr lang="zh-CN" altLang="en-US" sz="1800" b="1" dirty="0">
                <a:latin typeface="+mn-ea"/>
                <a:ea typeface="+mn-ea"/>
              </a:rPr>
              <a:t>，则学习过程结束。</a:t>
            </a:r>
            <a:endParaRPr lang="en-US" altLang="zh-CN" sz="1800" b="1" dirty="0">
              <a:latin typeface="+mn-ea"/>
              <a:ea typeface="+mn-ea"/>
            </a:endParaRPr>
          </a:p>
          <a:p>
            <a:pPr marL="269875" indent="-269875">
              <a:lnSpc>
                <a:spcPts val="25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1800" b="1" dirty="0">
                <a:latin typeface="+mn-ea"/>
                <a:ea typeface="+mn-ea"/>
              </a:rPr>
              <a:t>算法体现了“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归纳学习</a:t>
            </a:r>
            <a:r>
              <a:rPr lang="zh-CN" altLang="en-US" sz="1800" b="1" dirty="0">
                <a:latin typeface="+mn-ea"/>
                <a:ea typeface="+mn-ea"/>
              </a:rPr>
              <a:t>”的能力</a:t>
            </a:r>
          </a:p>
        </p:txBody>
      </p:sp>
      <p:grpSp>
        <p:nvGrpSpPr>
          <p:cNvPr id="29701" name="组合 1"/>
          <p:cNvGrpSpPr>
            <a:grpSpLocks/>
          </p:cNvGrpSpPr>
          <p:nvPr/>
        </p:nvGrpSpPr>
        <p:grpSpPr bwMode="auto">
          <a:xfrm>
            <a:off x="590550" y="3740150"/>
            <a:ext cx="3692525" cy="2006600"/>
            <a:chOff x="590550" y="3740426"/>
            <a:chExt cx="3692525" cy="2006324"/>
          </a:xfrm>
        </p:grpSpPr>
        <p:pic>
          <p:nvPicPr>
            <p:cNvPr id="29702" name="图片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50" y="4063082"/>
              <a:ext cx="3692525" cy="1683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矩形 19"/>
            <p:cNvSpPr/>
            <p:nvPr/>
          </p:nvSpPr>
          <p:spPr>
            <a:xfrm>
              <a:off x="1276350" y="3740426"/>
              <a:ext cx="2320925" cy="3269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>
                <a:lnSpc>
                  <a:spcPts val="3000"/>
                </a:lnSpc>
                <a:defRPr/>
              </a:pPr>
              <a:r>
                <a:rPr lang="zh-CN" altLang="en-US" sz="1800" b="1" dirty="0">
                  <a:solidFill>
                    <a:srgbClr val="0000FF"/>
                  </a:solidFill>
                  <a:latin typeface="+mn-ea"/>
                </a:rPr>
                <a:t>构造的样本集</a:t>
              </a:r>
              <a:r>
                <a:rPr lang="en-US" altLang="zh-CN" sz="1800" b="1" dirty="0">
                  <a:solidFill>
                    <a:srgbClr val="0000FF"/>
                  </a:solidFill>
                  <a:latin typeface="+mn-ea"/>
                </a:rPr>
                <a:t>(</a:t>
              </a:r>
              <a:r>
                <a:rPr lang="zh-CN" altLang="en-US" sz="1800" b="1" dirty="0">
                  <a:solidFill>
                    <a:srgbClr val="0000FF"/>
                  </a:solidFill>
                  <a:latin typeface="+mn-ea"/>
                </a:rPr>
                <a:t>数据集</a:t>
              </a:r>
              <a:r>
                <a:rPr lang="en-US" altLang="zh-CN" sz="1800" b="1" dirty="0">
                  <a:solidFill>
                    <a:srgbClr val="0000FF"/>
                  </a:solidFill>
                  <a:latin typeface="+mn-ea"/>
                </a:rPr>
                <a:t>)</a:t>
              </a:r>
              <a:endParaRPr lang="zh-CN" altLang="en-US" sz="1800" b="1" dirty="0">
                <a:solidFill>
                  <a:srgbClr val="0000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0058587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33413" y="671513"/>
            <a:ext cx="2765425" cy="7699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FOIL</a:t>
            </a:r>
            <a:r>
              <a:rPr lang="zh-CN" altLang="en-US" sz="2000" b="1" dirty="0">
                <a:latin typeface="+mn-ea"/>
                <a:ea typeface="+mn-ea"/>
              </a:rPr>
              <a:t>一阶归纳学习算法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en-US" b="1" dirty="0">
                <a:latin typeface="+mn-ea"/>
                <a:ea typeface="+mn-ea"/>
              </a:rPr>
              <a:t>完整流程</a:t>
            </a:r>
            <a:endParaRPr lang="zh-CN" altLang="en-US" sz="20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247750"/>
              </p:ext>
            </p:extLst>
          </p:nvPr>
        </p:nvGraphicFramePr>
        <p:xfrm>
          <a:off x="611188" y="1989138"/>
          <a:ext cx="7993062" cy="3352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94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955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目标谓词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18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的训练集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正样本集、负样本集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；其它背景知识样本集。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55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输出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推出“得到目标谓词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18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推理规则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55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步骤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首先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将</a:t>
                      </a:r>
                      <a:r>
                        <a:rPr lang="zh-CN" altLang="en-US" sz="18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目标谓词</a:t>
                      </a:r>
                      <a:r>
                        <a:rPr lang="en-US" altLang="zh-CN" sz="1800" b="1" u="none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作为学习推理规则的“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结论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021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步骤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spcAft>
                          <a:spcPts val="600"/>
                        </a:spcAft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①将</a:t>
                      </a:r>
                      <a:r>
                        <a:rPr lang="zh-CN" altLang="en-US" sz="1800" b="1" u="wavyDbl" baseline="0" dirty="0">
                          <a:latin typeface="+mn-ea"/>
                          <a:ea typeface="+mn-ea"/>
                        </a:rPr>
                        <a:t>其它谓词</a:t>
                      </a: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逐一作为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“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前提约束谓词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加入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推理规则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→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新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推理规则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ts val="3000"/>
                        </a:lnSpc>
                        <a:spcAft>
                          <a:spcPts val="600"/>
                        </a:spcAft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②计算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新规则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的“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信息增益值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③将“增益值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最大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”的“</a:t>
                      </a:r>
                      <a:r>
                        <a:rPr lang="zh-CN" altLang="en-US" sz="1800" b="1" u="wavyHeavy" baseline="0" dirty="0">
                          <a:latin typeface="+mn-ea"/>
                          <a:ea typeface="+mn-ea"/>
                        </a:rPr>
                        <a:t>前提约束谓词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加入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确定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“</a:t>
                      </a:r>
                      <a:r>
                        <a:rPr lang="zh-CN" altLang="en-US" sz="1800" b="1" u="wavyHeavy" baseline="0" dirty="0">
                          <a:latin typeface="+mn-ea"/>
                          <a:ea typeface="+mn-ea"/>
                        </a:rPr>
                        <a:t>新规则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”的</a:t>
                      </a: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前提部分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→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新新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推理规则，同时将</a:t>
                      </a:r>
                      <a:r>
                        <a:rPr lang="zh-CN" altLang="en-US" sz="1800" b="1" u="wavyHeavy" baseline="0" dirty="0">
                          <a:latin typeface="+mn-ea"/>
                          <a:ea typeface="+mn-ea"/>
                        </a:rPr>
                        <a:t>训练集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中“</a:t>
                      </a: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与推理规则不符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”的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样本删除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。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14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步骤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重复步骤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，直到得出“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更新的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推理规则”</a:t>
                      </a: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不覆盖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任意</a:t>
                      </a: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反例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，算法结束。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767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88913"/>
            <a:ext cx="4716462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74474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611188" y="1916113"/>
            <a:ext cx="8064500" cy="35782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69875" indent="-269875">
              <a:lnSpc>
                <a:spcPts val="25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u="wavyDbl" dirty="0">
                <a:latin typeface="+mn-ea"/>
                <a:ea typeface="+mn-ea"/>
                <a:cs typeface="Times New Roman" panose="02020603050405020304" pitchFamily="18" charset="0"/>
              </a:rPr>
              <a:t>一阶归纳学习算法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，展示了一个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知识图谱推理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过程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范例</a:t>
            </a:r>
            <a:r>
              <a:rPr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6088" indent="-176213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给定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大量数据样本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，这些数据被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逻辑化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。（如：一阶谓词逻辑）</a:t>
            </a:r>
            <a:endParaRPr lang="en-US" altLang="zh-CN" sz="18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6088" indent="-176213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根据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这些样本，构造一个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推理机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即：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一阶归纳学习算法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446088" indent="-176213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推理机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算法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根据给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定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的大量样本，不断进行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学习和归纳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，得到一个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普遍化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泛化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推理规则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6088" indent="-176213">
              <a:lnSpc>
                <a:spcPts val="2500"/>
              </a:lnSpc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再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将这个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泛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化的推理规则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具体化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”(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置换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，于是可得到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800" b="1" u="wavyHeavy" dirty="0">
                <a:latin typeface="+mn-ea"/>
                <a:ea typeface="+mn-ea"/>
                <a:cs typeface="Times New Roman" panose="02020603050405020304" pitchFamily="18" charset="0"/>
              </a:rPr>
              <a:t>新的概念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b="1" u="wavyHeavy" dirty="0">
                <a:latin typeface="+mn-ea"/>
                <a:ea typeface="+mn-ea"/>
                <a:cs typeface="Times New Roman" panose="02020603050405020304" pitchFamily="18" charset="0"/>
              </a:rPr>
              <a:t>新的实体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b="1" u="wavyHeavy" dirty="0">
                <a:latin typeface="+mn-ea"/>
                <a:ea typeface="+mn-ea"/>
                <a:cs typeface="Times New Roman" panose="02020603050405020304" pitchFamily="18" charset="0"/>
              </a:rPr>
              <a:t>新的属性</a:t>
            </a:r>
            <a:r>
              <a:rPr lang="zh-CN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b="1" u="wavyHeavy" dirty="0">
                <a:latin typeface="+mn-ea"/>
                <a:ea typeface="+mn-ea"/>
                <a:cs typeface="Times New Roman" panose="02020603050405020304" pitchFamily="18" charset="0"/>
              </a:rPr>
              <a:t>新的关系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800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6088" indent="-176213">
              <a:lnSpc>
                <a:spcPts val="2500"/>
              </a:lnSpc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初始的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知识图谱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得到不断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扩充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6088" indent="-176213">
              <a:lnSpc>
                <a:spcPts val="25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体现了从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数据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知识</a:t>
            </a:r>
            <a:r>
              <a:rPr lang="zh-CN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学习能力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32772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8913"/>
            <a:ext cx="3960813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939933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5860" y="1115452"/>
            <a:ext cx="6480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kumimoji="1"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小结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11560" y="1772816"/>
            <a:ext cx="8136904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状态空间、与</a:t>
            </a:r>
            <a:r>
              <a:rPr kumimoji="1"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或图、产生式系统、谓词逻辑、语义网络、知识图谱。</a:t>
            </a:r>
            <a:endParaRPr kumimoji="1" lang="en-US" altLang="zh-CN" sz="24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描述人工智能中的知识结构</a:t>
            </a:r>
            <a:endParaRPr kumimoji="1" lang="en-US" altLang="zh-CN" sz="24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（狭义：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人工智能系统</a:t>
            </a:r>
            <a:r>
              <a:rPr kumimoji="1" lang="zh-CN" altLang="en-US" sz="2400" dirty="0">
                <a:latin typeface="+mn-ea"/>
                <a:ea typeface="+mn-ea"/>
                <a:cs typeface="Times New Roman" panose="02020603050405020304" pitchFamily="18" charset="0"/>
              </a:rPr>
              <a:t>中的数据结构）</a:t>
            </a:r>
          </a:p>
        </p:txBody>
      </p:sp>
    </p:spTree>
    <p:extLst>
      <p:ext uri="{BB962C8B-B14F-4D97-AF65-F5344CB8AC3E}">
        <p14:creationId xmlns:p14="http://schemas.microsoft.com/office/powerpoint/2010/main" val="1816732059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37361" y="1136678"/>
            <a:ext cx="2566487" cy="359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2.8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概率图谱推理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711213-6A7F-41B7-83A4-ACBA1908F28E}"/>
              </a:ext>
            </a:extLst>
          </p:cNvPr>
          <p:cNvSpPr/>
          <p:nvPr/>
        </p:nvSpPr>
        <p:spPr>
          <a:xfrm>
            <a:off x="622529" y="1835680"/>
            <a:ext cx="5317623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/>
              <a:t>为什么要概率图推理：刻画</a:t>
            </a:r>
            <a:r>
              <a:rPr lang="zh-CN" altLang="en-US" sz="2000" dirty="0">
                <a:solidFill>
                  <a:srgbClr val="FF0000"/>
                </a:solidFill>
              </a:rPr>
              <a:t>信息的不确定性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08B3A9-E5F6-4405-A3E1-2D2BC51E468B}"/>
              </a:ext>
            </a:extLst>
          </p:cNvPr>
          <p:cNvSpPr/>
          <p:nvPr/>
        </p:nvSpPr>
        <p:spPr>
          <a:xfrm>
            <a:off x="637362" y="2348880"/>
            <a:ext cx="4798734" cy="348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n-ea"/>
                <a:ea typeface="+mn-ea"/>
              </a:rPr>
              <a:t>各应用领域</a:t>
            </a:r>
            <a:r>
              <a:rPr lang="zh-CN" altLang="zh-CN" sz="1600" dirty="0">
                <a:latin typeface="+mn-ea"/>
                <a:ea typeface="+mn-ea"/>
              </a:rPr>
              <a:t>不断涌现的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大数据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r>
              <a:rPr lang="zh-CN" altLang="zh-CN" sz="1600" dirty="0">
                <a:latin typeface="+mn-ea"/>
                <a:ea typeface="+mn-ea"/>
              </a:rPr>
              <a:t>因</a:t>
            </a:r>
            <a:r>
              <a:rPr lang="zh-CN" altLang="zh-CN" sz="1600" u="wavyDbl" dirty="0">
                <a:latin typeface="+mn-ea"/>
                <a:ea typeface="+mn-ea"/>
              </a:rPr>
              <a:t>刻画各种关系</a:t>
            </a:r>
            <a:r>
              <a:rPr lang="zh-CN" altLang="zh-CN" sz="1600" dirty="0">
                <a:latin typeface="+mn-ea"/>
                <a:ea typeface="+mn-ea"/>
              </a:rPr>
              <a:t>而形成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图式结构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数据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182563" indent="-182563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>
                <a:latin typeface="+mn-ea"/>
                <a:ea typeface="+mn-ea"/>
              </a:rPr>
              <a:t>图数据中，</a:t>
            </a:r>
            <a:r>
              <a:rPr lang="zh-CN" altLang="en-US" sz="1600" dirty="0">
                <a:latin typeface="+mn-ea"/>
                <a:ea typeface="+mn-ea"/>
              </a:rPr>
              <a:t>若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两个节点之间</a:t>
            </a:r>
            <a:r>
              <a:rPr lang="zh-CN" altLang="zh-CN" sz="1600" dirty="0">
                <a:latin typeface="+mn-ea"/>
                <a:ea typeface="+mn-ea"/>
              </a:rPr>
              <a:t>存在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连接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边</a:t>
            </a:r>
            <a:r>
              <a:rPr lang="zh-CN" altLang="zh-CN" sz="1600" dirty="0">
                <a:latin typeface="+mn-ea"/>
                <a:ea typeface="+mn-ea"/>
              </a:rPr>
              <a:t>，</a:t>
            </a:r>
            <a:r>
              <a:rPr lang="zh-CN" altLang="en-US" sz="1600" dirty="0">
                <a:latin typeface="+mn-ea"/>
                <a:ea typeface="+mn-ea"/>
              </a:rPr>
              <a:t>则</a:t>
            </a:r>
            <a:r>
              <a:rPr lang="zh-CN" altLang="zh-CN" sz="1600" dirty="0">
                <a:latin typeface="+mn-ea"/>
                <a:ea typeface="+mn-ea"/>
              </a:rPr>
              <a:t>两个节点之间</a:t>
            </a:r>
            <a:r>
              <a:rPr lang="zh-CN" altLang="en-US" sz="1600" dirty="0">
                <a:latin typeface="+mn-ea"/>
                <a:ea typeface="+mn-ea"/>
              </a:rPr>
              <a:t>就</a:t>
            </a:r>
            <a:r>
              <a:rPr lang="zh-CN" altLang="zh-CN" sz="1600" dirty="0">
                <a:latin typeface="+mn-ea"/>
                <a:ea typeface="+mn-ea"/>
              </a:rPr>
              <a:t>具有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概率依赖关系</a:t>
            </a:r>
            <a:r>
              <a:rPr lang="zh-CN" altLang="zh-CN" sz="1600" dirty="0">
                <a:latin typeface="+mn-ea"/>
                <a:ea typeface="+mn-ea"/>
              </a:rPr>
              <a:t>而相互影响。</a:t>
            </a:r>
            <a:endParaRPr lang="en-US" altLang="zh-CN" sz="1600" dirty="0">
              <a:latin typeface="+mn-ea"/>
              <a:ea typeface="+mn-ea"/>
            </a:endParaRPr>
          </a:p>
          <a:p>
            <a:pPr marL="182563" indent="-182563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>
                <a:latin typeface="+mn-ea"/>
                <a:ea typeface="+mn-ea"/>
              </a:rPr>
              <a:t>这类图中</a:t>
            </a:r>
            <a:r>
              <a:rPr lang="zh-CN" altLang="en-US" sz="1600" dirty="0">
                <a:latin typeface="+mn-ea"/>
                <a:ea typeface="+mn-ea"/>
              </a:rPr>
              <a:t>就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可用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</a:t>
            </a:r>
            <a:r>
              <a:rPr lang="zh-CN" altLang="zh-CN" sz="1600" dirty="0">
                <a:latin typeface="+mn-ea"/>
                <a:ea typeface="+mn-ea"/>
              </a:rPr>
              <a:t>描述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两个相连节点之间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关联</a:t>
            </a:r>
            <a:r>
              <a:rPr lang="zh-CN" altLang="zh-CN" sz="1600" dirty="0">
                <a:latin typeface="+mn-ea"/>
                <a:ea typeface="+mn-ea"/>
              </a:rPr>
              <a:t>，</a:t>
            </a:r>
            <a:r>
              <a:rPr lang="zh-CN" altLang="zh-CN" sz="1600" u="wavyDbl" dirty="0">
                <a:latin typeface="+mn-ea"/>
                <a:ea typeface="+mn-ea"/>
              </a:rPr>
              <a:t>而</a:t>
            </a:r>
            <a:r>
              <a:rPr lang="zh-CN" altLang="en-US" sz="1600" u="wavyDbl" dirty="0">
                <a:latin typeface="+mn-ea"/>
                <a:ea typeface="+mn-ea"/>
              </a:rPr>
              <a:t>非</a:t>
            </a:r>
            <a:r>
              <a:rPr lang="zh-CN" altLang="zh-CN" sz="1600" u="wavyDbl" dirty="0">
                <a:latin typeface="+mn-ea"/>
                <a:ea typeface="+mn-ea"/>
              </a:rPr>
              <a:t>假设</a:t>
            </a:r>
            <a:r>
              <a:rPr lang="zh-CN" altLang="zh-CN" sz="1600" dirty="0">
                <a:latin typeface="+mn-ea"/>
                <a:ea typeface="+mn-ea"/>
              </a:rPr>
              <a:t>节点之间的影响百分之百</a:t>
            </a:r>
            <a:r>
              <a:rPr lang="zh-CN" altLang="en-US" sz="1600" dirty="0">
                <a:latin typeface="+mn-ea"/>
                <a:ea typeface="+mn-ea"/>
              </a:rPr>
              <a:t>会</a:t>
            </a:r>
            <a:r>
              <a:rPr lang="zh-CN" altLang="zh-CN" sz="1600" dirty="0">
                <a:latin typeface="+mn-ea"/>
                <a:ea typeface="+mn-ea"/>
              </a:rPr>
              <a:t>发生。</a:t>
            </a:r>
            <a:endParaRPr lang="en-US" altLang="zh-CN" sz="1600" dirty="0">
              <a:latin typeface="+mn-ea"/>
              <a:ea typeface="+mn-ea"/>
            </a:endParaRPr>
          </a:p>
          <a:p>
            <a:pPr marL="182563" indent="-182563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>
                <a:latin typeface="+mn-ea"/>
                <a:ea typeface="+mn-ea"/>
              </a:rPr>
              <a:t>这种图称为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概率图</a:t>
            </a:r>
            <a:r>
              <a:rPr lang="en-US" altLang="zh-CN" sz="1400" dirty="0">
                <a:latin typeface="+mn-ea"/>
                <a:ea typeface="+mn-ea"/>
              </a:rPr>
              <a:t>(</a:t>
            </a:r>
            <a:r>
              <a:rPr lang="en-US" altLang="zh-CN" sz="1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probabilistic graph</a:t>
            </a:r>
            <a:r>
              <a:rPr lang="en-US" altLang="zh-CN" sz="1400" dirty="0">
                <a:latin typeface="+mn-ea"/>
                <a:ea typeface="+mn-ea"/>
              </a:rPr>
              <a:t>)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基于概率图</a:t>
            </a:r>
            <a:r>
              <a:rPr lang="zh-CN" altLang="zh-CN" sz="1600" dirty="0">
                <a:latin typeface="+mn-ea"/>
                <a:ea typeface="+mn-ea"/>
              </a:rPr>
              <a:t>进行的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推理</a:t>
            </a:r>
            <a:r>
              <a:rPr lang="zh-CN" altLang="en-US" sz="1600" dirty="0">
                <a:latin typeface="+mn-ea"/>
                <a:ea typeface="+mn-ea"/>
              </a:rPr>
              <a:t>即</a:t>
            </a:r>
            <a:r>
              <a:rPr lang="zh-CN" altLang="zh-CN" sz="1600" dirty="0">
                <a:latin typeface="+mn-ea"/>
                <a:ea typeface="+mn-ea"/>
              </a:rPr>
              <a:t>称为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概率推理</a:t>
            </a:r>
            <a:r>
              <a:rPr lang="zh-CN" altLang="zh-CN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182563" indent="-182563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概率推理</a:t>
            </a:r>
            <a:r>
              <a:rPr lang="zh-CN" altLang="zh-CN" sz="1600" dirty="0">
                <a:latin typeface="+mn-ea"/>
                <a:ea typeface="+mn-ea"/>
              </a:rPr>
              <a:t>反映了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推理过程中</a:t>
            </a:r>
            <a:r>
              <a:rPr lang="zh-CN" altLang="zh-CN" sz="1600" dirty="0">
                <a:latin typeface="+mn-ea"/>
                <a:ea typeface="+mn-ea"/>
              </a:rPr>
              <a:t>存在的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不确定性</a:t>
            </a:r>
            <a:r>
              <a:rPr lang="zh-CN" altLang="zh-CN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182563" indent="-182563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概率图模型</a:t>
            </a:r>
            <a:r>
              <a:rPr lang="zh-CN" altLang="zh-CN" sz="1600" dirty="0">
                <a:latin typeface="+mn-ea"/>
                <a:ea typeface="+mn-ea"/>
              </a:rPr>
              <a:t>分为</a:t>
            </a:r>
            <a:r>
              <a:rPr lang="zh-CN" altLang="en-US" sz="1600" dirty="0">
                <a:latin typeface="+mn-ea"/>
                <a:ea typeface="+mn-ea"/>
              </a:rPr>
              <a:t>：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贝叶斯网络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Bayesian Network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zh-CN" sz="1600" dirty="0">
                <a:latin typeface="+mn-ea"/>
                <a:ea typeface="+mn-ea"/>
              </a:rPr>
              <a:t>和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马尔可夫网络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Markov Network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zh-CN" sz="1600" dirty="0">
                <a:latin typeface="+mn-ea"/>
                <a:ea typeface="+mn-ea"/>
              </a:rPr>
              <a:t>两大类。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EB636A-268A-41C9-8067-F11D6E369D88}"/>
              </a:ext>
            </a:extLst>
          </p:cNvPr>
          <p:cNvSpPr/>
          <p:nvPr/>
        </p:nvSpPr>
        <p:spPr>
          <a:xfrm>
            <a:off x="5508104" y="2348880"/>
            <a:ext cx="3096344" cy="3552254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92075" indent="-92075" algn="just">
              <a:lnSpc>
                <a:spcPts val="2300"/>
              </a:lnSpc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贝叶斯网络</a:t>
            </a:r>
            <a:r>
              <a:rPr lang="zh-CN" altLang="en-US" sz="1600" dirty="0">
                <a:latin typeface="+mn-ea"/>
                <a:ea typeface="+mn-ea"/>
              </a:rPr>
              <a:t>：</a:t>
            </a:r>
            <a:r>
              <a:rPr lang="zh-CN" altLang="zh-CN" sz="1600" dirty="0">
                <a:latin typeface="+mn-ea"/>
                <a:ea typeface="+mn-ea"/>
              </a:rPr>
              <a:t>用一个</a:t>
            </a:r>
            <a:r>
              <a:rPr lang="zh-CN" altLang="zh-CN" sz="1600" u="wavyDbl" dirty="0">
                <a:solidFill>
                  <a:srgbClr val="0000FF"/>
                </a:solidFill>
                <a:latin typeface="+mn-ea"/>
                <a:ea typeface="+mn-ea"/>
              </a:rPr>
              <a:t>有向无环图</a:t>
            </a:r>
            <a:r>
              <a:rPr lang="zh-CN" altLang="zh-CN" sz="1600" dirty="0">
                <a:latin typeface="+mn-ea"/>
                <a:ea typeface="+mn-ea"/>
              </a:rPr>
              <a:t>表示，用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有向边</a:t>
            </a:r>
            <a:r>
              <a:rPr lang="zh-CN" altLang="zh-CN" sz="1600" dirty="0">
                <a:latin typeface="+mn-ea"/>
                <a:ea typeface="+mn-ea"/>
              </a:rPr>
              <a:t>表示</a:t>
            </a:r>
            <a:r>
              <a:rPr lang="zh-CN" altLang="zh-CN" sz="1600" u="wavyDbl" dirty="0">
                <a:latin typeface="+mn-ea"/>
                <a:ea typeface="+mn-ea"/>
              </a:rPr>
              <a:t>节点之间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单向概率依赖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92075" indent="-92075" algn="just">
              <a:lnSpc>
                <a:spcPts val="2300"/>
              </a:lnSpc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马尔可夫网络</a:t>
            </a:r>
            <a:r>
              <a:rPr lang="zh-CN" altLang="en-US" sz="1600" dirty="0">
                <a:latin typeface="+mn-ea"/>
                <a:ea typeface="+mn-ea"/>
              </a:rPr>
              <a:t>：</a:t>
            </a:r>
            <a:r>
              <a:rPr lang="zh-CN" altLang="zh-CN" sz="1600" dirty="0">
                <a:latin typeface="+mn-ea"/>
                <a:ea typeface="+mn-ea"/>
              </a:rPr>
              <a:t>表示</a:t>
            </a:r>
            <a:r>
              <a:rPr lang="zh-CN" altLang="en-US" sz="1600" dirty="0">
                <a:latin typeface="+mn-ea"/>
                <a:ea typeface="+mn-ea"/>
              </a:rPr>
              <a:t>为</a:t>
            </a:r>
            <a:r>
              <a:rPr lang="zh-CN" altLang="zh-CN" sz="1600" dirty="0">
                <a:latin typeface="+mn-ea"/>
                <a:ea typeface="+mn-ea"/>
              </a:rPr>
              <a:t>一个</a:t>
            </a:r>
            <a:r>
              <a:rPr lang="zh-CN" altLang="zh-CN" sz="1600" u="wavyDbl" dirty="0">
                <a:solidFill>
                  <a:srgbClr val="0000FF"/>
                </a:solidFill>
                <a:latin typeface="+mn-ea"/>
                <a:ea typeface="+mn-ea"/>
              </a:rPr>
              <a:t>无向图</a:t>
            </a:r>
            <a:r>
              <a:rPr lang="zh-CN" altLang="zh-CN" sz="1600" u="wavyDbl" dirty="0">
                <a:latin typeface="+mn-ea"/>
                <a:ea typeface="+mn-ea"/>
              </a:rPr>
              <a:t>的网络结构</a:t>
            </a:r>
            <a:r>
              <a:rPr lang="zh-CN" altLang="zh-CN" sz="1600" dirty="0">
                <a:latin typeface="+mn-ea"/>
                <a:ea typeface="+mn-ea"/>
              </a:rPr>
              <a:t>，用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无向边</a:t>
            </a:r>
            <a:r>
              <a:rPr lang="zh-CN" altLang="zh-CN" sz="1600" dirty="0">
                <a:latin typeface="+mn-ea"/>
                <a:ea typeface="+mn-ea"/>
              </a:rPr>
              <a:t>表示</a:t>
            </a:r>
            <a:r>
              <a:rPr lang="zh-CN" altLang="zh-CN" sz="1600" u="wavyDbl" dirty="0">
                <a:latin typeface="+mn-ea"/>
                <a:ea typeface="+mn-ea"/>
              </a:rPr>
              <a:t>节点之间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相互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双向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概率依赖</a:t>
            </a:r>
            <a:r>
              <a:rPr lang="zh-CN" altLang="zh-CN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92075" indent="-92075" algn="just">
              <a:lnSpc>
                <a:spcPts val="2300"/>
              </a:lnSpc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一般认为</a:t>
            </a:r>
            <a:r>
              <a:rPr lang="zh-CN" altLang="en-US" sz="1600" dirty="0">
                <a:latin typeface="+mn-ea"/>
                <a:ea typeface="+mn-ea"/>
              </a:rPr>
              <a:t>：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概率图模型</a:t>
            </a:r>
            <a:r>
              <a:rPr lang="zh-CN" altLang="zh-CN" sz="1600" dirty="0">
                <a:latin typeface="+mn-ea"/>
                <a:ea typeface="+mn-ea"/>
              </a:rPr>
              <a:t>还包括</a:t>
            </a:r>
            <a:r>
              <a:rPr lang="en-US" altLang="zh-CN" sz="1600" dirty="0">
                <a:latin typeface="+mn-ea"/>
                <a:ea typeface="+mn-ea"/>
              </a:rPr>
              <a:t>--</a:t>
            </a:r>
            <a:r>
              <a:rPr lang="zh-CN" altLang="zh-CN" sz="1600" dirty="0">
                <a:latin typeface="+mn-ea"/>
                <a:ea typeface="+mn-ea"/>
              </a:rPr>
              <a:t>朴素贝叶斯模型、最大熵模型、隐马尔可夫模型、条件随机场、主题模型</a:t>
            </a:r>
            <a:r>
              <a:rPr lang="en-US" altLang="zh-CN" sz="1600" dirty="0">
                <a:latin typeface="+mn-ea"/>
                <a:ea typeface="+mn-ea"/>
              </a:rPr>
              <a:t>…</a:t>
            </a:r>
            <a:r>
              <a:rPr lang="zh-CN" altLang="zh-CN" sz="1600" dirty="0">
                <a:latin typeface="+mn-ea"/>
                <a:ea typeface="+mn-ea"/>
              </a:rPr>
              <a:t>，在机器学习的诸多场景中</a:t>
            </a:r>
            <a:r>
              <a:rPr lang="zh-CN" altLang="en-US" sz="1600" dirty="0">
                <a:latin typeface="+mn-ea"/>
                <a:ea typeface="+mn-ea"/>
              </a:rPr>
              <a:t>均</a:t>
            </a:r>
            <a:r>
              <a:rPr lang="zh-CN" altLang="zh-CN" sz="1600" dirty="0">
                <a:latin typeface="+mn-ea"/>
                <a:ea typeface="+mn-ea"/>
              </a:rPr>
              <a:t>有广泛应用。</a:t>
            </a:r>
          </a:p>
        </p:txBody>
      </p:sp>
      <p:sp>
        <p:nvSpPr>
          <p:cNvPr id="2" name="圆角矩形标注 1"/>
          <p:cNvSpPr/>
          <p:nvPr/>
        </p:nvSpPr>
        <p:spPr bwMode="auto">
          <a:xfrm>
            <a:off x="3419872" y="351745"/>
            <a:ext cx="5184576" cy="876030"/>
          </a:xfrm>
          <a:prstGeom prst="wedgeRoundRectCallout">
            <a:avLst>
              <a:gd name="adj1" fmla="val -19833"/>
              <a:gd name="adj2" fmla="val 7566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92075" marR="0" indent="-92075" algn="l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大数据背景下，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数据之间的关系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日益复杂，</a:t>
            </a:r>
            <a:r>
              <a:rPr lang="zh-CN" altLang="en-US" sz="1400" dirty="0"/>
              <a:t>通常以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图式结构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呈现。</a:t>
            </a:r>
            <a:endParaRPr kumimoji="0" lang="en-US" altLang="zh-CN" sz="14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2075" indent="-92075" eaLnBrk="1" hangingPunct="1">
              <a:lnSpc>
                <a:spcPts val="22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1400" dirty="0"/>
              <a:t>传统图模型</a:t>
            </a:r>
            <a:r>
              <a:rPr lang="zh-CN" altLang="en-US" sz="1400" dirty="0"/>
              <a:t>，</a:t>
            </a:r>
            <a:r>
              <a:rPr lang="zh-CN" altLang="zh-CN" sz="1400" dirty="0">
                <a:solidFill>
                  <a:srgbClr val="FF0000"/>
                </a:solidFill>
              </a:rPr>
              <a:t>假设节点之间的影响是确定的</a:t>
            </a:r>
            <a:r>
              <a:rPr lang="zh-CN" altLang="en-US" sz="1400" dirty="0"/>
              <a:t>。</a:t>
            </a:r>
            <a:r>
              <a:rPr lang="en-US" altLang="zh-CN" sz="1400" dirty="0">
                <a:latin typeface="+mn-ea"/>
                <a:ea typeface="+mn-ea"/>
              </a:rPr>
              <a:t>(</a:t>
            </a:r>
            <a:r>
              <a:rPr lang="zh-CN" altLang="en-US" sz="1400" dirty="0">
                <a:latin typeface="+mn-ea"/>
                <a:ea typeface="+mn-ea"/>
              </a:rPr>
              <a:t>确定的依赖关系</a:t>
            </a:r>
            <a:r>
              <a:rPr lang="en-US" altLang="zh-CN" sz="1400" dirty="0">
                <a:latin typeface="+mn-ea"/>
                <a:ea typeface="+mn-ea"/>
              </a:rPr>
              <a:t>)</a:t>
            </a:r>
          </a:p>
          <a:p>
            <a:pPr marL="92075" indent="-92075" eaLnBrk="1" hangingPunct="1">
              <a:lnSpc>
                <a:spcPts val="22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1400" dirty="0"/>
              <a:t>用</a:t>
            </a:r>
            <a:r>
              <a:rPr lang="zh-CN" altLang="zh-CN" sz="1400" dirty="0">
                <a:solidFill>
                  <a:srgbClr val="FF0000"/>
                </a:solidFill>
              </a:rPr>
              <a:t>概率</a:t>
            </a:r>
            <a:r>
              <a:rPr lang="zh-CN" altLang="zh-CN" sz="1400" dirty="0"/>
              <a:t>表示</a:t>
            </a:r>
            <a:r>
              <a:rPr lang="zh-CN" altLang="en-US" sz="1400" dirty="0">
                <a:solidFill>
                  <a:srgbClr val="FF0000"/>
                </a:solidFill>
              </a:rPr>
              <a:t>节点之间</a:t>
            </a:r>
            <a:r>
              <a:rPr lang="zh-CN" altLang="en-US" sz="1400" dirty="0"/>
              <a:t>的</a:t>
            </a:r>
            <a:r>
              <a:rPr lang="zh-CN" altLang="zh-CN" sz="1400" dirty="0">
                <a:solidFill>
                  <a:srgbClr val="FF0000"/>
                </a:solidFill>
              </a:rPr>
              <a:t>依赖程度</a:t>
            </a:r>
            <a:r>
              <a:rPr lang="zh-CN" altLang="en-US" sz="1400" dirty="0"/>
              <a:t>（概率依赖关系</a:t>
            </a:r>
            <a:r>
              <a:rPr lang="en-US" altLang="zh-CN" sz="1400" dirty="0"/>
              <a:t>\</a:t>
            </a:r>
            <a:r>
              <a:rPr lang="zh-CN" altLang="en-US" sz="1400" dirty="0"/>
              <a:t>某种程度依赖）</a:t>
            </a:r>
            <a:endParaRPr kumimoji="0" lang="zh-CN" altLang="en-US" sz="1400" b="1" i="0" strike="noStrike" cap="none" normalizeH="0" baseline="0" dirty="0">
              <a:ln>
                <a:noFill/>
              </a:ln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326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536" y="764704"/>
            <a:ext cx="8352928" cy="30963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68288" indent="-268288" eaLnBrk="1" hangingPunct="1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内涵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：使用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图结构</a:t>
            </a:r>
            <a:r>
              <a:rPr lang="zh-CN" altLang="en-US" sz="1800" dirty="0">
                <a:latin typeface="+mn-ea"/>
                <a:ea typeface="+mn-ea"/>
              </a:rPr>
              <a:t>表示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一组随机变量之间</a:t>
            </a:r>
            <a:r>
              <a:rPr lang="zh-CN" altLang="en-US" sz="1800" dirty="0">
                <a:latin typeface="+mn-ea"/>
                <a:ea typeface="+mn-ea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概率关系</a:t>
            </a:r>
            <a:r>
              <a:rPr lang="en-US" altLang="zh-CN" sz="1800" dirty="0"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联合概率分布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  <a:r>
              <a:rPr lang="zh-CN" altLang="en-US" sz="1800" dirty="0">
                <a:latin typeface="+mn-ea"/>
                <a:ea typeface="+mn-ea"/>
              </a:rPr>
              <a:t>。通过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图中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变量</a:t>
            </a:r>
            <a:r>
              <a:rPr lang="en-US" altLang="zh-CN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局部概率分布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以及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变量之间的依赖关系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进行</a:t>
            </a:r>
            <a:r>
              <a:rPr lang="zh-CN" altLang="en-US" sz="1800" u="wavyDbl" dirty="0">
                <a:latin typeface="+mn-ea"/>
                <a:ea typeface="+mn-ea"/>
                <a:cs typeface="Times New Roman" panose="02020603050405020304" pitchFamily="18" charset="0"/>
              </a:rPr>
              <a:t>间接表示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，从而</a:t>
            </a:r>
            <a:r>
              <a:rPr lang="zh-CN" altLang="en-US" sz="1800" u="wavyDbl" dirty="0">
                <a:latin typeface="+mn-ea"/>
                <a:ea typeface="+mn-ea"/>
                <a:cs typeface="Times New Roman" panose="02020603050405020304" pitchFamily="18" charset="0"/>
              </a:rPr>
              <a:t>可更高效地处理和分析大规模数据集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，并应用于各种实际问题。</a:t>
            </a:r>
            <a:endParaRPr lang="en-US" altLang="zh-CN" sz="18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2913" indent="-174625" eaLnBrk="1" hangingPunct="1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贝叶斯网络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1800" u="wavyDbl" dirty="0">
                <a:latin typeface="+mn-ea"/>
                <a:ea typeface="+mn-ea"/>
                <a:cs typeface="Times New Roman" panose="02020603050405020304" pitchFamily="18" charset="0"/>
              </a:rPr>
              <a:t>联合概率分布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表示为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各个节点</a:t>
            </a: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变量</a:t>
            </a: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条件概率的乘积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，这些条件</a:t>
            </a:r>
            <a:endParaRPr lang="en-US" altLang="zh-CN" sz="18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8288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概率主要基于“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节点的父节点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”。</a:t>
            </a:r>
            <a:endParaRPr lang="en-US" altLang="zh-CN" sz="18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2913" indent="-174625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马尔可夫网络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1800" u="wavyDbl" dirty="0">
                <a:latin typeface="+mn-ea"/>
                <a:ea typeface="+mn-ea"/>
                <a:cs typeface="Times New Roman" panose="02020603050405020304" pitchFamily="18" charset="0"/>
              </a:rPr>
              <a:t>联合概率分布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主要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基于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变量之间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势函数的乘积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非负实函数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68288" eaLnBrk="1" hangingPunct="1">
              <a:lnSpc>
                <a:spcPct val="150000"/>
              </a:lnSpc>
              <a:buClr>
                <a:srgbClr val="FF0000"/>
              </a:buClr>
              <a:buSzPct val="80000"/>
            </a:pPr>
            <a:r>
              <a:rPr lang="en-US" altLang="zh-CN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     </a:t>
            </a: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通常表示为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正比例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关系→联合概率分布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势函数</a:t>
            </a: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18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4149080"/>
            <a:ext cx="7200800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</a:rPr>
              <a:t>应用场景</a:t>
            </a:r>
          </a:p>
          <a:p>
            <a:pPr marL="442913" indent="-174625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/>
              <a:t>多个领域广泛应用：如机器学习、数据挖掘、自然语言处理等。</a:t>
            </a:r>
            <a:endParaRPr lang="en-US" altLang="zh-CN" dirty="0"/>
          </a:p>
          <a:p>
            <a:pPr marL="442913" indent="-174625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/>
              <a:t>解决多种问题：如图像分割、语音识别、文本分类、推荐系统等。</a:t>
            </a:r>
          </a:p>
        </p:txBody>
      </p:sp>
    </p:spTree>
    <p:extLst>
      <p:ext uri="{BB962C8B-B14F-4D97-AF65-F5344CB8AC3E}">
        <p14:creationId xmlns:p14="http://schemas.microsoft.com/office/powerpoint/2010/main" val="394640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09538EC-7958-4099-AAD3-248CC922E3FA}"/>
              </a:ext>
            </a:extLst>
          </p:cNvPr>
          <p:cNvSpPr/>
          <p:nvPr/>
        </p:nvSpPr>
        <p:spPr>
          <a:xfrm>
            <a:off x="395536" y="980590"/>
            <a:ext cx="8208912" cy="76944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marL="265113" indent="-265113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latin typeface="+mn-ea"/>
                <a:ea typeface="+mn-ea"/>
              </a:rPr>
              <a:t>贝叶斯网络满足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</a:rPr>
              <a:t>局部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马尔可夫性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local Markov property</a:t>
            </a:r>
            <a:r>
              <a:rPr lang="en-US" altLang="zh-CN" dirty="0">
                <a:latin typeface="+mn-ea"/>
                <a:ea typeface="+mn-ea"/>
              </a:rPr>
              <a:t>)</a:t>
            </a:r>
          </a:p>
          <a:p>
            <a:pPr>
              <a:lnSpc>
                <a:spcPts val="2700"/>
              </a:lnSpc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</a:rPr>
              <a:t>   ---</a:t>
            </a:r>
            <a:r>
              <a:rPr lang="zh-CN" altLang="zh-CN" dirty="0">
                <a:latin typeface="+mn-ea"/>
                <a:ea typeface="+mn-ea"/>
              </a:rPr>
              <a:t>即</a:t>
            </a:r>
            <a:r>
              <a:rPr lang="zh-CN" altLang="en-US" dirty="0">
                <a:latin typeface="+mn-ea"/>
                <a:ea typeface="+mn-ea"/>
              </a:rPr>
              <a:t>，若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给定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某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个节点</a:t>
            </a:r>
            <a:r>
              <a:rPr lang="zh-CN" altLang="zh-CN" dirty="0">
                <a:latin typeface="+mn-ea"/>
                <a:ea typeface="+mn-ea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父节点</a:t>
            </a:r>
            <a:r>
              <a:rPr lang="zh-CN" altLang="zh-CN" dirty="0">
                <a:latin typeface="+mn-ea"/>
                <a:ea typeface="+mn-ea"/>
              </a:rPr>
              <a:t>，</a:t>
            </a:r>
            <a:r>
              <a:rPr lang="zh-CN" altLang="zh-CN" u="wavyHeavy" dirty="0">
                <a:latin typeface="+mn-ea"/>
                <a:ea typeface="+mn-ea"/>
              </a:rPr>
              <a:t>该节点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有条件地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独立于</a:t>
            </a:r>
            <a:r>
              <a:rPr lang="zh-CN" altLang="zh-CN" dirty="0">
                <a:latin typeface="+mn-ea"/>
                <a:ea typeface="+mn-ea"/>
              </a:rPr>
              <a:t>它的</a:t>
            </a:r>
            <a:r>
              <a:rPr lang="zh-CN" altLang="zh-CN" u="wavyHeavy" dirty="0">
                <a:latin typeface="+mn-ea"/>
                <a:ea typeface="+mn-ea"/>
              </a:rPr>
              <a:t>非</a:t>
            </a:r>
            <a:r>
              <a:rPr lang="zh-CN" altLang="en-US" u="wavyHeavy" dirty="0">
                <a:latin typeface="+mn-ea"/>
                <a:ea typeface="+mn-ea"/>
              </a:rPr>
              <a:t>后裔</a:t>
            </a:r>
            <a:r>
              <a:rPr lang="zh-CN" altLang="zh-CN" u="wavyHeavy" dirty="0">
                <a:latin typeface="+mn-ea"/>
                <a:ea typeface="+mn-ea"/>
              </a:rPr>
              <a:t>节点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395536" y="908720"/>
            <a:ext cx="82089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0711213-6A7F-41B7-83A4-ACBA1908F28E}"/>
              </a:ext>
            </a:extLst>
          </p:cNvPr>
          <p:cNvSpPr/>
          <p:nvPr/>
        </p:nvSpPr>
        <p:spPr>
          <a:xfrm>
            <a:off x="404680" y="467380"/>
            <a:ext cx="207908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、贝叶斯网络</a:t>
            </a:r>
            <a:endParaRPr lang="en-US" altLang="zh-CN" sz="2400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21900"/>
            <a:ext cx="3888432" cy="290324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44008" y="1821900"/>
            <a:ext cx="4032448" cy="34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6213" indent="-176213">
              <a:lnSpc>
                <a:spcPts val="19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描述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多云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洒水车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下雨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路湿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四个因素之间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相互影响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由观察统计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以概率形式给出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92075" indent="-92075">
              <a:lnSpc>
                <a:spcPts val="19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1600" u="wavyHeavy" dirty="0">
                <a:uFill>
                  <a:solidFill>
                    <a:srgbClr val="FF0000"/>
                  </a:solidFill>
                </a:uFill>
                <a:latin typeface="+mn-ea"/>
                <a:ea typeface="+mn-ea"/>
                <a:cs typeface="Times New Roman" panose="02020603050405020304" pitchFamily="18" charset="0"/>
              </a:rPr>
              <a:t>多云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时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有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10%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概率会出动洒水车和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80%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概率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会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下雨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r>
              <a:rPr lang="zh-CN" altLang="zh-CN" sz="1600" u="wavyDbl" dirty="0">
                <a:uFill>
                  <a:solidFill>
                    <a:srgbClr val="0000FF"/>
                  </a:solidFill>
                </a:uFill>
                <a:latin typeface="+mn-ea"/>
                <a:ea typeface="+mn-ea"/>
                <a:cs typeface="Times New Roman" panose="02020603050405020304" pitchFamily="18" charset="0"/>
              </a:rPr>
              <a:t>有洒水车和不下雨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时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有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10%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概率路面不湿。</a:t>
            </a:r>
            <a:endParaRPr lang="en-US" altLang="zh-CN" sz="16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92075" indent="-92075">
              <a:lnSpc>
                <a:spcPts val="19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Bayes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网络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满足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局部马尔可夫性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，即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给定一个节点的父节点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时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该节点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有条件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地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独立于</a:t>
            </a:r>
            <a:r>
              <a:rPr lang="zh-CN" altLang="en-US" sz="1600" u="wavyHeavy" dirty="0">
                <a:latin typeface="+mn-ea"/>
                <a:ea typeface="+mn-ea"/>
                <a:cs typeface="Times New Roman" panose="02020603050405020304" pitchFamily="18" charset="0"/>
              </a:rPr>
              <a:t>其</a:t>
            </a:r>
            <a:r>
              <a:rPr lang="zh-CN" altLang="zh-CN" sz="1600" u="wavyHeavy" dirty="0">
                <a:latin typeface="+mn-ea"/>
                <a:ea typeface="+mn-ea"/>
                <a:cs typeface="Times New Roman" panose="02020603050405020304" pitchFamily="18" charset="0"/>
              </a:rPr>
              <a:t>非后裔节点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92075" indent="-92075">
              <a:lnSpc>
                <a:spcPts val="19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局马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意味着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洒水车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|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多云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下雨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)=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洒水车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|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多云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，因为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给定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多云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”前提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下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u="wavyHeavy" dirty="0">
                <a:latin typeface="+mn-ea"/>
                <a:ea typeface="+mn-ea"/>
                <a:cs typeface="Times New Roman" panose="02020603050405020304" pitchFamily="18" charset="0"/>
              </a:rPr>
              <a:t>是否出动洒水车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与其非子节点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下雨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无关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92075" indent="-92075">
              <a:lnSpc>
                <a:spcPts val="19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此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性质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使得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能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更简洁形式</a:t>
            </a:r>
            <a:r>
              <a:rPr lang="zh-CN" altLang="en-US" sz="16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计算</a:t>
            </a:r>
            <a:r>
              <a:rPr lang="zh-CN" altLang="zh-CN" sz="1600" u="wavyHeavy" dirty="0">
                <a:latin typeface="+mn-ea"/>
                <a:ea typeface="+mn-ea"/>
                <a:cs typeface="Times New Roman" panose="02020603050405020304" pitchFamily="18" charset="0"/>
              </a:rPr>
              <a:t>某个节点与其它节点</a:t>
            </a:r>
            <a:r>
              <a:rPr lang="zh-CN" altLang="en-US" sz="1600" u="wavyHeavy" dirty="0">
                <a:latin typeface="+mn-ea"/>
                <a:ea typeface="+mn-ea"/>
                <a:cs typeface="Times New Roman" panose="02020603050405020304" pitchFamily="18" charset="0"/>
              </a:rPr>
              <a:t>之间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概率依赖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1600" dirty="0">
              <a:latin typeface="+mn-ea"/>
              <a:ea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267313" y="1840372"/>
            <a:ext cx="2846068" cy="910692"/>
            <a:chOff x="1267313" y="1840372"/>
            <a:chExt cx="2846068" cy="910692"/>
          </a:xfrm>
        </p:grpSpPr>
        <p:sp>
          <p:nvSpPr>
            <p:cNvPr id="4" name="矩形 3"/>
            <p:cNvSpPr/>
            <p:nvPr/>
          </p:nvSpPr>
          <p:spPr bwMode="auto">
            <a:xfrm>
              <a:off x="2286959" y="1840372"/>
              <a:ext cx="261461" cy="216024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1267313" y="2348880"/>
              <a:ext cx="261461" cy="371433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3851920" y="2379631"/>
              <a:ext cx="261461" cy="371433"/>
            </a:xfrm>
            <a:prstGeom prst="rect">
              <a:avLst/>
            </a:prstGeom>
            <a:noFill/>
            <a:ln w="222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947608" y="4134125"/>
            <a:ext cx="1670953" cy="221742"/>
            <a:chOff x="1947608" y="4134125"/>
            <a:chExt cx="1670953" cy="221742"/>
          </a:xfrm>
        </p:grpSpPr>
        <p:sp>
          <p:nvSpPr>
            <p:cNvPr id="15" name="矩形 14"/>
            <p:cNvSpPr/>
            <p:nvPr/>
          </p:nvSpPr>
          <p:spPr bwMode="auto">
            <a:xfrm>
              <a:off x="3357100" y="4139844"/>
              <a:ext cx="261461" cy="216023"/>
            </a:xfrm>
            <a:prstGeom prst="rect">
              <a:avLst/>
            </a:prstGeom>
            <a:noFill/>
            <a:ln w="222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1947608" y="4134125"/>
              <a:ext cx="1005152" cy="221742"/>
            </a:xfrm>
            <a:prstGeom prst="rect">
              <a:avLst/>
            </a:prstGeom>
            <a:noFill/>
            <a:ln w="222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444" y="5401428"/>
            <a:ext cx="8129584" cy="664532"/>
            <a:chOff x="404736" y="5382956"/>
            <a:chExt cx="8129584" cy="66453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84B3FF-E783-4ADF-A3B8-3F410546F6B8}"/>
                </a:ext>
              </a:extLst>
            </p:cNvPr>
            <p:cNvSpPr/>
            <p:nvPr/>
          </p:nvSpPr>
          <p:spPr>
            <a:xfrm>
              <a:off x="404736" y="5382956"/>
              <a:ext cx="7955980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65113" indent="-265113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zh-CN" dirty="0">
                  <a:latin typeface="+mn-ea"/>
                  <a:ea typeface="+mn-ea"/>
                </a:rPr>
                <a:t>贝叶斯网络中</a:t>
              </a:r>
              <a:r>
                <a:rPr lang="zh-CN" altLang="zh-CN" dirty="0">
                  <a:solidFill>
                    <a:srgbClr val="0000FF"/>
                  </a:solidFill>
                  <a:latin typeface="+mn-ea"/>
                  <a:ea typeface="+mn-ea"/>
                </a:rPr>
                <a:t>所有因素</a:t>
              </a:r>
              <a:r>
                <a:rPr lang="zh-CN" altLang="zh-CN" dirty="0">
                  <a:latin typeface="+mn-ea"/>
                  <a:ea typeface="+mn-ea"/>
                </a:rPr>
                <a:t>的</a:t>
              </a:r>
              <a:r>
                <a:rPr lang="zh-CN" altLang="zh-CN" dirty="0">
                  <a:solidFill>
                    <a:srgbClr val="FF0000"/>
                  </a:solidFill>
                  <a:latin typeface="+mn-ea"/>
                  <a:ea typeface="+mn-ea"/>
                </a:rPr>
                <a:t>联合分布</a:t>
              </a:r>
              <a:r>
                <a:rPr lang="zh-CN" altLang="en-US" dirty="0">
                  <a:latin typeface="+mn-ea"/>
                  <a:ea typeface="+mn-ea"/>
                </a:rPr>
                <a:t>，</a:t>
              </a:r>
              <a:r>
                <a:rPr lang="zh-CN" altLang="zh-CN" dirty="0">
                  <a:latin typeface="+mn-ea"/>
                  <a:ea typeface="+mn-ea"/>
                </a:rPr>
                <a:t>等于</a:t>
              </a:r>
              <a:r>
                <a:rPr lang="zh-CN" altLang="zh-CN" dirty="0">
                  <a:solidFill>
                    <a:srgbClr val="0000FF"/>
                  </a:solidFill>
                  <a:latin typeface="+mn-ea"/>
                  <a:ea typeface="+mn-ea"/>
                </a:rPr>
                <a:t>所有节点</a:t>
              </a:r>
              <a:r>
                <a:rPr lang="zh-CN" altLang="zh-CN" dirty="0">
                  <a:latin typeface="+mn-ea"/>
                  <a:ea typeface="+mn-ea"/>
                </a:rPr>
                <a:t>的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zh-CN" dirty="0">
                  <a:solidFill>
                    <a:srgbClr val="FF0000"/>
                  </a:solidFill>
                  <a:latin typeface="+mn-ea"/>
                  <a:ea typeface="+mn-ea"/>
                </a:rPr>
                <a:t>节点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  <a:ea typeface="+mn-ea"/>
                </a:rPr>
                <a:t>|</a:t>
              </a:r>
              <a:r>
                <a:rPr lang="zh-CN" altLang="zh-CN" dirty="0">
                  <a:solidFill>
                    <a:srgbClr val="FF0000"/>
                  </a:solidFill>
                  <a:latin typeface="+mn-ea"/>
                  <a:ea typeface="+mn-ea"/>
                </a:rPr>
                <a:t>父节点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zh-CN" altLang="zh-CN" dirty="0">
                  <a:latin typeface="+mn-ea"/>
                  <a:ea typeface="+mn-ea"/>
                </a:rPr>
                <a:t>的</a:t>
              </a:r>
              <a:r>
                <a:rPr lang="zh-CN" altLang="zh-CN" dirty="0">
                  <a:solidFill>
                    <a:srgbClr val="FF0000"/>
                  </a:solidFill>
                  <a:latin typeface="+mn-ea"/>
                  <a:ea typeface="+mn-ea"/>
                </a:rPr>
                <a:t>乘积</a:t>
              </a:r>
              <a:endParaRPr lang="zh-CN" altLang="zh-CN" sz="1600" dirty="0">
                <a:latin typeface="+mn-ea"/>
                <a:ea typeface="+mn-ea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480" y="5782741"/>
              <a:ext cx="7560840" cy="264747"/>
            </a:xfrm>
            <a:prstGeom prst="rect">
              <a:avLst/>
            </a:prstGeom>
          </p:spPr>
        </p:pic>
      </p:grpSp>
      <p:sp>
        <p:nvSpPr>
          <p:cNvPr id="2" name="圆角矩形标注 1"/>
          <p:cNvSpPr/>
          <p:nvPr/>
        </p:nvSpPr>
        <p:spPr bwMode="auto">
          <a:xfrm>
            <a:off x="7770401" y="980590"/>
            <a:ext cx="864096" cy="288032"/>
          </a:xfrm>
          <a:prstGeom prst="wedgeRoundRectCallout">
            <a:avLst>
              <a:gd name="adj1" fmla="val -44616"/>
              <a:gd name="adj2" fmla="val 96492"/>
              <a:gd name="adj3" fmla="val 1666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兄弟节点</a:t>
            </a:r>
          </a:p>
        </p:txBody>
      </p:sp>
    </p:spTree>
    <p:extLst>
      <p:ext uri="{BB962C8B-B14F-4D97-AF65-F5344CB8AC3E}">
        <p14:creationId xmlns:p14="http://schemas.microsoft.com/office/powerpoint/2010/main" val="406205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55576" y="1022831"/>
            <a:ext cx="6444144" cy="432048"/>
            <a:chOff x="755576" y="1022831"/>
            <a:chExt cx="6444144" cy="4320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0711213-6A7F-41B7-83A4-ACBA1908F28E}"/>
                    </a:ext>
                  </a:extLst>
                </p:cNvPr>
                <p:cNvSpPr/>
                <p:nvPr/>
              </p:nvSpPr>
              <p:spPr>
                <a:xfrm>
                  <a:off x="1367072" y="1124744"/>
                  <a:ext cx="5832648" cy="307777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zh-CN" altLang="en-US" sz="2000" dirty="0">
                      <a:latin typeface="+mn-ea"/>
                      <a:ea typeface="+mn-ea"/>
                    </a:rPr>
                    <a:t>贝叶斯网络：</a:t>
                  </a:r>
                  <a:r>
                    <a:rPr lang="zh-CN" altLang="zh-CN" sz="2000" dirty="0">
                      <a:latin typeface="+mn-ea"/>
                      <a:ea typeface="+mn-ea"/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zh-CN" altLang="zh-CN" sz="2000" b="1">
                          <a:latin typeface="Cambria Math" panose="02040503050406030204" pitchFamily="18" charset="0"/>
                          <a:ea typeface="+mn-ea"/>
                        </a:rPr>
                        <m:t>下雨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zh-CN" altLang="zh-CN" sz="2000" b="1">
                          <a:latin typeface="Cambria Math" panose="02040503050406030204" pitchFamily="18" charset="0"/>
                          <a:ea typeface="+mn-ea"/>
                        </a:rPr>
                        <m:t>洒水车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zh-CN" altLang="zh-CN" sz="2000" b="1">
                          <a:latin typeface="Cambria Math" panose="02040503050406030204" pitchFamily="18" charset="0"/>
                          <a:ea typeface="+mn-ea"/>
                        </a:rPr>
                        <m:t>路湿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|</m:t>
                      </m:r>
                      <m:r>
                        <a:rPr lang="zh-CN" altLang="zh-CN" sz="2000" b="1">
                          <a:latin typeface="Cambria Math" panose="02040503050406030204" pitchFamily="18" charset="0"/>
                          <a:ea typeface="+mn-ea"/>
                        </a:rPr>
                        <m:t>多云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a14:m>
                  <a:r>
                    <a:rPr lang="zh-CN" altLang="zh-CN" sz="2000" dirty="0">
                      <a:latin typeface="+mn-ea"/>
                      <a:ea typeface="+mn-ea"/>
                    </a:rPr>
                    <a:t>的概率</a:t>
                  </a:r>
                  <a:endParaRPr lang="en-US" altLang="zh-CN" sz="200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0711213-6A7F-41B7-83A4-ACBA1908F2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072" y="1124744"/>
                  <a:ext cx="5832648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2612" t="-30000" r="-1358" b="-4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CDC488A-4CC6-40FA-8BA6-665594BAF470}"/>
                </a:ext>
              </a:extLst>
            </p:cNvPr>
            <p:cNvGrpSpPr/>
            <p:nvPr/>
          </p:nvGrpSpPr>
          <p:grpSpPr>
            <a:xfrm>
              <a:off x="755576" y="1022831"/>
              <a:ext cx="433903" cy="432048"/>
              <a:chOff x="4082479" y="2760704"/>
              <a:chExt cx="1485324" cy="1485324"/>
            </a:xfrm>
          </p:grpSpPr>
          <p:sp>
            <p:nvSpPr>
              <p:cNvPr id="6" name="立方体 5">
                <a:extLst>
                  <a:ext uri="{FF2B5EF4-FFF2-40B4-BE49-F238E27FC236}">
                    <a16:creationId xmlns:a16="http://schemas.microsoft.com/office/drawing/2014/main" id="{15EC4BE7-8545-4FB0-94F7-BA10BD32B382}"/>
                  </a:ext>
                </a:extLst>
              </p:cNvPr>
              <p:cNvSpPr/>
              <p:nvPr/>
            </p:nvSpPr>
            <p:spPr>
              <a:xfrm rot="2700000">
                <a:off x="4082479" y="2760704"/>
                <a:ext cx="1485324" cy="1485324"/>
              </a:xfrm>
              <a:prstGeom prst="cube">
                <a:avLst>
                  <a:gd name="adj" fmla="val 6189"/>
                </a:avLst>
              </a:prstGeom>
              <a:gradFill>
                <a:gsLst>
                  <a:gs pos="0">
                    <a:srgbClr val="016773"/>
                  </a:gs>
                  <a:gs pos="26000">
                    <a:srgbClr val="007684"/>
                  </a:gs>
                  <a:gs pos="100000">
                    <a:srgbClr val="81C7C9"/>
                  </a:gs>
                </a:gsLst>
                <a:lin ang="1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35F3F94F-AF0C-469E-BF14-1639FEB0A7F2}"/>
                  </a:ext>
                </a:extLst>
              </p:cNvPr>
              <p:cNvGrpSpPr/>
              <p:nvPr/>
            </p:nvGrpSpPr>
            <p:grpSpPr>
              <a:xfrm>
                <a:off x="4494284" y="2979307"/>
                <a:ext cx="607190" cy="1121821"/>
                <a:chOff x="9632752" y="7542709"/>
                <a:chExt cx="890113" cy="1644542"/>
              </a:xfrm>
            </p:grpSpPr>
            <p:sp>
              <p:nvSpPr>
                <p:cNvPr id="8" name="任意多边形 30">
                  <a:extLst>
                    <a:ext uri="{FF2B5EF4-FFF2-40B4-BE49-F238E27FC236}">
                      <a16:creationId xmlns:a16="http://schemas.microsoft.com/office/drawing/2014/main" id="{E7402A3C-DEE6-4145-9CBE-5B818B5CA030}"/>
                    </a:ext>
                  </a:extLst>
                </p:cNvPr>
                <p:cNvSpPr/>
                <p:nvPr/>
              </p:nvSpPr>
              <p:spPr>
                <a:xfrm>
                  <a:off x="9632752" y="7542709"/>
                  <a:ext cx="890113" cy="1151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113" h="1151186">
                      <a:moveTo>
                        <a:pt x="393664" y="0"/>
                      </a:moveTo>
                      <a:cubicBezTo>
                        <a:pt x="550582" y="0"/>
                        <a:pt x="672552" y="35975"/>
                        <a:pt x="759577" y="107924"/>
                      </a:cubicBezTo>
                      <a:cubicBezTo>
                        <a:pt x="846601" y="179873"/>
                        <a:pt x="890113" y="277175"/>
                        <a:pt x="890113" y="399832"/>
                      </a:cubicBezTo>
                      <a:cubicBezTo>
                        <a:pt x="890113" y="478633"/>
                        <a:pt x="872297" y="551267"/>
                        <a:pt x="836665" y="617735"/>
                      </a:cubicBezTo>
                      <a:cubicBezTo>
                        <a:pt x="801033" y="684202"/>
                        <a:pt x="739705" y="752725"/>
                        <a:pt x="652681" y="823303"/>
                      </a:cubicBezTo>
                      <a:cubicBezTo>
                        <a:pt x="579361" y="881548"/>
                        <a:pt x="532594" y="927287"/>
                        <a:pt x="512380" y="960520"/>
                      </a:cubicBezTo>
                      <a:cubicBezTo>
                        <a:pt x="492166" y="993754"/>
                        <a:pt x="482059" y="1033669"/>
                        <a:pt x="482059" y="1080264"/>
                      </a:cubicBezTo>
                      <a:lnTo>
                        <a:pt x="482059" y="1151186"/>
                      </a:lnTo>
                      <a:lnTo>
                        <a:pt x="210708" y="1151186"/>
                      </a:lnTo>
                      <a:lnTo>
                        <a:pt x="210708" y="1054568"/>
                      </a:lnTo>
                      <a:cubicBezTo>
                        <a:pt x="210708" y="981249"/>
                        <a:pt x="224070" y="918722"/>
                        <a:pt x="250794" y="866987"/>
                      </a:cubicBezTo>
                      <a:cubicBezTo>
                        <a:pt x="277518" y="815252"/>
                        <a:pt x="322400" y="763346"/>
                        <a:pt x="385441" y="711268"/>
                      </a:cubicBezTo>
                      <a:cubicBezTo>
                        <a:pt x="458076" y="651653"/>
                        <a:pt x="506384" y="602831"/>
                        <a:pt x="530367" y="564801"/>
                      </a:cubicBezTo>
                      <a:cubicBezTo>
                        <a:pt x="554350" y="526770"/>
                        <a:pt x="566342" y="485828"/>
                        <a:pt x="566342" y="441973"/>
                      </a:cubicBezTo>
                      <a:cubicBezTo>
                        <a:pt x="566342" y="391266"/>
                        <a:pt x="548526" y="350838"/>
                        <a:pt x="512894" y="320688"/>
                      </a:cubicBezTo>
                      <a:cubicBezTo>
                        <a:pt x="477262" y="290537"/>
                        <a:pt x="426213" y="275462"/>
                        <a:pt x="359745" y="275462"/>
                      </a:cubicBezTo>
                      <a:cubicBezTo>
                        <a:pt x="230922" y="275462"/>
                        <a:pt x="111007" y="323428"/>
                        <a:pt x="0" y="419361"/>
                      </a:cubicBezTo>
                      <a:lnTo>
                        <a:pt x="0" y="102785"/>
                      </a:lnTo>
                      <a:cubicBezTo>
                        <a:pt x="122656" y="34262"/>
                        <a:pt x="253877" y="0"/>
                        <a:pt x="39366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63500" dist="25400" dir="2700000" sx="103000" sy="103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9" name="任意多边形 28">
                  <a:extLst>
                    <a:ext uri="{FF2B5EF4-FFF2-40B4-BE49-F238E27FC236}">
                      <a16:creationId xmlns:a16="http://schemas.microsoft.com/office/drawing/2014/main" id="{6B516476-14BF-4913-AF74-2E4E41B3A788}"/>
                    </a:ext>
                  </a:extLst>
                </p:cNvPr>
                <p:cNvSpPr/>
                <p:nvPr/>
              </p:nvSpPr>
              <p:spPr>
                <a:xfrm>
                  <a:off x="9792059" y="8843951"/>
                  <a:ext cx="377218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218" h="343300">
                      <a:moveTo>
                        <a:pt x="188095" y="0"/>
                      </a:moveTo>
                      <a:cubicBezTo>
                        <a:pt x="240173" y="0"/>
                        <a:pt x="284713" y="16788"/>
                        <a:pt x="321715" y="50364"/>
                      </a:cubicBezTo>
                      <a:cubicBezTo>
                        <a:pt x="358717" y="83941"/>
                        <a:pt x="377218" y="124711"/>
                        <a:pt x="377218" y="172677"/>
                      </a:cubicBezTo>
                      <a:cubicBezTo>
                        <a:pt x="377218" y="219273"/>
                        <a:pt x="358717" y="259359"/>
                        <a:pt x="321715" y="292935"/>
                      </a:cubicBezTo>
                      <a:cubicBezTo>
                        <a:pt x="284713" y="326512"/>
                        <a:pt x="240173" y="343300"/>
                        <a:pt x="188095" y="343300"/>
                      </a:cubicBezTo>
                      <a:cubicBezTo>
                        <a:pt x="135332" y="343300"/>
                        <a:pt x="90793" y="326340"/>
                        <a:pt x="54475" y="292421"/>
                      </a:cubicBezTo>
                      <a:cubicBezTo>
                        <a:pt x="18158" y="258503"/>
                        <a:pt x="0" y="218588"/>
                        <a:pt x="0" y="172677"/>
                      </a:cubicBezTo>
                      <a:cubicBezTo>
                        <a:pt x="0" y="125397"/>
                        <a:pt x="18158" y="84797"/>
                        <a:pt x="54475" y="50878"/>
                      </a:cubicBezTo>
                      <a:cubicBezTo>
                        <a:pt x="90793" y="16959"/>
                        <a:pt x="135332" y="0"/>
                        <a:pt x="188095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63500" dist="25400" dir="2700000" sx="103000" sy="103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  <p:grpSp>
        <p:nvGrpSpPr>
          <p:cNvPr id="12" name="组合 11"/>
          <p:cNvGrpSpPr/>
          <p:nvPr/>
        </p:nvGrpSpPr>
        <p:grpSpPr>
          <a:xfrm>
            <a:off x="638968" y="1719315"/>
            <a:ext cx="7831718" cy="4049190"/>
            <a:chOff x="638968" y="1719315"/>
            <a:chExt cx="7831718" cy="404919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5856" y="3284984"/>
              <a:ext cx="5194830" cy="248352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8968" y="1719315"/>
              <a:ext cx="3020443" cy="22551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939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0711213-6A7F-41B7-83A4-ACBA1908F28E}"/>
              </a:ext>
            </a:extLst>
          </p:cNvPr>
          <p:cNvSpPr/>
          <p:nvPr/>
        </p:nvSpPr>
        <p:spPr>
          <a:xfrm>
            <a:off x="630032" y="1108152"/>
            <a:ext cx="610220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、马尔科夫逻辑网络</a:t>
            </a:r>
            <a:r>
              <a:rPr lang="zh-CN" altLang="en-US" sz="1600" dirty="0">
                <a:latin typeface="+mn-ea"/>
                <a:ea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MLN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Markov Logic Network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9982" y="1780172"/>
            <a:ext cx="8019530" cy="1436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/>
              <a:t>一个除了有“</a:t>
            </a:r>
            <a:r>
              <a:rPr lang="zh-CN" altLang="zh-CN" sz="1600" dirty="0">
                <a:solidFill>
                  <a:srgbClr val="0000FF"/>
                </a:solidFill>
              </a:rPr>
              <a:t>穷集</a:t>
            </a:r>
            <a:r>
              <a:rPr lang="en-US" altLang="zh-CN" sz="1600" dirty="0">
                <a:latin typeface="+mj-ea"/>
                <a:ea typeface="+mj-ea"/>
              </a:rPr>
              <a:t>(</a:t>
            </a:r>
            <a:r>
              <a:rPr lang="zh-CN" altLang="en-US" sz="1600" dirty="0">
                <a:latin typeface="+mj-ea"/>
                <a:ea typeface="+mj-ea"/>
              </a:rPr>
              <a:t>有限集</a:t>
            </a:r>
            <a:r>
              <a:rPr lang="en-US" altLang="zh-CN" sz="1600" dirty="0">
                <a:latin typeface="+mj-ea"/>
                <a:ea typeface="+mj-ea"/>
              </a:rPr>
              <a:t>)</a:t>
            </a:r>
            <a:r>
              <a:rPr lang="zh-CN" altLang="zh-CN" sz="1600" dirty="0"/>
              <a:t>”要求外，没有其它限制的，能将</a:t>
            </a:r>
            <a:r>
              <a:rPr lang="zh-CN" altLang="zh-CN" sz="1600" dirty="0">
                <a:solidFill>
                  <a:srgbClr val="FF0000"/>
                </a:solidFill>
              </a:rPr>
              <a:t>概率</a:t>
            </a:r>
            <a:r>
              <a:rPr lang="zh-CN" altLang="zh-CN" sz="1600" dirty="0"/>
              <a:t>和</a:t>
            </a:r>
            <a:r>
              <a:rPr lang="zh-CN" altLang="zh-CN" sz="1600" dirty="0">
                <a:solidFill>
                  <a:srgbClr val="FF0000"/>
                </a:solidFill>
              </a:rPr>
              <a:t>一阶逻辑</a:t>
            </a:r>
            <a:r>
              <a:rPr lang="zh-CN" altLang="zh-CN" sz="1600" dirty="0">
                <a:solidFill>
                  <a:srgbClr val="0000FF"/>
                </a:solidFill>
              </a:rPr>
              <a:t>结合</a:t>
            </a:r>
            <a:r>
              <a:rPr lang="zh-CN" altLang="zh-CN" sz="1600" dirty="0"/>
              <a:t>的</a:t>
            </a:r>
            <a:r>
              <a:rPr lang="zh-CN" altLang="en-US" sz="1600" u="wavyDbl" dirty="0"/>
              <a:t>知识</a:t>
            </a:r>
            <a:r>
              <a:rPr lang="zh-CN" altLang="zh-CN" sz="1600" u="wavyDbl" dirty="0"/>
              <a:t>表示方法</a:t>
            </a:r>
            <a:r>
              <a:rPr lang="zh-CN" altLang="en-US" sz="1600" dirty="0"/>
              <a:t>，用于处理</a:t>
            </a:r>
            <a:r>
              <a:rPr lang="zh-CN" altLang="en-US" sz="1600" dirty="0">
                <a:solidFill>
                  <a:srgbClr val="FF0000"/>
                </a:solidFill>
              </a:rPr>
              <a:t>不确定性推理</a:t>
            </a:r>
            <a:r>
              <a:rPr lang="zh-CN" altLang="en-US" sz="1600" dirty="0"/>
              <a:t>问题</a:t>
            </a:r>
            <a:r>
              <a:rPr lang="zh-CN" altLang="zh-CN" sz="1600" dirty="0"/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268288" indent="-268288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/>
              <a:t>对</a:t>
            </a:r>
            <a:r>
              <a:rPr lang="zh-CN" altLang="zh-CN" sz="1600" dirty="0">
                <a:solidFill>
                  <a:srgbClr val="0000FF"/>
                </a:solidFill>
              </a:rPr>
              <a:t>每个</a:t>
            </a:r>
            <a:r>
              <a:rPr lang="zh-CN" altLang="en-US" sz="1600" dirty="0">
                <a:solidFill>
                  <a:srgbClr val="0000FF"/>
                </a:solidFill>
              </a:rPr>
              <a:t>规则</a:t>
            </a:r>
            <a:r>
              <a:rPr lang="zh-CN" altLang="zh-CN" sz="1600" dirty="0"/>
              <a:t>都</a:t>
            </a:r>
            <a:r>
              <a:rPr lang="zh-CN" altLang="en-US" sz="1600" dirty="0">
                <a:solidFill>
                  <a:srgbClr val="FF0000"/>
                </a:solidFill>
              </a:rPr>
              <a:t>赋予</a:t>
            </a:r>
            <a:r>
              <a:rPr lang="zh-CN" altLang="zh-CN" sz="1600" dirty="0">
                <a:solidFill>
                  <a:srgbClr val="FF0000"/>
                </a:solidFill>
              </a:rPr>
              <a:t>权重</a:t>
            </a:r>
            <a:r>
              <a:rPr lang="zh-CN" altLang="zh-CN" sz="1600" dirty="0"/>
              <a:t>的</a:t>
            </a:r>
            <a:r>
              <a:rPr lang="zh-CN" altLang="zh-CN" sz="1600" u="wavyDbl" dirty="0"/>
              <a:t>一阶逻辑知识库</a:t>
            </a:r>
            <a:r>
              <a:rPr lang="zh-CN" altLang="en-US" sz="1400" dirty="0"/>
              <a:t>（对用</a:t>
            </a:r>
            <a:r>
              <a:rPr lang="zh-CN" altLang="en-US" sz="1400" u="wavyDbl" dirty="0"/>
              <a:t>一阶逻辑公式</a:t>
            </a:r>
            <a:r>
              <a:rPr lang="zh-CN" altLang="en-US" sz="1400" dirty="0"/>
              <a:t>表达的每一个</a:t>
            </a:r>
            <a:r>
              <a:rPr lang="zh-CN" altLang="en-US" sz="1400" u="wavyDbl" dirty="0"/>
              <a:t>规则</a:t>
            </a:r>
            <a:r>
              <a:rPr lang="zh-CN" altLang="en-US" sz="1400" dirty="0"/>
              <a:t>，都赋权重</a:t>
            </a:r>
            <a:r>
              <a:rPr lang="en-US" altLang="zh-CN" sz="1400" dirty="0">
                <a:latin typeface="宋体" panose="02010600030101010101" pitchFamily="2" charset="-122"/>
              </a:rPr>
              <a:t>)</a:t>
            </a:r>
          </a:p>
          <a:p>
            <a:pPr marL="268288" indent="-268288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</a:rPr>
              <a:t>马尔可夫性质，确保了由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当前状态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决定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未来状态</a:t>
            </a:r>
            <a:r>
              <a:rPr lang="zh-CN" altLang="en-US" sz="1600" dirty="0">
                <a:latin typeface="+mn-ea"/>
              </a:rPr>
              <a:t>的</a:t>
            </a:r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概率</a:t>
            </a:r>
            <a:r>
              <a:rPr lang="zh-CN" altLang="en-US" sz="1600" dirty="0">
                <a:latin typeface="+mn-ea"/>
              </a:rPr>
              <a:t>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5772" y="3284984"/>
            <a:ext cx="7802692" cy="1038746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176213" indent="-176213" algn="just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概率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视角：提供一种</a:t>
            </a:r>
            <a:r>
              <a:rPr lang="zh-CN" altLang="zh-CN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简洁的语言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来定义大型马尔科夫网，能灵活地、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模块化</a:t>
            </a:r>
            <a:endParaRPr lang="en-US" altLang="zh-CN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sz="16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地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与大量知识合并。</a:t>
            </a:r>
            <a:endParaRPr lang="en-US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76213" indent="-176213" algn="just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一阶逻辑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视角：能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处理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不确定性、容许有瑕疵甚至矛盾的知识库。</a:t>
            </a:r>
            <a:endParaRPr lang="zh-CN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94335" y="4509120"/>
                <a:ext cx="8045177" cy="138499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定义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en-US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·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MLN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随机变量集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合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联合分布模型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en-US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·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由一个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无向图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和一个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势函数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𝑲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集合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组成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en-US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·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每个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随机变量</a:t>
                </a:r>
                <a:r>
                  <a:rPr lang="zh-CN" altLang="en-US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均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图上的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节点</a:t>
                </a:r>
                <a:endParaRPr lang="en-US" altLang="zh-CN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en-US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·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图的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每个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团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在模型中都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对应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一个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势函数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4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非负实函数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4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代表</a:t>
                </a:r>
                <a:r>
                  <a:rPr lang="zh-CN" altLang="en-US" sz="14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对应</a:t>
                </a:r>
                <a:r>
                  <a:rPr lang="zh-CN" altLang="en-US" sz="1400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4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团的状态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en-US" sz="1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35" y="4509120"/>
                <a:ext cx="8045177" cy="1384995"/>
              </a:xfrm>
              <a:prstGeom prst="rect">
                <a:avLst/>
              </a:prstGeom>
              <a:blipFill>
                <a:blip r:embed="rId2"/>
                <a:stretch>
                  <a:fillRect l="-1288" t="-4405" r="-606" b="-5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1547664" y="136107"/>
            <a:ext cx="7091848" cy="936104"/>
            <a:chOff x="1547664" y="136107"/>
            <a:chExt cx="7091848" cy="936104"/>
          </a:xfrm>
        </p:grpSpPr>
        <p:sp>
          <p:nvSpPr>
            <p:cNvPr id="8" name="矩形 7"/>
            <p:cNvSpPr/>
            <p:nvPr/>
          </p:nvSpPr>
          <p:spPr bwMode="auto">
            <a:xfrm>
              <a:off x="3491880" y="136107"/>
              <a:ext cx="5147632" cy="936104"/>
            </a:xfrm>
            <a:prstGeom prst="rect">
              <a:avLst/>
            </a:prstGeom>
            <a:noFill/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92075" indent="-92075" eaLnBrk="1" hangingPunct="1">
                <a:lnSpc>
                  <a:spcPts val="2300"/>
                </a:lnSpc>
                <a:spcAft>
                  <a:spcPts val="600"/>
                </a:spcAft>
                <a:buClr>
                  <a:srgbClr val="FF0000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当一个随机过程在</a:t>
              </a:r>
              <a:r>
                <a:rPr lang="zh-CN" altLang="en-US" sz="1600" dirty="0">
                  <a:solidFill>
                    <a:srgbClr val="0000FF"/>
                  </a:solidFill>
                </a:rPr>
                <a:t>给定</a:t>
              </a:r>
              <a:r>
                <a:rPr lang="zh-CN" altLang="en-US" sz="1600" dirty="0">
                  <a:solidFill>
                    <a:srgbClr val="FF0000"/>
                  </a:solidFill>
                </a:rPr>
                <a:t>当前状态</a:t>
              </a:r>
              <a:r>
                <a:rPr lang="zh-CN" altLang="en-US" sz="1600" dirty="0"/>
                <a:t>及</a:t>
              </a:r>
              <a:r>
                <a:rPr lang="zh-CN" altLang="en-US" sz="1600" dirty="0">
                  <a:solidFill>
                    <a:srgbClr val="FF0000"/>
                  </a:solidFill>
                </a:rPr>
                <a:t>所有过去状态</a:t>
              </a:r>
              <a:r>
                <a:rPr lang="zh-CN" altLang="en-US" sz="1600" dirty="0"/>
                <a:t>情况下，其</a:t>
              </a:r>
              <a:r>
                <a:rPr lang="zh-CN" altLang="en-US" sz="1600" dirty="0">
                  <a:solidFill>
                    <a:srgbClr val="FF0000"/>
                  </a:solidFill>
                </a:rPr>
                <a:t>未来状态</a:t>
              </a:r>
              <a:r>
                <a:rPr lang="zh-CN" altLang="en-US" sz="1600" dirty="0"/>
                <a:t>的</a:t>
              </a:r>
              <a:r>
                <a:rPr lang="zh-CN" altLang="en-US" sz="1600" dirty="0">
                  <a:solidFill>
                    <a:srgbClr val="FF0000"/>
                  </a:solidFill>
                </a:rPr>
                <a:t>条件概率分布</a:t>
              </a:r>
              <a:r>
                <a:rPr lang="zh-CN" altLang="en-US" sz="1600" u="wavyHeavy" dirty="0"/>
                <a:t>仅依赖于</a:t>
              </a:r>
              <a:r>
                <a:rPr lang="zh-CN" altLang="en-US" sz="1600" dirty="0">
                  <a:solidFill>
                    <a:srgbClr val="FF0000"/>
                  </a:solidFill>
                </a:rPr>
                <a:t>当前状态</a:t>
              </a:r>
              <a:r>
                <a:rPr lang="zh-CN" altLang="en-US" sz="1600" dirty="0"/>
                <a:t>。</a:t>
              </a:r>
              <a:endParaRPr lang="en-US" altLang="zh-CN" sz="1600" dirty="0"/>
            </a:p>
            <a:p>
              <a:pPr marL="92075" indent="-92075" eaLnBrk="1" hangingPunct="1">
                <a:lnSpc>
                  <a:spcPts val="2300"/>
                </a:lnSpc>
                <a:buClr>
                  <a:srgbClr val="FF0000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zh-CN" altLang="en-US" sz="1600" dirty="0"/>
                <a:t>即，在给定</a:t>
              </a:r>
              <a:r>
                <a:rPr lang="zh-CN" altLang="en-US" sz="1600" dirty="0">
                  <a:solidFill>
                    <a:srgbClr val="FF0000"/>
                  </a:solidFill>
                </a:rPr>
                <a:t>当前状态</a:t>
              </a:r>
              <a:r>
                <a:rPr lang="zh-CN" altLang="en-US" sz="1600" dirty="0"/>
                <a:t>时，它与</a:t>
              </a:r>
              <a:r>
                <a:rPr lang="zh-CN" altLang="en-US" sz="1600" dirty="0">
                  <a:solidFill>
                    <a:srgbClr val="FF0000"/>
                  </a:solidFill>
                </a:rPr>
                <a:t>过去状态</a:t>
              </a:r>
              <a:r>
                <a:rPr lang="zh-CN" altLang="en-US" sz="1600" dirty="0"/>
                <a:t>是</a:t>
              </a:r>
              <a:r>
                <a:rPr lang="zh-CN" altLang="en-US" sz="1600" dirty="0">
                  <a:solidFill>
                    <a:srgbClr val="FF0000"/>
                  </a:solidFill>
                </a:rPr>
                <a:t>条件独立</a:t>
              </a:r>
              <a:r>
                <a:rPr lang="zh-CN" altLang="en-US" sz="1600" dirty="0"/>
                <a:t>的。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547664" y="465659"/>
              <a:ext cx="187220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dirty="0"/>
                <a:t>当前状态的独立性</a:t>
              </a:r>
            </a:p>
          </p:txBody>
        </p:sp>
      </p:grpSp>
      <p:sp>
        <p:nvSpPr>
          <p:cNvPr id="10" name="圆角矩形标注 9"/>
          <p:cNvSpPr/>
          <p:nvPr/>
        </p:nvSpPr>
        <p:spPr bwMode="auto">
          <a:xfrm>
            <a:off x="7849304" y="5184900"/>
            <a:ext cx="648072" cy="284888"/>
          </a:xfrm>
          <a:prstGeom prst="wedgeRoundRectCallout">
            <a:avLst>
              <a:gd name="adj1" fmla="val 20166"/>
              <a:gd name="adj2" fmla="val 9816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特征值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 flipV="1">
            <a:off x="5364088" y="5327344"/>
            <a:ext cx="2448272" cy="24407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123728" y="5884879"/>
            <a:ext cx="1619240" cy="215444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子图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随机变量子集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72000" y="5894114"/>
            <a:ext cx="3962320" cy="215444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>
                <a:solidFill>
                  <a:srgbClr val="0000FF"/>
                </a:solidFill>
                <a:latin typeface="+mn-ea"/>
                <a:ea typeface="+mn-ea"/>
              </a:rPr>
              <a:t>度量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团中随机变量之间的依赖关系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联合概率分布</a:t>
            </a:r>
            <a:r>
              <a:rPr lang="en-US" altLang="zh-CN" sz="14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9596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 animBg="1"/>
      <p:bldP spid="11" grpId="0" animBg="1"/>
      <p:bldP spid="13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2274" y="1798644"/>
            <a:ext cx="8047238" cy="11815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00FF"/>
                </a:solidFill>
                <a:latin typeface="PingFang SC"/>
              </a:rPr>
              <a:t>一组</a:t>
            </a:r>
            <a:r>
              <a:rPr lang="zh-CN" altLang="en-US" dirty="0">
                <a:latin typeface="PingFang SC"/>
              </a:rPr>
              <a:t>具有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马尔可夫性质</a:t>
            </a:r>
            <a:r>
              <a:rPr lang="zh-CN" altLang="en-US" dirty="0">
                <a:solidFill>
                  <a:srgbClr val="222226"/>
                </a:solidFill>
                <a:latin typeface="PingFang SC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PingFang SC"/>
              </a:rPr>
              <a:t>随机变量</a:t>
            </a:r>
            <a:r>
              <a:rPr lang="zh-CN" altLang="en-US" dirty="0">
                <a:latin typeface="PingFang SC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联合概率分布</a:t>
            </a:r>
            <a:r>
              <a:rPr lang="zh-CN" altLang="en-US" dirty="0">
                <a:latin typeface="PingFang SC"/>
              </a:rPr>
              <a:t>模型</a:t>
            </a:r>
            <a:r>
              <a:rPr lang="en-US" altLang="zh-CN" dirty="0">
                <a:latin typeface="PingFang SC"/>
              </a:rPr>
              <a:t>(</a:t>
            </a:r>
            <a:r>
              <a:rPr lang="zh-CN" altLang="en-US" dirty="0">
                <a:latin typeface="PingFang SC"/>
              </a:rPr>
              <a:t>概率模型</a:t>
            </a:r>
            <a:r>
              <a:rPr lang="en-US" altLang="zh-CN" dirty="0">
                <a:latin typeface="PingFang SC"/>
              </a:rPr>
              <a:t>)</a:t>
            </a:r>
            <a:r>
              <a:rPr lang="zh-CN" altLang="en-US" dirty="0">
                <a:latin typeface="PingFang SC"/>
              </a:rPr>
              <a:t>，由一个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无向图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PingFang SC"/>
              </a:rPr>
              <a:t>和</a:t>
            </a:r>
            <a:r>
              <a:rPr lang="zh-CN" altLang="en-US" u="wavyDbl" dirty="0">
                <a:latin typeface="PingFang SC"/>
              </a:rPr>
              <a:t>定义于</a:t>
            </a:r>
            <a:r>
              <a:rPr lang="en-US" altLang="zh-CN" u="wavyDbl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u="wavyDbl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</a:t>
            </a:r>
            <a:r>
              <a:rPr lang="zh-CN" altLang="en-US" u="wavyDbl" dirty="0">
                <a:latin typeface="PingFang SC"/>
              </a:rPr>
              <a:t>上</a:t>
            </a:r>
            <a:r>
              <a:rPr lang="zh-CN" altLang="en-US" dirty="0">
                <a:latin typeface="PingFang SC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势函数集合</a:t>
            </a:r>
            <a:r>
              <a:rPr lang="zh-CN" altLang="en-US" dirty="0">
                <a:latin typeface="PingFang SC"/>
              </a:rPr>
              <a:t>组成，结合了</a:t>
            </a:r>
            <a:r>
              <a:rPr lang="zh-CN" altLang="en-US" dirty="0">
                <a:solidFill>
                  <a:srgbClr val="0000FF"/>
                </a:solidFill>
                <a:latin typeface="PingFang SC"/>
              </a:rPr>
              <a:t>马尔可夫网络</a:t>
            </a:r>
            <a:r>
              <a:rPr lang="zh-CN" altLang="en-US" dirty="0">
                <a:latin typeface="PingFang SC"/>
              </a:rPr>
              <a:t>和</a:t>
            </a:r>
            <a:r>
              <a:rPr lang="zh-CN" altLang="en-US" dirty="0">
                <a:solidFill>
                  <a:srgbClr val="0000FF"/>
                </a:solidFill>
                <a:latin typeface="PingFang SC"/>
              </a:rPr>
              <a:t>一阶逻辑</a:t>
            </a:r>
            <a:r>
              <a:rPr lang="zh-CN" altLang="en-US" dirty="0">
                <a:latin typeface="PingFang SC"/>
              </a:rPr>
              <a:t>的优点。（顶点、边）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2274" y="3318083"/>
            <a:ext cx="815619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PingFang SC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</a:t>
            </a:r>
            <a:r>
              <a:rPr lang="zh-CN" altLang="en-US" dirty="0">
                <a:latin typeface="PingFang SC"/>
              </a:rPr>
              <a:t>网络的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异同</a:t>
            </a:r>
            <a:r>
              <a:rPr lang="zh-CN" altLang="en-US" dirty="0">
                <a:solidFill>
                  <a:srgbClr val="222226"/>
                </a:solidFill>
                <a:latin typeface="PingFang SC"/>
              </a:rPr>
              <a:t>：</a:t>
            </a:r>
            <a:r>
              <a:rPr lang="zh-CN" altLang="en-US" dirty="0">
                <a:latin typeface="+mn-ea"/>
                <a:ea typeface="+mn-ea"/>
              </a:rPr>
              <a:t>也用于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表示变量之间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依赖关系</a:t>
            </a:r>
            <a:r>
              <a:rPr lang="zh-CN" altLang="en-US" dirty="0">
                <a:latin typeface="+mn-ea"/>
                <a:ea typeface="+mn-ea"/>
              </a:rPr>
              <a:t>，但不能表示贝叶斯网络可以表示的某些关系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如推导关系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43569" y="395428"/>
                <a:ext cx="7788084" cy="11285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176213" indent="-176213">
                  <a:lnSpc>
                    <a:spcPts val="22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+mn-ea"/>
                    <a:ea typeface="+mn-ea"/>
                  </a:rPr>
                  <a:t>一组随机变量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zh-CN" altLang="en-US" sz="1600" dirty="0">
                    <a:latin typeface="+mn-ea"/>
                    <a:ea typeface="+mn-ea"/>
                  </a:rPr>
                  <a:t>节点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  <a:r>
                  <a:rPr lang="zh-CN" altLang="en-US" sz="1600" dirty="0">
                    <a:latin typeface="+mn-ea"/>
                    <a:ea typeface="+mn-ea"/>
                  </a:rPr>
                  <a:t>集合</a:t>
                </a:r>
                <a:r>
                  <a:rPr lang="zh-CN" altLang="en-US" sz="1600" dirty="0">
                    <a:latin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1600" dirty="0">
                    <a:latin typeface="+mn-ea"/>
                    <a:ea typeface="+mn-ea"/>
                  </a:rPr>
                  <a:t>构成一个团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176213" indent="-176213">
                  <a:lnSpc>
                    <a:spcPts val="22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+mn-ea"/>
                    <a:ea typeface="+mn-ea"/>
                  </a:rPr>
                  <a:t>若干随机变量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zh-CN" altLang="en-US" sz="1600" dirty="0">
                    <a:latin typeface="+mn-ea"/>
                    <a:ea typeface="+mn-ea"/>
                  </a:rPr>
                  <a:t>变量子集</a:t>
                </a:r>
                <a:r>
                  <a:rPr lang="en-US" altLang="zh-CN" sz="1600" dirty="0">
                    <a:latin typeface="+mn-ea"/>
                    <a:ea typeface="+mn-ea"/>
                  </a:rPr>
                  <a:t>\</a:t>
                </a:r>
                <a:r>
                  <a:rPr lang="zh-CN" altLang="en-US" sz="1600" dirty="0">
                    <a:latin typeface="+mn-ea"/>
                    <a:ea typeface="+mn-ea"/>
                  </a:rPr>
                  <a:t>部分节点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  <a:r>
                  <a:rPr lang="zh-CN" altLang="en-US" sz="1600" dirty="0">
                    <a:latin typeface="+mn-ea"/>
                    <a:ea typeface="+mn-ea"/>
                  </a:rPr>
                  <a:t>构成若干个子团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176213" indent="-176213">
                  <a:lnSpc>
                    <a:spcPts val="22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+mn-ea"/>
                    <a:ea typeface="+mn-ea"/>
                  </a:rPr>
                  <a:t>每个子团都分别具有一个势函数，表示各个子团内部，各变量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zh-CN" altLang="en-US" sz="1600" dirty="0">
                    <a:latin typeface="+mn-ea"/>
                    <a:ea typeface="+mn-ea"/>
                  </a:rPr>
                  <a:t>节点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  <a:r>
                  <a:rPr lang="zh-CN" altLang="en-US" sz="1600" dirty="0">
                    <a:latin typeface="+mn-ea"/>
                    <a:ea typeface="+mn-ea"/>
                  </a:rPr>
                  <a:t>间的依赖关系。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176213" indent="-176213">
                  <a:lnSpc>
                    <a:spcPts val="22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+mn-ea"/>
                    <a:ea typeface="+mn-ea"/>
                  </a:rPr>
                  <a:t>这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一组随机变量</a:t>
                </a:r>
                <a:r>
                  <a:rPr lang="zh-CN" altLang="en-US" sz="1600" dirty="0">
                    <a:latin typeface="+mn-ea"/>
                    <a:ea typeface="+mn-ea"/>
                  </a:rPr>
                  <a:t>的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联合概率分布</a:t>
                </a:r>
                <a:r>
                  <a:rPr lang="zh-CN" altLang="en-US" sz="1600" dirty="0">
                    <a:latin typeface="+mn-ea"/>
                    <a:ea typeface="+mn-ea"/>
                  </a:rPr>
                  <a:t>，即表示为“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所有势函数的乘积</a:t>
                </a:r>
                <a:r>
                  <a:rPr lang="zh-CN" altLang="en-US" sz="1600" dirty="0">
                    <a:latin typeface="+mn-ea"/>
                    <a:ea typeface="+mn-ea"/>
                  </a:rPr>
                  <a:t>”。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69" y="395428"/>
                <a:ext cx="7788084" cy="1128514"/>
              </a:xfrm>
              <a:prstGeom prst="rect">
                <a:avLst/>
              </a:prstGeom>
              <a:blipFill>
                <a:blip r:embed="rId2"/>
                <a:stretch>
                  <a:fillRect l="-1407" t="-5348" r="-1329" b="-6417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42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637388" y="801648"/>
                <a:ext cx="7704856" cy="71814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indent="-268288">
                  <a:lnSpc>
                    <a:spcPts val="28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rgbClr val="FF0000"/>
                    </a:solidFill>
                    <a:latin typeface="PingFang SC"/>
                  </a:rPr>
                  <a:t>定义</a:t>
                </a:r>
                <a:r>
                  <a:rPr lang="zh-CN" altLang="en-US" dirty="0">
                    <a:solidFill>
                      <a:srgbClr val="222226"/>
                    </a:solidFill>
                    <a:latin typeface="PingFang SC"/>
                  </a:rPr>
                  <a:t>：假设两个图分别为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222226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rgbClr val="222226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1" i="1" smtClean="0">
                        <a:solidFill>
                          <a:srgbClr val="2222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r>
                      <a:rPr lang="en-US" altLang="zh-CN" b="1" i="1" smtClean="0">
                        <a:solidFill>
                          <a:srgbClr val="2222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2222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solidFill>
                          <a:srgbClr val="2222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dirty="0"/>
                      <m:t>⊆</m:t>
                    </m:r>
                    <m:r>
                      <m:rPr>
                        <m:nor/>
                      </m:rPr>
                      <a:rPr lang="en-US" altLang="zh-CN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dirty="0"/>
                      <m:t>⊆</m:t>
                    </m:r>
                    <m:r>
                      <m:rPr>
                        <m:nor/>
                      </m:rPr>
                      <a:rPr lang="en-US" altLang="zh-CN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lnSpc>
                    <a:spcPts val="28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latin typeface="+mn-ea"/>
                    <a:ea typeface="+mn-ea"/>
                  </a:rPr>
                  <a:t>     </a:t>
                </a:r>
                <a:r>
                  <a:rPr lang="en-US" altLang="zh-CN" sz="2000" dirty="0">
                    <a:latin typeface="+mn-ea"/>
                    <a:ea typeface="+mn-ea"/>
                  </a:rPr>
                  <a:t>   </a:t>
                </a:r>
                <a:r>
                  <a:rPr lang="zh-CN" altLang="en-US" dirty="0">
                    <a:latin typeface="+mn-ea"/>
                    <a:ea typeface="+mn-ea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+mn-ea"/>
                      </a:rPr>
                      <m:t>𝑮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的子图。</a:t>
                </a: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8" y="801648"/>
                <a:ext cx="7704856" cy="718145"/>
              </a:xfrm>
              <a:prstGeom prst="rect">
                <a:avLst/>
              </a:prstGeom>
              <a:blipFill>
                <a:blip r:embed="rId2"/>
                <a:stretch>
                  <a:fillRect l="-1346" t="-6838" r="-1346" b="-11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611560" y="1772816"/>
            <a:ext cx="7931742" cy="1800200"/>
            <a:chOff x="611560" y="1772816"/>
            <a:chExt cx="7931742" cy="1800200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1988840"/>
              <a:ext cx="1673216" cy="158417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411760" y="1772816"/>
              <a:ext cx="6131542" cy="72180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68288" indent="-268288">
                <a:lnSpc>
                  <a:spcPts val="2700"/>
                </a:lnSpc>
                <a:spcAft>
                  <a:spcPts val="60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>
                  <a:solidFill>
                    <a:srgbClr val="FF0000"/>
                  </a:solidFill>
                  <a:latin typeface="PingFang SC"/>
                </a:rPr>
                <a:t>全</a:t>
              </a:r>
              <a:r>
                <a:rPr lang="zh-CN" altLang="en-US">
                  <a:solidFill>
                    <a:srgbClr val="FF0000"/>
                  </a:solidFill>
                  <a:latin typeface="+mn-ea"/>
                  <a:ea typeface="+mn-ea"/>
                </a:rPr>
                <a:t>图</a:t>
              </a:r>
              <a:r>
                <a:rPr lang="en-US" altLang="zh-CN" dirty="0">
                  <a:latin typeface="+mn-ea"/>
                  <a:ea typeface="+mn-ea"/>
                </a:rPr>
                <a:t>(</a:t>
              </a:r>
              <a:r>
                <a:rPr lang="zh-CN" altLang="en-US" dirty="0">
                  <a:solidFill>
                    <a:srgbClr val="0000FF"/>
                  </a:solidFill>
                  <a:latin typeface="+mn-ea"/>
                  <a:ea typeface="+mn-ea"/>
                </a:rPr>
                <a:t>团</a:t>
              </a:r>
              <a:r>
                <a:rPr lang="en-US" altLang="zh-CN" dirty="0">
                  <a:latin typeface="+mn-ea"/>
                  <a:ea typeface="+mn-ea"/>
                </a:rPr>
                <a:t>)</a:t>
              </a:r>
              <a:r>
                <a:rPr lang="zh-CN" altLang="en-US" dirty="0">
                  <a:latin typeface="+mn-ea"/>
                  <a:ea typeface="+mn-ea"/>
                </a:rPr>
                <a:t>：任意两个节点都直接相连的图</a:t>
              </a:r>
              <a:r>
                <a:rPr lang="en-US" altLang="zh-CN" dirty="0">
                  <a:latin typeface="+mn-ea"/>
                  <a:ea typeface="+mn-ea"/>
                </a:rPr>
                <a:t>(</a:t>
              </a:r>
              <a:r>
                <a:rPr lang="zh-CN" altLang="en-US" dirty="0">
                  <a:latin typeface="+mn-ea"/>
                  <a:ea typeface="+mn-ea"/>
                </a:rPr>
                <a:t>全连接图</a:t>
              </a:r>
              <a:r>
                <a:rPr lang="en-US" altLang="zh-CN" dirty="0">
                  <a:latin typeface="+mn-ea"/>
                  <a:ea typeface="+mn-ea"/>
                </a:rPr>
                <a:t>)</a:t>
              </a:r>
            </a:p>
            <a:p>
              <a:pPr marL="268288" indent="-268288">
                <a:lnSpc>
                  <a:spcPts val="27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dirty="0">
                  <a:solidFill>
                    <a:srgbClr val="FF0000"/>
                  </a:solidFill>
                  <a:latin typeface="+mn-ea"/>
                  <a:ea typeface="+mn-ea"/>
                </a:rPr>
                <a:t>完全子图</a:t>
              </a:r>
              <a:r>
                <a:rPr lang="en-US" altLang="zh-CN" dirty="0">
                  <a:latin typeface="+mn-ea"/>
                  <a:ea typeface="+mn-ea"/>
                </a:rPr>
                <a:t>(</a:t>
              </a:r>
              <a:r>
                <a:rPr lang="zh-CN" altLang="en-US" dirty="0">
                  <a:solidFill>
                    <a:srgbClr val="0000FF"/>
                  </a:solidFill>
                  <a:latin typeface="+mn-ea"/>
                  <a:ea typeface="+mn-ea"/>
                </a:rPr>
                <a:t>子团</a:t>
              </a:r>
              <a:r>
                <a:rPr lang="en-US" altLang="zh-CN" dirty="0">
                  <a:latin typeface="+mn-ea"/>
                  <a:ea typeface="+mn-ea"/>
                </a:rPr>
                <a:t>)</a:t>
              </a:r>
              <a:r>
                <a:rPr lang="zh-CN" altLang="en-US" dirty="0">
                  <a:latin typeface="+mn-ea"/>
                  <a:ea typeface="+mn-ea"/>
                </a:rPr>
                <a:t>：一个子图的任意两个节点之间有边相连</a:t>
              </a:r>
              <a:endParaRPr lang="en-US" altLang="zh-CN" sz="1600" dirty="0">
                <a:latin typeface="+mn-ea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618735" y="4293096"/>
            <a:ext cx="8129729" cy="16158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</a:rPr>
              <a:t>团势能</a:t>
            </a:r>
            <a:r>
              <a:rPr lang="en-US" altLang="zh-CN" sz="1400" dirty="0">
                <a:latin typeface="+mn-ea"/>
                <a:ea typeface="+mn-ea"/>
              </a:rPr>
              <a:t>(</a:t>
            </a:r>
            <a:r>
              <a:rPr lang="en-US" altLang="zh-CN" sz="1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Clique potential</a:t>
            </a:r>
            <a:r>
              <a:rPr lang="en-US" altLang="zh-CN" sz="1400" dirty="0">
                <a:latin typeface="+mn-ea"/>
                <a:ea typeface="+mn-ea"/>
              </a:rPr>
              <a:t>)</a:t>
            </a:r>
            <a:r>
              <a:rPr lang="zh-CN" altLang="en-US" dirty="0"/>
              <a:t>：无向图中，</a:t>
            </a:r>
            <a:r>
              <a:rPr lang="zh-CN" altLang="en-US" dirty="0">
                <a:solidFill>
                  <a:srgbClr val="FF0000"/>
                </a:solidFill>
              </a:rPr>
              <a:t>不需要</a:t>
            </a:r>
            <a:r>
              <a:rPr lang="zh-CN" altLang="en-US" dirty="0"/>
              <a:t>用条件概率密度对模型进行参数化，而是使用</a:t>
            </a:r>
            <a:r>
              <a:rPr lang="zh-CN" altLang="en-US" dirty="0">
                <a:solidFill>
                  <a:srgbClr val="FF0000"/>
                </a:solidFill>
              </a:rPr>
              <a:t>团势能</a:t>
            </a:r>
            <a:r>
              <a:rPr lang="zh-CN" altLang="en-US" dirty="0"/>
              <a:t>的参数化因子。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：团势能函数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势函数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</a:rPr>
              <a:t>势函数</a:t>
            </a:r>
            <a:r>
              <a:rPr lang="zh-CN" altLang="en-US" dirty="0"/>
              <a:t>：定义在一个</a:t>
            </a:r>
            <a:r>
              <a:rPr lang="zh-CN" altLang="en-US" dirty="0">
                <a:solidFill>
                  <a:srgbClr val="FF0000"/>
                </a:solidFill>
              </a:rPr>
              <a:t>团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FF0000"/>
                </a:solidFill>
              </a:rPr>
              <a:t>非负实函数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ts val="3000"/>
              </a:lnSpc>
              <a:buClr>
                <a:srgbClr val="FF0000"/>
              </a:buClr>
              <a:buSzPct val="80000"/>
            </a:pPr>
            <a:r>
              <a:rPr lang="en-US" altLang="zh-CN" dirty="0"/>
              <a:t>           </a:t>
            </a:r>
            <a:r>
              <a:rPr lang="en-US" altLang="zh-CN" sz="2000" dirty="0"/>
              <a:t>    </a:t>
            </a:r>
            <a:r>
              <a:rPr lang="zh-CN" altLang="en-US" dirty="0"/>
              <a:t>每个</a:t>
            </a:r>
            <a:r>
              <a:rPr lang="zh-CN" altLang="en-US" dirty="0">
                <a:solidFill>
                  <a:srgbClr val="FF0000"/>
                </a:solidFill>
              </a:rPr>
              <a:t>团</a:t>
            </a:r>
            <a:r>
              <a:rPr lang="zh-CN" altLang="en-US" dirty="0"/>
              <a:t>都</a:t>
            </a:r>
            <a:r>
              <a:rPr lang="zh-CN" altLang="en-US" dirty="0">
                <a:solidFill>
                  <a:srgbClr val="0000FF"/>
                </a:solidFill>
              </a:rPr>
              <a:t>对应</a:t>
            </a:r>
            <a:r>
              <a:rPr lang="zh-CN" altLang="en-US" dirty="0"/>
              <a:t>一个</a:t>
            </a:r>
            <a:r>
              <a:rPr lang="zh-CN" altLang="en-US" dirty="0">
                <a:solidFill>
                  <a:srgbClr val="FF0000"/>
                </a:solidFill>
              </a:rPr>
              <a:t>势函数</a:t>
            </a:r>
            <a:r>
              <a:rPr lang="zh-CN" altLang="en-US" dirty="0"/>
              <a:t>，表示</a:t>
            </a:r>
            <a:r>
              <a:rPr lang="zh-CN" altLang="en-US" dirty="0">
                <a:solidFill>
                  <a:srgbClr val="FF0000"/>
                </a:solidFill>
              </a:rPr>
              <a:t>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状态</a:t>
            </a:r>
            <a:r>
              <a:rPr lang="zh-CN" altLang="en-US" dirty="0"/>
              <a:t>。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依赖关系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endParaRPr lang="zh-CN" altLang="en-US" sz="16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692182" y="2564904"/>
                <a:ext cx="5832648" cy="1566519"/>
              </a:xfrm>
              <a:prstGeom prst="rect">
                <a:avLst/>
              </a:prstGeom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如</a:t>
                </a:r>
                <a:r>
                  <a:rPr lang="zh-CN" altLang="en-US" sz="1600" dirty="0">
                    <a:latin typeface="+mn-ea"/>
                    <a:ea typeface="+mn-ea"/>
                  </a:rPr>
                  <a:t>：完全子图有：“节点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+mn-ea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”和“边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”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sz="1600" dirty="0">
                    <a:latin typeface="+mn-ea"/>
                    <a:ea typeface="+mn-ea"/>
                  </a:rPr>
                  <a:t>                </a:t>
                </a:r>
                <a:r>
                  <a:rPr lang="zh-CN" altLang="en-US" sz="1600" dirty="0">
                    <a:latin typeface="+mn-ea"/>
                    <a:ea typeface="+mn-ea"/>
                  </a:rPr>
                  <a:t>“节点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”和“</a:t>
                </a:r>
                <a:r>
                  <a:rPr lang="zh-CN" altLang="en-US" sz="1600" dirty="0">
                    <a:latin typeface="+mn-ea"/>
                  </a:rPr>
                  <a:t>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”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sz="1600" dirty="0">
                    <a:latin typeface="+mn-ea"/>
                    <a:ea typeface="+mn-ea"/>
                  </a:rPr>
                  <a:t>                </a:t>
                </a:r>
                <a:r>
                  <a:rPr lang="zh-CN" altLang="en-US" sz="1600" dirty="0">
                    <a:latin typeface="+mn-ea"/>
                  </a:rPr>
                  <a:t>“节点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”和“边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”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zh-CN" altLang="en-US" sz="1600" dirty="0">
                    <a:latin typeface="+mn-ea"/>
                  </a:rPr>
                  <a:t>                “节点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”和“边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”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zh-CN" altLang="en-US" sz="1600" dirty="0">
                    <a:latin typeface="+mn-ea"/>
                  </a:rPr>
                  <a:t>    不完全子图：节点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构成的图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182" y="2564904"/>
                <a:ext cx="5832648" cy="1566519"/>
              </a:xfrm>
              <a:prstGeom prst="rect">
                <a:avLst/>
              </a:prstGeom>
              <a:blipFill>
                <a:blip r:embed="rId4"/>
                <a:stretch>
                  <a:fillRect l="-2088" t="-1931" r="-1357" b="-5792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17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08458" y="1762613"/>
                <a:ext cx="7920880" cy="35907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indent="-268288">
                  <a:lnSpc>
                    <a:spcPts val="28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rgbClr val="FF0000"/>
                    </a:solidFill>
                    <a:latin typeface="PingFang SC"/>
                  </a:rPr>
                  <a:t>能量函数</a:t>
                </a:r>
                <a:r>
                  <a:rPr lang="zh-CN" altLang="en-US" dirty="0">
                    <a:solidFill>
                      <a:srgbClr val="222226"/>
                    </a:solidFill>
                    <a:latin typeface="PingFang SC"/>
                  </a:rPr>
                  <a:t>：用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表示“</a:t>
                </a:r>
                <a:r>
                  <a:rPr lang="zh-CN" altLang="en-US" dirty="0">
                    <a:solidFill>
                      <a:srgbClr val="0000FF"/>
                    </a:solidFill>
                    <a:latin typeface="+mn-ea"/>
                    <a:ea typeface="+mn-ea"/>
                  </a:rPr>
                  <a:t>团</a:t>
                </a:r>
                <a:r>
                  <a:rPr lang="en-US" altLang="zh-CN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+mn-ea"/>
                    <a:ea typeface="+mn-ea"/>
                  </a:rPr>
                  <a:t>”中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节点集合</a:t>
                </a:r>
                <a:r>
                  <a:rPr lang="zh-CN" altLang="en-US" dirty="0">
                    <a:latin typeface="+mn-ea"/>
                    <a:ea typeface="+mn-ea"/>
                  </a:rPr>
                  <a:t>，用“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∅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𝑪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”表示“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</a:rPr>
                  <a:t>团势能</a:t>
                </a:r>
                <a:r>
                  <a:rPr lang="zh-CN" altLang="en-US" dirty="0">
                    <a:latin typeface="+mn-ea"/>
                    <a:ea typeface="+mn-ea"/>
                  </a:rPr>
                  <a:t>”。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58" y="1762613"/>
                <a:ext cx="7920880" cy="359073"/>
              </a:xfrm>
              <a:prstGeom prst="rect">
                <a:avLst/>
              </a:prstGeom>
              <a:blipFill>
                <a:blip r:embed="rId2"/>
                <a:stretch>
                  <a:fillRect l="-1309" t="-13559" b="-30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881120" y="2187305"/>
            <a:ext cx="7228508" cy="1214091"/>
            <a:chOff x="881120" y="2187305"/>
            <a:chExt cx="7228508" cy="1214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>
                <a:xfrm>
                  <a:off x="881120" y="2187305"/>
                  <a:ext cx="5638150" cy="359073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lnSpc>
                      <a:spcPts val="2800"/>
                    </a:lnSpc>
                    <a:buClr>
                      <a:srgbClr val="FF0000"/>
                    </a:buClr>
                    <a:buSzPct val="80000"/>
                  </a:pPr>
                  <a:r>
                    <a:rPr lang="zh-CN" altLang="en-US" dirty="0">
                      <a:solidFill>
                        <a:srgbClr val="0000FF"/>
                      </a:solidFill>
                      <a:latin typeface="PingFang SC"/>
                    </a:rPr>
                    <a:t>如</a:t>
                  </a:r>
                  <a:r>
                    <a:rPr lang="zh-CN" altLang="en-US" dirty="0">
                      <a:latin typeface="PingFang SC"/>
                    </a:rPr>
                    <a:t>：</a:t>
                  </a:r>
                  <a:r>
                    <a:rPr lang="zh-CN" altLang="en-US" u="wavyDbl" dirty="0">
                      <a:latin typeface="PingFang SC"/>
                    </a:rPr>
                    <a:t>两个团</a:t>
                  </a:r>
                  <a:r>
                    <a:rPr lang="zh-CN" altLang="en-US" dirty="0">
                      <a:latin typeface="PingFang SC"/>
                    </a:rPr>
                    <a:t>可表示为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dirty="0">
                      <a:latin typeface="+mn-ea"/>
                      <a:ea typeface="+mn-ea"/>
                    </a:rPr>
                    <a:t>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120" y="2187305"/>
                  <a:ext cx="5638150" cy="359073"/>
                </a:xfrm>
                <a:prstGeom prst="rect">
                  <a:avLst/>
                </a:prstGeom>
                <a:blipFill>
                  <a:blip r:embed="rId3"/>
                  <a:stretch>
                    <a:fillRect l="-2597" t="-13559" r="-974" b="-237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/>
                <p:cNvSpPr/>
                <p:nvPr/>
              </p:nvSpPr>
              <p:spPr>
                <a:xfrm>
                  <a:off x="1340876" y="2616560"/>
                  <a:ext cx="6768752" cy="359073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lnSpc>
                      <a:spcPts val="2800"/>
                    </a:lnSpc>
                    <a:buClr>
                      <a:srgbClr val="FF0000"/>
                    </a:buClr>
                    <a:buSzPct val="80000"/>
                  </a:pPr>
                  <a:r>
                    <a:rPr lang="zh-CN" altLang="en-US" dirty="0">
                      <a:solidFill>
                        <a:schemeClr val="tx1"/>
                      </a:solidFill>
                      <a:latin typeface="PingFang SC"/>
                    </a:rPr>
                    <a:t>因，定义中要求势函数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“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非负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”，因此一般将</a:t>
                  </a:r>
                  <a14:m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定义为：</a:t>
                  </a:r>
                </a:p>
              </p:txBody>
            </p:sp>
          </mc:Choice>
          <mc:Fallback xmlns=""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0876" y="2616560"/>
                  <a:ext cx="6768752" cy="359073"/>
                </a:xfrm>
                <a:prstGeom prst="rect">
                  <a:avLst/>
                </a:prstGeom>
                <a:blipFill>
                  <a:blip r:embed="rId4"/>
                  <a:stretch>
                    <a:fillRect l="-2162" t="-13559" r="-1802" b="-254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组合 13"/>
            <p:cNvGrpSpPr/>
            <p:nvPr/>
          </p:nvGrpSpPr>
          <p:grpSpPr>
            <a:xfrm>
              <a:off x="1800632" y="3048855"/>
              <a:ext cx="5601518" cy="352541"/>
              <a:chOff x="1706786" y="3470507"/>
              <a:chExt cx="5601518" cy="352541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6786" y="3500895"/>
                <a:ext cx="2045418" cy="32215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矩形 10"/>
                  <p:cNvSpPr/>
                  <p:nvPr/>
                </p:nvSpPr>
                <p:spPr>
                  <a:xfrm>
                    <a:off x="3995936" y="3470507"/>
                    <a:ext cx="3312368" cy="318421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  <a:buClr>
                        <a:srgbClr val="FF0000"/>
                      </a:buClr>
                      <a:buSzPct val="80000"/>
                    </a:pPr>
                    <a:r>
                      <a:rPr lang="zh-CN" altLang="en-US" dirty="0">
                        <a:solidFill>
                          <a:schemeClr val="tx1"/>
                        </a:solidFill>
                        <a:latin typeface="PingFang SC"/>
                      </a:rPr>
                      <a:t>式中，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称为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</m:oMath>
                    </a14:m>
                    <a:r>
                      <a: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的</a:t>
                    </a:r>
                    <a:r>
                      <a:rPr lang="zh-CN" altLang="en-US" dirty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能量函数</a:t>
                    </a:r>
                  </a:p>
                </p:txBody>
              </p:sp>
            </mc:Choice>
            <mc:Fallback xmlns="">
              <p:sp>
                <p:nvSpPr>
                  <p:cNvPr id="11" name="矩形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5936" y="3470507"/>
                    <a:ext cx="3312368" cy="3184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420" t="-15385" r="-1289" b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" name="组合 21"/>
          <p:cNvGrpSpPr/>
          <p:nvPr/>
        </p:nvGrpSpPr>
        <p:grpSpPr>
          <a:xfrm>
            <a:off x="608458" y="3615699"/>
            <a:ext cx="8067998" cy="1047196"/>
            <a:chOff x="608458" y="3615699"/>
            <a:chExt cx="8067998" cy="1047196"/>
          </a:xfrm>
        </p:grpSpPr>
        <p:sp>
          <p:nvSpPr>
            <p:cNvPr id="17" name="矩形 16"/>
            <p:cNvSpPr/>
            <p:nvPr/>
          </p:nvSpPr>
          <p:spPr>
            <a:xfrm>
              <a:off x="608458" y="3615699"/>
              <a:ext cx="266739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68288" indent="-268288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dirty="0">
                  <a:solidFill>
                    <a:srgbClr val="FF0000"/>
                  </a:solidFill>
                  <a:latin typeface="PingFang SC"/>
                </a:rPr>
                <a:t>马尔科夫逻辑网络公式</a:t>
              </a:r>
              <a:endParaRPr lang="zh-CN" altLang="en-US" dirty="0">
                <a:latin typeface="+mn-ea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/>
                <p:cNvSpPr/>
                <p:nvPr/>
              </p:nvSpPr>
              <p:spPr>
                <a:xfrm>
                  <a:off x="928193" y="3970398"/>
                  <a:ext cx="7748263" cy="692497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76213" indent="-176213">
                    <a:lnSpc>
                      <a:spcPts val="2700"/>
                    </a:lnSpc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Ø"/>
                  </a:pP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定义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PingFang SC"/>
                    </a:rPr>
                    <a:t>：如果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无向图模型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PingFang SC"/>
                    </a:rPr>
                    <a:t>能够表示成一系列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在</a:t>
                  </a:r>
                  <a:r>
                    <a:rPr lang="en-US" altLang="zh-CN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的最大团上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PingFang SC"/>
                    </a:rPr>
                    <a:t>的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非负函数</a:t>
                  </a:r>
                  <a:r>
                    <a:rPr lang="zh-CN" altLang="en-US" dirty="0">
                      <a:latin typeface="PingFang SC"/>
                    </a:rPr>
                    <a:t>的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乘积</a:t>
                  </a:r>
                  <a:endParaRPr lang="en-US" altLang="zh-CN" dirty="0">
                    <a:solidFill>
                      <a:srgbClr val="FF0000"/>
                    </a:solidFill>
                    <a:latin typeface="PingFang SC"/>
                  </a:endParaRPr>
                </a:p>
                <a:p>
                  <a:pPr>
                    <a:lnSpc>
                      <a:spcPts val="2700"/>
                    </a:lnSpc>
                    <a:buClr>
                      <a:srgbClr val="FF0000"/>
                    </a:buClr>
                    <a:buSzPct val="80000"/>
                  </a:pPr>
                  <a:r>
                    <a:rPr lang="en-US" altLang="zh-CN" dirty="0">
                      <a:latin typeface="PingFang SC"/>
                    </a:rPr>
                    <a:t>    </a:t>
                  </a:r>
                  <a:r>
                    <a:rPr lang="en-US" altLang="zh-CN" sz="1600" dirty="0">
                      <a:latin typeface="PingFang SC"/>
                    </a:rPr>
                    <a:t>    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PingFang SC"/>
                    </a:rPr>
                    <a:t>形式，这个</a:t>
                  </a:r>
                  <a:r>
                    <a:rPr lang="zh-CN" altLang="en-US" dirty="0">
                      <a:solidFill>
                        <a:srgbClr val="0000FF"/>
                      </a:solidFill>
                      <a:latin typeface="PingFang SC"/>
                    </a:rPr>
                    <a:t>无向图模型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PingFang SC"/>
                    </a:rPr>
                    <a:t>的</a:t>
                  </a:r>
                  <a:r>
                    <a:rPr lang="zh-CN" altLang="en-US" dirty="0">
                      <a:solidFill>
                        <a:srgbClr val="FF0000"/>
                      </a:solidFill>
                      <a:latin typeface="PingFang SC"/>
                    </a:rPr>
                    <a:t>概率分布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就称为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𝑮𝒊𝒃𝒃𝒔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分布。</a:t>
                  </a:r>
                  <a:r>
                    <a:rPr lang="en-US" altLang="zh-CN" sz="1600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(</a:t>
                  </a:r>
                  <a:r>
                    <a:rPr lang="zh-CN" altLang="en-US" sz="1600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波兹曼</a:t>
                  </a:r>
                  <a:r>
                    <a:rPr lang="en-US" altLang="zh-CN" sz="1600" dirty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)</a:t>
                  </a:r>
                  <a:endParaRPr lang="zh-CN" altLang="en-US" sz="16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8" name="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193" y="3970398"/>
                  <a:ext cx="7748263" cy="692497"/>
                </a:xfrm>
                <a:prstGeom prst="rect">
                  <a:avLst/>
                </a:prstGeom>
                <a:blipFill>
                  <a:blip r:embed="rId8"/>
                  <a:stretch>
                    <a:fillRect l="-1338" t="-8772" r="-1810" b="-122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圆角矩形标注 1"/>
          <p:cNvSpPr/>
          <p:nvPr/>
        </p:nvSpPr>
        <p:spPr bwMode="auto">
          <a:xfrm>
            <a:off x="2852464" y="1206350"/>
            <a:ext cx="2439616" cy="284888"/>
          </a:xfrm>
          <a:prstGeom prst="wedgeRoundRectCallout">
            <a:avLst>
              <a:gd name="adj1" fmla="val 20092"/>
              <a:gd name="adj2" fmla="val 15976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团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中的所有节点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(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或子集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)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effectLst/>
              <a:latin typeface="+mn-ea"/>
              <a:ea typeface="+mn-ea"/>
            </a:endParaRPr>
          </a:p>
        </p:txBody>
      </p:sp>
      <p:sp>
        <p:nvSpPr>
          <p:cNvPr id="16" name="圆角矩形标注 15"/>
          <p:cNvSpPr/>
          <p:nvPr/>
        </p:nvSpPr>
        <p:spPr bwMode="auto">
          <a:xfrm>
            <a:off x="5670592" y="3597227"/>
            <a:ext cx="2114976" cy="284888"/>
          </a:xfrm>
          <a:prstGeom prst="wedgeRoundRectCallout">
            <a:avLst>
              <a:gd name="adj1" fmla="val -21396"/>
              <a:gd name="adj2" fmla="val 75469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节点数最多的完全子图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圆角矩形标注 19"/>
              <p:cNvSpPr/>
              <p:nvPr/>
            </p:nvSpPr>
            <p:spPr bwMode="auto">
              <a:xfrm>
                <a:off x="7383678" y="4752852"/>
                <a:ext cx="1220345" cy="284888"/>
              </a:xfrm>
              <a:prstGeom prst="wedgeRoundRectCallout">
                <a:avLst>
                  <a:gd name="adj1" fmla="val -22590"/>
                  <a:gd name="adj2" fmla="val -196868"/>
                  <a:gd name="adj3" fmla="val 16667"/>
                </a:avLst>
              </a:prstGeom>
              <a:noFill/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kumimoji="0" lang="zh-CN" altLang="en-US" sz="1600" b="1" i="0" u="none" strike="noStrike" cap="none" normalizeH="0" baseline="0" dirty="0">
                    <a:ln>
                      <a:noFill/>
                    </a:ln>
                    <a:effectLst/>
                    <a:latin typeface="+mn-ea"/>
                    <a:ea typeface="+mn-ea"/>
                  </a:rPr>
                  <a:t>势函数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∅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zh-CN" altLang="en-US" sz="1600" b="1" i="0" u="none" strike="noStrike" cap="none" normalizeH="0" baseline="0" dirty="0">
                  <a:ln>
                    <a:noFill/>
                  </a:ln>
                  <a:effectLst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0" name="圆角矩形标注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3678" y="4752852"/>
                <a:ext cx="1220345" cy="284888"/>
              </a:xfrm>
              <a:prstGeom prst="wedgeRoundRectCallout">
                <a:avLst>
                  <a:gd name="adj1" fmla="val -22590"/>
                  <a:gd name="adj2" fmla="val -196868"/>
                  <a:gd name="adj3" fmla="val 16667"/>
                </a:avLst>
              </a:prstGeom>
              <a:blipFill>
                <a:blip r:embed="rId9"/>
                <a:stretch>
                  <a:fillRect l="-8416" r="-3465" b="-12069"/>
                </a:stretch>
              </a:blipFill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928193" y="4763360"/>
            <a:ext cx="4686396" cy="548760"/>
            <a:chOff x="928193" y="4941608"/>
            <a:chExt cx="4686396" cy="548760"/>
          </a:xfrm>
        </p:grpSpPr>
        <p:sp>
          <p:nvSpPr>
            <p:cNvPr id="23" name="文本框 22"/>
            <p:cNvSpPr txBox="1"/>
            <p:nvPr/>
          </p:nvSpPr>
          <p:spPr>
            <a:xfrm>
              <a:off x="928193" y="5113634"/>
              <a:ext cx="213164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6213" indent="-176213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MLN</a:t>
              </a:r>
              <a:r>
                <a:rPr lang="zh-CN" altLang="en-US" dirty="0">
                  <a:solidFill>
                    <a:srgbClr val="FF0000"/>
                  </a:solidFill>
                  <a:latin typeface="+mn-ea"/>
                  <a:ea typeface="+mn-ea"/>
                </a:rPr>
                <a:t>的联合分布：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84469" y="4941608"/>
              <a:ext cx="2530120" cy="54876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706859" y="5412585"/>
                <a:ext cx="8113613" cy="561757"/>
              </a:xfrm>
              <a:prstGeom prst="rect">
                <a:avLst/>
              </a:prstGeom>
              <a:ln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 marL="92075" indent="-92075">
                  <a:lnSpc>
                    <a:spcPts val="23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+mn-ea"/>
                    <a:ea typeface="+mn-ea"/>
                  </a:rPr>
                  <a:t>式中，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+mn-ea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  <a:ea typeface="+mn-ea"/>
                  </a:rPr>
                  <a:t>是团中随机变量的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状态</a:t>
                </a:r>
                <a:r>
                  <a:rPr lang="zh-CN" altLang="en-US" sz="1600" dirty="0">
                    <a:latin typeface="+mn-ea"/>
                    <a:ea typeface="+mn-ea"/>
                  </a:rPr>
                  <a:t>；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Z</a:t>
                </a:r>
                <a:r>
                  <a:rPr lang="zh-CN" altLang="en-US" sz="1600" dirty="0">
                    <a:latin typeface="+mn-ea"/>
                    <a:ea typeface="+mn-ea"/>
                  </a:rPr>
                  <a:t>是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配分函数</a:t>
                </a:r>
                <a:r>
                  <a:rPr lang="zh-CN" altLang="en-US" sz="1600" dirty="0">
                    <a:latin typeface="+mn-ea"/>
                    <a:ea typeface="+mn-ea"/>
                  </a:rPr>
                  <a:t>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92075" indent="-92075">
                  <a:lnSpc>
                    <a:spcPts val="23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+mn-ea"/>
                    <a:ea typeface="+mn-ea"/>
                  </a:rPr>
                  <a:t>将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MLN</a:t>
                </a:r>
                <a:r>
                  <a:rPr lang="zh-CN" altLang="en-US" sz="1600" dirty="0">
                    <a:latin typeface="+mn-ea"/>
                    <a:ea typeface="+mn-ea"/>
                  </a:rPr>
                  <a:t>中每个团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en-US" altLang="zh-CN" sz="16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zh-CN" altLang="en-US" sz="1600" dirty="0">
                    <a:latin typeface="+mn-ea"/>
                    <a:ea typeface="+mn-ea"/>
                  </a:rPr>
                  <a:t>个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  <a:r>
                  <a:rPr lang="zh-CN" altLang="en-US" sz="1600" dirty="0">
                    <a:latin typeface="+mn-ea"/>
                    <a:ea typeface="+mn-ea"/>
                  </a:rPr>
                  <a:t>的势函数，用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状态的特征值求加权和</a:t>
                </a:r>
                <a:r>
                  <a:rPr lang="zh-CN" altLang="en-US" sz="1600" dirty="0">
                    <a:latin typeface="+mn-ea"/>
                    <a:ea typeface="+mn-ea"/>
                  </a:rPr>
                  <a:t>后再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取幂</a:t>
                </a:r>
                <a:r>
                  <a:rPr lang="zh-CN" altLang="en-US" sz="1600" dirty="0">
                    <a:latin typeface="+mn-ea"/>
                    <a:ea typeface="+mn-ea"/>
                  </a:rPr>
                  <a:t>，成为对数线性表示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59" y="5412585"/>
                <a:ext cx="8113613" cy="561757"/>
              </a:xfrm>
              <a:prstGeom prst="rect">
                <a:avLst/>
              </a:prstGeom>
              <a:blipFill>
                <a:blip r:embed="rId11"/>
                <a:stretch>
                  <a:fillRect l="-1350" t="-8511" r="-750" b="-20213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/>
        </p:nvGrpSpPr>
        <p:grpSpPr>
          <a:xfrm>
            <a:off x="4631753" y="416692"/>
            <a:ext cx="4124067" cy="5298092"/>
            <a:chOff x="4631753" y="416692"/>
            <a:chExt cx="4124067" cy="529809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31753" y="416692"/>
              <a:ext cx="4044703" cy="596231"/>
            </a:xfrm>
            <a:prstGeom prst="rect">
              <a:avLst/>
            </a:prstGeom>
          </p:spPr>
        </p:pic>
        <p:cxnSp>
          <p:nvCxnSpPr>
            <p:cNvPr id="32" name="直接箭头连接符 31"/>
            <p:cNvCxnSpPr/>
            <p:nvPr/>
          </p:nvCxnSpPr>
          <p:spPr bwMode="auto">
            <a:xfrm flipV="1">
              <a:off x="8755820" y="917956"/>
              <a:ext cx="0" cy="479682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5" name="圆角矩形标注 24"/>
          <p:cNvSpPr/>
          <p:nvPr/>
        </p:nvSpPr>
        <p:spPr bwMode="auto">
          <a:xfrm>
            <a:off x="6645750" y="1201436"/>
            <a:ext cx="1246625" cy="284888"/>
          </a:xfrm>
          <a:prstGeom prst="wedgeRoundRectCallout">
            <a:avLst>
              <a:gd name="adj1" fmla="val 20808"/>
              <a:gd name="adj2" fmla="val 150037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团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  <a:ea typeface="+mn-ea"/>
              </a:rPr>
              <a:t>的势函数</a:t>
            </a:r>
          </a:p>
        </p:txBody>
      </p:sp>
    </p:spTree>
    <p:extLst>
      <p:ext uri="{BB962C8B-B14F-4D97-AF65-F5344CB8AC3E}">
        <p14:creationId xmlns:p14="http://schemas.microsoft.com/office/powerpoint/2010/main" val="128405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20" grpId="0" animBg="1"/>
      <p:bldP spid="12" grpId="0" animBg="1"/>
      <p:bldP spid="25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331640" y="4509120"/>
            <a:ext cx="6640430" cy="819520"/>
            <a:chOff x="629871" y="4790651"/>
            <a:chExt cx="6640430" cy="819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D0EEAB9-B551-4906-9F60-D0EBED8452FC}"/>
                    </a:ext>
                  </a:extLst>
                </p:cNvPr>
                <p:cNvSpPr/>
                <p:nvPr/>
              </p:nvSpPr>
              <p:spPr>
                <a:xfrm>
                  <a:off x="629871" y="4790651"/>
                  <a:ext cx="4237571" cy="819520"/>
                </a:xfrm>
                <a:prstGeom prst="rect">
                  <a:avLst/>
                </a:prstGeom>
                <a:ln>
                  <a:solidFill>
                    <a:srgbClr val="0000FF"/>
                  </a:solidFill>
                  <a:prstDash val="sysDash"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marL="176213" indent="-176213" algn="just">
                    <a:lnSpc>
                      <a:spcPts val="22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Arial" panose="020B0604020202020204" pitchFamily="34" charset="0"/>
                    <a:buChar char="•"/>
                  </a:pPr>
                  <a:r>
                    <a:rPr lang="zh-CN" altLang="en-US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式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中</a:t>
                  </a:r>
                  <a:r>
                    <a:rPr lang="zh-CN" altLang="en-US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6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600" b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altLang="zh-CN" sz="1600" b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是在推导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oMath>
                  </a14:m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中所涉及</a:t>
                  </a:r>
                  <a:r>
                    <a:rPr lang="zh-CN" altLang="zh-CN" sz="1600" b="1" dirty="0">
                      <a:solidFill>
                        <a:srgbClr val="0000FF"/>
                      </a:solidFill>
                      <a:latin typeface="+mn-ea"/>
                      <a:cs typeface="Times New Roman" panose="02020603050405020304" pitchFamily="18" charset="0"/>
                    </a:rPr>
                    <a:t>第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a14:m>
                  <a:r>
                    <a:rPr lang="zh-CN" altLang="zh-CN" sz="1600" b="1" dirty="0">
                      <a:solidFill>
                        <a:srgbClr val="0000FF"/>
                      </a:solidFill>
                      <a:latin typeface="+mn-ea"/>
                      <a:cs typeface="Times New Roman" panose="02020603050405020304" pitchFamily="18" charset="0"/>
                    </a:rPr>
                    <a:t>条规则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zh-CN" sz="1600" b="1" dirty="0">
                      <a:solidFill>
                        <a:srgbClr val="FF0000"/>
                      </a:solidFill>
                      <a:latin typeface="+mn-ea"/>
                      <a:cs typeface="Times New Roman" panose="02020603050405020304" pitchFamily="18" charset="0"/>
                    </a:rPr>
                    <a:t>逻辑取值</a:t>
                  </a:r>
                  <a:r>
                    <a:rPr lang="en-US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为</a:t>
                  </a:r>
                  <a:r>
                    <a:rPr lang="en-US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或</a:t>
                  </a:r>
                  <a:r>
                    <a:rPr lang="en-US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0)</a:t>
                  </a:r>
                  <a:r>
                    <a:rPr lang="zh-CN" altLang="en-US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。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6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6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是</a:t>
                  </a:r>
                  <a:r>
                    <a:rPr lang="zh-CN" altLang="en-US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该</a:t>
                  </a:r>
                  <a:r>
                    <a:rPr lang="zh-CN" altLang="en-US" sz="1600" b="1" dirty="0">
                      <a:solidFill>
                        <a:srgbClr val="0000FF"/>
                      </a:solidFill>
                      <a:latin typeface="+mn-ea"/>
                      <a:cs typeface="Times New Roman" panose="02020603050405020304" pitchFamily="18" charset="0"/>
                    </a:rPr>
                    <a:t>第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a14:m>
                  <a:r>
                    <a:rPr lang="zh-CN" altLang="en-US" sz="1600" b="1" dirty="0">
                      <a:solidFill>
                        <a:srgbClr val="0000FF"/>
                      </a:solidFill>
                      <a:latin typeface="+mn-ea"/>
                      <a:cs typeface="Times New Roman" panose="02020603050405020304" pitchFamily="18" charset="0"/>
                    </a:rPr>
                    <a:t>条</a:t>
                  </a:r>
                  <a:r>
                    <a:rPr lang="zh-CN" altLang="zh-CN" sz="1600" b="1" dirty="0">
                      <a:solidFill>
                        <a:srgbClr val="0000FF"/>
                      </a:solidFill>
                      <a:latin typeface="+mn-ea"/>
                      <a:cs typeface="Times New Roman" panose="02020603050405020304" pitchFamily="18" charset="0"/>
                    </a:rPr>
                    <a:t>规则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对应的</a:t>
                  </a:r>
                  <a:r>
                    <a:rPr lang="zh-CN" altLang="zh-CN" sz="1600" b="1" dirty="0">
                      <a:solidFill>
                        <a:srgbClr val="FF0000"/>
                      </a:solidFill>
                      <a:latin typeface="+mn-ea"/>
                      <a:cs typeface="Times New Roman" panose="02020603050405020304" pitchFamily="18" charset="0"/>
                    </a:rPr>
                    <a:t>权重</a:t>
                  </a:r>
                  <a:r>
                    <a:rPr lang="zh-CN" altLang="en-US" sz="1600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。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𝒁</m:t>
                      </m:r>
                    </m:oMath>
                  </a14:m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是</a:t>
                  </a:r>
                  <a:r>
                    <a:rPr lang="zh-CN" altLang="en-US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配分函数</a:t>
                  </a:r>
                  <a:r>
                    <a:rPr lang="en-US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固定的</a:t>
                  </a:r>
                  <a:r>
                    <a:rPr lang="zh-CN" altLang="zh-CN" sz="1600" b="1" dirty="0">
                      <a:solidFill>
                        <a:srgbClr val="FF0000"/>
                      </a:solidFill>
                      <a:latin typeface="+mn-ea"/>
                      <a:cs typeface="Times New Roman" panose="02020603050405020304" pitchFamily="18" charset="0"/>
                    </a:rPr>
                    <a:t>常量</a:t>
                  </a:r>
                  <a:r>
                    <a:rPr lang="en-US" altLang="zh-CN" sz="1600" b="1" dirty="0">
                      <a:latin typeface="+mn-ea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600" b="1" dirty="0">
                      <a:solidFill>
                        <a:srgbClr val="000000"/>
                      </a:solidFill>
                      <a:latin typeface="+mn-ea"/>
                      <a:cs typeface="Times New Roman" panose="02020603050405020304" pitchFamily="18" charset="0"/>
                    </a:rPr>
                    <a:t>，计算：</a:t>
                  </a: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D0EEAB9-B551-4906-9F60-D0EBED8452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871" y="4790651"/>
                  <a:ext cx="4237571" cy="819520"/>
                </a:xfrm>
                <a:prstGeom prst="rect">
                  <a:avLst/>
                </a:prstGeom>
                <a:blipFill>
                  <a:blip r:embed="rId2"/>
                  <a:stretch>
                    <a:fillRect l="-2006" t="-7353" r="-2722" b="-12500"/>
                  </a:stretch>
                </a:blipFill>
                <a:ln>
                  <a:solidFill>
                    <a:srgbClr val="0000FF"/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46675" y="4934723"/>
              <a:ext cx="2023626" cy="55824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2"/>
              <p:cNvSpPr txBox="1">
                <a:spLocks noChangeArrowheads="1"/>
              </p:cNvSpPr>
              <p:nvPr/>
            </p:nvSpPr>
            <p:spPr bwMode="auto">
              <a:xfrm>
                <a:off x="539552" y="548680"/>
                <a:ext cx="8064896" cy="26642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0" rIns="0" bIns="0" numCol="1" anchor="b" anchorCtr="0" compatLnSpc="1">
                <a:prstTxWarp prst="textNoShape">
                  <a:avLst/>
                </a:prstTxWarp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indent="-342900" eaLnBrk="1" hangingPunct="1">
                  <a:lnSpc>
                    <a:spcPts val="3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结合“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一阶逻辑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”理解</a:t>
                </a:r>
                <a:endParaRPr lang="en-US" altLang="zh-CN" sz="2000" b="1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534988" indent="-174625" eaLnBrk="1" hangingPunct="1">
                  <a:lnSpc>
                    <a:spcPts val="3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800" dirty="0">
                    <a:solidFill>
                      <a:srgbClr val="FF0000"/>
                    </a:solidFill>
                  </a:rPr>
                  <a:t>规则</a:t>
                </a:r>
                <a:r>
                  <a:rPr lang="zh-CN" altLang="en-US" sz="1800" dirty="0"/>
                  <a:t>通常表示为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逻辑公式</a:t>
                </a:r>
                <a:r>
                  <a:rPr lang="zh-CN" altLang="en-US" sz="1800" dirty="0"/>
                  <a:t>，并且</a:t>
                </a:r>
                <a:r>
                  <a:rPr lang="zh-CN" altLang="en-US" sz="1800" dirty="0">
                    <a:solidFill>
                      <a:srgbClr val="0000FF"/>
                    </a:solidFill>
                  </a:rPr>
                  <a:t>每个规则</a:t>
                </a:r>
                <a:r>
                  <a:rPr lang="zh-CN" altLang="en-US" sz="1800" dirty="0"/>
                  <a:t>都与一个</a:t>
                </a:r>
                <a:r>
                  <a:rPr lang="zh-CN" altLang="en-US" sz="1800" dirty="0">
                    <a:solidFill>
                      <a:srgbClr val="0000FF"/>
                    </a:solidFill>
                  </a:rPr>
                  <a:t>权重</a:t>
                </a:r>
                <a:r>
                  <a:rPr lang="zh-CN" altLang="en-US" sz="1800" dirty="0"/>
                  <a:t>相关联。这些权重反映了规则在网络中的置信度</a:t>
                </a:r>
                <a:r>
                  <a:rPr lang="en-US" altLang="zh-CN" sz="1800" dirty="0">
                    <a:latin typeface="+mn-ea"/>
                    <a:ea typeface="+mn-ea"/>
                  </a:rPr>
                  <a:t>(</a:t>
                </a:r>
                <a:r>
                  <a:rPr lang="zh-CN" altLang="en-US" sz="1800" dirty="0">
                    <a:latin typeface="+mn-ea"/>
                    <a:ea typeface="+mn-ea"/>
                  </a:rPr>
                  <a:t>或重要性</a:t>
                </a:r>
                <a:r>
                  <a:rPr lang="en-US" altLang="zh-CN" sz="1800" dirty="0">
                    <a:latin typeface="+mn-ea"/>
                    <a:ea typeface="+mn-ea"/>
                  </a:rPr>
                  <a:t>)</a:t>
                </a:r>
                <a:r>
                  <a:rPr lang="zh-CN" altLang="en-US" sz="1800" dirty="0"/>
                  <a:t>。</a:t>
                </a:r>
                <a:endParaRPr lang="en-US" altLang="zh-CN" sz="1800" b="0" dirty="0">
                  <a:latin typeface="+mn-ea"/>
                  <a:ea typeface="+mn-ea"/>
                </a:endParaRPr>
              </a:p>
              <a:p>
                <a:pPr marL="534988" indent="-174625" eaLnBrk="1" hangingPunct="1">
                  <a:lnSpc>
                    <a:spcPts val="3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从一阶谓词逻辑角度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，马尔可夫逻辑</a:t>
                </a:r>
                <a:r>
                  <a:rPr lang="zh-CN" altLang="en-US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网络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在一阶谓词逻辑中添加了不确定性</a:t>
                </a:r>
                <a:r>
                  <a:rPr lang="zh-CN" altLang="en-US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而对严格推理进行了松绑，</a:t>
                </a:r>
                <a:r>
                  <a:rPr lang="zh-CN" altLang="en-US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更好反映了客观世界的复杂性</a:t>
                </a:r>
                <a:r>
                  <a:rPr lang="zh-CN" altLang="en-US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latin typeface="+mn-ea"/>
                  <a:ea typeface="+mn-ea"/>
                </a:endParaRPr>
              </a:p>
              <a:p>
                <a:pPr marL="534988" indent="-174625" eaLnBrk="1" hangingPunct="1">
                  <a:lnSpc>
                    <a:spcPts val="3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给定一个由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若干规则</a:t>
                </a:r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构成的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集合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规则集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对</a:t>
                </a:r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集合中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每条推理规则</a:t>
                </a:r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赋予一定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权重</a:t>
                </a:r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，则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某个断言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成立的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概率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可如下计算：</a:t>
                </a:r>
                <a:endParaRPr lang="en-US" altLang="zh-CN" sz="18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548680"/>
                <a:ext cx="8064896" cy="2664296"/>
              </a:xfrm>
              <a:prstGeom prst="rect">
                <a:avLst/>
              </a:prstGeom>
              <a:blipFill>
                <a:blip r:embed="rId4"/>
                <a:stretch>
                  <a:fillRect l="-1437" t="-2059" r="-76" b="-3204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768" y="3458983"/>
            <a:ext cx="4935662" cy="66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9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1087059"/>
            <a:ext cx="6192688" cy="371897"/>
          </a:xfrm>
          <a:prstGeom prst="rect">
            <a:avLst/>
          </a:prstGeom>
          <a:ln>
            <a:noFill/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zh-CN" altLang="en-US" sz="2000" dirty="0">
                <a:latin typeface="+mn-ea"/>
                <a:ea typeface="+mn-ea"/>
              </a:rPr>
              <a:t>：计算开学典礼的在室内或室外举行的推理结果概率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46988"/>
            <a:ext cx="7082246" cy="1944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861048"/>
            <a:ext cx="529086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18755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spect="1"/>
          </p:cNvSpPr>
          <p:nvPr/>
        </p:nvSpPr>
        <p:spPr bwMode="auto">
          <a:xfrm>
            <a:off x="539552" y="1525393"/>
            <a:ext cx="8136904" cy="18293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395536" y="890248"/>
            <a:ext cx="82089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767733"/>
            <a:ext cx="7872464" cy="30375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70433"/>
            <a:ext cx="3384376" cy="452601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691680" y="2798072"/>
            <a:ext cx="3410664" cy="360040"/>
            <a:chOff x="1691680" y="2798072"/>
            <a:chExt cx="3410664" cy="360040"/>
          </a:xfrm>
        </p:grpSpPr>
        <p:cxnSp>
          <p:nvCxnSpPr>
            <p:cNvPr id="3" name="直接连接符 2"/>
            <p:cNvCxnSpPr/>
            <p:nvPr/>
          </p:nvCxnSpPr>
          <p:spPr bwMode="auto">
            <a:xfrm>
              <a:off x="1691680" y="3068960"/>
              <a:ext cx="2016224" cy="0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椭圆 3"/>
            <p:cNvSpPr/>
            <p:nvPr/>
          </p:nvSpPr>
          <p:spPr bwMode="auto">
            <a:xfrm>
              <a:off x="4022224" y="2798072"/>
              <a:ext cx="1080120" cy="360040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790" y="364113"/>
            <a:ext cx="1568227" cy="43261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132872" y="4346243"/>
            <a:ext cx="3410664" cy="360040"/>
            <a:chOff x="1691680" y="2798072"/>
            <a:chExt cx="3410664" cy="360040"/>
          </a:xfrm>
        </p:grpSpPr>
        <p:cxnSp>
          <p:nvCxnSpPr>
            <p:cNvPr id="14" name="直接连接符 13"/>
            <p:cNvCxnSpPr/>
            <p:nvPr/>
          </p:nvCxnSpPr>
          <p:spPr bwMode="auto">
            <a:xfrm>
              <a:off x="1691680" y="3068960"/>
              <a:ext cx="2016224" cy="0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 bwMode="auto">
            <a:xfrm>
              <a:off x="4022224" y="2798072"/>
              <a:ext cx="1080120" cy="360040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644" y="925790"/>
            <a:ext cx="6480720" cy="1781964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4" idx="3"/>
          </p:cNvCxnSpPr>
          <p:nvPr/>
        </p:nvCxnSpPr>
        <p:spPr bwMode="auto">
          <a:xfrm flipH="1">
            <a:off x="2195736" y="3105385"/>
            <a:ext cx="1984668" cy="2516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5" idx="3"/>
          </p:cNvCxnSpPr>
          <p:nvPr/>
        </p:nvCxnSpPr>
        <p:spPr bwMode="auto">
          <a:xfrm flipH="1">
            <a:off x="2195736" y="4653556"/>
            <a:ext cx="2425860" cy="21560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 bwMode="auto">
          <a:xfrm flipH="1" flipV="1">
            <a:off x="2132872" y="3105385"/>
            <a:ext cx="3087200" cy="5396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箭头连接符 17"/>
          <p:cNvCxnSpPr/>
          <p:nvPr/>
        </p:nvCxnSpPr>
        <p:spPr bwMode="auto">
          <a:xfrm flipH="1" flipV="1">
            <a:off x="2627784" y="4653556"/>
            <a:ext cx="4248472" cy="5036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9557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37361" y="909538"/>
            <a:ext cx="220644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+mn-ea"/>
                <a:ea typeface="+mn-ea"/>
                <a:cs typeface="Times New Roman" panose="02020603050405020304" pitchFamily="18" charset="0"/>
              </a:rPr>
              <a:t>2.9 </a:t>
            </a:r>
            <a:r>
              <a:rPr lang="zh-CN" altLang="en-US" sz="2800" b="1" dirty="0">
                <a:latin typeface="+mn-ea"/>
                <a:ea typeface="+mn-ea"/>
                <a:cs typeface="Times New Roman" panose="02020603050405020304" pitchFamily="18" charset="0"/>
              </a:rPr>
              <a:t>因果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推理</a:t>
            </a:r>
            <a:endParaRPr lang="zh-CN" altLang="en-US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572978" y="1799787"/>
            <a:ext cx="8247494" cy="2231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9875" indent="-269875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</a:rPr>
              <a:t>什么是因果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630238" indent="-2730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哲学上</a:t>
            </a:r>
            <a:r>
              <a:rPr lang="zh-CN" altLang="en-US" dirty="0">
                <a:latin typeface="+mn-ea"/>
                <a:ea typeface="+mn-ea"/>
              </a:rPr>
              <a:t>将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现象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和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现象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事件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之间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引起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与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被引起</a:t>
            </a:r>
            <a:r>
              <a:rPr lang="zh-CN" altLang="zh-CN" dirty="0">
                <a:latin typeface="+mn-ea"/>
                <a:ea typeface="+mn-ea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关系</a:t>
            </a:r>
            <a:r>
              <a:rPr lang="zh-CN" altLang="zh-CN" dirty="0">
                <a:latin typeface="+mn-ea"/>
                <a:ea typeface="+mn-ea"/>
              </a:rPr>
              <a:t>，</a:t>
            </a:r>
            <a:r>
              <a:rPr lang="zh-CN" altLang="en-US" dirty="0">
                <a:latin typeface="+mn-ea"/>
                <a:ea typeface="+mn-ea"/>
              </a:rPr>
              <a:t>称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因果关系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630238" indent="-273050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其中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引发者</a:t>
            </a:r>
            <a:r>
              <a:rPr lang="zh-CN" altLang="en-US" dirty="0">
                <a:latin typeface="+mn-ea"/>
                <a:ea typeface="+mn-ea"/>
              </a:rPr>
              <a:t>称为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原因</a:t>
            </a:r>
            <a:r>
              <a:rPr lang="zh-CN" altLang="zh-CN" dirty="0">
                <a:latin typeface="+mn-ea"/>
                <a:ea typeface="+mn-ea"/>
              </a:rPr>
              <a:t>，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被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引发者</a:t>
            </a:r>
            <a:r>
              <a:rPr lang="zh-CN" altLang="en-US" dirty="0">
                <a:latin typeface="+mn-ea"/>
                <a:ea typeface="+mn-ea"/>
              </a:rPr>
              <a:t>称为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结果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630238" indent="-273050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/>
              <a:t>事物之间的</a:t>
            </a:r>
            <a:r>
              <a:rPr lang="zh-CN" altLang="en-US" dirty="0">
                <a:solidFill>
                  <a:srgbClr val="0000FF"/>
                </a:solidFill>
              </a:rPr>
              <a:t>作用与反作用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00FF"/>
                </a:solidFill>
              </a:rPr>
              <a:t>原因与结果之间的关联性</a:t>
            </a:r>
            <a:r>
              <a:rPr lang="zh-CN" altLang="en-US" dirty="0"/>
              <a:t>。原因对结果负有部分责任，而结果又部分取决于原因。这种关系在自然界和人类社会中普遍存在，是理解事物发展变化的重要基础。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572978" y="4077072"/>
            <a:ext cx="8031470" cy="1337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5113" indent="-265113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重要性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630238" indent="-2730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一种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重要的推理手段</a:t>
            </a:r>
            <a:r>
              <a:rPr lang="zh-CN" altLang="zh-CN" dirty="0">
                <a:latin typeface="+mn-ea"/>
                <a:ea typeface="+mn-ea"/>
              </a:rPr>
              <a:t>，是人类智能的重要组成。</a:t>
            </a:r>
            <a:endParaRPr lang="en-US" altLang="zh-CN" dirty="0">
              <a:latin typeface="+mn-ea"/>
              <a:ea typeface="+mn-ea"/>
            </a:endParaRPr>
          </a:p>
          <a:p>
            <a:pPr marL="630238" indent="-2730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如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zh-CN" altLang="zh-CN" dirty="0">
                <a:latin typeface="+mn-ea"/>
                <a:ea typeface="+mn-ea"/>
              </a:rPr>
              <a:t>吸烟是否致癌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zh-CN" dirty="0">
                <a:latin typeface="+mn-ea"/>
                <a:ea typeface="+mn-ea"/>
              </a:rPr>
              <a:t>广告是否</a:t>
            </a:r>
            <a:r>
              <a:rPr lang="zh-CN" altLang="en-US" dirty="0">
                <a:latin typeface="+mn-ea"/>
                <a:ea typeface="+mn-ea"/>
              </a:rPr>
              <a:t>增加</a:t>
            </a:r>
            <a:r>
              <a:rPr lang="zh-CN" altLang="zh-CN" dirty="0">
                <a:latin typeface="+mn-ea"/>
                <a:ea typeface="+mn-ea"/>
              </a:rPr>
              <a:t>商品销量</a:t>
            </a:r>
            <a:r>
              <a:rPr lang="en-US" altLang="zh-CN" dirty="0">
                <a:latin typeface="+mn-ea"/>
                <a:ea typeface="+mn-ea"/>
              </a:rPr>
              <a:t>…</a:t>
            </a:r>
            <a:r>
              <a:rPr lang="zh-CN" altLang="zh-CN" dirty="0">
                <a:latin typeface="+mn-ea"/>
                <a:ea typeface="+mn-ea"/>
              </a:rPr>
              <a:t>问题时，</a:t>
            </a:r>
            <a:r>
              <a:rPr lang="zh-CN" altLang="en-US" dirty="0">
                <a:latin typeface="+mn-ea"/>
                <a:ea typeface="+mn-ea"/>
              </a:rPr>
              <a:t>即</a:t>
            </a:r>
            <a:r>
              <a:rPr lang="zh-CN" altLang="zh-CN" dirty="0">
                <a:latin typeface="+mn-ea"/>
                <a:ea typeface="+mn-ea"/>
              </a:rPr>
              <a:t>需要因果推理。</a:t>
            </a:r>
            <a:endParaRPr lang="en-US" altLang="zh-CN" dirty="0">
              <a:latin typeface="+mn-ea"/>
              <a:ea typeface="+mn-ea"/>
            </a:endParaRPr>
          </a:p>
          <a:p>
            <a:pPr marL="630238" indent="-273050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</a:rPr>
              <a:t>公鸡打鸣与太阳升起：非因非果</a:t>
            </a:r>
            <a:endParaRPr lang="zh-CN" altLang="zh-CN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39952" y="771575"/>
            <a:ext cx="4392488" cy="692497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dirty="0">
                <a:latin typeface="+mn-ea"/>
                <a:ea typeface="+mn-ea"/>
              </a:rPr>
              <a:t>基于因果关系的基本概念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ts val="2700"/>
              </a:lnSpc>
            </a:pPr>
            <a:r>
              <a:rPr lang="zh-CN" altLang="en-US" dirty="0">
                <a:latin typeface="+mn-ea"/>
                <a:ea typeface="+mn-ea"/>
              </a:rPr>
              <a:t>即，一个事件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因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导致另一个事件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果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发生</a:t>
            </a:r>
          </a:p>
        </p:txBody>
      </p:sp>
    </p:spTree>
    <p:extLst>
      <p:ext uri="{BB962C8B-B14F-4D97-AF65-F5344CB8AC3E}">
        <p14:creationId xmlns:p14="http://schemas.microsoft.com/office/powerpoint/2010/main" val="33740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611560" y="1124744"/>
            <a:ext cx="583264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辛普森悖论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Simpson’s Paradox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：伯克利招生录取之谜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67" y="1916832"/>
            <a:ext cx="3523793" cy="207891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772816"/>
            <a:ext cx="4054191" cy="36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5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602416" y="1484784"/>
            <a:ext cx="7992888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2331503" cy="12961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04" y="2492896"/>
            <a:ext cx="2880320" cy="1403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8BB59C5-E451-4F76-9EEC-6FFC82AC116F}"/>
                  </a:ext>
                </a:extLst>
              </p:cNvPr>
              <p:cNvSpPr/>
              <p:nvPr/>
            </p:nvSpPr>
            <p:spPr>
              <a:xfrm>
                <a:off x="3347864" y="1021378"/>
                <a:ext cx="5328592" cy="484748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2563" indent="-182563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表中列出患者是否用药的恢复情况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447675" indent="-182563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不用药的恢复率高于用药的恢复率。</a:t>
                </a:r>
              </a:p>
              <a:p>
                <a:pPr marL="182563" indent="-182563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但</a:t>
                </a:r>
                <a:r>
                  <a:rPr lang="zh-CN" altLang="en-US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按性别分组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下表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，却发现用药的恢复率均高于不用药的恢复率，这与上表统计结果恰恰相反。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182563" indent="-182563">
                  <a:lnSpc>
                    <a:spcPts val="2700"/>
                  </a:lnSpc>
                  <a:spcAft>
                    <a:spcPts val="18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数学角度，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此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悖论可写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初等数学不等式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spcAft>
                    <a:spcPts val="1800"/>
                  </a:spcAft>
                  <a:buClr>
                    <a:srgbClr val="FF0000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  <m:r>
                        <a:rPr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𝒄</m:t>
                          </m:r>
                        </m:den>
                      </m:f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;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𝒃</m:t>
                          </m:r>
                          <m:r>
                            <a:rPr lang="en-US" altLang="zh-CN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zh-CN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𝒅</m:t>
                          </m:r>
                          <m:r>
                            <a:rPr lang="en-US" altLang="zh-CN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182563" indent="-182563" algn="just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辛普森悖论表明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某些情况下，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忽略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潜在的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第三变量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性别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”即为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是否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用药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恢复率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之外的第三变量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，可能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会改变已有结论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变量之间的相关关系被第三变量扭曲</a:t>
                </a:r>
                <a:r>
                  <a:rPr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182563" indent="-182563" algn="just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辛普森悖论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主要原因</a:t>
                </a:r>
                <a:r>
                  <a:rPr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第三变量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导致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是否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用药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与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恢复率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之间的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虚假关联</a:t>
                </a:r>
                <a:r>
                  <a:rPr lang="zh-CN" altLang="zh-CN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8BB59C5-E451-4F76-9EEC-6FFC82AC1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1021378"/>
                <a:ext cx="5328592" cy="4847481"/>
              </a:xfrm>
              <a:prstGeom prst="rect">
                <a:avLst/>
              </a:prstGeom>
              <a:blipFill rotWithShape="0">
                <a:blip r:embed="rId4"/>
                <a:stretch>
                  <a:fillRect l="-1945" t="-1258" r="-2746" b="-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/>
          <p:nvPr/>
        </p:nvCxnSpPr>
        <p:spPr bwMode="auto">
          <a:xfrm>
            <a:off x="395536" y="908720"/>
            <a:ext cx="82089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95536" y="456347"/>
            <a:ext cx="805572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说明</a:t>
            </a:r>
            <a:r>
              <a:rPr lang="zh-CN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总体样本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上成立的某种关系，却在</a:t>
            </a: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分组样本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中不一定成立，甚至相反</a:t>
            </a:r>
            <a:r>
              <a:rPr lang="zh-CN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04704" y="4183920"/>
            <a:ext cx="2961496" cy="1308050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92075" indent="-92075">
              <a:spcAft>
                <a:spcPts val="600"/>
              </a:spcAft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1600" dirty="0"/>
              <a:t>存在</a:t>
            </a:r>
            <a:r>
              <a:rPr lang="zh-CN" altLang="en-US" sz="1600" dirty="0">
                <a:solidFill>
                  <a:srgbClr val="FF0000"/>
                </a:solidFill>
              </a:rPr>
              <a:t>潜在的混杂变量</a:t>
            </a:r>
            <a:r>
              <a:rPr lang="zh-CN" altLang="en-US" sz="1600" dirty="0"/>
              <a:t>，在</a:t>
            </a:r>
            <a:r>
              <a:rPr lang="zh-CN" altLang="en-US" sz="1600" dirty="0">
                <a:solidFill>
                  <a:srgbClr val="0000FF"/>
                </a:solidFill>
              </a:rPr>
              <a:t>分组</a:t>
            </a:r>
            <a:r>
              <a:rPr lang="zh-CN" altLang="en-US" sz="1600" dirty="0"/>
              <a:t>分析中可能被忽略，但在</a:t>
            </a:r>
            <a:r>
              <a:rPr lang="zh-CN" altLang="en-US" sz="1600" dirty="0">
                <a:solidFill>
                  <a:srgbClr val="0000FF"/>
                </a:solidFill>
              </a:rPr>
              <a:t>合并</a:t>
            </a:r>
            <a:r>
              <a:rPr lang="zh-CN" altLang="en-US" sz="1600" dirty="0"/>
              <a:t>数据时却对结果产生了显著影响。</a:t>
            </a:r>
            <a:endParaRPr lang="en-US" altLang="zh-CN" sz="1600" dirty="0"/>
          </a:p>
          <a:p>
            <a:pPr marL="92075" indent="-92075"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1600" dirty="0"/>
              <a:t>包括个体差异、环境因素、疾病严重程度等。</a:t>
            </a:r>
          </a:p>
        </p:txBody>
      </p:sp>
    </p:spTree>
    <p:extLst>
      <p:ext uri="{BB962C8B-B14F-4D97-AF65-F5344CB8AC3E}">
        <p14:creationId xmlns:p14="http://schemas.microsoft.com/office/powerpoint/2010/main" val="71347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6217" y="1844824"/>
            <a:ext cx="7988231" cy="28469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⑴、</a:t>
            </a:r>
            <a:r>
              <a:rPr lang="zh-CN" altLang="en-US" dirty="0">
                <a:solidFill>
                  <a:srgbClr val="FF0000"/>
                </a:solidFill>
              </a:rPr>
              <a:t>识别潜在的混杂变量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zh-CN" altLang="en-US" dirty="0"/>
              <a:t>    进行分析前，尽可能识别并考虑</a:t>
            </a:r>
            <a:r>
              <a:rPr lang="zh-CN" altLang="en-US" dirty="0">
                <a:solidFill>
                  <a:srgbClr val="0000FF"/>
                </a:solidFill>
              </a:rPr>
              <a:t>所有可能</a:t>
            </a:r>
            <a:r>
              <a:rPr lang="zh-CN" altLang="en-US" dirty="0"/>
              <a:t>影响结果的潜在混杂变量。</a:t>
            </a:r>
          </a:p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⑵、</a:t>
            </a:r>
            <a:r>
              <a:rPr lang="zh-CN" altLang="en-US" dirty="0">
                <a:solidFill>
                  <a:srgbClr val="FF0000"/>
                </a:solidFill>
              </a:rPr>
              <a:t>分组分析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zh-CN" altLang="en-US" dirty="0"/>
              <a:t>    对数据进行分组分析，了解不同组别内部的关系。但需</a:t>
            </a:r>
            <a:r>
              <a:rPr lang="zh-CN" altLang="en-US" dirty="0">
                <a:solidFill>
                  <a:srgbClr val="FF0000"/>
                </a:solidFill>
              </a:rPr>
              <a:t>注意</a:t>
            </a:r>
            <a:r>
              <a:rPr lang="zh-CN" altLang="en-US" dirty="0"/>
              <a:t>：分组分析的结果不能直接推广到整体数据。</a:t>
            </a:r>
          </a:p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⑶、</a:t>
            </a:r>
            <a:r>
              <a:rPr lang="zh-CN" altLang="en-US" dirty="0">
                <a:solidFill>
                  <a:srgbClr val="FF0000"/>
                </a:solidFill>
              </a:rPr>
              <a:t>谨慎解释结果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dirty="0"/>
              <a:t>    解释分析结果时，应谨慎对待，避免过度推断或误导性的结论。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616217" y="1124744"/>
            <a:ext cx="186755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克服辛普森悖论</a:t>
            </a:r>
          </a:p>
        </p:txBody>
      </p:sp>
    </p:spTree>
    <p:extLst>
      <p:ext uri="{BB962C8B-B14F-4D97-AF65-F5344CB8AC3E}">
        <p14:creationId xmlns:p14="http://schemas.microsoft.com/office/powerpoint/2010/main" val="235035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575556" y="1484784"/>
            <a:ext cx="8028892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413832" y="511084"/>
            <a:ext cx="381642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克服辛普森悖论：厘清真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假关联</a:t>
            </a:r>
          </a:p>
        </p:txBody>
      </p:sp>
      <p:sp>
        <p:nvSpPr>
          <p:cNvPr id="3" name="矩形 2"/>
          <p:cNvSpPr/>
          <p:nvPr/>
        </p:nvSpPr>
        <p:spPr>
          <a:xfrm>
            <a:off x="386392" y="1051592"/>
            <a:ext cx="82180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5113" indent="-265113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复杂数据中</a:t>
            </a:r>
            <a:r>
              <a:rPr lang="zh-CN" altLang="zh-CN" sz="2000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变量之间</a:t>
            </a:r>
            <a:r>
              <a:rPr lang="zh-CN" altLang="zh-C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关联关系</a:t>
            </a:r>
            <a:r>
              <a:rPr lang="zh-CN" altLang="zh-C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因果关联</a:t>
            </a:r>
            <a:r>
              <a:rPr lang="zh-CN" altLang="zh-C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混淆偏差</a:t>
            </a:r>
            <a:r>
              <a:rPr lang="zh-CN" altLang="zh-C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选择偏差</a:t>
            </a:r>
            <a:r>
              <a:rPr lang="zh-CN" altLang="zh-C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687564" y="3393568"/>
            <a:ext cx="7884876" cy="20133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ts val="29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因果关联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：数据中</a:t>
            </a: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两个变量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一个变量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另一个变量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原因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，则两个变量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之间存在因果关联。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539750" indent="-92075"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：变量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是变量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的原因，则两个变量之间有因果关联。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539750" indent="-92075">
              <a:lnSpc>
                <a:spcPts val="2900"/>
              </a:lnSpc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日常生活中，如</a:t>
            </a: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下雨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导致</a:t>
            </a: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地面湿</a:t>
            </a:r>
            <a:r>
              <a:rPr lang="zh-CN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即下雨是地面湿的原因，所以下雨和地面湿</a:t>
            </a:r>
            <a:r>
              <a:rPr lang="zh-CN" altLang="zh-CN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两个变量之间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有因果关系</a:t>
            </a:r>
            <a:r>
              <a:rPr lang="zh-CN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756" y="1729384"/>
            <a:ext cx="3951328" cy="1393502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 bwMode="auto">
          <a:xfrm>
            <a:off x="395536" y="908720"/>
            <a:ext cx="82089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87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A749C-8CED-4821-BBB2-86D7DD76EAED}"/>
              </a:ext>
            </a:extLst>
          </p:cNvPr>
          <p:cNvSpPr/>
          <p:nvPr/>
        </p:nvSpPr>
        <p:spPr>
          <a:xfrm>
            <a:off x="421824" y="1988840"/>
            <a:ext cx="8208912" cy="3924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混淆关联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：数据中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两个变量之间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存在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共同的原因变量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存在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共同的原因变量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即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的原因，同时也是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的原因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忽略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在数据中会存在虚假关联。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由于此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关联是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混淆偏差导致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也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称为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混淆关联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下雨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地面湿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行人撑伞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在数据中会发现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地面湿和行人撑伞十分相关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但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这种相关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会随数据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环境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时间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变化而变化，如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夏季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，也会有很多行人撑伞，但地面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却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很干燥。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辛普森悖论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就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混淆关联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，其中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性别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会影响到患者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药与否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及其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恢复率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忽略性别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药与否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恢复率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之间就存在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混淆关联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602416" y="1484784"/>
            <a:ext cx="7992888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16" y="476672"/>
            <a:ext cx="3951328" cy="139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3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90FAB2-2769-4172-A42D-85019B468A77}"/>
              </a:ext>
            </a:extLst>
          </p:cNvPr>
          <p:cNvSpPr/>
          <p:nvPr/>
        </p:nvSpPr>
        <p:spPr>
          <a:xfrm>
            <a:off x="403552" y="1844824"/>
            <a:ext cx="8191752" cy="3847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选择关联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数据中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两个变量之间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存在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共同的结果变量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存在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共同的结果变量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  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的原因，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也是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的原因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357188" indent="-92075" algn="just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基于特定</a:t>
            </a:r>
            <a:r>
              <a:rPr lang="en-US" altLang="zh-CN" u="wavyDbl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的取值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选择部分变量研究，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之间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会存在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虚假关联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由于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此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关联是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选择偏差导致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也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称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选择关联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收集图片数据时，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有意</a:t>
            </a:r>
            <a:r>
              <a:rPr lang="en-US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无意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选择了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较多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狗在草地上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的图片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草地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狗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的特征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导致收集的图片是狗在草地上）。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本来草地和狗之间不相关，但当选择了大量狗在草地上的图片时，草地和狗之间就十分相关。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7188" indent="-92075" algn="just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同样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这种相关也会随数据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环境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时间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变化而变化，如选择大量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狗在沙滩上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的图片，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草地和狗之间可能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就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负相关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或者</a:t>
            </a:r>
            <a:r>
              <a:rPr lang="zh-CN" altLang="zh-CN" u="wavyDbl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不相关</a:t>
            </a:r>
            <a:r>
              <a:rPr lang="zh-CN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602416" y="1484784"/>
            <a:ext cx="7992888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60648"/>
            <a:ext cx="3951328" cy="139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3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665280" y="1152176"/>
            <a:ext cx="295232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/>
              <a:t>因果分析的两种理论框架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71D2F5-D4F1-483D-83AB-C941683F3B44}"/>
              </a:ext>
            </a:extLst>
          </p:cNvPr>
          <p:cNvSpPr/>
          <p:nvPr/>
        </p:nvSpPr>
        <p:spPr>
          <a:xfrm>
            <a:off x="600120" y="1844824"/>
            <a:ext cx="8076336" cy="4026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潜在结果框架</a:t>
            </a:r>
            <a:r>
              <a:rPr lang="zh-CN" altLang="zh-CN" sz="1600" dirty="0">
                <a:latin typeface="+mn-ea"/>
                <a:ea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Potential Outcome Framework</a:t>
            </a:r>
            <a:r>
              <a:rPr lang="zh-CN" altLang="zh-CN" sz="1600" dirty="0">
                <a:latin typeface="+mn-ea"/>
                <a:ea typeface="+mn-ea"/>
              </a:rPr>
              <a:t>）</a:t>
            </a:r>
            <a:endParaRPr lang="en-US" altLang="zh-CN" sz="1600" dirty="0">
              <a:latin typeface="+mn-ea"/>
              <a:ea typeface="+mn-ea"/>
            </a:endParaRPr>
          </a:p>
          <a:p>
            <a:pPr marL="539750" indent="-182563">
              <a:lnSpc>
                <a:spcPts val="28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</a:rPr>
              <a:t>也</a:t>
            </a:r>
            <a:r>
              <a:rPr lang="zh-CN" altLang="zh-CN" dirty="0">
                <a:latin typeface="+mn-ea"/>
                <a:ea typeface="+mn-ea"/>
              </a:rPr>
              <a:t>称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Neyman–Rubin</a:t>
            </a:r>
            <a:r>
              <a:rPr lang="zh-CN" altLang="zh-CN" dirty="0">
                <a:latin typeface="+mn-ea"/>
                <a:ea typeface="+mn-ea"/>
              </a:rPr>
              <a:t>因果模型。最早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Neyman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于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1923</a:t>
            </a:r>
            <a:r>
              <a:rPr lang="zh-CN" altLang="zh-CN" dirty="0">
                <a:latin typeface="+mn-ea"/>
                <a:ea typeface="+mn-ea"/>
              </a:rPr>
              <a:t>年用波兰语撰写论文中提出</a:t>
            </a:r>
            <a:r>
              <a:rPr lang="zh-CN" altLang="en-US" dirty="0">
                <a:latin typeface="+mn-ea"/>
                <a:ea typeface="+mn-ea"/>
              </a:rPr>
              <a:t>了</a:t>
            </a:r>
            <a:r>
              <a:rPr lang="en-US" altLang="zh-CN" dirty="0">
                <a:latin typeface="+mn-ea"/>
                <a:ea typeface="+mn-ea"/>
              </a:rPr>
              <a:t>“</a:t>
            </a:r>
            <a:r>
              <a:rPr lang="zh-CN" altLang="zh-CN" dirty="0">
                <a:latin typeface="+mn-ea"/>
                <a:ea typeface="+mn-ea"/>
              </a:rPr>
              <a:t>潜在结果</a:t>
            </a:r>
            <a:r>
              <a:rPr lang="en-US" altLang="zh-CN" dirty="0">
                <a:latin typeface="+mn-ea"/>
                <a:ea typeface="+mn-ea"/>
              </a:rPr>
              <a:t>”(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potential outcome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概念。之后，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Rubin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进一步</a:t>
            </a:r>
            <a:r>
              <a:rPr lang="zh-CN" altLang="zh-CN" dirty="0">
                <a:latin typeface="+mn-ea"/>
                <a:ea typeface="+mn-ea"/>
              </a:rPr>
              <a:t>发展了这一概念，并将其和缺失数据理论联系在一起。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结构因果模型</a:t>
            </a:r>
            <a:r>
              <a:rPr lang="zh-CN" altLang="zh-CN" dirty="0">
                <a:latin typeface="+mn-ea"/>
                <a:ea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Structure Causal Model, SCM</a:t>
            </a:r>
            <a:r>
              <a:rPr lang="zh-CN" altLang="zh-CN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  <a:p>
            <a:pPr marL="539750" indent="-182563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</a:rPr>
              <a:t>也称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因果图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causal diagram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Pearl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于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1995</a:t>
            </a:r>
            <a:r>
              <a:rPr lang="zh-CN" altLang="zh-CN" dirty="0">
                <a:latin typeface="+mn-ea"/>
                <a:ea typeface="+mn-ea"/>
              </a:rPr>
              <a:t>年提出。</a:t>
            </a:r>
            <a:endParaRPr lang="en-US" altLang="zh-CN" dirty="0">
              <a:latin typeface="+mn-ea"/>
              <a:ea typeface="+mn-ea"/>
            </a:endParaRPr>
          </a:p>
          <a:p>
            <a:pPr marL="539750" indent="-182563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</a:rPr>
              <a:t>通常</a:t>
            </a:r>
            <a:r>
              <a:rPr lang="zh-CN" altLang="zh-CN" dirty="0">
                <a:latin typeface="+mn-ea"/>
                <a:ea typeface="+mn-ea"/>
              </a:rPr>
              <a:t>，因果图是一种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有向无环图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DAG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directed acyclic graphs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539750" indent="-182563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有向无环图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zh-CN" altLang="zh-CN" dirty="0">
                <a:latin typeface="+mn-ea"/>
                <a:ea typeface="+mn-ea"/>
              </a:rPr>
              <a:t>一个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无回路的有向图</a:t>
            </a:r>
            <a:r>
              <a:rPr lang="zh-CN" altLang="en-US" dirty="0">
                <a:latin typeface="+mn-ea"/>
                <a:ea typeface="+mn-ea"/>
              </a:rPr>
              <a:t>。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zh-CN" dirty="0">
                <a:latin typeface="+mn-ea"/>
                <a:ea typeface="+mn-ea"/>
              </a:rPr>
              <a:t>从图中任意一个节点出发</a:t>
            </a:r>
            <a:r>
              <a:rPr lang="en-US" altLang="zh-CN" dirty="0">
                <a:latin typeface="+mn-ea"/>
                <a:ea typeface="+mn-ea"/>
              </a:rPr>
              <a:t>,</a:t>
            </a:r>
            <a:r>
              <a:rPr lang="zh-CN" altLang="zh-CN" dirty="0">
                <a:latin typeface="+mn-ea"/>
                <a:ea typeface="+mn-ea"/>
              </a:rPr>
              <a:t>经过任意条边，均无法回到该节点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zh-CN" dirty="0">
                <a:latin typeface="+mn-ea"/>
                <a:ea typeface="+mn-ea"/>
              </a:rPr>
              <a:t>。刻画了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图中所有节点之间</a:t>
            </a:r>
            <a:r>
              <a:rPr lang="zh-CN" altLang="zh-CN" dirty="0">
                <a:latin typeface="+mn-ea"/>
                <a:ea typeface="+mn-ea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依赖关系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zh-CN" dirty="0">
                <a:latin typeface="+mn-ea"/>
                <a:ea typeface="+mn-ea"/>
              </a:rPr>
              <a:t>可用于描述</a:t>
            </a:r>
            <a:r>
              <a:rPr lang="zh-CN" altLang="zh-CN" u="wavyDbl" dirty="0">
                <a:latin typeface="+mn-ea"/>
                <a:ea typeface="+mn-ea"/>
              </a:rPr>
              <a:t>数据的生成机制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539750" indent="-182563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+mn-ea"/>
                <a:ea typeface="+mn-ea"/>
              </a:rPr>
              <a:t>这</a:t>
            </a:r>
            <a:r>
              <a:rPr lang="zh-CN" altLang="en-US" dirty="0">
                <a:latin typeface="+mn-ea"/>
                <a:ea typeface="+mn-ea"/>
              </a:rPr>
              <a:t>种</a:t>
            </a:r>
            <a:r>
              <a:rPr lang="zh-CN" altLang="zh-CN" dirty="0">
                <a:latin typeface="+mn-ea"/>
                <a:ea typeface="+mn-ea"/>
              </a:rPr>
              <a:t>描述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变量联合分布</a:t>
            </a:r>
            <a:r>
              <a:rPr lang="zh-CN" altLang="zh-CN" dirty="0">
                <a:latin typeface="+mn-ea"/>
                <a:ea typeface="+mn-ea"/>
              </a:rPr>
              <a:t>或</a:t>
            </a:r>
            <a:r>
              <a:rPr lang="zh-CN" altLang="zh-CN" dirty="0">
                <a:solidFill>
                  <a:srgbClr val="0000FF"/>
                </a:solidFill>
                <a:latin typeface="+mn-ea"/>
                <a:ea typeface="+mn-ea"/>
              </a:rPr>
              <a:t>数据生成机制</a:t>
            </a:r>
            <a:r>
              <a:rPr lang="zh-CN" altLang="zh-CN" dirty="0">
                <a:latin typeface="+mn-ea"/>
                <a:ea typeface="+mn-ea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n-ea"/>
                <a:ea typeface="+mn-ea"/>
              </a:rPr>
              <a:t>模型</a:t>
            </a:r>
            <a:r>
              <a:rPr lang="zh-CN" altLang="en-US" dirty="0">
                <a:latin typeface="宋体" panose="02010600030101010101" pitchFamily="2" charset="-122"/>
              </a:rPr>
              <a:t>→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贝叶斯网络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476672"/>
            <a:ext cx="3265647" cy="111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0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665280" y="1161320"/>
            <a:ext cx="4680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/>
              <a:t>因果图的优势：易于计算变量的联合概率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85E3EBC-9DB9-48CE-82C5-A1B3A7283316}"/>
                  </a:ext>
                </a:extLst>
              </p:cNvPr>
              <p:cNvSpPr/>
              <p:nvPr/>
            </p:nvSpPr>
            <p:spPr>
              <a:xfrm>
                <a:off x="584128" y="1772816"/>
                <a:ext cx="8136904" cy="7437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>
                  <a:lnSpc>
                    <a:spcPts val="29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>
                    <a:latin typeface="+mn-ea"/>
                    <a:ea typeface="+mn-ea"/>
                  </a:rPr>
                  <a:t>对于</a:t>
                </a:r>
                <a:r>
                  <a:rPr lang="zh-CN" altLang="zh-CN" sz="2000" u="wavyDbl" dirty="0">
                    <a:latin typeface="+mn-ea"/>
                    <a:ea typeface="+mn-ea"/>
                  </a:rPr>
                  <a:t>任意有向无环图模型</a:t>
                </a:r>
                <a:r>
                  <a:rPr lang="zh-CN" altLang="zh-CN" sz="2000" dirty="0">
                    <a:latin typeface="+mn-ea"/>
                    <a:ea typeface="+mn-ea"/>
                  </a:rPr>
                  <a:t>，模型中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𝒅</m:t>
                    </m:r>
                  </m:oMath>
                </a14:m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个变量的</a:t>
                </a:r>
                <a:r>
                  <a:rPr lang="zh-CN" altLang="zh-CN" sz="2000" u="wavyDbl" dirty="0">
                    <a:solidFill>
                      <a:srgbClr val="FF0000"/>
                    </a:solidFill>
                    <a:latin typeface="+mn-ea"/>
                    <a:ea typeface="+mn-ea"/>
                  </a:rPr>
                  <a:t>联合概率分布</a:t>
                </a:r>
                <a:r>
                  <a:rPr lang="zh-CN" altLang="en-US" sz="2000" dirty="0">
                    <a:latin typeface="+mn-ea"/>
                    <a:ea typeface="+mn-ea"/>
                  </a:rPr>
                  <a:t>是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</a:rPr>
                  <a:t>每个节点与其父节点之间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条件概率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𝒄𝒉𝒊𝒍𝒅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𝒑𝒂𝒓𝒆𝒏𝒕𝒔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sz="2000" dirty="0">
                    <a:latin typeface="+mn-ea"/>
                    <a:ea typeface="+mn-ea"/>
                  </a:rPr>
                  <a:t>的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乘积</a:t>
                </a:r>
                <a:r>
                  <a:rPr lang="zh-CN" altLang="en-US" sz="2000" dirty="0">
                    <a:latin typeface="+mn-ea"/>
                    <a:ea typeface="+mn-ea"/>
                  </a:rPr>
                  <a:t>。</a:t>
                </a:r>
                <a:endParaRPr lang="zh-CN" altLang="zh-CN" sz="20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5E3EBC-9DB9-48CE-82C5-A1B3A72833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28" y="1772816"/>
                <a:ext cx="8136904" cy="743793"/>
              </a:xfrm>
              <a:prstGeom prst="rect">
                <a:avLst/>
              </a:prstGeom>
              <a:blipFill rotWithShape="0">
                <a:blip r:embed="rId2"/>
                <a:stretch>
                  <a:fillRect l="-1423" t="-9016" r="-1873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97" y="2595542"/>
            <a:ext cx="3584158" cy="870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5309154-21D7-4C60-90AC-7B2D1F0CF995}"/>
                  </a:ext>
                </a:extLst>
              </p:cNvPr>
              <p:cNvSpPr/>
              <p:nvPr/>
            </p:nvSpPr>
            <p:spPr>
              <a:xfrm>
                <a:off x="584128" y="3566104"/>
                <a:ext cx="8020320" cy="87100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2563" indent="-182563" algn="just">
                  <a:lnSpc>
                    <a:spcPct val="1500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式</a:t>
                </a:r>
                <a:r>
                  <a:rPr lang="zh-CN" altLang="zh-CN" dirty="0">
                    <a:latin typeface="+mn-ea"/>
                    <a:ea typeface="+mn-ea"/>
                  </a:rPr>
                  <a:t>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𝒑𝒂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  <a:ea typeface="+mn-ea"/>
                  </a:rPr>
                  <a:t>-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父节点集合</a:t>
                </a:r>
                <a:r>
                  <a:rPr lang="zh-CN" altLang="zh-CN" dirty="0">
                    <a:latin typeface="+mn-ea"/>
                    <a:ea typeface="+mn-ea"/>
                  </a:rPr>
                  <a:t>（所有指向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的节点，部分节点的父节点集合可以为空），这</a:t>
                </a:r>
                <a:r>
                  <a:rPr lang="zh-CN" altLang="en-US" dirty="0">
                    <a:latin typeface="+mn-ea"/>
                    <a:ea typeface="+mn-ea"/>
                  </a:rPr>
                  <a:t>个</a:t>
                </a:r>
                <a:r>
                  <a:rPr lang="zh-CN" altLang="zh-CN" dirty="0">
                    <a:latin typeface="+mn-ea"/>
                    <a:ea typeface="+mn-ea"/>
                  </a:rPr>
                  <a:t>式子包含了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变量之间</a:t>
                </a:r>
                <a:r>
                  <a:rPr lang="zh-CN" altLang="zh-CN" dirty="0">
                    <a:latin typeface="+mn-ea"/>
                    <a:ea typeface="+mn-ea"/>
                  </a:rPr>
                  <a:t>某种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普遍成立</a:t>
                </a:r>
                <a:r>
                  <a:rPr lang="zh-CN" altLang="zh-CN" dirty="0">
                    <a:latin typeface="+mn-ea"/>
                    <a:ea typeface="+mn-ea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独立性假设</a:t>
                </a:r>
                <a:r>
                  <a:rPr lang="zh-CN" altLang="zh-CN" dirty="0">
                    <a:latin typeface="+mn-ea"/>
                    <a:ea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5309154-21D7-4C60-90AC-7B2D1F0CF9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28" y="3566104"/>
                <a:ext cx="8020320" cy="871008"/>
              </a:xfrm>
              <a:prstGeom prst="rect">
                <a:avLst/>
              </a:prstGeom>
              <a:blipFill rotWithShape="0">
                <a:blip r:embed="rId4"/>
                <a:stretch>
                  <a:fillRect l="-1293" r="-1825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584128" y="4597678"/>
            <a:ext cx="7717109" cy="942913"/>
            <a:chOff x="584128" y="4597678"/>
            <a:chExt cx="7717109" cy="942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5309154-21D7-4C60-90AC-7B2D1F0CF995}"/>
                    </a:ext>
                  </a:extLst>
                </p:cNvPr>
                <p:cNvSpPr/>
                <p:nvPr/>
              </p:nvSpPr>
              <p:spPr>
                <a:xfrm>
                  <a:off x="584128" y="4597678"/>
                  <a:ext cx="7084216" cy="41549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82563" indent="-182563" algn="just">
                    <a:lnSpc>
                      <a:spcPct val="1500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Ø"/>
                  </a:pP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如</a:t>
                  </a:r>
                  <a:r>
                    <a:rPr lang="zh-CN" altLang="zh-CN" dirty="0">
                      <a:latin typeface="+mn-ea"/>
                      <a:ea typeface="+mn-ea"/>
                    </a:rPr>
                    <a:t>，一个简单的链式图</a:t>
                  </a:r>
                  <a:r>
                    <a:rPr lang="en-US" altLang="zh-CN" dirty="0">
                      <a:latin typeface="+mn-ea"/>
                      <a:ea typeface="+mn-ea"/>
                    </a:rPr>
                    <a:t>(</a:t>
                  </a:r>
                  <a:r>
                    <a:rPr lang="zh-CN" altLang="zh-CN" dirty="0">
                      <a:latin typeface="+mn-ea"/>
                      <a:ea typeface="+mn-ea"/>
                    </a:rPr>
                    <a:t>有向无环图</a:t>
                  </a:r>
                  <a:r>
                    <a:rPr lang="en-US" altLang="zh-CN" dirty="0">
                      <a:latin typeface="+mn-ea"/>
                      <a:ea typeface="+mn-ea"/>
                    </a:rPr>
                    <a:t>)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𝑍</m:t>
                      </m:r>
                    </m:oMath>
                  </a14:m>
                  <a:r>
                    <a:rPr lang="zh-CN" altLang="zh-CN" dirty="0">
                      <a:latin typeface="+mn-ea"/>
                      <a:ea typeface="+mn-ea"/>
                    </a:rPr>
                    <a:t>，其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联合概率分布</a:t>
                  </a:r>
                  <a:r>
                    <a:rPr lang="zh-CN" altLang="zh-CN" dirty="0">
                      <a:latin typeface="+mn-ea"/>
                      <a:ea typeface="+mn-ea"/>
                    </a:rPr>
                    <a:t>：</a:t>
                  </a:r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85309154-21D7-4C60-90AC-7B2D1F0CF9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28" y="4597678"/>
                  <a:ext cx="7084216" cy="41549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463" t="-1471" r="-1205" b="-191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40597" y="5223350"/>
              <a:ext cx="5760640" cy="317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99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611560" y="1484784"/>
            <a:ext cx="7992888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2B19B1B-B3C8-407E-AC15-BF80FB37ECA9}"/>
                  </a:ext>
                </a:extLst>
              </p:cNvPr>
              <p:cNvSpPr/>
              <p:nvPr/>
            </p:nvSpPr>
            <p:spPr>
              <a:xfrm>
                <a:off x="337196" y="3356992"/>
                <a:ext cx="8541616" cy="1528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zh-CN" altLang="en-U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zh-CN" altLang="en-U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zh-CN" altLang="en-U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2B19B1B-B3C8-407E-AC15-BF80FB37E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96" y="3356992"/>
                <a:ext cx="8541616" cy="152811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05532"/>
            <a:ext cx="3561508" cy="2234156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461100" y="420306"/>
            <a:ext cx="4071340" cy="2216606"/>
            <a:chOff x="4677124" y="405532"/>
            <a:chExt cx="4071340" cy="2216606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2080" y="1906777"/>
              <a:ext cx="2944440" cy="7153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085E3EBC-9DB9-48CE-82C5-A1B3A7283316}"/>
                    </a:ext>
                  </a:extLst>
                </p:cNvPr>
                <p:cNvSpPr/>
                <p:nvPr/>
              </p:nvSpPr>
              <p:spPr>
                <a:xfrm>
                  <a:off x="4677124" y="405532"/>
                  <a:ext cx="4071340" cy="1487587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82563" indent="-182563">
                    <a:lnSpc>
                      <a:spcPts val="29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dirty="0">
                      <a:latin typeface="+mn-ea"/>
                      <a:ea typeface="+mn-ea"/>
                    </a:rPr>
                    <a:t>任意有向无环图模型，模型中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𝒅</m:t>
                      </m:r>
                    </m:oMath>
                  </a14:m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个变量的</a:t>
                  </a:r>
                  <a:r>
                    <a:rPr lang="zh-CN" altLang="zh-CN" u="wavyDbl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联合概率分布</a:t>
                  </a:r>
                  <a:r>
                    <a:rPr lang="zh-CN" altLang="en-US" dirty="0">
                      <a:latin typeface="+mn-ea"/>
                      <a:ea typeface="+mn-ea"/>
                    </a:rPr>
                    <a:t>是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每个节点与其父节点之间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条件概率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𝑷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𝒄𝒉𝒊𝒍𝒅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|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𝒑𝒂𝒓𝒆𝒏𝒕𝒔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a14:m>
                  <a:r>
                    <a:rPr lang="zh-CN" altLang="zh-CN" dirty="0">
                      <a:latin typeface="+mn-ea"/>
                      <a:ea typeface="+mn-ea"/>
                    </a:rPr>
                    <a:t>的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乘积</a:t>
                  </a:r>
                  <a:r>
                    <a:rPr lang="zh-CN" altLang="en-US" dirty="0">
                      <a:latin typeface="+mn-ea"/>
                      <a:ea typeface="+mn-ea"/>
                    </a:rPr>
                    <a:t>。</a:t>
                  </a:r>
                  <a:endParaRPr lang="zh-CN" altLang="zh-CN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085E3EBC-9DB9-48CE-82C5-A1B3A72833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124" y="405532"/>
                  <a:ext cx="4071340" cy="148758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545" t="-2869" r="-2395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8395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656136" y="1152176"/>
            <a:ext cx="352839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因果推理：</a:t>
            </a:r>
            <a:r>
              <a:rPr lang="zh-CN" altLang="zh-CN" sz="2000" dirty="0">
                <a:latin typeface="+mn-ea"/>
                <a:ea typeface="+mn-ea"/>
              </a:rPr>
              <a:t>因果干预与</a:t>
            </a:r>
            <a:r>
              <a:rPr lang="en-US" altLang="zh-CN" sz="2000" dirty="0">
                <a:latin typeface="+mn-ea"/>
                <a:ea typeface="+mn-ea"/>
              </a:rPr>
              <a:t>do</a:t>
            </a:r>
            <a:r>
              <a:rPr lang="zh-CN" altLang="zh-CN" sz="2000" dirty="0">
                <a:latin typeface="+mn-ea"/>
                <a:ea typeface="+mn-ea"/>
              </a:rPr>
              <a:t>算子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463D9B9-8D11-4DC5-AEBD-87E5F800537D}"/>
              </a:ext>
            </a:extLst>
          </p:cNvPr>
          <p:cNvSpPr/>
          <p:nvPr/>
        </p:nvSpPr>
        <p:spPr>
          <a:xfrm>
            <a:off x="620704" y="1728240"/>
            <a:ext cx="8055752" cy="4308872"/>
          </a:xfrm>
          <a:prstGeom prst="rect">
            <a:avLst/>
          </a:prstGeom>
        </p:spPr>
        <p:txBody>
          <a:bodyPr wrap="square" lIns="0" tIns="0" bIns="0">
            <a:spAutoFit/>
          </a:bodyPr>
          <a:lstStyle/>
          <a:p>
            <a:pPr marL="285750" indent="-285750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因果推理中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干预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intervention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539750" indent="-182563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改变明确存在关联关系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某变量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取值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，研究</a:t>
            </a:r>
            <a:r>
              <a:rPr lang="zh-CN" altLang="zh-CN" b="1" u="wavyDbl" dirty="0">
                <a:latin typeface="+mn-ea"/>
                <a:ea typeface="+mn-ea"/>
                <a:cs typeface="Times New Roman" panose="02020603050405020304" pitchFamily="18" charset="0"/>
              </a:rPr>
              <a:t>变量取值改变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对</a:t>
            </a:r>
            <a:r>
              <a:rPr lang="zh-CN" altLang="zh-CN" b="1" u="wavyDbl" dirty="0">
                <a:latin typeface="+mn-ea"/>
                <a:ea typeface="+mn-ea"/>
                <a:cs typeface="Times New Roman" panose="02020603050405020304" pitchFamily="18" charset="0"/>
              </a:rPr>
              <a:t>结果变量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的影响。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因果推理中常用的手段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539750" indent="-182563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已知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商品价格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销售量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有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关联关系情况下，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将商品价格提高一倍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357187">
              <a:lnSpc>
                <a:spcPts val="2700"/>
              </a:lnSpc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研究销售量会发生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什么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变化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? </a:t>
            </a:r>
          </a:p>
          <a:p>
            <a:pPr marL="357187">
              <a:lnSpc>
                <a:spcPts val="2700"/>
              </a:lnSpc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已知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吸烟频率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患癌概率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有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关联关系情况下，研究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戒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烟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后，患癌概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357187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率会发生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什么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变化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?</a:t>
            </a:r>
          </a:p>
          <a:p>
            <a:pPr marL="285750" indent="-285750" algn="just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“do”</a:t>
            </a:r>
            <a:r>
              <a:rPr lang="zh-CN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算子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82563" algn="just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为从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因果分析角度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实现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干预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任务，图灵奖获得者</a:t>
            </a:r>
            <a:r>
              <a:rPr lang="en-US" altLang="zh-CN" sz="1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Judea Pearl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提出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do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算子，计算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当系统中</a:t>
            </a:r>
            <a:r>
              <a:rPr lang="zh-CN" altLang="zh-CN" b="1" u="wavyDbl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一个变量取值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发生变化、</a:t>
            </a:r>
            <a:r>
              <a:rPr lang="zh-CN" altLang="zh-CN" b="1" u="wavyDbl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其他变量</a:t>
            </a:r>
            <a:r>
              <a:rPr lang="zh-CN" altLang="en-US" b="1" u="wavyDbl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取值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保持不变时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系统输出结果是否变化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？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39750" indent="-182563" algn="just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如此，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可判断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改变取值的变量</a:t>
            </a:r>
            <a:r>
              <a:rPr lang="zh-CN" altLang="zh-CN" b="1" u="wavyDbl" dirty="0">
                <a:latin typeface="+mn-ea"/>
                <a:ea typeface="+mn-ea"/>
                <a:cs typeface="Times New Roman" panose="02020603050405020304" pitchFamily="18" charset="0"/>
              </a:rPr>
              <a:t>是否是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系统中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起决定作用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原因要素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72979C-9A14-4C7D-AF3A-844D7787575F}"/>
              </a:ext>
            </a:extLst>
          </p:cNvPr>
          <p:cNvSpPr/>
          <p:nvPr/>
        </p:nvSpPr>
        <p:spPr>
          <a:xfrm>
            <a:off x="4283968" y="260648"/>
            <a:ext cx="4442943" cy="984885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92075" indent="-92075" algn="just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“do”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算子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起到医学上经常采用的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双盲测试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作用。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患者分两组，一组服药，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而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另一组服用安慰剂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比较两组患者的恢复效果，从而判定药品的功效。</a:t>
            </a:r>
          </a:p>
        </p:txBody>
      </p:sp>
    </p:spTree>
    <p:extLst>
      <p:ext uri="{BB962C8B-B14F-4D97-AF65-F5344CB8AC3E}">
        <p14:creationId xmlns:p14="http://schemas.microsoft.com/office/powerpoint/2010/main" val="329394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E1861DF-A65E-4172-926C-E6B27BDB3777}"/>
                  </a:ext>
                </a:extLst>
              </p:cNvPr>
              <p:cNvSpPr/>
              <p:nvPr/>
            </p:nvSpPr>
            <p:spPr>
              <a:xfrm>
                <a:off x="611560" y="1772816"/>
                <a:ext cx="7992888" cy="411651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just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干预过程中</a:t>
                </a:r>
                <a:r>
                  <a:rPr lang="zh-CN" altLang="en-US" dirty="0">
                    <a:latin typeface="+mn-ea"/>
                    <a:ea typeface="+mn-ea"/>
                  </a:rPr>
                  <a:t>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固定</a:t>
                </a:r>
                <a:r>
                  <a:rPr lang="zh-CN" altLang="zh-CN" dirty="0">
                    <a:latin typeface="+mn-ea"/>
                    <a:ea typeface="+mn-ea"/>
                  </a:rPr>
                  <a:t>系统中其他变量，然后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改变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某一变量取值</a:t>
                </a:r>
                <a:r>
                  <a:rPr lang="zh-CN" altLang="zh-CN" dirty="0">
                    <a:latin typeface="+mn-ea"/>
                    <a:ea typeface="+mn-ea"/>
                  </a:rPr>
                  <a:t>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观察</a:t>
                </a:r>
                <a:r>
                  <a:rPr lang="zh-CN" altLang="zh-CN" dirty="0">
                    <a:latin typeface="+mn-ea"/>
                    <a:ea typeface="+mn-ea"/>
                  </a:rPr>
                  <a:t>其他变量的变化。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85750" indent="-285750"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为了与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的自然取值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区分，在对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进行干预时，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引入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𝒅𝒐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算子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algn="just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  <a:r>
                  <a:rPr lang="en-US" altLang="zh-CN" sz="1400" dirty="0">
                    <a:latin typeface="+mn-ea"/>
                    <a:ea typeface="+mn-ea"/>
                  </a:rPr>
                  <a:t>  </a:t>
                </a:r>
                <a:r>
                  <a:rPr lang="zh-CN" altLang="zh-CN" dirty="0">
                    <a:latin typeface="+mn-ea"/>
                    <a:ea typeface="+mn-ea"/>
                  </a:rPr>
                  <a:t>记</a:t>
                </a:r>
                <a:r>
                  <a:rPr lang="zh-CN" altLang="en-US" dirty="0">
                    <a:latin typeface="+mn-ea"/>
                    <a:ea typeface="+mn-ea"/>
                  </a:rPr>
                  <a:t>为：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𝒅𝒐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  <a:ea typeface="+mn-ea"/>
                </a:endParaRPr>
              </a:p>
              <a:p>
                <a:pPr marL="285750" indent="-285750"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𝒚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表示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zh-CN" altLang="zh-CN" dirty="0">
                    <a:latin typeface="+mn-ea"/>
                    <a:ea typeface="+mn-ea"/>
                  </a:rPr>
                  <a:t>当发现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𝒚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的概率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  <a:r>
                  <a:rPr lang="en-US" altLang="zh-CN" sz="1600" dirty="0">
                    <a:latin typeface="+mn-ea"/>
                    <a:ea typeface="+mn-ea"/>
                  </a:rPr>
                  <a:t>  </a:t>
                </a:r>
                <a:r>
                  <a:rPr lang="en-US" altLang="zh-CN" sz="1400" dirty="0">
                    <a:latin typeface="+mn-ea"/>
                    <a:ea typeface="+mn-ea"/>
                  </a:rPr>
                  <a:t>  </a:t>
                </a:r>
                <a:r>
                  <a:rPr lang="zh-CN" altLang="zh-CN" dirty="0">
                    <a:latin typeface="+mn-ea"/>
                    <a:ea typeface="+mn-ea"/>
                  </a:rPr>
                  <a:t>而</a:t>
                </a:r>
                <a:r>
                  <a:rPr lang="zh-CN" altLang="en-US" dirty="0">
                    <a:latin typeface="+mn-ea"/>
                    <a:ea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𝒚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𝒅𝒐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))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表示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zh-CN" altLang="zh-CN" dirty="0">
                    <a:latin typeface="+mn-ea"/>
                    <a:ea typeface="+mn-ea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进行干预，固定其值为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𝒚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  <a:p>
                <a:pPr algn="just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latin typeface="+mn-ea"/>
                    <a:ea typeface="+mn-ea"/>
                  </a:rPr>
                  <a:t>                                </a:t>
                </a:r>
                <a:r>
                  <a:rPr lang="zh-CN" altLang="zh-CN" dirty="0">
                    <a:latin typeface="+mn-ea"/>
                    <a:ea typeface="+mn-ea"/>
                  </a:rPr>
                  <a:t>概率。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85750" indent="-285750"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用统计学术语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𝒚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反映的是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zh-CN" altLang="zh-CN" dirty="0">
                    <a:latin typeface="+mn-ea"/>
                    <a:ea typeface="+mn-ea"/>
                  </a:rPr>
                  <a:t>在取值为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的个体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上，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的总体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algn="just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dirty="0">
                    <a:latin typeface="+mn-ea"/>
                    <a:ea typeface="+mn-ea"/>
                  </a:rPr>
                  <a:t>                                        </a:t>
                </a:r>
                <a:r>
                  <a:rPr lang="zh-CN" altLang="zh-CN" dirty="0">
                    <a:latin typeface="+mn-ea"/>
                    <a:ea typeface="+mn-ea"/>
                  </a:rPr>
                  <a:t>分布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sz="1600" dirty="0">
                    <a:latin typeface="+mn-ea"/>
                    <a:ea typeface="+mn-ea"/>
                  </a:rPr>
                  <a:t>     </a:t>
                </a:r>
                <a:r>
                  <a:rPr lang="zh-CN" altLang="zh-CN" dirty="0">
                    <a:latin typeface="+mn-ea"/>
                    <a:ea typeface="+mn-ea"/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𝒚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𝒅𝒐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))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反映的是</a:t>
                </a:r>
                <a:r>
                  <a:rPr lang="zh-CN" altLang="en-US" dirty="0">
                    <a:latin typeface="+mn-ea"/>
                    <a:ea typeface="+mn-ea"/>
                  </a:rPr>
                  <a:t>：若</a:t>
                </a:r>
                <a:r>
                  <a:rPr lang="zh-CN" altLang="zh-CN" dirty="0">
                    <a:latin typeface="+mn-ea"/>
                    <a:ea typeface="+mn-ea"/>
                  </a:rPr>
                  <a:t>将每一个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取值都固定为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的总体分布。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E1861DF-A65E-4172-926C-E6B27BDB3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72816"/>
                <a:ext cx="7992888" cy="4116512"/>
              </a:xfrm>
              <a:prstGeom prst="rect">
                <a:avLst/>
              </a:prstGeom>
              <a:blipFill rotWithShape="0">
                <a:blip r:embed="rId2"/>
                <a:stretch>
                  <a:fillRect l="-1754" t="-1481" r="-1831"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88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 bwMode="auto">
          <a:xfrm>
            <a:off x="539552" y="1484784"/>
            <a:ext cx="8064896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2C2E0C-53A3-4362-98BF-84BE3F71DBEA}"/>
              </a:ext>
            </a:extLst>
          </p:cNvPr>
          <p:cNvSpPr/>
          <p:nvPr/>
        </p:nvSpPr>
        <p:spPr>
          <a:xfrm>
            <a:off x="416136" y="511896"/>
            <a:ext cx="266429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/>
              <a:t>因果推理：</a:t>
            </a:r>
            <a:r>
              <a:rPr lang="zh-CN" altLang="zh-CN" sz="2000" dirty="0"/>
              <a:t>因果</a:t>
            </a:r>
            <a:r>
              <a:rPr lang="zh-CN" altLang="en-US" sz="2000" dirty="0"/>
              <a:t>效应差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36" y="997872"/>
            <a:ext cx="3349631" cy="1834908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E4C3617-B159-4C57-B2B4-0B0D834FE32A}"/>
                  </a:ext>
                </a:extLst>
              </p:cNvPr>
              <p:cNvSpPr/>
              <p:nvPr/>
            </p:nvSpPr>
            <p:spPr>
              <a:xfrm>
                <a:off x="3905151" y="997768"/>
                <a:ext cx="4608512" cy="243656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2563" indent="-182563" algn="just">
                  <a:lnSpc>
                    <a:spcPts val="23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以</a:t>
                </a:r>
                <a:r>
                  <a:rPr lang="zh-CN" altLang="en-US" dirty="0">
                    <a:latin typeface="+mn-ea"/>
                    <a:ea typeface="+mn-ea"/>
                  </a:rPr>
                  <a:t>前述</a:t>
                </a:r>
                <a:r>
                  <a:rPr lang="zh-CN" altLang="zh-CN" dirty="0">
                    <a:latin typeface="+mn-ea"/>
                    <a:ea typeface="+mn-ea"/>
                  </a:rPr>
                  <a:t>辛普森悖论为例</a:t>
                </a:r>
                <a:r>
                  <a:rPr lang="en-US" altLang="zh-CN" dirty="0">
                    <a:latin typeface="+mn-ea"/>
                    <a:ea typeface="+mn-ea"/>
                  </a:rPr>
                  <a:t>(</a:t>
                </a:r>
                <a:r>
                  <a:rPr lang="zh-CN" altLang="en-US" dirty="0">
                    <a:latin typeface="+mn-ea"/>
                    <a:ea typeface="+mn-ea"/>
                  </a:rPr>
                  <a:t>因果图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zh-CN" dirty="0">
                    <a:latin typeface="+mn-ea"/>
                    <a:ea typeface="+mn-ea"/>
                  </a:rPr>
                  <a:t>，</a:t>
                </a:r>
                <a:r>
                  <a:rPr lang="zh-CN" altLang="en-US" dirty="0">
                    <a:latin typeface="+mn-ea"/>
                    <a:ea typeface="+mn-ea"/>
                  </a:rPr>
                  <a:t>图</a:t>
                </a:r>
                <a:r>
                  <a:rPr lang="zh-CN" altLang="zh-CN" dirty="0">
                    <a:latin typeface="+mn-ea"/>
                    <a:ea typeface="+mn-ea"/>
                  </a:rPr>
                  <a:t>中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357188" indent="-174625" algn="just">
                  <a:lnSpc>
                    <a:spcPts val="23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表示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用药情况</a:t>
                </a:r>
                <a:r>
                  <a:rPr lang="en-US" altLang="zh-CN" dirty="0">
                    <a:latin typeface="+mn-ea"/>
                    <a:ea typeface="+mn-ea"/>
                  </a:rPr>
                  <a:t>(1</a:t>
                </a:r>
                <a:r>
                  <a:rPr lang="zh-CN" altLang="zh-CN" dirty="0">
                    <a:latin typeface="+mn-ea"/>
                    <a:ea typeface="+mn-ea"/>
                  </a:rPr>
                  <a:t>用药，</a:t>
                </a:r>
                <a:r>
                  <a:rPr lang="en-US" altLang="zh-CN" dirty="0">
                    <a:latin typeface="+mn-ea"/>
                    <a:ea typeface="+mn-ea"/>
                  </a:rPr>
                  <a:t>0</a:t>
                </a:r>
                <a:r>
                  <a:rPr lang="zh-CN" altLang="zh-CN" dirty="0">
                    <a:latin typeface="+mn-ea"/>
                    <a:ea typeface="+mn-ea"/>
                  </a:rPr>
                  <a:t>不用药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zh-CN" dirty="0">
                    <a:latin typeface="+mn-ea"/>
                    <a:ea typeface="+mn-ea"/>
                  </a:rPr>
                  <a:t>，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357188" indent="-174625" algn="just">
                  <a:lnSpc>
                    <a:spcPts val="23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表示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恢复情况</a:t>
                </a:r>
                <a:r>
                  <a:rPr lang="en-US" altLang="zh-CN" dirty="0">
                    <a:latin typeface="+mn-ea"/>
                    <a:ea typeface="+mn-ea"/>
                  </a:rPr>
                  <a:t>(1</a:t>
                </a:r>
                <a:r>
                  <a:rPr lang="zh-CN" altLang="zh-CN" dirty="0">
                    <a:latin typeface="+mn-ea"/>
                    <a:ea typeface="+mn-ea"/>
                  </a:rPr>
                  <a:t>恢复，</a:t>
                </a:r>
                <a:r>
                  <a:rPr lang="en-US" altLang="zh-CN" dirty="0">
                    <a:latin typeface="+mn-ea"/>
                    <a:ea typeface="+mn-ea"/>
                  </a:rPr>
                  <a:t>0</a:t>
                </a:r>
                <a:r>
                  <a:rPr lang="zh-CN" altLang="zh-CN" dirty="0">
                    <a:latin typeface="+mn-ea"/>
                    <a:ea typeface="+mn-ea"/>
                  </a:rPr>
                  <a:t>未恢复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zh-CN" dirty="0">
                    <a:latin typeface="+mn-ea"/>
                    <a:ea typeface="+mn-ea"/>
                  </a:rPr>
                  <a:t>，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357188" indent="-174625" algn="just">
                  <a:lnSpc>
                    <a:spcPts val="23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表示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性别</a:t>
                </a:r>
                <a:r>
                  <a:rPr lang="en-US" altLang="zh-CN" dirty="0">
                    <a:latin typeface="+mn-ea"/>
                    <a:ea typeface="+mn-ea"/>
                  </a:rPr>
                  <a:t>(1</a:t>
                </a:r>
                <a:r>
                  <a:rPr lang="zh-CN" altLang="zh-CN" dirty="0">
                    <a:latin typeface="+mn-ea"/>
                    <a:ea typeface="+mn-ea"/>
                  </a:rPr>
                  <a:t>男性，</a:t>
                </a:r>
                <a:r>
                  <a:rPr lang="en-US" altLang="zh-CN" dirty="0">
                    <a:latin typeface="+mn-ea"/>
                    <a:ea typeface="+mn-ea"/>
                  </a:rPr>
                  <a:t>0</a:t>
                </a:r>
                <a:r>
                  <a:rPr lang="zh-CN" altLang="zh-CN" dirty="0">
                    <a:latin typeface="+mn-ea"/>
                    <a:ea typeface="+mn-ea"/>
                  </a:rPr>
                  <a:t>女性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zh-CN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182563" indent="-182563" algn="just">
                  <a:lnSpc>
                    <a:spcPts val="23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为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比较病人用药与否的恢复情况</a:t>
                </a:r>
                <a:r>
                  <a:rPr lang="zh-CN" altLang="zh-CN" dirty="0">
                    <a:latin typeface="+mn-ea"/>
                    <a:ea typeface="+mn-ea"/>
                  </a:rPr>
                  <a:t>，可对病人</a:t>
                </a:r>
                <a:r>
                  <a:rPr lang="zh-CN" altLang="zh-CN" u="wavyDbl" dirty="0">
                    <a:latin typeface="+mn-ea"/>
                    <a:ea typeface="+mn-ea"/>
                  </a:rPr>
                  <a:t>用药情况</a:t>
                </a:r>
                <a:r>
                  <a:rPr lang="zh-CN" altLang="zh-CN" dirty="0">
                    <a:latin typeface="+mn-ea"/>
                    <a:ea typeface="+mn-ea"/>
                  </a:rPr>
                  <a:t>进行</a:t>
                </a:r>
                <a:r>
                  <a:rPr lang="zh-CN" altLang="zh-CN" u="wavyDbl" dirty="0">
                    <a:latin typeface="+mn-ea"/>
                    <a:ea typeface="+mn-ea"/>
                  </a:rPr>
                  <a:t>干预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r>
                  <a:rPr lang="zh-CN" altLang="zh-CN" dirty="0">
                    <a:latin typeface="+mn-ea"/>
                    <a:ea typeface="+mn-ea"/>
                  </a:rPr>
                  <a:t>即将病人随机分成</a:t>
                </a:r>
                <a:r>
                  <a:rPr lang="zh-CN" altLang="en-US" dirty="0">
                    <a:latin typeface="+mn-ea"/>
                    <a:ea typeface="+mn-ea"/>
                  </a:rPr>
                  <a:t>两组</a:t>
                </a:r>
                <a:r>
                  <a:rPr lang="en-US" altLang="zh-CN" dirty="0">
                    <a:latin typeface="+mn-ea"/>
                    <a:ea typeface="+mn-ea"/>
                  </a:rPr>
                  <a:t>(1</a:t>
                </a:r>
                <a:r>
                  <a:rPr lang="zh-CN" altLang="zh-CN" dirty="0">
                    <a:latin typeface="+mn-ea"/>
                    <a:ea typeface="+mn-ea"/>
                  </a:rPr>
                  <a:t>用药</a:t>
                </a:r>
                <a:r>
                  <a:rPr lang="en-US" altLang="zh-CN" dirty="0">
                    <a:latin typeface="+mn-ea"/>
                    <a:ea typeface="+mn-ea"/>
                  </a:rPr>
                  <a:t>/0</a:t>
                </a:r>
                <a:r>
                  <a:rPr lang="zh-CN" altLang="zh-CN" dirty="0">
                    <a:latin typeface="+mn-ea"/>
                    <a:ea typeface="+mn-ea"/>
                  </a:rPr>
                  <a:t>不用药</a:t>
                </a:r>
                <a:r>
                  <a:rPr lang="zh-CN" altLang="en-US" dirty="0">
                    <a:latin typeface="+mn-ea"/>
                    <a:ea typeface="+mn-ea"/>
                  </a:rPr>
                  <a:t>）</a:t>
                </a:r>
                <a:r>
                  <a:rPr lang="zh-CN" altLang="zh-CN" dirty="0">
                    <a:latin typeface="+mn-ea"/>
                    <a:ea typeface="+mn-ea"/>
                  </a:rPr>
                  <a:t>。令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𝒅𝒐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𝒅𝒐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𝟎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表示干预，</a:t>
                </a:r>
                <a:r>
                  <a:rPr lang="zh-CN" altLang="en-US" dirty="0">
                    <a:latin typeface="+mn-ea"/>
                    <a:ea typeface="+mn-ea"/>
                  </a:rPr>
                  <a:t>计算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效应差</a:t>
                </a:r>
                <a:r>
                  <a:rPr lang="zh-CN" altLang="zh-CN" dirty="0">
                    <a:latin typeface="+mn-ea"/>
                    <a:ea typeface="+mn-ea"/>
                  </a:rPr>
                  <a:t>：</a:t>
                </a:r>
                <a:endParaRPr lang="en-US" altLang="zh-CN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E4C3617-B159-4C57-B2B4-0B0D834FE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151" y="997768"/>
                <a:ext cx="4608512" cy="2436564"/>
              </a:xfrm>
              <a:prstGeom prst="rect">
                <a:avLst/>
              </a:prstGeom>
              <a:blipFill rotWithShape="0">
                <a:blip r:embed="rId3"/>
                <a:stretch>
                  <a:fillRect l="-2249" t="-4010" r="-3042"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071" y="3766643"/>
            <a:ext cx="4536504" cy="309202"/>
          </a:xfrm>
          <a:prstGeom prst="rect">
            <a:avLst/>
          </a:prstGeom>
        </p:spPr>
      </p:pic>
      <p:sp>
        <p:nvSpPr>
          <p:cNvPr id="24" name="圆角矩形标注 23"/>
          <p:cNvSpPr/>
          <p:nvPr/>
        </p:nvSpPr>
        <p:spPr bwMode="auto">
          <a:xfrm>
            <a:off x="611560" y="3100671"/>
            <a:ext cx="1224136" cy="576064"/>
          </a:xfrm>
          <a:prstGeom prst="wedgeRoundRectCallout">
            <a:avLst>
              <a:gd name="adj1" fmla="val 74611"/>
              <a:gd name="adj2" fmla="val 6091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用药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情况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恢复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概率</a:t>
            </a:r>
          </a:p>
        </p:txBody>
      </p:sp>
      <p:sp>
        <p:nvSpPr>
          <p:cNvPr id="25" name="圆角矩形标注 24"/>
          <p:cNvSpPr/>
          <p:nvPr/>
        </p:nvSpPr>
        <p:spPr bwMode="auto">
          <a:xfrm>
            <a:off x="7380312" y="3421831"/>
            <a:ext cx="1224136" cy="576064"/>
          </a:xfrm>
          <a:prstGeom prst="wedgeRoundRectCallout">
            <a:avLst>
              <a:gd name="adj1" fmla="val -109091"/>
              <a:gd name="adj2" fmla="val 24404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不用药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情况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恢复的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概率</a:t>
            </a: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395536" y="908720"/>
            <a:ext cx="82089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圆角矩形标注 28"/>
              <p:cNvSpPr/>
              <p:nvPr/>
            </p:nvSpPr>
            <p:spPr bwMode="auto">
              <a:xfrm>
                <a:off x="1115616" y="4797152"/>
                <a:ext cx="7108192" cy="376238"/>
              </a:xfrm>
              <a:prstGeom prst="wedgeRoundRectCallout">
                <a:avLst>
                  <a:gd name="adj1" fmla="val -20624"/>
                  <a:gd name="adj2" fmla="val -133729"/>
                  <a:gd name="adj3" fmla="val 16667"/>
                </a:avLst>
              </a:prstGeom>
              <a:noFill/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因果效应差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/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平均因果效应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zh-CN" sz="20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𝒅𝒐</m:t>
                        </m:r>
                        <m:d>
                          <m:dPr>
                            <m:ctrlPr>
                              <a:rPr lang="zh-CN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𝑿</m:t>
                            </m:r>
                            <m: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CN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称为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因果效应</a:t>
                </a:r>
                <a:endPara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圆角矩形标注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4797152"/>
                <a:ext cx="7108192" cy="376238"/>
              </a:xfrm>
              <a:prstGeom prst="wedgeRoundRectCallout">
                <a:avLst>
                  <a:gd name="adj1" fmla="val -20624"/>
                  <a:gd name="adj2" fmla="val -133729"/>
                  <a:gd name="adj3" fmla="val 16667"/>
                </a:avLst>
              </a:prstGeom>
              <a:blipFill rotWithShape="0">
                <a:blip r:embed="rId5"/>
                <a:stretch>
                  <a:fillRect l="-1798" r="-1370" b="-11207"/>
                </a:stretch>
              </a:blipFill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74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9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 bwMode="auto">
          <a:xfrm>
            <a:off x="611560" y="1484784"/>
            <a:ext cx="7992888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332656"/>
            <a:ext cx="3168352" cy="1815485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D2DE9E-38A5-4B12-B796-249D0EA1D336}"/>
                  </a:ext>
                </a:extLst>
              </p:cNvPr>
              <p:cNvSpPr/>
              <p:nvPr/>
            </p:nvSpPr>
            <p:spPr>
              <a:xfrm>
                <a:off x="378392" y="2511184"/>
                <a:ext cx="8352928" cy="327012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just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对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用药情况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进行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干预并固定</a:t>
                </a:r>
                <a:r>
                  <a:rPr lang="zh-CN" altLang="zh-CN" dirty="0">
                    <a:latin typeface="+mn-ea"/>
                    <a:ea typeface="+mn-ea"/>
                  </a:rPr>
                  <a:t>其值为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时，可将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所有指向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</m:oMath>
                </a14:m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的边</a:t>
                </a:r>
                <a:r>
                  <a:rPr lang="zh-CN" altLang="zh-CN" dirty="0">
                    <a:latin typeface="+mn-ea"/>
                    <a:ea typeface="+mn-ea"/>
                  </a:rPr>
                  <a:t>均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移除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85750" indent="-285750" algn="just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n-ea"/>
                    <a:ea typeface="+mn-ea"/>
                  </a:rPr>
                  <a:t>则，</a:t>
                </a:r>
                <a:r>
                  <a:rPr lang="zh-CN" altLang="zh-CN" dirty="0">
                    <a:latin typeface="+mn-ea"/>
                    <a:ea typeface="+mn-ea"/>
                  </a:rPr>
                  <a:t>因果效应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𝒀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𝒚</m:t>
                        </m:r>
                      </m:e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𝒅𝒐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+mn-ea"/>
                              </a:rPr>
                              <m:t>𝑿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+mn-ea"/>
                              </a:rPr>
                              <m:t>=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等价</a:t>
                </a:r>
                <a:r>
                  <a:rPr lang="zh-CN" altLang="en-US" dirty="0">
                    <a:latin typeface="+mn-ea"/>
                    <a:ea typeface="+mn-ea"/>
                  </a:rPr>
                  <a:t>右图中</a:t>
                </a:r>
                <a:r>
                  <a:rPr lang="zh-CN" altLang="zh-CN" dirty="0">
                    <a:latin typeface="+mn-ea"/>
                    <a:ea typeface="+mn-ea"/>
                  </a:rPr>
                  <a:t>所示的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引入干预</a:t>
                </a:r>
                <a:r>
                  <a:rPr lang="zh-CN" altLang="zh-CN" dirty="0">
                    <a:latin typeface="+mn-ea"/>
                    <a:ea typeface="+mn-ea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操纵图模型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manipulated model</a:t>
                </a:r>
                <a:r>
                  <a:rPr lang="en-US" altLang="zh-CN" sz="1600" dirty="0">
                    <a:latin typeface="+mn-ea"/>
                    <a:ea typeface="+mn-ea"/>
                  </a:rPr>
                  <a:t>)</a:t>
                </a:r>
                <a:r>
                  <a:rPr lang="zh-CN" altLang="zh-CN" dirty="0">
                    <a:latin typeface="+mn-ea"/>
                    <a:ea typeface="+mn-ea"/>
                  </a:rPr>
                  <a:t>中的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条件概率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𝒎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𝒀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𝒚</m:t>
                        </m:r>
                      </m:e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𝑿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85750" indent="-285750" algn="just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u="wavyDbl" dirty="0">
                    <a:latin typeface="+mn-ea"/>
                    <a:ea typeface="+mn-ea"/>
                  </a:rPr>
                  <a:t>计算因果效应</a:t>
                </a:r>
                <a:r>
                  <a:rPr lang="zh-CN" altLang="zh-CN" dirty="0">
                    <a:latin typeface="+mn-ea"/>
                    <a:ea typeface="+mn-ea"/>
                  </a:rPr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关键</a:t>
                </a:r>
                <a:r>
                  <a:rPr lang="zh-CN" altLang="zh-CN" dirty="0">
                    <a:latin typeface="+mn-ea"/>
                    <a:ea typeface="+mn-ea"/>
                  </a:rPr>
                  <a:t>在于</a:t>
                </a:r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计算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操纵概率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latin typeface="+mn-ea"/>
                    <a:ea typeface="+mn-ea"/>
                  </a:rPr>
                  <a:t>(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manipulated probability</a:t>
                </a:r>
                <a:r>
                  <a:rPr lang="en-US" altLang="zh-CN" sz="1400" dirty="0">
                    <a:latin typeface="+mn-ea"/>
                    <a:ea typeface="+mn-ea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285750" indent="-285750" algn="just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与正常</a:t>
                </a:r>
                <a:r>
                  <a:rPr lang="en-US" altLang="zh-CN" dirty="0">
                    <a:latin typeface="+mn-ea"/>
                    <a:ea typeface="+mn-ea"/>
                  </a:rPr>
                  <a:t>(</a:t>
                </a:r>
                <a:r>
                  <a:rPr lang="zh-CN" altLang="zh-CN" dirty="0">
                    <a:latin typeface="+mn-ea"/>
                    <a:ea typeface="+mn-ea"/>
                  </a:rPr>
                  <a:t>无干预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zh-CN" dirty="0">
                    <a:latin typeface="+mn-ea"/>
                    <a:ea typeface="+mn-ea"/>
                  </a:rPr>
                  <a:t>条件下的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概率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有两个相同的重要性质：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447675" indent="-182563" algn="just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宋体" panose="02010600030101010101" pitchFamily="2" charset="-122"/>
                  </a:rPr>
                  <a:t>①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边缘概率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𝒛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不随干预而变化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r>
                  <a:rPr lang="zh-CN" altLang="zh-CN" dirty="0">
                    <a:latin typeface="+mn-ea"/>
                    <a:ea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的取值</a:t>
                </a:r>
                <a:r>
                  <a:rPr lang="zh-CN" altLang="zh-CN" dirty="0">
                    <a:latin typeface="+mn-ea"/>
                    <a:ea typeface="+mn-ea"/>
                  </a:rPr>
                  <a:t>不会因为去掉从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+mn-ea"/>
                      </a:rPr>
                      <m:t>𝑍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的箭头而变化；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marL="447675" indent="-182563" algn="just"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+mn-ea"/>
                    <a:ea typeface="+mn-ea"/>
                  </a:rPr>
                  <a:t>②</a:t>
                </a:r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条件概率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𝒀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𝒚</m:t>
                        </m:r>
                      </m:e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𝑿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𝒛</m:t>
                        </m:r>
                      </m:e>
                    </m:d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+mn-ea"/>
                    <a:ea typeface="+mn-ea"/>
                  </a:rPr>
                  <a:t>不变</a:t>
                </a:r>
                <a:r>
                  <a:rPr lang="zh-CN" altLang="zh-CN" dirty="0">
                    <a:latin typeface="+mn-ea"/>
                    <a:ea typeface="+mn-ea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</m:oMath>
                </a14:m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</m:oMath>
                </a14:m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𝑍</m:t>
                    </m:r>
                  </m:oMath>
                </a14:m>
                <a:r>
                  <a:rPr lang="zh-CN" altLang="zh-CN" dirty="0">
                    <a:solidFill>
                      <a:srgbClr val="0000FF"/>
                    </a:solidFill>
                    <a:latin typeface="+mn-ea"/>
                    <a:ea typeface="+mn-ea"/>
                  </a:rPr>
                  <a:t>的函数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𝒀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=(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  <a:ea typeface="+mn-ea"/>
                  </a:rPr>
                  <a:t>并未改变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endParaRPr lang="zh-CN" altLang="zh-CN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0D2DE9E-38A5-4B12-B796-249D0EA1D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92" y="2511184"/>
                <a:ext cx="8352928" cy="3270126"/>
              </a:xfrm>
              <a:prstGeom prst="rect">
                <a:avLst/>
              </a:prstGeom>
              <a:blipFill rotWithShape="0">
                <a:blip r:embed="rId3"/>
                <a:stretch>
                  <a:fillRect l="-1241" t="-2425" r="-1752" b="-2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61" y="322944"/>
            <a:ext cx="3349631" cy="1834908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37" name="组合 36"/>
          <p:cNvGrpSpPr/>
          <p:nvPr/>
        </p:nvGrpSpPr>
        <p:grpSpPr>
          <a:xfrm>
            <a:off x="2893238" y="4403245"/>
            <a:ext cx="1809344" cy="999642"/>
            <a:chOff x="2893238" y="4403245"/>
            <a:chExt cx="1809344" cy="999642"/>
          </a:xfrm>
        </p:grpSpPr>
        <p:sp>
          <p:nvSpPr>
            <p:cNvPr id="35" name="矩形 34"/>
            <p:cNvSpPr/>
            <p:nvPr/>
          </p:nvSpPr>
          <p:spPr bwMode="auto">
            <a:xfrm>
              <a:off x="2893238" y="4403245"/>
              <a:ext cx="1800200" cy="288032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4221103" y="5114855"/>
              <a:ext cx="481479" cy="288032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75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539552" y="1484784"/>
            <a:ext cx="8064896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337853"/>
            <a:ext cx="2160240" cy="1237831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0" name="组合 9"/>
          <p:cNvGrpSpPr/>
          <p:nvPr/>
        </p:nvGrpSpPr>
        <p:grpSpPr>
          <a:xfrm>
            <a:off x="395536" y="1759627"/>
            <a:ext cx="8208912" cy="733269"/>
            <a:chOff x="395536" y="1759627"/>
            <a:chExt cx="8208912" cy="7332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2ECE208-5A78-4C89-B5EA-8AF41DF971B1}"/>
                    </a:ext>
                  </a:extLst>
                </p:cNvPr>
                <p:cNvSpPr/>
                <p:nvPr/>
              </p:nvSpPr>
              <p:spPr>
                <a:xfrm>
                  <a:off x="395536" y="1759627"/>
                  <a:ext cx="2592288" cy="282129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285750" indent="-285750" algn="just">
                    <a:lnSpc>
                      <a:spcPts val="22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en-US" dirty="0">
                      <a:latin typeface="+mn-ea"/>
                      <a:ea typeface="+mn-ea"/>
                    </a:rPr>
                    <a:t>由上述两性质，可知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  <a:ea typeface="+mn-ea"/>
                        </a:rPr>
                        <m:t>：</m:t>
                      </m:r>
                    </m:oMath>
                  </a14:m>
                  <a:endParaRPr lang="en-US" altLang="zh-CN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F2ECE208-5A78-4C89-B5EA-8AF41DF971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36" y="1759627"/>
                  <a:ext cx="2592288" cy="28212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4000" t="-39130" r="-1882" b="-369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9528" y="2204864"/>
              <a:ext cx="6004920" cy="28803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2ECE208-5A78-4C89-B5EA-8AF41DF971B1}"/>
                  </a:ext>
                </a:extLst>
              </p:cNvPr>
              <p:cNvSpPr/>
              <p:nvPr/>
            </p:nvSpPr>
            <p:spPr>
              <a:xfrm>
                <a:off x="395536" y="2713893"/>
                <a:ext cx="7272808" cy="28212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9875" indent="-269875" algn="just">
                  <a:lnSpc>
                    <a:spcPts val="22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latin typeface="+mn-ea"/>
                    <a:ea typeface="+mn-ea"/>
                  </a:rPr>
                  <a:t>在操纵图模型中</a:t>
                </a:r>
                <a:r>
                  <a:rPr lang="zh-CN" altLang="en-US" dirty="0">
                    <a:latin typeface="+mn-ea"/>
                    <a:ea typeface="+mn-ea"/>
                  </a:rPr>
                  <a:t>，存在：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𝒎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𝒛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|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𝑿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=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𝒎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𝒛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  <a:ea typeface="+mn-ea"/>
                      </a:rPr>
                      <m:t>= 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+mn-ea"/>
                      </a:rPr>
                      <m:t>𝑷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+mn-ea"/>
                          </a:rPr>
                          <m:t>𝒛</m:t>
                        </m:r>
                      </m:e>
                    </m:d>
                  </m:oMath>
                </a14:m>
                <a:endParaRPr lang="en-US" altLang="zh-CN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2ECE208-5A78-4C89-B5EA-8AF41DF97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713893"/>
                <a:ext cx="7272808" cy="282129"/>
              </a:xfrm>
              <a:prstGeom prst="rect">
                <a:avLst/>
              </a:prstGeom>
              <a:blipFill rotWithShape="0">
                <a:blip r:embed="rId5"/>
                <a:stretch>
                  <a:fillRect l="-1425" t="-39130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标注 10"/>
          <p:cNvSpPr/>
          <p:nvPr/>
        </p:nvSpPr>
        <p:spPr bwMode="auto">
          <a:xfrm>
            <a:off x="371196" y="1023327"/>
            <a:ext cx="1824540" cy="288032"/>
          </a:xfrm>
          <a:prstGeom prst="wedgeRoundRectCallout">
            <a:avLst>
              <a:gd name="adj1" fmla="val 164617"/>
              <a:gd name="adj2" fmla="val 51767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指向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的边已移除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95536" y="366174"/>
            <a:ext cx="8208912" cy="3127844"/>
            <a:chOff x="395536" y="366174"/>
            <a:chExt cx="8208912" cy="31278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F2ECE208-5A78-4C89-B5EA-8AF41DF971B1}"/>
                    </a:ext>
                  </a:extLst>
                </p:cNvPr>
                <p:cNvSpPr/>
                <p:nvPr/>
              </p:nvSpPr>
              <p:spPr>
                <a:xfrm>
                  <a:off x="395536" y="3217019"/>
                  <a:ext cx="6264696" cy="276999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285750" indent="-285750" algn="just"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dirty="0">
                      <a:latin typeface="+mn-ea"/>
                      <a:ea typeface="+mn-ea"/>
                    </a:rPr>
                    <a:t>将三个等式组合在一起，则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因果效应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ea typeface="+mn-ea"/>
                        </a:rPr>
                        <m:t>𝑷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+mn-ea"/>
                            </a:rPr>
                            <m:t>𝒀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+mn-ea"/>
                            </a:rPr>
                            <m:t>𝒚</m:t>
                          </m:r>
                        </m:e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+mn-ea"/>
                            </a:rPr>
                            <m:t>𝒅𝒐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𝑿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+mn-ea"/>
                                </a:rPr>
                                <m:t>=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zh-CN" altLang="zh-CN" dirty="0">
                      <a:latin typeface="+mn-ea"/>
                      <a:ea typeface="+mn-ea"/>
                    </a:rPr>
                    <a:t>：</a:t>
                  </a:r>
                  <a:endParaRPr lang="en-US" altLang="zh-CN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F2ECE208-5A78-4C89-B5EA-8AF41DF971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36" y="3217019"/>
                  <a:ext cx="6264696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654" t="-33333" r="-2237" b="-4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48064" y="366174"/>
              <a:ext cx="3456384" cy="115212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19" name="组合 18"/>
          <p:cNvGrpSpPr/>
          <p:nvPr/>
        </p:nvGrpSpPr>
        <p:grpSpPr>
          <a:xfrm>
            <a:off x="396712" y="3789040"/>
            <a:ext cx="8207736" cy="1222669"/>
            <a:chOff x="396712" y="3789040"/>
            <a:chExt cx="8207736" cy="12226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2ECE208-5A78-4C89-B5EA-8AF41DF971B1}"/>
                    </a:ext>
                  </a:extLst>
                </p:cNvPr>
                <p:cNvSpPr/>
                <p:nvPr/>
              </p:nvSpPr>
              <p:spPr>
                <a:xfrm>
                  <a:off x="396712" y="3789040"/>
                  <a:ext cx="8207736" cy="641201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265113" indent="-265113" algn="just">
                    <a:lnSpc>
                      <a:spcPts val="25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dirty="0">
                      <a:latin typeface="+mn-ea"/>
                      <a:ea typeface="+mn-ea"/>
                    </a:rPr>
                    <a:t>式</a:t>
                  </a:r>
                  <a:r>
                    <a:rPr lang="zh-CN" altLang="en-US" dirty="0">
                      <a:latin typeface="+mn-ea"/>
                      <a:ea typeface="+mn-ea"/>
                    </a:rPr>
                    <a:t>中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第一行</a:t>
                  </a:r>
                  <a:r>
                    <a:rPr lang="zh-CN" altLang="zh-CN" dirty="0">
                      <a:latin typeface="+mn-ea"/>
                      <a:ea typeface="+mn-ea"/>
                    </a:rPr>
                    <a:t>来源于定义</a:t>
                  </a:r>
                  <a:r>
                    <a:rPr lang="zh-CN" altLang="en-US" dirty="0">
                      <a:latin typeface="+mn-ea"/>
                      <a:ea typeface="+mn-ea"/>
                    </a:rPr>
                    <a:t>；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第二行</a:t>
                  </a:r>
                  <a:r>
                    <a:rPr lang="zh-CN" altLang="zh-CN" dirty="0">
                      <a:latin typeface="+mn-ea"/>
                      <a:ea typeface="+mn-ea"/>
                    </a:rPr>
                    <a:t>来源于贝叶斯公式</a:t>
                  </a:r>
                  <a:r>
                    <a:rPr lang="zh-CN" altLang="en-US" dirty="0">
                      <a:latin typeface="+mn-ea"/>
                      <a:ea typeface="+mn-ea"/>
                    </a:rPr>
                    <a:t>；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第三行</a:t>
                  </a:r>
                  <a:r>
                    <a:rPr lang="zh-CN" altLang="zh-CN" dirty="0">
                      <a:latin typeface="+mn-ea"/>
                      <a:ea typeface="+mn-ea"/>
                    </a:rPr>
                    <a:t>来源于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𝑋</m:t>
                      </m:r>
                    </m:oMath>
                  </a14:m>
                  <a:r>
                    <a:rPr lang="zh-CN" altLang="zh-CN" dirty="0">
                      <a:latin typeface="+mn-ea"/>
                      <a:ea typeface="+mn-ea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𝑍</m:t>
                      </m:r>
                    </m:oMath>
                  </a14:m>
                  <a:r>
                    <a:rPr lang="zh-CN" altLang="zh-CN" dirty="0">
                      <a:latin typeface="+mn-ea"/>
                      <a:ea typeface="+mn-ea"/>
                    </a:rPr>
                    <a:t>在操纵图模型中的独立性。最后，得到如下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正常</a:t>
                  </a:r>
                  <a:r>
                    <a:rPr lang="en-US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(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无干预</a:t>
                  </a:r>
                  <a:r>
                    <a:rPr lang="en-US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)</a:t>
                  </a:r>
                  <a:r>
                    <a:rPr lang="zh-CN" altLang="zh-CN" dirty="0">
                      <a:solidFill>
                        <a:srgbClr val="0000FF"/>
                      </a:solidFill>
                      <a:latin typeface="+mn-ea"/>
                      <a:ea typeface="+mn-ea"/>
                    </a:rPr>
                    <a:t>条件下</a:t>
                  </a:r>
                  <a:r>
                    <a:rPr lang="zh-CN" altLang="zh-CN" dirty="0">
                      <a:latin typeface="+mn-ea"/>
                      <a:ea typeface="+mn-ea"/>
                    </a:rPr>
                    <a:t>的</a:t>
                  </a:r>
                  <a:r>
                    <a:rPr lang="zh-CN" altLang="zh-CN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因果效应</a:t>
                  </a:r>
                  <a:r>
                    <a:rPr lang="zh-CN" altLang="zh-CN" dirty="0">
                      <a:latin typeface="+mn-ea"/>
                      <a:ea typeface="+mn-ea"/>
                    </a:rPr>
                    <a:t>：</a:t>
                  </a:r>
                  <a:r>
                    <a:rPr lang="en-US" altLang="zh-CN" dirty="0">
                      <a:latin typeface="+mn-ea"/>
                      <a:ea typeface="+mn-ea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F2ECE208-5A78-4C89-B5EA-8AF41DF971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12" y="3789040"/>
                  <a:ext cx="8207736" cy="641201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263" t="-12381" r="-1783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63888" y="4509120"/>
              <a:ext cx="4392488" cy="50258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2" name="组合 21"/>
          <p:cNvGrpSpPr/>
          <p:nvPr/>
        </p:nvGrpSpPr>
        <p:grpSpPr>
          <a:xfrm>
            <a:off x="386392" y="4725144"/>
            <a:ext cx="8482104" cy="1347848"/>
            <a:chOff x="386392" y="4725144"/>
            <a:chExt cx="8482104" cy="13478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D1C145E2-F099-4175-BDE7-19F3FAE50C40}"/>
                    </a:ext>
                  </a:extLst>
                </p:cNvPr>
                <p:cNvSpPr/>
                <p:nvPr/>
              </p:nvSpPr>
              <p:spPr>
                <a:xfrm>
                  <a:off x="386392" y="5111190"/>
                  <a:ext cx="8482104" cy="961802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82563" indent="-182563" algn="just">
                    <a:lnSpc>
                      <a:spcPts val="25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调整公式</a:t>
                  </a:r>
                  <a:r>
                    <a:rPr lang="zh-CN" alt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。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对于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𝒁</m:t>
                      </m:r>
                    </m:oMath>
                  </a14:m>
                  <a:r>
                    <a:rPr lang="zh-CN" altLang="zh-CN" sz="16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的每一个取值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𝒛</m:t>
                      </m:r>
                    </m:oMath>
                  </a14:m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，计算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𝑿</m:t>
                      </m:r>
                    </m:oMath>
                  </a14:m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𝒀</m:t>
                      </m:r>
                    </m:oMath>
                  </a14:m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的条件概率并取均值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。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𝑍</m:t>
                      </m:r>
                    </m:oMath>
                  </a14:m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调整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/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𝑍</m:t>
                      </m:r>
                    </m:oMath>
                  </a14:m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控制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182563" indent="-182563" algn="just">
                    <a:lnSpc>
                      <a:spcPts val="25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sz="16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右端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只包含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正常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无干预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条件下的概率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𝑃</m:t>
                      </m:r>
                    </m:oMath>
                  </a14:m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【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即</a:t>
                  </a:r>
                  <a:r>
                    <a:rPr lang="zh-CN" alt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可用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正常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无干预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条件下的条件概率</a:t>
                  </a:r>
                  <a:r>
                    <a:rPr lang="zh-CN" alt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计算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有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干预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的条件概率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】</a:t>
                  </a:r>
                  <a:endPara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D1C145E2-F099-4175-BDE7-19F3FAE50C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92" y="5111190"/>
                  <a:ext cx="8482104" cy="96180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1221" t="-8228" r="-1437" b="-75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箭头连接符 20"/>
            <p:cNvCxnSpPr/>
            <p:nvPr/>
          </p:nvCxnSpPr>
          <p:spPr bwMode="auto">
            <a:xfrm flipV="1">
              <a:off x="1115616" y="4725144"/>
              <a:ext cx="2304256" cy="3860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68929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1" grpId="1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611560" y="1484784"/>
            <a:ext cx="8064896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87524" y="332656"/>
            <a:ext cx="8712968" cy="1008112"/>
            <a:chOff x="287524" y="332656"/>
            <a:chExt cx="8712968" cy="1008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DD0A316-0054-49B2-B505-B22662D9D206}"/>
                    </a:ext>
                  </a:extLst>
                </p:cNvPr>
                <p:cNvSpPr/>
                <p:nvPr/>
              </p:nvSpPr>
              <p:spPr>
                <a:xfrm>
                  <a:off x="287524" y="332656"/>
                  <a:ext cx="8712968" cy="606641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82563" indent="-182563" algn="just">
                    <a:lnSpc>
                      <a:spcPts val="25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将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调整公式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用于</a:t>
                  </a:r>
                  <a:r>
                    <a:rPr lang="zh-CN" altLang="zh-CN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辛普森悖论</a:t>
                  </a:r>
                  <a:r>
                    <a:rPr lang="zh-CN" alt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。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其中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=1</m:t>
                      </m:r>
                    </m:oMath>
                  </a14:m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用药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a14:m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en-US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患者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恢复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=1</m:t>
                      </m:r>
                    </m:oMath>
                  </a14:m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男性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US" altLang="zh-CN" sz="1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女性</a:t>
                  </a: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)</a:t>
                  </a:r>
                </a:p>
                <a:p>
                  <a:pPr algn="just">
                    <a:lnSpc>
                      <a:spcPts val="25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</a:pPr>
                  <a:r>
                    <a:rPr lang="en-US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    </a:t>
                  </a:r>
                  <a:r>
                    <a:rPr lang="zh-CN" altLang="zh-CN" sz="16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则有：</a:t>
                  </a: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CDD0A316-0054-49B2-B505-B22662D9D2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24" y="332656"/>
                  <a:ext cx="8712968" cy="60664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1050" t="-6061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1052736"/>
              <a:ext cx="8386175" cy="28803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08" y="4725144"/>
            <a:ext cx="2880320" cy="1403233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87524" y="1484784"/>
            <a:ext cx="8254294" cy="790055"/>
            <a:chOff x="287524" y="1484784"/>
            <a:chExt cx="8254294" cy="790055"/>
          </a:xfrm>
        </p:grpSpPr>
        <p:sp>
          <p:nvSpPr>
            <p:cNvPr id="11" name="矩形 10"/>
            <p:cNvSpPr/>
            <p:nvPr/>
          </p:nvSpPr>
          <p:spPr>
            <a:xfrm>
              <a:off x="287524" y="1484784"/>
              <a:ext cx="5652628" cy="28212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 algn="just">
                <a:lnSpc>
                  <a:spcPts val="22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代入表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中</a:t>
              </a: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的数据，则将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患者</a:t>
              </a:r>
              <a:r>
                <a:rPr lang="zh-CN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干预为</a:t>
              </a:r>
              <a:r>
                <a:rPr lang="zh-CN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用药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患者</a:t>
              </a: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的</a:t>
              </a:r>
              <a:r>
                <a:rPr lang="zh-CN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因果效应</a:t>
              </a: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为：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38485" y="1886255"/>
              <a:ext cx="5203333" cy="388584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256" y="4832233"/>
            <a:ext cx="2331503" cy="1296144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287524" y="2418532"/>
            <a:ext cx="8340086" cy="740209"/>
            <a:chOff x="287524" y="2418532"/>
            <a:chExt cx="8340086" cy="740209"/>
          </a:xfrm>
        </p:grpSpPr>
        <p:sp>
          <p:nvSpPr>
            <p:cNvPr id="15" name="矩形 14"/>
            <p:cNvSpPr/>
            <p:nvPr/>
          </p:nvSpPr>
          <p:spPr>
            <a:xfrm>
              <a:off x="287524" y="2418532"/>
              <a:ext cx="5181055" cy="25718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 algn="just">
                <a:lnSpc>
                  <a:spcPts val="22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类似，将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患者</a:t>
              </a:r>
              <a:r>
                <a:rPr lang="zh-CN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干预为</a:t>
              </a:r>
              <a:r>
                <a:rPr lang="zh-CN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不用药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患者</a:t>
              </a: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的</a:t>
              </a:r>
              <a:r>
                <a:rPr lang="zh-CN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因果效应</a:t>
              </a:r>
              <a:r>
                <a: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为：</a:t>
              </a: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38485" y="2770108"/>
              <a:ext cx="5289125" cy="388633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287524" y="3253131"/>
            <a:ext cx="8543339" cy="1088188"/>
            <a:chOff x="287524" y="3253131"/>
            <a:chExt cx="8543339" cy="1088188"/>
          </a:xfrm>
        </p:grpSpPr>
        <p:grpSp>
          <p:nvGrpSpPr>
            <p:cNvPr id="22" name="组合 21"/>
            <p:cNvGrpSpPr/>
            <p:nvPr/>
          </p:nvGrpSpPr>
          <p:grpSpPr>
            <a:xfrm>
              <a:off x="287524" y="3253131"/>
              <a:ext cx="8388932" cy="648379"/>
              <a:chOff x="287524" y="3253131"/>
              <a:chExt cx="8388932" cy="648379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287524" y="3253131"/>
                <a:ext cx="6444716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5113" indent="-265113" algn="just"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分别计算完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用药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和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不用药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干预因果效应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后，再计算其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因果效应差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endParaRPr lang="zh-CN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0548" y="3691803"/>
                <a:ext cx="5705908" cy="209707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DD0A316-0054-49B2-B505-B22662D9D206}"/>
                </a:ext>
              </a:extLst>
            </p:cNvPr>
            <p:cNvSpPr/>
            <p:nvPr/>
          </p:nvSpPr>
          <p:spPr>
            <a:xfrm>
              <a:off x="899592" y="4033542"/>
              <a:ext cx="7931271" cy="30777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说明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：</a:t>
              </a:r>
              <a:r>
                <a: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用药的恢复率</a:t>
              </a:r>
              <a:r>
                <a: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高于</a:t>
              </a:r>
              <a:r>
                <a: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不用药的恢复率，即该新药能帮助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患者</a:t>
              </a:r>
              <a:r>
                <a: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治愈。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924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11560" y="1844824"/>
            <a:ext cx="8064896" cy="3359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知识表示方法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推理即计算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>
              <a:lnSpc>
                <a:spcPts val="29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</a:rPr>
              <a:t>逻辑与推理具有一定区别。逻辑本身不承载推理的使命，而是研究什么是推理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zh-CN" sz="2000" dirty="0">
                <a:latin typeface="+mn-ea"/>
                <a:ea typeface="+mn-ea"/>
              </a:rPr>
              <a:t>以及提出一些一般性的原则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zh-CN" sz="2000" dirty="0">
                <a:latin typeface="+mn-ea"/>
                <a:ea typeface="+mn-ea"/>
              </a:rPr>
              <a:t>保证推理结果的正确性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sz="2000" dirty="0">
                <a:latin typeface="+mn-ea"/>
                <a:ea typeface="+mn-ea"/>
              </a:rPr>
              <a:t>  （</a:t>
            </a:r>
            <a:r>
              <a:rPr lang="zh-CN" altLang="zh-CN" sz="2000" dirty="0">
                <a:latin typeface="+mn-ea"/>
                <a:ea typeface="+mn-ea"/>
              </a:rPr>
              <a:t>如归结法</a:t>
            </a:r>
            <a:r>
              <a:rPr lang="en-US" altLang="zh-CN" sz="2000" dirty="0">
                <a:latin typeface="+mn-ea"/>
                <a:ea typeface="+mn-ea"/>
              </a:rPr>
              <a:t>…)</a:t>
            </a:r>
          </a:p>
          <a:p>
            <a:pPr marL="342900" indent="-342900">
              <a:lnSpc>
                <a:spcPts val="29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+mn-ea"/>
                <a:ea typeface="+mn-ea"/>
              </a:rPr>
              <a:t>推理的方法有很多，如演绎推理、归纳推理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zh-CN" altLang="zh-CN" sz="2000" dirty="0">
                <a:latin typeface="+mn-ea"/>
                <a:ea typeface="+mn-ea"/>
              </a:rPr>
              <a:t>因果推理</a:t>
            </a:r>
            <a:r>
              <a:rPr lang="en-US" altLang="zh-CN" sz="2000" dirty="0">
                <a:latin typeface="+mn-ea"/>
                <a:ea typeface="+mn-ea"/>
              </a:rPr>
              <a:t>…</a:t>
            </a:r>
            <a:r>
              <a:rPr lang="zh-CN" altLang="zh-CN" sz="2000" dirty="0">
                <a:latin typeface="+mn-ea"/>
                <a:ea typeface="+mn-ea"/>
              </a:rPr>
              <a:t>，实际任务中，一般是多种推理方法叠加协同，完成特定任务。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>
              <a:lnSpc>
                <a:spcPts val="29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作业</a:t>
            </a:r>
            <a:r>
              <a:rPr lang="zh-CN" altLang="en-US" sz="2000" dirty="0">
                <a:latin typeface="+mn-ea"/>
                <a:ea typeface="+mn-ea"/>
              </a:rPr>
              <a:t>：见课程群要求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9AA995-01A2-4488-8818-4A8D7139E178}"/>
              </a:ext>
            </a:extLst>
          </p:cNvPr>
          <p:cNvSpPr/>
          <p:nvPr/>
        </p:nvSpPr>
        <p:spPr>
          <a:xfrm>
            <a:off x="611560" y="1052736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本章小结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707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57780</TotalTime>
  <Words>23142</Words>
  <Application>Microsoft Office PowerPoint</Application>
  <PresentationFormat>全屏显示(4:3)</PresentationFormat>
  <Paragraphs>1973</Paragraphs>
  <Slides>260</Slides>
  <Notes>2</Notes>
  <HiddenSlides>0</HiddenSlides>
  <MMClips>2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260</vt:i4>
      </vt:variant>
    </vt:vector>
  </HeadingPairs>
  <TitlesOfParts>
    <vt:vector size="286" baseType="lpstr">
      <vt:lpstr>-apple-system</vt:lpstr>
      <vt:lpstr>PingFang SC</vt:lpstr>
      <vt:lpstr>PingFang-SC-Regular</vt:lpstr>
      <vt:lpstr>等线</vt:lpstr>
      <vt:lpstr>黑体</vt:lpstr>
      <vt:lpstr>楷体</vt:lpstr>
      <vt:lpstr>楷体_GB2312</vt:lpstr>
      <vt:lpstr>隶书</vt:lpstr>
      <vt:lpstr>宋体</vt:lpstr>
      <vt:lpstr>微软雅黑</vt:lpstr>
      <vt:lpstr>Arial</vt:lpstr>
      <vt:lpstr>Arial</vt:lpstr>
      <vt:lpstr>Calibri</vt:lpstr>
      <vt:lpstr>Cambria Math</vt:lpstr>
      <vt:lpstr>Lucida Console</vt:lpstr>
      <vt:lpstr>Segoe UI</vt:lpstr>
      <vt:lpstr>Segoe UI Semilight</vt:lpstr>
      <vt:lpstr>Symbol</vt:lpstr>
      <vt:lpstr>Tahoma</vt:lpstr>
      <vt:lpstr>Times New Roman</vt:lpstr>
      <vt:lpstr>Verdana</vt:lpstr>
      <vt:lpstr>Wingdings</vt:lpstr>
      <vt:lpstr>Profile</vt:lpstr>
      <vt:lpstr>默认设计模板</vt:lpstr>
      <vt:lpstr>Visio</vt:lpstr>
      <vt:lpstr>Visio.Drawing.6</vt:lpstr>
      <vt:lpstr>Knowledge Representation and reasoning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演示：</vt:lpstr>
      <vt:lpstr>状态空间表示法小结：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（回看）三阶梵塔问题的与/或树：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2.6 语义网络表示（Semantic Network）</vt:lpstr>
      <vt:lpstr>2.6.1 语义网络的结构和表示</vt:lpstr>
      <vt:lpstr>1、基本语义关系</vt:lpstr>
      <vt:lpstr>PowerPoint 演示文稿</vt:lpstr>
      <vt:lpstr>⑵、聚集关系</vt:lpstr>
      <vt:lpstr>⑶、属性关系</vt:lpstr>
      <vt:lpstr>PowerPoint 演示文稿</vt:lpstr>
      <vt:lpstr>⑷、推论关系</vt:lpstr>
      <vt:lpstr>⑸、相近关系</vt:lpstr>
      <vt:lpstr>⑹、方位关系</vt:lpstr>
      <vt:lpstr>⑺、时间关系</vt:lpstr>
      <vt:lpstr>⑻、构成关系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(AI)                                            人工智能</dc:title>
  <dc:creator>fengqi</dc:creator>
  <cp:lastModifiedBy>qfeng</cp:lastModifiedBy>
  <cp:revision>5897</cp:revision>
  <dcterms:created xsi:type="dcterms:W3CDTF">2013-07-30T08:45:25Z</dcterms:created>
  <dcterms:modified xsi:type="dcterms:W3CDTF">2025-11-24T15:32:06Z</dcterms:modified>
</cp:coreProperties>
</file>