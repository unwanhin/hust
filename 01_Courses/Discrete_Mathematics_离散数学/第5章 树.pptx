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86"/>
  </p:notesMasterIdLst>
  <p:sldIdLst>
    <p:sldId id="510" r:id="rId2"/>
    <p:sldId id="439" r:id="rId3"/>
    <p:sldId id="405" r:id="rId4"/>
    <p:sldId id="395" r:id="rId5"/>
    <p:sldId id="504" r:id="rId6"/>
    <p:sldId id="444" r:id="rId7"/>
    <p:sldId id="495" r:id="rId8"/>
    <p:sldId id="397" r:id="rId9"/>
    <p:sldId id="503" r:id="rId10"/>
    <p:sldId id="398" r:id="rId11"/>
    <p:sldId id="416" r:id="rId12"/>
    <p:sldId id="445" r:id="rId13"/>
    <p:sldId id="446" r:id="rId14"/>
    <p:sldId id="399" r:id="rId15"/>
    <p:sldId id="447" r:id="rId16"/>
    <p:sldId id="400" r:id="rId17"/>
    <p:sldId id="448" r:id="rId18"/>
    <p:sldId id="428" r:id="rId19"/>
    <p:sldId id="449" r:id="rId20"/>
    <p:sldId id="402" r:id="rId21"/>
    <p:sldId id="407" r:id="rId22"/>
    <p:sldId id="451" r:id="rId23"/>
    <p:sldId id="452" r:id="rId24"/>
    <p:sldId id="408" r:id="rId25"/>
    <p:sldId id="410" r:id="rId26"/>
    <p:sldId id="453" r:id="rId27"/>
    <p:sldId id="440" r:id="rId28"/>
    <p:sldId id="466" r:id="rId29"/>
    <p:sldId id="467" r:id="rId30"/>
    <p:sldId id="468" r:id="rId31"/>
    <p:sldId id="469" r:id="rId32"/>
    <p:sldId id="470" r:id="rId33"/>
    <p:sldId id="471" r:id="rId34"/>
    <p:sldId id="473" r:id="rId35"/>
    <p:sldId id="475" r:id="rId36"/>
    <p:sldId id="476" r:id="rId37"/>
    <p:sldId id="477" r:id="rId38"/>
    <p:sldId id="478" r:id="rId39"/>
    <p:sldId id="479" r:id="rId40"/>
    <p:sldId id="441" r:id="rId41"/>
    <p:sldId id="389" r:id="rId42"/>
    <p:sldId id="417" r:id="rId43"/>
    <p:sldId id="421" r:id="rId44"/>
    <p:sldId id="418" r:id="rId45"/>
    <p:sldId id="454" r:id="rId46"/>
    <p:sldId id="419" r:id="rId47"/>
    <p:sldId id="420" r:id="rId48"/>
    <p:sldId id="498" r:id="rId49"/>
    <p:sldId id="422" r:id="rId50"/>
    <p:sldId id="423" r:id="rId51"/>
    <p:sldId id="499" r:id="rId52"/>
    <p:sldId id="425" r:id="rId53"/>
    <p:sldId id="455" r:id="rId54"/>
    <p:sldId id="412" r:id="rId55"/>
    <p:sldId id="456" r:id="rId56"/>
    <p:sldId id="426" r:id="rId57"/>
    <p:sldId id="457" r:id="rId58"/>
    <p:sldId id="509" r:id="rId59"/>
    <p:sldId id="458" r:id="rId60"/>
    <p:sldId id="427" r:id="rId61"/>
    <p:sldId id="459" r:id="rId62"/>
    <p:sldId id="460" r:id="rId63"/>
    <p:sldId id="442" r:id="rId64"/>
    <p:sldId id="354" r:id="rId65"/>
    <p:sldId id="461" r:id="rId66"/>
    <p:sldId id="429" r:id="rId67"/>
    <p:sldId id="462" r:id="rId68"/>
    <p:sldId id="430" r:id="rId69"/>
    <p:sldId id="463" r:id="rId70"/>
    <p:sldId id="432" r:id="rId71"/>
    <p:sldId id="437" r:id="rId72"/>
    <p:sldId id="434" r:id="rId73"/>
    <p:sldId id="435" r:id="rId74"/>
    <p:sldId id="464" r:id="rId75"/>
    <p:sldId id="465" r:id="rId76"/>
    <p:sldId id="443" r:id="rId77"/>
    <p:sldId id="489" r:id="rId78"/>
    <p:sldId id="490" r:id="rId79"/>
    <p:sldId id="491" r:id="rId80"/>
    <p:sldId id="492" r:id="rId81"/>
    <p:sldId id="493" r:id="rId82"/>
    <p:sldId id="494" r:id="rId83"/>
    <p:sldId id="511" r:id="rId84"/>
    <p:sldId id="512" r:id="rId8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B72A206A-24C0-40BE-9D87-815554BBD885}">
          <p14:sldIdLst>
            <p14:sldId id="510"/>
          </p14:sldIdLst>
        </p14:section>
        <p14:section name="4.1树的概述" id="{75C3865E-9807-4A3B-B6DE-047BFE44F03A}">
          <p14:sldIdLst>
            <p14:sldId id="439"/>
            <p14:sldId id="405"/>
            <p14:sldId id="395"/>
            <p14:sldId id="504"/>
            <p14:sldId id="444"/>
            <p14:sldId id="495"/>
            <p14:sldId id="397"/>
            <p14:sldId id="503"/>
            <p14:sldId id="398"/>
            <p14:sldId id="416"/>
            <p14:sldId id="445"/>
            <p14:sldId id="446"/>
            <p14:sldId id="399"/>
            <p14:sldId id="447"/>
            <p14:sldId id="400"/>
            <p14:sldId id="448"/>
            <p14:sldId id="428"/>
            <p14:sldId id="449"/>
            <p14:sldId id="402"/>
            <p14:sldId id="407"/>
            <p14:sldId id="451"/>
            <p14:sldId id="452"/>
            <p14:sldId id="408"/>
            <p14:sldId id="410"/>
            <p14:sldId id="453"/>
          </p14:sldIdLst>
        </p14:section>
        <p14:section name="4.2树的应用" id="{EF928AC6-B35A-422B-910A-029DCBB63E85}">
          <p14:sldIdLst>
            <p14:sldId id="440"/>
            <p14:sldId id="466"/>
            <p14:sldId id="467"/>
            <p14:sldId id="468"/>
            <p14:sldId id="469"/>
            <p14:sldId id="470"/>
            <p14:sldId id="471"/>
            <p14:sldId id="473"/>
            <p14:sldId id="475"/>
            <p14:sldId id="476"/>
            <p14:sldId id="477"/>
            <p14:sldId id="478"/>
            <p14:sldId id="479"/>
          </p14:sldIdLst>
        </p14:section>
        <p14:section name="4.3树的遍历" id="{DA20FBA1-ECF5-40BD-BE53-DA7F1248C8C9}">
          <p14:sldIdLst>
            <p14:sldId id="441"/>
            <p14:sldId id="389"/>
            <p14:sldId id="417"/>
            <p14:sldId id="421"/>
            <p14:sldId id="418"/>
            <p14:sldId id="454"/>
            <p14:sldId id="419"/>
            <p14:sldId id="420"/>
            <p14:sldId id="498"/>
            <p14:sldId id="422"/>
            <p14:sldId id="423"/>
            <p14:sldId id="499"/>
            <p14:sldId id="425"/>
            <p14:sldId id="455"/>
            <p14:sldId id="412"/>
            <p14:sldId id="456"/>
            <p14:sldId id="426"/>
            <p14:sldId id="457"/>
            <p14:sldId id="509"/>
            <p14:sldId id="458"/>
            <p14:sldId id="427"/>
            <p14:sldId id="459"/>
            <p14:sldId id="460"/>
          </p14:sldIdLst>
        </p14:section>
        <p14:section name="4.4生成树" id="{7BC0DEDA-3CBE-4AB9-82F9-43FBA75BFE61}">
          <p14:sldIdLst>
            <p14:sldId id="442"/>
            <p14:sldId id="354"/>
            <p14:sldId id="461"/>
            <p14:sldId id="429"/>
            <p14:sldId id="462"/>
            <p14:sldId id="430"/>
            <p14:sldId id="463"/>
            <p14:sldId id="432"/>
            <p14:sldId id="437"/>
            <p14:sldId id="434"/>
            <p14:sldId id="435"/>
            <p14:sldId id="464"/>
            <p14:sldId id="465"/>
          </p14:sldIdLst>
        </p14:section>
        <p14:section name="4.5最小生成树" id="{20C77115-1C02-4996-8C24-FAFE8DBD3C9A}">
          <p14:sldIdLst>
            <p14:sldId id="443"/>
            <p14:sldId id="489"/>
            <p14:sldId id="490"/>
            <p14:sldId id="491"/>
            <p14:sldId id="492"/>
            <p14:sldId id="493"/>
            <p14:sldId id="494"/>
            <p14:sldId id="511"/>
            <p14:sldId id="512"/>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744" autoAdjust="0"/>
    <p:restoredTop sz="94660"/>
  </p:normalViewPr>
  <p:slideViewPr>
    <p:cSldViewPr>
      <p:cViewPr varScale="1">
        <p:scale>
          <a:sx n="124" d="100"/>
          <a:sy n="124" d="100"/>
        </p:scale>
        <p:origin x="346" y="86"/>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62EE97F-2327-4FE9-8874-2C0F3581839A}" type="datetimeFigureOut">
              <a:rPr lang="en-US" smtClean="0"/>
              <a:pPr/>
              <a:t>4/15/2025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A6B134D-0EB3-42CB-9322-AA369738187D}" type="slidenum">
              <a:rPr lang="en-US" smtClean="0"/>
              <a:pPr/>
              <a:t>‹#›</a:t>
            </a:fld>
            <a:endParaRPr lang="en-US"/>
          </a:p>
        </p:txBody>
      </p:sp>
    </p:spTree>
    <p:extLst>
      <p:ext uri="{BB962C8B-B14F-4D97-AF65-F5344CB8AC3E}">
        <p14:creationId xmlns:p14="http://schemas.microsoft.com/office/powerpoint/2010/main" val="41241765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900" dirty="0"/>
          </a:p>
        </p:txBody>
      </p:sp>
      <p:sp>
        <p:nvSpPr>
          <p:cNvPr id="4" name="灯片编号占位符 3"/>
          <p:cNvSpPr>
            <a:spLocks noGrp="1"/>
          </p:cNvSpPr>
          <p:nvPr>
            <p:ph type="sldNum" sz="quarter" idx="10"/>
          </p:nvPr>
        </p:nvSpPr>
        <p:spPr/>
        <p:txBody>
          <a:bodyPr/>
          <a:lstStyle/>
          <a:p>
            <a:fld id="{F1CB8912-F0BA-4AD8-8415-DA1F26BCB09F}" type="slidenum">
              <a:rPr lang="zh-CN" altLang="en-US" smtClean="0"/>
              <a:t>1</a:t>
            </a:fld>
            <a:endParaRPr lang="zh-CN" altLang="en-US"/>
          </a:p>
        </p:txBody>
      </p:sp>
    </p:spTree>
    <p:extLst>
      <p:ext uri="{BB962C8B-B14F-4D97-AF65-F5344CB8AC3E}">
        <p14:creationId xmlns:p14="http://schemas.microsoft.com/office/powerpoint/2010/main" val="335355726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7" name="标题 1"/>
          <p:cNvSpPr>
            <a:spLocks noGrp="1"/>
          </p:cNvSpPr>
          <p:nvPr>
            <p:ph type="ctrTitle"/>
          </p:nvPr>
        </p:nvSpPr>
        <p:spPr>
          <a:xfrm>
            <a:off x="1524000" y="1122363"/>
            <a:ext cx="9144000" cy="2387600"/>
          </a:xfrm>
          <a:prstGeom prst="rect">
            <a:avLst/>
          </a:prstGeom>
        </p:spPr>
        <p:txBody>
          <a:bodyPr anchor="b"/>
          <a:lstStyle>
            <a:lvl1pPr algn="ctr">
              <a:defRPr sz="6000">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8"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单击以编辑母版副标题样式</a:t>
            </a:r>
          </a:p>
        </p:txBody>
      </p:sp>
      <p:sp>
        <p:nvSpPr>
          <p:cNvPr id="9" name="TextBox 6">
            <a:extLst>
              <a:ext uri="{FF2B5EF4-FFF2-40B4-BE49-F238E27FC236}">
                <a16:creationId xmlns="" xmlns:a16="http://schemas.microsoft.com/office/drawing/2014/main" id="{AD80F0C0-3B46-41BB-A648-38F3DB9C0483}"/>
              </a:ext>
            </a:extLst>
          </p:cNvPr>
          <p:cNvSpPr txBox="1"/>
          <p:nvPr userDrawn="1"/>
        </p:nvSpPr>
        <p:spPr>
          <a:xfrm>
            <a:off x="3523347" y="3438257"/>
            <a:ext cx="7179935" cy="1487651"/>
          </a:xfrm>
          <a:prstGeom prst="rect">
            <a:avLst/>
          </a:prstGeom>
          <a:noFill/>
        </p:spPr>
        <p:txBody>
          <a:bodyPr wrap="square" rtlCol="0">
            <a:spAutoFit/>
          </a:bodyPr>
          <a:lstStyle/>
          <a:p>
            <a:r>
              <a:rPr lang="zh-CN" altLang="en-US" sz="5867" b="1" dirty="0">
                <a:solidFill>
                  <a:schemeClr val="bg1"/>
                </a:solidFill>
                <a:latin typeface="微软雅黑" panose="020B0503020204020204" pitchFamily="34" charset="-122"/>
                <a:ea typeface="微软雅黑" panose="020B0503020204020204" pitchFamily="34" charset="-122"/>
              </a:rPr>
              <a:t>数据与大数据</a:t>
            </a:r>
            <a:endParaRPr lang="en-US" altLang="zh-CN" sz="5867" b="1" dirty="0">
              <a:solidFill>
                <a:schemeClr val="bg1"/>
              </a:solidFill>
              <a:latin typeface="微软雅黑" panose="020B0503020204020204" pitchFamily="34" charset="-122"/>
              <a:ea typeface="微软雅黑" panose="020B0503020204020204" pitchFamily="34" charset="-122"/>
            </a:endParaRPr>
          </a:p>
          <a:p>
            <a:r>
              <a:rPr lang="en-US" altLang="zh-CN" sz="3200" dirty="0">
                <a:solidFill>
                  <a:schemeClr val="bg1"/>
                </a:solidFill>
              </a:rPr>
              <a:t>data and big data</a:t>
            </a:r>
            <a:endParaRPr lang="zh-CN" altLang="en-US" sz="3200" dirty="0">
              <a:solidFill>
                <a:schemeClr val="bg1"/>
              </a:solidFill>
            </a:endParaRPr>
          </a:p>
        </p:txBody>
      </p:sp>
      <p:grpSp>
        <p:nvGrpSpPr>
          <p:cNvPr id="10" name="组合 9"/>
          <p:cNvGrpSpPr/>
          <p:nvPr userDrawn="1"/>
        </p:nvGrpSpPr>
        <p:grpSpPr>
          <a:xfrm>
            <a:off x="-1" y="0"/>
            <a:ext cx="12192001" cy="6858000"/>
            <a:chOff x="-1" y="0"/>
            <a:chExt cx="12192001" cy="6858000"/>
          </a:xfrm>
        </p:grpSpPr>
        <p:sp>
          <p:nvSpPr>
            <p:cNvPr id="11" name="矩形 10"/>
            <p:cNvSpPr/>
            <p:nvPr/>
          </p:nvSpPr>
          <p:spPr>
            <a:xfrm>
              <a:off x="0" y="0"/>
              <a:ext cx="12192000" cy="3440784"/>
            </a:xfrm>
            <a:prstGeom prst="rect">
              <a:avLst/>
            </a:prstGeom>
            <a:solidFill>
              <a:srgbClr val="01559D">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1" y="3440783"/>
              <a:ext cx="12192001" cy="3417217"/>
            </a:xfrm>
            <a:prstGeom prst="rect">
              <a:avLst/>
            </a:prstGeom>
            <a:solidFill>
              <a:schemeClr val="accent4">
                <a:alpha val="80000"/>
              </a:schemeClr>
            </a:solidFill>
            <a:ln>
              <a:noFill/>
            </a:ln>
            <a:effectLst>
              <a:outerShdw blurRad="190500" sx="102000" sy="102000" algn="ctr"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109369" y="164054"/>
              <a:ext cx="11973262" cy="6529891"/>
            </a:xfrm>
            <a:prstGeom prst="rect">
              <a:avLst/>
            </a:prstGeom>
            <a:solidFill>
              <a:schemeClr val="bg2">
                <a:lumMod val="40000"/>
                <a:lumOff val="60000"/>
              </a:schemeClr>
            </a:solidFill>
            <a:ln>
              <a:noFill/>
            </a:ln>
            <a:effectLst>
              <a:outerShdw blurRad="190500" sx="102000" sy="102000" algn="ctr"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4" name="组合 13"/>
            <p:cNvGrpSpPr/>
            <p:nvPr/>
          </p:nvGrpSpPr>
          <p:grpSpPr>
            <a:xfrm>
              <a:off x="335393" y="399255"/>
              <a:ext cx="360000" cy="360000"/>
              <a:chOff x="2117558" y="3758627"/>
              <a:chExt cx="360000" cy="360000"/>
            </a:xfrm>
          </p:grpSpPr>
          <p:cxnSp>
            <p:nvCxnSpPr>
              <p:cNvPr id="24" name="直接连接符 23"/>
              <p:cNvCxnSpPr/>
              <p:nvPr/>
            </p:nvCxnSpPr>
            <p:spPr>
              <a:xfrm>
                <a:off x="2117558" y="3765884"/>
                <a:ext cx="360000" cy="0"/>
              </a:xfrm>
              <a:prstGeom prst="line">
                <a:avLst/>
              </a:prstGeom>
              <a:ln w="19050">
                <a:solidFill>
                  <a:srgbClr val="01559D"/>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a:off x="2125904" y="3758627"/>
                <a:ext cx="0" cy="360000"/>
              </a:xfrm>
              <a:prstGeom prst="line">
                <a:avLst/>
              </a:prstGeom>
              <a:ln w="19050">
                <a:solidFill>
                  <a:srgbClr val="01559D"/>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11492431" y="399255"/>
              <a:ext cx="360000" cy="360000"/>
              <a:chOff x="2269958" y="3918284"/>
              <a:chExt cx="360000" cy="360000"/>
            </a:xfrm>
          </p:grpSpPr>
          <p:cxnSp>
            <p:nvCxnSpPr>
              <p:cNvPr id="22" name="直接连接符 21"/>
              <p:cNvCxnSpPr/>
              <p:nvPr/>
            </p:nvCxnSpPr>
            <p:spPr>
              <a:xfrm>
                <a:off x="2269958" y="3918284"/>
                <a:ext cx="360000" cy="0"/>
              </a:xfrm>
              <a:prstGeom prst="line">
                <a:avLst/>
              </a:prstGeom>
              <a:ln w="19050">
                <a:solidFill>
                  <a:srgbClr val="01559D"/>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2618852" y="3918284"/>
                <a:ext cx="0" cy="360000"/>
              </a:xfrm>
              <a:prstGeom prst="line">
                <a:avLst/>
              </a:prstGeom>
              <a:ln w="19050">
                <a:solidFill>
                  <a:srgbClr val="01559D"/>
                </a:solidFill>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nvGrpSpPr>
          <p:grpSpPr>
            <a:xfrm>
              <a:off x="324634" y="6129564"/>
              <a:ext cx="368148" cy="360000"/>
              <a:chOff x="2430704" y="4063427"/>
              <a:chExt cx="368148" cy="360000"/>
            </a:xfrm>
          </p:grpSpPr>
          <p:cxnSp>
            <p:nvCxnSpPr>
              <p:cNvPr id="20" name="直接连接符 19"/>
              <p:cNvCxnSpPr/>
              <p:nvPr/>
            </p:nvCxnSpPr>
            <p:spPr>
              <a:xfrm>
                <a:off x="2438852" y="4413178"/>
                <a:ext cx="360000" cy="0"/>
              </a:xfrm>
              <a:prstGeom prst="line">
                <a:avLst/>
              </a:prstGeom>
              <a:ln w="19050">
                <a:solidFill>
                  <a:srgbClr val="01559D"/>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2430704" y="4063427"/>
                <a:ext cx="0" cy="360000"/>
              </a:xfrm>
              <a:prstGeom prst="line">
                <a:avLst/>
              </a:prstGeom>
              <a:ln w="19050">
                <a:solidFill>
                  <a:srgbClr val="01559D"/>
                </a:solidFill>
              </a:ln>
            </p:spPr>
            <p:style>
              <a:lnRef idx="1">
                <a:schemeClr val="accent1"/>
              </a:lnRef>
              <a:fillRef idx="0">
                <a:schemeClr val="accent1"/>
              </a:fillRef>
              <a:effectRef idx="0">
                <a:schemeClr val="accent1"/>
              </a:effectRef>
              <a:fontRef idx="minor">
                <a:schemeClr val="tx1"/>
              </a:fontRef>
            </p:style>
          </p:cxnSp>
        </p:grpSp>
        <p:grpSp>
          <p:nvGrpSpPr>
            <p:cNvPr id="17" name="组合 16"/>
            <p:cNvGrpSpPr/>
            <p:nvPr/>
          </p:nvGrpSpPr>
          <p:grpSpPr>
            <a:xfrm>
              <a:off x="11503314" y="6122307"/>
              <a:ext cx="360000" cy="360000"/>
              <a:chOff x="2574758" y="3873751"/>
              <a:chExt cx="360000" cy="360000"/>
            </a:xfrm>
          </p:grpSpPr>
          <p:cxnSp>
            <p:nvCxnSpPr>
              <p:cNvPr id="18" name="直接连接符 17"/>
              <p:cNvCxnSpPr/>
              <p:nvPr/>
            </p:nvCxnSpPr>
            <p:spPr>
              <a:xfrm>
                <a:off x="2574758" y="4223084"/>
                <a:ext cx="360000" cy="0"/>
              </a:xfrm>
              <a:prstGeom prst="line">
                <a:avLst/>
              </a:prstGeom>
              <a:ln w="19050">
                <a:solidFill>
                  <a:srgbClr val="01559D"/>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a:off x="2924643" y="3873751"/>
                <a:ext cx="0" cy="360000"/>
              </a:xfrm>
              <a:prstGeom prst="line">
                <a:avLst/>
              </a:prstGeom>
              <a:ln w="19050">
                <a:solidFill>
                  <a:srgbClr val="01559D"/>
                </a:solidFill>
              </a:ln>
            </p:spPr>
            <p:style>
              <a:lnRef idx="1">
                <a:schemeClr val="accent1"/>
              </a:lnRef>
              <a:fillRef idx="0">
                <a:schemeClr val="accent1"/>
              </a:fillRef>
              <a:effectRef idx="0">
                <a:schemeClr val="accent1"/>
              </a:effectRef>
              <a:fontRef idx="minor">
                <a:schemeClr val="tx1"/>
              </a:fontRef>
            </p:style>
          </p:cxnSp>
        </p:grpSp>
      </p:grpSp>
      <p:pic>
        <p:nvPicPr>
          <p:cNvPr id="26" name="图片 2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8640" y="417184"/>
            <a:ext cx="1115730" cy="878638"/>
          </a:xfrm>
          <a:prstGeom prst="rect">
            <a:avLst/>
          </a:prstGeom>
        </p:spPr>
      </p:pic>
      <p:sp>
        <p:nvSpPr>
          <p:cNvPr id="27" name="Freeform 7"/>
          <p:cNvSpPr>
            <a:spLocks noChangeArrowheads="1"/>
          </p:cNvSpPr>
          <p:nvPr userDrawn="1"/>
        </p:nvSpPr>
        <p:spPr bwMode="auto">
          <a:xfrm>
            <a:off x="1600678" y="2118577"/>
            <a:ext cx="8229600" cy="914400"/>
          </a:xfrm>
          <a:custGeom>
            <a:avLst/>
            <a:gdLst>
              <a:gd name="T0" fmla="*/ 0 w 1000"/>
              <a:gd name="T1" fmla="*/ 2147483647 h 1000"/>
              <a:gd name="T2" fmla="*/ 0 w 1000"/>
              <a:gd name="T3" fmla="*/ 0 h 1000"/>
              <a:gd name="T4" fmla="*/ 2147483647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4"/>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28" name="组合 27"/>
          <p:cNvGrpSpPr/>
          <p:nvPr userDrawn="1"/>
        </p:nvGrpSpPr>
        <p:grpSpPr>
          <a:xfrm>
            <a:off x="1618966" y="2547953"/>
            <a:ext cx="8229600" cy="914400"/>
            <a:chOff x="1618966" y="2547953"/>
            <a:chExt cx="8229600" cy="914400"/>
          </a:xfrm>
        </p:grpSpPr>
        <p:sp>
          <p:nvSpPr>
            <p:cNvPr id="29" name="Line 10"/>
            <p:cNvSpPr>
              <a:spLocks noChangeShapeType="1"/>
            </p:cNvSpPr>
            <p:nvPr/>
          </p:nvSpPr>
          <p:spPr bwMode="auto">
            <a:xfrm>
              <a:off x="9848566" y="2547953"/>
              <a:ext cx="0" cy="914400"/>
            </a:xfrm>
            <a:prstGeom prst="line">
              <a:avLst/>
            </a:prstGeom>
            <a:noFill/>
            <a:ln w="25400">
              <a:solidFill>
                <a:schemeClr val="accent4"/>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 name="Line 8"/>
            <p:cNvSpPr>
              <a:spLocks noChangeShapeType="1"/>
            </p:cNvSpPr>
            <p:nvPr/>
          </p:nvSpPr>
          <p:spPr bwMode="auto">
            <a:xfrm>
              <a:off x="1618966" y="3462353"/>
              <a:ext cx="8229600" cy="0"/>
            </a:xfrm>
            <a:prstGeom prst="line">
              <a:avLst/>
            </a:prstGeom>
            <a:noFill/>
            <a:ln w="25400">
              <a:solidFill>
                <a:schemeClr val="accent4"/>
              </a:solidFill>
              <a:round/>
              <a:headEnd/>
              <a:tailEnd/>
            </a:ln>
            <a:extLst>
              <a:ext uri="{909E8E84-426E-40DD-AFC4-6F175D3DCCD1}">
                <a14:hiddenFill xmlns:a14="http://schemas.microsoft.com/office/drawing/2010/main">
                  <a:noFill/>
                </a14:hiddenFill>
              </a:ext>
            </a:extLst>
          </p:spPr>
          <p:txBody>
            <a:bodyPr/>
            <a:lstStyle/>
            <a:p>
              <a:endParaRPr lang="en-US"/>
            </a:p>
          </p:txBody>
        </p:sp>
      </p:grpSp>
      <p:pic>
        <p:nvPicPr>
          <p:cNvPr id="31" name="图片 3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264286" y="5444795"/>
            <a:ext cx="1562460" cy="1562460"/>
          </a:xfrm>
          <a:prstGeom prst="rect">
            <a:avLst/>
          </a:prstGeom>
        </p:spPr>
      </p:pic>
    </p:spTree>
    <p:extLst>
      <p:ext uri="{BB962C8B-B14F-4D97-AF65-F5344CB8AC3E}">
        <p14:creationId xmlns:p14="http://schemas.microsoft.com/office/powerpoint/2010/main" val="37924893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7" name="标题 1"/>
          <p:cNvSpPr>
            <a:spLocks noGrp="1"/>
          </p:cNvSpPr>
          <p:nvPr>
            <p:ph type="title"/>
          </p:nvPr>
        </p:nvSpPr>
        <p:spPr>
          <a:xfrm>
            <a:off x="595087" y="268889"/>
            <a:ext cx="10987314" cy="635771"/>
          </a:xfrm>
          <a:prstGeom prst="rect">
            <a:avLst/>
          </a:prstGeom>
        </p:spPr>
        <p:txBody>
          <a:bodyPr>
            <a:noAutofit/>
          </a:bodyPr>
          <a:lstStyle>
            <a:lvl1pPr>
              <a:defRPr sz="3600">
                <a:solidFill>
                  <a:srgbClr val="01559D"/>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8" name="内容占位符 2"/>
          <p:cNvSpPr>
            <a:spLocks noGrp="1"/>
          </p:cNvSpPr>
          <p:nvPr>
            <p:ph idx="1"/>
          </p:nvPr>
        </p:nvSpPr>
        <p:spPr>
          <a:xfrm>
            <a:off x="595086" y="1088824"/>
            <a:ext cx="10987316" cy="5121481"/>
          </a:xfrm>
          <a:prstGeom prst="rect">
            <a:avLst/>
          </a:prstGeom>
        </p:spPr>
        <p:txBody>
          <a:bodyPr/>
          <a:lstStyle>
            <a:lvl1pPr marL="274320" indent="-274320">
              <a:buClr>
                <a:srgbClr val="CEA524"/>
              </a:buClr>
              <a:buSzPct val="100000"/>
              <a:buFont typeface="Wingdings" panose="05000000000000000000" pitchFamily="2" charset="2"/>
              <a:buChar char="q"/>
              <a:defRPr>
                <a:latin typeface="微软雅黑" panose="020B0503020204020204" pitchFamily="34" charset="-122"/>
                <a:ea typeface="微软雅黑" panose="020B0503020204020204" pitchFamily="34" charset="-122"/>
              </a:defRPr>
            </a:lvl1pPr>
            <a:lvl2pPr marL="640080" indent="-246888">
              <a:buClr>
                <a:srgbClr val="01559D"/>
              </a:buClr>
              <a:buFont typeface="Wingdings" panose="05000000000000000000" pitchFamily="2" charset="2"/>
              <a:buChar char="Ø"/>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编辑母版文本样式</a:t>
            </a:r>
          </a:p>
          <a:p>
            <a:pPr lvl="1"/>
            <a:r>
              <a:rPr lang="zh-CN" altLang="en-US" dirty="0"/>
              <a:t>第二级</a:t>
            </a:r>
          </a:p>
        </p:txBody>
      </p:sp>
      <p:sp>
        <p:nvSpPr>
          <p:cNvPr id="9" name="日期占位符 9"/>
          <p:cNvSpPr>
            <a:spLocks noGrp="1"/>
          </p:cNvSpPr>
          <p:nvPr>
            <p:ph type="dt" sz="half" idx="10"/>
          </p:nvPr>
        </p:nvSpPr>
        <p:spPr>
          <a:xfrm>
            <a:off x="457200" y="6400799"/>
            <a:ext cx="2895600" cy="370917"/>
          </a:xfrm>
          <a:prstGeom prst="rect">
            <a:avLst/>
          </a:prstGeom>
        </p:spPr>
        <p:txBody>
          <a:bodyPr/>
          <a:lstStyle>
            <a:lvl1pPr>
              <a:defRPr sz="1800" b="0">
                <a:solidFill>
                  <a:schemeClr val="tx1"/>
                </a:solidFill>
                <a:latin typeface="微软雅黑" panose="020B0503020204020204" pitchFamily="34" charset="-122"/>
                <a:ea typeface="微软雅黑" panose="020B0503020204020204" pitchFamily="34" charset="-122"/>
              </a:defRPr>
            </a:lvl1pPr>
          </a:lstStyle>
          <a:p>
            <a:fld id="{D7BBE18B-0E17-404B-A324-0832E592CACF}" type="datetime1">
              <a:rPr lang="zh-CN" altLang="en-US" smtClean="0"/>
              <a:t>2025/4/15</a:t>
            </a:fld>
            <a:endParaRPr lang="zh-CN" altLang="en-US" dirty="0"/>
          </a:p>
        </p:txBody>
      </p:sp>
      <p:sp>
        <p:nvSpPr>
          <p:cNvPr id="10" name="页脚占位符 10"/>
          <p:cNvSpPr>
            <a:spLocks noGrp="1"/>
          </p:cNvSpPr>
          <p:nvPr>
            <p:ph type="ftr" sz="quarter" idx="11"/>
          </p:nvPr>
        </p:nvSpPr>
        <p:spPr>
          <a:xfrm>
            <a:off x="7467600" y="6377915"/>
            <a:ext cx="4343400" cy="403850"/>
          </a:xfrm>
          <a:prstGeom prst="rect">
            <a:avLst/>
          </a:prstGeom>
        </p:spPr>
        <p:txBody>
          <a:bodyPr/>
          <a:lstStyle>
            <a:lvl1pPr>
              <a:defRPr sz="1800">
                <a:solidFill>
                  <a:schemeClr val="tx1"/>
                </a:solidFill>
                <a:latin typeface="微软雅黑" panose="020B0503020204020204" pitchFamily="34" charset="-122"/>
                <a:ea typeface="微软雅黑" panose="020B0503020204020204" pitchFamily="34" charset="-122"/>
              </a:defRPr>
            </a:lvl1pPr>
          </a:lstStyle>
          <a:p>
            <a:pPr algn="r"/>
            <a:r>
              <a:rPr lang="zh-CN" altLang="en-US"/>
              <a:t>华中科技大学人机物系统与安全实验室</a:t>
            </a:r>
            <a:endParaRPr lang="zh-CN" altLang="en-US" dirty="0"/>
          </a:p>
        </p:txBody>
      </p:sp>
      <p:sp>
        <p:nvSpPr>
          <p:cNvPr id="11" name="灯片编号占位符 11"/>
          <p:cNvSpPr>
            <a:spLocks noGrp="1"/>
          </p:cNvSpPr>
          <p:nvPr>
            <p:ph type="sldNum" sz="quarter" idx="12"/>
          </p:nvPr>
        </p:nvSpPr>
        <p:spPr>
          <a:xfrm>
            <a:off x="4267200" y="6406591"/>
            <a:ext cx="3657600" cy="365125"/>
          </a:xfrm>
          <a:prstGeom prst="rect">
            <a:avLst/>
          </a:prstGeom>
        </p:spPr>
        <p:txBody>
          <a:bodyPr/>
          <a:lstStyle>
            <a:lvl1pPr algn="ctr">
              <a:defRPr sz="1800">
                <a:solidFill>
                  <a:schemeClr val="tx1"/>
                </a:solidFill>
                <a:latin typeface="微软雅黑" panose="020B0503020204020204" pitchFamily="34" charset="-122"/>
                <a:ea typeface="微软雅黑" panose="020B0503020204020204" pitchFamily="34" charset="-122"/>
              </a:defRPr>
            </a:lvl1pPr>
          </a:lstStyle>
          <a:p>
            <a:fld id="{67913A8A-9EFB-4B5F-9CCB-3D21173FAA85}" type="slidenum">
              <a:rPr lang="zh-CN" altLang="en-US" smtClean="0"/>
              <a:pPr/>
              <a:t>‹#›</a:t>
            </a:fld>
            <a:endParaRPr lang="zh-CN" altLang="en-US" dirty="0"/>
          </a:p>
        </p:txBody>
      </p:sp>
      <p:sp>
        <p:nvSpPr>
          <p:cNvPr id="12" name="Line 1032">
            <a:extLst>
              <a:ext uri="{FF2B5EF4-FFF2-40B4-BE49-F238E27FC236}">
                <a16:creationId xmlns="" xmlns:a16="http://schemas.microsoft.com/office/drawing/2014/main" id="{84905974-26AA-1845-8C01-E86327ED24C4}"/>
              </a:ext>
            </a:extLst>
          </p:cNvPr>
          <p:cNvSpPr>
            <a:spLocks noChangeShapeType="1"/>
          </p:cNvSpPr>
          <p:nvPr userDrawn="1"/>
        </p:nvSpPr>
        <p:spPr bwMode="auto">
          <a:xfrm>
            <a:off x="457200" y="6324600"/>
            <a:ext cx="11277600" cy="6815"/>
          </a:xfrm>
          <a:prstGeom prst="line">
            <a:avLst/>
          </a:prstGeom>
          <a:noFill/>
          <a:ln w="19050">
            <a:solidFill>
              <a:srgbClr val="CC99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13" name="Line 1032">
            <a:extLst>
              <a:ext uri="{FF2B5EF4-FFF2-40B4-BE49-F238E27FC236}">
                <a16:creationId xmlns="" xmlns:a16="http://schemas.microsoft.com/office/drawing/2014/main" id="{84905974-26AA-1845-8C01-E86327ED24C4}"/>
              </a:ext>
            </a:extLst>
          </p:cNvPr>
          <p:cNvSpPr>
            <a:spLocks noChangeShapeType="1"/>
          </p:cNvSpPr>
          <p:nvPr userDrawn="1"/>
        </p:nvSpPr>
        <p:spPr bwMode="auto">
          <a:xfrm>
            <a:off x="457200" y="914400"/>
            <a:ext cx="11277600" cy="6815"/>
          </a:xfrm>
          <a:prstGeom prst="line">
            <a:avLst/>
          </a:prstGeom>
          <a:noFill/>
          <a:ln w="19050">
            <a:solidFill>
              <a:srgbClr val="CC99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869338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684709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696100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8"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p:txBody>
      </p:sp>
    </p:spTree>
    <p:extLst>
      <p:ext uri="{BB962C8B-B14F-4D97-AF65-F5344CB8AC3E}">
        <p14:creationId xmlns:p14="http://schemas.microsoft.com/office/powerpoint/2010/main" val="139529605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Lst>
  <p:hf hdr="0"/>
  <p:txStyles>
    <p:titleStyle>
      <a:lvl1pPr algn="l" defTabSz="914400" rtl="0" eaLnBrk="1" latinLnBrk="0" hangingPunct="1">
        <a:lnSpc>
          <a:spcPct val="90000"/>
        </a:lnSpc>
        <a:spcBef>
          <a:spcPct val="0"/>
        </a:spcBef>
        <a:buNone/>
        <a:defRPr lang="zh-CN" altLang="en-US" sz="3600" kern="1200" dirty="0">
          <a:solidFill>
            <a:srgbClr val="01559D"/>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100000"/>
        </a:lnSpc>
        <a:spcBef>
          <a:spcPts val="1000"/>
        </a:spcBef>
        <a:buClr>
          <a:srgbClr val="CEA524"/>
        </a:buClr>
        <a:buFont typeface="Wingdings" panose="05000000000000000000" pitchFamily="2" charset="2"/>
        <a:buChar char="q"/>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1559D"/>
        </a:buClr>
        <a:buSzPct val="97000"/>
        <a:buFont typeface="Wingdings" panose="05000000000000000000" pitchFamily="2" charset="2"/>
        <a:buChar char="Ø"/>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zgmeng@hust.edu.cn" TargetMode="External"/><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19.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46.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36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49.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2.png"/><Relationship Id="rId4" Type="http://schemas.openxmlformats.org/officeDocument/2006/relationships/image" Target="../media/image4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62.emf"/><Relationship Id="rId2" Type="http://schemas.openxmlformats.org/officeDocument/2006/relationships/image" Target="../media/image61.emf"/><Relationship Id="rId1" Type="http://schemas.openxmlformats.org/officeDocument/2006/relationships/slideLayout" Target="../slideLayouts/slideLayout2.xml"/><Relationship Id="rId4" Type="http://schemas.openxmlformats.org/officeDocument/2006/relationships/image" Target="../media/image63.emf"/></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64.emf"/><Relationship Id="rId2" Type="http://schemas.openxmlformats.org/officeDocument/2006/relationships/image" Target="../media/image61.emf"/><Relationship Id="rId1" Type="http://schemas.openxmlformats.org/officeDocument/2006/relationships/slideLayout" Target="../slideLayouts/slideLayout2.xml"/><Relationship Id="rId4" Type="http://schemas.openxmlformats.org/officeDocument/2006/relationships/image" Target="../media/image65.emf"/></Relationships>
</file>

<file path=ppt/slides/_rels/slide8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66.wmf"/></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标题 1"/>
          <p:cNvSpPr txBox="1">
            <a:spLocks/>
          </p:cNvSpPr>
          <p:nvPr/>
        </p:nvSpPr>
        <p:spPr>
          <a:xfrm>
            <a:off x="1752600" y="762000"/>
            <a:ext cx="8211312"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b="1" dirty="0" smtClean="0">
                <a:solidFill>
                  <a:srgbClr val="C55A11"/>
                </a:solidFill>
                <a:latin typeface="微软雅黑" panose="020B0503020204020204" pitchFamily="34" charset="-122"/>
                <a:ea typeface="微软雅黑" panose="020B0503020204020204" pitchFamily="34" charset="-122"/>
              </a:rPr>
              <a:t>第</a:t>
            </a:r>
            <a:r>
              <a:rPr lang="en-US" altLang="zh-CN" b="1" dirty="0">
                <a:solidFill>
                  <a:srgbClr val="C55A11"/>
                </a:solidFill>
                <a:latin typeface="微软雅黑" panose="020B0503020204020204" pitchFamily="34" charset="-122"/>
                <a:ea typeface="微软雅黑" panose="020B0503020204020204" pitchFamily="34" charset="-122"/>
              </a:rPr>
              <a:t>5</a:t>
            </a:r>
            <a:r>
              <a:rPr lang="zh-CN" altLang="en-US" b="1" dirty="0" smtClean="0">
                <a:solidFill>
                  <a:srgbClr val="C55A11"/>
                </a:solidFill>
                <a:latin typeface="微软雅黑" panose="020B0503020204020204" pitchFamily="34" charset="-122"/>
                <a:ea typeface="微软雅黑" panose="020B0503020204020204" pitchFamily="34" charset="-122"/>
              </a:rPr>
              <a:t>章 </a:t>
            </a:r>
            <a:r>
              <a:rPr lang="zh-CN" altLang="en-US" b="1" dirty="0">
                <a:solidFill>
                  <a:srgbClr val="C55A11"/>
                </a:solidFill>
                <a:latin typeface="微软雅黑" panose="020B0503020204020204" pitchFamily="34" charset="-122"/>
                <a:ea typeface="微软雅黑" panose="020B0503020204020204" pitchFamily="34" charset="-122"/>
              </a:rPr>
              <a:t>树</a:t>
            </a:r>
          </a:p>
        </p:txBody>
      </p:sp>
      <p:sp>
        <p:nvSpPr>
          <p:cNvPr id="4" name="矩形 1"/>
          <p:cNvSpPr>
            <a:spLocks noChangeArrowheads="1"/>
          </p:cNvSpPr>
          <p:nvPr/>
        </p:nvSpPr>
        <p:spPr bwMode="auto">
          <a:xfrm>
            <a:off x="1524000" y="2514600"/>
            <a:ext cx="8991600" cy="3508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charset="0"/>
              <a:buChar char="•"/>
              <a:defRPr sz="2800">
                <a:solidFill>
                  <a:schemeClr val="tx1"/>
                </a:solidFill>
                <a:latin typeface="Calibri" charset="0"/>
                <a:ea typeface="宋体" charset="-122"/>
                <a:sym typeface="Calibri" charset="0"/>
              </a:defRPr>
            </a:lvl1pPr>
            <a:lvl2pPr marL="742950" indent="-285750">
              <a:lnSpc>
                <a:spcPct val="90000"/>
              </a:lnSpc>
              <a:spcBef>
                <a:spcPts val="500"/>
              </a:spcBef>
              <a:buFont typeface="Arial" charset="0"/>
              <a:buChar char="•"/>
              <a:defRPr sz="2400">
                <a:solidFill>
                  <a:schemeClr val="tx1"/>
                </a:solidFill>
                <a:latin typeface="Calibri" charset="0"/>
                <a:ea typeface="宋体" charset="-122"/>
                <a:sym typeface="Calibri" charset="0"/>
              </a:defRPr>
            </a:lvl2pPr>
            <a:lvl3pPr>
              <a:lnSpc>
                <a:spcPct val="90000"/>
              </a:lnSpc>
              <a:spcBef>
                <a:spcPts val="500"/>
              </a:spcBef>
              <a:buFont typeface="Arial" charset="0"/>
              <a:buChar char="•"/>
              <a:defRPr sz="2000">
                <a:solidFill>
                  <a:schemeClr val="tx1"/>
                </a:solidFill>
                <a:latin typeface="Calibri" charset="0"/>
                <a:ea typeface="宋体" charset="-122"/>
                <a:sym typeface="Calibri" charset="0"/>
              </a:defRPr>
            </a:lvl3pPr>
            <a:lvl4pPr marL="1600200" indent="-228600">
              <a:lnSpc>
                <a:spcPct val="90000"/>
              </a:lnSpc>
              <a:spcBef>
                <a:spcPts val="500"/>
              </a:spcBef>
              <a:buFont typeface="Arial" charset="0"/>
              <a:buChar char="•"/>
              <a:defRPr sz="2000">
                <a:solidFill>
                  <a:schemeClr val="tx1"/>
                </a:solidFill>
                <a:latin typeface="Calibri" charset="0"/>
                <a:ea typeface="宋体" charset="-122"/>
                <a:sym typeface="Calibri" charset="0"/>
              </a:defRPr>
            </a:lvl4pPr>
            <a:lvl5pPr marL="2057400" indent="-228600">
              <a:lnSpc>
                <a:spcPct val="90000"/>
              </a:lnSpc>
              <a:spcBef>
                <a:spcPts val="500"/>
              </a:spcBef>
              <a:buFont typeface="Arial" charset="0"/>
              <a:buChar char="•"/>
              <a:defRPr sz="2000">
                <a:solidFill>
                  <a:schemeClr val="tx1"/>
                </a:solidFill>
                <a:latin typeface="Calibri" charset="0"/>
                <a:ea typeface="宋体" charset="-122"/>
                <a:sym typeface="Calibri" charset="0"/>
              </a:defRPr>
            </a:lvl5pPr>
            <a:lvl6pPr marL="2514600" indent="-228600" eaLnBrk="0" fontAlgn="base" hangingPunct="0">
              <a:lnSpc>
                <a:spcPct val="90000"/>
              </a:lnSpc>
              <a:spcBef>
                <a:spcPts val="500"/>
              </a:spcBef>
              <a:spcAft>
                <a:spcPct val="0"/>
              </a:spcAft>
              <a:buFont typeface="Arial" charset="0"/>
              <a:buChar char="•"/>
              <a:defRPr sz="2000">
                <a:solidFill>
                  <a:schemeClr val="tx1"/>
                </a:solidFill>
                <a:latin typeface="Calibri" charset="0"/>
                <a:ea typeface="宋体" charset="-122"/>
                <a:sym typeface="Calibri" charset="0"/>
              </a:defRPr>
            </a:lvl6pPr>
            <a:lvl7pPr marL="2971800" indent="-228600" eaLnBrk="0" fontAlgn="base" hangingPunct="0">
              <a:lnSpc>
                <a:spcPct val="90000"/>
              </a:lnSpc>
              <a:spcBef>
                <a:spcPts val="500"/>
              </a:spcBef>
              <a:spcAft>
                <a:spcPct val="0"/>
              </a:spcAft>
              <a:buFont typeface="Arial" charset="0"/>
              <a:buChar char="•"/>
              <a:defRPr sz="2000">
                <a:solidFill>
                  <a:schemeClr val="tx1"/>
                </a:solidFill>
                <a:latin typeface="Calibri" charset="0"/>
                <a:ea typeface="宋体" charset="-122"/>
                <a:sym typeface="Calibri" charset="0"/>
              </a:defRPr>
            </a:lvl7pPr>
            <a:lvl8pPr marL="3429000" indent="-228600" eaLnBrk="0" fontAlgn="base" hangingPunct="0">
              <a:lnSpc>
                <a:spcPct val="90000"/>
              </a:lnSpc>
              <a:spcBef>
                <a:spcPts val="500"/>
              </a:spcBef>
              <a:spcAft>
                <a:spcPct val="0"/>
              </a:spcAft>
              <a:buFont typeface="Arial" charset="0"/>
              <a:buChar char="•"/>
              <a:defRPr sz="2000">
                <a:solidFill>
                  <a:schemeClr val="tx1"/>
                </a:solidFill>
                <a:latin typeface="Calibri" charset="0"/>
                <a:ea typeface="宋体" charset="-122"/>
                <a:sym typeface="Calibri" charset="0"/>
              </a:defRPr>
            </a:lvl8pPr>
            <a:lvl9pPr marL="3886200" indent="-228600" eaLnBrk="0" fontAlgn="base" hangingPunct="0">
              <a:lnSpc>
                <a:spcPct val="90000"/>
              </a:lnSpc>
              <a:spcBef>
                <a:spcPts val="500"/>
              </a:spcBef>
              <a:spcAft>
                <a:spcPct val="0"/>
              </a:spcAft>
              <a:buFont typeface="Arial" charset="0"/>
              <a:buChar char="•"/>
              <a:defRPr sz="2000">
                <a:solidFill>
                  <a:schemeClr val="tx1"/>
                </a:solidFill>
                <a:latin typeface="Calibri" charset="0"/>
                <a:ea typeface="宋体" charset="-122"/>
                <a:sym typeface="Calibri" charset="0"/>
              </a:defRPr>
            </a:lvl9pPr>
          </a:lstStyle>
          <a:p>
            <a:pPr algn="ctr" eaLnBrk="1" hangingPunct="1">
              <a:lnSpc>
                <a:spcPct val="150000"/>
              </a:lnSpc>
              <a:spcBef>
                <a:spcPct val="0"/>
              </a:spcBef>
              <a:buFont typeface="Arial" charset="0"/>
              <a:buNone/>
            </a:pPr>
            <a:r>
              <a:rPr lang="zh-CN" altLang="en-US" sz="3600" b="1" dirty="0">
                <a:solidFill>
                  <a:srgbClr val="01559D"/>
                </a:solidFill>
                <a:latin typeface="微软雅黑" panose="020B0503020204020204" pitchFamily="34" charset="-122"/>
                <a:ea typeface="微软雅黑" panose="020B0503020204020204" pitchFamily="34" charset="-122"/>
                <a:cs typeface="Microsoft YaHei Light" charset="-122"/>
              </a:rPr>
              <a:t>张猛</a:t>
            </a:r>
            <a:endParaRPr lang="en-US" altLang="zh-CN" sz="3600" b="1" dirty="0">
              <a:solidFill>
                <a:srgbClr val="01559D"/>
              </a:solidFill>
              <a:latin typeface="微软雅黑" panose="020B0503020204020204" pitchFamily="34" charset="-122"/>
              <a:ea typeface="微软雅黑" panose="020B0503020204020204" pitchFamily="34" charset="-122"/>
              <a:cs typeface="Microsoft YaHei Light" charset="-122"/>
            </a:endParaRPr>
          </a:p>
          <a:p>
            <a:pPr algn="ctr" eaLnBrk="1" hangingPunct="1">
              <a:lnSpc>
                <a:spcPct val="150000"/>
              </a:lnSpc>
              <a:spcBef>
                <a:spcPct val="0"/>
              </a:spcBef>
              <a:buFont typeface="Arial" charset="0"/>
              <a:buNone/>
            </a:pPr>
            <a:r>
              <a:rPr lang="zh-CN" altLang="en-US" dirty="0">
                <a:solidFill>
                  <a:srgbClr val="01559D"/>
                </a:solidFill>
                <a:latin typeface="微软雅黑" panose="020B0503020204020204" pitchFamily="34" charset="-122"/>
                <a:ea typeface="微软雅黑" panose="020B0503020204020204" pitchFamily="34" charset="-122"/>
                <a:cs typeface="Microsoft YaHei Light" charset="-122"/>
              </a:rPr>
              <a:t>华中科技大学计算机科学与技术学院</a:t>
            </a:r>
            <a:endParaRPr lang="en-US" altLang="zh-CN" dirty="0">
              <a:solidFill>
                <a:srgbClr val="01559D"/>
              </a:solidFill>
              <a:latin typeface="微软雅黑" panose="020B0503020204020204" pitchFamily="34" charset="-122"/>
              <a:ea typeface="微软雅黑" panose="020B0503020204020204" pitchFamily="34" charset="-122"/>
              <a:cs typeface="Microsoft YaHei Light" charset="-122"/>
            </a:endParaRPr>
          </a:p>
          <a:p>
            <a:pPr algn="ctr" eaLnBrk="1" hangingPunct="1">
              <a:lnSpc>
                <a:spcPct val="150000"/>
              </a:lnSpc>
              <a:spcBef>
                <a:spcPct val="0"/>
              </a:spcBef>
              <a:buFont typeface="Arial" charset="0"/>
              <a:buNone/>
            </a:pPr>
            <a:r>
              <a:rPr lang="zh-CN" altLang="en-US" dirty="0">
                <a:solidFill>
                  <a:srgbClr val="01559D"/>
                </a:solidFill>
                <a:latin typeface="微软雅黑" panose="020B0503020204020204" pitchFamily="34" charset="-122"/>
                <a:ea typeface="微软雅黑" panose="020B0503020204020204" pitchFamily="34" charset="-122"/>
                <a:cs typeface="Microsoft YaHei Light" charset="-122"/>
              </a:rPr>
              <a:t>新型非易失存储系统实验室（</a:t>
            </a:r>
            <a:r>
              <a:rPr lang="en-US" altLang="zh-CN" dirty="0">
                <a:solidFill>
                  <a:srgbClr val="01559D"/>
                </a:solidFill>
                <a:latin typeface="微软雅黑" panose="020B0503020204020204" pitchFamily="34" charset="-122"/>
                <a:ea typeface="微软雅黑" panose="020B0503020204020204" pitchFamily="34" charset="-122"/>
                <a:cs typeface="Microsoft YaHei Light" charset="-122"/>
              </a:rPr>
              <a:t>NNSS</a:t>
            </a:r>
            <a:r>
              <a:rPr lang="zh-CN" altLang="en-US" dirty="0">
                <a:solidFill>
                  <a:srgbClr val="01559D"/>
                </a:solidFill>
                <a:latin typeface="微软雅黑" panose="020B0503020204020204" pitchFamily="34" charset="-122"/>
                <a:ea typeface="微软雅黑" panose="020B0503020204020204" pitchFamily="34" charset="-122"/>
                <a:cs typeface="Microsoft YaHei Light" charset="-122"/>
              </a:rPr>
              <a:t>）</a:t>
            </a:r>
            <a:endParaRPr lang="en-US" altLang="zh-CN" dirty="0">
              <a:solidFill>
                <a:srgbClr val="01559D"/>
              </a:solidFill>
              <a:latin typeface="微软雅黑" panose="020B0503020204020204" pitchFamily="34" charset="-122"/>
              <a:ea typeface="微软雅黑" panose="020B0503020204020204" pitchFamily="34" charset="-122"/>
              <a:cs typeface="Microsoft YaHei Light" charset="-122"/>
            </a:endParaRPr>
          </a:p>
          <a:p>
            <a:pPr algn="ctr" eaLnBrk="1" hangingPunct="1">
              <a:lnSpc>
                <a:spcPct val="150000"/>
              </a:lnSpc>
              <a:spcBef>
                <a:spcPct val="0"/>
              </a:spcBef>
              <a:buFont typeface="Arial" charset="0"/>
              <a:buNone/>
            </a:pPr>
            <a:r>
              <a:rPr lang="en-US" altLang="zh-CN" dirty="0">
                <a:solidFill>
                  <a:srgbClr val="01559D"/>
                </a:solidFill>
                <a:latin typeface="微软雅黑" panose="020B0503020204020204" pitchFamily="34" charset="-122"/>
                <a:ea typeface="微软雅黑" panose="020B0503020204020204" pitchFamily="34" charset="-122"/>
                <a:cs typeface="Microsoft YaHei Light" charset="-122"/>
                <a:hlinkClick r:id="rId3"/>
              </a:rPr>
              <a:t>zgmeng</a:t>
            </a:r>
            <a:r>
              <a:rPr lang="en-US" altLang="zh-Hans" dirty="0">
                <a:solidFill>
                  <a:srgbClr val="01559D"/>
                </a:solidFill>
                <a:latin typeface="微软雅黑" panose="020B0503020204020204" pitchFamily="34" charset="-122"/>
                <a:ea typeface="微软雅黑" panose="020B0503020204020204" pitchFamily="34" charset="-122"/>
                <a:cs typeface="Microsoft YaHei Light" charset="-122"/>
                <a:hlinkClick r:id="rId3"/>
              </a:rPr>
              <a:t>@hust.edu.cn</a:t>
            </a:r>
            <a:endParaRPr lang="en-US" altLang="zh-Hans" dirty="0">
              <a:solidFill>
                <a:srgbClr val="01559D"/>
              </a:solidFill>
              <a:latin typeface="微软雅黑" panose="020B0503020204020204" pitchFamily="34" charset="-122"/>
              <a:ea typeface="微软雅黑" panose="020B0503020204020204" pitchFamily="34" charset="-122"/>
              <a:cs typeface="Microsoft YaHei Light" charset="-122"/>
            </a:endParaRPr>
          </a:p>
          <a:p>
            <a:pPr algn="ctr" eaLnBrk="1" hangingPunct="1">
              <a:lnSpc>
                <a:spcPct val="150000"/>
              </a:lnSpc>
              <a:spcBef>
                <a:spcPct val="0"/>
              </a:spcBef>
              <a:buFont typeface="Arial" charset="0"/>
              <a:buNone/>
            </a:pPr>
            <a:r>
              <a:rPr lang="en-US" altLang="zh-CN" dirty="0">
                <a:solidFill>
                  <a:srgbClr val="01559D"/>
                </a:solidFill>
                <a:latin typeface="微软雅黑" panose="020B0503020204020204" pitchFamily="34" charset="-122"/>
                <a:ea typeface="微软雅黑" panose="020B0503020204020204" pitchFamily="34" charset="-122"/>
                <a:cs typeface="Microsoft YaHei Light" charset="-122"/>
              </a:rPr>
              <a:t>2025</a:t>
            </a:r>
            <a:r>
              <a:rPr lang="zh-CN" altLang="en-US" dirty="0">
                <a:solidFill>
                  <a:srgbClr val="01559D"/>
                </a:solidFill>
                <a:latin typeface="微软雅黑" panose="020B0503020204020204" pitchFamily="34" charset="-122"/>
                <a:ea typeface="微软雅黑" panose="020B0503020204020204" pitchFamily="34" charset="-122"/>
                <a:cs typeface="Microsoft YaHei Light" charset="-122"/>
              </a:rPr>
              <a:t>年</a:t>
            </a:r>
            <a:r>
              <a:rPr lang="en-US" altLang="zh-CN" dirty="0">
                <a:solidFill>
                  <a:srgbClr val="01559D"/>
                </a:solidFill>
                <a:latin typeface="微软雅黑" panose="020B0503020204020204" pitchFamily="34" charset="-122"/>
                <a:ea typeface="微软雅黑" panose="020B0503020204020204" pitchFamily="34" charset="-122"/>
                <a:cs typeface="Microsoft YaHei Light" charset="-122"/>
              </a:rPr>
              <a:t>4</a:t>
            </a:r>
            <a:r>
              <a:rPr lang="zh-CN" altLang="en-US" dirty="0" smtClean="0">
                <a:solidFill>
                  <a:srgbClr val="01559D"/>
                </a:solidFill>
                <a:latin typeface="微软雅黑" panose="020B0503020204020204" pitchFamily="34" charset="-122"/>
                <a:ea typeface="微软雅黑" panose="020B0503020204020204" pitchFamily="34" charset="-122"/>
                <a:cs typeface="Microsoft YaHei Light" charset="-122"/>
              </a:rPr>
              <a:t>月</a:t>
            </a:r>
            <a:r>
              <a:rPr lang="en-US" altLang="zh-CN" dirty="0" smtClean="0">
                <a:solidFill>
                  <a:srgbClr val="01559D"/>
                </a:solidFill>
                <a:latin typeface="微软雅黑" panose="020B0503020204020204" pitchFamily="34" charset="-122"/>
                <a:ea typeface="微软雅黑" panose="020B0503020204020204" pitchFamily="34" charset="-122"/>
                <a:cs typeface="Microsoft YaHei Light" charset="-122"/>
              </a:rPr>
              <a:t>25</a:t>
            </a:r>
            <a:r>
              <a:rPr lang="zh-CN" altLang="en-US" dirty="0" smtClean="0">
                <a:solidFill>
                  <a:srgbClr val="01559D"/>
                </a:solidFill>
                <a:latin typeface="微软雅黑" panose="020B0503020204020204" pitchFamily="34" charset="-122"/>
                <a:ea typeface="微软雅黑" panose="020B0503020204020204" pitchFamily="34" charset="-122"/>
                <a:cs typeface="Microsoft YaHei Light" charset="-122"/>
              </a:rPr>
              <a:t>日</a:t>
            </a:r>
            <a:endParaRPr lang="en-US" altLang="zh-CN" dirty="0">
              <a:solidFill>
                <a:srgbClr val="01559D"/>
              </a:solidFill>
              <a:latin typeface="微软雅黑" panose="020B0503020204020204" pitchFamily="34" charset="-122"/>
              <a:ea typeface="微软雅黑" panose="020B0503020204020204" pitchFamily="34" charset="-122"/>
              <a:cs typeface="Microsoft YaHei Light" charset="-122"/>
            </a:endParaRPr>
          </a:p>
        </p:txBody>
      </p:sp>
    </p:spTree>
    <p:extLst>
      <p:ext uri="{BB962C8B-B14F-4D97-AF65-F5344CB8AC3E}">
        <p14:creationId xmlns:p14="http://schemas.microsoft.com/office/powerpoint/2010/main" val="1166504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0" y="2260600"/>
            <a:ext cx="12192000" cy="2387600"/>
          </a:xfrm>
        </p:spPr>
        <p:txBody>
          <a:bodyPr/>
          <a:lstStyle/>
          <a:p>
            <a:pPr algn="ctr"/>
            <a:r>
              <a:rPr lang="en-US" altLang="zh-CN" dirty="0"/>
              <a:t>Section </a:t>
            </a:r>
            <a:r>
              <a:rPr lang="en-US" altLang="zh-CN" dirty="0" smtClean="0"/>
              <a:t>5.1</a:t>
            </a:r>
            <a:r>
              <a:rPr lang="en-US" altLang="zh-CN" dirty="0"/>
              <a:t/>
            </a:r>
            <a:br>
              <a:rPr lang="en-US" altLang="zh-CN" dirty="0"/>
            </a:br>
            <a:r>
              <a:rPr lang="zh-CN" altLang="en-US" dirty="0"/>
              <a:t>树的概述</a:t>
            </a:r>
            <a:endParaRPr lang="en-US" dirty="0"/>
          </a:p>
        </p:txBody>
      </p:sp>
    </p:spTree>
    <p:extLst>
      <p:ext uri="{BB962C8B-B14F-4D97-AF65-F5344CB8AC3E}">
        <p14:creationId xmlns:p14="http://schemas.microsoft.com/office/powerpoint/2010/main" val="1577101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内容</a:t>
            </a:r>
            <a:endParaRPr lang="en-US" dirty="0"/>
          </a:p>
        </p:txBody>
      </p:sp>
      <p:sp>
        <p:nvSpPr>
          <p:cNvPr id="3" name="Content Placeholder 2"/>
          <p:cNvSpPr>
            <a:spLocks noGrp="1"/>
          </p:cNvSpPr>
          <p:nvPr>
            <p:ph idx="1"/>
          </p:nvPr>
        </p:nvSpPr>
        <p:spPr/>
        <p:txBody>
          <a:bodyPr/>
          <a:lstStyle/>
          <a:p>
            <a:r>
              <a:rPr lang="zh-CN" altLang="en-US" dirty="0"/>
              <a:t>有根树</a:t>
            </a:r>
            <a:endParaRPr lang="en-US" altLang="zh-CN" dirty="0"/>
          </a:p>
          <a:p>
            <a:r>
              <a:rPr lang="zh-CN" altLang="en-US" dirty="0"/>
              <a:t>树作为模型</a:t>
            </a:r>
            <a:endParaRPr lang="en-US" altLang="zh-CN" dirty="0"/>
          </a:p>
          <a:p>
            <a:r>
              <a:rPr lang="zh-CN" altLang="en-US" dirty="0"/>
              <a:t>树的性质</a:t>
            </a:r>
            <a:endParaRPr lang="en-US" dirty="0"/>
          </a:p>
        </p:txBody>
      </p:sp>
      <p:sp>
        <p:nvSpPr>
          <p:cNvPr id="10" name="日期占位符 9"/>
          <p:cNvSpPr>
            <a:spLocks noGrp="1"/>
          </p:cNvSpPr>
          <p:nvPr>
            <p:ph type="dt" sz="half" idx="10"/>
          </p:nvPr>
        </p:nvSpPr>
        <p:spPr/>
        <p:txBody>
          <a:bodyPr/>
          <a:lstStyle/>
          <a:p>
            <a:fld id="{BEBB811B-1560-4F1C-8222-8D9080153913}" type="datetime1">
              <a:rPr lang="zh-CN" altLang="en-US" smtClean="0"/>
              <a:t>2025/4/15</a:t>
            </a:fld>
            <a:endParaRPr lang="zh-CN" altLang="en-US" dirty="0"/>
          </a:p>
        </p:txBody>
      </p:sp>
      <p:sp>
        <p:nvSpPr>
          <p:cNvPr id="11" name="页脚占位符 10"/>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2" name="灯片编号占位符 11"/>
          <p:cNvSpPr>
            <a:spLocks noGrp="1"/>
          </p:cNvSpPr>
          <p:nvPr>
            <p:ph type="sldNum" sz="quarter" idx="12"/>
          </p:nvPr>
        </p:nvSpPr>
        <p:spPr/>
        <p:txBody>
          <a:bodyPr/>
          <a:lstStyle/>
          <a:p>
            <a:fld id="{67913A8A-9EFB-4B5F-9CCB-3D21173FAA85}" type="slidenum">
              <a:rPr lang="zh-CN" altLang="en-US" smtClean="0"/>
              <a:pPr/>
              <a:t>3</a:t>
            </a:fld>
            <a:endParaRPr lang="zh-CN" altLang="en-US" dirty="0"/>
          </a:p>
        </p:txBody>
      </p:sp>
    </p:spTree>
    <p:extLst>
      <p:ext uri="{BB962C8B-B14F-4D97-AF65-F5344CB8AC3E}">
        <p14:creationId xmlns:p14="http://schemas.microsoft.com/office/powerpoint/2010/main" val="13958254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57200" y="1143000"/>
            <a:ext cx="11277599" cy="419096"/>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树</a:t>
            </a:r>
            <a:endParaRPr lang="en-US" dirty="0"/>
          </a:p>
        </p:txBody>
      </p:sp>
      <p:sp>
        <p:nvSpPr>
          <p:cNvPr id="3" name="Content Placeholder 2"/>
          <p:cNvSpPr>
            <a:spLocks noGrp="1"/>
          </p:cNvSpPr>
          <p:nvPr>
            <p:ph idx="1"/>
          </p:nvPr>
        </p:nvSpPr>
        <p:spPr/>
        <p:txBody>
          <a:bodyPr>
            <a:normAutofit/>
          </a:bodyPr>
          <a:lstStyle/>
          <a:p>
            <a:r>
              <a:rPr lang="zh-CN" altLang="en-US" dirty="0"/>
              <a:t>定义</a:t>
            </a:r>
            <a:r>
              <a:rPr lang="en-US" altLang="zh-CN" dirty="0"/>
              <a:t>:</a:t>
            </a:r>
            <a:r>
              <a:rPr lang="zh-CN" altLang="en-US" b="1" dirty="0">
                <a:solidFill>
                  <a:srgbClr val="C00000"/>
                </a:solidFill>
              </a:rPr>
              <a:t>树</a:t>
            </a:r>
            <a:r>
              <a:rPr lang="zh-CN" altLang="en-US" dirty="0"/>
              <a:t>是没有简单回路的连通无向图</a:t>
            </a:r>
            <a:r>
              <a:rPr lang="en-US" altLang="zh-CN" dirty="0"/>
              <a:t>.</a:t>
            </a:r>
          </a:p>
          <a:p>
            <a:r>
              <a:rPr lang="zh-CN" altLang="en-US" dirty="0"/>
              <a:t>因为树没有简单回路</a:t>
            </a:r>
            <a:r>
              <a:rPr lang="en-US" altLang="zh-CN" dirty="0"/>
              <a:t>, </a:t>
            </a:r>
            <a:r>
              <a:rPr lang="zh-CN" altLang="en-US" dirty="0"/>
              <a:t>那么树不包含多重边或环</a:t>
            </a:r>
            <a:r>
              <a:rPr lang="en-US" altLang="zh-CN" dirty="0"/>
              <a:t>. </a:t>
            </a:r>
            <a:r>
              <a:rPr lang="zh-CN" altLang="en-US" dirty="0"/>
              <a:t>树必然是简单图</a:t>
            </a:r>
            <a:r>
              <a:rPr lang="en-US" altLang="zh-CN" dirty="0"/>
              <a:t>.</a:t>
            </a:r>
            <a:endParaRPr lang="en-US" dirty="0"/>
          </a:p>
        </p:txBody>
      </p:sp>
      <p:sp>
        <p:nvSpPr>
          <p:cNvPr id="14" name="日期占位符 13"/>
          <p:cNvSpPr>
            <a:spLocks noGrp="1"/>
          </p:cNvSpPr>
          <p:nvPr>
            <p:ph type="dt" sz="half" idx="10"/>
          </p:nvPr>
        </p:nvSpPr>
        <p:spPr/>
        <p:txBody>
          <a:bodyPr/>
          <a:lstStyle/>
          <a:p>
            <a:fld id="{0D218D61-7CB8-4C1C-A78E-5F5D2C449CD8}" type="datetime1">
              <a:rPr lang="zh-CN" altLang="en-US" smtClean="0"/>
              <a:t>2025/4/15</a:t>
            </a:fld>
            <a:endParaRPr lang="zh-CN" altLang="en-US" dirty="0"/>
          </a:p>
        </p:txBody>
      </p:sp>
      <p:sp>
        <p:nvSpPr>
          <p:cNvPr id="15" name="页脚占位符 14"/>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6" name="灯片编号占位符 15"/>
          <p:cNvSpPr>
            <a:spLocks noGrp="1"/>
          </p:cNvSpPr>
          <p:nvPr>
            <p:ph type="sldNum" sz="quarter" idx="12"/>
          </p:nvPr>
        </p:nvSpPr>
        <p:spPr/>
        <p:txBody>
          <a:bodyPr/>
          <a:lstStyle/>
          <a:p>
            <a:fld id="{67913A8A-9EFB-4B5F-9CCB-3D21173FAA85}" type="slidenum">
              <a:rPr lang="zh-CN" altLang="en-US" smtClean="0"/>
              <a:pPr/>
              <a:t>4</a:t>
            </a:fld>
            <a:endParaRPr lang="zh-CN" altLang="en-US" dirty="0"/>
          </a:p>
        </p:txBody>
      </p:sp>
    </p:spTree>
    <p:extLst>
      <p:ext uri="{BB962C8B-B14F-4D97-AF65-F5344CB8AC3E}">
        <p14:creationId xmlns:p14="http://schemas.microsoft.com/office/powerpoint/2010/main" val="24379395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树</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zh-CN" altLang="en-US" dirty="0"/>
                  <a:t>例</a:t>
                </a:r>
                <a:r>
                  <a:rPr lang="en-US" altLang="zh-CN" dirty="0"/>
                  <a:t>:</a:t>
                </a:r>
                <a:r>
                  <a:rPr lang="zh-CN" altLang="en-US" dirty="0"/>
                  <a:t>如图所示</a:t>
                </a:r>
                <a:r>
                  <a:rPr lang="en-US" altLang="zh-CN" dirty="0"/>
                  <a:t>, </a:t>
                </a:r>
                <a:r>
                  <a:rPr lang="zh-CN" altLang="en-US" dirty="0"/>
                  <a:t>哪些是树？</a:t>
                </a:r>
                <a:endParaRPr lang="en-US" dirty="0"/>
              </a:p>
              <a:p>
                <a:endParaRPr lang="en-US" dirty="0"/>
              </a:p>
              <a:p>
                <a:endParaRPr lang="en-US" dirty="0"/>
              </a:p>
              <a:p>
                <a:endParaRPr lang="en-US" dirty="0"/>
              </a:p>
              <a:p>
                <a:endParaRPr lang="en-US" dirty="0"/>
              </a:p>
              <a:p>
                <a:endParaRPr lang="en-US" dirty="0"/>
              </a:p>
              <a:p>
                <a:r>
                  <a:rPr lang="zh-CN" altLang="en-US" dirty="0"/>
                  <a:t>解</a:t>
                </a:r>
                <a:r>
                  <a:rPr lang="en-US" dirty="0"/>
                  <a:t>: </a:t>
                </a:r>
                <a:endParaRPr lang="en-US" altLang="zh-CN" i="1" dirty="0">
                  <a:latin typeface="Cambria Math" panose="02040503050406030204" pitchFamily="18" charset="0"/>
                </a:endParaRPr>
              </a:p>
              <a:p>
                <a:pPr lvl="1">
                  <a:lnSpc>
                    <a:spcPct val="120000"/>
                  </a:lnSpc>
                </a:pPr>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panose="02040503050406030204" pitchFamily="18" charset="0"/>
                          </a:rPr>
                          <m:t>𝐺</m:t>
                        </m:r>
                      </m:e>
                      <m:sub>
                        <m:r>
                          <a:rPr lang="en-US" altLang="zh-CN">
                            <a:latin typeface="Cambria Math" panose="02040503050406030204" pitchFamily="18" charset="0"/>
                          </a:rPr>
                          <m:t>1</m:t>
                        </m:r>
                      </m:sub>
                    </m:sSub>
                  </m:oMath>
                </a14:m>
                <a:r>
                  <a:rPr lang="zh-CN" altLang="en-US" dirty="0"/>
                  <a:t>和</a:t>
                </a:r>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panose="02040503050406030204" pitchFamily="18" charset="0"/>
                          </a:rPr>
                          <m:t>𝐺</m:t>
                        </m:r>
                      </m:e>
                      <m:sub>
                        <m:r>
                          <a:rPr lang="en-US" altLang="zh-CN">
                            <a:latin typeface="Cambria Math" panose="02040503050406030204" pitchFamily="18" charset="0"/>
                          </a:rPr>
                          <m:t>2</m:t>
                        </m:r>
                      </m:sub>
                    </m:sSub>
                  </m:oMath>
                </a14:m>
                <a:r>
                  <a:rPr lang="zh-CN" altLang="en-US" dirty="0"/>
                  <a:t>是树</a:t>
                </a:r>
                <a:r>
                  <a:rPr lang="en-US" altLang="zh-CN" dirty="0"/>
                  <a:t>, </a:t>
                </a:r>
                <a:r>
                  <a:rPr lang="zh-CN" altLang="en-US" dirty="0"/>
                  <a:t>因为都没有简单回路的连通图</a:t>
                </a:r>
                <a:r>
                  <a:rPr lang="en-US" altLang="zh-CN" dirty="0"/>
                  <a:t>. </a:t>
                </a:r>
              </a:p>
              <a:p>
                <a:pPr lvl="1">
                  <a:lnSpc>
                    <a:spcPct val="120000"/>
                  </a:lnSpc>
                </a:pPr>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panose="02040503050406030204" pitchFamily="18" charset="0"/>
                          </a:rPr>
                          <m:t>𝐺</m:t>
                        </m:r>
                      </m:e>
                      <m:sub>
                        <m:r>
                          <a:rPr lang="en-US" altLang="zh-CN">
                            <a:latin typeface="Cambria Math" panose="02040503050406030204" pitchFamily="18" charset="0"/>
                          </a:rPr>
                          <m:t>3</m:t>
                        </m:r>
                      </m:sub>
                    </m:sSub>
                  </m:oMath>
                </a14:m>
                <a:r>
                  <a:rPr lang="zh-CN" altLang="en-US" dirty="0"/>
                  <a:t>不是树</a:t>
                </a:r>
                <a:r>
                  <a:rPr lang="en-US" altLang="zh-CN" dirty="0"/>
                  <a:t>, </a:t>
                </a:r>
                <a:r>
                  <a:rPr lang="zh-CN" altLang="en-US" dirty="0"/>
                  <a:t>因为</a:t>
                </a:r>
                <a:r>
                  <a:rPr lang="en-US" dirty="0"/>
                  <a:t>e, b, a, d, e</a:t>
                </a:r>
                <a:r>
                  <a:rPr lang="zh-CN" altLang="en-US" dirty="0"/>
                  <a:t>是该图中的一条简单回路</a:t>
                </a:r>
                <a:r>
                  <a:rPr lang="en-US" altLang="zh-CN" dirty="0"/>
                  <a:t>. </a:t>
                </a:r>
              </a:p>
              <a:p>
                <a:pPr lvl="1">
                  <a:lnSpc>
                    <a:spcPct val="120000"/>
                  </a:lnSpc>
                </a:pPr>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panose="02040503050406030204" pitchFamily="18" charset="0"/>
                          </a:rPr>
                          <m:t>𝐺</m:t>
                        </m:r>
                      </m:e>
                      <m:sub>
                        <m:r>
                          <a:rPr lang="en-US" altLang="zh-CN">
                            <a:latin typeface="Cambria Math" panose="02040503050406030204" pitchFamily="18" charset="0"/>
                          </a:rPr>
                          <m:t>4</m:t>
                        </m:r>
                      </m:sub>
                    </m:sSub>
                  </m:oMath>
                </a14:m>
                <a:r>
                  <a:rPr lang="zh-CN" altLang="en-US" dirty="0"/>
                  <a:t>不是树</a:t>
                </a:r>
                <a:r>
                  <a:rPr lang="en-US" altLang="zh-CN" dirty="0"/>
                  <a:t>, </a:t>
                </a:r>
                <a:r>
                  <a:rPr lang="zh-CN" altLang="en-US" dirty="0"/>
                  <a:t>因为它不连通</a:t>
                </a:r>
                <a:r>
                  <a:rPr lang="en-US"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2143"/>
                </a:stretch>
              </a:blipFill>
            </p:spPr>
            <p:txBody>
              <a:bodyPr/>
              <a:lstStyle/>
              <a:p>
                <a:r>
                  <a:rPr lang="zh-CN" altLang="en-US">
                    <a:noFill/>
                  </a:rPr>
                  <a:t> </a:t>
                </a:r>
              </a:p>
            </p:txBody>
          </p:sp>
        </mc:Fallback>
      </mc:AlternateContent>
      <p:pic>
        <p:nvPicPr>
          <p:cNvPr id="4" name="Content Placeholder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00400" y="1752600"/>
            <a:ext cx="5943600" cy="2286000"/>
          </a:xfrm>
          <a:prstGeom prst="rect">
            <a:avLst/>
          </a:prstGeom>
        </p:spPr>
      </p:pic>
      <p:sp>
        <p:nvSpPr>
          <p:cNvPr id="14" name="日期占位符 13"/>
          <p:cNvSpPr>
            <a:spLocks noGrp="1"/>
          </p:cNvSpPr>
          <p:nvPr>
            <p:ph type="dt" sz="half" idx="10"/>
          </p:nvPr>
        </p:nvSpPr>
        <p:spPr/>
        <p:txBody>
          <a:bodyPr/>
          <a:lstStyle/>
          <a:p>
            <a:fld id="{3466E6BD-C052-46B4-AD56-85B975628561}" type="datetime1">
              <a:rPr lang="zh-CN" altLang="en-US" smtClean="0"/>
              <a:t>2025/4/15</a:t>
            </a:fld>
            <a:endParaRPr lang="zh-CN" altLang="en-US" dirty="0"/>
          </a:p>
        </p:txBody>
      </p:sp>
      <p:sp>
        <p:nvSpPr>
          <p:cNvPr id="15" name="页脚占位符 14"/>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6" name="灯片编号占位符 15"/>
          <p:cNvSpPr>
            <a:spLocks noGrp="1"/>
          </p:cNvSpPr>
          <p:nvPr>
            <p:ph type="sldNum" sz="quarter" idx="12"/>
          </p:nvPr>
        </p:nvSpPr>
        <p:spPr/>
        <p:txBody>
          <a:bodyPr/>
          <a:lstStyle/>
          <a:p>
            <a:fld id="{67913A8A-9EFB-4B5F-9CCB-3D21173FAA85}" type="slidenum">
              <a:rPr lang="zh-CN" altLang="en-US" smtClean="0"/>
              <a:pPr/>
              <a:t>5</a:t>
            </a:fld>
            <a:endParaRPr lang="zh-CN" altLang="en-US" dirty="0"/>
          </a:p>
        </p:txBody>
      </p:sp>
    </p:spTree>
    <p:extLst>
      <p:ext uri="{BB962C8B-B14F-4D97-AF65-F5344CB8AC3E}">
        <p14:creationId xmlns:p14="http://schemas.microsoft.com/office/powerpoint/2010/main" val="3410216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wipe(down)">
                                      <p:cBhvr>
                                        <p:cTn id="7" dur="500"/>
                                        <p:tgtEl>
                                          <p:spTgt spid="3">
                                            <p:txEl>
                                              <p:pRg st="6" end="6"/>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7" end="7"/>
                                            </p:txEl>
                                          </p:spTgt>
                                        </p:tgtEl>
                                        <p:attrNameLst>
                                          <p:attrName>style.visibility</p:attrName>
                                        </p:attrNameLst>
                                      </p:cBhvr>
                                      <p:to>
                                        <p:strVal val="visible"/>
                                      </p:to>
                                    </p:set>
                                    <p:animEffect transition="in" filter="wipe(down)">
                                      <p:cBhvr>
                                        <p:cTn id="10" dur="500"/>
                                        <p:tgtEl>
                                          <p:spTgt spid="3">
                                            <p:txEl>
                                              <p:pRg st="7" end="7"/>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animEffect transition="in" filter="wipe(down)">
                                      <p:cBhvr>
                                        <p:cTn id="13" dur="500"/>
                                        <p:tgtEl>
                                          <p:spTgt spid="3">
                                            <p:txEl>
                                              <p:pRg st="8" end="8"/>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9" end="9"/>
                                            </p:txEl>
                                          </p:spTgt>
                                        </p:tgtEl>
                                        <p:attrNameLst>
                                          <p:attrName>style.visibility</p:attrName>
                                        </p:attrNameLst>
                                      </p:cBhvr>
                                      <p:to>
                                        <p:strVal val="visible"/>
                                      </p:to>
                                    </p:set>
                                    <p:animEffect transition="in" filter="wipe(down)">
                                      <p:cBhvr>
                                        <p:cTn id="16"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457200" y="1143000"/>
            <a:ext cx="11277599" cy="8382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树</a:t>
            </a:r>
            <a:endParaRPr lang="en-US" dirty="0"/>
          </a:p>
        </p:txBody>
      </p:sp>
      <p:sp>
        <p:nvSpPr>
          <p:cNvPr id="3" name="Content Placeholder 2"/>
          <p:cNvSpPr>
            <a:spLocks noGrp="1"/>
          </p:cNvSpPr>
          <p:nvPr>
            <p:ph idx="1"/>
          </p:nvPr>
        </p:nvSpPr>
        <p:spPr/>
        <p:txBody>
          <a:bodyPr>
            <a:normAutofit/>
          </a:bodyPr>
          <a:lstStyle/>
          <a:p>
            <a:r>
              <a:rPr lang="zh-CN" altLang="en-US" dirty="0"/>
              <a:t>定义</a:t>
            </a:r>
            <a:r>
              <a:rPr lang="en-US" altLang="zh-CN" dirty="0"/>
              <a:t>:</a:t>
            </a:r>
            <a:r>
              <a:rPr lang="zh-CN" altLang="en-US" b="1" dirty="0">
                <a:solidFill>
                  <a:srgbClr val="C00000"/>
                </a:solidFill>
              </a:rPr>
              <a:t>森林</a:t>
            </a:r>
            <a:r>
              <a:rPr lang="zh-CN" altLang="en-US" dirty="0"/>
              <a:t>是指不包含简单回路</a:t>
            </a:r>
            <a:r>
              <a:rPr lang="en-US" altLang="zh-CN" dirty="0"/>
              <a:t>, </a:t>
            </a:r>
            <a:r>
              <a:rPr lang="zh-CN" altLang="en-US" dirty="0"/>
              <a:t>但不一定连通的图</a:t>
            </a:r>
            <a:r>
              <a:rPr lang="en-US" dirty="0"/>
              <a:t>. </a:t>
            </a:r>
            <a:r>
              <a:rPr lang="zh-CN" altLang="en-US" dirty="0"/>
              <a:t>森林中每个连通分支都是树</a:t>
            </a:r>
            <a:r>
              <a:rPr lang="en-US" dirty="0"/>
              <a:t>.</a:t>
            </a:r>
          </a:p>
        </p:txBody>
      </p:sp>
      <p:pic>
        <p:nvPicPr>
          <p:cNvPr id="5" name="Picture 4"/>
          <p:cNvPicPr>
            <a:picLocks noChangeAspect="1"/>
          </p:cNvPicPr>
          <p:nvPr/>
        </p:nvPicPr>
        <p:blipFill rotWithShape="1">
          <a:blip r:embed="rId2" cstate="print">
            <a:extLst>
              <a:ext uri="{28A0092B-C50C-407E-A947-70E740481C1C}">
                <a14:useLocalDpi xmlns:a14="http://schemas.microsoft.com/office/drawing/2010/main" val="0"/>
              </a:ext>
            </a:extLst>
          </a:blip>
          <a:srcRect l="3663" t="15488" r="1083" b="4486"/>
          <a:stretch/>
        </p:blipFill>
        <p:spPr>
          <a:xfrm>
            <a:off x="2895600" y="2428892"/>
            <a:ext cx="6781800" cy="2695332"/>
          </a:xfrm>
          <a:prstGeom prst="rect">
            <a:avLst/>
          </a:prstGeom>
        </p:spPr>
      </p:pic>
      <p:sp>
        <p:nvSpPr>
          <p:cNvPr id="14" name="日期占位符 13"/>
          <p:cNvSpPr>
            <a:spLocks noGrp="1"/>
          </p:cNvSpPr>
          <p:nvPr>
            <p:ph type="dt" sz="half" idx="10"/>
          </p:nvPr>
        </p:nvSpPr>
        <p:spPr/>
        <p:txBody>
          <a:bodyPr/>
          <a:lstStyle/>
          <a:p>
            <a:fld id="{21A74ED6-AA0D-4CDA-B426-CE995E296464}" type="datetime1">
              <a:rPr lang="zh-CN" altLang="en-US" smtClean="0"/>
              <a:t>2025/4/15</a:t>
            </a:fld>
            <a:endParaRPr lang="zh-CN" altLang="en-US" dirty="0"/>
          </a:p>
        </p:txBody>
      </p:sp>
      <p:sp>
        <p:nvSpPr>
          <p:cNvPr id="15" name="页脚占位符 14"/>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6" name="灯片编号占位符 15"/>
          <p:cNvSpPr>
            <a:spLocks noGrp="1"/>
          </p:cNvSpPr>
          <p:nvPr>
            <p:ph type="sldNum" sz="quarter" idx="12"/>
          </p:nvPr>
        </p:nvSpPr>
        <p:spPr/>
        <p:txBody>
          <a:bodyPr/>
          <a:lstStyle/>
          <a:p>
            <a:fld id="{67913A8A-9EFB-4B5F-9CCB-3D21173FAA85}" type="slidenum">
              <a:rPr lang="zh-CN" altLang="en-US" smtClean="0"/>
              <a:pPr/>
              <a:t>6</a:t>
            </a:fld>
            <a:endParaRPr lang="zh-CN" altLang="en-US" dirty="0"/>
          </a:p>
        </p:txBody>
      </p:sp>
      <p:sp>
        <p:nvSpPr>
          <p:cNvPr id="4" name="文本框 3"/>
          <p:cNvSpPr txBox="1"/>
          <p:nvPr/>
        </p:nvSpPr>
        <p:spPr>
          <a:xfrm>
            <a:off x="3733800" y="5205599"/>
            <a:ext cx="5689378" cy="461665"/>
          </a:xfrm>
          <a:prstGeom prst="rect">
            <a:avLst/>
          </a:prstGeom>
          <a:noFill/>
        </p:spPr>
        <p:txBody>
          <a:bodyPr wrap="none" rtlCol="0">
            <a:spAutoFit/>
          </a:bodyPr>
          <a:lstStyle/>
          <a:p>
            <a:r>
              <a:rPr lang="zh-CN" altLang="en-US" sz="2400" dirty="0">
                <a:latin typeface="微软雅黑" panose="020B0503020204020204" pitchFamily="34" charset="-122"/>
                <a:ea typeface="微软雅黑" panose="020B0503020204020204" pitchFamily="34" charset="-122"/>
              </a:rPr>
              <a:t>如图所示是一个具有</a:t>
            </a:r>
            <a:r>
              <a:rPr lang="en-US" altLang="zh-CN" sz="2400" dirty="0">
                <a:latin typeface="微软雅黑" panose="020B0503020204020204" pitchFamily="34" charset="-122"/>
                <a:ea typeface="微软雅黑" panose="020B0503020204020204" pitchFamily="34" charset="-122"/>
              </a:rPr>
              <a:t>3</a:t>
            </a:r>
            <a:r>
              <a:rPr lang="zh-CN" altLang="en-US" sz="2400" dirty="0">
                <a:latin typeface="微软雅黑" panose="020B0503020204020204" pitchFamily="34" charset="-122"/>
                <a:ea typeface="微软雅黑" panose="020B0503020204020204" pitchFamily="34" charset="-122"/>
              </a:rPr>
              <a:t>个连通分支的森林</a:t>
            </a:r>
          </a:p>
        </p:txBody>
      </p:sp>
    </p:spTree>
    <p:extLst>
      <p:ext uri="{BB962C8B-B14F-4D97-AF65-F5344CB8AC3E}">
        <p14:creationId xmlns:p14="http://schemas.microsoft.com/office/powerpoint/2010/main" val="1983966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457200" y="1143000"/>
            <a:ext cx="11277599" cy="8382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树</a:t>
            </a:r>
            <a:endParaRPr lang="en-US" dirty="0"/>
          </a:p>
        </p:txBody>
      </p:sp>
      <p:sp>
        <p:nvSpPr>
          <p:cNvPr id="3" name="Content Placeholder 2"/>
          <p:cNvSpPr>
            <a:spLocks noGrp="1"/>
          </p:cNvSpPr>
          <p:nvPr>
            <p:ph idx="1"/>
          </p:nvPr>
        </p:nvSpPr>
        <p:spPr/>
        <p:txBody>
          <a:bodyPr>
            <a:normAutofit/>
          </a:bodyPr>
          <a:lstStyle/>
          <a:p>
            <a:r>
              <a:rPr lang="zh-CN" altLang="en-US" dirty="0"/>
              <a:t>定理</a:t>
            </a:r>
            <a:r>
              <a:rPr lang="en-US" altLang="zh-CN" dirty="0"/>
              <a:t>:</a:t>
            </a:r>
            <a:r>
              <a:rPr lang="zh-CN" altLang="en-US" dirty="0"/>
              <a:t>一个无向图是树当且仅当在它的每对顶点之间存在唯一的简单通路</a:t>
            </a:r>
            <a:r>
              <a:rPr lang="en-US" dirty="0"/>
              <a:t>. </a:t>
            </a:r>
          </a:p>
          <a:p>
            <a:r>
              <a:rPr lang="zh-CN" altLang="en-US" dirty="0"/>
              <a:t>证</a:t>
            </a:r>
            <a:r>
              <a:rPr lang="en-US" dirty="0"/>
              <a:t>:</a:t>
            </a:r>
          </a:p>
          <a:p>
            <a:pPr lvl="1">
              <a:lnSpc>
                <a:spcPct val="110000"/>
              </a:lnSpc>
            </a:pPr>
            <a:r>
              <a:rPr lang="en-US" altLang="zh-CN" dirty="0"/>
              <a:t>(</a:t>
            </a:r>
            <a:r>
              <a:rPr lang="zh-CN" altLang="en-US" dirty="0"/>
              <a:t>树的基本定义</a:t>
            </a:r>
            <a:r>
              <a:rPr lang="en-US" altLang="zh-CN" dirty="0"/>
              <a:t>: </a:t>
            </a:r>
            <a:r>
              <a:rPr lang="zh-CN" altLang="en-US" dirty="0"/>
              <a:t>树是没有简单回路的连通无向图</a:t>
            </a:r>
            <a:r>
              <a:rPr lang="en-US" altLang="zh-CN" dirty="0"/>
              <a:t>)</a:t>
            </a:r>
            <a:r>
              <a:rPr lang="zh-CN" altLang="en-US" dirty="0"/>
              <a:t>设</a:t>
            </a:r>
            <a:r>
              <a:rPr lang="en-US" altLang="zh-CN" dirty="0"/>
              <a:t>T</a:t>
            </a:r>
            <a:r>
              <a:rPr lang="zh-CN" altLang="en-US" dirty="0"/>
              <a:t>是树</a:t>
            </a:r>
            <a:r>
              <a:rPr lang="en-US" altLang="zh-CN" dirty="0"/>
              <a:t>, </a:t>
            </a:r>
            <a:r>
              <a:rPr lang="zh-CN" altLang="en-US" dirty="0"/>
              <a:t>则</a:t>
            </a:r>
            <a:r>
              <a:rPr lang="en-US" altLang="zh-CN" dirty="0"/>
              <a:t>T</a:t>
            </a:r>
            <a:r>
              <a:rPr lang="zh-CN" altLang="en-US" dirty="0"/>
              <a:t>没有简单回路的连通图</a:t>
            </a:r>
            <a:r>
              <a:rPr lang="en-US" altLang="zh-CN" dirty="0"/>
              <a:t>. </a:t>
            </a:r>
            <a:r>
              <a:rPr lang="zh-CN" altLang="en-US" dirty="0"/>
              <a:t>设</a:t>
            </a:r>
            <a:r>
              <a:rPr lang="en-US" altLang="zh-CN" dirty="0"/>
              <a:t>x</a:t>
            </a:r>
            <a:r>
              <a:rPr lang="zh-CN" altLang="en-US" dirty="0"/>
              <a:t>和</a:t>
            </a:r>
            <a:r>
              <a:rPr lang="en-US" altLang="zh-CN" dirty="0"/>
              <a:t>y</a:t>
            </a:r>
            <a:r>
              <a:rPr lang="zh-CN" altLang="en-US" dirty="0"/>
              <a:t>是</a:t>
            </a:r>
            <a:r>
              <a:rPr lang="en-US" altLang="zh-CN" dirty="0"/>
              <a:t>T</a:t>
            </a:r>
            <a:r>
              <a:rPr lang="zh-CN" altLang="en-US" dirty="0"/>
              <a:t>的两个顶点</a:t>
            </a:r>
            <a:r>
              <a:rPr lang="en-US" altLang="zh-CN" dirty="0"/>
              <a:t>. </a:t>
            </a:r>
            <a:r>
              <a:rPr lang="zh-CN" altLang="en-US" dirty="0"/>
              <a:t>因为连通</a:t>
            </a:r>
            <a:r>
              <a:rPr lang="en-US" altLang="zh-CN" dirty="0"/>
              <a:t>, </a:t>
            </a:r>
            <a:r>
              <a:rPr lang="zh-CN" altLang="en-US" dirty="0"/>
              <a:t>所以</a:t>
            </a:r>
            <a:r>
              <a:rPr lang="en-US" altLang="zh-CN" dirty="0"/>
              <a:t>x</a:t>
            </a:r>
            <a:r>
              <a:rPr lang="zh-CN" altLang="en-US" dirty="0"/>
              <a:t>和</a:t>
            </a:r>
            <a:r>
              <a:rPr lang="en-US" altLang="zh-CN" dirty="0"/>
              <a:t>y</a:t>
            </a:r>
            <a:r>
              <a:rPr lang="zh-CN" altLang="en-US" dirty="0"/>
              <a:t>之间存在一条简单通路</a:t>
            </a:r>
            <a:r>
              <a:rPr lang="en-US" altLang="zh-CN" dirty="0"/>
              <a:t>. </a:t>
            </a:r>
            <a:r>
              <a:rPr lang="zh-CN" altLang="en-US" dirty="0"/>
              <a:t>而且这条简单通路是唯一的</a:t>
            </a:r>
            <a:r>
              <a:rPr lang="en-US" altLang="zh-CN" dirty="0"/>
              <a:t>. </a:t>
            </a:r>
            <a:r>
              <a:rPr lang="zh-CN" altLang="en-US" dirty="0"/>
              <a:t>因为如果存在第二条这样的简单通路</a:t>
            </a:r>
            <a:r>
              <a:rPr lang="en-US" altLang="zh-CN" dirty="0"/>
              <a:t>, </a:t>
            </a:r>
            <a:r>
              <a:rPr lang="zh-CN" altLang="en-US" dirty="0"/>
              <a:t>那么将第一条简单通路和第二条简单通路逆转后得到从</a:t>
            </a:r>
            <a:r>
              <a:rPr lang="en-US" altLang="zh-CN" dirty="0"/>
              <a:t>y</a:t>
            </a:r>
            <a:r>
              <a:rPr lang="zh-CN" altLang="en-US" dirty="0"/>
              <a:t>到</a:t>
            </a:r>
            <a:r>
              <a:rPr lang="en-US" altLang="zh-CN" dirty="0"/>
              <a:t>x</a:t>
            </a:r>
            <a:r>
              <a:rPr lang="zh-CN" altLang="en-US" dirty="0"/>
              <a:t>的通路</a:t>
            </a:r>
            <a:r>
              <a:rPr lang="en-US" altLang="zh-CN" dirty="0"/>
              <a:t>, </a:t>
            </a:r>
            <a:r>
              <a:rPr lang="zh-CN" altLang="en-US" dirty="0"/>
              <a:t>这会形成回路</a:t>
            </a:r>
            <a:r>
              <a:rPr lang="en-US" altLang="zh-CN" dirty="0"/>
              <a:t>. </a:t>
            </a:r>
            <a:r>
              <a:rPr lang="zh-CN" altLang="en-US" dirty="0"/>
              <a:t>这蕴含了在</a:t>
            </a:r>
            <a:r>
              <a:rPr lang="en-US" altLang="zh-CN" dirty="0"/>
              <a:t>T</a:t>
            </a:r>
            <a:r>
              <a:rPr lang="zh-CN" altLang="en-US" dirty="0"/>
              <a:t>中存在简单回路</a:t>
            </a:r>
            <a:r>
              <a:rPr lang="en-US" altLang="zh-CN" dirty="0"/>
              <a:t>. </a:t>
            </a:r>
            <a:r>
              <a:rPr lang="zh-CN" altLang="en-US" dirty="0"/>
              <a:t>因此在树的任何两个顶点之间存在唯一的简单通路</a:t>
            </a:r>
            <a:r>
              <a:rPr lang="en-US" altLang="zh-CN" dirty="0"/>
              <a:t>.</a:t>
            </a:r>
          </a:p>
        </p:txBody>
      </p:sp>
      <p:sp>
        <p:nvSpPr>
          <p:cNvPr id="9" name="日期占位符 8"/>
          <p:cNvSpPr>
            <a:spLocks noGrp="1"/>
          </p:cNvSpPr>
          <p:nvPr>
            <p:ph type="dt" sz="half" idx="10"/>
          </p:nvPr>
        </p:nvSpPr>
        <p:spPr/>
        <p:txBody>
          <a:bodyPr/>
          <a:lstStyle/>
          <a:p>
            <a:fld id="{F1DA92CE-B66F-4552-B15D-0D53BB7F459E}" type="datetime1">
              <a:rPr lang="zh-CN" altLang="en-US" smtClean="0"/>
              <a:t>2025/4/15</a:t>
            </a:fld>
            <a:endParaRPr lang="zh-CN" altLang="en-US" dirty="0"/>
          </a:p>
        </p:txBody>
      </p:sp>
      <p:sp>
        <p:nvSpPr>
          <p:cNvPr id="10" name="页脚占位符 9"/>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1" name="灯片编号占位符 10"/>
          <p:cNvSpPr>
            <a:spLocks noGrp="1"/>
          </p:cNvSpPr>
          <p:nvPr>
            <p:ph type="sldNum" sz="quarter" idx="12"/>
          </p:nvPr>
        </p:nvSpPr>
        <p:spPr/>
        <p:txBody>
          <a:bodyPr/>
          <a:lstStyle/>
          <a:p>
            <a:fld id="{67913A8A-9EFB-4B5F-9CCB-3D21173FAA85}" type="slidenum">
              <a:rPr lang="zh-CN" altLang="en-US" smtClean="0"/>
              <a:pPr/>
              <a:t>7</a:t>
            </a:fld>
            <a:endParaRPr lang="zh-CN" altLang="en-US" dirty="0"/>
          </a:p>
        </p:txBody>
      </p:sp>
    </p:spTree>
    <p:extLst>
      <p:ext uri="{BB962C8B-B14F-4D97-AF65-F5344CB8AC3E}">
        <p14:creationId xmlns:p14="http://schemas.microsoft.com/office/powerpoint/2010/main" val="3315466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457200" y="1143000"/>
            <a:ext cx="11277599" cy="8382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树</a:t>
            </a:r>
            <a:endParaRPr lang="en-US" dirty="0"/>
          </a:p>
        </p:txBody>
      </p:sp>
      <p:sp>
        <p:nvSpPr>
          <p:cNvPr id="3" name="Content Placeholder 2"/>
          <p:cNvSpPr>
            <a:spLocks noGrp="1"/>
          </p:cNvSpPr>
          <p:nvPr>
            <p:ph idx="1"/>
          </p:nvPr>
        </p:nvSpPr>
        <p:spPr/>
        <p:txBody>
          <a:bodyPr>
            <a:normAutofit/>
          </a:bodyPr>
          <a:lstStyle/>
          <a:p>
            <a:r>
              <a:rPr lang="zh-CN" altLang="en-US" dirty="0"/>
              <a:t>定理</a:t>
            </a:r>
            <a:r>
              <a:rPr lang="en-US" altLang="zh-CN" dirty="0"/>
              <a:t>:</a:t>
            </a:r>
            <a:r>
              <a:rPr lang="zh-CN" altLang="en-US" dirty="0"/>
              <a:t>一个无向图是树当且仅当在它的每对顶点之间存在唯一的简单通路</a:t>
            </a:r>
            <a:r>
              <a:rPr lang="en-US" dirty="0"/>
              <a:t>. </a:t>
            </a:r>
          </a:p>
          <a:p>
            <a:r>
              <a:rPr lang="zh-CN" altLang="en-US" dirty="0"/>
              <a:t>证</a:t>
            </a:r>
            <a:r>
              <a:rPr lang="en-US" altLang="zh-CN" dirty="0"/>
              <a:t>(</a:t>
            </a:r>
            <a:r>
              <a:rPr lang="zh-CN" altLang="en-US" dirty="0"/>
              <a:t>续</a:t>
            </a:r>
            <a:r>
              <a:rPr lang="en-US" altLang="zh-CN" dirty="0"/>
              <a:t>)</a:t>
            </a:r>
            <a:r>
              <a:rPr lang="en-US" dirty="0"/>
              <a:t>:</a:t>
            </a:r>
          </a:p>
          <a:p>
            <a:pPr lvl="1">
              <a:lnSpc>
                <a:spcPct val="110000"/>
              </a:lnSpc>
            </a:pPr>
            <a:r>
              <a:rPr lang="en-US" altLang="zh-CN" dirty="0"/>
              <a:t>(</a:t>
            </a:r>
            <a:r>
              <a:rPr lang="zh-CN" altLang="en-US" dirty="0"/>
              <a:t>树的基本定义</a:t>
            </a:r>
            <a:r>
              <a:rPr lang="en-US" altLang="zh-CN" dirty="0"/>
              <a:t>: </a:t>
            </a:r>
            <a:r>
              <a:rPr lang="zh-CN" altLang="en-US" dirty="0"/>
              <a:t>树是没有简单回路的连通无向图</a:t>
            </a:r>
            <a:r>
              <a:rPr lang="en-US" altLang="zh-CN" dirty="0"/>
              <a:t>)</a:t>
            </a:r>
            <a:r>
              <a:rPr lang="zh-CN" altLang="en-US" dirty="0"/>
              <a:t>现在假定图</a:t>
            </a:r>
            <a:r>
              <a:rPr lang="en-US" altLang="zh-CN" dirty="0"/>
              <a:t>T</a:t>
            </a:r>
            <a:r>
              <a:rPr lang="zh-CN" altLang="en-US" dirty="0"/>
              <a:t>中任何两个顶点之间存在唯一的简单通路</a:t>
            </a:r>
            <a:r>
              <a:rPr lang="en-US" altLang="zh-CN" dirty="0"/>
              <a:t>. </a:t>
            </a:r>
            <a:r>
              <a:rPr lang="zh-CN" altLang="en-US" dirty="0"/>
              <a:t>则</a:t>
            </a:r>
            <a:r>
              <a:rPr lang="en-US" altLang="zh-CN" dirty="0"/>
              <a:t>T</a:t>
            </a:r>
            <a:r>
              <a:rPr lang="zh-CN" altLang="en-US" dirty="0"/>
              <a:t>是连通的</a:t>
            </a:r>
            <a:r>
              <a:rPr lang="en-US" altLang="zh-CN" dirty="0"/>
              <a:t>, </a:t>
            </a:r>
            <a:r>
              <a:rPr lang="zh-CN" altLang="en-US" dirty="0"/>
              <a:t>因为在它的任何两个顶点之间存在通路</a:t>
            </a:r>
            <a:r>
              <a:rPr lang="en-US" altLang="zh-CN" dirty="0"/>
              <a:t>. </a:t>
            </a:r>
            <a:r>
              <a:rPr lang="zh-CN" altLang="en-US" dirty="0"/>
              <a:t>另外</a:t>
            </a:r>
            <a:r>
              <a:rPr lang="en-US" altLang="zh-CN" dirty="0"/>
              <a:t>T</a:t>
            </a:r>
            <a:r>
              <a:rPr lang="zh-CN" altLang="en-US" dirty="0"/>
              <a:t>没有简单回路</a:t>
            </a:r>
            <a:r>
              <a:rPr lang="en-US" altLang="zh-CN" dirty="0"/>
              <a:t>. </a:t>
            </a:r>
            <a:r>
              <a:rPr lang="zh-CN" altLang="en-US" dirty="0"/>
              <a:t>反证</a:t>
            </a:r>
            <a:r>
              <a:rPr lang="en-US" altLang="zh-CN" dirty="0"/>
              <a:t>:</a:t>
            </a:r>
            <a:r>
              <a:rPr lang="zh-CN" altLang="en-US" dirty="0"/>
              <a:t>假定</a:t>
            </a:r>
            <a:r>
              <a:rPr lang="en-US" altLang="zh-CN" dirty="0"/>
              <a:t>T</a:t>
            </a:r>
            <a:r>
              <a:rPr lang="zh-CN" altLang="en-US" dirty="0"/>
              <a:t>有包含顶点</a:t>
            </a:r>
            <a:r>
              <a:rPr lang="en-US" altLang="zh-CN" dirty="0"/>
              <a:t>x</a:t>
            </a:r>
            <a:r>
              <a:rPr lang="zh-CN" altLang="en-US" dirty="0"/>
              <a:t>和</a:t>
            </a:r>
            <a:r>
              <a:rPr lang="en-US" altLang="zh-CN" dirty="0"/>
              <a:t>y</a:t>
            </a:r>
            <a:r>
              <a:rPr lang="zh-CN" altLang="en-US" dirty="0"/>
              <a:t>的简单回路</a:t>
            </a:r>
            <a:r>
              <a:rPr lang="en-US" altLang="zh-CN" dirty="0"/>
              <a:t>, </a:t>
            </a:r>
            <a:r>
              <a:rPr lang="zh-CN" altLang="en-US" dirty="0"/>
              <a:t>则在</a:t>
            </a:r>
            <a:r>
              <a:rPr lang="en-US" altLang="zh-CN" dirty="0"/>
              <a:t>x</a:t>
            </a:r>
            <a:r>
              <a:rPr lang="zh-CN" altLang="en-US" dirty="0"/>
              <a:t>和</a:t>
            </a:r>
            <a:r>
              <a:rPr lang="en-US" altLang="zh-CN" dirty="0"/>
              <a:t>y</a:t>
            </a:r>
            <a:r>
              <a:rPr lang="zh-CN" altLang="en-US" dirty="0"/>
              <a:t>之间就有两条简单通路</a:t>
            </a:r>
            <a:r>
              <a:rPr lang="en-US" altLang="zh-CN" dirty="0"/>
              <a:t>, </a:t>
            </a:r>
            <a:r>
              <a:rPr lang="zh-CN" altLang="en-US" dirty="0"/>
              <a:t>因为这条简单回路包含一条从</a:t>
            </a:r>
            <a:r>
              <a:rPr lang="en-US" altLang="zh-CN" dirty="0"/>
              <a:t>x</a:t>
            </a:r>
            <a:r>
              <a:rPr lang="zh-CN" altLang="en-US" dirty="0"/>
              <a:t>到</a:t>
            </a:r>
            <a:r>
              <a:rPr lang="en-US" altLang="zh-CN" dirty="0"/>
              <a:t>y</a:t>
            </a:r>
            <a:r>
              <a:rPr lang="zh-CN" altLang="en-US" dirty="0"/>
              <a:t>的简单通路和一条从</a:t>
            </a:r>
            <a:r>
              <a:rPr lang="en-US" altLang="zh-CN" dirty="0"/>
              <a:t>y</a:t>
            </a:r>
            <a:r>
              <a:rPr lang="zh-CN" altLang="en-US" dirty="0"/>
              <a:t>到</a:t>
            </a:r>
            <a:r>
              <a:rPr lang="en-US" altLang="zh-CN" dirty="0"/>
              <a:t>x</a:t>
            </a:r>
            <a:r>
              <a:rPr lang="zh-CN" altLang="en-US" dirty="0"/>
              <a:t>的简单通路</a:t>
            </a:r>
            <a:r>
              <a:rPr lang="en-US" altLang="zh-CN" dirty="0"/>
              <a:t>. </a:t>
            </a:r>
            <a:r>
              <a:rPr lang="zh-CN" altLang="en-US" dirty="0"/>
              <a:t>因此</a:t>
            </a:r>
            <a:r>
              <a:rPr lang="en-US" altLang="zh-CN" dirty="0"/>
              <a:t>, </a:t>
            </a:r>
            <a:r>
              <a:rPr lang="zh-CN" altLang="en-US" dirty="0"/>
              <a:t>在任何两个顶点之间存在唯一的简单通路的图是树</a:t>
            </a:r>
            <a:r>
              <a:rPr lang="en-US" altLang="zh-CN" dirty="0"/>
              <a:t>.</a:t>
            </a:r>
            <a:endParaRPr lang="en-US" sz="1800" dirty="0"/>
          </a:p>
        </p:txBody>
      </p:sp>
      <p:sp>
        <p:nvSpPr>
          <p:cNvPr id="9" name="日期占位符 8"/>
          <p:cNvSpPr>
            <a:spLocks noGrp="1"/>
          </p:cNvSpPr>
          <p:nvPr>
            <p:ph type="dt" sz="half" idx="10"/>
          </p:nvPr>
        </p:nvSpPr>
        <p:spPr/>
        <p:txBody>
          <a:bodyPr/>
          <a:lstStyle/>
          <a:p>
            <a:fld id="{524B961D-823C-499F-BAC7-299253A7B61C}" type="datetime1">
              <a:rPr lang="zh-CN" altLang="en-US" smtClean="0"/>
              <a:t>2025/4/15</a:t>
            </a:fld>
            <a:endParaRPr lang="zh-CN" altLang="en-US" dirty="0"/>
          </a:p>
        </p:txBody>
      </p:sp>
      <p:sp>
        <p:nvSpPr>
          <p:cNvPr id="10" name="页脚占位符 9"/>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1" name="灯片编号占位符 10"/>
          <p:cNvSpPr>
            <a:spLocks noGrp="1"/>
          </p:cNvSpPr>
          <p:nvPr>
            <p:ph type="sldNum" sz="quarter" idx="12"/>
          </p:nvPr>
        </p:nvSpPr>
        <p:spPr/>
        <p:txBody>
          <a:bodyPr/>
          <a:lstStyle/>
          <a:p>
            <a:fld id="{67913A8A-9EFB-4B5F-9CCB-3D21173FAA85}" type="slidenum">
              <a:rPr lang="zh-CN" altLang="en-US" smtClean="0"/>
              <a:pPr/>
              <a:t>8</a:t>
            </a:fld>
            <a:endParaRPr lang="zh-CN" altLang="en-US" dirty="0"/>
          </a:p>
        </p:txBody>
      </p:sp>
    </p:spTree>
    <p:extLst>
      <p:ext uri="{BB962C8B-B14F-4D97-AF65-F5344CB8AC3E}">
        <p14:creationId xmlns:p14="http://schemas.microsoft.com/office/powerpoint/2010/main" val="20503002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275306" y="2938621"/>
            <a:ext cx="11277599" cy="495295"/>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有根树</a:t>
            </a:r>
            <a:endParaRPr lang="en-US" dirty="0"/>
          </a:p>
        </p:txBody>
      </p:sp>
      <p:sp>
        <p:nvSpPr>
          <p:cNvPr id="3" name="Content Placeholder 2"/>
          <p:cNvSpPr>
            <a:spLocks noGrp="1"/>
          </p:cNvSpPr>
          <p:nvPr>
            <p:ph idx="1"/>
          </p:nvPr>
        </p:nvSpPr>
        <p:spPr/>
        <p:txBody>
          <a:bodyPr/>
          <a:lstStyle/>
          <a:p>
            <a:r>
              <a:rPr lang="zh-CN" altLang="en-US" dirty="0"/>
              <a:t>在树的应用中</a:t>
            </a:r>
            <a:r>
              <a:rPr lang="en-US" altLang="zh-CN" dirty="0"/>
              <a:t>, </a:t>
            </a:r>
            <a:r>
              <a:rPr lang="zh-CN" altLang="en-US" dirty="0"/>
              <a:t>指定树的一个顶点作为根</a:t>
            </a:r>
            <a:r>
              <a:rPr lang="en-US" altLang="zh-CN" dirty="0"/>
              <a:t>. </a:t>
            </a:r>
            <a:r>
              <a:rPr lang="zh-CN" altLang="en-US" dirty="0"/>
              <a:t>一旦规定了根</a:t>
            </a:r>
            <a:r>
              <a:rPr lang="en-US" altLang="zh-CN" dirty="0"/>
              <a:t>, </a:t>
            </a:r>
            <a:r>
              <a:rPr lang="zh-CN" altLang="en-US" dirty="0"/>
              <a:t>就可以给每条边指定方向</a:t>
            </a:r>
            <a:r>
              <a:rPr lang="en-US" altLang="zh-CN" dirty="0"/>
              <a:t>. </a:t>
            </a:r>
            <a:r>
              <a:rPr lang="zh-CN" altLang="en-US" dirty="0"/>
              <a:t>因为根据定理从根到图中每个顶点都存在唯一通路</a:t>
            </a:r>
            <a:r>
              <a:rPr lang="en-US" altLang="zh-CN" dirty="0"/>
              <a:t>, </a:t>
            </a:r>
            <a:r>
              <a:rPr lang="zh-CN" altLang="en-US" dirty="0"/>
              <a:t>所以指定每条边是离开根的方向</a:t>
            </a:r>
            <a:r>
              <a:rPr lang="en-US" altLang="zh-CN" dirty="0"/>
              <a:t>. </a:t>
            </a:r>
            <a:r>
              <a:rPr lang="zh-CN" altLang="en-US" dirty="0"/>
              <a:t>因此</a:t>
            </a:r>
            <a:r>
              <a:rPr lang="en-US" altLang="zh-CN" dirty="0"/>
              <a:t>, </a:t>
            </a:r>
            <a:r>
              <a:rPr lang="zh-CN" altLang="en-US" dirty="0"/>
              <a:t>树与它的根一起产生了一个有向图</a:t>
            </a:r>
            <a:r>
              <a:rPr lang="en-US" altLang="zh-CN" dirty="0"/>
              <a:t>, </a:t>
            </a:r>
            <a:r>
              <a:rPr lang="zh-CN" altLang="en-US" dirty="0"/>
              <a:t>称为有根树</a:t>
            </a:r>
            <a:r>
              <a:rPr lang="en-US" altLang="zh-CN" dirty="0"/>
              <a:t>.</a:t>
            </a:r>
          </a:p>
          <a:p>
            <a:r>
              <a:rPr lang="zh-CN" altLang="en-US" dirty="0"/>
              <a:t>定义</a:t>
            </a:r>
            <a:r>
              <a:rPr lang="en-US" altLang="zh-CN" dirty="0"/>
              <a:t>:</a:t>
            </a:r>
            <a:r>
              <a:rPr lang="zh-CN" altLang="en-US" b="1" dirty="0">
                <a:solidFill>
                  <a:srgbClr val="C00000"/>
                </a:solidFill>
              </a:rPr>
              <a:t>有根树</a:t>
            </a:r>
            <a:r>
              <a:rPr lang="zh-CN" altLang="en-US" dirty="0"/>
              <a:t>是指定一个顶点作为根并且每条边的方向都离开根的树</a:t>
            </a:r>
            <a:r>
              <a:rPr lang="en-US" altLang="zh-CN" dirty="0"/>
              <a:t>.</a:t>
            </a:r>
          </a:p>
        </p:txBody>
      </p:sp>
      <p:sp>
        <p:nvSpPr>
          <p:cNvPr id="9" name="日期占位符 8"/>
          <p:cNvSpPr>
            <a:spLocks noGrp="1"/>
          </p:cNvSpPr>
          <p:nvPr>
            <p:ph type="dt" sz="half" idx="10"/>
          </p:nvPr>
        </p:nvSpPr>
        <p:spPr/>
        <p:txBody>
          <a:bodyPr/>
          <a:lstStyle/>
          <a:p>
            <a:fld id="{5CC0A0B1-619E-428A-85AB-EDD7E28F07E0}" type="datetime1">
              <a:rPr lang="zh-CN" altLang="en-US" smtClean="0"/>
              <a:t>2025/4/15</a:t>
            </a:fld>
            <a:endParaRPr lang="zh-CN" altLang="en-US" dirty="0"/>
          </a:p>
        </p:txBody>
      </p:sp>
      <p:sp>
        <p:nvSpPr>
          <p:cNvPr id="10" name="页脚占位符 9"/>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1" name="灯片编号占位符 10"/>
          <p:cNvSpPr>
            <a:spLocks noGrp="1"/>
          </p:cNvSpPr>
          <p:nvPr>
            <p:ph type="sldNum" sz="quarter" idx="12"/>
          </p:nvPr>
        </p:nvSpPr>
        <p:spPr/>
        <p:txBody>
          <a:bodyPr/>
          <a:lstStyle/>
          <a:p>
            <a:fld id="{67913A8A-9EFB-4B5F-9CCB-3D21173FAA85}" type="slidenum">
              <a:rPr lang="zh-CN" altLang="en-US" smtClean="0"/>
              <a:pPr/>
              <a:t>9</a:t>
            </a:fld>
            <a:endParaRPr lang="zh-CN" altLang="en-US" dirty="0"/>
          </a:p>
        </p:txBody>
      </p:sp>
    </p:spTree>
    <p:extLst>
      <p:ext uri="{BB962C8B-B14F-4D97-AF65-F5344CB8AC3E}">
        <p14:creationId xmlns:p14="http://schemas.microsoft.com/office/powerpoint/2010/main" val="5399601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有根树</a:t>
            </a:r>
            <a:endParaRPr lang="en-US" dirty="0"/>
          </a:p>
        </p:txBody>
      </p:sp>
      <p:sp>
        <p:nvSpPr>
          <p:cNvPr id="3" name="Content Placeholder 2"/>
          <p:cNvSpPr>
            <a:spLocks noGrp="1"/>
          </p:cNvSpPr>
          <p:nvPr>
            <p:ph idx="1"/>
          </p:nvPr>
        </p:nvSpPr>
        <p:spPr/>
        <p:txBody>
          <a:bodyPr/>
          <a:lstStyle/>
          <a:p>
            <a:r>
              <a:rPr lang="zh-CN" altLang="en-US" dirty="0"/>
              <a:t>一个无根树可以通过选定不同的根而转换为不同的有根树</a:t>
            </a:r>
            <a:r>
              <a:rPr lang="en-US" altLang="zh-CN" dirty="0"/>
              <a:t>.</a:t>
            </a:r>
          </a:p>
          <a:p>
            <a:r>
              <a:rPr lang="zh-CN" altLang="en-US" dirty="0"/>
              <a:t>例</a:t>
            </a:r>
            <a:r>
              <a:rPr lang="en-US" altLang="zh-CN" dirty="0"/>
              <a:t>: </a:t>
            </a:r>
            <a:r>
              <a:rPr lang="zh-CN" altLang="en-US" dirty="0"/>
              <a:t>如图所示的树</a:t>
            </a:r>
            <a:r>
              <a:rPr lang="en-US" altLang="zh-CN" dirty="0"/>
              <a:t>T, </a:t>
            </a:r>
            <a:r>
              <a:rPr lang="zh-CN" altLang="en-US" dirty="0"/>
              <a:t>指定顶点</a:t>
            </a:r>
            <a:r>
              <a:rPr lang="en-US" altLang="zh-CN" dirty="0"/>
              <a:t>a</a:t>
            </a:r>
            <a:r>
              <a:rPr lang="zh-CN" altLang="en-US" dirty="0"/>
              <a:t>可以形成有根树</a:t>
            </a:r>
            <a:r>
              <a:rPr lang="en-US" altLang="zh-CN" dirty="0"/>
              <a:t>, </a:t>
            </a:r>
            <a:r>
              <a:rPr lang="zh-CN" altLang="en-US" dirty="0"/>
              <a:t>也可以指定顶点</a:t>
            </a:r>
            <a:r>
              <a:rPr lang="en-US" altLang="zh-CN" dirty="0"/>
              <a:t>c</a:t>
            </a:r>
            <a:r>
              <a:rPr lang="zh-CN" altLang="en-US" dirty="0"/>
              <a:t>形成有根树</a:t>
            </a:r>
            <a:endParaRPr lang="en-US" altLang="zh-CN" dirty="0"/>
          </a:p>
        </p:txBody>
      </p:sp>
      <p:pic>
        <p:nvPicPr>
          <p:cNvPr id="4" name="Picture 3"/>
          <p:cNvPicPr>
            <a:picLocks noChangeAspect="1"/>
          </p:cNvPicPr>
          <p:nvPr/>
        </p:nvPicPr>
        <p:blipFill rotWithShape="1">
          <a:blip r:embed="rId2" cstate="print">
            <a:extLst>
              <a:ext uri="{28A0092B-C50C-407E-A947-70E740481C1C}">
                <a14:useLocalDpi xmlns:a14="http://schemas.microsoft.com/office/drawing/2010/main" val="0"/>
              </a:ext>
            </a:extLst>
          </a:blip>
          <a:srcRect t="8572"/>
          <a:stretch/>
        </p:blipFill>
        <p:spPr>
          <a:xfrm>
            <a:off x="1905000" y="2664720"/>
            <a:ext cx="8077200" cy="2476103"/>
          </a:xfrm>
          <a:prstGeom prst="rect">
            <a:avLst/>
          </a:prstGeom>
        </p:spPr>
      </p:pic>
      <p:sp>
        <p:nvSpPr>
          <p:cNvPr id="9" name="日期占位符 8"/>
          <p:cNvSpPr>
            <a:spLocks noGrp="1"/>
          </p:cNvSpPr>
          <p:nvPr>
            <p:ph type="dt" sz="half" idx="10"/>
          </p:nvPr>
        </p:nvSpPr>
        <p:spPr/>
        <p:txBody>
          <a:bodyPr/>
          <a:lstStyle/>
          <a:p>
            <a:fld id="{1B67D163-BAB0-4638-89E2-7C9415F2D25B}" type="datetime1">
              <a:rPr lang="zh-CN" altLang="en-US" smtClean="0"/>
              <a:t>2025/4/15</a:t>
            </a:fld>
            <a:endParaRPr lang="zh-CN" altLang="en-US" dirty="0"/>
          </a:p>
        </p:txBody>
      </p:sp>
      <p:sp>
        <p:nvSpPr>
          <p:cNvPr id="10" name="页脚占位符 9"/>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1" name="灯片编号占位符 10"/>
          <p:cNvSpPr>
            <a:spLocks noGrp="1"/>
          </p:cNvSpPr>
          <p:nvPr>
            <p:ph type="sldNum" sz="quarter" idx="12"/>
          </p:nvPr>
        </p:nvSpPr>
        <p:spPr/>
        <p:txBody>
          <a:bodyPr/>
          <a:lstStyle/>
          <a:p>
            <a:fld id="{67913A8A-9EFB-4B5F-9CCB-3D21173FAA85}" type="slidenum">
              <a:rPr lang="zh-CN" altLang="en-US" smtClean="0"/>
              <a:pPr/>
              <a:t>10</a:t>
            </a:fld>
            <a:endParaRPr lang="zh-CN" altLang="en-US" dirty="0"/>
          </a:p>
        </p:txBody>
      </p:sp>
      <p:sp>
        <p:nvSpPr>
          <p:cNvPr id="5" name="文本框 4"/>
          <p:cNvSpPr txBox="1"/>
          <p:nvPr/>
        </p:nvSpPr>
        <p:spPr>
          <a:xfrm>
            <a:off x="2819400" y="5295490"/>
            <a:ext cx="668773" cy="461665"/>
          </a:xfrm>
          <a:prstGeom prst="rect">
            <a:avLst/>
          </a:prstGeom>
          <a:noFill/>
        </p:spPr>
        <p:txBody>
          <a:bodyPr wrap="none" rtlCol="0">
            <a:spAutoFit/>
          </a:bodyPr>
          <a:lstStyle/>
          <a:p>
            <a:r>
              <a:rPr lang="zh-CN" altLang="en-US" sz="2400" dirty="0">
                <a:latin typeface="微软雅黑" panose="020B0503020204020204" pitchFamily="34" charset="-122"/>
                <a:ea typeface="微软雅黑" panose="020B0503020204020204" pitchFamily="34" charset="-122"/>
              </a:rPr>
              <a:t>树</a:t>
            </a:r>
            <a:r>
              <a:rPr lang="en-US" altLang="zh-CN" sz="2400" dirty="0">
                <a:latin typeface="微软雅黑" panose="020B0503020204020204" pitchFamily="34" charset="-122"/>
                <a:ea typeface="微软雅黑" panose="020B0503020204020204" pitchFamily="34" charset="-122"/>
              </a:rPr>
              <a:t>T</a:t>
            </a:r>
            <a:endParaRPr lang="zh-CN" altLang="en-US" sz="2400" dirty="0">
              <a:latin typeface="微软雅黑" panose="020B0503020204020204" pitchFamily="34" charset="-122"/>
              <a:ea typeface="微软雅黑" panose="020B0503020204020204" pitchFamily="34" charset="-122"/>
            </a:endParaRPr>
          </a:p>
        </p:txBody>
      </p:sp>
      <p:sp>
        <p:nvSpPr>
          <p:cNvPr id="12" name="文本框 11"/>
          <p:cNvSpPr txBox="1"/>
          <p:nvPr/>
        </p:nvSpPr>
        <p:spPr>
          <a:xfrm>
            <a:off x="4834234" y="5213898"/>
            <a:ext cx="2509020" cy="461665"/>
          </a:xfrm>
          <a:prstGeom prst="rect">
            <a:avLst/>
          </a:prstGeom>
          <a:noFill/>
        </p:spPr>
        <p:txBody>
          <a:bodyPr wrap="none" rtlCol="0">
            <a:spAutoFit/>
          </a:bodyPr>
          <a:lstStyle/>
          <a:p>
            <a:r>
              <a:rPr lang="zh-CN" altLang="en-US" sz="2400" dirty="0">
                <a:latin typeface="微软雅黑" panose="020B0503020204020204" pitchFamily="34" charset="-122"/>
                <a:ea typeface="微软雅黑" panose="020B0503020204020204" pitchFamily="34" charset="-122"/>
              </a:rPr>
              <a:t>以</a:t>
            </a:r>
            <a:r>
              <a:rPr lang="en-US" altLang="zh-CN" sz="2400" dirty="0">
                <a:latin typeface="微软雅黑" panose="020B0503020204020204" pitchFamily="34" charset="-122"/>
                <a:ea typeface="微软雅黑" panose="020B0503020204020204" pitchFamily="34" charset="-122"/>
              </a:rPr>
              <a:t>a</a:t>
            </a:r>
            <a:r>
              <a:rPr lang="zh-CN" altLang="en-US" sz="2400" dirty="0">
                <a:latin typeface="微软雅黑" panose="020B0503020204020204" pitchFamily="34" charset="-122"/>
                <a:ea typeface="微软雅黑" panose="020B0503020204020204" pitchFamily="34" charset="-122"/>
              </a:rPr>
              <a:t>为根的有根树</a:t>
            </a:r>
          </a:p>
        </p:txBody>
      </p:sp>
      <p:sp>
        <p:nvSpPr>
          <p:cNvPr id="13" name="文本框 12"/>
          <p:cNvSpPr txBox="1"/>
          <p:nvPr/>
        </p:nvSpPr>
        <p:spPr>
          <a:xfrm>
            <a:off x="8077200" y="5213898"/>
            <a:ext cx="2509020" cy="461665"/>
          </a:xfrm>
          <a:prstGeom prst="rect">
            <a:avLst/>
          </a:prstGeom>
          <a:noFill/>
        </p:spPr>
        <p:txBody>
          <a:bodyPr wrap="none" rtlCol="0">
            <a:spAutoFit/>
          </a:bodyPr>
          <a:lstStyle/>
          <a:p>
            <a:r>
              <a:rPr lang="zh-CN" altLang="en-US" sz="2400" dirty="0">
                <a:latin typeface="微软雅黑" panose="020B0503020204020204" pitchFamily="34" charset="-122"/>
                <a:ea typeface="微软雅黑" panose="020B0503020204020204" pitchFamily="34" charset="-122"/>
              </a:rPr>
              <a:t>以</a:t>
            </a:r>
            <a:r>
              <a:rPr lang="en-US" altLang="zh-CN" sz="2400" dirty="0">
                <a:latin typeface="微软雅黑" panose="020B0503020204020204" pitchFamily="34" charset="-122"/>
                <a:ea typeface="微软雅黑" panose="020B0503020204020204" pitchFamily="34" charset="-122"/>
              </a:rPr>
              <a:t>c</a:t>
            </a:r>
            <a:r>
              <a:rPr lang="zh-CN" altLang="en-US" sz="2400" dirty="0">
                <a:latin typeface="微软雅黑" panose="020B0503020204020204" pitchFamily="34" charset="-122"/>
                <a:ea typeface="微软雅黑" panose="020B0503020204020204" pitchFamily="34" charset="-122"/>
              </a:rPr>
              <a:t>为根的有根树</a:t>
            </a:r>
          </a:p>
        </p:txBody>
      </p:sp>
    </p:spTree>
    <p:extLst>
      <p:ext uri="{BB962C8B-B14F-4D97-AF65-F5344CB8AC3E}">
        <p14:creationId xmlns:p14="http://schemas.microsoft.com/office/powerpoint/2010/main" val="35122050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有根树</a:t>
            </a:r>
            <a:endParaRPr lang="en-US" dirty="0"/>
          </a:p>
        </p:txBody>
      </p:sp>
      <p:sp>
        <p:nvSpPr>
          <p:cNvPr id="3" name="Content Placeholder 2"/>
          <p:cNvSpPr>
            <a:spLocks noGrp="1"/>
          </p:cNvSpPr>
          <p:nvPr>
            <p:ph idx="1"/>
          </p:nvPr>
        </p:nvSpPr>
        <p:spPr/>
        <p:txBody>
          <a:bodyPr>
            <a:normAutofit/>
          </a:bodyPr>
          <a:lstStyle/>
          <a:p>
            <a:r>
              <a:rPr lang="zh-CN" altLang="en-US" dirty="0"/>
              <a:t>树的术语来源于植物学和族谱学</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en-US" dirty="0"/>
              <a:t>设</a:t>
            </a:r>
            <a:r>
              <a:rPr lang="en-US" altLang="zh-CN" dirty="0"/>
              <a:t>T</a:t>
            </a:r>
            <a:r>
              <a:rPr lang="zh-CN" altLang="en-US" dirty="0"/>
              <a:t>是有根树</a:t>
            </a:r>
            <a:r>
              <a:rPr lang="en-US" altLang="zh-CN" dirty="0"/>
              <a:t>, </a:t>
            </a:r>
            <a:r>
              <a:rPr lang="zh-CN" altLang="en-US" dirty="0"/>
              <a:t>若</a:t>
            </a:r>
            <a:r>
              <a:rPr lang="en-US" altLang="zh-CN" dirty="0"/>
              <a:t>v</a:t>
            </a:r>
            <a:r>
              <a:rPr lang="zh-CN" altLang="en-US" dirty="0"/>
              <a:t>是</a:t>
            </a:r>
            <a:r>
              <a:rPr lang="en-US" altLang="zh-CN" dirty="0"/>
              <a:t>T</a:t>
            </a:r>
            <a:r>
              <a:rPr lang="zh-CN" altLang="en-US" dirty="0"/>
              <a:t>的非根顶点</a:t>
            </a:r>
            <a:r>
              <a:rPr lang="en-US" altLang="zh-CN" dirty="0"/>
              <a:t>, </a:t>
            </a:r>
            <a:r>
              <a:rPr lang="zh-CN" altLang="en-US" dirty="0"/>
              <a:t>则</a:t>
            </a:r>
            <a:r>
              <a:rPr lang="en-US" altLang="zh-CN" dirty="0"/>
              <a:t>v</a:t>
            </a:r>
            <a:r>
              <a:rPr lang="zh-CN" altLang="en-US" dirty="0"/>
              <a:t>的</a:t>
            </a:r>
            <a:r>
              <a:rPr lang="zh-CN" altLang="en-US" b="1" dirty="0">
                <a:solidFill>
                  <a:srgbClr val="C00000"/>
                </a:solidFill>
              </a:rPr>
              <a:t>父母</a:t>
            </a:r>
            <a:r>
              <a:rPr lang="zh-CN" altLang="en-US" dirty="0"/>
              <a:t>是从</a:t>
            </a:r>
            <a:r>
              <a:rPr lang="en-US" altLang="zh-CN" dirty="0"/>
              <a:t>u</a:t>
            </a:r>
            <a:r>
              <a:rPr lang="zh-CN" altLang="en-US" dirty="0"/>
              <a:t>到</a:t>
            </a:r>
            <a:r>
              <a:rPr lang="en-US" altLang="zh-CN" dirty="0"/>
              <a:t>v</a:t>
            </a:r>
            <a:r>
              <a:rPr lang="zh-CN" altLang="en-US" dirty="0"/>
              <a:t>存在有向边的唯一顶点</a:t>
            </a:r>
            <a:r>
              <a:rPr lang="en-US" altLang="zh-CN" dirty="0"/>
              <a:t>u. </a:t>
            </a:r>
            <a:r>
              <a:rPr lang="zh-CN" altLang="en-US" dirty="0"/>
              <a:t>当</a:t>
            </a:r>
            <a:r>
              <a:rPr lang="en-US" altLang="zh-CN" dirty="0"/>
              <a:t>u</a:t>
            </a:r>
            <a:r>
              <a:rPr lang="zh-CN" altLang="en-US" dirty="0"/>
              <a:t>是</a:t>
            </a:r>
            <a:r>
              <a:rPr lang="en-US" altLang="zh-CN" dirty="0"/>
              <a:t>v</a:t>
            </a:r>
            <a:r>
              <a:rPr lang="zh-CN" altLang="en-US" dirty="0"/>
              <a:t>的父母时</a:t>
            </a:r>
            <a:r>
              <a:rPr lang="en-US" altLang="zh-CN" dirty="0"/>
              <a:t>, v</a:t>
            </a:r>
            <a:r>
              <a:rPr lang="zh-CN" altLang="en-US" dirty="0"/>
              <a:t>称为</a:t>
            </a:r>
            <a:r>
              <a:rPr lang="en-US" altLang="zh-CN" dirty="0"/>
              <a:t>u</a:t>
            </a:r>
            <a:r>
              <a:rPr lang="zh-CN" altLang="en-US" dirty="0"/>
              <a:t>的</a:t>
            </a:r>
            <a:r>
              <a:rPr lang="zh-CN" altLang="en-US" b="1" dirty="0">
                <a:solidFill>
                  <a:srgbClr val="C00000"/>
                </a:solidFill>
              </a:rPr>
              <a:t>孩子</a:t>
            </a:r>
            <a:r>
              <a:rPr lang="en-US" altLang="zh-CN" dirty="0"/>
              <a:t>. </a:t>
            </a:r>
            <a:r>
              <a:rPr lang="zh-CN" altLang="en-US" dirty="0"/>
              <a:t>具有相同父母的顶点称为</a:t>
            </a:r>
            <a:r>
              <a:rPr lang="zh-CN" altLang="en-US" b="1" dirty="0">
                <a:solidFill>
                  <a:srgbClr val="C00000"/>
                </a:solidFill>
              </a:rPr>
              <a:t>兄弟</a:t>
            </a:r>
            <a:r>
              <a:rPr lang="en-US" altLang="zh-CN" dirty="0"/>
              <a:t>. </a:t>
            </a:r>
            <a:r>
              <a:rPr lang="zh-CN" altLang="en-US" dirty="0"/>
              <a:t>树的顶点若没有孩子则称为</a:t>
            </a:r>
            <a:r>
              <a:rPr lang="zh-CN" altLang="en-US" b="1" dirty="0">
                <a:solidFill>
                  <a:srgbClr val="C00000"/>
                </a:solidFill>
              </a:rPr>
              <a:t>树叶</a:t>
            </a:r>
            <a:r>
              <a:rPr lang="en-US" altLang="zh-CN" dirty="0"/>
              <a:t>. </a:t>
            </a:r>
            <a:r>
              <a:rPr lang="zh-CN" altLang="en-US" dirty="0"/>
              <a:t>有孩子的顶点称为</a:t>
            </a:r>
            <a:r>
              <a:rPr lang="zh-CN" altLang="en-US" b="1" dirty="0">
                <a:solidFill>
                  <a:srgbClr val="C00000"/>
                </a:solidFill>
              </a:rPr>
              <a:t>内点</a:t>
            </a:r>
            <a:r>
              <a:rPr lang="en-US" altLang="zh-CN" dirty="0"/>
              <a:t>.</a:t>
            </a:r>
            <a:endParaRPr lang="en-US" dirty="0"/>
          </a:p>
        </p:txBody>
      </p:sp>
      <p:sp>
        <p:nvSpPr>
          <p:cNvPr id="9" name="日期占位符 8"/>
          <p:cNvSpPr>
            <a:spLocks noGrp="1"/>
          </p:cNvSpPr>
          <p:nvPr>
            <p:ph type="dt" sz="half" idx="10"/>
          </p:nvPr>
        </p:nvSpPr>
        <p:spPr/>
        <p:txBody>
          <a:bodyPr/>
          <a:lstStyle/>
          <a:p>
            <a:fld id="{21DCFBE5-CF97-49FB-9F1A-72B65AE7146E}" type="datetime1">
              <a:rPr lang="zh-CN" altLang="en-US" smtClean="0"/>
              <a:t>2025/4/15</a:t>
            </a:fld>
            <a:endParaRPr lang="zh-CN" altLang="en-US" dirty="0"/>
          </a:p>
        </p:txBody>
      </p:sp>
      <p:sp>
        <p:nvSpPr>
          <p:cNvPr id="10" name="页脚占位符 9"/>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1" name="灯片编号占位符 10"/>
          <p:cNvSpPr>
            <a:spLocks noGrp="1"/>
          </p:cNvSpPr>
          <p:nvPr>
            <p:ph type="sldNum" sz="quarter" idx="12"/>
          </p:nvPr>
        </p:nvSpPr>
        <p:spPr/>
        <p:txBody>
          <a:bodyPr/>
          <a:lstStyle/>
          <a:p>
            <a:fld id="{67913A8A-9EFB-4B5F-9CCB-3D21173FAA85}" type="slidenum">
              <a:rPr lang="zh-CN" altLang="en-US" smtClean="0"/>
              <a:pPr/>
              <a:t>11</a:t>
            </a:fld>
            <a:endParaRPr lang="zh-CN" altLang="en-US" dirty="0"/>
          </a:p>
        </p:txBody>
      </p:sp>
      <p:pic>
        <p:nvPicPr>
          <p:cNvPr id="7" name="图片 6"/>
          <p:cNvPicPr>
            <a:picLocks noChangeAspect="1"/>
          </p:cNvPicPr>
          <p:nvPr/>
        </p:nvPicPr>
        <p:blipFill>
          <a:blip r:embed="rId2"/>
          <a:stretch>
            <a:fillRect/>
          </a:stretch>
        </p:blipFill>
        <p:spPr>
          <a:xfrm>
            <a:off x="2362200" y="1905000"/>
            <a:ext cx="7975600" cy="2305050"/>
          </a:xfrm>
          <a:prstGeom prst="rect">
            <a:avLst/>
          </a:prstGeom>
        </p:spPr>
      </p:pic>
    </p:spTree>
    <p:extLst>
      <p:ext uri="{BB962C8B-B14F-4D97-AF65-F5344CB8AC3E}">
        <p14:creationId xmlns:p14="http://schemas.microsoft.com/office/powerpoint/2010/main" val="37048925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有根树</a:t>
            </a:r>
            <a:endParaRPr lang="en-US" dirty="0"/>
          </a:p>
        </p:txBody>
      </p:sp>
      <p:sp>
        <p:nvSpPr>
          <p:cNvPr id="3" name="Content Placeholder 2"/>
          <p:cNvSpPr>
            <a:spLocks noGrp="1"/>
          </p:cNvSpPr>
          <p:nvPr>
            <p:ph idx="1"/>
          </p:nvPr>
        </p:nvSpPr>
        <p:spPr/>
        <p:txBody>
          <a:bodyPr>
            <a:normAutofit/>
          </a:bodyPr>
          <a:lstStyle/>
          <a:p>
            <a:r>
              <a:rPr lang="zh-CN" altLang="en-US" dirty="0"/>
              <a:t>非根顶点的</a:t>
            </a:r>
            <a:r>
              <a:rPr lang="zh-CN" altLang="en-US" b="1" dirty="0">
                <a:solidFill>
                  <a:srgbClr val="C00000"/>
                </a:solidFill>
              </a:rPr>
              <a:t>祖先</a:t>
            </a:r>
            <a:r>
              <a:rPr lang="zh-CN" altLang="en-US" dirty="0"/>
              <a:t>是从根到该顶点通路上的顶点</a:t>
            </a:r>
            <a:r>
              <a:rPr lang="en-US" altLang="zh-CN" dirty="0"/>
              <a:t>, </a:t>
            </a:r>
            <a:r>
              <a:rPr lang="zh-CN" altLang="en-US" dirty="0"/>
              <a:t>不包括该顶点自身但包括根</a:t>
            </a:r>
            <a:r>
              <a:rPr lang="en-US" altLang="zh-CN" dirty="0"/>
              <a:t>(</a:t>
            </a:r>
            <a:r>
              <a:rPr lang="zh-CN" altLang="en-US" dirty="0"/>
              <a:t>即该顶点的父母</a:t>
            </a:r>
            <a:r>
              <a:rPr lang="en-US" altLang="zh-CN" dirty="0"/>
              <a:t>, </a:t>
            </a:r>
            <a:r>
              <a:rPr lang="zh-CN" altLang="en-US" dirty="0"/>
              <a:t>该顶点的父母的父母等等</a:t>
            </a:r>
            <a:r>
              <a:rPr lang="en-US" altLang="zh-CN" dirty="0"/>
              <a:t>, </a:t>
            </a:r>
            <a:r>
              <a:rPr lang="zh-CN" altLang="en-US" dirty="0"/>
              <a:t>直到根</a:t>
            </a:r>
            <a:r>
              <a:rPr lang="en-US" altLang="zh-CN" dirty="0"/>
              <a:t>). </a:t>
            </a:r>
            <a:r>
              <a:rPr lang="zh-CN" altLang="en-US" dirty="0"/>
              <a:t>顶点</a:t>
            </a:r>
            <a:r>
              <a:rPr lang="en-US" altLang="zh-CN" dirty="0"/>
              <a:t>v</a:t>
            </a:r>
            <a:r>
              <a:rPr lang="zh-CN" altLang="en-US" dirty="0"/>
              <a:t>的</a:t>
            </a:r>
            <a:r>
              <a:rPr lang="zh-CN" altLang="en-US" b="1" dirty="0">
                <a:solidFill>
                  <a:srgbClr val="C00000"/>
                </a:solidFill>
              </a:rPr>
              <a:t>后代</a:t>
            </a:r>
            <a:r>
              <a:rPr lang="zh-CN" altLang="en-US" dirty="0"/>
              <a:t>是以</a:t>
            </a:r>
            <a:r>
              <a:rPr lang="en-US" altLang="zh-CN" dirty="0"/>
              <a:t>v</a:t>
            </a:r>
            <a:r>
              <a:rPr lang="zh-CN" altLang="en-US" dirty="0"/>
              <a:t>作为祖先的顶点</a:t>
            </a:r>
            <a:r>
              <a:rPr lang="en-US" altLang="zh-CN" dirty="0"/>
              <a:t>.</a:t>
            </a:r>
          </a:p>
          <a:p>
            <a:r>
              <a:rPr lang="zh-CN" altLang="en-US" dirty="0"/>
              <a:t>若</a:t>
            </a:r>
            <a:r>
              <a:rPr lang="en-US" altLang="zh-CN" dirty="0"/>
              <a:t>a</a:t>
            </a:r>
            <a:r>
              <a:rPr lang="zh-CN" altLang="en-US" dirty="0"/>
              <a:t>是树中的顶点</a:t>
            </a:r>
            <a:r>
              <a:rPr lang="en-US" altLang="zh-CN" dirty="0"/>
              <a:t>, </a:t>
            </a:r>
            <a:r>
              <a:rPr lang="zh-CN" altLang="en-US" dirty="0"/>
              <a:t>则以</a:t>
            </a:r>
            <a:r>
              <a:rPr lang="en-US" altLang="zh-CN" dirty="0"/>
              <a:t>a</a:t>
            </a:r>
            <a:r>
              <a:rPr lang="zh-CN" altLang="en-US" dirty="0"/>
              <a:t>为根的</a:t>
            </a:r>
            <a:r>
              <a:rPr lang="zh-CN" altLang="en-US" b="1" dirty="0">
                <a:solidFill>
                  <a:srgbClr val="C00000"/>
                </a:solidFill>
              </a:rPr>
              <a:t>子树</a:t>
            </a:r>
            <a:r>
              <a:rPr lang="zh-CN" altLang="en-US" dirty="0"/>
              <a:t>是由</a:t>
            </a:r>
            <a:r>
              <a:rPr lang="en-US" altLang="zh-CN" dirty="0"/>
              <a:t>a</a:t>
            </a:r>
            <a:r>
              <a:rPr lang="zh-CN" altLang="en-US" dirty="0"/>
              <a:t>和</a:t>
            </a:r>
            <a:r>
              <a:rPr lang="en-US" altLang="zh-CN" dirty="0"/>
              <a:t>a</a:t>
            </a:r>
            <a:r>
              <a:rPr lang="zh-CN" altLang="en-US" dirty="0"/>
              <a:t>的后代以及这些顶点所关联的边所组成的该树的子图</a:t>
            </a:r>
            <a:r>
              <a:rPr lang="en-US" altLang="zh-CN" dirty="0"/>
              <a:t>.</a:t>
            </a:r>
          </a:p>
        </p:txBody>
      </p:sp>
      <p:sp>
        <p:nvSpPr>
          <p:cNvPr id="9" name="日期占位符 8"/>
          <p:cNvSpPr>
            <a:spLocks noGrp="1"/>
          </p:cNvSpPr>
          <p:nvPr>
            <p:ph type="dt" sz="half" idx="10"/>
          </p:nvPr>
        </p:nvSpPr>
        <p:spPr/>
        <p:txBody>
          <a:bodyPr/>
          <a:lstStyle/>
          <a:p>
            <a:fld id="{72D8F029-29C6-4C9C-B058-EA715E17DF71}" type="datetime1">
              <a:rPr lang="zh-CN" altLang="en-US" smtClean="0"/>
              <a:t>2025/4/15</a:t>
            </a:fld>
            <a:endParaRPr lang="zh-CN" altLang="en-US" dirty="0"/>
          </a:p>
        </p:txBody>
      </p:sp>
      <p:sp>
        <p:nvSpPr>
          <p:cNvPr id="10" name="页脚占位符 9"/>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1" name="灯片编号占位符 10"/>
          <p:cNvSpPr>
            <a:spLocks noGrp="1"/>
          </p:cNvSpPr>
          <p:nvPr>
            <p:ph type="sldNum" sz="quarter" idx="12"/>
          </p:nvPr>
        </p:nvSpPr>
        <p:spPr/>
        <p:txBody>
          <a:bodyPr/>
          <a:lstStyle/>
          <a:p>
            <a:fld id="{67913A8A-9EFB-4B5F-9CCB-3D21173FAA85}" type="slidenum">
              <a:rPr lang="zh-CN" altLang="en-US" smtClean="0"/>
              <a:pPr/>
              <a:t>12</a:t>
            </a:fld>
            <a:endParaRPr lang="zh-CN" altLang="en-US" dirty="0"/>
          </a:p>
        </p:txBody>
      </p:sp>
    </p:spTree>
    <p:extLst>
      <p:ext uri="{BB962C8B-B14F-4D97-AF65-F5344CB8AC3E}">
        <p14:creationId xmlns:p14="http://schemas.microsoft.com/office/powerpoint/2010/main" val="17066919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有根树</a:t>
            </a:r>
            <a:endParaRPr lang="en-US" dirty="0"/>
          </a:p>
        </p:txBody>
      </p:sp>
      <p:sp>
        <p:nvSpPr>
          <p:cNvPr id="3" name="Content Placeholder 2"/>
          <p:cNvSpPr>
            <a:spLocks noGrp="1"/>
          </p:cNvSpPr>
          <p:nvPr>
            <p:ph idx="1"/>
          </p:nvPr>
        </p:nvSpPr>
        <p:spPr/>
        <p:txBody>
          <a:bodyPr>
            <a:normAutofit/>
          </a:bodyPr>
          <a:lstStyle/>
          <a:p>
            <a:r>
              <a:rPr lang="zh-CN" altLang="en-US" dirty="0"/>
              <a:t>例</a:t>
            </a:r>
            <a:r>
              <a:rPr lang="en-US" altLang="zh-CN" dirty="0"/>
              <a:t>:</a:t>
            </a:r>
            <a:r>
              <a:rPr lang="zh-CN" altLang="en-US" dirty="0"/>
              <a:t>图示的有根树中</a:t>
            </a:r>
            <a:r>
              <a:rPr lang="en-US" altLang="zh-CN" dirty="0"/>
              <a:t>, </a:t>
            </a:r>
            <a:r>
              <a:rPr lang="zh-CN" altLang="en-US" dirty="0"/>
              <a:t>求</a:t>
            </a:r>
            <a:r>
              <a:rPr lang="en-US" altLang="zh-CN" dirty="0"/>
              <a:t>c</a:t>
            </a:r>
            <a:r>
              <a:rPr lang="zh-CN" altLang="en-US" dirty="0"/>
              <a:t>的父母</a:t>
            </a:r>
            <a:r>
              <a:rPr lang="en-US" altLang="zh-CN" dirty="0"/>
              <a:t>, g</a:t>
            </a:r>
            <a:r>
              <a:rPr lang="zh-CN" altLang="en-US" dirty="0"/>
              <a:t>的孩子</a:t>
            </a:r>
            <a:r>
              <a:rPr lang="en-US" altLang="zh-CN" dirty="0"/>
              <a:t>, h</a:t>
            </a:r>
            <a:r>
              <a:rPr lang="zh-CN" altLang="en-US" dirty="0"/>
              <a:t>的兄弟</a:t>
            </a:r>
            <a:r>
              <a:rPr lang="en-US" altLang="zh-CN" dirty="0"/>
              <a:t>, e</a:t>
            </a:r>
            <a:r>
              <a:rPr lang="zh-CN" altLang="en-US" dirty="0"/>
              <a:t>的所有祖先</a:t>
            </a:r>
            <a:r>
              <a:rPr lang="en-US" altLang="zh-CN" dirty="0"/>
              <a:t>, b</a:t>
            </a:r>
            <a:r>
              <a:rPr lang="zh-CN" altLang="en-US" dirty="0"/>
              <a:t>的所有后代</a:t>
            </a:r>
            <a:r>
              <a:rPr lang="en-US" altLang="zh-CN" dirty="0"/>
              <a:t>, </a:t>
            </a:r>
            <a:r>
              <a:rPr lang="zh-CN" altLang="en-US" dirty="0"/>
              <a:t>所有内点以及所有树叶</a:t>
            </a:r>
            <a:r>
              <a:rPr lang="en-US" altLang="zh-CN" dirty="0"/>
              <a:t>. </a:t>
            </a:r>
            <a:r>
              <a:rPr lang="zh-CN" altLang="en-US" dirty="0"/>
              <a:t>什么是以</a:t>
            </a:r>
            <a:r>
              <a:rPr lang="en-US" altLang="zh-CN" dirty="0"/>
              <a:t>g</a:t>
            </a:r>
            <a:r>
              <a:rPr lang="zh-CN" altLang="en-US" dirty="0"/>
              <a:t>为根的子树</a:t>
            </a:r>
            <a:r>
              <a:rPr lang="en-US" altLang="zh-CN" dirty="0"/>
              <a:t>?</a:t>
            </a:r>
          </a:p>
          <a:p>
            <a:endParaRPr lang="en-US" altLang="zh-CN" dirty="0"/>
          </a:p>
          <a:p>
            <a:endParaRPr lang="en-US" altLang="zh-CN" dirty="0"/>
          </a:p>
          <a:p>
            <a:endParaRPr lang="en-US" altLang="zh-CN" dirty="0"/>
          </a:p>
          <a:p>
            <a:endParaRPr lang="en-US" altLang="zh-CN" dirty="0"/>
          </a:p>
          <a:p>
            <a:endParaRPr lang="en-US" altLang="zh-CN" dirty="0"/>
          </a:p>
          <a:p>
            <a:r>
              <a:rPr lang="zh-CN" altLang="en-US" dirty="0"/>
              <a:t>解</a:t>
            </a:r>
            <a:r>
              <a:rPr lang="en-US" altLang="zh-CN" dirty="0"/>
              <a:t>:c</a:t>
            </a:r>
            <a:r>
              <a:rPr lang="zh-CN" altLang="en-US" dirty="0"/>
              <a:t>的父母是</a:t>
            </a:r>
            <a:r>
              <a:rPr lang="en-US" altLang="zh-CN" dirty="0"/>
              <a:t>b. g</a:t>
            </a:r>
            <a:r>
              <a:rPr lang="zh-CN" altLang="en-US" dirty="0"/>
              <a:t>的孩子是</a:t>
            </a:r>
            <a:r>
              <a:rPr lang="en-US" altLang="zh-CN" dirty="0"/>
              <a:t>h, </a:t>
            </a:r>
            <a:r>
              <a:rPr lang="en-US" altLang="zh-CN" dirty="0" err="1"/>
              <a:t>i</a:t>
            </a:r>
            <a:r>
              <a:rPr lang="en-US" altLang="zh-CN" dirty="0"/>
              <a:t>, j. h</a:t>
            </a:r>
            <a:r>
              <a:rPr lang="zh-CN" altLang="en-US" dirty="0"/>
              <a:t>的兄弟是</a:t>
            </a:r>
            <a:r>
              <a:rPr lang="en-US" altLang="zh-CN" dirty="0" err="1"/>
              <a:t>i</a:t>
            </a:r>
            <a:r>
              <a:rPr lang="en-US" altLang="zh-CN" dirty="0"/>
              <a:t>, j. e</a:t>
            </a:r>
            <a:r>
              <a:rPr lang="zh-CN" altLang="en-US" dirty="0"/>
              <a:t>的祖先是</a:t>
            </a:r>
            <a:r>
              <a:rPr lang="en-US" altLang="zh-CN" dirty="0"/>
              <a:t>c</a:t>
            </a:r>
            <a:r>
              <a:rPr lang="zh-CN" altLang="en-US" dirty="0"/>
              <a:t>、</a:t>
            </a:r>
            <a:r>
              <a:rPr lang="en-US" altLang="zh-CN" dirty="0"/>
              <a:t>b</a:t>
            </a:r>
            <a:r>
              <a:rPr lang="zh-CN" altLang="en-US" dirty="0"/>
              <a:t>、</a:t>
            </a:r>
            <a:r>
              <a:rPr lang="en-US" altLang="zh-CN" dirty="0"/>
              <a:t>a. b</a:t>
            </a:r>
            <a:r>
              <a:rPr lang="zh-CN" altLang="en-US" dirty="0"/>
              <a:t>的后代是</a:t>
            </a:r>
            <a:r>
              <a:rPr lang="en-US" altLang="zh-CN" dirty="0"/>
              <a:t>c</a:t>
            </a:r>
            <a:r>
              <a:rPr lang="zh-CN" altLang="en-US" dirty="0"/>
              <a:t>、</a:t>
            </a:r>
            <a:r>
              <a:rPr lang="en-US" altLang="zh-CN" dirty="0"/>
              <a:t>d</a:t>
            </a:r>
            <a:r>
              <a:rPr lang="zh-CN" altLang="en-US" dirty="0"/>
              <a:t>、</a:t>
            </a:r>
            <a:r>
              <a:rPr lang="en-US" altLang="zh-CN" dirty="0"/>
              <a:t>e. </a:t>
            </a:r>
            <a:r>
              <a:rPr lang="zh-CN" altLang="en-US" dirty="0"/>
              <a:t>内点是</a:t>
            </a:r>
            <a:r>
              <a:rPr lang="en-US" altLang="zh-CN" dirty="0"/>
              <a:t>a, b, c, g, h, j. </a:t>
            </a:r>
            <a:r>
              <a:rPr lang="zh-CN" altLang="en-US" dirty="0"/>
              <a:t>树叶是</a:t>
            </a:r>
            <a:r>
              <a:rPr lang="en-US" altLang="zh-CN" dirty="0"/>
              <a:t>d, e, f, </a:t>
            </a:r>
            <a:r>
              <a:rPr lang="en-US" altLang="zh-CN" dirty="0" err="1"/>
              <a:t>i</a:t>
            </a:r>
            <a:r>
              <a:rPr lang="en-US" altLang="zh-CN" dirty="0"/>
              <a:t>, k, l, m. </a:t>
            </a:r>
            <a:r>
              <a:rPr lang="zh-CN" altLang="en-US" dirty="0"/>
              <a:t>以</a:t>
            </a:r>
            <a:r>
              <a:rPr lang="en-US" altLang="zh-CN" dirty="0"/>
              <a:t>g</a:t>
            </a:r>
            <a:r>
              <a:rPr lang="zh-CN" altLang="en-US" dirty="0"/>
              <a:t>为根的子树如右图所示</a:t>
            </a:r>
            <a:r>
              <a:rPr lang="en-US" altLang="zh-CN" dirty="0"/>
              <a:t>.</a:t>
            </a:r>
          </a:p>
          <a:p>
            <a:endParaRPr lang="en-US" altLang="zh-CN" dirty="0"/>
          </a:p>
          <a:p>
            <a:endParaRPr lang="en-US" dirty="0"/>
          </a:p>
        </p:txBody>
      </p:sp>
      <p:sp>
        <p:nvSpPr>
          <p:cNvPr id="9" name="日期占位符 8"/>
          <p:cNvSpPr>
            <a:spLocks noGrp="1"/>
          </p:cNvSpPr>
          <p:nvPr>
            <p:ph type="dt" sz="half" idx="10"/>
          </p:nvPr>
        </p:nvSpPr>
        <p:spPr/>
        <p:txBody>
          <a:bodyPr/>
          <a:lstStyle/>
          <a:p>
            <a:fld id="{E152E8AA-7042-4F91-97CA-B2FB8B9119C8}" type="datetime1">
              <a:rPr lang="zh-CN" altLang="en-US" smtClean="0"/>
              <a:t>2025/4/15</a:t>
            </a:fld>
            <a:endParaRPr lang="zh-CN" altLang="en-US" dirty="0"/>
          </a:p>
        </p:txBody>
      </p:sp>
      <p:sp>
        <p:nvSpPr>
          <p:cNvPr id="10" name="页脚占位符 9"/>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1" name="灯片编号占位符 10"/>
          <p:cNvSpPr>
            <a:spLocks noGrp="1"/>
          </p:cNvSpPr>
          <p:nvPr>
            <p:ph type="sldNum" sz="quarter" idx="12"/>
          </p:nvPr>
        </p:nvSpPr>
        <p:spPr/>
        <p:txBody>
          <a:bodyPr/>
          <a:lstStyle/>
          <a:p>
            <a:fld id="{67913A8A-9EFB-4B5F-9CCB-3D21173FAA85}" type="slidenum">
              <a:rPr lang="zh-CN" altLang="en-US" smtClean="0"/>
              <a:pPr/>
              <a:t>13</a:t>
            </a:fld>
            <a:endParaRPr lang="zh-CN" altLang="en-US" dirty="0"/>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62200" y="2014037"/>
            <a:ext cx="3089472" cy="2829926"/>
          </a:xfrm>
          <a:prstGeom prst="rect">
            <a:avLst/>
          </a:prstGeom>
        </p:spPr>
      </p:pic>
      <p:pic>
        <p:nvPicPr>
          <p:cNvPr id="12" name="Content Placeholder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72400" y="2208927"/>
            <a:ext cx="1622640" cy="2103845"/>
          </a:xfrm>
          <a:prstGeom prst="rect">
            <a:avLst/>
          </a:prstGeom>
        </p:spPr>
      </p:pic>
    </p:spTree>
    <p:extLst>
      <p:ext uri="{BB962C8B-B14F-4D97-AF65-F5344CB8AC3E}">
        <p14:creationId xmlns:p14="http://schemas.microsoft.com/office/powerpoint/2010/main" val="1142719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wipe(down)">
                                      <p:cBhvr>
                                        <p:cTn id="7" dur="500"/>
                                        <p:tgtEl>
                                          <p:spTgt spid="3">
                                            <p:txEl>
                                              <p:pRg st="6" end="6"/>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down)">
                                      <p:cBhvr>
                                        <p:cTn id="1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457200" y="1142999"/>
            <a:ext cx="11277599" cy="1271457"/>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有根树</a:t>
            </a:r>
            <a:endParaRPr lang="en-US" dirty="0"/>
          </a:p>
        </p:txBody>
      </p:sp>
      <p:sp>
        <p:nvSpPr>
          <p:cNvPr id="3" name="Content Placeholder 2"/>
          <p:cNvSpPr>
            <a:spLocks noGrp="1"/>
          </p:cNvSpPr>
          <p:nvPr>
            <p:ph idx="1"/>
          </p:nvPr>
        </p:nvSpPr>
        <p:spPr/>
        <p:txBody>
          <a:bodyPr>
            <a:normAutofit/>
          </a:bodyPr>
          <a:lstStyle/>
          <a:p>
            <a:r>
              <a:rPr lang="zh-CN" altLang="en-US" dirty="0"/>
              <a:t>定义</a:t>
            </a:r>
            <a:r>
              <a:rPr lang="en-US" dirty="0"/>
              <a:t>: </a:t>
            </a:r>
            <a:r>
              <a:rPr lang="zh-CN" altLang="en-US" dirty="0"/>
              <a:t>若有根树的每个内点都有不超过</a:t>
            </a:r>
            <a:r>
              <a:rPr lang="en-US" altLang="zh-CN" dirty="0"/>
              <a:t>m</a:t>
            </a:r>
            <a:r>
              <a:rPr lang="zh-CN" altLang="en-US" dirty="0"/>
              <a:t>个孩子</a:t>
            </a:r>
            <a:r>
              <a:rPr lang="en-US" altLang="zh-CN" dirty="0"/>
              <a:t>, </a:t>
            </a:r>
            <a:r>
              <a:rPr lang="zh-CN" altLang="en-US" dirty="0"/>
              <a:t>则称它是</a:t>
            </a:r>
            <a:r>
              <a:rPr lang="en-US" altLang="zh-CN" b="1" dirty="0">
                <a:solidFill>
                  <a:srgbClr val="C00000"/>
                </a:solidFill>
              </a:rPr>
              <a:t>m</a:t>
            </a:r>
            <a:r>
              <a:rPr lang="zh-CN" altLang="en-US" b="1" dirty="0">
                <a:solidFill>
                  <a:srgbClr val="C00000"/>
                </a:solidFill>
              </a:rPr>
              <a:t>叉树</a:t>
            </a:r>
            <a:r>
              <a:rPr lang="en-US" altLang="zh-CN" dirty="0"/>
              <a:t>. </a:t>
            </a:r>
            <a:r>
              <a:rPr lang="zh-CN" altLang="en-US" dirty="0"/>
              <a:t>若该树的每个内点都恰好</a:t>
            </a:r>
            <a:r>
              <a:rPr lang="en-US" altLang="zh-CN" dirty="0"/>
              <a:t>m</a:t>
            </a:r>
            <a:r>
              <a:rPr lang="zh-CN" altLang="en-US" dirty="0"/>
              <a:t>个孩子</a:t>
            </a:r>
            <a:r>
              <a:rPr lang="en-US" altLang="zh-CN" dirty="0"/>
              <a:t>, </a:t>
            </a:r>
            <a:r>
              <a:rPr lang="zh-CN" altLang="en-US" dirty="0"/>
              <a:t>则称它是</a:t>
            </a:r>
            <a:r>
              <a:rPr lang="zh-CN" altLang="en-US" b="1" dirty="0">
                <a:solidFill>
                  <a:srgbClr val="C00000"/>
                </a:solidFill>
              </a:rPr>
              <a:t>满</a:t>
            </a:r>
            <a:r>
              <a:rPr lang="en-US" altLang="zh-CN" b="1" dirty="0">
                <a:solidFill>
                  <a:srgbClr val="C00000"/>
                </a:solidFill>
              </a:rPr>
              <a:t>m</a:t>
            </a:r>
            <a:r>
              <a:rPr lang="zh-CN" altLang="en-US" b="1" dirty="0">
                <a:solidFill>
                  <a:srgbClr val="C00000"/>
                </a:solidFill>
              </a:rPr>
              <a:t>叉树或</a:t>
            </a:r>
            <a:r>
              <a:rPr lang="en-US" altLang="zh-CN" b="1" dirty="0">
                <a:solidFill>
                  <a:srgbClr val="C00000"/>
                </a:solidFill>
              </a:rPr>
              <a:t>m</a:t>
            </a:r>
            <a:r>
              <a:rPr lang="zh-CN" altLang="en-US" b="1" dirty="0">
                <a:solidFill>
                  <a:srgbClr val="C00000"/>
                </a:solidFill>
              </a:rPr>
              <a:t>叉正则树</a:t>
            </a:r>
            <a:r>
              <a:rPr lang="en-US" altLang="zh-CN" dirty="0"/>
              <a:t>. </a:t>
            </a:r>
            <a:r>
              <a:rPr lang="zh-CN" altLang="en-US" dirty="0"/>
              <a:t>把</a:t>
            </a:r>
            <a:r>
              <a:rPr lang="en-US" altLang="zh-CN" dirty="0"/>
              <a:t>m=2</a:t>
            </a:r>
            <a:r>
              <a:rPr lang="zh-CN" altLang="en-US" dirty="0"/>
              <a:t>的</a:t>
            </a:r>
            <a:r>
              <a:rPr lang="en-US" altLang="zh-CN" dirty="0"/>
              <a:t>m</a:t>
            </a:r>
            <a:r>
              <a:rPr lang="zh-CN" altLang="en-US" dirty="0"/>
              <a:t>叉树称为</a:t>
            </a:r>
            <a:r>
              <a:rPr lang="zh-CN" altLang="en-US" b="1" dirty="0">
                <a:solidFill>
                  <a:srgbClr val="C00000"/>
                </a:solidFill>
              </a:rPr>
              <a:t>二叉树</a:t>
            </a:r>
            <a:r>
              <a:rPr lang="en-US" altLang="zh-CN" dirty="0"/>
              <a:t>.</a:t>
            </a:r>
          </a:p>
          <a:p>
            <a:r>
              <a:rPr lang="zh-CN" altLang="en-US" dirty="0"/>
              <a:t>在有根树中顶点</a:t>
            </a:r>
            <a:r>
              <a:rPr lang="en-US" altLang="zh-CN" dirty="0"/>
              <a:t>v</a:t>
            </a:r>
            <a:r>
              <a:rPr lang="zh-CN" altLang="en-US" dirty="0"/>
              <a:t>的</a:t>
            </a:r>
            <a:r>
              <a:rPr lang="zh-CN" altLang="en-US" b="1" dirty="0">
                <a:solidFill>
                  <a:srgbClr val="C00000"/>
                </a:solidFill>
              </a:rPr>
              <a:t>层</a:t>
            </a:r>
            <a:r>
              <a:rPr lang="zh-CN" altLang="en-US" dirty="0"/>
              <a:t>是从根到这个顶点的唯一通路的长度</a:t>
            </a:r>
            <a:r>
              <a:rPr lang="en-US" altLang="zh-CN" dirty="0"/>
              <a:t>. </a:t>
            </a:r>
            <a:r>
              <a:rPr lang="zh-CN" altLang="en-US" dirty="0"/>
              <a:t>根的层定义为</a:t>
            </a:r>
            <a:r>
              <a:rPr lang="en-US" altLang="zh-CN" dirty="0"/>
              <a:t>0.</a:t>
            </a:r>
          </a:p>
          <a:p>
            <a:r>
              <a:rPr lang="zh-CN" altLang="en-US" dirty="0"/>
              <a:t>有根树的</a:t>
            </a:r>
            <a:r>
              <a:rPr lang="zh-CN" altLang="en-US" b="1" dirty="0">
                <a:solidFill>
                  <a:srgbClr val="C00000"/>
                </a:solidFill>
              </a:rPr>
              <a:t>高度</a:t>
            </a:r>
            <a:r>
              <a:rPr lang="zh-CN" altLang="en-US" dirty="0"/>
              <a:t>就是顶点层数的最大值</a:t>
            </a:r>
            <a:r>
              <a:rPr lang="en-US" altLang="zh-CN" dirty="0"/>
              <a:t>. </a:t>
            </a:r>
            <a:r>
              <a:rPr lang="zh-CN" altLang="en-US" dirty="0"/>
              <a:t>即有根树的层数是从根到任意顶点的最长通路的长度</a:t>
            </a:r>
            <a:r>
              <a:rPr lang="en-US" altLang="zh-CN" dirty="0"/>
              <a:t>.</a:t>
            </a:r>
          </a:p>
          <a:p>
            <a:r>
              <a:rPr lang="en-US" altLang="zh-CN" dirty="0"/>
              <a:t> m</a:t>
            </a:r>
            <a:r>
              <a:rPr lang="zh-CN" altLang="en-US" dirty="0"/>
              <a:t>叉树是</a:t>
            </a:r>
            <a:r>
              <a:rPr lang="en-US" altLang="zh-CN" dirty="0"/>
              <a:t>”</a:t>
            </a:r>
            <a:r>
              <a:rPr lang="zh-CN" altLang="en-US" b="1" dirty="0"/>
              <a:t>平衡的</a:t>
            </a:r>
            <a:r>
              <a:rPr lang="en-US" altLang="zh-CN" dirty="0"/>
              <a:t>”, </a:t>
            </a:r>
            <a:r>
              <a:rPr lang="zh-CN" altLang="en-US" dirty="0"/>
              <a:t>在每个顶点的子树都包含大约相同长度的通路</a:t>
            </a:r>
            <a:r>
              <a:rPr lang="en-US" altLang="zh-CN" dirty="0"/>
              <a:t>.</a:t>
            </a:r>
          </a:p>
          <a:p>
            <a:r>
              <a:rPr lang="zh-CN" altLang="en-US" dirty="0"/>
              <a:t>每个树叶的层数均为树高，则称</a:t>
            </a:r>
            <a:r>
              <a:rPr lang="en-US" altLang="zh-CN" dirty="0"/>
              <a:t>m</a:t>
            </a:r>
            <a:r>
              <a:rPr lang="zh-CN" altLang="en-US" dirty="0"/>
              <a:t>叉正则树为</a:t>
            </a:r>
            <a:r>
              <a:rPr lang="en-US" altLang="zh-CN" b="1" dirty="0">
                <a:solidFill>
                  <a:srgbClr val="C00000"/>
                </a:solidFill>
              </a:rPr>
              <a:t>m</a:t>
            </a:r>
            <a:r>
              <a:rPr lang="zh-CN" altLang="en-US" b="1" dirty="0">
                <a:solidFill>
                  <a:srgbClr val="C00000"/>
                </a:solidFill>
              </a:rPr>
              <a:t>叉完全正则树</a:t>
            </a:r>
            <a:endParaRPr lang="en-US" altLang="zh-CN" dirty="0"/>
          </a:p>
        </p:txBody>
      </p:sp>
      <p:sp>
        <p:nvSpPr>
          <p:cNvPr id="9" name="日期占位符 8"/>
          <p:cNvSpPr>
            <a:spLocks noGrp="1"/>
          </p:cNvSpPr>
          <p:nvPr>
            <p:ph type="dt" sz="half" idx="10"/>
          </p:nvPr>
        </p:nvSpPr>
        <p:spPr/>
        <p:txBody>
          <a:bodyPr/>
          <a:lstStyle/>
          <a:p>
            <a:fld id="{B6FE1326-26EE-44C4-AB2B-26BE7CECB8B7}" type="datetime1">
              <a:rPr lang="zh-CN" altLang="en-US" smtClean="0"/>
              <a:t>2025/4/15</a:t>
            </a:fld>
            <a:endParaRPr lang="zh-CN" altLang="en-US" dirty="0"/>
          </a:p>
        </p:txBody>
      </p:sp>
      <p:sp>
        <p:nvSpPr>
          <p:cNvPr id="10" name="页脚占位符 9"/>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1" name="灯片编号占位符 10"/>
          <p:cNvSpPr>
            <a:spLocks noGrp="1"/>
          </p:cNvSpPr>
          <p:nvPr>
            <p:ph type="sldNum" sz="quarter" idx="12"/>
          </p:nvPr>
        </p:nvSpPr>
        <p:spPr/>
        <p:txBody>
          <a:bodyPr/>
          <a:lstStyle/>
          <a:p>
            <a:fld id="{67913A8A-9EFB-4B5F-9CCB-3D21173FAA85}" type="slidenum">
              <a:rPr lang="zh-CN" altLang="en-US" smtClean="0"/>
              <a:pPr/>
              <a:t>14</a:t>
            </a:fld>
            <a:endParaRPr lang="zh-CN" altLang="en-US" dirty="0"/>
          </a:p>
        </p:txBody>
      </p:sp>
    </p:spTree>
    <p:extLst>
      <p:ext uri="{BB962C8B-B14F-4D97-AF65-F5344CB8AC3E}">
        <p14:creationId xmlns:p14="http://schemas.microsoft.com/office/powerpoint/2010/main" val="22277003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有根树</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a:t>例</a:t>
                </a:r>
                <a:r>
                  <a:rPr lang="en-US" dirty="0"/>
                  <a:t>: </a:t>
                </a:r>
                <a:r>
                  <a:rPr lang="zh-CN" altLang="en-US" dirty="0"/>
                  <a:t>如图的有根树</a:t>
                </a:r>
                <a:r>
                  <a:rPr lang="en-US" altLang="zh-CN" dirty="0"/>
                  <a:t>, </a:t>
                </a:r>
                <a:r>
                  <a:rPr lang="zh-CN" altLang="en-US" dirty="0"/>
                  <a:t>对某个正整数</a:t>
                </a:r>
                <a:r>
                  <a:rPr lang="en-US" altLang="zh-CN" dirty="0"/>
                  <a:t>m</a:t>
                </a:r>
                <a:r>
                  <a:rPr lang="zh-CN" altLang="en-US" dirty="0"/>
                  <a:t>来说是否为满</a:t>
                </a:r>
                <a:r>
                  <a:rPr lang="en-US" altLang="zh-CN" dirty="0"/>
                  <a:t>m</a:t>
                </a:r>
                <a:r>
                  <a:rPr lang="zh-CN" altLang="en-US" dirty="0"/>
                  <a:t>叉树？</a:t>
                </a:r>
                <a:endParaRPr lang="en-US" dirty="0"/>
              </a:p>
              <a:p>
                <a:endParaRPr lang="en-US" altLang="zh-CN" dirty="0"/>
              </a:p>
              <a:p>
                <a:endParaRPr lang="en-US" altLang="zh-CN" dirty="0"/>
              </a:p>
              <a:p>
                <a:endParaRPr lang="en-US" altLang="zh-CN" dirty="0"/>
              </a:p>
              <a:p>
                <a:endParaRPr lang="en-US" altLang="zh-CN" dirty="0"/>
              </a:p>
              <a:p>
                <a:endParaRPr lang="en-US" altLang="zh-CN" dirty="0"/>
              </a:p>
              <a:p>
                <a:r>
                  <a:rPr lang="zh-CN" altLang="en-US" dirty="0"/>
                  <a:t>解</a:t>
                </a:r>
                <a:r>
                  <a:rPr lang="en-US" altLang="zh-CN" dirty="0"/>
                  <a:t>:</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𝑇</m:t>
                        </m:r>
                      </m:e>
                      <m:sub>
                        <m:r>
                          <a:rPr lang="en-US" altLang="zh-CN" b="0" i="1" smtClean="0">
                            <a:latin typeface="Cambria Math" panose="02040503050406030204" pitchFamily="18" charset="0"/>
                          </a:rPr>
                          <m:t>1</m:t>
                        </m:r>
                      </m:sub>
                    </m:sSub>
                  </m:oMath>
                </a14:m>
                <a:r>
                  <a:rPr lang="zh-CN" altLang="en-US" dirty="0"/>
                  <a:t>是满二叉树</a:t>
                </a:r>
                <a:r>
                  <a:rPr lang="en-US" altLang="zh-CN" dirty="0"/>
                  <a:t>, </a:t>
                </a:r>
                <a:r>
                  <a:rPr lang="zh-CN" altLang="en-US" dirty="0"/>
                  <a:t>因为每个内点都有</a:t>
                </a:r>
                <a:r>
                  <a:rPr lang="en-US" altLang="zh-CN" dirty="0"/>
                  <a:t>2</a:t>
                </a:r>
                <a:r>
                  <a:rPr lang="zh-CN" altLang="en-US" dirty="0"/>
                  <a:t>个孩子</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𝑇</m:t>
                        </m:r>
                      </m:e>
                      <m:sub>
                        <m:r>
                          <a:rPr lang="en-US" altLang="zh-CN" b="0" i="1" smtClean="0">
                            <a:latin typeface="Cambria Math" panose="02040503050406030204" pitchFamily="18" charset="0"/>
                          </a:rPr>
                          <m:t>2</m:t>
                        </m:r>
                      </m:sub>
                    </m:sSub>
                  </m:oMath>
                </a14:m>
                <a:r>
                  <a:rPr lang="zh-CN" altLang="en-US" dirty="0"/>
                  <a:t>是满三叉树</a:t>
                </a:r>
                <a:r>
                  <a:rPr lang="en-US" altLang="zh-CN" dirty="0"/>
                  <a:t>, </a:t>
                </a:r>
                <a:r>
                  <a:rPr lang="zh-CN" altLang="en-US" dirty="0"/>
                  <a:t>因为每个内点都有</a:t>
                </a:r>
                <a:r>
                  <a:rPr lang="en-US" altLang="zh-CN" dirty="0"/>
                  <a:t>3</a:t>
                </a:r>
                <a:r>
                  <a:rPr lang="zh-CN" altLang="en-US" dirty="0"/>
                  <a:t>个孩子</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𝑇</m:t>
                        </m:r>
                      </m:e>
                      <m:sub>
                        <m:r>
                          <a:rPr lang="en-US" altLang="zh-CN" b="0" i="1" smtClean="0">
                            <a:latin typeface="Cambria Math" panose="02040503050406030204" pitchFamily="18" charset="0"/>
                          </a:rPr>
                          <m:t>3</m:t>
                        </m:r>
                      </m:sub>
                    </m:sSub>
                  </m:oMath>
                </a14:m>
                <a:r>
                  <a:rPr lang="zh-CN" altLang="en-US" dirty="0"/>
                  <a:t>是满五叉树</a:t>
                </a:r>
                <a:r>
                  <a:rPr lang="en-US" altLang="zh-CN" dirty="0"/>
                  <a:t>, </a:t>
                </a:r>
                <a:r>
                  <a:rPr lang="zh-CN" altLang="en-US" dirty="0"/>
                  <a:t>因为每个内点都有</a:t>
                </a:r>
                <a:r>
                  <a:rPr lang="en-US" altLang="zh-CN" dirty="0"/>
                  <a:t>5</a:t>
                </a:r>
                <a:r>
                  <a:rPr lang="zh-CN" altLang="en-US" dirty="0"/>
                  <a:t>个孩子</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𝑇</m:t>
                        </m:r>
                      </m:e>
                      <m:sub>
                        <m:r>
                          <a:rPr lang="en-US" altLang="zh-CN" b="0" i="1" smtClean="0">
                            <a:latin typeface="Cambria Math" panose="02040503050406030204" pitchFamily="18" charset="0"/>
                          </a:rPr>
                          <m:t>4</m:t>
                        </m:r>
                      </m:sub>
                    </m:sSub>
                  </m:oMath>
                </a14:m>
                <a:r>
                  <a:rPr lang="zh-CN" altLang="en-US" dirty="0"/>
                  <a:t>不是满</a:t>
                </a:r>
                <a:r>
                  <a:rPr lang="en-US" altLang="zh-CN" dirty="0"/>
                  <a:t>m</a:t>
                </a:r>
                <a:r>
                  <a:rPr lang="zh-CN" altLang="en-US" dirty="0"/>
                  <a:t>叉树</a:t>
                </a:r>
                <a:r>
                  <a:rPr lang="en-US" altLang="zh-CN" dirty="0"/>
                  <a:t>, </a:t>
                </a:r>
                <a:r>
                  <a:rPr lang="zh-CN" altLang="en-US" dirty="0"/>
                  <a:t>因为有些内点有</a:t>
                </a:r>
                <a:r>
                  <a:rPr lang="en-US" altLang="zh-CN" dirty="0"/>
                  <a:t>2</a:t>
                </a:r>
                <a:r>
                  <a:rPr lang="zh-CN" altLang="en-US" dirty="0"/>
                  <a:t>个孩子</a:t>
                </a:r>
                <a:r>
                  <a:rPr lang="en-US" altLang="zh-CN" dirty="0"/>
                  <a:t>, </a:t>
                </a:r>
                <a:r>
                  <a:rPr lang="zh-CN" altLang="en-US" dirty="0"/>
                  <a:t>有些内点有</a:t>
                </a:r>
                <a:r>
                  <a:rPr lang="en-US" altLang="zh-CN" dirty="0"/>
                  <a:t>3</a:t>
                </a:r>
                <a:r>
                  <a:rPr lang="zh-CN" altLang="en-US" dirty="0"/>
                  <a:t>个孩子</a:t>
                </a:r>
                <a:r>
                  <a:rPr lang="en-US" altLang="zh-CN" dirty="0"/>
                  <a:t>.</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r="-499"/>
                </a:stretch>
              </a:blipFill>
            </p:spPr>
            <p:txBody>
              <a:bodyPr/>
              <a:lstStyle/>
              <a:p>
                <a:r>
                  <a:rPr lang="zh-CN" altLang="en-US">
                    <a:noFill/>
                  </a:rPr>
                  <a:t> </a:t>
                </a:r>
              </a:p>
            </p:txBody>
          </p:sp>
        </mc:Fallback>
      </mc:AlternateContent>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5086" y="1905000"/>
            <a:ext cx="10895008" cy="2133600"/>
          </a:xfrm>
          <a:prstGeom prst="rect">
            <a:avLst/>
          </a:prstGeom>
        </p:spPr>
      </p:pic>
      <p:sp>
        <p:nvSpPr>
          <p:cNvPr id="9" name="日期占位符 8"/>
          <p:cNvSpPr>
            <a:spLocks noGrp="1"/>
          </p:cNvSpPr>
          <p:nvPr>
            <p:ph type="dt" sz="half" idx="10"/>
          </p:nvPr>
        </p:nvSpPr>
        <p:spPr/>
        <p:txBody>
          <a:bodyPr/>
          <a:lstStyle/>
          <a:p>
            <a:fld id="{2DD14EA0-8E3A-494E-8C83-9EFC50E0BA3E}" type="datetime1">
              <a:rPr lang="zh-CN" altLang="en-US" smtClean="0"/>
              <a:t>2025/4/15</a:t>
            </a:fld>
            <a:endParaRPr lang="zh-CN" altLang="en-US" dirty="0"/>
          </a:p>
        </p:txBody>
      </p:sp>
      <p:sp>
        <p:nvSpPr>
          <p:cNvPr id="10" name="页脚占位符 9"/>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1" name="灯片编号占位符 10"/>
          <p:cNvSpPr>
            <a:spLocks noGrp="1"/>
          </p:cNvSpPr>
          <p:nvPr>
            <p:ph type="sldNum" sz="quarter" idx="12"/>
          </p:nvPr>
        </p:nvSpPr>
        <p:spPr/>
        <p:txBody>
          <a:bodyPr/>
          <a:lstStyle/>
          <a:p>
            <a:fld id="{67913A8A-9EFB-4B5F-9CCB-3D21173FAA85}" type="slidenum">
              <a:rPr lang="zh-CN" altLang="en-US" smtClean="0"/>
              <a:pPr/>
              <a:t>15</a:t>
            </a:fld>
            <a:endParaRPr lang="zh-CN" altLang="en-US" dirty="0"/>
          </a:p>
        </p:txBody>
      </p:sp>
    </p:spTree>
    <p:extLst>
      <p:ext uri="{BB962C8B-B14F-4D97-AF65-F5344CB8AC3E}">
        <p14:creationId xmlns:p14="http://schemas.microsoft.com/office/powerpoint/2010/main" val="768725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wipe(down)">
                                      <p:cBhvr>
                                        <p:cTn id="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457200" y="1142999"/>
            <a:ext cx="11277599" cy="914401"/>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有根树</a:t>
            </a:r>
            <a:endParaRPr lang="en-US" dirty="0"/>
          </a:p>
        </p:txBody>
      </p:sp>
      <p:sp>
        <p:nvSpPr>
          <p:cNvPr id="3" name="Content Placeholder 2"/>
          <p:cNvSpPr>
            <a:spLocks noGrp="1"/>
          </p:cNvSpPr>
          <p:nvPr>
            <p:ph idx="1"/>
          </p:nvPr>
        </p:nvSpPr>
        <p:spPr/>
        <p:txBody>
          <a:bodyPr>
            <a:normAutofit/>
          </a:bodyPr>
          <a:lstStyle/>
          <a:p>
            <a:r>
              <a:rPr lang="zh-CN" altLang="en-US" dirty="0"/>
              <a:t>定义</a:t>
            </a:r>
            <a:r>
              <a:rPr lang="en-US" altLang="zh-CN" dirty="0"/>
              <a:t>:</a:t>
            </a:r>
            <a:r>
              <a:rPr lang="zh-CN" altLang="en-US" b="1" dirty="0">
                <a:solidFill>
                  <a:srgbClr val="C00000"/>
                </a:solidFill>
              </a:rPr>
              <a:t>有序根树</a:t>
            </a:r>
            <a:r>
              <a:rPr lang="zh-CN" altLang="en-US" dirty="0"/>
              <a:t>是把每个内点的孩子都排序的有根树</a:t>
            </a:r>
            <a:r>
              <a:rPr lang="en-US" altLang="zh-CN" dirty="0"/>
              <a:t>. </a:t>
            </a:r>
            <a:r>
              <a:rPr lang="zh-CN" altLang="en-US" dirty="0"/>
              <a:t>画有序根树时</a:t>
            </a:r>
            <a:r>
              <a:rPr lang="en-US" altLang="zh-CN" dirty="0"/>
              <a:t>, </a:t>
            </a:r>
            <a:r>
              <a:rPr lang="zh-CN" altLang="en-US" dirty="0"/>
              <a:t>以从左向右的顺序来显示每个内点的孩子</a:t>
            </a:r>
            <a:r>
              <a:rPr lang="en-US" altLang="zh-CN" dirty="0"/>
              <a:t>.</a:t>
            </a:r>
          </a:p>
          <a:p>
            <a:r>
              <a:rPr lang="zh-CN" altLang="en-US" dirty="0"/>
              <a:t>在有序二叉树</a:t>
            </a:r>
            <a:r>
              <a:rPr lang="en-US" altLang="zh-CN" dirty="0"/>
              <a:t>(</a:t>
            </a:r>
            <a:r>
              <a:rPr lang="zh-CN" altLang="en-US" dirty="0"/>
              <a:t>通常只简称为二叉树</a:t>
            </a:r>
            <a:r>
              <a:rPr lang="en-US" altLang="zh-CN" dirty="0"/>
              <a:t>)</a:t>
            </a:r>
            <a:r>
              <a:rPr lang="zh-CN" altLang="en-US" dirty="0"/>
              <a:t>中</a:t>
            </a:r>
            <a:r>
              <a:rPr lang="en-US" altLang="zh-CN" dirty="0"/>
              <a:t>, </a:t>
            </a:r>
            <a:r>
              <a:rPr lang="zh-CN" altLang="en-US" dirty="0"/>
              <a:t>若一个内点有</a:t>
            </a:r>
            <a:r>
              <a:rPr lang="en-US" altLang="zh-CN" dirty="0"/>
              <a:t>2</a:t>
            </a:r>
            <a:r>
              <a:rPr lang="zh-CN" altLang="en-US" dirty="0"/>
              <a:t>个孩子</a:t>
            </a:r>
            <a:r>
              <a:rPr lang="en-US" altLang="zh-CN" dirty="0"/>
              <a:t>, </a:t>
            </a:r>
            <a:r>
              <a:rPr lang="zh-CN" altLang="en-US" dirty="0"/>
              <a:t>则第一个孩子称为</a:t>
            </a:r>
            <a:r>
              <a:rPr lang="zh-CN" altLang="en-US" b="1" dirty="0">
                <a:solidFill>
                  <a:srgbClr val="C00000"/>
                </a:solidFill>
              </a:rPr>
              <a:t>左子</a:t>
            </a:r>
            <a:r>
              <a:rPr lang="en-US" altLang="zh-CN" dirty="0"/>
              <a:t>, </a:t>
            </a:r>
            <a:r>
              <a:rPr lang="zh-CN" altLang="en-US" dirty="0"/>
              <a:t>而第二个孩子称为</a:t>
            </a:r>
            <a:r>
              <a:rPr lang="zh-CN" altLang="en-US" b="1" dirty="0">
                <a:solidFill>
                  <a:srgbClr val="C00000"/>
                </a:solidFill>
              </a:rPr>
              <a:t>右子</a:t>
            </a:r>
            <a:r>
              <a:rPr lang="en-US" altLang="zh-CN" dirty="0"/>
              <a:t>. </a:t>
            </a:r>
            <a:r>
              <a:rPr lang="zh-CN" altLang="en-US" dirty="0"/>
              <a:t>以一个顶点的左子为根的树称为该顶点的</a:t>
            </a:r>
            <a:r>
              <a:rPr lang="zh-CN" altLang="en-US" b="1" dirty="0">
                <a:solidFill>
                  <a:srgbClr val="C00000"/>
                </a:solidFill>
              </a:rPr>
              <a:t>左子树</a:t>
            </a:r>
            <a:r>
              <a:rPr lang="en-US" altLang="zh-CN" dirty="0"/>
              <a:t>, </a:t>
            </a:r>
            <a:r>
              <a:rPr lang="zh-CN" altLang="en-US" dirty="0"/>
              <a:t>而以一个顶点的右子为根的树称为该顶点的</a:t>
            </a:r>
            <a:r>
              <a:rPr lang="zh-CN" altLang="en-US" b="1" dirty="0">
                <a:solidFill>
                  <a:srgbClr val="C00000"/>
                </a:solidFill>
              </a:rPr>
              <a:t>右子树</a:t>
            </a:r>
            <a:r>
              <a:rPr lang="en-US" altLang="zh-CN" dirty="0"/>
              <a:t>.</a:t>
            </a:r>
            <a:endParaRPr lang="en-US" dirty="0"/>
          </a:p>
        </p:txBody>
      </p:sp>
      <p:sp>
        <p:nvSpPr>
          <p:cNvPr id="9" name="日期占位符 8"/>
          <p:cNvSpPr>
            <a:spLocks noGrp="1"/>
          </p:cNvSpPr>
          <p:nvPr>
            <p:ph type="dt" sz="half" idx="10"/>
          </p:nvPr>
        </p:nvSpPr>
        <p:spPr/>
        <p:txBody>
          <a:bodyPr/>
          <a:lstStyle/>
          <a:p>
            <a:fld id="{39366CB2-2323-49B0-A1A9-28AAF4897EFA}" type="datetime1">
              <a:rPr lang="zh-CN" altLang="en-US" smtClean="0"/>
              <a:t>2025/4/15</a:t>
            </a:fld>
            <a:endParaRPr lang="zh-CN" altLang="en-US" dirty="0"/>
          </a:p>
        </p:txBody>
      </p:sp>
      <p:sp>
        <p:nvSpPr>
          <p:cNvPr id="10" name="页脚占位符 9"/>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1" name="灯片编号占位符 10"/>
          <p:cNvSpPr>
            <a:spLocks noGrp="1"/>
          </p:cNvSpPr>
          <p:nvPr>
            <p:ph type="sldNum" sz="quarter" idx="12"/>
          </p:nvPr>
        </p:nvSpPr>
        <p:spPr/>
        <p:txBody>
          <a:bodyPr/>
          <a:lstStyle/>
          <a:p>
            <a:fld id="{67913A8A-9EFB-4B5F-9CCB-3D21173FAA85}" type="slidenum">
              <a:rPr lang="zh-CN" altLang="en-US" smtClean="0"/>
              <a:pPr/>
              <a:t>16</a:t>
            </a:fld>
            <a:endParaRPr lang="zh-CN" altLang="en-US" dirty="0"/>
          </a:p>
        </p:txBody>
      </p:sp>
    </p:spTree>
    <p:extLst>
      <p:ext uri="{BB962C8B-B14F-4D97-AF65-F5344CB8AC3E}">
        <p14:creationId xmlns:p14="http://schemas.microsoft.com/office/powerpoint/2010/main" val="36154220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有根树</a:t>
            </a:r>
            <a:endParaRPr lang="en-US" dirty="0"/>
          </a:p>
        </p:txBody>
      </p:sp>
      <p:sp>
        <p:nvSpPr>
          <p:cNvPr id="3" name="Content Placeholder 2"/>
          <p:cNvSpPr>
            <a:spLocks noGrp="1"/>
          </p:cNvSpPr>
          <p:nvPr>
            <p:ph idx="1"/>
          </p:nvPr>
        </p:nvSpPr>
        <p:spPr/>
        <p:txBody>
          <a:bodyPr>
            <a:normAutofit lnSpcReduction="10000"/>
          </a:bodyPr>
          <a:lstStyle/>
          <a:p>
            <a:r>
              <a:rPr lang="zh-CN" altLang="en-US" dirty="0"/>
              <a:t>例</a:t>
            </a:r>
            <a:r>
              <a:rPr lang="en-US" dirty="0"/>
              <a:t>: </a:t>
            </a:r>
            <a:r>
              <a:rPr lang="zh-CN" altLang="en-US" dirty="0"/>
              <a:t>如图</a:t>
            </a:r>
            <a:r>
              <a:rPr lang="en-US" altLang="zh-CN" dirty="0"/>
              <a:t>(a)</a:t>
            </a:r>
            <a:r>
              <a:rPr lang="zh-CN" altLang="en-US" dirty="0"/>
              <a:t>所示的二叉树</a:t>
            </a:r>
            <a:r>
              <a:rPr lang="en-US" altLang="zh-CN" dirty="0"/>
              <a:t>T</a:t>
            </a:r>
            <a:r>
              <a:rPr lang="zh-CN" altLang="en-US" dirty="0"/>
              <a:t>中</a:t>
            </a:r>
            <a:r>
              <a:rPr lang="en-US" altLang="zh-CN" dirty="0"/>
              <a:t>, d</a:t>
            </a:r>
            <a:r>
              <a:rPr lang="zh-CN" altLang="en-US" dirty="0"/>
              <a:t>的左子和右子是什么？</a:t>
            </a:r>
            <a:r>
              <a:rPr lang="en-US" altLang="zh-CN" dirty="0"/>
              <a:t>c</a:t>
            </a:r>
            <a:r>
              <a:rPr lang="zh-CN" altLang="en-US" dirty="0"/>
              <a:t>的左子树和右子树是什么？</a:t>
            </a:r>
            <a:endParaRPr lang="en-US" altLang="zh-CN" dirty="0"/>
          </a:p>
          <a:p>
            <a:endParaRPr lang="en-US" dirty="0"/>
          </a:p>
          <a:p>
            <a:endParaRPr lang="en-US" dirty="0"/>
          </a:p>
          <a:p>
            <a:endParaRPr lang="en-US" dirty="0"/>
          </a:p>
          <a:p>
            <a:endParaRPr lang="en-US" dirty="0"/>
          </a:p>
          <a:p>
            <a:endParaRPr lang="en-US" dirty="0"/>
          </a:p>
          <a:p>
            <a:endParaRPr lang="en-US" dirty="0"/>
          </a:p>
          <a:p>
            <a:endParaRPr lang="en-US" dirty="0"/>
          </a:p>
          <a:p>
            <a:r>
              <a:rPr lang="zh-CN" altLang="en-US" dirty="0"/>
              <a:t>解</a:t>
            </a:r>
            <a:r>
              <a:rPr lang="en-US" altLang="zh-CN" dirty="0"/>
              <a:t>:d</a:t>
            </a:r>
            <a:r>
              <a:rPr lang="zh-CN" altLang="en-US" dirty="0"/>
              <a:t>的左子是</a:t>
            </a:r>
            <a:r>
              <a:rPr lang="en-US" altLang="zh-CN" dirty="0"/>
              <a:t>f, </a:t>
            </a:r>
            <a:r>
              <a:rPr lang="zh-CN" altLang="en-US" dirty="0"/>
              <a:t>右子是</a:t>
            </a:r>
            <a:r>
              <a:rPr lang="en-US" altLang="zh-CN" dirty="0"/>
              <a:t>g. (b)</a:t>
            </a:r>
            <a:r>
              <a:rPr lang="zh-CN" altLang="en-US" dirty="0"/>
              <a:t>和</a:t>
            </a:r>
            <a:r>
              <a:rPr lang="en-US" altLang="zh-CN" dirty="0"/>
              <a:t>(c)</a:t>
            </a:r>
            <a:r>
              <a:rPr lang="zh-CN" altLang="en-US" dirty="0"/>
              <a:t>分别画出来</a:t>
            </a:r>
            <a:r>
              <a:rPr lang="en-US" altLang="zh-CN" dirty="0"/>
              <a:t>c</a:t>
            </a:r>
            <a:r>
              <a:rPr lang="zh-CN" altLang="en-US" dirty="0"/>
              <a:t>的左子树和右子树</a:t>
            </a:r>
            <a:r>
              <a:rPr lang="en-US" altLang="zh-CN" dirty="0"/>
              <a:t>.</a:t>
            </a:r>
            <a:endParaRPr lang="en-US" dirty="0"/>
          </a:p>
        </p:txBody>
      </p:sp>
      <p:pic>
        <p:nvPicPr>
          <p:cNvPr id="4" name="Picture 3"/>
          <p:cNvPicPr>
            <a:picLocks noChangeAspect="1"/>
          </p:cNvPicPr>
          <p:nvPr/>
        </p:nvPicPr>
        <p:blipFill rotWithShape="1">
          <a:blip r:embed="rId2" cstate="print">
            <a:extLst>
              <a:ext uri="{28A0092B-C50C-407E-A947-70E740481C1C}">
                <a14:useLocalDpi xmlns:a14="http://schemas.microsoft.com/office/drawing/2010/main" val="0"/>
              </a:ext>
            </a:extLst>
          </a:blip>
          <a:srcRect r="43023"/>
          <a:stretch/>
        </p:blipFill>
        <p:spPr>
          <a:xfrm>
            <a:off x="1905000" y="1870198"/>
            <a:ext cx="3667578" cy="3480448"/>
          </a:xfrm>
          <a:prstGeom prst="rect">
            <a:avLst/>
          </a:prstGeom>
        </p:spPr>
      </p:pic>
      <p:sp>
        <p:nvSpPr>
          <p:cNvPr id="9" name="日期占位符 8"/>
          <p:cNvSpPr>
            <a:spLocks noGrp="1"/>
          </p:cNvSpPr>
          <p:nvPr>
            <p:ph type="dt" sz="half" idx="10"/>
          </p:nvPr>
        </p:nvSpPr>
        <p:spPr/>
        <p:txBody>
          <a:bodyPr/>
          <a:lstStyle/>
          <a:p>
            <a:fld id="{77F8E2B4-382F-462D-9CA6-9BB2ABD04C66}" type="datetime1">
              <a:rPr lang="zh-CN" altLang="en-US" smtClean="0"/>
              <a:t>2025/4/15</a:t>
            </a:fld>
            <a:endParaRPr lang="zh-CN" altLang="en-US" dirty="0"/>
          </a:p>
        </p:txBody>
      </p:sp>
      <p:sp>
        <p:nvSpPr>
          <p:cNvPr id="10" name="页脚占位符 9"/>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1" name="灯片编号占位符 10"/>
          <p:cNvSpPr>
            <a:spLocks noGrp="1"/>
          </p:cNvSpPr>
          <p:nvPr>
            <p:ph type="sldNum" sz="quarter" idx="12"/>
          </p:nvPr>
        </p:nvSpPr>
        <p:spPr/>
        <p:txBody>
          <a:bodyPr/>
          <a:lstStyle/>
          <a:p>
            <a:fld id="{67913A8A-9EFB-4B5F-9CCB-3D21173FAA85}" type="slidenum">
              <a:rPr lang="zh-CN" altLang="en-US" smtClean="0"/>
              <a:pPr/>
              <a:t>17</a:t>
            </a:fld>
            <a:endParaRPr lang="zh-CN" altLang="en-US" dirty="0"/>
          </a:p>
        </p:txBody>
      </p:sp>
      <p:pic>
        <p:nvPicPr>
          <p:cNvPr id="8" name="Picture 3"/>
          <p:cNvPicPr>
            <a:picLocks noChangeAspect="1"/>
          </p:cNvPicPr>
          <p:nvPr/>
        </p:nvPicPr>
        <p:blipFill rotWithShape="1">
          <a:blip r:embed="rId2" cstate="print">
            <a:extLst>
              <a:ext uri="{28A0092B-C50C-407E-A947-70E740481C1C}">
                <a14:useLocalDpi xmlns:a14="http://schemas.microsoft.com/office/drawing/2010/main" val="0"/>
              </a:ext>
            </a:extLst>
          </a:blip>
          <a:srcRect l="61628"/>
          <a:stretch/>
        </p:blipFill>
        <p:spPr>
          <a:xfrm>
            <a:off x="6754587" y="1870198"/>
            <a:ext cx="2514600" cy="3543291"/>
          </a:xfrm>
          <a:prstGeom prst="rect">
            <a:avLst/>
          </a:prstGeom>
        </p:spPr>
      </p:pic>
    </p:spTree>
    <p:extLst>
      <p:ext uri="{BB962C8B-B14F-4D97-AF65-F5344CB8AC3E}">
        <p14:creationId xmlns:p14="http://schemas.microsoft.com/office/powerpoint/2010/main" val="1759438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animEffect transition="in" filter="wipe(down)">
                                      <p:cBhvr>
                                        <p:cTn id="7" dur="500"/>
                                        <p:tgtEl>
                                          <p:spTgt spid="3">
                                            <p:txEl>
                                              <p:pRg st="8" end="8"/>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down)">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树作为模型</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a:t>以树为模型的应用领域非常广泛</a:t>
                </a:r>
                <a:r>
                  <a:rPr lang="en-US" altLang="zh-CN" dirty="0"/>
                  <a:t>, </a:t>
                </a:r>
                <a:r>
                  <a:rPr lang="zh-CN" altLang="en-US" dirty="0"/>
                  <a:t>比如计算机科学</a:t>
                </a:r>
                <a:r>
                  <a:rPr lang="en-US" altLang="zh-CN" dirty="0"/>
                  <a:t>, </a:t>
                </a:r>
                <a:r>
                  <a:rPr lang="zh-CN" altLang="en-US" dirty="0"/>
                  <a:t>化学</a:t>
                </a:r>
                <a:r>
                  <a:rPr lang="en-US" altLang="zh-CN" dirty="0"/>
                  <a:t>, </a:t>
                </a:r>
                <a:r>
                  <a:rPr lang="zh-CN" altLang="en-US" dirty="0"/>
                  <a:t>地理学</a:t>
                </a:r>
                <a:r>
                  <a:rPr lang="en-US" altLang="zh-CN" dirty="0"/>
                  <a:t>, </a:t>
                </a:r>
                <a:r>
                  <a:rPr lang="zh-CN" altLang="en-US" dirty="0"/>
                  <a:t>植物学</a:t>
                </a:r>
                <a:r>
                  <a:rPr lang="en-US" altLang="zh-CN" dirty="0"/>
                  <a:t>, </a:t>
                </a:r>
                <a:r>
                  <a:rPr lang="zh-CN" altLang="en-US" dirty="0"/>
                  <a:t>心理学等等</a:t>
                </a:r>
                <a:r>
                  <a:rPr lang="en-US" altLang="zh-CN" dirty="0"/>
                  <a:t>.</a:t>
                </a:r>
                <a:endParaRPr lang="en-US" dirty="0"/>
              </a:p>
              <a:p>
                <a:r>
                  <a:rPr lang="zh-CN" altLang="en-US" dirty="0"/>
                  <a:t>例</a:t>
                </a:r>
                <a:r>
                  <a:rPr lang="en-US" altLang="zh-CN" dirty="0">
                    <a:sym typeface="Wingdings" panose="05000000000000000000" pitchFamily="2" charset="2"/>
                  </a:rPr>
                  <a:t>:(</a:t>
                </a:r>
                <a:r>
                  <a:rPr lang="zh-CN" altLang="en-US" dirty="0">
                    <a:sym typeface="Wingdings" panose="05000000000000000000" pitchFamily="2" charset="2"/>
                  </a:rPr>
                  <a:t>饱和碳氢化合物与树</a:t>
                </a:r>
                <a:r>
                  <a:rPr lang="en-US" altLang="zh-CN" dirty="0">
                    <a:sym typeface="Wingdings" panose="05000000000000000000" pitchFamily="2" charset="2"/>
                  </a:rPr>
                  <a:t>) </a:t>
                </a:r>
                <a:r>
                  <a:rPr lang="en-US" dirty="0"/>
                  <a:t>1857</a:t>
                </a:r>
                <a:r>
                  <a:rPr lang="zh-CN" altLang="en-US" dirty="0"/>
                  <a:t>年</a:t>
                </a:r>
                <a:r>
                  <a:rPr lang="en-US" altLang="zh-CN" dirty="0"/>
                  <a:t>, </a:t>
                </a:r>
                <a:r>
                  <a:rPr lang="zh-CN" altLang="en-US" dirty="0"/>
                  <a:t>树被数学家亚瑟</a:t>
                </a:r>
                <a:r>
                  <a:rPr lang="en-US" altLang="zh-CN" dirty="0"/>
                  <a:t>.</a:t>
                </a:r>
                <a:r>
                  <a:rPr lang="zh-CN" altLang="en-US" dirty="0"/>
                  <a:t>凯莱发现了树</a:t>
                </a:r>
                <a:r>
                  <a:rPr lang="en-US" altLang="zh-CN" dirty="0"/>
                  <a:t>, </a:t>
                </a:r>
                <a:r>
                  <a:rPr lang="zh-CN" altLang="en-US" dirty="0"/>
                  <a:t>用来试图列举形如</a:t>
                </a:r>
                <a14:m>
                  <m:oMath xmlns:m="http://schemas.openxmlformats.org/officeDocument/2006/math">
                    <m:sSub>
                      <m:sSubPr>
                        <m:ctrlPr>
                          <a:rPr lang="en-US" altLang="zh-CN" i="1" smtClean="0">
                            <a:latin typeface="Cambria Math" panose="02040503050406030204" pitchFamily="18" charset="0"/>
                          </a:rPr>
                        </m:ctrlPr>
                      </m:sSubPr>
                      <m:e>
                        <m:r>
                          <m:rPr>
                            <m:sty m:val="p"/>
                          </m:rPr>
                          <a:rPr lang="en-US" altLang="zh-CN" i="1">
                            <a:latin typeface="Cambria Math" panose="02040503050406030204" pitchFamily="18" charset="0"/>
                          </a:rPr>
                          <m:t>C</m:t>
                        </m:r>
                      </m:e>
                      <m:sub>
                        <m:r>
                          <a:rPr lang="en-US" altLang="zh-CN" b="0" i="1" smtClean="0">
                            <a:latin typeface="Cambria Math" panose="02040503050406030204" pitchFamily="18" charset="0"/>
                          </a:rPr>
                          <m:t>𝑛</m:t>
                        </m:r>
                      </m:sub>
                    </m:sSub>
                    <m:sSub>
                      <m:sSubPr>
                        <m:ctrlPr>
                          <a:rPr lang="en-US" altLang="zh-CN" i="1">
                            <a:latin typeface="Cambria Math" panose="02040503050406030204" pitchFamily="18" charset="0"/>
                          </a:rPr>
                        </m:ctrlPr>
                      </m:sSubPr>
                      <m:e>
                        <m:r>
                          <m:rPr>
                            <m:sty m:val="p"/>
                          </m:rPr>
                          <a:rPr lang="en-US" altLang="zh-CN" b="0" i="0" smtClean="0">
                            <a:latin typeface="Cambria Math" panose="02040503050406030204" pitchFamily="18" charset="0"/>
                          </a:rPr>
                          <m:t>H</m:t>
                        </m:r>
                      </m:e>
                      <m:sub>
                        <m:r>
                          <a:rPr lang="en-US" altLang="zh-CN" b="0" i="1" smtClean="0">
                            <a:latin typeface="Cambria Math" panose="02040503050406030204" pitchFamily="18" charset="0"/>
                          </a:rPr>
                          <m:t>2</m:t>
                        </m:r>
                        <m:r>
                          <a:rPr lang="en-US" altLang="zh-CN" i="1">
                            <a:latin typeface="Cambria Math" panose="02040503050406030204" pitchFamily="18" charset="0"/>
                          </a:rPr>
                          <m:t>𝑛</m:t>
                        </m:r>
                        <m:r>
                          <a:rPr lang="en-US" altLang="zh-CN" b="0" i="1" smtClean="0">
                            <a:latin typeface="Cambria Math" panose="02040503050406030204" pitchFamily="18" charset="0"/>
                          </a:rPr>
                          <m:t>+2</m:t>
                        </m:r>
                      </m:sub>
                    </m:sSub>
                  </m:oMath>
                </a14:m>
                <a:r>
                  <a:rPr lang="zh-CN" altLang="en-US" dirty="0"/>
                  <a:t>的化合物的同分异构体</a:t>
                </a:r>
                <a:r>
                  <a:rPr lang="en-US" altLang="zh-CN" dirty="0"/>
                  <a:t>, </a:t>
                </a:r>
                <a:r>
                  <a:rPr lang="zh-CN" altLang="en-US" dirty="0"/>
                  <a:t>如图所示</a:t>
                </a:r>
                <a:endParaRPr lang="en-US" altLang="zh-C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a:stretch>
              </a:blipFill>
            </p:spPr>
            <p:txBody>
              <a:bodyPr/>
              <a:lstStyle/>
              <a:p>
                <a:r>
                  <a:rPr lang="zh-CN" altLang="en-US">
                    <a:noFill/>
                  </a:rPr>
                  <a:t> </a:t>
                </a:r>
              </a:p>
            </p:txBody>
          </p:sp>
        </mc:Fallback>
      </mc:AlternateContent>
      <p:pic>
        <p:nvPicPr>
          <p:cNvPr id="2050"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r="66549" b="9643"/>
          <a:stretch/>
        </p:blipFill>
        <p:spPr bwMode="auto">
          <a:xfrm>
            <a:off x="1973944" y="3028237"/>
            <a:ext cx="1378856"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902442" y="57838"/>
            <a:ext cx="883158" cy="1030986"/>
          </a:xfrm>
          <a:prstGeom prst="rect">
            <a:avLst/>
          </a:prstGeom>
        </p:spPr>
      </p:pic>
      <p:sp>
        <p:nvSpPr>
          <p:cNvPr id="7" name="TextBox 6"/>
          <p:cNvSpPr txBox="1"/>
          <p:nvPr/>
        </p:nvSpPr>
        <p:spPr>
          <a:xfrm>
            <a:off x="9186672" y="331644"/>
            <a:ext cx="1676400" cy="646331"/>
          </a:xfrm>
          <a:prstGeom prst="rect">
            <a:avLst/>
          </a:prstGeom>
          <a:noFill/>
        </p:spPr>
        <p:txBody>
          <a:bodyPr wrap="square" rtlCol="0">
            <a:spAutoFit/>
          </a:bodyPr>
          <a:lstStyle/>
          <a:p>
            <a:r>
              <a:rPr lang="en-US" dirty="0"/>
              <a:t>Arthur </a:t>
            </a:r>
            <a:r>
              <a:rPr lang="en-US" dirty="0" err="1"/>
              <a:t>Cayley</a:t>
            </a:r>
            <a:endParaRPr lang="en-US" dirty="0"/>
          </a:p>
          <a:p>
            <a:r>
              <a:rPr lang="en-US" dirty="0"/>
              <a:t>(</a:t>
            </a:r>
            <a:r>
              <a:rPr lang="en-US" dirty="0">
                <a:latin typeface="Cambria Math" pitchFamily="18" charset="0"/>
                <a:ea typeface="Cambria Math" pitchFamily="18" charset="0"/>
              </a:rPr>
              <a:t>1821-1895</a:t>
            </a:r>
            <a:r>
              <a:rPr lang="en-US" dirty="0"/>
              <a:t>)</a:t>
            </a:r>
          </a:p>
        </p:txBody>
      </p:sp>
      <p:sp>
        <p:nvSpPr>
          <p:cNvPr id="12" name="日期占位符 11"/>
          <p:cNvSpPr>
            <a:spLocks noGrp="1"/>
          </p:cNvSpPr>
          <p:nvPr>
            <p:ph type="dt" sz="half" idx="10"/>
          </p:nvPr>
        </p:nvSpPr>
        <p:spPr/>
        <p:txBody>
          <a:bodyPr/>
          <a:lstStyle/>
          <a:p>
            <a:fld id="{9B86B720-CC79-4B43-8E21-E96D35B1CE9C}" type="datetime1">
              <a:rPr lang="zh-CN" altLang="en-US" smtClean="0"/>
              <a:t>2025/4/15</a:t>
            </a:fld>
            <a:endParaRPr lang="zh-CN" altLang="en-US" dirty="0"/>
          </a:p>
        </p:txBody>
      </p:sp>
      <p:sp>
        <p:nvSpPr>
          <p:cNvPr id="13" name="页脚占位符 12"/>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4" name="灯片编号占位符 13"/>
          <p:cNvSpPr>
            <a:spLocks noGrp="1"/>
          </p:cNvSpPr>
          <p:nvPr>
            <p:ph type="sldNum" sz="quarter" idx="12"/>
          </p:nvPr>
        </p:nvSpPr>
        <p:spPr/>
        <p:txBody>
          <a:bodyPr/>
          <a:lstStyle/>
          <a:p>
            <a:fld id="{67913A8A-9EFB-4B5F-9CCB-3D21173FAA85}" type="slidenum">
              <a:rPr lang="zh-CN" altLang="en-US" smtClean="0"/>
              <a:pPr/>
              <a:t>18</a:t>
            </a:fld>
            <a:endParaRPr lang="zh-CN" altLang="en-US" dirty="0"/>
          </a:p>
        </p:txBody>
      </p:sp>
      <p:pic>
        <p:nvPicPr>
          <p:cNvPr id="10"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34824" b="9643"/>
          <a:stretch/>
        </p:blipFill>
        <p:spPr bwMode="auto">
          <a:xfrm>
            <a:off x="6324600" y="3038069"/>
            <a:ext cx="2686606"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本框 3"/>
          <p:cNvSpPr txBox="1"/>
          <p:nvPr/>
        </p:nvSpPr>
        <p:spPr>
          <a:xfrm>
            <a:off x="2133600" y="5776021"/>
            <a:ext cx="800219" cy="461665"/>
          </a:xfrm>
          <a:prstGeom prst="rect">
            <a:avLst/>
          </a:prstGeom>
          <a:noFill/>
        </p:spPr>
        <p:txBody>
          <a:bodyPr wrap="none" rtlCol="0">
            <a:spAutoFit/>
          </a:bodyPr>
          <a:lstStyle/>
          <a:p>
            <a:r>
              <a:rPr lang="zh-CN" altLang="en-US" sz="2400" dirty="0">
                <a:latin typeface="微软雅黑" panose="020B0503020204020204" pitchFamily="34" charset="-122"/>
                <a:ea typeface="微软雅黑" panose="020B0503020204020204" pitchFamily="34" charset="-122"/>
              </a:rPr>
              <a:t>丁烷</a:t>
            </a:r>
          </a:p>
        </p:txBody>
      </p:sp>
      <p:sp>
        <p:nvSpPr>
          <p:cNvPr id="15" name="文本框 14"/>
          <p:cNvSpPr txBox="1"/>
          <p:nvPr/>
        </p:nvSpPr>
        <p:spPr>
          <a:xfrm>
            <a:off x="7276982" y="5732326"/>
            <a:ext cx="1107996" cy="461665"/>
          </a:xfrm>
          <a:prstGeom prst="rect">
            <a:avLst/>
          </a:prstGeom>
          <a:noFill/>
        </p:spPr>
        <p:txBody>
          <a:bodyPr wrap="none" rtlCol="0">
            <a:spAutoFit/>
          </a:bodyPr>
          <a:lstStyle/>
          <a:p>
            <a:r>
              <a:rPr lang="zh-CN" altLang="en-US" sz="2400" dirty="0">
                <a:latin typeface="微软雅黑" panose="020B0503020204020204" pitchFamily="34" charset="-122"/>
                <a:ea typeface="微软雅黑" panose="020B0503020204020204" pitchFamily="34" charset="-122"/>
              </a:rPr>
              <a:t>异丁烷</a:t>
            </a:r>
          </a:p>
        </p:txBody>
      </p:sp>
    </p:spTree>
    <p:extLst>
      <p:ext uri="{BB962C8B-B14F-4D97-AF65-F5344CB8AC3E}">
        <p14:creationId xmlns:p14="http://schemas.microsoft.com/office/powerpoint/2010/main" val="37562108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树作为模型</a:t>
            </a:r>
            <a:endParaRPr lang="en-US" dirty="0"/>
          </a:p>
        </p:txBody>
      </p:sp>
      <p:sp>
        <p:nvSpPr>
          <p:cNvPr id="3" name="Content Placeholder 2"/>
          <p:cNvSpPr>
            <a:spLocks noGrp="1"/>
          </p:cNvSpPr>
          <p:nvPr>
            <p:ph idx="1"/>
          </p:nvPr>
        </p:nvSpPr>
        <p:spPr/>
        <p:txBody>
          <a:bodyPr>
            <a:normAutofit/>
          </a:bodyPr>
          <a:lstStyle/>
          <a:p>
            <a:r>
              <a:rPr lang="zh-CN" altLang="en-US" dirty="0"/>
              <a:t>例</a:t>
            </a:r>
            <a:r>
              <a:rPr lang="en-US" altLang="zh-CN" dirty="0"/>
              <a:t>: (</a:t>
            </a:r>
            <a:r>
              <a:rPr lang="zh-CN" altLang="en-US" dirty="0"/>
              <a:t>表示组织机构</a:t>
            </a:r>
            <a:r>
              <a:rPr lang="en-US" altLang="zh-CN" dirty="0"/>
              <a:t>)</a:t>
            </a:r>
            <a:r>
              <a:rPr lang="zh-CN" altLang="en-US" dirty="0"/>
              <a:t>大型组织机构的结构可以用有根树来建模</a:t>
            </a:r>
            <a:r>
              <a:rPr lang="en-US" altLang="zh-CN" dirty="0"/>
              <a:t>. </a:t>
            </a:r>
            <a:r>
              <a:rPr lang="zh-CN" altLang="en-US" dirty="0"/>
              <a:t>每个顶点表示机构中的一个职务</a:t>
            </a:r>
            <a:r>
              <a:rPr lang="en-US" altLang="zh-CN" dirty="0"/>
              <a:t>. </a:t>
            </a:r>
            <a:r>
              <a:rPr lang="zh-CN" altLang="en-US" dirty="0"/>
              <a:t>从一个顶点到另外一个顶点的边的起点所表示的是终点所表示的人的直接上司</a:t>
            </a:r>
            <a:r>
              <a:rPr lang="en-US" altLang="zh-CN" dirty="0"/>
              <a:t>. </a:t>
            </a:r>
            <a:r>
              <a:rPr lang="zh-CN" altLang="en-US" dirty="0"/>
              <a:t>如图所示</a:t>
            </a:r>
            <a:r>
              <a:rPr lang="en-US" dirty="0"/>
              <a:t>. </a:t>
            </a:r>
          </a:p>
        </p:txBody>
      </p:sp>
      <p:sp>
        <p:nvSpPr>
          <p:cNvPr id="12" name="日期占位符 11"/>
          <p:cNvSpPr>
            <a:spLocks noGrp="1"/>
          </p:cNvSpPr>
          <p:nvPr>
            <p:ph type="dt" sz="half" idx="10"/>
          </p:nvPr>
        </p:nvSpPr>
        <p:spPr/>
        <p:txBody>
          <a:bodyPr/>
          <a:lstStyle/>
          <a:p>
            <a:fld id="{39860FF0-D5AE-4C81-93CA-0AFDD8AB368A}" type="datetime1">
              <a:rPr lang="zh-CN" altLang="en-US" smtClean="0"/>
              <a:t>2025/4/15</a:t>
            </a:fld>
            <a:endParaRPr lang="zh-CN" altLang="en-US" dirty="0"/>
          </a:p>
        </p:txBody>
      </p:sp>
      <p:sp>
        <p:nvSpPr>
          <p:cNvPr id="13" name="页脚占位符 12"/>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4" name="灯片编号占位符 13"/>
          <p:cNvSpPr>
            <a:spLocks noGrp="1"/>
          </p:cNvSpPr>
          <p:nvPr>
            <p:ph type="sldNum" sz="quarter" idx="12"/>
          </p:nvPr>
        </p:nvSpPr>
        <p:spPr/>
        <p:txBody>
          <a:bodyPr/>
          <a:lstStyle/>
          <a:p>
            <a:fld id="{67913A8A-9EFB-4B5F-9CCB-3D21173FAA85}" type="slidenum">
              <a:rPr lang="zh-CN" altLang="en-US" smtClean="0"/>
              <a:pPr/>
              <a:t>19</a:t>
            </a:fld>
            <a:endParaRPr lang="zh-CN" altLang="en-US" dirty="0"/>
          </a:p>
        </p:txBody>
      </p:sp>
      <p:pic>
        <p:nvPicPr>
          <p:cNvPr id="5" name="图片 4"/>
          <p:cNvPicPr>
            <a:picLocks noChangeAspect="1"/>
          </p:cNvPicPr>
          <p:nvPr/>
        </p:nvPicPr>
        <p:blipFill>
          <a:blip r:embed="rId2"/>
          <a:stretch>
            <a:fillRect/>
          </a:stretch>
        </p:blipFill>
        <p:spPr>
          <a:xfrm>
            <a:off x="897297" y="2590800"/>
            <a:ext cx="10397406" cy="3219948"/>
          </a:xfrm>
          <a:prstGeom prst="rect">
            <a:avLst/>
          </a:prstGeom>
        </p:spPr>
      </p:pic>
    </p:spTree>
    <p:extLst>
      <p:ext uri="{BB962C8B-B14F-4D97-AF65-F5344CB8AC3E}">
        <p14:creationId xmlns:p14="http://schemas.microsoft.com/office/powerpoint/2010/main" val="2525497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46314" y="3352799"/>
            <a:ext cx="11277599" cy="457201"/>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457200" y="1142999"/>
            <a:ext cx="11277599" cy="457201"/>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树的性质</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a:t>定理</a:t>
                </a:r>
                <a:r>
                  <a:rPr lang="en-US" altLang="zh-CN" dirty="0"/>
                  <a:t>:</a:t>
                </a:r>
                <a:r>
                  <a:rPr lang="zh-CN" altLang="en-US" dirty="0"/>
                  <a:t>带有</a:t>
                </a:r>
                <a:r>
                  <a:rPr lang="en-US" altLang="zh-CN" dirty="0"/>
                  <a:t>n</a:t>
                </a:r>
                <a:r>
                  <a:rPr lang="zh-CN" altLang="en-US" dirty="0"/>
                  <a:t>个顶点的树含有</a:t>
                </a:r>
                <a:r>
                  <a:rPr lang="en-US" altLang="zh-CN" dirty="0"/>
                  <a:t>n-1</a:t>
                </a:r>
                <a:r>
                  <a:rPr lang="zh-CN" altLang="en-US" dirty="0"/>
                  <a:t>条边</a:t>
                </a:r>
                <a:r>
                  <a:rPr lang="en-US" dirty="0"/>
                  <a:t>.</a:t>
                </a:r>
              </a:p>
              <a:p>
                <a:endParaRPr lang="en-US" dirty="0"/>
              </a:p>
              <a:p>
                <a:r>
                  <a:rPr lang="zh-CN" altLang="en-US" dirty="0"/>
                  <a:t>计算满</a:t>
                </a:r>
                <a:r>
                  <a:rPr lang="en-US" altLang="zh-CN" dirty="0"/>
                  <a:t>m</a:t>
                </a:r>
                <a:r>
                  <a:rPr lang="zh-CN" altLang="en-US" dirty="0"/>
                  <a:t>叉树中的顶点数方法如下</a:t>
                </a:r>
                <a:r>
                  <a:rPr lang="en-US" altLang="zh-CN" dirty="0"/>
                  <a:t>, </a:t>
                </a:r>
              </a:p>
              <a:p>
                <a:r>
                  <a:rPr lang="zh-CN" altLang="en-US" dirty="0"/>
                  <a:t>定理</a:t>
                </a:r>
                <a:r>
                  <a:rPr lang="en-US" altLang="zh-CN" dirty="0"/>
                  <a:t>: </a:t>
                </a:r>
                <a:r>
                  <a:rPr lang="zh-CN" altLang="en-US" dirty="0"/>
                  <a:t>带有</a:t>
                </a:r>
                <a14:m>
                  <m:oMath xmlns:m="http://schemas.openxmlformats.org/officeDocument/2006/math">
                    <m:r>
                      <a:rPr lang="en-US" altLang="zh-CN" b="0" i="1" smtClean="0">
                        <a:latin typeface="Cambria Math" panose="02040503050406030204" pitchFamily="18" charset="0"/>
                      </a:rPr>
                      <m:t>𝑖</m:t>
                    </m:r>
                  </m:oMath>
                </a14:m>
                <a:r>
                  <a:rPr lang="zh-CN" altLang="en-US" dirty="0"/>
                  <a:t>个内点的满</a:t>
                </a:r>
                <a14:m>
                  <m:oMath xmlns:m="http://schemas.openxmlformats.org/officeDocument/2006/math">
                    <m:r>
                      <a:rPr lang="en-US" altLang="zh-CN" b="0" i="1" smtClean="0">
                        <a:latin typeface="Cambria Math" panose="02040503050406030204" pitchFamily="18" charset="0"/>
                      </a:rPr>
                      <m:t>𝑚</m:t>
                    </m:r>
                  </m:oMath>
                </a14:m>
                <a:r>
                  <a:rPr lang="zh-CN" altLang="en-US" dirty="0"/>
                  <a:t>叉树含有</a:t>
                </a:r>
                <a14:m>
                  <m:oMath xmlns:m="http://schemas.openxmlformats.org/officeDocument/2006/math">
                    <m:r>
                      <a:rPr lang="en-US" altLang="zh-CN" b="0" i="1" smtClean="0">
                        <a:latin typeface="Cambria Math" panose="02040503050406030204" pitchFamily="18" charset="0"/>
                      </a:rPr>
                      <m:t>𝑛</m:t>
                    </m:r>
                  </m:oMath>
                </a14:m>
                <a:r>
                  <a:rPr lang="en-US" altLang="zh-CN" dirty="0"/>
                  <a:t>= </a:t>
                </a:r>
                <a14:m>
                  <m:oMath xmlns:m="http://schemas.openxmlformats.org/officeDocument/2006/math">
                    <m:r>
                      <a:rPr lang="en-US" altLang="zh-CN" i="1">
                        <a:latin typeface="Cambria Math" panose="02040503050406030204" pitchFamily="18" charset="0"/>
                      </a:rPr>
                      <m:t>𝑚𝑖</m:t>
                    </m:r>
                  </m:oMath>
                </a14:m>
                <a:r>
                  <a:rPr lang="en-US" altLang="zh-CN" dirty="0"/>
                  <a:t>+1</a:t>
                </a:r>
                <a:r>
                  <a:rPr lang="zh-CN" altLang="en-US" dirty="0"/>
                  <a:t>个顶点</a:t>
                </a:r>
                <a:r>
                  <a:rPr lang="en-US" altLang="zh-CN" dirty="0"/>
                  <a:t>.</a:t>
                </a:r>
              </a:p>
              <a:p>
                <a:r>
                  <a:rPr lang="zh-CN" altLang="en-US" dirty="0"/>
                  <a:t>证</a:t>
                </a:r>
                <a:r>
                  <a:rPr lang="en-US" altLang="zh-CN" dirty="0"/>
                  <a:t>: </a:t>
                </a:r>
                <a:r>
                  <a:rPr lang="zh-CN" altLang="en-US" dirty="0"/>
                  <a:t>除了根以外的每个顶点都是内点的孩子</a:t>
                </a:r>
                <a:r>
                  <a:rPr lang="en-US" altLang="zh-CN" dirty="0"/>
                  <a:t>. </a:t>
                </a:r>
                <a:r>
                  <a:rPr lang="zh-CN" altLang="en-US" dirty="0"/>
                  <a:t>因为每个内点有</a:t>
                </a:r>
                <a:r>
                  <a:rPr lang="en-US" altLang="zh-CN" dirty="0"/>
                  <a:t>m</a:t>
                </a:r>
                <a:r>
                  <a:rPr lang="zh-CN" altLang="en-US" dirty="0"/>
                  <a:t>个孩子</a:t>
                </a:r>
                <a:r>
                  <a:rPr lang="en-US" altLang="zh-CN" dirty="0"/>
                  <a:t>, </a:t>
                </a:r>
                <a:r>
                  <a:rPr lang="zh-CN" altLang="en-US" dirty="0"/>
                  <a:t>所以在树中除了根以外还有</a:t>
                </a:r>
                <a:r>
                  <a:rPr lang="en-US" altLang="zh-CN" dirty="0"/>
                  <a:t>mi</a:t>
                </a:r>
                <a:r>
                  <a:rPr lang="zh-CN" altLang="en-US" dirty="0"/>
                  <a:t>个孩子</a:t>
                </a:r>
                <a:r>
                  <a:rPr lang="en-US" altLang="zh-CN" dirty="0"/>
                  <a:t>. </a:t>
                </a:r>
                <a:r>
                  <a:rPr lang="zh-CN" altLang="en-US" dirty="0"/>
                  <a:t>所以满</a:t>
                </a:r>
                <a:r>
                  <a:rPr lang="en-US" altLang="zh-CN" dirty="0"/>
                  <a:t>m</a:t>
                </a:r>
                <a:r>
                  <a:rPr lang="zh-CN" altLang="en-US" dirty="0"/>
                  <a:t>叉树共有</a:t>
                </a:r>
                <a:r>
                  <a:rPr lang="en-US" altLang="zh-CN" dirty="0"/>
                  <a:t>n=mi +1</a:t>
                </a:r>
                <a:r>
                  <a:rPr lang="zh-CN" altLang="en-US" dirty="0"/>
                  <a:t>个顶点</a:t>
                </a:r>
                <a:r>
                  <a:rPr lang="en-US" altLang="zh-CN" dirty="0"/>
                  <a:t>.</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99" t="-1310"/>
                </a:stretch>
              </a:blipFill>
            </p:spPr>
            <p:txBody>
              <a:bodyPr/>
              <a:lstStyle/>
              <a:p>
                <a:r>
                  <a:rPr lang="zh-CN" altLang="en-US">
                    <a:noFill/>
                  </a:rPr>
                  <a:t> </a:t>
                </a:r>
              </a:p>
            </p:txBody>
          </p:sp>
        </mc:Fallback>
      </mc:AlternateContent>
      <p:sp>
        <p:nvSpPr>
          <p:cNvPr id="9" name="日期占位符 8"/>
          <p:cNvSpPr>
            <a:spLocks noGrp="1"/>
          </p:cNvSpPr>
          <p:nvPr>
            <p:ph type="dt" sz="half" idx="10"/>
          </p:nvPr>
        </p:nvSpPr>
        <p:spPr/>
        <p:txBody>
          <a:bodyPr/>
          <a:lstStyle/>
          <a:p>
            <a:fld id="{05F8D57B-3C58-4B16-9CC8-96E78BBBC820}" type="datetime1">
              <a:rPr lang="zh-CN" altLang="en-US" smtClean="0"/>
              <a:t>2025/4/15</a:t>
            </a:fld>
            <a:endParaRPr lang="zh-CN" altLang="en-US" dirty="0"/>
          </a:p>
        </p:txBody>
      </p:sp>
      <p:sp>
        <p:nvSpPr>
          <p:cNvPr id="10" name="页脚占位符 9"/>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1" name="灯片编号占位符 10"/>
          <p:cNvSpPr>
            <a:spLocks noGrp="1"/>
          </p:cNvSpPr>
          <p:nvPr>
            <p:ph type="sldNum" sz="quarter" idx="12"/>
          </p:nvPr>
        </p:nvSpPr>
        <p:spPr/>
        <p:txBody>
          <a:bodyPr/>
          <a:lstStyle/>
          <a:p>
            <a:fld id="{67913A8A-9EFB-4B5F-9CCB-3D21173FAA85}" type="slidenum">
              <a:rPr lang="zh-CN" altLang="en-US" smtClean="0"/>
              <a:pPr/>
              <a:t>20</a:t>
            </a:fld>
            <a:endParaRPr lang="zh-CN" altLang="en-US" dirty="0"/>
          </a:p>
        </p:txBody>
      </p:sp>
    </p:spTree>
    <p:extLst>
      <p:ext uri="{BB962C8B-B14F-4D97-AF65-F5344CB8AC3E}">
        <p14:creationId xmlns:p14="http://schemas.microsoft.com/office/powerpoint/2010/main" val="19665067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57201" y="2496297"/>
            <a:ext cx="11277599" cy="1770903"/>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树的性质</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altLang="zh-CN" dirty="0"/>
                  <a:t>T</a:t>
                </a:r>
                <a:r>
                  <a:rPr lang="zh-CN" altLang="en-US" dirty="0"/>
                  <a:t>是满</a:t>
                </a:r>
                <a14:m>
                  <m:oMath xmlns:m="http://schemas.openxmlformats.org/officeDocument/2006/math">
                    <m:r>
                      <a:rPr lang="en-US" altLang="zh-CN" i="1">
                        <a:latin typeface="Cambria Math" panose="02040503050406030204" pitchFamily="18" charset="0"/>
                      </a:rPr>
                      <m:t>𝑚</m:t>
                    </m:r>
                  </m:oMath>
                </a14:m>
                <a:r>
                  <a:rPr lang="zh-CN" altLang="en-US" dirty="0"/>
                  <a:t>叉树</a:t>
                </a:r>
                <a:r>
                  <a:rPr lang="en-US" altLang="zh-CN" dirty="0"/>
                  <a:t>, </a:t>
                </a:r>
                <a14:m>
                  <m:oMath xmlns:m="http://schemas.openxmlformats.org/officeDocument/2006/math">
                    <m:r>
                      <a:rPr lang="en-US" altLang="zh-CN" i="1">
                        <a:latin typeface="Cambria Math" panose="02040503050406030204" pitchFamily="18" charset="0"/>
                      </a:rPr>
                      <m:t>𝑛</m:t>
                    </m:r>
                  </m:oMath>
                </a14:m>
                <a:r>
                  <a:rPr lang="zh-CN" altLang="en-US" dirty="0"/>
                  <a:t>是它的顶点数</a:t>
                </a:r>
                <a:r>
                  <a:rPr lang="en-US" altLang="zh-CN" dirty="0"/>
                  <a:t>, </a:t>
                </a:r>
                <a14:m>
                  <m:oMath xmlns:m="http://schemas.openxmlformats.org/officeDocument/2006/math">
                    <m:r>
                      <a:rPr lang="en-US" altLang="zh-CN" i="1">
                        <a:latin typeface="Cambria Math" panose="02040503050406030204" pitchFamily="18" charset="0"/>
                      </a:rPr>
                      <m:t>𝑖</m:t>
                    </m:r>
                  </m:oMath>
                </a14:m>
                <a:r>
                  <a:rPr lang="zh-CN" altLang="en-US" dirty="0"/>
                  <a:t>是它的内点数</a:t>
                </a:r>
                <a:r>
                  <a:rPr lang="en-US" altLang="zh-CN" dirty="0"/>
                  <a:t>, </a:t>
                </a:r>
                <a14:m>
                  <m:oMath xmlns:m="http://schemas.openxmlformats.org/officeDocument/2006/math">
                    <m:r>
                      <a:rPr lang="en-US" altLang="zh-CN" b="0" i="1" smtClean="0">
                        <a:latin typeface="Cambria Math" panose="02040503050406030204" pitchFamily="18" charset="0"/>
                      </a:rPr>
                      <m:t>𝑙</m:t>
                    </m:r>
                  </m:oMath>
                </a14:m>
                <a:r>
                  <a:rPr lang="zh-CN" altLang="en-US" dirty="0"/>
                  <a:t>是它的树叶数</a:t>
                </a:r>
                <a:r>
                  <a:rPr lang="en-US" altLang="zh-CN" dirty="0"/>
                  <a:t>. </a:t>
                </a:r>
                <a:r>
                  <a:rPr lang="zh-CN" altLang="en-US" dirty="0"/>
                  <a:t>那么只要知道这三个量中的任何一个</a:t>
                </a:r>
                <a:r>
                  <a:rPr lang="en-US" altLang="zh-CN" dirty="0"/>
                  <a:t>, </a:t>
                </a:r>
                <a:r>
                  <a:rPr lang="zh-CN" altLang="en-US" dirty="0"/>
                  <a:t>其他两个都可以求出</a:t>
                </a:r>
                <a:r>
                  <a:rPr lang="en-US" altLang="zh-CN" dirty="0"/>
                  <a:t>. </a:t>
                </a:r>
                <a:r>
                  <a:rPr lang="zh-CN" altLang="en-US" dirty="0"/>
                  <a:t>如下定理所示</a:t>
                </a:r>
                <a:endParaRPr lang="en-US" altLang="zh-CN" dirty="0"/>
              </a:p>
              <a:p>
                <a:r>
                  <a:rPr lang="zh-CN" altLang="en-US" dirty="0"/>
                  <a:t>定理</a:t>
                </a:r>
                <a:r>
                  <a:rPr lang="en-US" altLang="zh-CN" dirty="0"/>
                  <a:t>:</a:t>
                </a:r>
                <a:r>
                  <a:rPr lang="zh-CN" altLang="en-US" dirty="0"/>
                  <a:t>一个满</a:t>
                </a:r>
                <a14:m>
                  <m:oMath xmlns:m="http://schemas.openxmlformats.org/officeDocument/2006/math">
                    <m:r>
                      <a:rPr lang="en-US" altLang="zh-CN" i="1">
                        <a:latin typeface="Cambria Math" panose="02040503050406030204" pitchFamily="18" charset="0"/>
                      </a:rPr>
                      <m:t>𝑚</m:t>
                    </m:r>
                  </m:oMath>
                </a14:m>
                <a:r>
                  <a:rPr lang="zh-CN" altLang="en-US" dirty="0"/>
                  <a:t>叉树若有</a:t>
                </a:r>
                <a:endParaRPr lang="en-US" dirty="0"/>
              </a:p>
              <a:p>
                <a:pPr lvl="1"/>
                <a:r>
                  <a:rPr lang="en-US" dirty="0"/>
                  <a:t>(</a:t>
                </a:r>
                <a:r>
                  <a:rPr lang="en-US" dirty="0" err="1"/>
                  <a:t>i</a:t>
                </a:r>
                <a:r>
                  <a:rPr lang="en-US" dirty="0"/>
                  <a:t>) </a:t>
                </a:r>
                <a14:m>
                  <m:oMath xmlns:m="http://schemas.openxmlformats.org/officeDocument/2006/math">
                    <m:r>
                      <a:rPr lang="en-US" altLang="zh-CN" i="1">
                        <a:latin typeface="Cambria Math" panose="02040503050406030204" pitchFamily="18" charset="0"/>
                      </a:rPr>
                      <m:t>𝑛</m:t>
                    </m:r>
                  </m:oMath>
                </a14:m>
                <a:r>
                  <a:rPr lang="zh-CN" altLang="en-US" dirty="0"/>
                  <a:t>个顶点</a:t>
                </a:r>
                <a:r>
                  <a:rPr lang="en-US" altLang="zh-CN" dirty="0"/>
                  <a:t>, </a:t>
                </a:r>
                <a:r>
                  <a:rPr lang="zh-CN" altLang="en-US" dirty="0"/>
                  <a:t>则有</a:t>
                </a:r>
                <a14:m>
                  <m:oMath xmlns:m="http://schemas.openxmlformats.org/officeDocument/2006/math">
                    <m:r>
                      <a:rPr lang="en-US" altLang="zh-CN" i="1">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𝑛</m:t>
                    </m:r>
                    <m:r>
                      <a:rPr lang="en-US" altLang="zh-CN" b="0" i="1" smtClean="0">
                        <a:latin typeface="Cambria Math" panose="02040503050406030204" pitchFamily="18" charset="0"/>
                      </a:rPr>
                      <m:t>−1)/</m:t>
                    </m:r>
                    <m:r>
                      <a:rPr lang="en-US" altLang="zh-CN" b="0" i="1" smtClean="0">
                        <a:latin typeface="Cambria Math" panose="02040503050406030204" pitchFamily="18" charset="0"/>
                      </a:rPr>
                      <m:t>𝑚</m:t>
                    </m:r>
                  </m:oMath>
                </a14:m>
                <a:r>
                  <a:rPr lang="zh-CN" altLang="en-US" dirty="0"/>
                  <a:t>个内点</a:t>
                </a:r>
                <a:r>
                  <a:rPr lang="en-US" altLang="zh-CN" dirty="0"/>
                  <a:t>, </a:t>
                </a:r>
                <a14:m>
                  <m:oMath xmlns:m="http://schemas.openxmlformats.org/officeDocument/2006/math">
                    <m:r>
                      <a:rPr lang="en-US" altLang="zh-CN" b="0" i="1" smtClean="0">
                        <a:latin typeface="Cambria Math" panose="02040503050406030204" pitchFamily="18" charset="0"/>
                      </a:rPr>
                      <m:t>𝑙</m:t>
                    </m:r>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𝑚</m:t>
                            </m:r>
                            <m:r>
                              <a:rPr lang="en-US" altLang="zh-CN" b="0" i="1" smtClean="0">
                                <a:latin typeface="Cambria Math" panose="02040503050406030204" pitchFamily="18" charset="0"/>
                              </a:rPr>
                              <m:t>−1</m:t>
                            </m:r>
                          </m:e>
                        </m:d>
                        <m:r>
                          <a:rPr lang="en-US" altLang="zh-CN" b="0" i="1" smtClean="0">
                            <a:latin typeface="Cambria Math" panose="02040503050406030204" pitchFamily="18" charset="0"/>
                          </a:rPr>
                          <m:t>𝑛</m:t>
                        </m:r>
                        <m:r>
                          <a:rPr lang="en-US" altLang="zh-CN" b="0" i="1" smtClean="0">
                            <a:latin typeface="Cambria Math" panose="02040503050406030204" pitchFamily="18" charset="0"/>
                          </a:rPr>
                          <m:t>+1</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𝑚</m:t>
                    </m:r>
                  </m:oMath>
                </a14:m>
                <a:r>
                  <a:rPr lang="en-US" altLang="zh-CN" dirty="0">
                    <a:latin typeface="Cambria Math"/>
                    <a:ea typeface="Cambria Math"/>
                  </a:rPr>
                  <a:t> </a:t>
                </a:r>
                <a:r>
                  <a:rPr lang="zh-CN" altLang="en-US" dirty="0"/>
                  <a:t>个树叶</a:t>
                </a:r>
                <a:endParaRPr lang="en-US" dirty="0"/>
              </a:p>
              <a:p>
                <a:pPr lvl="1"/>
                <a:r>
                  <a:rPr lang="en-US" dirty="0"/>
                  <a:t>(ii)</a:t>
                </a:r>
                <a:r>
                  <a:rPr lang="en-US" altLang="zh-CN" dirty="0"/>
                  <a:t> </a:t>
                </a:r>
                <a14:m>
                  <m:oMath xmlns:m="http://schemas.openxmlformats.org/officeDocument/2006/math">
                    <m:r>
                      <a:rPr lang="en-US" altLang="zh-CN" i="1">
                        <a:latin typeface="Cambria Math" panose="02040503050406030204" pitchFamily="18" charset="0"/>
                      </a:rPr>
                      <m:t>𝑖</m:t>
                    </m:r>
                  </m:oMath>
                </a14:m>
                <a:r>
                  <a:rPr lang="zh-CN" altLang="en-US" dirty="0"/>
                  <a:t>个内点</a:t>
                </a:r>
                <a:r>
                  <a:rPr lang="en-US" altLang="zh-CN" dirty="0"/>
                  <a:t>, </a:t>
                </a:r>
                <a:r>
                  <a:rPr lang="zh-CN" altLang="en-US" dirty="0"/>
                  <a:t>则有</a:t>
                </a:r>
                <a14:m>
                  <m:oMath xmlns:m="http://schemas.openxmlformats.org/officeDocument/2006/math">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𝑚𝑖</m:t>
                    </m:r>
                    <m:r>
                      <a:rPr lang="en-US" altLang="zh-CN" b="0" i="1" smtClean="0">
                        <a:latin typeface="Cambria Math" panose="02040503050406030204" pitchFamily="18" charset="0"/>
                      </a:rPr>
                      <m:t>+1</m:t>
                    </m:r>
                  </m:oMath>
                </a14:m>
                <a:r>
                  <a:rPr lang="zh-CN" altLang="en-US" dirty="0"/>
                  <a:t>个顶点</a:t>
                </a:r>
                <a:r>
                  <a:rPr lang="en-US" altLang="zh-CN" dirty="0"/>
                  <a:t>, </a:t>
                </a:r>
                <a14:m>
                  <m:oMath xmlns:m="http://schemas.openxmlformats.org/officeDocument/2006/math">
                    <m:r>
                      <a:rPr lang="en-US" altLang="zh-CN" i="1">
                        <a:latin typeface="Cambria Math" panose="02040503050406030204" pitchFamily="18" charset="0"/>
                      </a:rPr>
                      <m:t>𝑙</m:t>
                    </m:r>
                    <m:r>
                      <a:rPr lang="en-US" altLang="zh-CN" i="1">
                        <a:latin typeface="Cambria Math" panose="02040503050406030204" pitchFamily="18" charset="0"/>
                      </a:rPr>
                      <m:t>=</m:t>
                    </m:r>
                    <m:d>
                      <m:dPr>
                        <m:ctrlPr>
                          <a:rPr lang="en-US" altLang="zh-CN" i="1">
                            <a:latin typeface="Cambria Math" panose="02040503050406030204" pitchFamily="18" charset="0"/>
                          </a:rPr>
                        </m:ctrlPr>
                      </m:dPr>
                      <m:e>
                        <m:r>
                          <a:rPr lang="en-US" altLang="zh-CN" i="1">
                            <a:latin typeface="Cambria Math" panose="02040503050406030204" pitchFamily="18" charset="0"/>
                          </a:rPr>
                          <m:t>𝑚</m:t>
                        </m:r>
                        <m:r>
                          <a:rPr lang="en-US" altLang="zh-CN" i="1">
                            <a:latin typeface="Cambria Math" panose="02040503050406030204" pitchFamily="18" charset="0"/>
                          </a:rPr>
                          <m:t>−1</m:t>
                        </m:r>
                      </m:e>
                    </m:d>
                    <m:r>
                      <a:rPr lang="en-US" altLang="zh-CN" i="1">
                        <a:latin typeface="Cambria Math" panose="02040503050406030204" pitchFamily="18" charset="0"/>
                      </a:rPr>
                      <m:t>𝑖</m:t>
                    </m:r>
                    <m:r>
                      <a:rPr lang="en-US" altLang="zh-CN" i="1">
                        <a:latin typeface="Cambria Math" panose="02040503050406030204" pitchFamily="18" charset="0"/>
                      </a:rPr>
                      <m:t>+1</m:t>
                    </m:r>
                  </m:oMath>
                </a14:m>
                <a:r>
                  <a:rPr lang="zh-CN" altLang="en-US" dirty="0"/>
                  <a:t>个树叶</a:t>
                </a:r>
                <a:endParaRPr lang="en-US" dirty="0"/>
              </a:p>
              <a:p>
                <a:pPr lvl="1"/>
                <a:r>
                  <a:rPr lang="en-US" dirty="0"/>
                  <a:t>(iii)</a:t>
                </a:r>
                <a14:m>
                  <m:oMath xmlns:m="http://schemas.openxmlformats.org/officeDocument/2006/math">
                    <m:r>
                      <a:rPr lang="en-US" altLang="zh-CN" i="1">
                        <a:latin typeface="Cambria Math" panose="02040503050406030204" pitchFamily="18" charset="0"/>
                      </a:rPr>
                      <m:t>𝑙</m:t>
                    </m:r>
                  </m:oMath>
                </a14:m>
                <a:r>
                  <a:rPr lang="zh-CN" altLang="en-US" dirty="0"/>
                  <a:t>个树叶</a:t>
                </a:r>
                <a:r>
                  <a:rPr lang="en-US" altLang="zh-CN" dirty="0"/>
                  <a:t>, </a:t>
                </a:r>
                <a:r>
                  <a:rPr lang="zh-CN" altLang="en-US" dirty="0"/>
                  <a:t>则有</a:t>
                </a:r>
                <a14:m>
                  <m:oMath xmlns:m="http://schemas.openxmlformats.org/officeDocument/2006/math">
                    <m:r>
                      <a:rPr lang="en-US" altLang="zh-CN" i="1">
                        <a:latin typeface="Cambria Math" panose="02040503050406030204" pitchFamily="18" charset="0"/>
                      </a:rPr>
                      <m:t>𝑛</m:t>
                    </m:r>
                    <m:r>
                      <a:rPr lang="en-US" altLang="zh-CN" i="1">
                        <a:latin typeface="Cambria Math" panose="02040503050406030204" pitchFamily="18" charset="0"/>
                      </a:rPr>
                      <m:t>=(</m:t>
                    </m:r>
                    <m:r>
                      <a:rPr lang="en-US" altLang="zh-CN" i="1">
                        <a:latin typeface="Cambria Math" panose="02040503050406030204" pitchFamily="18" charset="0"/>
                      </a:rPr>
                      <m:t>𝑚𝑙</m:t>
                    </m:r>
                    <m:r>
                      <a:rPr lang="en-US" altLang="zh-CN" b="0" i="1" smtClean="0">
                        <a:latin typeface="Cambria Math" panose="02040503050406030204" pitchFamily="18" charset="0"/>
                      </a:rPr>
                      <m:t>−1)/(</m:t>
                    </m:r>
                    <m:r>
                      <a:rPr lang="en-US" altLang="zh-CN" b="0" i="1" smtClean="0">
                        <a:latin typeface="Cambria Math" panose="02040503050406030204" pitchFamily="18" charset="0"/>
                      </a:rPr>
                      <m:t>𝑚</m:t>
                    </m:r>
                    <m:r>
                      <a:rPr lang="en-US" altLang="zh-CN" b="0" i="1" smtClean="0">
                        <a:latin typeface="Cambria Math" panose="02040503050406030204" pitchFamily="18" charset="0"/>
                      </a:rPr>
                      <m:t>−1)</m:t>
                    </m:r>
                  </m:oMath>
                </a14:m>
                <a:r>
                  <a:rPr lang="zh-CN" altLang="en-US" dirty="0"/>
                  <a:t>个顶点</a:t>
                </a:r>
                <a:r>
                  <a:rPr lang="en-US" altLang="zh-CN" dirty="0"/>
                  <a:t>, </a:t>
                </a:r>
                <a14:m>
                  <m:oMath xmlns:m="http://schemas.openxmlformats.org/officeDocument/2006/math">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𝑙</m:t>
                    </m:r>
                    <m:r>
                      <a:rPr lang="en-US" altLang="zh-CN" b="0" i="1" smtClean="0">
                        <a:latin typeface="Cambria Math" panose="02040503050406030204" pitchFamily="18" charset="0"/>
                      </a:rPr>
                      <m:t>−1)/(</m:t>
                    </m:r>
                    <m:r>
                      <a:rPr lang="en-US" altLang="zh-CN" b="0" i="1" smtClean="0">
                        <a:latin typeface="Cambria Math" panose="02040503050406030204" pitchFamily="18" charset="0"/>
                      </a:rPr>
                      <m:t>𝑚</m:t>
                    </m:r>
                    <m:r>
                      <a:rPr lang="en-US" altLang="zh-CN" b="0" i="1" smtClean="0">
                        <a:latin typeface="Cambria Math" panose="02040503050406030204" pitchFamily="18" charset="0"/>
                      </a:rPr>
                      <m:t>−1)</m:t>
                    </m:r>
                  </m:oMath>
                </a14:m>
                <a:r>
                  <a:rPr lang="zh-CN" altLang="en-US" dirty="0"/>
                  <a:t>个内点</a:t>
                </a:r>
                <a:endParaRPr lang="en-US" altLang="zh-CN" dirty="0"/>
              </a:p>
              <a:p>
                <a:pPr marL="274320" lvl="1" indent="-274320">
                  <a:lnSpc>
                    <a:spcPct val="100000"/>
                  </a:lnSpc>
                  <a:spcBef>
                    <a:spcPts val="1000"/>
                  </a:spcBef>
                  <a:buClr>
                    <a:srgbClr val="CEA524"/>
                  </a:buClr>
                  <a:buSzPct val="100000"/>
                  <a:buFont typeface="Wingdings" panose="05000000000000000000" pitchFamily="2" charset="2"/>
                  <a:buChar char="q"/>
                </a:pPr>
                <a:r>
                  <a:rPr lang="zh-CN" altLang="en-US" sz="2800" dirty="0"/>
                  <a:t>证明</a:t>
                </a:r>
                <a:r>
                  <a:rPr lang="en-US" altLang="zh-CN" sz="2800" dirty="0"/>
                  <a:t>: </a:t>
                </a:r>
                <a:r>
                  <a:rPr lang="zh-CN" altLang="en-US" sz="2800" dirty="0"/>
                  <a:t>根据定理</a:t>
                </a:r>
                <a14:m>
                  <m:oMath xmlns:m="http://schemas.openxmlformats.org/officeDocument/2006/math">
                    <m:r>
                      <a:rPr lang="en-US" altLang="zh-CN" sz="2800">
                        <a:latin typeface="Cambria Math" panose="02040503050406030204" pitchFamily="18" charset="0"/>
                      </a:rPr>
                      <m:t>𝑛</m:t>
                    </m:r>
                  </m:oMath>
                </a14:m>
                <a:r>
                  <a:rPr lang="en-US" altLang="zh-CN" sz="2800" dirty="0"/>
                  <a:t>= </a:t>
                </a:r>
                <a14:m>
                  <m:oMath xmlns:m="http://schemas.openxmlformats.org/officeDocument/2006/math">
                    <m:r>
                      <a:rPr lang="en-US" altLang="zh-CN" sz="2800">
                        <a:latin typeface="Cambria Math" panose="02040503050406030204" pitchFamily="18" charset="0"/>
                      </a:rPr>
                      <m:t>𝑚𝑖</m:t>
                    </m:r>
                  </m:oMath>
                </a14:m>
                <a:r>
                  <a:rPr lang="en-US" altLang="zh-CN" sz="2800" dirty="0"/>
                  <a:t>+1,</a:t>
                </a:r>
                <a14:m>
                  <m:oMath xmlns:m="http://schemas.openxmlformats.org/officeDocument/2006/math">
                    <m:r>
                      <a:rPr lang="en-US" altLang="zh-CN" sz="2800">
                        <a:latin typeface="Cambria Math" panose="02040503050406030204" pitchFamily="18" charset="0"/>
                      </a:rPr>
                      <m:t>𝑛</m:t>
                    </m:r>
                    <m:r>
                      <a:rPr lang="en-US" altLang="zh-CN" sz="2800">
                        <a:latin typeface="Cambria Math" panose="02040503050406030204" pitchFamily="18" charset="0"/>
                      </a:rPr>
                      <m:t>=</m:t>
                    </m:r>
                    <m:r>
                      <a:rPr lang="en-US" altLang="zh-CN" sz="2800">
                        <a:latin typeface="Cambria Math" panose="02040503050406030204" pitchFamily="18" charset="0"/>
                      </a:rPr>
                      <m:t>𝑖</m:t>
                    </m:r>
                    <m:r>
                      <a:rPr lang="en-US" altLang="zh-CN" sz="2800">
                        <a:latin typeface="Cambria Math" panose="02040503050406030204" pitchFamily="18" charset="0"/>
                      </a:rPr>
                      <m:t>+</m:t>
                    </m:r>
                    <m:r>
                      <a:rPr lang="en-US" altLang="zh-CN" sz="2800">
                        <a:latin typeface="Cambria Math" panose="02040503050406030204" pitchFamily="18" charset="0"/>
                      </a:rPr>
                      <m:t>𝑙</m:t>
                    </m:r>
                  </m:oMath>
                </a14:m>
                <a:r>
                  <a:rPr lang="zh-CN" altLang="en-US" sz="2800" dirty="0"/>
                  <a:t>就可以证明</a:t>
                </a:r>
                <a:r>
                  <a:rPr lang="en-US" altLang="zh-CN" sz="2800" dirty="0"/>
                  <a:t>(</a:t>
                </a:r>
                <a:r>
                  <a:rPr lang="en-US" altLang="zh-CN" sz="2800" dirty="0" err="1"/>
                  <a:t>i</a:t>
                </a:r>
                <a:r>
                  <a:rPr lang="en-US" altLang="zh-CN" sz="2800" dirty="0"/>
                  <a:t>). </a:t>
                </a:r>
                <a:r>
                  <a:rPr lang="zh-CN" altLang="en-US" sz="2800" dirty="0"/>
                  <a:t>首先根据</a:t>
                </a:r>
                <a14:m>
                  <m:oMath xmlns:m="http://schemas.openxmlformats.org/officeDocument/2006/math">
                    <m:r>
                      <a:rPr lang="en-US" altLang="zh-CN" sz="2800">
                        <a:latin typeface="Cambria Math" panose="02040503050406030204" pitchFamily="18" charset="0"/>
                      </a:rPr>
                      <m:t>𝑛</m:t>
                    </m:r>
                  </m:oMath>
                </a14:m>
                <a:r>
                  <a:rPr lang="en-US" altLang="zh-CN" sz="2800" dirty="0"/>
                  <a:t>= </a:t>
                </a:r>
                <a14:m>
                  <m:oMath xmlns:m="http://schemas.openxmlformats.org/officeDocument/2006/math">
                    <m:r>
                      <a:rPr lang="en-US" altLang="zh-CN" sz="2800">
                        <a:latin typeface="Cambria Math" panose="02040503050406030204" pitchFamily="18" charset="0"/>
                      </a:rPr>
                      <m:t>𝑚𝑖</m:t>
                    </m:r>
                  </m:oMath>
                </a14:m>
                <a:r>
                  <a:rPr lang="en-US" altLang="zh-CN" sz="2800" dirty="0"/>
                  <a:t>+1, </a:t>
                </a:r>
                <a:r>
                  <a:rPr lang="zh-CN" altLang="en-US" sz="2800" dirty="0"/>
                  <a:t>求解得到</a:t>
                </a:r>
                <a14:m>
                  <m:oMath xmlns:m="http://schemas.openxmlformats.org/officeDocument/2006/math">
                    <m:r>
                      <a:rPr lang="en-US" altLang="zh-CN" sz="2800">
                        <a:latin typeface="Cambria Math" panose="02040503050406030204" pitchFamily="18" charset="0"/>
                      </a:rPr>
                      <m:t>𝑖</m:t>
                    </m:r>
                    <m:r>
                      <a:rPr lang="en-US" altLang="zh-CN" sz="2800">
                        <a:latin typeface="Cambria Math" panose="02040503050406030204" pitchFamily="18" charset="0"/>
                      </a:rPr>
                      <m:t>=(</m:t>
                    </m:r>
                    <m:r>
                      <a:rPr lang="en-US" altLang="zh-CN" sz="2800">
                        <a:latin typeface="Cambria Math" panose="02040503050406030204" pitchFamily="18" charset="0"/>
                      </a:rPr>
                      <m:t>𝑛</m:t>
                    </m:r>
                    <m:r>
                      <a:rPr lang="en-US" altLang="zh-CN" sz="2800">
                        <a:latin typeface="Cambria Math" panose="02040503050406030204" pitchFamily="18" charset="0"/>
                      </a:rPr>
                      <m:t>−1)/</m:t>
                    </m:r>
                    <m:r>
                      <a:rPr lang="en-US" altLang="zh-CN" sz="2800">
                        <a:latin typeface="Cambria Math" panose="02040503050406030204" pitchFamily="18" charset="0"/>
                      </a:rPr>
                      <m:t>𝑚</m:t>
                    </m:r>
                  </m:oMath>
                </a14:m>
                <a:r>
                  <a:rPr lang="en-US" altLang="zh-CN" sz="2800" dirty="0"/>
                  <a:t>. </a:t>
                </a:r>
                <a:r>
                  <a:rPr lang="zh-CN" altLang="en-US" sz="2800" dirty="0"/>
                  <a:t>将</a:t>
                </a:r>
                <a:r>
                  <a:rPr lang="en-US" altLang="zh-CN" sz="2800" dirty="0" err="1"/>
                  <a:t>i</a:t>
                </a:r>
                <a:r>
                  <a:rPr lang="zh-CN" altLang="en-US" sz="2800" dirty="0"/>
                  <a:t>的表达式带入</a:t>
                </a:r>
                <a14:m>
                  <m:oMath xmlns:m="http://schemas.openxmlformats.org/officeDocument/2006/math">
                    <m:r>
                      <a:rPr lang="en-US" altLang="zh-CN" sz="2800">
                        <a:latin typeface="Cambria Math" panose="02040503050406030204" pitchFamily="18" charset="0"/>
                      </a:rPr>
                      <m:t>𝑛</m:t>
                    </m:r>
                    <m:r>
                      <a:rPr lang="en-US" altLang="zh-CN" sz="2800">
                        <a:latin typeface="Cambria Math" panose="02040503050406030204" pitchFamily="18" charset="0"/>
                      </a:rPr>
                      <m:t>=</m:t>
                    </m:r>
                    <m:r>
                      <a:rPr lang="en-US" altLang="zh-CN" sz="2800">
                        <a:latin typeface="Cambria Math" panose="02040503050406030204" pitchFamily="18" charset="0"/>
                      </a:rPr>
                      <m:t>𝑖</m:t>
                    </m:r>
                    <m:r>
                      <a:rPr lang="en-US" altLang="zh-CN" sz="2800">
                        <a:latin typeface="Cambria Math" panose="02040503050406030204" pitchFamily="18" charset="0"/>
                      </a:rPr>
                      <m:t>+</m:t>
                    </m:r>
                    <m:r>
                      <a:rPr lang="en-US" altLang="zh-CN" sz="2800">
                        <a:latin typeface="Cambria Math" panose="02040503050406030204" pitchFamily="18" charset="0"/>
                      </a:rPr>
                      <m:t>𝑙</m:t>
                    </m:r>
                  </m:oMath>
                </a14:m>
                <a:r>
                  <a:rPr lang="en-US" altLang="zh-CN" sz="2800" dirty="0"/>
                  <a:t>, </a:t>
                </a:r>
                <a:r>
                  <a:rPr lang="zh-CN" altLang="en-US" sz="2800" dirty="0"/>
                  <a:t>可以得到</a:t>
                </a:r>
                <a14:m>
                  <m:oMath xmlns:m="http://schemas.openxmlformats.org/officeDocument/2006/math">
                    <m:r>
                      <a:rPr lang="en-US" altLang="zh-CN" sz="2800">
                        <a:latin typeface="Cambria Math" panose="02040503050406030204" pitchFamily="18" charset="0"/>
                      </a:rPr>
                      <m:t>𝑙</m:t>
                    </m:r>
                    <m:r>
                      <a:rPr lang="en-US" altLang="zh-CN" sz="2800">
                        <a:latin typeface="Cambria Math" panose="02040503050406030204" pitchFamily="18" charset="0"/>
                      </a:rPr>
                      <m:t>=</m:t>
                    </m:r>
                    <m:d>
                      <m:dPr>
                        <m:begChr m:val="["/>
                        <m:endChr m:val="]"/>
                        <m:ctrlPr>
                          <a:rPr lang="en-US" altLang="zh-CN" sz="2800" i="1">
                            <a:latin typeface="Cambria Math" panose="02040503050406030204" pitchFamily="18" charset="0"/>
                          </a:rPr>
                        </m:ctrlPr>
                      </m:dPr>
                      <m:e>
                        <m:d>
                          <m:dPr>
                            <m:ctrlPr>
                              <a:rPr lang="en-US" altLang="zh-CN" sz="2800" i="1">
                                <a:latin typeface="Cambria Math" panose="02040503050406030204" pitchFamily="18" charset="0"/>
                              </a:rPr>
                            </m:ctrlPr>
                          </m:dPr>
                          <m:e>
                            <m:r>
                              <a:rPr lang="en-US" altLang="zh-CN" sz="2800">
                                <a:latin typeface="Cambria Math" panose="02040503050406030204" pitchFamily="18" charset="0"/>
                              </a:rPr>
                              <m:t>𝑚</m:t>
                            </m:r>
                            <m:r>
                              <a:rPr lang="en-US" altLang="zh-CN" sz="2800">
                                <a:latin typeface="Cambria Math" panose="02040503050406030204" pitchFamily="18" charset="0"/>
                              </a:rPr>
                              <m:t>−1</m:t>
                            </m:r>
                          </m:e>
                        </m:d>
                        <m:r>
                          <a:rPr lang="en-US" altLang="zh-CN" sz="2800">
                            <a:latin typeface="Cambria Math" panose="02040503050406030204" pitchFamily="18" charset="0"/>
                          </a:rPr>
                          <m:t>𝑛</m:t>
                        </m:r>
                        <m:r>
                          <a:rPr lang="en-US" altLang="zh-CN" sz="2800">
                            <a:latin typeface="Cambria Math" panose="02040503050406030204" pitchFamily="18" charset="0"/>
                          </a:rPr>
                          <m:t>+1</m:t>
                        </m:r>
                      </m:e>
                    </m:d>
                    <m:r>
                      <a:rPr lang="en-US" altLang="zh-CN" sz="2800">
                        <a:latin typeface="Cambria Math" panose="02040503050406030204" pitchFamily="18" charset="0"/>
                      </a:rPr>
                      <m:t>/</m:t>
                    </m:r>
                    <m:r>
                      <a:rPr lang="en-US" altLang="zh-CN" sz="2800">
                        <a:latin typeface="Cambria Math" panose="02040503050406030204" pitchFamily="18" charset="0"/>
                      </a:rPr>
                      <m:t>𝑚</m:t>
                    </m:r>
                  </m:oMath>
                </a14:m>
                <a:r>
                  <a:rPr lang="en-US" altLang="zh-CN" sz="2800" dirty="0"/>
                  <a:t> . </a:t>
                </a:r>
                <a:r>
                  <a:rPr lang="zh-CN" altLang="en-US" sz="2800" dirty="0"/>
                  <a:t>其他两个类似的证明</a:t>
                </a:r>
                <a:r>
                  <a:rPr lang="en-US" altLang="zh-CN" sz="2800"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r="-2886"/>
                </a:stretch>
              </a:blipFill>
            </p:spPr>
            <p:txBody>
              <a:bodyPr/>
              <a:lstStyle/>
              <a:p>
                <a:r>
                  <a:rPr lang="zh-CN" altLang="en-US">
                    <a:noFill/>
                  </a:rPr>
                  <a:t> </a:t>
                </a:r>
              </a:p>
            </p:txBody>
          </p:sp>
        </mc:Fallback>
      </mc:AlternateContent>
      <p:sp>
        <p:nvSpPr>
          <p:cNvPr id="14" name="日期占位符 13"/>
          <p:cNvSpPr>
            <a:spLocks noGrp="1"/>
          </p:cNvSpPr>
          <p:nvPr>
            <p:ph type="dt" sz="half" idx="10"/>
          </p:nvPr>
        </p:nvSpPr>
        <p:spPr/>
        <p:txBody>
          <a:bodyPr/>
          <a:lstStyle/>
          <a:p>
            <a:fld id="{C9F1D87A-7EE6-41A9-8773-65C386923D2E}" type="datetime1">
              <a:rPr lang="zh-CN" altLang="en-US" smtClean="0"/>
              <a:t>2025/4/15</a:t>
            </a:fld>
            <a:endParaRPr lang="zh-CN" altLang="en-US" dirty="0"/>
          </a:p>
        </p:txBody>
      </p:sp>
      <p:sp>
        <p:nvSpPr>
          <p:cNvPr id="15" name="页脚占位符 14"/>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6" name="灯片编号占位符 15"/>
          <p:cNvSpPr>
            <a:spLocks noGrp="1"/>
          </p:cNvSpPr>
          <p:nvPr>
            <p:ph type="sldNum" sz="quarter" idx="12"/>
          </p:nvPr>
        </p:nvSpPr>
        <p:spPr/>
        <p:txBody>
          <a:bodyPr/>
          <a:lstStyle/>
          <a:p>
            <a:fld id="{67913A8A-9EFB-4B5F-9CCB-3D21173FAA85}" type="slidenum">
              <a:rPr lang="zh-CN" altLang="en-US" smtClean="0"/>
              <a:pPr/>
              <a:t>21</a:t>
            </a:fld>
            <a:endParaRPr lang="zh-CN" altLang="en-US" dirty="0"/>
          </a:p>
        </p:txBody>
      </p:sp>
    </p:spTree>
    <p:extLst>
      <p:ext uri="{BB962C8B-B14F-4D97-AF65-F5344CB8AC3E}">
        <p14:creationId xmlns:p14="http://schemas.microsoft.com/office/powerpoint/2010/main" val="8112439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树的性质</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274320" lvl="1" indent="-274320">
                  <a:lnSpc>
                    <a:spcPct val="100000"/>
                  </a:lnSpc>
                  <a:spcBef>
                    <a:spcPts val="1000"/>
                  </a:spcBef>
                  <a:buClr>
                    <a:srgbClr val="CEA524"/>
                  </a:buClr>
                  <a:buSzPct val="100000"/>
                  <a:buFont typeface="Wingdings" panose="05000000000000000000" pitchFamily="2" charset="2"/>
                  <a:buChar char="q"/>
                </a:pPr>
                <a:r>
                  <a:rPr lang="zh-CN" altLang="en-US" sz="2800" dirty="0"/>
                  <a:t>例</a:t>
                </a:r>
                <a:r>
                  <a:rPr lang="en-US" altLang="zh-CN" sz="2800" dirty="0"/>
                  <a:t>:</a:t>
                </a:r>
                <a:r>
                  <a:rPr lang="zh-CN" altLang="en-US" sz="2800" dirty="0"/>
                  <a:t>假设某人寄出一封连环信</a:t>
                </a:r>
                <a:r>
                  <a:rPr lang="en-US" altLang="zh-CN" sz="2800" dirty="0"/>
                  <a:t>, </a:t>
                </a:r>
                <a:r>
                  <a:rPr lang="zh-CN" altLang="en-US" sz="2800" dirty="0"/>
                  <a:t>要求收到信的每个人再把它寄给另外</a:t>
                </a:r>
                <a:r>
                  <a:rPr lang="en-US" altLang="zh-CN" sz="2800" dirty="0"/>
                  <a:t>4</a:t>
                </a:r>
                <a:r>
                  <a:rPr lang="zh-CN" altLang="en-US" sz="2800" dirty="0"/>
                  <a:t>个人</a:t>
                </a:r>
                <a:r>
                  <a:rPr lang="en-US" altLang="zh-CN" sz="2800" dirty="0"/>
                  <a:t>. </a:t>
                </a:r>
                <a:r>
                  <a:rPr lang="zh-CN" altLang="en-US" sz="2800" dirty="0"/>
                  <a:t>有些人按要求做了</a:t>
                </a:r>
                <a:r>
                  <a:rPr lang="en-US" altLang="zh-CN" sz="2800" dirty="0"/>
                  <a:t>, </a:t>
                </a:r>
                <a:r>
                  <a:rPr lang="zh-CN" altLang="en-US" sz="2800" dirty="0"/>
                  <a:t>有些人则没有寄出信</a:t>
                </a:r>
                <a:r>
                  <a:rPr lang="en-US" altLang="zh-CN" sz="2800" dirty="0"/>
                  <a:t>. </a:t>
                </a:r>
                <a:r>
                  <a:rPr lang="zh-CN" altLang="en-US" sz="2800" dirty="0"/>
                  <a:t>若没有人收到超过一封信</a:t>
                </a:r>
                <a:r>
                  <a:rPr lang="en-US" altLang="zh-CN" sz="2800" dirty="0"/>
                  <a:t>, </a:t>
                </a:r>
                <a:r>
                  <a:rPr lang="zh-CN" altLang="en-US" sz="2800" dirty="0"/>
                  <a:t>而且若读过信但是不寄出它的人为</a:t>
                </a:r>
                <a:r>
                  <a:rPr lang="en-US" altLang="zh-CN" sz="2800" dirty="0"/>
                  <a:t>100</a:t>
                </a:r>
                <a:r>
                  <a:rPr lang="zh-CN" altLang="en-US" sz="2800" dirty="0"/>
                  <a:t>个后</a:t>
                </a:r>
                <a:r>
                  <a:rPr lang="en-US" altLang="zh-CN" sz="2800" dirty="0"/>
                  <a:t>, </a:t>
                </a:r>
                <a:r>
                  <a:rPr lang="zh-CN" altLang="en-US" sz="2800" dirty="0"/>
                  <a:t>连环信就终止了</a:t>
                </a:r>
                <a:r>
                  <a:rPr lang="en-US" altLang="zh-CN" sz="2800" dirty="0"/>
                  <a:t>, </a:t>
                </a:r>
                <a:r>
                  <a:rPr lang="zh-CN" altLang="en-US" sz="2800" dirty="0"/>
                  <a:t>那么包括第一个人在内</a:t>
                </a:r>
                <a:r>
                  <a:rPr lang="en-US" altLang="zh-CN" sz="2800" dirty="0"/>
                  <a:t>, </a:t>
                </a:r>
                <a:r>
                  <a:rPr lang="zh-CN" altLang="en-US" sz="2800" dirty="0"/>
                  <a:t>有多少人看过信？有多少人寄出过信？</a:t>
                </a:r>
                <a:endParaRPr lang="en-US" altLang="zh-CN" sz="2800" dirty="0"/>
              </a:p>
              <a:p>
                <a:pPr marL="274320" lvl="1" indent="-274320">
                  <a:lnSpc>
                    <a:spcPct val="100000"/>
                  </a:lnSpc>
                  <a:spcBef>
                    <a:spcPts val="1000"/>
                  </a:spcBef>
                  <a:buClr>
                    <a:srgbClr val="CEA524"/>
                  </a:buClr>
                  <a:buSzPct val="100000"/>
                  <a:buFont typeface="Wingdings" panose="05000000000000000000" pitchFamily="2" charset="2"/>
                  <a:buChar char="q"/>
                </a:pPr>
                <a:r>
                  <a:rPr lang="zh-CN" altLang="en-US" sz="2800" dirty="0"/>
                  <a:t>解</a:t>
                </a:r>
                <a:r>
                  <a:rPr lang="en-US" altLang="zh-CN" sz="2800" dirty="0"/>
                  <a:t>:4</a:t>
                </a:r>
                <a:r>
                  <a:rPr lang="zh-CN" altLang="en-US" sz="2800" dirty="0"/>
                  <a:t>叉树</a:t>
                </a:r>
                <a:r>
                  <a:rPr lang="en-US" altLang="zh-CN" sz="2800" dirty="0"/>
                  <a:t>T</a:t>
                </a:r>
                <a:r>
                  <a:rPr lang="zh-CN" altLang="en-US" sz="2800" dirty="0"/>
                  <a:t>表示连环信</a:t>
                </a:r>
                <a:r>
                  <a:rPr lang="en-US" altLang="zh-CN" sz="2800" dirty="0"/>
                  <a:t>. </a:t>
                </a:r>
                <a:r>
                  <a:rPr lang="zh-CN" altLang="en-US" sz="2800" dirty="0"/>
                  <a:t>内点对应寄出信的人</a:t>
                </a:r>
                <a:r>
                  <a:rPr lang="en-US" altLang="zh-CN" sz="2800" dirty="0"/>
                  <a:t>, </a:t>
                </a:r>
                <a:r>
                  <a:rPr lang="zh-CN" altLang="en-US" sz="2800" dirty="0"/>
                  <a:t>树叶对应不寄出信的人</a:t>
                </a:r>
                <a:r>
                  <a:rPr lang="en-US" altLang="zh-CN" sz="2800" dirty="0"/>
                  <a:t>.</a:t>
                </a:r>
                <a:r>
                  <a:rPr lang="zh-CN" altLang="en-US" sz="2800" dirty="0"/>
                  <a:t>因为</a:t>
                </a:r>
                <a:r>
                  <a:rPr lang="en-US" altLang="zh-CN" sz="2800" dirty="0"/>
                  <a:t>100</a:t>
                </a:r>
                <a:r>
                  <a:rPr lang="zh-CN" altLang="en-US" sz="2800" dirty="0"/>
                  <a:t>个不寄出信的人</a:t>
                </a:r>
                <a:r>
                  <a:rPr lang="en-US" altLang="zh-CN" sz="2800" dirty="0"/>
                  <a:t>, </a:t>
                </a:r>
                <a:r>
                  <a:rPr lang="zh-CN" altLang="en-US" sz="2800" dirty="0"/>
                  <a:t>所以</a:t>
                </a:r>
                <a:r>
                  <a:rPr lang="en-US" altLang="zh-CN" sz="2800" dirty="0"/>
                  <a:t>T</a:t>
                </a:r>
                <a:r>
                  <a:rPr lang="zh-CN" altLang="en-US" sz="2800" dirty="0"/>
                  <a:t>中树叶数</a:t>
                </a:r>
                <a14:m>
                  <m:oMath xmlns:m="http://schemas.openxmlformats.org/officeDocument/2006/math">
                    <m:r>
                      <a:rPr lang="en-US" altLang="zh-CN" sz="2800" i="1">
                        <a:latin typeface="Cambria Math" panose="02040503050406030204" pitchFamily="18" charset="0"/>
                      </a:rPr>
                      <m:t>𝑙</m:t>
                    </m:r>
                    <m:r>
                      <a:rPr lang="en-US" altLang="zh-CN" sz="2800" i="1">
                        <a:latin typeface="Cambria Math" panose="02040503050406030204" pitchFamily="18" charset="0"/>
                      </a:rPr>
                      <m:t> </m:t>
                    </m:r>
                  </m:oMath>
                </a14:m>
                <a:r>
                  <a:rPr lang="en-US" altLang="zh-CN" sz="2800" dirty="0"/>
                  <a:t>=100. </a:t>
                </a:r>
                <a:r>
                  <a:rPr lang="zh-CN" altLang="en-US" sz="2800" dirty="0"/>
                  <a:t>根据定理可得看过信的人</a:t>
                </a:r>
                <a:r>
                  <a:rPr lang="en-US" altLang="zh-CN" sz="2800" dirty="0"/>
                  <a:t>n=133. </a:t>
                </a:r>
                <a:r>
                  <a:rPr lang="zh-CN" altLang="en-US" sz="2800" dirty="0"/>
                  <a:t>内点数也就是寄出过信的人</a:t>
                </a:r>
                <a14:m>
                  <m:oMath xmlns:m="http://schemas.openxmlformats.org/officeDocument/2006/math">
                    <m:r>
                      <a:rPr lang="en-US" altLang="zh-CN" sz="2800" i="1">
                        <a:latin typeface="Cambria Math" panose="02040503050406030204" pitchFamily="18" charset="0"/>
                      </a:rPr>
                      <m:t>𝑖</m:t>
                    </m:r>
                    <m:r>
                      <a:rPr lang="en-US" altLang="zh-CN" sz="2800" i="1">
                        <a:latin typeface="Cambria Math" panose="02040503050406030204" pitchFamily="18" charset="0"/>
                      </a:rPr>
                      <m:t> </m:t>
                    </m:r>
                  </m:oMath>
                </a14:m>
                <a:r>
                  <a:rPr lang="en-US" altLang="zh-CN" sz="2800" dirty="0"/>
                  <a:t>=33.</a:t>
                </a:r>
                <a:endParaRPr lang="en-US" sz="28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99" t="-1310" r="-1831"/>
                </a:stretch>
              </a:blipFill>
            </p:spPr>
            <p:txBody>
              <a:bodyPr/>
              <a:lstStyle/>
              <a:p>
                <a:r>
                  <a:rPr lang="zh-CN" altLang="en-US">
                    <a:noFill/>
                  </a:rPr>
                  <a:t> </a:t>
                </a:r>
              </a:p>
            </p:txBody>
          </p:sp>
        </mc:Fallback>
      </mc:AlternateContent>
      <p:sp>
        <p:nvSpPr>
          <p:cNvPr id="14" name="日期占位符 13"/>
          <p:cNvSpPr>
            <a:spLocks noGrp="1"/>
          </p:cNvSpPr>
          <p:nvPr>
            <p:ph type="dt" sz="half" idx="10"/>
          </p:nvPr>
        </p:nvSpPr>
        <p:spPr/>
        <p:txBody>
          <a:bodyPr/>
          <a:lstStyle/>
          <a:p>
            <a:fld id="{42DD607B-59B6-437C-8264-669922A7B461}" type="datetime1">
              <a:rPr lang="zh-CN" altLang="en-US" smtClean="0"/>
              <a:t>2025/4/15</a:t>
            </a:fld>
            <a:endParaRPr lang="zh-CN" altLang="en-US" dirty="0"/>
          </a:p>
        </p:txBody>
      </p:sp>
      <p:sp>
        <p:nvSpPr>
          <p:cNvPr id="15" name="页脚占位符 14"/>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6" name="灯片编号占位符 15"/>
          <p:cNvSpPr>
            <a:spLocks noGrp="1"/>
          </p:cNvSpPr>
          <p:nvPr>
            <p:ph type="sldNum" sz="quarter" idx="12"/>
          </p:nvPr>
        </p:nvSpPr>
        <p:spPr/>
        <p:txBody>
          <a:bodyPr/>
          <a:lstStyle/>
          <a:p>
            <a:fld id="{67913A8A-9EFB-4B5F-9CCB-3D21173FAA85}" type="slidenum">
              <a:rPr lang="zh-CN" altLang="en-US" smtClean="0"/>
              <a:pPr/>
              <a:t>22</a:t>
            </a:fld>
            <a:endParaRPr lang="zh-CN" altLang="en-US" dirty="0"/>
          </a:p>
        </p:txBody>
      </p:sp>
    </p:spTree>
    <p:extLst>
      <p:ext uri="{BB962C8B-B14F-4D97-AF65-F5344CB8AC3E}">
        <p14:creationId xmlns:p14="http://schemas.microsoft.com/office/powerpoint/2010/main" val="4216521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树的性质</a:t>
            </a:r>
            <a:endParaRPr lang="en-US" dirty="0"/>
          </a:p>
        </p:txBody>
      </p:sp>
      <p:sp>
        <p:nvSpPr>
          <p:cNvPr id="3" name="Content Placeholder 2"/>
          <p:cNvSpPr>
            <a:spLocks noGrp="1"/>
          </p:cNvSpPr>
          <p:nvPr>
            <p:ph idx="1"/>
          </p:nvPr>
        </p:nvSpPr>
        <p:spPr/>
        <p:txBody>
          <a:bodyPr>
            <a:normAutofit/>
          </a:bodyPr>
          <a:lstStyle/>
          <a:p>
            <a:r>
              <a:rPr lang="zh-CN" altLang="en-US" dirty="0"/>
              <a:t>例</a:t>
            </a:r>
            <a:r>
              <a:rPr lang="en-US" altLang="zh-CN" dirty="0"/>
              <a:t>:</a:t>
            </a:r>
            <a:r>
              <a:rPr lang="zh-CN" altLang="en-US" dirty="0"/>
              <a:t>如图所示的有根树</a:t>
            </a:r>
            <a:r>
              <a:rPr lang="en-US" altLang="zh-CN" dirty="0"/>
              <a:t>T</a:t>
            </a:r>
            <a:r>
              <a:rPr lang="zh-CN" altLang="en-US" dirty="0"/>
              <a:t>中每个顶点的层数是多少</a:t>
            </a:r>
            <a:r>
              <a:rPr lang="en-US" altLang="zh-CN" dirty="0"/>
              <a:t>, T</a:t>
            </a:r>
            <a:r>
              <a:rPr lang="zh-CN" altLang="en-US" dirty="0"/>
              <a:t>的高度是多少？</a:t>
            </a:r>
            <a:endParaRPr lang="en-US" altLang="zh-CN" dirty="0"/>
          </a:p>
          <a:p>
            <a:endParaRPr lang="en-US" dirty="0"/>
          </a:p>
          <a:p>
            <a:endParaRPr lang="en-US" dirty="0"/>
          </a:p>
          <a:p>
            <a:endParaRPr lang="en-US" dirty="0"/>
          </a:p>
          <a:p>
            <a:endParaRPr lang="en-US" dirty="0"/>
          </a:p>
          <a:p>
            <a:endParaRPr lang="en-US" dirty="0"/>
          </a:p>
          <a:p>
            <a:endParaRPr lang="en-US" dirty="0"/>
          </a:p>
          <a:p>
            <a:r>
              <a:rPr lang="zh-CN" altLang="en-US" dirty="0"/>
              <a:t>解</a:t>
            </a:r>
            <a:r>
              <a:rPr lang="en-US" altLang="zh-CN" dirty="0"/>
              <a:t>:</a:t>
            </a:r>
            <a:r>
              <a:rPr lang="en-US" dirty="0"/>
              <a:t> </a:t>
            </a:r>
            <a:r>
              <a:rPr lang="en-US" altLang="zh-CN" dirty="0"/>
              <a:t>a</a:t>
            </a:r>
            <a:r>
              <a:rPr lang="zh-CN" altLang="en-US" dirty="0"/>
              <a:t>的层为</a:t>
            </a:r>
            <a:r>
              <a:rPr lang="en-US" altLang="zh-CN" dirty="0"/>
              <a:t>0. </a:t>
            </a:r>
            <a:r>
              <a:rPr lang="zh-CN" altLang="en-US" dirty="0"/>
              <a:t>顶点</a:t>
            </a:r>
            <a:r>
              <a:rPr lang="en-US" altLang="zh-CN" dirty="0"/>
              <a:t>b, j, k</a:t>
            </a:r>
            <a:r>
              <a:rPr lang="zh-CN" altLang="en-US" dirty="0"/>
              <a:t>的层是</a:t>
            </a:r>
            <a:r>
              <a:rPr lang="en-US" altLang="zh-CN" dirty="0"/>
              <a:t>1. </a:t>
            </a:r>
            <a:r>
              <a:rPr lang="en-US" dirty="0"/>
              <a:t>c, e, f, </a:t>
            </a:r>
            <a:r>
              <a:rPr lang="en-US" altLang="zh-CN" dirty="0"/>
              <a:t>l</a:t>
            </a:r>
            <a:r>
              <a:rPr lang="zh-CN" altLang="en-US" dirty="0"/>
              <a:t>的层是</a:t>
            </a:r>
            <a:r>
              <a:rPr lang="en-US" altLang="zh-CN" dirty="0"/>
              <a:t>2</a:t>
            </a:r>
            <a:r>
              <a:rPr lang="en-US" dirty="0"/>
              <a:t> </a:t>
            </a:r>
            <a:r>
              <a:rPr lang="en-US" altLang="zh-CN" dirty="0"/>
              <a:t>.</a:t>
            </a:r>
            <a:r>
              <a:rPr lang="en-US" dirty="0"/>
              <a:t>d, g, </a:t>
            </a:r>
            <a:r>
              <a:rPr lang="en-US" dirty="0" err="1"/>
              <a:t>i</a:t>
            </a:r>
            <a:r>
              <a:rPr lang="en-US" dirty="0"/>
              <a:t>, m, n </a:t>
            </a:r>
            <a:r>
              <a:rPr lang="zh-CN" altLang="en-US" dirty="0"/>
              <a:t>的层是</a:t>
            </a:r>
            <a:r>
              <a:rPr lang="en-US" altLang="zh-CN" dirty="0"/>
              <a:t>3.</a:t>
            </a:r>
            <a:r>
              <a:rPr lang="en-US" dirty="0"/>
              <a:t> h </a:t>
            </a:r>
            <a:r>
              <a:rPr lang="zh-CN" altLang="en-US" dirty="0"/>
              <a:t>的层是</a:t>
            </a:r>
            <a:r>
              <a:rPr lang="en-US" dirty="0"/>
              <a:t>4. </a:t>
            </a:r>
            <a:r>
              <a:rPr lang="en-US" altLang="zh-CN" dirty="0"/>
              <a:t>T</a:t>
            </a:r>
            <a:r>
              <a:rPr lang="zh-CN" altLang="en-US" dirty="0"/>
              <a:t>的高度为</a:t>
            </a:r>
            <a:r>
              <a:rPr lang="en-US" altLang="zh-CN" dirty="0"/>
              <a:t>4, </a:t>
            </a:r>
            <a:r>
              <a:rPr lang="zh-CN" altLang="en-US" dirty="0"/>
              <a:t>因为任意顶点的最大层数是</a:t>
            </a:r>
            <a:r>
              <a:rPr lang="en-US" altLang="zh-CN" dirty="0"/>
              <a:t>4.</a:t>
            </a:r>
            <a:endParaRPr lang="en-US" dirty="0"/>
          </a:p>
          <a:p>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76799" y="1524000"/>
            <a:ext cx="2537647" cy="3200400"/>
          </a:xfrm>
          <a:prstGeom prst="rect">
            <a:avLst/>
          </a:prstGeom>
        </p:spPr>
      </p:pic>
      <p:sp>
        <p:nvSpPr>
          <p:cNvPr id="9" name="日期占位符 8"/>
          <p:cNvSpPr>
            <a:spLocks noGrp="1"/>
          </p:cNvSpPr>
          <p:nvPr>
            <p:ph type="dt" sz="half" idx="10"/>
          </p:nvPr>
        </p:nvSpPr>
        <p:spPr/>
        <p:txBody>
          <a:bodyPr/>
          <a:lstStyle/>
          <a:p>
            <a:fld id="{34DD2C6D-A2D2-45E1-BA94-658EC81D1C2D}" type="datetime1">
              <a:rPr lang="zh-CN" altLang="en-US" smtClean="0"/>
              <a:t>2025/4/15</a:t>
            </a:fld>
            <a:endParaRPr lang="zh-CN" altLang="en-US" dirty="0"/>
          </a:p>
        </p:txBody>
      </p:sp>
      <p:sp>
        <p:nvSpPr>
          <p:cNvPr id="10" name="页脚占位符 9"/>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1" name="灯片编号占位符 10"/>
          <p:cNvSpPr>
            <a:spLocks noGrp="1"/>
          </p:cNvSpPr>
          <p:nvPr>
            <p:ph type="sldNum" sz="quarter" idx="12"/>
          </p:nvPr>
        </p:nvSpPr>
        <p:spPr/>
        <p:txBody>
          <a:bodyPr/>
          <a:lstStyle/>
          <a:p>
            <a:fld id="{67913A8A-9EFB-4B5F-9CCB-3D21173FAA85}" type="slidenum">
              <a:rPr lang="zh-CN" altLang="en-US" smtClean="0"/>
              <a:pPr/>
              <a:t>23</a:t>
            </a:fld>
            <a:endParaRPr lang="zh-CN" altLang="en-US" dirty="0"/>
          </a:p>
        </p:txBody>
      </p:sp>
    </p:spTree>
    <p:extLst>
      <p:ext uri="{BB962C8B-B14F-4D97-AF65-F5344CB8AC3E}">
        <p14:creationId xmlns:p14="http://schemas.microsoft.com/office/powerpoint/2010/main" val="3112624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Effect transition="in" filter="wipe(down)">
                                      <p:cBhvr>
                                        <p:cTn id="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57200" y="1142999"/>
            <a:ext cx="11277599" cy="838201"/>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树的性质</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a:t>定义</a:t>
                </a:r>
                <a:r>
                  <a:rPr lang="en-US" altLang="zh-CN" dirty="0"/>
                  <a:t>:</a:t>
                </a:r>
                <a:r>
                  <a:rPr lang="zh-CN" altLang="en-US" dirty="0"/>
                  <a:t>若一棵高度为</a:t>
                </a:r>
                <a:r>
                  <a:rPr lang="en-US" altLang="zh-CN" dirty="0"/>
                  <a:t>h</a:t>
                </a:r>
                <a:r>
                  <a:rPr lang="zh-CN" altLang="en-US" dirty="0"/>
                  <a:t>的</a:t>
                </a:r>
                <a:r>
                  <a:rPr lang="en-US" altLang="zh-CN" dirty="0"/>
                  <a:t>m</a:t>
                </a:r>
                <a:r>
                  <a:rPr lang="zh-CN" altLang="en-US" dirty="0"/>
                  <a:t>叉树的所有树叶都在</a:t>
                </a:r>
                <a:r>
                  <a:rPr lang="en-US" altLang="zh-CN" dirty="0"/>
                  <a:t>h</a:t>
                </a:r>
                <a:r>
                  <a:rPr lang="zh-CN" altLang="en-US" dirty="0"/>
                  <a:t>层或</a:t>
                </a:r>
                <a:r>
                  <a:rPr lang="en-US" altLang="zh-CN" dirty="0"/>
                  <a:t>h-1</a:t>
                </a:r>
                <a:r>
                  <a:rPr lang="zh-CN" altLang="en-US" dirty="0"/>
                  <a:t>层</a:t>
                </a:r>
                <a:r>
                  <a:rPr lang="en-US" altLang="zh-CN" dirty="0"/>
                  <a:t>, </a:t>
                </a:r>
                <a:r>
                  <a:rPr lang="zh-CN" altLang="en-US" dirty="0"/>
                  <a:t>则这棵树是</a:t>
                </a:r>
                <a:r>
                  <a:rPr lang="zh-CN" altLang="en-US" b="1" dirty="0">
                    <a:solidFill>
                      <a:srgbClr val="C00000"/>
                    </a:solidFill>
                  </a:rPr>
                  <a:t>平衡的</a:t>
                </a:r>
                <a:r>
                  <a:rPr lang="en-US" dirty="0"/>
                  <a:t>. </a:t>
                </a:r>
              </a:p>
              <a:p>
                <a:r>
                  <a:rPr lang="zh-CN" altLang="en-US" dirty="0"/>
                  <a:t>例</a:t>
                </a:r>
                <a:r>
                  <a:rPr lang="en-US" altLang="zh-CN" dirty="0"/>
                  <a:t>:</a:t>
                </a:r>
                <a:r>
                  <a:rPr lang="zh-CN" altLang="en-US" dirty="0"/>
                  <a:t>如果所示中哪些有根树是平衡的？</a:t>
                </a:r>
                <a:endParaRPr lang="en-US" altLang="zh-CN" dirty="0"/>
              </a:p>
              <a:p>
                <a:endParaRPr lang="en-US" altLang="zh-CN" dirty="0"/>
              </a:p>
              <a:p>
                <a:endParaRPr lang="en-US" altLang="zh-CN" dirty="0"/>
              </a:p>
              <a:p>
                <a:endParaRPr lang="en-US" altLang="zh-CN" dirty="0"/>
              </a:p>
              <a:p>
                <a:endParaRPr lang="en-US" altLang="zh-CN" dirty="0"/>
              </a:p>
              <a:p>
                <a:r>
                  <a:rPr lang="zh-CN" altLang="en-US" dirty="0"/>
                  <a:t>解</a:t>
                </a:r>
                <a:r>
                  <a:rPr lang="en-US" altLang="zh-CN" dirty="0"/>
                  <a:t>:</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𝑇</m:t>
                        </m:r>
                      </m:e>
                      <m:sub>
                        <m:r>
                          <a:rPr lang="en-US" altLang="zh-CN" b="0" i="1" smtClean="0">
                            <a:latin typeface="Cambria Math" panose="02040503050406030204" pitchFamily="18" charset="0"/>
                          </a:rPr>
                          <m:t>1</m:t>
                        </m:r>
                      </m:sub>
                    </m:sSub>
                  </m:oMath>
                </a14:m>
                <a:r>
                  <a:rPr lang="zh-CN" altLang="en-US" dirty="0"/>
                  <a:t>是平衡的</a:t>
                </a:r>
                <a:r>
                  <a:rPr lang="en-US" altLang="zh-CN" dirty="0"/>
                  <a:t>, </a:t>
                </a:r>
                <a:r>
                  <a:rPr lang="zh-CN" altLang="en-US" dirty="0"/>
                  <a:t>因为它的所有树叶都在</a:t>
                </a:r>
                <a:r>
                  <a:rPr lang="en-US" altLang="zh-CN" dirty="0"/>
                  <a:t>3</a:t>
                </a:r>
                <a:r>
                  <a:rPr lang="zh-CN" altLang="en-US" dirty="0"/>
                  <a:t>层和</a:t>
                </a:r>
                <a:r>
                  <a:rPr lang="en-US" altLang="zh-CN" dirty="0"/>
                  <a:t>4</a:t>
                </a:r>
                <a:r>
                  <a:rPr lang="zh-CN" altLang="en-US" dirty="0"/>
                  <a:t>层上</a:t>
                </a:r>
                <a:r>
                  <a:rPr lang="en-US" altLang="zh-CN" dirty="0"/>
                  <a:t>.</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𝑇</m:t>
                        </m:r>
                      </m:e>
                      <m:sub>
                        <m:r>
                          <a:rPr lang="en-US" altLang="zh-CN" b="0" i="1" smtClean="0">
                            <a:latin typeface="Cambria Math" panose="02040503050406030204" pitchFamily="18" charset="0"/>
                          </a:rPr>
                          <m:t>2</m:t>
                        </m:r>
                      </m:sub>
                    </m:sSub>
                  </m:oMath>
                </a14:m>
                <a:r>
                  <a:rPr lang="zh-CN" altLang="en-US" dirty="0"/>
                  <a:t>不是平衡的</a:t>
                </a:r>
                <a:r>
                  <a:rPr lang="en-US" altLang="zh-CN" dirty="0"/>
                  <a:t>, </a:t>
                </a:r>
                <a:r>
                  <a:rPr lang="zh-CN" altLang="en-US" dirty="0"/>
                  <a:t>因为它的树叶有在</a:t>
                </a:r>
                <a:r>
                  <a:rPr lang="en-US" altLang="zh-CN" dirty="0"/>
                  <a:t>2</a:t>
                </a:r>
                <a:r>
                  <a:rPr lang="zh-CN" altLang="en-US" dirty="0"/>
                  <a:t>层</a:t>
                </a:r>
                <a:r>
                  <a:rPr lang="en-US" altLang="zh-CN" dirty="0"/>
                  <a:t>, 3</a:t>
                </a:r>
                <a:r>
                  <a:rPr lang="zh-CN" altLang="en-US" dirty="0"/>
                  <a:t>层</a:t>
                </a:r>
                <a:r>
                  <a:rPr lang="en-US" altLang="zh-CN" dirty="0"/>
                  <a:t>, 4</a:t>
                </a:r>
                <a:r>
                  <a:rPr lang="zh-CN" altLang="en-US" dirty="0"/>
                  <a:t>层</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𝑇</m:t>
                        </m:r>
                      </m:e>
                      <m:sub>
                        <m:r>
                          <a:rPr lang="en-US" altLang="zh-CN" b="0" i="1" smtClean="0">
                            <a:latin typeface="Cambria Math" panose="02040503050406030204" pitchFamily="18" charset="0"/>
                          </a:rPr>
                          <m:t>3</m:t>
                        </m:r>
                      </m:sub>
                    </m:sSub>
                  </m:oMath>
                </a14:m>
                <a:r>
                  <a:rPr lang="zh-CN" altLang="en-US" dirty="0"/>
                  <a:t>是平衡的</a:t>
                </a:r>
                <a:r>
                  <a:rPr lang="en-US" altLang="zh-CN" dirty="0"/>
                  <a:t>, </a:t>
                </a:r>
                <a:r>
                  <a:rPr lang="zh-CN" altLang="en-US" dirty="0"/>
                  <a:t>因为它所有的树叶都在</a:t>
                </a:r>
                <a:r>
                  <a:rPr lang="en-US" altLang="zh-CN" dirty="0"/>
                  <a:t>3</a:t>
                </a:r>
                <a:r>
                  <a:rPr lang="zh-CN" altLang="en-US" dirty="0"/>
                  <a:t>层上</a:t>
                </a:r>
                <a:r>
                  <a:rPr lang="en-US" dirty="0"/>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b="-3333"/>
                </a:stretch>
              </a:blipFill>
            </p:spPr>
            <p:txBody>
              <a:bodyPr/>
              <a:lstStyle/>
              <a:p>
                <a:r>
                  <a:rPr lang="zh-CN" altLang="en-US">
                    <a:noFill/>
                  </a:rPr>
                  <a:t> </a:t>
                </a:r>
              </a:p>
            </p:txBody>
          </p:sp>
        </mc:Fallback>
      </mc:AlternateContent>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71600" y="2620864"/>
            <a:ext cx="9694386" cy="2057400"/>
          </a:xfrm>
          <a:prstGeom prst="rect">
            <a:avLst/>
          </a:prstGeom>
        </p:spPr>
      </p:pic>
      <p:sp>
        <p:nvSpPr>
          <p:cNvPr id="9" name="日期占位符 8"/>
          <p:cNvSpPr>
            <a:spLocks noGrp="1"/>
          </p:cNvSpPr>
          <p:nvPr>
            <p:ph type="dt" sz="half" idx="10"/>
          </p:nvPr>
        </p:nvSpPr>
        <p:spPr/>
        <p:txBody>
          <a:bodyPr/>
          <a:lstStyle/>
          <a:p>
            <a:fld id="{34E5C672-7A25-4CD4-AB4D-9BA9CEB4CF7E}" type="datetime1">
              <a:rPr lang="zh-CN" altLang="en-US" smtClean="0"/>
              <a:t>2025/4/15</a:t>
            </a:fld>
            <a:endParaRPr lang="zh-CN" altLang="en-US" dirty="0"/>
          </a:p>
        </p:txBody>
      </p:sp>
      <p:sp>
        <p:nvSpPr>
          <p:cNvPr id="10" name="页脚占位符 9"/>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1" name="灯片编号占位符 10"/>
          <p:cNvSpPr>
            <a:spLocks noGrp="1"/>
          </p:cNvSpPr>
          <p:nvPr>
            <p:ph type="sldNum" sz="quarter" idx="12"/>
          </p:nvPr>
        </p:nvSpPr>
        <p:spPr/>
        <p:txBody>
          <a:bodyPr/>
          <a:lstStyle/>
          <a:p>
            <a:fld id="{67913A8A-9EFB-4B5F-9CCB-3D21173FAA85}" type="slidenum">
              <a:rPr lang="zh-CN" altLang="en-US" smtClean="0"/>
              <a:pPr/>
              <a:t>24</a:t>
            </a:fld>
            <a:endParaRPr lang="zh-CN" altLang="en-US" dirty="0"/>
          </a:p>
        </p:txBody>
      </p:sp>
    </p:spTree>
    <p:extLst>
      <p:ext uri="{BB962C8B-B14F-4D97-AF65-F5344CB8AC3E}">
        <p14:creationId xmlns:p14="http://schemas.microsoft.com/office/powerpoint/2010/main" val="3597709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wipe(down)">
                                      <p:cBhvr>
                                        <p:cTn id="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457200" y="2057399"/>
            <a:ext cx="11277599" cy="609601"/>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树的性质</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b="1" dirty="0">
                    <a:solidFill>
                      <a:srgbClr val="C00000"/>
                    </a:solidFill>
                  </a:rPr>
                  <a:t>在</a:t>
                </a:r>
                <a:r>
                  <a:rPr lang="en-US" altLang="zh-CN" b="1" dirty="0">
                    <a:solidFill>
                      <a:srgbClr val="C00000"/>
                    </a:solidFill>
                  </a:rPr>
                  <a:t>m</a:t>
                </a:r>
                <a:r>
                  <a:rPr lang="zh-CN" altLang="en-US" b="1" dirty="0">
                    <a:solidFill>
                      <a:srgbClr val="C00000"/>
                    </a:solidFill>
                  </a:rPr>
                  <a:t>叉树中树叶数的界</a:t>
                </a:r>
                <a:r>
                  <a:rPr lang="en-US" altLang="zh-CN" dirty="0"/>
                  <a:t>, </a:t>
                </a:r>
                <a:r>
                  <a:rPr lang="zh-CN" altLang="en-US" dirty="0"/>
                  <a:t>常常会用到在</a:t>
                </a:r>
                <a:r>
                  <a:rPr lang="en-US" altLang="zh-CN" dirty="0"/>
                  <a:t>m</a:t>
                </a:r>
                <a:r>
                  <a:rPr lang="zh-CN" altLang="en-US" dirty="0"/>
                  <a:t>叉树中树叶数的上界</a:t>
                </a:r>
                <a:r>
                  <a:rPr lang="en-US" altLang="zh-CN" dirty="0"/>
                  <a:t>, </a:t>
                </a:r>
                <a:r>
                  <a:rPr lang="zh-CN" altLang="en-US" dirty="0"/>
                  <a:t>它可以用</a:t>
                </a:r>
                <a:r>
                  <a:rPr lang="en-US" altLang="zh-CN" dirty="0"/>
                  <a:t>m</a:t>
                </a:r>
                <a:r>
                  <a:rPr lang="zh-CN" altLang="en-US" dirty="0"/>
                  <a:t>叉树的高度给出这样的界</a:t>
                </a:r>
                <a:r>
                  <a:rPr lang="en-US" altLang="zh-CN" dirty="0"/>
                  <a:t>, </a:t>
                </a:r>
                <a:r>
                  <a:rPr lang="zh-CN" altLang="en-US" dirty="0"/>
                  <a:t>如下</a:t>
                </a:r>
                <a:endParaRPr lang="en-US" dirty="0"/>
              </a:p>
              <a:p>
                <a:r>
                  <a:rPr lang="zh-CN" altLang="en-US" dirty="0">
                    <a:uFill>
                      <a:solidFill>
                        <a:srgbClr val="C00000"/>
                      </a:solidFill>
                    </a:uFill>
                  </a:rPr>
                  <a:t>定理</a:t>
                </a:r>
                <a:r>
                  <a:rPr lang="en-US" altLang="zh-CN" dirty="0">
                    <a:uFill>
                      <a:solidFill>
                        <a:srgbClr val="C00000"/>
                      </a:solidFill>
                    </a:uFill>
                  </a:rPr>
                  <a:t>:</a:t>
                </a:r>
                <a:r>
                  <a:rPr lang="zh-CN" altLang="en-US" dirty="0">
                    <a:uFill>
                      <a:solidFill>
                        <a:srgbClr val="C00000"/>
                      </a:solidFill>
                    </a:uFill>
                  </a:rPr>
                  <a:t>在高度为</a:t>
                </a:r>
                <a:r>
                  <a:rPr lang="en-US" altLang="zh-CN" dirty="0">
                    <a:uFill>
                      <a:solidFill>
                        <a:srgbClr val="C00000"/>
                      </a:solidFill>
                    </a:uFill>
                  </a:rPr>
                  <a:t>h</a:t>
                </a:r>
                <a:r>
                  <a:rPr lang="zh-CN" altLang="en-US" dirty="0">
                    <a:uFill>
                      <a:solidFill>
                        <a:srgbClr val="C00000"/>
                      </a:solidFill>
                    </a:uFill>
                  </a:rPr>
                  <a:t>的</a:t>
                </a:r>
                <a:r>
                  <a:rPr lang="en-US" altLang="zh-CN" dirty="0">
                    <a:uFill>
                      <a:solidFill>
                        <a:srgbClr val="C00000"/>
                      </a:solidFill>
                    </a:uFill>
                  </a:rPr>
                  <a:t>m</a:t>
                </a:r>
                <a:r>
                  <a:rPr lang="zh-CN" altLang="en-US" dirty="0">
                    <a:uFill>
                      <a:solidFill>
                        <a:srgbClr val="C00000"/>
                      </a:solidFill>
                    </a:uFill>
                  </a:rPr>
                  <a:t>叉树中最多有</a:t>
                </a:r>
                <a14:m>
                  <m:oMath xmlns:m="http://schemas.openxmlformats.org/officeDocument/2006/math">
                    <m:sSup>
                      <m:sSupPr>
                        <m:ctrlPr>
                          <a:rPr lang="en-US" altLang="zh-CN" i="1" smtClean="0">
                            <a:uFill>
                              <a:solidFill>
                                <a:srgbClr val="C00000"/>
                              </a:solidFill>
                            </a:uFill>
                            <a:latin typeface="Cambria Math" panose="02040503050406030204" pitchFamily="18" charset="0"/>
                          </a:rPr>
                        </m:ctrlPr>
                      </m:sSupPr>
                      <m:e>
                        <m:r>
                          <m:rPr>
                            <m:sty m:val="p"/>
                          </m:rPr>
                          <a:rPr lang="en-US" altLang="zh-CN" i="1">
                            <a:uFill>
                              <a:solidFill>
                                <a:srgbClr val="C00000"/>
                              </a:solidFill>
                            </a:uFill>
                            <a:latin typeface="Cambria Math" panose="02040503050406030204" pitchFamily="18" charset="0"/>
                          </a:rPr>
                          <m:t>m</m:t>
                        </m:r>
                      </m:e>
                      <m:sup>
                        <m:r>
                          <a:rPr lang="en-US" altLang="zh-CN" b="0" i="1" smtClean="0">
                            <a:uFill>
                              <a:solidFill>
                                <a:srgbClr val="C00000"/>
                              </a:solidFill>
                            </a:uFill>
                            <a:latin typeface="Cambria Math" panose="02040503050406030204" pitchFamily="18" charset="0"/>
                          </a:rPr>
                          <m:t>h</m:t>
                        </m:r>
                      </m:sup>
                    </m:sSup>
                  </m:oMath>
                </a14:m>
                <a:r>
                  <a:rPr lang="zh-CN" altLang="en-US" dirty="0">
                    <a:uFill>
                      <a:solidFill>
                        <a:srgbClr val="C00000"/>
                      </a:solidFill>
                    </a:uFill>
                  </a:rPr>
                  <a:t>个树叶</a:t>
                </a:r>
                <a:r>
                  <a:rPr lang="en-US" altLang="zh-CN" dirty="0">
                    <a:uFill>
                      <a:solidFill>
                        <a:srgbClr val="C00000"/>
                      </a:solidFill>
                    </a:uFill>
                  </a:rPr>
                  <a:t>.</a:t>
                </a:r>
              </a:p>
              <a:p>
                <a:endParaRPr lang="en-US" altLang="zh-CN" sz="26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99" t="-1310"/>
                </a:stretch>
              </a:blipFill>
            </p:spPr>
            <p:txBody>
              <a:bodyPr/>
              <a:lstStyle/>
              <a:p>
                <a:r>
                  <a:rPr lang="zh-CN" altLang="en-US">
                    <a:noFill/>
                  </a:rPr>
                  <a:t> </a:t>
                </a:r>
              </a:p>
            </p:txBody>
          </p:sp>
        </mc:Fallback>
      </mc:AlternateContent>
      <p:sp>
        <p:nvSpPr>
          <p:cNvPr id="10" name="日期占位符 9"/>
          <p:cNvSpPr>
            <a:spLocks noGrp="1"/>
          </p:cNvSpPr>
          <p:nvPr>
            <p:ph type="dt" sz="half" idx="10"/>
          </p:nvPr>
        </p:nvSpPr>
        <p:spPr/>
        <p:txBody>
          <a:bodyPr/>
          <a:lstStyle/>
          <a:p>
            <a:fld id="{9E8465BE-677F-4B00-A6B1-79BE1A41C48E}" type="datetime1">
              <a:rPr lang="zh-CN" altLang="en-US" smtClean="0"/>
              <a:t>2025/4/15</a:t>
            </a:fld>
            <a:endParaRPr lang="zh-CN" altLang="en-US" dirty="0"/>
          </a:p>
        </p:txBody>
      </p:sp>
      <p:sp>
        <p:nvSpPr>
          <p:cNvPr id="11" name="页脚占位符 10"/>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2" name="灯片编号占位符 11"/>
          <p:cNvSpPr>
            <a:spLocks noGrp="1"/>
          </p:cNvSpPr>
          <p:nvPr>
            <p:ph type="sldNum" sz="quarter" idx="12"/>
          </p:nvPr>
        </p:nvSpPr>
        <p:spPr/>
        <p:txBody>
          <a:bodyPr/>
          <a:lstStyle/>
          <a:p>
            <a:fld id="{67913A8A-9EFB-4B5F-9CCB-3D21173FAA85}" type="slidenum">
              <a:rPr lang="zh-CN" altLang="en-US" smtClean="0"/>
              <a:pPr/>
              <a:t>25</a:t>
            </a:fld>
            <a:endParaRPr lang="zh-CN" altLang="en-US" dirty="0"/>
          </a:p>
        </p:txBody>
      </p:sp>
    </p:spTree>
    <p:extLst>
      <p:ext uri="{BB962C8B-B14F-4D97-AF65-F5344CB8AC3E}">
        <p14:creationId xmlns:p14="http://schemas.microsoft.com/office/powerpoint/2010/main" val="25326075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457200" y="1076534"/>
            <a:ext cx="11277599" cy="933449"/>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树的性质</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a:t>推论</a:t>
                </a:r>
                <a:r>
                  <a:rPr lang="en-US" altLang="zh-CN" dirty="0"/>
                  <a:t>1:</a:t>
                </a:r>
                <a:r>
                  <a:rPr lang="zh-CN" altLang="en-US" dirty="0"/>
                  <a:t>若一棵高度为</a:t>
                </a:r>
                <a:r>
                  <a:rPr lang="en-US" altLang="zh-CN" dirty="0"/>
                  <a:t>h</a:t>
                </a:r>
                <a:r>
                  <a:rPr lang="zh-CN" altLang="en-US" dirty="0"/>
                  <a:t>的</a:t>
                </a:r>
                <a:r>
                  <a:rPr lang="en-US" altLang="zh-CN" dirty="0"/>
                  <a:t>m</a:t>
                </a:r>
                <a:r>
                  <a:rPr lang="zh-CN" altLang="en-US" dirty="0"/>
                  <a:t>叉树带有</a:t>
                </a:r>
                <a:r>
                  <a:rPr lang="en-US" altLang="zh-CN" dirty="0"/>
                  <a:t>l</a:t>
                </a:r>
                <a:r>
                  <a:rPr lang="zh-CN" altLang="en-US" dirty="0"/>
                  <a:t>个树叶</a:t>
                </a:r>
                <a:r>
                  <a:rPr lang="en-US" altLang="zh-CN" dirty="0"/>
                  <a:t>, </a:t>
                </a:r>
                <a:r>
                  <a:rPr lang="zh-CN" altLang="en-US" dirty="0"/>
                  <a:t>则</a:t>
                </a:r>
                <a:r>
                  <a:rPr lang="en-US" dirty="0"/>
                  <a:t>h ≥ ⌈</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𝑙𝑜𝑔</m:t>
                        </m:r>
                      </m:e>
                      <m:sub>
                        <m:r>
                          <a:rPr lang="en-US" altLang="zh-CN" b="0" i="1" smtClean="0">
                            <a:latin typeface="Cambria Math" panose="02040503050406030204" pitchFamily="18" charset="0"/>
                          </a:rPr>
                          <m:t>𝑚</m:t>
                        </m:r>
                      </m:sub>
                    </m:sSub>
                    <m:r>
                      <a:rPr lang="en-US" altLang="zh-CN" b="0" i="1" smtClean="0">
                        <a:latin typeface="Cambria Math" panose="02040503050406030204" pitchFamily="18" charset="0"/>
                      </a:rPr>
                      <m:t>𝑙</m:t>
                    </m:r>
                  </m:oMath>
                </a14:m>
                <a:r>
                  <a:rPr lang="en-US" dirty="0"/>
                  <a:t>⌉. </a:t>
                </a:r>
                <a:r>
                  <a:rPr lang="zh-CN" altLang="en-US" dirty="0"/>
                  <a:t>若这棵</a:t>
                </a:r>
                <a:r>
                  <a:rPr lang="en-US" altLang="zh-CN" dirty="0"/>
                  <a:t>m</a:t>
                </a:r>
                <a:r>
                  <a:rPr lang="zh-CN" altLang="en-US" dirty="0"/>
                  <a:t>叉树是满的和平衡的</a:t>
                </a:r>
                <a:r>
                  <a:rPr lang="en-US" altLang="zh-CN" dirty="0"/>
                  <a:t>, </a:t>
                </a:r>
                <a:r>
                  <a:rPr lang="zh-CN" altLang="en-US" dirty="0"/>
                  <a:t>则</a:t>
                </a:r>
                <a:r>
                  <a:rPr lang="en-US" dirty="0"/>
                  <a:t>h =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𝑙𝑜𝑔</m:t>
                        </m:r>
                      </m:e>
                      <m:sub>
                        <m:r>
                          <a:rPr lang="en-US" altLang="zh-CN" i="1">
                            <a:latin typeface="Cambria Math" panose="02040503050406030204" pitchFamily="18" charset="0"/>
                          </a:rPr>
                          <m:t>𝑚</m:t>
                        </m:r>
                      </m:sub>
                    </m:sSub>
                    <m:r>
                      <a:rPr lang="en-US" altLang="zh-CN" i="1">
                        <a:latin typeface="Cambria Math" panose="02040503050406030204" pitchFamily="18" charset="0"/>
                      </a:rPr>
                      <m:t>𝑙</m:t>
                    </m:r>
                  </m:oMath>
                </a14:m>
                <a:r>
                  <a:rPr lang="en-US" dirty="0"/>
                  <a:t>⌉.</a:t>
                </a:r>
              </a:p>
              <a:p>
                <a:r>
                  <a:rPr lang="en-US" dirty="0"/>
                  <a:t> (</a:t>
                </a:r>
                <a:r>
                  <a:rPr lang="en-US" altLang="zh-CN" dirty="0"/>
                  <a:t>⌈x⌉</a:t>
                </a:r>
                <a:r>
                  <a:rPr lang="zh-CN" altLang="en-US" dirty="0"/>
                  <a:t>是向上取整函数</a:t>
                </a:r>
                <a:r>
                  <a:rPr lang="en-US" altLang="zh-CN" dirty="0"/>
                  <a:t>, </a:t>
                </a:r>
                <a:r>
                  <a:rPr lang="zh-CN" altLang="en-US" dirty="0"/>
                  <a:t>表示大于或等于</a:t>
                </a:r>
                <a:r>
                  <a:rPr lang="en-US" altLang="zh-CN" dirty="0"/>
                  <a:t>x</a:t>
                </a:r>
                <a:r>
                  <a:rPr lang="zh-CN" altLang="en-US" dirty="0"/>
                  <a:t>的最小整数</a:t>
                </a:r>
                <a:r>
                  <a:rPr lang="en-US"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99" t="-1429"/>
                </a:stretch>
              </a:blipFill>
            </p:spPr>
            <p:txBody>
              <a:bodyPr/>
              <a:lstStyle/>
              <a:p>
                <a:r>
                  <a:rPr lang="zh-CN" altLang="en-US">
                    <a:noFill/>
                  </a:rPr>
                  <a:t> </a:t>
                </a:r>
              </a:p>
            </p:txBody>
          </p:sp>
        </mc:Fallback>
      </mc:AlternateContent>
      <p:sp>
        <p:nvSpPr>
          <p:cNvPr id="10" name="日期占位符 9"/>
          <p:cNvSpPr>
            <a:spLocks noGrp="1"/>
          </p:cNvSpPr>
          <p:nvPr>
            <p:ph type="dt" sz="half" idx="10"/>
          </p:nvPr>
        </p:nvSpPr>
        <p:spPr/>
        <p:txBody>
          <a:bodyPr/>
          <a:lstStyle/>
          <a:p>
            <a:fld id="{DE0D0D9D-4BF6-479A-B8E4-73DBE0668D23}" type="datetime1">
              <a:rPr lang="zh-CN" altLang="en-US" smtClean="0"/>
              <a:t>2025/4/15</a:t>
            </a:fld>
            <a:endParaRPr lang="zh-CN" altLang="en-US" dirty="0"/>
          </a:p>
        </p:txBody>
      </p:sp>
      <p:sp>
        <p:nvSpPr>
          <p:cNvPr id="11" name="页脚占位符 10"/>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2" name="灯片编号占位符 11"/>
          <p:cNvSpPr>
            <a:spLocks noGrp="1"/>
          </p:cNvSpPr>
          <p:nvPr>
            <p:ph type="sldNum" sz="quarter" idx="12"/>
          </p:nvPr>
        </p:nvSpPr>
        <p:spPr/>
        <p:txBody>
          <a:bodyPr/>
          <a:lstStyle/>
          <a:p>
            <a:fld id="{67913A8A-9EFB-4B5F-9CCB-3D21173FAA85}" type="slidenum">
              <a:rPr lang="zh-CN" altLang="en-US" smtClean="0"/>
              <a:pPr/>
              <a:t>26</a:t>
            </a:fld>
            <a:endParaRPr lang="zh-CN" altLang="en-US" dirty="0"/>
          </a:p>
        </p:txBody>
      </p:sp>
    </p:spTree>
    <p:extLst>
      <p:ext uri="{BB962C8B-B14F-4D97-AF65-F5344CB8AC3E}">
        <p14:creationId xmlns:p14="http://schemas.microsoft.com/office/powerpoint/2010/main" val="42738294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0" y="2260600"/>
            <a:ext cx="12192000" cy="2387600"/>
          </a:xfrm>
        </p:spPr>
        <p:txBody>
          <a:bodyPr/>
          <a:lstStyle/>
          <a:p>
            <a:pPr algn="ctr"/>
            <a:r>
              <a:rPr lang="en-US" altLang="zh-CN" dirty="0"/>
              <a:t>Section </a:t>
            </a:r>
            <a:r>
              <a:rPr lang="en-US" altLang="zh-CN" dirty="0" smtClean="0"/>
              <a:t>5.2</a:t>
            </a:r>
            <a:r>
              <a:rPr lang="en-US" altLang="zh-CN" dirty="0"/>
              <a:t/>
            </a:r>
            <a:br>
              <a:rPr lang="en-US" altLang="zh-CN" dirty="0"/>
            </a:br>
            <a:r>
              <a:rPr lang="zh-CN" altLang="en-US" dirty="0"/>
              <a:t>树的应用</a:t>
            </a:r>
            <a:endParaRPr lang="en-US" dirty="0">
              <a:solidFill>
                <a:srgbClr val="FF0000"/>
              </a:solidFill>
            </a:endParaRPr>
          </a:p>
        </p:txBody>
      </p:sp>
    </p:spTree>
    <p:extLst>
      <p:ext uri="{BB962C8B-B14F-4D97-AF65-F5344CB8AC3E}">
        <p14:creationId xmlns:p14="http://schemas.microsoft.com/office/powerpoint/2010/main" val="11254476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内容</a:t>
            </a:r>
            <a:endParaRPr lang="en-US" dirty="0"/>
          </a:p>
        </p:txBody>
      </p:sp>
      <p:sp>
        <p:nvSpPr>
          <p:cNvPr id="3" name="Content Placeholder 2"/>
          <p:cNvSpPr>
            <a:spLocks noGrp="1"/>
          </p:cNvSpPr>
          <p:nvPr>
            <p:ph idx="1"/>
          </p:nvPr>
        </p:nvSpPr>
        <p:spPr/>
        <p:txBody>
          <a:bodyPr/>
          <a:lstStyle/>
          <a:p>
            <a:r>
              <a:rPr lang="zh-CN" altLang="en-US" dirty="0"/>
              <a:t>二叉搜索树</a:t>
            </a:r>
            <a:endParaRPr lang="en-US" altLang="zh-CN" dirty="0"/>
          </a:p>
          <a:p>
            <a:r>
              <a:rPr lang="zh-CN" altLang="en-US" dirty="0"/>
              <a:t>决策树</a:t>
            </a:r>
            <a:endParaRPr lang="en-US" altLang="zh-CN" dirty="0"/>
          </a:p>
          <a:p>
            <a:r>
              <a:rPr lang="zh-CN" altLang="en-US" dirty="0"/>
              <a:t>前缀码</a:t>
            </a:r>
            <a:endParaRPr lang="en-US" altLang="zh-CN" dirty="0"/>
          </a:p>
        </p:txBody>
      </p:sp>
      <p:sp>
        <p:nvSpPr>
          <p:cNvPr id="8" name="日期占位符 7"/>
          <p:cNvSpPr>
            <a:spLocks noGrp="1"/>
          </p:cNvSpPr>
          <p:nvPr>
            <p:ph type="dt" sz="half" idx="10"/>
          </p:nvPr>
        </p:nvSpPr>
        <p:spPr/>
        <p:txBody>
          <a:bodyPr/>
          <a:lstStyle/>
          <a:p>
            <a:fld id="{78210DD3-6F1D-4477-BE68-13B7C6C2A23E}" type="datetime1">
              <a:rPr lang="zh-CN" altLang="en-US" smtClean="0"/>
              <a:t>2025/4/15</a:t>
            </a:fld>
            <a:endParaRPr lang="zh-CN" altLang="en-US" dirty="0"/>
          </a:p>
        </p:txBody>
      </p:sp>
      <p:sp>
        <p:nvSpPr>
          <p:cNvPr id="9" name="页脚占位符 8"/>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0" name="灯片编号占位符 9"/>
          <p:cNvSpPr>
            <a:spLocks noGrp="1"/>
          </p:cNvSpPr>
          <p:nvPr>
            <p:ph type="sldNum" sz="quarter" idx="12"/>
          </p:nvPr>
        </p:nvSpPr>
        <p:spPr/>
        <p:txBody>
          <a:bodyPr/>
          <a:lstStyle/>
          <a:p>
            <a:fld id="{67913A8A-9EFB-4B5F-9CCB-3D21173FAA85}" type="slidenum">
              <a:rPr lang="zh-CN" altLang="en-US" smtClean="0"/>
              <a:pPr/>
              <a:t>28</a:t>
            </a:fld>
            <a:endParaRPr lang="zh-CN" altLang="en-US" dirty="0"/>
          </a:p>
        </p:txBody>
      </p:sp>
    </p:spTree>
    <p:extLst>
      <p:ext uri="{BB962C8B-B14F-4D97-AF65-F5344CB8AC3E}">
        <p14:creationId xmlns:p14="http://schemas.microsoft.com/office/powerpoint/2010/main" val="1639266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树的应用</a:t>
            </a:r>
            <a:endParaRPr lang="en-US" dirty="0"/>
          </a:p>
        </p:txBody>
      </p:sp>
      <p:sp>
        <p:nvSpPr>
          <p:cNvPr id="3" name="Content Placeholder 2"/>
          <p:cNvSpPr>
            <a:spLocks noGrp="1"/>
          </p:cNvSpPr>
          <p:nvPr>
            <p:ph idx="1"/>
          </p:nvPr>
        </p:nvSpPr>
        <p:spPr/>
        <p:txBody>
          <a:bodyPr/>
          <a:lstStyle/>
          <a:p>
            <a:r>
              <a:rPr lang="zh-CN" altLang="en-US" dirty="0"/>
              <a:t>本节讨论三个问题：</a:t>
            </a:r>
            <a:endParaRPr lang="en-US" altLang="zh-CN" dirty="0"/>
          </a:p>
          <a:p>
            <a:pPr lvl="1"/>
            <a:r>
              <a:rPr lang="en-US" altLang="zh-CN" sz="2600" dirty="0"/>
              <a:t>1. </a:t>
            </a:r>
            <a:r>
              <a:rPr lang="zh-CN" altLang="en-US" sz="2600" dirty="0"/>
              <a:t>应当如何对列表里的元素进行排序</a:t>
            </a:r>
            <a:r>
              <a:rPr lang="en-US" altLang="zh-CN" sz="2600" dirty="0"/>
              <a:t>, </a:t>
            </a:r>
            <a:r>
              <a:rPr lang="zh-CN" altLang="en-US" sz="2600" dirty="0"/>
              <a:t>以便可以容易地找到元素的位置？</a:t>
            </a:r>
            <a:endParaRPr lang="en-US" altLang="zh-CN" sz="2600" dirty="0"/>
          </a:p>
          <a:p>
            <a:pPr lvl="1"/>
            <a:r>
              <a:rPr lang="en-US" altLang="zh-CN" sz="2600" dirty="0"/>
              <a:t>2. </a:t>
            </a:r>
            <a:r>
              <a:rPr lang="zh-CN" altLang="en-US" sz="2600" dirty="0"/>
              <a:t>为了在某种类型的一组对象例找到带有某种性质的对象</a:t>
            </a:r>
            <a:r>
              <a:rPr lang="en-US" altLang="zh-CN" sz="2600" dirty="0"/>
              <a:t>, </a:t>
            </a:r>
            <a:r>
              <a:rPr lang="zh-CN" altLang="en-US" sz="2600" dirty="0"/>
              <a:t>应当做出一系列什么样的决策？</a:t>
            </a:r>
            <a:endParaRPr lang="en-US" altLang="zh-CN" sz="2600" dirty="0"/>
          </a:p>
          <a:p>
            <a:pPr lvl="1"/>
            <a:r>
              <a:rPr lang="en-US" altLang="zh-CN" sz="2600" dirty="0"/>
              <a:t>3. </a:t>
            </a:r>
            <a:r>
              <a:rPr lang="zh-CN" altLang="en-US" sz="2600" dirty="0"/>
              <a:t>应当如何用位串来有效地编码一组字符？</a:t>
            </a:r>
            <a:endParaRPr lang="en-US" sz="2600" dirty="0"/>
          </a:p>
          <a:p>
            <a:endParaRPr lang="en-US" dirty="0"/>
          </a:p>
          <a:p>
            <a:endParaRPr lang="en-US" dirty="0"/>
          </a:p>
          <a:p>
            <a:endParaRPr lang="en-US" dirty="0"/>
          </a:p>
          <a:p>
            <a:endParaRPr lang="en-US" dirty="0"/>
          </a:p>
          <a:p>
            <a:endParaRPr lang="en-US" dirty="0"/>
          </a:p>
          <a:p>
            <a:endParaRPr lang="en-US" dirty="0"/>
          </a:p>
        </p:txBody>
      </p:sp>
      <p:sp>
        <p:nvSpPr>
          <p:cNvPr id="8" name="日期占位符 7"/>
          <p:cNvSpPr>
            <a:spLocks noGrp="1"/>
          </p:cNvSpPr>
          <p:nvPr>
            <p:ph type="dt" sz="half" idx="10"/>
          </p:nvPr>
        </p:nvSpPr>
        <p:spPr/>
        <p:txBody>
          <a:bodyPr/>
          <a:lstStyle/>
          <a:p>
            <a:fld id="{A00E8DB1-4D9A-4D79-9804-1C1603AC2878}" type="datetime1">
              <a:rPr lang="zh-CN" altLang="en-US" smtClean="0"/>
              <a:t>2025/4/15</a:t>
            </a:fld>
            <a:endParaRPr lang="zh-CN" altLang="en-US" dirty="0"/>
          </a:p>
        </p:txBody>
      </p:sp>
      <p:sp>
        <p:nvSpPr>
          <p:cNvPr id="9" name="页脚占位符 8"/>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0" name="灯片编号占位符 9"/>
          <p:cNvSpPr>
            <a:spLocks noGrp="1"/>
          </p:cNvSpPr>
          <p:nvPr>
            <p:ph type="sldNum" sz="quarter" idx="12"/>
          </p:nvPr>
        </p:nvSpPr>
        <p:spPr/>
        <p:txBody>
          <a:bodyPr/>
          <a:lstStyle/>
          <a:p>
            <a:fld id="{67913A8A-9EFB-4B5F-9CCB-3D21173FAA85}" type="slidenum">
              <a:rPr lang="zh-CN" altLang="en-US" smtClean="0"/>
              <a:pPr/>
              <a:t>29</a:t>
            </a:fld>
            <a:endParaRPr lang="zh-CN" altLang="en-US" dirty="0"/>
          </a:p>
        </p:txBody>
      </p:sp>
    </p:spTree>
    <p:extLst>
      <p:ext uri="{BB962C8B-B14F-4D97-AF65-F5344CB8AC3E}">
        <p14:creationId xmlns:p14="http://schemas.microsoft.com/office/powerpoint/2010/main" val="166504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二叉搜索树</a:t>
            </a:r>
            <a:endParaRPr lang="en-US" dirty="0"/>
          </a:p>
        </p:txBody>
      </p:sp>
      <p:sp>
        <p:nvSpPr>
          <p:cNvPr id="8" name="日期占位符 7"/>
          <p:cNvSpPr>
            <a:spLocks noGrp="1"/>
          </p:cNvSpPr>
          <p:nvPr>
            <p:ph type="dt" sz="half" idx="10"/>
          </p:nvPr>
        </p:nvSpPr>
        <p:spPr/>
        <p:txBody>
          <a:bodyPr/>
          <a:lstStyle/>
          <a:p>
            <a:fld id="{76180876-7021-45AD-ACA0-510A21D53B05}" type="datetime1">
              <a:rPr lang="zh-CN" altLang="en-US" smtClean="0"/>
              <a:t>2025/4/15</a:t>
            </a:fld>
            <a:endParaRPr lang="zh-CN" altLang="en-US" dirty="0"/>
          </a:p>
        </p:txBody>
      </p:sp>
      <p:sp>
        <p:nvSpPr>
          <p:cNvPr id="9" name="页脚占位符 8"/>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0" name="灯片编号占位符 9"/>
          <p:cNvSpPr>
            <a:spLocks noGrp="1"/>
          </p:cNvSpPr>
          <p:nvPr>
            <p:ph type="sldNum" sz="quarter" idx="12"/>
          </p:nvPr>
        </p:nvSpPr>
        <p:spPr/>
        <p:txBody>
          <a:bodyPr/>
          <a:lstStyle/>
          <a:p>
            <a:fld id="{67913A8A-9EFB-4B5F-9CCB-3D21173FAA85}" type="slidenum">
              <a:rPr lang="zh-CN" altLang="en-US" smtClean="0"/>
              <a:pPr/>
              <a:t>30</a:t>
            </a:fld>
            <a:endParaRPr lang="zh-CN" altLang="en-US" dirty="0"/>
          </a:p>
        </p:txBody>
      </p:sp>
      <p:sp>
        <p:nvSpPr>
          <p:cNvPr id="3" name="Content Placeholder 2"/>
          <p:cNvSpPr>
            <a:spLocks noGrp="1"/>
          </p:cNvSpPr>
          <p:nvPr>
            <p:ph idx="1"/>
          </p:nvPr>
        </p:nvSpPr>
        <p:spPr>
          <a:xfrm>
            <a:off x="595086" y="1088825"/>
            <a:ext cx="10987316" cy="3635576"/>
          </a:xfrm>
        </p:spPr>
        <p:txBody>
          <a:bodyPr>
            <a:normAutofit/>
          </a:bodyPr>
          <a:lstStyle/>
          <a:p>
            <a:r>
              <a:rPr lang="zh-CN" altLang="en-US" dirty="0"/>
              <a:t>目的实现一个搜索算法</a:t>
            </a:r>
            <a:r>
              <a:rPr lang="en-US" altLang="zh-CN" dirty="0"/>
              <a:t>, </a:t>
            </a:r>
            <a:r>
              <a:rPr lang="zh-CN" altLang="en-US" dirty="0"/>
              <a:t>当元素都完全排序时</a:t>
            </a:r>
            <a:r>
              <a:rPr lang="en-US" altLang="zh-CN" dirty="0"/>
              <a:t>, </a:t>
            </a:r>
            <a:r>
              <a:rPr lang="zh-CN" altLang="en-US" dirty="0"/>
              <a:t>它能够有效地在列表中找出一些元素</a:t>
            </a:r>
            <a:r>
              <a:rPr lang="en-US" altLang="zh-CN" dirty="0"/>
              <a:t>. </a:t>
            </a:r>
          </a:p>
          <a:p>
            <a:r>
              <a:rPr lang="zh-CN" altLang="en-US" dirty="0"/>
              <a:t>手段</a:t>
            </a:r>
            <a:r>
              <a:rPr lang="en-US" altLang="zh-CN" dirty="0"/>
              <a:t>: </a:t>
            </a:r>
            <a:r>
              <a:rPr lang="zh-CN" altLang="en-US" b="1" dirty="0">
                <a:solidFill>
                  <a:srgbClr val="C00000"/>
                </a:solidFill>
              </a:rPr>
              <a:t>二叉搜索树</a:t>
            </a:r>
            <a:endParaRPr lang="en-US" altLang="zh-CN" b="1" dirty="0">
              <a:solidFill>
                <a:srgbClr val="C00000"/>
              </a:solidFill>
            </a:endParaRPr>
          </a:p>
          <a:p>
            <a:r>
              <a:rPr lang="zh-CN" altLang="en-US" dirty="0"/>
              <a:t>二叉搜索树是一种二叉树</a:t>
            </a:r>
            <a:r>
              <a:rPr lang="en-US" altLang="zh-CN" dirty="0"/>
              <a:t>, </a:t>
            </a:r>
            <a:r>
              <a:rPr lang="zh-CN" altLang="en-US" dirty="0"/>
              <a:t>其中每个顶点都用一个关键词来标记</a:t>
            </a:r>
            <a:r>
              <a:rPr lang="en-US" altLang="zh-CN" dirty="0"/>
              <a:t>, </a:t>
            </a:r>
            <a:r>
              <a:rPr lang="zh-CN" altLang="en-US" dirty="0"/>
              <a:t>这个关键词是列表中的各元素的一个</a:t>
            </a:r>
            <a:r>
              <a:rPr lang="en-US" altLang="zh-CN" dirty="0"/>
              <a:t>. </a:t>
            </a:r>
            <a:r>
              <a:rPr lang="zh-CN" altLang="en-US" dirty="0"/>
              <a:t>此外</a:t>
            </a:r>
            <a:r>
              <a:rPr lang="en-US" altLang="zh-CN" dirty="0"/>
              <a:t>, </a:t>
            </a:r>
            <a:r>
              <a:rPr lang="zh-CN" altLang="en-US" dirty="0"/>
              <a:t>这样指定顶点的关键词使得顶点的关键词不仅大于它的左子树里的所有顶点的关键词</a:t>
            </a:r>
            <a:r>
              <a:rPr lang="en-US" altLang="zh-CN" dirty="0"/>
              <a:t>, </a:t>
            </a:r>
            <a:r>
              <a:rPr lang="zh-CN" altLang="en-US" dirty="0"/>
              <a:t>而且小于它的右子树里的所有顶点的关键词</a:t>
            </a:r>
            <a:r>
              <a:rPr lang="en-US" altLang="zh-CN" dirty="0"/>
              <a:t>. </a:t>
            </a:r>
            <a:endParaRPr lang="en-US" dirty="0"/>
          </a:p>
          <a:p>
            <a:endParaRPr lang="en-US" dirty="0"/>
          </a:p>
        </p:txBody>
      </p:sp>
      <p:pic>
        <p:nvPicPr>
          <p:cNvPr id="6" name="图片 5"/>
          <p:cNvPicPr>
            <a:picLocks noChangeAspect="1"/>
          </p:cNvPicPr>
          <p:nvPr/>
        </p:nvPicPr>
        <p:blipFill>
          <a:blip r:embed="rId2"/>
          <a:stretch>
            <a:fillRect/>
          </a:stretch>
        </p:blipFill>
        <p:spPr>
          <a:xfrm>
            <a:off x="7391400" y="4267200"/>
            <a:ext cx="2849700" cy="2004027"/>
          </a:xfrm>
          <a:prstGeom prst="rect">
            <a:avLst/>
          </a:prstGeom>
        </p:spPr>
      </p:pic>
    </p:spTree>
    <p:extLst>
      <p:ext uri="{BB962C8B-B14F-4D97-AF65-F5344CB8AC3E}">
        <p14:creationId xmlns:p14="http://schemas.microsoft.com/office/powerpoint/2010/main" val="512306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二叉搜索树</a:t>
            </a:r>
          </a:p>
        </p:txBody>
      </p:sp>
      <p:sp>
        <p:nvSpPr>
          <p:cNvPr id="3" name="内容占位符 2"/>
          <p:cNvSpPr>
            <a:spLocks noGrp="1"/>
          </p:cNvSpPr>
          <p:nvPr>
            <p:ph idx="1"/>
          </p:nvPr>
        </p:nvSpPr>
        <p:spPr/>
        <p:txBody>
          <a:bodyPr/>
          <a:lstStyle/>
          <a:p>
            <a:r>
              <a:rPr lang="zh-CN" altLang="en-US" dirty="0"/>
              <a:t>例：用字母顺序来构造以下单词的二叉搜索树</a:t>
            </a:r>
            <a:r>
              <a:rPr lang="en-US" altLang="zh-CN" dirty="0"/>
              <a:t>, mathematics, physics, geography, zoology, meteorology, geology, psychology, chemistry.</a:t>
            </a:r>
          </a:p>
          <a:p>
            <a:r>
              <a:rPr lang="zh-CN" altLang="en-US" dirty="0"/>
              <a:t>解：</a:t>
            </a:r>
          </a:p>
        </p:txBody>
      </p:sp>
      <p:sp>
        <p:nvSpPr>
          <p:cNvPr id="4" name="日期占位符 3"/>
          <p:cNvSpPr>
            <a:spLocks noGrp="1"/>
          </p:cNvSpPr>
          <p:nvPr>
            <p:ph type="dt" sz="half" idx="10"/>
          </p:nvPr>
        </p:nvSpPr>
        <p:spPr/>
        <p:txBody>
          <a:bodyPr/>
          <a:lstStyle/>
          <a:p>
            <a:fld id="{BFC5F058-3039-4DE8-BD52-CF065ABA8526}"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31</a:t>
            </a:fld>
            <a:endParaRPr lang="zh-CN" altLang="en-US" dirty="0"/>
          </a:p>
        </p:txBody>
      </p:sp>
      <p:pic>
        <p:nvPicPr>
          <p:cNvPr id="7" name="图片 6"/>
          <p:cNvPicPr>
            <a:picLocks noChangeAspect="1"/>
          </p:cNvPicPr>
          <p:nvPr/>
        </p:nvPicPr>
        <p:blipFill>
          <a:blip r:embed="rId2"/>
          <a:stretch>
            <a:fillRect/>
          </a:stretch>
        </p:blipFill>
        <p:spPr>
          <a:xfrm>
            <a:off x="762000" y="3048000"/>
            <a:ext cx="10435371" cy="2538596"/>
          </a:xfrm>
          <a:prstGeom prst="rect">
            <a:avLst/>
          </a:prstGeom>
        </p:spPr>
      </p:pic>
    </p:spTree>
    <p:extLst>
      <p:ext uri="{BB962C8B-B14F-4D97-AF65-F5344CB8AC3E}">
        <p14:creationId xmlns:p14="http://schemas.microsoft.com/office/powerpoint/2010/main" val="1587973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down)">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二叉搜索树</a:t>
            </a:r>
          </a:p>
        </p:txBody>
      </p:sp>
      <p:sp>
        <p:nvSpPr>
          <p:cNvPr id="4" name="日期占位符 3"/>
          <p:cNvSpPr>
            <a:spLocks noGrp="1"/>
          </p:cNvSpPr>
          <p:nvPr>
            <p:ph type="dt" sz="half" idx="10"/>
          </p:nvPr>
        </p:nvSpPr>
        <p:spPr/>
        <p:txBody>
          <a:bodyPr/>
          <a:lstStyle/>
          <a:p>
            <a:fld id="{D0F2F880-B83D-4A80-B3C7-559DACE1E24B}"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32</a:t>
            </a:fld>
            <a:endParaRPr lang="zh-CN" altLang="en-US" dirty="0"/>
          </a:p>
        </p:txBody>
      </p:sp>
      <p:pic>
        <p:nvPicPr>
          <p:cNvPr id="10" name="图片 9"/>
          <p:cNvPicPr>
            <a:picLocks noChangeAspect="1"/>
          </p:cNvPicPr>
          <p:nvPr/>
        </p:nvPicPr>
        <p:blipFill>
          <a:blip r:embed="rId2"/>
          <a:stretch>
            <a:fillRect/>
          </a:stretch>
        </p:blipFill>
        <p:spPr>
          <a:xfrm>
            <a:off x="2667000" y="3274005"/>
            <a:ext cx="8588401" cy="3312800"/>
          </a:xfrm>
          <a:prstGeom prst="rect">
            <a:avLst/>
          </a:prstGeom>
        </p:spPr>
      </p:pic>
      <p:pic>
        <p:nvPicPr>
          <p:cNvPr id="11" name="图片 10"/>
          <p:cNvPicPr>
            <a:picLocks noChangeAspect="1"/>
          </p:cNvPicPr>
          <p:nvPr/>
        </p:nvPicPr>
        <p:blipFill>
          <a:blip r:embed="rId3"/>
          <a:stretch>
            <a:fillRect/>
          </a:stretch>
        </p:blipFill>
        <p:spPr>
          <a:xfrm>
            <a:off x="228600" y="824316"/>
            <a:ext cx="7507201" cy="2706800"/>
          </a:xfrm>
          <a:prstGeom prst="rect">
            <a:avLst/>
          </a:prstGeom>
        </p:spPr>
      </p:pic>
      <p:sp>
        <p:nvSpPr>
          <p:cNvPr id="12" name="右弧形箭头 11"/>
          <p:cNvSpPr/>
          <p:nvPr/>
        </p:nvSpPr>
        <p:spPr>
          <a:xfrm>
            <a:off x="8657401" y="1826205"/>
            <a:ext cx="838200" cy="1447800"/>
          </a:xfrm>
          <a:prstGeom prst="curvedLeftArrow">
            <a:avLst/>
          </a:prstGeom>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1121462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par>
                                <p:cTn id="8" presetID="22" presetClass="entr" presetSubtype="4"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down)">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决策树</a:t>
            </a:r>
          </a:p>
        </p:txBody>
      </p:sp>
      <p:sp>
        <p:nvSpPr>
          <p:cNvPr id="3" name="内容占位符 2"/>
          <p:cNvSpPr>
            <a:spLocks noGrp="1"/>
          </p:cNvSpPr>
          <p:nvPr>
            <p:ph idx="1"/>
          </p:nvPr>
        </p:nvSpPr>
        <p:spPr/>
        <p:txBody>
          <a:bodyPr/>
          <a:lstStyle/>
          <a:p>
            <a:r>
              <a:rPr lang="zh-CN" altLang="en-US" dirty="0"/>
              <a:t>有根树可以用来为一系列决策求解问题建立模型</a:t>
            </a:r>
            <a:r>
              <a:rPr lang="en-US" altLang="zh-CN" dirty="0"/>
              <a:t>. </a:t>
            </a:r>
          </a:p>
          <a:p>
            <a:r>
              <a:rPr lang="zh-CN" altLang="en-US" dirty="0"/>
              <a:t>例如</a:t>
            </a:r>
            <a:r>
              <a:rPr lang="en-US" altLang="zh-CN" dirty="0"/>
              <a:t>, </a:t>
            </a:r>
            <a:r>
              <a:rPr lang="zh-CN" altLang="en-US" dirty="0"/>
              <a:t>二叉搜索树用来基于一系列比较来找到元素的位置</a:t>
            </a:r>
            <a:r>
              <a:rPr lang="en-US" altLang="zh-CN" dirty="0"/>
              <a:t>, </a:t>
            </a:r>
            <a:r>
              <a:rPr lang="zh-CN" altLang="en-US" dirty="0"/>
              <a:t>其中每次比较都说明是否已经找到了元素的位置</a:t>
            </a:r>
            <a:r>
              <a:rPr lang="en-US" altLang="zh-CN" dirty="0"/>
              <a:t>, </a:t>
            </a:r>
            <a:r>
              <a:rPr lang="zh-CN" altLang="en-US" dirty="0"/>
              <a:t>或者是应当向左</a:t>
            </a:r>
            <a:r>
              <a:rPr lang="en-US" altLang="zh-CN" dirty="0"/>
              <a:t>/</a:t>
            </a:r>
            <a:r>
              <a:rPr lang="zh-CN" altLang="en-US" dirty="0"/>
              <a:t>右进入子树</a:t>
            </a:r>
            <a:r>
              <a:rPr lang="en-US" altLang="zh-CN" dirty="0"/>
              <a:t>. </a:t>
            </a:r>
            <a:r>
              <a:rPr lang="zh-CN" altLang="en-US" dirty="0"/>
              <a:t>其中每个内点都对应这一次决策</a:t>
            </a:r>
            <a:r>
              <a:rPr lang="en-US" altLang="zh-CN" dirty="0"/>
              <a:t>, </a:t>
            </a:r>
            <a:r>
              <a:rPr lang="zh-CN" altLang="en-US" dirty="0"/>
              <a:t>这些顶点的子树都对应着该决策的每种可能结构</a:t>
            </a:r>
            <a:r>
              <a:rPr lang="en-US" altLang="zh-CN" dirty="0"/>
              <a:t>, </a:t>
            </a:r>
            <a:r>
              <a:rPr lang="zh-CN" altLang="en-US" dirty="0"/>
              <a:t>这样的有根树称为</a:t>
            </a:r>
            <a:r>
              <a:rPr lang="zh-CN" altLang="en-US" b="1" dirty="0">
                <a:solidFill>
                  <a:srgbClr val="C00000"/>
                </a:solidFill>
              </a:rPr>
              <a:t>决策树</a:t>
            </a:r>
            <a:r>
              <a:rPr lang="en-US" altLang="zh-CN" dirty="0"/>
              <a:t>. </a:t>
            </a:r>
          </a:p>
          <a:p>
            <a:r>
              <a:rPr lang="zh-CN" altLang="en-US" dirty="0"/>
              <a:t>问题的求解对应着这个有根树中通向树叶的通路</a:t>
            </a:r>
            <a:r>
              <a:rPr lang="en-US" altLang="zh-CN" dirty="0"/>
              <a:t>. </a:t>
            </a:r>
          </a:p>
        </p:txBody>
      </p:sp>
      <p:sp>
        <p:nvSpPr>
          <p:cNvPr id="4" name="日期占位符 3"/>
          <p:cNvSpPr>
            <a:spLocks noGrp="1"/>
          </p:cNvSpPr>
          <p:nvPr>
            <p:ph type="dt" sz="half" idx="10"/>
          </p:nvPr>
        </p:nvSpPr>
        <p:spPr/>
        <p:txBody>
          <a:bodyPr/>
          <a:lstStyle/>
          <a:p>
            <a:fld id="{887A4021-B44C-4024-BDB9-1ACFC2C1DB60}"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33</a:t>
            </a:fld>
            <a:endParaRPr lang="zh-CN" altLang="en-US" dirty="0"/>
          </a:p>
        </p:txBody>
      </p:sp>
    </p:spTree>
    <p:extLst>
      <p:ext uri="{BB962C8B-B14F-4D97-AF65-F5344CB8AC3E}">
        <p14:creationId xmlns:p14="http://schemas.microsoft.com/office/powerpoint/2010/main" val="42103107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决策树</a:t>
            </a:r>
          </a:p>
        </p:txBody>
      </p:sp>
      <p:sp>
        <p:nvSpPr>
          <p:cNvPr id="3" name="内容占位符 2"/>
          <p:cNvSpPr>
            <a:spLocks noGrp="1"/>
          </p:cNvSpPr>
          <p:nvPr>
            <p:ph idx="1"/>
          </p:nvPr>
        </p:nvSpPr>
        <p:spPr/>
        <p:txBody>
          <a:bodyPr/>
          <a:lstStyle/>
          <a:p>
            <a:r>
              <a:rPr lang="zh-CN" altLang="en-US" dirty="0"/>
              <a:t>例：列表</a:t>
            </a:r>
            <a:r>
              <a:rPr lang="en-US" altLang="zh-CN" dirty="0"/>
              <a:t>a, b, c</a:t>
            </a:r>
            <a:r>
              <a:rPr lang="zh-CN" altLang="en-US" dirty="0"/>
              <a:t>的元素按照排序的决策树</a:t>
            </a:r>
            <a:endParaRPr lang="en-US" altLang="zh-CN" dirty="0"/>
          </a:p>
        </p:txBody>
      </p:sp>
      <p:sp>
        <p:nvSpPr>
          <p:cNvPr id="4" name="日期占位符 3"/>
          <p:cNvSpPr>
            <a:spLocks noGrp="1"/>
          </p:cNvSpPr>
          <p:nvPr>
            <p:ph type="dt" sz="half" idx="10"/>
          </p:nvPr>
        </p:nvSpPr>
        <p:spPr/>
        <p:txBody>
          <a:bodyPr/>
          <a:lstStyle/>
          <a:p>
            <a:fld id="{42E355E4-9AE3-47D5-AF67-8A7E3F133809}"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34</a:t>
            </a:fld>
            <a:endParaRPr lang="zh-CN" altLang="en-US" dirty="0"/>
          </a:p>
        </p:txBody>
      </p:sp>
      <p:pic>
        <p:nvPicPr>
          <p:cNvPr id="7" name="图片 6"/>
          <p:cNvPicPr>
            <a:picLocks noChangeAspect="1"/>
          </p:cNvPicPr>
          <p:nvPr/>
        </p:nvPicPr>
        <p:blipFill>
          <a:blip r:embed="rId2"/>
          <a:stretch>
            <a:fillRect/>
          </a:stretch>
        </p:blipFill>
        <p:spPr>
          <a:xfrm>
            <a:off x="1524000" y="1635207"/>
            <a:ext cx="8001000" cy="4667449"/>
          </a:xfrm>
          <a:prstGeom prst="rect">
            <a:avLst/>
          </a:prstGeom>
        </p:spPr>
      </p:pic>
    </p:spTree>
    <p:extLst>
      <p:ext uri="{BB962C8B-B14F-4D97-AF65-F5344CB8AC3E}">
        <p14:creationId xmlns:p14="http://schemas.microsoft.com/office/powerpoint/2010/main" val="37548906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前缀码</a:t>
            </a:r>
          </a:p>
        </p:txBody>
      </p:sp>
      <p:sp>
        <p:nvSpPr>
          <p:cNvPr id="3" name="内容占位符 2"/>
          <p:cNvSpPr>
            <a:spLocks noGrp="1"/>
          </p:cNvSpPr>
          <p:nvPr>
            <p:ph idx="1"/>
          </p:nvPr>
        </p:nvSpPr>
        <p:spPr/>
        <p:txBody>
          <a:bodyPr>
            <a:normAutofit/>
          </a:bodyPr>
          <a:lstStyle/>
          <a:p>
            <a:r>
              <a:rPr lang="zh-CN" altLang="en-US" dirty="0"/>
              <a:t>问题：用位串来编码英语字母表里的字符</a:t>
            </a:r>
            <a:r>
              <a:rPr lang="en-US" altLang="zh-CN" dirty="0"/>
              <a:t>, </a:t>
            </a:r>
            <a:r>
              <a:rPr lang="zh-CN" altLang="en-US" dirty="0"/>
              <a:t>可以用长度为</a:t>
            </a:r>
            <a:r>
              <a:rPr lang="en-US" altLang="zh-CN" dirty="0"/>
              <a:t>5</a:t>
            </a:r>
            <a:r>
              <a:rPr lang="zh-CN" altLang="en-US" dirty="0"/>
              <a:t>的位串来表示每个字母</a:t>
            </a:r>
            <a:r>
              <a:rPr lang="en-US" altLang="zh-CN" dirty="0"/>
              <a:t>(</a:t>
            </a:r>
            <a:r>
              <a:rPr lang="zh-CN" altLang="en-US" dirty="0"/>
              <a:t>可以表示</a:t>
            </a:r>
            <a:r>
              <a:rPr lang="en-US" altLang="zh-CN" dirty="0"/>
              <a:t>32</a:t>
            </a:r>
            <a:r>
              <a:rPr lang="zh-CN" altLang="en-US" dirty="0"/>
              <a:t>种情况</a:t>
            </a:r>
            <a:r>
              <a:rPr lang="en-US" altLang="zh-CN" dirty="0"/>
              <a:t>), </a:t>
            </a:r>
            <a:r>
              <a:rPr lang="zh-CN" altLang="en-US" dirty="0"/>
              <a:t>因为有</a:t>
            </a:r>
            <a:r>
              <a:rPr lang="en-US" altLang="zh-CN" dirty="0"/>
              <a:t>26</a:t>
            </a:r>
            <a:r>
              <a:rPr lang="zh-CN" altLang="en-US" dirty="0"/>
              <a:t>个字母</a:t>
            </a:r>
            <a:r>
              <a:rPr lang="en-US" altLang="zh-CN" dirty="0"/>
              <a:t>. </a:t>
            </a:r>
            <a:r>
              <a:rPr lang="zh-CN" altLang="en-US" dirty="0"/>
              <a:t>这时每个字母都用长度为</a:t>
            </a:r>
            <a:r>
              <a:rPr lang="en-US" altLang="zh-CN" dirty="0"/>
              <a:t>5</a:t>
            </a:r>
            <a:r>
              <a:rPr lang="zh-CN" altLang="en-US" dirty="0"/>
              <a:t>的位串来编码</a:t>
            </a:r>
            <a:r>
              <a:rPr lang="en-US" altLang="zh-CN" dirty="0"/>
              <a:t>, </a:t>
            </a:r>
            <a:r>
              <a:rPr lang="zh-CN" altLang="en-US" dirty="0"/>
              <a:t>编码数据的总长度就是</a:t>
            </a:r>
            <a:r>
              <a:rPr lang="en-US" altLang="zh-CN" dirty="0"/>
              <a:t>5</a:t>
            </a:r>
            <a:r>
              <a:rPr lang="zh-CN" altLang="en-US" dirty="0"/>
              <a:t>乘以文本中的字符数</a:t>
            </a:r>
            <a:r>
              <a:rPr lang="en-US" altLang="zh-CN" dirty="0"/>
              <a:t>. </a:t>
            </a:r>
          </a:p>
          <a:p>
            <a:r>
              <a:rPr lang="zh-CN" altLang="en-US" dirty="0"/>
              <a:t>优化：用不同长度的位串来进行编码</a:t>
            </a:r>
            <a:r>
              <a:rPr lang="en-US" altLang="zh-CN" dirty="0"/>
              <a:t>, </a:t>
            </a:r>
            <a:r>
              <a:rPr lang="zh-CN" altLang="en-US" dirty="0"/>
              <a:t>其中较短的位串来编码频繁出现的字母</a:t>
            </a:r>
            <a:r>
              <a:rPr lang="en-US" altLang="zh-CN" dirty="0"/>
              <a:t>, </a:t>
            </a:r>
            <a:r>
              <a:rPr lang="zh-CN" altLang="en-US" dirty="0"/>
              <a:t>较长的位串来编码不常出现的字母</a:t>
            </a:r>
            <a:r>
              <a:rPr lang="en-US" altLang="zh-CN" dirty="0"/>
              <a:t>. </a:t>
            </a:r>
          </a:p>
          <a:p>
            <a:r>
              <a:rPr lang="zh-CN" altLang="en-US" dirty="0"/>
              <a:t>为了保证没有位串对应着多个字母的序列</a:t>
            </a:r>
            <a:r>
              <a:rPr lang="en-US" altLang="zh-CN" dirty="0"/>
              <a:t>, </a:t>
            </a:r>
            <a:r>
              <a:rPr lang="zh-CN" altLang="en-US" dirty="0"/>
              <a:t>可以令一个字母的位串永远不出现在另一个字母的位串的开头部分</a:t>
            </a:r>
            <a:r>
              <a:rPr lang="en-US" altLang="zh-CN" dirty="0"/>
              <a:t>. </a:t>
            </a:r>
            <a:r>
              <a:rPr lang="zh-CN" altLang="en-US" dirty="0"/>
              <a:t>具有这个性质的编码称为</a:t>
            </a:r>
            <a:r>
              <a:rPr lang="zh-CN" altLang="en-US" b="1" dirty="0">
                <a:solidFill>
                  <a:srgbClr val="C00000"/>
                </a:solidFill>
              </a:rPr>
              <a:t>前缀码</a:t>
            </a:r>
            <a:r>
              <a:rPr lang="en-US" altLang="zh-CN" dirty="0"/>
              <a:t>. </a:t>
            </a:r>
          </a:p>
        </p:txBody>
      </p:sp>
      <p:sp>
        <p:nvSpPr>
          <p:cNvPr id="4" name="日期占位符 3"/>
          <p:cNvSpPr>
            <a:spLocks noGrp="1"/>
          </p:cNvSpPr>
          <p:nvPr>
            <p:ph type="dt" sz="half" idx="10"/>
          </p:nvPr>
        </p:nvSpPr>
        <p:spPr/>
        <p:txBody>
          <a:bodyPr/>
          <a:lstStyle/>
          <a:p>
            <a:fld id="{EA7588A6-C2B7-4ED2-96EF-C077F91220C3}"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35</a:t>
            </a:fld>
            <a:endParaRPr lang="zh-CN" altLang="en-US" dirty="0"/>
          </a:p>
        </p:txBody>
      </p:sp>
    </p:spTree>
    <p:extLst>
      <p:ext uri="{BB962C8B-B14F-4D97-AF65-F5344CB8AC3E}">
        <p14:creationId xmlns:p14="http://schemas.microsoft.com/office/powerpoint/2010/main" val="33801244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前缀码</a:t>
            </a:r>
          </a:p>
        </p:txBody>
      </p:sp>
      <p:sp>
        <p:nvSpPr>
          <p:cNvPr id="3" name="内容占位符 2"/>
          <p:cNvSpPr>
            <a:spLocks noGrp="1"/>
          </p:cNvSpPr>
          <p:nvPr>
            <p:ph idx="1"/>
          </p:nvPr>
        </p:nvSpPr>
        <p:spPr/>
        <p:txBody>
          <a:bodyPr>
            <a:normAutofit/>
          </a:bodyPr>
          <a:lstStyle/>
          <a:p>
            <a:r>
              <a:rPr lang="zh-CN" altLang="en-US" dirty="0"/>
              <a:t>前缀码可以用二叉树来表示</a:t>
            </a:r>
            <a:r>
              <a:rPr lang="en-US" altLang="zh-CN" dirty="0"/>
              <a:t>, </a:t>
            </a:r>
            <a:r>
              <a:rPr lang="zh-CN" altLang="en-US" dirty="0"/>
              <a:t>其中字符是树叶的标记</a:t>
            </a:r>
            <a:r>
              <a:rPr lang="en-US" altLang="zh-CN" dirty="0"/>
              <a:t>. </a:t>
            </a:r>
            <a:r>
              <a:rPr lang="zh-CN" altLang="en-US" dirty="0"/>
              <a:t>树的边也被标记</a:t>
            </a:r>
            <a:r>
              <a:rPr lang="en-US" altLang="zh-CN" dirty="0"/>
              <a:t>, </a:t>
            </a:r>
            <a:r>
              <a:rPr lang="zh-CN" altLang="en-US" dirty="0"/>
              <a:t>使得通向左子的边标记为</a:t>
            </a:r>
            <a:r>
              <a:rPr lang="en-US" altLang="zh-CN" dirty="0"/>
              <a:t>0, </a:t>
            </a:r>
            <a:r>
              <a:rPr lang="zh-CN" altLang="en-US" dirty="0"/>
              <a:t>通向右子的边标记为</a:t>
            </a:r>
            <a:r>
              <a:rPr lang="en-US" altLang="zh-CN" dirty="0"/>
              <a:t>1. </a:t>
            </a:r>
            <a:r>
              <a:rPr lang="zh-CN" altLang="en-US" dirty="0"/>
              <a:t>用来编码一个字符的位串就是从根到以这个字符作为标记的树叶的唯一通路上标记的序列</a:t>
            </a:r>
            <a:r>
              <a:rPr lang="en-US" altLang="zh-CN" dirty="0"/>
              <a:t>. </a:t>
            </a:r>
            <a:r>
              <a:rPr lang="zh-CN" altLang="en-US" dirty="0"/>
              <a:t>如下图中</a:t>
            </a:r>
            <a:r>
              <a:rPr lang="en-US" altLang="zh-CN" dirty="0"/>
              <a:t>s</a:t>
            </a:r>
            <a:r>
              <a:rPr lang="zh-CN" altLang="en-US" dirty="0"/>
              <a:t>编码为</a:t>
            </a:r>
            <a:r>
              <a:rPr lang="en-US" altLang="zh-CN" dirty="0"/>
              <a:t>1111. </a:t>
            </a:r>
            <a:r>
              <a:rPr lang="zh-CN" altLang="en-US" dirty="0"/>
              <a:t>编码为</a:t>
            </a:r>
            <a:r>
              <a:rPr lang="en-US" altLang="zh-CN" dirty="0"/>
              <a:t>11111011100</a:t>
            </a:r>
            <a:r>
              <a:rPr lang="zh-CN" altLang="en-US" dirty="0"/>
              <a:t>的单词为</a:t>
            </a:r>
            <a:r>
              <a:rPr lang="en-US" altLang="zh-CN" dirty="0"/>
              <a:t>sane. </a:t>
            </a:r>
          </a:p>
        </p:txBody>
      </p:sp>
      <p:sp>
        <p:nvSpPr>
          <p:cNvPr id="4" name="日期占位符 3"/>
          <p:cNvSpPr>
            <a:spLocks noGrp="1"/>
          </p:cNvSpPr>
          <p:nvPr>
            <p:ph type="dt" sz="half" idx="10"/>
          </p:nvPr>
        </p:nvSpPr>
        <p:spPr/>
        <p:txBody>
          <a:bodyPr/>
          <a:lstStyle/>
          <a:p>
            <a:fld id="{D7B87F10-8C1F-4AE5-87C1-646FB0AD2ED5}"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36</a:t>
            </a:fld>
            <a:endParaRPr lang="zh-CN" altLang="en-US" dirty="0"/>
          </a:p>
        </p:txBody>
      </p:sp>
      <p:pic>
        <p:nvPicPr>
          <p:cNvPr id="7" name="图片 6"/>
          <p:cNvPicPr>
            <a:picLocks noChangeAspect="1"/>
          </p:cNvPicPr>
          <p:nvPr/>
        </p:nvPicPr>
        <p:blipFill>
          <a:blip r:embed="rId2"/>
          <a:stretch>
            <a:fillRect/>
          </a:stretch>
        </p:blipFill>
        <p:spPr>
          <a:xfrm>
            <a:off x="4648200" y="3228941"/>
            <a:ext cx="3429000" cy="3073715"/>
          </a:xfrm>
          <a:prstGeom prst="rect">
            <a:avLst/>
          </a:prstGeom>
        </p:spPr>
      </p:pic>
    </p:spTree>
    <p:extLst>
      <p:ext uri="{BB962C8B-B14F-4D97-AF65-F5344CB8AC3E}">
        <p14:creationId xmlns:p14="http://schemas.microsoft.com/office/powerpoint/2010/main" val="40177265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前缀码</a:t>
            </a:r>
          </a:p>
        </p:txBody>
      </p:sp>
      <p:sp>
        <p:nvSpPr>
          <p:cNvPr id="3" name="内容占位符 2"/>
          <p:cNvSpPr>
            <a:spLocks noGrp="1"/>
          </p:cNvSpPr>
          <p:nvPr>
            <p:ph idx="1"/>
          </p:nvPr>
        </p:nvSpPr>
        <p:spPr/>
        <p:txBody>
          <a:bodyPr>
            <a:normAutofit/>
          </a:bodyPr>
          <a:lstStyle/>
          <a:p>
            <a:r>
              <a:rPr lang="zh-CN" altLang="en-US" b="1" dirty="0">
                <a:solidFill>
                  <a:srgbClr val="C00000"/>
                </a:solidFill>
              </a:rPr>
              <a:t>哈夫曼编码</a:t>
            </a:r>
            <a:r>
              <a:rPr lang="zh-CN" altLang="en-US" dirty="0"/>
              <a:t>是一种经典的前缀码</a:t>
            </a:r>
            <a:r>
              <a:rPr lang="en-US" altLang="zh-CN" dirty="0"/>
              <a:t>. </a:t>
            </a:r>
            <a:r>
              <a:rPr lang="zh-CN" altLang="en-US" dirty="0"/>
              <a:t>哈夫曼编码算法用一个字符串中符号出现的频率作为输入</a:t>
            </a:r>
            <a:r>
              <a:rPr lang="en-US" altLang="zh-CN" dirty="0"/>
              <a:t>, </a:t>
            </a:r>
            <a:r>
              <a:rPr lang="zh-CN" altLang="en-US" dirty="0"/>
              <a:t>并产生编码这个字符串的一个前缀码作为输出</a:t>
            </a:r>
            <a:r>
              <a:rPr lang="en-US" altLang="zh-CN" dirty="0"/>
              <a:t>, </a:t>
            </a:r>
            <a:r>
              <a:rPr lang="zh-CN" altLang="en-US" dirty="0"/>
              <a:t>在这些符号的所有可能的二叉前缀码中</a:t>
            </a:r>
            <a:r>
              <a:rPr lang="en-US" altLang="zh-CN" dirty="0"/>
              <a:t>, </a:t>
            </a:r>
            <a:r>
              <a:rPr lang="zh-CN" altLang="en-US" dirty="0"/>
              <a:t>哈夫曼编码使用最少的位</a:t>
            </a:r>
            <a:r>
              <a:rPr lang="en-US" altLang="zh-CN" dirty="0"/>
              <a:t>. </a:t>
            </a:r>
            <a:r>
              <a:rPr lang="zh-CN" altLang="en-US" dirty="0"/>
              <a:t>它广泛用于数据压缩方面</a:t>
            </a:r>
            <a:r>
              <a:rPr lang="en-US" altLang="zh-CN" dirty="0"/>
              <a:t>. </a:t>
            </a:r>
          </a:p>
        </p:txBody>
      </p:sp>
      <p:sp>
        <p:nvSpPr>
          <p:cNvPr id="4" name="日期占位符 3"/>
          <p:cNvSpPr>
            <a:spLocks noGrp="1"/>
          </p:cNvSpPr>
          <p:nvPr>
            <p:ph type="dt" sz="half" idx="10"/>
          </p:nvPr>
        </p:nvSpPr>
        <p:spPr/>
        <p:txBody>
          <a:bodyPr/>
          <a:lstStyle/>
          <a:p>
            <a:fld id="{D9375F1F-8D90-4397-9B0D-D3F6BD1FFBD1}"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dirty="0"/>
              <a:t>华中科技大学</a:t>
            </a:r>
            <a:r>
              <a:rPr lang="en-US" altLang="zh-CN"/>
              <a:t>NNSS</a:t>
            </a:r>
            <a:r>
              <a:rPr lang="zh-CN" altLang="en-US"/>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37</a:t>
            </a:fld>
            <a:endParaRPr lang="zh-CN" altLang="en-US" dirty="0"/>
          </a:p>
        </p:txBody>
      </p:sp>
    </p:spTree>
    <p:extLst>
      <p:ext uri="{BB962C8B-B14F-4D97-AF65-F5344CB8AC3E}">
        <p14:creationId xmlns:p14="http://schemas.microsoft.com/office/powerpoint/2010/main" val="42316599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前缀码</a:t>
            </a:r>
          </a:p>
        </p:txBody>
      </p:sp>
      <p:sp>
        <p:nvSpPr>
          <p:cNvPr id="3" name="内容占位符 2"/>
          <p:cNvSpPr>
            <a:spLocks noGrp="1"/>
          </p:cNvSpPr>
          <p:nvPr>
            <p:ph idx="1"/>
          </p:nvPr>
        </p:nvSpPr>
        <p:spPr/>
        <p:txBody>
          <a:bodyPr>
            <a:normAutofit/>
          </a:bodyPr>
          <a:lstStyle/>
          <a:p>
            <a:r>
              <a:rPr lang="zh-CN" altLang="en-US" dirty="0"/>
              <a:t>例：用哈夫曼编码来编码下列符号</a:t>
            </a:r>
            <a:r>
              <a:rPr lang="en-US" altLang="zh-CN" dirty="0"/>
              <a:t>, </a:t>
            </a:r>
            <a:r>
              <a:rPr lang="zh-CN" altLang="en-US" dirty="0"/>
              <a:t>其中各个符号的频率如下：</a:t>
            </a:r>
            <a:r>
              <a:rPr lang="en-US" altLang="zh-CN" dirty="0"/>
              <a:t>A</a:t>
            </a:r>
            <a:r>
              <a:rPr lang="zh-CN" altLang="en-US" dirty="0"/>
              <a:t>：</a:t>
            </a:r>
            <a:r>
              <a:rPr lang="en-US" altLang="zh-CN" dirty="0"/>
              <a:t>0.08, B</a:t>
            </a:r>
            <a:r>
              <a:rPr lang="zh-CN" altLang="en-US" dirty="0"/>
              <a:t>：</a:t>
            </a:r>
            <a:r>
              <a:rPr lang="en-US" altLang="zh-CN" dirty="0"/>
              <a:t>0.10, C:0.12, D:0.15, E:0.20, F:0.35. </a:t>
            </a:r>
            <a:r>
              <a:rPr lang="zh-CN" altLang="en-US" dirty="0"/>
              <a:t>求编码一个字符串所需要的平均位数是多少？</a:t>
            </a:r>
            <a:endParaRPr lang="en-US" altLang="zh-CN" dirty="0"/>
          </a:p>
          <a:p>
            <a:r>
              <a:rPr lang="zh-CN" altLang="en-US" dirty="0"/>
              <a:t>解：根据哈夫曼编码的步骤图如下</a:t>
            </a:r>
            <a:r>
              <a:rPr lang="en-US" altLang="zh-CN" dirty="0"/>
              <a:t>, </a:t>
            </a:r>
          </a:p>
        </p:txBody>
      </p:sp>
      <p:sp>
        <p:nvSpPr>
          <p:cNvPr id="4" name="日期占位符 3"/>
          <p:cNvSpPr>
            <a:spLocks noGrp="1"/>
          </p:cNvSpPr>
          <p:nvPr>
            <p:ph type="dt" sz="half" idx="10"/>
          </p:nvPr>
        </p:nvSpPr>
        <p:spPr/>
        <p:txBody>
          <a:bodyPr/>
          <a:lstStyle/>
          <a:p>
            <a:fld id="{CEDF1D88-1D58-4C7D-AB5D-825C35C7B569}"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38</a:t>
            </a:fld>
            <a:endParaRPr lang="zh-CN" altLang="en-US" dirty="0"/>
          </a:p>
        </p:txBody>
      </p:sp>
      <p:pic>
        <p:nvPicPr>
          <p:cNvPr id="7" name="图片 6"/>
          <p:cNvPicPr>
            <a:picLocks noChangeAspect="1"/>
          </p:cNvPicPr>
          <p:nvPr/>
        </p:nvPicPr>
        <p:blipFill>
          <a:blip r:embed="rId2"/>
          <a:stretch>
            <a:fillRect/>
          </a:stretch>
        </p:blipFill>
        <p:spPr>
          <a:xfrm>
            <a:off x="2286000" y="3051369"/>
            <a:ext cx="6507601" cy="3343100"/>
          </a:xfrm>
          <a:prstGeom prst="rect">
            <a:avLst/>
          </a:prstGeom>
        </p:spPr>
      </p:pic>
      <p:sp>
        <p:nvSpPr>
          <p:cNvPr id="8" name="右弧形箭头 7"/>
          <p:cNvSpPr/>
          <p:nvPr/>
        </p:nvSpPr>
        <p:spPr>
          <a:xfrm>
            <a:off x="9372600" y="3649564"/>
            <a:ext cx="457200" cy="1836836"/>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773635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down)">
                                      <p:cBhvr>
                                        <p:cTn id="1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前缀码</a:t>
            </a:r>
          </a:p>
        </p:txBody>
      </p:sp>
      <p:sp>
        <p:nvSpPr>
          <p:cNvPr id="3" name="内容占位符 2"/>
          <p:cNvSpPr>
            <a:spLocks noGrp="1"/>
          </p:cNvSpPr>
          <p:nvPr>
            <p:ph idx="1"/>
          </p:nvPr>
        </p:nvSpPr>
        <p:spPr/>
        <p:txBody>
          <a:bodyPr>
            <a:normAutofit/>
          </a:bodyPr>
          <a:lstStyle/>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en-US" dirty="0"/>
              <a:t>所以产生的编码为</a:t>
            </a:r>
            <a:r>
              <a:rPr lang="en-US" altLang="zh-CN" dirty="0"/>
              <a:t>A</a:t>
            </a:r>
            <a:r>
              <a:rPr lang="zh-CN" altLang="en-US" dirty="0"/>
              <a:t>是</a:t>
            </a:r>
            <a:r>
              <a:rPr lang="en-US" altLang="zh-CN" dirty="0"/>
              <a:t>111, B</a:t>
            </a:r>
            <a:r>
              <a:rPr lang="zh-CN" altLang="en-US" dirty="0"/>
              <a:t>是</a:t>
            </a:r>
            <a:r>
              <a:rPr lang="en-US" altLang="zh-CN" dirty="0"/>
              <a:t>110, C</a:t>
            </a:r>
            <a:r>
              <a:rPr lang="zh-CN" altLang="en-US" dirty="0"/>
              <a:t>是</a:t>
            </a:r>
            <a:r>
              <a:rPr lang="en-US" altLang="zh-CN" dirty="0"/>
              <a:t>011, D</a:t>
            </a:r>
            <a:r>
              <a:rPr lang="zh-CN" altLang="en-US" dirty="0"/>
              <a:t>是</a:t>
            </a:r>
            <a:r>
              <a:rPr lang="en-US" altLang="zh-CN" dirty="0"/>
              <a:t>010, E</a:t>
            </a:r>
            <a:r>
              <a:rPr lang="zh-CN" altLang="en-US" dirty="0"/>
              <a:t>是</a:t>
            </a:r>
            <a:r>
              <a:rPr lang="en-US" altLang="zh-CN" dirty="0"/>
              <a:t>10, F</a:t>
            </a:r>
            <a:r>
              <a:rPr lang="zh-CN" altLang="en-US" dirty="0"/>
              <a:t>是</a:t>
            </a:r>
            <a:r>
              <a:rPr lang="en-US" altLang="zh-CN" dirty="0"/>
              <a:t>00. </a:t>
            </a:r>
            <a:r>
              <a:rPr lang="zh-CN" altLang="en-US" dirty="0"/>
              <a:t>使用这种编码来产生编码一个符号所用的平均位数</a:t>
            </a:r>
            <a:r>
              <a:rPr lang="en-US" altLang="zh-CN" dirty="0"/>
              <a:t>3</a:t>
            </a:r>
            <a:r>
              <a:rPr lang="zh-CN" altLang="en-US" dirty="0"/>
              <a:t>*</a:t>
            </a:r>
            <a:r>
              <a:rPr lang="en-US" altLang="zh-CN" dirty="0"/>
              <a:t>0.08+3</a:t>
            </a:r>
            <a:r>
              <a:rPr lang="zh-CN" altLang="en-US" dirty="0"/>
              <a:t>*</a:t>
            </a:r>
            <a:r>
              <a:rPr lang="en-US" altLang="zh-CN" dirty="0"/>
              <a:t>0.10+3</a:t>
            </a:r>
            <a:r>
              <a:rPr lang="zh-CN" altLang="en-US" dirty="0"/>
              <a:t>*</a:t>
            </a:r>
            <a:r>
              <a:rPr lang="en-US" altLang="zh-CN" dirty="0"/>
              <a:t>0.12+3</a:t>
            </a:r>
            <a:r>
              <a:rPr lang="zh-CN" altLang="en-US" dirty="0"/>
              <a:t>*</a:t>
            </a:r>
            <a:r>
              <a:rPr lang="en-US" altLang="zh-CN" dirty="0"/>
              <a:t>0.15+2</a:t>
            </a:r>
            <a:r>
              <a:rPr lang="zh-CN" altLang="en-US" dirty="0"/>
              <a:t>*</a:t>
            </a:r>
            <a:r>
              <a:rPr lang="en-US" altLang="zh-CN" dirty="0"/>
              <a:t>0.20+2</a:t>
            </a:r>
            <a:r>
              <a:rPr lang="zh-CN" altLang="en-US" dirty="0"/>
              <a:t>*</a:t>
            </a:r>
            <a:r>
              <a:rPr lang="en-US" altLang="zh-CN" dirty="0"/>
              <a:t>0.35=2.45</a:t>
            </a:r>
          </a:p>
        </p:txBody>
      </p:sp>
      <p:sp>
        <p:nvSpPr>
          <p:cNvPr id="4" name="日期占位符 3"/>
          <p:cNvSpPr>
            <a:spLocks noGrp="1"/>
          </p:cNvSpPr>
          <p:nvPr>
            <p:ph type="dt" sz="half" idx="10"/>
          </p:nvPr>
        </p:nvSpPr>
        <p:spPr/>
        <p:txBody>
          <a:bodyPr/>
          <a:lstStyle/>
          <a:p>
            <a:fld id="{AD103D58-D533-428E-9599-C7A0BCE7B5B4}"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39</a:t>
            </a:fld>
            <a:endParaRPr lang="zh-CN" altLang="en-US" dirty="0"/>
          </a:p>
        </p:txBody>
      </p:sp>
      <p:pic>
        <p:nvPicPr>
          <p:cNvPr id="10" name="图片 9"/>
          <p:cNvPicPr>
            <a:picLocks noChangeAspect="1"/>
          </p:cNvPicPr>
          <p:nvPr/>
        </p:nvPicPr>
        <p:blipFill>
          <a:blip r:embed="rId2"/>
          <a:stretch>
            <a:fillRect/>
          </a:stretch>
        </p:blipFill>
        <p:spPr>
          <a:xfrm>
            <a:off x="573315" y="881652"/>
            <a:ext cx="6436201" cy="3322900"/>
          </a:xfrm>
          <a:prstGeom prst="rect">
            <a:avLst/>
          </a:prstGeom>
        </p:spPr>
      </p:pic>
      <p:pic>
        <p:nvPicPr>
          <p:cNvPr id="11" name="图片 10"/>
          <p:cNvPicPr>
            <a:picLocks noChangeAspect="1"/>
          </p:cNvPicPr>
          <p:nvPr/>
        </p:nvPicPr>
        <p:blipFill>
          <a:blip r:embed="rId3"/>
          <a:stretch>
            <a:fillRect/>
          </a:stretch>
        </p:blipFill>
        <p:spPr>
          <a:xfrm>
            <a:off x="8480807" y="730832"/>
            <a:ext cx="3101594" cy="2698168"/>
          </a:xfrm>
          <a:prstGeom prst="rect">
            <a:avLst/>
          </a:prstGeom>
        </p:spPr>
      </p:pic>
      <p:sp>
        <p:nvSpPr>
          <p:cNvPr id="12" name="右弧形箭头 11"/>
          <p:cNvSpPr/>
          <p:nvPr/>
        </p:nvSpPr>
        <p:spPr>
          <a:xfrm>
            <a:off x="5410200" y="1828800"/>
            <a:ext cx="381000" cy="1600200"/>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直角上箭头 12"/>
          <p:cNvSpPr/>
          <p:nvPr/>
        </p:nvSpPr>
        <p:spPr>
          <a:xfrm>
            <a:off x="5640357" y="3191614"/>
            <a:ext cx="4568885" cy="728106"/>
          </a:xfrm>
          <a:prstGeom prst="bentUpArrow">
            <a:avLst>
              <a:gd name="adj1" fmla="val 7059"/>
              <a:gd name="adj2" fmla="val 25747"/>
              <a:gd name="adj3"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67976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par>
                                <p:cTn id="8" presetID="22" presetClass="entr" presetSubtype="4"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down)">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Effect transition="in" filter="wipe(down)">
                                      <p:cBhvr>
                                        <p:cTn id="15"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0" y="2260600"/>
            <a:ext cx="12192000" cy="2387600"/>
          </a:xfrm>
        </p:spPr>
        <p:txBody>
          <a:bodyPr/>
          <a:lstStyle/>
          <a:p>
            <a:pPr algn="ctr"/>
            <a:r>
              <a:rPr lang="en-US" altLang="zh-CN" dirty="0"/>
              <a:t>Section </a:t>
            </a:r>
            <a:r>
              <a:rPr lang="en-US" altLang="zh-CN" dirty="0" smtClean="0"/>
              <a:t>5.3</a:t>
            </a:r>
            <a:r>
              <a:rPr lang="en-US" altLang="zh-CN" dirty="0"/>
              <a:t/>
            </a:r>
            <a:br>
              <a:rPr lang="en-US" altLang="zh-CN" dirty="0"/>
            </a:br>
            <a:r>
              <a:rPr lang="zh-CN" altLang="en-US" dirty="0"/>
              <a:t>树的遍历</a:t>
            </a:r>
            <a:endParaRPr lang="en-US" dirty="0"/>
          </a:p>
        </p:txBody>
      </p:sp>
    </p:spTree>
    <p:extLst>
      <p:ext uri="{BB962C8B-B14F-4D97-AF65-F5344CB8AC3E}">
        <p14:creationId xmlns:p14="http://schemas.microsoft.com/office/powerpoint/2010/main" val="3238976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内容</a:t>
            </a:r>
            <a:endParaRPr lang="en-US" dirty="0"/>
          </a:p>
        </p:txBody>
      </p:sp>
      <p:sp>
        <p:nvSpPr>
          <p:cNvPr id="3" name="Content Placeholder 2"/>
          <p:cNvSpPr>
            <a:spLocks noGrp="1"/>
          </p:cNvSpPr>
          <p:nvPr>
            <p:ph idx="1"/>
          </p:nvPr>
        </p:nvSpPr>
        <p:spPr/>
        <p:txBody>
          <a:bodyPr/>
          <a:lstStyle/>
          <a:p>
            <a:r>
              <a:rPr lang="zh-CN" altLang="en-US" dirty="0"/>
              <a:t>遍历算法</a:t>
            </a:r>
            <a:endParaRPr lang="en-US" altLang="zh-CN" dirty="0"/>
          </a:p>
          <a:p>
            <a:r>
              <a:rPr lang="zh-CN" altLang="en-US" dirty="0"/>
              <a:t>中缀、前缀、后缀的记法</a:t>
            </a:r>
            <a:endParaRPr lang="en-US" dirty="0"/>
          </a:p>
        </p:txBody>
      </p:sp>
      <p:sp>
        <p:nvSpPr>
          <p:cNvPr id="8" name="日期占位符 7"/>
          <p:cNvSpPr>
            <a:spLocks noGrp="1"/>
          </p:cNvSpPr>
          <p:nvPr>
            <p:ph type="dt" sz="half" idx="10"/>
          </p:nvPr>
        </p:nvSpPr>
        <p:spPr/>
        <p:txBody>
          <a:bodyPr/>
          <a:lstStyle/>
          <a:p>
            <a:fld id="{D637396A-B541-4DB8-9D9B-F89AD1F0942A}" type="datetime1">
              <a:rPr lang="zh-CN" altLang="en-US" smtClean="0"/>
              <a:t>2025/4/15</a:t>
            </a:fld>
            <a:endParaRPr lang="zh-CN" altLang="en-US" dirty="0"/>
          </a:p>
        </p:txBody>
      </p:sp>
      <p:sp>
        <p:nvSpPr>
          <p:cNvPr id="9" name="页脚占位符 8"/>
          <p:cNvSpPr>
            <a:spLocks noGrp="1"/>
          </p:cNvSpPr>
          <p:nvPr>
            <p:ph type="ftr" sz="quarter" idx="11"/>
          </p:nvPr>
        </p:nvSpPr>
        <p:spPr/>
        <p:txBody>
          <a:bodyPr/>
          <a:lstStyle/>
          <a:p>
            <a:pPr algn="r"/>
            <a:r>
              <a:rPr lang="zh-CN" altLang="en-US" dirty="0"/>
              <a:t>华中科技大学实验室</a:t>
            </a:r>
          </a:p>
        </p:txBody>
      </p:sp>
      <p:sp>
        <p:nvSpPr>
          <p:cNvPr id="10" name="灯片编号占位符 9"/>
          <p:cNvSpPr>
            <a:spLocks noGrp="1"/>
          </p:cNvSpPr>
          <p:nvPr>
            <p:ph type="sldNum" sz="quarter" idx="12"/>
          </p:nvPr>
        </p:nvSpPr>
        <p:spPr/>
        <p:txBody>
          <a:bodyPr/>
          <a:lstStyle/>
          <a:p>
            <a:fld id="{67913A8A-9EFB-4B5F-9CCB-3D21173FAA85}" type="slidenum">
              <a:rPr lang="zh-CN" altLang="en-US" smtClean="0"/>
              <a:pPr/>
              <a:t>41</a:t>
            </a:fld>
            <a:endParaRPr lang="zh-CN"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遍历算法</a:t>
            </a:r>
            <a:endParaRPr lang="en-US" dirty="0"/>
          </a:p>
        </p:txBody>
      </p:sp>
      <p:sp>
        <p:nvSpPr>
          <p:cNvPr id="3" name="Content Placeholder 2"/>
          <p:cNvSpPr>
            <a:spLocks noGrp="1"/>
          </p:cNvSpPr>
          <p:nvPr>
            <p:ph idx="1"/>
          </p:nvPr>
        </p:nvSpPr>
        <p:spPr/>
        <p:txBody>
          <a:bodyPr/>
          <a:lstStyle/>
          <a:p>
            <a:r>
              <a:rPr lang="zh-CN" altLang="en-US" dirty="0"/>
              <a:t>系统地访问有序根树每个顶点的过程叫做</a:t>
            </a:r>
            <a:r>
              <a:rPr lang="zh-CN" altLang="en-US" b="1" dirty="0">
                <a:solidFill>
                  <a:srgbClr val="C00000"/>
                </a:solidFill>
              </a:rPr>
              <a:t>遍历算法</a:t>
            </a:r>
            <a:r>
              <a:rPr lang="en-US" altLang="zh-CN" dirty="0"/>
              <a:t>.</a:t>
            </a:r>
          </a:p>
          <a:p>
            <a:r>
              <a:rPr lang="zh-CN" altLang="en-US" dirty="0"/>
              <a:t>三个最常用的算法</a:t>
            </a:r>
            <a:r>
              <a:rPr lang="en-US" altLang="zh-CN" dirty="0"/>
              <a:t>:</a:t>
            </a:r>
            <a:r>
              <a:rPr lang="zh-CN" altLang="en-US" b="1" dirty="0">
                <a:solidFill>
                  <a:srgbClr val="C00000"/>
                </a:solidFill>
              </a:rPr>
              <a:t>前序遍历</a:t>
            </a:r>
            <a:r>
              <a:rPr lang="en-US" altLang="zh-CN" dirty="0">
                <a:solidFill>
                  <a:srgbClr val="C00000"/>
                </a:solidFill>
              </a:rPr>
              <a:t>, </a:t>
            </a:r>
            <a:r>
              <a:rPr lang="zh-CN" altLang="en-US" b="1" dirty="0">
                <a:solidFill>
                  <a:srgbClr val="C00000"/>
                </a:solidFill>
              </a:rPr>
              <a:t>中序遍历</a:t>
            </a:r>
            <a:r>
              <a:rPr lang="en-US" altLang="zh-CN" dirty="0">
                <a:solidFill>
                  <a:srgbClr val="C00000"/>
                </a:solidFill>
              </a:rPr>
              <a:t>, </a:t>
            </a:r>
            <a:r>
              <a:rPr lang="zh-CN" altLang="en-US" b="1" dirty="0">
                <a:solidFill>
                  <a:srgbClr val="C00000"/>
                </a:solidFill>
              </a:rPr>
              <a:t>后序遍历</a:t>
            </a:r>
            <a:r>
              <a:rPr lang="en-US" altLang="zh-CN" dirty="0"/>
              <a:t>.</a:t>
            </a:r>
            <a:endParaRPr lang="en-US" dirty="0"/>
          </a:p>
          <a:p>
            <a:endParaRPr lang="en-US" dirty="0"/>
          </a:p>
          <a:p>
            <a:endParaRPr lang="en-US" dirty="0"/>
          </a:p>
          <a:p>
            <a:endParaRPr lang="en-US" dirty="0"/>
          </a:p>
          <a:p>
            <a:endParaRPr lang="en-US" dirty="0"/>
          </a:p>
          <a:p>
            <a:endParaRPr lang="en-US" dirty="0"/>
          </a:p>
          <a:p>
            <a:endParaRPr lang="en-US" dirty="0"/>
          </a:p>
        </p:txBody>
      </p:sp>
      <p:sp>
        <p:nvSpPr>
          <p:cNvPr id="8" name="日期占位符 7"/>
          <p:cNvSpPr>
            <a:spLocks noGrp="1"/>
          </p:cNvSpPr>
          <p:nvPr>
            <p:ph type="dt" sz="half" idx="10"/>
          </p:nvPr>
        </p:nvSpPr>
        <p:spPr/>
        <p:txBody>
          <a:bodyPr/>
          <a:lstStyle/>
          <a:p>
            <a:fld id="{C12AD6AA-D230-4016-83B8-D716847F2724}" type="datetime1">
              <a:rPr lang="zh-CN" altLang="en-US" smtClean="0"/>
              <a:t>2025/4/15</a:t>
            </a:fld>
            <a:endParaRPr lang="zh-CN" altLang="en-US" dirty="0"/>
          </a:p>
        </p:txBody>
      </p:sp>
      <p:sp>
        <p:nvSpPr>
          <p:cNvPr id="9" name="页脚占位符 8"/>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0" name="灯片编号占位符 9"/>
          <p:cNvSpPr>
            <a:spLocks noGrp="1"/>
          </p:cNvSpPr>
          <p:nvPr>
            <p:ph type="sldNum" sz="quarter" idx="12"/>
          </p:nvPr>
        </p:nvSpPr>
        <p:spPr/>
        <p:txBody>
          <a:bodyPr/>
          <a:lstStyle/>
          <a:p>
            <a:fld id="{67913A8A-9EFB-4B5F-9CCB-3D21173FAA85}" type="slidenum">
              <a:rPr lang="zh-CN" altLang="en-US" smtClean="0"/>
              <a:pPr/>
              <a:t>42</a:t>
            </a:fld>
            <a:endParaRPr lang="zh-CN" altLang="en-US" dirty="0"/>
          </a:p>
        </p:txBody>
      </p:sp>
    </p:spTree>
    <p:extLst>
      <p:ext uri="{BB962C8B-B14F-4D97-AF65-F5344CB8AC3E}">
        <p14:creationId xmlns:p14="http://schemas.microsoft.com/office/powerpoint/2010/main" val="5994396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89857" y="1143000"/>
            <a:ext cx="11277599" cy="1797036"/>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前序遍历</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a:t>定义</a:t>
                </a:r>
                <a:r>
                  <a:rPr lang="en-US" altLang="zh-CN" dirty="0"/>
                  <a:t>:</a:t>
                </a:r>
                <a:r>
                  <a:rPr lang="zh-CN" altLang="en-US" dirty="0"/>
                  <a:t>设</a:t>
                </a:r>
                <a:r>
                  <a:rPr lang="en-US" altLang="zh-CN" dirty="0"/>
                  <a:t>T</a:t>
                </a:r>
                <a:r>
                  <a:rPr lang="zh-CN" altLang="en-US" dirty="0"/>
                  <a:t>是带根</a:t>
                </a:r>
                <a:r>
                  <a:rPr lang="en-US" altLang="zh-CN" dirty="0"/>
                  <a:t>r</a:t>
                </a:r>
                <a:r>
                  <a:rPr lang="zh-CN" altLang="en-US" dirty="0"/>
                  <a:t>的有序根树</a:t>
                </a:r>
                <a:r>
                  <a:rPr lang="en-US" altLang="zh-CN" dirty="0"/>
                  <a:t>. </a:t>
                </a:r>
                <a:r>
                  <a:rPr lang="zh-CN" altLang="en-US" dirty="0"/>
                  <a:t>若</a:t>
                </a:r>
                <a:r>
                  <a:rPr lang="en-US" altLang="zh-CN" dirty="0"/>
                  <a:t>T</a:t>
                </a:r>
                <a:r>
                  <a:rPr lang="zh-CN" altLang="en-US" dirty="0"/>
                  <a:t>只包含</a:t>
                </a:r>
                <a:r>
                  <a:rPr lang="en-US" altLang="zh-CN" dirty="0"/>
                  <a:t>r, </a:t>
                </a:r>
                <a:r>
                  <a:rPr lang="zh-CN" altLang="en-US" dirty="0"/>
                  <a:t>则</a:t>
                </a:r>
                <a:r>
                  <a:rPr lang="en-US" altLang="zh-CN" dirty="0"/>
                  <a:t>r</a:t>
                </a:r>
                <a:r>
                  <a:rPr lang="zh-CN" altLang="en-US" dirty="0"/>
                  <a:t>是</a:t>
                </a:r>
                <a:r>
                  <a:rPr lang="en-US" altLang="zh-CN" dirty="0"/>
                  <a:t>T</a:t>
                </a:r>
                <a:r>
                  <a:rPr lang="zh-CN" altLang="en-US" dirty="0"/>
                  <a:t>的</a:t>
                </a:r>
                <a:r>
                  <a:rPr lang="zh-CN" altLang="en-US" b="1" dirty="0">
                    <a:solidFill>
                      <a:srgbClr val="C00000"/>
                    </a:solidFill>
                  </a:rPr>
                  <a:t>前序遍历</a:t>
                </a:r>
                <a:r>
                  <a:rPr lang="en-US" altLang="zh-CN" dirty="0"/>
                  <a:t>. </a:t>
                </a:r>
                <a:r>
                  <a:rPr lang="zh-CN" altLang="en-US" dirty="0"/>
                  <a:t>否则</a:t>
                </a:r>
                <a:r>
                  <a:rPr lang="en-US" altLang="zh-CN" dirty="0"/>
                  <a:t>, </a:t>
                </a:r>
                <a:r>
                  <a:rPr lang="zh-CN" altLang="en-US" dirty="0"/>
                  <a:t>假定</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𝑇</m:t>
                        </m:r>
                      </m:e>
                      <m:sub>
                        <m:r>
                          <a:rPr lang="en-US" altLang="zh-CN" b="0" i="1" smtClean="0">
                            <a:latin typeface="Cambria Math" panose="02040503050406030204" pitchFamily="18" charset="0"/>
                          </a:rPr>
                          <m:t>1</m:t>
                        </m:r>
                      </m:sub>
                    </m:sSub>
                  </m:oMath>
                </a14:m>
                <a:r>
                  <a:rPr lang="en-US"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𝑇</m:t>
                        </m:r>
                      </m:e>
                      <m:sub>
                        <m:r>
                          <a:rPr lang="en-US" altLang="zh-CN" b="0" i="1" smtClean="0">
                            <a:latin typeface="Cambria Math" panose="02040503050406030204" pitchFamily="18" charset="0"/>
                          </a:rPr>
                          <m:t>2</m:t>
                        </m:r>
                      </m:sub>
                    </m:sSub>
                  </m:oMath>
                </a14:m>
                <a:r>
                  <a:rPr lang="en-US" dirty="0"/>
                  <a:t>, …,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𝑇</m:t>
                        </m:r>
                      </m:e>
                      <m:sub>
                        <m:r>
                          <a:rPr lang="en-US" altLang="zh-CN" b="0" i="1" smtClean="0">
                            <a:latin typeface="Cambria Math" panose="02040503050406030204" pitchFamily="18" charset="0"/>
                          </a:rPr>
                          <m:t>𝑛</m:t>
                        </m:r>
                      </m:sub>
                    </m:sSub>
                  </m:oMath>
                </a14:m>
                <a:r>
                  <a:rPr lang="zh-CN" altLang="en-US" dirty="0"/>
                  <a:t>是</a:t>
                </a:r>
                <a:r>
                  <a:rPr lang="en-US" altLang="zh-CN" dirty="0"/>
                  <a:t>T</a:t>
                </a:r>
                <a:r>
                  <a:rPr lang="zh-CN" altLang="en-US" dirty="0"/>
                  <a:t>的以</a:t>
                </a:r>
                <a:r>
                  <a:rPr lang="en-US" altLang="zh-CN" dirty="0"/>
                  <a:t>r</a:t>
                </a:r>
                <a:r>
                  <a:rPr lang="zh-CN" altLang="en-US" dirty="0"/>
                  <a:t>为根的从左向右的子树</a:t>
                </a:r>
                <a:r>
                  <a:rPr lang="en-US" altLang="zh-CN" dirty="0"/>
                  <a:t>. </a:t>
                </a:r>
                <a:r>
                  <a:rPr lang="zh-CN" altLang="en-US" dirty="0"/>
                  <a:t>前序遍历首先访问</a:t>
                </a:r>
                <a:r>
                  <a:rPr lang="en-US" altLang="zh-CN" dirty="0"/>
                  <a:t>r, </a:t>
                </a:r>
                <a:r>
                  <a:rPr lang="zh-CN" altLang="en-US" dirty="0"/>
                  <a:t>它接着以前序来遍历</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𝑇</m:t>
                        </m:r>
                      </m:e>
                      <m:sub>
                        <m:r>
                          <a:rPr lang="en-US" altLang="zh-CN" i="1">
                            <a:latin typeface="Cambria Math" panose="02040503050406030204" pitchFamily="18" charset="0"/>
                          </a:rPr>
                          <m:t>1</m:t>
                        </m:r>
                      </m:sub>
                    </m:sSub>
                  </m:oMath>
                </a14:m>
                <a:r>
                  <a:rPr lang="en-US" altLang="zh-CN" dirty="0"/>
                  <a:t>, </a:t>
                </a:r>
                <a:r>
                  <a:rPr lang="zh-CN" altLang="en-US" dirty="0"/>
                  <a:t>然后以前序来遍历</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𝑇</m:t>
                        </m:r>
                      </m:e>
                      <m:sub>
                        <m:r>
                          <a:rPr lang="en-US" altLang="zh-CN" i="1">
                            <a:latin typeface="Cambria Math" panose="02040503050406030204" pitchFamily="18" charset="0"/>
                          </a:rPr>
                          <m:t>2</m:t>
                        </m:r>
                      </m:sub>
                    </m:sSub>
                  </m:oMath>
                </a14:m>
                <a:r>
                  <a:rPr lang="en-US" altLang="zh-CN" dirty="0"/>
                  <a:t>, </a:t>
                </a:r>
                <a:r>
                  <a:rPr lang="zh-CN" altLang="en-US" dirty="0"/>
                  <a:t>以此类推</a:t>
                </a:r>
                <a:r>
                  <a:rPr lang="en-US" altLang="zh-CN" dirty="0"/>
                  <a:t>, </a:t>
                </a:r>
                <a:r>
                  <a:rPr lang="zh-CN" altLang="en-US" dirty="0"/>
                  <a:t>直到以前序遍历</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𝑇</m:t>
                        </m:r>
                      </m:e>
                      <m:sub>
                        <m:r>
                          <a:rPr lang="en-US" altLang="zh-CN" i="1">
                            <a:latin typeface="Cambria Math" panose="02040503050406030204" pitchFamily="18" charset="0"/>
                          </a:rPr>
                          <m:t>𝑛</m:t>
                        </m:r>
                      </m:sub>
                    </m:sSub>
                  </m:oMath>
                </a14:m>
                <a:r>
                  <a:rPr lang="zh-CN" altLang="en-US" dirty="0"/>
                  <a:t>为止</a:t>
                </a:r>
                <a:r>
                  <a:rPr lang="en-US" altLang="zh-CN" dirty="0"/>
                  <a:t>.</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r="-166"/>
                </a:stretch>
              </a:blipFill>
            </p:spPr>
            <p:txBody>
              <a:bodyPr/>
              <a:lstStyle/>
              <a:p>
                <a:r>
                  <a:rPr lang="zh-CN" altLang="en-US">
                    <a:noFill/>
                  </a:rPr>
                  <a:t> </a:t>
                </a:r>
              </a:p>
            </p:txBody>
          </p:sp>
        </mc:Fallback>
      </mc:AlternateContent>
      <p:sp>
        <p:nvSpPr>
          <p:cNvPr id="9" name="日期占位符 8"/>
          <p:cNvSpPr>
            <a:spLocks noGrp="1"/>
          </p:cNvSpPr>
          <p:nvPr>
            <p:ph type="dt" sz="half" idx="10"/>
          </p:nvPr>
        </p:nvSpPr>
        <p:spPr/>
        <p:txBody>
          <a:bodyPr/>
          <a:lstStyle/>
          <a:p>
            <a:fld id="{87FB0921-9747-4874-8EF7-1B9171E08A7D}" type="datetime1">
              <a:rPr lang="zh-CN" altLang="en-US" smtClean="0"/>
              <a:t>2025/4/15</a:t>
            </a:fld>
            <a:endParaRPr lang="zh-CN" altLang="en-US" dirty="0"/>
          </a:p>
        </p:txBody>
      </p:sp>
      <p:sp>
        <p:nvSpPr>
          <p:cNvPr id="10" name="页脚占位符 9"/>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1" name="灯片编号占位符 10"/>
          <p:cNvSpPr>
            <a:spLocks noGrp="1"/>
          </p:cNvSpPr>
          <p:nvPr>
            <p:ph type="sldNum" sz="quarter" idx="12"/>
          </p:nvPr>
        </p:nvSpPr>
        <p:spPr/>
        <p:txBody>
          <a:bodyPr/>
          <a:lstStyle/>
          <a:p>
            <a:fld id="{67913A8A-9EFB-4B5F-9CCB-3D21173FAA85}" type="slidenum">
              <a:rPr lang="zh-CN" altLang="en-US" smtClean="0"/>
              <a:pPr/>
              <a:t>43</a:t>
            </a:fld>
            <a:endParaRPr lang="zh-CN" altLang="en-US" dirty="0"/>
          </a:p>
        </p:txBody>
      </p:sp>
      <p:pic>
        <p:nvPicPr>
          <p:cNvPr id="5" name="图片 4"/>
          <p:cNvPicPr>
            <a:picLocks noChangeAspect="1"/>
          </p:cNvPicPr>
          <p:nvPr/>
        </p:nvPicPr>
        <p:blipFill>
          <a:blip r:embed="rId3"/>
          <a:stretch>
            <a:fillRect/>
          </a:stretch>
        </p:blipFill>
        <p:spPr>
          <a:xfrm>
            <a:off x="3733800" y="2956189"/>
            <a:ext cx="3962400" cy="3232939"/>
          </a:xfrm>
          <a:prstGeom prst="rect">
            <a:avLst/>
          </a:prstGeom>
        </p:spPr>
      </p:pic>
    </p:spTree>
    <p:extLst>
      <p:ext uri="{BB962C8B-B14F-4D97-AF65-F5344CB8AC3E}">
        <p14:creationId xmlns:p14="http://schemas.microsoft.com/office/powerpoint/2010/main" val="4090087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4451907" y="1457069"/>
            <a:ext cx="3653002" cy="4029331"/>
          </a:xfrm>
          <a:prstGeom prst="rect">
            <a:avLst/>
          </a:prstGeom>
        </p:spPr>
      </p:pic>
      <p:sp>
        <p:nvSpPr>
          <p:cNvPr id="2" name="Title 1"/>
          <p:cNvSpPr>
            <a:spLocks noGrp="1"/>
          </p:cNvSpPr>
          <p:nvPr>
            <p:ph type="title"/>
          </p:nvPr>
        </p:nvSpPr>
        <p:spPr/>
        <p:txBody>
          <a:bodyPr/>
          <a:lstStyle/>
          <a:p>
            <a:r>
              <a:rPr lang="zh-CN" altLang="en-US" dirty="0"/>
              <a:t>前序遍历</a:t>
            </a:r>
            <a:endParaRPr lang="en-US" dirty="0"/>
          </a:p>
        </p:txBody>
      </p:sp>
      <p:sp>
        <p:nvSpPr>
          <p:cNvPr id="9" name="日期占位符 8"/>
          <p:cNvSpPr>
            <a:spLocks noGrp="1"/>
          </p:cNvSpPr>
          <p:nvPr>
            <p:ph type="dt" sz="half" idx="10"/>
          </p:nvPr>
        </p:nvSpPr>
        <p:spPr/>
        <p:txBody>
          <a:bodyPr/>
          <a:lstStyle/>
          <a:p>
            <a:fld id="{C5787BA5-E096-4715-A072-421CE583EA9A}" type="datetime1">
              <a:rPr lang="zh-CN" altLang="en-US" smtClean="0"/>
              <a:t>2025/4/15</a:t>
            </a:fld>
            <a:endParaRPr lang="zh-CN" altLang="en-US" dirty="0"/>
          </a:p>
        </p:txBody>
      </p:sp>
      <p:sp>
        <p:nvSpPr>
          <p:cNvPr id="10" name="页脚占位符 9"/>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1" name="灯片编号占位符 10"/>
          <p:cNvSpPr>
            <a:spLocks noGrp="1"/>
          </p:cNvSpPr>
          <p:nvPr>
            <p:ph type="sldNum" sz="quarter" idx="12"/>
          </p:nvPr>
        </p:nvSpPr>
        <p:spPr/>
        <p:txBody>
          <a:bodyPr/>
          <a:lstStyle/>
          <a:p>
            <a:fld id="{67913A8A-9EFB-4B5F-9CCB-3D21173FAA85}" type="slidenum">
              <a:rPr lang="zh-CN" altLang="en-US" smtClean="0"/>
              <a:pPr/>
              <a:t>44</a:t>
            </a:fld>
            <a:endParaRPr lang="zh-CN" altLang="en-US" dirty="0"/>
          </a:p>
        </p:txBody>
      </p:sp>
      <p:sp>
        <p:nvSpPr>
          <p:cNvPr id="8" name="Content Placeholder 2"/>
          <p:cNvSpPr txBox="1">
            <a:spLocks/>
          </p:cNvSpPr>
          <p:nvPr/>
        </p:nvSpPr>
        <p:spPr>
          <a:xfrm>
            <a:off x="595086" y="1088824"/>
            <a:ext cx="11139714" cy="5121481"/>
          </a:xfrm>
          <a:prstGeom prst="rect">
            <a:avLst/>
          </a:prstGeom>
        </p:spPr>
        <p:txBody>
          <a:bodyPr vert="horz" lIns="91440" tIns="45720" rIns="91440" bIns="45720" rtlCol="0">
            <a:normAutofit/>
          </a:bodyPr>
          <a:lstStyle>
            <a:lvl1pPr marL="274320" indent="-274320" algn="l" defTabSz="914400" rtl="0" eaLnBrk="1" latinLnBrk="0" hangingPunct="1">
              <a:lnSpc>
                <a:spcPct val="100000"/>
              </a:lnSpc>
              <a:spcBef>
                <a:spcPts val="1000"/>
              </a:spcBef>
              <a:buClr>
                <a:srgbClr val="CEA524"/>
              </a:buClr>
              <a:buSzPct val="100000"/>
              <a:buFont typeface="Wingdings" panose="05000000000000000000" pitchFamily="2" charset="2"/>
              <a:buChar char="q"/>
              <a:defRPr sz="2800" kern="1200">
                <a:solidFill>
                  <a:schemeClr val="tx1"/>
                </a:solidFill>
                <a:latin typeface="微软雅黑" panose="020B0503020204020204" pitchFamily="34" charset="-122"/>
                <a:ea typeface="微软雅黑" panose="020B0503020204020204" pitchFamily="34" charset="-122"/>
                <a:cs typeface="+mn-cs"/>
              </a:defRPr>
            </a:lvl1pPr>
            <a:lvl2pPr marL="640080" indent="-246888" algn="l" defTabSz="914400" rtl="0" eaLnBrk="1" latinLnBrk="0" hangingPunct="1">
              <a:lnSpc>
                <a:spcPct val="90000"/>
              </a:lnSpc>
              <a:spcBef>
                <a:spcPts val="500"/>
              </a:spcBef>
              <a:buClr>
                <a:srgbClr val="01559D"/>
              </a:buClr>
              <a:buSzPct val="97000"/>
              <a:buFont typeface="Wingdings" panose="05000000000000000000" pitchFamily="2" charset="2"/>
              <a:buChar char="Ø"/>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例</a:t>
            </a:r>
            <a:r>
              <a:rPr lang="en-US" altLang="zh-CN" dirty="0"/>
              <a:t>:</a:t>
            </a:r>
            <a:r>
              <a:rPr lang="zh-CN" altLang="en-US" dirty="0"/>
              <a:t>如图所示的有序根树</a:t>
            </a:r>
            <a:r>
              <a:rPr lang="en-US" altLang="zh-CN" dirty="0"/>
              <a:t>T. </a:t>
            </a:r>
            <a:r>
              <a:rPr lang="zh-CN" altLang="en-US" dirty="0"/>
              <a:t>给出</a:t>
            </a:r>
            <a:r>
              <a:rPr lang="en-US" altLang="zh-CN" dirty="0"/>
              <a:t>T</a:t>
            </a:r>
            <a:r>
              <a:rPr lang="zh-CN" altLang="en-US" dirty="0"/>
              <a:t>的前序遍历</a:t>
            </a:r>
            <a:r>
              <a:rPr lang="en-US" altLang="zh-CN" dirty="0"/>
              <a:t>.</a:t>
            </a:r>
          </a:p>
          <a:p>
            <a:endParaRPr lang="en-US" dirty="0"/>
          </a:p>
          <a:p>
            <a:endParaRPr lang="en-US" dirty="0"/>
          </a:p>
          <a:p>
            <a:endParaRPr lang="en-US" dirty="0"/>
          </a:p>
          <a:p>
            <a:endParaRPr lang="en-US" dirty="0"/>
          </a:p>
          <a:p>
            <a:endParaRPr lang="en-US" dirty="0"/>
          </a:p>
          <a:p>
            <a:endParaRPr lang="en-US" dirty="0"/>
          </a:p>
          <a:p>
            <a:endParaRPr lang="en-US" dirty="0"/>
          </a:p>
          <a:p>
            <a:r>
              <a:rPr lang="zh-CN" altLang="en-US" dirty="0"/>
              <a:t>解</a:t>
            </a:r>
            <a:r>
              <a:rPr lang="en-US" altLang="zh-CN" dirty="0"/>
              <a:t>:</a:t>
            </a:r>
            <a:r>
              <a:rPr lang="zh-CN" altLang="en-US" dirty="0"/>
              <a:t>首先访问根</a:t>
            </a:r>
            <a:r>
              <a:rPr lang="en-US" altLang="zh-CN" dirty="0"/>
              <a:t>a, </a:t>
            </a:r>
            <a:r>
              <a:rPr lang="zh-CN" altLang="en-US" dirty="0"/>
              <a:t>然后从左向右访问子树</a:t>
            </a:r>
            <a:r>
              <a:rPr lang="en-US" altLang="zh-CN" dirty="0"/>
              <a:t>.</a:t>
            </a:r>
            <a:endParaRPr lang="en-US" dirty="0"/>
          </a:p>
        </p:txBody>
      </p:sp>
    </p:spTree>
    <p:extLst>
      <p:ext uri="{BB962C8B-B14F-4D97-AF65-F5344CB8AC3E}">
        <p14:creationId xmlns:p14="http://schemas.microsoft.com/office/powerpoint/2010/main" val="869383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
                                            <p:txEl>
                                              <p:pRg st="8" end="8"/>
                                            </p:txEl>
                                          </p:spTgt>
                                        </p:tgtEl>
                                        <p:attrNameLst>
                                          <p:attrName>style.visibility</p:attrName>
                                        </p:attrNameLst>
                                      </p:cBhvr>
                                      <p:to>
                                        <p:strVal val="visible"/>
                                      </p:to>
                                    </p:set>
                                    <p:animEffect transition="in" filter="wipe(down)">
                                      <p:cBhvr>
                                        <p:cTn id="7" dur="500"/>
                                        <p:tgtEl>
                                          <p:spTgt spid="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前序遍历</a:t>
            </a:r>
            <a:endParaRPr lang="en-US" dirty="0"/>
          </a:p>
        </p:txBody>
      </p:sp>
      <p:sp>
        <p:nvSpPr>
          <p:cNvPr id="9" name="日期占位符 8"/>
          <p:cNvSpPr>
            <a:spLocks noGrp="1"/>
          </p:cNvSpPr>
          <p:nvPr>
            <p:ph type="dt" sz="half" idx="10"/>
          </p:nvPr>
        </p:nvSpPr>
        <p:spPr/>
        <p:txBody>
          <a:bodyPr/>
          <a:lstStyle/>
          <a:p>
            <a:fld id="{A2F5472A-2459-4F6C-8E48-3BF8747AF123}" type="datetime1">
              <a:rPr lang="zh-CN" altLang="en-US" smtClean="0"/>
              <a:t>2025/4/15</a:t>
            </a:fld>
            <a:endParaRPr lang="zh-CN" altLang="en-US" dirty="0"/>
          </a:p>
        </p:txBody>
      </p:sp>
      <p:sp>
        <p:nvSpPr>
          <p:cNvPr id="10" name="页脚占位符 9"/>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1" name="灯片编号占位符 10"/>
          <p:cNvSpPr>
            <a:spLocks noGrp="1"/>
          </p:cNvSpPr>
          <p:nvPr>
            <p:ph type="sldNum" sz="quarter" idx="12"/>
          </p:nvPr>
        </p:nvSpPr>
        <p:spPr/>
        <p:txBody>
          <a:bodyPr/>
          <a:lstStyle/>
          <a:p>
            <a:fld id="{67913A8A-9EFB-4B5F-9CCB-3D21173FAA85}" type="slidenum">
              <a:rPr lang="zh-CN" altLang="en-US" smtClean="0"/>
              <a:pPr/>
              <a:t>45</a:t>
            </a:fld>
            <a:endParaRPr lang="zh-CN" altLang="en-US" dirty="0"/>
          </a:p>
        </p:txBody>
      </p:sp>
      <p:sp>
        <p:nvSpPr>
          <p:cNvPr id="8" name="Content Placeholder 2"/>
          <p:cNvSpPr txBox="1">
            <a:spLocks/>
          </p:cNvSpPr>
          <p:nvPr/>
        </p:nvSpPr>
        <p:spPr>
          <a:xfrm>
            <a:off x="595086" y="1088824"/>
            <a:ext cx="10987316" cy="5121481"/>
          </a:xfrm>
          <a:prstGeom prst="rect">
            <a:avLst/>
          </a:prstGeom>
        </p:spPr>
        <p:txBody>
          <a:bodyPr vert="horz" lIns="91440" tIns="45720" rIns="91440" bIns="45720" rtlCol="0">
            <a:normAutofit/>
          </a:bodyPr>
          <a:lstStyle>
            <a:lvl1pPr marL="274320" indent="-274320" algn="l" defTabSz="914400" rtl="0" eaLnBrk="1" latinLnBrk="0" hangingPunct="1">
              <a:lnSpc>
                <a:spcPct val="100000"/>
              </a:lnSpc>
              <a:spcBef>
                <a:spcPts val="1000"/>
              </a:spcBef>
              <a:buClr>
                <a:srgbClr val="CEA524"/>
              </a:buClr>
              <a:buSzPct val="100000"/>
              <a:buFont typeface="Wingdings" panose="05000000000000000000" pitchFamily="2" charset="2"/>
              <a:buChar char="q"/>
              <a:defRPr sz="2800" kern="1200">
                <a:solidFill>
                  <a:schemeClr val="tx1"/>
                </a:solidFill>
                <a:latin typeface="微软雅黑" panose="020B0503020204020204" pitchFamily="34" charset="-122"/>
                <a:ea typeface="微软雅黑" panose="020B0503020204020204" pitchFamily="34" charset="-122"/>
                <a:cs typeface="+mn-cs"/>
              </a:defRPr>
            </a:lvl1pPr>
            <a:lvl2pPr marL="640080" indent="-246888" algn="l" defTabSz="914400" rtl="0" eaLnBrk="1" latinLnBrk="0" hangingPunct="1">
              <a:lnSpc>
                <a:spcPct val="90000"/>
              </a:lnSpc>
              <a:spcBef>
                <a:spcPts val="500"/>
              </a:spcBef>
              <a:buClr>
                <a:srgbClr val="01559D"/>
              </a:buClr>
              <a:buSzPct val="97000"/>
              <a:buFont typeface="Wingdings" panose="05000000000000000000" pitchFamily="2" charset="2"/>
              <a:buChar char="Ø"/>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pic>
        <p:nvPicPr>
          <p:cNvPr id="6" name="图片 5"/>
          <p:cNvPicPr>
            <a:picLocks noChangeAspect="1"/>
          </p:cNvPicPr>
          <p:nvPr/>
        </p:nvPicPr>
        <p:blipFill>
          <a:blip r:embed="rId2"/>
          <a:stretch>
            <a:fillRect/>
          </a:stretch>
        </p:blipFill>
        <p:spPr>
          <a:xfrm>
            <a:off x="76200" y="3776651"/>
            <a:ext cx="5924550" cy="2466975"/>
          </a:xfrm>
          <a:prstGeom prst="rect">
            <a:avLst/>
          </a:prstGeom>
        </p:spPr>
      </p:pic>
      <p:pic>
        <p:nvPicPr>
          <p:cNvPr id="7" name="图片 6"/>
          <p:cNvPicPr>
            <a:picLocks noChangeAspect="1"/>
          </p:cNvPicPr>
          <p:nvPr/>
        </p:nvPicPr>
        <p:blipFill rotWithShape="1">
          <a:blip r:embed="rId3"/>
          <a:srcRect b="4056"/>
          <a:stretch/>
        </p:blipFill>
        <p:spPr>
          <a:xfrm>
            <a:off x="6333468" y="1295401"/>
            <a:ext cx="5602641" cy="1447800"/>
          </a:xfrm>
          <a:prstGeom prst="rect">
            <a:avLst/>
          </a:prstGeom>
        </p:spPr>
      </p:pic>
      <p:pic>
        <p:nvPicPr>
          <p:cNvPr id="12" name="图片 11"/>
          <p:cNvPicPr>
            <a:picLocks noChangeAspect="1"/>
          </p:cNvPicPr>
          <p:nvPr/>
        </p:nvPicPr>
        <p:blipFill rotWithShape="1">
          <a:blip r:embed="rId4"/>
          <a:srcRect t="10186"/>
          <a:stretch/>
        </p:blipFill>
        <p:spPr>
          <a:xfrm>
            <a:off x="6133272" y="4406005"/>
            <a:ext cx="6096000" cy="671873"/>
          </a:xfrm>
          <a:prstGeom prst="rect">
            <a:avLst/>
          </a:prstGeom>
        </p:spPr>
      </p:pic>
      <p:pic>
        <p:nvPicPr>
          <p:cNvPr id="5" name="图片 4"/>
          <p:cNvPicPr>
            <a:picLocks noChangeAspect="1"/>
          </p:cNvPicPr>
          <p:nvPr/>
        </p:nvPicPr>
        <p:blipFill>
          <a:blip r:embed="rId5"/>
          <a:stretch>
            <a:fillRect/>
          </a:stretch>
        </p:blipFill>
        <p:spPr>
          <a:xfrm>
            <a:off x="381000" y="1055503"/>
            <a:ext cx="3367314" cy="2514160"/>
          </a:xfrm>
          <a:prstGeom prst="rect">
            <a:avLst/>
          </a:prstGeom>
        </p:spPr>
      </p:pic>
      <p:cxnSp>
        <p:nvCxnSpPr>
          <p:cNvPr id="15" name="直接箭头连接符 14"/>
          <p:cNvCxnSpPr/>
          <p:nvPr/>
        </p:nvCxnSpPr>
        <p:spPr>
          <a:xfrm>
            <a:off x="241379" y="1876890"/>
            <a:ext cx="0" cy="345711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a:off x="6172200" y="1828800"/>
            <a:ext cx="0" cy="345711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3287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par>
                                <p:cTn id="8" presetID="22" presetClass="entr" presetSubtype="4"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down)">
                                      <p:cBhvr>
                                        <p:cTn id="10" dur="5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down)">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wipe(down)">
                                      <p:cBhvr>
                                        <p:cTn id="20" dur="500"/>
                                        <p:tgtEl>
                                          <p:spTgt spid="12"/>
                                        </p:tgtEl>
                                      </p:cBhvr>
                                    </p:animEffect>
                                  </p:childTnLst>
                                </p:cTn>
                              </p:par>
                              <p:par>
                                <p:cTn id="21" presetID="22" presetClass="entr" presetSubtype="4" fill="hold"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wipe(down)">
                                      <p:cBhvr>
                                        <p:cTn id="2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89857" y="1143000"/>
            <a:ext cx="11277599" cy="1797036"/>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中序遍历</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a:t>定义</a:t>
                </a:r>
                <a:r>
                  <a:rPr lang="en-US" altLang="zh-CN" dirty="0"/>
                  <a:t>:</a:t>
                </a:r>
                <a:r>
                  <a:rPr lang="zh-CN" altLang="en-US" dirty="0"/>
                  <a:t>设</a:t>
                </a:r>
                <a:r>
                  <a:rPr lang="en-US" altLang="zh-CN" dirty="0"/>
                  <a:t>T</a:t>
                </a:r>
                <a:r>
                  <a:rPr lang="zh-CN" altLang="en-US" dirty="0"/>
                  <a:t>是带根</a:t>
                </a:r>
                <a:r>
                  <a:rPr lang="en-US" altLang="zh-CN" dirty="0"/>
                  <a:t>r</a:t>
                </a:r>
                <a:r>
                  <a:rPr lang="zh-CN" altLang="en-US" dirty="0"/>
                  <a:t>的有序根树</a:t>
                </a:r>
                <a:r>
                  <a:rPr lang="en-US" altLang="zh-CN" dirty="0"/>
                  <a:t>. </a:t>
                </a:r>
                <a:r>
                  <a:rPr lang="zh-CN" altLang="en-US" dirty="0"/>
                  <a:t>若</a:t>
                </a:r>
                <a:r>
                  <a:rPr lang="en-US" altLang="zh-CN" dirty="0"/>
                  <a:t>T</a:t>
                </a:r>
                <a:r>
                  <a:rPr lang="zh-CN" altLang="en-US" dirty="0"/>
                  <a:t>只包含</a:t>
                </a:r>
                <a:r>
                  <a:rPr lang="en-US" altLang="zh-CN" dirty="0"/>
                  <a:t>r, </a:t>
                </a:r>
                <a:r>
                  <a:rPr lang="zh-CN" altLang="en-US" dirty="0"/>
                  <a:t>则</a:t>
                </a:r>
                <a:r>
                  <a:rPr lang="en-US" altLang="zh-CN" dirty="0"/>
                  <a:t>r</a:t>
                </a:r>
                <a:r>
                  <a:rPr lang="zh-CN" altLang="en-US" dirty="0"/>
                  <a:t>是</a:t>
                </a:r>
                <a:r>
                  <a:rPr lang="en-US" altLang="zh-CN" dirty="0"/>
                  <a:t>T</a:t>
                </a:r>
                <a:r>
                  <a:rPr lang="zh-CN" altLang="en-US" dirty="0"/>
                  <a:t>的</a:t>
                </a:r>
                <a:r>
                  <a:rPr lang="zh-CN" altLang="en-US" b="1" dirty="0">
                    <a:solidFill>
                      <a:srgbClr val="C00000"/>
                    </a:solidFill>
                  </a:rPr>
                  <a:t>中序遍历</a:t>
                </a:r>
                <a:r>
                  <a:rPr lang="en-US" altLang="zh-CN" dirty="0"/>
                  <a:t>. </a:t>
                </a:r>
                <a:r>
                  <a:rPr lang="zh-CN" altLang="en-US" dirty="0"/>
                  <a:t>否则</a:t>
                </a:r>
                <a:r>
                  <a:rPr lang="en-US" altLang="zh-CN" dirty="0"/>
                  <a:t>, </a:t>
                </a:r>
                <a:r>
                  <a:rPr lang="zh-CN" altLang="en-US" dirty="0"/>
                  <a:t>假定</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𝑇</m:t>
                        </m:r>
                      </m:e>
                      <m:sub>
                        <m:r>
                          <a:rPr lang="en-US" altLang="zh-CN" i="1">
                            <a:latin typeface="Cambria Math" panose="02040503050406030204" pitchFamily="18" charset="0"/>
                          </a:rPr>
                          <m:t>1</m:t>
                        </m:r>
                      </m:sub>
                    </m:sSub>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𝑇</m:t>
                        </m:r>
                      </m:e>
                      <m:sub>
                        <m:r>
                          <a:rPr lang="en-US" altLang="zh-CN" i="1">
                            <a:latin typeface="Cambria Math" panose="02040503050406030204" pitchFamily="18" charset="0"/>
                          </a:rPr>
                          <m:t>2</m:t>
                        </m:r>
                      </m:sub>
                    </m:sSub>
                  </m:oMath>
                </a14:m>
                <a:r>
                  <a:rPr lang="en-US" altLang="zh-CN" dirty="0"/>
                  <a:t>, …,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𝑇</m:t>
                        </m:r>
                      </m:e>
                      <m:sub>
                        <m:r>
                          <a:rPr lang="en-US" altLang="zh-CN" i="1">
                            <a:latin typeface="Cambria Math" panose="02040503050406030204" pitchFamily="18" charset="0"/>
                          </a:rPr>
                          <m:t>𝑛</m:t>
                        </m:r>
                      </m:sub>
                    </m:sSub>
                  </m:oMath>
                </a14:m>
                <a:r>
                  <a:rPr lang="zh-CN" altLang="en-US" dirty="0"/>
                  <a:t>是</a:t>
                </a:r>
                <a:r>
                  <a:rPr lang="en-US" altLang="zh-CN" dirty="0"/>
                  <a:t>T</a:t>
                </a:r>
                <a:r>
                  <a:rPr lang="zh-CN" altLang="en-US" dirty="0"/>
                  <a:t>的以</a:t>
                </a:r>
                <a:r>
                  <a:rPr lang="en-US" altLang="zh-CN" dirty="0"/>
                  <a:t>r</a:t>
                </a:r>
                <a:r>
                  <a:rPr lang="zh-CN" altLang="en-US" dirty="0"/>
                  <a:t>为根的从左向右的子树</a:t>
                </a:r>
                <a:r>
                  <a:rPr lang="en-US" altLang="zh-CN" dirty="0"/>
                  <a:t>. </a:t>
                </a:r>
                <a:r>
                  <a:rPr lang="zh-CN" altLang="en-US" dirty="0"/>
                  <a:t>中序遍历首先以中序来遍历</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𝑇</m:t>
                        </m:r>
                      </m:e>
                      <m:sub>
                        <m:r>
                          <a:rPr lang="en-US" altLang="zh-CN" i="1">
                            <a:latin typeface="Cambria Math" panose="02040503050406030204" pitchFamily="18" charset="0"/>
                          </a:rPr>
                          <m:t>1</m:t>
                        </m:r>
                      </m:sub>
                    </m:sSub>
                  </m:oMath>
                </a14:m>
                <a:r>
                  <a:rPr lang="en-US" altLang="zh-CN" dirty="0"/>
                  <a:t>, </a:t>
                </a:r>
                <a:r>
                  <a:rPr lang="zh-CN" altLang="en-US" dirty="0"/>
                  <a:t>然后访问</a:t>
                </a:r>
                <a:r>
                  <a:rPr lang="en-US" altLang="zh-CN" dirty="0"/>
                  <a:t>r, </a:t>
                </a:r>
                <a:r>
                  <a:rPr lang="zh-CN" altLang="en-US" dirty="0"/>
                  <a:t>然后以中序来遍历</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𝑇</m:t>
                        </m:r>
                      </m:e>
                      <m:sub>
                        <m:r>
                          <a:rPr lang="en-US" altLang="zh-CN" i="1">
                            <a:latin typeface="Cambria Math" panose="02040503050406030204" pitchFamily="18" charset="0"/>
                          </a:rPr>
                          <m:t>2</m:t>
                        </m:r>
                      </m:sub>
                    </m:sSub>
                  </m:oMath>
                </a14:m>
                <a:r>
                  <a:rPr lang="en-US" altLang="zh-CN" dirty="0"/>
                  <a:t>, </a:t>
                </a:r>
                <a:r>
                  <a:rPr lang="zh-CN" altLang="en-US" dirty="0"/>
                  <a:t>以此类推</a:t>
                </a:r>
                <a:r>
                  <a:rPr lang="en-US" altLang="zh-CN" dirty="0"/>
                  <a:t>, </a:t>
                </a:r>
                <a:r>
                  <a:rPr lang="zh-CN" altLang="en-US" dirty="0"/>
                  <a:t>直到以中序遍历</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𝑇</m:t>
                        </m:r>
                      </m:e>
                      <m:sub>
                        <m:r>
                          <a:rPr lang="en-US" altLang="zh-CN" i="1">
                            <a:latin typeface="Cambria Math" panose="02040503050406030204" pitchFamily="18" charset="0"/>
                          </a:rPr>
                          <m:t>𝑛</m:t>
                        </m:r>
                      </m:sub>
                    </m:sSub>
                  </m:oMath>
                </a14:m>
                <a:r>
                  <a:rPr lang="zh-CN" altLang="en-US" dirty="0"/>
                  <a:t>为止</a:t>
                </a:r>
                <a:r>
                  <a:rPr lang="en-US" altLang="zh-CN"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r="-166"/>
                </a:stretch>
              </a:blipFill>
            </p:spPr>
            <p:txBody>
              <a:bodyPr/>
              <a:lstStyle/>
              <a:p>
                <a:r>
                  <a:rPr lang="zh-CN" altLang="en-US">
                    <a:noFill/>
                  </a:rPr>
                  <a:t> </a:t>
                </a:r>
              </a:p>
            </p:txBody>
          </p:sp>
        </mc:Fallback>
      </mc:AlternateContent>
      <p:sp>
        <p:nvSpPr>
          <p:cNvPr id="9" name="日期占位符 8"/>
          <p:cNvSpPr>
            <a:spLocks noGrp="1"/>
          </p:cNvSpPr>
          <p:nvPr>
            <p:ph type="dt" sz="half" idx="10"/>
          </p:nvPr>
        </p:nvSpPr>
        <p:spPr/>
        <p:txBody>
          <a:bodyPr/>
          <a:lstStyle/>
          <a:p>
            <a:fld id="{29BC1A83-6315-4E9B-97CE-65871360C0A6}" type="datetime1">
              <a:rPr lang="zh-CN" altLang="en-US" smtClean="0"/>
              <a:t>2025/4/15</a:t>
            </a:fld>
            <a:endParaRPr lang="zh-CN" altLang="en-US" dirty="0"/>
          </a:p>
        </p:txBody>
      </p:sp>
      <p:sp>
        <p:nvSpPr>
          <p:cNvPr id="10" name="页脚占位符 9"/>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1" name="灯片编号占位符 10"/>
          <p:cNvSpPr>
            <a:spLocks noGrp="1"/>
          </p:cNvSpPr>
          <p:nvPr>
            <p:ph type="sldNum" sz="quarter" idx="12"/>
          </p:nvPr>
        </p:nvSpPr>
        <p:spPr/>
        <p:txBody>
          <a:bodyPr/>
          <a:lstStyle/>
          <a:p>
            <a:fld id="{67913A8A-9EFB-4B5F-9CCB-3D21173FAA85}" type="slidenum">
              <a:rPr lang="zh-CN" altLang="en-US" smtClean="0"/>
              <a:pPr/>
              <a:t>46</a:t>
            </a:fld>
            <a:endParaRPr lang="zh-CN" altLang="en-US" dirty="0"/>
          </a:p>
        </p:txBody>
      </p:sp>
      <p:pic>
        <p:nvPicPr>
          <p:cNvPr id="4" name="图片 3"/>
          <p:cNvPicPr>
            <a:picLocks noChangeAspect="1"/>
          </p:cNvPicPr>
          <p:nvPr/>
        </p:nvPicPr>
        <p:blipFill>
          <a:blip r:embed="rId3"/>
          <a:stretch>
            <a:fillRect/>
          </a:stretch>
        </p:blipFill>
        <p:spPr>
          <a:xfrm>
            <a:off x="3973147" y="2852396"/>
            <a:ext cx="4231193" cy="3452248"/>
          </a:xfrm>
          <a:prstGeom prst="rect">
            <a:avLst/>
          </a:prstGeom>
        </p:spPr>
      </p:pic>
    </p:spTree>
    <p:extLst>
      <p:ext uri="{BB962C8B-B14F-4D97-AF65-F5344CB8AC3E}">
        <p14:creationId xmlns:p14="http://schemas.microsoft.com/office/powerpoint/2010/main" val="20681913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中序遍历</a:t>
            </a:r>
            <a:endParaRPr lang="en-US" dirty="0"/>
          </a:p>
        </p:txBody>
      </p:sp>
      <p:sp>
        <p:nvSpPr>
          <p:cNvPr id="9" name="日期占位符 8"/>
          <p:cNvSpPr>
            <a:spLocks noGrp="1"/>
          </p:cNvSpPr>
          <p:nvPr>
            <p:ph type="dt" sz="half" idx="10"/>
          </p:nvPr>
        </p:nvSpPr>
        <p:spPr/>
        <p:txBody>
          <a:bodyPr/>
          <a:lstStyle/>
          <a:p>
            <a:fld id="{2F5D25D1-A8CC-4AED-ADD4-C06DAF1B6D83}" type="datetime1">
              <a:rPr lang="zh-CN" altLang="en-US" smtClean="0"/>
              <a:t>2025/4/15</a:t>
            </a:fld>
            <a:endParaRPr lang="zh-CN" altLang="en-US" dirty="0"/>
          </a:p>
        </p:txBody>
      </p:sp>
      <p:sp>
        <p:nvSpPr>
          <p:cNvPr id="10" name="页脚占位符 9"/>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1" name="灯片编号占位符 10"/>
          <p:cNvSpPr>
            <a:spLocks noGrp="1"/>
          </p:cNvSpPr>
          <p:nvPr>
            <p:ph type="sldNum" sz="quarter" idx="12"/>
          </p:nvPr>
        </p:nvSpPr>
        <p:spPr/>
        <p:txBody>
          <a:bodyPr/>
          <a:lstStyle/>
          <a:p>
            <a:fld id="{67913A8A-9EFB-4B5F-9CCB-3D21173FAA85}" type="slidenum">
              <a:rPr lang="zh-CN" altLang="en-US" smtClean="0"/>
              <a:pPr/>
              <a:t>47</a:t>
            </a:fld>
            <a:endParaRPr lang="zh-CN" altLang="en-US" dirty="0"/>
          </a:p>
        </p:txBody>
      </p:sp>
      <p:sp>
        <p:nvSpPr>
          <p:cNvPr id="8" name="Content Placeholder 2"/>
          <p:cNvSpPr txBox="1">
            <a:spLocks/>
          </p:cNvSpPr>
          <p:nvPr/>
        </p:nvSpPr>
        <p:spPr>
          <a:xfrm>
            <a:off x="595086" y="1088824"/>
            <a:ext cx="11139714" cy="5121481"/>
          </a:xfrm>
          <a:prstGeom prst="rect">
            <a:avLst/>
          </a:prstGeom>
        </p:spPr>
        <p:txBody>
          <a:bodyPr vert="horz" lIns="91440" tIns="45720" rIns="91440" bIns="45720" rtlCol="0">
            <a:normAutofit/>
          </a:bodyPr>
          <a:lstStyle>
            <a:lvl1pPr marL="274320" indent="-274320" algn="l" defTabSz="914400" rtl="0" eaLnBrk="1" latinLnBrk="0" hangingPunct="1">
              <a:lnSpc>
                <a:spcPct val="100000"/>
              </a:lnSpc>
              <a:spcBef>
                <a:spcPts val="1000"/>
              </a:spcBef>
              <a:buClr>
                <a:srgbClr val="CEA524"/>
              </a:buClr>
              <a:buSzPct val="100000"/>
              <a:buFont typeface="Wingdings" panose="05000000000000000000" pitchFamily="2" charset="2"/>
              <a:buChar char="q"/>
              <a:defRPr sz="2800" kern="1200">
                <a:solidFill>
                  <a:schemeClr val="tx1"/>
                </a:solidFill>
                <a:latin typeface="微软雅黑" panose="020B0503020204020204" pitchFamily="34" charset="-122"/>
                <a:ea typeface="微软雅黑" panose="020B0503020204020204" pitchFamily="34" charset="-122"/>
                <a:cs typeface="+mn-cs"/>
              </a:defRPr>
            </a:lvl1pPr>
            <a:lvl2pPr marL="640080" indent="-246888" algn="l" defTabSz="914400" rtl="0" eaLnBrk="1" latinLnBrk="0" hangingPunct="1">
              <a:lnSpc>
                <a:spcPct val="90000"/>
              </a:lnSpc>
              <a:spcBef>
                <a:spcPts val="500"/>
              </a:spcBef>
              <a:buClr>
                <a:srgbClr val="01559D"/>
              </a:buClr>
              <a:buSzPct val="97000"/>
              <a:buFont typeface="Wingdings" panose="05000000000000000000" pitchFamily="2" charset="2"/>
              <a:buChar char="Ø"/>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例</a:t>
            </a:r>
            <a:r>
              <a:rPr lang="en-US" altLang="zh-CN" dirty="0"/>
              <a:t>:</a:t>
            </a:r>
            <a:r>
              <a:rPr lang="zh-CN" altLang="en-US" dirty="0"/>
              <a:t>如图所示的有序根树</a:t>
            </a:r>
            <a:r>
              <a:rPr lang="en-US" altLang="zh-CN" dirty="0"/>
              <a:t>T. </a:t>
            </a:r>
            <a:r>
              <a:rPr lang="zh-CN" altLang="en-US" dirty="0"/>
              <a:t>给出</a:t>
            </a:r>
            <a:r>
              <a:rPr lang="en-US" altLang="zh-CN" dirty="0"/>
              <a:t>T</a:t>
            </a:r>
            <a:r>
              <a:rPr lang="zh-CN" altLang="en-US" dirty="0"/>
              <a:t>的中序遍历</a:t>
            </a:r>
            <a:r>
              <a:rPr lang="en-US" altLang="zh-CN" dirty="0"/>
              <a:t>.</a:t>
            </a:r>
          </a:p>
          <a:p>
            <a:endParaRPr lang="en-US" dirty="0"/>
          </a:p>
          <a:p>
            <a:endParaRPr lang="en-US" dirty="0"/>
          </a:p>
          <a:p>
            <a:endParaRPr lang="en-US" dirty="0"/>
          </a:p>
          <a:p>
            <a:endParaRPr lang="en-US" dirty="0"/>
          </a:p>
          <a:p>
            <a:endParaRPr lang="en-US" dirty="0"/>
          </a:p>
          <a:p>
            <a:endParaRPr lang="en-US" dirty="0"/>
          </a:p>
          <a:p>
            <a:r>
              <a:rPr lang="zh-CN" altLang="en-US" dirty="0"/>
              <a:t>解</a:t>
            </a:r>
            <a:r>
              <a:rPr lang="en-US" altLang="zh-CN" dirty="0"/>
              <a:t>:</a:t>
            </a:r>
            <a:r>
              <a:rPr lang="zh-CN" altLang="en-US" dirty="0"/>
              <a:t>首先是带有根</a:t>
            </a:r>
            <a:r>
              <a:rPr lang="en-US" altLang="zh-CN" dirty="0"/>
              <a:t>b</a:t>
            </a:r>
            <a:r>
              <a:rPr lang="zh-CN" altLang="en-US" dirty="0"/>
              <a:t>的子树的中序遍历</a:t>
            </a:r>
            <a:r>
              <a:rPr lang="en-US" altLang="zh-CN" dirty="0"/>
              <a:t>, </a:t>
            </a:r>
            <a:r>
              <a:rPr lang="zh-CN" altLang="en-US" dirty="0"/>
              <a:t>然后访问根</a:t>
            </a:r>
            <a:r>
              <a:rPr lang="en-US" altLang="zh-CN" dirty="0"/>
              <a:t>a, </a:t>
            </a:r>
            <a:r>
              <a:rPr lang="zh-CN" altLang="en-US" dirty="0"/>
              <a:t>然后带根</a:t>
            </a:r>
            <a:r>
              <a:rPr lang="en-US" altLang="zh-CN" dirty="0"/>
              <a:t>c</a:t>
            </a:r>
            <a:r>
              <a:rPr lang="zh-CN" altLang="en-US" dirty="0"/>
              <a:t>的子树的中序遍历</a:t>
            </a:r>
            <a:r>
              <a:rPr lang="en-US" altLang="zh-CN" dirty="0"/>
              <a:t>, </a:t>
            </a:r>
            <a:r>
              <a:rPr lang="zh-CN" altLang="en-US" dirty="0"/>
              <a:t>带根</a:t>
            </a:r>
            <a:r>
              <a:rPr lang="en-US" altLang="zh-CN" dirty="0"/>
              <a:t>d</a:t>
            </a:r>
            <a:r>
              <a:rPr lang="zh-CN" altLang="en-US" dirty="0"/>
              <a:t>的子树的中序遍历</a:t>
            </a:r>
            <a:r>
              <a:rPr lang="en-US" altLang="zh-CN" dirty="0"/>
              <a:t>.</a:t>
            </a:r>
            <a:endParaRPr lang="en-US" dirty="0"/>
          </a:p>
        </p:txBody>
      </p:sp>
      <p:pic>
        <p:nvPicPr>
          <p:cNvPr id="12" name="图片 11"/>
          <p:cNvPicPr>
            <a:picLocks noChangeAspect="1"/>
          </p:cNvPicPr>
          <p:nvPr/>
        </p:nvPicPr>
        <p:blipFill>
          <a:blip r:embed="rId2"/>
          <a:stretch>
            <a:fillRect/>
          </a:stretch>
        </p:blipFill>
        <p:spPr>
          <a:xfrm>
            <a:off x="1676400" y="1600200"/>
            <a:ext cx="2734003" cy="3300808"/>
          </a:xfrm>
          <a:prstGeom prst="rect">
            <a:avLst/>
          </a:prstGeom>
        </p:spPr>
      </p:pic>
    </p:spTree>
    <p:extLst>
      <p:ext uri="{BB962C8B-B14F-4D97-AF65-F5344CB8AC3E}">
        <p14:creationId xmlns:p14="http://schemas.microsoft.com/office/powerpoint/2010/main" val="4203497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
                                            <p:txEl>
                                              <p:pRg st="7" end="7"/>
                                            </p:txEl>
                                          </p:spTgt>
                                        </p:tgtEl>
                                        <p:attrNameLst>
                                          <p:attrName>style.visibility</p:attrName>
                                        </p:attrNameLst>
                                      </p:cBhvr>
                                      <p:to>
                                        <p:strVal val="visible"/>
                                      </p:to>
                                    </p:set>
                                    <p:animEffect transition="in" filter="wipe(down)">
                                      <p:cBhvr>
                                        <p:cTn id="7" dur="500"/>
                                        <p:tgtEl>
                                          <p:spTgt spid="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中序遍历</a:t>
            </a:r>
            <a:endParaRPr lang="en-US" dirty="0"/>
          </a:p>
        </p:txBody>
      </p:sp>
      <p:sp>
        <p:nvSpPr>
          <p:cNvPr id="9" name="日期占位符 8"/>
          <p:cNvSpPr>
            <a:spLocks noGrp="1"/>
          </p:cNvSpPr>
          <p:nvPr>
            <p:ph type="dt" sz="half" idx="10"/>
          </p:nvPr>
        </p:nvSpPr>
        <p:spPr/>
        <p:txBody>
          <a:bodyPr/>
          <a:lstStyle/>
          <a:p>
            <a:fld id="{AC7875D8-C97A-4DA1-804E-7423E259B887}" type="datetime1">
              <a:rPr lang="zh-CN" altLang="en-US" smtClean="0"/>
              <a:t>2025/4/15</a:t>
            </a:fld>
            <a:endParaRPr lang="zh-CN" altLang="en-US" dirty="0"/>
          </a:p>
        </p:txBody>
      </p:sp>
      <p:sp>
        <p:nvSpPr>
          <p:cNvPr id="10" name="页脚占位符 9"/>
          <p:cNvSpPr>
            <a:spLocks noGrp="1"/>
          </p:cNvSpPr>
          <p:nvPr>
            <p:ph type="ftr" sz="quarter" idx="11"/>
          </p:nvPr>
        </p:nvSpPr>
        <p:spPr/>
        <p:txBody>
          <a:bodyPr/>
          <a:lstStyle/>
          <a:p>
            <a:pPr algn="r"/>
            <a:r>
              <a:rPr lang="zh-CN" altLang="en-US"/>
              <a:t>华中科技大学人机物系统与安全实验室</a:t>
            </a:r>
            <a:endParaRPr lang="zh-CN" altLang="en-US" dirty="0"/>
          </a:p>
        </p:txBody>
      </p:sp>
      <p:sp>
        <p:nvSpPr>
          <p:cNvPr id="11" name="灯片编号占位符 10"/>
          <p:cNvSpPr>
            <a:spLocks noGrp="1"/>
          </p:cNvSpPr>
          <p:nvPr>
            <p:ph type="sldNum" sz="quarter" idx="12"/>
          </p:nvPr>
        </p:nvSpPr>
        <p:spPr/>
        <p:txBody>
          <a:bodyPr/>
          <a:lstStyle/>
          <a:p>
            <a:fld id="{67913A8A-9EFB-4B5F-9CCB-3D21173FAA85}" type="slidenum">
              <a:rPr lang="zh-CN" altLang="en-US" smtClean="0"/>
              <a:pPr/>
              <a:t>48</a:t>
            </a:fld>
            <a:endParaRPr lang="zh-CN" altLang="en-US" dirty="0"/>
          </a:p>
        </p:txBody>
      </p:sp>
      <p:sp>
        <p:nvSpPr>
          <p:cNvPr id="8" name="Content Placeholder 2"/>
          <p:cNvSpPr txBox="1">
            <a:spLocks/>
          </p:cNvSpPr>
          <p:nvPr/>
        </p:nvSpPr>
        <p:spPr>
          <a:xfrm>
            <a:off x="595086" y="1088824"/>
            <a:ext cx="10987316" cy="5121481"/>
          </a:xfrm>
          <a:prstGeom prst="rect">
            <a:avLst/>
          </a:prstGeom>
        </p:spPr>
        <p:txBody>
          <a:bodyPr vert="horz" lIns="91440" tIns="45720" rIns="91440" bIns="45720" rtlCol="0">
            <a:normAutofit/>
          </a:bodyPr>
          <a:lstStyle>
            <a:lvl1pPr marL="274320" indent="-274320" algn="l" defTabSz="914400" rtl="0" eaLnBrk="1" latinLnBrk="0" hangingPunct="1">
              <a:lnSpc>
                <a:spcPct val="100000"/>
              </a:lnSpc>
              <a:spcBef>
                <a:spcPts val="1000"/>
              </a:spcBef>
              <a:buClr>
                <a:srgbClr val="CEA524"/>
              </a:buClr>
              <a:buSzPct val="100000"/>
              <a:buFont typeface="Wingdings" panose="05000000000000000000" pitchFamily="2" charset="2"/>
              <a:buChar char="q"/>
              <a:defRPr sz="2800" kern="1200">
                <a:solidFill>
                  <a:schemeClr val="tx1"/>
                </a:solidFill>
                <a:latin typeface="微软雅黑" panose="020B0503020204020204" pitchFamily="34" charset="-122"/>
                <a:ea typeface="微软雅黑" panose="020B0503020204020204" pitchFamily="34" charset="-122"/>
                <a:cs typeface="+mn-cs"/>
              </a:defRPr>
            </a:lvl1pPr>
            <a:lvl2pPr marL="640080" indent="-246888" algn="l" defTabSz="914400" rtl="0" eaLnBrk="1" latinLnBrk="0" hangingPunct="1">
              <a:lnSpc>
                <a:spcPct val="90000"/>
              </a:lnSpc>
              <a:spcBef>
                <a:spcPts val="500"/>
              </a:spcBef>
              <a:buClr>
                <a:srgbClr val="01559D"/>
              </a:buClr>
              <a:buSzPct val="97000"/>
              <a:buFont typeface="Wingdings" panose="05000000000000000000" pitchFamily="2" charset="2"/>
              <a:buChar char="Ø"/>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解</a:t>
            </a:r>
            <a:r>
              <a:rPr lang="en-US" altLang="zh-CN" dirty="0"/>
              <a:t>(</a:t>
            </a:r>
            <a:r>
              <a:rPr lang="zh-CN" altLang="en-US" dirty="0"/>
              <a:t>续</a:t>
            </a:r>
            <a:r>
              <a:rPr lang="en-US" altLang="zh-CN" dirty="0"/>
              <a:t>):</a:t>
            </a:r>
            <a:endParaRPr lang="en-US" dirty="0"/>
          </a:p>
        </p:txBody>
      </p:sp>
      <p:pic>
        <p:nvPicPr>
          <p:cNvPr id="13" name="图片 12"/>
          <p:cNvPicPr>
            <a:picLocks noChangeAspect="1"/>
          </p:cNvPicPr>
          <p:nvPr/>
        </p:nvPicPr>
        <p:blipFill>
          <a:blip r:embed="rId2"/>
          <a:stretch>
            <a:fillRect/>
          </a:stretch>
        </p:blipFill>
        <p:spPr>
          <a:xfrm>
            <a:off x="914400" y="1600200"/>
            <a:ext cx="1981993" cy="2151683"/>
          </a:xfrm>
          <a:prstGeom prst="rect">
            <a:avLst/>
          </a:prstGeom>
        </p:spPr>
      </p:pic>
      <p:pic>
        <p:nvPicPr>
          <p:cNvPr id="14" name="图片 13"/>
          <p:cNvPicPr>
            <a:picLocks noChangeAspect="1"/>
          </p:cNvPicPr>
          <p:nvPr/>
        </p:nvPicPr>
        <p:blipFill>
          <a:blip r:embed="rId3"/>
          <a:stretch>
            <a:fillRect/>
          </a:stretch>
        </p:blipFill>
        <p:spPr>
          <a:xfrm>
            <a:off x="562429" y="3969831"/>
            <a:ext cx="2987299" cy="2240474"/>
          </a:xfrm>
          <a:prstGeom prst="rect">
            <a:avLst/>
          </a:prstGeom>
        </p:spPr>
      </p:pic>
      <p:pic>
        <p:nvPicPr>
          <p:cNvPr id="15" name="图片 14"/>
          <p:cNvPicPr>
            <a:picLocks noChangeAspect="1"/>
          </p:cNvPicPr>
          <p:nvPr/>
        </p:nvPicPr>
        <p:blipFill>
          <a:blip r:embed="rId4"/>
          <a:stretch>
            <a:fillRect/>
          </a:stretch>
        </p:blipFill>
        <p:spPr>
          <a:xfrm>
            <a:off x="5844455" y="1037652"/>
            <a:ext cx="4221846" cy="1729890"/>
          </a:xfrm>
          <a:prstGeom prst="rect">
            <a:avLst/>
          </a:prstGeom>
        </p:spPr>
      </p:pic>
      <p:pic>
        <p:nvPicPr>
          <p:cNvPr id="16" name="图片 15"/>
          <p:cNvPicPr>
            <a:picLocks noChangeAspect="1"/>
          </p:cNvPicPr>
          <p:nvPr/>
        </p:nvPicPr>
        <p:blipFill>
          <a:blip r:embed="rId5"/>
          <a:stretch>
            <a:fillRect/>
          </a:stretch>
        </p:blipFill>
        <p:spPr>
          <a:xfrm>
            <a:off x="5718714" y="3672999"/>
            <a:ext cx="4473328" cy="1204064"/>
          </a:xfrm>
          <a:prstGeom prst="rect">
            <a:avLst/>
          </a:prstGeom>
        </p:spPr>
      </p:pic>
      <p:pic>
        <p:nvPicPr>
          <p:cNvPr id="17" name="图片 16"/>
          <p:cNvPicPr>
            <a:picLocks noChangeAspect="1"/>
          </p:cNvPicPr>
          <p:nvPr/>
        </p:nvPicPr>
        <p:blipFill>
          <a:blip r:embed="rId6"/>
          <a:stretch>
            <a:fillRect/>
          </a:stretch>
        </p:blipFill>
        <p:spPr>
          <a:xfrm>
            <a:off x="5398538" y="5551582"/>
            <a:ext cx="5357324" cy="533446"/>
          </a:xfrm>
          <a:prstGeom prst="rect">
            <a:avLst/>
          </a:prstGeom>
        </p:spPr>
      </p:pic>
    </p:spTree>
    <p:extLst>
      <p:ext uri="{BB962C8B-B14F-4D97-AF65-F5344CB8AC3E}">
        <p14:creationId xmlns:p14="http://schemas.microsoft.com/office/powerpoint/2010/main" val="3464398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down)">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down)">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down)">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down)">
                                      <p:cBhvr>
                                        <p:cTn id="2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89857" y="1143000"/>
            <a:ext cx="11277599" cy="1797036"/>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后续遍历</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a:t>定义</a:t>
                </a:r>
                <a:r>
                  <a:rPr lang="en-US" altLang="zh-CN" dirty="0"/>
                  <a:t>:</a:t>
                </a:r>
                <a:r>
                  <a:rPr lang="zh-CN" altLang="en-US" dirty="0"/>
                  <a:t>设</a:t>
                </a:r>
                <a:r>
                  <a:rPr lang="en-US" altLang="zh-CN" dirty="0"/>
                  <a:t>T</a:t>
                </a:r>
                <a:r>
                  <a:rPr lang="zh-CN" altLang="en-US" dirty="0"/>
                  <a:t>是带根</a:t>
                </a:r>
                <a:r>
                  <a:rPr lang="en-US" altLang="zh-CN" dirty="0"/>
                  <a:t>r</a:t>
                </a:r>
                <a:r>
                  <a:rPr lang="zh-CN" altLang="en-US" dirty="0"/>
                  <a:t>的有序根树</a:t>
                </a:r>
                <a:r>
                  <a:rPr lang="en-US" altLang="zh-CN" dirty="0"/>
                  <a:t>. </a:t>
                </a:r>
                <a:r>
                  <a:rPr lang="zh-CN" altLang="en-US" dirty="0"/>
                  <a:t>若</a:t>
                </a:r>
                <a:r>
                  <a:rPr lang="en-US" altLang="zh-CN" dirty="0"/>
                  <a:t>T</a:t>
                </a:r>
                <a:r>
                  <a:rPr lang="zh-CN" altLang="en-US" dirty="0"/>
                  <a:t>只包含</a:t>
                </a:r>
                <a:r>
                  <a:rPr lang="en-US" altLang="zh-CN" dirty="0"/>
                  <a:t>r, </a:t>
                </a:r>
                <a:r>
                  <a:rPr lang="zh-CN" altLang="en-US" dirty="0"/>
                  <a:t>则</a:t>
                </a:r>
                <a:r>
                  <a:rPr lang="en-US" altLang="zh-CN" dirty="0"/>
                  <a:t>r</a:t>
                </a:r>
                <a:r>
                  <a:rPr lang="zh-CN" altLang="en-US" dirty="0"/>
                  <a:t>是</a:t>
                </a:r>
                <a:r>
                  <a:rPr lang="en-US" altLang="zh-CN" dirty="0"/>
                  <a:t>T</a:t>
                </a:r>
                <a:r>
                  <a:rPr lang="zh-CN" altLang="en-US" dirty="0"/>
                  <a:t>的</a:t>
                </a:r>
                <a:r>
                  <a:rPr lang="zh-CN" altLang="en-US" b="1" dirty="0">
                    <a:solidFill>
                      <a:srgbClr val="C00000"/>
                    </a:solidFill>
                  </a:rPr>
                  <a:t>后序遍历</a:t>
                </a:r>
                <a:r>
                  <a:rPr lang="en-US" altLang="zh-CN" dirty="0"/>
                  <a:t>. </a:t>
                </a:r>
                <a:r>
                  <a:rPr lang="zh-CN" altLang="en-US" dirty="0"/>
                  <a:t>否则</a:t>
                </a:r>
                <a:r>
                  <a:rPr lang="en-US" altLang="zh-CN" dirty="0"/>
                  <a:t>, </a:t>
                </a:r>
                <a:r>
                  <a:rPr lang="zh-CN" altLang="en-US" dirty="0"/>
                  <a:t>假定</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𝑇</m:t>
                        </m:r>
                      </m:e>
                      <m:sub>
                        <m:r>
                          <a:rPr lang="en-US" altLang="zh-CN" i="1">
                            <a:latin typeface="Cambria Math" panose="02040503050406030204" pitchFamily="18" charset="0"/>
                          </a:rPr>
                          <m:t>1</m:t>
                        </m:r>
                      </m:sub>
                    </m:sSub>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𝑇</m:t>
                        </m:r>
                      </m:e>
                      <m:sub>
                        <m:r>
                          <a:rPr lang="en-US" altLang="zh-CN" i="1">
                            <a:latin typeface="Cambria Math" panose="02040503050406030204" pitchFamily="18" charset="0"/>
                          </a:rPr>
                          <m:t>2</m:t>
                        </m:r>
                      </m:sub>
                    </m:sSub>
                  </m:oMath>
                </a14:m>
                <a:r>
                  <a:rPr lang="en-US" altLang="zh-CN" dirty="0"/>
                  <a:t>, …,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𝑇</m:t>
                        </m:r>
                      </m:e>
                      <m:sub>
                        <m:r>
                          <a:rPr lang="en-US" altLang="zh-CN" i="1">
                            <a:latin typeface="Cambria Math" panose="02040503050406030204" pitchFamily="18" charset="0"/>
                          </a:rPr>
                          <m:t>𝑛</m:t>
                        </m:r>
                      </m:sub>
                    </m:sSub>
                  </m:oMath>
                </a14:m>
                <a:r>
                  <a:rPr lang="zh-CN" altLang="en-US" dirty="0"/>
                  <a:t>是</a:t>
                </a:r>
                <a:r>
                  <a:rPr lang="en-US" altLang="zh-CN" dirty="0"/>
                  <a:t>T</a:t>
                </a:r>
                <a:r>
                  <a:rPr lang="zh-CN" altLang="en-US" dirty="0"/>
                  <a:t>的以</a:t>
                </a:r>
                <a:r>
                  <a:rPr lang="en-US" altLang="zh-CN" dirty="0"/>
                  <a:t>r</a:t>
                </a:r>
                <a:r>
                  <a:rPr lang="zh-CN" altLang="en-US" dirty="0"/>
                  <a:t>为根的从左向右的子树</a:t>
                </a:r>
                <a:r>
                  <a:rPr lang="en-US" altLang="zh-CN" dirty="0"/>
                  <a:t>. </a:t>
                </a:r>
                <a:r>
                  <a:rPr lang="zh-CN" altLang="en-US" dirty="0"/>
                  <a:t>后序遍历首先以后序来遍历</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𝑇</m:t>
                        </m:r>
                      </m:e>
                      <m:sub>
                        <m:r>
                          <a:rPr lang="en-US" altLang="zh-CN" i="1">
                            <a:latin typeface="Cambria Math" panose="02040503050406030204" pitchFamily="18" charset="0"/>
                          </a:rPr>
                          <m:t>1</m:t>
                        </m:r>
                      </m:sub>
                    </m:sSub>
                  </m:oMath>
                </a14:m>
                <a:r>
                  <a:rPr lang="en-US" altLang="zh-CN" dirty="0"/>
                  <a:t>, </a:t>
                </a:r>
                <a:r>
                  <a:rPr lang="zh-CN" altLang="en-US" dirty="0"/>
                  <a:t>然后以后序来遍历</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𝑇</m:t>
                        </m:r>
                      </m:e>
                      <m:sub>
                        <m:r>
                          <a:rPr lang="en-US" altLang="zh-CN" i="1">
                            <a:latin typeface="Cambria Math" panose="02040503050406030204" pitchFamily="18" charset="0"/>
                          </a:rPr>
                          <m:t>2</m:t>
                        </m:r>
                      </m:sub>
                    </m:sSub>
                  </m:oMath>
                </a14:m>
                <a:r>
                  <a:rPr lang="en-US" altLang="zh-CN" dirty="0"/>
                  <a:t>, </a:t>
                </a:r>
                <a:r>
                  <a:rPr lang="zh-CN" altLang="en-US" dirty="0"/>
                  <a:t>以此类推</a:t>
                </a:r>
                <a:r>
                  <a:rPr lang="en-US" altLang="zh-CN" dirty="0"/>
                  <a:t>, </a:t>
                </a:r>
                <a:r>
                  <a:rPr lang="zh-CN" altLang="en-US" dirty="0"/>
                  <a:t>然后以后序遍历</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𝑇</m:t>
                        </m:r>
                      </m:e>
                      <m:sub>
                        <m:r>
                          <a:rPr lang="en-US" altLang="zh-CN" i="1">
                            <a:latin typeface="Cambria Math" panose="02040503050406030204" pitchFamily="18" charset="0"/>
                          </a:rPr>
                          <m:t>𝑛</m:t>
                        </m:r>
                      </m:sub>
                    </m:sSub>
                  </m:oMath>
                </a14:m>
                <a:r>
                  <a:rPr lang="en-US" altLang="zh-CN" dirty="0"/>
                  <a:t>, </a:t>
                </a:r>
                <a:r>
                  <a:rPr lang="zh-CN" altLang="en-US" dirty="0"/>
                  <a:t>最后访问</a:t>
                </a:r>
                <a:r>
                  <a:rPr lang="en-US" altLang="zh-CN" dirty="0"/>
                  <a:t>r.</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r="-55"/>
                </a:stretch>
              </a:blipFill>
            </p:spPr>
            <p:txBody>
              <a:bodyPr/>
              <a:lstStyle/>
              <a:p>
                <a:r>
                  <a:rPr lang="zh-CN" altLang="en-US">
                    <a:noFill/>
                  </a:rPr>
                  <a:t> </a:t>
                </a:r>
              </a:p>
            </p:txBody>
          </p:sp>
        </mc:Fallback>
      </mc:AlternateContent>
      <p:sp>
        <p:nvSpPr>
          <p:cNvPr id="9" name="日期占位符 8"/>
          <p:cNvSpPr>
            <a:spLocks noGrp="1"/>
          </p:cNvSpPr>
          <p:nvPr>
            <p:ph type="dt" sz="half" idx="10"/>
          </p:nvPr>
        </p:nvSpPr>
        <p:spPr/>
        <p:txBody>
          <a:bodyPr/>
          <a:lstStyle/>
          <a:p>
            <a:fld id="{AF6F041E-B90F-4605-BE5E-A7B6E2909E30}" type="datetime1">
              <a:rPr lang="zh-CN" altLang="en-US" smtClean="0"/>
              <a:t>2025/4/15</a:t>
            </a:fld>
            <a:endParaRPr lang="zh-CN" altLang="en-US" dirty="0"/>
          </a:p>
        </p:txBody>
      </p:sp>
      <p:sp>
        <p:nvSpPr>
          <p:cNvPr id="10" name="页脚占位符 9"/>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1" name="灯片编号占位符 10"/>
          <p:cNvSpPr>
            <a:spLocks noGrp="1"/>
          </p:cNvSpPr>
          <p:nvPr>
            <p:ph type="sldNum" sz="quarter" idx="12"/>
          </p:nvPr>
        </p:nvSpPr>
        <p:spPr/>
        <p:txBody>
          <a:bodyPr/>
          <a:lstStyle/>
          <a:p>
            <a:fld id="{67913A8A-9EFB-4B5F-9CCB-3D21173FAA85}" type="slidenum">
              <a:rPr lang="zh-CN" altLang="en-US" smtClean="0"/>
              <a:pPr/>
              <a:t>49</a:t>
            </a:fld>
            <a:endParaRPr lang="zh-CN" altLang="en-US" dirty="0"/>
          </a:p>
        </p:txBody>
      </p:sp>
      <p:pic>
        <p:nvPicPr>
          <p:cNvPr id="4" name="图片 3"/>
          <p:cNvPicPr>
            <a:picLocks noChangeAspect="1"/>
          </p:cNvPicPr>
          <p:nvPr/>
        </p:nvPicPr>
        <p:blipFill>
          <a:blip r:embed="rId3"/>
          <a:stretch>
            <a:fillRect/>
          </a:stretch>
        </p:blipFill>
        <p:spPr>
          <a:xfrm>
            <a:off x="3542300" y="2718867"/>
            <a:ext cx="4566720" cy="3726006"/>
          </a:xfrm>
          <a:prstGeom prst="rect">
            <a:avLst/>
          </a:prstGeom>
        </p:spPr>
      </p:pic>
    </p:spTree>
    <p:extLst>
      <p:ext uri="{BB962C8B-B14F-4D97-AF65-F5344CB8AC3E}">
        <p14:creationId xmlns:p14="http://schemas.microsoft.com/office/powerpoint/2010/main" val="47851360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p:cNvSpPr txBox="1">
            <a:spLocks/>
          </p:cNvSpPr>
          <p:nvPr/>
        </p:nvSpPr>
        <p:spPr>
          <a:xfrm>
            <a:off x="595086" y="1088824"/>
            <a:ext cx="10987316" cy="5121481"/>
          </a:xfrm>
          <a:prstGeom prst="rect">
            <a:avLst/>
          </a:prstGeom>
        </p:spPr>
        <p:txBody>
          <a:bodyPr vert="horz" lIns="91440" tIns="45720" rIns="91440" bIns="45720" rtlCol="0">
            <a:normAutofit/>
          </a:bodyPr>
          <a:lstStyle>
            <a:lvl1pPr marL="274320" indent="-274320" algn="l" defTabSz="914400" rtl="0" eaLnBrk="1" latinLnBrk="0" hangingPunct="1">
              <a:lnSpc>
                <a:spcPct val="100000"/>
              </a:lnSpc>
              <a:spcBef>
                <a:spcPts val="1000"/>
              </a:spcBef>
              <a:buClr>
                <a:srgbClr val="CEA524"/>
              </a:buClr>
              <a:buSzPct val="100000"/>
              <a:buFont typeface="Wingdings" panose="05000000000000000000" pitchFamily="2" charset="2"/>
              <a:buChar char="q"/>
              <a:defRPr sz="2800" kern="1200">
                <a:solidFill>
                  <a:schemeClr val="tx1"/>
                </a:solidFill>
                <a:latin typeface="微软雅黑" panose="020B0503020204020204" pitchFamily="34" charset="-122"/>
                <a:ea typeface="微软雅黑" panose="020B0503020204020204" pitchFamily="34" charset="-122"/>
                <a:cs typeface="+mn-cs"/>
              </a:defRPr>
            </a:lvl1pPr>
            <a:lvl2pPr marL="640080" indent="-246888" algn="l" defTabSz="914400" rtl="0" eaLnBrk="1" latinLnBrk="0" hangingPunct="1">
              <a:lnSpc>
                <a:spcPct val="90000"/>
              </a:lnSpc>
              <a:spcBef>
                <a:spcPts val="500"/>
              </a:spcBef>
              <a:buClr>
                <a:srgbClr val="01559D"/>
              </a:buClr>
              <a:buSzPct val="97000"/>
              <a:buFont typeface="Wingdings" panose="05000000000000000000" pitchFamily="2" charset="2"/>
              <a:buChar char="Ø"/>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例</a:t>
            </a:r>
            <a:r>
              <a:rPr lang="en-US" altLang="zh-CN" dirty="0"/>
              <a:t>:</a:t>
            </a:r>
            <a:r>
              <a:rPr lang="zh-CN" altLang="en-US" dirty="0"/>
              <a:t>如图所示的有序根树</a:t>
            </a:r>
            <a:r>
              <a:rPr lang="en-US" altLang="zh-CN" dirty="0"/>
              <a:t>T. </a:t>
            </a:r>
            <a:r>
              <a:rPr lang="zh-CN" altLang="en-US" dirty="0"/>
              <a:t>给出</a:t>
            </a:r>
            <a:r>
              <a:rPr lang="en-US" altLang="zh-CN" dirty="0"/>
              <a:t>T</a:t>
            </a:r>
            <a:r>
              <a:rPr lang="zh-CN" altLang="en-US" dirty="0"/>
              <a:t>的后序遍历</a:t>
            </a:r>
            <a:r>
              <a:rPr lang="en-US" altLang="zh-CN" dirty="0"/>
              <a:t>.</a:t>
            </a:r>
          </a:p>
          <a:p>
            <a:endParaRPr lang="en-US" dirty="0"/>
          </a:p>
          <a:p>
            <a:endParaRPr lang="en-US" dirty="0"/>
          </a:p>
          <a:p>
            <a:endParaRPr lang="en-US" dirty="0"/>
          </a:p>
          <a:p>
            <a:endParaRPr lang="en-US" dirty="0"/>
          </a:p>
          <a:p>
            <a:endParaRPr lang="en-US" dirty="0"/>
          </a:p>
          <a:p>
            <a:endParaRPr lang="en-US" dirty="0"/>
          </a:p>
          <a:p>
            <a:r>
              <a:rPr lang="zh-CN" altLang="en-US" dirty="0"/>
              <a:t>解</a:t>
            </a:r>
            <a:r>
              <a:rPr lang="en-US" altLang="zh-CN" dirty="0"/>
              <a:t>:</a:t>
            </a:r>
            <a:r>
              <a:rPr lang="zh-CN" altLang="en-US" dirty="0"/>
              <a:t>首先是带有根</a:t>
            </a:r>
            <a:r>
              <a:rPr lang="en-US" altLang="zh-CN" dirty="0"/>
              <a:t>b</a:t>
            </a:r>
            <a:r>
              <a:rPr lang="zh-CN" altLang="en-US" dirty="0"/>
              <a:t>的子树的后序遍历</a:t>
            </a:r>
            <a:r>
              <a:rPr lang="en-US" altLang="zh-CN" dirty="0"/>
              <a:t>, </a:t>
            </a:r>
            <a:r>
              <a:rPr lang="zh-CN" altLang="en-US" dirty="0"/>
              <a:t>然后带根</a:t>
            </a:r>
            <a:r>
              <a:rPr lang="en-US" altLang="zh-CN" dirty="0"/>
              <a:t>c</a:t>
            </a:r>
            <a:r>
              <a:rPr lang="zh-CN" altLang="en-US" dirty="0"/>
              <a:t>的子树的后序遍历</a:t>
            </a:r>
            <a:r>
              <a:rPr lang="en-US" altLang="zh-CN" dirty="0"/>
              <a:t>, </a:t>
            </a:r>
            <a:r>
              <a:rPr lang="zh-CN" altLang="en-US" dirty="0"/>
              <a:t>带根</a:t>
            </a:r>
            <a:r>
              <a:rPr lang="en-US" altLang="zh-CN" dirty="0"/>
              <a:t>d</a:t>
            </a:r>
            <a:r>
              <a:rPr lang="zh-CN" altLang="en-US" dirty="0"/>
              <a:t>的子树的后序遍历</a:t>
            </a:r>
            <a:r>
              <a:rPr lang="en-US" altLang="zh-CN" dirty="0"/>
              <a:t>, </a:t>
            </a:r>
            <a:r>
              <a:rPr lang="zh-CN" altLang="en-US" dirty="0"/>
              <a:t>最后访问根</a:t>
            </a:r>
            <a:r>
              <a:rPr lang="en-US" altLang="zh-CN" dirty="0"/>
              <a:t>a</a:t>
            </a:r>
            <a:r>
              <a:rPr lang="zh-CN" altLang="en-US" dirty="0"/>
              <a:t> </a:t>
            </a:r>
            <a:r>
              <a:rPr lang="en-US" altLang="zh-CN" dirty="0"/>
              <a:t>.</a:t>
            </a:r>
            <a:endParaRPr lang="en-US" dirty="0"/>
          </a:p>
        </p:txBody>
      </p:sp>
      <p:sp>
        <p:nvSpPr>
          <p:cNvPr id="2" name="Title 1"/>
          <p:cNvSpPr>
            <a:spLocks noGrp="1"/>
          </p:cNvSpPr>
          <p:nvPr>
            <p:ph type="title"/>
          </p:nvPr>
        </p:nvSpPr>
        <p:spPr/>
        <p:txBody>
          <a:bodyPr/>
          <a:lstStyle/>
          <a:p>
            <a:r>
              <a:rPr lang="zh-CN" altLang="en-US" dirty="0"/>
              <a:t>后续遍历</a:t>
            </a:r>
            <a:endParaRPr lang="en-US" dirty="0"/>
          </a:p>
        </p:txBody>
      </p:sp>
      <p:sp>
        <p:nvSpPr>
          <p:cNvPr id="9" name="日期占位符 8"/>
          <p:cNvSpPr>
            <a:spLocks noGrp="1"/>
          </p:cNvSpPr>
          <p:nvPr>
            <p:ph type="dt" sz="half" idx="10"/>
          </p:nvPr>
        </p:nvSpPr>
        <p:spPr/>
        <p:txBody>
          <a:bodyPr/>
          <a:lstStyle/>
          <a:p>
            <a:fld id="{EE25C8DF-CD27-498F-BD61-AA22F7A1D35F}" type="datetime1">
              <a:rPr lang="zh-CN" altLang="en-US" smtClean="0"/>
              <a:t>2025/4/15</a:t>
            </a:fld>
            <a:endParaRPr lang="zh-CN" altLang="en-US" dirty="0"/>
          </a:p>
        </p:txBody>
      </p:sp>
      <p:sp>
        <p:nvSpPr>
          <p:cNvPr id="10" name="页脚占位符 9"/>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1" name="灯片编号占位符 10"/>
          <p:cNvSpPr>
            <a:spLocks noGrp="1"/>
          </p:cNvSpPr>
          <p:nvPr>
            <p:ph type="sldNum" sz="quarter" idx="12"/>
          </p:nvPr>
        </p:nvSpPr>
        <p:spPr/>
        <p:txBody>
          <a:bodyPr/>
          <a:lstStyle/>
          <a:p>
            <a:fld id="{67913A8A-9EFB-4B5F-9CCB-3D21173FAA85}" type="slidenum">
              <a:rPr lang="zh-CN" altLang="en-US" smtClean="0"/>
              <a:pPr/>
              <a:t>50</a:t>
            </a:fld>
            <a:endParaRPr lang="zh-CN" altLang="en-US" dirty="0"/>
          </a:p>
        </p:txBody>
      </p:sp>
      <p:pic>
        <p:nvPicPr>
          <p:cNvPr id="12" name="图片 11"/>
          <p:cNvPicPr>
            <a:picLocks noChangeAspect="1"/>
          </p:cNvPicPr>
          <p:nvPr/>
        </p:nvPicPr>
        <p:blipFill>
          <a:blip r:embed="rId2"/>
          <a:stretch>
            <a:fillRect/>
          </a:stretch>
        </p:blipFill>
        <p:spPr>
          <a:xfrm>
            <a:off x="1676400" y="1600200"/>
            <a:ext cx="2734003" cy="3300808"/>
          </a:xfrm>
          <a:prstGeom prst="rect">
            <a:avLst/>
          </a:prstGeom>
        </p:spPr>
      </p:pic>
    </p:spTree>
    <p:extLst>
      <p:ext uri="{BB962C8B-B14F-4D97-AF65-F5344CB8AC3E}">
        <p14:creationId xmlns:p14="http://schemas.microsoft.com/office/powerpoint/2010/main" val="2912020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
                                            <p:txEl>
                                              <p:pRg st="7" end="7"/>
                                            </p:txEl>
                                          </p:spTgt>
                                        </p:tgtEl>
                                        <p:attrNameLst>
                                          <p:attrName>style.visibility</p:attrName>
                                        </p:attrNameLst>
                                      </p:cBhvr>
                                      <p:to>
                                        <p:strVal val="visible"/>
                                      </p:to>
                                    </p:set>
                                    <p:animEffect transition="in" filter="wipe(down)">
                                      <p:cBhvr>
                                        <p:cTn id="7" dur="500"/>
                                        <p:tgtEl>
                                          <p:spTgt spid="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1104705" y="1459059"/>
            <a:ext cx="1828958" cy="2263336"/>
          </a:xfrm>
          <a:prstGeom prst="rect">
            <a:avLst/>
          </a:prstGeom>
        </p:spPr>
      </p:pic>
      <p:sp>
        <p:nvSpPr>
          <p:cNvPr id="8" name="Content Placeholder 2"/>
          <p:cNvSpPr txBox="1">
            <a:spLocks/>
          </p:cNvSpPr>
          <p:nvPr/>
        </p:nvSpPr>
        <p:spPr>
          <a:xfrm>
            <a:off x="595086" y="1088824"/>
            <a:ext cx="10987316" cy="5121481"/>
          </a:xfrm>
          <a:prstGeom prst="rect">
            <a:avLst/>
          </a:prstGeom>
        </p:spPr>
        <p:txBody>
          <a:bodyPr vert="horz" lIns="91440" tIns="45720" rIns="91440" bIns="45720" rtlCol="0">
            <a:normAutofit/>
          </a:bodyPr>
          <a:lstStyle>
            <a:lvl1pPr marL="274320" indent="-274320" algn="l" defTabSz="914400" rtl="0" eaLnBrk="1" latinLnBrk="0" hangingPunct="1">
              <a:lnSpc>
                <a:spcPct val="100000"/>
              </a:lnSpc>
              <a:spcBef>
                <a:spcPts val="1000"/>
              </a:spcBef>
              <a:buClr>
                <a:srgbClr val="CEA524"/>
              </a:buClr>
              <a:buSzPct val="100000"/>
              <a:buFont typeface="Wingdings" panose="05000000000000000000" pitchFamily="2" charset="2"/>
              <a:buChar char="q"/>
              <a:defRPr sz="2800" kern="1200">
                <a:solidFill>
                  <a:schemeClr val="tx1"/>
                </a:solidFill>
                <a:latin typeface="微软雅黑" panose="020B0503020204020204" pitchFamily="34" charset="-122"/>
                <a:ea typeface="微软雅黑" panose="020B0503020204020204" pitchFamily="34" charset="-122"/>
                <a:cs typeface="+mn-cs"/>
              </a:defRPr>
            </a:lvl1pPr>
            <a:lvl2pPr marL="640080" indent="-246888" algn="l" defTabSz="914400" rtl="0" eaLnBrk="1" latinLnBrk="0" hangingPunct="1">
              <a:lnSpc>
                <a:spcPct val="90000"/>
              </a:lnSpc>
              <a:spcBef>
                <a:spcPts val="500"/>
              </a:spcBef>
              <a:buClr>
                <a:srgbClr val="01559D"/>
              </a:buClr>
              <a:buSzPct val="97000"/>
              <a:buFont typeface="Wingdings" panose="05000000000000000000" pitchFamily="2" charset="2"/>
              <a:buChar char="Ø"/>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解</a:t>
            </a:r>
            <a:r>
              <a:rPr lang="en-US" altLang="zh-CN" dirty="0"/>
              <a:t>(</a:t>
            </a:r>
            <a:r>
              <a:rPr lang="zh-CN" altLang="en-US" dirty="0"/>
              <a:t>续</a:t>
            </a:r>
            <a:r>
              <a:rPr lang="en-US" altLang="zh-CN" dirty="0"/>
              <a:t>):</a:t>
            </a:r>
            <a:endParaRPr lang="en-US" dirty="0"/>
          </a:p>
        </p:txBody>
      </p:sp>
      <p:sp>
        <p:nvSpPr>
          <p:cNvPr id="2" name="Title 1"/>
          <p:cNvSpPr>
            <a:spLocks noGrp="1"/>
          </p:cNvSpPr>
          <p:nvPr>
            <p:ph type="title"/>
          </p:nvPr>
        </p:nvSpPr>
        <p:spPr/>
        <p:txBody>
          <a:bodyPr/>
          <a:lstStyle/>
          <a:p>
            <a:r>
              <a:rPr lang="zh-CN" altLang="en-US" dirty="0"/>
              <a:t>后续遍历</a:t>
            </a:r>
            <a:endParaRPr lang="en-US" dirty="0"/>
          </a:p>
        </p:txBody>
      </p:sp>
      <p:sp>
        <p:nvSpPr>
          <p:cNvPr id="9" name="日期占位符 8"/>
          <p:cNvSpPr>
            <a:spLocks noGrp="1"/>
          </p:cNvSpPr>
          <p:nvPr>
            <p:ph type="dt" sz="half" idx="10"/>
          </p:nvPr>
        </p:nvSpPr>
        <p:spPr/>
        <p:txBody>
          <a:bodyPr/>
          <a:lstStyle/>
          <a:p>
            <a:fld id="{C3F55723-289E-4876-A57D-F06BA027B344}" type="datetime1">
              <a:rPr lang="zh-CN" altLang="en-US" smtClean="0"/>
              <a:t>2025/4/15</a:t>
            </a:fld>
            <a:endParaRPr lang="zh-CN" altLang="en-US" dirty="0"/>
          </a:p>
        </p:txBody>
      </p:sp>
      <p:sp>
        <p:nvSpPr>
          <p:cNvPr id="10" name="页脚占位符 9"/>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1" name="灯片编号占位符 10"/>
          <p:cNvSpPr>
            <a:spLocks noGrp="1"/>
          </p:cNvSpPr>
          <p:nvPr>
            <p:ph type="sldNum" sz="quarter" idx="12"/>
          </p:nvPr>
        </p:nvSpPr>
        <p:spPr/>
        <p:txBody>
          <a:bodyPr/>
          <a:lstStyle/>
          <a:p>
            <a:fld id="{67913A8A-9EFB-4B5F-9CCB-3D21173FAA85}" type="slidenum">
              <a:rPr lang="zh-CN" altLang="en-US" smtClean="0"/>
              <a:pPr/>
              <a:t>51</a:t>
            </a:fld>
            <a:endParaRPr lang="zh-CN" altLang="en-US" dirty="0"/>
          </a:p>
        </p:txBody>
      </p:sp>
      <p:pic>
        <p:nvPicPr>
          <p:cNvPr id="5" name="图片 4"/>
          <p:cNvPicPr>
            <a:picLocks noChangeAspect="1"/>
          </p:cNvPicPr>
          <p:nvPr/>
        </p:nvPicPr>
        <p:blipFill>
          <a:blip r:embed="rId3"/>
          <a:stretch>
            <a:fillRect/>
          </a:stretch>
        </p:blipFill>
        <p:spPr>
          <a:xfrm>
            <a:off x="762000" y="4123900"/>
            <a:ext cx="2841407" cy="2086405"/>
          </a:xfrm>
          <a:prstGeom prst="rect">
            <a:avLst/>
          </a:prstGeom>
        </p:spPr>
      </p:pic>
      <p:pic>
        <p:nvPicPr>
          <p:cNvPr id="6" name="图片 5"/>
          <p:cNvPicPr>
            <a:picLocks noChangeAspect="1"/>
          </p:cNvPicPr>
          <p:nvPr/>
        </p:nvPicPr>
        <p:blipFill>
          <a:blip r:embed="rId4"/>
          <a:stretch>
            <a:fillRect/>
          </a:stretch>
        </p:blipFill>
        <p:spPr>
          <a:xfrm>
            <a:off x="6400800" y="1023883"/>
            <a:ext cx="4297986" cy="1806266"/>
          </a:xfrm>
          <a:prstGeom prst="rect">
            <a:avLst/>
          </a:prstGeom>
        </p:spPr>
      </p:pic>
      <p:pic>
        <p:nvPicPr>
          <p:cNvPr id="7" name="图片 6"/>
          <p:cNvPicPr>
            <a:picLocks noChangeAspect="1"/>
          </p:cNvPicPr>
          <p:nvPr/>
        </p:nvPicPr>
        <p:blipFill>
          <a:blip r:embed="rId5"/>
          <a:stretch>
            <a:fillRect/>
          </a:stretch>
        </p:blipFill>
        <p:spPr>
          <a:xfrm>
            <a:off x="6398590" y="3200400"/>
            <a:ext cx="5350726" cy="1386861"/>
          </a:xfrm>
          <a:prstGeom prst="rect">
            <a:avLst/>
          </a:prstGeom>
        </p:spPr>
      </p:pic>
      <p:pic>
        <p:nvPicPr>
          <p:cNvPr id="13" name="图片 12"/>
          <p:cNvPicPr>
            <a:picLocks noChangeAspect="1"/>
          </p:cNvPicPr>
          <p:nvPr/>
        </p:nvPicPr>
        <p:blipFill>
          <a:blip r:embed="rId6"/>
          <a:stretch>
            <a:fillRect/>
          </a:stretch>
        </p:blipFill>
        <p:spPr>
          <a:xfrm>
            <a:off x="6356176" y="5465835"/>
            <a:ext cx="5258882" cy="572395"/>
          </a:xfrm>
          <a:prstGeom prst="rect">
            <a:avLst/>
          </a:prstGeom>
        </p:spPr>
      </p:pic>
    </p:spTree>
    <p:extLst>
      <p:ext uri="{BB962C8B-B14F-4D97-AF65-F5344CB8AC3E}">
        <p14:creationId xmlns:p14="http://schemas.microsoft.com/office/powerpoint/2010/main" val="1040615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down)">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中缀、前缀、后缀的记法</a:t>
            </a:r>
            <a:endParaRPr lang="en-US" altLang="zh-CN" dirty="0"/>
          </a:p>
        </p:txBody>
      </p:sp>
      <p:sp>
        <p:nvSpPr>
          <p:cNvPr id="3" name="Content Placeholder 2"/>
          <p:cNvSpPr>
            <a:spLocks noGrp="1"/>
          </p:cNvSpPr>
          <p:nvPr>
            <p:ph idx="1"/>
          </p:nvPr>
        </p:nvSpPr>
        <p:spPr/>
        <p:txBody>
          <a:bodyPr/>
          <a:lstStyle/>
          <a:p>
            <a:r>
              <a:rPr lang="zh-CN" altLang="en-US" dirty="0"/>
              <a:t>用有序树可以表示复杂的表达式</a:t>
            </a:r>
            <a:r>
              <a:rPr lang="en-US" altLang="zh-CN" dirty="0"/>
              <a:t>, </a:t>
            </a:r>
            <a:r>
              <a:rPr lang="zh-CN" altLang="en-US" dirty="0"/>
              <a:t>比如复合命题</a:t>
            </a:r>
            <a:r>
              <a:rPr lang="en-US" altLang="zh-CN" dirty="0"/>
              <a:t>, </a:t>
            </a:r>
            <a:r>
              <a:rPr lang="zh-CN" altLang="en-US" dirty="0"/>
              <a:t>集合的组合</a:t>
            </a:r>
            <a:r>
              <a:rPr lang="en-US" altLang="zh-CN" dirty="0"/>
              <a:t>, </a:t>
            </a:r>
            <a:r>
              <a:rPr lang="zh-CN" altLang="en-US" dirty="0"/>
              <a:t>算术表达式</a:t>
            </a:r>
            <a:r>
              <a:rPr lang="en-US" altLang="zh-CN" dirty="0"/>
              <a:t>.</a:t>
            </a:r>
            <a:endParaRPr lang="en-US" dirty="0"/>
          </a:p>
          <a:p>
            <a:r>
              <a:rPr lang="zh-CN" altLang="en-US" dirty="0"/>
              <a:t>算术表达式中用括号来说明运算的次序</a:t>
            </a:r>
            <a:r>
              <a:rPr lang="en-US" altLang="zh-CN" dirty="0"/>
              <a:t>. </a:t>
            </a:r>
            <a:r>
              <a:rPr lang="zh-CN" altLang="en-US" dirty="0"/>
              <a:t>有序根树可以用来表示这样的表达式</a:t>
            </a:r>
            <a:r>
              <a:rPr lang="en-US" altLang="zh-CN" dirty="0"/>
              <a:t>, </a:t>
            </a:r>
            <a:r>
              <a:rPr lang="zh-CN" altLang="en-US" dirty="0"/>
              <a:t>内点表示元素</a:t>
            </a:r>
            <a:r>
              <a:rPr lang="en-US" altLang="zh-CN" dirty="0"/>
              <a:t>, </a:t>
            </a:r>
            <a:r>
              <a:rPr lang="zh-CN" altLang="en-US" dirty="0"/>
              <a:t>树叶表示变量或数字</a:t>
            </a:r>
            <a:r>
              <a:rPr lang="en-US" altLang="zh-CN" dirty="0"/>
              <a:t>. </a:t>
            </a:r>
            <a:r>
              <a:rPr lang="zh-CN" altLang="en-US" dirty="0"/>
              <a:t>每个运算都作用在有序根树的左子树和右子树上</a:t>
            </a:r>
            <a:r>
              <a:rPr lang="en-US" altLang="zh-CN" dirty="0"/>
              <a:t>.</a:t>
            </a:r>
            <a:endParaRPr lang="en-US" dirty="0"/>
          </a:p>
        </p:txBody>
      </p:sp>
      <p:sp>
        <p:nvSpPr>
          <p:cNvPr id="9" name="日期占位符 8"/>
          <p:cNvSpPr>
            <a:spLocks noGrp="1"/>
          </p:cNvSpPr>
          <p:nvPr>
            <p:ph type="dt" sz="half" idx="10"/>
          </p:nvPr>
        </p:nvSpPr>
        <p:spPr/>
        <p:txBody>
          <a:bodyPr/>
          <a:lstStyle/>
          <a:p>
            <a:fld id="{035A82C3-595A-4E00-A03A-3BFBD6FF2584}" type="datetime1">
              <a:rPr lang="zh-CN" altLang="en-US" smtClean="0"/>
              <a:t>2025/4/15</a:t>
            </a:fld>
            <a:endParaRPr lang="zh-CN" altLang="en-US" dirty="0"/>
          </a:p>
        </p:txBody>
      </p:sp>
      <p:sp>
        <p:nvSpPr>
          <p:cNvPr id="10" name="页脚占位符 9"/>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1" name="灯片编号占位符 10"/>
          <p:cNvSpPr>
            <a:spLocks noGrp="1"/>
          </p:cNvSpPr>
          <p:nvPr>
            <p:ph type="sldNum" sz="quarter" idx="12"/>
          </p:nvPr>
        </p:nvSpPr>
        <p:spPr/>
        <p:txBody>
          <a:bodyPr/>
          <a:lstStyle/>
          <a:p>
            <a:fld id="{67913A8A-9EFB-4B5F-9CCB-3D21173FAA85}" type="slidenum">
              <a:rPr lang="zh-CN" altLang="en-US" smtClean="0"/>
              <a:pPr/>
              <a:t>52</a:t>
            </a:fld>
            <a:endParaRPr lang="zh-CN" altLang="en-US" dirty="0"/>
          </a:p>
        </p:txBody>
      </p:sp>
    </p:spTree>
    <p:extLst>
      <p:ext uri="{BB962C8B-B14F-4D97-AF65-F5344CB8AC3E}">
        <p14:creationId xmlns:p14="http://schemas.microsoft.com/office/powerpoint/2010/main" val="334396847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中缀、前缀、后缀的记法</a:t>
            </a:r>
            <a:endParaRPr lang="en-US" altLang="zh-CN" dirty="0"/>
          </a:p>
        </p:txBody>
      </p:sp>
      <p:sp>
        <p:nvSpPr>
          <p:cNvPr id="3" name="Content Placeholder 2"/>
          <p:cNvSpPr>
            <a:spLocks noGrp="1"/>
          </p:cNvSpPr>
          <p:nvPr>
            <p:ph idx="1"/>
          </p:nvPr>
        </p:nvSpPr>
        <p:spPr/>
        <p:txBody>
          <a:bodyPr/>
          <a:lstStyle/>
          <a:p>
            <a:r>
              <a:rPr lang="zh-CN" altLang="en-US" dirty="0"/>
              <a:t>例</a:t>
            </a:r>
            <a:r>
              <a:rPr lang="en-US" altLang="zh-CN" dirty="0"/>
              <a:t>:</a:t>
            </a:r>
            <a:r>
              <a:rPr lang="zh-CN" altLang="en-US" dirty="0"/>
              <a:t>表达式</a:t>
            </a:r>
            <a:r>
              <a:rPr lang="en-US" dirty="0"/>
              <a:t>((x + y) ↑ 2 ) + ((x − 4)/3)</a:t>
            </a:r>
            <a:r>
              <a:rPr lang="zh-CN" altLang="en-US" dirty="0"/>
              <a:t>的有序根树是什么？</a:t>
            </a:r>
            <a:r>
              <a:rPr lang="en-US" altLang="zh-CN" dirty="0"/>
              <a:t>(</a:t>
            </a:r>
            <a:r>
              <a:rPr lang="zh-CN" altLang="en-US" dirty="0"/>
              <a:t>其中</a:t>
            </a:r>
            <a:r>
              <a:rPr lang="en-US" altLang="zh-CN" dirty="0"/>
              <a:t>↑ </a:t>
            </a:r>
            <a:r>
              <a:rPr lang="zh-CN" altLang="en-US" dirty="0"/>
              <a:t>表示幂</a:t>
            </a:r>
            <a:r>
              <a:rPr lang="en-US" altLang="zh-CN" dirty="0"/>
              <a:t>)</a:t>
            </a:r>
            <a:endParaRPr lang="en-US" dirty="0"/>
          </a:p>
          <a:p>
            <a:r>
              <a:rPr lang="zh-CN" altLang="en-US" dirty="0"/>
              <a:t>解</a:t>
            </a:r>
            <a:r>
              <a:rPr lang="en-US" altLang="zh-CN" dirty="0"/>
              <a:t>:</a:t>
            </a:r>
            <a:r>
              <a:rPr lang="zh-CN" altLang="en-US" dirty="0"/>
              <a:t>这个表达式用二叉树自底向上构造</a:t>
            </a:r>
            <a:r>
              <a:rPr lang="en-US" altLang="zh-CN" dirty="0"/>
              <a:t>, </a:t>
            </a:r>
            <a:r>
              <a:rPr lang="zh-CN" altLang="en-US" dirty="0"/>
              <a:t>如下所示</a:t>
            </a:r>
            <a:r>
              <a:rPr lang="en-US" dirty="0"/>
              <a:t>.</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59644" y="2709751"/>
            <a:ext cx="8458200" cy="3475154"/>
          </a:xfrm>
          <a:prstGeom prst="rect">
            <a:avLst/>
          </a:prstGeom>
        </p:spPr>
      </p:pic>
      <p:sp>
        <p:nvSpPr>
          <p:cNvPr id="9" name="日期占位符 8"/>
          <p:cNvSpPr>
            <a:spLocks noGrp="1"/>
          </p:cNvSpPr>
          <p:nvPr>
            <p:ph type="dt" sz="half" idx="10"/>
          </p:nvPr>
        </p:nvSpPr>
        <p:spPr/>
        <p:txBody>
          <a:bodyPr/>
          <a:lstStyle/>
          <a:p>
            <a:fld id="{AF93D1FB-ADD5-4BB0-94BB-E7D23ADF2E7E}" type="datetime1">
              <a:rPr lang="zh-CN" altLang="en-US" smtClean="0"/>
              <a:t>2025/4/15</a:t>
            </a:fld>
            <a:endParaRPr lang="zh-CN" altLang="en-US" dirty="0"/>
          </a:p>
        </p:txBody>
      </p:sp>
      <p:sp>
        <p:nvSpPr>
          <p:cNvPr id="10" name="页脚占位符 9"/>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1" name="灯片编号占位符 10"/>
          <p:cNvSpPr>
            <a:spLocks noGrp="1"/>
          </p:cNvSpPr>
          <p:nvPr>
            <p:ph type="sldNum" sz="quarter" idx="12"/>
          </p:nvPr>
        </p:nvSpPr>
        <p:spPr/>
        <p:txBody>
          <a:bodyPr/>
          <a:lstStyle/>
          <a:p>
            <a:fld id="{67913A8A-9EFB-4B5F-9CCB-3D21173FAA85}" type="slidenum">
              <a:rPr lang="zh-CN" altLang="en-US" smtClean="0"/>
              <a:pPr/>
              <a:t>53</a:t>
            </a:fld>
            <a:endParaRPr lang="zh-CN" altLang="en-US" dirty="0"/>
          </a:p>
        </p:txBody>
      </p:sp>
    </p:spTree>
    <p:extLst>
      <p:ext uri="{BB962C8B-B14F-4D97-AF65-F5344CB8AC3E}">
        <p14:creationId xmlns:p14="http://schemas.microsoft.com/office/powerpoint/2010/main" val="1996129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down)">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中缀形式</a:t>
            </a:r>
            <a:endParaRPr lang="en-US" dirty="0"/>
          </a:p>
        </p:txBody>
      </p:sp>
      <p:sp>
        <p:nvSpPr>
          <p:cNvPr id="3" name="Content Placeholder 2"/>
          <p:cNvSpPr>
            <a:spLocks noGrp="1"/>
          </p:cNvSpPr>
          <p:nvPr>
            <p:ph idx="1"/>
          </p:nvPr>
        </p:nvSpPr>
        <p:spPr/>
        <p:txBody>
          <a:bodyPr>
            <a:normAutofit/>
          </a:bodyPr>
          <a:lstStyle/>
          <a:p>
            <a:r>
              <a:rPr lang="zh-CN" altLang="en-US" dirty="0"/>
              <a:t>对一个表达式的二叉树进行中序遍历</a:t>
            </a:r>
            <a:r>
              <a:rPr lang="en-US" altLang="zh-CN" dirty="0"/>
              <a:t>, </a:t>
            </a:r>
            <a:r>
              <a:rPr lang="zh-CN" altLang="en-US" dirty="0"/>
              <a:t>产生原来的表达式</a:t>
            </a:r>
            <a:r>
              <a:rPr lang="en-US" altLang="zh-CN" dirty="0"/>
              <a:t>, </a:t>
            </a:r>
            <a:r>
              <a:rPr lang="zh-CN" altLang="en-US" dirty="0"/>
              <a:t>其中元素和运算都是按照原有的次序出现</a:t>
            </a:r>
            <a:r>
              <a:rPr lang="en-US" altLang="zh-CN" dirty="0"/>
              <a:t>. </a:t>
            </a:r>
          </a:p>
          <a:p>
            <a:r>
              <a:rPr lang="zh-CN" altLang="en-US" dirty="0"/>
              <a:t>例外的是一元运算</a:t>
            </a:r>
            <a:r>
              <a:rPr lang="en-US" altLang="zh-CN" dirty="0"/>
              <a:t>, </a:t>
            </a:r>
            <a:r>
              <a:rPr lang="zh-CN" altLang="en-US" dirty="0"/>
              <a:t>他们紧随运算对象</a:t>
            </a:r>
            <a:r>
              <a:rPr lang="en-US" altLang="zh-CN" dirty="0"/>
              <a:t>. </a:t>
            </a:r>
            <a:r>
              <a:rPr lang="zh-CN" altLang="en-US" dirty="0"/>
              <a:t>为了让这样的表达式无二义性</a:t>
            </a:r>
            <a:r>
              <a:rPr lang="en-US" altLang="zh-CN" dirty="0"/>
              <a:t>, </a:t>
            </a:r>
            <a:r>
              <a:rPr lang="zh-CN" altLang="en-US" dirty="0"/>
              <a:t>当遇到运算时</a:t>
            </a:r>
            <a:r>
              <a:rPr lang="en-US" altLang="zh-CN" dirty="0"/>
              <a:t>, </a:t>
            </a:r>
            <a:r>
              <a:rPr lang="zh-CN" altLang="en-US" dirty="0"/>
              <a:t>就有必要在中序遍历里包含括号</a:t>
            </a:r>
            <a:r>
              <a:rPr lang="en-US" altLang="zh-CN" dirty="0"/>
              <a:t>, </a:t>
            </a:r>
            <a:r>
              <a:rPr lang="zh-CN" altLang="en-US" dirty="0"/>
              <a:t>以这种方式获得的带完整括号的表达式称为</a:t>
            </a:r>
            <a:r>
              <a:rPr lang="zh-CN" altLang="en-US" b="1" dirty="0">
                <a:solidFill>
                  <a:srgbClr val="C00000"/>
                </a:solidFill>
              </a:rPr>
              <a:t>中缀形式</a:t>
            </a:r>
            <a:r>
              <a:rPr lang="en-US" altLang="zh-CN" dirty="0"/>
              <a:t>.</a:t>
            </a:r>
          </a:p>
          <a:p>
            <a:pPr marL="0" indent="0">
              <a:buNone/>
            </a:pPr>
            <a:endParaRPr lang="en-US" dirty="0"/>
          </a:p>
        </p:txBody>
      </p:sp>
      <p:sp>
        <p:nvSpPr>
          <p:cNvPr id="9" name="日期占位符 8"/>
          <p:cNvSpPr>
            <a:spLocks noGrp="1"/>
          </p:cNvSpPr>
          <p:nvPr>
            <p:ph type="dt" sz="half" idx="10"/>
          </p:nvPr>
        </p:nvSpPr>
        <p:spPr/>
        <p:txBody>
          <a:bodyPr/>
          <a:lstStyle/>
          <a:p>
            <a:fld id="{4FA90FB1-BF79-48CC-9E78-F75AE6B624E6}" type="datetime1">
              <a:rPr lang="zh-CN" altLang="en-US" smtClean="0"/>
              <a:t>2025/4/15</a:t>
            </a:fld>
            <a:endParaRPr lang="zh-CN" altLang="en-US" dirty="0"/>
          </a:p>
        </p:txBody>
      </p:sp>
      <p:sp>
        <p:nvSpPr>
          <p:cNvPr id="10" name="页脚占位符 9"/>
          <p:cNvSpPr>
            <a:spLocks noGrp="1"/>
          </p:cNvSpPr>
          <p:nvPr>
            <p:ph type="ftr" sz="quarter" idx="11"/>
          </p:nvPr>
        </p:nvSpPr>
        <p:spPr/>
        <p:txBody>
          <a:bodyPr/>
          <a:lstStyle/>
          <a:p>
            <a:pPr algn="r"/>
            <a:r>
              <a:rPr lang="zh-CN" altLang="en-US"/>
              <a:t>华中科技大学人机物系统与安全实验室</a:t>
            </a:r>
            <a:endParaRPr lang="zh-CN" altLang="en-US" dirty="0"/>
          </a:p>
        </p:txBody>
      </p:sp>
      <p:sp>
        <p:nvSpPr>
          <p:cNvPr id="11" name="灯片编号占位符 10"/>
          <p:cNvSpPr>
            <a:spLocks noGrp="1"/>
          </p:cNvSpPr>
          <p:nvPr>
            <p:ph type="sldNum" sz="quarter" idx="12"/>
          </p:nvPr>
        </p:nvSpPr>
        <p:spPr/>
        <p:txBody>
          <a:bodyPr/>
          <a:lstStyle/>
          <a:p>
            <a:fld id="{67913A8A-9EFB-4B5F-9CCB-3D21173FAA85}" type="slidenum">
              <a:rPr lang="zh-CN" altLang="en-US" smtClean="0"/>
              <a:pPr/>
              <a:t>54</a:t>
            </a:fld>
            <a:endParaRPr lang="zh-CN" altLang="en-US" dirty="0"/>
          </a:p>
        </p:txBody>
      </p:sp>
    </p:spTree>
    <p:extLst>
      <p:ext uri="{BB962C8B-B14F-4D97-AF65-F5344CB8AC3E}">
        <p14:creationId xmlns:p14="http://schemas.microsoft.com/office/powerpoint/2010/main" val="302674439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中缀形式</a:t>
            </a:r>
            <a:endParaRPr lang="en-US" dirty="0"/>
          </a:p>
        </p:txBody>
      </p:sp>
      <p:sp>
        <p:nvSpPr>
          <p:cNvPr id="3" name="Content Placeholder 2"/>
          <p:cNvSpPr>
            <a:spLocks noGrp="1"/>
          </p:cNvSpPr>
          <p:nvPr>
            <p:ph idx="1"/>
          </p:nvPr>
        </p:nvSpPr>
        <p:spPr/>
        <p:txBody>
          <a:bodyPr>
            <a:normAutofit/>
          </a:bodyPr>
          <a:lstStyle/>
          <a:p>
            <a:r>
              <a:rPr lang="zh-CN" altLang="en-US" dirty="0"/>
              <a:t>例</a:t>
            </a:r>
            <a:r>
              <a:rPr lang="en-US" altLang="zh-CN" dirty="0"/>
              <a:t>:</a:t>
            </a:r>
            <a:r>
              <a:rPr lang="zh-CN" altLang="en-US" dirty="0"/>
              <a:t>如下图所示的三个有序根树对应的中缀形式分别是多少？</a:t>
            </a:r>
            <a:endParaRPr lang="en-US" altLang="zh-CN" dirty="0"/>
          </a:p>
          <a:p>
            <a:endParaRPr lang="en-US" dirty="0"/>
          </a:p>
          <a:p>
            <a:endParaRPr lang="en-US" dirty="0"/>
          </a:p>
          <a:p>
            <a:endParaRPr lang="en-US" dirty="0"/>
          </a:p>
          <a:p>
            <a:endParaRPr lang="en-US" dirty="0"/>
          </a:p>
          <a:p>
            <a:endParaRPr lang="en-US" dirty="0"/>
          </a:p>
          <a:p>
            <a:r>
              <a:rPr lang="zh-CN" altLang="en-US" dirty="0"/>
              <a:t>解</a:t>
            </a:r>
            <a:r>
              <a:rPr lang="en-US" altLang="zh-CN" dirty="0"/>
              <a:t>:</a:t>
            </a:r>
            <a:r>
              <a:rPr lang="zh-CN" altLang="en-US" dirty="0"/>
              <a:t>对它们中序遍历都得到中缀表达式</a:t>
            </a:r>
            <a:r>
              <a:rPr lang="en-US" altLang="zh-CN" dirty="0" err="1"/>
              <a:t>x+y</a:t>
            </a:r>
            <a:r>
              <a:rPr lang="en-US" altLang="zh-CN" dirty="0"/>
              <a:t>/x+3, </a:t>
            </a:r>
            <a:r>
              <a:rPr lang="zh-CN" altLang="en-US" dirty="0"/>
              <a:t>但是增加完整的括号后对应的中缀形式分别是</a:t>
            </a:r>
            <a:r>
              <a:rPr lang="en-US" altLang="zh-CN" dirty="0"/>
              <a:t>(</a:t>
            </a:r>
            <a:r>
              <a:rPr lang="en-US" altLang="zh-CN" dirty="0" err="1"/>
              <a:t>x+y</a:t>
            </a:r>
            <a:r>
              <a:rPr lang="en-US" altLang="zh-CN" dirty="0"/>
              <a:t>)/(x+3)</a:t>
            </a:r>
            <a:r>
              <a:rPr lang="zh-CN" altLang="en-US" dirty="0"/>
              <a:t>、</a:t>
            </a:r>
            <a:r>
              <a:rPr lang="en-US" altLang="zh-CN" dirty="0"/>
              <a:t>(x+(y/x))+3</a:t>
            </a:r>
            <a:r>
              <a:rPr lang="zh-CN" altLang="en-US" dirty="0"/>
              <a:t>、</a:t>
            </a:r>
            <a:r>
              <a:rPr lang="en-US" altLang="zh-CN" dirty="0"/>
              <a:t>x+(y/(x+3))</a:t>
            </a:r>
            <a:endParaRPr lang="en-US" dirty="0"/>
          </a:p>
        </p:txBody>
      </p:sp>
      <p:pic>
        <p:nvPicPr>
          <p:cNvPr id="6"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00200" y="1676400"/>
            <a:ext cx="8568697" cy="2503307"/>
          </a:xfrm>
          <a:prstGeom prst="rect">
            <a:avLst/>
          </a:prstGeom>
        </p:spPr>
      </p:pic>
      <p:sp>
        <p:nvSpPr>
          <p:cNvPr id="9" name="日期占位符 8"/>
          <p:cNvSpPr>
            <a:spLocks noGrp="1"/>
          </p:cNvSpPr>
          <p:nvPr>
            <p:ph type="dt" sz="half" idx="10"/>
          </p:nvPr>
        </p:nvSpPr>
        <p:spPr/>
        <p:txBody>
          <a:bodyPr/>
          <a:lstStyle/>
          <a:p>
            <a:fld id="{2865ACFB-5DAD-4852-BE08-3C7023A74DBF}" type="datetime1">
              <a:rPr lang="zh-CN" altLang="en-US" smtClean="0"/>
              <a:t>2025/4/15</a:t>
            </a:fld>
            <a:endParaRPr lang="zh-CN" altLang="en-US" dirty="0"/>
          </a:p>
        </p:txBody>
      </p:sp>
      <p:sp>
        <p:nvSpPr>
          <p:cNvPr id="10" name="页脚占位符 9"/>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1" name="灯片编号占位符 10"/>
          <p:cNvSpPr>
            <a:spLocks noGrp="1"/>
          </p:cNvSpPr>
          <p:nvPr>
            <p:ph type="sldNum" sz="quarter" idx="12"/>
          </p:nvPr>
        </p:nvSpPr>
        <p:spPr/>
        <p:txBody>
          <a:bodyPr/>
          <a:lstStyle/>
          <a:p>
            <a:fld id="{67913A8A-9EFB-4B5F-9CCB-3D21173FAA85}" type="slidenum">
              <a:rPr lang="zh-CN" altLang="en-US" smtClean="0"/>
              <a:pPr/>
              <a:t>55</a:t>
            </a:fld>
            <a:endParaRPr lang="zh-CN" altLang="en-US" dirty="0"/>
          </a:p>
        </p:txBody>
      </p:sp>
    </p:spTree>
    <p:extLst>
      <p:ext uri="{BB962C8B-B14F-4D97-AF65-F5344CB8AC3E}">
        <p14:creationId xmlns:p14="http://schemas.microsoft.com/office/powerpoint/2010/main" val="249773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wipe(down)">
                                      <p:cBhvr>
                                        <p:cTn id="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前缀形式</a:t>
            </a:r>
            <a:endParaRPr lang="en-US" dirty="0"/>
          </a:p>
        </p:txBody>
      </p:sp>
      <p:sp>
        <p:nvSpPr>
          <p:cNvPr id="3" name="Content Placeholder 2"/>
          <p:cNvSpPr>
            <a:spLocks noGrp="1"/>
          </p:cNvSpPr>
          <p:nvPr>
            <p:ph idx="1"/>
          </p:nvPr>
        </p:nvSpPr>
        <p:spPr/>
        <p:txBody>
          <a:bodyPr>
            <a:normAutofit/>
          </a:bodyPr>
          <a:lstStyle/>
          <a:p>
            <a:r>
              <a:rPr lang="zh-CN" altLang="en-US" dirty="0"/>
              <a:t>以前序遍历表达式的有序根树时</a:t>
            </a:r>
            <a:r>
              <a:rPr lang="en-US" altLang="zh-CN" dirty="0"/>
              <a:t>, </a:t>
            </a:r>
            <a:r>
              <a:rPr lang="zh-CN" altLang="en-US" dirty="0"/>
              <a:t>获得它的</a:t>
            </a:r>
            <a:r>
              <a:rPr lang="zh-CN" altLang="en-US" b="1" dirty="0">
                <a:solidFill>
                  <a:srgbClr val="C00000"/>
                </a:solidFill>
              </a:rPr>
              <a:t>前缀形式</a:t>
            </a:r>
            <a:r>
              <a:rPr lang="en-US" altLang="zh-CN" dirty="0"/>
              <a:t>. </a:t>
            </a:r>
            <a:r>
              <a:rPr lang="zh-CN" altLang="en-US" dirty="0"/>
              <a:t>写成前缀形式的表达式称为</a:t>
            </a:r>
            <a:r>
              <a:rPr lang="zh-CN" altLang="en-US" b="1" dirty="0">
                <a:solidFill>
                  <a:srgbClr val="C00000"/>
                </a:solidFill>
              </a:rPr>
              <a:t>波兰记法</a:t>
            </a:r>
            <a:r>
              <a:rPr lang="en-US" altLang="zh-CN" dirty="0"/>
              <a:t>. </a:t>
            </a:r>
          </a:p>
          <a:p>
            <a:r>
              <a:rPr lang="zh-CN" altLang="en-US" dirty="0"/>
              <a:t>用前缀形式表达的表达式都是无二义性的</a:t>
            </a:r>
            <a:r>
              <a:rPr lang="en-US" altLang="zh-CN" dirty="0"/>
              <a:t>, </a:t>
            </a:r>
            <a:r>
              <a:rPr lang="zh-CN" altLang="en-US" dirty="0"/>
              <a:t>所以在这样的表达式中不需要括号</a:t>
            </a:r>
            <a:r>
              <a:rPr lang="en-US" altLang="zh-CN" dirty="0"/>
              <a:t>.</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18698" y="163768"/>
            <a:ext cx="892302" cy="1032510"/>
          </a:xfrm>
          <a:prstGeom prst="rect">
            <a:avLst/>
          </a:prstGeom>
        </p:spPr>
      </p:pic>
      <p:sp>
        <p:nvSpPr>
          <p:cNvPr id="7" name="TextBox 6"/>
          <p:cNvSpPr txBox="1"/>
          <p:nvPr/>
        </p:nvSpPr>
        <p:spPr>
          <a:xfrm>
            <a:off x="9070848" y="356858"/>
            <a:ext cx="1847850" cy="646331"/>
          </a:xfrm>
          <a:prstGeom prst="rect">
            <a:avLst/>
          </a:prstGeom>
          <a:noFill/>
        </p:spPr>
        <p:txBody>
          <a:bodyPr wrap="square" rtlCol="0">
            <a:spAutoFit/>
          </a:bodyPr>
          <a:lstStyle/>
          <a:p>
            <a:r>
              <a:rPr lang="en-US" dirty="0"/>
              <a:t>Jan </a:t>
            </a:r>
            <a:r>
              <a:rPr lang="en-US" dirty="0" err="1">
                <a:latin typeface="Cambria Math"/>
                <a:ea typeface="Cambria Math"/>
              </a:rPr>
              <a:t>Ł</a:t>
            </a:r>
            <a:r>
              <a:rPr lang="en-US" dirty="0" err="1"/>
              <a:t>ukasiewicz</a:t>
            </a:r>
            <a:r>
              <a:rPr lang="en-US" dirty="0"/>
              <a:t> (</a:t>
            </a:r>
            <a:r>
              <a:rPr lang="en-US" dirty="0">
                <a:latin typeface="Cambria Math" pitchFamily="18" charset="0"/>
                <a:ea typeface="Cambria Math" pitchFamily="18" charset="0"/>
              </a:rPr>
              <a:t>1878-1956</a:t>
            </a:r>
            <a:r>
              <a:rPr lang="en-US" dirty="0"/>
              <a:t>)</a:t>
            </a:r>
          </a:p>
        </p:txBody>
      </p:sp>
      <p:sp>
        <p:nvSpPr>
          <p:cNvPr id="12" name="日期占位符 11"/>
          <p:cNvSpPr>
            <a:spLocks noGrp="1"/>
          </p:cNvSpPr>
          <p:nvPr>
            <p:ph type="dt" sz="half" idx="10"/>
          </p:nvPr>
        </p:nvSpPr>
        <p:spPr/>
        <p:txBody>
          <a:bodyPr/>
          <a:lstStyle/>
          <a:p>
            <a:fld id="{BA29A186-EE38-4FA9-A0AB-B5BD680E47B9}" type="datetime1">
              <a:rPr lang="zh-CN" altLang="en-US" smtClean="0"/>
              <a:t>2025/4/15</a:t>
            </a:fld>
            <a:endParaRPr lang="zh-CN" altLang="en-US" dirty="0"/>
          </a:p>
        </p:txBody>
      </p:sp>
      <p:sp>
        <p:nvSpPr>
          <p:cNvPr id="13" name="页脚占位符 12"/>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4" name="灯片编号占位符 13"/>
          <p:cNvSpPr>
            <a:spLocks noGrp="1"/>
          </p:cNvSpPr>
          <p:nvPr>
            <p:ph type="sldNum" sz="quarter" idx="12"/>
          </p:nvPr>
        </p:nvSpPr>
        <p:spPr/>
        <p:txBody>
          <a:bodyPr/>
          <a:lstStyle/>
          <a:p>
            <a:fld id="{67913A8A-9EFB-4B5F-9CCB-3D21173FAA85}" type="slidenum">
              <a:rPr lang="zh-CN" altLang="en-US" smtClean="0"/>
              <a:pPr/>
              <a:t>56</a:t>
            </a:fld>
            <a:endParaRPr lang="zh-CN" altLang="en-US" dirty="0"/>
          </a:p>
        </p:txBody>
      </p:sp>
    </p:spTree>
    <p:extLst>
      <p:ext uri="{BB962C8B-B14F-4D97-AF65-F5344CB8AC3E}">
        <p14:creationId xmlns:p14="http://schemas.microsoft.com/office/powerpoint/2010/main" val="297101189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前缀形式</a:t>
            </a:r>
            <a:endParaRPr lang="en-US" dirty="0"/>
          </a:p>
        </p:txBody>
      </p:sp>
      <p:sp>
        <p:nvSpPr>
          <p:cNvPr id="3" name="Content Placeholder 2"/>
          <p:cNvSpPr>
            <a:spLocks noGrp="1"/>
          </p:cNvSpPr>
          <p:nvPr>
            <p:ph idx="1"/>
          </p:nvPr>
        </p:nvSpPr>
        <p:spPr/>
        <p:txBody>
          <a:bodyPr>
            <a:normAutofit/>
          </a:bodyPr>
          <a:lstStyle/>
          <a:p>
            <a:r>
              <a:rPr lang="zh-CN" altLang="en-US" dirty="0"/>
              <a:t>例</a:t>
            </a:r>
            <a:r>
              <a:rPr lang="en-US" altLang="zh-CN" dirty="0"/>
              <a:t>:</a:t>
            </a:r>
            <a:r>
              <a:rPr lang="en-US" dirty="0"/>
              <a:t> ((x + y) ↑ 2 ) + ((x − 4)/3) </a:t>
            </a:r>
            <a:r>
              <a:rPr lang="zh-CN" altLang="en-US" dirty="0"/>
              <a:t>的前缀形式是什么？</a:t>
            </a:r>
            <a:endParaRPr lang="en-US" dirty="0"/>
          </a:p>
          <a:p>
            <a:r>
              <a:rPr lang="zh-CN" altLang="en-US" dirty="0"/>
              <a:t>解</a:t>
            </a:r>
            <a:r>
              <a:rPr lang="en-US" altLang="zh-CN" dirty="0"/>
              <a:t>:</a:t>
            </a:r>
            <a:r>
              <a:rPr lang="zh-CN" altLang="en-US" dirty="0"/>
              <a:t>有序根树如下</a:t>
            </a:r>
            <a:r>
              <a:rPr lang="en-US" altLang="zh-CN" dirty="0"/>
              <a:t>, </a:t>
            </a:r>
            <a:r>
              <a:rPr lang="zh-CN" altLang="en-US" dirty="0"/>
              <a:t>前序遍历可得前缀形式是</a:t>
            </a:r>
            <a:r>
              <a:rPr lang="en-US" dirty="0"/>
              <a:t>+ ↑ + x y 2 / − x 4 3.</a:t>
            </a:r>
          </a:p>
          <a:p>
            <a:endParaRPr lang="en-US" dirty="0"/>
          </a:p>
        </p:txBody>
      </p:sp>
      <p:sp>
        <p:nvSpPr>
          <p:cNvPr id="12" name="日期占位符 11"/>
          <p:cNvSpPr>
            <a:spLocks noGrp="1"/>
          </p:cNvSpPr>
          <p:nvPr>
            <p:ph type="dt" sz="half" idx="10"/>
          </p:nvPr>
        </p:nvSpPr>
        <p:spPr/>
        <p:txBody>
          <a:bodyPr/>
          <a:lstStyle/>
          <a:p>
            <a:fld id="{D1553265-0DB8-485C-85B1-C9581BDA87B7}" type="datetime1">
              <a:rPr lang="zh-CN" altLang="en-US" smtClean="0"/>
              <a:t>2025/4/15</a:t>
            </a:fld>
            <a:endParaRPr lang="zh-CN" altLang="en-US" dirty="0"/>
          </a:p>
        </p:txBody>
      </p:sp>
      <p:sp>
        <p:nvSpPr>
          <p:cNvPr id="13" name="页脚占位符 12"/>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4" name="灯片编号占位符 13"/>
          <p:cNvSpPr>
            <a:spLocks noGrp="1"/>
          </p:cNvSpPr>
          <p:nvPr>
            <p:ph type="sldNum" sz="quarter" idx="12"/>
          </p:nvPr>
        </p:nvSpPr>
        <p:spPr/>
        <p:txBody>
          <a:bodyPr/>
          <a:lstStyle/>
          <a:p>
            <a:fld id="{67913A8A-9EFB-4B5F-9CCB-3D21173FAA85}" type="slidenum">
              <a:rPr lang="zh-CN" altLang="en-US" smtClean="0"/>
              <a:pPr/>
              <a:t>57</a:t>
            </a:fld>
            <a:endParaRPr lang="zh-CN" altLang="en-US" dirty="0"/>
          </a:p>
        </p:txBody>
      </p:sp>
      <p:pic>
        <p:nvPicPr>
          <p:cNvPr id="8" name="图片 7"/>
          <p:cNvPicPr>
            <a:picLocks noChangeAspect="1"/>
          </p:cNvPicPr>
          <p:nvPr/>
        </p:nvPicPr>
        <p:blipFill>
          <a:blip r:embed="rId2"/>
          <a:stretch>
            <a:fillRect/>
          </a:stretch>
        </p:blipFill>
        <p:spPr>
          <a:xfrm>
            <a:off x="1937657" y="2437044"/>
            <a:ext cx="4495800" cy="3762375"/>
          </a:xfrm>
          <a:prstGeom prst="rect">
            <a:avLst/>
          </a:prstGeom>
        </p:spPr>
      </p:pic>
    </p:spTree>
    <p:extLst>
      <p:ext uri="{BB962C8B-B14F-4D97-AF65-F5344CB8AC3E}">
        <p14:creationId xmlns:p14="http://schemas.microsoft.com/office/powerpoint/2010/main" val="2176550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down)">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前缀形式</a:t>
            </a:r>
            <a:endParaRPr lang="en-US" dirty="0"/>
          </a:p>
        </p:txBody>
      </p:sp>
      <p:sp>
        <p:nvSpPr>
          <p:cNvPr id="3" name="Content Placeholder 2"/>
          <p:cNvSpPr>
            <a:spLocks noGrp="1"/>
          </p:cNvSpPr>
          <p:nvPr>
            <p:ph idx="1"/>
          </p:nvPr>
        </p:nvSpPr>
        <p:spPr/>
        <p:txBody>
          <a:bodyPr>
            <a:normAutofit/>
          </a:bodyPr>
          <a:lstStyle/>
          <a:p>
            <a:r>
              <a:rPr lang="zh-CN" altLang="en-US" dirty="0"/>
              <a:t>在前缀形式中</a:t>
            </a:r>
            <a:r>
              <a:rPr lang="en-US" altLang="zh-CN" dirty="0"/>
              <a:t>, </a:t>
            </a:r>
            <a:r>
              <a:rPr lang="zh-CN" altLang="en-US" dirty="0"/>
              <a:t>二元运算符在它的两个运算对象之前</a:t>
            </a:r>
            <a:r>
              <a:rPr lang="en-US" altLang="zh-CN" dirty="0"/>
              <a:t>, </a:t>
            </a:r>
            <a:r>
              <a:rPr lang="zh-CN" altLang="en-US" dirty="0"/>
              <a:t>因此可以从右向左地求前缀形式的表达式的值</a:t>
            </a:r>
            <a:r>
              <a:rPr lang="en-US" altLang="zh-CN" dirty="0"/>
              <a:t>:</a:t>
            </a:r>
          </a:p>
          <a:p>
            <a:pPr lvl="1"/>
            <a:r>
              <a:rPr lang="zh-CN" altLang="en-US" sz="2600" dirty="0"/>
              <a:t>当遇到一个运算符时</a:t>
            </a:r>
            <a:r>
              <a:rPr lang="en-US" altLang="zh-CN" sz="2600" dirty="0"/>
              <a:t>, </a:t>
            </a:r>
            <a:r>
              <a:rPr lang="zh-CN" altLang="en-US" sz="2600" dirty="0"/>
              <a:t>就对右边紧接着的两个运算对象来执行相应的运算</a:t>
            </a:r>
            <a:r>
              <a:rPr lang="en-US" altLang="zh-CN" sz="2600" dirty="0"/>
              <a:t>. </a:t>
            </a:r>
          </a:p>
          <a:p>
            <a:pPr lvl="1"/>
            <a:r>
              <a:rPr lang="zh-CN" altLang="en-US" sz="2600" dirty="0"/>
              <a:t>当一个运算执行时</a:t>
            </a:r>
            <a:r>
              <a:rPr lang="en-US" altLang="zh-CN" sz="2600" dirty="0"/>
              <a:t>, </a:t>
            </a:r>
            <a:r>
              <a:rPr lang="zh-CN" altLang="en-US" sz="2600" dirty="0"/>
              <a:t>就认为结果是新的运算对象</a:t>
            </a:r>
            <a:r>
              <a:rPr lang="en-US" altLang="zh-CN" sz="2600" dirty="0"/>
              <a:t>.</a:t>
            </a:r>
            <a:endParaRPr lang="en-US" sz="2600"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18698" y="163768"/>
            <a:ext cx="892302" cy="1032510"/>
          </a:xfrm>
          <a:prstGeom prst="rect">
            <a:avLst/>
          </a:prstGeom>
        </p:spPr>
      </p:pic>
      <p:sp>
        <p:nvSpPr>
          <p:cNvPr id="7" name="TextBox 6"/>
          <p:cNvSpPr txBox="1"/>
          <p:nvPr/>
        </p:nvSpPr>
        <p:spPr>
          <a:xfrm>
            <a:off x="9070848" y="356858"/>
            <a:ext cx="1847850" cy="646331"/>
          </a:xfrm>
          <a:prstGeom prst="rect">
            <a:avLst/>
          </a:prstGeom>
          <a:noFill/>
        </p:spPr>
        <p:txBody>
          <a:bodyPr wrap="square" rtlCol="0">
            <a:spAutoFit/>
          </a:bodyPr>
          <a:lstStyle/>
          <a:p>
            <a:r>
              <a:rPr lang="en-US" dirty="0"/>
              <a:t>Jan </a:t>
            </a:r>
            <a:r>
              <a:rPr lang="en-US" dirty="0" err="1">
                <a:latin typeface="Cambria Math"/>
                <a:ea typeface="Cambria Math"/>
              </a:rPr>
              <a:t>Ł</a:t>
            </a:r>
            <a:r>
              <a:rPr lang="en-US" dirty="0" err="1"/>
              <a:t>ukasiewicz</a:t>
            </a:r>
            <a:r>
              <a:rPr lang="en-US" dirty="0"/>
              <a:t> (</a:t>
            </a:r>
            <a:r>
              <a:rPr lang="en-US" dirty="0">
                <a:latin typeface="Cambria Math" pitchFamily="18" charset="0"/>
                <a:ea typeface="Cambria Math" pitchFamily="18" charset="0"/>
              </a:rPr>
              <a:t>1878-1956</a:t>
            </a:r>
            <a:r>
              <a:rPr lang="en-US" dirty="0"/>
              <a:t>)</a:t>
            </a:r>
          </a:p>
        </p:txBody>
      </p:sp>
      <p:sp>
        <p:nvSpPr>
          <p:cNvPr id="12" name="日期占位符 11"/>
          <p:cNvSpPr>
            <a:spLocks noGrp="1"/>
          </p:cNvSpPr>
          <p:nvPr>
            <p:ph type="dt" sz="half" idx="10"/>
          </p:nvPr>
        </p:nvSpPr>
        <p:spPr/>
        <p:txBody>
          <a:bodyPr/>
          <a:lstStyle/>
          <a:p>
            <a:fld id="{E3E9F677-F8E3-43B6-8574-836AD3381492}" type="datetime1">
              <a:rPr lang="zh-CN" altLang="en-US" smtClean="0"/>
              <a:t>2025/4/15</a:t>
            </a:fld>
            <a:endParaRPr lang="zh-CN" altLang="en-US" dirty="0"/>
          </a:p>
        </p:txBody>
      </p:sp>
      <p:sp>
        <p:nvSpPr>
          <p:cNvPr id="13" name="页脚占位符 12"/>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4" name="灯片编号占位符 13"/>
          <p:cNvSpPr>
            <a:spLocks noGrp="1"/>
          </p:cNvSpPr>
          <p:nvPr>
            <p:ph type="sldNum" sz="quarter" idx="12"/>
          </p:nvPr>
        </p:nvSpPr>
        <p:spPr/>
        <p:txBody>
          <a:bodyPr/>
          <a:lstStyle/>
          <a:p>
            <a:fld id="{67913A8A-9EFB-4B5F-9CCB-3D21173FAA85}" type="slidenum">
              <a:rPr lang="zh-CN" altLang="en-US" smtClean="0"/>
              <a:pPr/>
              <a:t>58</a:t>
            </a:fld>
            <a:endParaRPr lang="zh-CN" altLang="en-US" dirty="0"/>
          </a:p>
        </p:txBody>
      </p:sp>
    </p:spTree>
    <p:extLst>
      <p:ext uri="{BB962C8B-B14F-4D97-AF65-F5344CB8AC3E}">
        <p14:creationId xmlns:p14="http://schemas.microsoft.com/office/powerpoint/2010/main" val="326424340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前缀形式</a:t>
            </a:r>
            <a:endParaRPr lang="en-US" dirty="0"/>
          </a:p>
        </p:txBody>
      </p:sp>
      <p:sp>
        <p:nvSpPr>
          <p:cNvPr id="3" name="Content Placeholder 2"/>
          <p:cNvSpPr>
            <a:spLocks noGrp="1"/>
          </p:cNvSpPr>
          <p:nvPr>
            <p:ph idx="1"/>
          </p:nvPr>
        </p:nvSpPr>
        <p:spPr/>
        <p:txBody>
          <a:bodyPr>
            <a:normAutofit/>
          </a:bodyPr>
          <a:lstStyle/>
          <a:p>
            <a:r>
              <a:rPr lang="zh-CN" altLang="en-US" dirty="0"/>
              <a:t>例</a:t>
            </a:r>
            <a:r>
              <a:rPr lang="en-US" altLang="zh-CN" dirty="0"/>
              <a:t>:</a:t>
            </a:r>
            <a:r>
              <a:rPr lang="zh-CN" altLang="en-US" dirty="0"/>
              <a:t>前缀形式</a:t>
            </a:r>
            <a:r>
              <a:rPr lang="en-US" altLang="zh-CN" dirty="0"/>
              <a:t>+-*235/ ↑ 234</a:t>
            </a:r>
            <a:r>
              <a:rPr lang="zh-CN" altLang="en-US" dirty="0"/>
              <a:t>的值是什么？</a:t>
            </a:r>
            <a:endParaRPr lang="en-US" dirty="0"/>
          </a:p>
          <a:p>
            <a:r>
              <a:rPr lang="zh-CN" altLang="en-US" dirty="0"/>
              <a:t>解</a:t>
            </a:r>
            <a:r>
              <a:rPr lang="en-US" altLang="zh-CN" dirty="0"/>
              <a:t>:</a:t>
            </a:r>
            <a:r>
              <a:rPr lang="zh-CN" altLang="en-US" dirty="0"/>
              <a:t>如下图所示</a:t>
            </a:r>
            <a:r>
              <a:rPr lang="en-US" altLang="zh-CN" dirty="0"/>
              <a:t>, </a:t>
            </a:r>
            <a:r>
              <a:rPr lang="zh-CN" altLang="en-US" dirty="0"/>
              <a:t>从右向左的步骤求这个表达式</a:t>
            </a:r>
            <a:r>
              <a:rPr lang="en-US" altLang="zh-CN" dirty="0"/>
              <a:t>, </a:t>
            </a:r>
            <a:r>
              <a:rPr lang="zh-CN" altLang="en-US" dirty="0"/>
              <a:t>并用右边的运算对象来执行运算</a:t>
            </a:r>
            <a:r>
              <a:rPr lang="en-US" altLang="zh-CN" dirty="0"/>
              <a:t>, </a:t>
            </a:r>
            <a:r>
              <a:rPr lang="zh-CN" altLang="en-US" dirty="0"/>
              <a:t>最后值为</a:t>
            </a:r>
            <a:r>
              <a:rPr lang="en-US" altLang="zh-CN" dirty="0"/>
              <a:t>3</a:t>
            </a:r>
            <a:r>
              <a:rPr lang="en-US" dirty="0"/>
              <a:t>.</a:t>
            </a:r>
          </a:p>
          <a:p>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66973" y="2368611"/>
            <a:ext cx="3689350" cy="3934045"/>
          </a:xfrm>
          <a:prstGeom prst="rect">
            <a:avLst/>
          </a:prstGeom>
        </p:spPr>
      </p:pic>
      <p:sp>
        <p:nvSpPr>
          <p:cNvPr id="12" name="日期占位符 11"/>
          <p:cNvSpPr>
            <a:spLocks noGrp="1"/>
          </p:cNvSpPr>
          <p:nvPr>
            <p:ph type="dt" sz="half" idx="10"/>
          </p:nvPr>
        </p:nvSpPr>
        <p:spPr/>
        <p:txBody>
          <a:bodyPr/>
          <a:lstStyle/>
          <a:p>
            <a:fld id="{51290766-167D-4A83-B9F0-638783501A20}" type="datetime1">
              <a:rPr lang="zh-CN" altLang="en-US" smtClean="0"/>
              <a:t>2025/4/15</a:t>
            </a:fld>
            <a:endParaRPr lang="zh-CN" altLang="en-US" dirty="0"/>
          </a:p>
        </p:txBody>
      </p:sp>
      <p:sp>
        <p:nvSpPr>
          <p:cNvPr id="13" name="页脚占位符 12"/>
          <p:cNvSpPr>
            <a:spLocks noGrp="1"/>
          </p:cNvSpPr>
          <p:nvPr>
            <p:ph type="ftr" sz="quarter" idx="11"/>
          </p:nvPr>
        </p:nvSpPr>
        <p:spPr/>
        <p:txBody>
          <a:bodyPr/>
          <a:lstStyle/>
          <a:p>
            <a:pPr algn="r"/>
            <a:r>
              <a:rPr lang="zh-CN" altLang="en-US"/>
              <a:t>华中科技大学人机物系统与安全实验室</a:t>
            </a:r>
            <a:endParaRPr lang="zh-CN" altLang="en-US" dirty="0"/>
          </a:p>
        </p:txBody>
      </p:sp>
      <p:sp>
        <p:nvSpPr>
          <p:cNvPr id="14" name="灯片编号占位符 13"/>
          <p:cNvSpPr>
            <a:spLocks noGrp="1"/>
          </p:cNvSpPr>
          <p:nvPr>
            <p:ph type="sldNum" sz="quarter" idx="12"/>
          </p:nvPr>
        </p:nvSpPr>
        <p:spPr/>
        <p:txBody>
          <a:bodyPr/>
          <a:lstStyle/>
          <a:p>
            <a:fld id="{67913A8A-9EFB-4B5F-9CCB-3D21173FAA85}" type="slidenum">
              <a:rPr lang="zh-CN" altLang="en-US" smtClean="0"/>
              <a:pPr/>
              <a:t>59</a:t>
            </a:fld>
            <a:endParaRPr lang="zh-CN" altLang="en-US" dirty="0"/>
          </a:p>
        </p:txBody>
      </p:sp>
    </p:spTree>
    <p:extLst>
      <p:ext uri="{BB962C8B-B14F-4D97-AF65-F5344CB8AC3E}">
        <p14:creationId xmlns:p14="http://schemas.microsoft.com/office/powerpoint/2010/main" val="1266520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down)">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后缀形式</a:t>
            </a:r>
            <a:endParaRPr lang="en-US" dirty="0"/>
          </a:p>
        </p:txBody>
      </p:sp>
      <p:sp>
        <p:nvSpPr>
          <p:cNvPr id="3" name="Content Placeholder 2"/>
          <p:cNvSpPr>
            <a:spLocks noGrp="1"/>
          </p:cNvSpPr>
          <p:nvPr>
            <p:ph idx="1"/>
          </p:nvPr>
        </p:nvSpPr>
        <p:spPr/>
        <p:txBody>
          <a:bodyPr>
            <a:normAutofit/>
          </a:bodyPr>
          <a:lstStyle/>
          <a:p>
            <a:r>
              <a:rPr lang="zh-CN" altLang="en-US" dirty="0"/>
              <a:t>通过以后续遍历表达式的二叉树</a:t>
            </a:r>
            <a:r>
              <a:rPr lang="en-US" altLang="zh-CN" dirty="0"/>
              <a:t>, </a:t>
            </a:r>
            <a:r>
              <a:rPr lang="zh-CN" altLang="en-US" dirty="0"/>
              <a:t>就可以获得它的</a:t>
            </a:r>
            <a:r>
              <a:rPr lang="zh-CN" altLang="en-US" b="1" dirty="0">
                <a:solidFill>
                  <a:srgbClr val="C00000"/>
                </a:solidFill>
              </a:rPr>
              <a:t>后缀形式</a:t>
            </a:r>
            <a:r>
              <a:rPr lang="en-US" altLang="zh-CN" dirty="0"/>
              <a:t>, </a:t>
            </a:r>
            <a:r>
              <a:rPr lang="zh-CN" altLang="en-US" dirty="0"/>
              <a:t>写成后缀形式的表达式称为</a:t>
            </a:r>
            <a:r>
              <a:rPr lang="zh-CN" altLang="en-US" b="1" dirty="0">
                <a:solidFill>
                  <a:srgbClr val="C00000"/>
                </a:solidFill>
              </a:rPr>
              <a:t>逆波兰记法</a:t>
            </a:r>
            <a:r>
              <a:rPr lang="en-US" altLang="zh-CN" dirty="0"/>
              <a:t>. </a:t>
            </a:r>
          </a:p>
          <a:p>
            <a:r>
              <a:rPr lang="zh-CN" altLang="en-US" dirty="0"/>
              <a:t>用逆波兰记法的表达式都是无二义性的</a:t>
            </a:r>
            <a:r>
              <a:rPr lang="en-US" altLang="zh-CN" dirty="0"/>
              <a:t>, </a:t>
            </a:r>
            <a:r>
              <a:rPr lang="zh-CN" altLang="en-US" dirty="0"/>
              <a:t>也不需要括号</a:t>
            </a:r>
            <a:r>
              <a:rPr lang="en-US" altLang="zh-CN" dirty="0"/>
              <a:t>.</a:t>
            </a:r>
            <a:endParaRPr lang="en-US" dirty="0"/>
          </a:p>
          <a:p>
            <a:r>
              <a:rPr lang="zh-CN" altLang="en-US" dirty="0"/>
              <a:t>后缀形式的表达式中</a:t>
            </a:r>
            <a:r>
              <a:rPr lang="en-US" altLang="zh-CN" dirty="0"/>
              <a:t>, </a:t>
            </a:r>
            <a:r>
              <a:rPr lang="zh-CN" altLang="en-US" dirty="0"/>
              <a:t>二元运算符都在它的运算对象之后</a:t>
            </a:r>
            <a:r>
              <a:rPr lang="en-US" altLang="zh-CN" dirty="0"/>
              <a:t>. </a:t>
            </a:r>
            <a:r>
              <a:rPr lang="zh-CN" altLang="en-US" dirty="0"/>
              <a:t>所以为了求表达式的值</a:t>
            </a:r>
            <a:r>
              <a:rPr lang="en-US" altLang="zh-CN" dirty="0"/>
              <a:t>, </a:t>
            </a:r>
            <a:r>
              <a:rPr lang="zh-CN" altLang="en-US" dirty="0"/>
              <a:t>就从左向右的进行</a:t>
            </a:r>
            <a:r>
              <a:rPr lang="en-US" altLang="zh-CN" dirty="0"/>
              <a:t>:</a:t>
            </a:r>
          </a:p>
          <a:p>
            <a:pPr lvl="1"/>
            <a:r>
              <a:rPr lang="zh-CN" altLang="en-US" sz="2600" dirty="0"/>
              <a:t>当两个运算对象后面跟着一个运算符时</a:t>
            </a:r>
            <a:r>
              <a:rPr lang="en-US" altLang="zh-CN" sz="2600" dirty="0"/>
              <a:t>, </a:t>
            </a:r>
            <a:r>
              <a:rPr lang="zh-CN" altLang="en-US" sz="2600" dirty="0"/>
              <a:t>就执行这个运算</a:t>
            </a:r>
            <a:r>
              <a:rPr lang="en-US" altLang="zh-CN" sz="2600" dirty="0"/>
              <a:t>. </a:t>
            </a:r>
          </a:p>
          <a:p>
            <a:pPr lvl="1"/>
            <a:r>
              <a:rPr lang="zh-CN" altLang="en-US" sz="2600" dirty="0"/>
              <a:t>一个运算执行完后</a:t>
            </a:r>
            <a:r>
              <a:rPr lang="en-US" altLang="zh-CN" sz="2600" dirty="0"/>
              <a:t>, </a:t>
            </a:r>
            <a:r>
              <a:rPr lang="zh-CN" altLang="en-US" sz="2600" dirty="0"/>
              <a:t>这个运算的结果就成为一个新的运算对象</a:t>
            </a:r>
            <a:r>
              <a:rPr lang="en-US" altLang="zh-CN" sz="2600" dirty="0"/>
              <a:t>.</a:t>
            </a:r>
            <a:endParaRPr lang="en-US" sz="2600" dirty="0"/>
          </a:p>
        </p:txBody>
      </p:sp>
      <p:sp>
        <p:nvSpPr>
          <p:cNvPr id="10" name="日期占位符 9"/>
          <p:cNvSpPr>
            <a:spLocks noGrp="1"/>
          </p:cNvSpPr>
          <p:nvPr>
            <p:ph type="dt" sz="half" idx="10"/>
          </p:nvPr>
        </p:nvSpPr>
        <p:spPr/>
        <p:txBody>
          <a:bodyPr/>
          <a:lstStyle/>
          <a:p>
            <a:fld id="{14F2E4C3-BF20-45FA-B3CB-87D177CBA0B9}" type="datetime1">
              <a:rPr lang="zh-CN" altLang="en-US" smtClean="0"/>
              <a:t>2025/4/15</a:t>
            </a:fld>
            <a:endParaRPr lang="zh-CN" altLang="en-US" dirty="0"/>
          </a:p>
        </p:txBody>
      </p:sp>
      <p:sp>
        <p:nvSpPr>
          <p:cNvPr id="11" name="页脚占位符 10"/>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2" name="灯片编号占位符 11"/>
          <p:cNvSpPr>
            <a:spLocks noGrp="1"/>
          </p:cNvSpPr>
          <p:nvPr>
            <p:ph type="sldNum" sz="quarter" idx="12"/>
          </p:nvPr>
        </p:nvSpPr>
        <p:spPr/>
        <p:txBody>
          <a:bodyPr/>
          <a:lstStyle/>
          <a:p>
            <a:fld id="{67913A8A-9EFB-4B5F-9CCB-3D21173FAA85}" type="slidenum">
              <a:rPr lang="zh-CN" altLang="en-US" smtClean="0"/>
              <a:pPr/>
              <a:t>60</a:t>
            </a:fld>
            <a:endParaRPr lang="zh-CN" altLang="en-US" dirty="0"/>
          </a:p>
        </p:txBody>
      </p:sp>
    </p:spTree>
    <p:extLst>
      <p:ext uri="{BB962C8B-B14F-4D97-AF65-F5344CB8AC3E}">
        <p14:creationId xmlns:p14="http://schemas.microsoft.com/office/powerpoint/2010/main" val="405587519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后缀形式</a:t>
            </a:r>
            <a:endParaRPr lang="en-US" dirty="0"/>
          </a:p>
        </p:txBody>
      </p:sp>
      <p:sp>
        <p:nvSpPr>
          <p:cNvPr id="3" name="Content Placeholder 2"/>
          <p:cNvSpPr>
            <a:spLocks noGrp="1"/>
          </p:cNvSpPr>
          <p:nvPr>
            <p:ph idx="1"/>
          </p:nvPr>
        </p:nvSpPr>
        <p:spPr/>
        <p:txBody>
          <a:bodyPr>
            <a:normAutofit/>
          </a:bodyPr>
          <a:lstStyle/>
          <a:p>
            <a:r>
              <a:rPr lang="zh-CN" altLang="en-US" dirty="0"/>
              <a:t>例</a:t>
            </a:r>
            <a:r>
              <a:rPr lang="en-US" altLang="zh-CN" dirty="0"/>
              <a:t>:((x + y) ↑ 2 ) + ((x − 4)/3)</a:t>
            </a:r>
            <a:r>
              <a:rPr lang="zh-CN" altLang="en-US" dirty="0"/>
              <a:t>的后缀形式是什么？</a:t>
            </a:r>
            <a:endParaRPr lang="en-US" altLang="zh-CN" dirty="0"/>
          </a:p>
          <a:p>
            <a:r>
              <a:rPr lang="zh-CN" altLang="en-US" dirty="0"/>
              <a:t>解</a:t>
            </a:r>
            <a:r>
              <a:rPr lang="en-US" altLang="zh-CN" dirty="0"/>
              <a:t>:</a:t>
            </a:r>
            <a:r>
              <a:rPr lang="zh-CN" altLang="en-US" dirty="0"/>
              <a:t>有序根树如下</a:t>
            </a:r>
            <a:r>
              <a:rPr lang="en-US" altLang="zh-CN" dirty="0"/>
              <a:t>, </a:t>
            </a:r>
            <a:r>
              <a:rPr lang="zh-CN" altLang="en-US" dirty="0"/>
              <a:t>后序遍历可得后缀形式是</a:t>
            </a:r>
            <a:r>
              <a:rPr lang="en-US" altLang="zh-CN" dirty="0"/>
              <a:t>x y + 2 ↑ x 4 − 3 / +.</a:t>
            </a:r>
          </a:p>
        </p:txBody>
      </p:sp>
      <p:sp>
        <p:nvSpPr>
          <p:cNvPr id="10" name="日期占位符 9"/>
          <p:cNvSpPr>
            <a:spLocks noGrp="1"/>
          </p:cNvSpPr>
          <p:nvPr>
            <p:ph type="dt" sz="half" idx="10"/>
          </p:nvPr>
        </p:nvSpPr>
        <p:spPr/>
        <p:txBody>
          <a:bodyPr/>
          <a:lstStyle/>
          <a:p>
            <a:fld id="{5134CB3A-EAA0-421C-B3E9-256182B70AC0}" type="datetime1">
              <a:rPr lang="zh-CN" altLang="en-US" smtClean="0"/>
              <a:t>2025/4/15</a:t>
            </a:fld>
            <a:endParaRPr lang="zh-CN" altLang="en-US" dirty="0"/>
          </a:p>
        </p:txBody>
      </p:sp>
      <p:sp>
        <p:nvSpPr>
          <p:cNvPr id="11" name="页脚占位符 10"/>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2" name="灯片编号占位符 11"/>
          <p:cNvSpPr>
            <a:spLocks noGrp="1"/>
          </p:cNvSpPr>
          <p:nvPr>
            <p:ph type="sldNum" sz="quarter" idx="12"/>
          </p:nvPr>
        </p:nvSpPr>
        <p:spPr/>
        <p:txBody>
          <a:bodyPr/>
          <a:lstStyle/>
          <a:p>
            <a:fld id="{67913A8A-9EFB-4B5F-9CCB-3D21173FAA85}" type="slidenum">
              <a:rPr lang="zh-CN" altLang="en-US" smtClean="0"/>
              <a:pPr/>
              <a:t>61</a:t>
            </a:fld>
            <a:endParaRPr lang="zh-CN" altLang="en-US" dirty="0"/>
          </a:p>
        </p:txBody>
      </p:sp>
      <p:pic>
        <p:nvPicPr>
          <p:cNvPr id="9" name="图片 8"/>
          <p:cNvPicPr>
            <a:picLocks noChangeAspect="1"/>
          </p:cNvPicPr>
          <p:nvPr/>
        </p:nvPicPr>
        <p:blipFill>
          <a:blip r:embed="rId2"/>
          <a:stretch>
            <a:fillRect/>
          </a:stretch>
        </p:blipFill>
        <p:spPr>
          <a:xfrm>
            <a:off x="1592944" y="2133600"/>
            <a:ext cx="4495800" cy="3762375"/>
          </a:xfrm>
          <a:prstGeom prst="rect">
            <a:avLst/>
          </a:prstGeom>
        </p:spPr>
      </p:pic>
    </p:spTree>
    <p:extLst>
      <p:ext uri="{BB962C8B-B14F-4D97-AF65-F5344CB8AC3E}">
        <p14:creationId xmlns:p14="http://schemas.microsoft.com/office/powerpoint/2010/main" val="889588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down)">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后缀形式</a:t>
            </a:r>
            <a:endParaRPr lang="en-US" dirty="0"/>
          </a:p>
        </p:txBody>
      </p:sp>
      <p:sp>
        <p:nvSpPr>
          <p:cNvPr id="3" name="Content Placeholder 2"/>
          <p:cNvSpPr>
            <a:spLocks noGrp="1"/>
          </p:cNvSpPr>
          <p:nvPr>
            <p:ph idx="1"/>
          </p:nvPr>
        </p:nvSpPr>
        <p:spPr/>
        <p:txBody>
          <a:bodyPr>
            <a:normAutofit/>
          </a:bodyPr>
          <a:lstStyle/>
          <a:p>
            <a:r>
              <a:rPr lang="zh-CN" altLang="en-US" dirty="0"/>
              <a:t>例</a:t>
            </a:r>
            <a:r>
              <a:rPr lang="en-US" altLang="zh-CN" dirty="0"/>
              <a:t>:</a:t>
            </a:r>
            <a:r>
              <a:rPr lang="zh-CN" altLang="en-US" dirty="0"/>
              <a:t>后缀形式</a:t>
            </a:r>
            <a:r>
              <a:rPr lang="en-US" altLang="zh-CN" dirty="0"/>
              <a:t>723*-4 ↑ 93/+</a:t>
            </a:r>
            <a:r>
              <a:rPr lang="zh-CN" altLang="en-US" dirty="0"/>
              <a:t>的值是什么？</a:t>
            </a:r>
            <a:endParaRPr lang="en-US" altLang="zh-CN" dirty="0"/>
          </a:p>
          <a:p>
            <a:r>
              <a:rPr lang="zh-CN" altLang="en-US" dirty="0"/>
              <a:t>解</a:t>
            </a:r>
            <a:r>
              <a:rPr lang="en-US" altLang="zh-CN" dirty="0"/>
              <a:t>:</a:t>
            </a:r>
            <a:r>
              <a:rPr lang="zh-CN" altLang="en-US" dirty="0"/>
              <a:t>如下图所示</a:t>
            </a:r>
            <a:r>
              <a:rPr lang="en-US" altLang="zh-CN" dirty="0"/>
              <a:t>, </a:t>
            </a:r>
            <a:r>
              <a:rPr lang="zh-CN" altLang="en-US" dirty="0"/>
              <a:t>从左向右的步骤求这个表达式</a:t>
            </a:r>
            <a:r>
              <a:rPr lang="en-US" altLang="zh-CN" dirty="0"/>
              <a:t>, </a:t>
            </a:r>
            <a:r>
              <a:rPr lang="zh-CN" altLang="en-US" dirty="0"/>
              <a:t>并用右边的运算来执行左边的运算对象</a:t>
            </a:r>
            <a:r>
              <a:rPr lang="en-US" altLang="zh-CN" dirty="0"/>
              <a:t>, </a:t>
            </a:r>
            <a:r>
              <a:rPr lang="zh-CN" altLang="en-US" dirty="0"/>
              <a:t>最后值为</a:t>
            </a:r>
            <a:r>
              <a:rPr lang="en-US" altLang="zh-CN" dirty="0"/>
              <a:t>4.</a:t>
            </a:r>
          </a:p>
          <a:p>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62800" y="2300562"/>
            <a:ext cx="3657600" cy="3898857"/>
          </a:xfrm>
          <a:prstGeom prst="rect">
            <a:avLst/>
          </a:prstGeom>
        </p:spPr>
      </p:pic>
      <p:sp>
        <p:nvSpPr>
          <p:cNvPr id="10" name="日期占位符 9"/>
          <p:cNvSpPr>
            <a:spLocks noGrp="1"/>
          </p:cNvSpPr>
          <p:nvPr>
            <p:ph type="dt" sz="half" idx="10"/>
          </p:nvPr>
        </p:nvSpPr>
        <p:spPr/>
        <p:txBody>
          <a:bodyPr/>
          <a:lstStyle/>
          <a:p>
            <a:fld id="{4336097E-2707-4C6E-86D5-C856308954E3}" type="datetime1">
              <a:rPr lang="zh-CN" altLang="en-US" smtClean="0"/>
              <a:t>2025/4/15</a:t>
            </a:fld>
            <a:endParaRPr lang="zh-CN" altLang="en-US" dirty="0"/>
          </a:p>
        </p:txBody>
      </p:sp>
      <p:sp>
        <p:nvSpPr>
          <p:cNvPr id="11" name="页脚占位符 10"/>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2" name="灯片编号占位符 11"/>
          <p:cNvSpPr>
            <a:spLocks noGrp="1"/>
          </p:cNvSpPr>
          <p:nvPr>
            <p:ph type="sldNum" sz="quarter" idx="12"/>
          </p:nvPr>
        </p:nvSpPr>
        <p:spPr/>
        <p:txBody>
          <a:bodyPr/>
          <a:lstStyle/>
          <a:p>
            <a:fld id="{67913A8A-9EFB-4B5F-9CCB-3D21173FAA85}" type="slidenum">
              <a:rPr lang="zh-CN" altLang="en-US" smtClean="0"/>
              <a:pPr/>
              <a:t>62</a:t>
            </a:fld>
            <a:endParaRPr lang="zh-CN" altLang="en-US" dirty="0"/>
          </a:p>
        </p:txBody>
      </p:sp>
    </p:spTree>
    <p:extLst>
      <p:ext uri="{BB962C8B-B14F-4D97-AF65-F5344CB8AC3E}">
        <p14:creationId xmlns:p14="http://schemas.microsoft.com/office/powerpoint/2010/main" val="2151098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down)">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0" y="2260600"/>
            <a:ext cx="12192000" cy="2387600"/>
          </a:xfrm>
        </p:spPr>
        <p:txBody>
          <a:bodyPr/>
          <a:lstStyle/>
          <a:p>
            <a:pPr algn="ctr"/>
            <a:r>
              <a:rPr lang="en-US" altLang="zh-CN" dirty="0"/>
              <a:t>Section </a:t>
            </a:r>
            <a:r>
              <a:rPr lang="en-US" altLang="zh-CN" dirty="0" smtClean="0"/>
              <a:t>5.4</a:t>
            </a:r>
            <a:r>
              <a:rPr lang="en-US" altLang="zh-CN" dirty="0"/>
              <a:t/>
            </a:r>
            <a:br>
              <a:rPr lang="en-US" altLang="zh-CN" dirty="0"/>
            </a:br>
            <a:r>
              <a:rPr lang="zh-CN" altLang="en-US" dirty="0"/>
              <a:t>生成树</a:t>
            </a:r>
            <a:endParaRPr lang="en-US" dirty="0"/>
          </a:p>
        </p:txBody>
      </p:sp>
    </p:spTree>
    <p:extLst>
      <p:ext uri="{BB962C8B-B14F-4D97-AF65-F5344CB8AC3E}">
        <p14:creationId xmlns:p14="http://schemas.microsoft.com/office/powerpoint/2010/main" val="386417095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内容</a:t>
            </a:r>
            <a:endParaRPr lang="en-US" dirty="0"/>
          </a:p>
        </p:txBody>
      </p:sp>
      <p:sp>
        <p:nvSpPr>
          <p:cNvPr id="3" name="Content Placeholder 2"/>
          <p:cNvSpPr>
            <a:spLocks noGrp="1"/>
          </p:cNvSpPr>
          <p:nvPr>
            <p:ph idx="1"/>
          </p:nvPr>
        </p:nvSpPr>
        <p:spPr/>
        <p:txBody>
          <a:bodyPr/>
          <a:lstStyle/>
          <a:p>
            <a:r>
              <a:rPr lang="zh-CN" altLang="en-US" dirty="0"/>
              <a:t>生成树</a:t>
            </a:r>
            <a:endParaRPr lang="en-US" altLang="zh-CN" dirty="0"/>
          </a:p>
          <a:p>
            <a:r>
              <a:rPr lang="zh-CN" altLang="en-US" dirty="0"/>
              <a:t>深度优先搜索</a:t>
            </a:r>
            <a:endParaRPr lang="en-US" altLang="zh-CN" dirty="0"/>
          </a:p>
          <a:p>
            <a:r>
              <a:rPr lang="zh-CN" altLang="en-US" dirty="0"/>
              <a:t>宽度优先搜索</a:t>
            </a:r>
            <a:endParaRPr lang="en-US" altLang="zh-CN" dirty="0"/>
          </a:p>
          <a:p>
            <a:r>
              <a:rPr lang="zh-CN" altLang="en-US" dirty="0"/>
              <a:t>回溯的应用</a:t>
            </a:r>
            <a:endParaRPr lang="en-US" altLang="zh-CN" dirty="0"/>
          </a:p>
          <a:p>
            <a:r>
              <a:rPr lang="zh-CN" altLang="en-US" dirty="0"/>
              <a:t>有向图中的深度优先搜索</a:t>
            </a:r>
            <a:endParaRPr lang="en-US" dirty="0"/>
          </a:p>
        </p:txBody>
      </p:sp>
      <p:sp>
        <p:nvSpPr>
          <p:cNvPr id="8" name="日期占位符 7"/>
          <p:cNvSpPr>
            <a:spLocks noGrp="1"/>
          </p:cNvSpPr>
          <p:nvPr>
            <p:ph type="dt" sz="half" idx="10"/>
          </p:nvPr>
        </p:nvSpPr>
        <p:spPr/>
        <p:txBody>
          <a:bodyPr/>
          <a:lstStyle/>
          <a:p>
            <a:fld id="{AB7AD390-C0B0-4EAE-9E6F-E1C9768AB2EA}" type="datetime1">
              <a:rPr lang="zh-CN" altLang="en-US" smtClean="0"/>
              <a:t>2025/4/15</a:t>
            </a:fld>
            <a:endParaRPr lang="zh-CN" altLang="en-US" dirty="0"/>
          </a:p>
        </p:txBody>
      </p:sp>
      <p:sp>
        <p:nvSpPr>
          <p:cNvPr id="9" name="页脚占位符 8"/>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0" name="灯片编号占位符 9"/>
          <p:cNvSpPr>
            <a:spLocks noGrp="1"/>
          </p:cNvSpPr>
          <p:nvPr>
            <p:ph type="sldNum" sz="quarter" idx="12"/>
          </p:nvPr>
        </p:nvSpPr>
        <p:spPr/>
        <p:txBody>
          <a:bodyPr/>
          <a:lstStyle/>
          <a:p>
            <a:fld id="{67913A8A-9EFB-4B5F-9CCB-3D21173FAA85}" type="slidenum">
              <a:rPr lang="zh-CN" altLang="en-US" smtClean="0"/>
              <a:pPr/>
              <a:t>64</a:t>
            </a:fld>
            <a:endParaRPr lang="zh-CN" alt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489857" y="1143000"/>
            <a:ext cx="11277599" cy="4572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生成树</a:t>
            </a:r>
            <a:endParaRPr lang="en-US" dirty="0"/>
          </a:p>
        </p:txBody>
      </p:sp>
      <p:sp>
        <p:nvSpPr>
          <p:cNvPr id="3" name="Content Placeholder 2"/>
          <p:cNvSpPr>
            <a:spLocks noGrp="1"/>
          </p:cNvSpPr>
          <p:nvPr>
            <p:ph idx="1"/>
          </p:nvPr>
        </p:nvSpPr>
        <p:spPr/>
        <p:txBody>
          <a:bodyPr>
            <a:normAutofit/>
          </a:bodyPr>
          <a:lstStyle/>
          <a:p>
            <a:r>
              <a:rPr lang="zh-CN" altLang="en-US" dirty="0"/>
              <a:t>定义</a:t>
            </a:r>
            <a:r>
              <a:rPr lang="en-US" altLang="zh-CN" dirty="0"/>
              <a:t>:</a:t>
            </a:r>
            <a:r>
              <a:rPr lang="zh-CN" altLang="en-US" dirty="0"/>
              <a:t>设</a:t>
            </a:r>
            <a:r>
              <a:rPr lang="en-US" altLang="zh-CN" dirty="0"/>
              <a:t>G</a:t>
            </a:r>
            <a:r>
              <a:rPr lang="zh-CN" altLang="en-US" dirty="0"/>
              <a:t>是简单图</a:t>
            </a:r>
            <a:r>
              <a:rPr lang="en-US" altLang="zh-CN" dirty="0"/>
              <a:t>. G</a:t>
            </a:r>
            <a:r>
              <a:rPr lang="zh-CN" altLang="en-US" dirty="0"/>
              <a:t>的</a:t>
            </a:r>
            <a:r>
              <a:rPr lang="zh-CN" altLang="en-US" b="1" dirty="0">
                <a:solidFill>
                  <a:srgbClr val="C00000"/>
                </a:solidFill>
              </a:rPr>
              <a:t>生成树</a:t>
            </a:r>
            <a:r>
              <a:rPr lang="zh-CN" altLang="en-US" dirty="0"/>
              <a:t>是包含</a:t>
            </a:r>
            <a:r>
              <a:rPr lang="en-US" altLang="zh-CN" dirty="0"/>
              <a:t>G</a:t>
            </a:r>
            <a:r>
              <a:rPr lang="zh-CN" altLang="en-US" dirty="0"/>
              <a:t>的每个顶点的</a:t>
            </a:r>
            <a:r>
              <a:rPr lang="en-US" altLang="zh-CN" dirty="0"/>
              <a:t>G</a:t>
            </a:r>
            <a:r>
              <a:rPr lang="zh-CN" altLang="en-US" dirty="0"/>
              <a:t>的子图，且没有简单回路的连通子图</a:t>
            </a:r>
            <a:r>
              <a:rPr lang="en-US" altLang="zh-CN" dirty="0"/>
              <a:t>.</a:t>
            </a:r>
          </a:p>
          <a:p>
            <a:r>
              <a:rPr lang="zh-CN" altLang="en-US" dirty="0"/>
              <a:t>有生成树的简单图必然是连通的</a:t>
            </a:r>
            <a:r>
              <a:rPr lang="en-US" altLang="zh-CN" dirty="0"/>
              <a:t>, </a:t>
            </a:r>
            <a:r>
              <a:rPr lang="zh-CN" altLang="en-US" dirty="0"/>
              <a:t>因为在生成树中</a:t>
            </a:r>
            <a:r>
              <a:rPr lang="en-US" altLang="zh-CN" dirty="0"/>
              <a:t>, </a:t>
            </a:r>
            <a:r>
              <a:rPr lang="zh-CN" altLang="en-US" dirty="0"/>
              <a:t>任何两个顶点之间都有通路</a:t>
            </a:r>
            <a:r>
              <a:rPr lang="en-US" altLang="zh-CN" dirty="0"/>
              <a:t>. </a:t>
            </a:r>
            <a:r>
              <a:rPr lang="zh-CN" altLang="en-US" dirty="0"/>
              <a:t>反过来也成立</a:t>
            </a:r>
            <a:r>
              <a:rPr lang="en-US" altLang="zh-CN" dirty="0"/>
              <a:t>, </a:t>
            </a:r>
            <a:r>
              <a:rPr lang="zh-CN" altLang="en-US" dirty="0"/>
              <a:t>即每个连通图都有生成树</a:t>
            </a:r>
            <a:r>
              <a:rPr lang="en-US" altLang="zh-CN" dirty="0"/>
              <a:t>.</a:t>
            </a:r>
          </a:p>
          <a:p>
            <a:r>
              <a:rPr lang="zh-CN" altLang="en-US" dirty="0"/>
              <a:t>生成树是原来简单图的所有顶点</a:t>
            </a:r>
            <a:r>
              <a:rPr lang="en-US" altLang="zh-CN" dirty="0"/>
              <a:t>, </a:t>
            </a:r>
            <a:r>
              <a:rPr lang="zh-CN" altLang="en-US" dirty="0"/>
              <a:t>边数最小的</a:t>
            </a:r>
            <a:r>
              <a:rPr lang="en-US" altLang="zh-CN" dirty="0"/>
              <a:t>, </a:t>
            </a:r>
            <a:r>
              <a:rPr lang="zh-CN" altLang="en-US" dirty="0"/>
              <a:t>不包含简单回路的连通子图</a:t>
            </a:r>
            <a:r>
              <a:rPr lang="en-US" altLang="zh-CN" dirty="0"/>
              <a:t>.</a:t>
            </a:r>
          </a:p>
          <a:p>
            <a:r>
              <a:rPr lang="zh-CN" altLang="en-US" dirty="0"/>
              <a:t>图</a:t>
            </a:r>
            <a:r>
              <a:rPr lang="en-US" altLang="zh-CN" dirty="0"/>
              <a:t>G</a:t>
            </a:r>
            <a:r>
              <a:rPr lang="zh-CN" altLang="en-US" dirty="0"/>
              <a:t>的生成树并不是唯一的</a:t>
            </a:r>
            <a:r>
              <a:rPr lang="en-US" altLang="zh-CN" dirty="0"/>
              <a:t>.</a:t>
            </a:r>
            <a:endParaRPr lang="en-US" dirty="0"/>
          </a:p>
        </p:txBody>
      </p:sp>
      <p:sp>
        <p:nvSpPr>
          <p:cNvPr id="9" name="日期占位符 8"/>
          <p:cNvSpPr>
            <a:spLocks noGrp="1"/>
          </p:cNvSpPr>
          <p:nvPr>
            <p:ph type="dt" sz="half" idx="10"/>
          </p:nvPr>
        </p:nvSpPr>
        <p:spPr/>
        <p:txBody>
          <a:bodyPr/>
          <a:lstStyle/>
          <a:p>
            <a:fld id="{DE6C35FE-FBD3-42B3-9B8E-DB458A562F4D}" type="datetime1">
              <a:rPr lang="zh-CN" altLang="en-US" smtClean="0"/>
              <a:t>2025/4/15</a:t>
            </a:fld>
            <a:endParaRPr lang="zh-CN" altLang="en-US" dirty="0"/>
          </a:p>
        </p:txBody>
      </p:sp>
      <p:sp>
        <p:nvSpPr>
          <p:cNvPr id="10" name="页脚占位符 9"/>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1" name="灯片编号占位符 10"/>
          <p:cNvSpPr>
            <a:spLocks noGrp="1"/>
          </p:cNvSpPr>
          <p:nvPr>
            <p:ph type="sldNum" sz="quarter" idx="12"/>
          </p:nvPr>
        </p:nvSpPr>
        <p:spPr/>
        <p:txBody>
          <a:bodyPr/>
          <a:lstStyle/>
          <a:p>
            <a:fld id="{67913A8A-9EFB-4B5F-9CCB-3D21173FAA85}" type="slidenum">
              <a:rPr lang="zh-CN" altLang="en-US" smtClean="0"/>
              <a:pPr/>
              <a:t>65</a:t>
            </a:fld>
            <a:endParaRPr lang="zh-CN" altLang="en-US" dirty="0"/>
          </a:p>
        </p:txBody>
      </p:sp>
    </p:spTree>
    <p:extLst>
      <p:ext uri="{BB962C8B-B14F-4D97-AF65-F5344CB8AC3E}">
        <p14:creationId xmlns:p14="http://schemas.microsoft.com/office/powerpoint/2010/main" val="168100148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生成树</a:t>
            </a:r>
            <a:endParaRPr lang="en-US" dirty="0"/>
          </a:p>
        </p:txBody>
      </p:sp>
      <p:sp>
        <p:nvSpPr>
          <p:cNvPr id="3" name="Content Placeholder 2"/>
          <p:cNvSpPr>
            <a:spLocks noGrp="1"/>
          </p:cNvSpPr>
          <p:nvPr>
            <p:ph idx="1"/>
          </p:nvPr>
        </p:nvSpPr>
        <p:spPr/>
        <p:txBody>
          <a:bodyPr>
            <a:normAutofit/>
          </a:bodyPr>
          <a:lstStyle/>
          <a:p>
            <a:r>
              <a:rPr lang="zh-CN" altLang="en-US" dirty="0"/>
              <a:t>例</a:t>
            </a:r>
            <a:r>
              <a:rPr lang="en-US" altLang="zh-CN" dirty="0"/>
              <a:t>:</a:t>
            </a:r>
            <a:r>
              <a:rPr lang="zh-CN" altLang="en-US" dirty="0"/>
              <a:t>找出如图所示的简单图</a:t>
            </a:r>
            <a:r>
              <a:rPr lang="en-US" altLang="zh-CN" dirty="0"/>
              <a:t>G</a:t>
            </a:r>
            <a:r>
              <a:rPr lang="zh-CN" altLang="en-US" dirty="0"/>
              <a:t>的生成树</a:t>
            </a:r>
            <a:r>
              <a:rPr lang="en-US" altLang="zh-CN" dirty="0"/>
              <a:t>.</a:t>
            </a:r>
          </a:p>
          <a:p>
            <a:endParaRPr lang="en-US" dirty="0"/>
          </a:p>
          <a:p>
            <a:endParaRPr lang="en-US" dirty="0"/>
          </a:p>
          <a:p>
            <a:endParaRPr lang="en-US" dirty="0"/>
          </a:p>
          <a:p>
            <a:endParaRPr lang="en-US" dirty="0"/>
          </a:p>
          <a:p>
            <a:r>
              <a:rPr lang="zh-CN" altLang="en-US" dirty="0"/>
              <a:t>解</a:t>
            </a:r>
            <a:r>
              <a:rPr lang="en-US" altLang="zh-CN" dirty="0"/>
              <a:t>:G</a:t>
            </a:r>
            <a:r>
              <a:rPr lang="zh-CN" altLang="en-US" dirty="0"/>
              <a:t>是连通的</a:t>
            </a:r>
            <a:r>
              <a:rPr lang="en-US" altLang="zh-CN" dirty="0"/>
              <a:t>, </a:t>
            </a:r>
            <a:r>
              <a:rPr lang="zh-CN" altLang="en-US" dirty="0"/>
              <a:t>但不是树</a:t>
            </a:r>
            <a:r>
              <a:rPr lang="en-US" altLang="zh-CN" dirty="0"/>
              <a:t>, </a:t>
            </a:r>
            <a:r>
              <a:rPr lang="zh-CN" altLang="en-US" dirty="0"/>
              <a:t>因为它包含简单回路</a:t>
            </a:r>
            <a:r>
              <a:rPr lang="en-US" altLang="zh-CN" dirty="0"/>
              <a:t>. </a:t>
            </a:r>
            <a:r>
              <a:rPr lang="zh-CN" altLang="en-US" dirty="0"/>
              <a:t>为了找到生成树</a:t>
            </a:r>
            <a:r>
              <a:rPr lang="en-US" altLang="zh-CN" dirty="0"/>
              <a:t>, </a:t>
            </a:r>
            <a:r>
              <a:rPr lang="zh-CN" altLang="en-US" dirty="0"/>
              <a:t>首先删除边</a:t>
            </a:r>
            <a:r>
              <a:rPr lang="en-US" altLang="zh-CN" dirty="0"/>
              <a:t> {a, e}. </a:t>
            </a:r>
            <a:r>
              <a:rPr lang="zh-CN" altLang="en-US" dirty="0"/>
              <a:t>这样消除了一个简单回路</a:t>
            </a:r>
            <a:r>
              <a:rPr lang="en-US" altLang="zh-CN" dirty="0"/>
              <a:t>, </a:t>
            </a:r>
            <a:r>
              <a:rPr lang="zh-CN" altLang="en-US" dirty="0"/>
              <a:t>而且得到的子图仍然是连通的且包含</a:t>
            </a:r>
            <a:r>
              <a:rPr lang="en-US" altLang="zh-CN" dirty="0"/>
              <a:t>G</a:t>
            </a:r>
            <a:r>
              <a:rPr lang="zh-CN" altLang="en-US" dirty="0"/>
              <a:t>的每个顶点</a:t>
            </a:r>
            <a:r>
              <a:rPr lang="en-US" altLang="zh-CN" dirty="0"/>
              <a:t>. </a:t>
            </a:r>
            <a:r>
              <a:rPr lang="zh-CN" altLang="en-US" dirty="0"/>
              <a:t>然后删除边</a:t>
            </a:r>
            <a:r>
              <a:rPr lang="en-US" altLang="zh-CN" dirty="0"/>
              <a:t> {e, f} , </a:t>
            </a:r>
            <a:r>
              <a:rPr lang="zh-CN" altLang="en-US" dirty="0"/>
              <a:t>消除另一个简单回路</a:t>
            </a:r>
            <a:r>
              <a:rPr lang="en-US" altLang="zh-CN" dirty="0"/>
              <a:t>.</a:t>
            </a:r>
            <a:r>
              <a:rPr lang="zh-CN" altLang="en-US" dirty="0"/>
              <a:t>最后删除边</a:t>
            </a:r>
            <a:r>
              <a:rPr lang="en-US" altLang="zh-CN" dirty="0"/>
              <a:t>{c, g}, </a:t>
            </a:r>
            <a:r>
              <a:rPr lang="zh-CN" altLang="en-US" dirty="0"/>
              <a:t>产生了一个没有简单回路的简单图</a:t>
            </a:r>
            <a:r>
              <a:rPr lang="en-US" altLang="zh-CN" dirty="0"/>
              <a:t>, </a:t>
            </a:r>
            <a:r>
              <a:rPr lang="zh-CN" altLang="en-US" dirty="0"/>
              <a:t>并且同样包含了</a:t>
            </a:r>
            <a:r>
              <a:rPr lang="en-US" altLang="zh-CN" dirty="0"/>
              <a:t>G</a:t>
            </a:r>
            <a:r>
              <a:rPr lang="zh-CN" altLang="en-US" dirty="0"/>
              <a:t>的每个顶点</a:t>
            </a:r>
            <a:r>
              <a:rPr lang="en-US" altLang="zh-CN" dirty="0"/>
              <a:t>, </a:t>
            </a:r>
            <a:r>
              <a:rPr lang="zh-CN" altLang="en-US" dirty="0"/>
              <a:t>所以是一个生成树</a:t>
            </a:r>
            <a:r>
              <a:rPr lang="en-US" altLang="zh-CN" dirty="0"/>
              <a:t>, </a:t>
            </a:r>
            <a:r>
              <a:rPr lang="zh-CN" altLang="en-US" dirty="0"/>
              <a:t>其过程图如下</a:t>
            </a:r>
            <a:endParaRPr lang="en-US" altLang="zh-CN"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35462" y="1663658"/>
            <a:ext cx="3103538" cy="1905074"/>
          </a:xfrm>
          <a:prstGeom prst="rect">
            <a:avLst/>
          </a:prstGeom>
        </p:spPr>
      </p:pic>
      <p:sp>
        <p:nvSpPr>
          <p:cNvPr id="9" name="日期占位符 8"/>
          <p:cNvSpPr>
            <a:spLocks noGrp="1"/>
          </p:cNvSpPr>
          <p:nvPr>
            <p:ph type="dt" sz="half" idx="10"/>
          </p:nvPr>
        </p:nvSpPr>
        <p:spPr/>
        <p:txBody>
          <a:bodyPr/>
          <a:lstStyle/>
          <a:p>
            <a:fld id="{2B96C19E-8C91-4BF8-9E20-AA2E1D6ACC6D}" type="datetime1">
              <a:rPr lang="zh-CN" altLang="en-US" smtClean="0"/>
              <a:t>2025/4/15</a:t>
            </a:fld>
            <a:endParaRPr lang="zh-CN" altLang="en-US" dirty="0"/>
          </a:p>
        </p:txBody>
      </p:sp>
      <p:sp>
        <p:nvSpPr>
          <p:cNvPr id="10" name="页脚占位符 9"/>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1" name="灯片编号占位符 10"/>
          <p:cNvSpPr>
            <a:spLocks noGrp="1"/>
          </p:cNvSpPr>
          <p:nvPr>
            <p:ph type="sldNum" sz="quarter" idx="12"/>
          </p:nvPr>
        </p:nvSpPr>
        <p:spPr/>
        <p:txBody>
          <a:bodyPr/>
          <a:lstStyle/>
          <a:p>
            <a:fld id="{67913A8A-9EFB-4B5F-9CCB-3D21173FAA85}" type="slidenum">
              <a:rPr lang="zh-CN" altLang="en-US" smtClean="0"/>
              <a:pPr/>
              <a:t>66</a:t>
            </a:fld>
            <a:endParaRPr lang="zh-CN" altLang="en-US" dirty="0"/>
          </a:p>
        </p:txBody>
      </p:sp>
      <p:sp>
        <p:nvSpPr>
          <p:cNvPr id="5" name="椭圆 4"/>
          <p:cNvSpPr/>
          <p:nvPr/>
        </p:nvSpPr>
        <p:spPr>
          <a:xfrm>
            <a:off x="4128884" y="2378276"/>
            <a:ext cx="381000" cy="228600"/>
          </a:xfrm>
          <a:prstGeom prst="ellipse">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4648200" y="2895600"/>
            <a:ext cx="381000" cy="228600"/>
          </a:xfrm>
          <a:prstGeom prst="ellipse">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6052941" y="2424707"/>
            <a:ext cx="381000" cy="228600"/>
          </a:xfrm>
          <a:prstGeom prst="ellipse">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998581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wipe(down)">
                                      <p:cBhvr>
                                        <p:cTn id="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生成树</a:t>
            </a:r>
            <a:endParaRPr lang="en-US" dirty="0"/>
          </a:p>
        </p:txBody>
      </p:sp>
      <p:sp>
        <p:nvSpPr>
          <p:cNvPr id="3" name="Content Placeholder 2"/>
          <p:cNvSpPr>
            <a:spLocks noGrp="1"/>
          </p:cNvSpPr>
          <p:nvPr>
            <p:ph idx="1"/>
          </p:nvPr>
        </p:nvSpPr>
        <p:spPr/>
        <p:txBody>
          <a:bodyPr>
            <a:normAutofit/>
          </a:bodyPr>
          <a:lstStyle/>
          <a:p>
            <a:endParaRPr lang="en-US" dirty="0"/>
          </a:p>
          <a:p>
            <a:endParaRPr lang="en-US" dirty="0"/>
          </a:p>
          <a:p>
            <a:endParaRPr lang="en-US" dirty="0"/>
          </a:p>
          <a:p>
            <a:pPr marL="0" indent="0">
              <a:buNone/>
            </a:pPr>
            <a:r>
              <a:rPr lang="en-US" altLang="zh-CN" dirty="0"/>
              <a:t> </a:t>
            </a:r>
            <a:r>
              <a:rPr lang="zh-CN" altLang="en-US" dirty="0"/>
              <a:t>另外</a:t>
            </a:r>
            <a:r>
              <a:rPr lang="en-US" altLang="zh-CN" dirty="0"/>
              <a:t>, G</a:t>
            </a:r>
            <a:r>
              <a:rPr lang="zh-CN" altLang="en-US" dirty="0"/>
              <a:t>的生成树不是唯一的</a:t>
            </a:r>
            <a:r>
              <a:rPr lang="en-US" altLang="zh-CN" dirty="0"/>
              <a:t>, </a:t>
            </a:r>
            <a:r>
              <a:rPr lang="zh-CN" altLang="en-US" dirty="0"/>
              <a:t>如下所示的也都是</a:t>
            </a:r>
            <a:r>
              <a:rPr lang="en-US" altLang="zh-CN" dirty="0"/>
              <a:t>G</a:t>
            </a:r>
            <a:r>
              <a:rPr lang="zh-CN" altLang="en-US" dirty="0"/>
              <a:t>的生成树</a:t>
            </a:r>
            <a:r>
              <a:rPr lang="en-US" altLang="zh-CN" dirty="0"/>
              <a:t>.</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1" y="992066"/>
            <a:ext cx="8305800" cy="1827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日期占位符 8"/>
          <p:cNvSpPr>
            <a:spLocks noGrp="1"/>
          </p:cNvSpPr>
          <p:nvPr>
            <p:ph type="dt" sz="half" idx="10"/>
          </p:nvPr>
        </p:nvSpPr>
        <p:spPr/>
        <p:txBody>
          <a:bodyPr/>
          <a:lstStyle/>
          <a:p>
            <a:fld id="{613ED2EA-A32D-4DB4-8024-180379008D80}" type="datetime1">
              <a:rPr lang="zh-CN" altLang="en-US" smtClean="0"/>
              <a:t>2025/4/15</a:t>
            </a:fld>
            <a:endParaRPr lang="zh-CN" altLang="en-US" dirty="0"/>
          </a:p>
        </p:txBody>
      </p:sp>
      <p:sp>
        <p:nvSpPr>
          <p:cNvPr id="10" name="页脚占位符 9"/>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1" name="灯片编号占位符 10"/>
          <p:cNvSpPr>
            <a:spLocks noGrp="1"/>
          </p:cNvSpPr>
          <p:nvPr>
            <p:ph type="sldNum" sz="quarter" idx="12"/>
          </p:nvPr>
        </p:nvSpPr>
        <p:spPr/>
        <p:txBody>
          <a:bodyPr/>
          <a:lstStyle/>
          <a:p>
            <a:fld id="{67913A8A-9EFB-4B5F-9CCB-3D21173FAA85}" type="slidenum">
              <a:rPr lang="zh-CN" altLang="en-US" smtClean="0"/>
              <a:pPr/>
              <a:t>67</a:t>
            </a:fld>
            <a:endParaRPr lang="zh-CN" altLang="en-US" dirty="0"/>
          </a:p>
        </p:txBody>
      </p:sp>
      <p:pic>
        <p:nvPicPr>
          <p:cNvPr id="5" name="图片 4"/>
          <p:cNvPicPr>
            <a:picLocks noChangeAspect="1"/>
          </p:cNvPicPr>
          <p:nvPr/>
        </p:nvPicPr>
        <p:blipFill>
          <a:blip r:embed="rId3"/>
          <a:stretch>
            <a:fillRect/>
          </a:stretch>
        </p:blipFill>
        <p:spPr>
          <a:xfrm>
            <a:off x="3352800" y="3276600"/>
            <a:ext cx="4953000" cy="3219214"/>
          </a:xfrm>
          <a:prstGeom prst="rect">
            <a:avLst/>
          </a:prstGeom>
        </p:spPr>
      </p:pic>
    </p:spTree>
    <p:extLst>
      <p:ext uri="{BB962C8B-B14F-4D97-AF65-F5344CB8AC3E}">
        <p14:creationId xmlns:p14="http://schemas.microsoft.com/office/powerpoint/2010/main" val="26158730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489857" y="1143000"/>
            <a:ext cx="11277599" cy="4572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a:t>生成树</a:t>
            </a:r>
            <a:endParaRPr lang="en-US" dirty="0"/>
          </a:p>
        </p:txBody>
      </p:sp>
      <p:sp>
        <p:nvSpPr>
          <p:cNvPr id="3" name="Content Placeholder 2"/>
          <p:cNvSpPr>
            <a:spLocks noGrp="1"/>
          </p:cNvSpPr>
          <p:nvPr>
            <p:ph idx="1"/>
          </p:nvPr>
        </p:nvSpPr>
        <p:spPr/>
        <p:txBody>
          <a:bodyPr/>
          <a:lstStyle/>
          <a:p>
            <a:r>
              <a:rPr lang="zh-CN" altLang="en-US" dirty="0"/>
              <a:t>定理</a:t>
            </a:r>
            <a:r>
              <a:rPr lang="en-US" altLang="zh-CN" dirty="0"/>
              <a:t>:</a:t>
            </a:r>
            <a:r>
              <a:rPr lang="zh-CN" altLang="en-US" dirty="0"/>
              <a:t>简单图是连通的当且仅当它有生成树</a:t>
            </a:r>
            <a:r>
              <a:rPr lang="en-US" dirty="0"/>
              <a:t>.</a:t>
            </a:r>
          </a:p>
          <a:p>
            <a:r>
              <a:rPr lang="zh-CN" altLang="en-US" dirty="0"/>
              <a:t>证</a:t>
            </a:r>
            <a:r>
              <a:rPr lang="en-US" dirty="0"/>
              <a:t>: </a:t>
            </a:r>
          </a:p>
          <a:p>
            <a:pPr lvl="1">
              <a:lnSpc>
                <a:spcPct val="100000"/>
              </a:lnSpc>
            </a:pPr>
            <a:r>
              <a:rPr lang="zh-CN" altLang="en-US" dirty="0"/>
              <a:t>假定简单图</a:t>
            </a:r>
            <a:r>
              <a:rPr lang="en-US" altLang="zh-CN" dirty="0"/>
              <a:t>G</a:t>
            </a:r>
            <a:r>
              <a:rPr lang="zh-CN" altLang="en-US" dirty="0"/>
              <a:t>有生成树</a:t>
            </a:r>
            <a:r>
              <a:rPr lang="en-US" altLang="zh-CN" dirty="0"/>
              <a:t>T. T</a:t>
            </a:r>
            <a:r>
              <a:rPr lang="zh-CN" altLang="en-US" dirty="0"/>
              <a:t>包含</a:t>
            </a:r>
            <a:r>
              <a:rPr lang="en-US" altLang="zh-CN" dirty="0"/>
              <a:t>G</a:t>
            </a:r>
            <a:r>
              <a:rPr lang="zh-CN" altLang="en-US" dirty="0"/>
              <a:t>的每个顶点</a:t>
            </a:r>
            <a:r>
              <a:rPr lang="en-US" altLang="zh-CN" dirty="0"/>
              <a:t>, </a:t>
            </a:r>
            <a:r>
              <a:rPr lang="zh-CN" altLang="en-US" dirty="0"/>
              <a:t>且</a:t>
            </a:r>
            <a:r>
              <a:rPr lang="en-US" altLang="zh-CN" dirty="0"/>
              <a:t>T</a:t>
            </a:r>
            <a:r>
              <a:rPr lang="zh-CN" altLang="en-US" dirty="0"/>
              <a:t>的任何两个顶点之间都有在</a:t>
            </a:r>
            <a:r>
              <a:rPr lang="en-US" altLang="zh-CN" dirty="0"/>
              <a:t>T</a:t>
            </a:r>
            <a:r>
              <a:rPr lang="zh-CN" altLang="en-US" dirty="0"/>
              <a:t>中的通路</a:t>
            </a:r>
            <a:r>
              <a:rPr lang="en-US" altLang="zh-CN" dirty="0"/>
              <a:t>. </a:t>
            </a:r>
            <a:r>
              <a:rPr lang="zh-CN" altLang="en-US" dirty="0"/>
              <a:t>因为</a:t>
            </a:r>
            <a:r>
              <a:rPr lang="en-US" altLang="zh-CN" dirty="0"/>
              <a:t>T</a:t>
            </a:r>
            <a:r>
              <a:rPr lang="zh-CN" altLang="en-US" dirty="0"/>
              <a:t>是</a:t>
            </a:r>
            <a:r>
              <a:rPr lang="en-US" altLang="zh-CN" dirty="0"/>
              <a:t>G</a:t>
            </a:r>
            <a:r>
              <a:rPr lang="zh-CN" altLang="en-US" dirty="0"/>
              <a:t>的子图</a:t>
            </a:r>
            <a:r>
              <a:rPr lang="en-US" altLang="zh-CN" dirty="0"/>
              <a:t>, </a:t>
            </a:r>
            <a:r>
              <a:rPr lang="zh-CN" altLang="en-US" dirty="0"/>
              <a:t>所以</a:t>
            </a:r>
            <a:r>
              <a:rPr lang="en-US" altLang="zh-CN" dirty="0"/>
              <a:t>G</a:t>
            </a:r>
            <a:r>
              <a:rPr lang="zh-CN" altLang="en-US" dirty="0"/>
              <a:t>的任何两个顶点之间也有通路</a:t>
            </a:r>
            <a:r>
              <a:rPr lang="en-US" altLang="zh-CN" dirty="0"/>
              <a:t>, </a:t>
            </a:r>
            <a:r>
              <a:rPr lang="zh-CN" altLang="en-US" dirty="0"/>
              <a:t>因此</a:t>
            </a:r>
            <a:r>
              <a:rPr lang="en-US" altLang="zh-CN" dirty="0"/>
              <a:t>G</a:t>
            </a:r>
            <a:r>
              <a:rPr lang="zh-CN" altLang="en-US" dirty="0"/>
              <a:t>一定是连通的</a:t>
            </a:r>
            <a:r>
              <a:rPr lang="en-US" altLang="zh-CN" dirty="0"/>
              <a:t>.</a:t>
            </a:r>
          </a:p>
          <a:p>
            <a:pPr lvl="1">
              <a:lnSpc>
                <a:spcPct val="100000"/>
              </a:lnSpc>
            </a:pPr>
            <a:r>
              <a:rPr lang="zh-CN" altLang="en-US" dirty="0"/>
              <a:t>假定</a:t>
            </a:r>
            <a:r>
              <a:rPr lang="en-US" altLang="zh-CN" dirty="0"/>
              <a:t>G</a:t>
            </a:r>
            <a:r>
              <a:rPr lang="zh-CN" altLang="en-US" dirty="0"/>
              <a:t>是连通的</a:t>
            </a:r>
            <a:r>
              <a:rPr lang="en-US" altLang="zh-CN" dirty="0"/>
              <a:t>. </a:t>
            </a:r>
            <a:r>
              <a:rPr lang="zh-CN" altLang="en-US" dirty="0"/>
              <a:t>若</a:t>
            </a:r>
            <a:r>
              <a:rPr lang="en-US" altLang="zh-CN" dirty="0"/>
              <a:t>G</a:t>
            </a:r>
            <a:r>
              <a:rPr lang="zh-CN" altLang="en-US" dirty="0"/>
              <a:t>不是树</a:t>
            </a:r>
            <a:r>
              <a:rPr lang="en-US" altLang="zh-CN" dirty="0"/>
              <a:t>, </a:t>
            </a:r>
            <a:r>
              <a:rPr lang="zh-CN" altLang="en-US" dirty="0"/>
              <a:t>则它必定包含简单回路</a:t>
            </a:r>
            <a:r>
              <a:rPr lang="en-US" altLang="zh-CN" dirty="0"/>
              <a:t>. </a:t>
            </a:r>
            <a:r>
              <a:rPr lang="zh-CN" altLang="en-US" dirty="0"/>
              <a:t>从其中删除一条边</a:t>
            </a:r>
            <a:r>
              <a:rPr lang="en-US" altLang="zh-CN" dirty="0"/>
              <a:t>, </a:t>
            </a:r>
            <a:r>
              <a:rPr lang="zh-CN" altLang="en-US" dirty="0"/>
              <a:t>消除掉一个简单回路且保持</a:t>
            </a:r>
            <a:r>
              <a:rPr lang="en-US" altLang="zh-CN" dirty="0"/>
              <a:t>G</a:t>
            </a:r>
            <a:r>
              <a:rPr lang="zh-CN" altLang="en-US" dirty="0"/>
              <a:t>中的每个顶点都在</a:t>
            </a:r>
            <a:r>
              <a:rPr lang="en-US" altLang="zh-CN" dirty="0"/>
              <a:t>, </a:t>
            </a:r>
            <a:r>
              <a:rPr lang="zh-CN" altLang="en-US" dirty="0"/>
              <a:t>然后再循环这个过程直到没有简单回路为止</a:t>
            </a:r>
            <a:r>
              <a:rPr lang="en-US" altLang="zh-CN" dirty="0"/>
              <a:t>. </a:t>
            </a:r>
            <a:r>
              <a:rPr lang="zh-CN" altLang="en-US" dirty="0"/>
              <a:t>这个过程是可能的</a:t>
            </a:r>
            <a:r>
              <a:rPr lang="en-US" altLang="zh-CN" dirty="0"/>
              <a:t>, </a:t>
            </a:r>
            <a:r>
              <a:rPr lang="zh-CN" altLang="en-US" dirty="0"/>
              <a:t>因为</a:t>
            </a:r>
            <a:r>
              <a:rPr lang="en-US" altLang="zh-CN" dirty="0"/>
              <a:t>G</a:t>
            </a:r>
            <a:r>
              <a:rPr lang="zh-CN" altLang="en-US" dirty="0"/>
              <a:t>中只有有穷的边数</a:t>
            </a:r>
            <a:r>
              <a:rPr lang="en-US" altLang="zh-CN" dirty="0"/>
              <a:t>. </a:t>
            </a:r>
            <a:r>
              <a:rPr lang="zh-CN" altLang="en-US" dirty="0"/>
              <a:t>当没有简单回路时</a:t>
            </a:r>
            <a:r>
              <a:rPr lang="en-US" altLang="zh-CN" dirty="0"/>
              <a:t>, </a:t>
            </a:r>
            <a:r>
              <a:rPr lang="zh-CN" altLang="en-US" dirty="0"/>
              <a:t>产生一棵树</a:t>
            </a:r>
            <a:r>
              <a:rPr lang="en-US" altLang="zh-CN" dirty="0"/>
              <a:t>, </a:t>
            </a:r>
            <a:r>
              <a:rPr lang="zh-CN" altLang="en-US" dirty="0"/>
              <a:t>因为在删除边的过程时保持了图的连通</a:t>
            </a:r>
            <a:r>
              <a:rPr lang="en-US" altLang="zh-CN" dirty="0"/>
              <a:t>. </a:t>
            </a:r>
            <a:r>
              <a:rPr lang="zh-CN" altLang="en-US" dirty="0"/>
              <a:t>所以这棵树是生成树</a:t>
            </a:r>
            <a:r>
              <a:rPr lang="en-US" altLang="zh-CN" dirty="0"/>
              <a:t>, </a:t>
            </a:r>
            <a:r>
              <a:rPr lang="zh-CN" altLang="en-US" dirty="0"/>
              <a:t>因为它包含了</a:t>
            </a:r>
            <a:r>
              <a:rPr lang="en-US" altLang="zh-CN" dirty="0"/>
              <a:t>G</a:t>
            </a:r>
            <a:r>
              <a:rPr lang="zh-CN" altLang="en-US" dirty="0"/>
              <a:t>的每个顶点</a:t>
            </a:r>
            <a:r>
              <a:rPr lang="en-US" altLang="zh-CN" dirty="0"/>
              <a:t>.</a:t>
            </a:r>
          </a:p>
        </p:txBody>
      </p:sp>
      <p:sp>
        <p:nvSpPr>
          <p:cNvPr id="8" name="日期占位符 7"/>
          <p:cNvSpPr>
            <a:spLocks noGrp="1"/>
          </p:cNvSpPr>
          <p:nvPr>
            <p:ph type="dt" sz="half" idx="10"/>
          </p:nvPr>
        </p:nvSpPr>
        <p:spPr/>
        <p:txBody>
          <a:bodyPr/>
          <a:lstStyle/>
          <a:p>
            <a:fld id="{46E2E1DF-64EA-4087-86E5-6AEF88CD8D38}" type="datetime1">
              <a:rPr lang="zh-CN" altLang="en-US" smtClean="0"/>
              <a:t>2025/4/15</a:t>
            </a:fld>
            <a:endParaRPr lang="zh-CN" altLang="en-US" dirty="0"/>
          </a:p>
        </p:txBody>
      </p:sp>
      <p:sp>
        <p:nvSpPr>
          <p:cNvPr id="10" name="灯片编号占位符 9"/>
          <p:cNvSpPr>
            <a:spLocks noGrp="1"/>
          </p:cNvSpPr>
          <p:nvPr>
            <p:ph type="sldNum" sz="quarter" idx="12"/>
          </p:nvPr>
        </p:nvSpPr>
        <p:spPr/>
        <p:txBody>
          <a:bodyPr/>
          <a:lstStyle/>
          <a:p>
            <a:fld id="{67913A8A-9EFB-4B5F-9CCB-3D21173FAA85}" type="slidenum">
              <a:rPr lang="zh-CN" altLang="en-US" smtClean="0"/>
              <a:pPr/>
              <a:t>68</a:t>
            </a:fld>
            <a:endParaRPr lang="zh-CN" altLang="en-US" dirty="0"/>
          </a:p>
        </p:txBody>
      </p:sp>
      <p:sp>
        <p:nvSpPr>
          <p:cNvPr id="11" name="页脚占位符 9"/>
          <p:cNvSpPr>
            <a:spLocks noGrp="1"/>
          </p:cNvSpPr>
          <p:nvPr>
            <p:ph type="ftr" sz="quarter" idx="11"/>
          </p:nvPr>
        </p:nvSpPr>
        <p:spPr>
          <a:xfrm>
            <a:off x="7467600" y="6377915"/>
            <a:ext cx="4343400" cy="403850"/>
          </a:xfrm>
        </p:spPr>
        <p:txBody>
          <a:bodyPr/>
          <a:lstStyle/>
          <a:p>
            <a:pPr algn="r"/>
            <a:r>
              <a:rPr lang="zh-CN" altLang="en-US" dirty="0"/>
              <a:t>华中科技大学</a:t>
            </a:r>
            <a:r>
              <a:rPr lang="en-US" altLang="zh-CN" dirty="0"/>
              <a:t>NNSS</a:t>
            </a:r>
            <a:r>
              <a:rPr lang="zh-CN" altLang="en-US" dirty="0"/>
              <a:t>实验室</a:t>
            </a:r>
          </a:p>
        </p:txBody>
      </p:sp>
    </p:spTree>
    <p:extLst>
      <p:ext uri="{BB962C8B-B14F-4D97-AF65-F5344CB8AC3E}">
        <p14:creationId xmlns:p14="http://schemas.microsoft.com/office/powerpoint/2010/main" val="58038751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深度优先搜索</a:t>
            </a:r>
            <a:endParaRPr lang="en-US" dirty="0"/>
          </a:p>
        </p:txBody>
      </p:sp>
      <p:sp>
        <p:nvSpPr>
          <p:cNvPr id="3" name="Content Placeholder 2"/>
          <p:cNvSpPr>
            <a:spLocks noGrp="1"/>
          </p:cNvSpPr>
          <p:nvPr>
            <p:ph idx="1"/>
          </p:nvPr>
        </p:nvSpPr>
        <p:spPr/>
        <p:txBody>
          <a:bodyPr>
            <a:normAutofit lnSpcReduction="10000"/>
          </a:bodyPr>
          <a:lstStyle/>
          <a:p>
            <a:r>
              <a:rPr lang="zh-CN" altLang="en-US" dirty="0"/>
              <a:t>前面通过从简单回路删除边来找生成树的过程其实很低效</a:t>
            </a:r>
            <a:r>
              <a:rPr lang="en-US" altLang="zh-CN" dirty="0"/>
              <a:t>, </a:t>
            </a:r>
            <a:r>
              <a:rPr lang="zh-CN" altLang="en-US" dirty="0"/>
              <a:t>因为要找出简单回路</a:t>
            </a:r>
            <a:r>
              <a:rPr lang="en-US" altLang="zh-CN" dirty="0"/>
              <a:t>. </a:t>
            </a:r>
            <a:r>
              <a:rPr lang="zh-CN" altLang="en-US" dirty="0"/>
              <a:t>我们接下来采用另外一种方法来找简单图的生成树</a:t>
            </a:r>
            <a:r>
              <a:rPr lang="en-US" altLang="zh-CN" dirty="0"/>
              <a:t>:</a:t>
            </a:r>
            <a:endParaRPr lang="en-US" dirty="0"/>
          </a:p>
          <a:p>
            <a:r>
              <a:rPr lang="zh-CN" altLang="en-US" b="1" dirty="0">
                <a:solidFill>
                  <a:srgbClr val="C00000"/>
                </a:solidFill>
              </a:rPr>
              <a:t>深度优先搜索</a:t>
            </a:r>
            <a:r>
              <a:rPr lang="zh-CN" altLang="en-US" dirty="0"/>
              <a:t>建立连通简单图的生成树</a:t>
            </a:r>
            <a:r>
              <a:rPr lang="en-US" altLang="zh-CN" dirty="0"/>
              <a:t>, </a:t>
            </a:r>
            <a:r>
              <a:rPr lang="zh-CN" altLang="en-US" dirty="0"/>
              <a:t>过程如下</a:t>
            </a:r>
            <a:r>
              <a:rPr lang="en-US" altLang="zh-CN" dirty="0"/>
              <a:t>:</a:t>
            </a:r>
          </a:p>
          <a:p>
            <a:pPr lvl="1">
              <a:lnSpc>
                <a:spcPct val="110000"/>
              </a:lnSpc>
            </a:pPr>
            <a:r>
              <a:rPr lang="zh-CN" altLang="en-US" dirty="0"/>
              <a:t>简单图中随机选择一个顶点作为根</a:t>
            </a:r>
            <a:r>
              <a:rPr lang="en-US" altLang="zh-CN" dirty="0"/>
              <a:t>. </a:t>
            </a:r>
            <a:r>
              <a:rPr lang="zh-CN" altLang="en-US" dirty="0"/>
              <a:t>依次添加边来形成从该顶点开始的通路</a:t>
            </a:r>
            <a:r>
              <a:rPr lang="en-US" altLang="zh-CN" dirty="0"/>
              <a:t>, </a:t>
            </a:r>
            <a:r>
              <a:rPr lang="zh-CN" altLang="en-US" dirty="0"/>
              <a:t>其中每条新边都与通路上的最后一个顶点以及还不再通路上的一个顶点相关联</a:t>
            </a:r>
            <a:r>
              <a:rPr lang="en-US" altLang="zh-CN" dirty="0"/>
              <a:t>. </a:t>
            </a:r>
            <a:r>
              <a:rPr lang="zh-CN" altLang="en-US" dirty="0"/>
              <a:t>继续尽可能的添加边到这个通路中</a:t>
            </a:r>
            <a:r>
              <a:rPr lang="en-US" altLang="zh-CN" dirty="0"/>
              <a:t>.</a:t>
            </a:r>
          </a:p>
          <a:p>
            <a:pPr lvl="1">
              <a:lnSpc>
                <a:spcPct val="110000"/>
              </a:lnSpc>
            </a:pPr>
            <a:r>
              <a:rPr lang="zh-CN" altLang="en-US" dirty="0"/>
              <a:t>如果这个通路经过了图的所有顶点</a:t>
            </a:r>
            <a:r>
              <a:rPr lang="en-US" altLang="zh-CN" dirty="0"/>
              <a:t>, </a:t>
            </a:r>
            <a:r>
              <a:rPr lang="zh-CN" altLang="en-US" dirty="0"/>
              <a:t>则这条通路组成的树就是生成树；如果还没有经过所有顶点</a:t>
            </a:r>
            <a:r>
              <a:rPr lang="en-US" altLang="zh-CN" dirty="0"/>
              <a:t>, </a:t>
            </a:r>
            <a:r>
              <a:rPr lang="zh-CN" altLang="en-US" dirty="0"/>
              <a:t>则必须添加其他顶点和边</a:t>
            </a:r>
            <a:r>
              <a:rPr lang="en-US" altLang="zh-CN" dirty="0"/>
              <a:t>, </a:t>
            </a:r>
            <a:r>
              <a:rPr lang="zh-CN" altLang="en-US" dirty="0"/>
              <a:t>退回到通路中的倒数第二个顶点</a:t>
            </a:r>
            <a:r>
              <a:rPr lang="en-US" altLang="zh-CN" dirty="0"/>
              <a:t>. </a:t>
            </a:r>
            <a:r>
              <a:rPr lang="zh-CN" altLang="en-US" dirty="0"/>
              <a:t>若可能</a:t>
            </a:r>
            <a:r>
              <a:rPr lang="en-US" altLang="zh-CN" dirty="0"/>
              <a:t>, </a:t>
            </a:r>
            <a:r>
              <a:rPr lang="zh-CN" altLang="en-US" dirty="0"/>
              <a:t>则形成从这个顶点开始的经过还没有访问过的顶点的通路；若不可能</a:t>
            </a:r>
            <a:r>
              <a:rPr lang="en-US" altLang="zh-CN" dirty="0"/>
              <a:t>, </a:t>
            </a:r>
            <a:r>
              <a:rPr lang="zh-CN" altLang="en-US" dirty="0"/>
              <a:t>则后退到通路中的另外一个顶点</a:t>
            </a:r>
            <a:r>
              <a:rPr lang="en-US" altLang="zh-CN" dirty="0"/>
              <a:t>, </a:t>
            </a:r>
            <a:r>
              <a:rPr lang="zh-CN" altLang="en-US" dirty="0"/>
              <a:t>然后再试</a:t>
            </a:r>
            <a:r>
              <a:rPr lang="en-US" altLang="zh-CN" dirty="0"/>
              <a:t>.</a:t>
            </a:r>
          </a:p>
          <a:p>
            <a:pPr lvl="1">
              <a:lnSpc>
                <a:spcPct val="110000"/>
              </a:lnSpc>
            </a:pPr>
            <a:r>
              <a:rPr lang="zh-CN" altLang="en-US" dirty="0"/>
              <a:t>重复以上过程</a:t>
            </a:r>
            <a:r>
              <a:rPr lang="en-US" altLang="zh-CN" dirty="0"/>
              <a:t>, </a:t>
            </a:r>
            <a:r>
              <a:rPr lang="zh-CN" altLang="en-US" dirty="0"/>
              <a:t>从所访问过的最后一个顶点开始</a:t>
            </a:r>
            <a:r>
              <a:rPr lang="en-US" altLang="zh-CN" dirty="0"/>
              <a:t>, </a:t>
            </a:r>
            <a:r>
              <a:rPr lang="zh-CN" altLang="en-US" dirty="0"/>
              <a:t>在通路上一次后退一个顶点</a:t>
            </a:r>
            <a:r>
              <a:rPr lang="en-US" altLang="zh-CN" dirty="0"/>
              <a:t>, </a:t>
            </a:r>
            <a:r>
              <a:rPr lang="zh-CN" altLang="en-US" dirty="0"/>
              <a:t>只要有可能形成新的通路</a:t>
            </a:r>
            <a:r>
              <a:rPr lang="en-US" altLang="zh-CN" dirty="0"/>
              <a:t>, </a:t>
            </a:r>
            <a:r>
              <a:rPr lang="zh-CN" altLang="en-US" dirty="0"/>
              <a:t>直到不能添加更多的边为止</a:t>
            </a:r>
            <a:r>
              <a:rPr lang="en-US" altLang="zh-CN" dirty="0"/>
              <a:t>.</a:t>
            </a:r>
          </a:p>
        </p:txBody>
      </p:sp>
      <p:sp>
        <p:nvSpPr>
          <p:cNvPr id="8" name="日期占位符 7"/>
          <p:cNvSpPr>
            <a:spLocks noGrp="1"/>
          </p:cNvSpPr>
          <p:nvPr>
            <p:ph type="dt" sz="half" idx="10"/>
          </p:nvPr>
        </p:nvSpPr>
        <p:spPr/>
        <p:txBody>
          <a:bodyPr/>
          <a:lstStyle/>
          <a:p>
            <a:fld id="{E13DF2A5-8DC3-4200-A29D-92C92805DA6C}" type="datetime1">
              <a:rPr lang="zh-CN" altLang="en-US" smtClean="0"/>
              <a:t>2025/4/15</a:t>
            </a:fld>
            <a:endParaRPr lang="zh-CN" altLang="en-US" dirty="0"/>
          </a:p>
        </p:txBody>
      </p:sp>
      <p:sp>
        <p:nvSpPr>
          <p:cNvPr id="9" name="页脚占位符 8"/>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0" name="灯片编号占位符 9"/>
          <p:cNvSpPr>
            <a:spLocks noGrp="1"/>
          </p:cNvSpPr>
          <p:nvPr>
            <p:ph type="sldNum" sz="quarter" idx="12"/>
          </p:nvPr>
        </p:nvSpPr>
        <p:spPr/>
        <p:txBody>
          <a:bodyPr/>
          <a:lstStyle/>
          <a:p>
            <a:fld id="{67913A8A-9EFB-4B5F-9CCB-3D21173FAA85}" type="slidenum">
              <a:rPr lang="zh-CN" altLang="en-US" smtClean="0"/>
              <a:pPr/>
              <a:t>69</a:t>
            </a:fld>
            <a:endParaRPr lang="zh-CN" altLang="en-US" dirty="0"/>
          </a:p>
        </p:txBody>
      </p:sp>
    </p:spTree>
    <p:extLst>
      <p:ext uri="{BB962C8B-B14F-4D97-AF65-F5344CB8AC3E}">
        <p14:creationId xmlns:p14="http://schemas.microsoft.com/office/powerpoint/2010/main" val="311517069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深度优先搜索</a:t>
            </a:r>
            <a:endParaRPr lang="en-US" dirty="0"/>
          </a:p>
        </p:txBody>
      </p:sp>
      <p:sp>
        <p:nvSpPr>
          <p:cNvPr id="3" name="Content Placeholder 2"/>
          <p:cNvSpPr>
            <a:spLocks noGrp="1"/>
          </p:cNvSpPr>
          <p:nvPr>
            <p:ph idx="1"/>
          </p:nvPr>
        </p:nvSpPr>
        <p:spPr/>
        <p:txBody>
          <a:bodyPr>
            <a:normAutofit/>
          </a:bodyPr>
          <a:lstStyle/>
          <a:p>
            <a:r>
              <a:rPr lang="zh-CN" altLang="en-US" dirty="0"/>
              <a:t>例</a:t>
            </a:r>
            <a:r>
              <a:rPr lang="en-US" dirty="0"/>
              <a:t>: </a:t>
            </a:r>
            <a:r>
              <a:rPr lang="zh-CN" altLang="en-US" dirty="0"/>
              <a:t>用深度优先搜索如图所示的简单图</a:t>
            </a:r>
            <a:r>
              <a:rPr lang="en-US" altLang="zh-CN" dirty="0"/>
              <a:t>G</a:t>
            </a:r>
            <a:r>
              <a:rPr lang="zh-CN" altLang="en-US" dirty="0"/>
              <a:t>的生成树</a:t>
            </a:r>
            <a:r>
              <a:rPr lang="en-US" dirty="0"/>
              <a:t>.</a:t>
            </a:r>
          </a:p>
          <a:p>
            <a:endParaRPr lang="en-US" dirty="0"/>
          </a:p>
          <a:p>
            <a:endParaRPr lang="en-US" dirty="0"/>
          </a:p>
          <a:p>
            <a:endParaRPr lang="en-US" dirty="0"/>
          </a:p>
          <a:p>
            <a:r>
              <a:rPr lang="zh-CN" altLang="en-US" dirty="0"/>
              <a:t>解</a:t>
            </a:r>
            <a:r>
              <a:rPr lang="en-US" altLang="zh-CN" dirty="0"/>
              <a:t>:</a:t>
            </a:r>
            <a:r>
              <a:rPr lang="zh-CN" altLang="en-US" dirty="0"/>
              <a:t>随机选择</a:t>
            </a:r>
            <a:r>
              <a:rPr lang="en-US" altLang="zh-CN" dirty="0"/>
              <a:t>G</a:t>
            </a:r>
            <a:r>
              <a:rPr lang="zh-CN" altLang="en-US" dirty="0"/>
              <a:t>中的顶点开始</a:t>
            </a:r>
            <a:r>
              <a:rPr lang="en-US" altLang="zh-CN" dirty="0"/>
              <a:t>, </a:t>
            </a:r>
            <a:r>
              <a:rPr lang="zh-CN" altLang="en-US" dirty="0"/>
              <a:t>如</a:t>
            </a:r>
            <a:r>
              <a:rPr lang="en-US" altLang="zh-CN" dirty="0"/>
              <a:t>f. </a:t>
            </a:r>
            <a:r>
              <a:rPr lang="zh-CN" altLang="en-US" dirty="0"/>
              <a:t>然后将产生如下图所表示的过程的生成树</a:t>
            </a:r>
            <a:r>
              <a:rPr lang="en-US" dirty="0"/>
              <a:t>. </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4800" y="1584500"/>
            <a:ext cx="3111098" cy="1587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4057167"/>
            <a:ext cx="6400800" cy="22454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日期占位符 7"/>
          <p:cNvSpPr>
            <a:spLocks noGrp="1"/>
          </p:cNvSpPr>
          <p:nvPr>
            <p:ph type="dt" sz="half" idx="10"/>
          </p:nvPr>
        </p:nvSpPr>
        <p:spPr/>
        <p:txBody>
          <a:bodyPr/>
          <a:lstStyle/>
          <a:p>
            <a:fld id="{22A83D45-D99F-45CE-B73F-B2F8CC2AA8EA}" type="datetime1">
              <a:rPr lang="zh-CN" altLang="en-US" smtClean="0"/>
              <a:t>2025/4/15</a:t>
            </a:fld>
            <a:endParaRPr lang="zh-CN" altLang="en-US" dirty="0"/>
          </a:p>
        </p:txBody>
      </p:sp>
      <p:sp>
        <p:nvSpPr>
          <p:cNvPr id="9" name="页脚占位符 8"/>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0" name="灯片编号占位符 9"/>
          <p:cNvSpPr>
            <a:spLocks noGrp="1"/>
          </p:cNvSpPr>
          <p:nvPr>
            <p:ph type="sldNum" sz="quarter" idx="12"/>
          </p:nvPr>
        </p:nvSpPr>
        <p:spPr/>
        <p:txBody>
          <a:bodyPr/>
          <a:lstStyle/>
          <a:p>
            <a:fld id="{67913A8A-9EFB-4B5F-9CCB-3D21173FAA85}" type="slidenum">
              <a:rPr lang="zh-CN" altLang="en-US" smtClean="0"/>
              <a:pPr/>
              <a:t>70</a:t>
            </a:fld>
            <a:endParaRPr lang="zh-CN" altLang="en-US" dirty="0"/>
          </a:p>
        </p:txBody>
      </p:sp>
    </p:spTree>
    <p:extLst>
      <p:ext uri="{BB962C8B-B14F-4D97-AF65-F5344CB8AC3E}">
        <p14:creationId xmlns:p14="http://schemas.microsoft.com/office/powerpoint/2010/main" val="195063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wipe(down)">
                                      <p:cBhvr>
                                        <p:cTn id="7" dur="500"/>
                                        <p:tgtEl>
                                          <p:spTgt spid="3">
                                            <p:txEl>
                                              <p:pRg st="4" end="4"/>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075"/>
                                        </p:tgtEl>
                                        <p:attrNameLst>
                                          <p:attrName>style.visibility</p:attrName>
                                        </p:attrNameLst>
                                      </p:cBhvr>
                                      <p:to>
                                        <p:strVal val="visible"/>
                                      </p:to>
                                    </p:set>
                                    <p:animEffect transition="in" filter="wipe(down)">
                                      <p:cBhvr>
                                        <p:cTn id="10" dur="500"/>
                                        <p:tgtEl>
                                          <p:spTgt spid="30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深度优先搜索</a:t>
            </a:r>
            <a:endParaRPr lang="en-US" dirty="0"/>
          </a:p>
        </p:txBody>
      </p:sp>
      <p:sp>
        <p:nvSpPr>
          <p:cNvPr id="3" name="Content Placeholder 2"/>
          <p:cNvSpPr>
            <a:spLocks noGrp="1"/>
          </p:cNvSpPr>
          <p:nvPr>
            <p:ph idx="1"/>
          </p:nvPr>
        </p:nvSpPr>
        <p:spPr/>
        <p:txBody>
          <a:bodyPr/>
          <a:lstStyle/>
          <a:p>
            <a:r>
              <a:rPr lang="zh-CN" altLang="en-US" dirty="0"/>
              <a:t>深度优先搜索也称</a:t>
            </a:r>
            <a:r>
              <a:rPr lang="zh-CN" altLang="en-US" b="1" dirty="0">
                <a:solidFill>
                  <a:srgbClr val="C00000"/>
                </a:solidFill>
              </a:rPr>
              <a:t>回溯</a:t>
            </a:r>
            <a:r>
              <a:rPr lang="en-US" altLang="zh-CN" dirty="0"/>
              <a:t>, </a:t>
            </a:r>
            <a:r>
              <a:rPr lang="zh-CN" altLang="en-US" dirty="0"/>
              <a:t>因为它返回以前访问过的顶点以便添加边</a:t>
            </a:r>
            <a:r>
              <a:rPr lang="en-US" altLang="zh-CN" dirty="0"/>
              <a:t>.</a:t>
            </a:r>
          </a:p>
          <a:p>
            <a:r>
              <a:rPr lang="zh-CN" altLang="en-US" dirty="0"/>
              <a:t>一个图的深度优先搜索搜选择的边称为</a:t>
            </a:r>
            <a:r>
              <a:rPr lang="zh-CN" altLang="en-US" b="1" dirty="0">
                <a:solidFill>
                  <a:srgbClr val="C00000"/>
                </a:solidFill>
              </a:rPr>
              <a:t>树边</a:t>
            </a:r>
            <a:r>
              <a:rPr lang="en-US" altLang="zh-CN" dirty="0"/>
              <a:t>. </a:t>
            </a:r>
            <a:r>
              <a:rPr lang="zh-CN" altLang="en-US" dirty="0"/>
              <a:t>这个图所有其他边都必然连接一个顶点与这个顶点在树中的祖先或后代</a:t>
            </a:r>
            <a:r>
              <a:rPr lang="en-US" altLang="zh-CN" dirty="0"/>
              <a:t>, </a:t>
            </a:r>
            <a:r>
              <a:rPr lang="zh-CN" altLang="en-US" dirty="0"/>
              <a:t>这些边称为</a:t>
            </a:r>
            <a:r>
              <a:rPr lang="zh-CN" altLang="en-US" b="1" dirty="0">
                <a:solidFill>
                  <a:srgbClr val="C00000"/>
                </a:solidFill>
              </a:rPr>
              <a:t>背边</a:t>
            </a:r>
            <a:r>
              <a:rPr lang="en-US" altLang="zh-CN" dirty="0"/>
              <a:t>.</a:t>
            </a:r>
          </a:p>
          <a:p>
            <a:r>
              <a:rPr lang="zh-CN" altLang="en-US" dirty="0"/>
              <a:t>下图显示了上一个例子中深度优先搜索所对应的树边</a:t>
            </a:r>
            <a:r>
              <a:rPr lang="en-US" altLang="zh-CN" dirty="0"/>
              <a:t>(</a:t>
            </a:r>
            <a:r>
              <a:rPr lang="zh-CN" altLang="en-US" dirty="0"/>
              <a:t>用粗线显示</a:t>
            </a:r>
            <a:r>
              <a:rPr lang="en-US" altLang="zh-CN" dirty="0"/>
              <a:t>), </a:t>
            </a:r>
            <a:r>
              <a:rPr lang="zh-CN" altLang="en-US" dirty="0"/>
              <a:t>其他背边用细黑线显示</a:t>
            </a:r>
            <a:r>
              <a:rPr lang="en-US" altLang="zh-CN" dirty="0"/>
              <a:t>:</a:t>
            </a:r>
            <a:r>
              <a:rPr lang="en-US" dirty="0"/>
              <a:t> </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92126" y="4050215"/>
            <a:ext cx="4207747" cy="21416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日期占位符 7"/>
          <p:cNvSpPr>
            <a:spLocks noGrp="1"/>
          </p:cNvSpPr>
          <p:nvPr>
            <p:ph type="dt" sz="half" idx="10"/>
          </p:nvPr>
        </p:nvSpPr>
        <p:spPr/>
        <p:txBody>
          <a:bodyPr/>
          <a:lstStyle/>
          <a:p>
            <a:fld id="{9EAF4038-176B-44DC-AA91-503BC65161FC}" type="datetime1">
              <a:rPr lang="zh-CN" altLang="en-US" smtClean="0"/>
              <a:t>2025/4/15</a:t>
            </a:fld>
            <a:endParaRPr lang="zh-CN" altLang="en-US" dirty="0"/>
          </a:p>
        </p:txBody>
      </p:sp>
      <p:sp>
        <p:nvSpPr>
          <p:cNvPr id="9" name="页脚占位符 8"/>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0" name="灯片编号占位符 9"/>
          <p:cNvSpPr>
            <a:spLocks noGrp="1"/>
          </p:cNvSpPr>
          <p:nvPr>
            <p:ph type="sldNum" sz="quarter" idx="12"/>
          </p:nvPr>
        </p:nvSpPr>
        <p:spPr/>
        <p:txBody>
          <a:bodyPr/>
          <a:lstStyle/>
          <a:p>
            <a:fld id="{67913A8A-9EFB-4B5F-9CCB-3D21173FAA85}" type="slidenum">
              <a:rPr lang="zh-CN" altLang="en-US" smtClean="0"/>
              <a:pPr/>
              <a:t>71</a:t>
            </a:fld>
            <a:endParaRPr lang="zh-CN" altLang="en-US" dirty="0"/>
          </a:p>
        </p:txBody>
      </p:sp>
    </p:spTree>
    <p:extLst>
      <p:ext uri="{BB962C8B-B14F-4D97-AF65-F5344CB8AC3E}">
        <p14:creationId xmlns:p14="http://schemas.microsoft.com/office/powerpoint/2010/main" val="40813304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宽度优先搜索</a:t>
            </a:r>
            <a:endParaRPr lang="en-US" dirty="0"/>
          </a:p>
        </p:txBody>
      </p:sp>
      <p:sp>
        <p:nvSpPr>
          <p:cNvPr id="3" name="Content Placeholder 2"/>
          <p:cNvSpPr>
            <a:spLocks noGrp="1"/>
          </p:cNvSpPr>
          <p:nvPr>
            <p:ph idx="1"/>
          </p:nvPr>
        </p:nvSpPr>
        <p:spPr/>
        <p:txBody>
          <a:bodyPr>
            <a:normAutofit/>
          </a:bodyPr>
          <a:lstStyle/>
          <a:p>
            <a:r>
              <a:rPr lang="zh-CN" altLang="en-US" dirty="0"/>
              <a:t>也可以通过</a:t>
            </a:r>
            <a:r>
              <a:rPr lang="zh-CN" altLang="en-US" b="1" dirty="0">
                <a:solidFill>
                  <a:srgbClr val="C00000"/>
                </a:solidFill>
              </a:rPr>
              <a:t>宽度优先搜索</a:t>
            </a:r>
            <a:r>
              <a:rPr lang="zh-CN" altLang="en-US" dirty="0"/>
              <a:t>来产生简单图的生成树</a:t>
            </a:r>
            <a:r>
              <a:rPr lang="en-US" altLang="zh-CN" dirty="0"/>
              <a:t>, </a:t>
            </a:r>
            <a:r>
              <a:rPr lang="zh-CN" altLang="en-US" dirty="0"/>
              <a:t>过程如下</a:t>
            </a:r>
            <a:r>
              <a:rPr lang="en-US" altLang="zh-CN" dirty="0"/>
              <a:t>:</a:t>
            </a:r>
          </a:p>
          <a:p>
            <a:pPr lvl="1">
              <a:lnSpc>
                <a:spcPct val="100000"/>
              </a:lnSpc>
            </a:pPr>
            <a:r>
              <a:rPr lang="zh-CN" altLang="en-US" dirty="0"/>
              <a:t>简单图中随机选择一个顶点作为根</a:t>
            </a:r>
            <a:r>
              <a:rPr lang="en-US" altLang="zh-CN" dirty="0"/>
              <a:t>. </a:t>
            </a:r>
            <a:r>
              <a:rPr lang="zh-CN" altLang="en-US" dirty="0"/>
              <a:t>依次添加与这个顶点相关联的边</a:t>
            </a:r>
            <a:r>
              <a:rPr lang="en-US" altLang="zh-CN" dirty="0"/>
              <a:t>. </a:t>
            </a:r>
            <a:r>
              <a:rPr lang="zh-CN" altLang="en-US" dirty="0"/>
              <a:t>这个过程中</a:t>
            </a:r>
            <a:r>
              <a:rPr lang="en-US" altLang="zh-CN" dirty="0"/>
              <a:t>, </a:t>
            </a:r>
            <a:r>
              <a:rPr lang="zh-CN" altLang="en-US" dirty="0"/>
              <a:t>所添加的新顶点成为生成树在第</a:t>
            </a:r>
            <a:r>
              <a:rPr lang="en-US" altLang="zh-CN" dirty="0"/>
              <a:t>1</a:t>
            </a:r>
            <a:r>
              <a:rPr lang="zh-CN" altLang="en-US" dirty="0"/>
              <a:t>层上的顶点</a:t>
            </a:r>
            <a:r>
              <a:rPr lang="en-US" altLang="zh-CN" dirty="0"/>
              <a:t>, </a:t>
            </a:r>
            <a:r>
              <a:rPr lang="zh-CN" altLang="en-US" dirty="0"/>
              <a:t>将新顶点任意排序</a:t>
            </a:r>
            <a:r>
              <a:rPr lang="en-US" altLang="zh-CN" dirty="0"/>
              <a:t>.</a:t>
            </a:r>
          </a:p>
          <a:p>
            <a:pPr lvl="1">
              <a:lnSpc>
                <a:spcPct val="100000"/>
              </a:lnSpc>
            </a:pPr>
            <a:r>
              <a:rPr lang="zh-CN" altLang="en-US" dirty="0"/>
              <a:t>下一步</a:t>
            </a:r>
            <a:r>
              <a:rPr lang="en-US" altLang="zh-CN" dirty="0"/>
              <a:t>, </a:t>
            </a:r>
            <a:r>
              <a:rPr lang="zh-CN" altLang="en-US" dirty="0"/>
              <a:t>顺序访问第</a:t>
            </a:r>
            <a:r>
              <a:rPr lang="en-US" altLang="zh-CN" dirty="0"/>
              <a:t>1</a:t>
            </a:r>
            <a:r>
              <a:rPr lang="zh-CN" altLang="en-US" dirty="0"/>
              <a:t>层上的每个顶点</a:t>
            </a:r>
            <a:r>
              <a:rPr lang="en-US" altLang="zh-CN" dirty="0"/>
              <a:t>, </a:t>
            </a:r>
            <a:r>
              <a:rPr lang="zh-CN" altLang="en-US" dirty="0"/>
              <a:t>但不要产生简单回路</a:t>
            </a:r>
            <a:r>
              <a:rPr lang="en-US" altLang="zh-CN" dirty="0"/>
              <a:t>, </a:t>
            </a:r>
            <a:r>
              <a:rPr lang="zh-CN" altLang="en-US" dirty="0"/>
              <a:t>就将与这个顶点关联的边添加到生成树中</a:t>
            </a:r>
            <a:r>
              <a:rPr lang="en-US" altLang="zh-CN" dirty="0"/>
              <a:t>. </a:t>
            </a:r>
            <a:r>
              <a:rPr lang="zh-CN" altLang="en-US" dirty="0"/>
              <a:t>任意排序第一层的每个顶点的孩子</a:t>
            </a:r>
            <a:r>
              <a:rPr lang="en-US" altLang="zh-CN" dirty="0"/>
              <a:t>.</a:t>
            </a:r>
          </a:p>
          <a:p>
            <a:pPr lvl="1">
              <a:lnSpc>
                <a:spcPct val="100000"/>
              </a:lnSpc>
            </a:pPr>
            <a:r>
              <a:rPr lang="zh-CN" altLang="en-US" dirty="0"/>
              <a:t>这样就产生了树在第</a:t>
            </a:r>
            <a:r>
              <a:rPr lang="en-US" altLang="zh-CN" dirty="0"/>
              <a:t>2</a:t>
            </a:r>
            <a:r>
              <a:rPr lang="zh-CN" altLang="en-US" dirty="0"/>
              <a:t>层上的顶点</a:t>
            </a:r>
            <a:r>
              <a:rPr lang="en-US" altLang="zh-CN" dirty="0"/>
              <a:t>, </a:t>
            </a:r>
            <a:r>
              <a:rPr lang="zh-CN" altLang="en-US" dirty="0"/>
              <a:t>如上循环</a:t>
            </a:r>
            <a:r>
              <a:rPr lang="en-US" altLang="zh-CN" dirty="0"/>
              <a:t>, </a:t>
            </a:r>
            <a:r>
              <a:rPr lang="zh-CN" altLang="en-US" dirty="0"/>
              <a:t>直到已经添加了所有顶点</a:t>
            </a:r>
            <a:r>
              <a:rPr lang="en-US" altLang="zh-CN" dirty="0"/>
              <a:t>, </a:t>
            </a:r>
            <a:r>
              <a:rPr lang="zh-CN" altLang="en-US" dirty="0"/>
              <a:t>对应的生成树也就产生了</a:t>
            </a:r>
            <a:r>
              <a:rPr lang="en-US" altLang="zh-CN" dirty="0"/>
              <a:t>.</a:t>
            </a:r>
          </a:p>
        </p:txBody>
      </p:sp>
      <p:sp>
        <p:nvSpPr>
          <p:cNvPr id="8" name="日期占位符 7"/>
          <p:cNvSpPr>
            <a:spLocks noGrp="1"/>
          </p:cNvSpPr>
          <p:nvPr>
            <p:ph type="dt" sz="half" idx="10"/>
          </p:nvPr>
        </p:nvSpPr>
        <p:spPr/>
        <p:txBody>
          <a:bodyPr/>
          <a:lstStyle/>
          <a:p>
            <a:fld id="{F8DAD336-B941-4082-AFC8-89A0D5A11D01}" type="datetime1">
              <a:rPr lang="zh-CN" altLang="en-US" smtClean="0"/>
              <a:t>2025/4/15</a:t>
            </a:fld>
            <a:endParaRPr lang="zh-CN" altLang="en-US" dirty="0"/>
          </a:p>
        </p:txBody>
      </p:sp>
      <p:sp>
        <p:nvSpPr>
          <p:cNvPr id="9" name="页脚占位符 8"/>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0" name="灯片编号占位符 9"/>
          <p:cNvSpPr>
            <a:spLocks noGrp="1"/>
          </p:cNvSpPr>
          <p:nvPr>
            <p:ph type="sldNum" sz="quarter" idx="12"/>
          </p:nvPr>
        </p:nvSpPr>
        <p:spPr/>
        <p:txBody>
          <a:bodyPr/>
          <a:lstStyle/>
          <a:p>
            <a:fld id="{67913A8A-9EFB-4B5F-9CCB-3D21173FAA85}" type="slidenum">
              <a:rPr lang="zh-CN" altLang="en-US" smtClean="0"/>
              <a:pPr/>
              <a:t>72</a:t>
            </a:fld>
            <a:endParaRPr lang="zh-CN" altLang="en-US" dirty="0"/>
          </a:p>
        </p:txBody>
      </p:sp>
    </p:spTree>
    <p:extLst>
      <p:ext uri="{BB962C8B-B14F-4D97-AF65-F5344CB8AC3E}">
        <p14:creationId xmlns:p14="http://schemas.microsoft.com/office/powerpoint/2010/main" val="100617601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宽度优先搜索</a:t>
            </a:r>
            <a:endParaRPr lang="en-US" dirty="0"/>
          </a:p>
        </p:txBody>
      </p:sp>
      <p:sp>
        <p:nvSpPr>
          <p:cNvPr id="3" name="Content Placeholder 2"/>
          <p:cNvSpPr>
            <a:spLocks noGrp="1"/>
          </p:cNvSpPr>
          <p:nvPr>
            <p:ph idx="1"/>
          </p:nvPr>
        </p:nvSpPr>
        <p:spPr/>
        <p:txBody>
          <a:bodyPr>
            <a:normAutofit/>
          </a:bodyPr>
          <a:lstStyle/>
          <a:p>
            <a:r>
              <a:rPr lang="zh-CN" altLang="en-US" dirty="0"/>
              <a:t>例</a:t>
            </a:r>
            <a:r>
              <a:rPr lang="en-US" dirty="0"/>
              <a:t>: </a:t>
            </a:r>
            <a:r>
              <a:rPr lang="zh-CN" altLang="en-US" dirty="0"/>
              <a:t>用宽度优先搜索找出下图的生成树</a:t>
            </a:r>
            <a:r>
              <a:rPr lang="en-US" altLang="zh-CN" dirty="0"/>
              <a:t>.</a:t>
            </a:r>
          </a:p>
          <a:p>
            <a:endParaRPr lang="en-US" dirty="0"/>
          </a:p>
          <a:p>
            <a:endParaRPr lang="en-US" dirty="0"/>
          </a:p>
          <a:p>
            <a:endParaRPr lang="en-US" dirty="0"/>
          </a:p>
          <a:p>
            <a:endParaRPr lang="en-US" dirty="0"/>
          </a:p>
          <a:p>
            <a:r>
              <a:rPr lang="zh-CN" altLang="en-US" dirty="0"/>
              <a:t>解</a:t>
            </a:r>
            <a:r>
              <a:rPr lang="en-US" altLang="zh-CN" dirty="0"/>
              <a:t>:</a:t>
            </a:r>
            <a:r>
              <a:rPr lang="zh-CN" altLang="en-US" dirty="0"/>
              <a:t>随机选择顶点</a:t>
            </a:r>
            <a:r>
              <a:rPr lang="en-US" altLang="zh-CN" dirty="0"/>
              <a:t>e</a:t>
            </a:r>
            <a:r>
              <a:rPr lang="zh-CN" altLang="en-US" dirty="0"/>
              <a:t>作为开始</a:t>
            </a:r>
            <a:r>
              <a:rPr lang="en-US" altLang="zh-CN" dirty="0"/>
              <a:t>, </a:t>
            </a:r>
            <a:r>
              <a:rPr lang="zh-CN" altLang="en-US" dirty="0"/>
              <a:t>其产生的生成树过程如下</a:t>
            </a:r>
            <a:r>
              <a:rPr lang="en-US" altLang="zh-CN" dirty="0"/>
              <a:t>:</a:t>
            </a:r>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5400" y="1600200"/>
            <a:ext cx="1866900" cy="2234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4421388"/>
            <a:ext cx="6629400" cy="181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日期占位符 7"/>
          <p:cNvSpPr>
            <a:spLocks noGrp="1"/>
          </p:cNvSpPr>
          <p:nvPr>
            <p:ph type="dt" sz="half" idx="10"/>
          </p:nvPr>
        </p:nvSpPr>
        <p:spPr/>
        <p:txBody>
          <a:bodyPr/>
          <a:lstStyle/>
          <a:p>
            <a:fld id="{B4C58C78-AE03-471A-9C87-ECD60A8F32E0}" type="datetime1">
              <a:rPr lang="zh-CN" altLang="en-US" smtClean="0"/>
              <a:t>2025/4/15</a:t>
            </a:fld>
            <a:endParaRPr lang="zh-CN" altLang="en-US" dirty="0"/>
          </a:p>
        </p:txBody>
      </p:sp>
      <p:sp>
        <p:nvSpPr>
          <p:cNvPr id="9" name="页脚占位符 8"/>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0" name="灯片编号占位符 9"/>
          <p:cNvSpPr>
            <a:spLocks noGrp="1"/>
          </p:cNvSpPr>
          <p:nvPr>
            <p:ph type="sldNum" sz="quarter" idx="12"/>
          </p:nvPr>
        </p:nvSpPr>
        <p:spPr/>
        <p:txBody>
          <a:bodyPr/>
          <a:lstStyle/>
          <a:p>
            <a:fld id="{67913A8A-9EFB-4B5F-9CCB-3D21173FAA85}" type="slidenum">
              <a:rPr lang="zh-CN" altLang="en-US" smtClean="0"/>
              <a:pPr/>
              <a:t>73</a:t>
            </a:fld>
            <a:endParaRPr lang="zh-CN" altLang="en-US" dirty="0"/>
          </a:p>
        </p:txBody>
      </p:sp>
    </p:spTree>
    <p:extLst>
      <p:ext uri="{BB962C8B-B14F-4D97-AF65-F5344CB8AC3E}">
        <p14:creationId xmlns:p14="http://schemas.microsoft.com/office/powerpoint/2010/main" val="1037720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wipe(down)">
                                      <p:cBhvr>
                                        <p:cTn id="7" dur="500"/>
                                        <p:tgtEl>
                                          <p:spTgt spid="3">
                                            <p:txEl>
                                              <p:pRg st="5" end="5"/>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4099"/>
                                        </p:tgtEl>
                                        <p:attrNameLst>
                                          <p:attrName>style.visibility</p:attrName>
                                        </p:attrNameLst>
                                      </p:cBhvr>
                                      <p:to>
                                        <p:strVal val="visible"/>
                                      </p:to>
                                    </p:set>
                                    <p:animEffect transition="in" filter="wipe(down)">
                                      <p:cBhvr>
                                        <p:cTn id="10" dur="500"/>
                                        <p:tgtEl>
                                          <p:spTgt spid="40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有向图中的深度、宽度优先搜索</a:t>
            </a:r>
            <a:endParaRPr lang="en-US" dirty="0"/>
          </a:p>
        </p:txBody>
      </p:sp>
      <p:sp>
        <p:nvSpPr>
          <p:cNvPr id="3" name="Content Placeholder 2"/>
          <p:cNvSpPr>
            <a:spLocks noGrp="1"/>
          </p:cNvSpPr>
          <p:nvPr>
            <p:ph idx="1"/>
          </p:nvPr>
        </p:nvSpPr>
        <p:spPr/>
        <p:txBody>
          <a:bodyPr>
            <a:normAutofit/>
          </a:bodyPr>
          <a:lstStyle/>
          <a:p>
            <a:pPr algn="just"/>
            <a:r>
              <a:rPr lang="zh-CN" altLang="en-US" dirty="0"/>
              <a:t>可以轻松地修改深度优先搜索、宽度优先搜索</a:t>
            </a:r>
            <a:r>
              <a:rPr lang="en-US" altLang="zh-CN" dirty="0"/>
              <a:t>, </a:t>
            </a:r>
            <a:r>
              <a:rPr lang="zh-CN" altLang="en-US" dirty="0"/>
              <a:t>使得有向图作为输入时他们也能运行</a:t>
            </a:r>
            <a:r>
              <a:rPr lang="en-US" altLang="zh-CN" dirty="0"/>
              <a:t>. </a:t>
            </a:r>
            <a:r>
              <a:rPr lang="zh-CN" altLang="en-US" dirty="0"/>
              <a:t>不过输出不一定是生成树</a:t>
            </a:r>
            <a:r>
              <a:rPr lang="en-US" altLang="zh-CN" dirty="0"/>
              <a:t>, </a:t>
            </a:r>
            <a:r>
              <a:rPr lang="zh-CN" altLang="en-US" dirty="0"/>
              <a:t>而可能是</a:t>
            </a:r>
            <a:r>
              <a:rPr lang="zh-CN" altLang="en-US" b="1" dirty="0">
                <a:solidFill>
                  <a:srgbClr val="C00000"/>
                </a:solidFill>
              </a:rPr>
              <a:t>生成森林</a:t>
            </a:r>
            <a:r>
              <a:rPr lang="en-US" altLang="zh-CN" dirty="0"/>
              <a:t>.</a:t>
            </a:r>
          </a:p>
        </p:txBody>
      </p:sp>
      <p:sp>
        <p:nvSpPr>
          <p:cNvPr id="10" name="日期占位符 9"/>
          <p:cNvSpPr>
            <a:spLocks noGrp="1"/>
          </p:cNvSpPr>
          <p:nvPr>
            <p:ph type="dt" sz="half" idx="10"/>
          </p:nvPr>
        </p:nvSpPr>
        <p:spPr/>
        <p:txBody>
          <a:bodyPr/>
          <a:lstStyle/>
          <a:p>
            <a:fld id="{52601641-F556-42E6-9D47-4076F35409CE}" type="datetime1">
              <a:rPr lang="zh-CN" altLang="en-US" smtClean="0"/>
              <a:t>2025/4/15</a:t>
            </a:fld>
            <a:endParaRPr lang="zh-CN" altLang="en-US" dirty="0"/>
          </a:p>
        </p:txBody>
      </p:sp>
      <p:sp>
        <p:nvSpPr>
          <p:cNvPr id="11" name="页脚占位符 10"/>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2" name="灯片编号占位符 11"/>
          <p:cNvSpPr>
            <a:spLocks noGrp="1"/>
          </p:cNvSpPr>
          <p:nvPr>
            <p:ph type="sldNum" sz="quarter" idx="12"/>
          </p:nvPr>
        </p:nvSpPr>
        <p:spPr/>
        <p:txBody>
          <a:bodyPr/>
          <a:lstStyle/>
          <a:p>
            <a:fld id="{67913A8A-9EFB-4B5F-9CCB-3D21173FAA85}" type="slidenum">
              <a:rPr lang="zh-CN" altLang="en-US" smtClean="0"/>
              <a:pPr/>
              <a:t>74</a:t>
            </a:fld>
            <a:endParaRPr lang="zh-CN" altLang="en-US" dirty="0"/>
          </a:p>
        </p:txBody>
      </p:sp>
    </p:spTree>
    <p:extLst>
      <p:ext uri="{BB962C8B-B14F-4D97-AF65-F5344CB8AC3E}">
        <p14:creationId xmlns:p14="http://schemas.microsoft.com/office/powerpoint/2010/main" val="321108590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有向图中的深度、宽度优先搜索</a:t>
            </a:r>
            <a:endParaRPr lang="en-US" dirty="0"/>
          </a:p>
        </p:txBody>
      </p:sp>
      <p:sp>
        <p:nvSpPr>
          <p:cNvPr id="3" name="Content Placeholder 2"/>
          <p:cNvSpPr>
            <a:spLocks noGrp="1"/>
          </p:cNvSpPr>
          <p:nvPr>
            <p:ph idx="1"/>
          </p:nvPr>
        </p:nvSpPr>
        <p:spPr/>
        <p:txBody>
          <a:bodyPr>
            <a:normAutofit/>
          </a:bodyPr>
          <a:lstStyle/>
          <a:p>
            <a:r>
              <a:rPr lang="zh-CN" altLang="en-US" dirty="0"/>
              <a:t>例</a:t>
            </a:r>
            <a:r>
              <a:rPr lang="en-US" altLang="zh-CN" dirty="0"/>
              <a:t>: </a:t>
            </a:r>
            <a:r>
              <a:rPr lang="zh-CN" altLang="en-US" dirty="0"/>
              <a:t>如图</a:t>
            </a:r>
            <a:r>
              <a:rPr lang="en-US" altLang="zh-CN" dirty="0"/>
              <a:t>(a)</a:t>
            </a:r>
            <a:r>
              <a:rPr lang="zh-CN" altLang="en-US" dirty="0"/>
              <a:t>所示的有向图</a:t>
            </a:r>
            <a:r>
              <a:rPr lang="en-US" altLang="zh-CN" dirty="0"/>
              <a:t>, </a:t>
            </a:r>
            <a:r>
              <a:rPr lang="zh-CN" altLang="en-US" dirty="0"/>
              <a:t>深度优先搜索的输出是什么？</a:t>
            </a:r>
            <a:endParaRPr lang="en-US" altLang="zh-CN" dirty="0"/>
          </a:p>
          <a:p>
            <a:endParaRPr lang="en-US" altLang="zh-CN" dirty="0"/>
          </a:p>
          <a:p>
            <a:endParaRPr lang="en-US" altLang="zh-CN" dirty="0"/>
          </a:p>
          <a:p>
            <a:endParaRPr lang="en-US" altLang="zh-CN" dirty="0"/>
          </a:p>
          <a:p>
            <a:endParaRPr lang="en-US" altLang="zh-CN" dirty="0"/>
          </a:p>
          <a:p>
            <a:r>
              <a:rPr lang="zh-CN" altLang="en-US" dirty="0"/>
              <a:t>解</a:t>
            </a:r>
            <a:r>
              <a:rPr lang="en-US" altLang="zh-CN" dirty="0"/>
              <a:t>:</a:t>
            </a:r>
            <a:r>
              <a:rPr lang="zh-CN" altLang="en-US" dirty="0"/>
              <a:t>从顶点</a:t>
            </a:r>
            <a:r>
              <a:rPr lang="en-US" altLang="zh-CN" dirty="0"/>
              <a:t>a</a:t>
            </a:r>
            <a:r>
              <a:rPr lang="zh-CN" altLang="en-US" dirty="0"/>
              <a:t>开始深度优先搜索</a:t>
            </a:r>
            <a:r>
              <a:rPr lang="en-US" altLang="zh-CN" dirty="0"/>
              <a:t>, </a:t>
            </a:r>
            <a:r>
              <a:rPr lang="zh-CN" altLang="en-US" dirty="0"/>
              <a:t>输出最后如下所示</a:t>
            </a:r>
            <a:r>
              <a:rPr lang="en-US" altLang="zh-CN" dirty="0"/>
              <a:t>:</a:t>
            </a:r>
          </a:p>
        </p:txBody>
      </p:sp>
      <p:sp>
        <p:nvSpPr>
          <p:cNvPr id="10" name="日期占位符 9"/>
          <p:cNvSpPr>
            <a:spLocks noGrp="1"/>
          </p:cNvSpPr>
          <p:nvPr>
            <p:ph type="dt" sz="half" idx="10"/>
          </p:nvPr>
        </p:nvSpPr>
        <p:spPr/>
        <p:txBody>
          <a:bodyPr/>
          <a:lstStyle/>
          <a:p>
            <a:fld id="{725BD350-4711-4066-AC41-0C2AB7162571}" type="datetime1">
              <a:rPr lang="zh-CN" altLang="en-US" smtClean="0"/>
              <a:t>2025/4/15</a:t>
            </a:fld>
            <a:endParaRPr lang="zh-CN" altLang="en-US" dirty="0"/>
          </a:p>
        </p:txBody>
      </p:sp>
      <p:sp>
        <p:nvSpPr>
          <p:cNvPr id="11" name="页脚占位符 10"/>
          <p:cNvSpPr>
            <a:spLocks noGrp="1"/>
          </p:cNvSpPr>
          <p:nvPr>
            <p:ph type="ftr" sz="quarter" idx="11"/>
          </p:nvPr>
        </p:nvSpPr>
        <p:spPr/>
        <p:txBody>
          <a:bodyPr/>
          <a:lstStyle/>
          <a:p>
            <a:pPr algn="r"/>
            <a:r>
              <a:rPr lang="zh-CN" altLang="en-US" dirty="0"/>
              <a:t>华华华中科技大学实验室</a:t>
            </a:r>
          </a:p>
        </p:txBody>
      </p:sp>
      <p:sp>
        <p:nvSpPr>
          <p:cNvPr id="12" name="灯片编号占位符 11"/>
          <p:cNvSpPr>
            <a:spLocks noGrp="1"/>
          </p:cNvSpPr>
          <p:nvPr>
            <p:ph type="sldNum" sz="quarter" idx="12"/>
          </p:nvPr>
        </p:nvSpPr>
        <p:spPr/>
        <p:txBody>
          <a:bodyPr/>
          <a:lstStyle/>
          <a:p>
            <a:fld id="{67913A8A-9EFB-4B5F-9CCB-3D21173FAA85}" type="slidenum">
              <a:rPr lang="zh-CN" altLang="en-US" smtClean="0"/>
              <a:pPr/>
              <a:t>75</a:t>
            </a:fld>
            <a:endParaRPr lang="zh-CN" altLang="en-US" dirty="0"/>
          </a:p>
        </p:txBody>
      </p:sp>
      <p:pic>
        <p:nvPicPr>
          <p:cNvPr id="5" name="图片 4"/>
          <p:cNvPicPr>
            <a:picLocks noChangeAspect="1"/>
          </p:cNvPicPr>
          <p:nvPr/>
        </p:nvPicPr>
        <p:blipFill>
          <a:blip r:embed="rId2"/>
          <a:stretch>
            <a:fillRect/>
          </a:stretch>
        </p:blipFill>
        <p:spPr>
          <a:xfrm>
            <a:off x="4731854" y="1524001"/>
            <a:ext cx="2743200" cy="2057400"/>
          </a:xfrm>
          <a:prstGeom prst="rect">
            <a:avLst/>
          </a:prstGeom>
        </p:spPr>
      </p:pic>
      <p:pic>
        <p:nvPicPr>
          <p:cNvPr id="6" name="图片 5"/>
          <p:cNvPicPr>
            <a:picLocks noChangeAspect="1"/>
          </p:cNvPicPr>
          <p:nvPr/>
        </p:nvPicPr>
        <p:blipFill>
          <a:blip r:embed="rId3"/>
          <a:stretch>
            <a:fillRect/>
          </a:stretch>
        </p:blipFill>
        <p:spPr>
          <a:xfrm>
            <a:off x="4557091" y="4483204"/>
            <a:ext cx="3520109" cy="2286000"/>
          </a:xfrm>
          <a:prstGeom prst="rect">
            <a:avLst/>
          </a:prstGeom>
        </p:spPr>
      </p:pic>
    </p:spTree>
    <p:extLst>
      <p:ext uri="{BB962C8B-B14F-4D97-AF65-F5344CB8AC3E}">
        <p14:creationId xmlns:p14="http://schemas.microsoft.com/office/powerpoint/2010/main" val="1441963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wipe(down)">
                                      <p:cBhvr>
                                        <p:cTn id="7" dur="500"/>
                                        <p:tgtEl>
                                          <p:spTgt spid="3">
                                            <p:txEl>
                                              <p:pRg st="5" end="5"/>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down)">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0" y="2260600"/>
            <a:ext cx="12192000" cy="2387600"/>
          </a:xfrm>
        </p:spPr>
        <p:txBody>
          <a:bodyPr/>
          <a:lstStyle/>
          <a:p>
            <a:pPr algn="ctr"/>
            <a:r>
              <a:rPr lang="en-US" altLang="zh-CN" dirty="0"/>
              <a:t>Section </a:t>
            </a:r>
            <a:r>
              <a:rPr lang="en-US" altLang="zh-CN" dirty="0" smtClean="0"/>
              <a:t>5.5</a:t>
            </a:r>
            <a:r>
              <a:rPr lang="en-US" altLang="zh-CN" dirty="0"/>
              <a:t/>
            </a:r>
            <a:br>
              <a:rPr lang="en-US" altLang="zh-CN" dirty="0"/>
            </a:br>
            <a:r>
              <a:rPr lang="zh-CN" altLang="en-US" dirty="0"/>
              <a:t>最小生成树和最优二叉树</a:t>
            </a:r>
            <a:endParaRPr lang="en-US" dirty="0"/>
          </a:p>
        </p:txBody>
      </p:sp>
    </p:spTree>
    <p:extLst>
      <p:ext uri="{BB962C8B-B14F-4D97-AF65-F5344CB8AC3E}">
        <p14:creationId xmlns:p14="http://schemas.microsoft.com/office/powerpoint/2010/main" val="232466117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7.5.1</a:t>
            </a:r>
            <a:r>
              <a:rPr lang="zh-CN" altLang="en-US" dirty="0"/>
              <a:t>内容</a:t>
            </a:r>
            <a:endParaRPr lang="en-US" dirty="0"/>
          </a:p>
        </p:txBody>
      </p:sp>
      <p:sp>
        <p:nvSpPr>
          <p:cNvPr id="3" name="Content Placeholder 2"/>
          <p:cNvSpPr>
            <a:spLocks noGrp="1"/>
          </p:cNvSpPr>
          <p:nvPr>
            <p:ph idx="1"/>
          </p:nvPr>
        </p:nvSpPr>
        <p:spPr/>
        <p:txBody>
          <a:bodyPr/>
          <a:lstStyle/>
          <a:p>
            <a:r>
              <a:rPr lang="zh-CN" altLang="en-US" dirty="0"/>
              <a:t>最小生成树</a:t>
            </a:r>
            <a:endParaRPr lang="en-US" altLang="zh-CN" dirty="0"/>
          </a:p>
          <a:p>
            <a:r>
              <a:rPr lang="zh-CN" altLang="en-US" dirty="0"/>
              <a:t>最小生成树算法</a:t>
            </a:r>
            <a:endParaRPr lang="en-US" altLang="zh-CN" dirty="0"/>
          </a:p>
          <a:p>
            <a:pPr lvl="1">
              <a:lnSpc>
                <a:spcPct val="100000"/>
              </a:lnSpc>
            </a:pPr>
            <a:r>
              <a:rPr lang="zh-CN" altLang="en-US" dirty="0"/>
              <a:t>普林算法</a:t>
            </a:r>
            <a:endParaRPr lang="en-US" altLang="zh-CN" dirty="0"/>
          </a:p>
          <a:p>
            <a:pPr lvl="1">
              <a:lnSpc>
                <a:spcPct val="100000"/>
              </a:lnSpc>
            </a:pPr>
            <a:r>
              <a:rPr lang="zh-CN" altLang="en-US" dirty="0"/>
              <a:t>克鲁斯卡尔算法</a:t>
            </a:r>
            <a:endParaRPr lang="en-US" altLang="zh-CN" dirty="0"/>
          </a:p>
          <a:p>
            <a:pPr marL="393192" lvl="1" indent="0">
              <a:lnSpc>
                <a:spcPct val="100000"/>
              </a:lnSpc>
              <a:buNone/>
            </a:pPr>
            <a:endParaRPr lang="en-US" altLang="zh-CN" dirty="0"/>
          </a:p>
          <a:p>
            <a:r>
              <a:rPr lang="zh-CN" altLang="en-US" dirty="0"/>
              <a:t>最优二叉树算法</a:t>
            </a:r>
            <a:r>
              <a:rPr lang="en-US" altLang="zh-CN" dirty="0"/>
              <a:t>-</a:t>
            </a:r>
            <a:r>
              <a:rPr lang="zh-CN" altLang="en-US" dirty="0"/>
              <a:t>霍夫曼（</a:t>
            </a:r>
            <a:r>
              <a:rPr lang="en-US" altLang="zh-CN" dirty="0"/>
              <a:t>Huffman</a:t>
            </a:r>
            <a:r>
              <a:rPr lang="zh-CN" altLang="en-US" dirty="0"/>
              <a:t>）算法</a:t>
            </a:r>
            <a:endParaRPr lang="en-US" altLang="zh-CN" dirty="0"/>
          </a:p>
          <a:p>
            <a:pPr marL="0" indent="0">
              <a:buNone/>
            </a:pPr>
            <a:endParaRPr lang="en-US" dirty="0"/>
          </a:p>
        </p:txBody>
      </p:sp>
      <p:sp>
        <p:nvSpPr>
          <p:cNvPr id="8" name="日期占位符 7"/>
          <p:cNvSpPr>
            <a:spLocks noGrp="1"/>
          </p:cNvSpPr>
          <p:nvPr>
            <p:ph type="dt" sz="half" idx="10"/>
          </p:nvPr>
        </p:nvSpPr>
        <p:spPr/>
        <p:txBody>
          <a:bodyPr/>
          <a:lstStyle/>
          <a:p>
            <a:fld id="{182B7599-A440-447C-B8B0-8FD0195F7EC7}" type="datetime1">
              <a:rPr lang="zh-CN" altLang="en-US" smtClean="0"/>
              <a:t>2025/4/15</a:t>
            </a:fld>
            <a:endParaRPr lang="zh-CN" altLang="en-US" dirty="0"/>
          </a:p>
        </p:txBody>
      </p:sp>
      <p:sp>
        <p:nvSpPr>
          <p:cNvPr id="9" name="页脚占位符 8"/>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0" name="灯片编号占位符 9"/>
          <p:cNvSpPr>
            <a:spLocks noGrp="1"/>
          </p:cNvSpPr>
          <p:nvPr>
            <p:ph type="sldNum" sz="quarter" idx="12"/>
          </p:nvPr>
        </p:nvSpPr>
        <p:spPr/>
        <p:txBody>
          <a:bodyPr/>
          <a:lstStyle/>
          <a:p>
            <a:fld id="{67913A8A-9EFB-4B5F-9CCB-3D21173FAA85}" type="slidenum">
              <a:rPr lang="zh-CN" altLang="en-US" smtClean="0"/>
              <a:pPr/>
              <a:t>77</a:t>
            </a:fld>
            <a:endParaRPr lang="zh-CN" altLang="en-US" dirty="0"/>
          </a:p>
        </p:txBody>
      </p:sp>
    </p:spTree>
    <p:extLst>
      <p:ext uri="{BB962C8B-B14F-4D97-AF65-F5344CB8AC3E}">
        <p14:creationId xmlns:p14="http://schemas.microsoft.com/office/powerpoint/2010/main" val="323534131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489857" y="2057400"/>
            <a:ext cx="11277599" cy="4572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最小生成树算法</a:t>
            </a:r>
            <a:endParaRPr lang="en-US" dirty="0"/>
          </a:p>
        </p:txBody>
      </p:sp>
      <p:sp>
        <p:nvSpPr>
          <p:cNvPr id="3" name="Content Placeholder 2"/>
          <p:cNvSpPr>
            <a:spLocks noGrp="1"/>
          </p:cNvSpPr>
          <p:nvPr>
            <p:ph idx="1"/>
          </p:nvPr>
        </p:nvSpPr>
        <p:spPr/>
        <p:txBody>
          <a:bodyPr>
            <a:normAutofit/>
          </a:bodyPr>
          <a:lstStyle/>
          <a:p>
            <a:r>
              <a:rPr lang="zh-CN" altLang="en-US" dirty="0"/>
              <a:t>带权图中</a:t>
            </a:r>
            <a:r>
              <a:rPr lang="en-US" altLang="zh-CN" dirty="0"/>
              <a:t>, </a:t>
            </a:r>
            <a:r>
              <a:rPr lang="zh-CN" altLang="en-US" dirty="0"/>
              <a:t>通过找到一棵使各边的权之和为最小的生成树</a:t>
            </a:r>
            <a:r>
              <a:rPr lang="en-US" altLang="zh-CN" dirty="0"/>
              <a:t>, </a:t>
            </a:r>
            <a:r>
              <a:rPr lang="zh-CN" altLang="en-US" dirty="0"/>
              <a:t>这棵生成树称为</a:t>
            </a:r>
            <a:r>
              <a:rPr lang="zh-CN" altLang="en-US" b="1" dirty="0">
                <a:solidFill>
                  <a:srgbClr val="C00000"/>
                </a:solidFill>
              </a:rPr>
              <a:t>最小生成树</a:t>
            </a:r>
            <a:r>
              <a:rPr lang="en-US" altLang="zh-CN" dirty="0"/>
              <a:t>.</a:t>
            </a:r>
          </a:p>
          <a:p>
            <a:r>
              <a:rPr lang="zh-CN" altLang="en-US" dirty="0"/>
              <a:t>定义：连通加权图里的最小生成树是具有边的权之和最小的生成树</a:t>
            </a:r>
            <a:r>
              <a:rPr lang="en-US" altLang="zh-CN" dirty="0"/>
              <a:t>. </a:t>
            </a:r>
            <a:endParaRPr lang="en-US" dirty="0"/>
          </a:p>
        </p:txBody>
      </p:sp>
      <p:sp>
        <p:nvSpPr>
          <p:cNvPr id="10" name="日期占位符 9"/>
          <p:cNvSpPr>
            <a:spLocks noGrp="1"/>
          </p:cNvSpPr>
          <p:nvPr>
            <p:ph type="dt" sz="half" idx="10"/>
          </p:nvPr>
        </p:nvSpPr>
        <p:spPr/>
        <p:txBody>
          <a:bodyPr/>
          <a:lstStyle/>
          <a:p>
            <a:fld id="{F4F2CE18-C8E1-49B3-B73D-C6A997D61B68}" type="datetime1">
              <a:rPr lang="zh-CN" altLang="en-US" smtClean="0"/>
              <a:t>2025/4/15</a:t>
            </a:fld>
            <a:endParaRPr lang="zh-CN" altLang="en-US" dirty="0"/>
          </a:p>
        </p:txBody>
      </p:sp>
      <p:sp>
        <p:nvSpPr>
          <p:cNvPr id="11" name="页脚占位符 10"/>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2" name="灯片编号占位符 11"/>
          <p:cNvSpPr>
            <a:spLocks noGrp="1"/>
          </p:cNvSpPr>
          <p:nvPr>
            <p:ph type="sldNum" sz="quarter" idx="12"/>
          </p:nvPr>
        </p:nvSpPr>
        <p:spPr/>
        <p:txBody>
          <a:bodyPr/>
          <a:lstStyle/>
          <a:p>
            <a:fld id="{67913A8A-9EFB-4B5F-9CCB-3D21173FAA85}" type="slidenum">
              <a:rPr lang="zh-CN" altLang="en-US" smtClean="0"/>
              <a:pPr/>
              <a:t>78</a:t>
            </a:fld>
            <a:endParaRPr lang="zh-CN" altLang="en-US" dirty="0"/>
          </a:p>
        </p:txBody>
      </p:sp>
    </p:spTree>
    <p:extLst>
      <p:ext uri="{BB962C8B-B14F-4D97-AF65-F5344CB8AC3E}">
        <p14:creationId xmlns:p14="http://schemas.microsoft.com/office/powerpoint/2010/main" val="312485874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489857" y="2057400"/>
            <a:ext cx="11277599" cy="21336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最小生成树算法</a:t>
            </a:r>
            <a:endParaRPr lang="en-US" dirty="0"/>
          </a:p>
        </p:txBody>
      </p:sp>
      <p:sp>
        <p:nvSpPr>
          <p:cNvPr id="3" name="Content Placeholder 2"/>
          <p:cNvSpPr>
            <a:spLocks noGrp="1"/>
          </p:cNvSpPr>
          <p:nvPr>
            <p:ph idx="1"/>
          </p:nvPr>
        </p:nvSpPr>
        <p:spPr/>
        <p:txBody>
          <a:bodyPr>
            <a:normAutofit/>
          </a:bodyPr>
          <a:lstStyle/>
          <a:p>
            <a:r>
              <a:rPr lang="zh-CN" altLang="en-US" dirty="0"/>
              <a:t>构造最小生成树的两种经典算法分别是普林算法</a:t>
            </a:r>
            <a:r>
              <a:rPr lang="en-US" altLang="zh-CN" dirty="0"/>
              <a:t>(</a:t>
            </a:r>
            <a:r>
              <a:rPr lang="en-US" altLang="zh-CN" b="1" dirty="0">
                <a:solidFill>
                  <a:srgbClr val="C00000"/>
                </a:solidFill>
              </a:rPr>
              <a:t>prim</a:t>
            </a:r>
            <a:r>
              <a:rPr lang="en-US" altLang="zh-CN" dirty="0"/>
              <a:t>-</a:t>
            </a:r>
            <a:r>
              <a:rPr lang="en-US" altLang="zh-CN" dirty="0" err="1"/>
              <a:t>Jarnik</a:t>
            </a:r>
            <a:r>
              <a:rPr lang="zh-CN" altLang="en-US" dirty="0"/>
              <a:t>算法</a:t>
            </a:r>
            <a:r>
              <a:rPr lang="en-US" altLang="zh-CN" dirty="0"/>
              <a:t>)</a:t>
            </a:r>
            <a:r>
              <a:rPr lang="zh-CN" altLang="en-US" dirty="0"/>
              <a:t>和克鲁斯卡尔算法</a:t>
            </a:r>
            <a:r>
              <a:rPr lang="en-US" altLang="zh-CN" dirty="0"/>
              <a:t>. </a:t>
            </a:r>
          </a:p>
          <a:p>
            <a:r>
              <a:rPr lang="zh-CN" altLang="en-US" b="1" dirty="0">
                <a:solidFill>
                  <a:srgbClr val="C00000"/>
                </a:solidFill>
              </a:rPr>
              <a:t>普林算法</a:t>
            </a:r>
            <a:r>
              <a:rPr lang="zh-CN" altLang="en-US" dirty="0"/>
              <a:t>：</a:t>
            </a:r>
            <a:endParaRPr lang="en-US" altLang="zh-CN" dirty="0"/>
          </a:p>
          <a:p>
            <a:pPr lvl="1">
              <a:lnSpc>
                <a:spcPct val="100000"/>
              </a:lnSpc>
            </a:pPr>
            <a:r>
              <a:rPr lang="zh-CN" altLang="en-US" dirty="0"/>
              <a:t>首先选择带最小权的边</a:t>
            </a:r>
            <a:r>
              <a:rPr lang="en-US" altLang="zh-CN" dirty="0"/>
              <a:t>, </a:t>
            </a:r>
            <a:r>
              <a:rPr lang="zh-CN" altLang="en-US" dirty="0"/>
              <a:t>把它放进生成树中</a:t>
            </a:r>
            <a:r>
              <a:rPr lang="en-US" altLang="zh-CN" dirty="0"/>
              <a:t>. </a:t>
            </a:r>
          </a:p>
          <a:p>
            <a:pPr lvl="1">
              <a:lnSpc>
                <a:spcPct val="100000"/>
              </a:lnSpc>
            </a:pPr>
            <a:r>
              <a:rPr lang="zh-CN" altLang="en-US" dirty="0"/>
              <a:t>依次向生成树中添加与已有树里的顶点关联的</a:t>
            </a:r>
            <a:r>
              <a:rPr lang="en-US" altLang="zh-CN" dirty="0"/>
              <a:t>, </a:t>
            </a:r>
            <a:r>
              <a:rPr lang="zh-CN" altLang="en-US" dirty="0"/>
              <a:t>且不与已在树里的边形成简单回路的权最小的边</a:t>
            </a:r>
            <a:r>
              <a:rPr lang="en-US" altLang="zh-CN" dirty="0"/>
              <a:t>. </a:t>
            </a:r>
          </a:p>
          <a:p>
            <a:pPr lvl="1">
              <a:lnSpc>
                <a:spcPct val="100000"/>
              </a:lnSpc>
            </a:pPr>
            <a:r>
              <a:rPr lang="zh-CN" altLang="en-US" dirty="0"/>
              <a:t>当已经添加</a:t>
            </a:r>
            <a:r>
              <a:rPr lang="en-US" altLang="zh-CN" dirty="0"/>
              <a:t>n-1</a:t>
            </a:r>
            <a:r>
              <a:rPr lang="zh-CN" altLang="en-US" dirty="0"/>
              <a:t>条边时停止</a:t>
            </a:r>
            <a:r>
              <a:rPr lang="en-US" altLang="zh-CN" dirty="0"/>
              <a:t>. </a:t>
            </a:r>
            <a:endParaRPr lang="en-US" dirty="0"/>
          </a:p>
        </p:txBody>
      </p:sp>
      <p:sp>
        <p:nvSpPr>
          <p:cNvPr id="10" name="日期占位符 9"/>
          <p:cNvSpPr>
            <a:spLocks noGrp="1"/>
          </p:cNvSpPr>
          <p:nvPr>
            <p:ph type="dt" sz="half" idx="10"/>
          </p:nvPr>
        </p:nvSpPr>
        <p:spPr/>
        <p:txBody>
          <a:bodyPr/>
          <a:lstStyle/>
          <a:p>
            <a:fld id="{FBBEF072-EBCF-4761-B4AD-B8E831389BC9}" type="datetime1">
              <a:rPr lang="zh-CN" altLang="en-US" smtClean="0"/>
              <a:t>2025/4/15</a:t>
            </a:fld>
            <a:endParaRPr lang="zh-CN" altLang="en-US" dirty="0"/>
          </a:p>
        </p:txBody>
      </p:sp>
      <p:sp>
        <p:nvSpPr>
          <p:cNvPr id="11" name="页脚占位符 10"/>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2" name="灯片编号占位符 11"/>
          <p:cNvSpPr>
            <a:spLocks noGrp="1"/>
          </p:cNvSpPr>
          <p:nvPr>
            <p:ph type="sldNum" sz="quarter" idx="12"/>
          </p:nvPr>
        </p:nvSpPr>
        <p:spPr/>
        <p:txBody>
          <a:bodyPr/>
          <a:lstStyle/>
          <a:p>
            <a:fld id="{67913A8A-9EFB-4B5F-9CCB-3D21173FAA85}" type="slidenum">
              <a:rPr lang="zh-CN" altLang="en-US" smtClean="0"/>
              <a:pPr/>
              <a:t>79</a:t>
            </a:fld>
            <a:endParaRPr lang="zh-CN" altLang="en-US" dirty="0"/>
          </a:p>
        </p:txBody>
      </p:sp>
    </p:spTree>
    <p:extLst>
      <p:ext uri="{BB962C8B-B14F-4D97-AF65-F5344CB8AC3E}">
        <p14:creationId xmlns:p14="http://schemas.microsoft.com/office/powerpoint/2010/main" val="376297238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最小生成树算法</a:t>
            </a:r>
            <a:endParaRPr lang="en-US" dirty="0"/>
          </a:p>
        </p:txBody>
      </p:sp>
      <p:sp>
        <p:nvSpPr>
          <p:cNvPr id="3" name="Content Placeholder 2"/>
          <p:cNvSpPr>
            <a:spLocks noGrp="1"/>
          </p:cNvSpPr>
          <p:nvPr>
            <p:ph idx="1"/>
          </p:nvPr>
        </p:nvSpPr>
        <p:spPr/>
        <p:txBody>
          <a:bodyPr>
            <a:normAutofit/>
          </a:bodyPr>
          <a:lstStyle/>
          <a:p>
            <a:r>
              <a:rPr lang="zh-CN" altLang="en-US" dirty="0"/>
              <a:t>例</a:t>
            </a:r>
            <a:r>
              <a:rPr lang="en-US" altLang="zh-CN" dirty="0"/>
              <a:t>1</a:t>
            </a:r>
            <a:r>
              <a:rPr lang="zh-CN" altLang="en-US" dirty="0"/>
              <a:t>：用普林算法求图示的最小生成树</a:t>
            </a:r>
            <a:r>
              <a:rPr lang="en-US" altLang="zh-CN" dirty="0"/>
              <a:t>. </a:t>
            </a:r>
          </a:p>
          <a:p>
            <a:endParaRPr lang="en-US" altLang="zh-CN" dirty="0"/>
          </a:p>
          <a:p>
            <a:endParaRPr lang="en-US" altLang="zh-CN" dirty="0"/>
          </a:p>
          <a:p>
            <a:r>
              <a:rPr lang="zh-CN" altLang="en-US" dirty="0"/>
              <a:t>解：</a:t>
            </a:r>
            <a:endParaRPr lang="en-US" altLang="zh-CN" dirty="0"/>
          </a:p>
          <a:p>
            <a:endParaRPr lang="en-US" dirty="0"/>
          </a:p>
        </p:txBody>
      </p:sp>
      <p:sp>
        <p:nvSpPr>
          <p:cNvPr id="10" name="日期占位符 9"/>
          <p:cNvSpPr>
            <a:spLocks noGrp="1"/>
          </p:cNvSpPr>
          <p:nvPr>
            <p:ph type="dt" sz="half" idx="10"/>
          </p:nvPr>
        </p:nvSpPr>
        <p:spPr/>
        <p:txBody>
          <a:bodyPr/>
          <a:lstStyle/>
          <a:p>
            <a:fld id="{0B58EB6A-CEA6-48B3-ACD6-970E6DD88F57}" type="datetime1">
              <a:rPr lang="zh-CN" altLang="en-US" smtClean="0"/>
              <a:t>2025/4/15</a:t>
            </a:fld>
            <a:endParaRPr lang="zh-CN" altLang="en-US" dirty="0"/>
          </a:p>
        </p:txBody>
      </p:sp>
      <p:sp>
        <p:nvSpPr>
          <p:cNvPr id="11" name="页脚占位符 10"/>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2" name="灯片编号占位符 11"/>
          <p:cNvSpPr>
            <a:spLocks noGrp="1"/>
          </p:cNvSpPr>
          <p:nvPr>
            <p:ph type="sldNum" sz="quarter" idx="12"/>
          </p:nvPr>
        </p:nvSpPr>
        <p:spPr/>
        <p:txBody>
          <a:bodyPr/>
          <a:lstStyle/>
          <a:p>
            <a:fld id="{67913A8A-9EFB-4B5F-9CCB-3D21173FAA85}" type="slidenum">
              <a:rPr lang="zh-CN" altLang="en-US" smtClean="0"/>
              <a:pPr/>
              <a:t>80</a:t>
            </a:fld>
            <a:endParaRPr lang="zh-CN" altLang="en-US" dirty="0"/>
          </a:p>
        </p:txBody>
      </p:sp>
      <p:pic>
        <p:nvPicPr>
          <p:cNvPr id="4" name="图片 3"/>
          <p:cNvPicPr>
            <a:picLocks noChangeAspect="1"/>
          </p:cNvPicPr>
          <p:nvPr/>
        </p:nvPicPr>
        <p:blipFill>
          <a:blip r:embed="rId2"/>
          <a:stretch>
            <a:fillRect/>
          </a:stretch>
        </p:blipFill>
        <p:spPr>
          <a:xfrm>
            <a:off x="6934200" y="770496"/>
            <a:ext cx="3226737" cy="2295740"/>
          </a:xfrm>
          <a:prstGeom prst="rect">
            <a:avLst/>
          </a:prstGeom>
        </p:spPr>
      </p:pic>
      <p:pic>
        <p:nvPicPr>
          <p:cNvPr id="5" name="图片 4"/>
          <p:cNvPicPr>
            <a:picLocks noChangeAspect="1"/>
          </p:cNvPicPr>
          <p:nvPr/>
        </p:nvPicPr>
        <p:blipFill>
          <a:blip r:embed="rId3"/>
          <a:stretch>
            <a:fillRect/>
          </a:stretch>
        </p:blipFill>
        <p:spPr>
          <a:xfrm>
            <a:off x="4920429" y="2885831"/>
            <a:ext cx="3156771" cy="2245961"/>
          </a:xfrm>
          <a:prstGeom prst="rect">
            <a:avLst/>
          </a:prstGeom>
        </p:spPr>
      </p:pic>
      <p:pic>
        <p:nvPicPr>
          <p:cNvPr id="6" name="图片 5"/>
          <p:cNvPicPr>
            <a:picLocks noChangeAspect="1"/>
          </p:cNvPicPr>
          <p:nvPr/>
        </p:nvPicPr>
        <p:blipFill>
          <a:blip r:embed="rId4"/>
          <a:stretch>
            <a:fillRect/>
          </a:stretch>
        </p:blipFill>
        <p:spPr>
          <a:xfrm>
            <a:off x="1897971" y="2778557"/>
            <a:ext cx="2162400" cy="3807700"/>
          </a:xfrm>
          <a:prstGeom prst="rect">
            <a:avLst/>
          </a:prstGeom>
        </p:spPr>
      </p:pic>
    </p:spTree>
    <p:extLst>
      <p:ext uri="{BB962C8B-B14F-4D97-AF65-F5344CB8AC3E}">
        <p14:creationId xmlns:p14="http://schemas.microsoft.com/office/powerpoint/2010/main" val="1104186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p:cTn id="7"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8"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9" dur="500"/>
                                        <p:tgtEl>
                                          <p:spTgt spid="3">
                                            <p:txEl>
                                              <p:pRg st="3" end="3"/>
                                            </p:txEl>
                                          </p:spTgt>
                                        </p:tgtEl>
                                      </p:cBhvr>
                                    </p:animEffect>
                                  </p:childTnLst>
                                </p:cTn>
                              </p:par>
                              <p:par>
                                <p:cTn id="10" presetID="22" presetClass="entr" presetSubtype="4" fill="hold"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par>
                                <p:cTn id="13" presetID="22" presetClass="entr" presetSubtype="4"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down)">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489857" y="1088824"/>
            <a:ext cx="11277599" cy="1806776"/>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最小生成树算法</a:t>
            </a:r>
            <a:endParaRPr lang="en-US" dirty="0"/>
          </a:p>
        </p:txBody>
      </p:sp>
      <p:sp>
        <p:nvSpPr>
          <p:cNvPr id="3" name="Content Placeholder 2"/>
          <p:cNvSpPr>
            <a:spLocks noGrp="1"/>
          </p:cNvSpPr>
          <p:nvPr>
            <p:ph idx="1"/>
          </p:nvPr>
        </p:nvSpPr>
        <p:spPr/>
        <p:txBody>
          <a:bodyPr>
            <a:normAutofit/>
          </a:bodyPr>
          <a:lstStyle/>
          <a:p>
            <a:r>
              <a:rPr lang="zh-CN" altLang="en-US" b="1" dirty="0">
                <a:solidFill>
                  <a:srgbClr val="C00000"/>
                </a:solidFill>
              </a:rPr>
              <a:t>克鲁斯卡尔算法（</a:t>
            </a:r>
            <a:r>
              <a:rPr lang="en-US" altLang="zh-CN" b="1" dirty="0" err="1">
                <a:solidFill>
                  <a:srgbClr val="C00000"/>
                </a:solidFill>
              </a:rPr>
              <a:t>Kruskal</a:t>
            </a:r>
            <a:r>
              <a:rPr lang="zh-CN" altLang="en-US" b="1" dirty="0">
                <a:solidFill>
                  <a:srgbClr val="C00000"/>
                </a:solidFill>
              </a:rPr>
              <a:t>）</a:t>
            </a:r>
            <a:r>
              <a:rPr lang="zh-CN" altLang="en-US" dirty="0"/>
              <a:t>：</a:t>
            </a:r>
            <a:endParaRPr lang="en-US" altLang="zh-CN" dirty="0"/>
          </a:p>
          <a:p>
            <a:pPr lvl="1">
              <a:lnSpc>
                <a:spcPct val="100000"/>
              </a:lnSpc>
            </a:pPr>
            <a:r>
              <a:rPr lang="zh-CN" altLang="en-US" dirty="0"/>
              <a:t>首先选择带最小权的边</a:t>
            </a:r>
            <a:r>
              <a:rPr lang="en-US" altLang="zh-CN" dirty="0"/>
              <a:t>, </a:t>
            </a:r>
            <a:r>
              <a:rPr lang="zh-CN" altLang="en-US" dirty="0"/>
              <a:t>把它放进生成树中</a:t>
            </a:r>
            <a:r>
              <a:rPr lang="en-US" altLang="zh-CN" dirty="0"/>
              <a:t>. </a:t>
            </a:r>
          </a:p>
          <a:p>
            <a:pPr lvl="1">
              <a:lnSpc>
                <a:spcPct val="100000"/>
              </a:lnSpc>
            </a:pPr>
            <a:r>
              <a:rPr lang="zh-CN" altLang="en-US" dirty="0"/>
              <a:t>依次向生成树中添加不与已经选择的边形成简单回路的权最小的边</a:t>
            </a:r>
            <a:r>
              <a:rPr lang="en-US" altLang="zh-CN" dirty="0"/>
              <a:t>.</a:t>
            </a:r>
          </a:p>
          <a:p>
            <a:pPr lvl="1">
              <a:lnSpc>
                <a:spcPct val="100000"/>
              </a:lnSpc>
            </a:pPr>
            <a:r>
              <a:rPr lang="zh-CN" altLang="en-US" dirty="0"/>
              <a:t>当已经挑选</a:t>
            </a:r>
            <a:r>
              <a:rPr lang="en-US" altLang="zh-CN" dirty="0"/>
              <a:t>n-1</a:t>
            </a:r>
            <a:r>
              <a:rPr lang="zh-CN" altLang="en-US" dirty="0"/>
              <a:t>条边时停止</a:t>
            </a:r>
            <a:r>
              <a:rPr lang="en-US" altLang="zh-CN" dirty="0"/>
              <a:t>. </a:t>
            </a:r>
          </a:p>
        </p:txBody>
      </p:sp>
      <p:sp>
        <p:nvSpPr>
          <p:cNvPr id="10" name="日期占位符 9"/>
          <p:cNvSpPr>
            <a:spLocks noGrp="1"/>
          </p:cNvSpPr>
          <p:nvPr>
            <p:ph type="dt" sz="half" idx="10"/>
          </p:nvPr>
        </p:nvSpPr>
        <p:spPr/>
        <p:txBody>
          <a:bodyPr/>
          <a:lstStyle/>
          <a:p>
            <a:fld id="{7B2E38B1-ABEC-45EE-AFCB-94C7FFF05CF0}" type="datetime1">
              <a:rPr lang="zh-CN" altLang="en-US" smtClean="0"/>
              <a:t>2025/4/15</a:t>
            </a:fld>
            <a:endParaRPr lang="zh-CN" altLang="en-US" dirty="0"/>
          </a:p>
        </p:txBody>
      </p:sp>
      <p:sp>
        <p:nvSpPr>
          <p:cNvPr id="11" name="页脚占位符 10"/>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2" name="灯片编号占位符 11"/>
          <p:cNvSpPr>
            <a:spLocks noGrp="1"/>
          </p:cNvSpPr>
          <p:nvPr>
            <p:ph type="sldNum" sz="quarter" idx="12"/>
          </p:nvPr>
        </p:nvSpPr>
        <p:spPr/>
        <p:txBody>
          <a:bodyPr/>
          <a:lstStyle/>
          <a:p>
            <a:fld id="{67913A8A-9EFB-4B5F-9CCB-3D21173FAA85}" type="slidenum">
              <a:rPr lang="zh-CN" altLang="en-US" smtClean="0"/>
              <a:pPr/>
              <a:t>81</a:t>
            </a:fld>
            <a:endParaRPr lang="zh-CN" altLang="en-US" dirty="0"/>
          </a:p>
        </p:txBody>
      </p:sp>
    </p:spTree>
    <p:extLst>
      <p:ext uri="{BB962C8B-B14F-4D97-AF65-F5344CB8AC3E}">
        <p14:creationId xmlns:p14="http://schemas.microsoft.com/office/powerpoint/2010/main" val="183581478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最小生成树算法</a:t>
            </a:r>
            <a:endParaRPr lang="en-US" dirty="0"/>
          </a:p>
        </p:txBody>
      </p:sp>
      <p:sp>
        <p:nvSpPr>
          <p:cNvPr id="3" name="Content Placeholder 2"/>
          <p:cNvSpPr>
            <a:spLocks noGrp="1"/>
          </p:cNvSpPr>
          <p:nvPr>
            <p:ph idx="1"/>
          </p:nvPr>
        </p:nvSpPr>
        <p:spPr/>
        <p:txBody>
          <a:bodyPr>
            <a:normAutofit/>
          </a:bodyPr>
          <a:lstStyle/>
          <a:p>
            <a:r>
              <a:rPr lang="zh-CN" altLang="en-US" dirty="0"/>
              <a:t>例</a:t>
            </a:r>
            <a:r>
              <a:rPr lang="en-US" altLang="zh-CN" dirty="0"/>
              <a:t>2</a:t>
            </a:r>
            <a:r>
              <a:rPr lang="zh-CN" altLang="en-US" dirty="0"/>
              <a:t>：用克鲁斯卡尔算法求图示的最小生成树</a:t>
            </a:r>
            <a:r>
              <a:rPr lang="en-US" altLang="zh-CN" dirty="0"/>
              <a:t>. </a:t>
            </a:r>
          </a:p>
          <a:p>
            <a:endParaRPr lang="en-US" altLang="zh-CN" dirty="0"/>
          </a:p>
          <a:p>
            <a:endParaRPr lang="en-US" altLang="zh-CN" dirty="0"/>
          </a:p>
          <a:p>
            <a:r>
              <a:rPr lang="zh-CN" altLang="en-US" dirty="0"/>
              <a:t>解：</a:t>
            </a:r>
            <a:endParaRPr lang="en-US" altLang="zh-CN" dirty="0"/>
          </a:p>
          <a:p>
            <a:endParaRPr lang="en-US" dirty="0"/>
          </a:p>
        </p:txBody>
      </p:sp>
      <p:sp>
        <p:nvSpPr>
          <p:cNvPr id="10" name="日期占位符 9"/>
          <p:cNvSpPr>
            <a:spLocks noGrp="1"/>
          </p:cNvSpPr>
          <p:nvPr>
            <p:ph type="dt" sz="half" idx="10"/>
          </p:nvPr>
        </p:nvSpPr>
        <p:spPr/>
        <p:txBody>
          <a:bodyPr/>
          <a:lstStyle/>
          <a:p>
            <a:fld id="{903AB43A-0723-43E7-A7B3-F5D4C8995831}" type="datetime1">
              <a:rPr lang="zh-CN" altLang="en-US" smtClean="0"/>
              <a:t>2025/4/15</a:t>
            </a:fld>
            <a:endParaRPr lang="zh-CN" altLang="en-US" dirty="0"/>
          </a:p>
        </p:txBody>
      </p:sp>
      <p:sp>
        <p:nvSpPr>
          <p:cNvPr id="11" name="页脚占位符 10"/>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2" name="灯片编号占位符 11"/>
          <p:cNvSpPr>
            <a:spLocks noGrp="1"/>
          </p:cNvSpPr>
          <p:nvPr>
            <p:ph type="sldNum" sz="quarter" idx="12"/>
          </p:nvPr>
        </p:nvSpPr>
        <p:spPr/>
        <p:txBody>
          <a:bodyPr/>
          <a:lstStyle/>
          <a:p>
            <a:fld id="{67913A8A-9EFB-4B5F-9CCB-3D21173FAA85}" type="slidenum">
              <a:rPr lang="zh-CN" altLang="en-US" smtClean="0"/>
              <a:pPr/>
              <a:t>82</a:t>
            </a:fld>
            <a:endParaRPr lang="zh-CN" altLang="en-US" dirty="0"/>
          </a:p>
        </p:txBody>
      </p:sp>
      <p:pic>
        <p:nvPicPr>
          <p:cNvPr id="4" name="图片 3"/>
          <p:cNvPicPr>
            <a:picLocks noChangeAspect="1"/>
          </p:cNvPicPr>
          <p:nvPr/>
        </p:nvPicPr>
        <p:blipFill>
          <a:blip r:embed="rId2"/>
          <a:stretch>
            <a:fillRect/>
          </a:stretch>
        </p:blipFill>
        <p:spPr>
          <a:xfrm>
            <a:off x="8077200" y="944491"/>
            <a:ext cx="2754000" cy="1959400"/>
          </a:xfrm>
          <a:prstGeom prst="rect">
            <a:avLst/>
          </a:prstGeom>
        </p:spPr>
      </p:pic>
      <p:pic>
        <p:nvPicPr>
          <p:cNvPr id="7" name="图片 6"/>
          <p:cNvPicPr>
            <a:picLocks noChangeAspect="1"/>
          </p:cNvPicPr>
          <p:nvPr/>
        </p:nvPicPr>
        <p:blipFill>
          <a:blip r:embed="rId3"/>
          <a:stretch>
            <a:fillRect/>
          </a:stretch>
        </p:blipFill>
        <p:spPr>
          <a:xfrm>
            <a:off x="5938200" y="3060346"/>
            <a:ext cx="2754000" cy="1959400"/>
          </a:xfrm>
          <a:prstGeom prst="rect">
            <a:avLst/>
          </a:prstGeom>
        </p:spPr>
      </p:pic>
      <p:pic>
        <p:nvPicPr>
          <p:cNvPr id="8" name="图片 7"/>
          <p:cNvPicPr>
            <a:picLocks noChangeAspect="1"/>
          </p:cNvPicPr>
          <p:nvPr/>
        </p:nvPicPr>
        <p:blipFill>
          <a:blip r:embed="rId4"/>
          <a:stretch>
            <a:fillRect/>
          </a:stretch>
        </p:blipFill>
        <p:spPr>
          <a:xfrm>
            <a:off x="1966798" y="2497852"/>
            <a:ext cx="2162400" cy="3807700"/>
          </a:xfrm>
          <a:prstGeom prst="rect">
            <a:avLst/>
          </a:prstGeom>
        </p:spPr>
      </p:pic>
    </p:spTree>
    <p:extLst>
      <p:ext uri="{BB962C8B-B14F-4D97-AF65-F5344CB8AC3E}">
        <p14:creationId xmlns:p14="http://schemas.microsoft.com/office/powerpoint/2010/main" val="1443391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wipe(down)">
                                      <p:cBhvr>
                                        <p:cTn id="7" dur="500"/>
                                        <p:tgtEl>
                                          <p:spTgt spid="3">
                                            <p:txEl>
                                              <p:pRg st="3" end="3"/>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down)">
                                      <p:cBhvr>
                                        <p:cTn id="10" dur="500"/>
                                        <p:tgtEl>
                                          <p:spTgt spid="8"/>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489857" y="1088824"/>
            <a:ext cx="11277599" cy="1806776"/>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最优二叉树</a:t>
            </a:r>
            <a:endParaRPr lang="en-US" dirty="0"/>
          </a:p>
        </p:txBody>
      </p:sp>
      <p:sp>
        <p:nvSpPr>
          <p:cNvPr id="3" name="Content Placeholder 2"/>
          <p:cNvSpPr>
            <a:spLocks noGrp="1"/>
          </p:cNvSpPr>
          <p:nvPr>
            <p:ph idx="1"/>
          </p:nvPr>
        </p:nvSpPr>
        <p:spPr/>
        <p:txBody>
          <a:bodyPr>
            <a:normAutofit/>
          </a:bodyPr>
          <a:lstStyle/>
          <a:p>
            <a:r>
              <a:rPr lang="zh-CN" altLang="en-US" b="1" dirty="0">
                <a:solidFill>
                  <a:srgbClr val="C00000"/>
                </a:solidFill>
              </a:rPr>
              <a:t>定义：</a:t>
            </a:r>
            <a:r>
              <a:rPr lang="zh-CN" altLang="en-US" sz="2600" dirty="0"/>
              <a:t>设二叉树</a:t>
            </a:r>
            <a:r>
              <a:rPr lang="en-US" altLang="zh-CN" sz="2600" dirty="0"/>
              <a:t>T</a:t>
            </a:r>
            <a:r>
              <a:rPr lang="zh-CN" altLang="en-US" sz="2600" dirty="0"/>
              <a:t>有</a:t>
            </a:r>
            <a:r>
              <a:rPr lang="en-US" altLang="zh-CN" sz="2600" dirty="0"/>
              <a:t>t</a:t>
            </a:r>
            <a:r>
              <a:rPr lang="zh-CN" altLang="en-US" sz="2600" dirty="0"/>
              <a:t>片树叶</a:t>
            </a:r>
            <a:r>
              <a:rPr lang="en-US" altLang="zh-CN" sz="2600" dirty="0"/>
              <a:t>v</a:t>
            </a:r>
            <a:r>
              <a:rPr lang="en-US" altLang="zh-CN" sz="2600" baseline="-25000" dirty="0"/>
              <a:t>1</a:t>
            </a:r>
            <a:r>
              <a:rPr lang="en-US" altLang="zh-CN" sz="2600" dirty="0"/>
              <a:t>,v</a:t>
            </a:r>
            <a:r>
              <a:rPr lang="en-US" altLang="zh-CN" sz="2600" baseline="-25000" dirty="0"/>
              <a:t>2</a:t>
            </a:r>
            <a:r>
              <a:rPr lang="en-US" altLang="zh-CN" sz="2600" dirty="0"/>
              <a:t>,…,</a:t>
            </a:r>
            <a:r>
              <a:rPr lang="en-US" altLang="zh-CN" sz="2600" dirty="0" err="1"/>
              <a:t>v</a:t>
            </a:r>
            <a:r>
              <a:rPr lang="en-US" altLang="zh-CN" sz="2600" baseline="-25000" dirty="0" err="1"/>
              <a:t>t</a:t>
            </a:r>
            <a:r>
              <a:rPr lang="en-US" altLang="zh-CN" sz="2600" dirty="0"/>
              <a:t>, </a:t>
            </a:r>
            <a:r>
              <a:rPr lang="zh-CN" altLang="en-US" sz="2600" dirty="0"/>
              <a:t>权分别为</a:t>
            </a:r>
            <a:r>
              <a:rPr lang="en-US" altLang="zh-CN" sz="2600" dirty="0"/>
              <a:t>w</a:t>
            </a:r>
            <a:r>
              <a:rPr lang="en-US" altLang="zh-CN" sz="2600" baseline="-25000" dirty="0"/>
              <a:t>1</a:t>
            </a:r>
            <a:r>
              <a:rPr lang="en-US" altLang="zh-CN" sz="2600" dirty="0"/>
              <a:t>,w</a:t>
            </a:r>
            <a:r>
              <a:rPr lang="en-US" altLang="zh-CN" sz="2600" baseline="-25000" dirty="0"/>
              <a:t>2</a:t>
            </a:r>
            <a:r>
              <a:rPr lang="en-US" altLang="zh-CN" sz="2600" dirty="0"/>
              <a:t>,…,</a:t>
            </a:r>
            <a:r>
              <a:rPr lang="en-US" altLang="zh-CN" sz="2600" dirty="0" err="1"/>
              <a:t>w</a:t>
            </a:r>
            <a:r>
              <a:rPr lang="en-US" altLang="zh-CN" sz="2600" baseline="-25000" dirty="0" err="1"/>
              <a:t>t</a:t>
            </a:r>
            <a:r>
              <a:rPr lang="en-US" altLang="zh-CN" sz="2600" dirty="0"/>
              <a:t>, </a:t>
            </a:r>
            <a:r>
              <a:rPr lang="zh-CN" altLang="en-US" sz="2600" dirty="0"/>
              <a:t>称</a:t>
            </a:r>
            <a:endParaRPr lang="en-US" altLang="zh-CN" sz="2600" dirty="0"/>
          </a:p>
          <a:p>
            <a:pPr marL="0" indent="0">
              <a:buNone/>
            </a:pPr>
            <a:r>
              <a:rPr lang="en-US" altLang="zh-CN" sz="2600" dirty="0"/>
              <a:t>                </a:t>
            </a:r>
            <a:r>
              <a:rPr lang="zh-CN" altLang="en-US" sz="2600" dirty="0"/>
              <a:t>为</a:t>
            </a:r>
            <a:r>
              <a:rPr lang="en-US" altLang="zh-CN" sz="2600" dirty="0"/>
              <a:t>T</a:t>
            </a:r>
            <a:r>
              <a:rPr lang="zh-CN" altLang="en-US" sz="2600" dirty="0"/>
              <a:t>的权，其中</a:t>
            </a:r>
            <a:r>
              <a:rPr lang="en-US" altLang="zh-CN" sz="2600" dirty="0"/>
              <a:t>l(v</a:t>
            </a:r>
            <a:r>
              <a:rPr lang="en-US" altLang="zh-CN" sz="2600" baseline="-25000" dirty="0"/>
              <a:t>i</a:t>
            </a:r>
            <a:r>
              <a:rPr lang="en-US" altLang="zh-CN" sz="2600" dirty="0"/>
              <a:t>)</a:t>
            </a:r>
            <a:r>
              <a:rPr lang="zh-CN" altLang="en-US" sz="2600" dirty="0"/>
              <a:t>是</a:t>
            </a:r>
            <a:r>
              <a:rPr lang="en-US" altLang="zh-CN" sz="2600" dirty="0"/>
              <a:t>v</a:t>
            </a:r>
            <a:r>
              <a:rPr lang="en-US" altLang="zh-CN" sz="2600" baseline="-25000" dirty="0"/>
              <a:t>i</a:t>
            </a:r>
            <a:r>
              <a:rPr lang="zh-CN" altLang="en-US" sz="2600" dirty="0"/>
              <a:t>的层数</a:t>
            </a:r>
            <a:r>
              <a:rPr lang="en-US" altLang="zh-CN" sz="2600" dirty="0"/>
              <a:t>. </a:t>
            </a:r>
            <a:r>
              <a:rPr lang="zh-CN" altLang="en-US" sz="2600" dirty="0"/>
              <a:t>在所有有</a:t>
            </a:r>
            <a:r>
              <a:rPr lang="en-US" altLang="zh-CN" sz="2600" dirty="0"/>
              <a:t>t</a:t>
            </a:r>
            <a:r>
              <a:rPr lang="zh-CN" altLang="en-US" sz="2600" dirty="0"/>
              <a:t>片树叶、带权</a:t>
            </a:r>
            <a:r>
              <a:rPr lang="en-US" altLang="zh-CN" sz="2600" dirty="0"/>
              <a:t>w</a:t>
            </a:r>
            <a:r>
              <a:rPr lang="en-US" altLang="zh-CN" sz="2600" baseline="-25000" dirty="0"/>
              <a:t>1</a:t>
            </a:r>
            <a:r>
              <a:rPr lang="en-US" altLang="zh-CN" sz="2600" dirty="0"/>
              <a:t>,w</a:t>
            </a:r>
            <a:r>
              <a:rPr lang="en-US" altLang="zh-CN" sz="2600" baseline="-25000" dirty="0"/>
              <a:t>2</a:t>
            </a:r>
            <a:r>
              <a:rPr lang="en-US" altLang="zh-CN" sz="2600" dirty="0"/>
              <a:t>,…,</a:t>
            </a:r>
            <a:r>
              <a:rPr lang="en-US" altLang="zh-CN" sz="2600" dirty="0" err="1"/>
              <a:t>w</a:t>
            </a:r>
            <a:r>
              <a:rPr lang="en-US" altLang="zh-CN" sz="2600" baseline="-25000" dirty="0" err="1"/>
              <a:t>t</a:t>
            </a:r>
            <a:r>
              <a:rPr lang="zh-CN" altLang="en-US" sz="2600" dirty="0"/>
              <a:t>的二叉树中，权最小的二叉树称为最优二叉树</a:t>
            </a:r>
            <a:r>
              <a:rPr lang="en-US" altLang="zh-CN" sz="2600" dirty="0"/>
              <a:t>.</a:t>
            </a:r>
            <a:endParaRPr lang="en-US" altLang="zh-CN" b="1" dirty="0">
              <a:solidFill>
                <a:srgbClr val="C00000"/>
              </a:solidFill>
            </a:endParaRPr>
          </a:p>
          <a:p>
            <a:pPr marL="0" indent="0">
              <a:buNone/>
            </a:pPr>
            <a:endParaRPr lang="en-US" altLang="zh-CN" b="1" dirty="0">
              <a:solidFill>
                <a:srgbClr val="C00000"/>
              </a:solidFill>
            </a:endParaRPr>
          </a:p>
          <a:p>
            <a:r>
              <a:rPr lang="zh-CN" altLang="en-US" b="1" dirty="0">
                <a:solidFill>
                  <a:srgbClr val="C00000"/>
                </a:solidFill>
              </a:rPr>
              <a:t>霍夫曼算法（</a:t>
            </a:r>
            <a:r>
              <a:rPr lang="en-US" altLang="zh-CN" b="1" dirty="0">
                <a:solidFill>
                  <a:srgbClr val="C00000"/>
                </a:solidFill>
              </a:rPr>
              <a:t>Huffman</a:t>
            </a:r>
            <a:r>
              <a:rPr lang="zh-CN" altLang="en-US" b="1" dirty="0">
                <a:solidFill>
                  <a:srgbClr val="C00000"/>
                </a:solidFill>
              </a:rPr>
              <a:t>）</a:t>
            </a:r>
            <a:r>
              <a:rPr lang="zh-CN" altLang="en-US" dirty="0"/>
              <a:t>：</a:t>
            </a:r>
            <a:endParaRPr lang="en-US" altLang="zh-CN" dirty="0"/>
          </a:p>
          <a:p>
            <a:pPr lvl="1">
              <a:lnSpc>
                <a:spcPct val="100000"/>
              </a:lnSpc>
            </a:pPr>
            <a:r>
              <a:rPr lang="en-US" altLang="zh-CN" dirty="0"/>
              <a:t>1. </a:t>
            </a:r>
            <a:r>
              <a:rPr lang="zh-CN" altLang="en-US" dirty="0"/>
              <a:t>做</a:t>
            </a:r>
            <a:r>
              <a:rPr lang="en-US" altLang="zh-CN" dirty="0"/>
              <a:t>t</a:t>
            </a:r>
            <a:r>
              <a:rPr lang="zh-CN" altLang="en-US" dirty="0"/>
              <a:t>片树叶，分别以</a:t>
            </a:r>
            <a:r>
              <a:rPr lang="en-US" altLang="zh-CN" dirty="0"/>
              <a:t>w</a:t>
            </a:r>
            <a:r>
              <a:rPr lang="en-US" altLang="zh-CN" sz="2600" baseline="-25000" dirty="0"/>
              <a:t>1</a:t>
            </a:r>
            <a:r>
              <a:rPr lang="en-US" altLang="zh-CN" dirty="0"/>
              <a:t>,w</a:t>
            </a:r>
            <a:r>
              <a:rPr lang="en-US" altLang="zh-CN" sz="2600" baseline="-25000" dirty="0"/>
              <a:t>2</a:t>
            </a:r>
            <a:r>
              <a:rPr lang="en-US" altLang="zh-CN" dirty="0"/>
              <a:t>,…,</a:t>
            </a:r>
            <a:r>
              <a:rPr lang="en-US" altLang="zh-CN" dirty="0" err="1"/>
              <a:t>w</a:t>
            </a:r>
            <a:r>
              <a:rPr lang="en-US" altLang="zh-CN" sz="2600" baseline="-25000" dirty="0" err="1"/>
              <a:t>t</a:t>
            </a:r>
            <a:r>
              <a:rPr lang="zh-CN" altLang="en-US" dirty="0"/>
              <a:t>为权</a:t>
            </a:r>
            <a:r>
              <a:rPr lang="en-US" altLang="zh-CN" dirty="0"/>
              <a:t>. </a:t>
            </a:r>
          </a:p>
          <a:p>
            <a:pPr lvl="1">
              <a:lnSpc>
                <a:spcPct val="100000"/>
              </a:lnSpc>
            </a:pPr>
            <a:r>
              <a:rPr lang="en-US" altLang="zh-CN" dirty="0"/>
              <a:t>2. </a:t>
            </a:r>
            <a:r>
              <a:rPr lang="zh-CN" altLang="en-US" dirty="0"/>
              <a:t>在所有入度为</a:t>
            </a:r>
            <a:r>
              <a:rPr lang="en-US" altLang="zh-CN" dirty="0" smtClean="0"/>
              <a:t>0</a:t>
            </a:r>
            <a:r>
              <a:rPr lang="zh-CN" altLang="en-US" dirty="0" smtClean="0"/>
              <a:t>的顶点（</a:t>
            </a:r>
            <a:r>
              <a:rPr lang="zh-CN" altLang="en-US" dirty="0"/>
              <a:t>不一定是树叶）中选择两个权最小的顶点，添加一个新的内点，以这两个顶点作为儿子，其权等于这两个儿子的权之和</a:t>
            </a:r>
            <a:r>
              <a:rPr lang="en-US" altLang="zh-CN" dirty="0"/>
              <a:t>.</a:t>
            </a:r>
          </a:p>
          <a:p>
            <a:pPr lvl="1">
              <a:lnSpc>
                <a:spcPct val="100000"/>
              </a:lnSpc>
            </a:pPr>
            <a:r>
              <a:rPr lang="en-US" altLang="zh-CN" dirty="0"/>
              <a:t>3. </a:t>
            </a:r>
            <a:r>
              <a:rPr lang="zh-CN" altLang="en-US" dirty="0"/>
              <a:t>重复步骤</a:t>
            </a:r>
            <a:r>
              <a:rPr lang="en-US" altLang="zh-CN" dirty="0"/>
              <a:t>2</a:t>
            </a:r>
            <a:r>
              <a:rPr lang="zh-CN" altLang="en-US" dirty="0"/>
              <a:t>，直到只有</a:t>
            </a:r>
            <a:r>
              <a:rPr lang="en-US" altLang="zh-CN" dirty="0"/>
              <a:t>1</a:t>
            </a:r>
            <a:r>
              <a:rPr lang="zh-CN" altLang="en-US" dirty="0"/>
              <a:t>个入度为</a:t>
            </a:r>
            <a:r>
              <a:rPr lang="en-US" altLang="zh-CN" dirty="0"/>
              <a:t>0</a:t>
            </a:r>
            <a:r>
              <a:rPr lang="zh-CN" altLang="en-US" dirty="0"/>
              <a:t>的顶点为止（根顶点）</a:t>
            </a:r>
            <a:r>
              <a:rPr lang="en-US" altLang="zh-CN" dirty="0"/>
              <a:t>. </a:t>
            </a:r>
          </a:p>
          <a:p>
            <a:pPr lvl="1">
              <a:lnSpc>
                <a:spcPct val="100000"/>
              </a:lnSpc>
            </a:pPr>
            <a:r>
              <a:rPr lang="en-US" altLang="zh-CN" dirty="0"/>
              <a:t> W</a:t>
            </a:r>
            <a:r>
              <a:rPr lang="zh-CN" altLang="en-US" dirty="0"/>
              <a:t>（</a:t>
            </a:r>
            <a:r>
              <a:rPr lang="en-US" altLang="zh-CN" dirty="0"/>
              <a:t>T</a:t>
            </a:r>
            <a:r>
              <a:rPr lang="zh-CN" altLang="en-US" dirty="0"/>
              <a:t>）等于所有内点的权之和</a:t>
            </a:r>
            <a:r>
              <a:rPr lang="en-US" altLang="zh-CN" dirty="0"/>
              <a:t>.</a:t>
            </a:r>
          </a:p>
        </p:txBody>
      </p:sp>
      <p:sp>
        <p:nvSpPr>
          <p:cNvPr id="10" name="日期占位符 9"/>
          <p:cNvSpPr>
            <a:spLocks noGrp="1"/>
          </p:cNvSpPr>
          <p:nvPr>
            <p:ph type="dt" sz="half" idx="10"/>
          </p:nvPr>
        </p:nvSpPr>
        <p:spPr/>
        <p:txBody>
          <a:bodyPr/>
          <a:lstStyle/>
          <a:p>
            <a:fld id="{7B2E38B1-ABEC-45EE-AFCB-94C7FFF05CF0}" type="datetime1">
              <a:rPr lang="zh-CN" altLang="en-US" smtClean="0"/>
              <a:t>2025/4/15</a:t>
            </a:fld>
            <a:endParaRPr lang="zh-CN" altLang="en-US" dirty="0"/>
          </a:p>
        </p:txBody>
      </p:sp>
      <p:sp>
        <p:nvSpPr>
          <p:cNvPr id="11" name="页脚占位符 10"/>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2" name="灯片编号占位符 11"/>
          <p:cNvSpPr>
            <a:spLocks noGrp="1"/>
          </p:cNvSpPr>
          <p:nvPr>
            <p:ph type="sldNum" sz="quarter" idx="12"/>
          </p:nvPr>
        </p:nvSpPr>
        <p:spPr/>
        <p:txBody>
          <a:bodyPr/>
          <a:lstStyle/>
          <a:p>
            <a:fld id="{67913A8A-9EFB-4B5F-9CCB-3D21173FAA85}" type="slidenum">
              <a:rPr lang="zh-CN" altLang="en-US" smtClean="0"/>
              <a:pPr/>
              <a:t>83</a:t>
            </a:fld>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3781171853"/>
              </p:ext>
            </p:extLst>
          </p:nvPr>
        </p:nvGraphicFramePr>
        <p:xfrm>
          <a:off x="604838" y="1570038"/>
          <a:ext cx="1671637" cy="565150"/>
        </p:xfrm>
        <a:graphic>
          <a:graphicData uri="http://schemas.openxmlformats.org/presentationml/2006/ole">
            <mc:AlternateContent xmlns:mc="http://schemas.openxmlformats.org/markup-compatibility/2006">
              <mc:Choice xmlns:v="urn:schemas-microsoft-com:vml" Requires="v">
                <p:oleObj spid="_x0000_s1040" name="Equation" r:id="rId3" imgW="1143000" imgH="431640" progId="Equation.DSMT4">
                  <p:embed/>
                </p:oleObj>
              </mc:Choice>
              <mc:Fallback>
                <p:oleObj name="Equation" r:id="rId3" imgW="1143000" imgH="431640" progId="Equation.DSMT4">
                  <p:embed/>
                  <p:pic>
                    <p:nvPicPr>
                      <p:cNvPr id="0" name=""/>
                      <p:cNvPicPr/>
                      <p:nvPr/>
                    </p:nvPicPr>
                    <p:blipFill>
                      <a:blip r:embed="rId4"/>
                      <a:stretch>
                        <a:fillRect/>
                      </a:stretch>
                    </p:blipFill>
                    <p:spPr>
                      <a:xfrm>
                        <a:off x="604838" y="1570038"/>
                        <a:ext cx="1671637" cy="565150"/>
                      </a:xfrm>
                      <a:prstGeom prst="rect">
                        <a:avLst/>
                      </a:prstGeom>
                    </p:spPr>
                  </p:pic>
                </p:oleObj>
              </mc:Fallback>
            </mc:AlternateContent>
          </a:graphicData>
        </a:graphic>
      </p:graphicFrame>
    </p:spTree>
    <p:extLst>
      <p:ext uri="{BB962C8B-B14F-4D97-AF65-F5344CB8AC3E}">
        <p14:creationId xmlns:p14="http://schemas.microsoft.com/office/powerpoint/2010/main" val="46462947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最优二叉树</a:t>
            </a:r>
            <a:endParaRPr lang="en-US" dirty="0"/>
          </a:p>
        </p:txBody>
      </p:sp>
      <p:sp>
        <p:nvSpPr>
          <p:cNvPr id="3" name="Content Placeholder 2"/>
          <p:cNvSpPr>
            <a:spLocks noGrp="1"/>
          </p:cNvSpPr>
          <p:nvPr>
            <p:ph idx="1"/>
          </p:nvPr>
        </p:nvSpPr>
        <p:spPr/>
        <p:txBody>
          <a:bodyPr>
            <a:normAutofit/>
          </a:bodyPr>
          <a:lstStyle/>
          <a:p>
            <a:r>
              <a:rPr lang="zh-CN" altLang="en-US" dirty="0"/>
              <a:t>例：求带权</a:t>
            </a:r>
            <a:r>
              <a:rPr lang="en-US" altLang="zh-CN" dirty="0"/>
              <a:t>2,2,3,3,5</a:t>
            </a:r>
            <a:r>
              <a:rPr lang="zh-CN" altLang="en-US" dirty="0"/>
              <a:t>的最优二叉树</a:t>
            </a:r>
            <a:r>
              <a:rPr lang="en-US" altLang="zh-CN" dirty="0" smtClean="0"/>
              <a:t>.</a:t>
            </a:r>
            <a:endParaRPr lang="en-US" altLang="zh-CN" dirty="0"/>
          </a:p>
          <a:p>
            <a:pPr marL="0" indent="0">
              <a:buNone/>
            </a:pPr>
            <a:r>
              <a:rPr lang="zh-CN" altLang="en-US" dirty="0" smtClean="0"/>
              <a:t>解：用霍夫曼算法计算最优二叉树的过程</a:t>
            </a:r>
            <a:r>
              <a:rPr lang="en-US" altLang="zh-CN" dirty="0" smtClean="0"/>
              <a:t>.</a:t>
            </a:r>
            <a:r>
              <a:rPr lang="zh-CN" altLang="en-US" dirty="0" smtClean="0"/>
              <a:t>（</a:t>
            </a:r>
            <a:r>
              <a:rPr lang="en-US" altLang="zh-CN" dirty="0" smtClean="0"/>
              <a:t>e</a:t>
            </a:r>
            <a:r>
              <a:rPr lang="zh-CN" altLang="en-US" dirty="0" smtClean="0"/>
              <a:t>）为最优二叉树，</a:t>
            </a:r>
            <a:r>
              <a:rPr lang="en-US" altLang="zh-CN" dirty="0" smtClean="0"/>
              <a:t>W</a:t>
            </a:r>
            <a:r>
              <a:rPr lang="zh-CN" altLang="en-US" dirty="0" smtClean="0"/>
              <a:t>（</a:t>
            </a:r>
            <a:r>
              <a:rPr lang="en-US" altLang="zh-CN" dirty="0" smtClean="0"/>
              <a:t>T</a:t>
            </a:r>
            <a:r>
              <a:rPr lang="zh-CN" altLang="en-US" dirty="0" smtClean="0"/>
              <a:t>）</a:t>
            </a:r>
            <a:r>
              <a:rPr lang="en-US" altLang="zh-CN" dirty="0" smtClean="0"/>
              <a:t>=34. </a:t>
            </a:r>
          </a:p>
          <a:p>
            <a:pPr marL="0" indent="0">
              <a:buNone/>
            </a:pPr>
            <a:endParaRPr lang="en-US" altLang="zh-CN" dirty="0"/>
          </a:p>
          <a:p>
            <a:pPr marL="0" indent="0">
              <a:buNone/>
            </a:pPr>
            <a:endParaRPr lang="en-US" altLang="zh-CN" dirty="0"/>
          </a:p>
          <a:p>
            <a:pPr marL="0" indent="0">
              <a:buNone/>
            </a:pPr>
            <a:endParaRPr lang="en-US" altLang="zh-CN" dirty="0"/>
          </a:p>
          <a:p>
            <a:endParaRPr lang="en-US" altLang="zh-CN" dirty="0"/>
          </a:p>
          <a:p>
            <a:pPr marL="0" indent="0">
              <a:buNone/>
            </a:pPr>
            <a:endParaRPr lang="en-US" dirty="0"/>
          </a:p>
        </p:txBody>
      </p:sp>
      <p:sp>
        <p:nvSpPr>
          <p:cNvPr id="10" name="日期占位符 9"/>
          <p:cNvSpPr>
            <a:spLocks noGrp="1"/>
          </p:cNvSpPr>
          <p:nvPr>
            <p:ph type="dt" sz="half" idx="10"/>
          </p:nvPr>
        </p:nvSpPr>
        <p:spPr/>
        <p:txBody>
          <a:bodyPr/>
          <a:lstStyle/>
          <a:p>
            <a:fld id="{903AB43A-0723-43E7-A7B3-F5D4C8995831}" type="datetime1">
              <a:rPr lang="zh-CN" altLang="en-US" smtClean="0"/>
              <a:t>2025/4/15</a:t>
            </a:fld>
            <a:endParaRPr lang="zh-CN" altLang="en-US" dirty="0"/>
          </a:p>
        </p:txBody>
      </p:sp>
      <p:sp>
        <p:nvSpPr>
          <p:cNvPr id="11" name="页脚占位符 10"/>
          <p:cNvSpPr>
            <a:spLocks noGrp="1"/>
          </p:cNvSpPr>
          <p:nvPr>
            <p:ph type="ftr" sz="quarter" idx="11"/>
          </p:nvPr>
        </p:nvSpPr>
        <p:spPr/>
        <p:txBody>
          <a:bodyPr/>
          <a:lstStyle/>
          <a:p>
            <a:pPr algn="r"/>
            <a:r>
              <a:rPr lang="zh-CN" altLang="en-US" dirty="0"/>
              <a:t>华中科技大学</a:t>
            </a:r>
            <a:r>
              <a:rPr lang="en-US" altLang="zh-CN" dirty="0"/>
              <a:t>NNSS</a:t>
            </a:r>
            <a:r>
              <a:rPr lang="zh-CN" altLang="en-US" dirty="0"/>
              <a:t>实验室</a:t>
            </a:r>
          </a:p>
        </p:txBody>
      </p:sp>
      <p:sp>
        <p:nvSpPr>
          <p:cNvPr id="12" name="灯片编号占位符 11"/>
          <p:cNvSpPr>
            <a:spLocks noGrp="1"/>
          </p:cNvSpPr>
          <p:nvPr>
            <p:ph type="sldNum" sz="quarter" idx="12"/>
          </p:nvPr>
        </p:nvSpPr>
        <p:spPr/>
        <p:txBody>
          <a:bodyPr/>
          <a:lstStyle/>
          <a:p>
            <a:fld id="{67913A8A-9EFB-4B5F-9CCB-3D21173FAA85}" type="slidenum">
              <a:rPr lang="zh-CN" altLang="en-US" smtClean="0"/>
              <a:pPr/>
              <a:t>84</a:t>
            </a:fld>
            <a:endParaRPr lang="zh-CN" altLang="en-US" dirty="0"/>
          </a:p>
        </p:txBody>
      </p:sp>
      <p:sp>
        <p:nvSpPr>
          <p:cNvPr id="4" name="椭圆 3"/>
          <p:cNvSpPr/>
          <p:nvPr/>
        </p:nvSpPr>
        <p:spPr>
          <a:xfrm>
            <a:off x="762000" y="4572000"/>
            <a:ext cx="152400" cy="152400"/>
          </a:xfrm>
          <a:prstGeom prst="ellipse">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1219200" y="4572000"/>
            <a:ext cx="152400" cy="152400"/>
          </a:xfrm>
          <a:prstGeom prst="ellipse">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1676400" y="4572000"/>
            <a:ext cx="152400" cy="152400"/>
          </a:xfrm>
          <a:prstGeom prst="ellipse">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2133600" y="4572000"/>
            <a:ext cx="152400" cy="152400"/>
          </a:xfrm>
          <a:prstGeom prst="ellipse">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2555167" y="4572000"/>
            <a:ext cx="152400" cy="152400"/>
          </a:xfrm>
          <a:prstGeom prst="ellipse">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81747" y="4800600"/>
            <a:ext cx="312906" cy="369332"/>
          </a:xfrm>
          <a:prstGeom prst="rect">
            <a:avLst/>
          </a:prstGeom>
          <a:noFill/>
        </p:spPr>
        <p:txBody>
          <a:bodyPr wrap="none" rtlCol="0">
            <a:spAutoFit/>
          </a:bodyPr>
          <a:lstStyle/>
          <a:p>
            <a:r>
              <a:rPr lang="en-US" altLang="zh-CN" b="1" dirty="0" smtClean="0"/>
              <a:t>2</a:t>
            </a:r>
            <a:endParaRPr lang="zh-CN" altLang="en-US" b="1" dirty="0"/>
          </a:p>
        </p:txBody>
      </p:sp>
      <p:sp>
        <p:nvSpPr>
          <p:cNvPr id="16" name="文本框 15"/>
          <p:cNvSpPr txBox="1"/>
          <p:nvPr/>
        </p:nvSpPr>
        <p:spPr>
          <a:xfrm>
            <a:off x="1110081" y="4800600"/>
            <a:ext cx="312906" cy="369332"/>
          </a:xfrm>
          <a:prstGeom prst="rect">
            <a:avLst/>
          </a:prstGeom>
          <a:noFill/>
        </p:spPr>
        <p:txBody>
          <a:bodyPr wrap="none" rtlCol="0">
            <a:spAutoFit/>
          </a:bodyPr>
          <a:lstStyle/>
          <a:p>
            <a:r>
              <a:rPr lang="en-US" altLang="zh-CN" b="1" dirty="0" smtClean="0"/>
              <a:t>2</a:t>
            </a:r>
            <a:endParaRPr lang="zh-CN" altLang="en-US" b="1" dirty="0"/>
          </a:p>
        </p:txBody>
      </p:sp>
      <p:sp>
        <p:nvSpPr>
          <p:cNvPr id="17" name="文本框 16"/>
          <p:cNvSpPr txBox="1"/>
          <p:nvPr/>
        </p:nvSpPr>
        <p:spPr>
          <a:xfrm>
            <a:off x="1596147" y="4800600"/>
            <a:ext cx="312906" cy="369332"/>
          </a:xfrm>
          <a:prstGeom prst="rect">
            <a:avLst/>
          </a:prstGeom>
          <a:noFill/>
        </p:spPr>
        <p:txBody>
          <a:bodyPr wrap="none" rtlCol="0">
            <a:spAutoFit/>
          </a:bodyPr>
          <a:lstStyle/>
          <a:p>
            <a:r>
              <a:rPr lang="en-US" altLang="zh-CN" b="1" dirty="0"/>
              <a:t>3</a:t>
            </a:r>
            <a:endParaRPr lang="zh-CN" altLang="en-US" b="1" dirty="0"/>
          </a:p>
        </p:txBody>
      </p:sp>
      <p:sp>
        <p:nvSpPr>
          <p:cNvPr id="18" name="文本框 17"/>
          <p:cNvSpPr txBox="1"/>
          <p:nvPr/>
        </p:nvSpPr>
        <p:spPr>
          <a:xfrm>
            <a:off x="2015018" y="4800600"/>
            <a:ext cx="312906" cy="369332"/>
          </a:xfrm>
          <a:prstGeom prst="rect">
            <a:avLst/>
          </a:prstGeom>
          <a:noFill/>
        </p:spPr>
        <p:txBody>
          <a:bodyPr wrap="none" rtlCol="0">
            <a:spAutoFit/>
          </a:bodyPr>
          <a:lstStyle/>
          <a:p>
            <a:r>
              <a:rPr lang="en-US" altLang="zh-CN" b="1" dirty="0"/>
              <a:t>3</a:t>
            </a:r>
            <a:endParaRPr lang="zh-CN" altLang="en-US" b="1" dirty="0"/>
          </a:p>
        </p:txBody>
      </p:sp>
      <p:sp>
        <p:nvSpPr>
          <p:cNvPr id="19" name="文本框 18"/>
          <p:cNvSpPr txBox="1"/>
          <p:nvPr/>
        </p:nvSpPr>
        <p:spPr>
          <a:xfrm>
            <a:off x="2436343" y="4800600"/>
            <a:ext cx="312906" cy="369332"/>
          </a:xfrm>
          <a:prstGeom prst="rect">
            <a:avLst/>
          </a:prstGeom>
          <a:noFill/>
        </p:spPr>
        <p:txBody>
          <a:bodyPr wrap="none" rtlCol="0">
            <a:spAutoFit/>
          </a:bodyPr>
          <a:lstStyle/>
          <a:p>
            <a:r>
              <a:rPr lang="en-US" altLang="zh-CN" b="1" dirty="0"/>
              <a:t>5</a:t>
            </a:r>
            <a:endParaRPr lang="zh-CN" altLang="en-US" b="1" dirty="0"/>
          </a:p>
        </p:txBody>
      </p:sp>
      <p:sp>
        <p:nvSpPr>
          <p:cNvPr id="20" name="文本框 19"/>
          <p:cNvSpPr txBox="1"/>
          <p:nvPr/>
        </p:nvSpPr>
        <p:spPr>
          <a:xfrm>
            <a:off x="1363494" y="5294354"/>
            <a:ext cx="458780" cy="369332"/>
          </a:xfrm>
          <a:prstGeom prst="rect">
            <a:avLst/>
          </a:prstGeom>
          <a:noFill/>
        </p:spPr>
        <p:txBody>
          <a:bodyPr wrap="none" rtlCol="0">
            <a:spAutoFit/>
          </a:bodyPr>
          <a:lstStyle/>
          <a:p>
            <a:r>
              <a:rPr lang="en-US" altLang="zh-CN" b="1" dirty="0" smtClean="0"/>
              <a:t>(a)</a:t>
            </a:r>
            <a:endParaRPr lang="zh-CN" altLang="en-US" b="1" dirty="0"/>
          </a:p>
        </p:txBody>
      </p:sp>
      <p:sp>
        <p:nvSpPr>
          <p:cNvPr id="21" name="椭圆 20"/>
          <p:cNvSpPr/>
          <p:nvPr/>
        </p:nvSpPr>
        <p:spPr>
          <a:xfrm>
            <a:off x="3236033" y="4648200"/>
            <a:ext cx="152400" cy="152400"/>
          </a:xfrm>
          <a:prstGeom prst="ellipse">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p:nvSpPr>
        <p:spPr>
          <a:xfrm>
            <a:off x="3693233" y="4648200"/>
            <a:ext cx="152400" cy="152400"/>
          </a:xfrm>
          <a:prstGeom prst="ellipse">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nvSpPr>
        <p:spPr>
          <a:xfrm>
            <a:off x="4150433" y="4648200"/>
            <a:ext cx="152400" cy="152400"/>
          </a:xfrm>
          <a:prstGeom prst="ellipse">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nvSpPr>
        <p:spPr>
          <a:xfrm>
            <a:off x="4607633" y="4648200"/>
            <a:ext cx="152400" cy="152400"/>
          </a:xfrm>
          <a:prstGeom prst="ellipse">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a:off x="5029200" y="4648200"/>
            <a:ext cx="152400" cy="152400"/>
          </a:xfrm>
          <a:prstGeom prst="ellipse">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3190298" y="4876800"/>
            <a:ext cx="312906" cy="369332"/>
          </a:xfrm>
          <a:prstGeom prst="rect">
            <a:avLst/>
          </a:prstGeom>
          <a:noFill/>
        </p:spPr>
        <p:txBody>
          <a:bodyPr wrap="none" rtlCol="0">
            <a:spAutoFit/>
          </a:bodyPr>
          <a:lstStyle/>
          <a:p>
            <a:r>
              <a:rPr lang="en-US" altLang="zh-CN" b="1" dirty="0" smtClean="0"/>
              <a:t>2</a:t>
            </a:r>
            <a:endParaRPr lang="zh-CN" altLang="en-US" b="1" dirty="0"/>
          </a:p>
        </p:txBody>
      </p:sp>
      <p:sp>
        <p:nvSpPr>
          <p:cNvPr id="27" name="文本框 26"/>
          <p:cNvSpPr txBox="1"/>
          <p:nvPr/>
        </p:nvSpPr>
        <p:spPr>
          <a:xfrm>
            <a:off x="3618632" y="4876800"/>
            <a:ext cx="312906" cy="369332"/>
          </a:xfrm>
          <a:prstGeom prst="rect">
            <a:avLst/>
          </a:prstGeom>
          <a:noFill/>
        </p:spPr>
        <p:txBody>
          <a:bodyPr wrap="none" rtlCol="0">
            <a:spAutoFit/>
          </a:bodyPr>
          <a:lstStyle/>
          <a:p>
            <a:r>
              <a:rPr lang="en-US" altLang="zh-CN" b="1" dirty="0" smtClean="0"/>
              <a:t>2</a:t>
            </a:r>
            <a:endParaRPr lang="zh-CN" altLang="en-US" b="1" dirty="0"/>
          </a:p>
        </p:txBody>
      </p:sp>
      <p:sp>
        <p:nvSpPr>
          <p:cNvPr id="28" name="文本框 27"/>
          <p:cNvSpPr txBox="1"/>
          <p:nvPr/>
        </p:nvSpPr>
        <p:spPr>
          <a:xfrm>
            <a:off x="4104698" y="4876800"/>
            <a:ext cx="312906" cy="369332"/>
          </a:xfrm>
          <a:prstGeom prst="rect">
            <a:avLst/>
          </a:prstGeom>
          <a:noFill/>
        </p:spPr>
        <p:txBody>
          <a:bodyPr wrap="none" rtlCol="0">
            <a:spAutoFit/>
          </a:bodyPr>
          <a:lstStyle/>
          <a:p>
            <a:r>
              <a:rPr lang="en-US" altLang="zh-CN" b="1" dirty="0"/>
              <a:t>3</a:t>
            </a:r>
            <a:endParaRPr lang="zh-CN" altLang="en-US" b="1" dirty="0"/>
          </a:p>
        </p:txBody>
      </p:sp>
      <p:sp>
        <p:nvSpPr>
          <p:cNvPr id="29" name="文本框 28"/>
          <p:cNvSpPr txBox="1"/>
          <p:nvPr/>
        </p:nvSpPr>
        <p:spPr>
          <a:xfrm>
            <a:off x="4523569" y="4876800"/>
            <a:ext cx="312906" cy="369332"/>
          </a:xfrm>
          <a:prstGeom prst="rect">
            <a:avLst/>
          </a:prstGeom>
          <a:noFill/>
        </p:spPr>
        <p:txBody>
          <a:bodyPr wrap="none" rtlCol="0">
            <a:spAutoFit/>
          </a:bodyPr>
          <a:lstStyle/>
          <a:p>
            <a:r>
              <a:rPr lang="en-US" altLang="zh-CN" b="1" dirty="0"/>
              <a:t>3</a:t>
            </a:r>
            <a:endParaRPr lang="zh-CN" altLang="en-US" b="1" dirty="0"/>
          </a:p>
        </p:txBody>
      </p:sp>
      <p:sp>
        <p:nvSpPr>
          <p:cNvPr id="30" name="文本框 29"/>
          <p:cNvSpPr txBox="1"/>
          <p:nvPr/>
        </p:nvSpPr>
        <p:spPr>
          <a:xfrm>
            <a:off x="4944894" y="4876800"/>
            <a:ext cx="312906" cy="369332"/>
          </a:xfrm>
          <a:prstGeom prst="rect">
            <a:avLst/>
          </a:prstGeom>
          <a:noFill/>
        </p:spPr>
        <p:txBody>
          <a:bodyPr wrap="none" rtlCol="0">
            <a:spAutoFit/>
          </a:bodyPr>
          <a:lstStyle/>
          <a:p>
            <a:r>
              <a:rPr lang="en-US" altLang="zh-CN" b="1" dirty="0"/>
              <a:t>5</a:t>
            </a:r>
            <a:endParaRPr lang="zh-CN" altLang="en-US" b="1" dirty="0"/>
          </a:p>
        </p:txBody>
      </p:sp>
      <p:sp>
        <p:nvSpPr>
          <p:cNvPr id="31" name="椭圆 30"/>
          <p:cNvSpPr/>
          <p:nvPr/>
        </p:nvSpPr>
        <p:spPr>
          <a:xfrm>
            <a:off x="3466232" y="4038600"/>
            <a:ext cx="152400" cy="152400"/>
          </a:xfrm>
          <a:prstGeom prst="ellipse">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p:cNvSpPr txBox="1"/>
          <p:nvPr/>
        </p:nvSpPr>
        <p:spPr>
          <a:xfrm>
            <a:off x="3380327" y="3658806"/>
            <a:ext cx="312906" cy="369332"/>
          </a:xfrm>
          <a:prstGeom prst="rect">
            <a:avLst/>
          </a:prstGeom>
          <a:noFill/>
        </p:spPr>
        <p:txBody>
          <a:bodyPr wrap="none" rtlCol="0">
            <a:spAutoFit/>
          </a:bodyPr>
          <a:lstStyle/>
          <a:p>
            <a:r>
              <a:rPr lang="en-US" altLang="zh-CN" b="1" dirty="0"/>
              <a:t>4</a:t>
            </a:r>
            <a:endParaRPr lang="zh-CN" altLang="en-US" b="1" dirty="0"/>
          </a:p>
        </p:txBody>
      </p:sp>
      <p:cxnSp>
        <p:nvCxnSpPr>
          <p:cNvPr id="7" name="直接连接符 6"/>
          <p:cNvCxnSpPr>
            <a:stCxn id="31" idx="4"/>
            <a:endCxn id="21" idx="0"/>
          </p:cNvCxnSpPr>
          <p:nvPr/>
        </p:nvCxnSpPr>
        <p:spPr>
          <a:xfrm flipH="1">
            <a:off x="3312233" y="4191000"/>
            <a:ext cx="230199" cy="457200"/>
          </a:xfrm>
          <a:prstGeom prst="line">
            <a:avLst/>
          </a:prstGeom>
          <a:ln w="2222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a:stCxn id="31" idx="4"/>
            <a:endCxn id="22" idx="0"/>
          </p:cNvCxnSpPr>
          <p:nvPr/>
        </p:nvCxnSpPr>
        <p:spPr>
          <a:xfrm>
            <a:off x="3542432" y="4191000"/>
            <a:ext cx="227001" cy="457200"/>
          </a:xfrm>
          <a:prstGeom prst="line">
            <a:avLst/>
          </a:prstGeom>
          <a:ln w="22225">
            <a:solidFill>
              <a:srgbClr val="002060"/>
            </a:solidFill>
          </a:ln>
        </p:spPr>
        <p:style>
          <a:lnRef idx="1">
            <a:schemeClr val="accent1"/>
          </a:lnRef>
          <a:fillRef idx="0">
            <a:schemeClr val="accent1"/>
          </a:fillRef>
          <a:effectRef idx="0">
            <a:schemeClr val="accent1"/>
          </a:effectRef>
          <a:fontRef idx="minor">
            <a:schemeClr val="tx1"/>
          </a:fontRef>
        </p:style>
      </p:cxnSp>
      <p:sp>
        <p:nvSpPr>
          <p:cNvPr id="40" name="文本框 39"/>
          <p:cNvSpPr txBox="1"/>
          <p:nvPr/>
        </p:nvSpPr>
        <p:spPr>
          <a:xfrm>
            <a:off x="3610605" y="5244586"/>
            <a:ext cx="478016" cy="369332"/>
          </a:xfrm>
          <a:prstGeom prst="rect">
            <a:avLst/>
          </a:prstGeom>
          <a:noFill/>
        </p:spPr>
        <p:txBody>
          <a:bodyPr wrap="none" rtlCol="0">
            <a:spAutoFit/>
          </a:bodyPr>
          <a:lstStyle/>
          <a:p>
            <a:r>
              <a:rPr lang="en-US" altLang="zh-CN" b="1" dirty="0" smtClean="0"/>
              <a:t>(b)</a:t>
            </a:r>
            <a:endParaRPr lang="zh-CN" altLang="en-US" b="1" dirty="0"/>
          </a:p>
        </p:txBody>
      </p:sp>
      <p:sp>
        <p:nvSpPr>
          <p:cNvPr id="52" name="椭圆 51"/>
          <p:cNvSpPr/>
          <p:nvPr/>
        </p:nvSpPr>
        <p:spPr>
          <a:xfrm>
            <a:off x="5684535" y="4596882"/>
            <a:ext cx="152400" cy="152400"/>
          </a:xfrm>
          <a:prstGeom prst="ellipse">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p:nvSpPr>
        <p:spPr>
          <a:xfrm>
            <a:off x="6141735" y="4596882"/>
            <a:ext cx="152400" cy="152400"/>
          </a:xfrm>
          <a:prstGeom prst="ellipse">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a:off x="6598935" y="4596882"/>
            <a:ext cx="152400" cy="152400"/>
          </a:xfrm>
          <a:prstGeom prst="ellipse">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a:off x="7056135" y="4596882"/>
            <a:ext cx="152400" cy="152400"/>
          </a:xfrm>
          <a:prstGeom prst="ellipse">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nvSpPr>
        <p:spPr>
          <a:xfrm>
            <a:off x="7477702" y="4596882"/>
            <a:ext cx="152400" cy="152400"/>
          </a:xfrm>
          <a:prstGeom prst="ellipse">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文本框 56"/>
          <p:cNvSpPr txBox="1"/>
          <p:nvPr/>
        </p:nvSpPr>
        <p:spPr>
          <a:xfrm>
            <a:off x="5638800" y="4825482"/>
            <a:ext cx="312906" cy="369332"/>
          </a:xfrm>
          <a:prstGeom prst="rect">
            <a:avLst/>
          </a:prstGeom>
          <a:noFill/>
        </p:spPr>
        <p:txBody>
          <a:bodyPr wrap="none" rtlCol="0">
            <a:spAutoFit/>
          </a:bodyPr>
          <a:lstStyle/>
          <a:p>
            <a:r>
              <a:rPr lang="en-US" altLang="zh-CN" b="1" dirty="0" smtClean="0"/>
              <a:t>2</a:t>
            </a:r>
            <a:endParaRPr lang="zh-CN" altLang="en-US" b="1" dirty="0"/>
          </a:p>
        </p:txBody>
      </p:sp>
      <p:sp>
        <p:nvSpPr>
          <p:cNvPr id="58" name="文本框 57"/>
          <p:cNvSpPr txBox="1"/>
          <p:nvPr/>
        </p:nvSpPr>
        <p:spPr>
          <a:xfrm>
            <a:off x="6067134" y="4825482"/>
            <a:ext cx="312906" cy="369332"/>
          </a:xfrm>
          <a:prstGeom prst="rect">
            <a:avLst/>
          </a:prstGeom>
          <a:noFill/>
        </p:spPr>
        <p:txBody>
          <a:bodyPr wrap="none" rtlCol="0">
            <a:spAutoFit/>
          </a:bodyPr>
          <a:lstStyle/>
          <a:p>
            <a:r>
              <a:rPr lang="en-US" altLang="zh-CN" b="1" dirty="0" smtClean="0"/>
              <a:t>2</a:t>
            </a:r>
            <a:endParaRPr lang="zh-CN" altLang="en-US" b="1" dirty="0"/>
          </a:p>
        </p:txBody>
      </p:sp>
      <p:sp>
        <p:nvSpPr>
          <p:cNvPr id="59" name="文本框 58"/>
          <p:cNvSpPr txBox="1"/>
          <p:nvPr/>
        </p:nvSpPr>
        <p:spPr>
          <a:xfrm>
            <a:off x="6553200" y="4825482"/>
            <a:ext cx="312906" cy="369332"/>
          </a:xfrm>
          <a:prstGeom prst="rect">
            <a:avLst/>
          </a:prstGeom>
          <a:noFill/>
        </p:spPr>
        <p:txBody>
          <a:bodyPr wrap="none" rtlCol="0">
            <a:spAutoFit/>
          </a:bodyPr>
          <a:lstStyle/>
          <a:p>
            <a:r>
              <a:rPr lang="en-US" altLang="zh-CN" b="1" dirty="0"/>
              <a:t>3</a:t>
            </a:r>
            <a:endParaRPr lang="zh-CN" altLang="en-US" b="1" dirty="0"/>
          </a:p>
        </p:txBody>
      </p:sp>
      <p:sp>
        <p:nvSpPr>
          <p:cNvPr id="60" name="文本框 59"/>
          <p:cNvSpPr txBox="1"/>
          <p:nvPr/>
        </p:nvSpPr>
        <p:spPr>
          <a:xfrm>
            <a:off x="6972071" y="4825482"/>
            <a:ext cx="312906" cy="369332"/>
          </a:xfrm>
          <a:prstGeom prst="rect">
            <a:avLst/>
          </a:prstGeom>
          <a:noFill/>
        </p:spPr>
        <p:txBody>
          <a:bodyPr wrap="none" rtlCol="0">
            <a:spAutoFit/>
          </a:bodyPr>
          <a:lstStyle/>
          <a:p>
            <a:r>
              <a:rPr lang="en-US" altLang="zh-CN" b="1" dirty="0"/>
              <a:t>3</a:t>
            </a:r>
            <a:endParaRPr lang="zh-CN" altLang="en-US" b="1" dirty="0"/>
          </a:p>
        </p:txBody>
      </p:sp>
      <p:sp>
        <p:nvSpPr>
          <p:cNvPr id="61" name="文本框 60"/>
          <p:cNvSpPr txBox="1"/>
          <p:nvPr/>
        </p:nvSpPr>
        <p:spPr>
          <a:xfrm>
            <a:off x="7393396" y="4825482"/>
            <a:ext cx="312906" cy="369332"/>
          </a:xfrm>
          <a:prstGeom prst="rect">
            <a:avLst/>
          </a:prstGeom>
          <a:noFill/>
        </p:spPr>
        <p:txBody>
          <a:bodyPr wrap="none" rtlCol="0">
            <a:spAutoFit/>
          </a:bodyPr>
          <a:lstStyle/>
          <a:p>
            <a:r>
              <a:rPr lang="en-US" altLang="zh-CN" b="1" dirty="0"/>
              <a:t>5</a:t>
            </a:r>
            <a:endParaRPr lang="zh-CN" altLang="en-US" b="1" dirty="0"/>
          </a:p>
        </p:txBody>
      </p:sp>
      <p:sp>
        <p:nvSpPr>
          <p:cNvPr id="62" name="椭圆 61"/>
          <p:cNvSpPr/>
          <p:nvPr/>
        </p:nvSpPr>
        <p:spPr>
          <a:xfrm>
            <a:off x="5914734" y="3987282"/>
            <a:ext cx="152400" cy="152400"/>
          </a:xfrm>
          <a:prstGeom prst="ellipse">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p:cNvSpPr txBox="1"/>
          <p:nvPr/>
        </p:nvSpPr>
        <p:spPr>
          <a:xfrm>
            <a:off x="5828829" y="3607488"/>
            <a:ext cx="312906" cy="369332"/>
          </a:xfrm>
          <a:prstGeom prst="rect">
            <a:avLst/>
          </a:prstGeom>
          <a:noFill/>
        </p:spPr>
        <p:txBody>
          <a:bodyPr wrap="none" rtlCol="0">
            <a:spAutoFit/>
          </a:bodyPr>
          <a:lstStyle/>
          <a:p>
            <a:r>
              <a:rPr lang="en-US" altLang="zh-CN" b="1" dirty="0"/>
              <a:t>4</a:t>
            </a:r>
            <a:endParaRPr lang="zh-CN" altLang="en-US" b="1" dirty="0"/>
          </a:p>
        </p:txBody>
      </p:sp>
      <p:cxnSp>
        <p:nvCxnSpPr>
          <p:cNvPr id="64" name="直接连接符 63"/>
          <p:cNvCxnSpPr>
            <a:stCxn id="62" idx="4"/>
            <a:endCxn id="52" idx="0"/>
          </p:cNvCxnSpPr>
          <p:nvPr/>
        </p:nvCxnSpPr>
        <p:spPr>
          <a:xfrm flipH="1">
            <a:off x="5760735" y="4139682"/>
            <a:ext cx="230199" cy="457200"/>
          </a:xfrm>
          <a:prstGeom prst="line">
            <a:avLst/>
          </a:prstGeom>
          <a:ln w="2222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a:stCxn id="62" idx="4"/>
            <a:endCxn id="53" idx="0"/>
          </p:cNvCxnSpPr>
          <p:nvPr/>
        </p:nvCxnSpPr>
        <p:spPr>
          <a:xfrm>
            <a:off x="5990934" y="4139682"/>
            <a:ext cx="227001" cy="457200"/>
          </a:xfrm>
          <a:prstGeom prst="line">
            <a:avLst/>
          </a:prstGeom>
          <a:ln w="22225">
            <a:solidFill>
              <a:srgbClr val="002060"/>
            </a:solidFill>
          </a:ln>
        </p:spPr>
        <p:style>
          <a:lnRef idx="1">
            <a:schemeClr val="accent1"/>
          </a:lnRef>
          <a:fillRef idx="0">
            <a:schemeClr val="accent1"/>
          </a:fillRef>
          <a:effectRef idx="0">
            <a:schemeClr val="accent1"/>
          </a:effectRef>
          <a:fontRef idx="minor">
            <a:schemeClr val="tx1"/>
          </a:fontRef>
        </p:style>
      </p:cxnSp>
      <p:sp>
        <p:nvSpPr>
          <p:cNvPr id="66" name="文本框 65"/>
          <p:cNvSpPr txBox="1"/>
          <p:nvPr/>
        </p:nvSpPr>
        <p:spPr>
          <a:xfrm>
            <a:off x="6059107" y="5193268"/>
            <a:ext cx="447558" cy="369332"/>
          </a:xfrm>
          <a:prstGeom prst="rect">
            <a:avLst/>
          </a:prstGeom>
          <a:noFill/>
        </p:spPr>
        <p:txBody>
          <a:bodyPr wrap="none" rtlCol="0">
            <a:spAutoFit/>
          </a:bodyPr>
          <a:lstStyle/>
          <a:p>
            <a:r>
              <a:rPr lang="en-US" altLang="zh-CN" b="1" dirty="0" smtClean="0"/>
              <a:t>(c)</a:t>
            </a:r>
            <a:endParaRPr lang="zh-CN" altLang="en-US" b="1" dirty="0"/>
          </a:p>
        </p:txBody>
      </p:sp>
      <p:sp>
        <p:nvSpPr>
          <p:cNvPr id="67" name="椭圆 66"/>
          <p:cNvSpPr/>
          <p:nvPr/>
        </p:nvSpPr>
        <p:spPr>
          <a:xfrm>
            <a:off x="6822372" y="3977989"/>
            <a:ext cx="152400" cy="152400"/>
          </a:xfrm>
          <a:prstGeom prst="ellipse">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8" name="直接连接符 67"/>
          <p:cNvCxnSpPr>
            <a:stCxn id="67" idx="4"/>
          </p:cNvCxnSpPr>
          <p:nvPr/>
        </p:nvCxnSpPr>
        <p:spPr>
          <a:xfrm flipH="1">
            <a:off x="6691249" y="4130389"/>
            <a:ext cx="207323" cy="466493"/>
          </a:xfrm>
          <a:prstGeom prst="line">
            <a:avLst/>
          </a:prstGeom>
          <a:ln w="2222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a:stCxn id="67" idx="4"/>
            <a:endCxn id="55" idx="0"/>
          </p:cNvCxnSpPr>
          <p:nvPr/>
        </p:nvCxnSpPr>
        <p:spPr>
          <a:xfrm>
            <a:off x="6898572" y="4130389"/>
            <a:ext cx="233763" cy="466493"/>
          </a:xfrm>
          <a:prstGeom prst="line">
            <a:avLst/>
          </a:prstGeom>
          <a:ln w="22225">
            <a:solidFill>
              <a:srgbClr val="002060"/>
            </a:solidFill>
          </a:ln>
        </p:spPr>
        <p:style>
          <a:lnRef idx="1">
            <a:schemeClr val="accent1"/>
          </a:lnRef>
          <a:fillRef idx="0">
            <a:schemeClr val="accent1"/>
          </a:fillRef>
          <a:effectRef idx="0">
            <a:schemeClr val="accent1"/>
          </a:effectRef>
          <a:fontRef idx="minor">
            <a:schemeClr val="tx1"/>
          </a:fontRef>
        </p:style>
      </p:cxnSp>
      <p:sp>
        <p:nvSpPr>
          <p:cNvPr id="74" name="文本框 73"/>
          <p:cNvSpPr txBox="1"/>
          <p:nvPr/>
        </p:nvSpPr>
        <p:spPr>
          <a:xfrm>
            <a:off x="6751335" y="3609178"/>
            <a:ext cx="312906" cy="369332"/>
          </a:xfrm>
          <a:prstGeom prst="rect">
            <a:avLst/>
          </a:prstGeom>
          <a:noFill/>
        </p:spPr>
        <p:txBody>
          <a:bodyPr wrap="none" rtlCol="0">
            <a:spAutoFit/>
          </a:bodyPr>
          <a:lstStyle/>
          <a:p>
            <a:r>
              <a:rPr lang="en-US" altLang="zh-CN" b="1" dirty="0" smtClean="0"/>
              <a:t>6</a:t>
            </a:r>
            <a:endParaRPr lang="zh-CN" altLang="en-US" b="1" dirty="0"/>
          </a:p>
        </p:txBody>
      </p:sp>
      <p:sp>
        <p:nvSpPr>
          <p:cNvPr id="75" name="椭圆 74"/>
          <p:cNvSpPr/>
          <p:nvPr/>
        </p:nvSpPr>
        <p:spPr>
          <a:xfrm>
            <a:off x="7960433" y="4596882"/>
            <a:ext cx="152400" cy="152400"/>
          </a:xfrm>
          <a:prstGeom prst="ellipse">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p:cNvSpPr/>
          <p:nvPr/>
        </p:nvSpPr>
        <p:spPr>
          <a:xfrm>
            <a:off x="8417633" y="4596882"/>
            <a:ext cx="152400" cy="152400"/>
          </a:xfrm>
          <a:prstGeom prst="ellipse">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p:cNvSpPr/>
          <p:nvPr/>
        </p:nvSpPr>
        <p:spPr>
          <a:xfrm>
            <a:off x="9067558" y="3974068"/>
            <a:ext cx="152400" cy="152400"/>
          </a:xfrm>
          <a:prstGeom prst="ellipse">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p:cNvSpPr/>
          <p:nvPr/>
        </p:nvSpPr>
        <p:spPr>
          <a:xfrm>
            <a:off x="9524758" y="3974068"/>
            <a:ext cx="152400" cy="152400"/>
          </a:xfrm>
          <a:prstGeom prst="ellipse">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p:cNvSpPr/>
          <p:nvPr/>
        </p:nvSpPr>
        <p:spPr>
          <a:xfrm>
            <a:off x="8676698" y="3977989"/>
            <a:ext cx="152400" cy="152400"/>
          </a:xfrm>
          <a:prstGeom prst="ellipse">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文本框 79"/>
          <p:cNvSpPr txBox="1"/>
          <p:nvPr/>
        </p:nvSpPr>
        <p:spPr>
          <a:xfrm>
            <a:off x="7914698" y="4825482"/>
            <a:ext cx="312906" cy="369332"/>
          </a:xfrm>
          <a:prstGeom prst="rect">
            <a:avLst/>
          </a:prstGeom>
          <a:noFill/>
        </p:spPr>
        <p:txBody>
          <a:bodyPr wrap="none" rtlCol="0">
            <a:spAutoFit/>
          </a:bodyPr>
          <a:lstStyle/>
          <a:p>
            <a:r>
              <a:rPr lang="en-US" altLang="zh-CN" b="1" dirty="0" smtClean="0"/>
              <a:t>2</a:t>
            </a:r>
            <a:endParaRPr lang="zh-CN" altLang="en-US" b="1" dirty="0"/>
          </a:p>
        </p:txBody>
      </p:sp>
      <p:sp>
        <p:nvSpPr>
          <p:cNvPr id="81" name="文本框 80"/>
          <p:cNvSpPr txBox="1"/>
          <p:nvPr/>
        </p:nvSpPr>
        <p:spPr>
          <a:xfrm>
            <a:off x="8343032" y="4825482"/>
            <a:ext cx="312906" cy="369332"/>
          </a:xfrm>
          <a:prstGeom prst="rect">
            <a:avLst/>
          </a:prstGeom>
          <a:noFill/>
        </p:spPr>
        <p:txBody>
          <a:bodyPr wrap="none" rtlCol="0">
            <a:spAutoFit/>
          </a:bodyPr>
          <a:lstStyle/>
          <a:p>
            <a:r>
              <a:rPr lang="en-US" altLang="zh-CN" b="1" dirty="0" smtClean="0"/>
              <a:t>2</a:t>
            </a:r>
            <a:endParaRPr lang="zh-CN" altLang="en-US" b="1" dirty="0"/>
          </a:p>
        </p:txBody>
      </p:sp>
      <p:sp>
        <p:nvSpPr>
          <p:cNvPr id="82" name="文本框 81"/>
          <p:cNvSpPr txBox="1"/>
          <p:nvPr/>
        </p:nvSpPr>
        <p:spPr>
          <a:xfrm>
            <a:off x="9003419" y="4102792"/>
            <a:ext cx="312906" cy="369332"/>
          </a:xfrm>
          <a:prstGeom prst="rect">
            <a:avLst/>
          </a:prstGeom>
          <a:noFill/>
        </p:spPr>
        <p:txBody>
          <a:bodyPr wrap="none" rtlCol="0">
            <a:spAutoFit/>
          </a:bodyPr>
          <a:lstStyle/>
          <a:p>
            <a:r>
              <a:rPr lang="en-US" altLang="zh-CN" b="1" dirty="0"/>
              <a:t>3</a:t>
            </a:r>
            <a:endParaRPr lang="zh-CN" altLang="en-US" b="1" dirty="0"/>
          </a:p>
        </p:txBody>
      </p:sp>
      <p:sp>
        <p:nvSpPr>
          <p:cNvPr id="83" name="文本框 82"/>
          <p:cNvSpPr txBox="1"/>
          <p:nvPr/>
        </p:nvSpPr>
        <p:spPr>
          <a:xfrm>
            <a:off x="9479015" y="4096762"/>
            <a:ext cx="312906" cy="369332"/>
          </a:xfrm>
          <a:prstGeom prst="rect">
            <a:avLst/>
          </a:prstGeom>
          <a:noFill/>
        </p:spPr>
        <p:txBody>
          <a:bodyPr wrap="none" rtlCol="0">
            <a:spAutoFit/>
          </a:bodyPr>
          <a:lstStyle/>
          <a:p>
            <a:r>
              <a:rPr lang="en-US" altLang="zh-CN" b="1" dirty="0"/>
              <a:t>3</a:t>
            </a:r>
            <a:endParaRPr lang="zh-CN" altLang="en-US" b="1" dirty="0"/>
          </a:p>
        </p:txBody>
      </p:sp>
      <p:sp>
        <p:nvSpPr>
          <p:cNvPr id="84" name="文本框 83"/>
          <p:cNvSpPr txBox="1"/>
          <p:nvPr/>
        </p:nvSpPr>
        <p:spPr>
          <a:xfrm>
            <a:off x="8650778" y="4102792"/>
            <a:ext cx="312906" cy="369332"/>
          </a:xfrm>
          <a:prstGeom prst="rect">
            <a:avLst/>
          </a:prstGeom>
          <a:noFill/>
        </p:spPr>
        <p:txBody>
          <a:bodyPr wrap="none" rtlCol="0">
            <a:spAutoFit/>
          </a:bodyPr>
          <a:lstStyle/>
          <a:p>
            <a:r>
              <a:rPr lang="en-US" altLang="zh-CN" b="1" dirty="0"/>
              <a:t>5</a:t>
            </a:r>
            <a:endParaRPr lang="zh-CN" altLang="en-US" b="1" dirty="0"/>
          </a:p>
        </p:txBody>
      </p:sp>
      <p:sp>
        <p:nvSpPr>
          <p:cNvPr id="85" name="椭圆 84"/>
          <p:cNvSpPr/>
          <p:nvPr/>
        </p:nvSpPr>
        <p:spPr>
          <a:xfrm>
            <a:off x="8190632" y="3987282"/>
            <a:ext cx="152400" cy="152400"/>
          </a:xfrm>
          <a:prstGeom prst="ellipse">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文本框 85"/>
          <p:cNvSpPr txBox="1"/>
          <p:nvPr/>
        </p:nvSpPr>
        <p:spPr>
          <a:xfrm>
            <a:off x="7880306" y="3867365"/>
            <a:ext cx="312906" cy="369332"/>
          </a:xfrm>
          <a:prstGeom prst="rect">
            <a:avLst/>
          </a:prstGeom>
          <a:noFill/>
        </p:spPr>
        <p:txBody>
          <a:bodyPr wrap="none" rtlCol="0">
            <a:spAutoFit/>
          </a:bodyPr>
          <a:lstStyle/>
          <a:p>
            <a:r>
              <a:rPr lang="en-US" altLang="zh-CN" b="1" dirty="0"/>
              <a:t>4</a:t>
            </a:r>
            <a:endParaRPr lang="zh-CN" altLang="en-US" b="1" dirty="0"/>
          </a:p>
        </p:txBody>
      </p:sp>
      <p:cxnSp>
        <p:nvCxnSpPr>
          <p:cNvPr id="87" name="直接连接符 86"/>
          <p:cNvCxnSpPr>
            <a:stCxn id="85" idx="4"/>
            <a:endCxn id="75" idx="0"/>
          </p:cNvCxnSpPr>
          <p:nvPr/>
        </p:nvCxnSpPr>
        <p:spPr>
          <a:xfrm flipH="1">
            <a:off x="8036633" y="4139682"/>
            <a:ext cx="230199" cy="457200"/>
          </a:xfrm>
          <a:prstGeom prst="line">
            <a:avLst/>
          </a:prstGeom>
          <a:ln w="2222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a:stCxn id="85" idx="4"/>
            <a:endCxn id="76" idx="0"/>
          </p:cNvCxnSpPr>
          <p:nvPr/>
        </p:nvCxnSpPr>
        <p:spPr>
          <a:xfrm>
            <a:off x="8266832" y="4139682"/>
            <a:ext cx="227001" cy="457200"/>
          </a:xfrm>
          <a:prstGeom prst="line">
            <a:avLst/>
          </a:prstGeom>
          <a:ln w="22225">
            <a:solidFill>
              <a:srgbClr val="002060"/>
            </a:solidFill>
          </a:ln>
        </p:spPr>
        <p:style>
          <a:lnRef idx="1">
            <a:schemeClr val="accent1"/>
          </a:lnRef>
          <a:fillRef idx="0">
            <a:schemeClr val="accent1"/>
          </a:fillRef>
          <a:effectRef idx="0">
            <a:schemeClr val="accent1"/>
          </a:effectRef>
          <a:fontRef idx="minor">
            <a:schemeClr val="tx1"/>
          </a:fontRef>
        </p:style>
      </p:cxnSp>
      <p:sp>
        <p:nvSpPr>
          <p:cNvPr id="89" name="文本框 88"/>
          <p:cNvSpPr txBox="1"/>
          <p:nvPr/>
        </p:nvSpPr>
        <p:spPr>
          <a:xfrm>
            <a:off x="8335005" y="5193268"/>
            <a:ext cx="478016" cy="369332"/>
          </a:xfrm>
          <a:prstGeom prst="rect">
            <a:avLst/>
          </a:prstGeom>
          <a:noFill/>
        </p:spPr>
        <p:txBody>
          <a:bodyPr wrap="none" rtlCol="0">
            <a:spAutoFit/>
          </a:bodyPr>
          <a:lstStyle/>
          <a:p>
            <a:r>
              <a:rPr lang="en-US" altLang="zh-CN" b="1" dirty="0" smtClean="0"/>
              <a:t>(d)</a:t>
            </a:r>
            <a:endParaRPr lang="zh-CN" altLang="en-US" b="1" dirty="0"/>
          </a:p>
        </p:txBody>
      </p:sp>
      <p:sp>
        <p:nvSpPr>
          <p:cNvPr id="90" name="椭圆 89"/>
          <p:cNvSpPr/>
          <p:nvPr/>
        </p:nvSpPr>
        <p:spPr>
          <a:xfrm>
            <a:off x="9290995" y="3355175"/>
            <a:ext cx="152400" cy="152400"/>
          </a:xfrm>
          <a:prstGeom prst="ellipse">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1" name="直接连接符 90"/>
          <p:cNvCxnSpPr>
            <a:stCxn id="90" idx="4"/>
          </p:cNvCxnSpPr>
          <p:nvPr/>
        </p:nvCxnSpPr>
        <p:spPr>
          <a:xfrm flipH="1">
            <a:off x="9159872" y="3507575"/>
            <a:ext cx="207323" cy="466493"/>
          </a:xfrm>
          <a:prstGeom prst="line">
            <a:avLst/>
          </a:prstGeom>
          <a:ln w="2222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a:stCxn id="90" idx="4"/>
            <a:endCxn id="78" idx="0"/>
          </p:cNvCxnSpPr>
          <p:nvPr/>
        </p:nvCxnSpPr>
        <p:spPr>
          <a:xfrm>
            <a:off x="9367195" y="3507575"/>
            <a:ext cx="233763" cy="466493"/>
          </a:xfrm>
          <a:prstGeom prst="line">
            <a:avLst/>
          </a:prstGeom>
          <a:ln w="22225">
            <a:solidFill>
              <a:srgbClr val="002060"/>
            </a:solidFill>
          </a:ln>
        </p:spPr>
        <p:style>
          <a:lnRef idx="1">
            <a:schemeClr val="accent1"/>
          </a:lnRef>
          <a:fillRef idx="0">
            <a:schemeClr val="accent1"/>
          </a:fillRef>
          <a:effectRef idx="0">
            <a:schemeClr val="accent1"/>
          </a:effectRef>
          <a:fontRef idx="minor">
            <a:schemeClr val="tx1"/>
          </a:fontRef>
        </p:style>
      </p:cxnSp>
      <p:sp>
        <p:nvSpPr>
          <p:cNvPr id="93" name="文本框 92"/>
          <p:cNvSpPr txBox="1"/>
          <p:nvPr/>
        </p:nvSpPr>
        <p:spPr>
          <a:xfrm>
            <a:off x="9219958" y="2986364"/>
            <a:ext cx="312906" cy="369332"/>
          </a:xfrm>
          <a:prstGeom prst="rect">
            <a:avLst/>
          </a:prstGeom>
          <a:noFill/>
        </p:spPr>
        <p:txBody>
          <a:bodyPr wrap="none" rtlCol="0">
            <a:spAutoFit/>
          </a:bodyPr>
          <a:lstStyle/>
          <a:p>
            <a:r>
              <a:rPr lang="en-US" altLang="zh-CN" b="1" dirty="0" smtClean="0"/>
              <a:t>6</a:t>
            </a:r>
            <a:endParaRPr lang="zh-CN" altLang="en-US" b="1" dirty="0"/>
          </a:p>
        </p:txBody>
      </p:sp>
      <p:sp>
        <p:nvSpPr>
          <p:cNvPr id="94" name="椭圆 93"/>
          <p:cNvSpPr/>
          <p:nvPr/>
        </p:nvSpPr>
        <p:spPr>
          <a:xfrm>
            <a:off x="8368454" y="3359018"/>
            <a:ext cx="152400" cy="152400"/>
          </a:xfrm>
          <a:prstGeom prst="ellipse">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5" name="直接连接符 94"/>
          <p:cNvCxnSpPr>
            <a:stCxn id="94" idx="4"/>
          </p:cNvCxnSpPr>
          <p:nvPr/>
        </p:nvCxnSpPr>
        <p:spPr>
          <a:xfrm>
            <a:off x="8444654" y="3511418"/>
            <a:ext cx="267672" cy="466493"/>
          </a:xfrm>
          <a:prstGeom prst="line">
            <a:avLst/>
          </a:prstGeom>
          <a:ln w="2222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a:endCxn id="85" idx="0"/>
          </p:cNvCxnSpPr>
          <p:nvPr/>
        </p:nvCxnSpPr>
        <p:spPr>
          <a:xfrm flipH="1">
            <a:off x="8266832" y="3511418"/>
            <a:ext cx="163403" cy="475864"/>
          </a:xfrm>
          <a:prstGeom prst="line">
            <a:avLst/>
          </a:prstGeom>
          <a:ln w="22225">
            <a:solidFill>
              <a:srgbClr val="002060"/>
            </a:solidFill>
          </a:ln>
        </p:spPr>
        <p:style>
          <a:lnRef idx="1">
            <a:schemeClr val="accent1"/>
          </a:lnRef>
          <a:fillRef idx="0">
            <a:schemeClr val="accent1"/>
          </a:fillRef>
          <a:effectRef idx="0">
            <a:schemeClr val="accent1"/>
          </a:effectRef>
          <a:fontRef idx="minor">
            <a:schemeClr val="tx1"/>
          </a:fontRef>
        </p:style>
      </p:cxnSp>
      <p:sp>
        <p:nvSpPr>
          <p:cNvPr id="100" name="文本框 99"/>
          <p:cNvSpPr txBox="1"/>
          <p:nvPr/>
        </p:nvSpPr>
        <p:spPr>
          <a:xfrm>
            <a:off x="8273782" y="3012620"/>
            <a:ext cx="312906" cy="369332"/>
          </a:xfrm>
          <a:prstGeom prst="rect">
            <a:avLst/>
          </a:prstGeom>
          <a:noFill/>
        </p:spPr>
        <p:txBody>
          <a:bodyPr wrap="none" rtlCol="0">
            <a:spAutoFit/>
          </a:bodyPr>
          <a:lstStyle/>
          <a:p>
            <a:r>
              <a:rPr lang="en-US" altLang="zh-CN" b="1" dirty="0" smtClean="0"/>
              <a:t>9</a:t>
            </a:r>
            <a:endParaRPr lang="zh-CN" altLang="en-US" b="1" dirty="0"/>
          </a:p>
        </p:txBody>
      </p:sp>
      <p:sp>
        <p:nvSpPr>
          <p:cNvPr id="101" name="椭圆 100"/>
          <p:cNvSpPr/>
          <p:nvPr/>
        </p:nvSpPr>
        <p:spPr>
          <a:xfrm>
            <a:off x="10138527" y="4596882"/>
            <a:ext cx="152400" cy="152400"/>
          </a:xfrm>
          <a:prstGeom prst="ellipse">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10595727" y="4596882"/>
            <a:ext cx="152400" cy="152400"/>
          </a:xfrm>
          <a:prstGeom prst="ellipse">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11245652" y="3974068"/>
            <a:ext cx="152400" cy="152400"/>
          </a:xfrm>
          <a:prstGeom prst="ellipse">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11702852" y="3974068"/>
            <a:ext cx="152400" cy="152400"/>
          </a:xfrm>
          <a:prstGeom prst="ellipse">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椭圆 104"/>
          <p:cNvSpPr/>
          <p:nvPr/>
        </p:nvSpPr>
        <p:spPr>
          <a:xfrm>
            <a:off x="10854792" y="3977989"/>
            <a:ext cx="152400" cy="152400"/>
          </a:xfrm>
          <a:prstGeom prst="ellipse">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文本框 105"/>
          <p:cNvSpPr txBox="1"/>
          <p:nvPr/>
        </p:nvSpPr>
        <p:spPr>
          <a:xfrm>
            <a:off x="10092792" y="4825482"/>
            <a:ext cx="312906" cy="369332"/>
          </a:xfrm>
          <a:prstGeom prst="rect">
            <a:avLst/>
          </a:prstGeom>
          <a:noFill/>
        </p:spPr>
        <p:txBody>
          <a:bodyPr wrap="none" rtlCol="0">
            <a:spAutoFit/>
          </a:bodyPr>
          <a:lstStyle/>
          <a:p>
            <a:r>
              <a:rPr lang="en-US" altLang="zh-CN" b="1" dirty="0" smtClean="0"/>
              <a:t>2</a:t>
            </a:r>
            <a:endParaRPr lang="zh-CN" altLang="en-US" b="1" dirty="0"/>
          </a:p>
        </p:txBody>
      </p:sp>
      <p:sp>
        <p:nvSpPr>
          <p:cNvPr id="107" name="文本框 106"/>
          <p:cNvSpPr txBox="1"/>
          <p:nvPr/>
        </p:nvSpPr>
        <p:spPr>
          <a:xfrm>
            <a:off x="10521126" y="4825482"/>
            <a:ext cx="312906" cy="369332"/>
          </a:xfrm>
          <a:prstGeom prst="rect">
            <a:avLst/>
          </a:prstGeom>
          <a:noFill/>
        </p:spPr>
        <p:txBody>
          <a:bodyPr wrap="none" rtlCol="0">
            <a:spAutoFit/>
          </a:bodyPr>
          <a:lstStyle/>
          <a:p>
            <a:r>
              <a:rPr lang="en-US" altLang="zh-CN" b="1" dirty="0" smtClean="0"/>
              <a:t>2</a:t>
            </a:r>
            <a:endParaRPr lang="zh-CN" altLang="en-US" b="1" dirty="0"/>
          </a:p>
        </p:txBody>
      </p:sp>
      <p:sp>
        <p:nvSpPr>
          <p:cNvPr id="108" name="文本框 107"/>
          <p:cNvSpPr txBox="1"/>
          <p:nvPr/>
        </p:nvSpPr>
        <p:spPr>
          <a:xfrm>
            <a:off x="11181513" y="4102792"/>
            <a:ext cx="312906" cy="369332"/>
          </a:xfrm>
          <a:prstGeom prst="rect">
            <a:avLst/>
          </a:prstGeom>
          <a:noFill/>
        </p:spPr>
        <p:txBody>
          <a:bodyPr wrap="none" rtlCol="0">
            <a:spAutoFit/>
          </a:bodyPr>
          <a:lstStyle/>
          <a:p>
            <a:r>
              <a:rPr lang="en-US" altLang="zh-CN" b="1" dirty="0"/>
              <a:t>3</a:t>
            </a:r>
            <a:endParaRPr lang="zh-CN" altLang="en-US" b="1" dirty="0"/>
          </a:p>
        </p:txBody>
      </p:sp>
      <p:sp>
        <p:nvSpPr>
          <p:cNvPr id="109" name="文本框 108"/>
          <p:cNvSpPr txBox="1"/>
          <p:nvPr/>
        </p:nvSpPr>
        <p:spPr>
          <a:xfrm>
            <a:off x="11674716" y="4104482"/>
            <a:ext cx="312906" cy="369332"/>
          </a:xfrm>
          <a:prstGeom prst="rect">
            <a:avLst/>
          </a:prstGeom>
          <a:noFill/>
        </p:spPr>
        <p:txBody>
          <a:bodyPr wrap="none" rtlCol="0">
            <a:spAutoFit/>
          </a:bodyPr>
          <a:lstStyle/>
          <a:p>
            <a:r>
              <a:rPr lang="en-US" altLang="zh-CN" b="1" dirty="0"/>
              <a:t>3</a:t>
            </a:r>
            <a:endParaRPr lang="zh-CN" altLang="en-US" b="1" dirty="0"/>
          </a:p>
        </p:txBody>
      </p:sp>
      <p:sp>
        <p:nvSpPr>
          <p:cNvPr id="110" name="文本框 109"/>
          <p:cNvSpPr txBox="1"/>
          <p:nvPr/>
        </p:nvSpPr>
        <p:spPr>
          <a:xfrm>
            <a:off x="10828872" y="4102792"/>
            <a:ext cx="312906" cy="369332"/>
          </a:xfrm>
          <a:prstGeom prst="rect">
            <a:avLst/>
          </a:prstGeom>
          <a:noFill/>
        </p:spPr>
        <p:txBody>
          <a:bodyPr wrap="none" rtlCol="0">
            <a:spAutoFit/>
          </a:bodyPr>
          <a:lstStyle/>
          <a:p>
            <a:r>
              <a:rPr lang="en-US" altLang="zh-CN" b="1" dirty="0"/>
              <a:t>5</a:t>
            </a:r>
            <a:endParaRPr lang="zh-CN" altLang="en-US" b="1" dirty="0"/>
          </a:p>
        </p:txBody>
      </p:sp>
      <p:sp>
        <p:nvSpPr>
          <p:cNvPr id="111" name="椭圆 110"/>
          <p:cNvSpPr/>
          <p:nvPr/>
        </p:nvSpPr>
        <p:spPr>
          <a:xfrm>
            <a:off x="10368726" y="3987282"/>
            <a:ext cx="152400" cy="152400"/>
          </a:xfrm>
          <a:prstGeom prst="ellipse">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文本框 111"/>
          <p:cNvSpPr txBox="1"/>
          <p:nvPr/>
        </p:nvSpPr>
        <p:spPr>
          <a:xfrm>
            <a:off x="10058400" y="3867365"/>
            <a:ext cx="312906" cy="369332"/>
          </a:xfrm>
          <a:prstGeom prst="rect">
            <a:avLst/>
          </a:prstGeom>
          <a:noFill/>
        </p:spPr>
        <p:txBody>
          <a:bodyPr wrap="none" rtlCol="0">
            <a:spAutoFit/>
          </a:bodyPr>
          <a:lstStyle/>
          <a:p>
            <a:r>
              <a:rPr lang="en-US" altLang="zh-CN" b="1" dirty="0"/>
              <a:t>4</a:t>
            </a:r>
            <a:endParaRPr lang="zh-CN" altLang="en-US" b="1" dirty="0"/>
          </a:p>
        </p:txBody>
      </p:sp>
      <p:cxnSp>
        <p:nvCxnSpPr>
          <p:cNvPr id="113" name="直接连接符 112"/>
          <p:cNvCxnSpPr>
            <a:stCxn id="111" idx="4"/>
            <a:endCxn id="101" idx="0"/>
          </p:cNvCxnSpPr>
          <p:nvPr/>
        </p:nvCxnSpPr>
        <p:spPr>
          <a:xfrm flipH="1">
            <a:off x="10214727" y="4139682"/>
            <a:ext cx="230199" cy="457200"/>
          </a:xfrm>
          <a:prstGeom prst="line">
            <a:avLst/>
          </a:prstGeom>
          <a:ln w="2222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a:stCxn id="111" idx="4"/>
            <a:endCxn id="102" idx="0"/>
          </p:cNvCxnSpPr>
          <p:nvPr/>
        </p:nvCxnSpPr>
        <p:spPr>
          <a:xfrm>
            <a:off x="10444926" y="4139682"/>
            <a:ext cx="227001" cy="457200"/>
          </a:xfrm>
          <a:prstGeom prst="line">
            <a:avLst/>
          </a:prstGeom>
          <a:ln w="22225">
            <a:solidFill>
              <a:srgbClr val="002060"/>
            </a:solidFill>
          </a:ln>
        </p:spPr>
        <p:style>
          <a:lnRef idx="1">
            <a:schemeClr val="accent1"/>
          </a:lnRef>
          <a:fillRef idx="0">
            <a:schemeClr val="accent1"/>
          </a:fillRef>
          <a:effectRef idx="0">
            <a:schemeClr val="accent1"/>
          </a:effectRef>
          <a:fontRef idx="minor">
            <a:schemeClr val="tx1"/>
          </a:fontRef>
        </p:style>
      </p:cxnSp>
      <p:sp>
        <p:nvSpPr>
          <p:cNvPr id="115" name="文本框 114"/>
          <p:cNvSpPr txBox="1"/>
          <p:nvPr/>
        </p:nvSpPr>
        <p:spPr>
          <a:xfrm>
            <a:off x="10513099" y="5193268"/>
            <a:ext cx="461986" cy="369332"/>
          </a:xfrm>
          <a:prstGeom prst="rect">
            <a:avLst/>
          </a:prstGeom>
          <a:noFill/>
        </p:spPr>
        <p:txBody>
          <a:bodyPr wrap="none" rtlCol="0">
            <a:spAutoFit/>
          </a:bodyPr>
          <a:lstStyle/>
          <a:p>
            <a:r>
              <a:rPr lang="en-US" altLang="zh-CN" b="1" dirty="0" smtClean="0"/>
              <a:t>(e)</a:t>
            </a:r>
            <a:endParaRPr lang="zh-CN" altLang="en-US" b="1" dirty="0"/>
          </a:p>
        </p:txBody>
      </p:sp>
      <p:sp>
        <p:nvSpPr>
          <p:cNvPr id="116" name="椭圆 115"/>
          <p:cNvSpPr/>
          <p:nvPr/>
        </p:nvSpPr>
        <p:spPr>
          <a:xfrm>
            <a:off x="11469089" y="3355175"/>
            <a:ext cx="152400" cy="152400"/>
          </a:xfrm>
          <a:prstGeom prst="ellipse">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7" name="直接连接符 116"/>
          <p:cNvCxnSpPr>
            <a:stCxn id="116" idx="4"/>
          </p:cNvCxnSpPr>
          <p:nvPr/>
        </p:nvCxnSpPr>
        <p:spPr>
          <a:xfrm flipH="1">
            <a:off x="11337966" y="3507575"/>
            <a:ext cx="207323" cy="466493"/>
          </a:xfrm>
          <a:prstGeom prst="line">
            <a:avLst/>
          </a:prstGeom>
          <a:ln w="2222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a:stCxn id="116" idx="4"/>
            <a:endCxn id="104" idx="0"/>
          </p:cNvCxnSpPr>
          <p:nvPr/>
        </p:nvCxnSpPr>
        <p:spPr>
          <a:xfrm>
            <a:off x="11545289" y="3507575"/>
            <a:ext cx="233763" cy="466493"/>
          </a:xfrm>
          <a:prstGeom prst="line">
            <a:avLst/>
          </a:prstGeom>
          <a:ln w="22225">
            <a:solidFill>
              <a:srgbClr val="002060"/>
            </a:solidFill>
          </a:ln>
        </p:spPr>
        <p:style>
          <a:lnRef idx="1">
            <a:schemeClr val="accent1"/>
          </a:lnRef>
          <a:fillRef idx="0">
            <a:schemeClr val="accent1"/>
          </a:fillRef>
          <a:effectRef idx="0">
            <a:schemeClr val="accent1"/>
          </a:effectRef>
          <a:fontRef idx="minor">
            <a:schemeClr val="tx1"/>
          </a:fontRef>
        </p:style>
      </p:cxnSp>
      <p:sp>
        <p:nvSpPr>
          <p:cNvPr id="119" name="文本框 118"/>
          <p:cNvSpPr txBox="1"/>
          <p:nvPr/>
        </p:nvSpPr>
        <p:spPr>
          <a:xfrm>
            <a:off x="11470094" y="3034268"/>
            <a:ext cx="312906" cy="369332"/>
          </a:xfrm>
          <a:prstGeom prst="rect">
            <a:avLst/>
          </a:prstGeom>
          <a:noFill/>
        </p:spPr>
        <p:txBody>
          <a:bodyPr wrap="none" rtlCol="0">
            <a:spAutoFit/>
          </a:bodyPr>
          <a:lstStyle/>
          <a:p>
            <a:r>
              <a:rPr lang="en-US" altLang="zh-CN" b="1" dirty="0" smtClean="0"/>
              <a:t>6</a:t>
            </a:r>
            <a:endParaRPr lang="zh-CN" altLang="en-US" b="1" dirty="0"/>
          </a:p>
        </p:txBody>
      </p:sp>
      <p:sp>
        <p:nvSpPr>
          <p:cNvPr id="120" name="椭圆 119"/>
          <p:cNvSpPr/>
          <p:nvPr/>
        </p:nvSpPr>
        <p:spPr>
          <a:xfrm>
            <a:off x="10546548" y="3359018"/>
            <a:ext cx="152400" cy="152400"/>
          </a:xfrm>
          <a:prstGeom prst="ellipse">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1" name="直接连接符 120"/>
          <p:cNvCxnSpPr>
            <a:stCxn id="120" idx="4"/>
          </p:cNvCxnSpPr>
          <p:nvPr/>
        </p:nvCxnSpPr>
        <p:spPr>
          <a:xfrm>
            <a:off x="10622748" y="3511418"/>
            <a:ext cx="267672" cy="466493"/>
          </a:xfrm>
          <a:prstGeom prst="line">
            <a:avLst/>
          </a:prstGeom>
          <a:ln w="2222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a:endCxn id="111" idx="0"/>
          </p:cNvCxnSpPr>
          <p:nvPr/>
        </p:nvCxnSpPr>
        <p:spPr>
          <a:xfrm flipH="1">
            <a:off x="10444926" y="3511418"/>
            <a:ext cx="163403" cy="475864"/>
          </a:xfrm>
          <a:prstGeom prst="line">
            <a:avLst/>
          </a:prstGeom>
          <a:ln w="22225">
            <a:solidFill>
              <a:srgbClr val="002060"/>
            </a:solidFill>
          </a:ln>
        </p:spPr>
        <p:style>
          <a:lnRef idx="1">
            <a:schemeClr val="accent1"/>
          </a:lnRef>
          <a:fillRef idx="0">
            <a:schemeClr val="accent1"/>
          </a:fillRef>
          <a:effectRef idx="0">
            <a:schemeClr val="accent1"/>
          </a:effectRef>
          <a:fontRef idx="minor">
            <a:schemeClr val="tx1"/>
          </a:fontRef>
        </p:style>
      </p:cxnSp>
      <p:sp>
        <p:nvSpPr>
          <p:cNvPr id="123" name="文本框 122"/>
          <p:cNvSpPr txBox="1"/>
          <p:nvPr/>
        </p:nvSpPr>
        <p:spPr>
          <a:xfrm>
            <a:off x="10418568" y="3052667"/>
            <a:ext cx="312906" cy="369332"/>
          </a:xfrm>
          <a:prstGeom prst="rect">
            <a:avLst/>
          </a:prstGeom>
          <a:noFill/>
        </p:spPr>
        <p:txBody>
          <a:bodyPr wrap="none" rtlCol="0">
            <a:spAutoFit/>
          </a:bodyPr>
          <a:lstStyle/>
          <a:p>
            <a:r>
              <a:rPr lang="en-US" altLang="zh-CN" b="1" dirty="0" smtClean="0"/>
              <a:t>9</a:t>
            </a:r>
            <a:endParaRPr lang="zh-CN" altLang="en-US" b="1" dirty="0"/>
          </a:p>
        </p:txBody>
      </p:sp>
      <p:sp>
        <p:nvSpPr>
          <p:cNvPr id="124" name="椭圆 123"/>
          <p:cNvSpPr/>
          <p:nvPr/>
        </p:nvSpPr>
        <p:spPr>
          <a:xfrm>
            <a:off x="11033631" y="2656361"/>
            <a:ext cx="152400" cy="152400"/>
          </a:xfrm>
          <a:prstGeom prst="ellipse">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5" name="直接连接符 124"/>
          <p:cNvCxnSpPr>
            <a:stCxn id="124" idx="4"/>
            <a:endCxn id="120" idx="7"/>
          </p:cNvCxnSpPr>
          <p:nvPr/>
        </p:nvCxnSpPr>
        <p:spPr>
          <a:xfrm flipH="1">
            <a:off x="10676630" y="2808761"/>
            <a:ext cx="433201" cy="572575"/>
          </a:xfrm>
          <a:prstGeom prst="line">
            <a:avLst/>
          </a:prstGeom>
          <a:ln w="2222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33" name="直接连接符 132"/>
          <p:cNvCxnSpPr/>
          <p:nvPr/>
        </p:nvCxnSpPr>
        <p:spPr>
          <a:xfrm>
            <a:off x="11116544" y="2808761"/>
            <a:ext cx="426488" cy="546414"/>
          </a:xfrm>
          <a:prstGeom prst="line">
            <a:avLst/>
          </a:prstGeom>
          <a:ln w="22225">
            <a:solidFill>
              <a:srgbClr val="002060"/>
            </a:solidFill>
          </a:ln>
        </p:spPr>
        <p:style>
          <a:lnRef idx="1">
            <a:schemeClr val="accent1"/>
          </a:lnRef>
          <a:fillRef idx="0">
            <a:schemeClr val="accent1"/>
          </a:fillRef>
          <a:effectRef idx="0">
            <a:schemeClr val="accent1"/>
          </a:effectRef>
          <a:fontRef idx="minor">
            <a:schemeClr val="tx1"/>
          </a:fontRef>
        </p:style>
      </p:cxnSp>
      <p:sp>
        <p:nvSpPr>
          <p:cNvPr id="135" name="文本框 134"/>
          <p:cNvSpPr txBox="1"/>
          <p:nvPr/>
        </p:nvSpPr>
        <p:spPr>
          <a:xfrm>
            <a:off x="10932746" y="2277531"/>
            <a:ext cx="441146" cy="369332"/>
          </a:xfrm>
          <a:prstGeom prst="rect">
            <a:avLst/>
          </a:prstGeom>
          <a:noFill/>
        </p:spPr>
        <p:txBody>
          <a:bodyPr wrap="none" rtlCol="0">
            <a:spAutoFit/>
          </a:bodyPr>
          <a:lstStyle/>
          <a:p>
            <a:r>
              <a:rPr lang="en-US" altLang="zh-CN" b="1" dirty="0" smtClean="0"/>
              <a:t>15</a:t>
            </a:r>
            <a:endParaRPr lang="zh-CN" altLang="en-US" b="1" dirty="0"/>
          </a:p>
        </p:txBody>
      </p:sp>
      <p:cxnSp>
        <p:nvCxnSpPr>
          <p:cNvPr id="136" name="直接连接符 135"/>
          <p:cNvCxnSpPr/>
          <p:nvPr/>
        </p:nvCxnSpPr>
        <p:spPr>
          <a:xfrm flipH="1">
            <a:off x="2902107" y="3506296"/>
            <a:ext cx="31867" cy="2284904"/>
          </a:xfrm>
          <a:prstGeom prst="line">
            <a:avLst/>
          </a:prstGeom>
          <a:ln w="2222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41" name="直接连接符 140"/>
          <p:cNvCxnSpPr/>
          <p:nvPr/>
        </p:nvCxnSpPr>
        <p:spPr>
          <a:xfrm flipH="1">
            <a:off x="5375994" y="3505748"/>
            <a:ext cx="31867" cy="2284904"/>
          </a:xfrm>
          <a:prstGeom prst="line">
            <a:avLst/>
          </a:prstGeom>
          <a:ln w="2222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42" name="直接连接符 141"/>
          <p:cNvCxnSpPr/>
          <p:nvPr/>
        </p:nvCxnSpPr>
        <p:spPr>
          <a:xfrm flipH="1">
            <a:off x="7777285" y="3454430"/>
            <a:ext cx="31867" cy="2284904"/>
          </a:xfrm>
          <a:prstGeom prst="line">
            <a:avLst/>
          </a:prstGeom>
          <a:ln w="2222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43" name="直接连接符 142"/>
          <p:cNvCxnSpPr/>
          <p:nvPr/>
        </p:nvCxnSpPr>
        <p:spPr>
          <a:xfrm flipH="1">
            <a:off x="9961221" y="3430096"/>
            <a:ext cx="31867" cy="2284904"/>
          </a:xfrm>
          <a:prstGeom prst="line">
            <a:avLst/>
          </a:prstGeom>
          <a:ln w="22225">
            <a:solidFill>
              <a:srgbClr val="00206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257688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CCE8C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CCE8C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21242</TotalTime>
  <Words>5807</Words>
  <Application>Microsoft Office PowerPoint</Application>
  <PresentationFormat>宽屏</PresentationFormat>
  <Paragraphs>668</Paragraphs>
  <Slides>84</Slides>
  <Notes>1</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84</vt:i4>
      </vt:variant>
    </vt:vector>
  </HeadingPairs>
  <TitlesOfParts>
    <vt:vector size="95" baseType="lpstr">
      <vt:lpstr>Microsoft YaHei Light</vt:lpstr>
      <vt:lpstr>MS PGothic</vt:lpstr>
      <vt:lpstr>等线</vt:lpstr>
      <vt:lpstr>宋体</vt:lpstr>
      <vt:lpstr>微软雅黑</vt:lpstr>
      <vt:lpstr>Arial</vt:lpstr>
      <vt:lpstr>Calibri</vt:lpstr>
      <vt:lpstr>Cambria Math</vt:lpstr>
      <vt:lpstr>Wingdings</vt:lpstr>
      <vt:lpstr>Office 主题​​</vt:lpstr>
      <vt:lpstr>Equation</vt:lpstr>
      <vt:lpstr>PowerPoint 演示文稿</vt:lpstr>
      <vt:lpstr>Section 5.1 树的概述</vt:lpstr>
      <vt:lpstr>内容</vt:lpstr>
      <vt:lpstr>树</vt:lpstr>
      <vt:lpstr>树</vt:lpstr>
      <vt:lpstr>树</vt:lpstr>
      <vt:lpstr>树</vt:lpstr>
      <vt:lpstr>树</vt:lpstr>
      <vt:lpstr>有根树</vt:lpstr>
      <vt:lpstr>有根树</vt:lpstr>
      <vt:lpstr>有根树</vt:lpstr>
      <vt:lpstr>有根树</vt:lpstr>
      <vt:lpstr>有根树</vt:lpstr>
      <vt:lpstr>有根树</vt:lpstr>
      <vt:lpstr>有根树</vt:lpstr>
      <vt:lpstr>有根树</vt:lpstr>
      <vt:lpstr>有根树</vt:lpstr>
      <vt:lpstr>树作为模型</vt:lpstr>
      <vt:lpstr>树作为模型</vt:lpstr>
      <vt:lpstr>树的性质</vt:lpstr>
      <vt:lpstr>树的性质</vt:lpstr>
      <vt:lpstr>树的性质</vt:lpstr>
      <vt:lpstr>树的性质</vt:lpstr>
      <vt:lpstr>树的性质</vt:lpstr>
      <vt:lpstr>树的性质</vt:lpstr>
      <vt:lpstr>树的性质</vt:lpstr>
      <vt:lpstr>Section 5.2 树的应用</vt:lpstr>
      <vt:lpstr>内容</vt:lpstr>
      <vt:lpstr>树的应用</vt:lpstr>
      <vt:lpstr>二叉搜索树</vt:lpstr>
      <vt:lpstr>二叉搜索树</vt:lpstr>
      <vt:lpstr>二叉搜索树</vt:lpstr>
      <vt:lpstr>决策树</vt:lpstr>
      <vt:lpstr>决策树</vt:lpstr>
      <vt:lpstr>前缀码</vt:lpstr>
      <vt:lpstr>前缀码</vt:lpstr>
      <vt:lpstr>前缀码</vt:lpstr>
      <vt:lpstr>前缀码</vt:lpstr>
      <vt:lpstr>前缀码</vt:lpstr>
      <vt:lpstr>Section 5.3 树的遍历</vt:lpstr>
      <vt:lpstr>内容</vt:lpstr>
      <vt:lpstr>遍历算法</vt:lpstr>
      <vt:lpstr>前序遍历</vt:lpstr>
      <vt:lpstr>前序遍历</vt:lpstr>
      <vt:lpstr>前序遍历</vt:lpstr>
      <vt:lpstr>中序遍历</vt:lpstr>
      <vt:lpstr>中序遍历</vt:lpstr>
      <vt:lpstr>中序遍历</vt:lpstr>
      <vt:lpstr>后续遍历</vt:lpstr>
      <vt:lpstr>后续遍历</vt:lpstr>
      <vt:lpstr>后续遍历</vt:lpstr>
      <vt:lpstr>中缀、前缀、后缀的记法</vt:lpstr>
      <vt:lpstr>中缀、前缀、后缀的记法</vt:lpstr>
      <vt:lpstr>中缀形式</vt:lpstr>
      <vt:lpstr>中缀形式</vt:lpstr>
      <vt:lpstr>前缀形式</vt:lpstr>
      <vt:lpstr>前缀形式</vt:lpstr>
      <vt:lpstr>前缀形式</vt:lpstr>
      <vt:lpstr>前缀形式</vt:lpstr>
      <vt:lpstr>后缀形式</vt:lpstr>
      <vt:lpstr>后缀形式</vt:lpstr>
      <vt:lpstr>后缀形式</vt:lpstr>
      <vt:lpstr>Section 5.4 生成树</vt:lpstr>
      <vt:lpstr>内容</vt:lpstr>
      <vt:lpstr>生成树</vt:lpstr>
      <vt:lpstr>生成树</vt:lpstr>
      <vt:lpstr>生成树</vt:lpstr>
      <vt:lpstr>生成树</vt:lpstr>
      <vt:lpstr>深度优先搜索</vt:lpstr>
      <vt:lpstr>深度优先搜索</vt:lpstr>
      <vt:lpstr>深度优先搜索</vt:lpstr>
      <vt:lpstr>宽度优先搜索</vt:lpstr>
      <vt:lpstr>宽度优先搜索</vt:lpstr>
      <vt:lpstr>有向图中的深度、宽度优先搜索</vt:lpstr>
      <vt:lpstr>有向图中的深度、宽度优先搜索</vt:lpstr>
      <vt:lpstr>Section 5.5 最小生成树和最优二叉树</vt:lpstr>
      <vt:lpstr>7.5.1内容</vt:lpstr>
      <vt:lpstr>最小生成树算法</vt:lpstr>
      <vt:lpstr>最小生成树算法</vt:lpstr>
      <vt:lpstr>最小生成树算法</vt:lpstr>
      <vt:lpstr>最小生成树算法</vt:lpstr>
      <vt:lpstr>最小生成树算法</vt:lpstr>
      <vt:lpstr>最优二叉树</vt:lpstr>
      <vt:lpstr>最优二叉树</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Induction and recursion</dc:title>
  <dc:creator>Richard Scherl</dc:creator>
  <cp:lastModifiedBy>Microsoft 帐户</cp:lastModifiedBy>
  <cp:revision>999</cp:revision>
  <dcterms:created xsi:type="dcterms:W3CDTF">2011-03-27T19:58:04Z</dcterms:created>
  <dcterms:modified xsi:type="dcterms:W3CDTF">2025-04-15T08:18:47Z</dcterms:modified>
</cp:coreProperties>
</file>