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223"/>
  </p:notesMasterIdLst>
  <p:sldIdLst>
    <p:sldId id="625" r:id="rId2"/>
    <p:sldId id="350" r:id="rId3"/>
    <p:sldId id="481" r:id="rId4"/>
    <p:sldId id="359" r:id="rId5"/>
    <p:sldId id="368" r:id="rId6"/>
    <p:sldId id="482" r:id="rId7"/>
    <p:sldId id="483" r:id="rId8"/>
    <p:sldId id="366" r:id="rId9"/>
    <p:sldId id="373" r:id="rId10"/>
    <p:sldId id="464" r:id="rId11"/>
    <p:sldId id="394" r:id="rId12"/>
    <p:sldId id="392" r:id="rId13"/>
    <p:sldId id="383" r:id="rId14"/>
    <p:sldId id="396" r:id="rId15"/>
    <p:sldId id="380" r:id="rId16"/>
    <p:sldId id="382" r:id="rId17"/>
    <p:sldId id="401" r:id="rId18"/>
    <p:sldId id="397" r:id="rId19"/>
    <p:sldId id="398" r:id="rId20"/>
    <p:sldId id="399" r:id="rId21"/>
    <p:sldId id="400" r:id="rId22"/>
    <p:sldId id="389" r:id="rId23"/>
    <p:sldId id="390" r:id="rId24"/>
    <p:sldId id="585" r:id="rId25"/>
    <p:sldId id="586" r:id="rId26"/>
    <p:sldId id="404" r:id="rId27"/>
    <p:sldId id="302" r:id="rId28"/>
    <p:sldId id="304" r:id="rId29"/>
    <p:sldId id="296" r:id="rId30"/>
    <p:sldId id="306" r:id="rId31"/>
    <p:sldId id="308" r:id="rId32"/>
    <p:sldId id="405" r:id="rId33"/>
    <p:sldId id="406" r:id="rId34"/>
    <p:sldId id="484" r:id="rId35"/>
    <p:sldId id="408" r:id="rId36"/>
    <p:sldId id="466" r:id="rId37"/>
    <p:sldId id="486" r:id="rId38"/>
    <p:sldId id="319" r:id="rId39"/>
    <p:sldId id="485" r:id="rId40"/>
    <p:sldId id="409" r:id="rId41"/>
    <p:sldId id="487" r:id="rId42"/>
    <p:sldId id="488" r:id="rId43"/>
    <p:sldId id="588" r:id="rId44"/>
    <p:sldId id="489" r:id="rId45"/>
    <p:sldId id="490" r:id="rId46"/>
    <p:sldId id="410" r:id="rId47"/>
    <p:sldId id="467" r:id="rId48"/>
    <p:sldId id="590" r:id="rId49"/>
    <p:sldId id="591" r:id="rId50"/>
    <p:sldId id="511" r:id="rId51"/>
    <p:sldId id="512" r:id="rId52"/>
    <p:sldId id="592" r:id="rId53"/>
    <p:sldId id="593" r:id="rId54"/>
    <p:sldId id="594" r:id="rId55"/>
    <p:sldId id="595" r:id="rId56"/>
    <p:sldId id="327" r:id="rId57"/>
    <p:sldId id="491" r:id="rId58"/>
    <p:sldId id="634" r:id="rId59"/>
    <p:sldId id="628" r:id="rId60"/>
    <p:sldId id="629" r:id="rId61"/>
    <p:sldId id="596" r:id="rId62"/>
    <p:sldId id="597" r:id="rId63"/>
    <p:sldId id="598" r:id="rId64"/>
    <p:sldId id="600" r:id="rId65"/>
    <p:sldId id="599" r:id="rId66"/>
    <p:sldId id="335" r:id="rId67"/>
    <p:sldId id="635" r:id="rId68"/>
    <p:sldId id="636" r:id="rId69"/>
    <p:sldId id="637" r:id="rId70"/>
    <p:sldId id="638" r:id="rId71"/>
    <p:sldId id="639" r:id="rId72"/>
    <p:sldId id="640" r:id="rId73"/>
    <p:sldId id="641" r:id="rId74"/>
    <p:sldId id="642" r:id="rId75"/>
    <p:sldId id="643" r:id="rId76"/>
    <p:sldId id="644" r:id="rId77"/>
    <p:sldId id="645" r:id="rId78"/>
    <p:sldId id="646" r:id="rId79"/>
    <p:sldId id="647" r:id="rId80"/>
    <p:sldId id="649" r:id="rId81"/>
    <p:sldId id="651" r:id="rId82"/>
    <p:sldId id="652" r:id="rId83"/>
    <p:sldId id="354" r:id="rId84"/>
    <p:sldId id="415" r:id="rId85"/>
    <p:sldId id="420" r:id="rId86"/>
    <p:sldId id="492" r:id="rId87"/>
    <p:sldId id="493" r:id="rId88"/>
    <p:sldId id="494" r:id="rId89"/>
    <p:sldId id="421" r:id="rId90"/>
    <p:sldId id="495" r:id="rId91"/>
    <p:sldId id="496" r:id="rId92"/>
    <p:sldId id="423" r:id="rId93"/>
    <p:sldId id="497" r:id="rId94"/>
    <p:sldId id="498" r:id="rId95"/>
    <p:sldId id="339" r:id="rId96"/>
    <p:sldId id="619" r:id="rId97"/>
    <p:sldId id="429" r:id="rId98"/>
    <p:sldId id="428" r:id="rId99"/>
    <p:sldId id="502" r:id="rId100"/>
    <p:sldId id="503" r:id="rId101"/>
    <p:sldId id="430" r:id="rId102"/>
    <p:sldId id="504" r:id="rId103"/>
    <p:sldId id="505" r:id="rId104"/>
    <p:sldId id="653" r:id="rId105"/>
    <p:sldId id="654" r:id="rId106"/>
    <p:sldId id="626" r:id="rId107"/>
    <p:sldId id="432" r:id="rId108"/>
    <p:sldId id="356" r:id="rId109"/>
    <p:sldId id="342" r:id="rId110"/>
    <p:sldId id="436" r:id="rId111"/>
    <p:sldId id="437" r:id="rId112"/>
    <p:sldId id="601" r:id="rId113"/>
    <p:sldId id="447" r:id="rId114"/>
    <p:sldId id="513" r:id="rId115"/>
    <p:sldId id="443" r:id="rId116"/>
    <p:sldId id="514" r:id="rId117"/>
    <p:sldId id="516" r:id="rId118"/>
    <p:sldId id="606" r:id="rId119"/>
    <p:sldId id="607" r:id="rId120"/>
    <p:sldId id="608" r:id="rId121"/>
    <p:sldId id="609" r:id="rId122"/>
    <p:sldId id="602" r:id="rId123"/>
    <p:sldId id="517" r:id="rId124"/>
    <p:sldId id="603" r:id="rId125"/>
    <p:sldId id="518" r:id="rId126"/>
    <p:sldId id="519" r:id="rId127"/>
    <p:sldId id="605" r:id="rId128"/>
    <p:sldId id="520" r:id="rId129"/>
    <p:sldId id="521" r:id="rId130"/>
    <p:sldId id="604" r:id="rId131"/>
    <p:sldId id="522" r:id="rId132"/>
    <p:sldId id="610" r:id="rId133"/>
    <p:sldId id="524" r:id="rId134"/>
    <p:sldId id="441" r:id="rId135"/>
    <p:sldId id="448" r:id="rId136"/>
    <p:sldId id="655" r:id="rId137"/>
    <p:sldId id="632" r:id="rId138"/>
    <p:sldId id="656" r:id="rId139"/>
    <p:sldId id="657" r:id="rId140"/>
    <p:sldId id="449" r:id="rId141"/>
    <p:sldId id="515" r:id="rId142"/>
    <p:sldId id="658" r:id="rId143"/>
    <p:sldId id="659" r:id="rId144"/>
    <p:sldId id="612" r:id="rId145"/>
    <p:sldId id="450" r:id="rId146"/>
    <p:sldId id="660" r:id="rId147"/>
    <p:sldId id="507" r:id="rId148"/>
    <p:sldId id="508" r:id="rId149"/>
    <p:sldId id="358" r:id="rId150"/>
    <p:sldId id="620" r:id="rId151"/>
    <p:sldId id="452" r:id="rId152"/>
    <p:sldId id="453" r:id="rId153"/>
    <p:sldId id="509" r:id="rId154"/>
    <p:sldId id="454" r:id="rId155"/>
    <p:sldId id="456" r:id="rId156"/>
    <p:sldId id="510" r:id="rId157"/>
    <p:sldId id="468" r:id="rId158"/>
    <p:sldId id="526" r:id="rId159"/>
    <p:sldId id="613" r:id="rId160"/>
    <p:sldId id="615" r:id="rId161"/>
    <p:sldId id="614" r:id="rId162"/>
    <p:sldId id="455" r:id="rId163"/>
    <p:sldId id="457" r:id="rId164"/>
    <p:sldId id="458" r:id="rId165"/>
    <p:sldId id="463" r:id="rId166"/>
    <p:sldId id="465" r:id="rId167"/>
    <p:sldId id="616" r:id="rId168"/>
    <p:sldId id="460" r:id="rId169"/>
    <p:sldId id="434" r:id="rId170"/>
    <p:sldId id="618" r:id="rId171"/>
    <p:sldId id="617" r:id="rId172"/>
    <p:sldId id="461" r:id="rId173"/>
    <p:sldId id="528" r:id="rId174"/>
    <p:sldId id="476" r:id="rId175"/>
    <p:sldId id="538" r:id="rId176"/>
    <p:sldId id="529" r:id="rId177"/>
    <p:sldId id="539" r:id="rId178"/>
    <p:sldId id="540" r:id="rId179"/>
    <p:sldId id="541" r:id="rId180"/>
    <p:sldId id="530" r:id="rId181"/>
    <p:sldId id="542" r:id="rId182"/>
    <p:sldId id="531" r:id="rId183"/>
    <p:sldId id="543" r:id="rId184"/>
    <p:sldId id="532" r:id="rId185"/>
    <p:sldId id="544" r:id="rId186"/>
    <p:sldId id="545" r:id="rId187"/>
    <p:sldId id="546" r:id="rId188"/>
    <p:sldId id="478" r:id="rId189"/>
    <p:sldId id="547" r:id="rId190"/>
    <p:sldId id="548" r:id="rId191"/>
    <p:sldId id="533" r:id="rId192"/>
    <p:sldId id="534" r:id="rId193"/>
    <p:sldId id="535" r:id="rId194"/>
    <p:sldId id="549" r:id="rId195"/>
    <p:sldId id="550" r:id="rId196"/>
    <p:sldId id="536" r:id="rId197"/>
    <p:sldId id="537" r:id="rId198"/>
    <p:sldId id="551" r:id="rId199"/>
    <p:sldId id="621" r:id="rId200"/>
    <p:sldId id="552" r:id="rId201"/>
    <p:sldId id="553" r:id="rId202"/>
    <p:sldId id="554" r:id="rId203"/>
    <p:sldId id="555" r:id="rId204"/>
    <p:sldId id="556" r:id="rId205"/>
    <p:sldId id="557" r:id="rId206"/>
    <p:sldId id="558" r:id="rId207"/>
    <p:sldId id="480" r:id="rId208"/>
    <p:sldId id="559" r:id="rId209"/>
    <p:sldId id="560" r:id="rId210"/>
    <p:sldId id="561" r:id="rId211"/>
    <p:sldId id="562" r:id="rId212"/>
    <p:sldId id="563" r:id="rId213"/>
    <p:sldId id="564" r:id="rId214"/>
    <p:sldId id="565" r:id="rId215"/>
    <p:sldId id="566" r:id="rId216"/>
    <p:sldId id="567" r:id="rId217"/>
    <p:sldId id="568" r:id="rId218"/>
    <p:sldId id="569" r:id="rId219"/>
    <p:sldId id="571" r:id="rId220"/>
    <p:sldId id="573" r:id="rId221"/>
    <p:sldId id="574" r:id="rId22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6837A773-E637-4D16-915E-6B530F6F2547}">
          <p14:sldIdLst>
            <p14:sldId id="625"/>
          </p14:sldIdLst>
        </p14:section>
        <p14:section name="3.1 图和图模型" id="{CCD0638C-6CB4-4204-8A24-B7F68DF58106}">
          <p14:sldIdLst>
            <p14:sldId id="350"/>
            <p14:sldId id="481"/>
            <p14:sldId id="359"/>
            <p14:sldId id="368"/>
            <p14:sldId id="482"/>
            <p14:sldId id="483"/>
            <p14:sldId id="366"/>
            <p14:sldId id="373"/>
            <p14:sldId id="464"/>
            <p14:sldId id="394"/>
            <p14:sldId id="392"/>
            <p14:sldId id="383"/>
            <p14:sldId id="396"/>
            <p14:sldId id="380"/>
            <p14:sldId id="382"/>
            <p14:sldId id="401"/>
            <p14:sldId id="397"/>
            <p14:sldId id="398"/>
            <p14:sldId id="399"/>
            <p14:sldId id="400"/>
          </p14:sldIdLst>
        </p14:section>
        <p14:section name="3.2 图的术语和几种特殊的图" id="{B8DDB02B-915D-4ACF-8870-16EA6FAA9D27}">
          <p14:sldIdLst>
            <p14:sldId id="389"/>
            <p14:sldId id="390"/>
            <p14:sldId id="585"/>
            <p14:sldId id="586"/>
            <p14:sldId id="404"/>
            <p14:sldId id="302"/>
            <p14:sldId id="304"/>
            <p14:sldId id="296"/>
            <p14:sldId id="306"/>
            <p14:sldId id="308"/>
            <p14:sldId id="405"/>
            <p14:sldId id="406"/>
            <p14:sldId id="484"/>
            <p14:sldId id="408"/>
            <p14:sldId id="466"/>
            <p14:sldId id="486"/>
            <p14:sldId id="319"/>
            <p14:sldId id="485"/>
            <p14:sldId id="409"/>
            <p14:sldId id="487"/>
            <p14:sldId id="488"/>
            <p14:sldId id="588"/>
            <p14:sldId id="489"/>
            <p14:sldId id="490"/>
            <p14:sldId id="410"/>
            <p14:sldId id="467"/>
            <p14:sldId id="590"/>
            <p14:sldId id="591"/>
            <p14:sldId id="511"/>
            <p14:sldId id="512"/>
            <p14:sldId id="592"/>
            <p14:sldId id="593"/>
            <p14:sldId id="594"/>
            <p14:sldId id="595"/>
            <p14:sldId id="327"/>
            <p14:sldId id="491"/>
            <p14:sldId id="634"/>
            <p14:sldId id="628"/>
            <p14:sldId id="629"/>
            <p14:sldId id="596"/>
            <p14:sldId id="597"/>
            <p14:sldId id="598"/>
            <p14:sldId id="600"/>
            <p14:sldId id="599"/>
            <p14:sldId id="335"/>
            <p14:sldId id="635"/>
            <p14:sldId id="636"/>
            <p14:sldId id="637"/>
            <p14:sldId id="638"/>
            <p14:sldId id="639"/>
            <p14:sldId id="640"/>
            <p14:sldId id="641"/>
            <p14:sldId id="642"/>
            <p14:sldId id="643"/>
            <p14:sldId id="644"/>
            <p14:sldId id="645"/>
            <p14:sldId id="646"/>
            <p14:sldId id="647"/>
            <p14:sldId id="649"/>
            <p14:sldId id="651"/>
            <p14:sldId id="652"/>
          </p14:sldIdLst>
        </p14:section>
        <p14:section name="3.3 图的表示和图的同构" id="{A7AEA6FC-B420-4F78-AE18-65100187F595}">
          <p14:sldIdLst>
            <p14:sldId id="354"/>
            <p14:sldId id="415"/>
            <p14:sldId id="420"/>
            <p14:sldId id="492"/>
            <p14:sldId id="493"/>
            <p14:sldId id="494"/>
            <p14:sldId id="421"/>
            <p14:sldId id="495"/>
            <p14:sldId id="496"/>
            <p14:sldId id="423"/>
            <p14:sldId id="497"/>
            <p14:sldId id="498"/>
            <p14:sldId id="339"/>
            <p14:sldId id="619"/>
            <p14:sldId id="429"/>
            <p14:sldId id="428"/>
            <p14:sldId id="502"/>
            <p14:sldId id="503"/>
            <p14:sldId id="430"/>
            <p14:sldId id="504"/>
            <p14:sldId id="505"/>
            <p14:sldId id="653"/>
            <p14:sldId id="654"/>
            <p14:sldId id="626"/>
            <p14:sldId id="432"/>
          </p14:sldIdLst>
        </p14:section>
        <p14:section name="3.4 连通性" id="{04D37092-A37B-4559-A873-392001E70AB2}">
          <p14:sldIdLst>
            <p14:sldId id="356"/>
            <p14:sldId id="342"/>
            <p14:sldId id="436"/>
            <p14:sldId id="437"/>
            <p14:sldId id="601"/>
            <p14:sldId id="447"/>
            <p14:sldId id="513"/>
            <p14:sldId id="443"/>
            <p14:sldId id="514"/>
            <p14:sldId id="516"/>
            <p14:sldId id="606"/>
            <p14:sldId id="607"/>
            <p14:sldId id="608"/>
            <p14:sldId id="609"/>
            <p14:sldId id="602"/>
            <p14:sldId id="517"/>
            <p14:sldId id="603"/>
            <p14:sldId id="518"/>
            <p14:sldId id="519"/>
            <p14:sldId id="605"/>
            <p14:sldId id="520"/>
            <p14:sldId id="521"/>
            <p14:sldId id="604"/>
            <p14:sldId id="522"/>
            <p14:sldId id="610"/>
            <p14:sldId id="524"/>
            <p14:sldId id="441"/>
            <p14:sldId id="448"/>
            <p14:sldId id="655"/>
            <p14:sldId id="632"/>
            <p14:sldId id="656"/>
            <p14:sldId id="657"/>
            <p14:sldId id="449"/>
            <p14:sldId id="515"/>
            <p14:sldId id="658"/>
            <p14:sldId id="659"/>
            <p14:sldId id="612"/>
            <p14:sldId id="450"/>
            <p14:sldId id="660"/>
            <p14:sldId id="507"/>
            <p14:sldId id="508"/>
          </p14:sldIdLst>
        </p14:section>
        <p14:section name="3.5 欧拉通路和哈密顿通路" id="{69A113D9-9C4D-435A-95DF-E3F3C4CEDB52}">
          <p14:sldIdLst>
            <p14:sldId id="358"/>
            <p14:sldId id="620"/>
            <p14:sldId id="452"/>
            <p14:sldId id="453"/>
            <p14:sldId id="509"/>
            <p14:sldId id="454"/>
            <p14:sldId id="456"/>
            <p14:sldId id="510"/>
            <p14:sldId id="468"/>
            <p14:sldId id="526"/>
            <p14:sldId id="613"/>
            <p14:sldId id="615"/>
            <p14:sldId id="614"/>
            <p14:sldId id="455"/>
            <p14:sldId id="457"/>
            <p14:sldId id="458"/>
            <p14:sldId id="463"/>
            <p14:sldId id="465"/>
            <p14:sldId id="616"/>
            <p14:sldId id="460"/>
            <p14:sldId id="434"/>
            <p14:sldId id="618"/>
            <p14:sldId id="617"/>
            <p14:sldId id="461"/>
            <p14:sldId id="528"/>
          </p14:sldIdLst>
        </p14:section>
        <p14:section name="3.6 最短通路问题" id="{A340DAA4-FE25-4E29-ACA7-944DA3A47CA0}">
          <p14:sldIdLst>
            <p14:sldId id="476"/>
            <p14:sldId id="538"/>
            <p14:sldId id="529"/>
            <p14:sldId id="539"/>
            <p14:sldId id="540"/>
            <p14:sldId id="541"/>
            <p14:sldId id="530"/>
            <p14:sldId id="542"/>
            <p14:sldId id="531"/>
            <p14:sldId id="543"/>
            <p14:sldId id="532"/>
            <p14:sldId id="544"/>
            <p14:sldId id="545"/>
            <p14:sldId id="546"/>
          </p14:sldIdLst>
        </p14:section>
        <p14:section name="3.7 平面图" id="{F4768EA2-35FD-4DD7-8E6F-E3748B362FA8}">
          <p14:sldIdLst>
            <p14:sldId id="478"/>
            <p14:sldId id="547"/>
            <p14:sldId id="548"/>
            <p14:sldId id="533"/>
            <p14:sldId id="534"/>
            <p14:sldId id="535"/>
            <p14:sldId id="549"/>
            <p14:sldId id="550"/>
            <p14:sldId id="536"/>
            <p14:sldId id="537"/>
            <p14:sldId id="551"/>
            <p14:sldId id="621"/>
            <p14:sldId id="552"/>
            <p14:sldId id="553"/>
            <p14:sldId id="554"/>
            <p14:sldId id="555"/>
            <p14:sldId id="556"/>
            <p14:sldId id="557"/>
            <p14:sldId id="558"/>
          </p14:sldIdLst>
        </p14:section>
        <p14:section name="3.8 图着色" id="{D42D2D02-E2A4-4BED-A48E-C77105122708}">
          <p14:sldIdLst>
            <p14:sldId id="480"/>
            <p14:sldId id="559"/>
            <p14:sldId id="560"/>
            <p14:sldId id="561"/>
            <p14:sldId id="562"/>
            <p14:sldId id="563"/>
            <p14:sldId id="564"/>
            <p14:sldId id="565"/>
            <p14:sldId id="566"/>
            <p14:sldId id="567"/>
            <p14:sldId id="568"/>
            <p14:sldId id="569"/>
            <p14:sldId id="571"/>
            <p14:sldId id="573"/>
            <p14:sldId id="574"/>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559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27102A9-8310-4765-A935-A1911B00CA55}" styleName="浅色样式 1 - 强调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7292A2E-F333-43FB-9621-5CBBE7FDCDCB}" styleName="浅色样式 2 - 强调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175" autoAdjust="0"/>
    <p:restoredTop sz="91339" autoAdjust="0"/>
  </p:normalViewPr>
  <p:slideViewPr>
    <p:cSldViewPr>
      <p:cViewPr varScale="1">
        <p:scale>
          <a:sx n="124" d="100"/>
          <a:sy n="124" d="100"/>
        </p:scale>
        <p:origin x="134" y="86"/>
      </p:cViewPr>
      <p:guideLst>
        <p:guide orient="horz" pos="2160"/>
        <p:guide pos="384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theme" Target="theme/theme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tableStyles" Target="tableStyles.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3" Type="http://schemas.openxmlformats.org/officeDocument/2006/relationships/slide" Target="slides/slide2.xml"/><Relationship Id="rId214" Type="http://schemas.openxmlformats.org/officeDocument/2006/relationships/slide" Target="slides/slide213.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notesMaster" Target="notesMasters/notesMaster1.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presProps" Target="presProps.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4.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70.wmf"/><Relationship Id="rId2" Type="http://schemas.openxmlformats.org/officeDocument/2006/relationships/image" Target="../media/image69.wmf"/><Relationship Id="rId1" Type="http://schemas.openxmlformats.org/officeDocument/2006/relationships/image" Target="../media/image68.wmf"/><Relationship Id="rId4" Type="http://schemas.openxmlformats.org/officeDocument/2006/relationships/image" Target="../media/image71.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76.wmf"/><Relationship Id="rId1" Type="http://schemas.openxmlformats.org/officeDocument/2006/relationships/image" Target="../media/image7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93.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01.wmf"/><Relationship Id="rId2" Type="http://schemas.openxmlformats.org/officeDocument/2006/relationships/image" Target="../media/image100.wmf"/><Relationship Id="rId1" Type="http://schemas.openxmlformats.org/officeDocument/2006/relationships/image" Target="../media/image99.wmf"/></Relationships>
</file>

<file path=ppt/drawings/_rels/vmlDrawing7.vml.rels><?xml version="1.0" encoding="UTF-8" standalone="yes"?>
<Relationships xmlns="http://schemas.openxmlformats.org/package/2006/relationships"><Relationship Id="rId8" Type="http://schemas.openxmlformats.org/officeDocument/2006/relationships/image" Target="../media/image109.wmf"/><Relationship Id="rId3" Type="http://schemas.openxmlformats.org/officeDocument/2006/relationships/image" Target="../media/image104.wmf"/><Relationship Id="rId7" Type="http://schemas.openxmlformats.org/officeDocument/2006/relationships/image" Target="../media/image108.wmf"/><Relationship Id="rId2" Type="http://schemas.openxmlformats.org/officeDocument/2006/relationships/image" Target="../media/image103.wmf"/><Relationship Id="rId1" Type="http://schemas.openxmlformats.org/officeDocument/2006/relationships/image" Target="../media/image99.wmf"/><Relationship Id="rId6" Type="http://schemas.openxmlformats.org/officeDocument/2006/relationships/image" Target="../media/image107.wmf"/><Relationship Id="rId5" Type="http://schemas.openxmlformats.org/officeDocument/2006/relationships/image" Target="../media/image106.wmf"/><Relationship Id="rId4" Type="http://schemas.openxmlformats.org/officeDocument/2006/relationships/image" Target="../media/image105.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35.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4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62EE97F-2327-4FE9-8874-2C0F3581839A}" type="datetimeFigureOut">
              <a:rPr lang="en-US" smtClean="0"/>
              <a:pPr/>
              <a:t>4/15/2025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A6B134D-0EB3-42CB-9322-AA369738187D}" type="slidenum">
              <a:rPr lang="en-US" smtClean="0"/>
              <a:pPr/>
              <a:t>‹#›</a:t>
            </a:fld>
            <a:endParaRPr lang="en-US"/>
          </a:p>
        </p:txBody>
      </p:sp>
    </p:spTree>
    <p:extLst>
      <p:ext uri="{BB962C8B-B14F-4D97-AF65-F5344CB8AC3E}">
        <p14:creationId xmlns:p14="http://schemas.microsoft.com/office/powerpoint/2010/main" val="41241765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900" dirty="0" smtClean="0"/>
          </a:p>
        </p:txBody>
      </p:sp>
      <p:sp>
        <p:nvSpPr>
          <p:cNvPr id="4" name="灯片编号占位符 3"/>
          <p:cNvSpPr>
            <a:spLocks noGrp="1"/>
          </p:cNvSpPr>
          <p:nvPr>
            <p:ph type="sldNum" sz="quarter" idx="10"/>
          </p:nvPr>
        </p:nvSpPr>
        <p:spPr/>
        <p:txBody>
          <a:bodyPr/>
          <a:lstStyle/>
          <a:p>
            <a:fld id="{F1CB8912-F0BA-4AD8-8415-DA1F26BCB09F}" type="slidenum">
              <a:rPr lang="zh-CN" altLang="en-US" smtClean="0"/>
              <a:t>1</a:t>
            </a:fld>
            <a:endParaRPr lang="zh-CN" altLang="en-US"/>
          </a:p>
        </p:txBody>
      </p:sp>
    </p:spTree>
    <p:extLst>
      <p:ext uri="{BB962C8B-B14F-4D97-AF65-F5344CB8AC3E}">
        <p14:creationId xmlns:p14="http://schemas.microsoft.com/office/powerpoint/2010/main" val="2880404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A6B134D-0EB3-42CB-9322-AA369738187D}" type="slidenum">
              <a:rPr lang="en-US" smtClean="0"/>
              <a:pPr/>
              <a:t>3</a:t>
            </a:fld>
            <a:endParaRPr lang="en-US"/>
          </a:p>
        </p:txBody>
      </p:sp>
    </p:spTree>
    <p:extLst>
      <p:ext uri="{BB962C8B-B14F-4D97-AF65-F5344CB8AC3E}">
        <p14:creationId xmlns:p14="http://schemas.microsoft.com/office/powerpoint/2010/main" val="16081467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A6B134D-0EB3-42CB-9322-AA369738187D}" type="slidenum">
              <a:rPr lang="en-US" smtClean="0"/>
              <a:pPr/>
              <a:t>10</a:t>
            </a:fld>
            <a:endParaRPr lang="en-US"/>
          </a:p>
        </p:txBody>
      </p:sp>
    </p:spTree>
    <p:extLst>
      <p:ext uri="{BB962C8B-B14F-4D97-AF65-F5344CB8AC3E}">
        <p14:creationId xmlns:p14="http://schemas.microsoft.com/office/powerpoint/2010/main" val="14385217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匈牙利演算法， </a:t>
            </a:r>
            <a:r>
              <a:rPr lang="en-US" altLang="zh-CN" sz="1200" b="0" i="0" kern="1200" dirty="0" smtClean="0">
                <a:solidFill>
                  <a:schemeClr val="tx1"/>
                </a:solidFill>
                <a:effectLst/>
                <a:latin typeface="+mn-lt"/>
                <a:ea typeface="+mn-ea"/>
                <a:cs typeface="+mn-cs"/>
              </a:rPr>
              <a:t>KM</a:t>
            </a:r>
            <a:r>
              <a:rPr lang="zh-CN" altLang="en-US" sz="1200" b="0" i="0" kern="1200" dirty="0" smtClean="0">
                <a:solidFill>
                  <a:schemeClr val="tx1"/>
                </a:solidFill>
                <a:effectLst/>
                <a:latin typeface="+mn-lt"/>
                <a:ea typeface="+mn-ea"/>
                <a:cs typeface="+mn-cs"/>
              </a:rPr>
              <a:t>算法等</a:t>
            </a:r>
            <a:r>
              <a:rPr lang="en-US" altLang="zh-CN" sz="1200" b="0" i="0" kern="1200" dirty="0" smtClean="0">
                <a:solidFill>
                  <a:schemeClr val="tx1"/>
                </a:solidFill>
                <a:effectLst/>
                <a:latin typeface="+mn-lt"/>
                <a:ea typeface="+mn-ea"/>
                <a:cs typeface="+mn-cs"/>
              </a:rPr>
              <a:t>.</a:t>
            </a:r>
            <a:endParaRPr lang="zh-CN" altLang="en-US" dirty="0"/>
          </a:p>
        </p:txBody>
      </p:sp>
      <p:sp>
        <p:nvSpPr>
          <p:cNvPr id="4" name="灯片编号占位符 3"/>
          <p:cNvSpPr>
            <a:spLocks noGrp="1"/>
          </p:cNvSpPr>
          <p:nvPr>
            <p:ph type="sldNum" sz="quarter" idx="10"/>
          </p:nvPr>
        </p:nvSpPr>
        <p:spPr/>
        <p:txBody>
          <a:bodyPr/>
          <a:lstStyle/>
          <a:p>
            <a:fld id="{8A6B134D-0EB3-42CB-9322-AA369738187D}" type="slidenum">
              <a:rPr lang="en-US" smtClean="0"/>
              <a:pPr/>
              <a:t>50</a:t>
            </a:fld>
            <a:endParaRPr lang="en-US"/>
          </a:p>
        </p:txBody>
      </p:sp>
    </p:spTree>
    <p:extLst>
      <p:ext uri="{BB962C8B-B14F-4D97-AF65-F5344CB8AC3E}">
        <p14:creationId xmlns:p14="http://schemas.microsoft.com/office/powerpoint/2010/main" val="11444880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任何子集</a:t>
            </a:r>
            <a:r>
              <a:rPr lang="en-US" altLang="zh-CN" dirty="0" smtClean="0"/>
              <a:t>A,</a:t>
            </a:r>
            <a:r>
              <a:rPr lang="zh-CN" altLang="en-US" dirty="0" smtClean="0"/>
              <a:t>它的邻居（在</a:t>
            </a:r>
            <a:r>
              <a:rPr lang="en-US" altLang="zh-CN" dirty="0" smtClean="0"/>
              <a:t>V2</a:t>
            </a:r>
            <a:r>
              <a:rPr lang="zh-CN" altLang="en-US" dirty="0" smtClean="0"/>
              <a:t>中对应的那个子集</a:t>
            </a:r>
            <a:r>
              <a:rPr lang="en-US" altLang="zh-CN" dirty="0" smtClean="0"/>
              <a:t>B</a:t>
            </a:r>
            <a:r>
              <a:rPr lang="zh-CN" altLang="en-US" dirty="0" smtClean="0"/>
              <a:t>）都大于等于子集</a:t>
            </a:r>
            <a:r>
              <a:rPr lang="en-US" altLang="zh-CN" dirty="0" smtClean="0"/>
              <a:t>A</a:t>
            </a:r>
            <a:r>
              <a:rPr lang="zh-CN" altLang="en-US" dirty="0" smtClean="0"/>
              <a:t>本身</a:t>
            </a:r>
            <a:r>
              <a:rPr lang="en-US" altLang="zh-CN" dirty="0" smtClean="0"/>
              <a:t>.</a:t>
            </a:r>
            <a:endParaRPr lang="zh-CN" altLang="en-US" dirty="0"/>
          </a:p>
        </p:txBody>
      </p:sp>
      <p:sp>
        <p:nvSpPr>
          <p:cNvPr id="4" name="灯片编号占位符 3"/>
          <p:cNvSpPr>
            <a:spLocks noGrp="1"/>
          </p:cNvSpPr>
          <p:nvPr>
            <p:ph type="sldNum" sz="quarter" idx="10"/>
          </p:nvPr>
        </p:nvSpPr>
        <p:spPr/>
        <p:txBody>
          <a:bodyPr/>
          <a:lstStyle/>
          <a:p>
            <a:fld id="{8A6B134D-0EB3-42CB-9322-AA369738187D}" type="slidenum">
              <a:rPr lang="en-US" smtClean="0"/>
              <a:pPr/>
              <a:t>51</a:t>
            </a:fld>
            <a:endParaRPr lang="en-US"/>
          </a:p>
        </p:txBody>
      </p:sp>
    </p:spTree>
    <p:extLst>
      <p:ext uri="{BB962C8B-B14F-4D97-AF65-F5344CB8AC3E}">
        <p14:creationId xmlns:p14="http://schemas.microsoft.com/office/powerpoint/2010/main" val="137431405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7" name="标题 1"/>
          <p:cNvSpPr>
            <a:spLocks noGrp="1"/>
          </p:cNvSpPr>
          <p:nvPr>
            <p:ph type="ctrTitle"/>
          </p:nvPr>
        </p:nvSpPr>
        <p:spPr>
          <a:xfrm>
            <a:off x="1524000" y="1122363"/>
            <a:ext cx="9144000" cy="2387600"/>
          </a:xfrm>
          <a:prstGeom prst="rect">
            <a:avLst/>
          </a:prstGeom>
        </p:spPr>
        <p:txBody>
          <a:bodyPr anchor="b"/>
          <a:lstStyle>
            <a:lvl1pPr algn="ctr">
              <a:defRPr sz="6000">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zh-CN" altLang="en-US" dirty="0"/>
          </a:p>
        </p:txBody>
      </p:sp>
      <p:sp>
        <p:nvSpPr>
          <p:cNvPr id="8"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smtClean="0"/>
              <a:t>单击以编辑母版副标题样式</a:t>
            </a:r>
            <a:endParaRPr lang="zh-CN" altLang="en-US" dirty="0"/>
          </a:p>
        </p:txBody>
      </p:sp>
      <p:sp>
        <p:nvSpPr>
          <p:cNvPr id="9" name="TextBox 6">
            <a:extLst>
              <a:ext uri="{FF2B5EF4-FFF2-40B4-BE49-F238E27FC236}">
                <a16:creationId xmlns:a16="http://schemas.microsoft.com/office/drawing/2014/main" xmlns="" id="{AD80F0C0-3B46-41BB-A648-38F3DB9C0483}"/>
              </a:ext>
            </a:extLst>
          </p:cNvPr>
          <p:cNvSpPr txBox="1"/>
          <p:nvPr userDrawn="1"/>
        </p:nvSpPr>
        <p:spPr>
          <a:xfrm>
            <a:off x="3523347" y="3438257"/>
            <a:ext cx="7179935" cy="1487651"/>
          </a:xfrm>
          <a:prstGeom prst="rect">
            <a:avLst/>
          </a:prstGeom>
          <a:noFill/>
        </p:spPr>
        <p:txBody>
          <a:bodyPr wrap="square" rtlCol="0">
            <a:spAutoFit/>
          </a:bodyPr>
          <a:lstStyle/>
          <a:p>
            <a:r>
              <a:rPr lang="zh-CN" altLang="en-US" sz="5867" b="1" dirty="0" smtClean="0">
                <a:solidFill>
                  <a:schemeClr val="bg1"/>
                </a:solidFill>
                <a:latin typeface="微软雅黑" panose="020B0503020204020204" pitchFamily="34" charset="-122"/>
                <a:ea typeface="微软雅黑" panose="020B0503020204020204" pitchFamily="34" charset="-122"/>
              </a:rPr>
              <a:t>数据与大数据</a:t>
            </a:r>
            <a:endParaRPr lang="en-US" altLang="zh-CN" sz="5867" b="1" dirty="0">
              <a:solidFill>
                <a:schemeClr val="bg1"/>
              </a:solidFill>
              <a:latin typeface="微软雅黑" panose="020B0503020204020204" pitchFamily="34" charset="-122"/>
              <a:ea typeface="微软雅黑" panose="020B0503020204020204" pitchFamily="34" charset="-122"/>
            </a:endParaRPr>
          </a:p>
          <a:p>
            <a:r>
              <a:rPr lang="en-US" altLang="zh-CN" sz="3200" dirty="0" smtClean="0">
                <a:solidFill>
                  <a:schemeClr val="bg1"/>
                </a:solidFill>
              </a:rPr>
              <a:t>data and big data</a:t>
            </a:r>
            <a:endParaRPr lang="zh-CN" altLang="en-US" sz="3200" dirty="0">
              <a:solidFill>
                <a:schemeClr val="bg1"/>
              </a:solidFill>
            </a:endParaRPr>
          </a:p>
        </p:txBody>
      </p:sp>
      <p:grpSp>
        <p:nvGrpSpPr>
          <p:cNvPr id="10" name="组合 9"/>
          <p:cNvGrpSpPr/>
          <p:nvPr userDrawn="1"/>
        </p:nvGrpSpPr>
        <p:grpSpPr>
          <a:xfrm>
            <a:off x="-1" y="0"/>
            <a:ext cx="12192001" cy="6858000"/>
            <a:chOff x="-1" y="0"/>
            <a:chExt cx="12192001" cy="6858000"/>
          </a:xfrm>
        </p:grpSpPr>
        <p:sp>
          <p:nvSpPr>
            <p:cNvPr id="11" name="矩形 10"/>
            <p:cNvSpPr/>
            <p:nvPr/>
          </p:nvSpPr>
          <p:spPr>
            <a:xfrm>
              <a:off x="0" y="0"/>
              <a:ext cx="12192000" cy="3440784"/>
            </a:xfrm>
            <a:prstGeom prst="rect">
              <a:avLst/>
            </a:prstGeom>
            <a:solidFill>
              <a:srgbClr val="01559D">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1" y="3440783"/>
              <a:ext cx="12192001" cy="3417217"/>
            </a:xfrm>
            <a:prstGeom prst="rect">
              <a:avLst/>
            </a:prstGeom>
            <a:solidFill>
              <a:schemeClr val="accent4">
                <a:alpha val="80000"/>
              </a:schemeClr>
            </a:solidFill>
            <a:ln>
              <a:noFill/>
            </a:ln>
            <a:effectLst>
              <a:outerShdw blurRad="190500" sx="102000" sy="102000" algn="ctr"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109369" y="164054"/>
              <a:ext cx="11973262" cy="6529891"/>
            </a:xfrm>
            <a:prstGeom prst="rect">
              <a:avLst/>
            </a:prstGeom>
            <a:solidFill>
              <a:schemeClr val="bg2">
                <a:lumMod val="40000"/>
                <a:lumOff val="60000"/>
              </a:schemeClr>
            </a:solidFill>
            <a:ln>
              <a:noFill/>
            </a:ln>
            <a:effectLst>
              <a:outerShdw blurRad="190500" sx="102000" sy="102000" algn="ctr"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4" name="组合 13"/>
            <p:cNvGrpSpPr/>
            <p:nvPr/>
          </p:nvGrpSpPr>
          <p:grpSpPr>
            <a:xfrm>
              <a:off x="335393" y="399255"/>
              <a:ext cx="360000" cy="360000"/>
              <a:chOff x="2117558" y="3758627"/>
              <a:chExt cx="360000" cy="360000"/>
            </a:xfrm>
          </p:grpSpPr>
          <p:cxnSp>
            <p:nvCxnSpPr>
              <p:cNvPr id="24" name="直接连接符 23"/>
              <p:cNvCxnSpPr/>
              <p:nvPr/>
            </p:nvCxnSpPr>
            <p:spPr>
              <a:xfrm>
                <a:off x="2117558" y="3765884"/>
                <a:ext cx="360000" cy="0"/>
              </a:xfrm>
              <a:prstGeom prst="line">
                <a:avLst/>
              </a:prstGeom>
              <a:ln w="19050">
                <a:solidFill>
                  <a:srgbClr val="01559D"/>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a:off x="2125904" y="3758627"/>
                <a:ext cx="0" cy="360000"/>
              </a:xfrm>
              <a:prstGeom prst="line">
                <a:avLst/>
              </a:prstGeom>
              <a:ln w="19050">
                <a:solidFill>
                  <a:srgbClr val="01559D"/>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11492431" y="399255"/>
              <a:ext cx="360000" cy="360000"/>
              <a:chOff x="2269958" y="3918284"/>
              <a:chExt cx="360000" cy="360000"/>
            </a:xfrm>
          </p:grpSpPr>
          <p:cxnSp>
            <p:nvCxnSpPr>
              <p:cNvPr id="22" name="直接连接符 21"/>
              <p:cNvCxnSpPr/>
              <p:nvPr/>
            </p:nvCxnSpPr>
            <p:spPr>
              <a:xfrm>
                <a:off x="2269958" y="3918284"/>
                <a:ext cx="360000" cy="0"/>
              </a:xfrm>
              <a:prstGeom prst="line">
                <a:avLst/>
              </a:prstGeom>
              <a:ln w="19050">
                <a:solidFill>
                  <a:srgbClr val="01559D"/>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2618852" y="3918284"/>
                <a:ext cx="0" cy="360000"/>
              </a:xfrm>
              <a:prstGeom prst="line">
                <a:avLst/>
              </a:prstGeom>
              <a:ln w="19050">
                <a:solidFill>
                  <a:srgbClr val="01559D"/>
                </a:solidFill>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p:nvGrpSpPr>
          <p:grpSpPr>
            <a:xfrm>
              <a:off x="324634" y="6129564"/>
              <a:ext cx="368148" cy="360000"/>
              <a:chOff x="2430704" y="4063427"/>
              <a:chExt cx="368148" cy="360000"/>
            </a:xfrm>
          </p:grpSpPr>
          <p:cxnSp>
            <p:nvCxnSpPr>
              <p:cNvPr id="20" name="直接连接符 19"/>
              <p:cNvCxnSpPr/>
              <p:nvPr/>
            </p:nvCxnSpPr>
            <p:spPr>
              <a:xfrm>
                <a:off x="2438852" y="4413178"/>
                <a:ext cx="360000" cy="0"/>
              </a:xfrm>
              <a:prstGeom prst="line">
                <a:avLst/>
              </a:prstGeom>
              <a:ln w="19050">
                <a:solidFill>
                  <a:srgbClr val="01559D"/>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2430704" y="4063427"/>
                <a:ext cx="0" cy="360000"/>
              </a:xfrm>
              <a:prstGeom prst="line">
                <a:avLst/>
              </a:prstGeom>
              <a:ln w="19050">
                <a:solidFill>
                  <a:srgbClr val="01559D"/>
                </a:solidFill>
              </a:ln>
            </p:spPr>
            <p:style>
              <a:lnRef idx="1">
                <a:schemeClr val="accent1"/>
              </a:lnRef>
              <a:fillRef idx="0">
                <a:schemeClr val="accent1"/>
              </a:fillRef>
              <a:effectRef idx="0">
                <a:schemeClr val="accent1"/>
              </a:effectRef>
              <a:fontRef idx="minor">
                <a:schemeClr val="tx1"/>
              </a:fontRef>
            </p:style>
          </p:cxnSp>
        </p:grpSp>
        <p:grpSp>
          <p:nvGrpSpPr>
            <p:cNvPr id="17" name="组合 16"/>
            <p:cNvGrpSpPr/>
            <p:nvPr/>
          </p:nvGrpSpPr>
          <p:grpSpPr>
            <a:xfrm>
              <a:off x="11503314" y="6122307"/>
              <a:ext cx="360000" cy="360000"/>
              <a:chOff x="2574758" y="3873751"/>
              <a:chExt cx="360000" cy="360000"/>
            </a:xfrm>
          </p:grpSpPr>
          <p:cxnSp>
            <p:nvCxnSpPr>
              <p:cNvPr id="18" name="直接连接符 17"/>
              <p:cNvCxnSpPr/>
              <p:nvPr/>
            </p:nvCxnSpPr>
            <p:spPr>
              <a:xfrm>
                <a:off x="2574758" y="4223084"/>
                <a:ext cx="360000" cy="0"/>
              </a:xfrm>
              <a:prstGeom prst="line">
                <a:avLst/>
              </a:prstGeom>
              <a:ln w="19050">
                <a:solidFill>
                  <a:srgbClr val="01559D"/>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a:off x="2924643" y="3873751"/>
                <a:ext cx="0" cy="360000"/>
              </a:xfrm>
              <a:prstGeom prst="line">
                <a:avLst/>
              </a:prstGeom>
              <a:ln w="19050">
                <a:solidFill>
                  <a:srgbClr val="01559D"/>
                </a:solidFill>
              </a:ln>
            </p:spPr>
            <p:style>
              <a:lnRef idx="1">
                <a:schemeClr val="accent1"/>
              </a:lnRef>
              <a:fillRef idx="0">
                <a:schemeClr val="accent1"/>
              </a:fillRef>
              <a:effectRef idx="0">
                <a:schemeClr val="accent1"/>
              </a:effectRef>
              <a:fontRef idx="minor">
                <a:schemeClr val="tx1"/>
              </a:fontRef>
            </p:style>
          </p:cxnSp>
        </p:grpSp>
      </p:grpSp>
      <p:pic>
        <p:nvPicPr>
          <p:cNvPr id="26" name="图片 2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8640" y="417184"/>
            <a:ext cx="1115730" cy="878638"/>
          </a:xfrm>
          <a:prstGeom prst="rect">
            <a:avLst/>
          </a:prstGeom>
        </p:spPr>
      </p:pic>
      <p:sp>
        <p:nvSpPr>
          <p:cNvPr id="27" name="Freeform 7"/>
          <p:cNvSpPr>
            <a:spLocks noChangeArrowheads="1"/>
          </p:cNvSpPr>
          <p:nvPr userDrawn="1"/>
        </p:nvSpPr>
        <p:spPr bwMode="auto">
          <a:xfrm>
            <a:off x="1600678" y="2118577"/>
            <a:ext cx="8229600" cy="914400"/>
          </a:xfrm>
          <a:custGeom>
            <a:avLst/>
            <a:gdLst>
              <a:gd name="T0" fmla="*/ 0 w 1000"/>
              <a:gd name="T1" fmla="*/ 2147483647 h 1000"/>
              <a:gd name="T2" fmla="*/ 0 w 1000"/>
              <a:gd name="T3" fmla="*/ 0 h 1000"/>
              <a:gd name="T4" fmla="*/ 2147483647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4"/>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28" name="组合 27"/>
          <p:cNvGrpSpPr/>
          <p:nvPr userDrawn="1"/>
        </p:nvGrpSpPr>
        <p:grpSpPr>
          <a:xfrm>
            <a:off x="1618966" y="2547953"/>
            <a:ext cx="8229600" cy="914400"/>
            <a:chOff x="1618966" y="2547953"/>
            <a:chExt cx="8229600" cy="914400"/>
          </a:xfrm>
        </p:grpSpPr>
        <p:sp>
          <p:nvSpPr>
            <p:cNvPr id="29" name="Line 10"/>
            <p:cNvSpPr>
              <a:spLocks noChangeShapeType="1"/>
            </p:cNvSpPr>
            <p:nvPr/>
          </p:nvSpPr>
          <p:spPr bwMode="auto">
            <a:xfrm>
              <a:off x="9848566" y="2547953"/>
              <a:ext cx="0" cy="914400"/>
            </a:xfrm>
            <a:prstGeom prst="line">
              <a:avLst/>
            </a:prstGeom>
            <a:noFill/>
            <a:ln w="25400">
              <a:solidFill>
                <a:schemeClr val="accent4"/>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 name="Line 8"/>
            <p:cNvSpPr>
              <a:spLocks noChangeShapeType="1"/>
            </p:cNvSpPr>
            <p:nvPr/>
          </p:nvSpPr>
          <p:spPr bwMode="auto">
            <a:xfrm>
              <a:off x="1618966" y="3462353"/>
              <a:ext cx="8229600" cy="0"/>
            </a:xfrm>
            <a:prstGeom prst="line">
              <a:avLst/>
            </a:prstGeom>
            <a:noFill/>
            <a:ln w="25400">
              <a:solidFill>
                <a:schemeClr val="accent4"/>
              </a:solidFill>
              <a:round/>
              <a:headEnd/>
              <a:tailEnd/>
            </a:ln>
            <a:extLst>
              <a:ext uri="{909E8E84-426E-40DD-AFC4-6F175D3DCCD1}">
                <a14:hiddenFill xmlns:a14="http://schemas.microsoft.com/office/drawing/2010/main">
                  <a:noFill/>
                </a14:hiddenFill>
              </a:ext>
            </a:extLst>
          </p:spPr>
          <p:txBody>
            <a:bodyPr/>
            <a:lstStyle/>
            <a:p>
              <a:endParaRPr lang="en-US"/>
            </a:p>
          </p:txBody>
        </p:sp>
      </p:grpSp>
      <p:pic>
        <p:nvPicPr>
          <p:cNvPr id="31" name="图片 3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264286" y="5444795"/>
            <a:ext cx="1562460" cy="1562460"/>
          </a:xfrm>
          <a:prstGeom prst="rect">
            <a:avLst/>
          </a:prstGeom>
        </p:spPr>
      </p:pic>
    </p:spTree>
    <p:extLst>
      <p:ext uri="{BB962C8B-B14F-4D97-AF65-F5344CB8AC3E}">
        <p14:creationId xmlns:p14="http://schemas.microsoft.com/office/powerpoint/2010/main" val="21496248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7" name="标题 1"/>
          <p:cNvSpPr>
            <a:spLocks noGrp="1"/>
          </p:cNvSpPr>
          <p:nvPr>
            <p:ph type="title"/>
          </p:nvPr>
        </p:nvSpPr>
        <p:spPr>
          <a:xfrm>
            <a:off x="595087" y="268889"/>
            <a:ext cx="10987314" cy="635771"/>
          </a:xfrm>
          <a:prstGeom prst="rect">
            <a:avLst/>
          </a:prstGeom>
        </p:spPr>
        <p:txBody>
          <a:bodyPr>
            <a:noAutofit/>
          </a:bodyPr>
          <a:lstStyle>
            <a:lvl1pPr>
              <a:defRPr sz="3600">
                <a:solidFill>
                  <a:srgbClr val="01559D"/>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zh-CN" altLang="en-US" dirty="0"/>
          </a:p>
        </p:txBody>
      </p:sp>
      <p:sp>
        <p:nvSpPr>
          <p:cNvPr id="8" name="内容占位符 2"/>
          <p:cNvSpPr>
            <a:spLocks noGrp="1"/>
          </p:cNvSpPr>
          <p:nvPr>
            <p:ph idx="1"/>
          </p:nvPr>
        </p:nvSpPr>
        <p:spPr>
          <a:xfrm>
            <a:off x="595086" y="1088824"/>
            <a:ext cx="10987316" cy="5121481"/>
          </a:xfrm>
          <a:prstGeom prst="rect">
            <a:avLst/>
          </a:prstGeom>
        </p:spPr>
        <p:txBody>
          <a:bodyPr/>
          <a:lstStyle>
            <a:lvl1pPr marL="274320" indent="-274320">
              <a:buClr>
                <a:srgbClr val="CEA524"/>
              </a:buClr>
              <a:buSzPct val="100000"/>
              <a:buFont typeface="Wingdings" panose="05000000000000000000" pitchFamily="2" charset="2"/>
              <a:buChar char="q"/>
              <a:defRPr>
                <a:latin typeface="微软雅黑" panose="020B0503020204020204" pitchFamily="34" charset="-122"/>
                <a:ea typeface="微软雅黑" panose="020B0503020204020204" pitchFamily="34" charset="-122"/>
              </a:defRPr>
            </a:lvl1pPr>
            <a:lvl2pPr marL="640080" indent="-246888">
              <a:buClr>
                <a:srgbClr val="01559D"/>
              </a:buClr>
              <a:buFont typeface="Wingdings" panose="05000000000000000000" pitchFamily="2" charset="2"/>
              <a:buChar char="Ø"/>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smtClean="0"/>
              <a:t>编辑母版文本样式</a:t>
            </a:r>
          </a:p>
          <a:p>
            <a:pPr lvl="1"/>
            <a:r>
              <a:rPr lang="zh-CN" altLang="en-US" dirty="0" smtClean="0"/>
              <a:t>第二级</a:t>
            </a:r>
          </a:p>
        </p:txBody>
      </p:sp>
      <p:sp>
        <p:nvSpPr>
          <p:cNvPr id="9" name="日期占位符 9"/>
          <p:cNvSpPr>
            <a:spLocks noGrp="1"/>
          </p:cNvSpPr>
          <p:nvPr>
            <p:ph type="dt" sz="half" idx="10"/>
          </p:nvPr>
        </p:nvSpPr>
        <p:spPr>
          <a:xfrm>
            <a:off x="457200" y="6400799"/>
            <a:ext cx="2895600" cy="370917"/>
          </a:xfrm>
          <a:prstGeom prst="rect">
            <a:avLst/>
          </a:prstGeom>
        </p:spPr>
        <p:txBody>
          <a:bodyPr/>
          <a:lstStyle>
            <a:lvl1pPr>
              <a:defRPr sz="1800" b="0">
                <a:solidFill>
                  <a:schemeClr val="tx1"/>
                </a:solidFill>
                <a:latin typeface="微软雅黑" panose="020B0503020204020204" pitchFamily="34" charset="-122"/>
                <a:ea typeface="微软雅黑" panose="020B0503020204020204" pitchFamily="34" charset="-122"/>
              </a:defRPr>
            </a:lvl1pPr>
          </a:lstStyle>
          <a:p>
            <a:fld id="{25945BD7-F0C6-4BFA-A6A3-8AF12B903197}" type="datetime1">
              <a:rPr lang="zh-CN" altLang="en-US" smtClean="0"/>
              <a:t>2025/4/15</a:t>
            </a:fld>
            <a:endParaRPr lang="zh-CN" altLang="en-US" dirty="0"/>
          </a:p>
        </p:txBody>
      </p:sp>
      <p:sp>
        <p:nvSpPr>
          <p:cNvPr id="10" name="页脚占位符 10"/>
          <p:cNvSpPr>
            <a:spLocks noGrp="1"/>
          </p:cNvSpPr>
          <p:nvPr>
            <p:ph type="ftr" sz="quarter" idx="11"/>
          </p:nvPr>
        </p:nvSpPr>
        <p:spPr>
          <a:xfrm>
            <a:off x="7696200" y="6377915"/>
            <a:ext cx="4114800" cy="403850"/>
          </a:xfrm>
          <a:prstGeom prst="rect">
            <a:avLst/>
          </a:prstGeom>
        </p:spPr>
        <p:txBody>
          <a:bodyPr/>
          <a:lstStyle>
            <a:lvl1pPr>
              <a:defRPr sz="1800">
                <a:solidFill>
                  <a:schemeClr val="tx1"/>
                </a:solidFill>
                <a:latin typeface="微软雅黑" panose="020B0503020204020204" pitchFamily="34" charset="-122"/>
                <a:ea typeface="微软雅黑" panose="020B0503020204020204" pitchFamily="34" charset="-122"/>
              </a:defRPr>
            </a:lvl1pPr>
          </a:lstStyle>
          <a:p>
            <a:pPr algn="r"/>
            <a:r>
              <a:rPr lang="zh-CN" altLang="en-US" dirty="0" smtClean="0"/>
              <a:t>华中科技大学人机物系统与安全实验室</a:t>
            </a:r>
            <a:endParaRPr lang="zh-CN" altLang="en-US" dirty="0"/>
          </a:p>
        </p:txBody>
      </p:sp>
      <p:sp>
        <p:nvSpPr>
          <p:cNvPr id="11" name="灯片编号占位符 11"/>
          <p:cNvSpPr>
            <a:spLocks noGrp="1"/>
          </p:cNvSpPr>
          <p:nvPr>
            <p:ph type="sldNum" sz="quarter" idx="12"/>
          </p:nvPr>
        </p:nvSpPr>
        <p:spPr>
          <a:xfrm>
            <a:off x="4267200" y="6406591"/>
            <a:ext cx="3657600" cy="365125"/>
          </a:xfrm>
          <a:prstGeom prst="rect">
            <a:avLst/>
          </a:prstGeom>
        </p:spPr>
        <p:txBody>
          <a:bodyPr/>
          <a:lstStyle>
            <a:lvl1pPr algn="ctr">
              <a:defRPr sz="1800">
                <a:solidFill>
                  <a:schemeClr val="tx1"/>
                </a:solidFill>
                <a:latin typeface="微软雅黑" panose="020B0503020204020204" pitchFamily="34" charset="-122"/>
                <a:ea typeface="微软雅黑" panose="020B0503020204020204" pitchFamily="34" charset="-122"/>
              </a:defRPr>
            </a:lvl1pPr>
          </a:lstStyle>
          <a:p>
            <a:fld id="{67913A8A-9EFB-4B5F-9CCB-3D21173FAA85}" type="slidenum">
              <a:rPr lang="zh-CN" altLang="en-US" smtClean="0"/>
              <a:pPr/>
              <a:t>‹#›</a:t>
            </a:fld>
            <a:endParaRPr lang="zh-CN" altLang="en-US" dirty="0"/>
          </a:p>
        </p:txBody>
      </p:sp>
      <p:sp>
        <p:nvSpPr>
          <p:cNvPr id="12" name="Line 1032">
            <a:extLst>
              <a:ext uri="{FF2B5EF4-FFF2-40B4-BE49-F238E27FC236}">
                <a16:creationId xmlns:a16="http://schemas.microsoft.com/office/drawing/2014/main" xmlns="" id="{84905974-26AA-1845-8C01-E86327ED24C4}"/>
              </a:ext>
            </a:extLst>
          </p:cNvPr>
          <p:cNvSpPr>
            <a:spLocks noChangeShapeType="1"/>
          </p:cNvSpPr>
          <p:nvPr userDrawn="1"/>
        </p:nvSpPr>
        <p:spPr bwMode="auto">
          <a:xfrm>
            <a:off x="457200" y="6324600"/>
            <a:ext cx="11277600" cy="6815"/>
          </a:xfrm>
          <a:prstGeom prst="line">
            <a:avLst/>
          </a:prstGeom>
          <a:noFill/>
          <a:ln w="19050">
            <a:solidFill>
              <a:srgbClr val="CC99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13" name="Line 1032">
            <a:extLst>
              <a:ext uri="{FF2B5EF4-FFF2-40B4-BE49-F238E27FC236}">
                <a16:creationId xmlns:a16="http://schemas.microsoft.com/office/drawing/2014/main" xmlns="" id="{84905974-26AA-1845-8C01-E86327ED24C4}"/>
              </a:ext>
            </a:extLst>
          </p:cNvPr>
          <p:cNvSpPr>
            <a:spLocks noChangeShapeType="1"/>
          </p:cNvSpPr>
          <p:nvPr userDrawn="1"/>
        </p:nvSpPr>
        <p:spPr bwMode="auto">
          <a:xfrm>
            <a:off x="457200" y="914400"/>
            <a:ext cx="11277600" cy="6815"/>
          </a:xfrm>
          <a:prstGeom prst="line">
            <a:avLst/>
          </a:prstGeom>
          <a:noFill/>
          <a:ln w="19050">
            <a:solidFill>
              <a:srgbClr val="CC99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749247741"/>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6587842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0223886"/>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smtClean="0"/>
              <a:t>单击此处编辑母版标题样式</a:t>
            </a:r>
            <a:endParaRPr lang="zh-CN" altLang="en-US" dirty="0"/>
          </a:p>
        </p:txBody>
      </p:sp>
      <p:sp>
        <p:nvSpPr>
          <p:cNvPr id="8"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smtClean="0"/>
              <a:t>编辑母版文本样式</a:t>
            </a:r>
          </a:p>
          <a:p>
            <a:pPr lvl="1"/>
            <a:r>
              <a:rPr lang="zh-CN" altLang="en-US" dirty="0" smtClean="0"/>
              <a:t>第二级</a:t>
            </a:r>
          </a:p>
        </p:txBody>
      </p:sp>
    </p:spTree>
    <p:extLst>
      <p:ext uri="{BB962C8B-B14F-4D97-AF65-F5344CB8AC3E}">
        <p14:creationId xmlns:p14="http://schemas.microsoft.com/office/powerpoint/2010/main" val="91524283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Lst>
  <p:hf hdr="0"/>
  <p:txStyles>
    <p:titleStyle>
      <a:lvl1pPr algn="l" defTabSz="914400" rtl="0" eaLnBrk="1" latinLnBrk="0" hangingPunct="1">
        <a:lnSpc>
          <a:spcPct val="90000"/>
        </a:lnSpc>
        <a:spcBef>
          <a:spcPct val="0"/>
        </a:spcBef>
        <a:buNone/>
        <a:defRPr sz="4400" kern="1200">
          <a:solidFill>
            <a:srgbClr val="01559D"/>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100000"/>
        </a:lnSpc>
        <a:spcBef>
          <a:spcPts val="1000"/>
        </a:spcBef>
        <a:buClr>
          <a:srgbClr val="CEA524"/>
        </a:buClr>
        <a:buFont typeface="Wingdings" panose="05000000000000000000" pitchFamily="2" charset="2"/>
        <a:buChar char="q"/>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1559D"/>
        </a:buClr>
        <a:buSzPct val="97000"/>
        <a:buFont typeface="Wingdings" panose="05000000000000000000" pitchFamily="2" charset="2"/>
        <a:buChar char="Ø"/>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zgmeng@hust.edu.cn" TargetMode="External"/><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4.wmf"/></Relationships>
</file>

<file path=ppt/slides/_rels/slide2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1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4.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290.png"/></Relationships>
</file>

<file path=ppt/slides/_rels/slide39.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4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image" Target="../media/image35.em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44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52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1.png"/></Relationships>
</file>

<file path=ppt/slides/_rels/slide58.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48.png"/><Relationship Id="rId7" Type="http://schemas.openxmlformats.org/officeDocument/2006/relationships/image" Target="../media/image57.png"/><Relationship Id="rId2"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56.png"/><Relationship Id="rId11" Type="http://schemas.openxmlformats.org/officeDocument/2006/relationships/image" Target="../media/image61.png"/><Relationship Id="rId5" Type="http://schemas.openxmlformats.org/officeDocument/2006/relationships/image" Target="../media/image55.png"/><Relationship Id="rId10" Type="http://schemas.openxmlformats.org/officeDocument/2006/relationships/image" Target="../media/image60.png"/><Relationship Id="rId4" Type="http://schemas.openxmlformats.org/officeDocument/2006/relationships/image" Target="../media/image54.png"/><Relationship Id="rId9" Type="http://schemas.openxmlformats.org/officeDocument/2006/relationships/image" Target="../media/image59.png"/></Relationships>
</file>

<file path=ppt/slides/_rels/slide5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65.png"/><Relationship Id="rId4" Type="http://schemas.openxmlformats.org/officeDocument/2006/relationships/image" Target="../media/image64.wmf"/></Relationships>
</file>

<file path=ppt/slides/_rels/slide61.xml.rels><?xml version="1.0" encoding="UTF-8" standalone="yes"?>
<Relationships xmlns="http://schemas.openxmlformats.org/package/2006/relationships"><Relationship Id="rId3" Type="http://schemas.openxmlformats.org/officeDocument/2006/relationships/image" Target="../media/image66.emf"/><Relationship Id="rId2" Type="http://schemas.openxmlformats.org/officeDocument/2006/relationships/image" Target="../media/image56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67.emf"/><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image" Target="../media/image72.png"/><Relationship Id="rId7" Type="http://schemas.openxmlformats.org/officeDocument/2006/relationships/image" Target="../media/image69.w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4.bin"/><Relationship Id="rId11" Type="http://schemas.openxmlformats.org/officeDocument/2006/relationships/image" Target="../media/image71.wmf"/><Relationship Id="rId5" Type="http://schemas.openxmlformats.org/officeDocument/2006/relationships/image" Target="../media/image68.wmf"/><Relationship Id="rId10" Type="http://schemas.openxmlformats.org/officeDocument/2006/relationships/oleObject" Target="../embeddings/oleObject6.bin"/><Relationship Id="rId4" Type="http://schemas.openxmlformats.org/officeDocument/2006/relationships/oleObject" Target="../embeddings/oleObject3.bin"/><Relationship Id="rId9" Type="http://schemas.openxmlformats.org/officeDocument/2006/relationships/image" Target="../media/image70.wmf"/></Relationships>
</file>

<file path=ppt/slides/_rels/slide64.xml.rels><?xml version="1.0" encoding="UTF-8" standalone="yes"?>
<Relationships xmlns="http://schemas.openxmlformats.org/package/2006/relationships"><Relationship Id="rId2" Type="http://schemas.openxmlformats.org/officeDocument/2006/relationships/image" Target="../media/image72.emf"/><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73.emf"/><Relationship Id="rId2" Type="http://schemas.openxmlformats.org/officeDocument/2006/relationships/image" Target="../media/image60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image" Target="../media/image63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8" Type="http://schemas.openxmlformats.org/officeDocument/2006/relationships/oleObject" Target="../embeddings/oleObject9.bin"/><Relationship Id="rId13" Type="http://schemas.openxmlformats.org/officeDocument/2006/relationships/image" Target="../media/image81.png"/><Relationship Id="rId3" Type="http://schemas.openxmlformats.org/officeDocument/2006/relationships/image" Target="../media/image75.png"/><Relationship Id="rId7" Type="http://schemas.openxmlformats.org/officeDocument/2006/relationships/image" Target="../media/image76.wmf"/><Relationship Id="rId12" Type="http://schemas.openxmlformats.org/officeDocument/2006/relationships/image" Target="../media/image80.png"/><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8.bin"/><Relationship Id="rId11" Type="http://schemas.openxmlformats.org/officeDocument/2006/relationships/image" Target="../media/image79.png"/><Relationship Id="rId5" Type="http://schemas.openxmlformats.org/officeDocument/2006/relationships/image" Target="../media/image75.wmf"/><Relationship Id="rId15" Type="http://schemas.openxmlformats.org/officeDocument/2006/relationships/image" Target="../media/image83.png"/><Relationship Id="rId10" Type="http://schemas.openxmlformats.org/officeDocument/2006/relationships/image" Target="../media/image78.png"/><Relationship Id="rId4" Type="http://schemas.openxmlformats.org/officeDocument/2006/relationships/oleObject" Target="../embeddings/oleObject7.bin"/><Relationship Id="rId9" Type="http://schemas.openxmlformats.org/officeDocument/2006/relationships/image" Target="../media/image77.png"/><Relationship Id="rId14" Type="http://schemas.openxmlformats.org/officeDocument/2006/relationships/image" Target="../media/image82.png"/></Relationships>
</file>

<file path=ppt/slides/_rels/slide68.xml.rels><?xml version="1.0" encoding="UTF-8" standalone="yes"?>
<Relationships xmlns="http://schemas.openxmlformats.org/package/2006/relationships"><Relationship Id="rId8" Type="http://schemas.openxmlformats.org/officeDocument/2006/relationships/image" Target="../media/image87.png"/><Relationship Id="rId13" Type="http://schemas.openxmlformats.org/officeDocument/2006/relationships/image" Target="../media/image92.png"/><Relationship Id="rId3" Type="http://schemas.openxmlformats.org/officeDocument/2006/relationships/image" Target="../media/image77.png"/><Relationship Id="rId7" Type="http://schemas.openxmlformats.org/officeDocument/2006/relationships/image" Target="../media/image86.png"/><Relationship Id="rId12" Type="http://schemas.openxmlformats.org/officeDocument/2006/relationships/image" Target="../media/image91.png"/><Relationship Id="rId2" Type="http://schemas.openxmlformats.org/officeDocument/2006/relationships/image" Target="../media/image85.png"/><Relationship Id="rId1" Type="http://schemas.openxmlformats.org/officeDocument/2006/relationships/slideLayout" Target="../slideLayouts/slideLayout2.xml"/><Relationship Id="rId6" Type="http://schemas.openxmlformats.org/officeDocument/2006/relationships/image" Target="../media/image84.png"/><Relationship Id="rId11" Type="http://schemas.openxmlformats.org/officeDocument/2006/relationships/image" Target="../media/image90.png"/><Relationship Id="rId5" Type="http://schemas.openxmlformats.org/officeDocument/2006/relationships/image" Target="../media/image79.png"/><Relationship Id="rId10" Type="http://schemas.openxmlformats.org/officeDocument/2006/relationships/image" Target="../media/image89.png"/><Relationship Id="rId4" Type="http://schemas.openxmlformats.org/officeDocument/2006/relationships/image" Target="../media/image81.png"/><Relationship Id="rId9" Type="http://schemas.openxmlformats.org/officeDocument/2006/relationships/image" Target="../media/image88.png"/></Relationships>
</file>

<file path=ppt/slides/_rels/slide69.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93.wmf"/><Relationship Id="rId4" Type="http://schemas.openxmlformats.org/officeDocument/2006/relationships/oleObject" Target="../embeddings/oleObject10.bin"/></Relationships>
</file>

<file path=ppt/slides/_rels/slide70.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8" Type="http://schemas.openxmlformats.org/officeDocument/2006/relationships/oleObject" Target="../embeddings/oleObject13.bin"/><Relationship Id="rId3" Type="http://schemas.openxmlformats.org/officeDocument/2006/relationships/image" Target="../media/image102.png"/><Relationship Id="rId7" Type="http://schemas.openxmlformats.org/officeDocument/2006/relationships/image" Target="../media/image100.wmf"/><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oleObject" Target="../embeddings/oleObject12.bin"/><Relationship Id="rId5" Type="http://schemas.openxmlformats.org/officeDocument/2006/relationships/image" Target="../media/image99.wmf"/><Relationship Id="rId4" Type="http://schemas.openxmlformats.org/officeDocument/2006/relationships/oleObject" Target="../embeddings/oleObject11.bin"/><Relationship Id="rId9" Type="http://schemas.openxmlformats.org/officeDocument/2006/relationships/image" Target="../media/image101.wmf"/></Relationships>
</file>

<file path=ppt/slides/_rels/slide82.xml.rels><?xml version="1.0" encoding="UTF-8" standalone="yes"?>
<Relationships xmlns="http://schemas.openxmlformats.org/package/2006/relationships"><Relationship Id="rId8" Type="http://schemas.openxmlformats.org/officeDocument/2006/relationships/oleObject" Target="../embeddings/oleObject16.bin"/><Relationship Id="rId13" Type="http://schemas.openxmlformats.org/officeDocument/2006/relationships/oleObject" Target="../embeddings/oleObject19.bin"/><Relationship Id="rId18" Type="http://schemas.openxmlformats.org/officeDocument/2006/relationships/oleObject" Target="../embeddings/oleObject22.bin"/><Relationship Id="rId3" Type="http://schemas.openxmlformats.org/officeDocument/2006/relationships/image" Target="../media/image102.png"/><Relationship Id="rId21" Type="http://schemas.openxmlformats.org/officeDocument/2006/relationships/image" Target="../media/image109.wmf"/><Relationship Id="rId7" Type="http://schemas.openxmlformats.org/officeDocument/2006/relationships/image" Target="../media/image103.wmf"/><Relationship Id="rId12" Type="http://schemas.openxmlformats.org/officeDocument/2006/relationships/image" Target="../media/image105.wmf"/><Relationship Id="rId17" Type="http://schemas.openxmlformats.org/officeDocument/2006/relationships/image" Target="../media/image107.wmf"/><Relationship Id="rId2" Type="http://schemas.openxmlformats.org/officeDocument/2006/relationships/slideLayout" Target="../slideLayouts/slideLayout2.xml"/><Relationship Id="rId16" Type="http://schemas.openxmlformats.org/officeDocument/2006/relationships/oleObject" Target="../embeddings/oleObject21.bin"/><Relationship Id="rId20" Type="http://schemas.openxmlformats.org/officeDocument/2006/relationships/oleObject" Target="../embeddings/oleObject23.bin"/><Relationship Id="rId1" Type="http://schemas.openxmlformats.org/officeDocument/2006/relationships/vmlDrawing" Target="../drawings/vmlDrawing7.vml"/><Relationship Id="rId6" Type="http://schemas.openxmlformats.org/officeDocument/2006/relationships/oleObject" Target="../embeddings/oleObject15.bin"/><Relationship Id="rId11" Type="http://schemas.openxmlformats.org/officeDocument/2006/relationships/oleObject" Target="../embeddings/oleObject18.bin"/><Relationship Id="rId5" Type="http://schemas.openxmlformats.org/officeDocument/2006/relationships/image" Target="../media/image99.wmf"/><Relationship Id="rId15" Type="http://schemas.openxmlformats.org/officeDocument/2006/relationships/oleObject" Target="../embeddings/oleObject20.bin"/><Relationship Id="rId10" Type="http://schemas.openxmlformats.org/officeDocument/2006/relationships/oleObject" Target="../embeddings/oleObject17.bin"/><Relationship Id="rId19" Type="http://schemas.openxmlformats.org/officeDocument/2006/relationships/image" Target="../media/image108.wmf"/><Relationship Id="rId4" Type="http://schemas.openxmlformats.org/officeDocument/2006/relationships/oleObject" Target="../embeddings/oleObject14.bin"/><Relationship Id="rId9" Type="http://schemas.openxmlformats.org/officeDocument/2006/relationships/image" Target="../media/image104.wmf"/><Relationship Id="rId14" Type="http://schemas.openxmlformats.org/officeDocument/2006/relationships/image" Target="../media/image106.wmf"/></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111.jpeg"/><Relationship Id="rId2" Type="http://schemas.openxmlformats.org/officeDocument/2006/relationships/image" Target="../media/image110.jpe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112.jpeg"/><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114.png"/></Relationships>
</file>

<file path=ppt/slides/_rels/slide87.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116.jpeg"/></Relationships>
</file>

<file path=ppt/slides/_rels/slide88.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117.jpeg"/><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119.png"/></Relationships>
</file>

<file path=ppt/slides/_rels/slide91.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750.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120.jpeg"/><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122.png"/></Relationships>
</file>

<file path=ppt/slides/_rels/slide94.xml.rels><?xml version="1.0" encoding="UTF-8" standalone="yes"?>
<Relationships xmlns="http://schemas.openxmlformats.org/package/2006/relationships"><Relationship Id="rId3" Type="http://schemas.openxmlformats.org/officeDocument/2006/relationships/image" Target="../media/image123.jpeg"/><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124.png"/></Relationships>
</file>

<file path=ppt/slides/_rels/slide95.xml.rels><?xml version="1.0" encoding="UTF-8" standalone="yes"?>
<Relationships xmlns="http://schemas.openxmlformats.org/package/2006/relationships"><Relationship Id="rId2" Type="http://schemas.openxmlformats.org/officeDocument/2006/relationships/image" Target="../media/image1250.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image" Target="../media/image810.png"/><Relationship Id="rId1" Type="http://schemas.openxmlformats.org/officeDocument/2006/relationships/slideLayout" Target="../slideLayouts/slideLayout2.xml"/><Relationship Id="rId4" Type="http://schemas.openxmlformats.org/officeDocument/2006/relationships/image" Target="../media/image126.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127.emf"/><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128.jpe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image" Target="../media/image128.jpeg"/><Relationship Id="rId1" Type="http://schemas.openxmlformats.org/officeDocument/2006/relationships/slideLayout" Target="../slideLayouts/slideLayout2.xml"/><Relationship Id="rId4" Type="http://schemas.openxmlformats.org/officeDocument/2006/relationships/image" Target="../media/image130.png"/></Relationships>
</file>

<file path=ppt/slides/_rels/slide101.xml.rels><?xml version="1.0" encoding="UTF-8" standalone="yes"?>
<Relationships xmlns="http://schemas.openxmlformats.org/package/2006/relationships"><Relationship Id="rId3" Type="http://schemas.openxmlformats.org/officeDocument/2006/relationships/image" Target="../media/image131.jpeg"/><Relationship Id="rId2" Type="http://schemas.openxmlformats.org/officeDocument/2006/relationships/image" Target="../media/image880.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131.jpeg"/><Relationship Id="rId2" Type="http://schemas.openxmlformats.org/officeDocument/2006/relationships/image" Target="../media/image900.png"/><Relationship Id="rId1" Type="http://schemas.openxmlformats.org/officeDocument/2006/relationships/slideLayout" Target="../slideLayouts/slideLayout2.xml"/><Relationship Id="rId5" Type="http://schemas.openxmlformats.org/officeDocument/2006/relationships/image" Target="../media/image133.emf"/><Relationship Id="rId4" Type="http://schemas.openxmlformats.org/officeDocument/2006/relationships/image" Target="../media/image132.emf"/></Relationships>
</file>

<file path=ppt/slides/_rels/slide103.xml.rels><?xml version="1.0" encoding="UTF-8" standalone="yes"?>
<Relationships xmlns="http://schemas.openxmlformats.org/package/2006/relationships"><Relationship Id="rId3" Type="http://schemas.openxmlformats.org/officeDocument/2006/relationships/image" Target="../media/image131.jpeg"/><Relationship Id="rId2" Type="http://schemas.openxmlformats.org/officeDocument/2006/relationships/image" Target="../media/image930.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135.wmf"/><Relationship Id="rId4" Type="http://schemas.openxmlformats.org/officeDocument/2006/relationships/oleObject" Target="../embeddings/oleObject24.bin"/></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941.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136.jpe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780.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137.jpe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1011.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39.emf"/><Relationship Id="rId2" Type="http://schemas.openxmlformats.org/officeDocument/2006/relationships/image" Target="../media/image138.emf"/><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140.emf"/><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141.emf"/><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142.emf"/><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143.emf"/><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144.emf"/><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146.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140.emf"/><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147.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920.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45.emf"/><Relationship Id="rId2" Type="http://schemas.openxmlformats.org/officeDocument/2006/relationships/image" Target="../media/image951.png"/><Relationship Id="rId1" Type="http://schemas.openxmlformats.org/officeDocument/2006/relationships/slideLayout" Target="../slideLayouts/slideLayout2.xml"/><Relationship Id="rId5" Type="http://schemas.openxmlformats.org/officeDocument/2006/relationships/image" Target="../media/image141.emf"/><Relationship Id="rId4" Type="http://schemas.openxmlformats.org/officeDocument/2006/relationships/image" Target="../media/image142.emf"/></Relationships>
</file>

<file path=ppt/slides/_rels/slide127.xml.rels><?xml version="1.0" encoding="UTF-8" standalone="yes"?>
<Relationships xmlns="http://schemas.openxmlformats.org/package/2006/relationships"><Relationship Id="rId3" Type="http://schemas.openxmlformats.org/officeDocument/2006/relationships/image" Target="../media/image143.emf"/><Relationship Id="rId2" Type="http://schemas.openxmlformats.org/officeDocument/2006/relationships/image" Target="../media/image1140.png"/><Relationship Id="rId1" Type="http://schemas.openxmlformats.org/officeDocument/2006/relationships/slideLayout" Target="../slideLayouts/slideLayout2.xml"/><Relationship Id="rId4" Type="http://schemas.openxmlformats.org/officeDocument/2006/relationships/image" Target="../media/image144.emf"/></Relationships>
</file>

<file path=ppt/slides/_rels/slide128.xml.rels><?xml version="1.0" encoding="UTF-8" standalone="yes"?>
<Relationships xmlns="http://schemas.openxmlformats.org/package/2006/relationships"><Relationship Id="rId2" Type="http://schemas.openxmlformats.org/officeDocument/2006/relationships/image" Target="../media/image145.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145.emf"/><Relationship Id="rId2" Type="http://schemas.openxmlformats.org/officeDocument/2006/relationships/image" Target="../media/image1010.png"/><Relationship Id="rId1" Type="http://schemas.openxmlformats.org/officeDocument/2006/relationships/slideLayout" Target="../slideLayouts/slideLayout2.xml"/><Relationship Id="rId5" Type="http://schemas.openxmlformats.org/officeDocument/2006/relationships/image" Target="../media/image141.emf"/><Relationship Id="rId4" Type="http://schemas.openxmlformats.org/officeDocument/2006/relationships/image" Target="../media/image142.emf"/></Relationships>
</file>

<file path=ppt/slides/_rels/slide130.xml.rels><?xml version="1.0" encoding="UTF-8" standalone="yes"?>
<Relationships xmlns="http://schemas.openxmlformats.org/package/2006/relationships"><Relationship Id="rId3" Type="http://schemas.openxmlformats.org/officeDocument/2006/relationships/image" Target="../media/image143.emf"/><Relationship Id="rId2" Type="http://schemas.openxmlformats.org/officeDocument/2006/relationships/image" Target="../media/image1160.png"/><Relationship Id="rId1" Type="http://schemas.openxmlformats.org/officeDocument/2006/relationships/slideLayout" Target="../slideLayouts/slideLayout2.xml"/><Relationship Id="rId4" Type="http://schemas.openxmlformats.org/officeDocument/2006/relationships/image" Target="../media/image144.emf"/></Relationships>
</file>

<file path=ppt/slides/_rels/slide131.xml.rels><?xml version="1.0" encoding="UTF-8" standalone="yes"?>
<Relationships xmlns="http://schemas.openxmlformats.org/package/2006/relationships"><Relationship Id="rId3" Type="http://schemas.openxmlformats.org/officeDocument/2006/relationships/image" Target="../media/image145.emf"/><Relationship Id="rId2" Type="http://schemas.openxmlformats.org/officeDocument/2006/relationships/image" Target="../media/image149.png"/><Relationship Id="rId1" Type="http://schemas.openxmlformats.org/officeDocument/2006/relationships/slideLayout" Target="../slideLayouts/slideLayout2.xml"/><Relationship Id="rId4" Type="http://schemas.openxmlformats.org/officeDocument/2006/relationships/image" Target="../media/image104.png"/></Relationships>
</file>

<file path=ppt/slides/_rels/slide132.xml.rels><?xml version="1.0" encoding="UTF-8" standalone="yes"?>
<Relationships xmlns="http://schemas.openxmlformats.org/package/2006/relationships"><Relationship Id="rId2" Type="http://schemas.openxmlformats.org/officeDocument/2006/relationships/image" Target="../media/image148.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146.jpe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151.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147.wmf"/><Relationship Id="rId4" Type="http://schemas.openxmlformats.org/officeDocument/2006/relationships/oleObject" Target="../embeddings/oleObject25.bin"/></Relationships>
</file>

<file path=ppt/slides/_rels/slide139.xml.rels><?xml version="1.0" encoding="UTF-8" standalone="yes"?>
<Relationships xmlns="http://schemas.openxmlformats.org/package/2006/relationships"><Relationship Id="rId2" Type="http://schemas.openxmlformats.org/officeDocument/2006/relationships/image" Target="../media/image152.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153.emf"/><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154.emf"/><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990.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890.pn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slideLayout" Target="../slideLayouts/slideLayout2.xml"/><Relationship Id="rId1" Type="http://schemas.openxmlformats.org/officeDocument/2006/relationships/tags" Target="../tags/tag8.xml"/><Relationship Id="rId5" Type="http://schemas.openxmlformats.org/officeDocument/2006/relationships/image" Target="../media/image115.png"/><Relationship Id="rId4" Type="http://schemas.openxmlformats.org/officeDocument/2006/relationships/image" Target="../media/image155.jpeg"/></Relationships>
</file>

<file path=ppt/slides/_rels/slide148.xml.rels><?xml version="1.0" encoding="UTF-8" standalone="yes"?>
<Relationships xmlns="http://schemas.openxmlformats.org/package/2006/relationships"><Relationship Id="rId3" Type="http://schemas.openxmlformats.org/officeDocument/2006/relationships/image" Target="../media/image1020.png"/><Relationship Id="rId2" Type="http://schemas.openxmlformats.org/officeDocument/2006/relationships/slideLayout" Target="../slideLayouts/slideLayout2.xml"/><Relationship Id="rId1" Type="http://schemas.openxmlformats.org/officeDocument/2006/relationships/tags" Target="../tags/tag9.xml"/><Relationship Id="rId5" Type="http://schemas.openxmlformats.org/officeDocument/2006/relationships/image" Target="../media/image155.jpeg"/><Relationship Id="rId4" Type="http://schemas.openxmlformats.org/officeDocument/2006/relationships/image" Target="../media/image156.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158.jpeg"/><Relationship Id="rId2" Type="http://schemas.openxmlformats.org/officeDocument/2006/relationships/image" Target="../media/image157.jpeg"/><Relationship Id="rId1" Type="http://schemas.openxmlformats.org/officeDocument/2006/relationships/slideLayout" Target="../slideLayouts/slideLayout2.xml"/><Relationship Id="rId4" Type="http://schemas.openxmlformats.org/officeDocument/2006/relationships/image" Target="../media/image159.jpe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image" Target="../media/image160.jpe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image" Target="../media/image161.jpeg"/><Relationship Id="rId2" Type="http://schemas.openxmlformats.org/officeDocument/2006/relationships/image" Target="../media/image144.pn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image" Target="../media/image161.jpe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image" Target="../media/image161.jpeg"/><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image" Target="../media/image159.jpe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image" Target="../media/image163.emf"/><Relationship Id="rId2" Type="http://schemas.openxmlformats.org/officeDocument/2006/relationships/image" Target="../media/image162.emf"/><Relationship Id="rId1" Type="http://schemas.openxmlformats.org/officeDocument/2006/relationships/slideLayout" Target="../slideLayouts/slideLayout2.xml"/><Relationship Id="rId4" Type="http://schemas.openxmlformats.org/officeDocument/2006/relationships/image" Target="../media/image164.emf"/></Relationships>
</file>

<file path=ppt/slides/_rels/slide161.xml.rels><?xml version="1.0" encoding="UTF-8" standalone="yes"?>
<Relationships xmlns="http://schemas.openxmlformats.org/package/2006/relationships"><Relationship Id="rId3" Type="http://schemas.openxmlformats.org/officeDocument/2006/relationships/image" Target="../media/image164.emf"/><Relationship Id="rId2" Type="http://schemas.openxmlformats.org/officeDocument/2006/relationships/image" Target="../media/image162.emf"/><Relationship Id="rId1" Type="http://schemas.openxmlformats.org/officeDocument/2006/relationships/slideLayout" Target="../slideLayouts/slideLayout2.xml"/><Relationship Id="rId5" Type="http://schemas.openxmlformats.org/officeDocument/2006/relationships/image" Target="../media/image165.emf"/><Relationship Id="rId4" Type="http://schemas.openxmlformats.org/officeDocument/2006/relationships/image" Target="../media/image163.emf"/></Relationships>
</file>

<file path=ppt/slides/_rels/slide162.xml.rels><?xml version="1.0" encoding="UTF-8" standalone="yes"?>
<Relationships xmlns="http://schemas.openxmlformats.org/package/2006/relationships"><Relationship Id="rId2" Type="http://schemas.openxmlformats.org/officeDocument/2006/relationships/image" Target="../media/image159.jpeg"/><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image" Target="../media/image166.jpeg"/><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3" Type="http://schemas.openxmlformats.org/officeDocument/2006/relationships/image" Target="../media/image168.jpeg"/><Relationship Id="rId2" Type="http://schemas.openxmlformats.org/officeDocument/2006/relationships/image" Target="../media/image167.jpeg"/><Relationship Id="rId1" Type="http://schemas.openxmlformats.org/officeDocument/2006/relationships/slideLayout" Target="../slideLayouts/slideLayout2.xml"/><Relationship Id="rId4" Type="http://schemas.openxmlformats.org/officeDocument/2006/relationships/image" Target="../media/image169.jpeg"/></Relationships>
</file>

<file path=ppt/slides/_rels/slide166.xml.rels><?xml version="1.0" encoding="UTF-8" standalone="yes"?>
<Relationships xmlns="http://schemas.openxmlformats.org/package/2006/relationships"><Relationship Id="rId2" Type="http://schemas.openxmlformats.org/officeDocument/2006/relationships/image" Target="../media/image171.png"/><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3" Type="http://schemas.openxmlformats.org/officeDocument/2006/relationships/image" Target="../media/image171.emf"/><Relationship Id="rId2" Type="http://schemas.openxmlformats.org/officeDocument/2006/relationships/image" Target="../media/image170.emf"/><Relationship Id="rId1" Type="http://schemas.openxmlformats.org/officeDocument/2006/relationships/slideLayout" Target="../slideLayouts/slideLayout2.xml"/><Relationship Id="rId4" Type="http://schemas.openxmlformats.org/officeDocument/2006/relationships/image" Target="../media/image172.emf"/></Relationships>
</file>

<file path=ppt/slides/_rels/slide168.xml.rels><?xml version="1.0" encoding="UTF-8" standalone="yes"?>
<Relationships xmlns="http://schemas.openxmlformats.org/package/2006/relationships"><Relationship Id="rId2" Type="http://schemas.openxmlformats.org/officeDocument/2006/relationships/image" Target="../media/image160.jpeg"/><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3" Type="http://schemas.openxmlformats.org/officeDocument/2006/relationships/image" Target="../media/image174.emf"/><Relationship Id="rId2" Type="http://schemas.openxmlformats.org/officeDocument/2006/relationships/image" Target="../media/image173.emf"/><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3" Type="http://schemas.openxmlformats.org/officeDocument/2006/relationships/image" Target="../media/image176.jpeg"/><Relationship Id="rId2" Type="http://schemas.openxmlformats.org/officeDocument/2006/relationships/image" Target="../media/image175.jpeg"/><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3" Type="http://schemas.openxmlformats.org/officeDocument/2006/relationships/image" Target="../media/image177.emf"/><Relationship Id="rId2" Type="http://schemas.openxmlformats.org/officeDocument/2006/relationships/image" Target="../media/image1210.png"/><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image" Target="../media/image178.emf"/><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image" Target="../media/image179.emf"/><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image" Target="../media/image179.emf"/><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3" Type="http://schemas.openxmlformats.org/officeDocument/2006/relationships/image" Target="../media/image180.emf"/><Relationship Id="rId2" Type="http://schemas.openxmlformats.org/officeDocument/2006/relationships/image" Target="../media/image1530.png"/><Relationship Id="rId1" Type="http://schemas.openxmlformats.org/officeDocument/2006/relationships/slideLayout" Target="../slideLayouts/slideLayout2.xml"/><Relationship Id="rId4" Type="http://schemas.openxmlformats.org/officeDocument/2006/relationships/image" Target="../media/image181.emf"/></Relationships>
</file>

<file path=ppt/slides/_rels/slide180.xml.rels><?xml version="1.0" encoding="UTF-8" standalone="yes"?>
<Relationships xmlns="http://schemas.openxmlformats.org/package/2006/relationships"><Relationship Id="rId3" Type="http://schemas.openxmlformats.org/officeDocument/2006/relationships/image" Target="../media/image182.emf"/><Relationship Id="rId2" Type="http://schemas.openxmlformats.org/officeDocument/2006/relationships/image" Target="../media/image1560.png"/><Relationship Id="rId1" Type="http://schemas.openxmlformats.org/officeDocument/2006/relationships/slideLayout" Target="../slideLayouts/slideLayout2.xml"/><Relationship Id="rId4" Type="http://schemas.openxmlformats.org/officeDocument/2006/relationships/image" Target="../media/image183.emf"/></Relationships>
</file>

<file path=ppt/slides/_rels/slide181.xml.rels><?xml version="1.0" encoding="UTF-8" standalone="yes"?>
<Relationships xmlns="http://schemas.openxmlformats.org/package/2006/relationships"><Relationship Id="rId3" Type="http://schemas.openxmlformats.org/officeDocument/2006/relationships/image" Target="../media/image184.emf"/><Relationship Id="rId2" Type="http://schemas.openxmlformats.org/officeDocument/2006/relationships/image" Target="../media/image940.png"/><Relationship Id="rId1" Type="http://schemas.openxmlformats.org/officeDocument/2006/relationships/slideLayout" Target="../slideLayouts/slideLayout2.xml"/><Relationship Id="rId5" Type="http://schemas.openxmlformats.org/officeDocument/2006/relationships/image" Target="../media/image186.emf"/><Relationship Id="rId4" Type="http://schemas.openxmlformats.org/officeDocument/2006/relationships/image" Target="../media/image185.emf"/></Relationships>
</file>

<file path=ppt/slides/_rels/slide182.xml.rels><?xml version="1.0" encoding="UTF-8" standalone="yes"?>
<Relationships xmlns="http://schemas.openxmlformats.org/package/2006/relationships"><Relationship Id="rId3" Type="http://schemas.openxmlformats.org/officeDocument/2006/relationships/image" Target="../media/image187.emf"/><Relationship Id="rId2" Type="http://schemas.openxmlformats.org/officeDocument/2006/relationships/image" Target="../media/image970.png"/><Relationship Id="rId1" Type="http://schemas.openxmlformats.org/officeDocument/2006/relationships/slideLayout" Target="../slideLayouts/slideLayout2.xml"/><Relationship Id="rId4" Type="http://schemas.openxmlformats.org/officeDocument/2006/relationships/image" Target="../media/image188.emf"/></Relationships>
</file>

<file path=ppt/slides/_rels/slide183.xml.rels><?xml version="1.0" encoding="UTF-8" standalone="yes"?>
<Relationships xmlns="http://schemas.openxmlformats.org/package/2006/relationships"><Relationship Id="rId2" Type="http://schemas.openxmlformats.org/officeDocument/2006/relationships/image" Target="../media/image1080.png"/><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image" Target="../media/image189.emf"/><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image" Target="../media/image189.emf"/><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8" Type="http://schemas.openxmlformats.org/officeDocument/2006/relationships/image" Target="../media/image195.png"/><Relationship Id="rId3" Type="http://schemas.openxmlformats.org/officeDocument/2006/relationships/image" Target="../media/image190.png"/><Relationship Id="rId7" Type="http://schemas.openxmlformats.org/officeDocument/2006/relationships/image" Target="../media/image194.png"/><Relationship Id="rId2" Type="http://schemas.openxmlformats.org/officeDocument/2006/relationships/image" Target="../media/image164.png"/><Relationship Id="rId1" Type="http://schemas.openxmlformats.org/officeDocument/2006/relationships/slideLayout" Target="../slideLayouts/slideLayout2.xml"/><Relationship Id="rId6" Type="http://schemas.openxmlformats.org/officeDocument/2006/relationships/image" Target="../media/image193.png"/><Relationship Id="rId5" Type="http://schemas.openxmlformats.org/officeDocument/2006/relationships/image" Target="../media/image192.png"/><Relationship Id="rId4" Type="http://schemas.openxmlformats.org/officeDocument/2006/relationships/image" Target="../media/image191.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3" Type="http://schemas.openxmlformats.org/officeDocument/2006/relationships/image" Target="../media/image196.emf"/><Relationship Id="rId2" Type="http://schemas.openxmlformats.org/officeDocument/2006/relationships/image" Target="../media/image1710.png"/><Relationship Id="rId1" Type="http://schemas.openxmlformats.org/officeDocument/2006/relationships/slideLayout" Target="../slideLayouts/slideLayout2.xml"/><Relationship Id="rId4" Type="http://schemas.openxmlformats.org/officeDocument/2006/relationships/image" Target="../media/image197.emf"/></Relationships>
</file>

<file path=ppt/slides/_rels/slide192.xml.rels><?xml version="1.0" encoding="UTF-8" standalone="yes"?>
<Relationships xmlns="http://schemas.openxmlformats.org/package/2006/relationships"><Relationship Id="rId3" Type="http://schemas.openxmlformats.org/officeDocument/2006/relationships/image" Target="../media/image198.emf"/><Relationship Id="rId2" Type="http://schemas.openxmlformats.org/officeDocument/2006/relationships/image" Target="../media/image1740.png"/><Relationship Id="rId1" Type="http://schemas.openxmlformats.org/officeDocument/2006/relationships/slideLayout" Target="../slideLayouts/slideLayout2.xml"/><Relationship Id="rId4" Type="http://schemas.openxmlformats.org/officeDocument/2006/relationships/image" Target="../media/image199.emf"/></Relationships>
</file>

<file path=ppt/slides/_rels/slide193.xml.rels><?xml version="1.0" encoding="UTF-8" standalone="yes"?>
<Relationships xmlns="http://schemas.openxmlformats.org/package/2006/relationships"><Relationship Id="rId3" Type="http://schemas.openxmlformats.org/officeDocument/2006/relationships/image" Target="../media/image200.emf"/><Relationship Id="rId2" Type="http://schemas.openxmlformats.org/officeDocument/2006/relationships/image" Target="../media/image1770.png"/><Relationship Id="rId1" Type="http://schemas.openxmlformats.org/officeDocument/2006/relationships/slideLayout" Target="../slideLayouts/slideLayout2.xml"/><Relationship Id="rId4" Type="http://schemas.openxmlformats.org/officeDocument/2006/relationships/image" Target="../media/image201.emf"/></Relationships>
</file>

<file path=ppt/slides/_rels/slide194.xml.rels><?xml version="1.0" encoding="UTF-8" standalone="yes"?>
<Relationships xmlns="http://schemas.openxmlformats.org/package/2006/relationships"><Relationship Id="rId3" Type="http://schemas.openxmlformats.org/officeDocument/2006/relationships/image" Target="../media/image201.emf"/><Relationship Id="rId2" Type="http://schemas.openxmlformats.org/officeDocument/2006/relationships/image" Target="../media/image200.emf"/><Relationship Id="rId1" Type="http://schemas.openxmlformats.org/officeDocument/2006/relationships/slideLayout" Target="../slideLayouts/slideLayout2.xml"/><Relationship Id="rId4" Type="http://schemas.openxmlformats.org/officeDocument/2006/relationships/image" Target="../media/image202.emf"/></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3" Type="http://schemas.openxmlformats.org/officeDocument/2006/relationships/image" Target="../media/image204.emf"/><Relationship Id="rId2" Type="http://schemas.openxmlformats.org/officeDocument/2006/relationships/image" Target="../media/image203.emf"/><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2" Type="http://schemas.openxmlformats.org/officeDocument/2006/relationships/image" Target="../media/image205.emf"/><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3" Type="http://schemas.openxmlformats.org/officeDocument/2006/relationships/image" Target="../media/image206.png"/><Relationship Id="rId2" Type="http://schemas.openxmlformats.org/officeDocument/2006/relationships/image" Target="../media/image1900.png"/><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2" Type="http://schemas.openxmlformats.org/officeDocument/2006/relationships/image" Target="../media/image184.png"/><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2" Type="http://schemas.openxmlformats.org/officeDocument/2006/relationships/image" Target="../media/image1580.png"/><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2" Type="http://schemas.openxmlformats.org/officeDocument/2006/relationships/image" Target="../media/image1860.png"/><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3" Type="http://schemas.openxmlformats.org/officeDocument/2006/relationships/image" Target="../media/image208.emf"/><Relationship Id="rId2" Type="http://schemas.openxmlformats.org/officeDocument/2006/relationships/image" Target="../media/image207.emf"/><Relationship Id="rId1" Type="http://schemas.openxmlformats.org/officeDocument/2006/relationships/slideLayout" Target="../slideLayouts/slideLayout2.xml"/><Relationship Id="rId4" Type="http://schemas.openxmlformats.org/officeDocument/2006/relationships/image" Target="../media/image209.emf"/></Relationships>
</file>

<file path=ppt/slides/_rels/slide204.xml.rels><?xml version="1.0" encoding="UTF-8" standalone="yes"?>
<Relationships xmlns="http://schemas.openxmlformats.org/package/2006/relationships"><Relationship Id="rId2" Type="http://schemas.openxmlformats.org/officeDocument/2006/relationships/image" Target="../media/image1950.png"/><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3" Type="http://schemas.openxmlformats.org/officeDocument/2006/relationships/image" Target="../media/image210.emf"/><Relationship Id="rId2" Type="http://schemas.openxmlformats.org/officeDocument/2006/relationships/image" Target="../media/image1590.png"/><Relationship Id="rId1" Type="http://schemas.openxmlformats.org/officeDocument/2006/relationships/slideLayout" Target="../slideLayouts/slideLayout2.xml"/><Relationship Id="rId5" Type="http://schemas.openxmlformats.org/officeDocument/2006/relationships/image" Target="../media/image212.emf"/><Relationship Id="rId4" Type="http://schemas.openxmlformats.org/officeDocument/2006/relationships/image" Target="../media/image211.emf"/></Relationships>
</file>

<file path=ppt/slides/_rels/slide206.xml.rels><?xml version="1.0" encoding="UTF-8" standalone="yes"?>
<Relationships xmlns="http://schemas.openxmlformats.org/package/2006/relationships"><Relationship Id="rId3" Type="http://schemas.openxmlformats.org/officeDocument/2006/relationships/image" Target="../media/image213.emf"/><Relationship Id="rId2" Type="http://schemas.openxmlformats.org/officeDocument/2006/relationships/image" Target="../media/image163.png"/><Relationship Id="rId1" Type="http://schemas.openxmlformats.org/officeDocument/2006/relationships/slideLayout" Target="../slideLayouts/slideLayout2.xml"/><Relationship Id="rId4" Type="http://schemas.openxmlformats.org/officeDocument/2006/relationships/image" Target="../media/image214.emf"/></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3" Type="http://schemas.openxmlformats.org/officeDocument/2006/relationships/image" Target="../media/image216.emf"/><Relationship Id="rId2" Type="http://schemas.openxmlformats.org/officeDocument/2006/relationships/image" Target="../media/image215.emf"/><Relationship Id="rId1" Type="http://schemas.openxmlformats.org/officeDocument/2006/relationships/slideLayout" Target="../slideLayouts/slideLayout2.xml"/><Relationship Id="rId5" Type="http://schemas.openxmlformats.org/officeDocument/2006/relationships/image" Target="../media/image218.emf"/><Relationship Id="rId4" Type="http://schemas.openxmlformats.org/officeDocument/2006/relationships/image" Target="../media/image217.emf"/></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3" Type="http://schemas.openxmlformats.org/officeDocument/2006/relationships/image" Target="../media/image220.emf"/><Relationship Id="rId2" Type="http://schemas.openxmlformats.org/officeDocument/2006/relationships/image" Target="../media/image219.emf"/><Relationship Id="rId1" Type="http://schemas.openxmlformats.org/officeDocument/2006/relationships/slideLayout" Target="../slideLayouts/slideLayout2.xml"/><Relationship Id="rId5" Type="http://schemas.openxmlformats.org/officeDocument/2006/relationships/image" Target="../media/image222.emf"/><Relationship Id="rId4" Type="http://schemas.openxmlformats.org/officeDocument/2006/relationships/image" Target="../media/image221.emf"/></Relationships>
</file>

<file path=ppt/slides/_rels/slide212.xml.rels><?xml version="1.0" encoding="UTF-8" standalone="yes"?>
<Relationships xmlns="http://schemas.openxmlformats.org/package/2006/relationships"><Relationship Id="rId2" Type="http://schemas.openxmlformats.org/officeDocument/2006/relationships/image" Target="../media/image207.png"/><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2" Type="http://schemas.openxmlformats.org/officeDocument/2006/relationships/image" Target="../media/image223.jpg"/><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3" Type="http://schemas.openxmlformats.org/officeDocument/2006/relationships/image" Target="../media/image225.emf"/><Relationship Id="rId2" Type="http://schemas.openxmlformats.org/officeDocument/2006/relationships/image" Target="../media/image224.emf"/><Relationship Id="rId1" Type="http://schemas.openxmlformats.org/officeDocument/2006/relationships/slideLayout" Target="../slideLayouts/slideLayout2.xml"/><Relationship Id="rId4" Type="http://schemas.openxmlformats.org/officeDocument/2006/relationships/image" Target="../media/image226.emf"/></Relationships>
</file>

<file path=ppt/slides/_rels/slide215.xml.rels><?xml version="1.0" encoding="UTF-8" standalone="yes"?>
<Relationships xmlns="http://schemas.openxmlformats.org/package/2006/relationships"><Relationship Id="rId2" Type="http://schemas.openxmlformats.org/officeDocument/2006/relationships/image" Target="../media/image227.emf"/><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3" Type="http://schemas.openxmlformats.org/officeDocument/2006/relationships/image" Target="../media/image228.emf"/><Relationship Id="rId2" Type="http://schemas.openxmlformats.org/officeDocument/2006/relationships/image" Target="../media/image212.png"/><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3" Type="http://schemas.openxmlformats.org/officeDocument/2006/relationships/image" Target="../media/image229.emf"/><Relationship Id="rId2" Type="http://schemas.openxmlformats.org/officeDocument/2006/relationships/image" Target="../media/image214.png"/><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3" Type="http://schemas.openxmlformats.org/officeDocument/2006/relationships/image" Target="../media/image230.emf"/><Relationship Id="rId2" Type="http://schemas.openxmlformats.org/officeDocument/2006/relationships/image" Target="../media/image1790.png"/><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3" Type="http://schemas.openxmlformats.org/officeDocument/2006/relationships/image" Target="../media/image231.emf"/><Relationship Id="rId2" Type="http://schemas.openxmlformats.org/officeDocument/2006/relationships/image" Target="../media/image181.png"/><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3" Type="http://schemas.openxmlformats.org/officeDocument/2006/relationships/image" Target="../media/image233.emf"/><Relationship Id="rId2" Type="http://schemas.openxmlformats.org/officeDocument/2006/relationships/image" Target="../media/image232.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标题 1"/>
          <p:cNvSpPr txBox="1">
            <a:spLocks/>
          </p:cNvSpPr>
          <p:nvPr/>
        </p:nvSpPr>
        <p:spPr>
          <a:xfrm>
            <a:off x="1752600" y="762000"/>
            <a:ext cx="8211312"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b="1" dirty="0" smtClean="0">
                <a:solidFill>
                  <a:srgbClr val="C55A11"/>
                </a:solidFill>
                <a:latin typeface="微软雅黑" panose="020B0503020204020204" pitchFamily="34" charset="-122"/>
                <a:ea typeface="微软雅黑" panose="020B0503020204020204" pitchFamily="34" charset="-122"/>
              </a:rPr>
              <a:t>第</a:t>
            </a:r>
            <a:r>
              <a:rPr lang="en-US" altLang="zh-CN" b="1" dirty="0">
                <a:solidFill>
                  <a:srgbClr val="C55A11"/>
                </a:solidFill>
                <a:latin typeface="微软雅黑" panose="020B0503020204020204" pitchFamily="34" charset="-122"/>
                <a:ea typeface="微软雅黑" panose="020B0503020204020204" pitchFamily="34" charset="-122"/>
              </a:rPr>
              <a:t>4</a:t>
            </a:r>
            <a:r>
              <a:rPr lang="zh-CN" altLang="en-US" b="1" dirty="0" smtClean="0">
                <a:solidFill>
                  <a:srgbClr val="C55A11"/>
                </a:solidFill>
                <a:latin typeface="微软雅黑" panose="020B0503020204020204" pitchFamily="34" charset="-122"/>
                <a:ea typeface="微软雅黑" panose="020B0503020204020204" pitchFamily="34" charset="-122"/>
              </a:rPr>
              <a:t>章 图</a:t>
            </a:r>
            <a:endParaRPr lang="zh-CN" altLang="en-US" b="1" dirty="0">
              <a:solidFill>
                <a:srgbClr val="C55A11"/>
              </a:solidFill>
              <a:latin typeface="微软雅黑" panose="020B0503020204020204" pitchFamily="34" charset="-122"/>
              <a:ea typeface="微软雅黑" panose="020B0503020204020204" pitchFamily="34" charset="-122"/>
            </a:endParaRPr>
          </a:p>
        </p:txBody>
      </p:sp>
      <p:sp>
        <p:nvSpPr>
          <p:cNvPr id="4" name="矩形 1"/>
          <p:cNvSpPr>
            <a:spLocks noChangeArrowheads="1"/>
          </p:cNvSpPr>
          <p:nvPr/>
        </p:nvSpPr>
        <p:spPr bwMode="auto">
          <a:xfrm>
            <a:off x="1524000" y="2514600"/>
            <a:ext cx="8991600" cy="3508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charset="0"/>
              <a:buChar char="•"/>
              <a:defRPr sz="2800">
                <a:solidFill>
                  <a:schemeClr val="tx1"/>
                </a:solidFill>
                <a:latin typeface="Calibri" charset="0"/>
                <a:ea typeface="宋体" charset="-122"/>
                <a:sym typeface="Calibri" charset="0"/>
              </a:defRPr>
            </a:lvl1pPr>
            <a:lvl2pPr marL="742950" indent="-285750">
              <a:lnSpc>
                <a:spcPct val="90000"/>
              </a:lnSpc>
              <a:spcBef>
                <a:spcPts val="500"/>
              </a:spcBef>
              <a:buFont typeface="Arial" charset="0"/>
              <a:buChar char="•"/>
              <a:defRPr sz="2400">
                <a:solidFill>
                  <a:schemeClr val="tx1"/>
                </a:solidFill>
                <a:latin typeface="Calibri" charset="0"/>
                <a:ea typeface="宋体" charset="-122"/>
                <a:sym typeface="Calibri" charset="0"/>
              </a:defRPr>
            </a:lvl2pPr>
            <a:lvl3pPr>
              <a:lnSpc>
                <a:spcPct val="90000"/>
              </a:lnSpc>
              <a:spcBef>
                <a:spcPts val="500"/>
              </a:spcBef>
              <a:buFont typeface="Arial" charset="0"/>
              <a:buChar char="•"/>
              <a:defRPr sz="2000">
                <a:solidFill>
                  <a:schemeClr val="tx1"/>
                </a:solidFill>
                <a:latin typeface="Calibri" charset="0"/>
                <a:ea typeface="宋体" charset="-122"/>
                <a:sym typeface="Calibri" charset="0"/>
              </a:defRPr>
            </a:lvl3pPr>
            <a:lvl4pPr marL="1600200" indent="-228600">
              <a:lnSpc>
                <a:spcPct val="90000"/>
              </a:lnSpc>
              <a:spcBef>
                <a:spcPts val="500"/>
              </a:spcBef>
              <a:buFont typeface="Arial" charset="0"/>
              <a:buChar char="•"/>
              <a:defRPr sz="2000">
                <a:solidFill>
                  <a:schemeClr val="tx1"/>
                </a:solidFill>
                <a:latin typeface="Calibri" charset="0"/>
                <a:ea typeface="宋体" charset="-122"/>
                <a:sym typeface="Calibri" charset="0"/>
              </a:defRPr>
            </a:lvl4pPr>
            <a:lvl5pPr marL="2057400" indent="-228600">
              <a:lnSpc>
                <a:spcPct val="90000"/>
              </a:lnSpc>
              <a:spcBef>
                <a:spcPts val="500"/>
              </a:spcBef>
              <a:buFont typeface="Arial" charset="0"/>
              <a:buChar char="•"/>
              <a:defRPr sz="2000">
                <a:solidFill>
                  <a:schemeClr val="tx1"/>
                </a:solidFill>
                <a:latin typeface="Calibri" charset="0"/>
                <a:ea typeface="宋体" charset="-122"/>
                <a:sym typeface="Calibri" charset="0"/>
              </a:defRPr>
            </a:lvl5pPr>
            <a:lvl6pPr marL="2514600" indent="-228600" eaLnBrk="0" fontAlgn="base" hangingPunct="0">
              <a:lnSpc>
                <a:spcPct val="90000"/>
              </a:lnSpc>
              <a:spcBef>
                <a:spcPts val="500"/>
              </a:spcBef>
              <a:spcAft>
                <a:spcPct val="0"/>
              </a:spcAft>
              <a:buFont typeface="Arial" charset="0"/>
              <a:buChar char="•"/>
              <a:defRPr sz="2000">
                <a:solidFill>
                  <a:schemeClr val="tx1"/>
                </a:solidFill>
                <a:latin typeface="Calibri" charset="0"/>
                <a:ea typeface="宋体" charset="-122"/>
                <a:sym typeface="Calibri" charset="0"/>
              </a:defRPr>
            </a:lvl6pPr>
            <a:lvl7pPr marL="2971800" indent="-228600" eaLnBrk="0" fontAlgn="base" hangingPunct="0">
              <a:lnSpc>
                <a:spcPct val="90000"/>
              </a:lnSpc>
              <a:spcBef>
                <a:spcPts val="500"/>
              </a:spcBef>
              <a:spcAft>
                <a:spcPct val="0"/>
              </a:spcAft>
              <a:buFont typeface="Arial" charset="0"/>
              <a:buChar char="•"/>
              <a:defRPr sz="2000">
                <a:solidFill>
                  <a:schemeClr val="tx1"/>
                </a:solidFill>
                <a:latin typeface="Calibri" charset="0"/>
                <a:ea typeface="宋体" charset="-122"/>
                <a:sym typeface="Calibri" charset="0"/>
              </a:defRPr>
            </a:lvl7pPr>
            <a:lvl8pPr marL="3429000" indent="-228600" eaLnBrk="0" fontAlgn="base" hangingPunct="0">
              <a:lnSpc>
                <a:spcPct val="90000"/>
              </a:lnSpc>
              <a:spcBef>
                <a:spcPts val="500"/>
              </a:spcBef>
              <a:spcAft>
                <a:spcPct val="0"/>
              </a:spcAft>
              <a:buFont typeface="Arial" charset="0"/>
              <a:buChar char="•"/>
              <a:defRPr sz="2000">
                <a:solidFill>
                  <a:schemeClr val="tx1"/>
                </a:solidFill>
                <a:latin typeface="Calibri" charset="0"/>
                <a:ea typeface="宋体" charset="-122"/>
                <a:sym typeface="Calibri" charset="0"/>
              </a:defRPr>
            </a:lvl8pPr>
            <a:lvl9pPr marL="3886200" indent="-228600" eaLnBrk="0" fontAlgn="base" hangingPunct="0">
              <a:lnSpc>
                <a:spcPct val="90000"/>
              </a:lnSpc>
              <a:spcBef>
                <a:spcPts val="500"/>
              </a:spcBef>
              <a:spcAft>
                <a:spcPct val="0"/>
              </a:spcAft>
              <a:buFont typeface="Arial" charset="0"/>
              <a:buChar char="•"/>
              <a:defRPr sz="2000">
                <a:solidFill>
                  <a:schemeClr val="tx1"/>
                </a:solidFill>
                <a:latin typeface="Calibri" charset="0"/>
                <a:ea typeface="宋体" charset="-122"/>
                <a:sym typeface="Calibri" charset="0"/>
              </a:defRPr>
            </a:lvl9pPr>
          </a:lstStyle>
          <a:p>
            <a:pPr algn="ctr" eaLnBrk="1" hangingPunct="1">
              <a:lnSpc>
                <a:spcPct val="150000"/>
              </a:lnSpc>
              <a:spcBef>
                <a:spcPct val="0"/>
              </a:spcBef>
              <a:buFont typeface="Arial" charset="0"/>
              <a:buNone/>
            </a:pPr>
            <a:r>
              <a:rPr lang="zh-CN" altLang="en-US" sz="3600" b="1" dirty="0" smtClean="0">
                <a:solidFill>
                  <a:srgbClr val="01559D"/>
                </a:solidFill>
                <a:latin typeface="微软雅黑" panose="020B0503020204020204" pitchFamily="34" charset="-122"/>
                <a:ea typeface="微软雅黑" panose="020B0503020204020204" pitchFamily="34" charset="-122"/>
                <a:cs typeface="Microsoft YaHei Light" charset="-122"/>
              </a:rPr>
              <a:t>张猛</a:t>
            </a:r>
            <a:endParaRPr lang="en-US" altLang="zh-CN" sz="3600" b="1" dirty="0" smtClean="0">
              <a:solidFill>
                <a:srgbClr val="01559D"/>
              </a:solidFill>
              <a:latin typeface="微软雅黑" panose="020B0503020204020204" pitchFamily="34" charset="-122"/>
              <a:ea typeface="微软雅黑" panose="020B0503020204020204" pitchFamily="34" charset="-122"/>
              <a:cs typeface="Microsoft YaHei Light" charset="-122"/>
            </a:endParaRPr>
          </a:p>
          <a:p>
            <a:pPr algn="ctr" eaLnBrk="1" hangingPunct="1">
              <a:lnSpc>
                <a:spcPct val="150000"/>
              </a:lnSpc>
              <a:spcBef>
                <a:spcPct val="0"/>
              </a:spcBef>
              <a:buFont typeface="Arial" charset="0"/>
              <a:buNone/>
            </a:pPr>
            <a:r>
              <a:rPr lang="zh-CN" altLang="en-US" dirty="0">
                <a:solidFill>
                  <a:srgbClr val="01559D"/>
                </a:solidFill>
                <a:latin typeface="微软雅黑" panose="020B0503020204020204" pitchFamily="34" charset="-122"/>
                <a:ea typeface="微软雅黑" panose="020B0503020204020204" pitchFamily="34" charset="-122"/>
                <a:cs typeface="Microsoft YaHei Light" charset="-122"/>
              </a:rPr>
              <a:t>华中科技大学计算机科学与技术学院</a:t>
            </a:r>
            <a:endParaRPr lang="en-US" altLang="zh-CN" dirty="0">
              <a:solidFill>
                <a:srgbClr val="01559D"/>
              </a:solidFill>
              <a:latin typeface="微软雅黑" panose="020B0503020204020204" pitchFamily="34" charset="-122"/>
              <a:ea typeface="微软雅黑" panose="020B0503020204020204" pitchFamily="34" charset="-122"/>
              <a:cs typeface="Microsoft YaHei Light" charset="-122"/>
            </a:endParaRPr>
          </a:p>
          <a:p>
            <a:pPr algn="ctr" eaLnBrk="1" hangingPunct="1">
              <a:lnSpc>
                <a:spcPct val="150000"/>
              </a:lnSpc>
              <a:spcBef>
                <a:spcPct val="0"/>
              </a:spcBef>
              <a:buFont typeface="Arial" charset="0"/>
              <a:buNone/>
            </a:pPr>
            <a:r>
              <a:rPr lang="zh-CN" altLang="en-US" dirty="0" smtClean="0">
                <a:solidFill>
                  <a:srgbClr val="01559D"/>
                </a:solidFill>
                <a:latin typeface="微软雅黑" panose="020B0503020204020204" pitchFamily="34" charset="-122"/>
                <a:ea typeface="微软雅黑" panose="020B0503020204020204" pitchFamily="34" charset="-122"/>
                <a:cs typeface="Microsoft YaHei Light" charset="-122"/>
              </a:rPr>
              <a:t>新型非易失存储系统实验室（</a:t>
            </a:r>
            <a:r>
              <a:rPr lang="en-US" altLang="zh-CN" dirty="0" smtClean="0">
                <a:solidFill>
                  <a:srgbClr val="01559D"/>
                </a:solidFill>
                <a:latin typeface="微软雅黑" panose="020B0503020204020204" pitchFamily="34" charset="-122"/>
                <a:ea typeface="微软雅黑" panose="020B0503020204020204" pitchFamily="34" charset="-122"/>
                <a:cs typeface="Microsoft YaHei Light" charset="-122"/>
              </a:rPr>
              <a:t>NNSS</a:t>
            </a:r>
            <a:r>
              <a:rPr lang="zh-CN" altLang="en-US" dirty="0" smtClean="0">
                <a:solidFill>
                  <a:srgbClr val="01559D"/>
                </a:solidFill>
                <a:latin typeface="微软雅黑" panose="020B0503020204020204" pitchFamily="34" charset="-122"/>
                <a:ea typeface="微软雅黑" panose="020B0503020204020204" pitchFamily="34" charset="-122"/>
                <a:cs typeface="Microsoft YaHei Light" charset="-122"/>
              </a:rPr>
              <a:t>）</a:t>
            </a:r>
            <a:endParaRPr lang="en-US" altLang="zh-CN" dirty="0" smtClean="0">
              <a:solidFill>
                <a:srgbClr val="01559D"/>
              </a:solidFill>
              <a:latin typeface="微软雅黑" panose="020B0503020204020204" pitchFamily="34" charset="-122"/>
              <a:ea typeface="微软雅黑" panose="020B0503020204020204" pitchFamily="34" charset="-122"/>
              <a:cs typeface="Microsoft YaHei Light" charset="-122"/>
            </a:endParaRPr>
          </a:p>
          <a:p>
            <a:pPr algn="ctr" eaLnBrk="1" hangingPunct="1">
              <a:lnSpc>
                <a:spcPct val="150000"/>
              </a:lnSpc>
              <a:spcBef>
                <a:spcPct val="0"/>
              </a:spcBef>
              <a:buFont typeface="Arial" charset="0"/>
              <a:buNone/>
            </a:pPr>
            <a:r>
              <a:rPr lang="en-US" altLang="zh-CN" dirty="0" smtClean="0">
                <a:solidFill>
                  <a:srgbClr val="01559D"/>
                </a:solidFill>
                <a:latin typeface="微软雅黑" panose="020B0503020204020204" pitchFamily="34" charset="-122"/>
                <a:ea typeface="微软雅黑" panose="020B0503020204020204" pitchFamily="34" charset="-122"/>
                <a:cs typeface="Microsoft YaHei Light" charset="-122"/>
                <a:hlinkClick r:id="rId3"/>
              </a:rPr>
              <a:t>zgmeng</a:t>
            </a:r>
            <a:r>
              <a:rPr lang="en-US" altLang="zh-Hans" dirty="0" smtClean="0">
                <a:solidFill>
                  <a:srgbClr val="01559D"/>
                </a:solidFill>
                <a:latin typeface="微软雅黑" panose="020B0503020204020204" pitchFamily="34" charset="-122"/>
                <a:ea typeface="微软雅黑" panose="020B0503020204020204" pitchFamily="34" charset="-122"/>
                <a:cs typeface="Microsoft YaHei Light" charset="-122"/>
                <a:hlinkClick r:id="rId3"/>
              </a:rPr>
              <a:t>@hust.edu.cn</a:t>
            </a:r>
            <a:endParaRPr lang="en-US" altLang="zh-Hans" dirty="0" smtClean="0">
              <a:solidFill>
                <a:srgbClr val="01559D"/>
              </a:solidFill>
              <a:latin typeface="微软雅黑" panose="020B0503020204020204" pitchFamily="34" charset="-122"/>
              <a:ea typeface="微软雅黑" panose="020B0503020204020204" pitchFamily="34" charset="-122"/>
              <a:cs typeface="Microsoft YaHei Light" charset="-122"/>
            </a:endParaRPr>
          </a:p>
          <a:p>
            <a:pPr algn="ctr" eaLnBrk="1" hangingPunct="1">
              <a:lnSpc>
                <a:spcPct val="150000"/>
              </a:lnSpc>
              <a:spcBef>
                <a:spcPct val="0"/>
              </a:spcBef>
              <a:buFont typeface="Arial" charset="0"/>
              <a:buNone/>
            </a:pPr>
            <a:r>
              <a:rPr lang="en-US" altLang="zh-CN" dirty="0" smtClean="0">
                <a:solidFill>
                  <a:srgbClr val="01559D"/>
                </a:solidFill>
                <a:latin typeface="微软雅黑" panose="020B0503020204020204" pitchFamily="34" charset="-122"/>
                <a:ea typeface="微软雅黑" panose="020B0503020204020204" pitchFamily="34" charset="-122"/>
                <a:cs typeface="Microsoft YaHei Light" charset="-122"/>
              </a:rPr>
              <a:t>2025</a:t>
            </a:r>
            <a:r>
              <a:rPr lang="zh-CN" altLang="en-US" dirty="0" smtClean="0">
                <a:solidFill>
                  <a:srgbClr val="01559D"/>
                </a:solidFill>
                <a:latin typeface="微软雅黑" panose="020B0503020204020204" pitchFamily="34" charset="-122"/>
                <a:ea typeface="微软雅黑" panose="020B0503020204020204" pitchFamily="34" charset="-122"/>
                <a:cs typeface="Microsoft YaHei Light" charset="-122"/>
              </a:rPr>
              <a:t>年</a:t>
            </a:r>
            <a:r>
              <a:rPr lang="en-US" altLang="zh-CN" dirty="0">
                <a:solidFill>
                  <a:srgbClr val="01559D"/>
                </a:solidFill>
                <a:latin typeface="微软雅黑" panose="020B0503020204020204" pitchFamily="34" charset="-122"/>
                <a:ea typeface="微软雅黑" panose="020B0503020204020204" pitchFamily="34" charset="-122"/>
                <a:cs typeface="Microsoft YaHei Light" charset="-122"/>
              </a:rPr>
              <a:t>3</a:t>
            </a:r>
            <a:r>
              <a:rPr lang="zh-CN" altLang="en-US" dirty="0" smtClean="0">
                <a:solidFill>
                  <a:srgbClr val="01559D"/>
                </a:solidFill>
                <a:latin typeface="微软雅黑" panose="020B0503020204020204" pitchFamily="34" charset="-122"/>
                <a:ea typeface="微软雅黑" panose="020B0503020204020204" pitchFamily="34" charset="-122"/>
                <a:cs typeface="Microsoft YaHei Light" charset="-122"/>
              </a:rPr>
              <a:t>月</a:t>
            </a:r>
            <a:r>
              <a:rPr lang="en-US" altLang="zh-CN" dirty="0" smtClean="0">
                <a:solidFill>
                  <a:srgbClr val="01559D"/>
                </a:solidFill>
                <a:latin typeface="微软雅黑" panose="020B0503020204020204" pitchFamily="34" charset="-122"/>
                <a:ea typeface="微软雅黑" panose="020B0503020204020204" pitchFamily="34" charset="-122"/>
                <a:cs typeface="Microsoft YaHei Light" charset="-122"/>
              </a:rPr>
              <a:t>29</a:t>
            </a:r>
            <a:r>
              <a:rPr lang="zh-CN" altLang="en-US" dirty="0" smtClean="0">
                <a:solidFill>
                  <a:srgbClr val="01559D"/>
                </a:solidFill>
                <a:latin typeface="微软雅黑" panose="020B0503020204020204" pitchFamily="34" charset="-122"/>
                <a:ea typeface="微软雅黑" panose="020B0503020204020204" pitchFamily="34" charset="-122"/>
                <a:cs typeface="Microsoft YaHei Light" charset="-122"/>
              </a:rPr>
              <a:t>日</a:t>
            </a:r>
            <a:endParaRPr lang="en-US" altLang="zh-CN" dirty="0">
              <a:solidFill>
                <a:srgbClr val="01559D"/>
              </a:solidFill>
              <a:latin typeface="微软雅黑" panose="020B0503020204020204" pitchFamily="34" charset="-122"/>
              <a:ea typeface="微软雅黑" panose="020B0503020204020204" pitchFamily="34" charset="-122"/>
              <a:cs typeface="Microsoft YaHei Light" charset="-122"/>
            </a:endParaRPr>
          </a:p>
        </p:txBody>
      </p:sp>
    </p:spTree>
    <p:extLst>
      <p:ext uri="{BB962C8B-B14F-4D97-AF65-F5344CB8AC3E}">
        <p14:creationId xmlns:p14="http://schemas.microsoft.com/office/powerpoint/2010/main" val="131992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第</a:t>
            </a:r>
            <a:r>
              <a:rPr lang="en-US" altLang="zh-CN" dirty="0"/>
              <a:t>4</a:t>
            </a:r>
            <a:r>
              <a:rPr lang="en-US" altLang="zh-CN" dirty="0" smtClean="0"/>
              <a:t>.1</a:t>
            </a:r>
            <a:r>
              <a:rPr lang="zh-CN" altLang="en-US" dirty="0" smtClean="0"/>
              <a:t>节 图</a:t>
            </a:r>
            <a:r>
              <a:rPr lang="zh-CN" altLang="en-US" dirty="0"/>
              <a:t>和图模型</a:t>
            </a:r>
            <a:endParaRPr lang="en-US" dirty="0"/>
          </a:p>
        </p:txBody>
      </p:sp>
      <p:sp>
        <p:nvSpPr>
          <p:cNvPr id="3" name="Content Placeholder 2"/>
          <p:cNvSpPr>
            <a:spLocks noGrp="1"/>
          </p:cNvSpPr>
          <p:nvPr>
            <p:ph idx="1"/>
          </p:nvPr>
        </p:nvSpPr>
        <p:spPr/>
        <p:txBody>
          <a:bodyPr/>
          <a:lstStyle/>
          <a:p>
            <a:r>
              <a:rPr lang="zh-CN" altLang="en-US" dirty="0" smtClean="0"/>
              <a:t>图</a:t>
            </a:r>
            <a:endParaRPr lang="en-US" altLang="zh-CN" dirty="0" smtClean="0"/>
          </a:p>
          <a:p>
            <a:r>
              <a:rPr lang="zh-CN" altLang="en-US" dirty="0" smtClean="0"/>
              <a:t>图模型</a:t>
            </a:r>
            <a:endParaRPr lang="en-US" dirty="0" smtClean="0"/>
          </a:p>
        </p:txBody>
      </p:sp>
      <p:sp>
        <p:nvSpPr>
          <p:cNvPr id="6" name="日期占位符 5"/>
          <p:cNvSpPr>
            <a:spLocks noGrp="1"/>
          </p:cNvSpPr>
          <p:nvPr>
            <p:ph type="dt" sz="half" idx="10"/>
          </p:nvPr>
        </p:nvSpPr>
        <p:spPr/>
        <p:txBody>
          <a:bodyPr/>
          <a:lstStyle/>
          <a:p>
            <a:fld id="{15627F1D-7910-432C-AF9D-868DA60DC39C}" type="datetime1">
              <a:rPr lang="zh-CN" altLang="en-US" smtClean="0"/>
              <a:t>2025/4/15</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2</a:t>
            </a:fld>
            <a:endParaRPr lang="zh-CN"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p:cNvSpPr/>
          <p:nvPr/>
        </p:nvSpPr>
        <p:spPr>
          <a:xfrm>
            <a:off x="457200" y="1142999"/>
            <a:ext cx="11277599" cy="1271457"/>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smtClean="0"/>
              <a:t>图</a:t>
            </a:r>
            <a:endParaRPr lang="en-US" dirty="0"/>
          </a:p>
        </p:txBody>
      </p:sp>
      <p:sp>
        <p:nvSpPr>
          <p:cNvPr id="3" name="Content Placeholder 2"/>
          <p:cNvSpPr>
            <a:spLocks noGrp="1"/>
          </p:cNvSpPr>
          <p:nvPr>
            <p:ph idx="1"/>
          </p:nvPr>
        </p:nvSpPr>
        <p:spPr/>
        <p:txBody>
          <a:bodyPr>
            <a:normAutofit/>
          </a:bodyPr>
          <a:lstStyle/>
          <a:p>
            <a:r>
              <a:rPr lang="zh-CN" altLang="en-US" dirty="0" smtClean="0"/>
              <a:t>定义</a:t>
            </a:r>
            <a:r>
              <a:rPr lang="en-US" dirty="0" smtClean="0"/>
              <a:t>: </a:t>
            </a:r>
            <a:r>
              <a:rPr lang="zh-CN" altLang="en-US" dirty="0" smtClean="0"/>
              <a:t>一个图</a:t>
            </a:r>
            <a:r>
              <a:rPr lang="en-US" dirty="0" smtClean="0"/>
              <a:t>G =(V, E)</a:t>
            </a:r>
            <a:r>
              <a:rPr lang="zh-CN" altLang="en-US" dirty="0" smtClean="0"/>
              <a:t>由顶点</a:t>
            </a:r>
            <a:r>
              <a:rPr lang="en-US" altLang="zh-CN" dirty="0" smtClean="0"/>
              <a:t>(</a:t>
            </a:r>
            <a:r>
              <a:rPr lang="zh-CN" altLang="en-US" dirty="0" smtClean="0"/>
              <a:t>或结点</a:t>
            </a:r>
            <a:r>
              <a:rPr lang="en-US" altLang="zh-CN" dirty="0" smtClean="0"/>
              <a:t>) </a:t>
            </a:r>
            <a:r>
              <a:rPr lang="zh-CN" altLang="en-US" dirty="0" smtClean="0"/>
              <a:t>的非空集</a:t>
            </a:r>
            <a:r>
              <a:rPr lang="en-US" altLang="zh-CN" dirty="0" smtClean="0"/>
              <a:t>V</a:t>
            </a:r>
            <a:r>
              <a:rPr lang="zh-CN" altLang="en-US" dirty="0" smtClean="0"/>
              <a:t>和边的集合</a:t>
            </a:r>
            <a:r>
              <a:rPr lang="en-US" altLang="zh-CN" dirty="0" smtClean="0"/>
              <a:t>E</a:t>
            </a:r>
            <a:r>
              <a:rPr lang="zh-CN" altLang="en-US" dirty="0" smtClean="0"/>
              <a:t>构成</a:t>
            </a:r>
            <a:r>
              <a:rPr lang="en-US" altLang="zh-CN" dirty="0" smtClean="0"/>
              <a:t>, </a:t>
            </a:r>
            <a:r>
              <a:rPr lang="zh-CN" altLang="en-US" dirty="0" smtClean="0"/>
              <a:t>每条边有一个或两个顶点与它相连</a:t>
            </a:r>
            <a:r>
              <a:rPr lang="en-US" altLang="zh-CN" dirty="0" smtClean="0"/>
              <a:t>, </a:t>
            </a:r>
            <a:r>
              <a:rPr lang="zh-CN" altLang="en-US" dirty="0" smtClean="0"/>
              <a:t>这样的顶点称为边的端点</a:t>
            </a:r>
            <a:r>
              <a:rPr lang="en-US" altLang="zh-CN" dirty="0" smtClean="0"/>
              <a:t>. </a:t>
            </a:r>
            <a:r>
              <a:rPr lang="zh-CN" altLang="en-US" dirty="0" smtClean="0"/>
              <a:t>边连接它的端点</a:t>
            </a:r>
            <a:r>
              <a:rPr lang="en-US" altLang="zh-CN" dirty="0" smtClean="0"/>
              <a:t>.</a:t>
            </a:r>
          </a:p>
          <a:p>
            <a:endParaRPr lang="en-US" dirty="0" smtClean="0"/>
          </a:p>
          <a:p>
            <a:r>
              <a:rPr lang="en-US" dirty="0" smtClean="0"/>
              <a:t> </a:t>
            </a:r>
            <a:r>
              <a:rPr lang="zh-CN" altLang="en-US" dirty="0" smtClean="0"/>
              <a:t>例</a:t>
            </a:r>
            <a:r>
              <a:rPr lang="en-US" altLang="zh-CN" dirty="0" smtClean="0"/>
              <a:t>: </a:t>
            </a:r>
            <a:r>
              <a:rPr lang="zh-CN" altLang="en-US" dirty="0" smtClean="0"/>
              <a:t>如图所示为</a:t>
            </a:r>
            <a:r>
              <a:rPr lang="en-US" altLang="zh-CN" dirty="0" smtClean="0"/>
              <a:t>4</a:t>
            </a:r>
            <a:r>
              <a:rPr lang="zh-CN" altLang="en-US" dirty="0" smtClean="0"/>
              <a:t>个顶点和</a:t>
            </a:r>
            <a:r>
              <a:rPr lang="en-US" altLang="zh-CN" dirty="0" smtClean="0"/>
              <a:t>5</a:t>
            </a:r>
            <a:r>
              <a:rPr lang="zh-CN" altLang="en-US" dirty="0" smtClean="0"/>
              <a:t>条边构成的图</a:t>
            </a:r>
            <a:r>
              <a:rPr lang="en-US" dirty="0" smtClean="0"/>
              <a:t> </a:t>
            </a:r>
            <a:endParaRPr lang="en-US" dirty="0"/>
          </a:p>
        </p:txBody>
      </p:sp>
      <p:grpSp>
        <p:nvGrpSpPr>
          <p:cNvPr id="22" name="Group 21"/>
          <p:cNvGrpSpPr/>
          <p:nvPr/>
        </p:nvGrpSpPr>
        <p:grpSpPr>
          <a:xfrm>
            <a:off x="4572000" y="3733800"/>
            <a:ext cx="3429000" cy="2057400"/>
            <a:chOff x="3778826" y="3475664"/>
            <a:chExt cx="2758452" cy="1598392"/>
          </a:xfrm>
        </p:grpSpPr>
        <p:sp>
          <p:nvSpPr>
            <p:cNvPr id="31" name="TextBox 30"/>
            <p:cNvSpPr txBox="1"/>
            <p:nvPr/>
          </p:nvSpPr>
          <p:spPr>
            <a:xfrm>
              <a:off x="3778826" y="3475664"/>
              <a:ext cx="318655" cy="369332"/>
            </a:xfrm>
            <a:prstGeom prst="rect">
              <a:avLst/>
            </a:prstGeom>
            <a:noFill/>
          </p:spPr>
          <p:txBody>
            <a:bodyPr wrap="square" rtlCol="0">
              <a:spAutoFit/>
            </a:bodyPr>
            <a:lstStyle/>
            <a:p>
              <a:r>
                <a:rPr lang="en-US" i="1" dirty="0"/>
                <a:t>a</a:t>
              </a:r>
            </a:p>
          </p:txBody>
        </p:sp>
        <p:sp>
          <p:nvSpPr>
            <p:cNvPr id="33" name="Oval 32"/>
            <p:cNvSpPr/>
            <p:nvPr/>
          </p:nvSpPr>
          <p:spPr>
            <a:xfrm>
              <a:off x="4147369" y="3570666"/>
              <a:ext cx="159327" cy="1543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p:cNvSpPr/>
            <p:nvPr/>
          </p:nvSpPr>
          <p:spPr>
            <a:xfrm>
              <a:off x="5953078" y="4769181"/>
              <a:ext cx="159327" cy="1543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p:cNvSpPr/>
            <p:nvPr/>
          </p:nvSpPr>
          <p:spPr>
            <a:xfrm>
              <a:off x="5953078" y="3611629"/>
              <a:ext cx="159327" cy="1543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7" name="Straight Connector 36"/>
            <p:cNvCxnSpPr>
              <a:stCxn id="33" idx="5"/>
              <a:endCxn id="34" idx="1"/>
            </p:cNvCxnSpPr>
            <p:nvPr/>
          </p:nvCxnSpPr>
          <p:spPr>
            <a:xfrm>
              <a:off x="4283363" y="3702403"/>
              <a:ext cx="1693048" cy="1089381"/>
            </a:xfrm>
            <a:prstGeom prst="line">
              <a:avLst/>
            </a:prstGeom>
          </p:spPr>
          <p:style>
            <a:lnRef idx="1">
              <a:schemeClr val="accent1"/>
            </a:lnRef>
            <a:fillRef idx="0">
              <a:schemeClr val="accent1"/>
            </a:fillRef>
            <a:effectRef idx="0">
              <a:schemeClr val="accent1"/>
            </a:effectRef>
            <a:fontRef idx="minor">
              <a:schemeClr val="tx1"/>
            </a:fontRef>
          </p:style>
        </p:cxnSp>
        <p:sp>
          <p:nvSpPr>
            <p:cNvPr id="39" name="TextBox 38"/>
            <p:cNvSpPr txBox="1"/>
            <p:nvPr/>
          </p:nvSpPr>
          <p:spPr>
            <a:xfrm>
              <a:off x="6218622" y="4704724"/>
              <a:ext cx="318655" cy="369332"/>
            </a:xfrm>
            <a:prstGeom prst="rect">
              <a:avLst/>
            </a:prstGeom>
            <a:noFill/>
          </p:spPr>
          <p:txBody>
            <a:bodyPr wrap="square" rtlCol="0">
              <a:spAutoFit/>
            </a:bodyPr>
            <a:lstStyle/>
            <a:p>
              <a:r>
                <a:rPr lang="en-US" i="1" dirty="0"/>
                <a:t>c</a:t>
              </a:r>
            </a:p>
          </p:txBody>
        </p:sp>
        <p:sp>
          <p:nvSpPr>
            <p:cNvPr id="40" name="TextBox 39"/>
            <p:cNvSpPr txBox="1"/>
            <p:nvPr/>
          </p:nvSpPr>
          <p:spPr>
            <a:xfrm>
              <a:off x="6218623" y="3508735"/>
              <a:ext cx="318655" cy="369332"/>
            </a:xfrm>
            <a:prstGeom prst="rect">
              <a:avLst/>
            </a:prstGeom>
            <a:noFill/>
          </p:spPr>
          <p:txBody>
            <a:bodyPr wrap="square" rtlCol="0">
              <a:spAutoFit/>
            </a:bodyPr>
            <a:lstStyle/>
            <a:p>
              <a:r>
                <a:rPr lang="en-US" i="1" dirty="0"/>
                <a:t>b</a:t>
              </a:r>
            </a:p>
          </p:txBody>
        </p:sp>
        <p:sp>
          <p:nvSpPr>
            <p:cNvPr id="15" name="Oval 14"/>
            <p:cNvSpPr/>
            <p:nvPr/>
          </p:nvSpPr>
          <p:spPr>
            <a:xfrm>
              <a:off x="4256808" y="4750003"/>
              <a:ext cx="159327" cy="1543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3831708" y="4696943"/>
              <a:ext cx="318655" cy="369332"/>
            </a:xfrm>
            <a:prstGeom prst="rect">
              <a:avLst/>
            </a:prstGeom>
            <a:noFill/>
          </p:spPr>
          <p:txBody>
            <a:bodyPr wrap="square" rtlCol="0">
              <a:spAutoFit/>
            </a:bodyPr>
            <a:lstStyle/>
            <a:p>
              <a:r>
                <a:rPr lang="en-US" i="1" dirty="0"/>
                <a:t>d</a:t>
              </a:r>
            </a:p>
          </p:txBody>
        </p:sp>
        <p:cxnSp>
          <p:nvCxnSpPr>
            <p:cNvPr id="9" name="Straight Connector 8"/>
            <p:cNvCxnSpPr>
              <a:stCxn id="15" idx="6"/>
            </p:cNvCxnSpPr>
            <p:nvPr/>
          </p:nvCxnSpPr>
          <p:spPr>
            <a:xfrm flipV="1">
              <a:off x="4416135" y="3765969"/>
              <a:ext cx="1536943" cy="1061204"/>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a:endCxn id="35" idx="2"/>
            </p:cNvCxnSpPr>
            <p:nvPr/>
          </p:nvCxnSpPr>
          <p:spPr>
            <a:xfrm>
              <a:off x="4336471" y="3647836"/>
              <a:ext cx="1616607" cy="40963"/>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35" idx="4"/>
              <a:endCxn id="34" idx="0"/>
            </p:cNvCxnSpPr>
            <p:nvPr/>
          </p:nvCxnSpPr>
          <p:spPr>
            <a:xfrm>
              <a:off x="6032742" y="3765969"/>
              <a:ext cx="0" cy="1003212"/>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15" idx="6"/>
              <a:endCxn id="34" idx="2"/>
            </p:cNvCxnSpPr>
            <p:nvPr/>
          </p:nvCxnSpPr>
          <p:spPr>
            <a:xfrm>
              <a:off x="4416135" y="4827173"/>
              <a:ext cx="1536943" cy="19178"/>
            </a:xfrm>
            <a:prstGeom prst="line">
              <a:avLst/>
            </a:prstGeom>
          </p:spPr>
          <p:style>
            <a:lnRef idx="1">
              <a:schemeClr val="accent1"/>
            </a:lnRef>
            <a:fillRef idx="0">
              <a:schemeClr val="accent1"/>
            </a:fillRef>
            <a:effectRef idx="0">
              <a:schemeClr val="accent1"/>
            </a:effectRef>
            <a:fontRef idx="minor">
              <a:schemeClr val="tx1"/>
            </a:fontRef>
          </p:style>
        </p:cxnSp>
      </p:grpSp>
      <p:sp>
        <p:nvSpPr>
          <p:cNvPr id="4" name="日期占位符 3"/>
          <p:cNvSpPr>
            <a:spLocks noGrp="1"/>
          </p:cNvSpPr>
          <p:nvPr>
            <p:ph type="dt" sz="half" idx="10"/>
          </p:nvPr>
        </p:nvSpPr>
        <p:spPr/>
        <p:txBody>
          <a:bodyPr/>
          <a:lstStyle/>
          <a:p>
            <a:fld id="{A1A59190-6C15-45FF-8578-EE423CFB74FD}"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3</a:t>
            </a:fld>
            <a:endParaRPr lang="zh-CN" altLang="en-US" dirty="0"/>
          </a:p>
        </p:txBody>
      </p:sp>
    </p:spTree>
    <p:extLst>
      <p:ext uri="{BB962C8B-B14F-4D97-AF65-F5344CB8AC3E}">
        <p14:creationId xmlns:p14="http://schemas.microsoft.com/office/powerpoint/2010/main" val="355218529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图</a:t>
            </a:r>
            <a:endParaRPr lang="en-US" dirty="0"/>
          </a:p>
        </p:txBody>
      </p:sp>
      <p:sp>
        <p:nvSpPr>
          <p:cNvPr id="3" name="Content Placeholder 2"/>
          <p:cNvSpPr>
            <a:spLocks noGrp="1"/>
          </p:cNvSpPr>
          <p:nvPr>
            <p:ph idx="1"/>
          </p:nvPr>
        </p:nvSpPr>
        <p:spPr/>
        <p:txBody>
          <a:bodyPr>
            <a:normAutofit/>
          </a:bodyPr>
          <a:lstStyle/>
          <a:p>
            <a:r>
              <a:rPr lang="zh-CN" altLang="en-US" dirty="0" smtClean="0"/>
              <a:t>图的特性</a:t>
            </a:r>
            <a:r>
              <a:rPr lang="en-US" dirty="0" smtClean="0"/>
              <a:t>: </a:t>
            </a:r>
          </a:p>
          <a:p>
            <a:pPr lvl="1"/>
            <a:r>
              <a:rPr lang="zh-CN" altLang="en-US" dirty="0" smtClean="0"/>
              <a:t>本章提及的图是由顶点和连接顶点的边构成的一种离散结构</a:t>
            </a:r>
            <a:r>
              <a:rPr lang="en-US" altLang="zh-CN" dirty="0" smtClean="0"/>
              <a:t>, </a:t>
            </a:r>
            <a:r>
              <a:rPr lang="zh-CN" altLang="en-US" dirty="0" smtClean="0"/>
              <a:t>和之前提及的文氏图是完全没有关系的</a:t>
            </a:r>
            <a:r>
              <a:rPr lang="en-US" altLang="zh-CN" dirty="0" smtClean="0"/>
              <a:t>.</a:t>
            </a:r>
          </a:p>
          <a:p>
            <a:pPr lvl="1"/>
            <a:r>
              <a:rPr lang="zh-CN" altLang="en-US" dirty="0" smtClean="0"/>
              <a:t>图的顶点集可能是无限的</a:t>
            </a:r>
            <a:r>
              <a:rPr lang="en-US" altLang="zh-CN" dirty="0" smtClean="0"/>
              <a:t>. </a:t>
            </a:r>
            <a:r>
              <a:rPr lang="zh-CN" altLang="en-US" dirty="0" smtClean="0"/>
              <a:t>顶点集为无限集或无限条边的图称为</a:t>
            </a:r>
            <a:r>
              <a:rPr lang="zh-CN" altLang="en-US" b="1" dirty="0" smtClean="0">
                <a:solidFill>
                  <a:srgbClr val="C00000"/>
                </a:solidFill>
              </a:rPr>
              <a:t>无限图</a:t>
            </a:r>
            <a:r>
              <a:rPr lang="en-US" altLang="zh-CN" dirty="0" smtClean="0"/>
              <a:t>.</a:t>
            </a:r>
          </a:p>
          <a:p>
            <a:pPr lvl="1"/>
            <a:r>
              <a:rPr lang="zh-CN" altLang="en-US" dirty="0" smtClean="0"/>
              <a:t>图的顶点集和边集为有限集的图称为</a:t>
            </a:r>
            <a:r>
              <a:rPr lang="zh-CN" altLang="en-US" b="1" dirty="0" smtClean="0">
                <a:solidFill>
                  <a:srgbClr val="C00000"/>
                </a:solidFill>
              </a:rPr>
              <a:t>有限图</a:t>
            </a:r>
            <a:r>
              <a:rPr lang="en-US" altLang="zh-CN" dirty="0" smtClean="0"/>
              <a:t>. </a:t>
            </a:r>
          </a:p>
          <a:p>
            <a:pPr lvl="1"/>
            <a:r>
              <a:rPr lang="zh-CN" altLang="en-US" dirty="0" smtClean="0"/>
              <a:t>在本章中</a:t>
            </a:r>
            <a:r>
              <a:rPr lang="en-US" altLang="zh-CN" dirty="0" smtClean="0"/>
              <a:t>, </a:t>
            </a:r>
            <a:r>
              <a:rPr lang="zh-CN" altLang="en-US" dirty="0" smtClean="0"/>
              <a:t>除了特殊说明以外</a:t>
            </a:r>
            <a:r>
              <a:rPr lang="en-US" altLang="zh-CN" dirty="0" smtClean="0"/>
              <a:t>, </a:t>
            </a:r>
            <a:r>
              <a:rPr lang="zh-CN" altLang="en-US" dirty="0" smtClean="0"/>
              <a:t>我们都通常只考虑有限图</a:t>
            </a:r>
            <a:r>
              <a:rPr lang="en-US" altLang="zh-CN" dirty="0" smtClean="0"/>
              <a:t>.</a:t>
            </a:r>
            <a:endParaRPr lang="en-US" dirty="0" smtClean="0"/>
          </a:p>
          <a:p>
            <a:endParaRPr lang="en-US" dirty="0"/>
          </a:p>
        </p:txBody>
      </p:sp>
      <p:sp>
        <p:nvSpPr>
          <p:cNvPr id="8" name="日期占位符 7"/>
          <p:cNvSpPr>
            <a:spLocks noGrp="1"/>
          </p:cNvSpPr>
          <p:nvPr>
            <p:ph type="dt" sz="half" idx="10"/>
          </p:nvPr>
        </p:nvSpPr>
        <p:spPr/>
        <p:txBody>
          <a:bodyPr/>
          <a:lstStyle/>
          <a:p>
            <a:fld id="{DBC5A6A2-605E-453C-8853-7C1B7222C8FE}" type="datetime1">
              <a:rPr lang="zh-CN" altLang="en-US" smtClean="0"/>
              <a:t>2025/4/15</a:t>
            </a:fld>
            <a:endParaRPr lang="zh-CN" altLang="en-US" dirty="0"/>
          </a:p>
        </p:txBody>
      </p:sp>
      <p:sp>
        <p:nvSpPr>
          <p:cNvPr id="10" name="页脚占位符 9"/>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11" name="灯片编号占位符 10"/>
          <p:cNvSpPr>
            <a:spLocks noGrp="1"/>
          </p:cNvSpPr>
          <p:nvPr>
            <p:ph type="sldNum" sz="quarter" idx="12"/>
          </p:nvPr>
        </p:nvSpPr>
        <p:spPr/>
        <p:txBody>
          <a:bodyPr/>
          <a:lstStyle/>
          <a:p>
            <a:fld id="{67913A8A-9EFB-4B5F-9CCB-3D21173FAA85}" type="slidenum">
              <a:rPr lang="zh-CN" altLang="en-US" smtClean="0"/>
              <a:pPr/>
              <a:t>4</a:t>
            </a:fld>
            <a:endParaRPr lang="zh-CN" alt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图</a:t>
            </a:r>
            <a:endParaRPr lang="en-US" dirty="0"/>
          </a:p>
        </p:txBody>
      </p:sp>
      <p:sp>
        <p:nvSpPr>
          <p:cNvPr id="3" name="Content Placeholder 2"/>
          <p:cNvSpPr>
            <a:spLocks noGrp="1"/>
          </p:cNvSpPr>
          <p:nvPr>
            <p:ph idx="1"/>
          </p:nvPr>
        </p:nvSpPr>
        <p:spPr/>
        <p:txBody>
          <a:bodyPr>
            <a:normAutofit/>
          </a:bodyPr>
          <a:lstStyle/>
          <a:p>
            <a:r>
              <a:rPr lang="zh-CN" altLang="en-US" dirty="0" smtClean="0"/>
              <a:t>在图中</a:t>
            </a:r>
            <a:r>
              <a:rPr lang="en-US" altLang="zh-CN" dirty="0" smtClean="0"/>
              <a:t>, </a:t>
            </a:r>
            <a:r>
              <a:rPr lang="zh-CN" altLang="en-US" dirty="0" smtClean="0"/>
              <a:t>如果每条边连接着两个不同的顶点</a:t>
            </a:r>
            <a:r>
              <a:rPr lang="en-US" altLang="zh-CN" dirty="0" smtClean="0"/>
              <a:t>, </a:t>
            </a:r>
            <a:r>
              <a:rPr lang="zh-CN" altLang="en-US" dirty="0" smtClean="0"/>
              <a:t>即没有任何一条边仅连接一个顶点自身</a:t>
            </a:r>
            <a:r>
              <a:rPr lang="en-US" altLang="zh-CN" dirty="0" smtClean="0"/>
              <a:t>. </a:t>
            </a:r>
            <a:r>
              <a:rPr lang="zh-CN" altLang="en-US" dirty="0" smtClean="0"/>
              <a:t>另外也没有两条不同的边连接着一对相同的顶点</a:t>
            </a:r>
            <a:r>
              <a:rPr lang="en-US" altLang="zh-CN" dirty="0" smtClean="0"/>
              <a:t>. </a:t>
            </a:r>
            <a:r>
              <a:rPr lang="zh-CN" altLang="en-US" dirty="0" smtClean="0"/>
              <a:t>这种每条边都连接两个不同的顶点且没有两条不同的边连接一对相同顶点的图称为</a:t>
            </a:r>
            <a:r>
              <a:rPr lang="zh-CN" altLang="en-US" b="1" dirty="0" smtClean="0">
                <a:solidFill>
                  <a:srgbClr val="C00000"/>
                </a:solidFill>
              </a:rPr>
              <a:t>简单图</a:t>
            </a:r>
            <a:r>
              <a:rPr lang="en-US" altLang="zh-CN" dirty="0" smtClean="0"/>
              <a:t>. </a:t>
            </a:r>
          </a:p>
          <a:p>
            <a:r>
              <a:rPr lang="zh-CN" altLang="en-US" dirty="0" smtClean="0"/>
              <a:t>在简单图中</a:t>
            </a:r>
            <a:r>
              <a:rPr lang="en-US" altLang="zh-CN" dirty="0" smtClean="0"/>
              <a:t>, </a:t>
            </a:r>
            <a:r>
              <a:rPr lang="zh-CN" altLang="en-US" dirty="0" smtClean="0"/>
              <a:t>每条边都与一对无序的顶点相关联</a:t>
            </a:r>
            <a:r>
              <a:rPr lang="en-US" altLang="zh-CN" dirty="0" smtClean="0"/>
              <a:t>, </a:t>
            </a:r>
            <a:r>
              <a:rPr lang="zh-CN" altLang="en-US" dirty="0" smtClean="0"/>
              <a:t>而且没有其他的边和这条边相关联</a:t>
            </a:r>
            <a:r>
              <a:rPr lang="en-US" altLang="zh-CN" dirty="0" smtClean="0"/>
              <a:t>. </a:t>
            </a:r>
            <a:r>
              <a:rPr lang="zh-CN" altLang="en-US" dirty="0" smtClean="0"/>
              <a:t>因此</a:t>
            </a:r>
            <a:r>
              <a:rPr lang="en-US" altLang="zh-CN" dirty="0" smtClean="0"/>
              <a:t>, </a:t>
            </a:r>
            <a:r>
              <a:rPr lang="zh-CN" altLang="en-US" dirty="0" smtClean="0"/>
              <a:t>在简单图中</a:t>
            </a:r>
            <a:r>
              <a:rPr lang="en-US" altLang="zh-CN" dirty="0" smtClean="0"/>
              <a:t>, </a:t>
            </a:r>
            <a:r>
              <a:rPr lang="zh-CN" altLang="en-US" dirty="0" smtClean="0"/>
              <a:t>当有一条边与</a:t>
            </a:r>
            <a:r>
              <a:rPr lang="en-US" altLang="zh-CN" dirty="0" smtClean="0"/>
              <a:t>{u, v}</a:t>
            </a:r>
            <a:r>
              <a:rPr lang="zh-CN" altLang="en-US" dirty="0" smtClean="0"/>
              <a:t>相关联时</a:t>
            </a:r>
            <a:r>
              <a:rPr lang="en-US" altLang="zh-CN" dirty="0" smtClean="0"/>
              <a:t>, </a:t>
            </a:r>
            <a:r>
              <a:rPr lang="zh-CN" altLang="en-US" dirty="0" smtClean="0"/>
              <a:t>也可以说</a:t>
            </a:r>
            <a:r>
              <a:rPr lang="en-US" altLang="zh-CN" dirty="0"/>
              <a:t>{</a:t>
            </a:r>
            <a:r>
              <a:rPr lang="en-US" altLang="zh-CN" dirty="0" smtClean="0"/>
              <a:t>u, v}</a:t>
            </a:r>
            <a:r>
              <a:rPr lang="zh-CN" altLang="en-US" dirty="0" smtClean="0"/>
              <a:t>是该图的一条边</a:t>
            </a:r>
            <a:r>
              <a:rPr lang="en-US" altLang="zh-CN" dirty="0" smtClean="0"/>
              <a:t>.</a:t>
            </a:r>
          </a:p>
          <a:p>
            <a:r>
              <a:rPr lang="zh-CN" altLang="en-US" dirty="0" smtClean="0"/>
              <a:t>总结</a:t>
            </a:r>
            <a:r>
              <a:rPr lang="en-US" altLang="zh-CN" dirty="0" smtClean="0"/>
              <a:t>: </a:t>
            </a:r>
            <a:r>
              <a:rPr lang="zh-CN" altLang="en-US" dirty="0" smtClean="0"/>
              <a:t>无环</a:t>
            </a:r>
            <a:r>
              <a:rPr lang="en-US" altLang="zh-CN" dirty="0" smtClean="0"/>
              <a:t>, </a:t>
            </a:r>
            <a:r>
              <a:rPr lang="zh-CN" altLang="en-US" dirty="0" smtClean="0"/>
              <a:t>无重边</a:t>
            </a:r>
            <a:endParaRPr lang="en-US" altLang="zh-CN" dirty="0" smtClean="0"/>
          </a:p>
          <a:p>
            <a:pPr marL="0" indent="0">
              <a:buNone/>
            </a:pPr>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a:p>
        </p:txBody>
      </p:sp>
      <p:sp>
        <p:nvSpPr>
          <p:cNvPr id="16" name="日期占位符 15"/>
          <p:cNvSpPr>
            <a:spLocks noGrp="1"/>
          </p:cNvSpPr>
          <p:nvPr>
            <p:ph type="dt" sz="half" idx="10"/>
          </p:nvPr>
        </p:nvSpPr>
        <p:spPr/>
        <p:txBody>
          <a:bodyPr/>
          <a:lstStyle/>
          <a:p>
            <a:fld id="{F077589C-D890-4EFA-A38D-91DCB405FDE1}" type="datetime1">
              <a:rPr lang="zh-CN" altLang="en-US" smtClean="0"/>
              <a:t>2025/4/15</a:t>
            </a:fld>
            <a:endParaRPr lang="zh-CN" altLang="en-US" dirty="0"/>
          </a:p>
        </p:txBody>
      </p:sp>
      <p:sp>
        <p:nvSpPr>
          <p:cNvPr id="17" name="页脚占位符 1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18" name="灯片编号占位符 17"/>
          <p:cNvSpPr>
            <a:spLocks noGrp="1"/>
          </p:cNvSpPr>
          <p:nvPr>
            <p:ph type="sldNum" sz="quarter" idx="12"/>
          </p:nvPr>
        </p:nvSpPr>
        <p:spPr/>
        <p:txBody>
          <a:bodyPr/>
          <a:lstStyle/>
          <a:p>
            <a:fld id="{67913A8A-9EFB-4B5F-9CCB-3D21173FAA85}" type="slidenum">
              <a:rPr lang="zh-CN" altLang="en-US" smtClean="0"/>
              <a:pPr/>
              <a:t>5</a:t>
            </a:fld>
            <a:endParaRPr lang="zh-CN" altLang="en-US" dirty="0"/>
          </a:p>
        </p:txBody>
      </p:sp>
      <p:grpSp>
        <p:nvGrpSpPr>
          <p:cNvPr id="25" name="Group 21"/>
          <p:cNvGrpSpPr/>
          <p:nvPr/>
        </p:nvGrpSpPr>
        <p:grpSpPr>
          <a:xfrm>
            <a:off x="6934200" y="4245256"/>
            <a:ext cx="3429000" cy="2057400"/>
            <a:chOff x="3778826" y="3475664"/>
            <a:chExt cx="2758452" cy="1598392"/>
          </a:xfrm>
        </p:grpSpPr>
        <p:sp>
          <p:nvSpPr>
            <p:cNvPr id="26" name="TextBox 30"/>
            <p:cNvSpPr txBox="1"/>
            <p:nvPr/>
          </p:nvSpPr>
          <p:spPr>
            <a:xfrm>
              <a:off x="3778826" y="3475664"/>
              <a:ext cx="318655" cy="369332"/>
            </a:xfrm>
            <a:prstGeom prst="rect">
              <a:avLst/>
            </a:prstGeom>
            <a:noFill/>
          </p:spPr>
          <p:txBody>
            <a:bodyPr wrap="square" rtlCol="0">
              <a:spAutoFit/>
            </a:bodyPr>
            <a:lstStyle/>
            <a:p>
              <a:r>
                <a:rPr lang="en-US" i="1" dirty="0"/>
                <a:t>a</a:t>
              </a:r>
            </a:p>
          </p:txBody>
        </p:sp>
        <p:sp>
          <p:nvSpPr>
            <p:cNvPr id="28" name="Oval 32"/>
            <p:cNvSpPr/>
            <p:nvPr/>
          </p:nvSpPr>
          <p:spPr>
            <a:xfrm>
              <a:off x="4147369" y="3570666"/>
              <a:ext cx="159327" cy="1543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33"/>
            <p:cNvSpPr/>
            <p:nvPr/>
          </p:nvSpPr>
          <p:spPr>
            <a:xfrm>
              <a:off x="5953078" y="4769181"/>
              <a:ext cx="159327" cy="1543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4"/>
            <p:cNvSpPr/>
            <p:nvPr/>
          </p:nvSpPr>
          <p:spPr>
            <a:xfrm>
              <a:off x="5953078" y="3611629"/>
              <a:ext cx="159327" cy="1543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4" name="Straight Connector 36"/>
            <p:cNvCxnSpPr>
              <a:stCxn id="28" idx="5"/>
              <a:endCxn id="29" idx="1"/>
            </p:cNvCxnSpPr>
            <p:nvPr/>
          </p:nvCxnSpPr>
          <p:spPr>
            <a:xfrm>
              <a:off x="4283363" y="3702403"/>
              <a:ext cx="1693048" cy="1089381"/>
            </a:xfrm>
            <a:prstGeom prst="line">
              <a:avLst/>
            </a:prstGeom>
          </p:spPr>
          <p:style>
            <a:lnRef idx="1">
              <a:schemeClr val="accent1"/>
            </a:lnRef>
            <a:fillRef idx="0">
              <a:schemeClr val="accent1"/>
            </a:fillRef>
            <a:effectRef idx="0">
              <a:schemeClr val="accent1"/>
            </a:effectRef>
            <a:fontRef idx="minor">
              <a:schemeClr val="tx1"/>
            </a:fontRef>
          </p:style>
        </p:cxnSp>
        <p:sp>
          <p:nvSpPr>
            <p:cNvPr id="35" name="TextBox 38"/>
            <p:cNvSpPr txBox="1"/>
            <p:nvPr/>
          </p:nvSpPr>
          <p:spPr>
            <a:xfrm>
              <a:off x="6218622" y="4704724"/>
              <a:ext cx="318655" cy="369332"/>
            </a:xfrm>
            <a:prstGeom prst="rect">
              <a:avLst/>
            </a:prstGeom>
            <a:noFill/>
          </p:spPr>
          <p:txBody>
            <a:bodyPr wrap="square" rtlCol="0">
              <a:spAutoFit/>
            </a:bodyPr>
            <a:lstStyle/>
            <a:p>
              <a:r>
                <a:rPr lang="en-US" i="1" dirty="0"/>
                <a:t>c</a:t>
              </a:r>
            </a:p>
          </p:txBody>
        </p:sp>
        <p:sp>
          <p:nvSpPr>
            <p:cNvPr id="36" name="TextBox 39"/>
            <p:cNvSpPr txBox="1"/>
            <p:nvPr/>
          </p:nvSpPr>
          <p:spPr>
            <a:xfrm>
              <a:off x="6218623" y="3508735"/>
              <a:ext cx="318655" cy="369332"/>
            </a:xfrm>
            <a:prstGeom prst="rect">
              <a:avLst/>
            </a:prstGeom>
            <a:noFill/>
          </p:spPr>
          <p:txBody>
            <a:bodyPr wrap="square" rtlCol="0">
              <a:spAutoFit/>
            </a:bodyPr>
            <a:lstStyle/>
            <a:p>
              <a:r>
                <a:rPr lang="en-US" i="1" dirty="0"/>
                <a:t>b</a:t>
              </a:r>
            </a:p>
          </p:txBody>
        </p:sp>
        <p:sp>
          <p:nvSpPr>
            <p:cNvPr id="37" name="Oval 14"/>
            <p:cNvSpPr/>
            <p:nvPr/>
          </p:nvSpPr>
          <p:spPr>
            <a:xfrm>
              <a:off x="4256808" y="4750003"/>
              <a:ext cx="159327" cy="1543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19"/>
            <p:cNvSpPr txBox="1"/>
            <p:nvPr/>
          </p:nvSpPr>
          <p:spPr>
            <a:xfrm>
              <a:off x="3831708" y="4696943"/>
              <a:ext cx="318655" cy="369332"/>
            </a:xfrm>
            <a:prstGeom prst="rect">
              <a:avLst/>
            </a:prstGeom>
            <a:noFill/>
          </p:spPr>
          <p:txBody>
            <a:bodyPr wrap="square" rtlCol="0">
              <a:spAutoFit/>
            </a:bodyPr>
            <a:lstStyle/>
            <a:p>
              <a:r>
                <a:rPr lang="en-US" i="1" dirty="0"/>
                <a:t>d</a:t>
              </a:r>
            </a:p>
          </p:txBody>
        </p:sp>
        <p:cxnSp>
          <p:nvCxnSpPr>
            <p:cNvPr id="39" name="Straight Connector 8"/>
            <p:cNvCxnSpPr>
              <a:stCxn id="37" idx="6"/>
            </p:cNvCxnSpPr>
            <p:nvPr/>
          </p:nvCxnSpPr>
          <p:spPr>
            <a:xfrm flipV="1">
              <a:off x="4416135" y="3765969"/>
              <a:ext cx="1536943" cy="1061204"/>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12"/>
            <p:cNvCxnSpPr>
              <a:endCxn id="32" idx="2"/>
            </p:cNvCxnSpPr>
            <p:nvPr/>
          </p:nvCxnSpPr>
          <p:spPr>
            <a:xfrm>
              <a:off x="4336471" y="3647836"/>
              <a:ext cx="1616607" cy="40963"/>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15"/>
            <p:cNvCxnSpPr>
              <a:stCxn id="32" idx="4"/>
              <a:endCxn id="29" idx="0"/>
            </p:cNvCxnSpPr>
            <p:nvPr/>
          </p:nvCxnSpPr>
          <p:spPr>
            <a:xfrm>
              <a:off x="6032742" y="3765969"/>
              <a:ext cx="0" cy="1003212"/>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17"/>
            <p:cNvCxnSpPr>
              <a:stCxn id="37" idx="6"/>
              <a:endCxn id="29" idx="2"/>
            </p:cNvCxnSpPr>
            <p:nvPr/>
          </p:nvCxnSpPr>
          <p:spPr>
            <a:xfrm>
              <a:off x="4416135" y="4827173"/>
              <a:ext cx="1536943" cy="19178"/>
            </a:xfrm>
            <a:prstGeom prst="line">
              <a:avLst/>
            </a:prstGeom>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图</a:t>
            </a:r>
            <a:endParaRPr lang="en-US" dirty="0"/>
          </a:p>
        </p:txBody>
      </p:sp>
      <p:sp>
        <p:nvSpPr>
          <p:cNvPr id="3" name="Content Placeholder 2"/>
          <p:cNvSpPr>
            <a:spLocks noGrp="1"/>
          </p:cNvSpPr>
          <p:nvPr>
            <p:ph idx="1"/>
          </p:nvPr>
        </p:nvSpPr>
        <p:spPr/>
        <p:txBody>
          <a:bodyPr>
            <a:normAutofit/>
          </a:bodyPr>
          <a:lstStyle/>
          <a:p>
            <a:r>
              <a:rPr lang="zh-CN" altLang="en-US" dirty="0" smtClean="0"/>
              <a:t>多重边</a:t>
            </a:r>
            <a:r>
              <a:rPr lang="en-US" altLang="zh-CN" dirty="0" smtClean="0"/>
              <a:t>(</a:t>
            </a:r>
            <a:r>
              <a:rPr lang="zh-CN" altLang="en-US" dirty="0" smtClean="0"/>
              <a:t>重边</a:t>
            </a:r>
            <a:r>
              <a:rPr lang="en-US" altLang="zh-CN" dirty="0" smtClean="0"/>
              <a:t>, </a:t>
            </a:r>
            <a:r>
              <a:rPr lang="zh-CN" altLang="en-US" dirty="0" smtClean="0"/>
              <a:t>或平行边</a:t>
            </a:r>
            <a:r>
              <a:rPr lang="en-US" altLang="zh-CN" dirty="0" smtClean="0"/>
              <a:t>)</a:t>
            </a:r>
            <a:r>
              <a:rPr lang="zh-CN" altLang="en-US" dirty="0" smtClean="0"/>
              <a:t>是两</a:t>
            </a:r>
            <a:r>
              <a:rPr lang="zh-CN" altLang="en-US" dirty="0"/>
              <a:t>条或多条与同一对顶点相连接的</a:t>
            </a:r>
            <a:r>
              <a:rPr lang="zh-CN" altLang="en-US" dirty="0" smtClean="0"/>
              <a:t>边</a:t>
            </a:r>
            <a:r>
              <a:rPr lang="en-US" altLang="zh-CN" dirty="0" smtClean="0"/>
              <a:t>.</a:t>
            </a:r>
          </a:p>
          <a:p>
            <a:r>
              <a:rPr lang="zh-CN" altLang="en-US" dirty="0" smtClean="0"/>
              <a:t>在图中</a:t>
            </a:r>
            <a:r>
              <a:rPr lang="en-US" altLang="zh-CN" dirty="0" smtClean="0"/>
              <a:t>, </a:t>
            </a:r>
            <a:r>
              <a:rPr lang="zh-CN" altLang="en-US" dirty="0" smtClean="0"/>
              <a:t>有多重边连接同一对顶点的图称为</a:t>
            </a:r>
            <a:r>
              <a:rPr lang="zh-CN" altLang="en-US" b="1" dirty="0" smtClean="0">
                <a:solidFill>
                  <a:srgbClr val="C00000"/>
                </a:solidFill>
              </a:rPr>
              <a:t>多重图</a:t>
            </a:r>
            <a:r>
              <a:rPr lang="en-US" altLang="zh-CN" dirty="0" smtClean="0"/>
              <a:t>. </a:t>
            </a:r>
            <a:r>
              <a:rPr lang="zh-CN" altLang="en-US" dirty="0" smtClean="0"/>
              <a:t>当有</a:t>
            </a:r>
            <a:r>
              <a:rPr lang="en-US" altLang="zh-CN" dirty="0" smtClean="0"/>
              <a:t>m</a:t>
            </a:r>
            <a:r>
              <a:rPr lang="zh-CN" altLang="en-US" dirty="0" smtClean="0"/>
              <a:t>条不同的边与相同的无序顶点相关联时</a:t>
            </a:r>
            <a:r>
              <a:rPr lang="en-US" altLang="zh-CN" dirty="0" smtClean="0"/>
              <a:t>, </a:t>
            </a:r>
            <a:r>
              <a:rPr lang="zh-CN" altLang="en-US" dirty="0" smtClean="0"/>
              <a:t>我们也说</a:t>
            </a:r>
            <a:r>
              <a:rPr lang="en-US" dirty="0" smtClean="0"/>
              <a:t> {u, v} </a:t>
            </a:r>
            <a:r>
              <a:rPr lang="zh-CN" altLang="en-US" dirty="0" smtClean="0"/>
              <a:t>是一条多重度为</a:t>
            </a:r>
            <a:r>
              <a:rPr lang="en-US" altLang="zh-CN" dirty="0" smtClean="0"/>
              <a:t>m</a:t>
            </a:r>
            <a:r>
              <a:rPr lang="zh-CN" altLang="en-US" dirty="0" smtClean="0"/>
              <a:t>的边</a:t>
            </a:r>
            <a:r>
              <a:rPr lang="en-US" altLang="zh-CN" dirty="0" smtClean="0"/>
              <a:t>, </a:t>
            </a:r>
            <a:r>
              <a:rPr lang="zh-CN" altLang="en-US" dirty="0" smtClean="0"/>
              <a:t>即可以认为这个边集是边</a:t>
            </a:r>
            <a:r>
              <a:rPr lang="en-US" altLang="zh-CN" dirty="0"/>
              <a:t>{</a:t>
            </a:r>
            <a:r>
              <a:rPr lang="en-US" altLang="zh-CN" dirty="0" smtClean="0"/>
              <a:t>u, v</a:t>
            </a:r>
            <a:r>
              <a:rPr lang="en-US" altLang="zh-CN" dirty="0"/>
              <a:t>} </a:t>
            </a:r>
            <a:r>
              <a:rPr lang="zh-CN" altLang="en-US" dirty="0" smtClean="0"/>
              <a:t>的</a:t>
            </a:r>
            <a:r>
              <a:rPr lang="en-US" altLang="zh-CN" dirty="0" smtClean="0"/>
              <a:t>m</a:t>
            </a:r>
            <a:r>
              <a:rPr lang="zh-CN" altLang="en-US" dirty="0" smtClean="0"/>
              <a:t>个不同副本</a:t>
            </a:r>
            <a:r>
              <a:rPr lang="en-US" altLang="zh-CN" dirty="0" smtClean="0"/>
              <a:t>.</a:t>
            </a:r>
          </a:p>
          <a:p>
            <a:r>
              <a:rPr lang="zh-CN" altLang="en-US" dirty="0" smtClean="0"/>
              <a:t>总结</a:t>
            </a:r>
            <a:r>
              <a:rPr lang="en-US" altLang="zh-CN" dirty="0" smtClean="0"/>
              <a:t>: </a:t>
            </a:r>
            <a:r>
              <a:rPr lang="zh-CN" altLang="en-US" dirty="0" smtClean="0"/>
              <a:t>无环</a:t>
            </a:r>
            <a:r>
              <a:rPr lang="en-US" altLang="zh-CN" dirty="0" smtClean="0"/>
              <a:t>, </a:t>
            </a:r>
            <a:r>
              <a:rPr lang="zh-CN" altLang="en-US" dirty="0" smtClean="0"/>
              <a:t>有多重边</a:t>
            </a:r>
            <a:endParaRPr lang="en-US" altLang="zh-CN" dirty="0" smtClean="0"/>
          </a:p>
          <a:p>
            <a:endParaRPr lang="en-US" dirty="0" smtClean="0"/>
          </a:p>
          <a:p>
            <a:endParaRPr lang="en-US" dirty="0" smtClean="0"/>
          </a:p>
          <a:p>
            <a:endParaRPr lang="en-US" dirty="0"/>
          </a:p>
        </p:txBody>
      </p:sp>
      <p:sp>
        <p:nvSpPr>
          <p:cNvPr id="16" name="日期占位符 15"/>
          <p:cNvSpPr>
            <a:spLocks noGrp="1"/>
          </p:cNvSpPr>
          <p:nvPr>
            <p:ph type="dt" sz="half" idx="10"/>
          </p:nvPr>
        </p:nvSpPr>
        <p:spPr/>
        <p:txBody>
          <a:bodyPr/>
          <a:lstStyle/>
          <a:p>
            <a:fld id="{0D80D8F9-F844-4068-9A80-8CF8B794942B}" type="datetime1">
              <a:rPr lang="zh-CN" altLang="en-US" smtClean="0"/>
              <a:t>2025/4/15</a:t>
            </a:fld>
            <a:endParaRPr lang="zh-CN" altLang="en-US" dirty="0"/>
          </a:p>
        </p:txBody>
      </p:sp>
      <p:sp>
        <p:nvSpPr>
          <p:cNvPr id="17" name="页脚占位符 1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18" name="灯片编号占位符 17"/>
          <p:cNvSpPr>
            <a:spLocks noGrp="1"/>
          </p:cNvSpPr>
          <p:nvPr>
            <p:ph type="sldNum" sz="quarter" idx="12"/>
          </p:nvPr>
        </p:nvSpPr>
        <p:spPr/>
        <p:txBody>
          <a:bodyPr/>
          <a:lstStyle/>
          <a:p>
            <a:fld id="{67913A8A-9EFB-4B5F-9CCB-3D21173FAA85}" type="slidenum">
              <a:rPr lang="zh-CN" altLang="en-US" smtClean="0"/>
              <a:pPr/>
              <a:t>6</a:t>
            </a:fld>
            <a:endParaRPr lang="zh-CN" altLang="en-US" dirty="0"/>
          </a:p>
        </p:txBody>
      </p:sp>
      <p:pic>
        <p:nvPicPr>
          <p:cNvPr id="4" name="图片 3"/>
          <p:cNvPicPr>
            <a:picLocks noChangeAspect="1"/>
          </p:cNvPicPr>
          <p:nvPr/>
        </p:nvPicPr>
        <p:blipFill>
          <a:blip r:embed="rId2"/>
          <a:stretch>
            <a:fillRect/>
          </a:stretch>
        </p:blipFill>
        <p:spPr>
          <a:xfrm>
            <a:off x="3357349" y="2840766"/>
            <a:ext cx="4343400" cy="3369539"/>
          </a:xfrm>
          <a:prstGeom prst="rect">
            <a:avLst/>
          </a:prstGeom>
        </p:spPr>
      </p:pic>
      <p:sp>
        <p:nvSpPr>
          <p:cNvPr id="5" name="文本框 4"/>
          <p:cNvSpPr txBox="1"/>
          <p:nvPr/>
        </p:nvSpPr>
        <p:spPr>
          <a:xfrm>
            <a:off x="8132313" y="4038600"/>
            <a:ext cx="3200400" cy="830997"/>
          </a:xfrm>
          <a:prstGeom prst="rect">
            <a:avLst/>
          </a:prstGeom>
          <a:noFill/>
        </p:spPr>
        <p:txBody>
          <a:bodyPr wrap="square" rtlCol="0">
            <a:spAutoFit/>
          </a:bodyPr>
          <a:lstStyle/>
          <a:p>
            <a:r>
              <a:rPr lang="zh-CN" altLang="en-US" sz="2400" dirty="0" smtClean="0">
                <a:latin typeface="微软雅黑" panose="020B0503020204020204" pitchFamily="34" charset="-122"/>
                <a:ea typeface="微软雅黑" panose="020B0503020204020204" pitchFamily="34" charset="-122"/>
              </a:rPr>
              <a:t>例如：网络中两个数据中心有多重链接</a:t>
            </a:r>
            <a:endParaRPr lang="zh-CN" altLang="en-US" sz="2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307143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图</a:t>
            </a:r>
            <a:endParaRPr lang="en-US" dirty="0"/>
          </a:p>
        </p:txBody>
      </p:sp>
      <p:sp>
        <p:nvSpPr>
          <p:cNvPr id="3" name="Content Placeholder 2"/>
          <p:cNvSpPr>
            <a:spLocks noGrp="1"/>
          </p:cNvSpPr>
          <p:nvPr>
            <p:ph idx="1"/>
          </p:nvPr>
        </p:nvSpPr>
        <p:spPr/>
        <p:txBody>
          <a:bodyPr>
            <a:normAutofit/>
          </a:bodyPr>
          <a:lstStyle/>
          <a:p>
            <a:r>
              <a:rPr lang="zh-CN" altLang="en-US" dirty="0" smtClean="0"/>
              <a:t>图中</a:t>
            </a:r>
            <a:r>
              <a:rPr lang="en-US" altLang="zh-CN" dirty="0" smtClean="0"/>
              <a:t>, </a:t>
            </a:r>
            <a:r>
              <a:rPr lang="zh-CN" altLang="en-US" dirty="0" smtClean="0"/>
              <a:t>有时存在把顶点连接到它自身的边</a:t>
            </a:r>
            <a:r>
              <a:rPr lang="en-US" altLang="zh-CN" dirty="0" smtClean="0"/>
              <a:t>, </a:t>
            </a:r>
            <a:r>
              <a:rPr lang="zh-CN" altLang="en-US" dirty="0" smtClean="0"/>
              <a:t>这样的边叫做环</a:t>
            </a:r>
            <a:r>
              <a:rPr lang="en-US" altLang="zh-CN" dirty="0" smtClean="0"/>
              <a:t>. </a:t>
            </a:r>
            <a:r>
              <a:rPr lang="zh-CN" altLang="en-US" dirty="0" smtClean="0"/>
              <a:t>有时</a:t>
            </a:r>
            <a:r>
              <a:rPr lang="en-US" altLang="zh-CN" dirty="0" smtClean="0"/>
              <a:t>, </a:t>
            </a:r>
            <a:r>
              <a:rPr lang="zh-CN" altLang="en-US" dirty="0" smtClean="0"/>
              <a:t>一个顶点可能需要多个环</a:t>
            </a:r>
            <a:r>
              <a:rPr lang="en-US" altLang="zh-CN" dirty="0" smtClean="0"/>
              <a:t>. </a:t>
            </a:r>
            <a:r>
              <a:rPr lang="zh-CN" altLang="en-US" dirty="0" smtClean="0"/>
              <a:t>包含环或存在多重边连接同一对顶点或同一个顶点的图</a:t>
            </a:r>
            <a:r>
              <a:rPr lang="en-US" altLang="zh-CN" dirty="0" smtClean="0"/>
              <a:t>, </a:t>
            </a:r>
            <a:r>
              <a:rPr lang="zh-CN" altLang="en-US" dirty="0" smtClean="0"/>
              <a:t>称为</a:t>
            </a:r>
            <a:r>
              <a:rPr lang="zh-CN" altLang="en-US" b="1" dirty="0" smtClean="0">
                <a:solidFill>
                  <a:srgbClr val="C00000"/>
                </a:solidFill>
              </a:rPr>
              <a:t>伪图</a:t>
            </a:r>
            <a:r>
              <a:rPr lang="en-US" altLang="zh-CN" dirty="0" smtClean="0"/>
              <a:t>.</a:t>
            </a:r>
          </a:p>
          <a:p>
            <a:r>
              <a:rPr lang="zh-CN" altLang="en-US" dirty="0" smtClean="0"/>
              <a:t>总结</a:t>
            </a:r>
            <a:r>
              <a:rPr lang="en-US" altLang="zh-CN" dirty="0" smtClean="0"/>
              <a:t>: </a:t>
            </a:r>
            <a:r>
              <a:rPr lang="zh-CN" altLang="en-US" dirty="0" smtClean="0"/>
              <a:t>可以有环</a:t>
            </a:r>
            <a:r>
              <a:rPr lang="en-US" altLang="zh-CN" dirty="0" smtClean="0"/>
              <a:t>, </a:t>
            </a:r>
            <a:r>
              <a:rPr lang="zh-CN" altLang="en-US" dirty="0" smtClean="0"/>
              <a:t>可以有多重边</a:t>
            </a:r>
            <a:endParaRPr lang="en-US" altLang="zh-CN"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a:p>
        </p:txBody>
      </p:sp>
      <p:sp>
        <p:nvSpPr>
          <p:cNvPr id="22" name="TextBox 21"/>
          <p:cNvSpPr txBox="1"/>
          <p:nvPr/>
        </p:nvSpPr>
        <p:spPr>
          <a:xfrm>
            <a:off x="4471485" y="4730949"/>
            <a:ext cx="2079344" cy="830997"/>
          </a:xfrm>
          <a:prstGeom prst="rect">
            <a:avLst/>
          </a:prstGeom>
          <a:noFill/>
        </p:spPr>
        <p:txBody>
          <a:bodyPr wrap="square" rtlCol="0">
            <a:spAutoFit/>
          </a:bodyPr>
          <a:lstStyle/>
          <a:p>
            <a:r>
              <a:rPr lang="zh-CN" altLang="en-US" sz="2400" dirty="0" smtClean="0">
                <a:latin typeface="微软雅黑" panose="020B0503020204020204" pitchFamily="34" charset="-122"/>
                <a:ea typeface="微软雅黑" panose="020B0503020204020204" pitchFamily="34" charset="-122"/>
              </a:rPr>
              <a:t>同时包含多重边和环的伪图</a:t>
            </a:r>
            <a:endParaRPr lang="en-US" sz="2400" dirty="0">
              <a:latin typeface="微软雅黑" panose="020B0503020204020204" pitchFamily="34" charset="-122"/>
              <a:ea typeface="微软雅黑" panose="020B0503020204020204" pitchFamily="34" charset="-122"/>
            </a:endParaRPr>
          </a:p>
        </p:txBody>
      </p:sp>
      <p:grpSp>
        <p:nvGrpSpPr>
          <p:cNvPr id="33" name="Group 32"/>
          <p:cNvGrpSpPr/>
          <p:nvPr/>
        </p:nvGrpSpPr>
        <p:grpSpPr>
          <a:xfrm>
            <a:off x="4038600" y="2916528"/>
            <a:ext cx="2481975" cy="1769028"/>
            <a:chOff x="1197412" y="4729300"/>
            <a:chExt cx="2481975" cy="1769028"/>
          </a:xfrm>
        </p:grpSpPr>
        <p:grpSp>
          <p:nvGrpSpPr>
            <p:cNvPr id="31" name="Group 30"/>
            <p:cNvGrpSpPr/>
            <p:nvPr/>
          </p:nvGrpSpPr>
          <p:grpSpPr>
            <a:xfrm>
              <a:off x="1197412" y="4729300"/>
              <a:ext cx="2481975" cy="1769028"/>
              <a:chOff x="1197412" y="4729300"/>
              <a:chExt cx="2481975" cy="1769028"/>
            </a:xfrm>
          </p:grpSpPr>
          <p:grpSp>
            <p:nvGrpSpPr>
              <p:cNvPr id="5" name="Group 4"/>
              <p:cNvGrpSpPr/>
              <p:nvPr/>
            </p:nvGrpSpPr>
            <p:grpSpPr>
              <a:xfrm>
                <a:off x="1565113" y="4729300"/>
                <a:ext cx="1838500" cy="1658899"/>
                <a:chOff x="2971800" y="1981200"/>
                <a:chExt cx="3048000" cy="2438400"/>
              </a:xfrm>
            </p:grpSpPr>
            <p:sp>
              <p:nvSpPr>
                <p:cNvPr id="9" name="Oval 8"/>
                <p:cNvSpPr/>
                <p:nvPr/>
              </p:nvSpPr>
              <p:spPr>
                <a:xfrm>
                  <a:off x="2971800" y="22860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4648200" y="38862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5562600" y="22860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p:cNvCxnSpPr>
                  <a:endCxn id="11" idx="2"/>
                </p:cNvCxnSpPr>
                <p:nvPr/>
              </p:nvCxnSpPr>
              <p:spPr>
                <a:xfrm flipV="1">
                  <a:off x="3276600" y="2400300"/>
                  <a:ext cx="2286000" cy="381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9" idx="5"/>
                  <a:endCxn id="10" idx="1"/>
                </p:cNvCxnSpPr>
                <p:nvPr/>
              </p:nvCxnSpPr>
              <p:spPr>
                <a:xfrm rot="16200000" flipH="1">
                  <a:off x="3205022" y="2443022"/>
                  <a:ext cx="1438556" cy="1514756"/>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11" idx="4"/>
                  <a:endCxn id="10" idx="7"/>
                </p:cNvCxnSpPr>
                <p:nvPr/>
              </p:nvCxnSpPr>
              <p:spPr>
                <a:xfrm rot="5400000">
                  <a:off x="4557572" y="2800350"/>
                  <a:ext cx="1405078" cy="833578"/>
                </a:xfrm>
                <a:prstGeom prst="line">
                  <a:avLst/>
                </a:prstGeom>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5562600" y="1981200"/>
                  <a:ext cx="457200" cy="304800"/>
                </a:xfrm>
                <a:prstGeom prst="ellipse">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4495800" y="4114800"/>
                  <a:ext cx="457200" cy="304800"/>
                </a:xfrm>
                <a:prstGeom prst="ellipse">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TextBox 5"/>
              <p:cNvSpPr txBox="1"/>
              <p:nvPr/>
            </p:nvSpPr>
            <p:spPr>
              <a:xfrm>
                <a:off x="1197412" y="4884822"/>
                <a:ext cx="275775" cy="369332"/>
              </a:xfrm>
              <a:prstGeom prst="rect">
                <a:avLst/>
              </a:prstGeom>
              <a:noFill/>
            </p:spPr>
            <p:txBody>
              <a:bodyPr wrap="square" rtlCol="0">
                <a:spAutoFit/>
              </a:bodyPr>
              <a:lstStyle/>
              <a:p>
                <a:r>
                  <a:rPr lang="en-US" i="1" dirty="0"/>
                  <a:t>a</a:t>
                </a:r>
              </a:p>
            </p:txBody>
          </p:sp>
          <p:sp>
            <p:nvSpPr>
              <p:cNvPr id="7" name="TextBox 6"/>
              <p:cNvSpPr txBox="1"/>
              <p:nvPr/>
            </p:nvSpPr>
            <p:spPr>
              <a:xfrm>
                <a:off x="3403612" y="4884822"/>
                <a:ext cx="275775" cy="369332"/>
              </a:xfrm>
              <a:prstGeom prst="rect">
                <a:avLst/>
              </a:prstGeom>
              <a:noFill/>
            </p:spPr>
            <p:txBody>
              <a:bodyPr wrap="square" rtlCol="0">
                <a:spAutoFit/>
              </a:bodyPr>
              <a:lstStyle/>
              <a:p>
                <a:r>
                  <a:rPr lang="en-US" i="1" dirty="0"/>
                  <a:t>b</a:t>
                </a:r>
              </a:p>
            </p:txBody>
          </p:sp>
          <p:sp>
            <p:nvSpPr>
              <p:cNvPr id="8" name="TextBox 7"/>
              <p:cNvSpPr txBox="1"/>
              <p:nvPr/>
            </p:nvSpPr>
            <p:spPr>
              <a:xfrm>
                <a:off x="2806100" y="6128996"/>
                <a:ext cx="275775" cy="369332"/>
              </a:xfrm>
              <a:prstGeom prst="rect">
                <a:avLst/>
              </a:prstGeom>
              <a:noFill/>
            </p:spPr>
            <p:txBody>
              <a:bodyPr wrap="square" rtlCol="0">
                <a:spAutoFit/>
              </a:bodyPr>
              <a:lstStyle/>
              <a:p>
                <a:r>
                  <a:rPr lang="en-US" i="1" dirty="0"/>
                  <a:t>c</a:t>
                </a:r>
              </a:p>
            </p:txBody>
          </p:sp>
        </p:grpSp>
        <p:sp>
          <p:nvSpPr>
            <p:cNvPr id="27" name="Freeform 26"/>
            <p:cNvSpPr/>
            <p:nvPr/>
          </p:nvSpPr>
          <p:spPr>
            <a:xfrm>
              <a:off x="1604946" y="5039139"/>
              <a:ext cx="979228" cy="1143000"/>
            </a:xfrm>
            <a:custGeom>
              <a:avLst/>
              <a:gdLst>
                <a:gd name="connsiteX0" fmla="*/ 979228 w 979228"/>
                <a:gd name="connsiteY0" fmla="*/ 1143000 h 1143000"/>
                <a:gd name="connsiteX1" fmla="*/ 94645 w 979228"/>
                <a:gd name="connsiteY1" fmla="*/ 815009 h 1143000"/>
                <a:gd name="connsiteX2" fmla="*/ 25071 w 979228"/>
                <a:gd name="connsiteY2" fmla="*/ 9939 h 1143000"/>
                <a:gd name="connsiteX3" fmla="*/ 25071 w 979228"/>
                <a:gd name="connsiteY3" fmla="*/ 9939 h 1143000"/>
                <a:gd name="connsiteX4" fmla="*/ 15132 w 979228"/>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9228" h="1143000">
                  <a:moveTo>
                    <a:pt x="979228" y="1143000"/>
                  </a:moveTo>
                  <a:cubicBezTo>
                    <a:pt x="616449" y="1073426"/>
                    <a:pt x="253671" y="1003852"/>
                    <a:pt x="94645" y="815009"/>
                  </a:cubicBezTo>
                  <a:cubicBezTo>
                    <a:pt x="-64381" y="626165"/>
                    <a:pt x="25071" y="9939"/>
                    <a:pt x="25071" y="9939"/>
                  </a:cubicBezTo>
                  <a:lnTo>
                    <a:pt x="25071" y="9939"/>
                  </a:lnTo>
                  <a:lnTo>
                    <a:pt x="15132" y="0"/>
                  </a:lnTo>
                </a:path>
              </a:pathLst>
            </a:cu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29"/>
            <p:cNvSpPr/>
            <p:nvPr/>
          </p:nvSpPr>
          <p:spPr>
            <a:xfrm>
              <a:off x="2713383" y="5029200"/>
              <a:ext cx="663533" cy="1113183"/>
            </a:xfrm>
            <a:custGeom>
              <a:avLst/>
              <a:gdLst>
                <a:gd name="connsiteX0" fmla="*/ 0 w 663533"/>
                <a:gd name="connsiteY0" fmla="*/ 1113183 h 1113183"/>
                <a:gd name="connsiteX1" fmla="*/ 636104 w 663533"/>
                <a:gd name="connsiteY1" fmla="*/ 874643 h 1113183"/>
                <a:gd name="connsiteX2" fmla="*/ 556591 w 663533"/>
                <a:gd name="connsiteY2" fmla="*/ 0 h 1113183"/>
              </a:gdLst>
              <a:ahLst/>
              <a:cxnLst>
                <a:cxn ang="0">
                  <a:pos x="connsiteX0" y="connsiteY0"/>
                </a:cxn>
                <a:cxn ang="0">
                  <a:pos x="connsiteX1" y="connsiteY1"/>
                </a:cxn>
                <a:cxn ang="0">
                  <a:pos x="connsiteX2" y="connsiteY2"/>
                </a:cxn>
              </a:cxnLst>
              <a:rect l="l" t="t" r="r" b="b"/>
              <a:pathLst>
                <a:path w="663533" h="1113183">
                  <a:moveTo>
                    <a:pt x="0" y="1113183"/>
                  </a:moveTo>
                  <a:cubicBezTo>
                    <a:pt x="271669" y="1086678"/>
                    <a:pt x="543339" y="1060173"/>
                    <a:pt x="636104" y="874643"/>
                  </a:cubicBezTo>
                  <a:cubicBezTo>
                    <a:pt x="728869" y="689113"/>
                    <a:pt x="556591" y="0"/>
                    <a:pt x="556591" y="0"/>
                  </a:cubicBezTo>
                </a:path>
              </a:pathLst>
            </a:cu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日期占位符 15"/>
          <p:cNvSpPr>
            <a:spLocks noGrp="1"/>
          </p:cNvSpPr>
          <p:nvPr>
            <p:ph type="dt" sz="half" idx="10"/>
          </p:nvPr>
        </p:nvSpPr>
        <p:spPr/>
        <p:txBody>
          <a:bodyPr/>
          <a:lstStyle/>
          <a:p>
            <a:fld id="{E14D4275-08D7-4BC2-8C45-3485524A45F4}" type="datetime1">
              <a:rPr lang="zh-CN" altLang="en-US" smtClean="0"/>
              <a:t>2025/4/15</a:t>
            </a:fld>
            <a:endParaRPr lang="zh-CN" altLang="en-US" dirty="0"/>
          </a:p>
        </p:txBody>
      </p:sp>
      <p:sp>
        <p:nvSpPr>
          <p:cNvPr id="17" name="页脚占位符 1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18" name="灯片编号占位符 17"/>
          <p:cNvSpPr>
            <a:spLocks noGrp="1"/>
          </p:cNvSpPr>
          <p:nvPr>
            <p:ph type="sldNum" sz="quarter" idx="12"/>
          </p:nvPr>
        </p:nvSpPr>
        <p:spPr/>
        <p:txBody>
          <a:bodyPr/>
          <a:lstStyle/>
          <a:p>
            <a:fld id="{67913A8A-9EFB-4B5F-9CCB-3D21173FAA85}" type="slidenum">
              <a:rPr lang="zh-CN" altLang="en-US" smtClean="0"/>
              <a:pPr/>
              <a:t>7</a:t>
            </a:fld>
            <a:endParaRPr lang="zh-CN" altLang="en-US" dirty="0"/>
          </a:p>
        </p:txBody>
      </p:sp>
    </p:spTree>
    <p:extLst>
      <p:ext uri="{BB962C8B-B14F-4D97-AF65-F5344CB8AC3E}">
        <p14:creationId xmlns:p14="http://schemas.microsoft.com/office/powerpoint/2010/main" val="311092409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457200" y="1143000"/>
            <a:ext cx="11277599" cy="13716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图</a:t>
            </a:r>
            <a:endParaRPr lang="en-US" dirty="0"/>
          </a:p>
        </p:txBody>
      </p:sp>
      <p:sp>
        <p:nvSpPr>
          <p:cNvPr id="3" name="Content Placeholder 2"/>
          <p:cNvSpPr>
            <a:spLocks noGrp="1"/>
          </p:cNvSpPr>
          <p:nvPr>
            <p:ph idx="1"/>
          </p:nvPr>
        </p:nvSpPr>
        <p:spPr/>
        <p:txBody>
          <a:bodyPr/>
          <a:lstStyle/>
          <a:p>
            <a:r>
              <a:rPr lang="zh-CN" altLang="en-US" dirty="0" smtClean="0"/>
              <a:t>定义</a:t>
            </a:r>
            <a:r>
              <a:rPr lang="en-US" altLang="zh-CN" dirty="0" smtClean="0"/>
              <a:t>: </a:t>
            </a:r>
            <a:r>
              <a:rPr lang="zh-CN" altLang="en-US" dirty="0" smtClean="0"/>
              <a:t>一个</a:t>
            </a:r>
            <a:r>
              <a:rPr lang="zh-CN" altLang="en-US" b="1" dirty="0" smtClean="0">
                <a:solidFill>
                  <a:srgbClr val="C00000"/>
                </a:solidFill>
              </a:rPr>
              <a:t>有向图</a:t>
            </a:r>
            <a:r>
              <a:rPr lang="en-US" altLang="zh-CN" dirty="0" smtClean="0"/>
              <a:t>(V, E)</a:t>
            </a:r>
            <a:r>
              <a:rPr lang="zh-CN" altLang="en-US" dirty="0" smtClean="0"/>
              <a:t>由一个非空顶点集</a:t>
            </a:r>
            <a:r>
              <a:rPr lang="en-US" altLang="zh-CN" dirty="0" smtClean="0"/>
              <a:t>V</a:t>
            </a:r>
            <a:r>
              <a:rPr lang="zh-CN" altLang="en-US" dirty="0" smtClean="0"/>
              <a:t>和一个有向边</a:t>
            </a:r>
            <a:r>
              <a:rPr lang="en-US" altLang="zh-CN" dirty="0" smtClean="0"/>
              <a:t>(</a:t>
            </a:r>
            <a:r>
              <a:rPr lang="zh-CN" altLang="en-US" dirty="0" smtClean="0"/>
              <a:t>或弧</a:t>
            </a:r>
            <a:r>
              <a:rPr lang="en-US" altLang="zh-CN" dirty="0" smtClean="0"/>
              <a:t>)</a:t>
            </a:r>
            <a:r>
              <a:rPr lang="zh-CN" altLang="en-US" dirty="0" smtClean="0"/>
              <a:t>集</a:t>
            </a:r>
            <a:r>
              <a:rPr lang="en-US" altLang="zh-CN" dirty="0" smtClean="0"/>
              <a:t>E</a:t>
            </a:r>
            <a:r>
              <a:rPr lang="zh-CN" altLang="en-US" dirty="0" smtClean="0"/>
              <a:t>组成</a:t>
            </a:r>
            <a:r>
              <a:rPr lang="en-US" altLang="zh-CN" dirty="0" smtClean="0"/>
              <a:t>. </a:t>
            </a:r>
            <a:r>
              <a:rPr lang="zh-CN" altLang="en-US" dirty="0" smtClean="0"/>
              <a:t>每条有向边与一个顶点有序对相关联</a:t>
            </a:r>
            <a:r>
              <a:rPr lang="en-US" altLang="zh-CN" dirty="0" smtClean="0"/>
              <a:t>. </a:t>
            </a:r>
            <a:r>
              <a:rPr lang="zh-CN" altLang="en-US" dirty="0" smtClean="0"/>
              <a:t>与有序对</a:t>
            </a:r>
            <a:r>
              <a:rPr lang="en-US" altLang="zh-CN" dirty="0" smtClean="0"/>
              <a:t>(u, v)</a:t>
            </a:r>
            <a:r>
              <a:rPr lang="zh-CN" altLang="en-US" dirty="0" smtClean="0"/>
              <a:t>相关联的有向边开始于</a:t>
            </a:r>
            <a:r>
              <a:rPr lang="en-US" altLang="zh-CN" dirty="0" smtClean="0"/>
              <a:t>u, </a:t>
            </a:r>
            <a:r>
              <a:rPr lang="zh-CN" altLang="en-US" dirty="0" smtClean="0"/>
              <a:t>结束于</a:t>
            </a:r>
            <a:r>
              <a:rPr lang="en-US" altLang="zh-CN" dirty="0" smtClean="0"/>
              <a:t>v.</a:t>
            </a:r>
          </a:p>
          <a:p>
            <a:r>
              <a:rPr lang="zh-CN" altLang="en-US" dirty="0" smtClean="0"/>
              <a:t>当对一个无向图中的每一条边都赋予方向后</a:t>
            </a:r>
            <a:r>
              <a:rPr lang="en-US" altLang="zh-CN" dirty="0" smtClean="0"/>
              <a:t>, </a:t>
            </a:r>
            <a:r>
              <a:rPr lang="zh-CN" altLang="en-US" dirty="0" smtClean="0"/>
              <a:t>就得到一个有向图</a:t>
            </a:r>
            <a:r>
              <a:rPr lang="en-US" altLang="zh-CN" dirty="0" smtClean="0"/>
              <a:t>.</a:t>
            </a:r>
          </a:p>
          <a:p>
            <a:r>
              <a:rPr lang="zh-CN" altLang="en-US" dirty="0" smtClean="0"/>
              <a:t>当一个有向图不包含环和多重有向边就称为</a:t>
            </a:r>
            <a:r>
              <a:rPr lang="zh-CN" altLang="en-US" b="1" dirty="0" smtClean="0">
                <a:solidFill>
                  <a:srgbClr val="C00000"/>
                </a:solidFill>
              </a:rPr>
              <a:t>简单有向图</a:t>
            </a:r>
            <a:r>
              <a:rPr lang="en-US" altLang="zh-CN" dirty="0" smtClean="0"/>
              <a:t>. </a:t>
            </a:r>
            <a:r>
              <a:rPr lang="zh-CN" altLang="en-US" dirty="0" smtClean="0"/>
              <a:t>在</a:t>
            </a:r>
            <a:r>
              <a:rPr lang="zh-CN" altLang="en-US" dirty="0"/>
              <a:t>简单</a:t>
            </a:r>
            <a:r>
              <a:rPr lang="zh-CN" altLang="en-US" dirty="0" smtClean="0"/>
              <a:t>有向图中</a:t>
            </a:r>
            <a:r>
              <a:rPr lang="en-US" altLang="zh-CN" dirty="0" smtClean="0"/>
              <a:t>, </a:t>
            </a:r>
            <a:r>
              <a:rPr lang="zh-CN" altLang="en-US" dirty="0" smtClean="0"/>
              <a:t>每个顶点有序对</a:t>
            </a:r>
            <a:r>
              <a:rPr lang="en-US" altLang="zh-CN" dirty="0" smtClean="0"/>
              <a:t>(u, v)</a:t>
            </a:r>
            <a:r>
              <a:rPr lang="zh-CN" altLang="en-US" dirty="0" smtClean="0"/>
              <a:t>之间最多有一条边和他们连接</a:t>
            </a:r>
            <a:r>
              <a:rPr lang="en-US" altLang="zh-CN" dirty="0" smtClean="0"/>
              <a:t>. </a:t>
            </a:r>
            <a:r>
              <a:rPr lang="zh-CN" altLang="en-US" dirty="0" smtClean="0"/>
              <a:t>在图中</a:t>
            </a:r>
            <a:r>
              <a:rPr lang="en-US" altLang="zh-CN" dirty="0" smtClean="0"/>
              <a:t>, (u, v)</a:t>
            </a:r>
            <a:r>
              <a:rPr lang="zh-CN" altLang="en-US" dirty="0" smtClean="0"/>
              <a:t>之间存在一条边</a:t>
            </a:r>
            <a:r>
              <a:rPr lang="en-US" altLang="zh-CN" dirty="0" smtClean="0"/>
              <a:t>, </a:t>
            </a:r>
            <a:r>
              <a:rPr lang="zh-CN" altLang="en-US" dirty="0" smtClean="0"/>
              <a:t>则称</a:t>
            </a:r>
            <a:r>
              <a:rPr lang="en-US" altLang="zh-CN" dirty="0" smtClean="0"/>
              <a:t>(u, v)</a:t>
            </a:r>
            <a:r>
              <a:rPr lang="zh-CN" altLang="en-US" dirty="0" smtClean="0"/>
              <a:t>为边</a:t>
            </a:r>
            <a:r>
              <a:rPr lang="en-US" altLang="zh-CN" dirty="0" smtClean="0"/>
              <a:t>.</a:t>
            </a:r>
          </a:p>
          <a:p>
            <a:pPr marL="0" indent="0">
              <a:buNone/>
            </a:pPr>
            <a:endParaRPr lang="en-US" dirty="0" smtClean="0"/>
          </a:p>
          <a:p>
            <a:endParaRPr lang="en-US" dirty="0"/>
          </a:p>
        </p:txBody>
      </p:sp>
      <p:sp>
        <p:nvSpPr>
          <p:cNvPr id="6" name="日期占位符 5"/>
          <p:cNvSpPr>
            <a:spLocks noGrp="1"/>
          </p:cNvSpPr>
          <p:nvPr>
            <p:ph type="dt" sz="half" idx="10"/>
          </p:nvPr>
        </p:nvSpPr>
        <p:spPr/>
        <p:txBody>
          <a:bodyPr/>
          <a:lstStyle/>
          <a:p>
            <a:fld id="{60B8247A-555E-4923-9C5D-4441B402A60C}" type="datetime1">
              <a:rPr lang="zh-CN" altLang="en-US" smtClean="0"/>
              <a:t>2025/4/15</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8</a:t>
            </a:fld>
            <a:endParaRPr lang="zh-CN" altLang="en-US" dirty="0"/>
          </a:p>
        </p:txBody>
      </p:sp>
      <p:grpSp>
        <p:nvGrpSpPr>
          <p:cNvPr id="19" name="Group 3"/>
          <p:cNvGrpSpPr/>
          <p:nvPr/>
        </p:nvGrpSpPr>
        <p:grpSpPr>
          <a:xfrm>
            <a:off x="7424128" y="4580538"/>
            <a:ext cx="1968392" cy="1439262"/>
            <a:chOff x="2362200" y="2057400"/>
            <a:chExt cx="4038600" cy="2357586"/>
          </a:xfrm>
        </p:grpSpPr>
        <p:sp>
          <p:nvSpPr>
            <p:cNvPr id="20" name="Oval 4"/>
            <p:cNvSpPr/>
            <p:nvPr/>
          </p:nvSpPr>
          <p:spPr>
            <a:xfrm>
              <a:off x="2971800" y="22860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5"/>
            <p:cNvSpPr/>
            <p:nvPr/>
          </p:nvSpPr>
          <p:spPr>
            <a:xfrm>
              <a:off x="4648200" y="38862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6"/>
            <p:cNvSpPr/>
            <p:nvPr/>
          </p:nvSpPr>
          <p:spPr>
            <a:xfrm>
              <a:off x="5562600" y="22860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Connector 7"/>
            <p:cNvCxnSpPr>
              <a:endCxn id="22" idx="2"/>
            </p:cNvCxnSpPr>
            <p:nvPr/>
          </p:nvCxnSpPr>
          <p:spPr>
            <a:xfrm flipV="1">
              <a:off x="3276600" y="2400300"/>
              <a:ext cx="2286000" cy="38100"/>
            </a:xfrm>
            <a:prstGeom prst="line">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4" name="Straight Connector 8"/>
            <p:cNvCxnSpPr>
              <a:stCxn id="20" idx="5"/>
              <a:endCxn id="21" idx="1"/>
            </p:cNvCxnSpPr>
            <p:nvPr/>
          </p:nvCxnSpPr>
          <p:spPr>
            <a:xfrm rot="16200000" flipH="1">
              <a:off x="3205022" y="2443022"/>
              <a:ext cx="1438556" cy="1514756"/>
            </a:xfrm>
            <a:prstGeom prst="line">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5" name="Straight Connector 9"/>
            <p:cNvCxnSpPr/>
            <p:nvPr/>
          </p:nvCxnSpPr>
          <p:spPr>
            <a:xfrm rot="5400000">
              <a:off x="4443272" y="2751185"/>
              <a:ext cx="1405078" cy="833577"/>
            </a:xfrm>
            <a:prstGeom prst="line">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6" name="TextBox 10"/>
            <p:cNvSpPr txBox="1"/>
            <p:nvPr/>
          </p:nvSpPr>
          <p:spPr>
            <a:xfrm>
              <a:off x="2362200" y="2209799"/>
              <a:ext cx="457200" cy="604985"/>
            </a:xfrm>
            <a:prstGeom prst="rect">
              <a:avLst/>
            </a:prstGeom>
            <a:noFill/>
          </p:spPr>
          <p:txBody>
            <a:bodyPr wrap="square" rtlCol="0">
              <a:spAutoFit/>
            </a:bodyPr>
            <a:lstStyle/>
            <a:p>
              <a:r>
                <a:rPr lang="en-US" i="1" dirty="0"/>
                <a:t>a</a:t>
              </a:r>
            </a:p>
          </p:txBody>
        </p:sp>
        <p:sp>
          <p:nvSpPr>
            <p:cNvPr id="27" name="TextBox 11"/>
            <p:cNvSpPr txBox="1"/>
            <p:nvPr/>
          </p:nvSpPr>
          <p:spPr>
            <a:xfrm>
              <a:off x="5943600" y="2057400"/>
              <a:ext cx="457200" cy="604985"/>
            </a:xfrm>
            <a:prstGeom prst="rect">
              <a:avLst/>
            </a:prstGeom>
            <a:noFill/>
          </p:spPr>
          <p:txBody>
            <a:bodyPr wrap="square" rtlCol="0">
              <a:spAutoFit/>
            </a:bodyPr>
            <a:lstStyle/>
            <a:p>
              <a:r>
                <a:rPr lang="en-US" i="1" dirty="0"/>
                <a:t>b</a:t>
              </a:r>
            </a:p>
          </p:txBody>
        </p:sp>
        <p:sp>
          <p:nvSpPr>
            <p:cNvPr id="28" name="TextBox 12"/>
            <p:cNvSpPr txBox="1"/>
            <p:nvPr/>
          </p:nvSpPr>
          <p:spPr>
            <a:xfrm>
              <a:off x="5105400" y="3810001"/>
              <a:ext cx="457200" cy="604985"/>
            </a:xfrm>
            <a:prstGeom prst="rect">
              <a:avLst/>
            </a:prstGeom>
            <a:noFill/>
          </p:spPr>
          <p:txBody>
            <a:bodyPr wrap="square" rtlCol="0">
              <a:spAutoFit/>
            </a:bodyPr>
            <a:lstStyle/>
            <a:p>
              <a:r>
                <a:rPr lang="en-US" i="1" dirty="0"/>
                <a:t>c</a:t>
              </a:r>
            </a:p>
          </p:txBody>
        </p:sp>
      </p:grpSp>
      <p:cxnSp>
        <p:nvCxnSpPr>
          <p:cNvPr id="29" name="Straight Arrow Connector 44"/>
          <p:cNvCxnSpPr/>
          <p:nvPr/>
        </p:nvCxnSpPr>
        <p:spPr>
          <a:xfrm flipV="1">
            <a:off x="8649731" y="4859651"/>
            <a:ext cx="389965" cy="90355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图</a:t>
            </a:r>
            <a:endParaRPr lang="en-US" dirty="0"/>
          </a:p>
        </p:txBody>
      </p:sp>
      <p:sp>
        <p:nvSpPr>
          <p:cNvPr id="3" name="Content Placeholder 2"/>
          <p:cNvSpPr>
            <a:spLocks noGrp="1"/>
          </p:cNvSpPr>
          <p:nvPr>
            <p:ph idx="1"/>
          </p:nvPr>
        </p:nvSpPr>
        <p:spPr/>
        <p:txBody>
          <a:bodyPr>
            <a:normAutofit/>
          </a:bodyPr>
          <a:lstStyle/>
          <a:p>
            <a:r>
              <a:rPr lang="zh-CN" altLang="en-US" dirty="0" smtClean="0"/>
              <a:t>有向图中</a:t>
            </a:r>
            <a:r>
              <a:rPr lang="en-US" altLang="zh-CN" dirty="0" smtClean="0"/>
              <a:t>, </a:t>
            </a:r>
            <a:r>
              <a:rPr lang="zh-CN" altLang="en-US" dirty="0" smtClean="0"/>
              <a:t>可能包含从一个顶点到第二个顶点</a:t>
            </a:r>
            <a:r>
              <a:rPr lang="en-US" altLang="zh-CN" dirty="0" smtClean="0"/>
              <a:t>(</a:t>
            </a:r>
            <a:r>
              <a:rPr lang="zh-CN" altLang="en-US" dirty="0" smtClean="0"/>
              <a:t>也可能是同一个顶点</a:t>
            </a:r>
            <a:r>
              <a:rPr lang="en-US" altLang="zh-CN" dirty="0" smtClean="0"/>
              <a:t>)</a:t>
            </a:r>
            <a:r>
              <a:rPr lang="zh-CN" altLang="en-US" dirty="0" smtClean="0"/>
              <a:t>的多重有向边</a:t>
            </a:r>
            <a:r>
              <a:rPr lang="en-US" altLang="zh-CN" dirty="0" smtClean="0"/>
              <a:t>, </a:t>
            </a:r>
            <a:r>
              <a:rPr lang="zh-CN" altLang="en-US" dirty="0" smtClean="0"/>
              <a:t>就称为</a:t>
            </a:r>
            <a:r>
              <a:rPr lang="zh-CN" altLang="en-US" b="1" dirty="0" smtClean="0">
                <a:solidFill>
                  <a:srgbClr val="C00000"/>
                </a:solidFill>
              </a:rPr>
              <a:t>有向多重图</a:t>
            </a:r>
            <a:r>
              <a:rPr lang="en-US" altLang="zh-CN" dirty="0" smtClean="0"/>
              <a:t>. </a:t>
            </a:r>
            <a:r>
              <a:rPr lang="zh-CN" altLang="en-US" dirty="0" smtClean="0"/>
              <a:t>当</a:t>
            </a:r>
            <a:r>
              <a:rPr lang="en-US" altLang="zh-CN" dirty="0" smtClean="0"/>
              <a:t>m</a:t>
            </a:r>
            <a:r>
              <a:rPr lang="zh-CN" altLang="en-US" dirty="0" smtClean="0"/>
              <a:t>条有向边中的每一条都与顶点有序对</a:t>
            </a:r>
            <a:r>
              <a:rPr lang="en-US" altLang="zh-CN" dirty="0" smtClean="0"/>
              <a:t>(u, v)</a:t>
            </a:r>
            <a:r>
              <a:rPr lang="zh-CN" altLang="en-US" dirty="0" smtClean="0"/>
              <a:t>相关联时</a:t>
            </a:r>
            <a:r>
              <a:rPr lang="en-US" altLang="zh-CN" dirty="0" smtClean="0"/>
              <a:t>, </a:t>
            </a:r>
            <a:r>
              <a:rPr lang="zh-CN" altLang="en-US" dirty="0" smtClean="0"/>
              <a:t>我们称</a:t>
            </a:r>
            <a:r>
              <a:rPr lang="en-US" altLang="zh-CN" dirty="0" smtClean="0"/>
              <a:t>(u, v)</a:t>
            </a:r>
            <a:r>
              <a:rPr lang="zh-CN" altLang="en-US" dirty="0" smtClean="0"/>
              <a:t>是一条多重度为</a:t>
            </a:r>
            <a:r>
              <a:rPr lang="en-US" altLang="zh-CN" dirty="0" smtClean="0"/>
              <a:t>m</a:t>
            </a:r>
            <a:r>
              <a:rPr lang="zh-CN" altLang="en-US" dirty="0" smtClean="0"/>
              <a:t>的边</a:t>
            </a:r>
            <a:r>
              <a:rPr lang="en-US" altLang="zh-CN" dirty="0" smtClean="0"/>
              <a:t>.</a:t>
            </a:r>
          </a:p>
          <a:p>
            <a:endParaRPr lang="en-US" altLang="zh-CN" dirty="0"/>
          </a:p>
          <a:p>
            <a:endParaRPr lang="en-US" altLang="zh-CN" dirty="0" smtClean="0"/>
          </a:p>
          <a:p>
            <a:endParaRPr lang="en-US" altLang="zh-CN" dirty="0" smtClean="0"/>
          </a:p>
          <a:p>
            <a:r>
              <a:rPr lang="zh-CN" altLang="en-US" dirty="0" smtClean="0"/>
              <a:t>有些图中</a:t>
            </a:r>
            <a:r>
              <a:rPr lang="en-US" altLang="zh-CN" dirty="0" smtClean="0"/>
              <a:t>, </a:t>
            </a:r>
            <a:r>
              <a:rPr lang="zh-CN" altLang="en-US" dirty="0" smtClean="0"/>
              <a:t>有些边需要有向</a:t>
            </a:r>
            <a:r>
              <a:rPr lang="en-US" altLang="zh-CN" dirty="0" smtClean="0"/>
              <a:t>, </a:t>
            </a:r>
            <a:r>
              <a:rPr lang="zh-CN" altLang="en-US" dirty="0" smtClean="0"/>
              <a:t>有些需要无向边</a:t>
            </a:r>
            <a:r>
              <a:rPr lang="en-US" altLang="zh-CN" dirty="0" smtClean="0"/>
              <a:t>. </a:t>
            </a:r>
            <a:r>
              <a:rPr lang="zh-CN" altLang="en-US" dirty="0" smtClean="0"/>
              <a:t>这种既包含有向边又包含无向边的图称为</a:t>
            </a:r>
            <a:r>
              <a:rPr lang="zh-CN" altLang="en-US" b="1" dirty="0" smtClean="0">
                <a:solidFill>
                  <a:srgbClr val="C00000"/>
                </a:solidFill>
              </a:rPr>
              <a:t>混合图</a:t>
            </a:r>
            <a:r>
              <a:rPr lang="en-US" altLang="zh-CN" dirty="0" smtClean="0"/>
              <a:t>.</a:t>
            </a:r>
            <a:endParaRPr lang="en-US" altLang="zh-CN" dirty="0"/>
          </a:p>
        </p:txBody>
      </p:sp>
      <p:grpSp>
        <p:nvGrpSpPr>
          <p:cNvPr id="14" name="Group 13"/>
          <p:cNvGrpSpPr/>
          <p:nvPr/>
        </p:nvGrpSpPr>
        <p:grpSpPr>
          <a:xfrm>
            <a:off x="4800600" y="2721557"/>
            <a:ext cx="2240280" cy="1414886"/>
            <a:chOff x="2362200" y="1905000"/>
            <a:chExt cx="4191000" cy="2887274"/>
          </a:xfrm>
        </p:grpSpPr>
        <p:sp>
          <p:nvSpPr>
            <p:cNvPr id="15" name="Oval 14"/>
            <p:cNvSpPr/>
            <p:nvPr/>
          </p:nvSpPr>
          <p:spPr>
            <a:xfrm>
              <a:off x="2971800" y="22860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4648200" y="38862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5562600" y="22860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p:cNvCxnSpPr>
              <a:endCxn id="17" idx="2"/>
            </p:cNvCxnSpPr>
            <p:nvPr/>
          </p:nvCxnSpPr>
          <p:spPr>
            <a:xfrm flipV="1">
              <a:off x="3276600" y="2400300"/>
              <a:ext cx="2286000" cy="38100"/>
            </a:xfrm>
            <a:prstGeom prst="line">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a:stCxn id="15" idx="5"/>
              <a:endCxn id="16" idx="1"/>
            </p:cNvCxnSpPr>
            <p:nvPr/>
          </p:nvCxnSpPr>
          <p:spPr>
            <a:xfrm rot="16200000" flipH="1">
              <a:off x="3205022" y="2443022"/>
              <a:ext cx="1438556" cy="1514756"/>
            </a:xfrm>
            <a:prstGeom prst="line">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a:stCxn id="17" idx="4"/>
              <a:endCxn id="16" idx="7"/>
            </p:cNvCxnSpPr>
            <p:nvPr/>
          </p:nvCxnSpPr>
          <p:spPr>
            <a:xfrm rot="5400000">
              <a:off x="4557572" y="2800350"/>
              <a:ext cx="1405078" cy="833578"/>
            </a:xfrm>
            <a:prstGeom prst="line">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a:stCxn id="16" idx="2"/>
            </p:cNvCxnSpPr>
            <p:nvPr/>
          </p:nvCxnSpPr>
          <p:spPr>
            <a:xfrm rot="10800000">
              <a:off x="2895600" y="3505200"/>
              <a:ext cx="1752600" cy="495300"/>
            </a:xfrm>
            <a:prstGeom prst="line">
              <a:avLst/>
            </a:prstGeom>
            <a:ln>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a:endCxn id="15" idx="4"/>
            </p:cNvCxnSpPr>
            <p:nvPr/>
          </p:nvCxnSpPr>
          <p:spPr>
            <a:xfrm rot="5400000" flipH="1" flipV="1">
              <a:off x="2495550" y="2914650"/>
              <a:ext cx="990600" cy="1905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a:stCxn id="16" idx="6"/>
            </p:cNvCxnSpPr>
            <p:nvPr/>
          </p:nvCxnSpPr>
          <p:spPr>
            <a:xfrm flipV="1">
              <a:off x="4876800" y="3276600"/>
              <a:ext cx="1447800" cy="723900"/>
            </a:xfrm>
            <a:prstGeom prst="line">
              <a:avLst/>
            </a:prstGeom>
            <a:ln>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a:endCxn id="17" idx="5"/>
            </p:cNvCxnSpPr>
            <p:nvPr/>
          </p:nvCxnSpPr>
          <p:spPr>
            <a:xfrm rot="16200000" flipV="1">
              <a:off x="5643422" y="2595422"/>
              <a:ext cx="795478" cy="566878"/>
            </a:xfrm>
            <a:prstGeom prst="line">
              <a:avLst/>
            </a:prstGeom>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5257800" y="4038600"/>
              <a:ext cx="457200" cy="753674"/>
            </a:xfrm>
            <a:prstGeom prst="rect">
              <a:avLst/>
            </a:prstGeom>
            <a:noFill/>
          </p:spPr>
          <p:txBody>
            <a:bodyPr wrap="square" rtlCol="0">
              <a:spAutoFit/>
            </a:bodyPr>
            <a:lstStyle/>
            <a:p>
              <a:r>
                <a:rPr lang="en-US" i="1" dirty="0"/>
                <a:t>c</a:t>
              </a:r>
            </a:p>
          </p:txBody>
        </p:sp>
        <p:sp>
          <p:nvSpPr>
            <p:cNvPr id="26" name="TextBox 25"/>
            <p:cNvSpPr txBox="1"/>
            <p:nvPr/>
          </p:nvSpPr>
          <p:spPr>
            <a:xfrm>
              <a:off x="2362200" y="2362199"/>
              <a:ext cx="457200" cy="753674"/>
            </a:xfrm>
            <a:prstGeom prst="rect">
              <a:avLst/>
            </a:prstGeom>
            <a:noFill/>
          </p:spPr>
          <p:txBody>
            <a:bodyPr wrap="square" rtlCol="0">
              <a:spAutoFit/>
            </a:bodyPr>
            <a:lstStyle/>
            <a:p>
              <a:r>
                <a:rPr lang="en-US" i="1" dirty="0"/>
                <a:t>a</a:t>
              </a:r>
            </a:p>
          </p:txBody>
        </p:sp>
        <p:sp>
          <p:nvSpPr>
            <p:cNvPr id="27" name="TextBox 26"/>
            <p:cNvSpPr txBox="1"/>
            <p:nvPr/>
          </p:nvSpPr>
          <p:spPr>
            <a:xfrm>
              <a:off x="6096000" y="2209800"/>
              <a:ext cx="457200" cy="753674"/>
            </a:xfrm>
            <a:prstGeom prst="rect">
              <a:avLst/>
            </a:prstGeom>
            <a:noFill/>
          </p:spPr>
          <p:txBody>
            <a:bodyPr wrap="square" rtlCol="0">
              <a:spAutoFit/>
            </a:bodyPr>
            <a:lstStyle/>
            <a:p>
              <a:r>
                <a:rPr lang="en-US" i="1" dirty="0"/>
                <a:t>b</a:t>
              </a:r>
            </a:p>
          </p:txBody>
        </p:sp>
        <p:sp>
          <p:nvSpPr>
            <p:cNvPr id="28" name="Freeform 27"/>
            <p:cNvSpPr/>
            <p:nvPr/>
          </p:nvSpPr>
          <p:spPr>
            <a:xfrm>
              <a:off x="4572000" y="4114800"/>
              <a:ext cx="488887" cy="479834"/>
            </a:xfrm>
            <a:custGeom>
              <a:avLst/>
              <a:gdLst>
                <a:gd name="connsiteX0" fmla="*/ 117695 w 488887"/>
                <a:gd name="connsiteY0" fmla="*/ 18107 h 479834"/>
                <a:gd name="connsiteX1" fmla="*/ 63375 w 488887"/>
                <a:gd name="connsiteY1" fmla="*/ 45268 h 479834"/>
                <a:gd name="connsiteX2" fmla="*/ 27161 w 488887"/>
                <a:gd name="connsiteY2" fmla="*/ 99588 h 479834"/>
                <a:gd name="connsiteX3" fmla="*/ 18107 w 488887"/>
                <a:gd name="connsiteY3" fmla="*/ 135802 h 479834"/>
                <a:gd name="connsiteX4" fmla="*/ 0 w 488887"/>
                <a:gd name="connsiteY4" fmla="*/ 190123 h 479834"/>
                <a:gd name="connsiteX5" fmla="*/ 9054 w 488887"/>
                <a:gd name="connsiteY5" fmla="*/ 353085 h 479834"/>
                <a:gd name="connsiteX6" fmla="*/ 81481 w 488887"/>
                <a:gd name="connsiteY6" fmla="*/ 425513 h 479834"/>
                <a:gd name="connsiteX7" fmla="*/ 153909 w 488887"/>
                <a:gd name="connsiteY7" fmla="*/ 461727 h 479834"/>
                <a:gd name="connsiteX8" fmla="*/ 181070 w 488887"/>
                <a:gd name="connsiteY8" fmla="*/ 479834 h 479834"/>
                <a:gd name="connsiteX9" fmla="*/ 316872 w 488887"/>
                <a:gd name="connsiteY9" fmla="*/ 470780 h 479834"/>
                <a:gd name="connsiteX10" fmla="*/ 344032 w 488887"/>
                <a:gd name="connsiteY10" fmla="*/ 461727 h 479834"/>
                <a:gd name="connsiteX11" fmla="*/ 380246 w 488887"/>
                <a:gd name="connsiteY11" fmla="*/ 452673 h 479834"/>
                <a:gd name="connsiteX12" fmla="*/ 407406 w 488887"/>
                <a:gd name="connsiteY12" fmla="*/ 434567 h 479834"/>
                <a:gd name="connsiteX13" fmla="*/ 434567 w 488887"/>
                <a:gd name="connsiteY13" fmla="*/ 407406 h 479834"/>
                <a:gd name="connsiteX14" fmla="*/ 470780 w 488887"/>
                <a:gd name="connsiteY14" fmla="*/ 344032 h 479834"/>
                <a:gd name="connsiteX15" fmla="*/ 479834 w 488887"/>
                <a:gd name="connsiteY15" fmla="*/ 316871 h 479834"/>
                <a:gd name="connsiteX16" fmla="*/ 488887 w 488887"/>
                <a:gd name="connsiteY16" fmla="*/ 262551 h 479834"/>
                <a:gd name="connsiteX17" fmla="*/ 479834 w 488887"/>
                <a:gd name="connsiteY17" fmla="*/ 117695 h 479834"/>
                <a:gd name="connsiteX18" fmla="*/ 416460 w 488887"/>
                <a:gd name="connsiteY18" fmla="*/ 54321 h 479834"/>
                <a:gd name="connsiteX19" fmla="*/ 389299 w 488887"/>
                <a:gd name="connsiteY19" fmla="*/ 36214 h 479834"/>
                <a:gd name="connsiteX20" fmla="*/ 316872 w 488887"/>
                <a:gd name="connsiteY20" fmla="*/ 0 h 479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88887" h="479834">
                  <a:moveTo>
                    <a:pt x="117695" y="18107"/>
                  </a:moveTo>
                  <a:cubicBezTo>
                    <a:pt x="98321" y="24565"/>
                    <a:pt x="77828" y="28750"/>
                    <a:pt x="63375" y="45268"/>
                  </a:cubicBezTo>
                  <a:cubicBezTo>
                    <a:pt x="49045" y="61645"/>
                    <a:pt x="27161" y="99588"/>
                    <a:pt x="27161" y="99588"/>
                  </a:cubicBezTo>
                  <a:cubicBezTo>
                    <a:pt x="24143" y="111659"/>
                    <a:pt x="21682" y="123884"/>
                    <a:pt x="18107" y="135802"/>
                  </a:cubicBezTo>
                  <a:cubicBezTo>
                    <a:pt x="12622" y="154083"/>
                    <a:pt x="0" y="190123"/>
                    <a:pt x="0" y="190123"/>
                  </a:cubicBezTo>
                  <a:cubicBezTo>
                    <a:pt x="3018" y="244444"/>
                    <a:pt x="1703" y="299179"/>
                    <a:pt x="9054" y="353085"/>
                  </a:cubicBezTo>
                  <a:cubicBezTo>
                    <a:pt x="14622" y="393915"/>
                    <a:pt x="51842" y="405754"/>
                    <a:pt x="81481" y="425513"/>
                  </a:cubicBezTo>
                  <a:cubicBezTo>
                    <a:pt x="144402" y="467461"/>
                    <a:pt x="65326" y="417435"/>
                    <a:pt x="153909" y="461727"/>
                  </a:cubicBezTo>
                  <a:cubicBezTo>
                    <a:pt x="163641" y="466593"/>
                    <a:pt x="172016" y="473798"/>
                    <a:pt x="181070" y="479834"/>
                  </a:cubicBezTo>
                  <a:cubicBezTo>
                    <a:pt x="226337" y="476816"/>
                    <a:pt x="271782" y="475790"/>
                    <a:pt x="316872" y="470780"/>
                  </a:cubicBezTo>
                  <a:cubicBezTo>
                    <a:pt x="326357" y="469726"/>
                    <a:pt x="334856" y="464349"/>
                    <a:pt x="344032" y="461727"/>
                  </a:cubicBezTo>
                  <a:cubicBezTo>
                    <a:pt x="355996" y="458309"/>
                    <a:pt x="368175" y="455691"/>
                    <a:pt x="380246" y="452673"/>
                  </a:cubicBezTo>
                  <a:cubicBezTo>
                    <a:pt x="389299" y="446638"/>
                    <a:pt x="399047" y="441533"/>
                    <a:pt x="407406" y="434567"/>
                  </a:cubicBezTo>
                  <a:cubicBezTo>
                    <a:pt x="417242" y="426370"/>
                    <a:pt x="426370" y="417242"/>
                    <a:pt x="434567" y="407406"/>
                  </a:cubicBezTo>
                  <a:cubicBezTo>
                    <a:pt x="447940" y="391358"/>
                    <a:pt x="462965" y="362267"/>
                    <a:pt x="470780" y="344032"/>
                  </a:cubicBezTo>
                  <a:cubicBezTo>
                    <a:pt x="474539" y="335260"/>
                    <a:pt x="476816" y="325925"/>
                    <a:pt x="479834" y="316871"/>
                  </a:cubicBezTo>
                  <a:cubicBezTo>
                    <a:pt x="482852" y="298764"/>
                    <a:pt x="488887" y="280907"/>
                    <a:pt x="488887" y="262551"/>
                  </a:cubicBezTo>
                  <a:cubicBezTo>
                    <a:pt x="488887" y="214171"/>
                    <a:pt x="484899" y="165809"/>
                    <a:pt x="479834" y="117695"/>
                  </a:cubicBezTo>
                  <a:cubicBezTo>
                    <a:pt x="475625" y="77709"/>
                    <a:pt x="451979" y="78000"/>
                    <a:pt x="416460" y="54321"/>
                  </a:cubicBezTo>
                  <a:cubicBezTo>
                    <a:pt x="407406" y="48285"/>
                    <a:pt x="399622" y="39655"/>
                    <a:pt x="389299" y="36214"/>
                  </a:cubicBezTo>
                  <a:cubicBezTo>
                    <a:pt x="326881" y="15408"/>
                    <a:pt x="348474" y="31604"/>
                    <a:pt x="316872" y="0"/>
                  </a:cubicBezTo>
                </a:path>
              </a:pathLst>
            </a:custGeom>
            <a:ln>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9" name="Freeform 28"/>
            <p:cNvSpPr/>
            <p:nvPr/>
          </p:nvSpPr>
          <p:spPr>
            <a:xfrm>
              <a:off x="5562600" y="1905000"/>
              <a:ext cx="408533" cy="431988"/>
            </a:xfrm>
            <a:custGeom>
              <a:avLst/>
              <a:gdLst>
                <a:gd name="connsiteX0" fmla="*/ 54321 w 408533"/>
                <a:gd name="connsiteY0" fmla="*/ 390048 h 431988"/>
                <a:gd name="connsiteX1" fmla="*/ 36214 w 408533"/>
                <a:gd name="connsiteY1" fmla="*/ 362888 h 431988"/>
                <a:gd name="connsiteX2" fmla="*/ 18107 w 408533"/>
                <a:gd name="connsiteY2" fmla="*/ 272353 h 431988"/>
                <a:gd name="connsiteX3" fmla="*/ 9054 w 408533"/>
                <a:gd name="connsiteY3" fmla="*/ 245193 h 431988"/>
                <a:gd name="connsiteX4" fmla="*/ 0 w 408533"/>
                <a:gd name="connsiteY4" fmla="*/ 208979 h 431988"/>
                <a:gd name="connsiteX5" fmla="*/ 27161 w 408533"/>
                <a:gd name="connsiteY5" fmla="*/ 109391 h 431988"/>
                <a:gd name="connsiteX6" fmla="*/ 54321 w 408533"/>
                <a:gd name="connsiteY6" fmla="*/ 91284 h 431988"/>
                <a:gd name="connsiteX7" fmla="*/ 63374 w 408533"/>
                <a:gd name="connsiteY7" fmla="*/ 55070 h 431988"/>
                <a:gd name="connsiteX8" fmla="*/ 90535 w 408533"/>
                <a:gd name="connsiteY8" fmla="*/ 46016 h 431988"/>
                <a:gd name="connsiteX9" fmla="*/ 117695 w 408533"/>
                <a:gd name="connsiteY9" fmla="*/ 27910 h 431988"/>
                <a:gd name="connsiteX10" fmla="*/ 172016 w 408533"/>
                <a:gd name="connsiteY10" fmla="*/ 9803 h 431988"/>
                <a:gd name="connsiteX11" fmla="*/ 199176 w 408533"/>
                <a:gd name="connsiteY11" fmla="*/ 749 h 431988"/>
                <a:gd name="connsiteX12" fmla="*/ 298765 w 408533"/>
                <a:gd name="connsiteY12" fmla="*/ 9803 h 431988"/>
                <a:gd name="connsiteX13" fmla="*/ 316871 w 408533"/>
                <a:gd name="connsiteY13" fmla="*/ 36963 h 431988"/>
                <a:gd name="connsiteX14" fmla="*/ 371192 w 408533"/>
                <a:gd name="connsiteY14" fmla="*/ 73177 h 431988"/>
                <a:gd name="connsiteX15" fmla="*/ 380246 w 408533"/>
                <a:gd name="connsiteY15" fmla="*/ 109391 h 431988"/>
                <a:gd name="connsiteX16" fmla="*/ 398353 w 408533"/>
                <a:gd name="connsiteY16" fmla="*/ 145605 h 431988"/>
                <a:gd name="connsiteX17" fmla="*/ 407406 w 408533"/>
                <a:gd name="connsiteY17" fmla="*/ 172765 h 431988"/>
                <a:gd name="connsiteX18" fmla="*/ 398353 w 408533"/>
                <a:gd name="connsiteY18" fmla="*/ 335727 h 431988"/>
                <a:gd name="connsiteX19" fmla="*/ 371192 w 408533"/>
                <a:gd name="connsiteY19" fmla="*/ 362888 h 431988"/>
                <a:gd name="connsiteX20" fmla="*/ 353085 w 408533"/>
                <a:gd name="connsiteY20" fmla="*/ 390048 h 431988"/>
                <a:gd name="connsiteX21" fmla="*/ 325925 w 408533"/>
                <a:gd name="connsiteY21" fmla="*/ 399102 h 431988"/>
                <a:gd name="connsiteX22" fmla="*/ 298765 w 408533"/>
                <a:gd name="connsiteY22" fmla="*/ 417209 h 431988"/>
                <a:gd name="connsiteX23" fmla="*/ 217283 w 408533"/>
                <a:gd name="connsiteY23" fmla="*/ 426262 h 431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08533" h="431988">
                  <a:moveTo>
                    <a:pt x="54321" y="390048"/>
                  </a:moveTo>
                  <a:cubicBezTo>
                    <a:pt x="48285" y="380995"/>
                    <a:pt x="41080" y="372620"/>
                    <a:pt x="36214" y="362888"/>
                  </a:cubicBezTo>
                  <a:cubicBezTo>
                    <a:pt x="22580" y="335620"/>
                    <a:pt x="23666" y="300148"/>
                    <a:pt x="18107" y="272353"/>
                  </a:cubicBezTo>
                  <a:cubicBezTo>
                    <a:pt x="16235" y="262995"/>
                    <a:pt x="11676" y="254369"/>
                    <a:pt x="9054" y="245193"/>
                  </a:cubicBezTo>
                  <a:cubicBezTo>
                    <a:pt x="5636" y="233229"/>
                    <a:pt x="3018" y="221050"/>
                    <a:pt x="0" y="208979"/>
                  </a:cubicBezTo>
                  <a:cubicBezTo>
                    <a:pt x="4932" y="174455"/>
                    <a:pt x="3325" y="137995"/>
                    <a:pt x="27161" y="109391"/>
                  </a:cubicBezTo>
                  <a:cubicBezTo>
                    <a:pt x="34127" y="101032"/>
                    <a:pt x="45268" y="97320"/>
                    <a:pt x="54321" y="91284"/>
                  </a:cubicBezTo>
                  <a:cubicBezTo>
                    <a:pt x="57339" y="79213"/>
                    <a:pt x="55601" y="64786"/>
                    <a:pt x="63374" y="55070"/>
                  </a:cubicBezTo>
                  <a:cubicBezTo>
                    <a:pt x="69336" y="47618"/>
                    <a:pt x="81999" y="50284"/>
                    <a:pt x="90535" y="46016"/>
                  </a:cubicBezTo>
                  <a:cubicBezTo>
                    <a:pt x="100267" y="41150"/>
                    <a:pt x="107752" y="32329"/>
                    <a:pt x="117695" y="27910"/>
                  </a:cubicBezTo>
                  <a:cubicBezTo>
                    <a:pt x="135136" y="20158"/>
                    <a:pt x="153909" y="15839"/>
                    <a:pt x="172016" y="9803"/>
                  </a:cubicBezTo>
                  <a:lnTo>
                    <a:pt x="199176" y="749"/>
                  </a:lnTo>
                  <a:cubicBezTo>
                    <a:pt x="232372" y="3767"/>
                    <a:pt x="266906" y="0"/>
                    <a:pt x="298765" y="9803"/>
                  </a:cubicBezTo>
                  <a:cubicBezTo>
                    <a:pt x="309164" y="13003"/>
                    <a:pt x="308683" y="29798"/>
                    <a:pt x="316871" y="36963"/>
                  </a:cubicBezTo>
                  <a:cubicBezTo>
                    <a:pt x="333248" y="51293"/>
                    <a:pt x="371192" y="73177"/>
                    <a:pt x="371192" y="73177"/>
                  </a:cubicBezTo>
                  <a:cubicBezTo>
                    <a:pt x="374210" y="85248"/>
                    <a:pt x="375877" y="97740"/>
                    <a:pt x="380246" y="109391"/>
                  </a:cubicBezTo>
                  <a:cubicBezTo>
                    <a:pt x="384985" y="122028"/>
                    <a:pt x="393037" y="133200"/>
                    <a:pt x="398353" y="145605"/>
                  </a:cubicBezTo>
                  <a:cubicBezTo>
                    <a:pt x="402112" y="154376"/>
                    <a:pt x="404388" y="163712"/>
                    <a:pt x="407406" y="172765"/>
                  </a:cubicBezTo>
                  <a:cubicBezTo>
                    <a:pt x="404388" y="227086"/>
                    <a:pt x="408533" y="282283"/>
                    <a:pt x="398353" y="335727"/>
                  </a:cubicBezTo>
                  <a:cubicBezTo>
                    <a:pt x="395957" y="348305"/>
                    <a:pt x="379389" y="353052"/>
                    <a:pt x="371192" y="362888"/>
                  </a:cubicBezTo>
                  <a:cubicBezTo>
                    <a:pt x="364226" y="371247"/>
                    <a:pt x="361581" y="383251"/>
                    <a:pt x="353085" y="390048"/>
                  </a:cubicBezTo>
                  <a:cubicBezTo>
                    <a:pt x="345633" y="396010"/>
                    <a:pt x="334461" y="394834"/>
                    <a:pt x="325925" y="399102"/>
                  </a:cubicBezTo>
                  <a:cubicBezTo>
                    <a:pt x="316193" y="403968"/>
                    <a:pt x="308497" y="412343"/>
                    <a:pt x="298765" y="417209"/>
                  </a:cubicBezTo>
                  <a:cubicBezTo>
                    <a:pt x="269207" y="431988"/>
                    <a:pt x="253102" y="426262"/>
                    <a:pt x="217283" y="426262"/>
                  </a:cubicBezTo>
                </a:path>
              </a:pathLst>
            </a:custGeom>
            <a:ln>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46" name="TextBox 45"/>
          <p:cNvSpPr txBox="1"/>
          <p:nvPr/>
        </p:nvSpPr>
        <p:spPr>
          <a:xfrm>
            <a:off x="7479934" y="2921168"/>
            <a:ext cx="5869482" cy="1015663"/>
          </a:xfrm>
          <a:prstGeom prst="rect">
            <a:avLst/>
          </a:prstGeom>
          <a:noFill/>
        </p:spPr>
        <p:txBody>
          <a:bodyPr wrap="square" rtlCol="0">
            <a:spAutoFit/>
          </a:bodyPr>
          <a:lstStyle/>
          <a:p>
            <a:r>
              <a:rPr lang="zh-CN" altLang="en-US" sz="2000" b="1" dirty="0" smtClean="0"/>
              <a:t>例</a:t>
            </a:r>
            <a:r>
              <a:rPr lang="en-US" altLang="zh-CN" sz="2000" b="1" dirty="0" smtClean="0">
                <a:sym typeface="Wingdings" panose="05000000000000000000" pitchFamily="2" charset="2"/>
              </a:rPr>
              <a:t>: </a:t>
            </a:r>
            <a:r>
              <a:rPr lang="zh-CN" altLang="en-US" sz="2000" b="1" dirty="0" smtClean="0">
                <a:sym typeface="Wingdings" panose="05000000000000000000" pitchFamily="2" charset="2"/>
              </a:rPr>
              <a:t>如图的有向多重图中</a:t>
            </a:r>
            <a:r>
              <a:rPr lang="en-US" altLang="zh-CN" sz="2000" b="1" dirty="0" smtClean="0">
                <a:sym typeface="Wingdings" panose="05000000000000000000" pitchFamily="2" charset="2"/>
              </a:rPr>
              <a:t>, </a:t>
            </a:r>
          </a:p>
          <a:p>
            <a:r>
              <a:rPr lang="en-US" altLang="zh-CN" sz="2000" b="1" dirty="0" smtClean="0">
                <a:sym typeface="Wingdings" panose="05000000000000000000" pitchFamily="2" charset="2"/>
              </a:rPr>
              <a:t>(a, b)</a:t>
            </a:r>
            <a:r>
              <a:rPr lang="zh-CN" altLang="en-US" sz="2000" b="1" dirty="0" smtClean="0">
                <a:sym typeface="Wingdings" panose="05000000000000000000" pitchFamily="2" charset="2"/>
              </a:rPr>
              <a:t>的多重度为</a:t>
            </a:r>
            <a:r>
              <a:rPr lang="en-US" altLang="zh-CN" sz="2000" b="1" dirty="0" smtClean="0">
                <a:sym typeface="Wingdings" panose="05000000000000000000" pitchFamily="2" charset="2"/>
              </a:rPr>
              <a:t>1, </a:t>
            </a:r>
          </a:p>
          <a:p>
            <a:r>
              <a:rPr lang="en-US" altLang="zh-CN" sz="2000" b="1" dirty="0" smtClean="0">
                <a:sym typeface="Wingdings" panose="05000000000000000000" pitchFamily="2" charset="2"/>
              </a:rPr>
              <a:t>(b, c</a:t>
            </a:r>
            <a:r>
              <a:rPr lang="en-US" altLang="zh-CN" sz="2000" b="1" dirty="0" smtClean="0"/>
              <a:t>)</a:t>
            </a:r>
            <a:r>
              <a:rPr lang="zh-CN" altLang="en-US" sz="2000" b="1" dirty="0" smtClean="0"/>
              <a:t>的多重度为</a:t>
            </a:r>
            <a:r>
              <a:rPr lang="en-US" altLang="zh-CN" sz="2000" b="1" dirty="0" smtClean="0"/>
              <a:t>2</a:t>
            </a:r>
            <a:endParaRPr lang="en-US" sz="2000" dirty="0"/>
          </a:p>
        </p:txBody>
      </p:sp>
      <p:sp>
        <p:nvSpPr>
          <p:cNvPr id="35" name="日期占位符 34"/>
          <p:cNvSpPr>
            <a:spLocks noGrp="1"/>
          </p:cNvSpPr>
          <p:nvPr>
            <p:ph type="dt" sz="half" idx="10"/>
          </p:nvPr>
        </p:nvSpPr>
        <p:spPr/>
        <p:txBody>
          <a:bodyPr/>
          <a:lstStyle/>
          <a:p>
            <a:fld id="{88841268-D206-485D-95BE-3726969A22D3}" type="datetime1">
              <a:rPr lang="zh-CN" altLang="en-US" smtClean="0"/>
              <a:t>2025/4/15</a:t>
            </a:fld>
            <a:endParaRPr lang="zh-CN" altLang="en-US" dirty="0"/>
          </a:p>
        </p:txBody>
      </p:sp>
      <p:sp>
        <p:nvSpPr>
          <p:cNvPr id="36" name="页脚占位符 35"/>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37" name="灯片编号占位符 36"/>
          <p:cNvSpPr>
            <a:spLocks noGrp="1"/>
          </p:cNvSpPr>
          <p:nvPr>
            <p:ph type="sldNum" sz="quarter" idx="12"/>
          </p:nvPr>
        </p:nvSpPr>
        <p:spPr/>
        <p:txBody>
          <a:bodyPr/>
          <a:lstStyle/>
          <a:p>
            <a:fld id="{67913A8A-9EFB-4B5F-9CCB-3D21173FAA85}" type="slidenum">
              <a:rPr lang="zh-CN" altLang="en-US" smtClean="0"/>
              <a:pPr/>
              <a:t>9</a:t>
            </a:fld>
            <a:endParaRPr lang="zh-CN" alt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图</a:t>
            </a:r>
            <a:endParaRPr lang="en-US" dirty="0"/>
          </a:p>
        </p:txBody>
      </p:sp>
      <p:sp>
        <p:nvSpPr>
          <p:cNvPr id="3" name="Content Placeholder 2"/>
          <p:cNvSpPr>
            <a:spLocks noGrp="1"/>
          </p:cNvSpPr>
          <p:nvPr>
            <p:ph idx="1"/>
          </p:nvPr>
        </p:nvSpPr>
        <p:spPr/>
        <p:txBody>
          <a:bodyPr/>
          <a:lstStyle/>
          <a:p>
            <a:r>
              <a:rPr lang="zh-CN" altLang="en-US" dirty="0" smtClean="0"/>
              <a:t>为了建立图</a:t>
            </a:r>
            <a:r>
              <a:rPr lang="en-US" altLang="zh-CN" dirty="0" smtClean="0"/>
              <a:t>, </a:t>
            </a:r>
            <a:r>
              <a:rPr lang="zh-CN" altLang="en-US" dirty="0" smtClean="0"/>
              <a:t>我们通常考以下三个问题</a:t>
            </a:r>
            <a:r>
              <a:rPr lang="en-US" dirty="0" smtClean="0"/>
              <a:t>: </a:t>
            </a:r>
          </a:p>
          <a:p>
            <a:pPr lvl="1"/>
            <a:r>
              <a:rPr lang="zh-CN" altLang="en-US" dirty="0" smtClean="0"/>
              <a:t>图的边是有向的</a:t>
            </a:r>
            <a:r>
              <a:rPr lang="en-US" altLang="zh-CN" dirty="0" smtClean="0"/>
              <a:t>, </a:t>
            </a:r>
            <a:r>
              <a:rPr lang="zh-CN" altLang="en-US" dirty="0" smtClean="0"/>
              <a:t>还是无向的</a:t>
            </a:r>
            <a:r>
              <a:rPr lang="en-US" altLang="zh-CN" dirty="0" smtClean="0"/>
              <a:t>, </a:t>
            </a:r>
            <a:r>
              <a:rPr lang="zh-CN" altLang="en-US" dirty="0" smtClean="0"/>
              <a:t>还是两者都有？</a:t>
            </a:r>
            <a:endParaRPr lang="en-US" altLang="zh-CN" dirty="0" smtClean="0"/>
          </a:p>
          <a:p>
            <a:pPr lvl="1"/>
            <a:r>
              <a:rPr lang="zh-CN" altLang="en-US" dirty="0" smtClean="0"/>
              <a:t>如果是无向图</a:t>
            </a:r>
            <a:r>
              <a:rPr lang="en-US" altLang="zh-CN" dirty="0" smtClean="0"/>
              <a:t>, </a:t>
            </a:r>
            <a:r>
              <a:rPr lang="zh-CN" altLang="en-US" dirty="0" smtClean="0"/>
              <a:t>是否存在连接相同顶点对的多重边？如果是有向图</a:t>
            </a:r>
            <a:r>
              <a:rPr lang="en-US" altLang="zh-CN" dirty="0" smtClean="0"/>
              <a:t>, </a:t>
            </a:r>
            <a:r>
              <a:rPr lang="zh-CN" altLang="en-US" dirty="0" smtClean="0"/>
              <a:t>是否存在多重有向边？</a:t>
            </a:r>
            <a:endParaRPr lang="en-US" altLang="zh-CN" dirty="0" smtClean="0"/>
          </a:p>
          <a:p>
            <a:pPr lvl="1"/>
            <a:r>
              <a:rPr lang="zh-CN" altLang="en-US" dirty="0" smtClean="0"/>
              <a:t>是否存在环？</a:t>
            </a:r>
            <a:endParaRPr lang="en-US" altLang="zh-CN" dirty="0"/>
          </a:p>
          <a:p>
            <a:pPr lvl="1"/>
            <a:endParaRPr lang="en-US" altLang="zh-CN" dirty="0" smtClean="0"/>
          </a:p>
        </p:txBody>
      </p:sp>
      <p:sp>
        <p:nvSpPr>
          <p:cNvPr id="7" name="日期占位符 6"/>
          <p:cNvSpPr>
            <a:spLocks noGrp="1"/>
          </p:cNvSpPr>
          <p:nvPr>
            <p:ph type="dt" sz="half" idx="10"/>
          </p:nvPr>
        </p:nvSpPr>
        <p:spPr/>
        <p:txBody>
          <a:bodyPr/>
          <a:lstStyle/>
          <a:p>
            <a:fld id="{686EA13E-A81D-45D7-9983-C3E1967D44A9}"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10</a:t>
            </a:fld>
            <a:endParaRPr lang="zh-CN" altLang="en-US" dirty="0"/>
          </a:p>
        </p:txBody>
      </p:sp>
      <p:graphicFrame>
        <p:nvGraphicFramePr>
          <p:cNvPr id="5" name="表格 4"/>
          <p:cNvGraphicFramePr>
            <a:graphicFrameLocks noGrp="1"/>
          </p:cNvGraphicFramePr>
          <p:nvPr>
            <p:extLst>
              <p:ext uri="{D42A27DB-BD31-4B8C-83A1-F6EECF244321}">
                <p14:modId xmlns:p14="http://schemas.microsoft.com/office/powerpoint/2010/main" val="730911966"/>
              </p:ext>
            </p:extLst>
          </p:nvPr>
        </p:nvGraphicFramePr>
        <p:xfrm>
          <a:off x="1219200" y="3200400"/>
          <a:ext cx="8128000" cy="2773680"/>
        </p:xfrm>
        <a:graphic>
          <a:graphicData uri="http://schemas.openxmlformats.org/drawingml/2006/table">
            <a:tbl>
              <a:tblPr firstRow="1" bandRow="1">
                <a:tableStyleId>{D27102A9-8310-4765-A935-A1911B00CA55}</a:tableStyleId>
              </a:tblPr>
              <a:tblGrid>
                <a:gridCol w="2032000">
                  <a:extLst>
                    <a:ext uri="{9D8B030D-6E8A-4147-A177-3AD203B41FA5}">
                      <a16:colId xmlns:a16="http://schemas.microsoft.com/office/drawing/2014/main" xmlns="" val="35414930"/>
                    </a:ext>
                  </a:extLst>
                </a:gridCol>
                <a:gridCol w="2032000">
                  <a:extLst>
                    <a:ext uri="{9D8B030D-6E8A-4147-A177-3AD203B41FA5}">
                      <a16:colId xmlns:a16="http://schemas.microsoft.com/office/drawing/2014/main" xmlns="" val="144379414"/>
                    </a:ext>
                  </a:extLst>
                </a:gridCol>
                <a:gridCol w="2032000">
                  <a:extLst>
                    <a:ext uri="{9D8B030D-6E8A-4147-A177-3AD203B41FA5}">
                      <a16:colId xmlns:a16="http://schemas.microsoft.com/office/drawing/2014/main" xmlns="" val="4070824224"/>
                    </a:ext>
                  </a:extLst>
                </a:gridCol>
                <a:gridCol w="2032000">
                  <a:extLst>
                    <a:ext uri="{9D8B030D-6E8A-4147-A177-3AD203B41FA5}">
                      <a16:colId xmlns:a16="http://schemas.microsoft.com/office/drawing/2014/main" xmlns="" val="2748643542"/>
                    </a:ext>
                  </a:extLst>
                </a:gridCol>
              </a:tblGrid>
              <a:tr h="370840">
                <a:tc>
                  <a:txBody>
                    <a:bodyPr/>
                    <a:lstStyle/>
                    <a:p>
                      <a:r>
                        <a:rPr lang="zh-CN" altLang="en-US" sz="2000" dirty="0" smtClean="0">
                          <a:latin typeface="微软雅黑" panose="020B0503020204020204" pitchFamily="34" charset="-122"/>
                          <a:ea typeface="微软雅黑" panose="020B0503020204020204" pitchFamily="34" charset="-122"/>
                        </a:rPr>
                        <a:t>类型</a:t>
                      </a:r>
                      <a:endParaRPr lang="zh-CN" altLang="en-US" sz="2000" dirty="0">
                        <a:latin typeface="微软雅黑" panose="020B0503020204020204" pitchFamily="34" charset="-122"/>
                        <a:ea typeface="微软雅黑" panose="020B0503020204020204" pitchFamily="34" charset="-122"/>
                      </a:endParaRPr>
                    </a:p>
                  </a:txBody>
                  <a:tcPr/>
                </a:tc>
                <a:tc>
                  <a:txBody>
                    <a:bodyPr/>
                    <a:lstStyle/>
                    <a:p>
                      <a:r>
                        <a:rPr lang="zh-CN" altLang="en-US" sz="2000" dirty="0" smtClean="0">
                          <a:latin typeface="微软雅黑" panose="020B0503020204020204" pitchFamily="34" charset="-122"/>
                          <a:ea typeface="微软雅黑" panose="020B0503020204020204" pitchFamily="34" charset="-122"/>
                        </a:rPr>
                        <a:t>边</a:t>
                      </a:r>
                      <a:endParaRPr lang="zh-CN" altLang="en-US" sz="2000" dirty="0">
                        <a:latin typeface="微软雅黑" panose="020B0503020204020204" pitchFamily="34" charset="-122"/>
                        <a:ea typeface="微软雅黑" panose="020B0503020204020204" pitchFamily="34" charset="-122"/>
                      </a:endParaRPr>
                    </a:p>
                  </a:txBody>
                  <a:tcPr/>
                </a:tc>
                <a:tc>
                  <a:txBody>
                    <a:bodyPr/>
                    <a:lstStyle/>
                    <a:p>
                      <a:r>
                        <a:rPr lang="zh-CN" altLang="en-US" sz="2000" dirty="0" smtClean="0">
                          <a:latin typeface="微软雅黑" panose="020B0503020204020204" pitchFamily="34" charset="-122"/>
                          <a:ea typeface="微软雅黑" panose="020B0503020204020204" pitchFamily="34" charset="-122"/>
                        </a:rPr>
                        <a:t>允许多重边</a:t>
                      </a:r>
                      <a:endParaRPr lang="zh-CN" altLang="en-US" sz="2000" dirty="0">
                        <a:latin typeface="微软雅黑" panose="020B0503020204020204" pitchFamily="34" charset="-122"/>
                        <a:ea typeface="微软雅黑" panose="020B0503020204020204" pitchFamily="34" charset="-122"/>
                      </a:endParaRPr>
                    </a:p>
                  </a:txBody>
                  <a:tcPr/>
                </a:tc>
                <a:tc>
                  <a:txBody>
                    <a:bodyPr/>
                    <a:lstStyle/>
                    <a:p>
                      <a:r>
                        <a:rPr lang="zh-CN" altLang="en-US" sz="2000" dirty="0" smtClean="0">
                          <a:latin typeface="微软雅黑" panose="020B0503020204020204" pitchFamily="34" charset="-122"/>
                          <a:ea typeface="微软雅黑" panose="020B0503020204020204" pitchFamily="34" charset="-122"/>
                        </a:rPr>
                        <a:t>允许环</a:t>
                      </a:r>
                      <a:endParaRPr lang="zh-CN" altLang="en-US" sz="20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xmlns="" val="1556580890"/>
                  </a:ext>
                </a:extLst>
              </a:tr>
              <a:tr h="370840">
                <a:tc>
                  <a:txBody>
                    <a:bodyPr/>
                    <a:lstStyle/>
                    <a:p>
                      <a:r>
                        <a:rPr lang="zh-CN" altLang="en-US" sz="2000" dirty="0" smtClean="0">
                          <a:latin typeface="微软雅黑" panose="020B0503020204020204" pitchFamily="34" charset="-122"/>
                          <a:ea typeface="微软雅黑" panose="020B0503020204020204" pitchFamily="34" charset="-122"/>
                        </a:rPr>
                        <a:t>简单图</a:t>
                      </a:r>
                      <a:endParaRPr lang="zh-CN" altLang="en-US" sz="2000" dirty="0">
                        <a:latin typeface="微软雅黑" panose="020B0503020204020204" pitchFamily="34" charset="-122"/>
                        <a:ea typeface="微软雅黑" panose="020B0503020204020204" pitchFamily="34" charset="-122"/>
                      </a:endParaRPr>
                    </a:p>
                  </a:txBody>
                  <a:tcPr/>
                </a:tc>
                <a:tc>
                  <a:txBody>
                    <a:bodyPr/>
                    <a:lstStyle/>
                    <a:p>
                      <a:r>
                        <a:rPr lang="zh-CN" altLang="en-US" sz="2000" dirty="0" smtClean="0">
                          <a:latin typeface="微软雅黑" panose="020B0503020204020204" pitchFamily="34" charset="-122"/>
                          <a:ea typeface="微软雅黑" panose="020B0503020204020204" pitchFamily="34" charset="-122"/>
                        </a:rPr>
                        <a:t>无向</a:t>
                      </a:r>
                      <a:endParaRPr lang="zh-CN" altLang="en-US" sz="2000" dirty="0">
                        <a:latin typeface="微软雅黑" panose="020B0503020204020204" pitchFamily="34" charset="-122"/>
                        <a:ea typeface="微软雅黑" panose="020B0503020204020204" pitchFamily="34" charset="-122"/>
                      </a:endParaRPr>
                    </a:p>
                  </a:txBody>
                  <a:tcPr/>
                </a:tc>
                <a:tc>
                  <a:txBody>
                    <a:bodyPr/>
                    <a:lstStyle/>
                    <a:p>
                      <a:r>
                        <a:rPr lang="zh-CN" altLang="en-US" sz="2000" dirty="0" smtClean="0">
                          <a:latin typeface="微软雅黑" panose="020B0503020204020204" pitchFamily="34" charset="-122"/>
                          <a:ea typeface="微软雅黑" panose="020B0503020204020204" pitchFamily="34" charset="-122"/>
                        </a:rPr>
                        <a:t>否</a:t>
                      </a:r>
                      <a:endParaRPr lang="zh-CN" altLang="en-US" sz="2000" dirty="0">
                        <a:latin typeface="微软雅黑" panose="020B0503020204020204" pitchFamily="34" charset="-122"/>
                        <a:ea typeface="微软雅黑" panose="020B0503020204020204" pitchFamily="34" charset="-122"/>
                      </a:endParaRPr>
                    </a:p>
                  </a:txBody>
                  <a:tcPr/>
                </a:tc>
                <a:tc>
                  <a:txBody>
                    <a:bodyPr/>
                    <a:lstStyle/>
                    <a:p>
                      <a:r>
                        <a:rPr lang="zh-CN" altLang="en-US" sz="2000" dirty="0" smtClean="0">
                          <a:latin typeface="微软雅黑" panose="020B0503020204020204" pitchFamily="34" charset="-122"/>
                          <a:ea typeface="微软雅黑" panose="020B0503020204020204" pitchFamily="34" charset="-122"/>
                        </a:rPr>
                        <a:t>否</a:t>
                      </a:r>
                      <a:endParaRPr lang="zh-CN" altLang="en-US" sz="20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xmlns="" val="3314896280"/>
                  </a:ext>
                </a:extLst>
              </a:tr>
              <a:tr h="370840">
                <a:tc>
                  <a:txBody>
                    <a:bodyPr/>
                    <a:lstStyle/>
                    <a:p>
                      <a:r>
                        <a:rPr lang="zh-CN" altLang="en-US" sz="2000" dirty="0" smtClean="0">
                          <a:latin typeface="微软雅黑" panose="020B0503020204020204" pitchFamily="34" charset="-122"/>
                          <a:ea typeface="微软雅黑" panose="020B0503020204020204" pitchFamily="34" charset="-122"/>
                        </a:rPr>
                        <a:t>多重图</a:t>
                      </a:r>
                      <a:endParaRPr lang="zh-CN" altLang="en-US" sz="2000" dirty="0">
                        <a:latin typeface="微软雅黑" panose="020B0503020204020204" pitchFamily="34" charset="-122"/>
                        <a:ea typeface="微软雅黑" panose="020B0503020204020204" pitchFamily="34" charset="-122"/>
                      </a:endParaRPr>
                    </a:p>
                  </a:txBody>
                  <a:tcPr/>
                </a:tc>
                <a:tc>
                  <a:txBody>
                    <a:bodyPr/>
                    <a:lstStyle/>
                    <a:p>
                      <a:r>
                        <a:rPr lang="zh-CN" altLang="en-US" sz="2000" dirty="0" smtClean="0">
                          <a:latin typeface="微软雅黑" panose="020B0503020204020204" pitchFamily="34" charset="-122"/>
                          <a:ea typeface="微软雅黑" panose="020B0503020204020204" pitchFamily="34" charset="-122"/>
                        </a:rPr>
                        <a:t>无向</a:t>
                      </a:r>
                      <a:endParaRPr lang="zh-CN" altLang="en-US" sz="2000" dirty="0">
                        <a:latin typeface="微软雅黑" panose="020B0503020204020204" pitchFamily="34" charset="-122"/>
                        <a:ea typeface="微软雅黑" panose="020B0503020204020204" pitchFamily="34" charset="-122"/>
                      </a:endParaRPr>
                    </a:p>
                  </a:txBody>
                  <a:tcPr/>
                </a:tc>
                <a:tc>
                  <a:txBody>
                    <a:bodyPr/>
                    <a:lstStyle/>
                    <a:p>
                      <a:r>
                        <a:rPr lang="zh-CN" altLang="en-US" sz="2000" dirty="0" smtClean="0">
                          <a:latin typeface="微软雅黑" panose="020B0503020204020204" pitchFamily="34" charset="-122"/>
                          <a:ea typeface="微软雅黑" panose="020B0503020204020204" pitchFamily="34" charset="-122"/>
                        </a:rPr>
                        <a:t>是</a:t>
                      </a:r>
                      <a:endParaRPr lang="zh-CN" altLang="en-US" sz="2000" dirty="0">
                        <a:latin typeface="微软雅黑" panose="020B0503020204020204" pitchFamily="34" charset="-122"/>
                        <a:ea typeface="微软雅黑" panose="020B0503020204020204" pitchFamily="34" charset="-122"/>
                      </a:endParaRPr>
                    </a:p>
                  </a:txBody>
                  <a:tcPr/>
                </a:tc>
                <a:tc>
                  <a:txBody>
                    <a:bodyPr/>
                    <a:lstStyle/>
                    <a:p>
                      <a:r>
                        <a:rPr lang="zh-CN" altLang="en-US" sz="2000" dirty="0" smtClean="0">
                          <a:latin typeface="微软雅黑" panose="020B0503020204020204" pitchFamily="34" charset="-122"/>
                          <a:ea typeface="微软雅黑" panose="020B0503020204020204" pitchFamily="34" charset="-122"/>
                        </a:rPr>
                        <a:t>否</a:t>
                      </a:r>
                      <a:endParaRPr lang="zh-CN" altLang="en-US" sz="20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xmlns="" val="2962967978"/>
                  </a:ext>
                </a:extLst>
              </a:tr>
              <a:tr h="370840">
                <a:tc>
                  <a:txBody>
                    <a:bodyPr/>
                    <a:lstStyle/>
                    <a:p>
                      <a:r>
                        <a:rPr lang="zh-CN" altLang="en-US" sz="2000" dirty="0" smtClean="0">
                          <a:latin typeface="微软雅黑" panose="020B0503020204020204" pitchFamily="34" charset="-122"/>
                          <a:ea typeface="微软雅黑" panose="020B0503020204020204" pitchFamily="34" charset="-122"/>
                        </a:rPr>
                        <a:t>伪图</a:t>
                      </a:r>
                      <a:endParaRPr lang="zh-CN" altLang="en-US" sz="2000" dirty="0">
                        <a:latin typeface="微软雅黑" panose="020B0503020204020204" pitchFamily="34" charset="-122"/>
                        <a:ea typeface="微软雅黑" panose="020B0503020204020204" pitchFamily="34" charset="-122"/>
                      </a:endParaRPr>
                    </a:p>
                  </a:txBody>
                  <a:tcPr/>
                </a:tc>
                <a:tc>
                  <a:txBody>
                    <a:bodyPr/>
                    <a:lstStyle/>
                    <a:p>
                      <a:r>
                        <a:rPr lang="zh-CN" altLang="en-US" sz="2000" dirty="0" smtClean="0">
                          <a:latin typeface="微软雅黑" panose="020B0503020204020204" pitchFamily="34" charset="-122"/>
                          <a:ea typeface="微软雅黑" panose="020B0503020204020204" pitchFamily="34" charset="-122"/>
                        </a:rPr>
                        <a:t>无向</a:t>
                      </a:r>
                      <a:endParaRPr lang="zh-CN" altLang="en-US" sz="2000" dirty="0">
                        <a:latin typeface="微软雅黑" panose="020B0503020204020204" pitchFamily="34" charset="-122"/>
                        <a:ea typeface="微软雅黑" panose="020B0503020204020204" pitchFamily="34" charset="-122"/>
                      </a:endParaRPr>
                    </a:p>
                  </a:txBody>
                  <a:tcPr/>
                </a:tc>
                <a:tc>
                  <a:txBody>
                    <a:bodyPr/>
                    <a:lstStyle/>
                    <a:p>
                      <a:r>
                        <a:rPr lang="zh-CN" altLang="en-US" sz="2000" dirty="0" smtClean="0">
                          <a:latin typeface="微软雅黑" panose="020B0503020204020204" pitchFamily="34" charset="-122"/>
                          <a:ea typeface="微软雅黑" panose="020B0503020204020204" pitchFamily="34" charset="-122"/>
                        </a:rPr>
                        <a:t>是</a:t>
                      </a:r>
                      <a:endParaRPr lang="zh-CN" altLang="en-US" sz="2000" dirty="0">
                        <a:latin typeface="微软雅黑" panose="020B0503020204020204" pitchFamily="34" charset="-122"/>
                        <a:ea typeface="微软雅黑" panose="020B0503020204020204" pitchFamily="34" charset="-122"/>
                      </a:endParaRPr>
                    </a:p>
                  </a:txBody>
                  <a:tcPr/>
                </a:tc>
                <a:tc>
                  <a:txBody>
                    <a:bodyPr/>
                    <a:lstStyle/>
                    <a:p>
                      <a:r>
                        <a:rPr lang="zh-CN" altLang="en-US" sz="2000" dirty="0" smtClean="0">
                          <a:latin typeface="微软雅黑" panose="020B0503020204020204" pitchFamily="34" charset="-122"/>
                          <a:ea typeface="微软雅黑" panose="020B0503020204020204" pitchFamily="34" charset="-122"/>
                        </a:rPr>
                        <a:t>是</a:t>
                      </a:r>
                      <a:endParaRPr lang="zh-CN" altLang="en-US" sz="20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xmlns="" val="807233359"/>
                  </a:ext>
                </a:extLst>
              </a:tr>
              <a:tr h="370840">
                <a:tc>
                  <a:txBody>
                    <a:bodyPr/>
                    <a:lstStyle/>
                    <a:p>
                      <a:r>
                        <a:rPr lang="zh-CN" altLang="en-US" sz="2000" dirty="0" smtClean="0">
                          <a:latin typeface="微软雅黑" panose="020B0503020204020204" pitchFamily="34" charset="-122"/>
                          <a:ea typeface="微软雅黑" panose="020B0503020204020204" pitchFamily="34" charset="-122"/>
                        </a:rPr>
                        <a:t>简单有向图</a:t>
                      </a:r>
                      <a:endParaRPr lang="zh-CN" altLang="en-US" sz="2000" dirty="0">
                        <a:latin typeface="微软雅黑" panose="020B0503020204020204" pitchFamily="34" charset="-122"/>
                        <a:ea typeface="微软雅黑" panose="020B0503020204020204" pitchFamily="34" charset="-122"/>
                      </a:endParaRPr>
                    </a:p>
                  </a:txBody>
                  <a:tcPr/>
                </a:tc>
                <a:tc>
                  <a:txBody>
                    <a:bodyPr/>
                    <a:lstStyle/>
                    <a:p>
                      <a:r>
                        <a:rPr lang="zh-CN" altLang="en-US" sz="2000" dirty="0" smtClean="0">
                          <a:latin typeface="微软雅黑" panose="020B0503020204020204" pitchFamily="34" charset="-122"/>
                          <a:ea typeface="微软雅黑" panose="020B0503020204020204" pitchFamily="34" charset="-122"/>
                        </a:rPr>
                        <a:t>有向</a:t>
                      </a:r>
                      <a:endParaRPr lang="zh-CN" altLang="en-US" sz="2000" dirty="0">
                        <a:latin typeface="微软雅黑" panose="020B0503020204020204" pitchFamily="34" charset="-122"/>
                        <a:ea typeface="微软雅黑" panose="020B0503020204020204" pitchFamily="34" charset="-122"/>
                      </a:endParaRPr>
                    </a:p>
                  </a:txBody>
                  <a:tcPr/>
                </a:tc>
                <a:tc>
                  <a:txBody>
                    <a:bodyPr/>
                    <a:lstStyle/>
                    <a:p>
                      <a:r>
                        <a:rPr lang="zh-CN" altLang="en-US" sz="2000" dirty="0" smtClean="0">
                          <a:latin typeface="微软雅黑" panose="020B0503020204020204" pitchFamily="34" charset="-122"/>
                          <a:ea typeface="微软雅黑" panose="020B0503020204020204" pitchFamily="34" charset="-122"/>
                        </a:rPr>
                        <a:t>否</a:t>
                      </a:r>
                      <a:endParaRPr lang="zh-CN" altLang="en-US" sz="2000" dirty="0">
                        <a:latin typeface="微软雅黑" panose="020B0503020204020204" pitchFamily="34" charset="-122"/>
                        <a:ea typeface="微软雅黑" panose="020B0503020204020204" pitchFamily="34" charset="-122"/>
                      </a:endParaRPr>
                    </a:p>
                  </a:txBody>
                  <a:tcPr/>
                </a:tc>
                <a:tc>
                  <a:txBody>
                    <a:bodyPr/>
                    <a:lstStyle/>
                    <a:p>
                      <a:r>
                        <a:rPr lang="zh-CN" altLang="en-US" sz="2000" dirty="0" smtClean="0">
                          <a:latin typeface="微软雅黑" panose="020B0503020204020204" pitchFamily="34" charset="-122"/>
                          <a:ea typeface="微软雅黑" panose="020B0503020204020204" pitchFamily="34" charset="-122"/>
                        </a:rPr>
                        <a:t>否</a:t>
                      </a:r>
                      <a:endParaRPr lang="zh-CN" altLang="en-US" sz="20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xmlns="" val="3968203068"/>
                  </a:ext>
                </a:extLst>
              </a:tr>
              <a:tr h="370840">
                <a:tc>
                  <a:txBody>
                    <a:bodyPr/>
                    <a:lstStyle/>
                    <a:p>
                      <a:r>
                        <a:rPr lang="zh-CN" altLang="en-US" sz="2000" dirty="0" smtClean="0">
                          <a:latin typeface="微软雅黑" panose="020B0503020204020204" pitchFamily="34" charset="-122"/>
                          <a:ea typeface="微软雅黑" panose="020B0503020204020204" pitchFamily="34" charset="-122"/>
                        </a:rPr>
                        <a:t>有向多重图</a:t>
                      </a:r>
                      <a:endParaRPr lang="zh-CN" altLang="en-US" sz="2000" dirty="0">
                        <a:latin typeface="微软雅黑" panose="020B0503020204020204" pitchFamily="34" charset="-122"/>
                        <a:ea typeface="微软雅黑" panose="020B0503020204020204" pitchFamily="34" charset="-122"/>
                      </a:endParaRPr>
                    </a:p>
                  </a:txBody>
                  <a:tcPr/>
                </a:tc>
                <a:tc>
                  <a:txBody>
                    <a:bodyPr/>
                    <a:lstStyle/>
                    <a:p>
                      <a:r>
                        <a:rPr lang="zh-CN" altLang="en-US" sz="2000" dirty="0" smtClean="0">
                          <a:latin typeface="微软雅黑" panose="020B0503020204020204" pitchFamily="34" charset="-122"/>
                          <a:ea typeface="微软雅黑" panose="020B0503020204020204" pitchFamily="34" charset="-122"/>
                        </a:rPr>
                        <a:t>有向</a:t>
                      </a:r>
                      <a:endParaRPr lang="zh-CN" altLang="en-US" sz="2000" dirty="0">
                        <a:latin typeface="微软雅黑" panose="020B0503020204020204" pitchFamily="34" charset="-122"/>
                        <a:ea typeface="微软雅黑" panose="020B0503020204020204" pitchFamily="34" charset="-122"/>
                      </a:endParaRPr>
                    </a:p>
                  </a:txBody>
                  <a:tcPr/>
                </a:tc>
                <a:tc>
                  <a:txBody>
                    <a:bodyPr/>
                    <a:lstStyle/>
                    <a:p>
                      <a:r>
                        <a:rPr lang="zh-CN" altLang="en-US" sz="2000" dirty="0" smtClean="0">
                          <a:latin typeface="微软雅黑" panose="020B0503020204020204" pitchFamily="34" charset="-122"/>
                          <a:ea typeface="微软雅黑" panose="020B0503020204020204" pitchFamily="34" charset="-122"/>
                        </a:rPr>
                        <a:t>是</a:t>
                      </a:r>
                      <a:endParaRPr lang="zh-CN" altLang="en-US" sz="2000" dirty="0">
                        <a:latin typeface="微软雅黑" panose="020B0503020204020204" pitchFamily="34" charset="-122"/>
                        <a:ea typeface="微软雅黑" panose="020B0503020204020204" pitchFamily="34" charset="-122"/>
                      </a:endParaRPr>
                    </a:p>
                  </a:txBody>
                  <a:tcPr/>
                </a:tc>
                <a:tc>
                  <a:txBody>
                    <a:bodyPr/>
                    <a:lstStyle/>
                    <a:p>
                      <a:r>
                        <a:rPr lang="zh-CN" altLang="en-US" sz="2000" dirty="0" smtClean="0">
                          <a:latin typeface="微软雅黑" panose="020B0503020204020204" pitchFamily="34" charset="-122"/>
                          <a:ea typeface="微软雅黑" panose="020B0503020204020204" pitchFamily="34" charset="-122"/>
                        </a:rPr>
                        <a:t>是</a:t>
                      </a:r>
                      <a:endParaRPr lang="zh-CN" altLang="en-US" sz="20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xmlns="" val="2222121677"/>
                  </a:ext>
                </a:extLst>
              </a:tr>
              <a:tr h="370840">
                <a:tc>
                  <a:txBody>
                    <a:bodyPr/>
                    <a:lstStyle/>
                    <a:p>
                      <a:r>
                        <a:rPr lang="zh-CN" altLang="en-US" sz="2000" dirty="0" smtClean="0">
                          <a:latin typeface="微软雅黑" panose="020B0503020204020204" pitchFamily="34" charset="-122"/>
                          <a:ea typeface="微软雅黑" panose="020B0503020204020204" pitchFamily="34" charset="-122"/>
                        </a:rPr>
                        <a:t>混合图</a:t>
                      </a:r>
                      <a:endParaRPr lang="zh-CN" altLang="en-US" sz="2000" dirty="0">
                        <a:latin typeface="微软雅黑" panose="020B0503020204020204" pitchFamily="34" charset="-122"/>
                        <a:ea typeface="微软雅黑" panose="020B0503020204020204" pitchFamily="34" charset="-122"/>
                      </a:endParaRPr>
                    </a:p>
                  </a:txBody>
                  <a:tcPr/>
                </a:tc>
                <a:tc>
                  <a:txBody>
                    <a:bodyPr/>
                    <a:lstStyle/>
                    <a:p>
                      <a:r>
                        <a:rPr lang="zh-CN" altLang="en-US" sz="2000" dirty="0" smtClean="0">
                          <a:latin typeface="微软雅黑" panose="020B0503020204020204" pitchFamily="34" charset="-122"/>
                          <a:ea typeface="微软雅黑" panose="020B0503020204020204" pitchFamily="34" charset="-122"/>
                        </a:rPr>
                        <a:t>有向和无向</a:t>
                      </a:r>
                      <a:endParaRPr lang="zh-CN" altLang="en-US" sz="2000" dirty="0">
                        <a:latin typeface="微软雅黑" panose="020B0503020204020204" pitchFamily="34" charset="-122"/>
                        <a:ea typeface="微软雅黑" panose="020B0503020204020204" pitchFamily="34" charset="-122"/>
                      </a:endParaRPr>
                    </a:p>
                  </a:txBody>
                  <a:tcPr/>
                </a:tc>
                <a:tc>
                  <a:txBody>
                    <a:bodyPr/>
                    <a:lstStyle/>
                    <a:p>
                      <a:r>
                        <a:rPr lang="zh-CN" altLang="en-US" sz="2000" dirty="0" smtClean="0">
                          <a:latin typeface="微软雅黑" panose="020B0503020204020204" pitchFamily="34" charset="-122"/>
                          <a:ea typeface="微软雅黑" panose="020B0503020204020204" pitchFamily="34" charset="-122"/>
                        </a:rPr>
                        <a:t>是</a:t>
                      </a:r>
                      <a:endParaRPr lang="zh-CN" altLang="en-US" sz="2000" dirty="0">
                        <a:latin typeface="微软雅黑" panose="020B0503020204020204" pitchFamily="34" charset="-122"/>
                        <a:ea typeface="微软雅黑" panose="020B0503020204020204" pitchFamily="34" charset="-122"/>
                      </a:endParaRPr>
                    </a:p>
                  </a:txBody>
                  <a:tcPr/>
                </a:tc>
                <a:tc>
                  <a:txBody>
                    <a:bodyPr/>
                    <a:lstStyle/>
                    <a:p>
                      <a:r>
                        <a:rPr lang="zh-CN" altLang="en-US" sz="2000" dirty="0" smtClean="0">
                          <a:latin typeface="微软雅黑" panose="020B0503020204020204" pitchFamily="34" charset="-122"/>
                          <a:ea typeface="微软雅黑" panose="020B0503020204020204" pitchFamily="34" charset="-122"/>
                        </a:rPr>
                        <a:t>是</a:t>
                      </a:r>
                      <a:endParaRPr lang="zh-CN" altLang="en-US" sz="20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xmlns="" val="4097700589"/>
                  </a:ext>
                </a:extLst>
              </a:tr>
            </a:tbl>
          </a:graphicData>
        </a:graphic>
      </p:graphicFrame>
    </p:spTree>
    <p:extLst>
      <p:ext uri="{BB962C8B-B14F-4D97-AF65-F5344CB8AC3E}">
        <p14:creationId xmlns:p14="http://schemas.microsoft.com/office/powerpoint/2010/main" val="249198814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图模型</a:t>
            </a:r>
            <a:r>
              <a:rPr lang="en-US" altLang="zh-CN" dirty="0" smtClean="0"/>
              <a:t>-</a:t>
            </a:r>
            <a:r>
              <a:rPr lang="zh-CN" altLang="en-US" dirty="0" smtClean="0"/>
              <a:t>计算机网络</a:t>
            </a:r>
            <a:endParaRPr lang="en-US" dirty="0"/>
          </a:p>
        </p:txBody>
      </p:sp>
      <p:sp>
        <p:nvSpPr>
          <p:cNvPr id="3" name="Content Placeholder 2"/>
          <p:cNvSpPr>
            <a:spLocks noGrp="1"/>
          </p:cNvSpPr>
          <p:nvPr>
            <p:ph idx="1"/>
          </p:nvPr>
        </p:nvSpPr>
        <p:spPr/>
        <p:txBody>
          <a:bodyPr>
            <a:normAutofit/>
          </a:bodyPr>
          <a:lstStyle/>
          <a:p>
            <a:r>
              <a:rPr lang="zh-CN" altLang="en-US" dirty="0" smtClean="0"/>
              <a:t>当我们建立图模型</a:t>
            </a:r>
            <a:r>
              <a:rPr lang="en-US" altLang="zh-CN" dirty="0" smtClean="0"/>
              <a:t>, </a:t>
            </a:r>
            <a:r>
              <a:rPr lang="zh-CN" altLang="en-US" dirty="0" smtClean="0"/>
              <a:t>我们需要用合适的图类型来捕获应用的重要属性</a:t>
            </a:r>
            <a:r>
              <a:rPr lang="en-US" altLang="zh-CN" dirty="0" smtClean="0"/>
              <a:t>.</a:t>
            </a:r>
            <a:endParaRPr lang="en-US" dirty="0" smtClean="0"/>
          </a:p>
          <a:p>
            <a:r>
              <a:rPr lang="zh-CN" altLang="en-US" dirty="0" smtClean="0"/>
              <a:t>在计算机中</a:t>
            </a:r>
            <a:r>
              <a:rPr lang="en-US" altLang="zh-CN" dirty="0" smtClean="0"/>
              <a:t>, </a:t>
            </a:r>
            <a:r>
              <a:rPr lang="zh-CN" altLang="en-US" b="1" dirty="0" smtClean="0"/>
              <a:t>计算机网络</a:t>
            </a:r>
            <a:r>
              <a:rPr lang="zh-CN" altLang="en-US" dirty="0" smtClean="0"/>
              <a:t>可以用图来建模</a:t>
            </a:r>
            <a:r>
              <a:rPr lang="en-US" altLang="zh-CN" dirty="0" smtClean="0"/>
              <a:t>. </a:t>
            </a:r>
            <a:r>
              <a:rPr lang="zh-CN" altLang="en-US" dirty="0" smtClean="0"/>
              <a:t>图中顶点表示数据中心</a:t>
            </a:r>
            <a:r>
              <a:rPr lang="en-US" altLang="zh-CN" dirty="0" smtClean="0"/>
              <a:t>, </a:t>
            </a:r>
            <a:r>
              <a:rPr lang="zh-CN" altLang="en-US" dirty="0" smtClean="0"/>
              <a:t>边表示通信链接</a:t>
            </a:r>
            <a:r>
              <a:rPr lang="en-US" altLang="zh-CN" dirty="0" smtClean="0"/>
              <a:t>. </a:t>
            </a:r>
            <a:r>
              <a:rPr lang="zh-CN" altLang="en-US" dirty="0" smtClean="0"/>
              <a:t>根据计算机网络的需求不同可以建立不同类型的图</a:t>
            </a:r>
            <a:r>
              <a:rPr lang="en-US" altLang="zh-CN" dirty="0" smtClean="0"/>
              <a:t>.</a:t>
            </a:r>
          </a:p>
          <a:p>
            <a:endParaRPr lang="en-US" dirty="0" smtClean="0"/>
          </a:p>
          <a:p>
            <a:endParaRPr lang="en-US" dirty="0" smtClean="0"/>
          </a:p>
          <a:p>
            <a:endParaRPr lang="en-US" dirty="0" smtClean="0"/>
          </a:p>
          <a:p>
            <a:endParaRPr lang="en-US" dirty="0"/>
          </a:p>
        </p:txBody>
      </p:sp>
      <p:pic>
        <p:nvPicPr>
          <p:cNvPr id="5" name="Content Placeholder 3" descr="09001.jpg"/>
          <p:cNvPicPr>
            <a:picLocks noChangeAspect="1"/>
          </p:cNvPicPr>
          <p:nvPr/>
        </p:nvPicPr>
        <p:blipFill>
          <a:blip r:embed="rId2" cstate="print"/>
          <a:stretch>
            <a:fillRect/>
          </a:stretch>
        </p:blipFill>
        <p:spPr>
          <a:xfrm>
            <a:off x="2631431" y="3886200"/>
            <a:ext cx="6929137" cy="1818132"/>
          </a:xfrm>
          <a:prstGeom prst="rect">
            <a:avLst/>
          </a:prstGeom>
        </p:spPr>
      </p:pic>
      <p:sp>
        <p:nvSpPr>
          <p:cNvPr id="7" name="日期占位符 6"/>
          <p:cNvSpPr>
            <a:spLocks noGrp="1"/>
          </p:cNvSpPr>
          <p:nvPr>
            <p:ph type="dt" sz="half" idx="10"/>
          </p:nvPr>
        </p:nvSpPr>
        <p:spPr/>
        <p:txBody>
          <a:bodyPr/>
          <a:lstStyle/>
          <a:p>
            <a:fld id="{9FF4EC81-838B-411A-BEFE-4F1242B812E7}"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11</a:t>
            </a:fld>
            <a:endParaRPr lang="zh-CN" altLang="en-US" dirty="0"/>
          </a:p>
        </p:txBody>
      </p:sp>
      <p:sp>
        <p:nvSpPr>
          <p:cNvPr id="4" name="文本框 3"/>
          <p:cNvSpPr txBox="1"/>
          <p:nvPr/>
        </p:nvSpPr>
        <p:spPr>
          <a:xfrm>
            <a:off x="5534746" y="5495653"/>
            <a:ext cx="1107996" cy="461665"/>
          </a:xfrm>
          <a:prstGeom prst="rect">
            <a:avLst/>
          </a:prstGeom>
          <a:noFill/>
        </p:spPr>
        <p:txBody>
          <a:bodyPr wrap="none" rtlCol="0">
            <a:spAutoFit/>
          </a:bodyPr>
          <a:lstStyle/>
          <a:p>
            <a:r>
              <a:rPr lang="zh-CN" altLang="en-US" sz="2400" dirty="0" smtClean="0">
                <a:latin typeface="微软雅黑" panose="020B0503020204020204" pitchFamily="34" charset="-122"/>
                <a:ea typeface="微软雅黑" panose="020B0503020204020204" pitchFamily="34" charset="-122"/>
              </a:rPr>
              <a:t>简单图</a:t>
            </a:r>
            <a:endParaRPr lang="zh-CN" altLang="en-US" sz="2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7642257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ontent Placeholder 2"/>
          <p:cNvSpPr txBox="1">
            <a:spLocks/>
          </p:cNvSpPr>
          <p:nvPr/>
        </p:nvSpPr>
        <p:spPr>
          <a:xfrm>
            <a:off x="595086" y="1088824"/>
            <a:ext cx="6643914" cy="5121481"/>
          </a:xfrm>
          <a:prstGeom prst="rect">
            <a:avLst/>
          </a:prstGeom>
        </p:spPr>
        <p:txBody>
          <a:bodyPr vert="horz" lIns="91440" tIns="45720" rIns="91440" bIns="45720" rtlCol="0">
            <a:normAutofit/>
          </a:bodyPr>
          <a:lstStyle>
            <a:lvl1pPr marL="274320" indent="-274320" algn="l" defTabSz="914400" rtl="0" eaLnBrk="1" latinLnBrk="0" hangingPunct="1">
              <a:lnSpc>
                <a:spcPct val="100000"/>
              </a:lnSpc>
              <a:spcBef>
                <a:spcPts val="1000"/>
              </a:spcBef>
              <a:buClr>
                <a:srgbClr val="CEA524"/>
              </a:buClr>
              <a:buSzPct val="100000"/>
              <a:buFont typeface="Wingdings" panose="05000000000000000000" pitchFamily="2" charset="2"/>
              <a:buChar char="q"/>
              <a:defRPr sz="2800" kern="1200">
                <a:solidFill>
                  <a:schemeClr val="tx1"/>
                </a:solidFill>
                <a:latin typeface="微软雅黑" panose="020B0503020204020204" pitchFamily="34" charset="-122"/>
                <a:ea typeface="微软雅黑" panose="020B0503020204020204" pitchFamily="34" charset="-122"/>
                <a:cs typeface="+mn-cs"/>
              </a:defRPr>
            </a:lvl1pPr>
            <a:lvl2pPr marL="640080" indent="-246888" algn="l" defTabSz="914400" rtl="0" eaLnBrk="1" latinLnBrk="0" hangingPunct="1">
              <a:lnSpc>
                <a:spcPct val="90000"/>
              </a:lnSpc>
              <a:spcBef>
                <a:spcPts val="500"/>
              </a:spcBef>
              <a:buClr>
                <a:srgbClr val="01559D"/>
              </a:buClr>
              <a:buSzPct val="97000"/>
              <a:buFont typeface="Wingdings" panose="05000000000000000000" pitchFamily="2" charset="2"/>
              <a:buChar char="Ø"/>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smtClean="0"/>
              <a:t>计算机网络中我们仅关心不同数据之间的连接</a:t>
            </a:r>
            <a:r>
              <a:rPr lang="en-US" altLang="zh-CN" dirty="0" smtClean="0"/>
              <a:t>, </a:t>
            </a:r>
            <a:r>
              <a:rPr lang="zh-CN" altLang="en-US" dirty="0" smtClean="0"/>
              <a:t>其中两个数据中心之间可能有多重连接</a:t>
            </a:r>
            <a:r>
              <a:rPr lang="en-US" altLang="zh-CN" dirty="0" smtClean="0"/>
              <a:t>.</a:t>
            </a:r>
          </a:p>
          <a:p>
            <a:endParaRPr lang="en-US" dirty="0" smtClean="0"/>
          </a:p>
          <a:p>
            <a:r>
              <a:rPr lang="zh-CN" altLang="en-US" dirty="0" smtClean="0"/>
              <a:t>计算机网络中一个数据中心有一条连接自身的通信线路</a:t>
            </a:r>
            <a:r>
              <a:rPr lang="en-US" altLang="zh-CN" dirty="0" smtClean="0"/>
              <a:t>, </a:t>
            </a:r>
            <a:r>
              <a:rPr lang="zh-CN" altLang="en-US" dirty="0" smtClean="0"/>
              <a:t>也许是一个用于诊断的反馈环</a:t>
            </a:r>
            <a:r>
              <a:rPr lang="en-US" altLang="zh-CN" dirty="0" smtClean="0"/>
              <a:t>.</a:t>
            </a:r>
            <a:endParaRPr lang="en-US" dirty="0" smtClean="0"/>
          </a:p>
          <a:p>
            <a:endParaRPr lang="en-US" dirty="0"/>
          </a:p>
          <a:p>
            <a:r>
              <a:rPr lang="zh-CN" altLang="en-US" dirty="0" smtClean="0"/>
              <a:t>计算机网络中</a:t>
            </a:r>
            <a:r>
              <a:rPr lang="en-US" altLang="zh-CN" dirty="0" smtClean="0"/>
              <a:t>, </a:t>
            </a:r>
            <a:r>
              <a:rPr lang="zh-CN" altLang="en-US" dirty="0" smtClean="0"/>
              <a:t>有些链接值可以对一个方向操作</a:t>
            </a:r>
            <a:r>
              <a:rPr lang="en-US" altLang="zh-CN" dirty="0" smtClean="0"/>
              <a:t>(</a:t>
            </a:r>
            <a:r>
              <a:rPr lang="zh-CN" altLang="en-US" dirty="0" smtClean="0"/>
              <a:t>这种边称为单工线路</a:t>
            </a:r>
            <a:r>
              <a:rPr lang="en-US" altLang="zh-CN" dirty="0" smtClean="0"/>
              <a:t>).</a:t>
            </a:r>
            <a:endParaRPr lang="en-US" dirty="0"/>
          </a:p>
        </p:txBody>
      </p:sp>
      <p:sp>
        <p:nvSpPr>
          <p:cNvPr id="2" name="Title 1"/>
          <p:cNvSpPr>
            <a:spLocks noGrp="1"/>
          </p:cNvSpPr>
          <p:nvPr>
            <p:ph type="title"/>
          </p:nvPr>
        </p:nvSpPr>
        <p:spPr/>
        <p:txBody>
          <a:bodyPr/>
          <a:lstStyle/>
          <a:p>
            <a:r>
              <a:rPr lang="zh-CN" altLang="en-US" smtClean="0"/>
              <a:t>图模型</a:t>
            </a:r>
            <a:r>
              <a:rPr lang="en-US" altLang="zh-CN" smtClean="0"/>
              <a:t>-</a:t>
            </a:r>
            <a:r>
              <a:rPr lang="zh-CN" altLang="en-US" smtClean="0"/>
              <a:t>计算机网络</a:t>
            </a:r>
            <a:endParaRPr lang="en-US" dirty="0"/>
          </a:p>
        </p:txBody>
      </p:sp>
      <p:pic>
        <p:nvPicPr>
          <p:cNvPr id="10" name="Content Placeholder 3" descr="09005.jpg"/>
          <p:cNvPicPr>
            <a:picLocks noGrp="1" noChangeAspect="1"/>
          </p:cNvPicPr>
          <p:nvPr>
            <p:ph idx="1"/>
          </p:nvPr>
        </p:nvPicPr>
        <p:blipFill>
          <a:blip r:embed="rId2" cstate="print"/>
          <a:stretch>
            <a:fillRect/>
          </a:stretch>
        </p:blipFill>
        <p:spPr>
          <a:xfrm>
            <a:off x="8153400" y="5267223"/>
            <a:ext cx="3167149" cy="926869"/>
          </a:xfrm>
        </p:spPr>
      </p:pic>
      <p:sp>
        <p:nvSpPr>
          <p:cNvPr id="9" name="日期占位符 8"/>
          <p:cNvSpPr>
            <a:spLocks noGrp="1"/>
          </p:cNvSpPr>
          <p:nvPr>
            <p:ph type="dt" sz="half" idx="10"/>
          </p:nvPr>
        </p:nvSpPr>
        <p:spPr/>
        <p:txBody>
          <a:bodyPr/>
          <a:lstStyle/>
          <a:p>
            <a:fld id="{FF599232-17E2-4907-8001-20E2D45BB45A}" type="datetime1">
              <a:rPr lang="zh-CN" altLang="en-US" smtClean="0"/>
              <a:t>2025/4/15</a:t>
            </a:fld>
            <a:endParaRPr lang="zh-CN" altLang="en-US" dirty="0"/>
          </a:p>
        </p:txBody>
      </p:sp>
      <p:sp>
        <p:nvSpPr>
          <p:cNvPr id="13" name="灯片编号占位符 12"/>
          <p:cNvSpPr>
            <a:spLocks noGrp="1"/>
          </p:cNvSpPr>
          <p:nvPr>
            <p:ph type="sldNum" sz="quarter" idx="12"/>
          </p:nvPr>
        </p:nvSpPr>
        <p:spPr/>
        <p:txBody>
          <a:bodyPr/>
          <a:lstStyle/>
          <a:p>
            <a:fld id="{67913A8A-9EFB-4B5F-9CCB-3D21173FAA85}" type="slidenum">
              <a:rPr lang="zh-CN" altLang="en-US" smtClean="0"/>
              <a:pPr/>
              <a:t>12</a:t>
            </a:fld>
            <a:endParaRPr lang="zh-CN" altLang="en-US" dirty="0"/>
          </a:p>
        </p:txBody>
      </p:sp>
      <p:pic>
        <p:nvPicPr>
          <p:cNvPr id="5" name="Picture 4" descr="09002.jpg"/>
          <p:cNvPicPr>
            <a:picLocks noChangeAspect="1"/>
          </p:cNvPicPr>
          <p:nvPr/>
        </p:nvPicPr>
        <p:blipFill>
          <a:blip r:embed="rId3" cstate="print"/>
          <a:stretch>
            <a:fillRect/>
          </a:stretch>
        </p:blipFill>
        <p:spPr>
          <a:xfrm>
            <a:off x="7772400" y="1219200"/>
            <a:ext cx="3167634" cy="902970"/>
          </a:xfrm>
          <a:prstGeom prst="rect">
            <a:avLst/>
          </a:prstGeom>
        </p:spPr>
      </p:pic>
      <p:pic>
        <p:nvPicPr>
          <p:cNvPr id="6" name="Picture 5" descr="09003.jpg"/>
          <p:cNvPicPr>
            <a:picLocks noChangeAspect="1"/>
          </p:cNvPicPr>
          <p:nvPr/>
        </p:nvPicPr>
        <p:blipFill>
          <a:blip r:embed="rId4" cstate="print"/>
          <a:stretch>
            <a:fillRect/>
          </a:stretch>
        </p:blipFill>
        <p:spPr>
          <a:xfrm>
            <a:off x="7924800" y="2900745"/>
            <a:ext cx="3167634" cy="1174242"/>
          </a:xfrm>
          <a:prstGeom prst="rect">
            <a:avLst/>
          </a:prstGeom>
        </p:spPr>
      </p:pic>
      <p:sp>
        <p:nvSpPr>
          <p:cNvPr id="17" name="页脚占位符 7"/>
          <p:cNvSpPr>
            <a:spLocks noGrp="1"/>
          </p:cNvSpPr>
          <p:nvPr>
            <p:ph type="ftr" sz="quarter" idx="11"/>
          </p:nvPr>
        </p:nvSpPr>
        <p:spPr>
          <a:xfrm>
            <a:off x="7543800" y="6400799"/>
            <a:ext cx="4267200" cy="380965"/>
          </a:xfrm>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11" name="文本框 10"/>
          <p:cNvSpPr txBox="1"/>
          <p:nvPr/>
        </p:nvSpPr>
        <p:spPr>
          <a:xfrm>
            <a:off x="9182976" y="1975045"/>
            <a:ext cx="1107996" cy="461665"/>
          </a:xfrm>
          <a:prstGeom prst="rect">
            <a:avLst/>
          </a:prstGeom>
          <a:noFill/>
        </p:spPr>
        <p:txBody>
          <a:bodyPr wrap="none" rtlCol="0">
            <a:spAutoFit/>
          </a:bodyPr>
          <a:lstStyle/>
          <a:p>
            <a:r>
              <a:rPr lang="zh-CN" altLang="en-US" sz="2400" dirty="0" smtClean="0">
                <a:latin typeface="微软雅黑" panose="020B0503020204020204" pitchFamily="34" charset="-122"/>
                <a:ea typeface="微软雅黑" panose="020B0503020204020204" pitchFamily="34" charset="-122"/>
              </a:rPr>
              <a:t>多重图</a:t>
            </a:r>
            <a:endParaRPr lang="zh-CN" altLang="en-US" sz="2400" dirty="0">
              <a:latin typeface="微软雅黑" panose="020B0503020204020204" pitchFamily="34" charset="-122"/>
              <a:ea typeface="微软雅黑" panose="020B0503020204020204" pitchFamily="34" charset="-122"/>
            </a:endParaRPr>
          </a:p>
        </p:txBody>
      </p:sp>
      <p:sp>
        <p:nvSpPr>
          <p:cNvPr id="12" name="文本框 11"/>
          <p:cNvSpPr txBox="1"/>
          <p:nvPr/>
        </p:nvSpPr>
        <p:spPr>
          <a:xfrm>
            <a:off x="9182976" y="3820029"/>
            <a:ext cx="800219" cy="461665"/>
          </a:xfrm>
          <a:prstGeom prst="rect">
            <a:avLst/>
          </a:prstGeom>
          <a:noFill/>
        </p:spPr>
        <p:txBody>
          <a:bodyPr wrap="none" rtlCol="0">
            <a:spAutoFit/>
          </a:bodyPr>
          <a:lstStyle/>
          <a:p>
            <a:r>
              <a:rPr lang="zh-CN" altLang="en-US" sz="2400" dirty="0" smtClean="0">
                <a:latin typeface="微软雅黑" panose="020B0503020204020204" pitchFamily="34" charset="-122"/>
                <a:ea typeface="微软雅黑" panose="020B0503020204020204" pitchFamily="34" charset="-122"/>
              </a:rPr>
              <a:t>伪图</a:t>
            </a:r>
            <a:endParaRPr lang="zh-CN" altLang="en-US" sz="2400" dirty="0">
              <a:latin typeface="微软雅黑" panose="020B0503020204020204" pitchFamily="34" charset="-122"/>
              <a:ea typeface="微软雅黑" panose="020B0503020204020204" pitchFamily="34" charset="-122"/>
            </a:endParaRPr>
          </a:p>
        </p:txBody>
      </p:sp>
      <p:sp>
        <p:nvSpPr>
          <p:cNvPr id="14" name="文本框 13"/>
          <p:cNvSpPr txBox="1"/>
          <p:nvPr/>
        </p:nvSpPr>
        <p:spPr>
          <a:xfrm>
            <a:off x="9170466" y="5939134"/>
            <a:ext cx="1723549" cy="461665"/>
          </a:xfrm>
          <a:prstGeom prst="rect">
            <a:avLst/>
          </a:prstGeom>
          <a:noFill/>
        </p:spPr>
        <p:txBody>
          <a:bodyPr wrap="none" rtlCol="0">
            <a:spAutoFit/>
          </a:bodyPr>
          <a:lstStyle/>
          <a:p>
            <a:r>
              <a:rPr lang="zh-CN" altLang="en-US" sz="2400" dirty="0">
                <a:latin typeface="微软雅黑" panose="020B0503020204020204" pitchFamily="34" charset="-122"/>
                <a:ea typeface="微软雅黑" panose="020B0503020204020204" pitchFamily="34" charset="-122"/>
              </a:rPr>
              <a:t>有</a:t>
            </a:r>
            <a:r>
              <a:rPr lang="zh-CN" altLang="en-US" sz="2400" dirty="0" smtClean="0">
                <a:latin typeface="微软雅黑" panose="020B0503020204020204" pitchFamily="34" charset="-122"/>
                <a:ea typeface="微软雅黑" panose="020B0503020204020204" pitchFamily="34" charset="-122"/>
              </a:rPr>
              <a:t>向多重图</a:t>
            </a:r>
            <a:endParaRPr lang="zh-CN" altLang="en-US" sz="2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3442715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图模型</a:t>
            </a:r>
            <a:r>
              <a:rPr lang="en-US" altLang="zh-CN" dirty="0" smtClean="0"/>
              <a:t>-</a:t>
            </a:r>
            <a:r>
              <a:rPr lang="zh-CN" altLang="en-US" dirty="0" smtClean="0"/>
              <a:t>社交网络</a:t>
            </a:r>
            <a:endParaRPr lang="en-US" dirty="0"/>
          </a:p>
        </p:txBody>
      </p:sp>
      <p:sp>
        <p:nvSpPr>
          <p:cNvPr id="3" name="Content Placeholder 2"/>
          <p:cNvSpPr>
            <a:spLocks noGrp="1"/>
          </p:cNvSpPr>
          <p:nvPr>
            <p:ph idx="1"/>
          </p:nvPr>
        </p:nvSpPr>
        <p:spPr/>
        <p:txBody>
          <a:bodyPr>
            <a:normAutofit/>
          </a:bodyPr>
          <a:lstStyle/>
          <a:p>
            <a:r>
              <a:rPr lang="zh-CN" altLang="en-US" dirty="0" smtClean="0"/>
              <a:t>图广泛地应用于为基于人或人群之间不同类型关系的社会结构建模</a:t>
            </a:r>
            <a:r>
              <a:rPr lang="en-US" altLang="zh-CN" dirty="0" smtClean="0"/>
              <a:t>.</a:t>
            </a:r>
          </a:p>
          <a:p>
            <a:r>
              <a:rPr lang="zh-CN" altLang="en-US" b="1" dirty="0" smtClean="0"/>
              <a:t>社交网络</a:t>
            </a:r>
            <a:r>
              <a:rPr lang="zh-CN" altLang="en-US" dirty="0" smtClean="0"/>
              <a:t>的图模型中</a:t>
            </a:r>
            <a:r>
              <a:rPr lang="en-US" altLang="zh-CN" dirty="0" smtClean="0"/>
              <a:t>, </a:t>
            </a:r>
            <a:r>
              <a:rPr lang="zh-CN" altLang="en-US" dirty="0" smtClean="0"/>
              <a:t>顶点表示个人或者组织</a:t>
            </a:r>
            <a:r>
              <a:rPr lang="en-US" altLang="zh-CN" dirty="0" smtClean="0"/>
              <a:t>, </a:t>
            </a:r>
            <a:r>
              <a:rPr lang="zh-CN" altLang="en-US" dirty="0" smtClean="0"/>
              <a:t>边表示个人或组织之间的关系</a:t>
            </a:r>
            <a:r>
              <a:rPr lang="en-US" altLang="zh-CN" dirty="0" smtClean="0"/>
              <a:t>.</a:t>
            </a:r>
            <a:endParaRPr lang="en-US" dirty="0" smtClean="0"/>
          </a:p>
          <a:p>
            <a:r>
              <a:rPr lang="zh-CN" altLang="en-US" dirty="0" smtClean="0"/>
              <a:t>最常用的社交网络</a:t>
            </a:r>
            <a:r>
              <a:rPr lang="en-US" dirty="0" smtClean="0"/>
              <a:t>: </a:t>
            </a:r>
          </a:p>
          <a:p>
            <a:pPr lvl="1"/>
            <a:r>
              <a:rPr lang="zh-CN" altLang="en-US" dirty="0" smtClean="0"/>
              <a:t>朋友关系图</a:t>
            </a:r>
            <a:r>
              <a:rPr lang="en-US" dirty="0" smtClean="0"/>
              <a:t> –</a:t>
            </a:r>
            <a:r>
              <a:rPr lang="zh-CN" altLang="en-US" dirty="0"/>
              <a:t>简单</a:t>
            </a:r>
            <a:r>
              <a:rPr lang="zh-CN" altLang="en-US" dirty="0" smtClean="0"/>
              <a:t>图</a:t>
            </a:r>
            <a:r>
              <a:rPr lang="en-US" altLang="zh-CN" dirty="0" smtClean="0"/>
              <a:t>, </a:t>
            </a:r>
            <a:r>
              <a:rPr lang="zh-CN" altLang="en-US" dirty="0" smtClean="0"/>
              <a:t>无向</a:t>
            </a:r>
            <a:r>
              <a:rPr lang="en-US" altLang="zh-CN" dirty="0" smtClean="0"/>
              <a:t>, </a:t>
            </a:r>
            <a:r>
              <a:rPr lang="zh-CN" altLang="en-US" dirty="0" smtClean="0"/>
              <a:t>表示两个人是否相互认识</a:t>
            </a:r>
            <a:r>
              <a:rPr lang="en-US" altLang="zh-CN" dirty="0" smtClean="0"/>
              <a:t>, </a:t>
            </a:r>
            <a:r>
              <a:rPr lang="zh-CN" altLang="en-US" dirty="0" smtClean="0"/>
              <a:t>即他们是否熟悉或是朋友</a:t>
            </a:r>
            <a:r>
              <a:rPr lang="en-US" altLang="zh-CN" dirty="0" smtClean="0"/>
              <a:t>. </a:t>
            </a:r>
            <a:r>
              <a:rPr lang="zh-CN" altLang="en-US" dirty="0" smtClean="0"/>
              <a:t>其中顶点表示具体的人</a:t>
            </a:r>
            <a:r>
              <a:rPr lang="en-US" altLang="zh-CN" dirty="0" smtClean="0"/>
              <a:t>, </a:t>
            </a:r>
            <a:r>
              <a:rPr lang="zh-CN" altLang="en-US" dirty="0" smtClean="0"/>
              <a:t>当两个人如果熟悉或为朋友</a:t>
            </a:r>
            <a:r>
              <a:rPr lang="en-US" altLang="zh-CN" dirty="0" smtClean="0"/>
              <a:t>, </a:t>
            </a:r>
            <a:r>
              <a:rPr lang="zh-CN" altLang="en-US" dirty="0" smtClean="0"/>
              <a:t>则用无向边连接这两人</a:t>
            </a:r>
            <a:r>
              <a:rPr lang="en-US" dirty="0" smtClean="0"/>
              <a:t> </a:t>
            </a:r>
            <a:endParaRPr lang="en-US" altLang="zh-CN" dirty="0" smtClean="0"/>
          </a:p>
          <a:p>
            <a:pPr lvl="1"/>
            <a:r>
              <a:rPr lang="zh-CN" altLang="en-US" dirty="0" smtClean="0"/>
              <a:t>影响图</a:t>
            </a:r>
            <a:r>
              <a:rPr lang="en-US" dirty="0" smtClean="0"/>
              <a:t>- </a:t>
            </a:r>
            <a:r>
              <a:rPr lang="zh-CN" altLang="en-US" dirty="0" smtClean="0"/>
              <a:t>有向图</a:t>
            </a:r>
            <a:r>
              <a:rPr lang="en-US" altLang="zh-CN" dirty="0" smtClean="0"/>
              <a:t>, </a:t>
            </a:r>
            <a:r>
              <a:rPr lang="zh-CN" altLang="en-US" dirty="0" smtClean="0"/>
              <a:t>从一个人影响第二个人</a:t>
            </a:r>
            <a:r>
              <a:rPr lang="en-US" altLang="zh-CN" dirty="0" smtClean="0"/>
              <a:t>, </a:t>
            </a:r>
            <a:r>
              <a:rPr lang="zh-CN" altLang="en-US" dirty="0" smtClean="0"/>
              <a:t>那么用有向边来连接这</a:t>
            </a:r>
            <a:r>
              <a:rPr lang="zh-CN" altLang="en-US" dirty="0"/>
              <a:t>两</a:t>
            </a:r>
            <a:r>
              <a:rPr lang="zh-CN" altLang="en-US" dirty="0" smtClean="0"/>
              <a:t>个人</a:t>
            </a:r>
            <a:endParaRPr lang="en-US" altLang="zh-CN" dirty="0" smtClean="0"/>
          </a:p>
          <a:p>
            <a:pPr lvl="1"/>
            <a:r>
              <a:rPr lang="zh-CN" altLang="en-US" dirty="0" smtClean="0"/>
              <a:t>合作</a:t>
            </a:r>
            <a:r>
              <a:rPr lang="zh-CN" altLang="en-US" dirty="0"/>
              <a:t>图</a:t>
            </a:r>
            <a:r>
              <a:rPr lang="en-US" altLang="zh-CN" dirty="0"/>
              <a:t>- </a:t>
            </a:r>
            <a:r>
              <a:rPr lang="zh-CN" altLang="en-US" dirty="0" smtClean="0"/>
              <a:t>简单图</a:t>
            </a:r>
            <a:r>
              <a:rPr lang="en-US" altLang="zh-CN" dirty="0" smtClean="0"/>
              <a:t>, </a:t>
            </a:r>
            <a:r>
              <a:rPr lang="zh-CN" altLang="en-US" dirty="0" smtClean="0"/>
              <a:t>无向</a:t>
            </a:r>
            <a:r>
              <a:rPr lang="en-US" altLang="zh-CN" dirty="0" smtClean="0"/>
              <a:t>, </a:t>
            </a:r>
            <a:r>
              <a:rPr lang="zh-CN" altLang="en-US" dirty="0" smtClean="0"/>
              <a:t>如果</a:t>
            </a:r>
            <a:r>
              <a:rPr lang="zh-CN" altLang="en-US" dirty="0"/>
              <a:t>两个人通过某种方式</a:t>
            </a:r>
            <a:r>
              <a:rPr lang="zh-CN" altLang="en-US" dirty="0" smtClean="0"/>
              <a:t>合作</a:t>
            </a:r>
            <a:r>
              <a:rPr lang="en-US" altLang="zh-CN" dirty="0" smtClean="0"/>
              <a:t>, </a:t>
            </a:r>
            <a:r>
              <a:rPr lang="zh-CN" altLang="en-US" dirty="0" smtClean="0"/>
              <a:t>那么</a:t>
            </a:r>
            <a:r>
              <a:rPr lang="zh-CN" altLang="en-US" dirty="0"/>
              <a:t>用无向边连接这两</a:t>
            </a:r>
            <a:r>
              <a:rPr lang="zh-CN" altLang="en-US" dirty="0" smtClean="0"/>
              <a:t>个人</a:t>
            </a:r>
            <a:r>
              <a:rPr lang="en-US" altLang="zh-CN" dirty="0" smtClean="0"/>
              <a:t>.</a:t>
            </a:r>
            <a:endParaRPr lang="en-US" altLang="zh-CN" dirty="0"/>
          </a:p>
          <a:p>
            <a:pPr lvl="1"/>
            <a:endParaRPr lang="en-US" dirty="0"/>
          </a:p>
        </p:txBody>
      </p:sp>
      <p:sp>
        <p:nvSpPr>
          <p:cNvPr id="6" name="日期占位符 5"/>
          <p:cNvSpPr>
            <a:spLocks noGrp="1"/>
          </p:cNvSpPr>
          <p:nvPr>
            <p:ph type="dt" sz="half" idx="10"/>
          </p:nvPr>
        </p:nvSpPr>
        <p:spPr/>
        <p:txBody>
          <a:bodyPr/>
          <a:lstStyle/>
          <a:p>
            <a:fld id="{205EDE69-C897-412E-8252-41140B2603F7}" type="datetime1">
              <a:rPr lang="zh-CN" altLang="en-US" smtClean="0"/>
              <a:t>2025/4/15</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13</a:t>
            </a:fld>
            <a:endParaRPr lang="zh-CN" alt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图模型</a:t>
            </a:r>
            <a:r>
              <a:rPr lang="en-US" altLang="zh-CN" dirty="0"/>
              <a:t>-</a:t>
            </a:r>
            <a:r>
              <a:rPr lang="zh-CN" altLang="en-US" dirty="0"/>
              <a:t>社交网络</a:t>
            </a:r>
            <a:endParaRPr lang="en-US" dirty="0"/>
          </a:p>
        </p:txBody>
      </p:sp>
      <p:sp>
        <p:nvSpPr>
          <p:cNvPr id="3" name="Content Placeholder 2"/>
          <p:cNvSpPr>
            <a:spLocks noGrp="1"/>
          </p:cNvSpPr>
          <p:nvPr>
            <p:ph idx="1"/>
          </p:nvPr>
        </p:nvSpPr>
        <p:spPr>
          <a:xfrm>
            <a:off x="595086" y="1088824"/>
            <a:ext cx="11215914" cy="5121481"/>
          </a:xfrm>
        </p:spPr>
        <p:txBody>
          <a:bodyPr>
            <a:normAutofit/>
          </a:bodyPr>
          <a:lstStyle/>
          <a:p>
            <a:pPr algn="just"/>
            <a:r>
              <a:rPr lang="zh-CN" altLang="en-US" dirty="0" smtClean="0"/>
              <a:t>例</a:t>
            </a:r>
            <a:r>
              <a:rPr lang="en-US" altLang="zh-CN" dirty="0" smtClean="0"/>
              <a:t>: </a:t>
            </a:r>
            <a:r>
              <a:rPr lang="en-US" altLang="zh-CN" dirty="0" err="1" smtClean="0"/>
              <a:t>facebook</a:t>
            </a:r>
            <a:r>
              <a:rPr lang="zh-CN" altLang="en-US" dirty="0" smtClean="0"/>
              <a:t>上两个人是否认识的关系图</a:t>
            </a:r>
            <a:endParaRPr lang="en-US" altLang="zh-CN" dirty="0" smtClean="0"/>
          </a:p>
          <a:p>
            <a:pPr algn="just"/>
            <a:endParaRPr lang="en-US" altLang="zh-CN" dirty="0" smtClean="0"/>
          </a:p>
          <a:p>
            <a:pPr algn="just"/>
            <a:endParaRPr lang="en-US" altLang="zh-CN" dirty="0"/>
          </a:p>
          <a:p>
            <a:pPr algn="just"/>
            <a:endParaRPr lang="en-US" altLang="zh-CN" dirty="0" smtClean="0"/>
          </a:p>
          <a:p>
            <a:pPr algn="just"/>
            <a:endParaRPr lang="en-US" altLang="zh-CN" dirty="0" smtClean="0"/>
          </a:p>
          <a:p>
            <a:pPr algn="just"/>
            <a:r>
              <a:rPr lang="zh-CN" altLang="en-US" dirty="0" smtClean="0"/>
              <a:t>例</a:t>
            </a:r>
            <a:r>
              <a:rPr lang="en-US" altLang="zh-CN" dirty="0" smtClean="0"/>
              <a:t>: </a:t>
            </a:r>
            <a:r>
              <a:rPr lang="zh-CN" altLang="en-US" dirty="0" smtClean="0"/>
              <a:t>一个群体成员的影响图</a:t>
            </a:r>
            <a:r>
              <a:rPr lang="en-US" altLang="zh-CN" dirty="0" smtClean="0"/>
              <a:t>. Deborah</a:t>
            </a:r>
            <a:r>
              <a:rPr lang="zh-CN" altLang="en-US" dirty="0" smtClean="0"/>
              <a:t>影响</a:t>
            </a:r>
            <a:r>
              <a:rPr lang="en-US" altLang="zh-CN" dirty="0" smtClean="0"/>
              <a:t>Brian, Fred, Linda. </a:t>
            </a:r>
            <a:r>
              <a:rPr lang="zh-CN" altLang="en-US" dirty="0" smtClean="0"/>
              <a:t>但没有人影响</a:t>
            </a:r>
            <a:r>
              <a:rPr lang="en-US" altLang="zh-CN" dirty="0" smtClean="0"/>
              <a:t>Deborah. Yvonne</a:t>
            </a:r>
            <a:r>
              <a:rPr lang="zh-CN" altLang="en-US" dirty="0" smtClean="0"/>
              <a:t>与</a:t>
            </a:r>
            <a:r>
              <a:rPr lang="en-US" altLang="zh-CN" dirty="0" smtClean="0"/>
              <a:t>Brain</a:t>
            </a:r>
            <a:r>
              <a:rPr lang="zh-CN" altLang="en-US" dirty="0" smtClean="0"/>
              <a:t>互相影响</a:t>
            </a:r>
            <a:r>
              <a:rPr lang="en-US" altLang="zh-CN" dirty="0" smtClean="0"/>
              <a:t>.</a:t>
            </a:r>
            <a:endParaRPr lang="en-US" dirty="0" smtClean="0"/>
          </a:p>
          <a:p>
            <a:endParaRPr lang="en-US" dirty="0"/>
          </a:p>
        </p:txBody>
      </p:sp>
      <p:pic>
        <p:nvPicPr>
          <p:cNvPr id="4" name="Picture 3" descr="09007.jpg"/>
          <p:cNvPicPr>
            <a:picLocks noChangeAspect="1"/>
          </p:cNvPicPr>
          <p:nvPr/>
        </p:nvPicPr>
        <p:blipFill>
          <a:blip r:embed="rId2" cstate="print"/>
          <a:stretch>
            <a:fillRect/>
          </a:stretch>
        </p:blipFill>
        <p:spPr>
          <a:xfrm>
            <a:off x="4038600" y="1650693"/>
            <a:ext cx="3685408" cy="1974552"/>
          </a:xfrm>
          <a:prstGeom prst="rect">
            <a:avLst/>
          </a:prstGeom>
        </p:spPr>
      </p:pic>
      <p:pic>
        <p:nvPicPr>
          <p:cNvPr id="5" name="Picture 4" descr="09008.jpg"/>
          <p:cNvPicPr>
            <a:picLocks noChangeAspect="1"/>
          </p:cNvPicPr>
          <p:nvPr/>
        </p:nvPicPr>
        <p:blipFill>
          <a:blip r:embed="rId3" cstate="print"/>
          <a:stretch>
            <a:fillRect/>
          </a:stretch>
        </p:blipFill>
        <p:spPr>
          <a:xfrm>
            <a:off x="4623990" y="4781170"/>
            <a:ext cx="2667028" cy="1524382"/>
          </a:xfrm>
          <a:prstGeom prst="rect">
            <a:avLst/>
          </a:prstGeom>
        </p:spPr>
      </p:pic>
      <p:sp>
        <p:nvSpPr>
          <p:cNvPr id="11" name="日期占位符 10"/>
          <p:cNvSpPr>
            <a:spLocks noGrp="1"/>
          </p:cNvSpPr>
          <p:nvPr>
            <p:ph type="dt" sz="half" idx="10"/>
          </p:nvPr>
        </p:nvSpPr>
        <p:spPr/>
        <p:txBody>
          <a:bodyPr/>
          <a:lstStyle/>
          <a:p>
            <a:fld id="{D02D3ACF-75D9-47D7-AE04-700F709BFE49}" type="datetime1">
              <a:rPr lang="zh-CN" altLang="en-US" smtClean="0"/>
              <a:t>2025/4/15</a:t>
            </a:fld>
            <a:endParaRPr lang="zh-CN" altLang="en-US" dirty="0"/>
          </a:p>
        </p:txBody>
      </p:sp>
      <p:sp>
        <p:nvSpPr>
          <p:cNvPr id="12" name="页脚占位符 11"/>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13" name="灯片编号占位符 12"/>
          <p:cNvSpPr>
            <a:spLocks noGrp="1"/>
          </p:cNvSpPr>
          <p:nvPr>
            <p:ph type="sldNum" sz="quarter" idx="12"/>
          </p:nvPr>
        </p:nvSpPr>
        <p:spPr/>
        <p:txBody>
          <a:bodyPr/>
          <a:lstStyle/>
          <a:p>
            <a:fld id="{67913A8A-9EFB-4B5F-9CCB-3D21173FAA85}" type="slidenum">
              <a:rPr lang="zh-CN" altLang="en-US" smtClean="0"/>
              <a:pPr/>
              <a:t>14</a:t>
            </a:fld>
            <a:endParaRPr lang="zh-CN" altLang="en-US" dirty="0"/>
          </a:p>
        </p:txBody>
      </p:sp>
    </p:spTree>
    <p:extLst>
      <p:ext uri="{BB962C8B-B14F-4D97-AF65-F5344CB8AC3E}">
        <p14:creationId xmlns:p14="http://schemas.microsoft.com/office/powerpoint/2010/main" val="403552420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图模型</a:t>
            </a:r>
            <a:r>
              <a:rPr lang="en-US" altLang="zh-CN" dirty="0"/>
              <a:t>-</a:t>
            </a:r>
            <a:r>
              <a:rPr lang="zh-CN" altLang="en-US" dirty="0"/>
              <a:t>社交网络</a:t>
            </a:r>
            <a:endParaRPr lang="en-US" dirty="0"/>
          </a:p>
        </p:txBody>
      </p:sp>
      <p:sp>
        <p:nvSpPr>
          <p:cNvPr id="3" name="Content Placeholder 2"/>
          <p:cNvSpPr>
            <a:spLocks noGrp="1"/>
          </p:cNvSpPr>
          <p:nvPr>
            <p:ph idx="1"/>
          </p:nvPr>
        </p:nvSpPr>
        <p:spPr/>
        <p:txBody>
          <a:bodyPr>
            <a:normAutofit/>
          </a:bodyPr>
          <a:lstStyle/>
          <a:p>
            <a:r>
              <a:rPr lang="zh-CN" altLang="en-US" dirty="0"/>
              <a:t>合作</a:t>
            </a:r>
            <a:r>
              <a:rPr lang="zh-CN" altLang="en-US" dirty="0" smtClean="0"/>
              <a:t>图</a:t>
            </a:r>
            <a:r>
              <a:rPr lang="en-US" altLang="zh-CN" dirty="0" smtClean="0"/>
              <a:t>: </a:t>
            </a:r>
            <a:r>
              <a:rPr lang="zh-CN" altLang="en-US" dirty="0" smtClean="0"/>
              <a:t>例如经典的</a:t>
            </a:r>
            <a:r>
              <a:rPr lang="zh-CN" altLang="en-US" b="1" dirty="0" smtClean="0"/>
              <a:t>好莱坞图</a:t>
            </a:r>
            <a:r>
              <a:rPr lang="zh-CN" altLang="en-US" dirty="0" smtClean="0"/>
              <a:t>、</a:t>
            </a:r>
            <a:r>
              <a:rPr lang="zh-CN" altLang="en-US" b="1" dirty="0" smtClean="0"/>
              <a:t>学术合作图</a:t>
            </a:r>
            <a:r>
              <a:rPr lang="zh-CN" altLang="en-US" dirty="0" smtClean="0"/>
              <a:t>等</a:t>
            </a:r>
            <a:endParaRPr lang="en-US" altLang="zh-CN" dirty="0" smtClean="0"/>
          </a:p>
          <a:p>
            <a:r>
              <a:rPr lang="zh-CN" altLang="en-US" dirty="0"/>
              <a:t>好莱坞</a:t>
            </a:r>
            <a:r>
              <a:rPr lang="zh-CN" altLang="en-US" dirty="0" smtClean="0"/>
              <a:t>图</a:t>
            </a:r>
            <a:r>
              <a:rPr lang="en-US" dirty="0" smtClean="0"/>
              <a:t>.</a:t>
            </a:r>
          </a:p>
          <a:p>
            <a:pPr lvl="1"/>
            <a:r>
              <a:rPr lang="zh-CN" altLang="en-US" dirty="0" smtClean="0"/>
              <a:t>图中顶点表示演员</a:t>
            </a:r>
            <a:r>
              <a:rPr lang="en-US" altLang="zh-CN" dirty="0" smtClean="0"/>
              <a:t>, </a:t>
            </a:r>
            <a:r>
              <a:rPr lang="zh-CN" altLang="en-US" dirty="0" smtClean="0"/>
              <a:t>当两个顶点所表示的演员共同出演一部电影时</a:t>
            </a:r>
            <a:r>
              <a:rPr lang="en-US" altLang="zh-CN" dirty="0" smtClean="0"/>
              <a:t>, </a:t>
            </a:r>
            <a:r>
              <a:rPr lang="zh-CN" altLang="en-US" dirty="0" smtClean="0"/>
              <a:t>就有一条边连接这两个顶点</a:t>
            </a:r>
            <a:r>
              <a:rPr lang="en-US" altLang="zh-CN" dirty="0" smtClean="0"/>
              <a:t>.</a:t>
            </a:r>
          </a:p>
          <a:p>
            <a:r>
              <a:rPr lang="zh-CN" altLang="en-US" dirty="0" smtClean="0"/>
              <a:t>学术合作图</a:t>
            </a:r>
            <a:endParaRPr lang="en-US" altLang="zh-CN" dirty="0" smtClean="0"/>
          </a:p>
          <a:p>
            <a:pPr lvl="1"/>
            <a:r>
              <a:rPr lang="zh-CN" altLang="en-US" dirty="0" smtClean="0"/>
              <a:t>图中顶点表示人</a:t>
            </a:r>
            <a:r>
              <a:rPr lang="en-US" altLang="zh-CN" dirty="0" smtClean="0"/>
              <a:t>, </a:t>
            </a:r>
            <a:r>
              <a:rPr lang="zh-CN" altLang="en-US" dirty="0" smtClean="0"/>
              <a:t>若两个人之间合作发表文章</a:t>
            </a:r>
            <a:r>
              <a:rPr lang="en-US" altLang="zh-CN" dirty="0" smtClean="0"/>
              <a:t>, </a:t>
            </a:r>
            <a:r>
              <a:rPr lang="zh-CN" altLang="en-US" dirty="0" smtClean="0"/>
              <a:t>则有一条边连接两个人</a:t>
            </a:r>
            <a:r>
              <a:rPr lang="en-US" altLang="zh-CN" dirty="0" smtClean="0"/>
              <a:t>.</a:t>
            </a:r>
            <a:endParaRPr lang="en-US" dirty="0" smtClean="0"/>
          </a:p>
          <a:p>
            <a:endParaRPr lang="en-US" dirty="0" smtClean="0"/>
          </a:p>
          <a:p>
            <a:endParaRPr lang="en-US" dirty="0"/>
          </a:p>
        </p:txBody>
      </p:sp>
      <p:sp>
        <p:nvSpPr>
          <p:cNvPr id="6" name="日期占位符 5"/>
          <p:cNvSpPr>
            <a:spLocks noGrp="1"/>
          </p:cNvSpPr>
          <p:nvPr>
            <p:ph type="dt" sz="half" idx="10"/>
          </p:nvPr>
        </p:nvSpPr>
        <p:spPr/>
        <p:txBody>
          <a:bodyPr/>
          <a:lstStyle/>
          <a:p>
            <a:fld id="{3526DA9D-614B-48EE-87FB-06604D6B8E31}" type="datetime1">
              <a:rPr lang="zh-CN" altLang="en-US" smtClean="0"/>
              <a:t>2025/4/15</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15</a:t>
            </a:fld>
            <a:endParaRPr lang="zh-CN" alt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图模型</a:t>
            </a:r>
            <a:r>
              <a:rPr lang="en-US" altLang="zh-CN" dirty="0" smtClean="0"/>
              <a:t>-</a:t>
            </a:r>
            <a:r>
              <a:rPr lang="zh-CN" altLang="en-US" dirty="0"/>
              <a:t>信息</a:t>
            </a:r>
            <a:r>
              <a:rPr lang="zh-CN" altLang="en-US" dirty="0" smtClean="0"/>
              <a:t>网络</a:t>
            </a:r>
            <a:endParaRPr lang="en-US" dirty="0"/>
          </a:p>
        </p:txBody>
      </p:sp>
      <p:sp>
        <p:nvSpPr>
          <p:cNvPr id="3" name="Content Placeholder 2"/>
          <p:cNvSpPr>
            <a:spLocks noGrp="1"/>
          </p:cNvSpPr>
          <p:nvPr>
            <p:ph idx="1"/>
          </p:nvPr>
        </p:nvSpPr>
        <p:spPr/>
        <p:txBody>
          <a:bodyPr>
            <a:normAutofit/>
          </a:bodyPr>
          <a:lstStyle/>
          <a:p>
            <a:r>
              <a:rPr lang="zh-CN" altLang="en-US" dirty="0" smtClean="0"/>
              <a:t>图可以用来为链接特定类型信息的多种网络建模</a:t>
            </a:r>
            <a:r>
              <a:rPr lang="en-US" altLang="zh-CN" dirty="0" smtClean="0"/>
              <a:t>, </a:t>
            </a:r>
            <a:r>
              <a:rPr lang="zh-CN" altLang="en-US" dirty="0" smtClean="0"/>
              <a:t>例如</a:t>
            </a:r>
            <a:r>
              <a:rPr lang="zh-CN" altLang="en-US" b="1" dirty="0" smtClean="0"/>
              <a:t>万维网络图</a:t>
            </a:r>
            <a:r>
              <a:rPr lang="zh-CN" altLang="en-US" dirty="0" smtClean="0"/>
              <a:t>、</a:t>
            </a:r>
            <a:r>
              <a:rPr lang="zh-CN" altLang="en-US" b="1" dirty="0" smtClean="0"/>
              <a:t>引用图</a:t>
            </a:r>
            <a:r>
              <a:rPr lang="en-US" dirty="0" smtClean="0"/>
              <a:t>.</a:t>
            </a:r>
          </a:p>
          <a:p>
            <a:r>
              <a:rPr lang="zh-CN" altLang="en-US" dirty="0" smtClean="0"/>
              <a:t>网络图</a:t>
            </a:r>
            <a:endParaRPr lang="en-US" dirty="0" smtClean="0"/>
          </a:p>
          <a:p>
            <a:pPr lvl="1"/>
            <a:r>
              <a:rPr lang="zh-CN" altLang="en-US" dirty="0" smtClean="0"/>
              <a:t>可用有向图来建模</a:t>
            </a:r>
            <a:r>
              <a:rPr lang="en-US" altLang="zh-CN" dirty="0" smtClean="0"/>
              <a:t>, </a:t>
            </a:r>
            <a:r>
              <a:rPr lang="zh-CN" altLang="en-US" dirty="0" smtClean="0"/>
              <a:t>其中顶点表示每个网页</a:t>
            </a:r>
            <a:r>
              <a:rPr lang="en-US" altLang="zh-CN" dirty="0" smtClean="0"/>
              <a:t>, </a:t>
            </a:r>
            <a:r>
              <a:rPr lang="zh-CN" altLang="en-US" dirty="0" smtClean="0"/>
              <a:t>并且若有从网页</a:t>
            </a:r>
            <a:r>
              <a:rPr lang="en-US" altLang="zh-CN" dirty="0" smtClean="0"/>
              <a:t>a</a:t>
            </a:r>
            <a:r>
              <a:rPr lang="zh-CN" altLang="en-US" dirty="0" smtClean="0"/>
              <a:t>指向网页</a:t>
            </a:r>
            <a:r>
              <a:rPr lang="en-US" altLang="zh-CN" dirty="0" smtClean="0"/>
              <a:t>b</a:t>
            </a:r>
            <a:r>
              <a:rPr lang="zh-CN" altLang="en-US" dirty="0" smtClean="0"/>
              <a:t>的链接</a:t>
            </a:r>
            <a:r>
              <a:rPr lang="en-US" altLang="zh-CN" dirty="0" smtClean="0"/>
              <a:t>, </a:t>
            </a:r>
            <a:r>
              <a:rPr lang="zh-CN" altLang="en-US" dirty="0" smtClean="0"/>
              <a:t>则有以</a:t>
            </a:r>
            <a:r>
              <a:rPr lang="en-US" altLang="zh-CN" dirty="0" smtClean="0"/>
              <a:t>a</a:t>
            </a:r>
            <a:r>
              <a:rPr lang="zh-CN" altLang="en-US" dirty="0" smtClean="0"/>
              <a:t>为起点</a:t>
            </a:r>
            <a:r>
              <a:rPr lang="en-US" altLang="zh-CN" dirty="0" smtClean="0"/>
              <a:t>, b</a:t>
            </a:r>
            <a:r>
              <a:rPr lang="zh-CN" altLang="en-US" dirty="0" smtClean="0"/>
              <a:t>为终点的有向边</a:t>
            </a:r>
            <a:r>
              <a:rPr lang="en-US" altLang="zh-CN" dirty="0" smtClean="0"/>
              <a:t>.</a:t>
            </a:r>
          </a:p>
          <a:p>
            <a:pPr lvl="1"/>
            <a:r>
              <a:rPr lang="zh-CN" altLang="en-US" dirty="0" smtClean="0"/>
              <a:t>网络图</a:t>
            </a:r>
            <a:r>
              <a:rPr lang="zh-CN" altLang="en-US" dirty="0"/>
              <a:t>几乎是实时变化</a:t>
            </a:r>
            <a:r>
              <a:rPr lang="zh-CN" altLang="en-US" dirty="0" smtClean="0"/>
              <a:t>的</a:t>
            </a:r>
            <a:r>
              <a:rPr lang="en-US" altLang="zh-CN" dirty="0" smtClean="0"/>
              <a:t>, </a:t>
            </a:r>
            <a:r>
              <a:rPr lang="zh-CN" altLang="en-US" dirty="0" smtClean="0"/>
              <a:t>给定</a:t>
            </a:r>
            <a:r>
              <a:rPr lang="zh-CN" altLang="en-US" dirty="0"/>
              <a:t>的一个万维网络图是在特定时间下的</a:t>
            </a:r>
            <a:r>
              <a:rPr lang="zh-CN" altLang="en-US" dirty="0" smtClean="0"/>
              <a:t>有向图</a:t>
            </a:r>
            <a:r>
              <a:rPr lang="en-US" dirty="0" smtClean="0"/>
              <a:t>.</a:t>
            </a:r>
          </a:p>
          <a:p>
            <a:r>
              <a:rPr lang="zh-CN" altLang="en-US" dirty="0" smtClean="0"/>
              <a:t>引用图</a:t>
            </a:r>
            <a:r>
              <a:rPr lang="en-US" dirty="0" smtClean="0"/>
              <a:t> </a:t>
            </a:r>
          </a:p>
          <a:p>
            <a:pPr lvl="1"/>
            <a:r>
              <a:rPr lang="zh-CN" altLang="en-US" dirty="0" smtClean="0"/>
              <a:t>图可以用来表示不同类型的文本</a:t>
            </a:r>
            <a:r>
              <a:rPr lang="en-US" altLang="zh-CN" dirty="0" smtClean="0"/>
              <a:t>(</a:t>
            </a:r>
            <a:r>
              <a:rPr lang="zh-CN" altLang="en-US" dirty="0" smtClean="0"/>
              <a:t>如论文、专利等</a:t>
            </a:r>
            <a:r>
              <a:rPr lang="en-US" altLang="zh-CN" dirty="0" smtClean="0"/>
              <a:t>)</a:t>
            </a:r>
            <a:r>
              <a:rPr lang="zh-CN" altLang="en-US" dirty="0" smtClean="0"/>
              <a:t>之间的引用</a:t>
            </a:r>
            <a:r>
              <a:rPr lang="en-US" altLang="zh-CN" dirty="0" smtClean="0"/>
              <a:t>.</a:t>
            </a:r>
          </a:p>
          <a:p>
            <a:pPr lvl="1"/>
            <a:r>
              <a:rPr lang="zh-CN" altLang="en-US" dirty="0" smtClean="0"/>
              <a:t>顶点表示每个文本</a:t>
            </a:r>
            <a:r>
              <a:rPr lang="en-US" altLang="zh-CN" dirty="0" smtClean="0"/>
              <a:t>, </a:t>
            </a:r>
            <a:r>
              <a:rPr lang="zh-CN" altLang="en-US" dirty="0" smtClean="0"/>
              <a:t>若一个文本在其引用列表中引用了第二个文本</a:t>
            </a:r>
            <a:r>
              <a:rPr lang="en-US" altLang="zh-CN" dirty="0" smtClean="0"/>
              <a:t>, </a:t>
            </a:r>
            <a:r>
              <a:rPr lang="zh-CN" altLang="en-US" dirty="0" smtClean="0"/>
              <a:t>则这两个顶点之间有一条边</a:t>
            </a:r>
            <a:r>
              <a:rPr lang="en-US" altLang="zh-CN" dirty="0" smtClean="0"/>
              <a:t>.</a:t>
            </a:r>
          </a:p>
          <a:p>
            <a:pPr lvl="1"/>
            <a:r>
              <a:rPr lang="zh-CN" altLang="en-US" dirty="0" smtClean="0"/>
              <a:t>引用图是不包含环和多重边的有向图</a:t>
            </a:r>
            <a:r>
              <a:rPr lang="en-US" altLang="zh-CN" dirty="0" smtClean="0"/>
              <a:t>.</a:t>
            </a:r>
          </a:p>
          <a:p>
            <a:pPr lvl="1"/>
            <a:endParaRPr lang="en-US" dirty="0"/>
          </a:p>
        </p:txBody>
      </p:sp>
      <p:sp>
        <p:nvSpPr>
          <p:cNvPr id="6" name="日期占位符 5"/>
          <p:cNvSpPr>
            <a:spLocks noGrp="1"/>
          </p:cNvSpPr>
          <p:nvPr>
            <p:ph type="dt" sz="half" idx="10"/>
          </p:nvPr>
        </p:nvSpPr>
        <p:spPr/>
        <p:txBody>
          <a:bodyPr/>
          <a:lstStyle/>
          <a:p>
            <a:fld id="{8D316C4F-DA19-4642-ABD0-7E81BFE90939}" type="datetime1">
              <a:rPr lang="zh-CN" altLang="en-US" smtClean="0"/>
              <a:t>2025/4/15</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16</a:t>
            </a:fld>
            <a:endParaRPr lang="zh-CN" alt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图模型</a:t>
            </a:r>
            <a:r>
              <a:rPr lang="en-US" altLang="zh-CN" dirty="0" smtClean="0"/>
              <a:t>-</a:t>
            </a:r>
            <a:r>
              <a:rPr lang="zh-CN" altLang="en-US" dirty="0" smtClean="0"/>
              <a:t>交通图</a:t>
            </a:r>
            <a:endParaRPr lang="en-US" dirty="0"/>
          </a:p>
        </p:txBody>
      </p:sp>
      <p:sp>
        <p:nvSpPr>
          <p:cNvPr id="3" name="Content Placeholder 2"/>
          <p:cNvSpPr>
            <a:spLocks noGrp="1"/>
          </p:cNvSpPr>
          <p:nvPr>
            <p:ph idx="1"/>
          </p:nvPr>
        </p:nvSpPr>
        <p:spPr/>
        <p:txBody>
          <a:bodyPr>
            <a:normAutofit/>
          </a:bodyPr>
          <a:lstStyle/>
          <a:p>
            <a:r>
              <a:rPr lang="zh-CN" altLang="en-US" dirty="0" smtClean="0"/>
              <a:t>图还可以用来表示交通运输的结构</a:t>
            </a:r>
            <a:r>
              <a:rPr lang="en-US" altLang="zh-CN" dirty="0" smtClean="0"/>
              <a:t>, </a:t>
            </a:r>
            <a:r>
              <a:rPr lang="zh-CN" altLang="en-US" dirty="0" smtClean="0"/>
              <a:t>例如</a:t>
            </a:r>
            <a:r>
              <a:rPr lang="zh-CN" altLang="en-US" b="1" dirty="0" smtClean="0"/>
              <a:t>航线图</a:t>
            </a:r>
            <a:r>
              <a:rPr lang="zh-CN" altLang="en-US" dirty="0" smtClean="0"/>
              <a:t>、</a:t>
            </a:r>
            <a:r>
              <a:rPr lang="zh-CN" altLang="en-US" b="1" dirty="0" smtClean="0"/>
              <a:t>道路网</a:t>
            </a:r>
            <a:r>
              <a:rPr lang="en-US" altLang="zh-CN" dirty="0" smtClean="0"/>
              <a:t>.</a:t>
            </a:r>
            <a:endParaRPr lang="en-US" dirty="0" smtClean="0"/>
          </a:p>
          <a:p>
            <a:r>
              <a:rPr lang="zh-CN" altLang="en-US" dirty="0" smtClean="0"/>
              <a:t>航线图</a:t>
            </a:r>
            <a:endParaRPr lang="en-US" dirty="0" smtClean="0"/>
          </a:p>
          <a:p>
            <a:pPr lvl="1"/>
            <a:r>
              <a:rPr lang="zh-CN" altLang="en-US" dirty="0"/>
              <a:t>图</a:t>
            </a:r>
            <a:r>
              <a:rPr lang="zh-CN" altLang="en-US" dirty="0" smtClean="0"/>
              <a:t>中每个顶点表示机场</a:t>
            </a:r>
            <a:r>
              <a:rPr lang="en-US" altLang="zh-CN" dirty="0" smtClean="0"/>
              <a:t>, </a:t>
            </a:r>
            <a:r>
              <a:rPr lang="zh-CN" altLang="en-US" dirty="0" smtClean="0"/>
              <a:t>两个机场之间有航线则有边连接它们</a:t>
            </a:r>
            <a:r>
              <a:rPr lang="en-US" altLang="zh-CN" dirty="0" smtClean="0"/>
              <a:t>.</a:t>
            </a:r>
          </a:p>
          <a:p>
            <a:pPr lvl="1"/>
            <a:r>
              <a:rPr lang="zh-CN" altLang="en-US" dirty="0" smtClean="0"/>
              <a:t>每一个航班用一个有向边表示</a:t>
            </a:r>
            <a:r>
              <a:rPr lang="en-US" altLang="zh-CN" dirty="0" smtClean="0"/>
              <a:t>, </a:t>
            </a:r>
            <a:r>
              <a:rPr lang="zh-CN" altLang="en-US" dirty="0" smtClean="0"/>
              <a:t>其中开始的顶点表示离开的机场</a:t>
            </a:r>
            <a:r>
              <a:rPr lang="en-US" altLang="zh-CN" dirty="0" smtClean="0"/>
              <a:t>, </a:t>
            </a:r>
            <a:r>
              <a:rPr lang="zh-CN" altLang="en-US" dirty="0" smtClean="0"/>
              <a:t>终点表示到达的机场</a:t>
            </a:r>
            <a:r>
              <a:rPr lang="en-US" altLang="zh-CN" dirty="0" smtClean="0"/>
              <a:t>.</a:t>
            </a:r>
          </a:p>
          <a:p>
            <a:pPr lvl="1"/>
            <a:r>
              <a:rPr lang="zh-CN" altLang="en-US" dirty="0" smtClean="0"/>
              <a:t>多重有向图</a:t>
            </a:r>
            <a:r>
              <a:rPr lang="en-US" altLang="zh-CN" dirty="0" smtClean="0"/>
              <a:t>.</a:t>
            </a:r>
            <a:endParaRPr lang="en-US" dirty="0" smtClean="0"/>
          </a:p>
          <a:p>
            <a:r>
              <a:rPr lang="zh-CN" altLang="en-US" dirty="0" smtClean="0"/>
              <a:t>道路网</a:t>
            </a:r>
            <a:endParaRPr lang="en-US" dirty="0" smtClean="0"/>
          </a:p>
          <a:p>
            <a:pPr lvl="1"/>
            <a:r>
              <a:rPr lang="zh-CN" altLang="en-US" dirty="0" smtClean="0"/>
              <a:t>顶点表示每个铁路站点</a:t>
            </a:r>
            <a:r>
              <a:rPr lang="en-US" altLang="zh-CN" dirty="0" smtClean="0"/>
              <a:t>, </a:t>
            </a:r>
            <a:r>
              <a:rPr lang="zh-CN" altLang="en-US" dirty="0" smtClean="0"/>
              <a:t>边表示两个站点之间的铁路路线</a:t>
            </a:r>
            <a:r>
              <a:rPr lang="en-US" altLang="zh-CN" dirty="0" smtClean="0"/>
              <a:t>.</a:t>
            </a:r>
            <a:endParaRPr lang="en-US" dirty="0" smtClean="0"/>
          </a:p>
          <a:p>
            <a:pPr lvl="1"/>
            <a:r>
              <a:rPr lang="zh-CN" altLang="en-US" dirty="0" smtClean="0"/>
              <a:t>无</a:t>
            </a:r>
            <a:r>
              <a:rPr lang="zh-CN" altLang="en-US" dirty="0"/>
              <a:t>向</a:t>
            </a:r>
            <a:r>
              <a:rPr lang="zh-CN" altLang="en-US" dirty="0" smtClean="0"/>
              <a:t>边表示双向铁路路线</a:t>
            </a:r>
            <a:r>
              <a:rPr lang="en-US" altLang="zh-CN" dirty="0" smtClean="0"/>
              <a:t>, </a:t>
            </a:r>
            <a:r>
              <a:rPr lang="zh-CN" altLang="en-US" dirty="0" smtClean="0"/>
              <a:t>有向边表示单方向的铁路路线</a:t>
            </a:r>
            <a:r>
              <a:rPr lang="en-US" altLang="zh-CN" dirty="0" smtClean="0"/>
              <a:t>.</a:t>
            </a:r>
          </a:p>
        </p:txBody>
      </p:sp>
      <p:sp>
        <p:nvSpPr>
          <p:cNvPr id="6" name="日期占位符 5"/>
          <p:cNvSpPr>
            <a:spLocks noGrp="1"/>
          </p:cNvSpPr>
          <p:nvPr>
            <p:ph type="dt" sz="half" idx="10"/>
          </p:nvPr>
        </p:nvSpPr>
        <p:spPr/>
        <p:txBody>
          <a:bodyPr/>
          <a:lstStyle/>
          <a:p>
            <a:fld id="{0F2550E4-B53E-4498-8429-69130EF02D37}" type="datetime1">
              <a:rPr lang="zh-CN" altLang="en-US" smtClean="0"/>
              <a:t>2025/4/15</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17</a:t>
            </a:fld>
            <a:endParaRPr lang="zh-CN" altLang="en-US" dirty="0"/>
          </a:p>
        </p:txBody>
      </p:sp>
    </p:spTree>
    <p:extLst>
      <p:ext uri="{BB962C8B-B14F-4D97-AF65-F5344CB8AC3E}">
        <p14:creationId xmlns:p14="http://schemas.microsoft.com/office/powerpoint/2010/main" val="417562141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图模型</a:t>
            </a:r>
            <a:r>
              <a:rPr lang="en-US" altLang="zh-CN" dirty="0" smtClean="0"/>
              <a:t>-</a:t>
            </a:r>
            <a:r>
              <a:rPr lang="zh-CN" altLang="en-US" dirty="0" smtClean="0"/>
              <a:t>软件设计应用</a:t>
            </a:r>
            <a:endParaRPr lang="en-US" dirty="0"/>
          </a:p>
        </p:txBody>
      </p:sp>
      <p:sp>
        <p:nvSpPr>
          <p:cNvPr id="3" name="Content Placeholder 2"/>
          <p:cNvSpPr>
            <a:spLocks noGrp="1"/>
          </p:cNvSpPr>
          <p:nvPr>
            <p:ph idx="1"/>
          </p:nvPr>
        </p:nvSpPr>
        <p:spPr/>
        <p:txBody>
          <a:bodyPr>
            <a:normAutofit/>
          </a:bodyPr>
          <a:lstStyle/>
          <a:p>
            <a:r>
              <a:rPr lang="zh-CN" altLang="en-US" dirty="0" smtClean="0"/>
              <a:t>图模型也是软件设计中有用的工具</a:t>
            </a:r>
            <a:r>
              <a:rPr lang="en-US" altLang="zh-CN" dirty="0" smtClean="0"/>
              <a:t>, </a:t>
            </a:r>
            <a:r>
              <a:rPr lang="zh-CN" altLang="en-US" dirty="0" smtClean="0"/>
              <a:t>例如</a:t>
            </a:r>
            <a:r>
              <a:rPr lang="zh-CN" altLang="en-US" b="1" dirty="0" smtClean="0"/>
              <a:t>模块依赖图</a:t>
            </a:r>
            <a:r>
              <a:rPr lang="zh-CN" altLang="en-US" dirty="0" smtClean="0"/>
              <a:t>、</a:t>
            </a:r>
            <a:r>
              <a:rPr lang="zh-CN" altLang="en-US" b="1" dirty="0" smtClean="0"/>
              <a:t>优先图</a:t>
            </a:r>
            <a:endParaRPr lang="en-US" altLang="zh-CN" b="1" dirty="0" smtClean="0"/>
          </a:p>
          <a:p>
            <a:r>
              <a:rPr lang="zh-CN" altLang="en-US" dirty="0"/>
              <a:t>模块</a:t>
            </a:r>
            <a:r>
              <a:rPr lang="zh-CN" altLang="en-US" dirty="0" smtClean="0"/>
              <a:t>依赖图</a:t>
            </a:r>
            <a:r>
              <a:rPr lang="en-US" dirty="0" smtClean="0"/>
              <a:t> </a:t>
            </a:r>
          </a:p>
          <a:p>
            <a:pPr lvl="1"/>
            <a:r>
              <a:rPr lang="zh-CN" altLang="en-US" dirty="0" smtClean="0"/>
              <a:t>在软件设计中</a:t>
            </a:r>
            <a:r>
              <a:rPr lang="en-US" altLang="zh-CN" dirty="0" smtClean="0"/>
              <a:t>, </a:t>
            </a:r>
            <a:r>
              <a:rPr lang="zh-CN" altLang="en-US" dirty="0" smtClean="0"/>
              <a:t>需要考虑如何把一个任务分成多个不同的部分或模块</a:t>
            </a:r>
            <a:r>
              <a:rPr lang="en-US" altLang="zh-CN" dirty="0" smtClean="0"/>
              <a:t>. </a:t>
            </a:r>
            <a:r>
              <a:rPr lang="zh-CN" altLang="en-US" dirty="0" smtClean="0"/>
              <a:t>需要理解不同模块之间的交互</a:t>
            </a:r>
            <a:r>
              <a:rPr lang="en-US" altLang="zh-CN" dirty="0" smtClean="0"/>
              <a:t>.</a:t>
            </a:r>
          </a:p>
          <a:p>
            <a:pPr lvl="1"/>
            <a:r>
              <a:rPr lang="zh-CN" altLang="en-US" dirty="0"/>
              <a:t>图</a:t>
            </a:r>
            <a:r>
              <a:rPr lang="zh-CN" altLang="en-US" dirty="0" smtClean="0"/>
              <a:t>中顶点表示模块</a:t>
            </a:r>
            <a:r>
              <a:rPr lang="en-US" altLang="zh-CN" dirty="0" smtClean="0"/>
              <a:t>, </a:t>
            </a:r>
            <a:r>
              <a:rPr lang="zh-CN" altLang="en-US" dirty="0" smtClean="0"/>
              <a:t>如果第二个模块依赖于第一个模块</a:t>
            </a:r>
            <a:r>
              <a:rPr lang="en-US" altLang="zh-CN" dirty="0" smtClean="0"/>
              <a:t>, </a:t>
            </a:r>
            <a:r>
              <a:rPr lang="zh-CN" altLang="en-US" dirty="0" smtClean="0"/>
              <a:t>则有一条有向边从第一个模块指向第二个模块</a:t>
            </a:r>
            <a:r>
              <a:rPr lang="en-US" dirty="0" smtClean="0"/>
              <a:t>.</a:t>
            </a:r>
          </a:p>
          <a:p>
            <a:pPr lvl="1"/>
            <a:endParaRPr lang="en-US" dirty="0"/>
          </a:p>
          <a:p>
            <a:pPr lvl="1"/>
            <a:endParaRPr lang="en-US" dirty="0"/>
          </a:p>
        </p:txBody>
      </p:sp>
      <p:pic>
        <p:nvPicPr>
          <p:cNvPr id="4" name="Picture 3" descr="FIGURE10.1.9.jpg"/>
          <p:cNvPicPr>
            <a:picLocks noChangeAspect="1"/>
          </p:cNvPicPr>
          <p:nvPr/>
        </p:nvPicPr>
        <p:blipFill>
          <a:blip r:embed="rId2" cstate="print"/>
          <a:stretch>
            <a:fillRect/>
          </a:stretch>
        </p:blipFill>
        <p:spPr>
          <a:xfrm>
            <a:off x="3886201" y="3621125"/>
            <a:ext cx="4648200" cy="2627276"/>
          </a:xfrm>
          <a:prstGeom prst="rect">
            <a:avLst/>
          </a:prstGeom>
        </p:spPr>
      </p:pic>
      <p:sp>
        <p:nvSpPr>
          <p:cNvPr id="8" name="日期占位符 7"/>
          <p:cNvSpPr>
            <a:spLocks noGrp="1"/>
          </p:cNvSpPr>
          <p:nvPr>
            <p:ph type="dt" sz="half" idx="10"/>
          </p:nvPr>
        </p:nvSpPr>
        <p:spPr/>
        <p:txBody>
          <a:bodyPr/>
          <a:lstStyle/>
          <a:p>
            <a:fld id="{2721D22E-7AA8-4930-884C-52EA065FC857}" type="datetime1">
              <a:rPr lang="zh-CN" altLang="en-US" smtClean="0"/>
              <a:t>2025/4/15</a:t>
            </a:fld>
            <a:endParaRPr lang="zh-CN" altLang="en-US" dirty="0"/>
          </a:p>
        </p:txBody>
      </p:sp>
      <p:sp>
        <p:nvSpPr>
          <p:cNvPr id="9" name="页脚占位符 8"/>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10" name="灯片编号占位符 9"/>
          <p:cNvSpPr>
            <a:spLocks noGrp="1"/>
          </p:cNvSpPr>
          <p:nvPr>
            <p:ph type="sldNum" sz="quarter" idx="12"/>
          </p:nvPr>
        </p:nvSpPr>
        <p:spPr/>
        <p:txBody>
          <a:bodyPr/>
          <a:lstStyle/>
          <a:p>
            <a:fld id="{67913A8A-9EFB-4B5F-9CCB-3D21173FAA85}" type="slidenum">
              <a:rPr lang="zh-CN" altLang="en-US" smtClean="0"/>
              <a:pPr/>
              <a:t>18</a:t>
            </a:fld>
            <a:endParaRPr lang="zh-CN" altLang="en-US" dirty="0"/>
          </a:p>
        </p:txBody>
      </p:sp>
    </p:spTree>
    <p:extLst>
      <p:ext uri="{BB962C8B-B14F-4D97-AF65-F5344CB8AC3E}">
        <p14:creationId xmlns:p14="http://schemas.microsoft.com/office/powerpoint/2010/main" val="232679226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图模型</a:t>
            </a:r>
            <a:r>
              <a:rPr lang="en-US" altLang="zh-CN" dirty="0"/>
              <a:t>-</a:t>
            </a:r>
            <a:r>
              <a:rPr lang="zh-CN" altLang="en-US" dirty="0"/>
              <a:t>软件设计应用</a:t>
            </a:r>
            <a:endParaRPr lang="en-US" dirty="0"/>
          </a:p>
        </p:txBody>
      </p:sp>
      <p:sp>
        <p:nvSpPr>
          <p:cNvPr id="3" name="Content Placeholder 2"/>
          <p:cNvSpPr>
            <a:spLocks noGrp="1"/>
          </p:cNvSpPr>
          <p:nvPr>
            <p:ph idx="1"/>
          </p:nvPr>
        </p:nvSpPr>
        <p:spPr/>
        <p:txBody>
          <a:bodyPr>
            <a:normAutofit/>
          </a:bodyPr>
          <a:lstStyle/>
          <a:p>
            <a:r>
              <a:rPr lang="zh-CN" altLang="en-US" dirty="0"/>
              <a:t>优先</a:t>
            </a:r>
            <a:r>
              <a:rPr lang="zh-CN" altLang="en-US" dirty="0" smtClean="0"/>
              <a:t>图</a:t>
            </a:r>
            <a:endParaRPr lang="en-US" altLang="zh-CN" dirty="0" smtClean="0"/>
          </a:p>
          <a:p>
            <a:pPr lvl="1"/>
            <a:r>
              <a:rPr lang="zh-CN" altLang="en-US" dirty="0" smtClean="0"/>
              <a:t>计算机程序通过并发地执行某些语句可以更快完成</a:t>
            </a:r>
            <a:r>
              <a:rPr lang="en-US" altLang="zh-CN" dirty="0" smtClean="0"/>
              <a:t>. </a:t>
            </a:r>
            <a:r>
              <a:rPr lang="zh-CN" altLang="en-US" dirty="0" smtClean="0"/>
              <a:t>需要避免语句执行时还要用到尚未执行语句的结果</a:t>
            </a:r>
            <a:r>
              <a:rPr lang="en-US" altLang="zh-CN" dirty="0" smtClean="0"/>
              <a:t>. </a:t>
            </a:r>
            <a:r>
              <a:rPr lang="zh-CN" altLang="en-US" dirty="0" smtClean="0"/>
              <a:t>语句与前面语句的相关性可以表示为有向图</a:t>
            </a:r>
            <a:r>
              <a:rPr lang="en-US" altLang="zh-CN" dirty="0" smtClean="0"/>
              <a:t>.</a:t>
            </a:r>
          </a:p>
          <a:p>
            <a:pPr lvl="1"/>
            <a:r>
              <a:rPr lang="zh-CN" altLang="en-US" dirty="0"/>
              <a:t>图</a:t>
            </a:r>
            <a:r>
              <a:rPr lang="zh-CN" altLang="en-US" dirty="0" smtClean="0"/>
              <a:t>中</a:t>
            </a:r>
            <a:r>
              <a:rPr lang="en-US" altLang="zh-CN" dirty="0" smtClean="0"/>
              <a:t>, </a:t>
            </a:r>
            <a:r>
              <a:rPr lang="zh-CN" altLang="en-US" dirty="0" smtClean="0"/>
              <a:t>顶点表示每个语句</a:t>
            </a:r>
            <a:r>
              <a:rPr lang="en-US" altLang="zh-CN" dirty="0" smtClean="0"/>
              <a:t>, </a:t>
            </a:r>
            <a:r>
              <a:rPr lang="zh-CN" altLang="en-US" dirty="0" smtClean="0"/>
              <a:t>若在执行完第一个顶点表示的语句之前不能执行第二个顶点表示的语句</a:t>
            </a:r>
            <a:r>
              <a:rPr lang="en-US" altLang="zh-CN" dirty="0" smtClean="0"/>
              <a:t>, </a:t>
            </a:r>
            <a:r>
              <a:rPr lang="zh-CN" altLang="en-US" dirty="0" smtClean="0"/>
              <a:t>则从第一个顶点到第二个顶点有一条边</a:t>
            </a:r>
            <a:r>
              <a:rPr lang="en-US" altLang="zh-CN" dirty="0" smtClean="0"/>
              <a:t>.</a:t>
            </a:r>
            <a:endParaRPr lang="en-US" dirty="0"/>
          </a:p>
        </p:txBody>
      </p:sp>
      <p:pic>
        <p:nvPicPr>
          <p:cNvPr id="4" name="Content Placeholder 4" descr="09011.jpg"/>
          <p:cNvPicPr>
            <a:picLocks noChangeAspect="1"/>
          </p:cNvPicPr>
          <p:nvPr/>
        </p:nvPicPr>
        <p:blipFill>
          <a:blip r:embed="rId2" cstate="print"/>
          <a:stretch>
            <a:fillRect/>
          </a:stretch>
        </p:blipFill>
        <p:spPr>
          <a:xfrm>
            <a:off x="1645562" y="3124200"/>
            <a:ext cx="3171363" cy="2839573"/>
          </a:xfrm>
          <a:prstGeom prst="rect">
            <a:avLst/>
          </a:prstGeom>
        </p:spPr>
      </p:pic>
      <p:sp>
        <p:nvSpPr>
          <p:cNvPr id="6" name="TextBox 5"/>
          <p:cNvSpPr txBox="1"/>
          <p:nvPr/>
        </p:nvSpPr>
        <p:spPr>
          <a:xfrm>
            <a:off x="5257800" y="5181600"/>
            <a:ext cx="3429000" cy="646331"/>
          </a:xfrm>
          <a:prstGeom prst="rect">
            <a:avLst/>
          </a:prstGeom>
          <a:noFill/>
        </p:spPr>
        <p:txBody>
          <a:bodyPr wrap="square" rtlCol="0">
            <a:spAutoFit/>
          </a:bodyPr>
          <a:lstStyle/>
          <a:p>
            <a:r>
              <a:rPr lang="zh-CN" altLang="en-US" dirty="0" smtClean="0">
                <a:latin typeface="微软雅黑" panose="020B0503020204020204" pitchFamily="34" charset="-122"/>
                <a:ea typeface="微软雅黑" panose="020B0503020204020204" pitchFamily="34" charset="-122"/>
              </a:rPr>
              <a:t>例</a:t>
            </a:r>
            <a:r>
              <a:rPr lang="en-US" altLang="zh-CN" dirty="0" smtClean="0">
                <a:latin typeface="微软雅黑" panose="020B0503020204020204" pitchFamily="34" charset="-122"/>
                <a:ea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rPr>
              <a:t>如图的优先图中执行语句</a:t>
            </a:r>
            <a:r>
              <a:rPr lang="en-US" altLang="zh-CN" dirty="0" smtClean="0">
                <a:latin typeface="微软雅黑" panose="020B0503020204020204" pitchFamily="34" charset="-122"/>
                <a:ea typeface="微软雅黑" panose="020B0503020204020204" pitchFamily="34" charset="-122"/>
              </a:rPr>
              <a:t>s1, s2, s4</a:t>
            </a:r>
            <a:r>
              <a:rPr lang="zh-CN" altLang="en-US" dirty="0" smtClean="0">
                <a:latin typeface="微软雅黑" panose="020B0503020204020204" pitchFamily="34" charset="-122"/>
                <a:ea typeface="微软雅黑" panose="020B0503020204020204" pitchFamily="34" charset="-122"/>
              </a:rPr>
              <a:t>之前不能执行语句</a:t>
            </a:r>
            <a:r>
              <a:rPr lang="en-US" altLang="zh-CN" dirty="0" smtClean="0">
                <a:latin typeface="微软雅黑" panose="020B0503020204020204" pitchFamily="34" charset="-122"/>
                <a:ea typeface="微软雅黑" panose="020B0503020204020204" pitchFamily="34" charset="-122"/>
              </a:rPr>
              <a:t>s5</a:t>
            </a:r>
            <a:endParaRPr lang="en-US" dirty="0">
              <a:latin typeface="微软雅黑" panose="020B0503020204020204" pitchFamily="34" charset="-122"/>
              <a:ea typeface="微软雅黑" panose="020B0503020204020204" pitchFamily="34" charset="-122"/>
            </a:endParaRPr>
          </a:p>
        </p:txBody>
      </p:sp>
      <p:sp>
        <p:nvSpPr>
          <p:cNvPr id="8" name="日期占位符 7"/>
          <p:cNvSpPr>
            <a:spLocks noGrp="1"/>
          </p:cNvSpPr>
          <p:nvPr>
            <p:ph type="dt" sz="half" idx="10"/>
          </p:nvPr>
        </p:nvSpPr>
        <p:spPr/>
        <p:txBody>
          <a:bodyPr/>
          <a:lstStyle/>
          <a:p>
            <a:fld id="{D7BF9974-1712-4164-9312-3834343CC9FD}" type="datetime1">
              <a:rPr lang="zh-CN" altLang="en-US" smtClean="0"/>
              <a:t>2025/4/15</a:t>
            </a:fld>
            <a:endParaRPr lang="zh-CN" altLang="en-US" dirty="0"/>
          </a:p>
        </p:txBody>
      </p:sp>
      <p:sp>
        <p:nvSpPr>
          <p:cNvPr id="9" name="页脚占位符 8"/>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10" name="灯片编号占位符 9"/>
          <p:cNvSpPr>
            <a:spLocks noGrp="1"/>
          </p:cNvSpPr>
          <p:nvPr>
            <p:ph type="sldNum" sz="quarter" idx="12"/>
          </p:nvPr>
        </p:nvSpPr>
        <p:spPr/>
        <p:txBody>
          <a:bodyPr/>
          <a:lstStyle/>
          <a:p>
            <a:fld id="{67913A8A-9EFB-4B5F-9CCB-3D21173FAA85}" type="slidenum">
              <a:rPr lang="zh-CN" altLang="en-US" smtClean="0"/>
              <a:pPr/>
              <a:t>19</a:t>
            </a:fld>
            <a:endParaRPr lang="zh-CN" altLang="en-US" dirty="0"/>
          </a:p>
        </p:txBody>
      </p:sp>
    </p:spTree>
    <p:extLst>
      <p:ext uri="{BB962C8B-B14F-4D97-AF65-F5344CB8AC3E}">
        <p14:creationId xmlns:p14="http://schemas.microsoft.com/office/powerpoint/2010/main" val="280423052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图模型</a:t>
            </a:r>
            <a:r>
              <a:rPr lang="en-US" altLang="zh-CN" dirty="0" smtClean="0"/>
              <a:t>-</a:t>
            </a:r>
            <a:r>
              <a:rPr lang="zh-CN" altLang="en-US" dirty="0" smtClean="0"/>
              <a:t>生态网</a:t>
            </a:r>
            <a:endParaRPr lang="en-US" dirty="0"/>
          </a:p>
        </p:txBody>
      </p:sp>
      <p:sp>
        <p:nvSpPr>
          <p:cNvPr id="3" name="Content Placeholder 2"/>
          <p:cNvSpPr>
            <a:spLocks noGrp="1"/>
          </p:cNvSpPr>
          <p:nvPr>
            <p:ph idx="1"/>
          </p:nvPr>
        </p:nvSpPr>
        <p:spPr/>
        <p:txBody>
          <a:bodyPr>
            <a:normAutofit/>
          </a:bodyPr>
          <a:lstStyle/>
          <a:p>
            <a:r>
              <a:rPr lang="zh-CN" altLang="en-US" dirty="0" smtClean="0"/>
              <a:t>图还可以广泛应用于生物学中的很多方面</a:t>
            </a:r>
            <a:r>
              <a:rPr lang="en-US" altLang="zh-CN" dirty="0" smtClean="0"/>
              <a:t>, </a:t>
            </a:r>
            <a:r>
              <a:rPr lang="zh-CN" altLang="en-US" dirty="0" smtClean="0"/>
              <a:t>例如</a:t>
            </a:r>
            <a:r>
              <a:rPr lang="zh-CN" altLang="en-US" b="1" dirty="0" smtClean="0"/>
              <a:t>栖息地重叠图</a:t>
            </a:r>
            <a:r>
              <a:rPr lang="zh-CN" altLang="en-US" dirty="0" smtClean="0"/>
              <a:t>、</a:t>
            </a:r>
            <a:r>
              <a:rPr lang="zh-CN" altLang="en-US" b="1" dirty="0" smtClean="0"/>
              <a:t>蛋白质相互作用图</a:t>
            </a:r>
            <a:r>
              <a:rPr lang="en-US" altLang="zh-CN" dirty="0" smtClean="0"/>
              <a:t>.</a:t>
            </a:r>
          </a:p>
          <a:p>
            <a:r>
              <a:rPr lang="zh-CN" altLang="en-US" dirty="0" smtClean="0"/>
              <a:t>生态学中栖息地重叠图</a:t>
            </a:r>
            <a:endParaRPr lang="en-US" dirty="0" smtClean="0"/>
          </a:p>
          <a:p>
            <a:pPr lvl="1"/>
            <a:r>
              <a:rPr lang="zh-CN" altLang="en-US" dirty="0" smtClean="0"/>
              <a:t>图可用在涉及不同种类的动物在一起活动的许多模型中</a:t>
            </a:r>
            <a:r>
              <a:rPr lang="en-US" altLang="zh-CN" dirty="0" smtClean="0"/>
              <a:t>, </a:t>
            </a:r>
            <a:r>
              <a:rPr lang="zh-CN" altLang="en-US" dirty="0" smtClean="0"/>
              <a:t>例如栖息地重叠图为生态系统里物种之间的竞争建模</a:t>
            </a:r>
            <a:endParaRPr lang="en-US" altLang="zh-CN" dirty="0" smtClean="0"/>
          </a:p>
          <a:p>
            <a:pPr lvl="1"/>
            <a:r>
              <a:rPr lang="zh-CN" altLang="en-US" dirty="0" smtClean="0"/>
              <a:t>顶点表示每个物种</a:t>
            </a:r>
            <a:r>
              <a:rPr lang="en-US" altLang="zh-CN" dirty="0" smtClean="0"/>
              <a:t>, </a:t>
            </a:r>
            <a:r>
              <a:rPr lang="zh-CN" altLang="en-US" dirty="0" smtClean="0"/>
              <a:t>若两个物种竞争</a:t>
            </a:r>
            <a:r>
              <a:rPr lang="en-US" altLang="zh-CN" dirty="0" smtClean="0"/>
              <a:t>(</a:t>
            </a:r>
            <a:r>
              <a:rPr lang="zh-CN" altLang="en-US" dirty="0" smtClean="0"/>
              <a:t>共享某些食物来源</a:t>
            </a:r>
            <a:r>
              <a:rPr lang="en-US" altLang="zh-CN" dirty="0" smtClean="0"/>
              <a:t>), </a:t>
            </a:r>
            <a:r>
              <a:rPr lang="zh-CN" altLang="en-US" dirty="0" smtClean="0"/>
              <a:t>则用无向边连接它们之间的顶点</a:t>
            </a:r>
            <a:r>
              <a:rPr lang="en-US" altLang="zh-CN" dirty="0" smtClean="0"/>
              <a:t>.</a:t>
            </a:r>
          </a:p>
          <a:p>
            <a:pPr lvl="1"/>
            <a:r>
              <a:rPr lang="zh-CN" altLang="en-US" dirty="0" smtClean="0"/>
              <a:t>是简单图</a:t>
            </a:r>
            <a:r>
              <a:rPr lang="en-US" altLang="zh-CN" dirty="0" smtClean="0"/>
              <a:t>, </a:t>
            </a:r>
            <a:r>
              <a:rPr lang="zh-CN" altLang="en-US" dirty="0" smtClean="0"/>
              <a:t>不需要环和多重边</a:t>
            </a:r>
            <a:r>
              <a:rPr lang="en-US" altLang="zh-CN" dirty="0" smtClean="0"/>
              <a:t>.</a:t>
            </a:r>
            <a:endParaRPr lang="en-US" dirty="0" smtClean="0"/>
          </a:p>
        </p:txBody>
      </p:sp>
      <p:pic>
        <p:nvPicPr>
          <p:cNvPr id="4" name="Picture 3" descr="09006.jpg"/>
          <p:cNvPicPr>
            <a:picLocks noChangeAspect="1"/>
          </p:cNvPicPr>
          <p:nvPr/>
        </p:nvPicPr>
        <p:blipFill>
          <a:blip r:embed="rId2" cstate="print"/>
          <a:stretch>
            <a:fillRect/>
          </a:stretch>
        </p:blipFill>
        <p:spPr>
          <a:xfrm>
            <a:off x="6629400" y="3737236"/>
            <a:ext cx="3200400" cy="2502252"/>
          </a:xfrm>
          <a:prstGeom prst="rect">
            <a:avLst/>
          </a:prstGeom>
        </p:spPr>
      </p:pic>
      <p:sp>
        <p:nvSpPr>
          <p:cNvPr id="8" name="日期占位符 7"/>
          <p:cNvSpPr>
            <a:spLocks noGrp="1"/>
          </p:cNvSpPr>
          <p:nvPr>
            <p:ph type="dt" sz="half" idx="10"/>
          </p:nvPr>
        </p:nvSpPr>
        <p:spPr/>
        <p:txBody>
          <a:bodyPr/>
          <a:lstStyle/>
          <a:p>
            <a:fld id="{66E0E198-47D3-47D3-AB74-D84432A79ABE}" type="datetime1">
              <a:rPr lang="zh-CN" altLang="en-US" smtClean="0"/>
              <a:t>2025/4/15</a:t>
            </a:fld>
            <a:endParaRPr lang="zh-CN" altLang="en-US" dirty="0"/>
          </a:p>
        </p:txBody>
      </p:sp>
      <p:sp>
        <p:nvSpPr>
          <p:cNvPr id="9" name="页脚占位符 8"/>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10" name="灯片编号占位符 9"/>
          <p:cNvSpPr>
            <a:spLocks noGrp="1"/>
          </p:cNvSpPr>
          <p:nvPr>
            <p:ph type="sldNum" sz="quarter" idx="12"/>
          </p:nvPr>
        </p:nvSpPr>
        <p:spPr/>
        <p:txBody>
          <a:bodyPr/>
          <a:lstStyle/>
          <a:p>
            <a:fld id="{67913A8A-9EFB-4B5F-9CCB-3D21173FAA85}" type="slidenum">
              <a:rPr lang="zh-CN" altLang="en-US" smtClean="0"/>
              <a:pPr/>
              <a:t>20</a:t>
            </a:fld>
            <a:endParaRPr lang="zh-CN" altLang="en-US" dirty="0"/>
          </a:p>
        </p:txBody>
      </p:sp>
    </p:spTree>
    <p:extLst>
      <p:ext uri="{BB962C8B-B14F-4D97-AF65-F5344CB8AC3E}">
        <p14:creationId xmlns:p14="http://schemas.microsoft.com/office/powerpoint/2010/main" val="212597808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图模型</a:t>
            </a:r>
            <a:r>
              <a:rPr lang="en-US" altLang="zh-CN" smtClean="0"/>
              <a:t>-</a:t>
            </a:r>
            <a:r>
              <a:rPr lang="zh-CN" altLang="en-US" smtClean="0"/>
              <a:t>生态网</a:t>
            </a:r>
            <a:endParaRPr lang="en-US" dirty="0"/>
          </a:p>
        </p:txBody>
      </p:sp>
      <p:sp>
        <p:nvSpPr>
          <p:cNvPr id="3" name="Content Placeholder 2"/>
          <p:cNvSpPr>
            <a:spLocks noGrp="1"/>
          </p:cNvSpPr>
          <p:nvPr>
            <p:ph idx="1"/>
          </p:nvPr>
        </p:nvSpPr>
        <p:spPr/>
        <p:txBody>
          <a:bodyPr/>
          <a:lstStyle/>
          <a:p>
            <a:r>
              <a:rPr lang="zh-CN" altLang="en-US" dirty="0" smtClean="0"/>
              <a:t>蛋白质相互作用图</a:t>
            </a:r>
            <a:endParaRPr lang="en-US" altLang="zh-CN" dirty="0" smtClean="0"/>
          </a:p>
          <a:p>
            <a:pPr lvl="1"/>
            <a:r>
              <a:rPr lang="zh-CN" altLang="en-US" dirty="0" smtClean="0"/>
              <a:t>当细胞中的两个或者多个蛋白质绑定在一起执行生物功能时</a:t>
            </a:r>
            <a:r>
              <a:rPr lang="en-US" altLang="zh-CN" dirty="0" smtClean="0"/>
              <a:t>, </a:t>
            </a:r>
            <a:r>
              <a:rPr lang="zh-CN" altLang="en-US" dirty="0" smtClean="0"/>
              <a:t>它们之间相互作用</a:t>
            </a:r>
            <a:r>
              <a:rPr lang="en-US" altLang="zh-CN" dirty="0" smtClean="0"/>
              <a:t>, </a:t>
            </a:r>
            <a:r>
              <a:rPr lang="zh-CN" altLang="en-US" dirty="0" smtClean="0"/>
              <a:t>可以用图来表示</a:t>
            </a:r>
            <a:r>
              <a:rPr lang="en-US" altLang="zh-CN" dirty="0" smtClean="0"/>
              <a:t>.</a:t>
            </a:r>
          </a:p>
          <a:p>
            <a:pPr lvl="1"/>
            <a:r>
              <a:rPr lang="zh-CN" altLang="en-US" dirty="0" smtClean="0"/>
              <a:t>这个无向图中</a:t>
            </a:r>
            <a:r>
              <a:rPr lang="en-US" altLang="zh-CN" dirty="0" smtClean="0"/>
              <a:t>, </a:t>
            </a:r>
            <a:r>
              <a:rPr lang="zh-CN" altLang="en-US" dirty="0" smtClean="0"/>
              <a:t>顶点表示蛋白质</a:t>
            </a:r>
            <a:r>
              <a:rPr lang="en-US" altLang="zh-CN" dirty="0" smtClean="0"/>
              <a:t>, </a:t>
            </a:r>
            <a:r>
              <a:rPr lang="zh-CN" altLang="en-US" dirty="0" smtClean="0"/>
              <a:t>用边连接表示在相互作用的蛋白质的顶点</a:t>
            </a:r>
            <a:r>
              <a:rPr lang="en-US" altLang="zh-CN" dirty="0" smtClean="0"/>
              <a:t>.</a:t>
            </a:r>
          </a:p>
        </p:txBody>
      </p:sp>
      <p:sp>
        <p:nvSpPr>
          <p:cNvPr id="8" name="日期占位符 7"/>
          <p:cNvSpPr>
            <a:spLocks noGrp="1"/>
          </p:cNvSpPr>
          <p:nvPr>
            <p:ph type="dt" sz="half" idx="10"/>
          </p:nvPr>
        </p:nvSpPr>
        <p:spPr/>
        <p:txBody>
          <a:bodyPr/>
          <a:lstStyle/>
          <a:p>
            <a:fld id="{89A0F557-9DF2-41E8-801F-9C6D1CD1328D}" type="datetime1">
              <a:rPr lang="zh-CN" altLang="en-US" smtClean="0"/>
              <a:t>2025/4/15</a:t>
            </a:fld>
            <a:endParaRPr lang="zh-CN" altLang="en-US" dirty="0"/>
          </a:p>
        </p:txBody>
      </p:sp>
      <p:sp>
        <p:nvSpPr>
          <p:cNvPr id="9" name="页脚占位符 8"/>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10" name="灯片编号占位符 9"/>
          <p:cNvSpPr>
            <a:spLocks noGrp="1"/>
          </p:cNvSpPr>
          <p:nvPr>
            <p:ph type="sldNum" sz="quarter" idx="12"/>
          </p:nvPr>
        </p:nvSpPr>
        <p:spPr/>
        <p:txBody>
          <a:bodyPr/>
          <a:lstStyle/>
          <a:p>
            <a:fld id="{67913A8A-9EFB-4B5F-9CCB-3D21173FAA85}" type="slidenum">
              <a:rPr lang="zh-CN" altLang="en-US" smtClean="0"/>
              <a:pPr/>
              <a:t>21</a:t>
            </a:fld>
            <a:endParaRPr lang="zh-CN" altLang="en-US" dirty="0"/>
          </a:p>
        </p:txBody>
      </p:sp>
      <p:pic>
        <p:nvPicPr>
          <p:cNvPr id="11" name="Picture 3" descr="FIGURE10.1.12.jpg"/>
          <p:cNvPicPr>
            <a:picLocks noChangeAspect="1"/>
          </p:cNvPicPr>
          <p:nvPr/>
        </p:nvPicPr>
        <p:blipFill>
          <a:blip r:embed="rId2" cstate="print"/>
          <a:stretch>
            <a:fillRect/>
          </a:stretch>
        </p:blipFill>
        <p:spPr>
          <a:xfrm>
            <a:off x="4419600" y="3048000"/>
            <a:ext cx="2590800" cy="2193077"/>
          </a:xfrm>
          <a:prstGeom prst="rect">
            <a:avLst/>
          </a:prstGeom>
        </p:spPr>
      </p:pic>
    </p:spTree>
    <p:extLst>
      <p:ext uri="{BB962C8B-B14F-4D97-AF65-F5344CB8AC3E}">
        <p14:creationId xmlns:p14="http://schemas.microsoft.com/office/powerpoint/2010/main" val="403726539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第</a:t>
            </a:r>
            <a:r>
              <a:rPr lang="en-US" altLang="zh-CN" dirty="0"/>
              <a:t>4</a:t>
            </a:r>
            <a:r>
              <a:rPr lang="en-US" altLang="zh-CN" dirty="0" smtClean="0"/>
              <a:t>.2</a:t>
            </a:r>
            <a:r>
              <a:rPr lang="zh-CN" altLang="en-US" dirty="0" smtClean="0"/>
              <a:t>节 图</a:t>
            </a:r>
            <a:r>
              <a:rPr lang="zh-CN" altLang="en-US" dirty="0"/>
              <a:t>的术语和几种特殊的图</a:t>
            </a:r>
            <a:endParaRPr lang="en-US" dirty="0"/>
          </a:p>
        </p:txBody>
      </p:sp>
      <p:sp>
        <p:nvSpPr>
          <p:cNvPr id="3" name="Content Placeholder 2"/>
          <p:cNvSpPr>
            <a:spLocks noGrp="1"/>
          </p:cNvSpPr>
          <p:nvPr>
            <p:ph idx="1"/>
          </p:nvPr>
        </p:nvSpPr>
        <p:spPr/>
        <p:txBody>
          <a:bodyPr>
            <a:normAutofit/>
          </a:bodyPr>
          <a:lstStyle/>
          <a:p>
            <a:r>
              <a:rPr lang="zh-CN" altLang="en-US" dirty="0" smtClean="0"/>
              <a:t>基本术语</a:t>
            </a:r>
            <a:endParaRPr lang="en-US" altLang="zh-CN" dirty="0" smtClean="0"/>
          </a:p>
          <a:p>
            <a:r>
              <a:rPr lang="zh-CN" altLang="en-US" dirty="0" smtClean="0"/>
              <a:t>一些特殊的简单图</a:t>
            </a:r>
            <a:endParaRPr lang="en-US" altLang="zh-CN" dirty="0" smtClean="0"/>
          </a:p>
          <a:p>
            <a:r>
              <a:rPr lang="zh-CN" altLang="en-US" dirty="0"/>
              <a:t>二分</a:t>
            </a:r>
            <a:r>
              <a:rPr lang="zh-CN" altLang="en-US" dirty="0" smtClean="0"/>
              <a:t>图</a:t>
            </a:r>
            <a:endParaRPr lang="en-US" altLang="zh-CN" dirty="0" smtClean="0"/>
          </a:p>
          <a:p>
            <a:r>
              <a:rPr lang="zh-CN" altLang="en-US" dirty="0" smtClean="0"/>
              <a:t>二分图和匹配</a:t>
            </a:r>
            <a:endParaRPr lang="en-US" altLang="zh-CN" dirty="0" smtClean="0"/>
          </a:p>
          <a:p>
            <a:r>
              <a:rPr lang="zh-CN" altLang="en-US" dirty="0" smtClean="0"/>
              <a:t>特殊图的一些应用</a:t>
            </a:r>
            <a:endParaRPr lang="en-US" altLang="zh-CN" dirty="0" smtClean="0"/>
          </a:p>
          <a:p>
            <a:r>
              <a:rPr lang="zh-CN" altLang="en-US" dirty="0" smtClean="0"/>
              <a:t>从旧图构造新图</a:t>
            </a:r>
            <a:endParaRPr lang="en-US" dirty="0" smtClean="0"/>
          </a:p>
        </p:txBody>
      </p:sp>
      <p:sp>
        <p:nvSpPr>
          <p:cNvPr id="8" name="日期占位符 7"/>
          <p:cNvSpPr>
            <a:spLocks noGrp="1"/>
          </p:cNvSpPr>
          <p:nvPr>
            <p:ph type="dt" sz="half" idx="10"/>
          </p:nvPr>
        </p:nvSpPr>
        <p:spPr/>
        <p:txBody>
          <a:bodyPr/>
          <a:lstStyle/>
          <a:p>
            <a:fld id="{B3F5ADB1-CC33-4A59-A5C2-BAC8B0A46C01}" type="datetime1">
              <a:rPr lang="zh-CN" altLang="en-US" smtClean="0"/>
              <a:t>2025/4/15</a:t>
            </a:fld>
            <a:endParaRPr lang="zh-CN" altLang="en-US" dirty="0"/>
          </a:p>
        </p:txBody>
      </p:sp>
      <p:sp>
        <p:nvSpPr>
          <p:cNvPr id="9" name="页脚占位符 8"/>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10" name="灯片编号占位符 9"/>
          <p:cNvSpPr>
            <a:spLocks noGrp="1"/>
          </p:cNvSpPr>
          <p:nvPr>
            <p:ph type="sldNum" sz="quarter" idx="12"/>
          </p:nvPr>
        </p:nvSpPr>
        <p:spPr/>
        <p:txBody>
          <a:bodyPr/>
          <a:lstStyle/>
          <a:p>
            <a:fld id="{67913A8A-9EFB-4B5F-9CCB-3D21173FAA85}" type="slidenum">
              <a:rPr lang="zh-CN" altLang="en-US" smtClean="0"/>
              <a:pPr/>
              <a:t>22</a:t>
            </a:fld>
            <a:endParaRPr lang="zh-CN" alt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570272" y="4648200"/>
            <a:ext cx="11277599" cy="12954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595086" y="2590799"/>
            <a:ext cx="11277599" cy="1503045"/>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457200" y="1143000"/>
            <a:ext cx="11277599" cy="8382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smtClean="0"/>
              <a:t>基本术语</a:t>
            </a:r>
            <a:endParaRPr lang="en-US" dirty="0"/>
          </a:p>
        </p:txBody>
      </p:sp>
      <p:sp>
        <p:nvSpPr>
          <p:cNvPr id="3" name="Content Placeholder 2"/>
          <p:cNvSpPr>
            <a:spLocks noGrp="1"/>
          </p:cNvSpPr>
          <p:nvPr>
            <p:ph idx="1"/>
          </p:nvPr>
        </p:nvSpPr>
        <p:spPr/>
        <p:txBody>
          <a:bodyPr>
            <a:normAutofit/>
          </a:bodyPr>
          <a:lstStyle/>
          <a:p>
            <a:r>
              <a:rPr lang="zh-CN" altLang="en-US" dirty="0" smtClean="0"/>
              <a:t>定义</a:t>
            </a:r>
            <a:r>
              <a:rPr lang="en-US" altLang="zh-CN" dirty="0" smtClean="0"/>
              <a:t>: </a:t>
            </a:r>
            <a:r>
              <a:rPr lang="zh-CN" altLang="en-US" dirty="0" smtClean="0"/>
              <a:t>若</a:t>
            </a:r>
            <a:r>
              <a:rPr lang="en-US" altLang="zh-CN" dirty="0" smtClean="0"/>
              <a:t>u</a:t>
            </a:r>
            <a:r>
              <a:rPr lang="zh-CN" altLang="en-US" dirty="0" smtClean="0"/>
              <a:t>和</a:t>
            </a:r>
            <a:r>
              <a:rPr lang="en-US" altLang="zh-CN" dirty="0" smtClean="0"/>
              <a:t>v</a:t>
            </a:r>
            <a:r>
              <a:rPr lang="zh-CN" altLang="en-US" dirty="0" smtClean="0"/>
              <a:t>是无向图</a:t>
            </a:r>
            <a:r>
              <a:rPr lang="en-US" altLang="zh-CN" dirty="0" smtClean="0"/>
              <a:t>G</a:t>
            </a:r>
            <a:r>
              <a:rPr lang="zh-CN" altLang="en-US" dirty="0" smtClean="0"/>
              <a:t>的一条边的端点</a:t>
            </a:r>
            <a:r>
              <a:rPr lang="en-US" altLang="zh-CN" dirty="0" smtClean="0"/>
              <a:t>, </a:t>
            </a:r>
            <a:r>
              <a:rPr lang="zh-CN" altLang="en-US" dirty="0" smtClean="0"/>
              <a:t>则称两个顶点</a:t>
            </a:r>
            <a:r>
              <a:rPr lang="en-US" altLang="zh-CN" dirty="0" smtClean="0"/>
              <a:t>u</a:t>
            </a:r>
            <a:r>
              <a:rPr lang="zh-CN" altLang="en-US" dirty="0" smtClean="0"/>
              <a:t>和</a:t>
            </a:r>
            <a:r>
              <a:rPr lang="en-US" altLang="zh-CN" dirty="0" smtClean="0"/>
              <a:t>v</a:t>
            </a:r>
            <a:r>
              <a:rPr lang="zh-CN" altLang="en-US" dirty="0" smtClean="0"/>
              <a:t>在</a:t>
            </a:r>
            <a:r>
              <a:rPr lang="en-US" altLang="zh-CN" dirty="0" smtClean="0"/>
              <a:t>G</a:t>
            </a:r>
            <a:r>
              <a:rPr lang="zh-CN" altLang="en-US" dirty="0" smtClean="0"/>
              <a:t>中邻接</a:t>
            </a:r>
            <a:r>
              <a:rPr lang="en-US" altLang="zh-CN" dirty="0" smtClean="0"/>
              <a:t>(</a:t>
            </a:r>
            <a:r>
              <a:rPr lang="zh-CN" altLang="en-US" dirty="0" smtClean="0"/>
              <a:t>或</a:t>
            </a:r>
            <a:r>
              <a:rPr lang="zh-CN" altLang="en-US" b="1" dirty="0" smtClean="0">
                <a:solidFill>
                  <a:srgbClr val="C00000"/>
                </a:solidFill>
              </a:rPr>
              <a:t>相邻</a:t>
            </a:r>
            <a:r>
              <a:rPr lang="en-US" altLang="zh-CN" dirty="0"/>
              <a:t>)</a:t>
            </a:r>
            <a:r>
              <a:rPr lang="en-US" altLang="zh-CN" dirty="0" smtClean="0"/>
              <a:t>. </a:t>
            </a:r>
            <a:r>
              <a:rPr lang="zh-CN" altLang="en-US" dirty="0" smtClean="0"/>
              <a:t>这样的边</a:t>
            </a:r>
            <a:r>
              <a:rPr lang="en-US" altLang="zh-CN" dirty="0" smtClean="0"/>
              <a:t>e</a:t>
            </a:r>
            <a:r>
              <a:rPr lang="zh-CN" altLang="en-US" dirty="0" smtClean="0"/>
              <a:t>称为关联顶点</a:t>
            </a:r>
            <a:r>
              <a:rPr lang="en-US" altLang="zh-CN" dirty="0" smtClean="0"/>
              <a:t>u</a:t>
            </a:r>
            <a:r>
              <a:rPr lang="zh-CN" altLang="en-US" dirty="0" smtClean="0"/>
              <a:t>和</a:t>
            </a:r>
            <a:r>
              <a:rPr lang="en-US" altLang="zh-CN" dirty="0" smtClean="0"/>
              <a:t>v, </a:t>
            </a:r>
            <a:r>
              <a:rPr lang="zh-CN" altLang="en-US" dirty="0" smtClean="0"/>
              <a:t>也可以说边</a:t>
            </a:r>
            <a:r>
              <a:rPr lang="en-US" altLang="zh-CN" dirty="0" smtClean="0"/>
              <a:t>e</a:t>
            </a:r>
            <a:r>
              <a:rPr lang="zh-CN" altLang="en-US" dirty="0" smtClean="0"/>
              <a:t>连接</a:t>
            </a:r>
            <a:r>
              <a:rPr lang="en-US" altLang="zh-CN" dirty="0" smtClean="0"/>
              <a:t>u</a:t>
            </a:r>
            <a:r>
              <a:rPr lang="zh-CN" altLang="en-US" dirty="0" smtClean="0"/>
              <a:t>和</a:t>
            </a:r>
            <a:r>
              <a:rPr lang="en-US" altLang="zh-CN" dirty="0"/>
              <a:t>v</a:t>
            </a:r>
            <a:r>
              <a:rPr lang="en-US" dirty="0" smtClean="0"/>
              <a:t>. </a:t>
            </a:r>
          </a:p>
          <a:p>
            <a:endParaRPr lang="en-US" dirty="0" smtClean="0"/>
          </a:p>
          <a:p>
            <a:r>
              <a:rPr lang="zh-CN" altLang="en-US" dirty="0" smtClean="0"/>
              <a:t>定义</a:t>
            </a:r>
            <a:r>
              <a:rPr lang="en-US" altLang="zh-CN" dirty="0" smtClean="0"/>
              <a:t>: </a:t>
            </a:r>
            <a:r>
              <a:rPr lang="zh-CN" altLang="en-US" dirty="0" smtClean="0"/>
              <a:t>图</a:t>
            </a:r>
            <a:r>
              <a:rPr lang="en-US" dirty="0" smtClean="0"/>
              <a:t>G=(V, E)</a:t>
            </a:r>
            <a:r>
              <a:rPr lang="zh-CN" altLang="en-US" dirty="0" smtClean="0"/>
              <a:t>中</a:t>
            </a:r>
            <a:r>
              <a:rPr lang="en-US" altLang="zh-CN" dirty="0" smtClean="0"/>
              <a:t>, </a:t>
            </a:r>
            <a:r>
              <a:rPr lang="zh-CN" altLang="en-US" dirty="0" smtClean="0"/>
              <a:t>顶点</a:t>
            </a:r>
            <a:r>
              <a:rPr lang="en-US" altLang="zh-CN" dirty="0" smtClean="0"/>
              <a:t>v</a:t>
            </a:r>
            <a:r>
              <a:rPr lang="zh-CN" altLang="en-US" dirty="0" smtClean="0"/>
              <a:t>的所有相邻顶点的集合记作</a:t>
            </a:r>
            <a:r>
              <a:rPr lang="en-US" dirty="0" smtClean="0"/>
              <a:t>N(v), </a:t>
            </a:r>
            <a:r>
              <a:rPr lang="zh-CN" altLang="en-US" dirty="0" smtClean="0"/>
              <a:t>称为顶点</a:t>
            </a:r>
            <a:r>
              <a:rPr lang="en-US" altLang="zh-CN" dirty="0" smtClean="0"/>
              <a:t>v</a:t>
            </a:r>
            <a:r>
              <a:rPr lang="zh-CN" altLang="en-US" dirty="0" smtClean="0"/>
              <a:t>的</a:t>
            </a:r>
            <a:r>
              <a:rPr lang="zh-CN" altLang="en-US" b="1" dirty="0" smtClean="0">
                <a:solidFill>
                  <a:srgbClr val="C00000"/>
                </a:solidFill>
              </a:rPr>
              <a:t>邻居</a:t>
            </a:r>
            <a:r>
              <a:rPr lang="en-US" altLang="zh-CN" dirty="0" smtClean="0"/>
              <a:t>. </a:t>
            </a:r>
            <a:r>
              <a:rPr lang="zh-CN" altLang="en-US" dirty="0" smtClean="0"/>
              <a:t>若</a:t>
            </a:r>
            <a:r>
              <a:rPr lang="en-US" altLang="zh-CN" dirty="0" smtClean="0"/>
              <a:t>A</a:t>
            </a:r>
            <a:r>
              <a:rPr lang="zh-CN" altLang="en-US" dirty="0" smtClean="0"/>
              <a:t>是</a:t>
            </a:r>
            <a:r>
              <a:rPr lang="en-US" altLang="zh-CN" dirty="0" smtClean="0"/>
              <a:t>V</a:t>
            </a:r>
            <a:r>
              <a:rPr lang="zh-CN" altLang="en-US" dirty="0" smtClean="0"/>
              <a:t>的子集</a:t>
            </a:r>
            <a:r>
              <a:rPr lang="en-US" altLang="zh-CN" dirty="0" smtClean="0"/>
              <a:t>, </a:t>
            </a:r>
            <a:r>
              <a:rPr lang="zh-CN" altLang="en-US" dirty="0" smtClean="0"/>
              <a:t>我们用</a:t>
            </a:r>
            <a:r>
              <a:rPr lang="en-US" dirty="0" smtClean="0"/>
              <a:t>N(A)</a:t>
            </a:r>
            <a:r>
              <a:rPr lang="zh-CN" altLang="en-US" dirty="0" smtClean="0"/>
              <a:t>表示图</a:t>
            </a:r>
            <a:r>
              <a:rPr lang="en-US" altLang="zh-CN" dirty="0" smtClean="0"/>
              <a:t>G</a:t>
            </a:r>
            <a:r>
              <a:rPr lang="zh-CN" altLang="en-US" dirty="0" smtClean="0"/>
              <a:t>中至少和</a:t>
            </a:r>
            <a:r>
              <a:rPr lang="en-US" altLang="zh-CN" dirty="0" smtClean="0"/>
              <a:t>A</a:t>
            </a:r>
            <a:r>
              <a:rPr lang="zh-CN" altLang="en-US" dirty="0" smtClean="0"/>
              <a:t>中一个顶点相邻的所有顶点的集合</a:t>
            </a:r>
            <a:r>
              <a:rPr lang="en-US" altLang="zh-CN" dirty="0" smtClean="0"/>
              <a:t>, </a:t>
            </a:r>
            <a:r>
              <a:rPr lang="zh-CN" altLang="en-US" dirty="0" smtClean="0"/>
              <a:t>所以</a:t>
            </a:r>
            <a:endParaRPr lang="en-US" dirty="0" smtClean="0"/>
          </a:p>
          <a:p>
            <a:pPr marL="0" indent="0">
              <a:buNone/>
            </a:pPr>
            <a:endParaRPr lang="en-US" dirty="0" smtClean="0"/>
          </a:p>
          <a:p>
            <a:r>
              <a:rPr lang="zh-CN" altLang="en-US" dirty="0" smtClean="0"/>
              <a:t>定义</a:t>
            </a:r>
            <a:r>
              <a:rPr lang="en-US" altLang="zh-CN" dirty="0" smtClean="0"/>
              <a:t>: </a:t>
            </a:r>
            <a:r>
              <a:rPr lang="zh-CN" altLang="en-US" dirty="0" smtClean="0"/>
              <a:t>在无向图中</a:t>
            </a:r>
            <a:r>
              <a:rPr lang="en-US" altLang="zh-CN" dirty="0" smtClean="0"/>
              <a:t>, </a:t>
            </a:r>
            <a:r>
              <a:rPr lang="zh-CN" altLang="en-US" dirty="0" smtClean="0"/>
              <a:t>顶点的</a:t>
            </a:r>
            <a:r>
              <a:rPr lang="zh-CN" altLang="en-US" b="1" dirty="0" smtClean="0">
                <a:solidFill>
                  <a:srgbClr val="C00000"/>
                </a:solidFill>
              </a:rPr>
              <a:t>度</a:t>
            </a:r>
            <a:r>
              <a:rPr lang="zh-CN" altLang="en-US" dirty="0" smtClean="0"/>
              <a:t>是与该顶点相关联的边的数目</a:t>
            </a:r>
            <a:r>
              <a:rPr lang="en-US" altLang="zh-CN" dirty="0" smtClean="0"/>
              <a:t>. </a:t>
            </a:r>
            <a:r>
              <a:rPr lang="zh-CN" altLang="en-US" dirty="0" smtClean="0"/>
              <a:t>例外的情形是</a:t>
            </a:r>
            <a:r>
              <a:rPr lang="en-US" altLang="zh-CN" dirty="0" smtClean="0"/>
              <a:t>, </a:t>
            </a:r>
            <a:r>
              <a:rPr lang="zh-CN" altLang="en-US" dirty="0" smtClean="0"/>
              <a:t>顶点上的环为顶点的度做出双倍贡献</a:t>
            </a:r>
            <a:r>
              <a:rPr lang="en-US" altLang="zh-CN" dirty="0" smtClean="0"/>
              <a:t>. </a:t>
            </a:r>
            <a:r>
              <a:rPr lang="zh-CN" altLang="en-US" dirty="0" smtClean="0"/>
              <a:t>顶点的度表示为</a:t>
            </a:r>
            <a:r>
              <a:rPr lang="en-US" altLang="zh-CN" dirty="0" err="1" smtClean="0"/>
              <a:t>d</a:t>
            </a:r>
            <a:r>
              <a:rPr lang="en-US" dirty="0" err="1" smtClean="0"/>
              <a:t>eg</a:t>
            </a:r>
            <a:r>
              <a:rPr lang="en-US" dirty="0" smtClean="0"/>
              <a:t>(v).</a:t>
            </a:r>
            <a:endParaRPr lang="en-US" dirty="0"/>
          </a:p>
        </p:txBody>
      </p:sp>
      <p:sp>
        <p:nvSpPr>
          <p:cNvPr id="9" name="日期占位符 8"/>
          <p:cNvSpPr>
            <a:spLocks noGrp="1"/>
          </p:cNvSpPr>
          <p:nvPr>
            <p:ph type="dt" sz="half" idx="10"/>
          </p:nvPr>
        </p:nvSpPr>
        <p:spPr/>
        <p:txBody>
          <a:bodyPr/>
          <a:lstStyle/>
          <a:p>
            <a:fld id="{8843B2D7-B904-4FAF-9D10-F03FF3BD5F9C}" type="datetime1">
              <a:rPr lang="zh-CN" altLang="en-US" smtClean="0"/>
              <a:t>2025/4/15</a:t>
            </a:fld>
            <a:endParaRPr lang="zh-CN" altLang="en-US" dirty="0"/>
          </a:p>
        </p:txBody>
      </p:sp>
      <p:sp>
        <p:nvSpPr>
          <p:cNvPr id="10" name="页脚占位符 9"/>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11" name="灯片编号占位符 10"/>
          <p:cNvSpPr>
            <a:spLocks noGrp="1"/>
          </p:cNvSpPr>
          <p:nvPr>
            <p:ph type="sldNum" sz="quarter" idx="12"/>
          </p:nvPr>
        </p:nvSpPr>
        <p:spPr/>
        <p:txBody>
          <a:bodyPr/>
          <a:lstStyle/>
          <a:p>
            <a:fld id="{67913A8A-9EFB-4B5F-9CCB-3D21173FAA85}" type="slidenum">
              <a:rPr lang="zh-CN" altLang="en-US" smtClean="0"/>
              <a:pPr/>
              <a:t>23</a:t>
            </a:fld>
            <a:endParaRPr lang="zh-CN" altLang="en-US" dirty="0"/>
          </a:p>
        </p:txBody>
      </p:sp>
      <p:graphicFrame>
        <p:nvGraphicFramePr>
          <p:cNvPr id="4" name="对象 3"/>
          <p:cNvGraphicFramePr>
            <a:graphicFrameLocks noChangeAspect="1"/>
          </p:cNvGraphicFramePr>
          <p:nvPr>
            <p:extLst>
              <p:ext uri="{D42A27DB-BD31-4B8C-83A1-F6EECF244321}">
                <p14:modId xmlns:p14="http://schemas.microsoft.com/office/powerpoint/2010/main" val="3767766665"/>
              </p:ext>
            </p:extLst>
          </p:nvPr>
        </p:nvGraphicFramePr>
        <p:xfrm>
          <a:off x="6196879" y="3556420"/>
          <a:ext cx="2359275" cy="466940"/>
        </p:xfrm>
        <a:graphic>
          <a:graphicData uri="http://schemas.openxmlformats.org/presentationml/2006/ole">
            <mc:AlternateContent xmlns:mc="http://schemas.openxmlformats.org/markup-compatibility/2006">
              <mc:Choice xmlns:v="urn:schemas-microsoft-com:vml" Requires="v">
                <p:oleObj spid="_x0000_s5203" name="Equation" r:id="rId3" imgW="1218960" imgH="241200" progId="Equation.DSMT4">
                  <p:embed/>
                </p:oleObj>
              </mc:Choice>
              <mc:Fallback>
                <p:oleObj name="Equation" r:id="rId3" imgW="1218960" imgH="241200" progId="Equation.DSMT4">
                  <p:embed/>
                  <p:pic>
                    <p:nvPicPr>
                      <p:cNvPr id="0" name=""/>
                      <p:cNvPicPr/>
                      <p:nvPr/>
                    </p:nvPicPr>
                    <p:blipFill>
                      <a:blip r:embed="rId4"/>
                      <a:stretch>
                        <a:fillRect/>
                      </a:stretch>
                    </p:blipFill>
                    <p:spPr>
                      <a:xfrm>
                        <a:off x="6196879" y="3556420"/>
                        <a:ext cx="2359275" cy="466940"/>
                      </a:xfrm>
                      <a:prstGeom prst="rect">
                        <a:avLst/>
                      </a:prstGeom>
                    </p:spPr>
                  </p:pic>
                </p:oleObj>
              </mc:Fallback>
            </mc:AlternateContent>
          </a:graphicData>
        </a:graphic>
      </p:graphicFrame>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基本术语</a:t>
            </a:r>
            <a:endParaRPr lang="en-US" dirty="0"/>
          </a:p>
        </p:txBody>
      </p:sp>
      <p:sp>
        <p:nvSpPr>
          <p:cNvPr id="3" name="Content Placeholder 2"/>
          <p:cNvSpPr>
            <a:spLocks noGrp="1"/>
          </p:cNvSpPr>
          <p:nvPr>
            <p:ph idx="1"/>
          </p:nvPr>
        </p:nvSpPr>
        <p:spPr/>
        <p:txBody>
          <a:bodyPr>
            <a:normAutofit fontScale="77500" lnSpcReduction="20000"/>
          </a:bodyPr>
          <a:lstStyle/>
          <a:p>
            <a:r>
              <a:rPr lang="zh-CN" altLang="en-US" sz="4000" dirty="0" smtClean="0"/>
              <a:t>例</a:t>
            </a:r>
            <a:r>
              <a:rPr lang="en-US" altLang="zh-CN" sz="4000" dirty="0" smtClean="0"/>
              <a:t>: </a:t>
            </a:r>
            <a:r>
              <a:rPr lang="zh-CN" altLang="en-US" sz="4000" dirty="0" smtClean="0"/>
              <a:t>下图中顶点的度和顶点的邻居是什么？</a:t>
            </a:r>
            <a:endParaRPr lang="en-US" altLang="zh-CN" sz="4000" dirty="0" smtClean="0"/>
          </a:p>
          <a:p>
            <a:endParaRPr lang="en-US" sz="4500" dirty="0" smtClean="0"/>
          </a:p>
          <a:p>
            <a:endParaRPr lang="en-US" sz="4500" dirty="0" smtClean="0"/>
          </a:p>
          <a:p>
            <a:r>
              <a:rPr lang="zh-CN" altLang="en-US" sz="4000" dirty="0" smtClean="0"/>
              <a:t>解</a:t>
            </a:r>
            <a:r>
              <a:rPr lang="en-US" sz="4000" dirty="0" smtClean="0"/>
              <a:t>: </a:t>
            </a:r>
          </a:p>
          <a:p>
            <a:pPr lvl="1">
              <a:lnSpc>
                <a:spcPct val="110000"/>
              </a:lnSpc>
            </a:pPr>
            <a:r>
              <a:rPr lang="zh-CN" altLang="en-US" sz="3100" dirty="0" smtClean="0"/>
              <a:t>无向图</a:t>
            </a:r>
            <a:r>
              <a:rPr lang="en-US" altLang="zh-CN" sz="3100" dirty="0" smtClean="0"/>
              <a:t>G</a:t>
            </a:r>
            <a:r>
              <a:rPr lang="zh-CN" altLang="en-US" sz="3100" dirty="0" smtClean="0"/>
              <a:t>中</a:t>
            </a:r>
            <a:r>
              <a:rPr lang="en-US" altLang="zh-CN" sz="3100" dirty="0" smtClean="0"/>
              <a:t>, </a:t>
            </a:r>
            <a:r>
              <a:rPr lang="zh-CN" altLang="en-US" sz="3100" dirty="0" smtClean="0"/>
              <a:t>顶点的度和邻居分别为：</a:t>
            </a:r>
            <a:r>
              <a:rPr lang="en-US" altLang="zh-CN" sz="3100" dirty="0" smtClean="0"/>
              <a:t> </a:t>
            </a:r>
          </a:p>
          <a:p>
            <a:pPr lvl="1">
              <a:lnSpc>
                <a:spcPct val="110000"/>
              </a:lnSpc>
            </a:pPr>
            <a:r>
              <a:rPr lang="en-US" sz="3100" dirty="0" err="1" smtClean="0"/>
              <a:t>deg</a:t>
            </a:r>
            <a:r>
              <a:rPr lang="en-US" sz="3100" dirty="0" smtClean="0"/>
              <a:t>(a)= 2, 	</a:t>
            </a:r>
            <a:r>
              <a:rPr lang="en-US" sz="3100" dirty="0" err="1" smtClean="0"/>
              <a:t>deg</a:t>
            </a:r>
            <a:r>
              <a:rPr lang="en-US" sz="3100" dirty="0" smtClean="0"/>
              <a:t>(b)= </a:t>
            </a:r>
            <a:r>
              <a:rPr lang="en-US" sz="3100" dirty="0" err="1" smtClean="0"/>
              <a:t>deg</a:t>
            </a:r>
            <a:r>
              <a:rPr lang="en-US" sz="3100" dirty="0" smtClean="0"/>
              <a:t>(c)= </a:t>
            </a:r>
            <a:r>
              <a:rPr lang="en-US" sz="3100" dirty="0" err="1" smtClean="0"/>
              <a:t>deg</a:t>
            </a:r>
            <a:r>
              <a:rPr lang="en-US" sz="3100" dirty="0" smtClean="0"/>
              <a:t>(f )= 4,	</a:t>
            </a:r>
            <a:r>
              <a:rPr lang="en-US" sz="3100" dirty="0" err="1" smtClean="0"/>
              <a:t>deg</a:t>
            </a:r>
            <a:r>
              <a:rPr lang="en-US" sz="3100" dirty="0" smtClean="0"/>
              <a:t>(d)= 1, 	</a:t>
            </a:r>
          </a:p>
          <a:p>
            <a:pPr lvl="1">
              <a:lnSpc>
                <a:spcPct val="110000"/>
              </a:lnSpc>
            </a:pPr>
            <a:r>
              <a:rPr lang="en-US" sz="3100" dirty="0" err="1" smtClean="0"/>
              <a:t>deg</a:t>
            </a:r>
            <a:r>
              <a:rPr lang="en-US" sz="3100" dirty="0" smtClean="0"/>
              <a:t>(e)= 3, 	</a:t>
            </a:r>
            <a:r>
              <a:rPr lang="en-US" sz="3100" dirty="0" err="1" smtClean="0"/>
              <a:t>deg</a:t>
            </a:r>
            <a:r>
              <a:rPr lang="en-US" sz="3100" dirty="0" smtClean="0"/>
              <a:t>(g)= </a:t>
            </a:r>
            <a:r>
              <a:rPr lang="en-US" sz="3100" dirty="0"/>
              <a:t>0. </a:t>
            </a:r>
            <a:endParaRPr lang="en-US" sz="3100" dirty="0" smtClean="0"/>
          </a:p>
          <a:p>
            <a:pPr lvl="1">
              <a:lnSpc>
                <a:spcPct val="110000"/>
              </a:lnSpc>
            </a:pPr>
            <a:r>
              <a:rPr lang="en-US" sz="3100" dirty="0" smtClean="0"/>
              <a:t>N(a</a:t>
            </a:r>
            <a:r>
              <a:rPr lang="en-US" sz="3100" dirty="0"/>
              <a:t>)</a:t>
            </a:r>
            <a:r>
              <a:rPr lang="en-US" sz="3100" dirty="0" smtClean="0"/>
              <a:t> = </a:t>
            </a:r>
            <a:r>
              <a:rPr lang="en-US" sz="3100" dirty="0"/>
              <a:t>{</a:t>
            </a:r>
            <a:r>
              <a:rPr lang="en-US" sz="3100" dirty="0" smtClean="0"/>
              <a:t>b, f },				N(b)= </a:t>
            </a:r>
            <a:r>
              <a:rPr lang="en-US" sz="3100" dirty="0"/>
              <a:t>{</a:t>
            </a:r>
            <a:r>
              <a:rPr lang="en-US" sz="3100" dirty="0" smtClean="0"/>
              <a:t>a, c, e, f }, </a:t>
            </a:r>
          </a:p>
          <a:p>
            <a:pPr lvl="1">
              <a:lnSpc>
                <a:spcPct val="110000"/>
              </a:lnSpc>
            </a:pPr>
            <a:r>
              <a:rPr lang="en-US" sz="3100" dirty="0" smtClean="0"/>
              <a:t>N(c) = </a:t>
            </a:r>
            <a:r>
              <a:rPr lang="en-US" sz="3100" dirty="0"/>
              <a:t>{</a:t>
            </a:r>
            <a:r>
              <a:rPr lang="en-US" sz="3100" dirty="0" smtClean="0"/>
              <a:t>b, d, e, f }, 			N(d)= </a:t>
            </a:r>
            <a:r>
              <a:rPr lang="en-US" sz="3100" dirty="0"/>
              <a:t>{c</a:t>
            </a:r>
            <a:r>
              <a:rPr lang="en-US" sz="3100" dirty="0" smtClean="0"/>
              <a:t>}, </a:t>
            </a:r>
          </a:p>
          <a:p>
            <a:pPr lvl="1">
              <a:lnSpc>
                <a:spcPct val="110000"/>
              </a:lnSpc>
            </a:pPr>
            <a:r>
              <a:rPr lang="en-US" sz="3100" dirty="0" smtClean="0"/>
              <a:t>N(e)= </a:t>
            </a:r>
            <a:r>
              <a:rPr lang="en-US" sz="3100" dirty="0"/>
              <a:t>{</a:t>
            </a:r>
            <a:r>
              <a:rPr lang="en-US" sz="3100" dirty="0" smtClean="0"/>
              <a:t>b, c , f }, 			N(f)= </a:t>
            </a:r>
            <a:r>
              <a:rPr lang="en-US" sz="3100" dirty="0"/>
              <a:t>{</a:t>
            </a:r>
            <a:r>
              <a:rPr lang="en-US" sz="3100" dirty="0" smtClean="0"/>
              <a:t>a, b, c, e}, </a:t>
            </a:r>
          </a:p>
          <a:p>
            <a:pPr lvl="1">
              <a:lnSpc>
                <a:spcPct val="110000"/>
              </a:lnSpc>
            </a:pPr>
            <a:r>
              <a:rPr lang="en-US" sz="3100" dirty="0" smtClean="0"/>
              <a:t>N(g) </a:t>
            </a:r>
            <a:r>
              <a:rPr lang="en-US" sz="3100" dirty="0"/>
              <a:t>= </a:t>
            </a:r>
            <a:r>
              <a:rPr lang="en-US" sz="3100" dirty="0" smtClean="0">
                <a:sym typeface="Symbol"/>
              </a:rPr>
              <a:t></a:t>
            </a:r>
            <a:r>
              <a:rPr lang="en-US" sz="3100" dirty="0" smtClean="0"/>
              <a:t>. </a:t>
            </a:r>
            <a:endParaRPr lang="en-US" sz="3100" dirty="0"/>
          </a:p>
        </p:txBody>
      </p:sp>
      <p:pic>
        <p:nvPicPr>
          <p:cNvPr id="5"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14800" y="1600200"/>
            <a:ext cx="4724400" cy="1474738"/>
          </a:xfrm>
          <a:prstGeom prst="rect">
            <a:avLst/>
          </a:prstGeom>
        </p:spPr>
      </p:pic>
      <p:sp>
        <p:nvSpPr>
          <p:cNvPr id="7" name="日期占位符 6"/>
          <p:cNvSpPr>
            <a:spLocks noGrp="1"/>
          </p:cNvSpPr>
          <p:nvPr>
            <p:ph type="dt" sz="half" idx="10"/>
          </p:nvPr>
        </p:nvSpPr>
        <p:spPr/>
        <p:txBody>
          <a:bodyPr/>
          <a:lstStyle/>
          <a:p>
            <a:fld id="{3FD998B9-91EF-4A33-B515-6D4A488F0074}"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24</a:t>
            </a:fld>
            <a:endParaRPr lang="zh-CN" altLang="en-US" dirty="0"/>
          </a:p>
        </p:txBody>
      </p:sp>
    </p:spTree>
    <p:extLst>
      <p:ext uri="{BB962C8B-B14F-4D97-AF65-F5344CB8AC3E}">
        <p14:creationId xmlns:p14="http://schemas.microsoft.com/office/powerpoint/2010/main" val="1455109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wipe(down)">
                                      <p:cBhvr>
                                        <p:cTn id="7" dur="500"/>
                                        <p:tgtEl>
                                          <p:spTgt spid="3">
                                            <p:txEl>
                                              <p:pRg st="3" end="3"/>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wipe(down)">
                                      <p:cBhvr>
                                        <p:cTn id="10" dur="500"/>
                                        <p:tgtEl>
                                          <p:spTgt spid="3">
                                            <p:txEl>
                                              <p:pRg st="4" end="4"/>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wipe(down)">
                                      <p:cBhvr>
                                        <p:cTn id="13" dur="500"/>
                                        <p:tgtEl>
                                          <p:spTgt spid="3">
                                            <p:txEl>
                                              <p:pRg st="5" end="5"/>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wipe(down)">
                                      <p:cBhvr>
                                        <p:cTn id="16" dur="500"/>
                                        <p:tgtEl>
                                          <p:spTgt spid="3">
                                            <p:txEl>
                                              <p:pRg st="6" end="6"/>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Effect transition="in" filter="wipe(down)">
                                      <p:cBhvr>
                                        <p:cTn id="19" dur="500"/>
                                        <p:tgtEl>
                                          <p:spTgt spid="3">
                                            <p:txEl>
                                              <p:pRg st="7" end="7"/>
                                            </p:txEl>
                                          </p:spTgt>
                                        </p:tgtEl>
                                      </p:cBhvr>
                                    </p:animEffect>
                                  </p:childTnLst>
                                </p:cTn>
                              </p:par>
                              <p:par>
                                <p:cTn id="20" presetID="22" presetClass="entr" presetSubtype="4" fill="hold" nodeType="withEffect">
                                  <p:stCondLst>
                                    <p:cond delay="0"/>
                                  </p:stCondLst>
                                  <p:childTnLst>
                                    <p:set>
                                      <p:cBhvr>
                                        <p:cTn id="21" dur="1" fill="hold">
                                          <p:stCondLst>
                                            <p:cond delay="0"/>
                                          </p:stCondLst>
                                        </p:cTn>
                                        <p:tgtEl>
                                          <p:spTgt spid="3">
                                            <p:txEl>
                                              <p:pRg st="8" end="8"/>
                                            </p:txEl>
                                          </p:spTgt>
                                        </p:tgtEl>
                                        <p:attrNameLst>
                                          <p:attrName>style.visibility</p:attrName>
                                        </p:attrNameLst>
                                      </p:cBhvr>
                                      <p:to>
                                        <p:strVal val="visible"/>
                                      </p:to>
                                    </p:set>
                                    <p:animEffect transition="in" filter="wipe(down)">
                                      <p:cBhvr>
                                        <p:cTn id="22" dur="500"/>
                                        <p:tgtEl>
                                          <p:spTgt spid="3">
                                            <p:txEl>
                                              <p:pRg st="8" end="8"/>
                                            </p:txEl>
                                          </p:spTgt>
                                        </p:tgtEl>
                                      </p:cBhvr>
                                    </p:animEffect>
                                  </p:childTnLst>
                                </p:cTn>
                              </p:par>
                              <p:par>
                                <p:cTn id="23" presetID="22" presetClass="entr" presetSubtype="4"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animEffect transition="in" filter="wipe(down)">
                                      <p:cBhvr>
                                        <p:cTn id="25" dur="500"/>
                                        <p:tgtEl>
                                          <p:spTgt spid="3">
                                            <p:txEl>
                                              <p:pRg st="9" end="9"/>
                                            </p:txEl>
                                          </p:spTgt>
                                        </p:tgtEl>
                                      </p:cBhvr>
                                    </p:animEffect>
                                  </p:childTnLst>
                                </p:cTn>
                              </p:par>
                              <p:par>
                                <p:cTn id="26" presetID="22" presetClass="entr" presetSubtype="4" fill="hold" nodeType="withEffect">
                                  <p:stCondLst>
                                    <p:cond delay="0"/>
                                  </p:stCondLst>
                                  <p:childTnLst>
                                    <p:set>
                                      <p:cBhvr>
                                        <p:cTn id="27" dur="1" fill="hold">
                                          <p:stCondLst>
                                            <p:cond delay="0"/>
                                          </p:stCondLst>
                                        </p:cTn>
                                        <p:tgtEl>
                                          <p:spTgt spid="3">
                                            <p:txEl>
                                              <p:pRg st="10" end="10"/>
                                            </p:txEl>
                                          </p:spTgt>
                                        </p:tgtEl>
                                        <p:attrNameLst>
                                          <p:attrName>style.visibility</p:attrName>
                                        </p:attrNameLst>
                                      </p:cBhvr>
                                      <p:to>
                                        <p:strVal val="visible"/>
                                      </p:to>
                                    </p:set>
                                    <p:animEffect transition="in" filter="wipe(down)">
                                      <p:cBhvr>
                                        <p:cTn id="28"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基本术语</a:t>
            </a:r>
            <a:endParaRPr lang="en-US" dirty="0"/>
          </a:p>
        </p:txBody>
      </p:sp>
      <p:sp>
        <p:nvSpPr>
          <p:cNvPr id="3" name="Content Placeholder 2"/>
          <p:cNvSpPr>
            <a:spLocks noGrp="1"/>
          </p:cNvSpPr>
          <p:nvPr>
            <p:ph idx="1"/>
          </p:nvPr>
        </p:nvSpPr>
        <p:spPr/>
        <p:txBody>
          <a:bodyPr>
            <a:normAutofit/>
          </a:bodyPr>
          <a:lstStyle/>
          <a:p>
            <a:r>
              <a:rPr lang="zh-CN" altLang="en-US" dirty="0" smtClean="0"/>
              <a:t>例</a:t>
            </a:r>
            <a:r>
              <a:rPr lang="en-US" altLang="zh-CN" dirty="0" smtClean="0"/>
              <a:t>: </a:t>
            </a:r>
            <a:r>
              <a:rPr lang="zh-CN" altLang="en-US" dirty="0" smtClean="0"/>
              <a:t>下图中顶点的度和顶点的邻居是什么？</a:t>
            </a:r>
            <a:endParaRPr lang="en-US" altLang="zh-CN" dirty="0" smtClean="0"/>
          </a:p>
          <a:p>
            <a:endParaRPr lang="en-US" dirty="0" smtClean="0"/>
          </a:p>
          <a:p>
            <a:endParaRPr lang="en-US" dirty="0" smtClean="0"/>
          </a:p>
          <a:p>
            <a:r>
              <a:rPr lang="zh-CN" altLang="en-US" dirty="0" smtClean="0"/>
              <a:t>解</a:t>
            </a:r>
            <a:r>
              <a:rPr lang="en-US" altLang="zh-CN" dirty="0" smtClean="0"/>
              <a:t>(</a:t>
            </a:r>
            <a:r>
              <a:rPr lang="zh-CN" altLang="en-US" dirty="0" smtClean="0"/>
              <a:t>续</a:t>
            </a:r>
            <a:r>
              <a:rPr lang="en-US" altLang="zh-CN" dirty="0" smtClean="0"/>
              <a:t>)</a:t>
            </a:r>
            <a:r>
              <a:rPr lang="en-US" dirty="0" smtClean="0"/>
              <a:t>: </a:t>
            </a:r>
          </a:p>
          <a:p>
            <a:pPr lvl="1">
              <a:lnSpc>
                <a:spcPct val="110000"/>
              </a:lnSpc>
            </a:pPr>
            <a:r>
              <a:rPr lang="zh-CN" altLang="en-US" dirty="0" smtClean="0"/>
              <a:t>无向图</a:t>
            </a:r>
            <a:r>
              <a:rPr lang="en-US" altLang="zh-CN" dirty="0" smtClean="0"/>
              <a:t>H</a:t>
            </a:r>
            <a:r>
              <a:rPr lang="zh-CN" altLang="en-US" dirty="0" smtClean="0"/>
              <a:t>中</a:t>
            </a:r>
            <a:r>
              <a:rPr lang="en-US" altLang="zh-CN" dirty="0" smtClean="0"/>
              <a:t>, </a:t>
            </a:r>
            <a:r>
              <a:rPr lang="zh-CN" altLang="en-US" dirty="0" smtClean="0"/>
              <a:t>顶点</a:t>
            </a:r>
            <a:r>
              <a:rPr lang="zh-CN" altLang="en-US" dirty="0"/>
              <a:t>的度和邻居分别为：</a:t>
            </a:r>
            <a:r>
              <a:rPr lang="en-US" altLang="zh-CN" dirty="0"/>
              <a:t> </a:t>
            </a:r>
            <a:endParaRPr lang="en-US" altLang="zh-CN" dirty="0" smtClean="0"/>
          </a:p>
          <a:p>
            <a:pPr lvl="1">
              <a:lnSpc>
                <a:spcPct val="110000"/>
              </a:lnSpc>
            </a:pPr>
            <a:r>
              <a:rPr lang="en-US" altLang="zh-CN" dirty="0" err="1" smtClean="0"/>
              <a:t>deg</a:t>
            </a:r>
            <a:r>
              <a:rPr lang="en-US" altLang="zh-CN" dirty="0" smtClean="0"/>
              <a:t>(a)= </a:t>
            </a:r>
            <a:r>
              <a:rPr lang="en-US" altLang="zh-CN" dirty="0"/>
              <a:t>4, </a:t>
            </a:r>
            <a:r>
              <a:rPr lang="en-US" altLang="zh-CN" dirty="0" smtClean="0"/>
              <a:t>			</a:t>
            </a:r>
            <a:r>
              <a:rPr lang="en-US" altLang="zh-CN" dirty="0" err="1" smtClean="0"/>
              <a:t>deg</a:t>
            </a:r>
            <a:r>
              <a:rPr lang="en-US" altLang="zh-CN" dirty="0" smtClean="0"/>
              <a:t>(b)= </a:t>
            </a:r>
            <a:r>
              <a:rPr lang="en-US" altLang="zh-CN" dirty="0" err="1" smtClean="0"/>
              <a:t>deg</a:t>
            </a:r>
            <a:r>
              <a:rPr lang="en-US" altLang="zh-CN" dirty="0" smtClean="0"/>
              <a:t>(e)= </a:t>
            </a:r>
            <a:r>
              <a:rPr lang="en-US" altLang="zh-CN" dirty="0"/>
              <a:t>6</a:t>
            </a:r>
            <a:r>
              <a:rPr lang="en-US" altLang="zh-CN" dirty="0" smtClean="0"/>
              <a:t>, 	</a:t>
            </a:r>
          </a:p>
          <a:p>
            <a:pPr lvl="1">
              <a:lnSpc>
                <a:spcPct val="110000"/>
              </a:lnSpc>
            </a:pPr>
            <a:r>
              <a:rPr lang="en-US" altLang="zh-CN" dirty="0" err="1" smtClean="0"/>
              <a:t>deg</a:t>
            </a:r>
            <a:r>
              <a:rPr lang="en-US" altLang="zh-CN" dirty="0" smtClean="0"/>
              <a:t>(c)= </a:t>
            </a:r>
            <a:r>
              <a:rPr lang="en-US" altLang="zh-CN" dirty="0"/>
              <a:t>1</a:t>
            </a:r>
            <a:r>
              <a:rPr lang="en-US" altLang="zh-CN" dirty="0" smtClean="0"/>
              <a:t>, 			</a:t>
            </a:r>
            <a:r>
              <a:rPr lang="en-US" altLang="zh-CN" dirty="0" err="1" smtClean="0"/>
              <a:t>deg</a:t>
            </a:r>
            <a:r>
              <a:rPr lang="en-US" altLang="zh-CN" dirty="0" smtClean="0"/>
              <a:t>(d)= </a:t>
            </a:r>
            <a:r>
              <a:rPr lang="en-US" altLang="zh-CN" dirty="0"/>
              <a:t>5. </a:t>
            </a:r>
            <a:endParaRPr lang="en-US" altLang="zh-CN" dirty="0" smtClean="0"/>
          </a:p>
          <a:p>
            <a:pPr lvl="1">
              <a:lnSpc>
                <a:spcPct val="110000"/>
              </a:lnSpc>
            </a:pPr>
            <a:r>
              <a:rPr lang="en-US" altLang="zh-CN" dirty="0" smtClean="0"/>
              <a:t>N(a)= </a:t>
            </a:r>
            <a:r>
              <a:rPr lang="en-US" altLang="zh-CN" dirty="0"/>
              <a:t>{b</a:t>
            </a:r>
            <a:r>
              <a:rPr lang="en-US" altLang="zh-CN" dirty="0" smtClean="0"/>
              <a:t>, d, e}, 		N(b)= </a:t>
            </a:r>
            <a:r>
              <a:rPr lang="en-US" altLang="zh-CN" dirty="0"/>
              <a:t>{a</a:t>
            </a:r>
            <a:r>
              <a:rPr lang="en-US" altLang="zh-CN" dirty="0" smtClean="0"/>
              <a:t>, b, c, d, e}, </a:t>
            </a:r>
          </a:p>
          <a:p>
            <a:pPr lvl="1">
              <a:lnSpc>
                <a:spcPct val="110000"/>
              </a:lnSpc>
            </a:pPr>
            <a:r>
              <a:rPr lang="en-US" altLang="zh-CN" dirty="0" smtClean="0"/>
              <a:t>N(c)= </a:t>
            </a:r>
            <a:r>
              <a:rPr lang="en-US" altLang="zh-CN" dirty="0"/>
              <a:t>{b</a:t>
            </a:r>
            <a:r>
              <a:rPr lang="en-US" altLang="zh-CN" dirty="0" smtClean="0"/>
              <a:t>}, 			N(d) = </a:t>
            </a:r>
            <a:r>
              <a:rPr lang="en-US" altLang="zh-CN" dirty="0"/>
              <a:t>{a</a:t>
            </a:r>
            <a:r>
              <a:rPr lang="en-US" altLang="zh-CN" dirty="0" smtClean="0"/>
              <a:t>, b, e}, </a:t>
            </a:r>
          </a:p>
          <a:p>
            <a:pPr lvl="1">
              <a:lnSpc>
                <a:spcPct val="110000"/>
              </a:lnSpc>
            </a:pPr>
            <a:r>
              <a:rPr lang="en-US" altLang="zh-CN" dirty="0" smtClean="0"/>
              <a:t>N(e)= </a:t>
            </a:r>
            <a:r>
              <a:rPr lang="en-US" altLang="zh-CN" dirty="0"/>
              <a:t>{a</a:t>
            </a:r>
            <a:r>
              <a:rPr lang="en-US" altLang="zh-CN" dirty="0" smtClean="0"/>
              <a:t>, b </a:t>
            </a:r>
            <a:r>
              <a:rPr lang="en-US" altLang="zh-CN" dirty="0"/>
              <a:t>, d}. </a:t>
            </a:r>
          </a:p>
          <a:p>
            <a:pPr marL="393192" lvl="1" indent="0">
              <a:lnSpc>
                <a:spcPct val="110000"/>
              </a:lnSpc>
              <a:buNone/>
            </a:pPr>
            <a:endParaRPr lang="en-US" altLang="zh-CN" sz="2800" dirty="0" smtClean="0"/>
          </a:p>
        </p:txBody>
      </p:sp>
      <p:pic>
        <p:nvPicPr>
          <p:cNvPr id="5"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19600" y="1676400"/>
            <a:ext cx="4724400" cy="1474738"/>
          </a:xfrm>
          <a:prstGeom prst="rect">
            <a:avLst/>
          </a:prstGeom>
        </p:spPr>
      </p:pic>
      <p:sp>
        <p:nvSpPr>
          <p:cNvPr id="7" name="日期占位符 6"/>
          <p:cNvSpPr>
            <a:spLocks noGrp="1"/>
          </p:cNvSpPr>
          <p:nvPr>
            <p:ph type="dt" sz="half" idx="10"/>
          </p:nvPr>
        </p:nvSpPr>
        <p:spPr/>
        <p:txBody>
          <a:bodyPr/>
          <a:lstStyle/>
          <a:p>
            <a:fld id="{C4940C39-8CBF-4A69-A857-8BF65D1BFEA4}"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25</a:t>
            </a:fld>
            <a:endParaRPr lang="zh-CN" altLang="en-US" dirty="0"/>
          </a:p>
        </p:txBody>
      </p:sp>
    </p:spTree>
    <p:extLst>
      <p:ext uri="{BB962C8B-B14F-4D97-AF65-F5344CB8AC3E}">
        <p14:creationId xmlns:p14="http://schemas.microsoft.com/office/powerpoint/2010/main" val="342061737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57200" y="1143000"/>
            <a:ext cx="11277599" cy="9144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smtClean="0"/>
              <a:t>基本术语</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smtClean="0"/>
                  <a:t>定理</a:t>
                </a:r>
                <a:r>
                  <a:rPr lang="en-US" altLang="zh-CN" dirty="0" smtClean="0"/>
                  <a:t>(</a:t>
                </a:r>
                <a:r>
                  <a:rPr lang="zh-CN" altLang="en-US" b="1" dirty="0" smtClean="0">
                    <a:solidFill>
                      <a:srgbClr val="C00000"/>
                    </a:solidFill>
                  </a:rPr>
                  <a:t>握手定理</a:t>
                </a:r>
                <a:r>
                  <a:rPr lang="en-US" altLang="zh-CN" dirty="0" smtClean="0"/>
                  <a:t>,</a:t>
                </a:r>
                <a:r>
                  <a:rPr lang="zh-CN" altLang="en-US" dirty="0" smtClean="0"/>
                  <a:t>握手引理</a:t>
                </a:r>
                <a:r>
                  <a:rPr lang="en-US" altLang="zh-CN" dirty="0" smtClean="0"/>
                  <a:t>): </a:t>
                </a:r>
                <a:r>
                  <a:rPr lang="zh-CN" altLang="en-US" dirty="0" smtClean="0"/>
                  <a:t>设</a:t>
                </a:r>
                <a:r>
                  <a:rPr lang="en-US" dirty="0" smtClean="0"/>
                  <a:t>G </a:t>
                </a:r>
                <a:r>
                  <a:rPr lang="en-US" dirty="0"/>
                  <a:t>= </a:t>
                </a:r>
                <a:r>
                  <a:rPr lang="en-US" dirty="0" smtClean="0"/>
                  <a:t>(V, E)</a:t>
                </a:r>
                <a:r>
                  <a:rPr lang="zh-CN" altLang="en-US" dirty="0" smtClean="0"/>
                  <a:t>是有</a:t>
                </a:r>
                <a:r>
                  <a:rPr lang="en-US" altLang="zh-CN" dirty="0" smtClean="0"/>
                  <a:t>m</a:t>
                </a:r>
                <a:r>
                  <a:rPr lang="zh-CN" altLang="en-US" dirty="0" smtClean="0"/>
                  <a:t>条边的无向图</a:t>
                </a:r>
                <a:r>
                  <a:rPr lang="en-US" altLang="zh-CN" dirty="0" smtClean="0"/>
                  <a:t>, </a:t>
                </a:r>
                <a:r>
                  <a:rPr lang="zh-CN" altLang="en-US" dirty="0" smtClean="0"/>
                  <a:t>则</a:t>
                </a:r>
                <a14:m>
                  <m:oMath xmlns:m="http://schemas.openxmlformats.org/officeDocument/2006/math">
                    <m:r>
                      <a:rPr lang="en-US">
                        <a:latin typeface="Cambria Math" panose="02040503050406030204" pitchFamily="18" charset="0"/>
                      </a:rPr>
                      <m:t>2</m:t>
                    </m:r>
                    <m:r>
                      <a:rPr lang="en-US">
                        <a:latin typeface="Cambria Math" panose="02040503050406030204" pitchFamily="18" charset="0"/>
                      </a:rPr>
                      <m:t>𝑚</m:t>
                    </m:r>
                    <m:r>
                      <a:rPr lang="en-US">
                        <a:latin typeface="Cambria Math" panose="02040503050406030204" pitchFamily="18" charset="0"/>
                      </a:rPr>
                      <m:t>=</m:t>
                    </m:r>
                    <m:nary>
                      <m:naryPr>
                        <m:chr m:val="∑"/>
                        <m:limLoc m:val="subSup"/>
                        <m:supHide m:val="on"/>
                        <m:ctrlPr>
                          <a:rPr lang="en-US" i="1">
                            <a:latin typeface="Cambria Math" panose="02040503050406030204" pitchFamily="18" charset="0"/>
                          </a:rPr>
                        </m:ctrlPr>
                      </m:naryPr>
                      <m:sub>
                        <m:r>
                          <m:rPr>
                            <m:brk m:alnAt="9"/>
                          </m:rPr>
                          <a:rPr lang="en-US">
                            <a:latin typeface="Cambria Math" panose="02040503050406030204" pitchFamily="18" charset="0"/>
                          </a:rPr>
                          <m:t>𝑣</m:t>
                        </m:r>
                        <m:r>
                          <a:rPr lang="en-US">
                            <a:latin typeface="Cambria Math" panose="02040503050406030204" pitchFamily="18" charset="0"/>
                          </a:rPr>
                          <m:t>∈</m:t>
                        </m:r>
                        <m:r>
                          <a:rPr lang="en-US">
                            <a:latin typeface="Cambria Math" panose="02040503050406030204" pitchFamily="18" charset="0"/>
                          </a:rPr>
                          <m:t>𝑉</m:t>
                        </m:r>
                      </m:sub>
                      <m:sup/>
                      <m:e>
                        <m:r>
                          <m:rPr>
                            <m:sty m:val="p"/>
                          </m:rPr>
                          <a:rPr lang="en-US">
                            <a:latin typeface="Cambria Math" panose="02040503050406030204" pitchFamily="18" charset="0"/>
                          </a:rPr>
                          <m:t>deg</m:t>
                        </m:r>
                        <m:r>
                          <a:rPr lang="en-US" smtClean="0">
                            <a:latin typeface="Cambria Math" panose="02040503050406030204" pitchFamily="18" charset="0"/>
                          </a:rPr>
                          <m:t>(</m:t>
                        </m:r>
                        <m:r>
                          <a:rPr lang="en-US">
                            <a:latin typeface="Cambria Math" panose="02040503050406030204" pitchFamily="18" charset="0"/>
                          </a:rPr>
                          <m:t>𝑣</m:t>
                        </m:r>
                        <m:r>
                          <a:rPr lang="en-US" b="0" i="1" smtClean="0">
                            <a:latin typeface="Cambria Math" panose="02040503050406030204" pitchFamily="18" charset="0"/>
                          </a:rPr>
                          <m:t>)</m:t>
                        </m:r>
                        <m:r>
                          <a:rPr lang="en-US" i="1" smtClean="0">
                            <a:latin typeface="Cambria Math" panose="02040503050406030204" pitchFamily="18" charset="0"/>
                          </a:rPr>
                          <m:t>. </m:t>
                        </m:r>
                      </m:e>
                    </m:nary>
                  </m:oMath>
                </a14:m>
                <a:endParaRPr lang="en-US" dirty="0" smtClean="0"/>
              </a:p>
              <a:p>
                <a:endParaRPr lang="en-US" altLang="zh-CN" dirty="0" smtClean="0"/>
              </a:p>
              <a:p>
                <a:r>
                  <a:rPr lang="zh-CN" altLang="en-US" dirty="0" smtClean="0"/>
                  <a:t>定理可以看出无向图顶点的度之和</a:t>
                </a:r>
                <a:r>
                  <a:rPr lang="en-US" altLang="zh-CN" dirty="0" smtClean="0"/>
                  <a:t>2m</a:t>
                </a:r>
                <a:r>
                  <a:rPr lang="zh-CN" altLang="en-US" dirty="0" smtClean="0"/>
                  <a:t>一定是偶数</a:t>
                </a:r>
                <a:r>
                  <a:rPr lang="en-US" altLang="zh-CN" dirty="0" smtClean="0"/>
                  <a:t>.</a:t>
                </a:r>
                <a:endParaRPr lang="en-US" dirty="0"/>
              </a:p>
              <a:p>
                <a:r>
                  <a:rPr lang="zh-CN" altLang="en-US" dirty="0" smtClean="0"/>
                  <a:t>证明</a:t>
                </a:r>
                <a:r>
                  <a:rPr lang="en-US" altLang="zh-CN" dirty="0" smtClean="0"/>
                  <a:t>: </a:t>
                </a:r>
                <a:r>
                  <a:rPr lang="zh-CN" altLang="en-US" dirty="0" smtClean="0"/>
                  <a:t>无向图中每条边都为顶点的度之和贡献</a:t>
                </a:r>
                <a:r>
                  <a:rPr lang="en-US" altLang="zh-CN" dirty="0" smtClean="0"/>
                  <a:t>2, </a:t>
                </a:r>
                <a:r>
                  <a:rPr lang="zh-CN" altLang="en-US" dirty="0" smtClean="0"/>
                  <a:t>因为一条边恰好关联</a:t>
                </a:r>
                <a:r>
                  <a:rPr lang="en-US" altLang="zh-CN" dirty="0" smtClean="0"/>
                  <a:t>2</a:t>
                </a:r>
                <a:r>
                  <a:rPr lang="zh-CN" altLang="en-US" dirty="0" smtClean="0"/>
                  <a:t>个</a:t>
                </a:r>
                <a:r>
                  <a:rPr lang="en-US" altLang="zh-CN" dirty="0" smtClean="0"/>
                  <a:t>(</a:t>
                </a:r>
                <a:r>
                  <a:rPr lang="zh-CN" altLang="en-US" dirty="0" smtClean="0"/>
                  <a:t>可能相同</a:t>
                </a:r>
                <a:r>
                  <a:rPr lang="en-US" altLang="zh-CN" dirty="0"/>
                  <a:t>)</a:t>
                </a:r>
                <a:r>
                  <a:rPr lang="zh-CN" altLang="en-US" dirty="0" smtClean="0"/>
                  <a:t>顶点</a:t>
                </a:r>
                <a:r>
                  <a:rPr lang="en-US" altLang="zh-CN" dirty="0" smtClean="0"/>
                  <a:t>. </a:t>
                </a:r>
                <a:r>
                  <a:rPr lang="zh-CN" altLang="en-US" dirty="0" smtClean="0"/>
                  <a:t>这意味着顶点的度之和是边数的两倍</a:t>
                </a:r>
                <a:r>
                  <a:rPr lang="en-US" altLang="zh-CN" dirty="0" smtClean="0"/>
                  <a:t>.</a:t>
                </a:r>
              </a:p>
              <a:p>
                <a:endParaRPr lang="en-US" dirty="0" smtClean="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310"/>
                </a:stretch>
              </a:blipFill>
            </p:spPr>
            <p:txBody>
              <a:bodyPr/>
              <a:lstStyle/>
              <a:p>
                <a:r>
                  <a:rPr lang="zh-CN" altLang="en-US">
                    <a:noFill/>
                  </a:rPr>
                  <a:t> </a:t>
                </a:r>
              </a:p>
            </p:txBody>
          </p:sp>
        </mc:Fallback>
      </mc:AlternateContent>
      <p:sp>
        <p:nvSpPr>
          <p:cNvPr id="7" name="日期占位符 6"/>
          <p:cNvSpPr>
            <a:spLocks noGrp="1"/>
          </p:cNvSpPr>
          <p:nvPr>
            <p:ph type="dt" sz="half" idx="10"/>
          </p:nvPr>
        </p:nvSpPr>
        <p:spPr/>
        <p:txBody>
          <a:bodyPr/>
          <a:lstStyle/>
          <a:p>
            <a:fld id="{320C702D-40E5-463B-A13B-226A52D1B9B1}"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26</a:t>
            </a:fld>
            <a:endParaRPr lang="zh-CN" altLang="en-US" dirty="0"/>
          </a:p>
        </p:txBody>
      </p:sp>
    </p:spTree>
    <p:extLst>
      <p:ext uri="{BB962C8B-B14F-4D97-AF65-F5344CB8AC3E}">
        <p14:creationId xmlns:p14="http://schemas.microsoft.com/office/powerpoint/2010/main" val="333443224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基本术语</a:t>
            </a:r>
            <a:endParaRPr lang="en-US" dirty="0"/>
          </a:p>
        </p:txBody>
      </p:sp>
      <p:sp>
        <p:nvSpPr>
          <p:cNvPr id="3" name="Content Placeholder 2"/>
          <p:cNvSpPr>
            <a:spLocks noGrp="1"/>
          </p:cNvSpPr>
          <p:nvPr>
            <p:ph idx="1"/>
          </p:nvPr>
        </p:nvSpPr>
        <p:spPr/>
        <p:txBody>
          <a:bodyPr>
            <a:normAutofit/>
          </a:bodyPr>
          <a:lstStyle/>
          <a:p>
            <a:r>
              <a:rPr lang="zh-CN" altLang="en-US" dirty="0"/>
              <a:t>例</a:t>
            </a:r>
            <a:r>
              <a:rPr lang="en-US" altLang="zh-CN" dirty="0"/>
              <a:t>: </a:t>
            </a:r>
            <a:r>
              <a:rPr lang="zh-CN" altLang="en-US" dirty="0"/>
              <a:t>一个具有</a:t>
            </a:r>
            <a:r>
              <a:rPr lang="en-US" altLang="zh-CN" dirty="0"/>
              <a:t>10</a:t>
            </a:r>
            <a:r>
              <a:rPr lang="zh-CN" altLang="en-US" dirty="0"/>
              <a:t>个顶点且每个顶点的度都为</a:t>
            </a:r>
            <a:r>
              <a:rPr lang="en-US" altLang="zh-CN" dirty="0"/>
              <a:t>6</a:t>
            </a:r>
            <a:r>
              <a:rPr lang="zh-CN" altLang="en-US" dirty="0"/>
              <a:t>的图</a:t>
            </a:r>
            <a:r>
              <a:rPr lang="en-US" altLang="zh-CN" dirty="0"/>
              <a:t>, </a:t>
            </a:r>
            <a:r>
              <a:rPr lang="zh-CN" altLang="en-US" dirty="0"/>
              <a:t>有多少条边？</a:t>
            </a:r>
            <a:endParaRPr lang="en-US" altLang="zh-CN" dirty="0"/>
          </a:p>
          <a:p>
            <a:r>
              <a:rPr lang="zh-CN" altLang="en-US" dirty="0"/>
              <a:t>解</a:t>
            </a:r>
            <a:r>
              <a:rPr lang="en-US" altLang="zh-CN" dirty="0"/>
              <a:t>: </a:t>
            </a:r>
            <a:r>
              <a:rPr lang="zh-CN" altLang="en-US" dirty="0"/>
              <a:t>因为顶点的度之和</a:t>
            </a:r>
            <a:r>
              <a:rPr lang="en-US" altLang="zh-CN" dirty="0"/>
              <a:t>6</a:t>
            </a:r>
            <a:r>
              <a:rPr lang="en-US" altLang="zh-CN" dirty="0">
                <a:sym typeface="Symbol"/>
              </a:rPr>
              <a:t></a:t>
            </a:r>
            <a:r>
              <a:rPr lang="en-US" altLang="zh-CN" dirty="0"/>
              <a:t>10=60</a:t>
            </a:r>
            <a:r>
              <a:rPr lang="en-US" altLang="zh-CN" dirty="0" smtClean="0"/>
              <a:t>, </a:t>
            </a:r>
            <a:r>
              <a:rPr lang="zh-CN" altLang="en-US" dirty="0" smtClean="0"/>
              <a:t>使用</a:t>
            </a:r>
            <a:r>
              <a:rPr lang="zh-CN" altLang="en-US" dirty="0"/>
              <a:t>握手定理</a:t>
            </a:r>
            <a:r>
              <a:rPr lang="en-US" altLang="zh-CN" dirty="0"/>
              <a:t>2m=60</a:t>
            </a:r>
            <a:r>
              <a:rPr lang="en-US" altLang="zh-CN" dirty="0" smtClean="0"/>
              <a:t>, </a:t>
            </a:r>
            <a:r>
              <a:rPr lang="zh-CN" altLang="en-US" dirty="0" smtClean="0"/>
              <a:t>其中</a:t>
            </a:r>
            <a:r>
              <a:rPr lang="en-US" altLang="zh-CN" dirty="0"/>
              <a:t>m</a:t>
            </a:r>
            <a:r>
              <a:rPr lang="zh-CN" altLang="en-US" dirty="0"/>
              <a:t>为边条数</a:t>
            </a:r>
            <a:r>
              <a:rPr lang="en-US" altLang="zh-CN" dirty="0"/>
              <a:t>, </a:t>
            </a:r>
            <a:r>
              <a:rPr lang="zh-CN" altLang="en-US" dirty="0"/>
              <a:t>所以</a:t>
            </a:r>
            <a:r>
              <a:rPr lang="en-US" altLang="zh-CN" dirty="0"/>
              <a:t>m=30.</a:t>
            </a:r>
          </a:p>
          <a:p>
            <a:endParaRPr lang="en-US" altLang="zh-CN" dirty="0" smtClean="0"/>
          </a:p>
          <a:p>
            <a:r>
              <a:rPr lang="zh-CN" altLang="en-US" dirty="0" smtClean="0"/>
              <a:t>例</a:t>
            </a:r>
            <a:r>
              <a:rPr lang="en-US" dirty="0" smtClean="0"/>
              <a:t>: </a:t>
            </a:r>
            <a:r>
              <a:rPr lang="zh-CN" altLang="en-US" dirty="0" smtClean="0"/>
              <a:t>一个图中有</a:t>
            </a:r>
            <a:r>
              <a:rPr lang="en-US" altLang="zh-CN" dirty="0" smtClean="0"/>
              <a:t>5</a:t>
            </a:r>
            <a:r>
              <a:rPr lang="zh-CN" altLang="en-US" dirty="0" smtClean="0"/>
              <a:t>个顶点</a:t>
            </a:r>
            <a:r>
              <a:rPr lang="en-US" altLang="zh-CN" dirty="0" smtClean="0"/>
              <a:t>, </a:t>
            </a:r>
            <a:r>
              <a:rPr lang="zh-CN" altLang="en-US" dirty="0" smtClean="0"/>
              <a:t>是否可能每个顶点的度为</a:t>
            </a:r>
            <a:r>
              <a:rPr lang="en-US" dirty="0" smtClean="0"/>
              <a:t>3?</a:t>
            </a:r>
          </a:p>
          <a:p>
            <a:r>
              <a:rPr lang="zh-CN" altLang="en-US" dirty="0"/>
              <a:t>解</a:t>
            </a:r>
            <a:r>
              <a:rPr lang="en-US" altLang="zh-CN" dirty="0" smtClean="0"/>
              <a:t>: </a:t>
            </a:r>
            <a:r>
              <a:rPr lang="zh-CN" altLang="en-US" dirty="0" smtClean="0"/>
              <a:t>根据握手定理</a:t>
            </a:r>
            <a:r>
              <a:rPr lang="en-US" altLang="zh-CN" dirty="0" smtClean="0"/>
              <a:t>, </a:t>
            </a:r>
            <a:r>
              <a:rPr lang="zh-CN" altLang="en-US" dirty="0" smtClean="0"/>
              <a:t>不可能</a:t>
            </a:r>
            <a:r>
              <a:rPr lang="en-US" altLang="zh-CN" dirty="0" smtClean="0"/>
              <a:t>. </a:t>
            </a:r>
            <a:r>
              <a:rPr lang="zh-CN" altLang="en-US" dirty="0" smtClean="0"/>
              <a:t>因为在这个图中</a:t>
            </a:r>
            <a:r>
              <a:rPr lang="en-US" altLang="zh-CN" dirty="0" smtClean="0"/>
              <a:t>, </a:t>
            </a:r>
            <a:r>
              <a:rPr lang="zh-CN" altLang="en-US" dirty="0" smtClean="0"/>
              <a:t>顶点的度之和</a:t>
            </a:r>
            <a:r>
              <a:rPr lang="en-US" dirty="0" smtClean="0"/>
              <a:t>3</a:t>
            </a:r>
            <a:r>
              <a:rPr lang="en-US" dirty="0" smtClean="0">
                <a:sym typeface="Symbol"/>
              </a:rPr>
              <a:t></a:t>
            </a:r>
            <a:r>
              <a:rPr lang="en-US" dirty="0" smtClean="0"/>
              <a:t> 5=15 </a:t>
            </a:r>
            <a:r>
              <a:rPr lang="zh-CN" altLang="en-US" dirty="0" smtClean="0"/>
              <a:t>是一个奇数</a:t>
            </a:r>
            <a:r>
              <a:rPr lang="en-US" dirty="0" smtClean="0"/>
              <a:t>.</a:t>
            </a:r>
          </a:p>
        </p:txBody>
      </p:sp>
      <p:sp>
        <p:nvSpPr>
          <p:cNvPr id="6" name="日期占位符 5"/>
          <p:cNvSpPr>
            <a:spLocks noGrp="1"/>
          </p:cNvSpPr>
          <p:nvPr>
            <p:ph type="dt" sz="half" idx="10"/>
          </p:nvPr>
        </p:nvSpPr>
        <p:spPr/>
        <p:txBody>
          <a:bodyPr/>
          <a:lstStyle/>
          <a:p>
            <a:fld id="{132B81E4-76F8-4779-8141-760342F2495F}" type="datetime1">
              <a:rPr lang="zh-CN" altLang="en-US" smtClean="0"/>
              <a:t>2025/4/15</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27</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wipe(down)">
                                      <p:cBhvr>
                                        <p:cTn id="1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57200" y="1066800"/>
            <a:ext cx="11277599" cy="6096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基本术语</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smtClean="0"/>
                  <a:t>定理</a:t>
                </a:r>
                <a:r>
                  <a:rPr lang="en-US" altLang="zh-CN" dirty="0" smtClean="0"/>
                  <a:t>: </a:t>
                </a:r>
                <a:r>
                  <a:rPr lang="zh-CN" altLang="en-US" dirty="0" smtClean="0"/>
                  <a:t>无向图有偶数个度为奇数的顶点</a:t>
                </a:r>
                <a:r>
                  <a:rPr lang="en-US" dirty="0" smtClean="0"/>
                  <a:t>.</a:t>
                </a:r>
              </a:p>
              <a:p>
                <a:endParaRPr lang="en-US" dirty="0" smtClean="0"/>
              </a:p>
              <a:p>
                <a:r>
                  <a:rPr lang="zh-CN" altLang="en-US" dirty="0" smtClean="0"/>
                  <a:t>证明</a:t>
                </a:r>
                <a:r>
                  <a:rPr lang="en-US" altLang="zh-CN" dirty="0" smtClean="0"/>
                  <a:t>: </a:t>
                </a:r>
                <a:r>
                  <a:rPr lang="zh-CN" altLang="en-US" dirty="0" smtClean="0"/>
                  <a:t>在无向图</a:t>
                </a:r>
                <a:r>
                  <a:rPr lang="en-US" altLang="zh-CN" dirty="0" smtClean="0"/>
                  <a:t>G </a:t>
                </a:r>
                <a:r>
                  <a:rPr lang="en-US" altLang="zh-CN" dirty="0"/>
                  <a:t>= </a:t>
                </a:r>
                <a:r>
                  <a:rPr lang="en-US" altLang="zh-CN" dirty="0" smtClean="0"/>
                  <a:t>(V, E)</a:t>
                </a:r>
                <a:r>
                  <a:rPr lang="zh-CN" altLang="en-US" dirty="0" smtClean="0"/>
                  <a:t>中</a:t>
                </a:r>
                <a:r>
                  <a:rPr lang="en-US" altLang="zh-CN" dirty="0" smtClean="0"/>
                  <a:t>, </a:t>
                </a:r>
                <a:r>
                  <a:rPr lang="zh-CN" altLang="en-US" dirty="0" smtClean="0"/>
                  <a:t>设</a:t>
                </a:r>
                <a14:m>
                  <m:oMath xmlns:m="http://schemas.openxmlformats.org/officeDocument/2006/math">
                    <m:sSub>
                      <m:sSubPr>
                        <m:ctrlPr>
                          <a:rPr lang="en-US" altLang="zh-CN" i="1" smtClean="0">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b="0" i="1" smtClean="0">
                            <a:latin typeface="Cambria Math" panose="02040503050406030204" pitchFamily="18" charset="0"/>
                          </a:rPr>
                          <m:t>1</m:t>
                        </m:r>
                      </m:sub>
                    </m:sSub>
                  </m:oMath>
                </a14:m>
                <a:r>
                  <a:rPr lang="zh-CN" altLang="en-US" dirty="0" smtClean="0"/>
                  <a:t>和</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b="0" i="1" smtClean="0">
                            <a:latin typeface="Cambria Math" panose="02040503050406030204" pitchFamily="18" charset="0"/>
                          </a:rPr>
                          <m:t>2</m:t>
                        </m:r>
                      </m:sub>
                    </m:sSub>
                  </m:oMath>
                </a14:m>
                <a:r>
                  <a:rPr lang="zh-CN" altLang="en-US" dirty="0" smtClean="0"/>
                  <a:t>分别是度为偶数的顶点和度为奇数的顶点的集合</a:t>
                </a:r>
                <a:r>
                  <a:rPr lang="en-US" altLang="zh-CN" dirty="0" smtClean="0"/>
                  <a:t>. </a:t>
                </a:r>
                <a:r>
                  <a:rPr lang="zh-CN" altLang="en-US" dirty="0" smtClean="0"/>
                  <a:t>于是</a:t>
                </a:r>
                <a:endParaRPr lang="en-US" altLang="zh-CN" dirty="0" smtClean="0"/>
              </a:p>
              <a:p>
                <a:endParaRPr lang="en-US" altLang="zh-CN" dirty="0"/>
              </a:p>
              <a:p>
                <a:pPr marL="0" indent="0">
                  <a:buNone/>
                </a:pPr>
                <a:r>
                  <a:rPr lang="zh-CN" altLang="en-US" dirty="0" smtClean="0"/>
                  <a:t> </a:t>
                </a:r>
                <a:endParaRPr lang="en-US" altLang="zh-CN" dirty="0" smtClean="0"/>
              </a:p>
              <a:p>
                <a:pPr marL="0" indent="0">
                  <a:buNone/>
                </a:pPr>
                <a:r>
                  <a:rPr lang="zh-CN" altLang="en-US" dirty="0" smtClean="0"/>
                  <a:t> 因为</a:t>
                </a:r>
                <a:r>
                  <a:rPr lang="zh-CN" altLang="en-US" dirty="0"/>
                  <a:t>对于</a:t>
                </a:r>
                <a:r>
                  <a:rPr lang="en-US" altLang="zh-CN" dirty="0"/>
                  <a:t>v </a:t>
                </a:r>
                <a14:m>
                  <m:oMath xmlns:m="http://schemas.openxmlformats.org/officeDocument/2006/math">
                    <m:sSub>
                      <m:sSubPr>
                        <m:ctrlPr>
                          <a:rPr lang="en-US" altLang="zh-CN" i="1">
                            <a:latin typeface="Cambria Math" panose="02040503050406030204" pitchFamily="18" charset="0"/>
                          </a:rPr>
                        </m:ctrlPr>
                      </m:sSubPr>
                      <m:e>
                        <m:r>
                          <a:rPr lang="en-US" altLang="zh-CN" i="1" smtClean="0">
                            <a:latin typeface="Cambria Math" panose="02040503050406030204" pitchFamily="18" charset="0"/>
                            <a:ea typeface="Cambria Math" panose="02040503050406030204" pitchFamily="18" charset="0"/>
                          </a:rPr>
                          <m:t>∈</m:t>
                        </m:r>
                        <m:r>
                          <m:rPr>
                            <m:sty m:val="p"/>
                          </m:rPr>
                          <a:rPr lang="en-US" altLang="zh-CN" i="1">
                            <a:latin typeface="Cambria Math" panose="02040503050406030204" pitchFamily="18" charset="0"/>
                          </a:rPr>
                          <m:t>V</m:t>
                        </m:r>
                      </m:e>
                      <m:sub>
                        <m:r>
                          <a:rPr lang="en-US" altLang="zh-CN" i="1">
                            <a:latin typeface="Cambria Math" panose="02040503050406030204" pitchFamily="18" charset="0"/>
                          </a:rPr>
                          <m:t>1</m:t>
                        </m:r>
                      </m:sub>
                    </m:sSub>
                  </m:oMath>
                </a14:m>
                <a:r>
                  <a:rPr lang="en-US" altLang="zh-CN" dirty="0" smtClean="0"/>
                  <a:t>, deg(v)</a:t>
                </a:r>
                <a:r>
                  <a:rPr lang="zh-CN" altLang="en-US" dirty="0" smtClean="0"/>
                  <a:t>是偶数</a:t>
                </a:r>
                <a:r>
                  <a:rPr lang="en-US" altLang="zh-CN" dirty="0" smtClean="0"/>
                  <a:t>, </a:t>
                </a:r>
                <a:r>
                  <a:rPr lang="zh-CN" altLang="en-US" dirty="0" smtClean="0"/>
                  <a:t>所以等式右端第一项是偶数</a:t>
                </a:r>
                <a:r>
                  <a:rPr lang="en-US" altLang="zh-CN" dirty="0" smtClean="0"/>
                  <a:t>. </a:t>
                </a:r>
                <a:r>
                  <a:rPr lang="zh-CN" altLang="en-US" dirty="0" smtClean="0"/>
                  <a:t>此外</a:t>
                </a:r>
                <a:r>
                  <a:rPr lang="en-US" altLang="zh-CN" dirty="0" smtClean="0"/>
                  <a:t>, </a:t>
                </a:r>
                <a:r>
                  <a:rPr lang="zh-CN" altLang="en-US" dirty="0" smtClean="0"/>
                  <a:t>等式右端的两项之和是偶数</a:t>
                </a:r>
                <a:r>
                  <a:rPr lang="en-US" altLang="zh-CN" dirty="0" smtClean="0"/>
                  <a:t>, </a:t>
                </a:r>
                <a:r>
                  <a:rPr lang="zh-CN" altLang="en-US" dirty="0" smtClean="0"/>
                  <a:t>因为</a:t>
                </a:r>
                <a:r>
                  <a:rPr lang="en-US" altLang="zh-CN" dirty="0" smtClean="0"/>
                  <a:t>2m</a:t>
                </a:r>
                <a:r>
                  <a:rPr lang="zh-CN" altLang="en-US" dirty="0" smtClean="0"/>
                  <a:t>是偶数</a:t>
                </a:r>
                <a:r>
                  <a:rPr lang="en-US" altLang="zh-CN" dirty="0" smtClean="0"/>
                  <a:t>. </a:t>
                </a:r>
                <a:r>
                  <a:rPr lang="zh-CN" altLang="en-US" dirty="0" smtClean="0"/>
                  <a:t>两项之和的第二项也是偶数</a:t>
                </a:r>
                <a:r>
                  <a:rPr lang="en-US" altLang="zh-CN" dirty="0" smtClean="0"/>
                  <a:t>, </a:t>
                </a:r>
                <a:r>
                  <a:rPr lang="zh-CN" altLang="en-US" dirty="0" smtClean="0"/>
                  <a:t>因为在这个和里的所有的项都是奇数</a:t>
                </a:r>
                <a:r>
                  <a:rPr lang="en-US" altLang="zh-CN" dirty="0" smtClean="0"/>
                  <a:t>, </a:t>
                </a:r>
                <a:r>
                  <a:rPr lang="zh-CN" altLang="en-US" dirty="0" smtClean="0"/>
                  <a:t>所以必然有偶数个这样的项</a:t>
                </a:r>
                <a:r>
                  <a:rPr lang="en-US" altLang="zh-CN" dirty="0" smtClean="0"/>
                  <a:t>. </a:t>
                </a:r>
                <a:r>
                  <a:rPr lang="zh-CN" altLang="en-US" dirty="0" smtClean="0"/>
                  <a:t>因此有偶数个度为奇数的顶点</a:t>
                </a:r>
                <a:r>
                  <a:rPr lang="en-US" altLang="zh-CN" dirty="0" smtClean="0"/>
                  <a:t>.</a:t>
                </a:r>
                <a:endParaRPr lang="en-US" altLang="zh-C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165" t="-1310" r="-1831" b="-833"/>
                </a:stretch>
              </a:blipFill>
            </p:spPr>
            <p:txBody>
              <a:bodyPr/>
              <a:lstStyle/>
              <a:p>
                <a:r>
                  <a:rPr lang="zh-CN" altLang="en-US">
                    <a:noFill/>
                  </a:rPr>
                  <a:t> </a:t>
                </a:r>
              </a:p>
            </p:txBody>
          </p:sp>
        </mc:Fallback>
      </mc:AlternateContent>
      <p:pic>
        <p:nvPicPr>
          <p:cNvPr id="5" name="Picture 4"/>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3429000" y="3363814"/>
            <a:ext cx="4954905" cy="571500"/>
          </a:xfrm>
          <a:prstGeom prst="rect">
            <a:avLst/>
          </a:prstGeom>
        </p:spPr>
      </p:pic>
      <p:sp>
        <p:nvSpPr>
          <p:cNvPr id="7" name="日期占位符 6"/>
          <p:cNvSpPr>
            <a:spLocks noGrp="1"/>
          </p:cNvSpPr>
          <p:nvPr>
            <p:ph type="dt" sz="half" idx="10"/>
          </p:nvPr>
        </p:nvSpPr>
        <p:spPr/>
        <p:txBody>
          <a:bodyPr/>
          <a:lstStyle/>
          <a:p>
            <a:fld id="{5C06EC2A-A725-4CF7-AD4E-F8768C5BA81C}" type="datetime1">
              <a:rPr lang="zh-CN" altLang="en-US" smtClean="0"/>
              <a:t>2025/4/15</a:t>
            </a:fld>
            <a:endParaRPr lang="zh-CN" altLang="en-US" dirty="0"/>
          </a:p>
        </p:txBody>
      </p:sp>
      <p:sp>
        <p:nvSpPr>
          <p:cNvPr id="9" name="页脚占位符 8"/>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10" name="灯片编号占位符 9"/>
          <p:cNvSpPr>
            <a:spLocks noGrp="1"/>
          </p:cNvSpPr>
          <p:nvPr>
            <p:ph type="sldNum" sz="quarter" idx="12"/>
          </p:nvPr>
        </p:nvSpPr>
        <p:spPr/>
        <p:txBody>
          <a:bodyPr/>
          <a:lstStyle/>
          <a:p>
            <a:fld id="{67913A8A-9EFB-4B5F-9CCB-3D21173FAA85}" type="slidenum">
              <a:rPr lang="zh-CN" altLang="en-US" smtClean="0"/>
              <a:pPr/>
              <a:t>28</a:t>
            </a:fld>
            <a:endParaRPr lang="zh-CN" alt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57200" y="1143000"/>
            <a:ext cx="11277599" cy="12954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462116" y="3048000"/>
            <a:ext cx="11277599" cy="12954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基本术语</a:t>
            </a:r>
            <a:endParaRPr lang="en-US" dirty="0"/>
          </a:p>
        </p:txBody>
      </p:sp>
      <p:sp>
        <p:nvSpPr>
          <p:cNvPr id="3" name="Content Placeholder 2"/>
          <p:cNvSpPr>
            <a:spLocks noGrp="1"/>
          </p:cNvSpPr>
          <p:nvPr>
            <p:ph idx="1"/>
          </p:nvPr>
        </p:nvSpPr>
        <p:spPr/>
        <p:txBody>
          <a:bodyPr>
            <a:normAutofit/>
          </a:bodyPr>
          <a:lstStyle/>
          <a:p>
            <a:r>
              <a:rPr lang="zh-CN" altLang="en-US" dirty="0" smtClean="0"/>
              <a:t>定义</a:t>
            </a:r>
            <a:r>
              <a:rPr lang="en-US" dirty="0" smtClean="0"/>
              <a:t>: </a:t>
            </a:r>
            <a:r>
              <a:rPr lang="zh-CN" altLang="en-US" dirty="0" smtClean="0"/>
              <a:t>一</a:t>
            </a:r>
            <a:r>
              <a:rPr lang="zh-CN" altLang="en-US" dirty="0"/>
              <a:t>个</a:t>
            </a:r>
            <a:r>
              <a:rPr lang="zh-CN" altLang="en-US" b="1" dirty="0" smtClean="0">
                <a:solidFill>
                  <a:srgbClr val="C00000"/>
                </a:solidFill>
              </a:rPr>
              <a:t>有向图</a:t>
            </a:r>
            <a:r>
              <a:rPr lang="en-US" altLang="zh-CN" dirty="0" smtClean="0"/>
              <a:t>(V, E)</a:t>
            </a:r>
            <a:r>
              <a:rPr lang="zh-CN" altLang="en-US" dirty="0" smtClean="0"/>
              <a:t>由</a:t>
            </a:r>
            <a:r>
              <a:rPr lang="zh-CN" altLang="en-US" dirty="0"/>
              <a:t>一个非空顶点集</a:t>
            </a:r>
            <a:r>
              <a:rPr lang="en-US" altLang="zh-CN" dirty="0"/>
              <a:t>V</a:t>
            </a:r>
            <a:r>
              <a:rPr lang="zh-CN" altLang="en-US" dirty="0"/>
              <a:t>和一个有向</a:t>
            </a:r>
            <a:r>
              <a:rPr lang="zh-CN" altLang="en-US" dirty="0" smtClean="0"/>
              <a:t>边</a:t>
            </a:r>
            <a:r>
              <a:rPr lang="en-US" altLang="zh-CN" dirty="0" smtClean="0"/>
              <a:t>(</a:t>
            </a:r>
            <a:r>
              <a:rPr lang="zh-CN" altLang="en-US" dirty="0" smtClean="0"/>
              <a:t>或弧</a:t>
            </a:r>
            <a:r>
              <a:rPr lang="en-US" altLang="zh-CN" dirty="0" smtClean="0"/>
              <a:t>)</a:t>
            </a:r>
            <a:r>
              <a:rPr lang="zh-CN" altLang="en-US" dirty="0" smtClean="0"/>
              <a:t>集</a:t>
            </a:r>
            <a:r>
              <a:rPr lang="en-US" altLang="zh-CN" dirty="0"/>
              <a:t>E</a:t>
            </a:r>
            <a:r>
              <a:rPr lang="zh-CN" altLang="en-US" dirty="0" smtClean="0"/>
              <a:t>组成</a:t>
            </a:r>
            <a:r>
              <a:rPr lang="en-US" altLang="zh-CN" dirty="0" smtClean="0"/>
              <a:t>. </a:t>
            </a:r>
            <a:r>
              <a:rPr lang="zh-CN" altLang="en-US" dirty="0" smtClean="0"/>
              <a:t>每</a:t>
            </a:r>
            <a:r>
              <a:rPr lang="zh-CN" altLang="en-US" dirty="0"/>
              <a:t>条有向边与一个顶点有序对相</a:t>
            </a:r>
            <a:r>
              <a:rPr lang="zh-CN" altLang="en-US" dirty="0" smtClean="0"/>
              <a:t>关联</a:t>
            </a:r>
            <a:r>
              <a:rPr lang="en-US" altLang="zh-CN" dirty="0" smtClean="0"/>
              <a:t>. </a:t>
            </a:r>
            <a:r>
              <a:rPr lang="zh-CN" altLang="en-US" dirty="0" smtClean="0"/>
              <a:t>与</a:t>
            </a:r>
            <a:r>
              <a:rPr lang="zh-CN" altLang="en-US" dirty="0"/>
              <a:t>有序</a:t>
            </a:r>
            <a:r>
              <a:rPr lang="zh-CN" altLang="en-US" dirty="0" smtClean="0"/>
              <a:t>对</a:t>
            </a:r>
            <a:r>
              <a:rPr lang="en-US" altLang="zh-CN" dirty="0" smtClean="0"/>
              <a:t>(u, v)</a:t>
            </a:r>
            <a:r>
              <a:rPr lang="zh-CN" altLang="en-US" dirty="0" smtClean="0"/>
              <a:t>相</a:t>
            </a:r>
            <a:r>
              <a:rPr lang="zh-CN" altLang="en-US" dirty="0"/>
              <a:t>关联的有向边开始于</a:t>
            </a:r>
            <a:r>
              <a:rPr lang="en-US" altLang="zh-CN" dirty="0" smtClean="0"/>
              <a:t>u, </a:t>
            </a:r>
            <a:r>
              <a:rPr lang="zh-CN" altLang="en-US" dirty="0" smtClean="0"/>
              <a:t>结束</a:t>
            </a:r>
            <a:r>
              <a:rPr lang="zh-CN" altLang="en-US" dirty="0"/>
              <a:t>于</a:t>
            </a:r>
            <a:r>
              <a:rPr lang="en-US" altLang="zh-CN" dirty="0" smtClean="0"/>
              <a:t>v.</a:t>
            </a:r>
            <a:endParaRPr lang="zh-CN" altLang="en-US" dirty="0"/>
          </a:p>
          <a:p>
            <a:endParaRPr lang="en-US" altLang="zh-CN" dirty="0" smtClean="0"/>
          </a:p>
          <a:p>
            <a:r>
              <a:rPr lang="zh-CN" altLang="en-US" dirty="0" smtClean="0"/>
              <a:t>定义</a:t>
            </a:r>
            <a:r>
              <a:rPr lang="en-US" altLang="zh-CN" dirty="0" smtClean="0"/>
              <a:t>: </a:t>
            </a:r>
            <a:r>
              <a:rPr lang="zh-CN" altLang="en-US" dirty="0" smtClean="0"/>
              <a:t>当</a:t>
            </a:r>
            <a:r>
              <a:rPr lang="en-US" altLang="zh-CN" dirty="0" smtClean="0"/>
              <a:t>(u, v)</a:t>
            </a:r>
            <a:r>
              <a:rPr lang="zh-CN" altLang="en-US" dirty="0" smtClean="0"/>
              <a:t>是有向边的图</a:t>
            </a:r>
            <a:r>
              <a:rPr lang="en-US" altLang="zh-CN" dirty="0" smtClean="0"/>
              <a:t>G</a:t>
            </a:r>
            <a:r>
              <a:rPr lang="zh-CN" altLang="en-US" dirty="0" smtClean="0"/>
              <a:t>的边时</a:t>
            </a:r>
            <a:r>
              <a:rPr lang="en-US" altLang="zh-CN" dirty="0" smtClean="0"/>
              <a:t>, </a:t>
            </a:r>
            <a:r>
              <a:rPr lang="zh-CN" altLang="en-US" dirty="0" smtClean="0"/>
              <a:t>说</a:t>
            </a:r>
            <a:r>
              <a:rPr lang="en-US" altLang="zh-CN" dirty="0" smtClean="0"/>
              <a:t>u</a:t>
            </a:r>
            <a:r>
              <a:rPr lang="zh-CN" altLang="en-US" b="1" dirty="0" smtClean="0">
                <a:solidFill>
                  <a:srgbClr val="C00000"/>
                </a:solidFill>
              </a:rPr>
              <a:t>邻接</a:t>
            </a:r>
            <a:r>
              <a:rPr lang="zh-CN" altLang="en-US" dirty="0" smtClean="0"/>
              <a:t>到</a:t>
            </a:r>
            <a:r>
              <a:rPr lang="en-US" altLang="zh-CN" dirty="0" smtClean="0"/>
              <a:t>v, </a:t>
            </a:r>
            <a:r>
              <a:rPr lang="zh-CN" altLang="en-US" dirty="0" smtClean="0"/>
              <a:t>而且说</a:t>
            </a:r>
            <a:r>
              <a:rPr lang="en-US" altLang="zh-CN" dirty="0" smtClean="0"/>
              <a:t>v</a:t>
            </a:r>
            <a:r>
              <a:rPr lang="zh-CN" altLang="en-US" dirty="0" smtClean="0"/>
              <a:t>从</a:t>
            </a:r>
            <a:r>
              <a:rPr lang="en-US" altLang="zh-CN" dirty="0" smtClean="0"/>
              <a:t>u</a:t>
            </a:r>
            <a:r>
              <a:rPr lang="zh-CN" altLang="en-US" dirty="0" smtClean="0"/>
              <a:t>邻接</a:t>
            </a:r>
            <a:r>
              <a:rPr lang="en-US" altLang="zh-CN" dirty="0" smtClean="0"/>
              <a:t>. </a:t>
            </a:r>
            <a:r>
              <a:rPr lang="zh-CN" altLang="en-US" dirty="0" smtClean="0"/>
              <a:t>顶点</a:t>
            </a:r>
            <a:r>
              <a:rPr lang="en-US" altLang="zh-CN" dirty="0" smtClean="0"/>
              <a:t>u</a:t>
            </a:r>
            <a:r>
              <a:rPr lang="zh-CN" altLang="en-US" dirty="0" smtClean="0"/>
              <a:t>称为</a:t>
            </a:r>
            <a:r>
              <a:rPr lang="en-US" altLang="zh-CN" dirty="0" smtClean="0"/>
              <a:t>(u, v)</a:t>
            </a:r>
            <a:r>
              <a:rPr lang="zh-CN" altLang="en-US" dirty="0" smtClean="0"/>
              <a:t>的</a:t>
            </a:r>
            <a:r>
              <a:rPr lang="zh-CN" altLang="en-US" b="1" dirty="0" smtClean="0">
                <a:solidFill>
                  <a:srgbClr val="C00000"/>
                </a:solidFill>
              </a:rPr>
              <a:t>起点</a:t>
            </a:r>
            <a:r>
              <a:rPr lang="en-US" altLang="zh-CN" dirty="0" smtClean="0"/>
              <a:t>, v</a:t>
            </a:r>
            <a:r>
              <a:rPr lang="zh-CN" altLang="en-US" dirty="0" smtClean="0"/>
              <a:t>称为</a:t>
            </a:r>
            <a:r>
              <a:rPr lang="en-US" altLang="zh-CN" dirty="0" smtClean="0"/>
              <a:t>(u, v)</a:t>
            </a:r>
            <a:r>
              <a:rPr lang="zh-CN" altLang="en-US" dirty="0" smtClean="0"/>
              <a:t>的</a:t>
            </a:r>
            <a:r>
              <a:rPr lang="zh-CN" altLang="en-US" b="1" dirty="0" smtClean="0">
                <a:solidFill>
                  <a:srgbClr val="C00000"/>
                </a:solidFill>
              </a:rPr>
              <a:t>终点</a:t>
            </a:r>
            <a:r>
              <a:rPr lang="en-US" altLang="zh-CN" dirty="0" smtClean="0"/>
              <a:t>. </a:t>
            </a:r>
            <a:r>
              <a:rPr lang="zh-CN" altLang="en-US" dirty="0" smtClean="0"/>
              <a:t>环的起点和终点是相同的</a:t>
            </a:r>
            <a:r>
              <a:rPr lang="en-US" dirty="0" smtClean="0"/>
              <a:t>.</a:t>
            </a:r>
          </a:p>
        </p:txBody>
      </p:sp>
      <p:sp>
        <p:nvSpPr>
          <p:cNvPr id="7" name="日期占位符 6"/>
          <p:cNvSpPr>
            <a:spLocks noGrp="1"/>
          </p:cNvSpPr>
          <p:nvPr>
            <p:ph type="dt" sz="half" idx="10"/>
          </p:nvPr>
        </p:nvSpPr>
        <p:spPr/>
        <p:txBody>
          <a:bodyPr/>
          <a:lstStyle/>
          <a:p>
            <a:fld id="{AD01D3F6-0C7C-4691-B635-B97B5481EE98}"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29</a:t>
            </a:fld>
            <a:endParaRPr lang="zh-CN" alt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57200" y="1143000"/>
            <a:ext cx="11277599" cy="12954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基本术语</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smtClean="0"/>
                  <a:t>定义</a:t>
                </a:r>
                <a:r>
                  <a:rPr lang="en-US" altLang="zh-CN" dirty="0" smtClean="0"/>
                  <a:t>: </a:t>
                </a:r>
                <a:r>
                  <a:rPr lang="zh-CN" altLang="en-US" dirty="0" smtClean="0"/>
                  <a:t>在带有有向边的图里</a:t>
                </a:r>
                <a:r>
                  <a:rPr lang="en-US" altLang="zh-CN" dirty="0" smtClean="0"/>
                  <a:t>, </a:t>
                </a:r>
                <a:r>
                  <a:rPr lang="zh-CN" altLang="en-US" dirty="0" smtClean="0"/>
                  <a:t>顶点</a:t>
                </a:r>
                <a:r>
                  <a:rPr lang="en-US" altLang="zh-CN" dirty="0" smtClean="0"/>
                  <a:t>v</a:t>
                </a:r>
                <a:r>
                  <a:rPr lang="zh-CN" altLang="en-US" dirty="0" smtClean="0"/>
                  <a:t>的</a:t>
                </a:r>
                <a:r>
                  <a:rPr lang="zh-CN" altLang="en-US" b="1" dirty="0" smtClean="0">
                    <a:solidFill>
                      <a:srgbClr val="C00000"/>
                    </a:solidFill>
                  </a:rPr>
                  <a:t>入度</a:t>
                </a:r>
                <a:r>
                  <a:rPr lang="zh-CN" altLang="en-US" dirty="0" smtClean="0"/>
                  <a:t>记作</a:t>
                </a:r>
                <a14:m>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𝑑𝑒𝑔</m:t>
                        </m:r>
                      </m:e>
                      <m:sup>
                        <m:r>
                          <a:rPr lang="en-US" altLang="zh-CN" b="0" i="1" smtClean="0">
                            <a:latin typeface="Cambria Math" panose="02040503050406030204" pitchFamily="18" charset="0"/>
                          </a:rPr>
                          <m:t>−</m:t>
                        </m:r>
                      </m:sup>
                    </m:sSup>
                    <m:r>
                      <a:rPr lang="en-US" altLang="zh-CN" b="0" i="1" smtClean="0">
                        <a:latin typeface="Cambria Math" panose="02040503050406030204" pitchFamily="18" charset="0"/>
                      </a:rPr>
                      <m:t>(</m:t>
                    </m:r>
                    <m:r>
                      <a:rPr lang="en-US" altLang="zh-CN" b="0" i="1" smtClean="0">
                        <a:latin typeface="Cambria Math" panose="02040503050406030204" pitchFamily="18" charset="0"/>
                      </a:rPr>
                      <m:t>𝑣</m:t>
                    </m:r>
                    <m:r>
                      <m:rPr>
                        <m:nor/>
                      </m:rPr>
                      <a:rPr lang="en-US" altLang="zh-CN" dirty="0"/>
                      <m:t>)</m:t>
                    </m:r>
                  </m:oMath>
                </a14:m>
                <a:r>
                  <a:rPr lang="en-US" dirty="0" smtClean="0"/>
                  <a:t>, </a:t>
                </a:r>
                <a:r>
                  <a:rPr lang="zh-CN" altLang="en-US" dirty="0" smtClean="0"/>
                  <a:t>是以</a:t>
                </a:r>
                <a:r>
                  <a:rPr lang="en-US" altLang="zh-CN" dirty="0" smtClean="0"/>
                  <a:t>v</a:t>
                </a:r>
                <a:r>
                  <a:rPr lang="zh-CN" altLang="en-US" dirty="0" smtClean="0"/>
                  <a:t>作为终点的边数</a:t>
                </a:r>
                <a:r>
                  <a:rPr lang="en-US" altLang="zh-CN" dirty="0" smtClean="0"/>
                  <a:t>. </a:t>
                </a:r>
                <a:r>
                  <a:rPr lang="zh-CN" altLang="en-US" dirty="0" smtClean="0"/>
                  <a:t>顶点</a:t>
                </a:r>
                <a:r>
                  <a:rPr lang="en-US" altLang="zh-CN" dirty="0" smtClean="0"/>
                  <a:t>v</a:t>
                </a:r>
                <a:r>
                  <a:rPr lang="zh-CN" altLang="en-US" dirty="0" smtClean="0"/>
                  <a:t>的</a:t>
                </a:r>
                <a:r>
                  <a:rPr lang="zh-CN" altLang="en-US" b="1" dirty="0" smtClean="0">
                    <a:solidFill>
                      <a:srgbClr val="C00000"/>
                    </a:solidFill>
                  </a:rPr>
                  <a:t>出度</a:t>
                </a:r>
                <a:r>
                  <a:rPr lang="zh-CN" altLang="en-US" dirty="0" smtClean="0"/>
                  <a:t>记作</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𝑑𝑒𝑔</m:t>
                        </m:r>
                      </m:e>
                      <m:sup>
                        <m:r>
                          <a:rPr lang="en-US" altLang="zh-CN" i="1" smtClean="0">
                            <a:latin typeface="Cambria Math" panose="02040503050406030204" pitchFamily="18" charset="0"/>
                          </a:rPr>
                          <m:t>+</m:t>
                        </m:r>
                      </m:sup>
                    </m:sSup>
                    <m:r>
                      <a:rPr lang="en-US" altLang="zh-CN" i="1" smtClean="0">
                        <a:latin typeface="Cambria Math" panose="02040503050406030204" pitchFamily="18" charset="0"/>
                      </a:rPr>
                      <m:t>(</m:t>
                    </m:r>
                    <m:r>
                      <a:rPr lang="en-US" altLang="zh-CN" i="1">
                        <a:latin typeface="Cambria Math" panose="02040503050406030204" pitchFamily="18" charset="0"/>
                      </a:rPr>
                      <m:t>𝑣</m:t>
                    </m:r>
                    <m:r>
                      <m:rPr>
                        <m:nor/>
                      </m:rPr>
                      <a:rPr lang="en-US" altLang="zh-CN" dirty="0"/>
                      <m:t>)</m:t>
                    </m:r>
                    <m:r>
                      <a:rPr lang="en-US" altLang="zh-CN" i="1" smtClean="0">
                        <a:latin typeface="Cambria Math" panose="02040503050406030204" pitchFamily="18" charset="0"/>
                      </a:rPr>
                      <m:t> </m:t>
                    </m:r>
                  </m:oMath>
                </a14:m>
                <a:r>
                  <a:rPr lang="en-US" altLang="zh-CN" dirty="0" smtClean="0"/>
                  <a:t>, </a:t>
                </a:r>
                <a:r>
                  <a:rPr lang="zh-CN" altLang="en-US" dirty="0" smtClean="0"/>
                  <a:t>是</a:t>
                </a:r>
                <a:r>
                  <a:rPr lang="zh-CN" altLang="en-US" dirty="0"/>
                  <a:t>以</a:t>
                </a:r>
                <a:r>
                  <a:rPr lang="en-US" altLang="zh-CN" dirty="0"/>
                  <a:t>v</a:t>
                </a:r>
                <a:r>
                  <a:rPr lang="zh-CN" altLang="en-US" dirty="0" smtClean="0"/>
                  <a:t>作为</a:t>
                </a:r>
                <a:r>
                  <a:rPr lang="zh-CN" altLang="en-US" dirty="0"/>
                  <a:t>起点</a:t>
                </a:r>
                <a:r>
                  <a:rPr lang="zh-CN" altLang="en-US" dirty="0" smtClean="0"/>
                  <a:t>的</a:t>
                </a:r>
                <a:r>
                  <a:rPr lang="zh-CN" altLang="en-US" dirty="0"/>
                  <a:t>边</a:t>
                </a:r>
                <a:r>
                  <a:rPr lang="zh-CN" altLang="en-US" dirty="0" smtClean="0"/>
                  <a:t>数</a:t>
                </a:r>
                <a:r>
                  <a:rPr lang="en-US" altLang="zh-CN" dirty="0" smtClean="0"/>
                  <a:t>. </a:t>
                </a:r>
                <a:r>
                  <a:rPr lang="zh-CN" altLang="en-US" dirty="0" smtClean="0"/>
                  <a:t>注意</a:t>
                </a:r>
                <a:r>
                  <a:rPr lang="en-US" altLang="zh-CN" dirty="0" smtClean="0"/>
                  <a:t>, </a:t>
                </a:r>
                <a:r>
                  <a:rPr lang="zh-CN" altLang="en-US" dirty="0" smtClean="0"/>
                  <a:t>顶点上的环对这个顶点的入度和出度的贡献都是</a:t>
                </a:r>
                <a:r>
                  <a:rPr lang="en-US" altLang="zh-CN" dirty="0" smtClean="0"/>
                  <a:t>1.</a:t>
                </a:r>
              </a:p>
              <a:p>
                <a:endParaRPr lang="en-US" dirty="0" smtClean="0"/>
              </a:p>
              <a:p>
                <a:endParaRPr lang="en-US" dirty="0" smtClean="0"/>
              </a:p>
              <a:p>
                <a:r>
                  <a:rPr lang="zh-CN" altLang="en-US" dirty="0" smtClean="0"/>
                  <a:t>例</a:t>
                </a:r>
                <a:r>
                  <a:rPr lang="en-US" altLang="zh-CN" dirty="0" smtClean="0"/>
                  <a:t>: </a:t>
                </a:r>
                <a:r>
                  <a:rPr lang="zh-CN" altLang="en-US" dirty="0" smtClean="0"/>
                  <a:t>求图中每个顶点的入度和出度</a:t>
                </a:r>
                <a:r>
                  <a:rPr lang="en-US" altLang="zh-CN" dirty="0" smtClean="0"/>
                  <a:t>.</a:t>
                </a:r>
                <a:endParaRPr lang="en-US" altLang="zh-CN" dirty="0"/>
              </a:p>
              <a:p>
                <a:r>
                  <a:rPr lang="zh-CN" altLang="en-US" dirty="0" smtClean="0"/>
                  <a:t>解</a:t>
                </a:r>
                <a:r>
                  <a:rPr lang="en-US" altLang="zh-CN" dirty="0" smtClean="0"/>
                  <a:t>: </a:t>
                </a:r>
              </a:p>
              <a:p>
                <a:pPr lvl="1">
                  <a:lnSpc>
                    <a:spcPct val="110000"/>
                  </a:lnSpc>
                </a:pPr>
                <a14:m>
                  <m:oMath xmlns:m="http://schemas.openxmlformats.org/officeDocument/2006/math">
                    <m:sSup>
                      <m:sSupPr>
                        <m:ctrlPr>
                          <a:rPr lang="en-US" altLang="zh-CN" i="1">
                            <a:latin typeface="Cambria Math" panose="02040503050406030204" pitchFamily="18" charset="0"/>
                          </a:rPr>
                        </m:ctrlPr>
                      </m:sSupPr>
                      <m:e>
                        <m:r>
                          <a:rPr lang="en-US" altLang="zh-CN">
                            <a:latin typeface="Cambria Math" panose="02040503050406030204" pitchFamily="18" charset="0"/>
                          </a:rPr>
                          <m:t>𝑑𝑒𝑔</m:t>
                        </m:r>
                      </m:e>
                      <m:sup>
                        <m:r>
                          <a:rPr lang="en-US" altLang="zh-CN">
                            <a:latin typeface="Cambria Math" panose="02040503050406030204" pitchFamily="18" charset="0"/>
                          </a:rPr>
                          <m:t>−</m:t>
                        </m:r>
                      </m:sup>
                    </m:sSup>
                    <m:r>
                      <a:rPr lang="en-US" altLang="zh-CN">
                        <a:latin typeface="Cambria Math" panose="02040503050406030204" pitchFamily="18" charset="0"/>
                      </a:rPr>
                      <m:t>(</m:t>
                    </m:r>
                    <m:r>
                      <a:rPr lang="en-US" altLang="zh-CN">
                        <a:latin typeface="Cambria Math" panose="02040503050406030204" pitchFamily="18" charset="0"/>
                      </a:rPr>
                      <m:t>𝑎</m:t>
                    </m:r>
                    <m:r>
                      <a:rPr lang="en-US" altLang="zh-CN">
                        <a:latin typeface="Cambria Math" panose="02040503050406030204" pitchFamily="18" charset="0"/>
                      </a:rPr>
                      <m:t>)</m:t>
                    </m:r>
                  </m:oMath>
                </a14:m>
                <a:r>
                  <a:rPr lang="en-US" altLang="zh-CN" dirty="0"/>
                  <a:t>=2, </a:t>
                </a:r>
                <a14:m>
                  <m:oMath xmlns:m="http://schemas.openxmlformats.org/officeDocument/2006/math">
                    <m:sSup>
                      <m:sSupPr>
                        <m:ctrlPr>
                          <a:rPr lang="en-US" altLang="zh-CN" i="1">
                            <a:latin typeface="Cambria Math" panose="02040503050406030204" pitchFamily="18" charset="0"/>
                          </a:rPr>
                        </m:ctrlPr>
                      </m:sSupPr>
                      <m:e>
                        <m:r>
                          <a:rPr lang="en-US" altLang="zh-CN">
                            <a:latin typeface="Cambria Math" panose="02040503050406030204" pitchFamily="18" charset="0"/>
                          </a:rPr>
                          <m:t>𝑑𝑒𝑔</m:t>
                        </m:r>
                      </m:e>
                      <m:sup>
                        <m:r>
                          <a:rPr lang="en-US" altLang="zh-CN">
                            <a:latin typeface="Cambria Math" panose="02040503050406030204" pitchFamily="18" charset="0"/>
                          </a:rPr>
                          <m:t>−</m:t>
                        </m:r>
                      </m:sup>
                    </m:sSup>
                    <m:r>
                      <a:rPr lang="en-US" altLang="zh-CN">
                        <a:latin typeface="Cambria Math" panose="02040503050406030204" pitchFamily="18" charset="0"/>
                      </a:rPr>
                      <m:t>(</m:t>
                    </m:r>
                    <m:r>
                      <a:rPr lang="en-US" altLang="zh-CN" b="0" i="1" smtClean="0">
                        <a:latin typeface="Cambria Math" panose="02040503050406030204" pitchFamily="18" charset="0"/>
                      </a:rPr>
                      <m:t>𝑏</m:t>
                    </m:r>
                    <m:r>
                      <a:rPr lang="en-US" altLang="zh-CN">
                        <a:latin typeface="Cambria Math" panose="02040503050406030204" pitchFamily="18" charset="0"/>
                      </a:rPr>
                      <m:t>)</m:t>
                    </m:r>
                  </m:oMath>
                </a14:m>
                <a:r>
                  <a:rPr lang="en-US" altLang="zh-CN" dirty="0"/>
                  <a:t>=2, </a:t>
                </a:r>
                <a14:m>
                  <m:oMath xmlns:m="http://schemas.openxmlformats.org/officeDocument/2006/math">
                    <m:sSup>
                      <m:sSupPr>
                        <m:ctrlPr>
                          <a:rPr lang="en-US" altLang="zh-CN" i="1">
                            <a:latin typeface="Cambria Math" panose="02040503050406030204" pitchFamily="18" charset="0"/>
                          </a:rPr>
                        </m:ctrlPr>
                      </m:sSupPr>
                      <m:e>
                        <m:r>
                          <a:rPr lang="en-US" altLang="zh-CN">
                            <a:latin typeface="Cambria Math" panose="02040503050406030204" pitchFamily="18" charset="0"/>
                          </a:rPr>
                          <m:t>𝑑𝑒𝑔</m:t>
                        </m:r>
                      </m:e>
                      <m:sup>
                        <m:r>
                          <a:rPr lang="en-US" altLang="zh-CN">
                            <a:latin typeface="Cambria Math" panose="02040503050406030204" pitchFamily="18" charset="0"/>
                          </a:rPr>
                          <m:t>−</m:t>
                        </m:r>
                      </m:sup>
                    </m:sSup>
                    <m:r>
                      <a:rPr lang="en-US" altLang="zh-CN">
                        <a:latin typeface="Cambria Math" panose="02040503050406030204" pitchFamily="18" charset="0"/>
                      </a:rPr>
                      <m:t>(</m:t>
                    </m:r>
                    <m:r>
                      <a:rPr lang="en-US" altLang="zh-CN" b="0" i="1" smtClean="0">
                        <a:latin typeface="Cambria Math" panose="02040503050406030204" pitchFamily="18" charset="0"/>
                      </a:rPr>
                      <m:t>𝑐</m:t>
                    </m:r>
                    <m:r>
                      <a:rPr lang="en-US" altLang="zh-CN">
                        <a:latin typeface="Cambria Math" panose="02040503050406030204" pitchFamily="18" charset="0"/>
                      </a:rPr>
                      <m:t>)</m:t>
                    </m:r>
                  </m:oMath>
                </a14:m>
                <a:r>
                  <a:rPr lang="en-US" altLang="zh-CN" dirty="0"/>
                  <a:t>=3, </a:t>
                </a:r>
                <a14:m>
                  <m:oMath xmlns:m="http://schemas.openxmlformats.org/officeDocument/2006/math">
                    <m:sSup>
                      <m:sSupPr>
                        <m:ctrlPr>
                          <a:rPr lang="en-US" altLang="zh-CN" i="1">
                            <a:latin typeface="Cambria Math" panose="02040503050406030204" pitchFamily="18" charset="0"/>
                          </a:rPr>
                        </m:ctrlPr>
                      </m:sSupPr>
                      <m:e>
                        <m:r>
                          <a:rPr lang="en-US" altLang="zh-CN">
                            <a:latin typeface="Cambria Math" panose="02040503050406030204" pitchFamily="18" charset="0"/>
                          </a:rPr>
                          <m:t>𝑑𝑒𝑔</m:t>
                        </m:r>
                      </m:e>
                      <m:sup>
                        <m:r>
                          <a:rPr lang="en-US" altLang="zh-CN">
                            <a:latin typeface="Cambria Math" panose="02040503050406030204" pitchFamily="18" charset="0"/>
                          </a:rPr>
                          <m:t>−</m:t>
                        </m:r>
                      </m:sup>
                    </m:sSup>
                    <m:r>
                      <a:rPr lang="en-US" altLang="zh-CN">
                        <a:latin typeface="Cambria Math" panose="02040503050406030204" pitchFamily="18" charset="0"/>
                      </a:rPr>
                      <m:t>(</m:t>
                    </m:r>
                    <m:r>
                      <a:rPr lang="en-US" altLang="zh-CN" b="0" i="1" smtClean="0">
                        <a:latin typeface="Cambria Math" panose="02040503050406030204" pitchFamily="18" charset="0"/>
                      </a:rPr>
                      <m:t>𝑑</m:t>
                    </m:r>
                    <m:r>
                      <a:rPr lang="en-US" altLang="zh-CN">
                        <a:latin typeface="Cambria Math" panose="02040503050406030204" pitchFamily="18" charset="0"/>
                      </a:rPr>
                      <m:t>)</m:t>
                    </m:r>
                  </m:oMath>
                </a14:m>
                <a:r>
                  <a:rPr lang="en-US" altLang="zh-CN" dirty="0"/>
                  <a:t>=2, </a:t>
                </a:r>
                <a14:m>
                  <m:oMath xmlns:m="http://schemas.openxmlformats.org/officeDocument/2006/math">
                    <m:sSup>
                      <m:sSupPr>
                        <m:ctrlPr>
                          <a:rPr lang="en-US" altLang="zh-CN" i="1">
                            <a:latin typeface="Cambria Math" panose="02040503050406030204" pitchFamily="18" charset="0"/>
                          </a:rPr>
                        </m:ctrlPr>
                      </m:sSupPr>
                      <m:e>
                        <m:r>
                          <a:rPr lang="en-US" altLang="zh-CN">
                            <a:latin typeface="Cambria Math" panose="02040503050406030204" pitchFamily="18" charset="0"/>
                          </a:rPr>
                          <m:t>𝑑𝑒𝑔</m:t>
                        </m:r>
                      </m:e>
                      <m:sup>
                        <m:r>
                          <a:rPr lang="en-US" altLang="zh-CN">
                            <a:latin typeface="Cambria Math" panose="02040503050406030204" pitchFamily="18" charset="0"/>
                          </a:rPr>
                          <m:t>−</m:t>
                        </m:r>
                      </m:sup>
                    </m:sSup>
                    <m:r>
                      <a:rPr lang="en-US" altLang="zh-CN">
                        <a:latin typeface="Cambria Math" panose="02040503050406030204" pitchFamily="18" charset="0"/>
                      </a:rPr>
                      <m:t>(</m:t>
                    </m:r>
                    <m:r>
                      <a:rPr lang="en-US" altLang="zh-CN" b="0" i="1" smtClean="0">
                        <a:latin typeface="Cambria Math" panose="02040503050406030204" pitchFamily="18" charset="0"/>
                      </a:rPr>
                      <m:t>𝑒</m:t>
                    </m:r>
                    <m:r>
                      <a:rPr lang="en-US" altLang="zh-CN">
                        <a:latin typeface="Cambria Math" panose="02040503050406030204" pitchFamily="18" charset="0"/>
                      </a:rPr>
                      <m:t>)</m:t>
                    </m:r>
                  </m:oMath>
                </a14:m>
                <a:r>
                  <a:rPr lang="en-US" altLang="zh-CN" dirty="0"/>
                  <a:t>=3, </a:t>
                </a:r>
                <a14:m>
                  <m:oMath xmlns:m="http://schemas.openxmlformats.org/officeDocument/2006/math">
                    <m:sSup>
                      <m:sSupPr>
                        <m:ctrlPr>
                          <a:rPr lang="en-US" altLang="zh-CN" i="1">
                            <a:latin typeface="Cambria Math" panose="02040503050406030204" pitchFamily="18" charset="0"/>
                          </a:rPr>
                        </m:ctrlPr>
                      </m:sSupPr>
                      <m:e>
                        <m:r>
                          <a:rPr lang="en-US" altLang="zh-CN">
                            <a:latin typeface="Cambria Math" panose="02040503050406030204" pitchFamily="18" charset="0"/>
                          </a:rPr>
                          <m:t>𝑑𝑒𝑔</m:t>
                        </m:r>
                      </m:e>
                      <m:sup>
                        <m:r>
                          <a:rPr lang="en-US" altLang="zh-CN">
                            <a:latin typeface="Cambria Math" panose="02040503050406030204" pitchFamily="18" charset="0"/>
                          </a:rPr>
                          <m:t>−</m:t>
                        </m:r>
                      </m:sup>
                    </m:sSup>
                    <m:r>
                      <a:rPr lang="en-US" altLang="zh-CN">
                        <a:latin typeface="Cambria Math" panose="02040503050406030204" pitchFamily="18" charset="0"/>
                      </a:rPr>
                      <m:t>(</m:t>
                    </m:r>
                    <m:r>
                      <a:rPr lang="en-US" altLang="zh-CN" b="0" i="1" smtClean="0">
                        <a:latin typeface="Cambria Math" panose="02040503050406030204" pitchFamily="18" charset="0"/>
                      </a:rPr>
                      <m:t>𝑓</m:t>
                    </m:r>
                    <m:r>
                      <a:rPr lang="en-US" altLang="zh-CN">
                        <a:latin typeface="Cambria Math" panose="02040503050406030204" pitchFamily="18" charset="0"/>
                      </a:rPr>
                      <m:t>)</m:t>
                    </m:r>
                  </m:oMath>
                </a14:m>
                <a:r>
                  <a:rPr lang="en-US" altLang="zh-CN" dirty="0"/>
                  <a:t>=</a:t>
                </a:r>
                <a:r>
                  <a:rPr lang="en-US" altLang="zh-CN" dirty="0" smtClean="0"/>
                  <a:t>0</a:t>
                </a:r>
                <a:r>
                  <a:rPr lang="en-US" altLang="zh-CN" dirty="0"/>
                  <a:t>. </a:t>
                </a:r>
              </a:p>
              <a:p>
                <a:pPr lvl="1">
                  <a:lnSpc>
                    <a:spcPct val="110000"/>
                  </a:lnSpc>
                </a:pPr>
                <a14:m>
                  <m:oMath xmlns:m="http://schemas.openxmlformats.org/officeDocument/2006/math">
                    <m:sSup>
                      <m:sSupPr>
                        <m:ctrlPr>
                          <a:rPr lang="en-US" altLang="zh-CN" i="1">
                            <a:latin typeface="Cambria Math" panose="02040503050406030204" pitchFamily="18" charset="0"/>
                          </a:rPr>
                        </m:ctrlPr>
                      </m:sSupPr>
                      <m:e>
                        <m:r>
                          <a:rPr lang="en-US" altLang="zh-CN">
                            <a:latin typeface="Cambria Math" panose="02040503050406030204" pitchFamily="18" charset="0"/>
                          </a:rPr>
                          <m:t>𝑑𝑒𝑔</m:t>
                        </m:r>
                      </m:e>
                      <m:sup>
                        <m:r>
                          <a:rPr lang="en-US" altLang="zh-CN" b="0" i="0" smtClean="0">
                            <a:latin typeface="Cambria Math" panose="02040503050406030204" pitchFamily="18" charset="0"/>
                          </a:rPr>
                          <m:t>+</m:t>
                        </m:r>
                      </m:sup>
                    </m:sSup>
                    <m:r>
                      <a:rPr lang="en-US" altLang="zh-CN">
                        <a:latin typeface="Cambria Math" panose="02040503050406030204" pitchFamily="18" charset="0"/>
                      </a:rPr>
                      <m:t>(</m:t>
                    </m:r>
                    <m:r>
                      <a:rPr lang="en-US" altLang="zh-CN">
                        <a:latin typeface="Cambria Math" panose="02040503050406030204" pitchFamily="18" charset="0"/>
                      </a:rPr>
                      <m:t>𝑎</m:t>
                    </m:r>
                    <m:r>
                      <a:rPr lang="en-US" altLang="zh-CN" smtClean="0">
                        <a:latin typeface="Cambria Math" panose="02040503050406030204" pitchFamily="18" charset="0"/>
                      </a:rPr>
                      <m:t>)</m:t>
                    </m:r>
                  </m:oMath>
                </a14:m>
                <a:r>
                  <a:rPr lang="en-US" altLang="zh-CN" dirty="0"/>
                  <a:t>=4, </a:t>
                </a:r>
                <a14:m>
                  <m:oMath xmlns:m="http://schemas.openxmlformats.org/officeDocument/2006/math">
                    <m:sSup>
                      <m:sSupPr>
                        <m:ctrlPr>
                          <a:rPr lang="en-US" altLang="zh-CN" i="1">
                            <a:latin typeface="Cambria Math" panose="02040503050406030204" pitchFamily="18" charset="0"/>
                          </a:rPr>
                        </m:ctrlPr>
                      </m:sSupPr>
                      <m:e>
                        <m:r>
                          <a:rPr lang="en-US" altLang="zh-CN">
                            <a:latin typeface="Cambria Math" panose="02040503050406030204" pitchFamily="18" charset="0"/>
                          </a:rPr>
                          <m:t>𝑑𝑒𝑔</m:t>
                        </m:r>
                      </m:e>
                      <m:sup>
                        <m:r>
                          <a:rPr lang="en-US" altLang="zh-CN">
                            <a:latin typeface="Cambria Math" panose="02040503050406030204" pitchFamily="18" charset="0"/>
                          </a:rPr>
                          <m:t>+</m:t>
                        </m:r>
                      </m:sup>
                    </m:sSup>
                    <m:r>
                      <a:rPr lang="en-US" altLang="zh-CN">
                        <a:latin typeface="Cambria Math" panose="02040503050406030204" pitchFamily="18" charset="0"/>
                      </a:rPr>
                      <m:t>(</m:t>
                    </m:r>
                    <m:r>
                      <a:rPr lang="en-US" altLang="zh-CN" b="0" i="1" smtClean="0">
                        <a:latin typeface="Cambria Math" panose="02040503050406030204" pitchFamily="18" charset="0"/>
                      </a:rPr>
                      <m:t>𝑏</m:t>
                    </m:r>
                    <m:r>
                      <a:rPr lang="en-US" altLang="zh-CN">
                        <a:latin typeface="Cambria Math" panose="02040503050406030204" pitchFamily="18" charset="0"/>
                      </a:rPr>
                      <m:t>)</m:t>
                    </m:r>
                  </m:oMath>
                </a14:m>
                <a:r>
                  <a:rPr lang="en-US" altLang="zh-CN" dirty="0"/>
                  <a:t>=1, </a:t>
                </a:r>
                <a14:m>
                  <m:oMath xmlns:m="http://schemas.openxmlformats.org/officeDocument/2006/math">
                    <m:sSup>
                      <m:sSupPr>
                        <m:ctrlPr>
                          <a:rPr lang="en-US" altLang="zh-CN" i="1">
                            <a:latin typeface="Cambria Math" panose="02040503050406030204" pitchFamily="18" charset="0"/>
                          </a:rPr>
                        </m:ctrlPr>
                      </m:sSupPr>
                      <m:e>
                        <m:r>
                          <a:rPr lang="en-US" altLang="zh-CN">
                            <a:latin typeface="Cambria Math" panose="02040503050406030204" pitchFamily="18" charset="0"/>
                          </a:rPr>
                          <m:t>𝑑𝑒𝑔</m:t>
                        </m:r>
                      </m:e>
                      <m:sup>
                        <m:r>
                          <a:rPr lang="en-US" altLang="zh-CN">
                            <a:latin typeface="Cambria Math" panose="02040503050406030204" pitchFamily="18" charset="0"/>
                          </a:rPr>
                          <m:t>+</m:t>
                        </m:r>
                      </m:sup>
                    </m:sSup>
                    <m:r>
                      <a:rPr lang="en-US" altLang="zh-CN">
                        <a:latin typeface="Cambria Math" panose="02040503050406030204" pitchFamily="18" charset="0"/>
                      </a:rPr>
                      <m:t>(</m:t>
                    </m:r>
                    <m:r>
                      <a:rPr lang="en-US" altLang="zh-CN" b="0" i="1" smtClean="0">
                        <a:latin typeface="Cambria Math" panose="02040503050406030204" pitchFamily="18" charset="0"/>
                      </a:rPr>
                      <m:t>𝑐</m:t>
                    </m:r>
                    <m:r>
                      <a:rPr lang="en-US" altLang="zh-CN">
                        <a:latin typeface="Cambria Math" panose="02040503050406030204" pitchFamily="18" charset="0"/>
                      </a:rPr>
                      <m:t>)</m:t>
                    </m:r>
                  </m:oMath>
                </a14:m>
                <a:r>
                  <a:rPr lang="en-US" altLang="zh-CN" dirty="0" smtClean="0"/>
                  <a:t>=</a:t>
                </a:r>
                <a:r>
                  <a:rPr lang="en-US" altLang="zh-CN" dirty="0"/>
                  <a:t>2, </a:t>
                </a:r>
                <a14:m>
                  <m:oMath xmlns:m="http://schemas.openxmlformats.org/officeDocument/2006/math">
                    <m:sSup>
                      <m:sSupPr>
                        <m:ctrlPr>
                          <a:rPr lang="en-US" altLang="zh-CN" i="1">
                            <a:latin typeface="Cambria Math" panose="02040503050406030204" pitchFamily="18" charset="0"/>
                          </a:rPr>
                        </m:ctrlPr>
                      </m:sSupPr>
                      <m:e>
                        <m:r>
                          <a:rPr lang="en-US" altLang="zh-CN">
                            <a:latin typeface="Cambria Math" panose="02040503050406030204" pitchFamily="18" charset="0"/>
                          </a:rPr>
                          <m:t>𝑑𝑒𝑔</m:t>
                        </m:r>
                      </m:e>
                      <m:sup>
                        <m:r>
                          <a:rPr lang="en-US" altLang="zh-CN">
                            <a:latin typeface="Cambria Math" panose="02040503050406030204" pitchFamily="18" charset="0"/>
                          </a:rPr>
                          <m:t>+</m:t>
                        </m:r>
                      </m:sup>
                    </m:sSup>
                    <m:r>
                      <a:rPr lang="en-US" altLang="zh-CN">
                        <a:latin typeface="Cambria Math" panose="02040503050406030204" pitchFamily="18" charset="0"/>
                      </a:rPr>
                      <m:t>(</m:t>
                    </m:r>
                    <m:r>
                      <a:rPr lang="en-US" altLang="zh-CN" b="0" i="1" smtClean="0">
                        <a:latin typeface="Cambria Math" panose="02040503050406030204" pitchFamily="18" charset="0"/>
                      </a:rPr>
                      <m:t>𝑑</m:t>
                    </m:r>
                    <m:r>
                      <a:rPr lang="en-US" altLang="zh-CN">
                        <a:latin typeface="Cambria Math" panose="02040503050406030204" pitchFamily="18" charset="0"/>
                      </a:rPr>
                      <m:t>)</m:t>
                    </m:r>
                  </m:oMath>
                </a14:m>
                <a:r>
                  <a:rPr lang="en-US" altLang="zh-CN" dirty="0"/>
                  <a:t>=2, </a:t>
                </a:r>
                <a14:m>
                  <m:oMath xmlns:m="http://schemas.openxmlformats.org/officeDocument/2006/math">
                    <m:sSup>
                      <m:sSupPr>
                        <m:ctrlPr>
                          <a:rPr lang="en-US" altLang="zh-CN" i="1">
                            <a:latin typeface="Cambria Math" panose="02040503050406030204" pitchFamily="18" charset="0"/>
                          </a:rPr>
                        </m:ctrlPr>
                      </m:sSupPr>
                      <m:e>
                        <m:r>
                          <a:rPr lang="en-US" altLang="zh-CN">
                            <a:latin typeface="Cambria Math" panose="02040503050406030204" pitchFamily="18" charset="0"/>
                          </a:rPr>
                          <m:t>𝑑𝑒𝑔</m:t>
                        </m:r>
                      </m:e>
                      <m:sup>
                        <m:r>
                          <a:rPr lang="en-US" altLang="zh-CN">
                            <a:latin typeface="Cambria Math" panose="02040503050406030204" pitchFamily="18" charset="0"/>
                          </a:rPr>
                          <m:t>+</m:t>
                        </m:r>
                      </m:sup>
                    </m:sSup>
                    <m:r>
                      <a:rPr lang="en-US" altLang="zh-CN">
                        <a:latin typeface="Cambria Math" panose="02040503050406030204" pitchFamily="18" charset="0"/>
                      </a:rPr>
                      <m:t>(</m:t>
                    </m:r>
                    <m:r>
                      <a:rPr lang="en-US" altLang="zh-CN" b="0" i="1" smtClean="0">
                        <a:latin typeface="Cambria Math" panose="02040503050406030204" pitchFamily="18" charset="0"/>
                      </a:rPr>
                      <m:t>𝑒</m:t>
                    </m:r>
                    <m:r>
                      <a:rPr lang="en-US" altLang="zh-CN">
                        <a:latin typeface="Cambria Math" panose="02040503050406030204" pitchFamily="18" charset="0"/>
                      </a:rPr>
                      <m:t>)</m:t>
                    </m:r>
                  </m:oMath>
                </a14:m>
                <a:r>
                  <a:rPr lang="en-US" altLang="zh-CN" dirty="0"/>
                  <a:t>=3, </a:t>
                </a:r>
                <a14:m>
                  <m:oMath xmlns:m="http://schemas.openxmlformats.org/officeDocument/2006/math">
                    <m:sSup>
                      <m:sSupPr>
                        <m:ctrlPr>
                          <a:rPr lang="en-US" altLang="zh-CN" i="1">
                            <a:latin typeface="Cambria Math" panose="02040503050406030204" pitchFamily="18" charset="0"/>
                          </a:rPr>
                        </m:ctrlPr>
                      </m:sSupPr>
                      <m:e>
                        <m:r>
                          <a:rPr lang="en-US" altLang="zh-CN">
                            <a:latin typeface="Cambria Math" panose="02040503050406030204" pitchFamily="18" charset="0"/>
                          </a:rPr>
                          <m:t>𝑑𝑒𝑔</m:t>
                        </m:r>
                      </m:e>
                      <m:sup>
                        <m:r>
                          <a:rPr lang="en-US" altLang="zh-CN">
                            <a:latin typeface="Cambria Math" panose="02040503050406030204" pitchFamily="18" charset="0"/>
                          </a:rPr>
                          <m:t>+</m:t>
                        </m:r>
                      </m:sup>
                    </m:sSup>
                    <m:r>
                      <a:rPr lang="en-US" altLang="zh-CN">
                        <a:latin typeface="Cambria Math" panose="02040503050406030204" pitchFamily="18" charset="0"/>
                      </a:rPr>
                      <m:t>(</m:t>
                    </m:r>
                    <m:r>
                      <a:rPr lang="en-US" altLang="zh-CN" b="0" i="1" smtClean="0">
                        <a:latin typeface="Cambria Math" panose="02040503050406030204" pitchFamily="18" charset="0"/>
                      </a:rPr>
                      <m:t>𝑓</m:t>
                    </m:r>
                    <m:r>
                      <a:rPr lang="en-US" altLang="zh-CN">
                        <a:latin typeface="Cambria Math" panose="02040503050406030204" pitchFamily="18" charset="0"/>
                      </a:rPr>
                      <m:t>)</m:t>
                    </m:r>
                  </m:oMath>
                </a14:m>
                <a:r>
                  <a:rPr lang="en-US" altLang="zh-CN" dirty="0"/>
                  <a:t>=0</a:t>
                </a:r>
                <a:r>
                  <a:rPr lang="en-US" altLang="zh-CN" dirty="0" smtClean="0"/>
                  <a:t>.</a:t>
                </a:r>
                <a:endParaRPr lang="en-US" altLang="zh-CN"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310" r="-277"/>
                </a:stretch>
              </a:blipFill>
            </p:spPr>
            <p:txBody>
              <a:bodyPr/>
              <a:lstStyle/>
              <a:p>
                <a:r>
                  <a:rPr lang="zh-CN" altLang="en-US">
                    <a:noFill/>
                  </a:rPr>
                  <a:t> </a:t>
                </a:r>
              </a:p>
            </p:txBody>
          </p:sp>
        </mc:Fallback>
      </mc:AlternateContent>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73849" y="2736515"/>
            <a:ext cx="2770251" cy="1826097"/>
          </a:xfrm>
          <a:prstGeom prst="rect">
            <a:avLst/>
          </a:prstGeom>
        </p:spPr>
      </p:pic>
      <p:sp>
        <p:nvSpPr>
          <p:cNvPr id="9" name="日期占位符 8"/>
          <p:cNvSpPr>
            <a:spLocks noGrp="1"/>
          </p:cNvSpPr>
          <p:nvPr>
            <p:ph type="dt" sz="half" idx="10"/>
          </p:nvPr>
        </p:nvSpPr>
        <p:spPr/>
        <p:txBody>
          <a:bodyPr/>
          <a:lstStyle/>
          <a:p>
            <a:fld id="{10E6E5D8-6456-4866-BECB-23E689448DA0}" type="datetime1">
              <a:rPr lang="zh-CN" altLang="en-US" smtClean="0"/>
              <a:t>2025/4/15</a:t>
            </a:fld>
            <a:endParaRPr lang="zh-CN" altLang="en-US" dirty="0"/>
          </a:p>
        </p:txBody>
      </p:sp>
      <p:sp>
        <p:nvSpPr>
          <p:cNvPr id="10" name="页脚占位符 9"/>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11" name="灯片编号占位符 10"/>
          <p:cNvSpPr>
            <a:spLocks noGrp="1"/>
          </p:cNvSpPr>
          <p:nvPr>
            <p:ph type="sldNum" sz="quarter" idx="12"/>
          </p:nvPr>
        </p:nvSpPr>
        <p:spPr/>
        <p:txBody>
          <a:bodyPr/>
          <a:lstStyle/>
          <a:p>
            <a:fld id="{67913A8A-9EFB-4B5F-9CCB-3D21173FAA85}" type="slidenum">
              <a:rPr lang="zh-CN" altLang="en-US" smtClean="0"/>
              <a:pPr/>
              <a:t>30</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wipe(down)">
                                      <p:cBhvr>
                                        <p:cTn id="7" dur="500"/>
                                        <p:tgtEl>
                                          <p:spTgt spid="3">
                                            <p:txEl>
                                              <p:pRg st="4" end="4"/>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wipe(down)">
                                      <p:cBhvr>
                                        <p:cTn id="10" dur="500"/>
                                        <p:tgtEl>
                                          <p:spTgt spid="3">
                                            <p:txEl>
                                              <p:pRg st="5" end="5"/>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wipe(down)">
                                      <p:cBhvr>
                                        <p:cTn id="13"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457200" y="1143000"/>
            <a:ext cx="11277599" cy="16764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基本术语</a:t>
            </a:r>
            <a:endParaRPr lang="en-US" dirty="0"/>
          </a:p>
        </p:txBody>
      </p:sp>
      <p:sp>
        <p:nvSpPr>
          <p:cNvPr id="3" name="Content Placeholder 2"/>
          <p:cNvSpPr>
            <a:spLocks noGrp="1"/>
          </p:cNvSpPr>
          <p:nvPr>
            <p:ph idx="1"/>
          </p:nvPr>
        </p:nvSpPr>
        <p:spPr/>
        <p:txBody>
          <a:bodyPr>
            <a:normAutofit/>
          </a:bodyPr>
          <a:lstStyle/>
          <a:p>
            <a:r>
              <a:rPr lang="zh-CN" altLang="en-US" dirty="0" smtClean="0"/>
              <a:t>定理</a:t>
            </a:r>
            <a:r>
              <a:rPr lang="en-US" altLang="zh-CN" dirty="0" smtClean="0"/>
              <a:t>: </a:t>
            </a:r>
            <a:r>
              <a:rPr lang="zh-CN" altLang="en-US" dirty="0" smtClean="0"/>
              <a:t>设</a:t>
            </a:r>
            <a:r>
              <a:rPr lang="en-US" dirty="0" smtClean="0"/>
              <a:t>G = (V, E)</a:t>
            </a:r>
            <a:r>
              <a:rPr lang="zh-CN" altLang="en-US" dirty="0" smtClean="0"/>
              <a:t>是带有有向边的图</a:t>
            </a:r>
            <a:r>
              <a:rPr lang="en-US" altLang="zh-CN" dirty="0" smtClean="0"/>
              <a:t>, </a:t>
            </a:r>
            <a:r>
              <a:rPr lang="zh-CN" altLang="en-US" dirty="0" smtClean="0"/>
              <a:t>于是</a:t>
            </a:r>
            <a:r>
              <a:rPr lang="en-US" dirty="0" smtClean="0"/>
              <a:t>: </a:t>
            </a:r>
          </a:p>
          <a:p>
            <a:endParaRPr lang="en-US" dirty="0" smtClean="0"/>
          </a:p>
          <a:p>
            <a:endParaRPr lang="en-US" dirty="0" smtClean="0"/>
          </a:p>
          <a:p>
            <a:endParaRPr lang="en-US" dirty="0" smtClean="0"/>
          </a:p>
          <a:p>
            <a:endParaRPr lang="en-US" dirty="0" smtClean="0"/>
          </a:p>
          <a:p>
            <a:r>
              <a:rPr lang="zh-CN" altLang="en-US" dirty="0" smtClean="0"/>
              <a:t>证明</a:t>
            </a:r>
            <a:r>
              <a:rPr lang="en-US" dirty="0" smtClean="0"/>
              <a:t>: </a:t>
            </a:r>
            <a:r>
              <a:rPr lang="zh-CN" altLang="en-US" dirty="0" smtClean="0"/>
              <a:t>因为每条边都有一个起点和一个终点</a:t>
            </a:r>
            <a:r>
              <a:rPr lang="en-US" altLang="zh-CN" dirty="0" smtClean="0"/>
              <a:t>, </a:t>
            </a:r>
            <a:r>
              <a:rPr lang="zh-CN" altLang="en-US" dirty="0" smtClean="0"/>
              <a:t>所以在带有有向边的图中</a:t>
            </a:r>
            <a:r>
              <a:rPr lang="en-US" altLang="zh-CN" dirty="0" smtClean="0"/>
              <a:t>, </a:t>
            </a:r>
            <a:r>
              <a:rPr lang="zh-CN" altLang="en-US" dirty="0" smtClean="0"/>
              <a:t>所有顶点的入度之和与所有顶点的出度之和相同</a:t>
            </a:r>
            <a:r>
              <a:rPr lang="en-US" altLang="zh-CN" dirty="0" smtClean="0"/>
              <a:t>. </a:t>
            </a:r>
            <a:r>
              <a:rPr lang="zh-CN" altLang="en-US" dirty="0" smtClean="0"/>
              <a:t>这两个和都等于图中的边数</a:t>
            </a:r>
            <a:r>
              <a:rPr lang="en-US" altLang="zh-CN" dirty="0" smtClean="0"/>
              <a:t>.</a:t>
            </a:r>
            <a:endParaRPr lang="en-US" dirty="0" smtClean="0"/>
          </a:p>
          <a:p>
            <a:endParaRPr lang="en-US" dirty="0"/>
          </a:p>
        </p:txBody>
      </p:sp>
      <p:pic>
        <p:nvPicPr>
          <p:cNvPr id="4" name="Picture 3"/>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3200400" y="1828800"/>
            <a:ext cx="5537835" cy="837248"/>
          </a:xfrm>
          <a:prstGeom prst="rect">
            <a:avLst/>
          </a:prstGeom>
        </p:spPr>
      </p:pic>
      <p:sp>
        <p:nvSpPr>
          <p:cNvPr id="8" name="日期占位符 7"/>
          <p:cNvSpPr>
            <a:spLocks noGrp="1"/>
          </p:cNvSpPr>
          <p:nvPr>
            <p:ph type="dt" sz="half" idx="10"/>
          </p:nvPr>
        </p:nvSpPr>
        <p:spPr/>
        <p:txBody>
          <a:bodyPr/>
          <a:lstStyle/>
          <a:p>
            <a:fld id="{9984A87E-E65A-4573-862A-47759680A76F}" type="datetime1">
              <a:rPr lang="zh-CN" altLang="en-US" smtClean="0"/>
              <a:t>2025/4/15</a:t>
            </a:fld>
            <a:endParaRPr lang="zh-CN" altLang="en-US" dirty="0"/>
          </a:p>
        </p:txBody>
      </p:sp>
      <p:sp>
        <p:nvSpPr>
          <p:cNvPr id="9" name="页脚占位符 8"/>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10" name="灯片编号占位符 9"/>
          <p:cNvSpPr>
            <a:spLocks noGrp="1"/>
          </p:cNvSpPr>
          <p:nvPr>
            <p:ph type="sldNum" sz="quarter" idx="12"/>
          </p:nvPr>
        </p:nvSpPr>
        <p:spPr/>
        <p:txBody>
          <a:bodyPr/>
          <a:lstStyle/>
          <a:p>
            <a:fld id="{67913A8A-9EFB-4B5F-9CCB-3D21173FAA85}" type="slidenum">
              <a:rPr lang="zh-CN" altLang="en-US" smtClean="0"/>
              <a:pPr/>
              <a:t>31</a:t>
            </a:fld>
            <a:endParaRPr lang="zh-CN" alt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57200" y="1143000"/>
            <a:ext cx="11277599" cy="19050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smtClean="0"/>
              <a:t>一些特殊的简单图</a:t>
            </a:r>
            <a:r>
              <a:rPr lang="en-US" altLang="zh-CN" dirty="0" smtClean="0"/>
              <a:t>-</a:t>
            </a:r>
            <a:r>
              <a:rPr lang="zh-CN" altLang="en-US" dirty="0" smtClean="0"/>
              <a:t>完全图</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smtClean="0"/>
                  <a:t>定义</a:t>
                </a:r>
                <a:r>
                  <a:rPr lang="en-US" altLang="zh-CN" dirty="0" smtClean="0"/>
                  <a:t>: </a:t>
                </a:r>
                <a14:m>
                  <m:oMath xmlns:m="http://schemas.openxmlformats.org/officeDocument/2006/math">
                    <m:r>
                      <a:rPr lang="en-US" altLang="zh-CN" i="1">
                        <a:latin typeface="Cambria Math" panose="02040503050406030204" pitchFamily="18" charset="0"/>
                      </a:rPr>
                      <m:t>𝑛</m:t>
                    </m:r>
                  </m:oMath>
                </a14:m>
                <a:r>
                  <a:rPr lang="zh-CN" altLang="en-US" dirty="0" smtClean="0"/>
                  <a:t>个顶点的</a:t>
                </a:r>
                <a:r>
                  <a:rPr lang="zh-CN" altLang="en-US" b="1" dirty="0" smtClean="0">
                    <a:solidFill>
                      <a:srgbClr val="C00000"/>
                    </a:solidFill>
                  </a:rPr>
                  <a:t>完全图</a:t>
                </a:r>
                <a14:m>
                  <m:oMath xmlns:m="http://schemas.openxmlformats.org/officeDocument/2006/math">
                    <m:sSub>
                      <m:sSubPr>
                        <m:ctrlPr>
                          <a:rPr lang="en-US" altLang="zh-CN" b="1" i="1" smtClean="0">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𝑲</m:t>
                        </m:r>
                      </m:e>
                      <m:sub>
                        <m:r>
                          <a:rPr lang="en-US" altLang="zh-CN" b="1" i="1" smtClean="0">
                            <a:solidFill>
                              <a:srgbClr val="C00000"/>
                            </a:solidFill>
                            <a:latin typeface="Cambria Math" panose="02040503050406030204" pitchFamily="18" charset="0"/>
                          </a:rPr>
                          <m:t>𝒏</m:t>
                        </m:r>
                      </m:sub>
                    </m:sSub>
                  </m:oMath>
                </a14:m>
                <a:r>
                  <a:rPr lang="en-US" altLang="zh-CN" dirty="0" smtClean="0"/>
                  <a:t>, </a:t>
                </a:r>
                <a:r>
                  <a:rPr lang="zh-CN" altLang="en-US" dirty="0" smtClean="0"/>
                  <a:t>是在每对不同顶点之间都恰好有一条边的简单图</a:t>
                </a:r>
                <a:r>
                  <a:rPr lang="en-US" altLang="zh-CN" dirty="0" smtClean="0"/>
                  <a:t>.</a:t>
                </a:r>
              </a:p>
              <a:p>
                <a:r>
                  <a:rPr lang="zh-CN" altLang="en-US" dirty="0" smtClean="0"/>
                  <a:t>如果图中至少有一对不同的顶点不存在边和边相连的简单图</a:t>
                </a:r>
                <a:r>
                  <a:rPr lang="en-US" altLang="zh-CN" dirty="0" smtClean="0"/>
                  <a:t>, </a:t>
                </a:r>
                <a:r>
                  <a:rPr lang="zh-CN" altLang="en-US" dirty="0" smtClean="0"/>
                  <a:t>则称为</a:t>
                </a:r>
                <a:r>
                  <a:rPr lang="zh-CN" altLang="en-US" b="1" dirty="0" smtClean="0">
                    <a:solidFill>
                      <a:srgbClr val="C00000"/>
                    </a:solidFill>
                  </a:rPr>
                  <a:t>非完全图</a:t>
                </a:r>
                <a:r>
                  <a:rPr lang="en-US" dirty="0" smtClean="0"/>
                  <a:t>. </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310"/>
                </a:stretch>
              </a:blipFill>
            </p:spPr>
            <p:txBody>
              <a:bodyPr/>
              <a:lstStyle/>
              <a:p>
                <a:r>
                  <a:rPr lang="zh-CN" altLang="en-US">
                    <a:noFill/>
                  </a:rPr>
                  <a:t> </a:t>
                </a:r>
              </a:p>
            </p:txBody>
          </p:sp>
        </mc:Fallback>
      </mc:AlternateContent>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43000" y="3581400"/>
            <a:ext cx="8989472" cy="1726660"/>
          </a:xfrm>
          <a:prstGeom prst="rect">
            <a:avLst/>
          </a:prstGeom>
        </p:spPr>
      </p:pic>
      <p:sp>
        <p:nvSpPr>
          <p:cNvPr id="7" name="日期占位符 6"/>
          <p:cNvSpPr>
            <a:spLocks noGrp="1"/>
          </p:cNvSpPr>
          <p:nvPr>
            <p:ph type="dt" sz="half" idx="10"/>
          </p:nvPr>
        </p:nvSpPr>
        <p:spPr/>
        <p:txBody>
          <a:bodyPr/>
          <a:lstStyle/>
          <a:p>
            <a:fld id="{9E2A83B9-7041-4969-93B4-698E211F4B02}"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32</a:t>
            </a:fld>
            <a:endParaRPr lang="zh-CN" altLang="en-US" dirty="0"/>
          </a:p>
        </p:txBody>
      </p:sp>
    </p:spTree>
    <p:extLst>
      <p:ext uri="{BB962C8B-B14F-4D97-AF65-F5344CB8AC3E}">
        <p14:creationId xmlns:p14="http://schemas.microsoft.com/office/powerpoint/2010/main" val="413282884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457200" y="1143000"/>
            <a:ext cx="11277599" cy="9144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一些特殊的简单图</a:t>
            </a:r>
            <a:r>
              <a:rPr lang="en-US" altLang="zh-CN" dirty="0" smtClean="0"/>
              <a:t>-</a:t>
            </a:r>
            <a:r>
              <a:rPr lang="zh-CN" altLang="en-US" dirty="0" smtClean="0"/>
              <a:t>圈图</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smtClean="0"/>
                  <a:t>定义</a:t>
                </a:r>
                <a:r>
                  <a:rPr lang="en-US" altLang="zh-CN" dirty="0" smtClean="0"/>
                  <a:t>: </a:t>
                </a:r>
                <a:r>
                  <a:rPr lang="zh-CN" altLang="en-US" b="1" dirty="0" smtClean="0">
                    <a:solidFill>
                      <a:srgbClr val="C00000"/>
                    </a:solidFill>
                  </a:rPr>
                  <a:t>圈图</a:t>
                </a:r>
                <a14:m>
                  <m:oMath xmlns:m="http://schemas.openxmlformats.org/officeDocument/2006/math">
                    <m:sSub>
                      <m:sSubPr>
                        <m:ctrlPr>
                          <a:rPr lang="en-US" altLang="zh-CN" b="1" i="1">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𝑪</m:t>
                        </m:r>
                      </m:e>
                      <m:sub>
                        <m:r>
                          <a:rPr lang="en-US" altLang="zh-CN" b="1" i="1">
                            <a:solidFill>
                              <a:srgbClr val="C00000"/>
                            </a:solidFill>
                            <a:latin typeface="Cambria Math" panose="02040503050406030204" pitchFamily="18" charset="0"/>
                          </a:rPr>
                          <m:t>𝒏</m:t>
                        </m:r>
                      </m:sub>
                    </m:sSub>
                  </m:oMath>
                </a14:m>
                <a:r>
                  <a:rPr lang="en-US" altLang="zh-CN" dirty="0" smtClean="0"/>
                  <a:t>(</a:t>
                </a:r>
                <a14:m>
                  <m:oMath xmlns:m="http://schemas.openxmlformats.org/officeDocument/2006/math">
                    <m:r>
                      <a:rPr lang="en-US" altLang="zh-CN" i="1">
                        <a:latin typeface="Cambria Math" panose="02040503050406030204" pitchFamily="18" charset="0"/>
                      </a:rPr>
                      <m:t>𝑛</m:t>
                    </m:r>
                    <m:r>
                      <a:rPr lang="en-US" altLang="zh-CN" i="1">
                        <a:latin typeface="Cambria Math" panose="02040503050406030204" pitchFamily="18" charset="0"/>
                      </a:rPr>
                      <m:t> </m:t>
                    </m:r>
                  </m:oMath>
                </a14:m>
                <a:r>
                  <a:rPr lang="en-US" dirty="0" smtClean="0"/>
                  <a:t>≥3</a:t>
                </a:r>
                <a:r>
                  <a:rPr lang="en-US" altLang="zh-CN" dirty="0" smtClean="0"/>
                  <a:t>)</a:t>
                </a:r>
                <a:r>
                  <a:rPr lang="zh-CN" altLang="en-US" dirty="0" smtClean="0"/>
                  <a:t>是由</a:t>
                </a:r>
                <a14:m>
                  <m:oMath xmlns:m="http://schemas.openxmlformats.org/officeDocument/2006/math">
                    <m:r>
                      <a:rPr lang="en-US" altLang="zh-CN" i="1">
                        <a:latin typeface="Cambria Math" panose="02040503050406030204" pitchFamily="18" charset="0"/>
                      </a:rPr>
                      <m:t>𝑛</m:t>
                    </m:r>
                  </m:oMath>
                </a14:m>
                <a:r>
                  <a:rPr lang="zh-CN" altLang="en-US" dirty="0" smtClean="0"/>
                  <a:t>个顶点</a:t>
                </a:r>
                <a14:m>
                  <m:oMath xmlns:m="http://schemas.openxmlformats.org/officeDocument/2006/math">
                    <m:sSub>
                      <m:sSubPr>
                        <m:ctrlPr>
                          <a:rPr lang="en-US" altLang="zh-CN" i="1" smtClean="0">
                            <a:solidFill>
                              <a:schemeClr val="tx1"/>
                            </a:solidFill>
                            <a:latin typeface="Cambria Math" panose="02040503050406030204" pitchFamily="18" charset="0"/>
                          </a:rPr>
                        </m:ctrlPr>
                      </m:sSubPr>
                      <m:e>
                        <m:r>
                          <m:rPr>
                            <m:sty m:val="p"/>
                          </m:rPr>
                          <a:rPr lang="en-US" altLang="zh-CN" b="0" i="1">
                            <a:latin typeface="Cambria Math" panose="02040503050406030204" pitchFamily="18" charset="0"/>
                          </a:rPr>
                          <m:t>V</m:t>
                        </m:r>
                      </m:e>
                      <m:sub>
                        <m:r>
                          <a:rPr lang="en-US" altLang="zh-CN" b="0" i="1" smtClean="0">
                            <a:solidFill>
                              <a:schemeClr val="tx1"/>
                            </a:solidFill>
                            <a:latin typeface="Cambria Math" panose="02040503050406030204" pitchFamily="18" charset="0"/>
                          </a:rPr>
                          <m:t>1</m:t>
                        </m:r>
                      </m:sub>
                    </m:sSub>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b="0" i="1" smtClean="0">
                            <a:latin typeface="Cambria Math" panose="02040503050406030204" pitchFamily="18" charset="0"/>
                          </a:rPr>
                          <m:t>2</m:t>
                        </m:r>
                      </m:sub>
                    </m:sSub>
                  </m:oMath>
                </a14:m>
                <a:r>
                  <a:rPr lang="en-US" dirty="0" smtClean="0"/>
                  <a:t>, ⋯ ,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b="0" i="1" smtClean="0">
                            <a:latin typeface="Cambria Math" panose="02040503050406030204" pitchFamily="18" charset="0"/>
                          </a:rPr>
                          <m:t>𝑛</m:t>
                        </m:r>
                      </m:sub>
                    </m:sSub>
                  </m:oMath>
                </a14:m>
                <a:r>
                  <a:rPr lang="en-US" dirty="0" smtClean="0"/>
                  <a:t>, </a:t>
                </a:r>
                <a:r>
                  <a:rPr lang="zh-CN" altLang="en-US" dirty="0" smtClean="0"/>
                  <a:t>以及边</a:t>
                </a:r>
                <a:r>
                  <a:rPr lang="en-US" dirty="0" smtClean="0"/>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i="1">
                            <a:latin typeface="Cambria Math" panose="02040503050406030204" pitchFamily="18" charset="0"/>
                          </a:rPr>
                          <m:t>1</m:t>
                        </m:r>
                      </m:sub>
                    </m:sSub>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b="0" i="1" smtClean="0">
                            <a:latin typeface="Cambria Math" panose="02040503050406030204" pitchFamily="18" charset="0"/>
                          </a:rPr>
                          <m:t>2</m:t>
                        </m:r>
                      </m:sub>
                    </m:sSub>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b="0" i="1" smtClean="0">
                            <a:latin typeface="Cambria Math" panose="02040503050406030204" pitchFamily="18" charset="0"/>
                          </a:rPr>
                          <m:t>2</m:t>
                        </m:r>
                      </m:sub>
                    </m:sSub>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b="0" i="1" smtClean="0">
                            <a:latin typeface="Cambria Math" panose="02040503050406030204" pitchFamily="18" charset="0"/>
                          </a:rPr>
                          <m:t>3</m:t>
                        </m:r>
                      </m:sub>
                    </m:sSub>
                  </m:oMath>
                </a14:m>
                <a:r>
                  <a:rPr lang="en-US" dirty="0" smtClean="0"/>
                  <a:t>} , ⋯ ,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i="1">
                            <a:latin typeface="Cambria Math" panose="02040503050406030204" pitchFamily="18" charset="0"/>
                          </a:rPr>
                          <m:t>𝑛</m:t>
                        </m:r>
                        <m:r>
                          <a:rPr lang="en-US" altLang="zh-CN" b="0" i="1" smtClean="0">
                            <a:latin typeface="Cambria Math" panose="02040503050406030204" pitchFamily="18" charset="0"/>
                          </a:rPr>
                          <m:t>−1</m:t>
                        </m:r>
                      </m:sub>
                    </m:sSub>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i="1">
                            <a:latin typeface="Cambria Math" panose="02040503050406030204" pitchFamily="18" charset="0"/>
                          </a:rPr>
                          <m:t>𝑛</m:t>
                        </m:r>
                      </m:sub>
                    </m:sSub>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i="1">
                            <a:latin typeface="Cambria Math" panose="02040503050406030204" pitchFamily="18" charset="0"/>
                          </a:rPr>
                          <m:t>𝑛</m:t>
                        </m:r>
                      </m:sub>
                    </m:sSub>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i="1">
                            <a:latin typeface="Cambria Math" panose="02040503050406030204" pitchFamily="18" charset="0"/>
                          </a:rPr>
                          <m:t>1</m:t>
                        </m:r>
                      </m:sub>
                    </m:sSub>
                  </m:oMath>
                </a14:m>
                <a:r>
                  <a:rPr lang="en-US" dirty="0" smtClean="0"/>
                  <a:t>}</a:t>
                </a:r>
                <a:r>
                  <a:rPr lang="zh-CN" altLang="en-US" dirty="0" smtClean="0"/>
                  <a:t>组成的</a:t>
                </a:r>
                <a:r>
                  <a:rPr lang="en-US" altLang="zh-CN" dirty="0" smtClean="0"/>
                  <a:t>.</a:t>
                </a:r>
                <a:endParaRPr lang="en-US" dirty="0" smtClean="0"/>
              </a:p>
              <a:p>
                <a:endParaRPr lang="en-US" dirty="0" smtClean="0"/>
              </a:p>
              <a:p>
                <a:endParaRPr lang="en-US" dirty="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667"/>
                </a:stretch>
              </a:blipFill>
            </p:spPr>
            <p:txBody>
              <a:bodyPr/>
              <a:lstStyle/>
              <a:p>
                <a:r>
                  <a:rPr lang="zh-CN" altLang="en-US">
                    <a:noFill/>
                  </a:rPr>
                  <a:t> </a:t>
                </a:r>
              </a:p>
            </p:txBody>
          </p:sp>
        </mc:Fallback>
      </mc:AlternateContent>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86000" y="2819400"/>
            <a:ext cx="7463614" cy="1981200"/>
          </a:xfrm>
          <a:prstGeom prst="rect">
            <a:avLst/>
          </a:prstGeom>
        </p:spPr>
      </p:pic>
      <p:sp>
        <p:nvSpPr>
          <p:cNvPr id="8" name="日期占位符 7"/>
          <p:cNvSpPr>
            <a:spLocks noGrp="1"/>
          </p:cNvSpPr>
          <p:nvPr>
            <p:ph type="dt" sz="half" idx="10"/>
          </p:nvPr>
        </p:nvSpPr>
        <p:spPr/>
        <p:txBody>
          <a:bodyPr/>
          <a:lstStyle/>
          <a:p>
            <a:fld id="{8E844DCC-12FB-4B57-AFB4-5D48B1C49BA2}" type="datetime1">
              <a:rPr lang="zh-CN" altLang="en-US" smtClean="0"/>
              <a:t>2025/4/15</a:t>
            </a:fld>
            <a:endParaRPr lang="zh-CN" altLang="en-US" dirty="0"/>
          </a:p>
        </p:txBody>
      </p:sp>
      <p:sp>
        <p:nvSpPr>
          <p:cNvPr id="9" name="页脚占位符 8"/>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10" name="灯片编号占位符 9"/>
          <p:cNvSpPr>
            <a:spLocks noGrp="1"/>
          </p:cNvSpPr>
          <p:nvPr>
            <p:ph type="sldNum" sz="quarter" idx="12"/>
          </p:nvPr>
        </p:nvSpPr>
        <p:spPr/>
        <p:txBody>
          <a:bodyPr/>
          <a:lstStyle/>
          <a:p>
            <a:fld id="{67913A8A-9EFB-4B5F-9CCB-3D21173FAA85}" type="slidenum">
              <a:rPr lang="zh-CN" altLang="en-US" smtClean="0"/>
              <a:pPr/>
              <a:t>33</a:t>
            </a:fld>
            <a:endParaRPr lang="zh-CN" altLang="en-US" dirty="0"/>
          </a:p>
        </p:txBody>
      </p:sp>
    </p:spTree>
    <p:extLst>
      <p:ext uri="{BB962C8B-B14F-4D97-AF65-F5344CB8AC3E}">
        <p14:creationId xmlns:p14="http://schemas.microsoft.com/office/powerpoint/2010/main" val="200038757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457200" y="1143000"/>
            <a:ext cx="11277599" cy="9144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一些特殊的简单图</a:t>
            </a:r>
            <a:r>
              <a:rPr lang="en-US" altLang="zh-CN" dirty="0" smtClean="0"/>
              <a:t>-</a:t>
            </a:r>
            <a:r>
              <a:rPr lang="zh-CN" altLang="en-US" dirty="0" smtClean="0"/>
              <a:t>轮图</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smtClean="0"/>
                  <a:t>定义</a:t>
                </a:r>
                <a:r>
                  <a:rPr lang="en-US" altLang="zh-CN" dirty="0" smtClean="0"/>
                  <a:t>: </a:t>
                </a:r>
                <a:r>
                  <a:rPr lang="zh-CN" altLang="en-US" dirty="0" smtClean="0"/>
                  <a:t>当给圈图</a:t>
                </a:r>
                <a14:m>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b="0" i="1">
                            <a:solidFill>
                              <a:schemeClr val="tx1"/>
                            </a:solidFill>
                            <a:latin typeface="Cambria Math" panose="02040503050406030204" pitchFamily="18" charset="0"/>
                          </a:rPr>
                          <m:t>𝐶</m:t>
                        </m:r>
                      </m:e>
                      <m:sub>
                        <m:r>
                          <a:rPr lang="en-US" altLang="zh-CN" b="0" i="1">
                            <a:solidFill>
                              <a:schemeClr val="tx1"/>
                            </a:solidFill>
                            <a:latin typeface="Cambria Math" panose="02040503050406030204" pitchFamily="18" charset="0"/>
                          </a:rPr>
                          <m:t>𝑛</m:t>
                        </m:r>
                      </m:sub>
                    </m:sSub>
                  </m:oMath>
                </a14:m>
                <a:r>
                  <a:rPr lang="en-US" altLang="zh-CN" dirty="0" smtClean="0"/>
                  <a:t>, </a:t>
                </a:r>
                <a14:m>
                  <m:oMath xmlns:m="http://schemas.openxmlformats.org/officeDocument/2006/math">
                    <m:r>
                      <a:rPr lang="en-US" altLang="zh-CN" i="1">
                        <a:latin typeface="Cambria Math" panose="02040503050406030204" pitchFamily="18" charset="0"/>
                      </a:rPr>
                      <m:t>𝑛</m:t>
                    </m:r>
                  </m:oMath>
                </a14:m>
                <a:r>
                  <a:rPr lang="en-US" dirty="0" smtClean="0"/>
                  <a:t>≥3 </a:t>
                </a:r>
                <a:r>
                  <a:rPr lang="en-US" altLang="zh-CN" dirty="0" smtClean="0"/>
                  <a:t>, </a:t>
                </a:r>
                <a:r>
                  <a:rPr lang="zh-CN" altLang="en-US" dirty="0" smtClean="0"/>
                  <a:t>添加另外一个顶点</a:t>
                </a:r>
                <a:r>
                  <a:rPr lang="en-US" altLang="zh-CN" dirty="0" smtClean="0"/>
                  <a:t>, </a:t>
                </a:r>
                <a:r>
                  <a:rPr lang="zh-CN" altLang="en-US" dirty="0" smtClean="0"/>
                  <a:t>并把这个新顶点与</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𝐶</m:t>
                        </m:r>
                      </m:e>
                      <m:sub>
                        <m:r>
                          <a:rPr lang="en-US" altLang="zh-CN" i="1">
                            <a:latin typeface="Cambria Math" panose="02040503050406030204" pitchFamily="18" charset="0"/>
                          </a:rPr>
                          <m:t>𝑛</m:t>
                        </m:r>
                      </m:sub>
                    </m:sSub>
                  </m:oMath>
                </a14:m>
                <a:r>
                  <a:rPr lang="zh-CN" altLang="en-US" dirty="0" smtClean="0"/>
                  <a:t>中的</a:t>
                </a:r>
                <a14:m>
                  <m:oMath xmlns:m="http://schemas.openxmlformats.org/officeDocument/2006/math">
                    <m:r>
                      <a:rPr lang="en-US" altLang="zh-CN" i="1">
                        <a:latin typeface="Cambria Math" panose="02040503050406030204" pitchFamily="18" charset="0"/>
                      </a:rPr>
                      <m:t>𝑛</m:t>
                    </m:r>
                  </m:oMath>
                </a14:m>
                <a:r>
                  <a:rPr lang="zh-CN" altLang="en-US" dirty="0" smtClean="0"/>
                  <a:t>个顶点逐个连接时</a:t>
                </a:r>
                <a:r>
                  <a:rPr lang="en-US" altLang="zh-CN" dirty="0" smtClean="0"/>
                  <a:t>, </a:t>
                </a:r>
                <a:r>
                  <a:rPr lang="zh-CN" altLang="en-US" dirty="0" smtClean="0"/>
                  <a:t>得到</a:t>
                </a:r>
                <a:r>
                  <a:rPr lang="zh-CN" altLang="en-US" b="1" dirty="0" smtClean="0">
                    <a:solidFill>
                      <a:srgbClr val="C00000"/>
                    </a:solidFill>
                  </a:rPr>
                  <a:t>轮图</a:t>
                </a:r>
                <a14:m>
                  <m:oMath xmlns:m="http://schemas.openxmlformats.org/officeDocument/2006/math">
                    <m:sSub>
                      <m:sSubPr>
                        <m:ctrlPr>
                          <a:rPr lang="en-US" altLang="zh-CN" b="1" i="1">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𝑾</m:t>
                        </m:r>
                      </m:e>
                      <m:sub>
                        <m:r>
                          <a:rPr lang="en-US" altLang="zh-CN" b="1" i="1">
                            <a:solidFill>
                              <a:srgbClr val="C00000"/>
                            </a:solidFill>
                            <a:latin typeface="Cambria Math" panose="02040503050406030204" pitchFamily="18" charset="0"/>
                          </a:rPr>
                          <m:t>𝒏</m:t>
                        </m:r>
                      </m:sub>
                    </m:sSub>
                  </m:oMath>
                </a14:m>
                <a:r>
                  <a:rPr lang="en-US" dirty="0" smtClean="0"/>
                  <a:t>.</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310"/>
                </a:stretch>
              </a:blipFill>
            </p:spPr>
            <p:txBody>
              <a:bodyPr/>
              <a:lstStyle/>
              <a:p>
                <a:r>
                  <a:rPr lang="zh-CN" altLang="en-US">
                    <a:noFill/>
                  </a:rPr>
                  <a:t> </a:t>
                </a:r>
              </a:p>
            </p:txBody>
          </p:sp>
        </mc:Fallback>
      </mc:AlternateContent>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6400" y="2564043"/>
            <a:ext cx="8013582" cy="2209800"/>
          </a:xfrm>
          <a:prstGeom prst="rect">
            <a:avLst/>
          </a:prstGeom>
        </p:spPr>
      </p:pic>
      <p:sp>
        <p:nvSpPr>
          <p:cNvPr id="8" name="日期占位符 7"/>
          <p:cNvSpPr>
            <a:spLocks noGrp="1"/>
          </p:cNvSpPr>
          <p:nvPr>
            <p:ph type="dt" sz="half" idx="10"/>
          </p:nvPr>
        </p:nvSpPr>
        <p:spPr/>
        <p:txBody>
          <a:bodyPr/>
          <a:lstStyle/>
          <a:p>
            <a:fld id="{9FBF9D55-3366-40F6-AB64-79F883727CA9}" type="datetime1">
              <a:rPr lang="zh-CN" altLang="en-US" smtClean="0"/>
              <a:t>2025/4/15</a:t>
            </a:fld>
            <a:endParaRPr lang="zh-CN" altLang="en-US" dirty="0"/>
          </a:p>
        </p:txBody>
      </p:sp>
      <p:sp>
        <p:nvSpPr>
          <p:cNvPr id="9" name="页脚占位符 8"/>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10" name="灯片编号占位符 9"/>
          <p:cNvSpPr>
            <a:spLocks noGrp="1"/>
          </p:cNvSpPr>
          <p:nvPr>
            <p:ph type="sldNum" sz="quarter" idx="12"/>
          </p:nvPr>
        </p:nvSpPr>
        <p:spPr/>
        <p:txBody>
          <a:bodyPr/>
          <a:lstStyle/>
          <a:p>
            <a:fld id="{67913A8A-9EFB-4B5F-9CCB-3D21173FAA85}" type="slidenum">
              <a:rPr lang="zh-CN" altLang="en-US" smtClean="0"/>
              <a:pPr/>
              <a:t>34</a:t>
            </a:fld>
            <a:endParaRPr lang="zh-CN" altLang="en-US" dirty="0"/>
          </a:p>
        </p:txBody>
      </p:sp>
    </p:spTree>
    <p:extLst>
      <p:ext uri="{BB962C8B-B14F-4D97-AF65-F5344CB8AC3E}">
        <p14:creationId xmlns:p14="http://schemas.microsoft.com/office/powerpoint/2010/main" val="316342688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457200" y="1143000"/>
            <a:ext cx="11277599" cy="9144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一些特殊的简单图</a:t>
            </a:r>
            <a:r>
              <a:rPr lang="en-US" altLang="zh-CN" dirty="0" smtClean="0"/>
              <a:t>-n</a:t>
            </a:r>
            <a:r>
              <a:rPr lang="zh-CN" altLang="en-US" dirty="0" smtClean="0"/>
              <a:t>立方体图</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smtClean="0"/>
                  <a:t>定义</a:t>
                </a:r>
                <a:r>
                  <a:rPr lang="en-US" altLang="zh-CN" dirty="0" smtClean="0"/>
                  <a:t>: </a:t>
                </a:r>
                <a:r>
                  <a:rPr lang="en-US" altLang="zh-CN" b="1" dirty="0" smtClean="0">
                    <a:solidFill>
                      <a:srgbClr val="C00000"/>
                    </a:solidFill>
                  </a:rPr>
                  <a:t>n</a:t>
                </a:r>
                <a:r>
                  <a:rPr lang="zh-CN" altLang="en-US" b="1" dirty="0">
                    <a:solidFill>
                      <a:srgbClr val="C00000"/>
                    </a:solidFill>
                  </a:rPr>
                  <a:t>立方体</a:t>
                </a:r>
                <a:r>
                  <a:rPr lang="zh-CN" altLang="en-US" b="1" dirty="0" smtClean="0">
                    <a:solidFill>
                      <a:srgbClr val="C00000"/>
                    </a:solidFill>
                  </a:rPr>
                  <a:t>图</a:t>
                </a:r>
                <a14:m>
                  <m:oMath xmlns:m="http://schemas.openxmlformats.org/officeDocument/2006/math">
                    <m:sSub>
                      <m:sSubPr>
                        <m:ctrlPr>
                          <a:rPr lang="en-US" altLang="zh-CN" b="1" i="1">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𝑸</m:t>
                        </m:r>
                      </m:e>
                      <m:sub>
                        <m:r>
                          <a:rPr lang="en-US" altLang="zh-CN" b="1" i="1">
                            <a:solidFill>
                              <a:srgbClr val="C00000"/>
                            </a:solidFill>
                            <a:latin typeface="Cambria Math" panose="02040503050406030204" pitchFamily="18" charset="0"/>
                          </a:rPr>
                          <m:t>𝒏</m:t>
                        </m:r>
                      </m:sub>
                    </m:sSub>
                  </m:oMath>
                </a14:m>
                <a:r>
                  <a:rPr lang="en-US" altLang="zh-CN" dirty="0" smtClean="0"/>
                  <a:t>, </a:t>
                </a:r>
                <a:r>
                  <a:rPr lang="zh-CN" altLang="en-US" dirty="0" smtClean="0"/>
                  <a:t>是用顶点表示</a:t>
                </a:r>
                <a14:m>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2</m:t>
                        </m:r>
                      </m:e>
                      <m:sup>
                        <m:r>
                          <a:rPr lang="en-US" altLang="zh-CN" b="0" i="1" smtClean="0">
                            <a:latin typeface="Cambria Math" panose="02040503050406030204" pitchFamily="18" charset="0"/>
                          </a:rPr>
                          <m:t>𝑛</m:t>
                        </m:r>
                      </m:sup>
                    </m:sSup>
                  </m:oMath>
                </a14:m>
                <a:r>
                  <a:rPr lang="zh-CN" altLang="en-US" dirty="0" smtClean="0"/>
                  <a:t>个长度为</a:t>
                </a:r>
                <a14:m>
                  <m:oMath xmlns:m="http://schemas.openxmlformats.org/officeDocument/2006/math">
                    <m:r>
                      <a:rPr lang="en-US" altLang="zh-CN" i="1">
                        <a:latin typeface="Cambria Math" panose="02040503050406030204" pitchFamily="18" charset="0"/>
                      </a:rPr>
                      <m:t>𝑛</m:t>
                    </m:r>
                  </m:oMath>
                </a14:m>
                <a:r>
                  <a:rPr lang="zh-CN" altLang="en-US" dirty="0" smtClean="0"/>
                  <a:t>的位串的图</a:t>
                </a:r>
                <a:r>
                  <a:rPr lang="en-US" altLang="zh-CN" dirty="0" smtClean="0"/>
                  <a:t>. </a:t>
                </a:r>
                <a:r>
                  <a:rPr lang="zh-CN" altLang="en-US" dirty="0" smtClean="0"/>
                  <a:t>两个顶点相邻</a:t>
                </a:r>
                <a:r>
                  <a:rPr lang="en-US" altLang="zh-CN" dirty="0" smtClean="0"/>
                  <a:t>, </a:t>
                </a:r>
                <a:r>
                  <a:rPr lang="zh-CN" altLang="en-US" dirty="0" smtClean="0"/>
                  <a:t>当且仅当他们所表示的位串恰恰有一位不同</a:t>
                </a:r>
                <a:r>
                  <a:rPr lang="en-US" altLang="zh-CN" dirty="0" smtClean="0"/>
                  <a:t>.</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310" r="-111"/>
                </a:stretch>
              </a:blipFill>
            </p:spPr>
            <p:txBody>
              <a:bodyPr/>
              <a:lstStyle/>
              <a:p>
                <a:r>
                  <a:rPr lang="zh-CN" altLang="en-US">
                    <a:noFill/>
                  </a:rPr>
                  <a:t> </a:t>
                </a:r>
              </a:p>
            </p:txBody>
          </p:sp>
        </mc:Fallback>
      </mc:AlternateContent>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895600" y="2711763"/>
            <a:ext cx="5811774" cy="2405818"/>
          </a:xfrm>
          <a:prstGeom prst="rect">
            <a:avLst/>
          </a:prstGeom>
        </p:spPr>
      </p:pic>
      <p:sp>
        <p:nvSpPr>
          <p:cNvPr id="5" name="TextBox 4"/>
          <p:cNvSpPr txBox="1"/>
          <p:nvPr/>
        </p:nvSpPr>
        <p:spPr>
          <a:xfrm>
            <a:off x="8915400" y="381000"/>
            <a:ext cx="762000" cy="369332"/>
          </a:xfrm>
          <a:prstGeom prst="rect">
            <a:avLst/>
          </a:prstGeom>
          <a:noFill/>
        </p:spPr>
        <p:txBody>
          <a:bodyPr wrap="square" rtlCol="0">
            <a:spAutoFit/>
          </a:bodyPr>
          <a:lstStyle/>
          <a:p>
            <a:r>
              <a:rPr lang="en-US" dirty="0"/>
              <a:t> </a:t>
            </a:r>
          </a:p>
        </p:txBody>
      </p:sp>
      <p:sp>
        <p:nvSpPr>
          <p:cNvPr id="8" name="日期占位符 7"/>
          <p:cNvSpPr>
            <a:spLocks noGrp="1"/>
          </p:cNvSpPr>
          <p:nvPr>
            <p:ph type="dt" sz="half" idx="10"/>
          </p:nvPr>
        </p:nvSpPr>
        <p:spPr/>
        <p:txBody>
          <a:bodyPr/>
          <a:lstStyle/>
          <a:p>
            <a:fld id="{497E66DF-FEBC-4C39-8E77-18568E63C345}" type="datetime1">
              <a:rPr lang="zh-CN" altLang="en-US" smtClean="0"/>
              <a:t>2025/4/15</a:t>
            </a:fld>
            <a:endParaRPr lang="zh-CN" altLang="en-US" dirty="0"/>
          </a:p>
        </p:txBody>
      </p:sp>
      <p:sp>
        <p:nvSpPr>
          <p:cNvPr id="9" name="页脚占位符 8"/>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10" name="灯片编号占位符 9"/>
          <p:cNvSpPr>
            <a:spLocks noGrp="1"/>
          </p:cNvSpPr>
          <p:nvPr>
            <p:ph type="sldNum" sz="quarter" idx="12"/>
          </p:nvPr>
        </p:nvSpPr>
        <p:spPr/>
        <p:txBody>
          <a:bodyPr/>
          <a:lstStyle/>
          <a:p>
            <a:fld id="{67913A8A-9EFB-4B5F-9CCB-3D21173FAA85}" type="slidenum">
              <a:rPr lang="zh-CN" altLang="en-US" smtClean="0"/>
              <a:pPr/>
              <a:t>35</a:t>
            </a:fld>
            <a:endParaRPr lang="zh-CN" altLang="en-US" dirty="0"/>
          </a:p>
        </p:txBody>
      </p:sp>
    </p:spTree>
    <p:extLst>
      <p:ext uri="{BB962C8B-B14F-4D97-AF65-F5344CB8AC3E}">
        <p14:creationId xmlns:p14="http://schemas.microsoft.com/office/powerpoint/2010/main" val="332853288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计算机网络中常用到的一些特殊的简单图</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smtClean="0"/>
                  <a:t>在计算机网络结构下</a:t>
                </a:r>
                <a:r>
                  <a:rPr lang="en-US" altLang="zh-CN" dirty="0" smtClean="0"/>
                  <a:t>, </a:t>
                </a:r>
                <a:r>
                  <a:rPr lang="zh-CN" altLang="en-US" dirty="0" smtClean="0"/>
                  <a:t>有许多特殊的简单图</a:t>
                </a:r>
                <a:r>
                  <a:rPr lang="en-US" altLang="zh-CN" dirty="0" smtClean="0"/>
                  <a:t>, </a:t>
                </a:r>
                <a:r>
                  <a:rPr lang="zh-CN" altLang="en-US" dirty="0" smtClean="0"/>
                  <a:t>如下</a:t>
                </a:r>
                <a:r>
                  <a:rPr lang="en-US" altLang="zh-CN" dirty="0" smtClean="0"/>
                  <a:t>: </a:t>
                </a:r>
                <a:endParaRPr lang="en-US" dirty="0" smtClean="0"/>
              </a:p>
              <a:p>
                <a:r>
                  <a:rPr lang="zh-CN" altLang="en-US" b="1" dirty="0" smtClean="0"/>
                  <a:t>星图</a:t>
                </a:r>
                <a:r>
                  <a:rPr lang="en-US" altLang="zh-CN" dirty="0" smtClean="0"/>
                  <a:t>: </a:t>
                </a:r>
                <a:r>
                  <a:rPr lang="zh-CN" altLang="en-US" dirty="0" smtClean="0"/>
                  <a:t>有些局域网络中</a:t>
                </a:r>
                <a:r>
                  <a:rPr lang="en-US" altLang="zh-CN" dirty="0" smtClean="0"/>
                  <a:t>, </a:t>
                </a:r>
                <a:r>
                  <a:rPr lang="zh-CN" altLang="en-US" dirty="0" smtClean="0"/>
                  <a:t>所有设备都连接一个中心设备</a:t>
                </a:r>
                <a:r>
                  <a:rPr lang="en-US" altLang="zh-CN" dirty="0" smtClean="0"/>
                  <a:t>. </a:t>
                </a:r>
                <a:r>
                  <a:rPr lang="zh-CN" altLang="en-US" dirty="0" smtClean="0"/>
                  <a:t>可以用星图来表示</a:t>
                </a:r>
                <a:r>
                  <a:rPr lang="en-US" altLang="zh-CN" dirty="0" smtClean="0"/>
                  <a:t>, </a:t>
                </a:r>
                <a:r>
                  <a:rPr lang="zh-CN" altLang="en-US" dirty="0" smtClean="0"/>
                  <a:t>它是一个完整的二分图</a:t>
                </a:r>
                <a14:m>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𝐾</m:t>
                        </m:r>
                      </m:e>
                      <m:sub>
                        <m:r>
                          <a:rPr lang="en-US" altLang="zh-CN" b="0" i="1" smtClean="0">
                            <a:solidFill>
                              <a:schemeClr val="tx1"/>
                            </a:solidFill>
                            <a:latin typeface="Cambria Math" panose="02040503050406030204" pitchFamily="18" charset="0"/>
                          </a:rPr>
                          <m:t>1,</m:t>
                        </m:r>
                        <m:r>
                          <a:rPr lang="en-US" altLang="zh-CN" b="0" i="1">
                            <a:solidFill>
                              <a:schemeClr val="tx1"/>
                            </a:solidFill>
                            <a:latin typeface="Cambria Math" panose="02040503050406030204" pitchFamily="18" charset="0"/>
                          </a:rPr>
                          <m:t>𝑛</m:t>
                        </m:r>
                      </m:sub>
                    </m:sSub>
                  </m:oMath>
                </a14:m>
                <a:r>
                  <a:rPr lang="en-US" dirty="0" smtClean="0"/>
                  <a:t>(</a:t>
                </a:r>
                <a:r>
                  <a:rPr lang="zh-CN" altLang="en-US" dirty="0" smtClean="0"/>
                  <a:t>二分图后续将介绍</a:t>
                </a:r>
                <a:r>
                  <a:rPr lang="en-US" dirty="0" smtClean="0"/>
                  <a:t>).</a:t>
                </a:r>
              </a:p>
              <a:p>
                <a:r>
                  <a:rPr lang="zh-CN" altLang="en-US" b="1" dirty="0" smtClean="0"/>
                  <a:t>圈图</a:t>
                </a:r>
                <a:r>
                  <a:rPr lang="en-US" altLang="zh-CN" dirty="0" smtClean="0"/>
                  <a:t>: </a:t>
                </a:r>
                <a:r>
                  <a:rPr lang="zh-CN" altLang="en-US" dirty="0" smtClean="0"/>
                  <a:t>有些计算机网络中</a:t>
                </a:r>
                <a:r>
                  <a:rPr lang="en-US" altLang="zh-CN" dirty="0" smtClean="0"/>
                  <a:t>, </a:t>
                </a:r>
                <a:r>
                  <a:rPr lang="zh-CN" altLang="en-US" dirty="0" smtClean="0"/>
                  <a:t>如圈图</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smtClean="0">
                            <a:latin typeface="Cambria Math" panose="02040503050406030204" pitchFamily="18" charset="0"/>
                          </a:rPr>
                          <m:t>C</m:t>
                        </m:r>
                      </m:e>
                      <m:sub>
                        <m:r>
                          <a:rPr lang="en-US" altLang="zh-CN" i="1">
                            <a:latin typeface="Cambria Math" panose="02040503050406030204" pitchFamily="18" charset="0"/>
                          </a:rPr>
                          <m:t>𝑛</m:t>
                        </m:r>
                      </m:sub>
                    </m:sSub>
                  </m:oMath>
                </a14:m>
                <a:r>
                  <a:rPr lang="zh-CN" altLang="en-US" dirty="0" smtClean="0"/>
                  <a:t>一样</a:t>
                </a:r>
                <a:r>
                  <a:rPr lang="en-US" altLang="zh-CN" dirty="0" smtClean="0"/>
                  <a:t>, </a:t>
                </a:r>
                <a:r>
                  <a:rPr lang="zh-CN" altLang="en-US" dirty="0" smtClean="0"/>
                  <a:t>每个设备刚好连接两个其他设备</a:t>
                </a:r>
                <a:r>
                  <a:rPr lang="en-US" altLang="zh-CN" dirty="0" smtClean="0"/>
                  <a:t>, </a:t>
                </a:r>
                <a:r>
                  <a:rPr lang="zh-CN" altLang="en-US" dirty="0" smtClean="0"/>
                  <a:t>信息在这个环上进行传递</a:t>
                </a:r>
                <a:r>
                  <a:rPr lang="en-US" altLang="zh-CN" dirty="0" smtClean="0"/>
                  <a:t>.</a:t>
                </a:r>
                <a:endParaRPr lang="en-US" altLang="zh-CN" dirty="0"/>
              </a:p>
              <a:p>
                <a:r>
                  <a:rPr lang="zh-CN" altLang="en-US" b="1" dirty="0" smtClean="0"/>
                  <a:t>轮图</a:t>
                </a:r>
                <a:r>
                  <a:rPr lang="en-US" altLang="zh-CN" dirty="0" smtClean="0"/>
                  <a:t>: </a:t>
                </a:r>
                <a:r>
                  <a:rPr lang="zh-CN" altLang="en-US" dirty="0" smtClean="0"/>
                  <a:t>有些计算机网络中</a:t>
                </a:r>
                <a:r>
                  <a:rPr lang="en-US" altLang="zh-CN" dirty="0" smtClean="0"/>
                  <a:t>, </a:t>
                </a:r>
                <a:r>
                  <a:rPr lang="zh-CN" altLang="en-US" dirty="0" smtClean="0"/>
                  <a:t>如轮图</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𝑊</m:t>
                        </m:r>
                      </m:e>
                      <m:sub>
                        <m:r>
                          <a:rPr lang="en-US" altLang="zh-CN" i="1">
                            <a:latin typeface="Cambria Math" panose="02040503050406030204" pitchFamily="18" charset="0"/>
                          </a:rPr>
                          <m:t>𝑛</m:t>
                        </m:r>
                      </m:sub>
                    </m:sSub>
                  </m:oMath>
                </a14:m>
                <a:r>
                  <a:rPr lang="zh-CN" altLang="en-US" dirty="0" smtClean="0"/>
                  <a:t>一样</a:t>
                </a:r>
                <a:r>
                  <a:rPr lang="en-US" altLang="zh-CN" dirty="0" smtClean="0"/>
                  <a:t>, </a:t>
                </a:r>
                <a:r>
                  <a:rPr lang="zh-CN" altLang="en-US" dirty="0" smtClean="0"/>
                  <a:t>由星图和圈图组合而来</a:t>
                </a:r>
                <a:r>
                  <a:rPr lang="en-US" dirty="0" smtClean="0"/>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99" t="-1310"/>
                </a:stretch>
              </a:blipFill>
            </p:spPr>
            <p:txBody>
              <a:bodyPr/>
              <a:lstStyle/>
              <a:p>
                <a:r>
                  <a:rPr lang="zh-CN" altLang="en-US">
                    <a:noFill/>
                  </a:rPr>
                  <a:t> </a:t>
                </a:r>
              </a:p>
            </p:txBody>
          </p:sp>
        </mc:Fallback>
      </mc:AlternateContent>
      <p:pic>
        <p:nvPicPr>
          <p:cNvPr id="4" name="Content Placeholder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73877" y="4572000"/>
            <a:ext cx="4876800" cy="1558902"/>
          </a:xfrm>
          <a:prstGeom prst="rect">
            <a:avLst/>
          </a:prstGeom>
        </p:spPr>
      </p:pic>
      <p:sp>
        <p:nvSpPr>
          <p:cNvPr id="8" name="日期占位符 7"/>
          <p:cNvSpPr>
            <a:spLocks noGrp="1"/>
          </p:cNvSpPr>
          <p:nvPr>
            <p:ph type="dt" sz="half" idx="10"/>
          </p:nvPr>
        </p:nvSpPr>
        <p:spPr/>
        <p:txBody>
          <a:bodyPr/>
          <a:lstStyle/>
          <a:p>
            <a:fld id="{D2AE0EAF-595D-498E-9549-671D969CF016}" type="datetime1">
              <a:rPr lang="zh-CN" altLang="en-US" smtClean="0"/>
              <a:t>2025/4/15</a:t>
            </a:fld>
            <a:endParaRPr lang="zh-CN" altLang="en-US" dirty="0"/>
          </a:p>
        </p:txBody>
      </p:sp>
      <p:sp>
        <p:nvSpPr>
          <p:cNvPr id="9" name="页脚占位符 8"/>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10" name="灯片编号占位符 9"/>
          <p:cNvSpPr>
            <a:spLocks noGrp="1"/>
          </p:cNvSpPr>
          <p:nvPr>
            <p:ph type="sldNum" sz="quarter" idx="12"/>
          </p:nvPr>
        </p:nvSpPr>
        <p:spPr/>
        <p:txBody>
          <a:bodyPr/>
          <a:lstStyle/>
          <a:p>
            <a:fld id="{67913A8A-9EFB-4B5F-9CCB-3D21173FAA85}" type="slidenum">
              <a:rPr lang="zh-CN" altLang="en-US" smtClean="0"/>
              <a:pPr/>
              <a:t>36</a:t>
            </a:fld>
            <a:endParaRPr lang="zh-CN" altLang="en-US" dirty="0"/>
          </a:p>
        </p:txBody>
      </p:sp>
    </p:spTree>
    <p:extLst>
      <p:ext uri="{BB962C8B-B14F-4D97-AF65-F5344CB8AC3E}">
        <p14:creationId xmlns:p14="http://schemas.microsoft.com/office/powerpoint/2010/main" val="220666822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计算机网络中常用到的一些特殊的简单图</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smtClean="0"/>
                  <a:t>除此之外</a:t>
                </a:r>
                <a:r>
                  <a:rPr lang="en-US" altLang="zh-CN" dirty="0" smtClean="0"/>
                  <a:t>, </a:t>
                </a:r>
                <a:r>
                  <a:rPr lang="zh-CN" altLang="en-US" dirty="0" smtClean="0"/>
                  <a:t>还有许多图用来表示并行处理</a:t>
                </a:r>
                <a:r>
                  <a:rPr lang="en-US" altLang="zh-CN" dirty="0" smtClean="0"/>
                  <a:t>, </a:t>
                </a:r>
                <a:r>
                  <a:rPr lang="zh-CN" altLang="en-US" dirty="0" smtClean="0"/>
                  <a:t>其中</a:t>
                </a:r>
                <a:r>
                  <a:rPr lang="zh-CN" altLang="en-US" dirty="0"/>
                  <a:t>处理器</a:t>
                </a:r>
                <a:r>
                  <a:rPr lang="zh-CN" altLang="en-US" dirty="0" smtClean="0"/>
                  <a:t>需要相互连接</a:t>
                </a:r>
                <a:r>
                  <a:rPr lang="en-US" altLang="zh-CN" dirty="0" smtClean="0"/>
                  <a:t>, </a:t>
                </a:r>
                <a:r>
                  <a:rPr lang="zh-CN" altLang="en-US" dirty="0" smtClean="0"/>
                  <a:t>因为</a:t>
                </a:r>
                <a:r>
                  <a:rPr lang="zh-CN" altLang="en-US" dirty="0"/>
                  <a:t>一个处理器可能需要另一个处理器生成的</a:t>
                </a:r>
                <a:r>
                  <a:rPr lang="zh-CN" altLang="en-US" dirty="0" smtClean="0"/>
                  <a:t>输出</a:t>
                </a:r>
                <a:r>
                  <a:rPr lang="en-US" dirty="0" smtClean="0"/>
                  <a:t>. </a:t>
                </a:r>
              </a:p>
              <a:p>
                <a:pPr lvl="1"/>
                <a:r>
                  <a:rPr lang="en-US" altLang="zh-CN" b="1" dirty="0" smtClean="0"/>
                  <a:t>n</a:t>
                </a:r>
                <a:r>
                  <a:rPr lang="zh-CN" altLang="en-US" b="1" dirty="0"/>
                  <a:t>立方体</a:t>
                </a:r>
                <a:r>
                  <a:rPr lang="zh-CN" altLang="en-US" b="1" dirty="0" smtClean="0"/>
                  <a:t>图</a:t>
                </a:r>
                <a:r>
                  <a:rPr lang="en-US" altLang="zh-CN" dirty="0" smtClean="0"/>
                  <a:t>: </a:t>
                </a:r>
                <a:r>
                  <a:rPr lang="zh-CN" altLang="en-US" dirty="0" smtClean="0"/>
                  <a:t>有些</a:t>
                </a:r>
                <a:r>
                  <a:rPr lang="zh-CN" altLang="en-US" dirty="0"/>
                  <a:t>计算机网络</a:t>
                </a:r>
                <a:r>
                  <a:rPr lang="zh-CN" altLang="en-US" dirty="0" smtClean="0"/>
                  <a:t>中</a:t>
                </a:r>
                <a:r>
                  <a:rPr lang="en-US" altLang="zh-CN" dirty="0" smtClean="0"/>
                  <a:t>, </a:t>
                </a:r>
                <a:r>
                  <a:rPr lang="zh-CN" altLang="en-US" dirty="0" smtClean="0"/>
                  <a:t>可以用</a:t>
                </a:r>
                <a14:m>
                  <m:oMath xmlns:m="http://schemas.openxmlformats.org/officeDocument/2006/math">
                    <m:r>
                      <a:rPr lang="en-US" altLang="zh-CN" i="1">
                        <a:latin typeface="Cambria Math" panose="02040503050406030204" pitchFamily="18" charset="0"/>
                      </a:rPr>
                      <m:t>𝑛</m:t>
                    </m:r>
                  </m:oMath>
                </a14:m>
                <a:r>
                  <a:rPr lang="zh-CN" altLang="en-US" dirty="0"/>
                  <a:t>立方体</a:t>
                </a:r>
                <a:r>
                  <a:rPr lang="zh-CN" altLang="en-US" dirty="0" smtClean="0"/>
                  <a:t>图</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𝑄</m:t>
                        </m:r>
                      </m:e>
                      <m:sub>
                        <m:r>
                          <a:rPr lang="en-US" altLang="zh-CN" i="1">
                            <a:latin typeface="Cambria Math" panose="02040503050406030204" pitchFamily="18" charset="0"/>
                          </a:rPr>
                          <m:t>𝑛</m:t>
                        </m:r>
                      </m:sub>
                    </m:sSub>
                  </m:oMath>
                </a14:m>
                <a:r>
                  <a:rPr lang="zh-CN" altLang="en-US" dirty="0" smtClean="0"/>
                  <a:t>来连接可以并行连接处理器</a:t>
                </a:r>
                <a:r>
                  <a:rPr lang="en-US" altLang="zh-CN" dirty="0" smtClean="0"/>
                  <a:t>, </a:t>
                </a:r>
                <a:r>
                  <a:rPr lang="zh-CN" altLang="en-US" dirty="0" smtClean="0"/>
                  <a:t>例如</a:t>
                </a:r>
                <a:r>
                  <a:rPr lang="en-US" dirty="0" smtClean="0"/>
                  <a:t>Intel Hypercube. </a:t>
                </a:r>
              </a:p>
              <a:p>
                <a:pPr lvl="1"/>
                <a:r>
                  <a:rPr lang="zh-CN" altLang="en-US" b="1" dirty="0" smtClean="0"/>
                  <a:t>网状网格</a:t>
                </a:r>
                <a:r>
                  <a:rPr lang="en-US" altLang="zh-CN" dirty="0" smtClean="0"/>
                  <a:t>: </a:t>
                </a:r>
                <a:r>
                  <a:rPr lang="zh-CN" altLang="en-US" dirty="0" smtClean="0"/>
                  <a:t>另外就是用网状网格来表示</a:t>
                </a:r>
                <a:r>
                  <a:rPr lang="en-US" altLang="zh-CN" dirty="0" smtClean="0"/>
                  <a:t>16</a:t>
                </a:r>
                <a:r>
                  <a:rPr lang="zh-CN" altLang="en-US" dirty="0" smtClean="0"/>
                  <a:t>个处理器</a:t>
                </a:r>
                <a:r>
                  <a:rPr lang="en-US" altLang="zh-CN" dirty="0" smtClean="0"/>
                  <a:t>.</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310" r="-1498"/>
                </a:stretch>
              </a:blipFill>
            </p:spPr>
            <p:txBody>
              <a:bodyPr/>
              <a:lstStyle/>
              <a:p>
                <a:r>
                  <a:rPr lang="zh-CN" altLang="en-US">
                    <a:noFill/>
                  </a:rPr>
                  <a:t> </a:t>
                </a:r>
              </a:p>
            </p:txBody>
          </p:sp>
        </mc:Fallback>
      </mc:AlternateContent>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00600" y="3440349"/>
            <a:ext cx="2653525" cy="2329143"/>
          </a:xfrm>
          <a:prstGeom prst="rect">
            <a:avLst/>
          </a:prstGeom>
        </p:spPr>
      </p:pic>
      <p:sp>
        <p:nvSpPr>
          <p:cNvPr id="8" name="日期占位符 7"/>
          <p:cNvSpPr>
            <a:spLocks noGrp="1"/>
          </p:cNvSpPr>
          <p:nvPr>
            <p:ph type="dt" sz="half" idx="10"/>
          </p:nvPr>
        </p:nvSpPr>
        <p:spPr/>
        <p:txBody>
          <a:bodyPr/>
          <a:lstStyle/>
          <a:p>
            <a:fld id="{1B27D64F-D1E6-44D1-96EC-EE2E28F8C8A9}" type="datetime1">
              <a:rPr lang="zh-CN" altLang="en-US" smtClean="0"/>
              <a:t>2025/4/15</a:t>
            </a:fld>
            <a:endParaRPr lang="zh-CN" altLang="en-US" dirty="0"/>
          </a:p>
        </p:txBody>
      </p:sp>
      <p:sp>
        <p:nvSpPr>
          <p:cNvPr id="9" name="页脚占位符 8"/>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10" name="灯片编号占位符 9"/>
          <p:cNvSpPr>
            <a:spLocks noGrp="1"/>
          </p:cNvSpPr>
          <p:nvPr>
            <p:ph type="sldNum" sz="quarter" idx="12"/>
          </p:nvPr>
        </p:nvSpPr>
        <p:spPr/>
        <p:txBody>
          <a:bodyPr/>
          <a:lstStyle/>
          <a:p>
            <a:fld id="{67913A8A-9EFB-4B5F-9CCB-3D21173FAA85}" type="slidenum">
              <a:rPr lang="zh-CN" altLang="en-US" smtClean="0"/>
              <a:pPr/>
              <a:t>37</a:t>
            </a:fld>
            <a:endParaRPr lang="zh-CN" altLang="en-US" dirty="0"/>
          </a:p>
        </p:txBody>
      </p:sp>
    </p:spTree>
    <p:extLst>
      <p:ext uri="{BB962C8B-B14F-4D97-AF65-F5344CB8AC3E}">
        <p14:creationId xmlns:p14="http://schemas.microsoft.com/office/powerpoint/2010/main" val="118705798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457200" y="1143000"/>
            <a:ext cx="11277599" cy="22098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smtClean="0"/>
              <a:t>二分图</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smtClean="0"/>
                  <a:t>定义</a:t>
                </a:r>
                <a:r>
                  <a:rPr lang="en-US" dirty="0" smtClean="0"/>
                  <a:t>: </a:t>
                </a:r>
                <a:r>
                  <a:rPr lang="zh-CN" altLang="en-US" dirty="0" smtClean="0"/>
                  <a:t>若把简单图</a:t>
                </a:r>
                <a:r>
                  <a:rPr lang="en-US" altLang="zh-CN" dirty="0" smtClean="0"/>
                  <a:t>G</a:t>
                </a:r>
                <a:r>
                  <a:rPr lang="zh-CN" altLang="en-US" dirty="0" smtClean="0"/>
                  <a:t>的顶点集分为两个不相交的非空集合</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𝑉</m:t>
                        </m:r>
                      </m:e>
                      <m:sub>
                        <m:r>
                          <a:rPr lang="en-US" altLang="zh-CN" b="0" i="1" smtClean="0">
                            <a:latin typeface="Cambria Math" panose="02040503050406030204" pitchFamily="18" charset="0"/>
                          </a:rPr>
                          <m:t>1</m:t>
                        </m:r>
                      </m:sub>
                    </m:sSub>
                  </m:oMath>
                </a14:m>
                <a:r>
                  <a:rPr lang="zh-CN" altLang="en-US" dirty="0" smtClean="0"/>
                  <a:t>和</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b="0" i="1" smtClean="0">
                            <a:latin typeface="Cambria Math" panose="02040503050406030204" pitchFamily="18" charset="0"/>
                          </a:rPr>
                          <m:t>2</m:t>
                        </m:r>
                      </m:sub>
                    </m:sSub>
                  </m:oMath>
                </a14:m>
                <a:r>
                  <a:rPr lang="en-US" altLang="zh-CN" dirty="0" smtClean="0"/>
                  <a:t>, </a:t>
                </a:r>
                <a:r>
                  <a:rPr lang="zh-CN" altLang="en-US" dirty="0" smtClean="0"/>
                  <a:t>使得图中的每一条边都连接</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i="1">
                            <a:latin typeface="Cambria Math" panose="02040503050406030204" pitchFamily="18" charset="0"/>
                          </a:rPr>
                          <m:t>1</m:t>
                        </m:r>
                      </m:sub>
                    </m:sSub>
                  </m:oMath>
                </a14:m>
                <a:r>
                  <a:rPr lang="zh-CN" altLang="en-US" dirty="0" smtClean="0"/>
                  <a:t>中的一个顶点和</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i="1">
                            <a:latin typeface="Cambria Math" panose="02040503050406030204" pitchFamily="18" charset="0"/>
                          </a:rPr>
                          <m:t>2</m:t>
                        </m:r>
                      </m:sub>
                    </m:sSub>
                  </m:oMath>
                </a14:m>
                <a:r>
                  <a:rPr lang="zh-CN" altLang="en-US" dirty="0" smtClean="0"/>
                  <a:t>中的一个顶点</a:t>
                </a:r>
                <a:r>
                  <a:rPr lang="en-US" altLang="zh-CN" dirty="0" smtClean="0"/>
                  <a:t>(</a:t>
                </a:r>
                <a:r>
                  <a:rPr lang="zh-CN" altLang="en-US" dirty="0" smtClean="0"/>
                  <a:t>因此</a:t>
                </a:r>
                <a:r>
                  <a:rPr lang="en-US" altLang="zh-CN" dirty="0" smtClean="0"/>
                  <a:t>G</a:t>
                </a:r>
                <a:r>
                  <a:rPr lang="zh-CN" altLang="en-US" dirty="0" smtClean="0"/>
                  <a:t>中没有边连接</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i="1">
                            <a:latin typeface="Cambria Math" panose="02040503050406030204" pitchFamily="18" charset="0"/>
                          </a:rPr>
                          <m:t>1</m:t>
                        </m:r>
                      </m:sub>
                    </m:sSub>
                  </m:oMath>
                </a14:m>
                <a:r>
                  <a:rPr lang="zh-CN" altLang="en-US" dirty="0" smtClean="0"/>
                  <a:t>中的两个顶点</a:t>
                </a:r>
                <a:r>
                  <a:rPr lang="en-US" altLang="zh-CN" dirty="0" smtClean="0"/>
                  <a:t>, </a:t>
                </a:r>
                <a:r>
                  <a:rPr lang="zh-CN" altLang="en-US" dirty="0" smtClean="0"/>
                  <a:t>或</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i="1">
                            <a:latin typeface="Cambria Math" panose="02040503050406030204" pitchFamily="18" charset="0"/>
                          </a:rPr>
                          <m:t>2</m:t>
                        </m:r>
                      </m:sub>
                    </m:sSub>
                  </m:oMath>
                </a14:m>
                <a:r>
                  <a:rPr lang="zh-CN" altLang="en-US" dirty="0" smtClean="0"/>
                  <a:t>中的两个顶点</a:t>
                </a:r>
                <a:r>
                  <a:rPr lang="en-US" altLang="zh-CN" dirty="0" smtClean="0"/>
                  <a:t>), </a:t>
                </a:r>
                <a:r>
                  <a:rPr lang="zh-CN" altLang="en-US" dirty="0" smtClean="0"/>
                  <a:t>则</a:t>
                </a:r>
                <a:r>
                  <a:rPr lang="en-US" altLang="zh-CN" dirty="0" smtClean="0"/>
                  <a:t>G</a:t>
                </a:r>
                <a:r>
                  <a:rPr lang="zh-CN" altLang="en-US" dirty="0" smtClean="0"/>
                  <a:t>称为</a:t>
                </a:r>
                <a:r>
                  <a:rPr lang="zh-CN" altLang="en-US" b="1" dirty="0" smtClean="0">
                    <a:solidFill>
                      <a:srgbClr val="C00000"/>
                    </a:solidFill>
                  </a:rPr>
                  <a:t>二分图</a:t>
                </a:r>
                <a:r>
                  <a:rPr lang="en-US" altLang="zh-CN" dirty="0" smtClean="0"/>
                  <a:t>(</a:t>
                </a:r>
                <a:r>
                  <a:rPr lang="zh-CN" altLang="en-US" dirty="0" smtClean="0"/>
                  <a:t>双</a:t>
                </a:r>
                <a:r>
                  <a:rPr lang="zh-CN" altLang="en-US" dirty="0"/>
                  <a:t>分</a:t>
                </a:r>
                <a:r>
                  <a:rPr lang="zh-CN" altLang="en-US" dirty="0" smtClean="0"/>
                  <a:t>图</a:t>
                </a:r>
                <a:r>
                  <a:rPr lang="en-US" altLang="zh-CN" dirty="0" smtClean="0"/>
                  <a:t>, </a:t>
                </a:r>
                <a:r>
                  <a:rPr lang="zh-CN" altLang="en-US" dirty="0" smtClean="0"/>
                  <a:t>二部图</a:t>
                </a:r>
                <a:r>
                  <a:rPr lang="en-US" altLang="zh-CN" dirty="0" smtClean="0"/>
                  <a:t>, </a:t>
                </a:r>
                <a:r>
                  <a:rPr lang="zh-CN" altLang="en-US" dirty="0" smtClean="0"/>
                  <a:t>偶图</a:t>
                </a:r>
                <a:r>
                  <a:rPr lang="en-US" altLang="zh-CN" dirty="0" smtClean="0"/>
                  <a:t>). </a:t>
                </a:r>
                <a:r>
                  <a:rPr lang="zh-CN" altLang="en-US" dirty="0" smtClean="0"/>
                  <a:t>当此条件成立时</a:t>
                </a:r>
                <a:r>
                  <a:rPr lang="en-US" altLang="zh-CN"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i="1">
                            <a:latin typeface="Cambria Math" panose="02040503050406030204" pitchFamily="18" charset="0"/>
                          </a:rPr>
                          <m:t>1</m:t>
                        </m:r>
                      </m:sub>
                    </m:sSub>
                  </m:oMath>
                </a14:m>
                <a:r>
                  <a:rPr lang="en-US" altLang="zh-CN"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i="1">
                            <a:latin typeface="Cambria Math" panose="02040503050406030204" pitchFamily="18" charset="0"/>
                          </a:rPr>
                          <m:t>2</m:t>
                        </m:r>
                      </m:sub>
                    </m:sSub>
                  </m:oMath>
                </a14:m>
                <a:r>
                  <a:rPr lang="en-US" altLang="zh-CN" dirty="0" smtClean="0"/>
                  <a:t>)</a:t>
                </a:r>
                <a:r>
                  <a:rPr lang="zh-CN" altLang="en-US" dirty="0" smtClean="0"/>
                  <a:t>为</a:t>
                </a:r>
                <a:r>
                  <a:rPr lang="en-US" altLang="zh-CN" dirty="0" smtClean="0"/>
                  <a:t>G</a:t>
                </a:r>
                <a:r>
                  <a:rPr lang="zh-CN" altLang="en-US" dirty="0" smtClean="0"/>
                  <a:t>的顶点集的一个二部划分</a:t>
                </a:r>
                <a:r>
                  <a:rPr lang="en-US" altLang="zh-CN" dirty="0" smtClean="0"/>
                  <a:t>.</a:t>
                </a:r>
                <a:endParaRPr lang="en-US" dirty="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310"/>
                </a:stretch>
              </a:blipFill>
            </p:spPr>
            <p:txBody>
              <a:bodyPr/>
              <a:lstStyle/>
              <a:p>
                <a:r>
                  <a:rPr lang="zh-CN" altLang="en-US">
                    <a:noFill/>
                  </a:rPr>
                  <a:t> </a:t>
                </a:r>
              </a:p>
            </p:txBody>
          </p:sp>
        </mc:Fallback>
      </mc:AlternateContent>
      <p:sp>
        <p:nvSpPr>
          <p:cNvPr id="16" name="日期占位符 15"/>
          <p:cNvSpPr>
            <a:spLocks noGrp="1"/>
          </p:cNvSpPr>
          <p:nvPr>
            <p:ph type="dt" sz="half" idx="10"/>
          </p:nvPr>
        </p:nvSpPr>
        <p:spPr/>
        <p:txBody>
          <a:bodyPr/>
          <a:lstStyle/>
          <a:p>
            <a:fld id="{3335720A-FB43-4B4E-934E-49CFF667264B}" type="datetime1">
              <a:rPr lang="zh-CN" altLang="en-US" smtClean="0"/>
              <a:t>2025/4/15</a:t>
            </a:fld>
            <a:endParaRPr lang="zh-CN" altLang="en-US" dirty="0"/>
          </a:p>
        </p:txBody>
      </p:sp>
      <p:sp>
        <p:nvSpPr>
          <p:cNvPr id="17" name="页脚占位符 1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18" name="灯片编号占位符 17"/>
          <p:cNvSpPr>
            <a:spLocks noGrp="1"/>
          </p:cNvSpPr>
          <p:nvPr>
            <p:ph type="sldNum" sz="quarter" idx="12"/>
          </p:nvPr>
        </p:nvSpPr>
        <p:spPr/>
        <p:txBody>
          <a:bodyPr/>
          <a:lstStyle/>
          <a:p>
            <a:fld id="{67913A8A-9EFB-4B5F-9CCB-3D21173FAA85}" type="slidenum">
              <a:rPr lang="zh-CN" altLang="en-US" smtClean="0"/>
              <a:pPr/>
              <a:t>38</a:t>
            </a:fld>
            <a:endParaRPr lang="zh-CN" altLang="en-US" dirty="0"/>
          </a:p>
        </p:txBody>
      </p:sp>
      <p:pic>
        <p:nvPicPr>
          <p:cNvPr id="4" name="图片 3"/>
          <p:cNvPicPr>
            <a:picLocks noChangeAspect="1"/>
          </p:cNvPicPr>
          <p:nvPr/>
        </p:nvPicPr>
        <p:blipFill>
          <a:blip r:embed="rId3"/>
          <a:stretch>
            <a:fillRect/>
          </a:stretch>
        </p:blipFill>
        <p:spPr>
          <a:xfrm>
            <a:off x="4648200" y="4191000"/>
            <a:ext cx="2602559" cy="1305008"/>
          </a:xfrm>
          <a:prstGeom prst="rect">
            <a:avLst/>
          </a:prstGeom>
        </p:spPr>
      </p:pic>
      <p:sp>
        <p:nvSpPr>
          <p:cNvPr id="5" name="文本框 4"/>
          <p:cNvSpPr txBox="1"/>
          <p:nvPr/>
        </p:nvSpPr>
        <p:spPr>
          <a:xfrm>
            <a:off x="4626040" y="5686902"/>
            <a:ext cx="2646878" cy="461665"/>
          </a:xfrm>
          <a:prstGeom prst="rect">
            <a:avLst/>
          </a:prstGeom>
          <a:noFill/>
        </p:spPr>
        <p:txBody>
          <a:bodyPr wrap="none" rtlCol="0">
            <a:spAutoFit/>
          </a:bodyPr>
          <a:lstStyle/>
          <a:p>
            <a:r>
              <a:rPr lang="zh-CN" altLang="en-US" sz="2400" dirty="0" smtClean="0">
                <a:latin typeface="微软雅黑" panose="020B0503020204020204" pitchFamily="34" charset="-122"/>
                <a:ea typeface="微软雅黑" panose="020B0503020204020204" pitchFamily="34" charset="-122"/>
              </a:rPr>
              <a:t>一个二分图的示例</a:t>
            </a:r>
            <a:endParaRPr lang="zh-CN" altLang="en-US" sz="2400" dirty="0">
              <a:latin typeface="微软雅黑" panose="020B0503020204020204" pitchFamily="34" charset="-122"/>
              <a:ea typeface="微软雅黑" panose="020B0503020204020204" pitchFamily="34" charset="-122"/>
            </a:endParaRPr>
          </a:p>
        </p:txBody>
      </p:sp>
      <p:sp>
        <p:nvSpPr>
          <p:cNvPr id="6" name="椭圆 5"/>
          <p:cNvSpPr/>
          <p:nvPr/>
        </p:nvSpPr>
        <p:spPr>
          <a:xfrm>
            <a:off x="5073081" y="4191000"/>
            <a:ext cx="1632519" cy="501292"/>
          </a:xfrm>
          <a:prstGeom prst="ellipse">
            <a:avLst/>
          </a:prstGeom>
          <a:noFill/>
          <a:ln w="25400">
            <a:solidFill>
              <a:schemeClr val="accent1">
                <a:shade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4678291" y="5131826"/>
            <a:ext cx="2426115" cy="354574"/>
          </a:xfrm>
          <a:prstGeom prst="ellipse">
            <a:avLst/>
          </a:prstGeom>
          <a:noFill/>
          <a:ln w="25400">
            <a:solidFill>
              <a:schemeClr val="accent1">
                <a:shade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9" name="矩形 8"/>
              <p:cNvSpPr/>
              <p:nvPr/>
            </p:nvSpPr>
            <p:spPr>
              <a:xfrm>
                <a:off x="6713316" y="4227554"/>
                <a:ext cx="55662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i="1">
                              <a:latin typeface="Cambria Math" panose="02040503050406030204" pitchFamily="18" charset="0"/>
                            </a:rPr>
                            <m:t>1</m:t>
                          </m:r>
                        </m:sub>
                      </m:sSub>
                    </m:oMath>
                  </m:oMathPara>
                </a14:m>
                <a:endParaRPr lang="zh-CN" altLang="en-US" dirty="0"/>
              </a:p>
            </p:txBody>
          </p:sp>
        </mc:Choice>
        <mc:Fallback xmlns="">
          <p:sp>
            <p:nvSpPr>
              <p:cNvPr id="9" name="矩形 8"/>
              <p:cNvSpPr>
                <a:spLocks noRot="1" noChangeAspect="1" noMove="1" noResize="1" noEditPoints="1" noAdjustHandles="1" noChangeArrowheads="1" noChangeShapeType="1" noTextEdit="1"/>
              </p:cNvSpPr>
              <p:nvPr/>
            </p:nvSpPr>
            <p:spPr>
              <a:xfrm>
                <a:off x="6713316" y="4227554"/>
                <a:ext cx="556627" cy="461665"/>
              </a:xfrm>
              <a:prstGeom prst="rect">
                <a:avLst/>
              </a:prstGeom>
              <a:blipFill>
                <a:blip r:embed="rId4"/>
                <a:stretch>
                  <a:fillRect b="-131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7049440" y="5081967"/>
                <a:ext cx="56374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b="0" i="1" smtClean="0">
                              <a:latin typeface="Cambria Math" panose="02040503050406030204" pitchFamily="18" charset="0"/>
                            </a:rPr>
                            <m:t>2</m:t>
                          </m:r>
                        </m:sub>
                      </m:sSub>
                    </m:oMath>
                  </m:oMathPara>
                </a14:m>
                <a:endParaRPr lang="zh-CN" altLang="en-US" dirty="0"/>
              </a:p>
            </p:txBody>
          </p:sp>
        </mc:Choice>
        <mc:Fallback xmlns="">
          <p:sp>
            <p:nvSpPr>
              <p:cNvPr id="14" name="矩形 13"/>
              <p:cNvSpPr>
                <a:spLocks noRot="1" noChangeAspect="1" noMove="1" noResize="1" noEditPoints="1" noAdjustHandles="1" noChangeArrowheads="1" noChangeShapeType="1" noTextEdit="1"/>
              </p:cNvSpPr>
              <p:nvPr/>
            </p:nvSpPr>
            <p:spPr>
              <a:xfrm>
                <a:off x="7049440" y="5081967"/>
                <a:ext cx="563744" cy="461665"/>
              </a:xfrm>
              <a:prstGeom prst="rect">
                <a:avLst/>
              </a:prstGeom>
              <a:blipFill>
                <a:blip r:embed="rId5"/>
                <a:stretch>
                  <a:fillRect b="-1333"/>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二分图</a:t>
            </a:r>
            <a:endParaRPr lang="en-US" dirty="0"/>
          </a:p>
        </p:txBody>
      </p:sp>
      <p:sp>
        <p:nvSpPr>
          <p:cNvPr id="3" name="Content Placeholder 2"/>
          <p:cNvSpPr>
            <a:spLocks noGrp="1"/>
          </p:cNvSpPr>
          <p:nvPr>
            <p:ph idx="1"/>
          </p:nvPr>
        </p:nvSpPr>
        <p:spPr/>
        <p:txBody>
          <a:bodyPr>
            <a:normAutofit/>
          </a:bodyPr>
          <a:lstStyle/>
          <a:p>
            <a:r>
              <a:rPr lang="zh-CN" altLang="en-US" dirty="0" smtClean="0"/>
              <a:t>例</a:t>
            </a:r>
            <a:r>
              <a:rPr lang="en-US" altLang="zh-CN" dirty="0" smtClean="0"/>
              <a:t>: </a:t>
            </a:r>
            <a:r>
              <a:rPr lang="zh-CN" altLang="en-US" dirty="0" smtClean="0"/>
              <a:t>下图的</a:t>
            </a:r>
            <a:r>
              <a:rPr lang="en-US" altLang="zh-CN" dirty="0" smtClean="0"/>
              <a:t>G</a:t>
            </a:r>
            <a:r>
              <a:rPr lang="zh-CN" altLang="en-US" dirty="0" smtClean="0"/>
              <a:t>和</a:t>
            </a:r>
            <a:r>
              <a:rPr lang="en-US" altLang="zh-CN" dirty="0" smtClean="0"/>
              <a:t>H</a:t>
            </a:r>
            <a:r>
              <a:rPr lang="zh-CN" altLang="en-US" dirty="0" smtClean="0"/>
              <a:t>是否是二分图？</a:t>
            </a:r>
            <a:endParaRPr lang="en-US" altLang="zh-CN" dirty="0" smtClean="0"/>
          </a:p>
          <a:p>
            <a:endParaRPr lang="en-US" altLang="zh-CN" dirty="0"/>
          </a:p>
          <a:p>
            <a:endParaRPr lang="en-US" altLang="zh-CN" dirty="0" smtClean="0"/>
          </a:p>
          <a:p>
            <a:endParaRPr lang="en-US" altLang="zh-CN" dirty="0" smtClean="0"/>
          </a:p>
          <a:p>
            <a:endParaRPr lang="en-US" altLang="zh-CN" dirty="0"/>
          </a:p>
          <a:p>
            <a:r>
              <a:rPr lang="zh-CN" altLang="en-US" dirty="0" smtClean="0"/>
              <a:t>解</a:t>
            </a:r>
            <a:r>
              <a:rPr lang="en-US" altLang="zh-CN" dirty="0" smtClean="0"/>
              <a:t>: </a:t>
            </a:r>
          </a:p>
          <a:p>
            <a:pPr lvl="1"/>
            <a:r>
              <a:rPr lang="zh-CN" altLang="en-US" dirty="0"/>
              <a:t>图</a:t>
            </a:r>
            <a:r>
              <a:rPr lang="en-US" altLang="zh-CN" dirty="0"/>
              <a:t>G</a:t>
            </a:r>
            <a:r>
              <a:rPr lang="zh-CN" altLang="en-US" dirty="0"/>
              <a:t>是二分图</a:t>
            </a:r>
            <a:r>
              <a:rPr lang="en-US" altLang="zh-CN" dirty="0" smtClean="0"/>
              <a:t>, </a:t>
            </a:r>
            <a:r>
              <a:rPr lang="zh-CN" altLang="en-US" dirty="0" smtClean="0"/>
              <a:t>因为</a:t>
            </a:r>
            <a:r>
              <a:rPr lang="zh-CN" altLang="en-US" dirty="0"/>
              <a:t>图的顶点集是两个不相交集合</a:t>
            </a:r>
            <a:r>
              <a:rPr lang="en-US" altLang="zh-CN" dirty="0"/>
              <a:t>{a, b, d}</a:t>
            </a:r>
            <a:r>
              <a:rPr lang="zh-CN" altLang="en-US" dirty="0"/>
              <a:t>和</a:t>
            </a:r>
            <a:r>
              <a:rPr lang="en-US" altLang="zh-CN" dirty="0"/>
              <a:t>{c, e, f, g}</a:t>
            </a:r>
            <a:r>
              <a:rPr lang="zh-CN" altLang="en-US" dirty="0"/>
              <a:t>的并集</a:t>
            </a:r>
            <a:r>
              <a:rPr lang="en-US" altLang="zh-CN" dirty="0" smtClean="0"/>
              <a:t>, </a:t>
            </a:r>
            <a:r>
              <a:rPr lang="zh-CN" altLang="en-US" dirty="0" smtClean="0"/>
              <a:t>每</a:t>
            </a:r>
            <a:r>
              <a:rPr lang="zh-CN" altLang="en-US" dirty="0"/>
              <a:t>条边都连接一个子集中的一个顶点和另外一个子集中的一个顶点</a:t>
            </a:r>
            <a:r>
              <a:rPr lang="en-US" altLang="zh-CN" dirty="0"/>
              <a:t>. </a:t>
            </a:r>
          </a:p>
          <a:p>
            <a:pPr lvl="1"/>
            <a:r>
              <a:rPr lang="zh-CN" altLang="en-US" dirty="0"/>
              <a:t>图</a:t>
            </a:r>
            <a:r>
              <a:rPr lang="en-US" altLang="zh-CN" dirty="0"/>
              <a:t>H</a:t>
            </a:r>
            <a:r>
              <a:rPr lang="zh-CN" altLang="en-US" dirty="0"/>
              <a:t>不是二分图</a:t>
            </a:r>
            <a:r>
              <a:rPr lang="en-US" altLang="zh-CN" dirty="0" smtClean="0"/>
              <a:t>, </a:t>
            </a:r>
            <a:r>
              <a:rPr lang="zh-CN" altLang="en-US" dirty="0" smtClean="0"/>
              <a:t>因为</a:t>
            </a:r>
            <a:r>
              <a:rPr lang="zh-CN" altLang="en-US" dirty="0"/>
              <a:t>他的顶点集不能分为两个子集</a:t>
            </a:r>
            <a:r>
              <a:rPr lang="en-US" altLang="zh-CN" dirty="0" smtClean="0"/>
              <a:t>, </a:t>
            </a:r>
            <a:r>
              <a:rPr lang="zh-CN" altLang="en-US" dirty="0" smtClean="0"/>
              <a:t>使得</a:t>
            </a:r>
            <a:r>
              <a:rPr lang="zh-CN" altLang="en-US" dirty="0"/>
              <a:t>边都不连接同一个子集的两个顶点</a:t>
            </a:r>
            <a:r>
              <a:rPr lang="en-US" altLang="zh-CN" dirty="0"/>
              <a:t>.</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00400" y="1752600"/>
            <a:ext cx="5791200" cy="2148737"/>
          </a:xfrm>
          <a:prstGeom prst="rect">
            <a:avLst/>
          </a:prstGeom>
          <a:ln>
            <a:solidFill>
              <a:schemeClr val="accent1"/>
            </a:solidFill>
          </a:ln>
        </p:spPr>
      </p:pic>
      <p:sp>
        <p:nvSpPr>
          <p:cNvPr id="16" name="日期占位符 15"/>
          <p:cNvSpPr>
            <a:spLocks noGrp="1"/>
          </p:cNvSpPr>
          <p:nvPr>
            <p:ph type="dt" sz="half" idx="10"/>
          </p:nvPr>
        </p:nvSpPr>
        <p:spPr/>
        <p:txBody>
          <a:bodyPr/>
          <a:lstStyle/>
          <a:p>
            <a:fld id="{06F37975-65D4-4748-B53E-E29F24583C79}" type="datetime1">
              <a:rPr lang="zh-CN" altLang="en-US" smtClean="0"/>
              <a:t>2025/4/15</a:t>
            </a:fld>
            <a:endParaRPr lang="zh-CN" altLang="en-US" dirty="0"/>
          </a:p>
        </p:txBody>
      </p:sp>
      <p:sp>
        <p:nvSpPr>
          <p:cNvPr id="17" name="页脚占位符 1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18" name="灯片编号占位符 17"/>
          <p:cNvSpPr>
            <a:spLocks noGrp="1"/>
          </p:cNvSpPr>
          <p:nvPr>
            <p:ph type="sldNum" sz="quarter" idx="12"/>
          </p:nvPr>
        </p:nvSpPr>
        <p:spPr/>
        <p:txBody>
          <a:bodyPr/>
          <a:lstStyle/>
          <a:p>
            <a:fld id="{67913A8A-9EFB-4B5F-9CCB-3D21173FAA85}" type="slidenum">
              <a:rPr lang="zh-CN" altLang="en-US" smtClean="0"/>
              <a:pPr/>
              <a:t>39</a:t>
            </a:fld>
            <a:endParaRPr lang="zh-CN" altLang="en-US" dirty="0"/>
          </a:p>
        </p:txBody>
      </p:sp>
      <p:sp>
        <p:nvSpPr>
          <p:cNvPr id="6" name="任意多边形 5"/>
          <p:cNvSpPr/>
          <p:nvPr/>
        </p:nvSpPr>
        <p:spPr>
          <a:xfrm>
            <a:off x="3962400" y="1828800"/>
            <a:ext cx="1445454" cy="1592826"/>
          </a:xfrm>
          <a:custGeom>
            <a:avLst/>
            <a:gdLst>
              <a:gd name="connsiteX0" fmla="*/ 112 w 1445454"/>
              <a:gd name="connsiteY0" fmla="*/ 216309 h 1592826"/>
              <a:gd name="connsiteX1" fmla="*/ 29609 w 1445454"/>
              <a:gd name="connsiteY1" fmla="*/ 294967 h 1592826"/>
              <a:gd name="connsiteX2" fmla="*/ 68938 w 1445454"/>
              <a:gd name="connsiteY2" fmla="*/ 383458 h 1592826"/>
              <a:gd name="connsiteX3" fmla="*/ 137764 w 1445454"/>
              <a:gd name="connsiteY3" fmla="*/ 452284 h 1592826"/>
              <a:gd name="connsiteX4" fmla="*/ 186925 w 1445454"/>
              <a:gd name="connsiteY4" fmla="*/ 511277 h 1592826"/>
              <a:gd name="connsiteX5" fmla="*/ 226254 w 1445454"/>
              <a:gd name="connsiteY5" fmla="*/ 540774 h 1592826"/>
              <a:gd name="connsiteX6" fmla="*/ 285248 w 1445454"/>
              <a:gd name="connsiteY6" fmla="*/ 580103 h 1592826"/>
              <a:gd name="connsiteX7" fmla="*/ 314745 w 1445454"/>
              <a:gd name="connsiteY7" fmla="*/ 609600 h 1592826"/>
              <a:gd name="connsiteX8" fmla="*/ 373738 w 1445454"/>
              <a:gd name="connsiteY8" fmla="*/ 629264 h 1592826"/>
              <a:gd name="connsiteX9" fmla="*/ 403235 w 1445454"/>
              <a:gd name="connsiteY9" fmla="*/ 639097 h 1592826"/>
              <a:gd name="connsiteX10" fmla="*/ 462229 w 1445454"/>
              <a:gd name="connsiteY10" fmla="*/ 678426 h 1592826"/>
              <a:gd name="connsiteX11" fmla="*/ 511390 w 1445454"/>
              <a:gd name="connsiteY11" fmla="*/ 737419 h 1592826"/>
              <a:gd name="connsiteX12" fmla="*/ 540887 w 1445454"/>
              <a:gd name="connsiteY12" fmla="*/ 757084 h 1592826"/>
              <a:gd name="connsiteX13" fmla="*/ 619545 w 1445454"/>
              <a:gd name="connsiteY13" fmla="*/ 835742 h 1592826"/>
              <a:gd name="connsiteX14" fmla="*/ 678538 w 1445454"/>
              <a:gd name="connsiteY14" fmla="*/ 884903 h 1592826"/>
              <a:gd name="connsiteX15" fmla="*/ 717867 w 1445454"/>
              <a:gd name="connsiteY15" fmla="*/ 953729 h 1592826"/>
              <a:gd name="connsiteX16" fmla="*/ 737532 w 1445454"/>
              <a:gd name="connsiteY16" fmla="*/ 1052051 h 1592826"/>
              <a:gd name="connsiteX17" fmla="*/ 757196 w 1445454"/>
              <a:gd name="connsiteY17" fmla="*/ 1120877 h 1592826"/>
              <a:gd name="connsiteX18" fmla="*/ 776861 w 1445454"/>
              <a:gd name="connsiteY18" fmla="*/ 1150374 h 1592826"/>
              <a:gd name="connsiteX19" fmla="*/ 786693 w 1445454"/>
              <a:gd name="connsiteY19" fmla="*/ 1179871 h 1592826"/>
              <a:gd name="connsiteX20" fmla="*/ 796525 w 1445454"/>
              <a:gd name="connsiteY20" fmla="*/ 1229032 h 1592826"/>
              <a:gd name="connsiteX21" fmla="*/ 816190 w 1445454"/>
              <a:gd name="connsiteY21" fmla="*/ 1258529 h 1592826"/>
              <a:gd name="connsiteX22" fmla="*/ 835854 w 1445454"/>
              <a:gd name="connsiteY22" fmla="*/ 1297858 h 1592826"/>
              <a:gd name="connsiteX23" fmla="*/ 865351 w 1445454"/>
              <a:gd name="connsiteY23" fmla="*/ 1327355 h 1592826"/>
              <a:gd name="connsiteX24" fmla="*/ 885016 w 1445454"/>
              <a:gd name="connsiteY24" fmla="*/ 1366684 h 1592826"/>
              <a:gd name="connsiteX25" fmla="*/ 944009 w 1445454"/>
              <a:gd name="connsiteY25" fmla="*/ 1425677 h 1592826"/>
              <a:gd name="connsiteX26" fmla="*/ 1003003 w 1445454"/>
              <a:gd name="connsiteY26" fmla="*/ 1465006 h 1592826"/>
              <a:gd name="connsiteX27" fmla="*/ 1042332 w 1445454"/>
              <a:gd name="connsiteY27" fmla="*/ 1514167 h 1592826"/>
              <a:gd name="connsiteX28" fmla="*/ 1111158 w 1445454"/>
              <a:gd name="connsiteY28" fmla="*/ 1553497 h 1592826"/>
              <a:gd name="connsiteX29" fmla="*/ 1140654 w 1445454"/>
              <a:gd name="connsiteY29" fmla="*/ 1573161 h 1592826"/>
              <a:gd name="connsiteX30" fmla="*/ 1219312 w 1445454"/>
              <a:gd name="connsiteY30" fmla="*/ 1592826 h 1592826"/>
              <a:gd name="connsiteX31" fmla="*/ 1356964 w 1445454"/>
              <a:gd name="connsiteY31" fmla="*/ 1553497 h 1592826"/>
              <a:gd name="connsiteX32" fmla="*/ 1415958 w 1445454"/>
              <a:gd name="connsiteY32" fmla="*/ 1465006 h 1592826"/>
              <a:gd name="connsiteX33" fmla="*/ 1435622 w 1445454"/>
              <a:gd name="connsiteY33" fmla="*/ 1396180 h 1592826"/>
              <a:gd name="connsiteX34" fmla="*/ 1445454 w 1445454"/>
              <a:gd name="connsiteY34" fmla="*/ 1219200 h 1592826"/>
              <a:gd name="connsiteX35" fmla="*/ 1415958 w 1445454"/>
              <a:gd name="connsiteY35" fmla="*/ 993058 h 1592826"/>
              <a:gd name="connsiteX36" fmla="*/ 1406125 w 1445454"/>
              <a:gd name="connsiteY36" fmla="*/ 963561 h 1592826"/>
              <a:gd name="connsiteX37" fmla="*/ 1396293 w 1445454"/>
              <a:gd name="connsiteY37" fmla="*/ 894735 h 1592826"/>
              <a:gd name="connsiteX38" fmla="*/ 1376629 w 1445454"/>
              <a:gd name="connsiteY38" fmla="*/ 835742 h 1592826"/>
              <a:gd name="connsiteX39" fmla="*/ 1347132 w 1445454"/>
              <a:gd name="connsiteY39" fmla="*/ 727587 h 1592826"/>
              <a:gd name="connsiteX40" fmla="*/ 1327467 w 1445454"/>
              <a:gd name="connsiteY40" fmla="*/ 255638 h 1592826"/>
              <a:gd name="connsiteX41" fmla="*/ 1317635 w 1445454"/>
              <a:gd name="connsiteY41" fmla="*/ 216309 h 1592826"/>
              <a:gd name="connsiteX42" fmla="*/ 1307803 w 1445454"/>
              <a:gd name="connsiteY42" fmla="*/ 147484 h 1592826"/>
              <a:gd name="connsiteX43" fmla="*/ 1288138 w 1445454"/>
              <a:gd name="connsiteY43" fmla="*/ 117987 h 1592826"/>
              <a:gd name="connsiteX44" fmla="*/ 1229145 w 1445454"/>
              <a:gd name="connsiteY44" fmla="*/ 68826 h 1592826"/>
              <a:gd name="connsiteX45" fmla="*/ 1189816 w 1445454"/>
              <a:gd name="connsiteY45" fmla="*/ 58993 h 1592826"/>
              <a:gd name="connsiteX46" fmla="*/ 1042332 w 1445454"/>
              <a:gd name="connsiteY46" fmla="*/ 39329 h 1592826"/>
              <a:gd name="connsiteX47" fmla="*/ 963674 w 1445454"/>
              <a:gd name="connsiteY47" fmla="*/ 19664 h 1592826"/>
              <a:gd name="connsiteX48" fmla="*/ 934177 w 1445454"/>
              <a:gd name="connsiteY48" fmla="*/ 9832 h 1592826"/>
              <a:gd name="connsiteX49" fmla="*/ 835854 w 1445454"/>
              <a:gd name="connsiteY49" fmla="*/ 0 h 1592826"/>
              <a:gd name="connsiteX50" fmla="*/ 177093 w 1445454"/>
              <a:gd name="connsiteY50" fmla="*/ 9832 h 1592826"/>
              <a:gd name="connsiteX51" fmla="*/ 137764 w 1445454"/>
              <a:gd name="connsiteY51" fmla="*/ 29497 h 1592826"/>
              <a:gd name="connsiteX52" fmla="*/ 108267 w 1445454"/>
              <a:gd name="connsiteY52" fmla="*/ 58993 h 1592826"/>
              <a:gd name="connsiteX53" fmla="*/ 68938 w 1445454"/>
              <a:gd name="connsiteY53" fmla="*/ 88490 h 1592826"/>
              <a:gd name="connsiteX54" fmla="*/ 39441 w 1445454"/>
              <a:gd name="connsiteY54" fmla="*/ 167148 h 1592826"/>
              <a:gd name="connsiteX55" fmla="*/ 19777 w 1445454"/>
              <a:gd name="connsiteY55" fmla="*/ 196645 h 1592826"/>
              <a:gd name="connsiteX56" fmla="*/ 112 w 1445454"/>
              <a:gd name="connsiteY56" fmla="*/ 216309 h 1592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445454" h="1592826">
                <a:moveTo>
                  <a:pt x="112" y="216309"/>
                </a:moveTo>
                <a:cubicBezTo>
                  <a:pt x="1751" y="232696"/>
                  <a:pt x="20191" y="268596"/>
                  <a:pt x="29609" y="294967"/>
                </a:cubicBezTo>
                <a:cubicBezTo>
                  <a:pt x="43194" y="333004"/>
                  <a:pt x="43373" y="355052"/>
                  <a:pt x="68938" y="383458"/>
                </a:cubicBezTo>
                <a:cubicBezTo>
                  <a:pt x="90642" y="407574"/>
                  <a:pt x="119766" y="425289"/>
                  <a:pt x="137764" y="452284"/>
                </a:cubicBezTo>
                <a:cubicBezTo>
                  <a:pt x="157992" y="482624"/>
                  <a:pt x="157487" y="486044"/>
                  <a:pt x="186925" y="511277"/>
                </a:cubicBezTo>
                <a:cubicBezTo>
                  <a:pt x="199367" y="521942"/>
                  <a:pt x="213812" y="530109"/>
                  <a:pt x="226254" y="540774"/>
                </a:cubicBezTo>
                <a:cubicBezTo>
                  <a:pt x="273122" y="580947"/>
                  <a:pt x="235074" y="563379"/>
                  <a:pt x="285248" y="580103"/>
                </a:cubicBezTo>
                <a:cubicBezTo>
                  <a:pt x="295080" y="589935"/>
                  <a:pt x="302590" y="602847"/>
                  <a:pt x="314745" y="609600"/>
                </a:cubicBezTo>
                <a:cubicBezTo>
                  <a:pt x="332865" y="619666"/>
                  <a:pt x="354074" y="622709"/>
                  <a:pt x="373738" y="629264"/>
                </a:cubicBezTo>
                <a:cubicBezTo>
                  <a:pt x="383570" y="632542"/>
                  <a:pt x="394611" y="633348"/>
                  <a:pt x="403235" y="639097"/>
                </a:cubicBezTo>
                <a:lnTo>
                  <a:pt x="462229" y="678426"/>
                </a:lnTo>
                <a:cubicBezTo>
                  <a:pt x="481564" y="707429"/>
                  <a:pt x="483000" y="713761"/>
                  <a:pt x="511390" y="737419"/>
                </a:cubicBezTo>
                <a:cubicBezTo>
                  <a:pt x="520468" y="744984"/>
                  <a:pt x="532143" y="749135"/>
                  <a:pt x="540887" y="757084"/>
                </a:cubicBezTo>
                <a:cubicBezTo>
                  <a:pt x="568324" y="782027"/>
                  <a:pt x="588693" y="815174"/>
                  <a:pt x="619545" y="835742"/>
                </a:cubicBezTo>
                <a:cubicBezTo>
                  <a:pt x="660611" y="863119"/>
                  <a:pt x="640685" y="847050"/>
                  <a:pt x="678538" y="884903"/>
                </a:cubicBezTo>
                <a:cubicBezTo>
                  <a:pt x="708608" y="975115"/>
                  <a:pt x="658346" y="834690"/>
                  <a:pt x="717867" y="953729"/>
                </a:cubicBezTo>
                <a:cubicBezTo>
                  <a:pt x="725482" y="968958"/>
                  <a:pt x="735885" y="1043815"/>
                  <a:pt x="737532" y="1052051"/>
                </a:cubicBezTo>
                <a:cubicBezTo>
                  <a:pt x="739632" y="1062551"/>
                  <a:pt x="750949" y="1108383"/>
                  <a:pt x="757196" y="1120877"/>
                </a:cubicBezTo>
                <a:cubicBezTo>
                  <a:pt x="762481" y="1131446"/>
                  <a:pt x="770306" y="1140542"/>
                  <a:pt x="776861" y="1150374"/>
                </a:cubicBezTo>
                <a:cubicBezTo>
                  <a:pt x="780138" y="1160206"/>
                  <a:pt x="784179" y="1169816"/>
                  <a:pt x="786693" y="1179871"/>
                </a:cubicBezTo>
                <a:cubicBezTo>
                  <a:pt x="790746" y="1196084"/>
                  <a:pt x="790657" y="1213385"/>
                  <a:pt x="796525" y="1229032"/>
                </a:cubicBezTo>
                <a:cubicBezTo>
                  <a:pt x="800674" y="1240097"/>
                  <a:pt x="810327" y="1248269"/>
                  <a:pt x="816190" y="1258529"/>
                </a:cubicBezTo>
                <a:cubicBezTo>
                  <a:pt x="823462" y="1271255"/>
                  <a:pt x="827335" y="1285931"/>
                  <a:pt x="835854" y="1297858"/>
                </a:cubicBezTo>
                <a:cubicBezTo>
                  <a:pt x="843936" y="1309173"/>
                  <a:pt x="857269" y="1316040"/>
                  <a:pt x="865351" y="1327355"/>
                </a:cubicBezTo>
                <a:cubicBezTo>
                  <a:pt x="873870" y="1339282"/>
                  <a:pt x="875860" y="1355239"/>
                  <a:pt x="885016" y="1366684"/>
                </a:cubicBezTo>
                <a:cubicBezTo>
                  <a:pt x="902389" y="1388400"/>
                  <a:pt x="924345" y="1406013"/>
                  <a:pt x="944009" y="1425677"/>
                </a:cubicBezTo>
                <a:cubicBezTo>
                  <a:pt x="980835" y="1462503"/>
                  <a:pt x="960314" y="1450777"/>
                  <a:pt x="1003003" y="1465006"/>
                </a:cubicBezTo>
                <a:cubicBezTo>
                  <a:pt x="1016113" y="1481393"/>
                  <a:pt x="1027493" y="1499328"/>
                  <a:pt x="1042332" y="1514167"/>
                </a:cubicBezTo>
                <a:cubicBezTo>
                  <a:pt x="1058302" y="1530137"/>
                  <a:pt x="1093164" y="1543215"/>
                  <a:pt x="1111158" y="1553497"/>
                </a:cubicBezTo>
                <a:cubicBezTo>
                  <a:pt x="1121418" y="1559360"/>
                  <a:pt x="1129549" y="1569123"/>
                  <a:pt x="1140654" y="1573161"/>
                </a:cubicBezTo>
                <a:cubicBezTo>
                  <a:pt x="1166053" y="1582397"/>
                  <a:pt x="1219312" y="1592826"/>
                  <a:pt x="1219312" y="1592826"/>
                </a:cubicBezTo>
                <a:cubicBezTo>
                  <a:pt x="1239764" y="1589107"/>
                  <a:pt x="1329011" y="1587662"/>
                  <a:pt x="1356964" y="1553497"/>
                </a:cubicBezTo>
                <a:cubicBezTo>
                  <a:pt x="1379413" y="1526060"/>
                  <a:pt x="1415958" y="1465006"/>
                  <a:pt x="1415958" y="1465006"/>
                </a:cubicBezTo>
                <a:cubicBezTo>
                  <a:pt x="1421778" y="1447546"/>
                  <a:pt x="1434079" y="1413155"/>
                  <a:pt x="1435622" y="1396180"/>
                </a:cubicBezTo>
                <a:cubicBezTo>
                  <a:pt x="1440971" y="1337338"/>
                  <a:pt x="1442177" y="1278193"/>
                  <a:pt x="1445454" y="1219200"/>
                </a:cubicBezTo>
                <a:cubicBezTo>
                  <a:pt x="1435622" y="1143819"/>
                  <a:pt x="1427517" y="1068193"/>
                  <a:pt x="1415958" y="993058"/>
                </a:cubicBezTo>
                <a:cubicBezTo>
                  <a:pt x="1414382" y="982814"/>
                  <a:pt x="1408158" y="973724"/>
                  <a:pt x="1406125" y="963561"/>
                </a:cubicBezTo>
                <a:cubicBezTo>
                  <a:pt x="1401580" y="940836"/>
                  <a:pt x="1401504" y="917316"/>
                  <a:pt x="1396293" y="894735"/>
                </a:cubicBezTo>
                <a:cubicBezTo>
                  <a:pt x="1391632" y="874538"/>
                  <a:pt x="1381656" y="855851"/>
                  <a:pt x="1376629" y="835742"/>
                </a:cubicBezTo>
                <a:cubicBezTo>
                  <a:pt x="1354450" y="747029"/>
                  <a:pt x="1365510" y="782723"/>
                  <a:pt x="1347132" y="727587"/>
                </a:cubicBezTo>
                <a:cubicBezTo>
                  <a:pt x="1340577" y="570271"/>
                  <a:pt x="1336536" y="412829"/>
                  <a:pt x="1327467" y="255638"/>
                </a:cubicBezTo>
                <a:cubicBezTo>
                  <a:pt x="1326689" y="242147"/>
                  <a:pt x="1320052" y="229604"/>
                  <a:pt x="1317635" y="216309"/>
                </a:cubicBezTo>
                <a:cubicBezTo>
                  <a:pt x="1313489" y="193508"/>
                  <a:pt x="1314462" y="169681"/>
                  <a:pt x="1307803" y="147484"/>
                </a:cubicBezTo>
                <a:cubicBezTo>
                  <a:pt x="1304407" y="136165"/>
                  <a:pt x="1295703" y="127065"/>
                  <a:pt x="1288138" y="117987"/>
                </a:cubicBezTo>
                <a:cubicBezTo>
                  <a:pt x="1275013" y="102237"/>
                  <a:pt x="1249197" y="77420"/>
                  <a:pt x="1229145" y="68826"/>
                </a:cubicBezTo>
                <a:cubicBezTo>
                  <a:pt x="1216724" y="63503"/>
                  <a:pt x="1203111" y="61410"/>
                  <a:pt x="1189816" y="58993"/>
                </a:cubicBezTo>
                <a:cubicBezTo>
                  <a:pt x="1159969" y="53566"/>
                  <a:pt x="1069718" y="42752"/>
                  <a:pt x="1042332" y="39329"/>
                </a:cubicBezTo>
                <a:cubicBezTo>
                  <a:pt x="1016113" y="32774"/>
                  <a:pt x="989748" y="26775"/>
                  <a:pt x="963674" y="19664"/>
                </a:cubicBezTo>
                <a:cubicBezTo>
                  <a:pt x="953675" y="16937"/>
                  <a:pt x="944421" y="11408"/>
                  <a:pt x="934177" y="9832"/>
                </a:cubicBezTo>
                <a:cubicBezTo>
                  <a:pt x="901622" y="4824"/>
                  <a:pt x="868628" y="3277"/>
                  <a:pt x="835854" y="0"/>
                </a:cubicBezTo>
                <a:cubicBezTo>
                  <a:pt x="616267" y="3277"/>
                  <a:pt x="396509" y="561"/>
                  <a:pt x="177093" y="9832"/>
                </a:cubicBezTo>
                <a:cubicBezTo>
                  <a:pt x="162449" y="10451"/>
                  <a:pt x="149691" y="20978"/>
                  <a:pt x="137764" y="29497"/>
                </a:cubicBezTo>
                <a:cubicBezTo>
                  <a:pt x="126449" y="37579"/>
                  <a:pt x="118824" y="49944"/>
                  <a:pt x="108267" y="58993"/>
                </a:cubicBezTo>
                <a:cubicBezTo>
                  <a:pt x="95825" y="69658"/>
                  <a:pt x="82048" y="78658"/>
                  <a:pt x="68938" y="88490"/>
                </a:cubicBezTo>
                <a:cubicBezTo>
                  <a:pt x="60427" y="114023"/>
                  <a:pt x="51201" y="143628"/>
                  <a:pt x="39441" y="167148"/>
                </a:cubicBezTo>
                <a:cubicBezTo>
                  <a:pt x="34156" y="177717"/>
                  <a:pt x="25062" y="186076"/>
                  <a:pt x="19777" y="196645"/>
                </a:cubicBezTo>
                <a:cubicBezTo>
                  <a:pt x="15142" y="205915"/>
                  <a:pt x="-1527" y="199922"/>
                  <a:pt x="112" y="216309"/>
                </a:cubicBezTo>
                <a:close/>
              </a:path>
            </a:pathLst>
          </a:custGeom>
          <a:noFill/>
          <a:ln w="1905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889094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wipe(down)">
                                      <p:cBhvr>
                                        <p:cTn id="7" dur="500"/>
                                        <p:tgtEl>
                                          <p:spTgt spid="3">
                                            <p:txEl>
                                              <p:pRg st="5" end="5"/>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wipe(down)">
                                      <p:cBhvr>
                                        <p:cTn id="10" dur="500"/>
                                        <p:tgtEl>
                                          <p:spTgt spid="3">
                                            <p:txEl>
                                              <p:pRg st="6" end="6"/>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animEffect transition="in" filter="wipe(down)">
                                      <p:cBhvr>
                                        <p:cTn id="13" dur="500"/>
                                        <p:tgtEl>
                                          <p:spTgt spid="3">
                                            <p:txEl>
                                              <p:pRg st="7" end="7"/>
                                            </p:txEl>
                                          </p:spTgt>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down)">
                                      <p:cBhvr>
                                        <p:cTn id="1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二分图</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smtClean="0"/>
                  <a:t>例</a:t>
                </a:r>
                <a:r>
                  <a:rPr lang="en-US" dirty="0" smtClean="0"/>
                  <a:t>: </a:t>
                </a:r>
                <a:r>
                  <a:rPr lang="zh-CN" altLang="en-US" dirty="0" smtClean="0"/>
                  <a:t>说明圈图</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𝐶</m:t>
                        </m:r>
                      </m:e>
                      <m:sub>
                        <m:r>
                          <a:rPr lang="en-US" altLang="zh-CN" b="0" i="1" smtClean="0">
                            <a:latin typeface="Cambria Math" panose="02040503050406030204" pitchFamily="18" charset="0"/>
                          </a:rPr>
                          <m:t>6</m:t>
                        </m:r>
                      </m:sub>
                    </m:sSub>
                  </m:oMath>
                </a14:m>
                <a:r>
                  <a:rPr lang="zh-CN" altLang="en-US" dirty="0" smtClean="0"/>
                  <a:t>是二分图</a:t>
                </a:r>
                <a:r>
                  <a:rPr lang="en-US" dirty="0" smtClean="0"/>
                  <a:t>.</a:t>
                </a:r>
              </a:p>
              <a:p>
                <a:endParaRPr lang="en-US" dirty="0" smtClean="0"/>
              </a:p>
              <a:p>
                <a:endParaRPr lang="en-US" dirty="0" smtClean="0"/>
              </a:p>
              <a:p>
                <a:endParaRPr lang="en-US" dirty="0" smtClean="0"/>
              </a:p>
              <a:p>
                <a:endParaRPr lang="en-US" dirty="0" smtClean="0"/>
              </a:p>
              <a:p>
                <a:r>
                  <a:rPr lang="zh-CN" altLang="en-US" dirty="0" smtClean="0"/>
                  <a:t>解</a:t>
                </a:r>
                <a:r>
                  <a:rPr lang="en-US" dirty="0" smtClean="0"/>
                  <a:t>: </a:t>
                </a:r>
                <a:r>
                  <a:rPr lang="zh-CN" altLang="en-US" dirty="0" smtClean="0"/>
                  <a:t>我们可以把</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𝐶</m:t>
                        </m:r>
                      </m:e>
                      <m:sub>
                        <m:r>
                          <a:rPr lang="en-US" altLang="zh-CN" i="1">
                            <a:latin typeface="Cambria Math" panose="02040503050406030204" pitchFamily="18" charset="0"/>
                          </a:rPr>
                          <m:t>6</m:t>
                        </m:r>
                      </m:sub>
                    </m:sSub>
                  </m:oMath>
                </a14:m>
                <a:r>
                  <a:rPr lang="zh-CN" altLang="en-US" dirty="0" smtClean="0"/>
                  <a:t>划分为两个非空集合</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i="1">
                            <a:latin typeface="Cambria Math" panose="02040503050406030204" pitchFamily="18" charset="0"/>
                          </a:rPr>
                          <m:t>1</m:t>
                        </m:r>
                      </m:sub>
                    </m:sSub>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i="1">
                            <a:latin typeface="Cambria Math" panose="02040503050406030204" pitchFamily="18" charset="0"/>
                          </a:rPr>
                          <m:t>1</m:t>
                        </m:r>
                      </m:sub>
                    </m:sSub>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b="0" i="1" smtClean="0">
                            <a:latin typeface="Cambria Math" panose="02040503050406030204" pitchFamily="18" charset="0"/>
                          </a:rPr>
                          <m:t>3</m:t>
                        </m:r>
                      </m:sub>
                    </m:sSub>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b="0" i="1" smtClean="0">
                            <a:latin typeface="Cambria Math" panose="02040503050406030204" pitchFamily="18" charset="0"/>
                          </a:rPr>
                          <m:t>5</m:t>
                        </m:r>
                      </m:sub>
                    </m:sSub>
                  </m:oMath>
                </a14:m>
                <a:r>
                  <a:rPr lang="en-US" dirty="0" smtClean="0"/>
                  <a:t>} </a:t>
                </a:r>
                <a:r>
                  <a:rPr lang="en-US" altLang="zh-CN"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b="0" i="1" smtClean="0">
                            <a:latin typeface="Cambria Math" panose="02040503050406030204" pitchFamily="18" charset="0"/>
                          </a:rPr>
                          <m:t>2</m:t>
                        </m:r>
                      </m:sub>
                    </m:sSub>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b="0" i="1" smtClean="0">
                            <a:latin typeface="Cambria Math" panose="02040503050406030204" pitchFamily="18" charset="0"/>
                          </a:rPr>
                          <m:t>2</m:t>
                        </m:r>
                      </m:sub>
                    </m:sSub>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b="0" i="1" smtClean="0">
                            <a:latin typeface="Cambria Math" panose="02040503050406030204" pitchFamily="18" charset="0"/>
                          </a:rPr>
                          <m:t>4</m:t>
                        </m:r>
                      </m:sub>
                    </m:sSub>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b="0" i="1" smtClean="0">
                            <a:latin typeface="Cambria Math" panose="02040503050406030204" pitchFamily="18" charset="0"/>
                          </a:rPr>
                          <m:t>6</m:t>
                        </m:r>
                      </m:sub>
                    </m:sSub>
                  </m:oMath>
                </a14:m>
                <a:r>
                  <a:rPr lang="en-US" dirty="0" smtClean="0"/>
                  <a:t>}</a:t>
                </a:r>
                <a:r>
                  <a:rPr lang="en-US" altLang="zh-CN" dirty="0" smtClean="0"/>
                  <a:t>, </a:t>
                </a:r>
                <a:r>
                  <a:rPr lang="zh-CN" altLang="en-US" dirty="0" smtClean="0"/>
                  <a:t>如图所示</a:t>
                </a:r>
                <a:r>
                  <a:rPr lang="en-US" altLang="zh-CN" dirty="0" smtClean="0"/>
                  <a:t>, </a:t>
                </a:r>
                <a:r>
                  <a:rPr lang="zh-CN" altLang="en-US" dirty="0" smtClean="0"/>
                  <a:t>可以看到每一条边都连接</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i="1">
                            <a:latin typeface="Cambria Math" panose="02040503050406030204" pitchFamily="18" charset="0"/>
                          </a:rPr>
                          <m:t>1</m:t>
                        </m:r>
                      </m:sub>
                    </m:sSub>
                  </m:oMath>
                </a14:m>
                <a:r>
                  <a:rPr lang="zh-CN" altLang="en-US" dirty="0" smtClean="0"/>
                  <a:t>中的一个顶点和</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b="0" i="1" smtClean="0">
                            <a:latin typeface="Cambria Math" panose="02040503050406030204" pitchFamily="18" charset="0"/>
                          </a:rPr>
                          <m:t>2</m:t>
                        </m:r>
                      </m:sub>
                    </m:sSub>
                  </m:oMath>
                </a14:m>
                <a:r>
                  <a:rPr lang="zh-CN" altLang="en-US" dirty="0" smtClean="0"/>
                  <a:t>中的一个顶点</a:t>
                </a:r>
                <a:r>
                  <a:rPr lang="en-US" dirty="0" smtClean="0"/>
                  <a:t>.</a:t>
                </a:r>
              </a:p>
              <a:p>
                <a:pPr marL="0" indent="0">
                  <a:buNone/>
                </a:pPr>
                <a:endParaRPr lang="en-US" dirty="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310" r="-277"/>
                </a:stretch>
              </a:blipFill>
            </p:spPr>
            <p:txBody>
              <a:bodyPr/>
              <a:lstStyle/>
              <a:p>
                <a:r>
                  <a:rPr lang="zh-CN" altLang="en-US">
                    <a:noFill/>
                  </a:rPr>
                  <a:t> </a:t>
                </a:r>
              </a:p>
            </p:txBody>
          </p:sp>
        </mc:Fallback>
      </mc:AlternateContent>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29399" y="1752600"/>
            <a:ext cx="3622017" cy="1524000"/>
          </a:xfrm>
          <a:prstGeom prst="rect">
            <a:avLst/>
          </a:prstGeom>
        </p:spPr>
      </p:pic>
      <p:sp>
        <p:nvSpPr>
          <p:cNvPr id="9" name="日期占位符 8"/>
          <p:cNvSpPr>
            <a:spLocks noGrp="1"/>
          </p:cNvSpPr>
          <p:nvPr>
            <p:ph type="dt" sz="half" idx="10"/>
          </p:nvPr>
        </p:nvSpPr>
        <p:spPr/>
        <p:txBody>
          <a:bodyPr/>
          <a:lstStyle/>
          <a:p>
            <a:fld id="{A49D795A-43F7-426A-9555-E892F62691E9}" type="datetime1">
              <a:rPr lang="zh-CN" altLang="en-US" smtClean="0"/>
              <a:t>2025/4/15</a:t>
            </a:fld>
            <a:endParaRPr lang="zh-CN" altLang="en-US" dirty="0"/>
          </a:p>
        </p:txBody>
      </p:sp>
      <p:sp>
        <p:nvSpPr>
          <p:cNvPr id="10" name="页脚占位符 9"/>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11" name="灯片编号占位符 10"/>
          <p:cNvSpPr>
            <a:spLocks noGrp="1"/>
          </p:cNvSpPr>
          <p:nvPr>
            <p:ph type="sldNum" sz="quarter" idx="12"/>
          </p:nvPr>
        </p:nvSpPr>
        <p:spPr/>
        <p:txBody>
          <a:bodyPr/>
          <a:lstStyle/>
          <a:p>
            <a:fld id="{67913A8A-9EFB-4B5F-9CCB-3D21173FAA85}" type="slidenum">
              <a:rPr lang="zh-CN" altLang="en-US" smtClean="0"/>
              <a:pPr/>
              <a:t>40</a:t>
            </a:fld>
            <a:endParaRPr lang="zh-CN" altLang="en-US" dirty="0"/>
          </a:p>
        </p:txBody>
      </p:sp>
      <p:pic>
        <p:nvPicPr>
          <p:cNvPr id="6" name="图片 5"/>
          <p:cNvPicPr>
            <a:picLocks noChangeAspect="1"/>
          </p:cNvPicPr>
          <p:nvPr/>
        </p:nvPicPr>
        <p:blipFill>
          <a:blip r:embed="rId4"/>
          <a:stretch>
            <a:fillRect/>
          </a:stretch>
        </p:blipFill>
        <p:spPr>
          <a:xfrm>
            <a:off x="2286000" y="1549997"/>
            <a:ext cx="1664402" cy="1877144"/>
          </a:xfrm>
          <a:prstGeom prst="rect">
            <a:avLst/>
          </a:prstGeom>
        </p:spPr>
      </p:pic>
    </p:spTree>
    <p:extLst>
      <p:ext uri="{BB962C8B-B14F-4D97-AF65-F5344CB8AC3E}">
        <p14:creationId xmlns:p14="http://schemas.microsoft.com/office/powerpoint/2010/main" val="1313457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wipe(down)">
                                      <p:cBhvr>
                                        <p:cTn id="7" dur="500"/>
                                        <p:tgtEl>
                                          <p:spTgt spid="3">
                                            <p:txEl>
                                              <p:pRg st="5" end="5"/>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down)">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二分图</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smtClean="0"/>
                  <a:t>例</a:t>
                </a:r>
                <a:r>
                  <a:rPr lang="en-US" dirty="0" smtClean="0"/>
                  <a:t>: </a:t>
                </a:r>
                <a:r>
                  <a:rPr lang="zh-CN" altLang="en-US" dirty="0" smtClean="0"/>
                  <a:t>说明</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𝐶</m:t>
                        </m:r>
                      </m:e>
                      <m:sub>
                        <m:r>
                          <a:rPr lang="en-US" altLang="zh-CN" b="0" i="1" smtClean="0">
                            <a:latin typeface="Cambria Math" panose="02040503050406030204" pitchFamily="18" charset="0"/>
                          </a:rPr>
                          <m:t>3</m:t>
                        </m:r>
                      </m:sub>
                    </m:sSub>
                  </m:oMath>
                </a14:m>
                <a:r>
                  <a:rPr lang="zh-CN" altLang="en-US" dirty="0" smtClean="0"/>
                  <a:t>不是二分图</a:t>
                </a:r>
                <a:r>
                  <a:rPr lang="en-US" dirty="0" smtClean="0"/>
                  <a:t>.</a:t>
                </a:r>
              </a:p>
              <a:p>
                <a:endParaRPr lang="en-US" dirty="0" smtClean="0"/>
              </a:p>
              <a:p>
                <a:endParaRPr lang="en-US" dirty="0" smtClean="0"/>
              </a:p>
              <a:p>
                <a:endParaRPr lang="en-US" dirty="0" smtClean="0"/>
              </a:p>
              <a:p>
                <a:r>
                  <a:rPr lang="zh-CN" altLang="en-US" dirty="0" smtClean="0"/>
                  <a:t>解</a:t>
                </a:r>
                <a:r>
                  <a:rPr lang="en-US" dirty="0" smtClean="0"/>
                  <a:t>: </a:t>
                </a:r>
                <a:r>
                  <a:rPr lang="zh-CN" altLang="en-US" dirty="0" smtClean="0"/>
                  <a:t>如果我们把</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𝐶</m:t>
                        </m:r>
                      </m:e>
                      <m:sub>
                        <m:r>
                          <a:rPr lang="en-US" altLang="zh-CN" b="0" i="1" smtClean="0">
                            <a:latin typeface="Cambria Math" panose="02040503050406030204" pitchFamily="18" charset="0"/>
                          </a:rPr>
                          <m:t>3</m:t>
                        </m:r>
                      </m:sub>
                    </m:sSub>
                  </m:oMath>
                </a14:m>
                <a:r>
                  <a:rPr lang="zh-CN" altLang="en-US" dirty="0" smtClean="0"/>
                  <a:t>划分为两个非空集合</a:t>
                </a:r>
                <a:r>
                  <a:rPr lang="en-US" altLang="zh-CN" dirty="0" smtClean="0"/>
                  <a:t>, </a:t>
                </a:r>
                <a:r>
                  <a:rPr lang="zh-CN" altLang="en-US" dirty="0" smtClean="0"/>
                  <a:t>那么必定一个包含一个顶点</a:t>
                </a:r>
                <a:r>
                  <a:rPr lang="en-US" altLang="zh-CN" dirty="0" smtClean="0"/>
                  <a:t>, </a:t>
                </a:r>
                <a:r>
                  <a:rPr lang="zh-CN" altLang="en-US" dirty="0" smtClean="0"/>
                  <a:t>另外一个包含两个顶点</a:t>
                </a:r>
                <a:r>
                  <a:rPr lang="en-US" altLang="zh-CN" dirty="0" smtClean="0"/>
                  <a:t>. </a:t>
                </a:r>
                <a:r>
                  <a:rPr lang="zh-CN" altLang="en-US" dirty="0" smtClean="0"/>
                  <a:t>但是</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𝐶</m:t>
                        </m:r>
                      </m:e>
                      <m:sub>
                        <m:r>
                          <a:rPr lang="en-US" altLang="zh-CN" i="1">
                            <a:latin typeface="Cambria Math" panose="02040503050406030204" pitchFamily="18" charset="0"/>
                          </a:rPr>
                          <m:t>3</m:t>
                        </m:r>
                      </m:sub>
                    </m:sSub>
                  </m:oMath>
                </a14:m>
                <a:r>
                  <a:rPr lang="zh-CN" altLang="en-US" dirty="0" smtClean="0"/>
                  <a:t>中每个顶点都连接到其他的两个顶点</a:t>
                </a:r>
                <a:r>
                  <a:rPr lang="en-US" altLang="zh-CN" dirty="0" smtClean="0"/>
                  <a:t>. </a:t>
                </a:r>
                <a:r>
                  <a:rPr lang="zh-CN" altLang="en-US" dirty="0" smtClean="0"/>
                  <a:t>所以在那个包含两个顶点的非空集合中必定有一条边连接了这两个顶点</a:t>
                </a:r>
                <a:r>
                  <a:rPr lang="en-US" altLang="zh-CN" dirty="0" smtClean="0"/>
                  <a:t>. </a:t>
                </a:r>
                <a:r>
                  <a:rPr lang="zh-CN" altLang="en-US" dirty="0" smtClean="0"/>
                  <a:t>因此</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𝐶</m:t>
                        </m:r>
                      </m:e>
                      <m:sub>
                        <m:r>
                          <a:rPr lang="en-US" altLang="zh-CN" i="1">
                            <a:latin typeface="Cambria Math" panose="02040503050406030204" pitchFamily="18" charset="0"/>
                          </a:rPr>
                          <m:t>3</m:t>
                        </m:r>
                      </m:sub>
                    </m:sSub>
                  </m:oMath>
                </a14:m>
                <a:r>
                  <a:rPr lang="zh-CN" altLang="en-US" dirty="0" smtClean="0"/>
                  <a:t>不是二分图</a:t>
                </a:r>
                <a:r>
                  <a:rPr lang="en-US" altLang="zh-CN" dirty="0" smtClean="0"/>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310" r="-2886"/>
                </a:stretch>
              </a:blipFill>
            </p:spPr>
            <p:txBody>
              <a:bodyPr/>
              <a:lstStyle/>
              <a:p>
                <a:r>
                  <a:rPr lang="zh-CN" altLang="en-US">
                    <a:noFill/>
                  </a:rPr>
                  <a:t> </a:t>
                </a:r>
              </a:p>
            </p:txBody>
          </p:sp>
        </mc:Fallback>
      </mc:AlternateContent>
      <p:sp>
        <p:nvSpPr>
          <p:cNvPr id="9" name="日期占位符 8"/>
          <p:cNvSpPr>
            <a:spLocks noGrp="1"/>
          </p:cNvSpPr>
          <p:nvPr>
            <p:ph type="dt" sz="half" idx="10"/>
          </p:nvPr>
        </p:nvSpPr>
        <p:spPr/>
        <p:txBody>
          <a:bodyPr/>
          <a:lstStyle/>
          <a:p>
            <a:fld id="{097658E7-254D-4AB0-BE92-C32A3D1065E7}" type="datetime1">
              <a:rPr lang="zh-CN" altLang="en-US" smtClean="0"/>
              <a:t>2025/4/15</a:t>
            </a:fld>
            <a:endParaRPr lang="zh-CN" altLang="en-US" dirty="0"/>
          </a:p>
        </p:txBody>
      </p:sp>
      <p:sp>
        <p:nvSpPr>
          <p:cNvPr id="10" name="页脚占位符 9"/>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11" name="灯片编号占位符 10"/>
          <p:cNvSpPr>
            <a:spLocks noGrp="1"/>
          </p:cNvSpPr>
          <p:nvPr>
            <p:ph type="sldNum" sz="quarter" idx="12"/>
          </p:nvPr>
        </p:nvSpPr>
        <p:spPr/>
        <p:txBody>
          <a:bodyPr/>
          <a:lstStyle/>
          <a:p>
            <a:fld id="{67913A8A-9EFB-4B5F-9CCB-3D21173FAA85}" type="slidenum">
              <a:rPr lang="zh-CN" altLang="en-US" smtClean="0"/>
              <a:pPr/>
              <a:t>41</a:t>
            </a:fld>
            <a:endParaRPr lang="zh-CN" altLang="en-US" dirty="0"/>
          </a:p>
        </p:txBody>
      </p:sp>
      <p:pic>
        <p:nvPicPr>
          <p:cNvPr id="4" name="图片 3"/>
          <p:cNvPicPr>
            <a:picLocks noChangeAspect="1"/>
          </p:cNvPicPr>
          <p:nvPr/>
        </p:nvPicPr>
        <p:blipFill>
          <a:blip r:embed="rId3"/>
          <a:stretch>
            <a:fillRect/>
          </a:stretch>
        </p:blipFill>
        <p:spPr>
          <a:xfrm>
            <a:off x="5011857" y="1295400"/>
            <a:ext cx="2168286" cy="1867558"/>
          </a:xfrm>
          <a:prstGeom prst="rect">
            <a:avLst/>
          </a:prstGeom>
        </p:spPr>
      </p:pic>
    </p:spTree>
    <p:extLst>
      <p:ext uri="{BB962C8B-B14F-4D97-AF65-F5344CB8AC3E}">
        <p14:creationId xmlns:p14="http://schemas.microsoft.com/office/powerpoint/2010/main" val="311351636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457200" y="1676400"/>
            <a:ext cx="11277599" cy="8382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smtClean="0"/>
              <a:t>二分图</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smtClean="0"/>
                  <a:t>判断一个图是否为二分图的一个有用准则</a:t>
                </a:r>
                <a:r>
                  <a:rPr lang="en-US" altLang="zh-CN" dirty="0" smtClean="0"/>
                  <a:t>: </a:t>
                </a:r>
              </a:p>
              <a:p>
                <a:r>
                  <a:rPr lang="zh-CN" altLang="en-US" dirty="0" smtClean="0"/>
                  <a:t>定理</a:t>
                </a:r>
                <a:r>
                  <a:rPr lang="en-US" dirty="0" smtClean="0"/>
                  <a:t>: </a:t>
                </a:r>
                <a:r>
                  <a:rPr lang="zh-CN" altLang="en-US" dirty="0" smtClean="0"/>
                  <a:t>一个简单图是二分图</a:t>
                </a:r>
                <a:r>
                  <a:rPr lang="en-US" altLang="zh-CN" dirty="0" smtClean="0"/>
                  <a:t>, </a:t>
                </a:r>
                <a:r>
                  <a:rPr lang="zh-CN" altLang="en-US" dirty="0" smtClean="0"/>
                  <a:t>当且仅当能够对图中的每个顶点赋予两种不同的颜色</a:t>
                </a:r>
                <a:r>
                  <a:rPr lang="en-US" altLang="zh-CN" dirty="0" smtClean="0"/>
                  <a:t>, </a:t>
                </a:r>
                <a:r>
                  <a:rPr lang="zh-CN" altLang="en-US" dirty="0" smtClean="0"/>
                  <a:t>并使得没有两个相邻的顶点被赋予相同的颜色</a:t>
                </a:r>
                <a:r>
                  <a:rPr lang="en-US" altLang="zh-CN" dirty="0" smtClean="0"/>
                  <a:t>.</a:t>
                </a:r>
              </a:p>
              <a:p>
                <a:r>
                  <a:rPr lang="zh-CN" altLang="en-US" dirty="0" smtClean="0"/>
                  <a:t>证</a:t>
                </a:r>
                <a:r>
                  <a:rPr lang="en-US" altLang="zh-CN" dirty="0" smtClean="0"/>
                  <a:t>: </a:t>
                </a:r>
              </a:p>
              <a:p>
                <a:pPr lvl="1">
                  <a:lnSpc>
                    <a:spcPct val="100000"/>
                  </a:lnSpc>
                </a:pPr>
                <a:r>
                  <a:rPr lang="zh-CN" altLang="en-US" dirty="0" smtClean="0"/>
                  <a:t>首先</a:t>
                </a:r>
                <a:r>
                  <a:rPr lang="en-US" altLang="zh-CN" dirty="0" smtClean="0"/>
                  <a:t>, </a:t>
                </a:r>
                <a:r>
                  <a:rPr lang="zh-CN" altLang="en-US" dirty="0" smtClean="0"/>
                  <a:t>设</a:t>
                </a:r>
                <a:r>
                  <a:rPr lang="en-US" altLang="zh-CN" dirty="0"/>
                  <a:t>G</a:t>
                </a:r>
                <a:r>
                  <a:rPr lang="en-US" altLang="zh-CN" dirty="0" smtClean="0"/>
                  <a:t>=(U, V</a:t>
                </a:r>
                <a:r>
                  <a:rPr lang="en-US" altLang="zh-CN" dirty="0"/>
                  <a:t>)</a:t>
                </a:r>
                <a:r>
                  <a:rPr lang="en-US" altLang="zh-CN" dirty="0" smtClean="0"/>
                  <a:t> </a:t>
                </a:r>
                <a:r>
                  <a:rPr lang="zh-CN" altLang="en-US" dirty="0" smtClean="0"/>
                  <a:t>是</a:t>
                </a:r>
                <a:r>
                  <a:rPr lang="zh-CN" altLang="en-US" dirty="0"/>
                  <a:t>一个二分</a:t>
                </a:r>
                <a:r>
                  <a:rPr lang="zh-CN" altLang="en-US" dirty="0" smtClean="0"/>
                  <a:t>图</a:t>
                </a:r>
                <a:r>
                  <a:rPr lang="en-US" altLang="zh-CN" dirty="0" smtClean="0"/>
                  <a:t>. </a:t>
                </a:r>
                <a:r>
                  <a:rPr lang="zh-CN" altLang="en-US" dirty="0" smtClean="0"/>
                  <a:t>那么</a:t>
                </a:r>
                <a14:m>
                  <m:oMath xmlns:m="http://schemas.openxmlformats.org/officeDocument/2006/math">
                    <m:r>
                      <m:rPr>
                        <m:sty m:val="p"/>
                      </m:rPr>
                      <a:rPr lang="en-US" altLang="zh-CN">
                        <a:latin typeface="Cambria Math" panose="02040503050406030204" pitchFamily="18" charset="0"/>
                      </a:rPr>
                      <m:t>V</m:t>
                    </m:r>
                    <m:r>
                      <a:rPr lang="en-US" altLang="zh-CN">
                        <a:latin typeface="Cambria Math" panose="02040503050406030204" pitchFamily="18" charset="0"/>
                      </a:rPr>
                      <m:t>=</m:t>
                    </m:r>
                    <m:sSub>
                      <m:sSubPr>
                        <m:ctrlPr>
                          <a:rPr lang="en-US" altLang="zh-CN" i="1" smtClean="0">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b="0" i="1" smtClean="0">
                            <a:latin typeface="Cambria Math" panose="02040503050406030204" pitchFamily="18" charset="0"/>
                          </a:rPr>
                          <m:t>1</m:t>
                        </m:r>
                      </m:sub>
                    </m:sSub>
                    <m:r>
                      <a:rPr lang="en-US" altLang="zh-CN">
                        <a:latin typeface="Cambria Math" panose="02040503050406030204" pitchFamily="18" charset="0"/>
                      </a:rPr>
                      <m:t>∪</m:t>
                    </m:r>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b="0" i="1" smtClean="0">
                            <a:latin typeface="Cambria Math" panose="02040503050406030204" pitchFamily="18" charset="0"/>
                          </a:rPr>
                          <m:t>2</m:t>
                        </m:r>
                      </m:sub>
                    </m:sSub>
                  </m:oMath>
                </a14:m>
                <a:r>
                  <a:rPr lang="en-US" altLang="zh-CN" dirty="0" smtClean="0"/>
                  <a:t>, </a:t>
                </a:r>
                <a:r>
                  <a:rPr lang="zh-CN" altLang="en-US" dirty="0" smtClean="0"/>
                  <a:t>其中</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i="1">
                            <a:latin typeface="Cambria Math" panose="02040503050406030204" pitchFamily="18" charset="0"/>
                          </a:rPr>
                          <m:t>1</m:t>
                        </m:r>
                      </m:sub>
                    </m:sSub>
                  </m:oMath>
                </a14:m>
                <a:r>
                  <a:rPr lang="zh-CN" altLang="en-US" dirty="0"/>
                  <a:t>和</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i="1">
                            <a:latin typeface="Cambria Math" panose="02040503050406030204" pitchFamily="18" charset="0"/>
                          </a:rPr>
                          <m:t>2</m:t>
                        </m:r>
                      </m:sub>
                    </m:sSub>
                  </m:oMath>
                </a14:m>
                <a:r>
                  <a:rPr lang="zh-CN" altLang="en-US" dirty="0"/>
                  <a:t>是两个不相交的顶点</a:t>
                </a:r>
                <a:r>
                  <a:rPr lang="zh-CN" altLang="en-US" dirty="0" smtClean="0"/>
                  <a:t>集</a:t>
                </a:r>
                <a:r>
                  <a:rPr lang="en-US" altLang="zh-CN" dirty="0" smtClean="0"/>
                  <a:t>, </a:t>
                </a:r>
                <a:r>
                  <a:rPr lang="zh-CN" altLang="en-US" dirty="0" smtClean="0"/>
                  <a:t>且</a:t>
                </a:r>
                <a:r>
                  <a:rPr lang="en-US" altLang="zh-CN" dirty="0"/>
                  <a:t>E</a:t>
                </a:r>
                <a:r>
                  <a:rPr lang="zh-CN" altLang="en-US" dirty="0"/>
                  <a:t>中每一条边都连接一个</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i="1">
                            <a:latin typeface="Cambria Math" panose="02040503050406030204" pitchFamily="18" charset="0"/>
                          </a:rPr>
                          <m:t>1</m:t>
                        </m:r>
                      </m:sub>
                    </m:sSub>
                  </m:oMath>
                </a14:m>
                <a:r>
                  <a:rPr lang="zh-CN" altLang="en-US" dirty="0"/>
                  <a:t>的顶点和一个</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i="1">
                            <a:latin typeface="Cambria Math" panose="02040503050406030204" pitchFamily="18" charset="0"/>
                          </a:rPr>
                          <m:t>2</m:t>
                        </m:r>
                      </m:sub>
                    </m:sSub>
                  </m:oMath>
                </a14:m>
                <a:r>
                  <a:rPr lang="zh-CN" altLang="en-US" dirty="0"/>
                  <a:t>的</a:t>
                </a:r>
                <a:r>
                  <a:rPr lang="zh-CN" altLang="en-US" dirty="0" smtClean="0"/>
                  <a:t>顶点</a:t>
                </a:r>
                <a:r>
                  <a:rPr lang="en-US" altLang="zh-CN" dirty="0" smtClean="0"/>
                  <a:t>. </a:t>
                </a:r>
                <a:r>
                  <a:rPr lang="zh-CN" altLang="en-US" dirty="0" smtClean="0"/>
                  <a:t>如果</a:t>
                </a:r>
                <a:r>
                  <a:rPr lang="zh-CN" altLang="en-US" dirty="0"/>
                  <a:t>对</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i="1">
                            <a:latin typeface="Cambria Math" panose="02040503050406030204" pitchFamily="18" charset="0"/>
                          </a:rPr>
                          <m:t>1</m:t>
                        </m:r>
                      </m:sub>
                    </m:sSub>
                  </m:oMath>
                </a14:m>
                <a:r>
                  <a:rPr lang="zh-CN" altLang="en-US" dirty="0"/>
                  <a:t>中的每个顶点赋予一种</a:t>
                </a:r>
                <a:r>
                  <a:rPr lang="zh-CN" altLang="en-US" dirty="0" smtClean="0"/>
                  <a:t>颜色</a:t>
                </a:r>
                <a:r>
                  <a:rPr lang="en-US" altLang="zh-CN" dirty="0" smtClean="0"/>
                  <a:t>, </a:t>
                </a:r>
                <a:r>
                  <a:rPr lang="zh-CN" altLang="en-US" dirty="0" smtClean="0"/>
                  <a:t>而</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i="1">
                            <a:latin typeface="Cambria Math" panose="02040503050406030204" pitchFamily="18" charset="0"/>
                          </a:rPr>
                          <m:t>2</m:t>
                        </m:r>
                      </m:sub>
                    </m:sSub>
                  </m:oMath>
                </a14:m>
                <a:r>
                  <a:rPr lang="zh-CN" altLang="en-US" dirty="0" smtClean="0"/>
                  <a:t>赋予</a:t>
                </a:r>
                <a:r>
                  <a:rPr lang="zh-CN" altLang="en-US" dirty="0"/>
                  <a:t>另外一种</a:t>
                </a:r>
                <a:r>
                  <a:rPr lang="zh-CN" altLang="en-US" dirty="0" smtClean="0"/>
                  <a:t>颜色</a:t>
                </a:r>
                <a:r>
                  <a:rPr lang="en-US" altLang="zh-CN" dirty="0" smtClean="0"/>
                  <a:t>, </a:t>
                </a:r>
                <a:r>
                  <a:rPr lang="zh-CN" altLang="en-US" dirty="0" smtClean="0"/>
                  <a:t>那么</a:t>
                </a:r>
                <a:r>
                  <a:rPr lang="zh-CN" altLang="en-US" dirty="0"/>
                  <a:t>就没有两个相邻的顶点被赋予相同的</a:t>
                </a:r>
                <a:r>
                  <a:rPr lang="zh-CN" altLang="en-US" dirty="0" smtClean="0"/>
                  <a:t>颜色</a:t>
                </a:r>
                <a:r>
                  <a:rPr lang="en-US" altLang="zh-CN" dirty="0" smtClean="0"/>
                  <a:t>.</a:t>
                </a:r>
                <a:endParaRPr lang="en-US" altLang="zh-C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310" r="-55"/>
                </a:stretch>
              </a:blipFill>
            </p:spPr>
            <p:txBody>
              <a:bodyPr/>
              <a:lstStyle/>
              <a:p>
                <a:r>
                  <a:rPr lang="zh-CN" altLang="en-US">
                    <a:noFill/>
                  </a:rPr>
                  <a:t> </a:t>
                </a:r>
              </a:p>
            </p:txBody>
          </p:sp>
        </mc:Fallback>
      </mc:AlternateContent>
      <p:sp>
        <p:nvSpPr>
          <p:cNvPr id="16" name="日期占位符 15"/>
          <p:cNvSpPr>
            <a:spLocks noGrp="1"/>
          </p:cNvSpPr>
          <p:nvPr>
            <p:ph type="dt" sz="half" idx="10"/>
          </p:nvPr>
        </p:nvSpPr>
        <p:spPr/>
        <p:txBody>
          <a:bodyPr/>
          <a:lstStyle/>
          <a:p>
            <a:fld id="{69B7807B-06CE-4948-A534-98468AD91C85}" type="datetime1">
              <a:rPr lang="zh-CN" altLang="en-US" smtClean="0"/>
              <a:t>2025/4/15</a:t>
            </a:fld>
            <a:endParaRPr lang="zh-CN" altLang="en-US" dirty="0"/>
          </a:p>
        </p:txBody>
      </p:sp>
      <p:sp>
        <p:nvSpPr>
          <p:cNvPr id="17" name="页脚占位符 1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18" name="灯片编号占位符 17"/>
          <p:cNvSpPr>
            <a:spLocks noGrp="1"/>
          </p:cNvSpPr>
          <p:nvPr>
            <p:ph type="sldNum" sz="quarter" idx="12"/>
          </p:nvPr>
        </p:nvSpPr>
        <p:spPr/>
        <p:txBody>
          <a:bodyPr/>
          <a:lstStyle/>
          <a:p>
            <a:fld id="{67913A8A-9EFB-4B5F-9CCB-3D21173FAA85}" type="slidenum">
              <a:rPr lang="zh-CN" altLang="en-US" smtClean="0"/>
              <a:pPr/>
              <a:t>42</a:t>
            </a:fld>
            <a:endParaRPr lang="zh-CN" altLang="en-US" dirty="0"/>
          </a:p>
        </p:txBody>
      </p:sp>
    </p:spTree>
    <p:extLst>
      <p:ext uri="{BB962C8B-B14F-4D97-AF65-F5344CB8AC3E}">
        <p14:creationId xmlns:p14="http://schemas.microsoft.com/office/powerpoint/2010/main" val="28044253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457200" y="1676400"/>
            <a:ext cx="11277599" cy="8382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smtClean="0"/>
              <a:t>二分图</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smtClean="0"/>
                  <a:t>判断一个图是否为二分图的一个有用准则</a:t>
                </a:r>
                <a:r>
                  <a:rPr lang="en-US" altLang="zh-CN" dirty="0" smtClean="0"/>
                  <a:t>: </a:t>
                </a:r>
              </a:p>
              <a:p>
                <a:r>
                  <a:rPr lang="zh-CN" altLang="en-US" dirty="0" smtClean="0"/>
                  <a:t>定理</a:t>
                </a:r>
                <a:r>
                  <a:rPr lang="en-US" dirty="0" smtClean="0"/>
                  <a:t>: </a:t>
                </a:r>
                <a:r>
                  <a:rPr lang="zh-CN" altLang="en-US" dirty="0" smtClean="0"/>
                  <a:t>一个简单图是二分图</a:t>
                </a:r>
                <a:r>
                  <a:rPr lang="en-US" altLang="zh-CN" dirty="0" smtClean="0"/>
                  <a:t>, </a:t>
                </a:r>
                <a:r>
                  <a:rPr lang="zh-CN" altLang="en-US" dirty="0" smtClean="0"/>
                  <a:t>当且仅当能够对图中的每个顶点赋予两种不同的颜色</a:t>
                </a:r>
                <a:r>
                  <a:rPr lang="en-US" altLang="zh-CN" dirty="0" smtClean="0"/>
                  <a:t>, </a:t>
                </a:r>
                <a:r>
                  <a:rPr lang="zh-CN" altLang="en-US" dirty="0" smtClean="0"/>
                  <a:t>并使得没有两个相邻的顶点被赋予相同的颜色</a:t>
                </a:r>
                <a:r>
                  <a:rPr lang="en-US" altLang="zh-CN" dirty="0" smtClean="0"/>
                  <a:t>.</a:t>
                </a:r>
              </a:p>
              <a:p>
                <a:r>
                  <a:rPr lang="zh-CN" altLang="en-US" dirty="0" smtClean="0"/>
                  <a:t>证</a:t>
                </a:r>
                <a:r>
                  <a:rPr lang="en-US" altLang="zh-CN" dirty="0" smtClean="0"/>
                  <a:t>(</a:t>
                </a:r>
                <a:r>
                  <a:rPr lang="zh-CN" altLang="en-US" dirty="0" smtClean="0"/>
                  <a:t>续</a:t>
                </a:r>
                <a:r>
                  <a:rPr lang="en-US" altLang="zh-CN" dirty="0" smtClean="0"/>
                  <a:t>): </a:t>
                </a:r>
              </a:p>
              <a:p>
                <a:pPr lvl="1">
                  <a:lnSpc>
                    <a:spcPct val="100000"/>
                  </a:lnSpc>
                </a:pPr>
                <a:r>
                  <a:rPr lang="zh-CN" altLang="en-US" dirty="0"/>
                  <a:t>现在假设可以仅用两个颜色对图中的顶点着色</a:t>
                </a:r>
                <a:r>
                  <a:rPr lang="en-US" altLang="zh-CN" dirty="0" smtClean="0"/>
                  <a:t>, </a:t>
                </a:r>
                <a:r>
                  <a:rPr lang="zh-CN" altLang="en-US" dirty="0" smtClean="0"/>
                  <a:t>并</a:t>
                </a:r>
                <a:r>
                  <a:rPr lang="zh-CN" altLang="en-US" dirty="0"/>
                  <a:t>使得没有两个相邻的顶点被赋予相同的颜色</a:t>
                </a:r>
                <a:r>
                  <a:rPr lang="en-US" altLang="zh-CN" dirty="0"/>
                  <a:t>. </a:t>
                </a:r>
                <a:r>
                  <a:rPr lang="zh-CN" altLang="en-US" dirty="0"/>
                  <a:t>令</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i="1">
                            <a:latin typeface="Cambria Math" panose="02040503050406030204" pitchFamily="18" charset="0"/>
                          </a:rPr>
                          <m:t>1</m:t>
                        </m:r>
                      </m:sub>
                    </m:sSub>
                  </m:oMath>
                </a14:m>
                <a:r>
                  <a:rPr lang="zh-CN" altLang="en-US" dirty="0"/>
                  <a:t>为其中一种颜色的顶点</a:t>
                </a:r>
                <a:r>
                  <a:rPr lang="en-US" altLang="zh-CN" dirty="0"/>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i="1">
                            <a:latin typeface="Cambria Math" panose="02040503050406030204" pitchFamily="18" charset="0"/>
                          </a:rPr>
                          <m:t>2</m:t>
                        </m:r>
                      </m:sub>
                    </m:sSub>
                  </m:oMath>
                </a14:m>
                <a:r>
                  <a:rPr lang="zh-CN" altLang="en-US" dirty="0"/>
                  <a:t>为另外一种颜色的顶点集</a:t>
                </a:r>
                <a:r>
                  <a:rPr lang="en-US" altLang="zh-CN" dirty="0" smtClean="0"/>
                  <a:t>, </a:t>
                </a:r>
                <a:r>
                  <a:rPr lang="zh-CN" altLang="en-US" dirty="0" smtClean="0"/>
                  <a:t>则</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i="1">
                            <a:latin typeface="Cambria Math" panose="02040503050406030204" pitchFamily="18" charset="0"/>
                          </a:rPr>
                          <m:t>1</m:t>
                        </m:r>
                      </m:sub>
                    </m:sSub>
                  </m:oMath>
                </a14:m>
                <a:r>
                  <a:rPr lang="zh-CN" altLang="en-US" dirty="0"/>
                  <a:t>和</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i="1">
                            <a:latin typeface="Cambria Math" panose="02040503050406030204" pitchFamily="18" charset="0"/>
                          </a:rPr>
                          <m:t>2</m:t>
                        </m:r>
                      </m:sub>
                    </m:sSub>
                  </m:oMath>
                </a14:m>
                <a:r>
                  <a:rPr lang="zh-CN" altLang="en-US" dirty="0"/>
                  <a:t>是不相交且</a:t>
                </a:r>
                <a14:m>
                  <m:oMath xmlns:m="http://schemas.openxmlformats.org/officeDocument/2006/math">
                    <m:r>
                      <m:rPr>
                        <m:sty m:val="p"/>
                      </m:rPr>
                      <a:rPr lang="en-US" altLang="zh-CN">
                        <a:latin typeface="Cambria Math" panose="02040503050406030204" pitchFamily="18" charset="0"/>
                      </a:rPr>
                      <m:t>V</m:t>
                    </m:r>
                    <m:r>
                      <a:rPr lang="en-US" altLang="zh-CN">
                        <a:latin typeface="Cambria Math" panose="02040503050406030204" pitchFamily="18" charset="0"/>
                      </a:rPr>
                      <m:t>=</m:t>
                    </m:r>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i="1">
                            <a:latin typeface="Cambria Math" panose="02040503050406030204" pitchFamily="18" charset="0"/>
                          </a:rPr>
                          <m:t>1</m:t>
                        </m:r>
                      </m:sub>
                    </m:sSub>
                    <m:r>
                      <a:rPr lang="en-US" altLang="zh-CN">
                        <a:latin typeface="Cambria Math" panose="02040503050406030204" pitchFamily="18" charset="0"/>
                      </a:rPr>
                      <m:t>∪</m:t>
                    </m:r>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i="1">
                            <a:latin typeface="Cambria Math" panose="02040503050406030204" pitchFamily="18" charset="0"/>
                          </a:rPr>
                          <m:t>2</m:t>
                        </m:r>
                      </m:sub>
                    </m:sSub>
                  </m:oMath>
                </a14:m>
                <a:r>
                  <a:rPr lang="en-US" altLang="zh-CN" dirty="0"/>
                  <a:t>. </a:t>
                </a:r>
                <a:r>
                  <a:rPr lang="zh-CN" altLang="en-US" dirty="0"/>
                  <a:t>此外</a:t>
                </a:r>
                <a:r>
                  <a:rPr lang="en-US" altLang="zh-CN" dirty="0" smtClean="0"/>
                  <a:t>, </a:t>
                </a:r>
                <a:r>
                  <a:rPr lang="zh-CN" altLang="en-US" dirty="0" smtClean="0"/>
                  <a:t>每</a:t>
                </a:r>
                <a:r>
                  <a:rPr lang="zh-CN" altLang="en-US" dirty="0"/>
                  <a:t>条边都连接一个</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i="1">
                            <a:latin typeface="Cambria Math" panose="02040503050406030204" pitchFamily="18" charset="0"/>
                          </a:rPr>
                          <m:t>1</m:t>
                        </m:r>
                      </m:sub>
                    </m:sSub>
                  </m:oMath>
                </a14:m>
                <a:r>
                  <a:rPr lang="zh-CN" altLang="en-US" dirty="0"/>
                  <a:t>的顶点和一个</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i="1">
                            <a:latin typeface="Cambria Math" panose="02040503050406030204" pitchFamily="18" charset="0"/>
                          </a:rPr>
                          <m:t>2</m:t>
                        </m:r>
                      </m:sub>
                    </m:sSub>
                  </m:oMath>
                </a14:m>
                <a:r>
                  <a:rPr lang="zh-CN" altLang="en-US" dirty="0"/>
                  <a:t>的顶点</a:t>
                </a:r>
                <a:r>
                  <a:rPr lang="en-US" altLang="zh-CN" dirty="0" smtClean="0"/>
                  <a:t>, </a:t>
                </a:r>
                <a:r>
                  <a:rPr lang="zh-CN" altLang="en-US" dirty="0" smtClean="0"/>
                  <a:t>因为</a:t>
                </a:r>
                <a:r>
                  <a:rPr lang="zh-CN" altLang="en-US" dirty="0"/>
                  <a:t>并无相邻的顶点同在</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i="1">
                            <a:latin typeface="Cambria Math" panose="02040503050406030204" pitchFamily="18" charset="0"/>
                          </a:rPr>
                          <m:t>1</m:t>
                        </m:r>
                      </m:sub>
                    </m:sSub>
                  </m:oMath>
                </a14:m>
                <a:r>
                  <a:rPr lang="zh-CN" altLang="en-US" dirty="0"/>
                  <a:t>或同在</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i="1">
                            <a:latin typeface="Cambria Math" panose="02040503050406030204" pitchFamily="18" charset="0"/>
                          </a:rPr>
                          <m:t>2</m:t>
                        </m:r>
                      </m:sub>
                    </m:sSub>
                  </m:oMath>
                </a14:m>
                <a:r>
                  <a:rPr lang="zh-CN" altLang="en-US" dirty="0"/>
                  <a:t>中</a:t>
                </a:r>
                <a:r>
                  <a:rPr lang="en-US" altLang="zh-CN" dirty="0"/>
                  <a:t>. </a:t>
                </a:r>
                <a:r>
                  <a:rPr lang="zh-CN" altLang="en-US" dirty="0"/>
                  <a:t>所以</a:t>
                </a:r>
                <a:r>
                  <a:rPr lang="en-US" altLang="zh-CN" dirty="0"/>
                  <a:t>G</a:t>
                </a:r>
                <a:r>
                  <a:rPr lang="zh-CN" altLang="en-US" dirty="0"/>
                  <a:t>是二分图</a:t>
                </a:r>
                <a:r>
                  <a:rPr lang="en-US" altLang="zh-CN" dirty="0" smtClean="0"/>
                  <a:t>.</a:t>
                </a:r>
                <a:endParaRPr lang="en-US" altLang="zh-C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310" r="-1387"/>
                </a:stretch>
              </a:blipFill>
            </p:spPr>
            <p:txBody>
              <a:bodyPr/>
              <a:lstStyle/>
              <a:p>
                <a:r>
                  <a:rPr lang="zh-CN" altLang="en-US">
                    <a:noFill/>
                  </a:rPr>
                  <a:t> </a:t>
                </a:r>
              </a:p>
            </p:txBody>
          </p:sp>
        </mc:Fallback>
      </mc:AlternateContent>
      <p:sp>
        <p:nvSpPr>
          <p:cNvPr id="16" name="日期占位符 15"/>
          <p:cNvSpPr>
            <a:spLocks noGrp="1"/>
          </p:cNvSpPr>
          <p:nvPr>
            <p:ph type="dt" sz="half" idx="10"/>
          </p:nvPr>
        </p:nvSpPr>
        <p:spPr/>
        <p:txBody>
          <a:bodyPr/>
          <a:lstStyle/>
          <a:p>
            <a:fld id="{910F8BBE-9717-4DE2-B531-AB5E4365183A}" type="datetime1">
              <a:rPr lang="zh-CN" altLang="en-US" smtClean="0"/>
              <a:t>2025/4/15</a:t>
            </a:fld>
            <a:endParaRPr lang="zh-CN" altLang="en-US" dirty="0"/>
          </a:p>
        </p:txBody>
      </p:sp>
      <p:sp>
        <p:nvSpPr>
          <p:cNvPr id="17" name="页脚占位符 1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18" name="灯片编号占位符 17"/>
          <p:cNvSpPr>
            <a:spLocks noGrp="1"/>
          </p:cNvSpPr>
          <p:nvPr>
            <p:ph type="sldNum" sz="quarter" idx="12"/>
          </p:nvPr>
        </p:nvSpPr>
        <p:spPr/>
        <p:txBody>
          <a:bodyPr/>
          <a:lstStyle/>
          <a:p>
            <a:fld id="{67913A8A-9EFB-4B5F-9CCB-3D21173FAA85}" type="slidenum">
              <a:rPr lang="zh-CN" altLang="en-US" smtClean="0"/>
              <a:pPr/>
              <a:t>43</a:t>
            </a:fld>
            <a:endParaRPr lang="zh-CN" altLang="en-US" dirty="0"/>
          </a:p>
        </p:txBody>
      </p:sp>
    </p:spTree>
    <p:extLst>
      <p:ext uri="{BB962C8B-B14F-4D97-AF65-F5344CB8AC3E}">
        <p14:creationId xmlns:p14="http://schemas.microsoft.com/office/powerpoint/2010/main" val="27356617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二分图</a:t>
            </a:r>
            <a:endParaRPr lang="en-US" dirty="0"/>
          </a:p>
        </p:txBody>
      </p:sp>
      <p:sp>
        <p:nvSpPr>
          <p:cNvPr id="3" name="Content Placeholder 2"/>
          <p:cNvSpPr>
            <a:spLocks noGrp="1"/>
          </p:cNvSpPr>
          <p:nvPr>
            <p:ph idx="1"/>
          </p:nvPr>
        </p:nvSpPr>
        <p:spPr/>
        <p:txBody>
          <a:bodyPr>
            <a:normAutofit/>
          </a:bodyPr>
          <a:lstStyle/>
          <a:p>
            <a:r>
              <a:rPr lang="zh-CN" altLang="en-US" dirty="0" smtClean="0"/>
              <a:t>例</a:t>
            </a:r>
            <a:r>
              <a:rPr lang="en-US" altLang="zh-CN" dirty="0" smtClean="0"/>
              <a:t>: </a:t>
            </a:r>
            <a:r>
              <a:rPr lang="zh-CN" altLang="en-US" dirty="0" smtClean="0"/>
              <a:t>用定理说明下图的</a:t>
            </a:r>
            <a:r>
              <a:rPr lang="en-US" altLang="zh-CN" dirty="0" smtClean="0"/>
              <a:t>G</a:t>
            </a:r>
            <a:r>
              <a:rPr lang="zh-CN" altLang="en-US" dirty="0" smtClean="0"/>
              <a:t>和</a:t>
            </a:r>
            <a:r>
              <a:rPr lang="en-US" altLang="zh-CN" dirty="0" smtClean="0"/>
              <a:t>H</a:t>
            </a:r>
            <a:r>
              <a:rPr lang="zh-CN" altLang="en-US" dirty="0" smtClean="0"/>
              <a:t>是否是二分图？</a:t>
            </a:r>
            <a:endParaRPr lang="en-US" altLang="zh-CN" dirty="0" smtClean="0"/>
          </a:p>
          <a:p>
            <a:endParaRPr lang="en-US" altLang="zh-CN" dirty="0"/>
          </a:p>
          <a:p>
            <a:endParaRPr lang="en-US" altLang="zh-CN" dirty="0" smtClean="0"/>
          </a:p>
          <a:p>
            <a:endParaRPr lang="en-US" altLang="zh-CN" dirty="0"/>
          </a:p>
          <a:p>
            <a:r>
              <a:rPr lang="zh-CN" altLang="en-US" dirty="0" smtClean="0"/>
              <a:t>解</a:t>
            </a:r>
            <a:r>
              <a:rPr lang="en-US" altLang="zh-CN" dirty="0" smtClean="0"/>
              <a:t>: </a:t>
            </a:r>
          </a:p>
          <a:p>
            <a:pPr lvl="1">
              <a:lnSpc>
                <a:spcPct val="100000"/>
              </a:lnSpc>
            </a:pPr>
            <a:r>
              <a:rPr lang="zh-CN" altLang="en-US" dirty="0" smtClean="0"/>
              <a:t>图</a:t>
            </a:r>
            <a:r>
              <a:rPr lang="en-US" altLang="zh-CN" dirty="0" smtClean="0"/>
              <a:t>G</a:t>
            </a:r>
            <a:r>
              <a:rPr lang="zh-CN" altLang="en-US" dirty="0" smtClean="0"/>
              <a:t>中</a:t>
            </a:r>
            <a:r>
              <a:rPr lang="en-US" altLang="zh-CN" dirty="0" smtClean="0"/>
              <a:t>, </a:t>
            </a:r>
            <a:r>
              <a:rPr lang="zh-CN" altLang="en-US" dirty="0" smtClean="0"/>
              <a:t>试为每个顶点赋予两种颜色</a:t>
            </a:r>
            <a:r>
              <a:rPr lang="en-US" altLang="zh-CN" dirty="0" smtClean="0"/>
              <a:t>(</a:t>
            </a:r>
            <a:r>
              <a:rPr lang="zh-CN" altLang="en-US" dirty="0" smtClean="0"/>
              <a:t>如红和蓝</a:t>
            </a:r>
            <a:r>
              <a:rPr lang="en-US" altLang="zh-CN" dirty="0" smtClean="0"/>
              <a:t>)</a:t>
            </a:r>
            <a:r>
              <a:rPr lang="zh-CN" altLang="en-US" dirty="0" smtClean="0"/>
              <a:t>中的一种</a:t>
            </a:r>
            <a:r>
              <a:rPr lang="en-US" altLang="zh-CN" dirty="0" smtClean="0"/>
              <a:t>, </a:t>
            </a:r>
            <a:r>
              <a:rPr lang="zh-CN" altLang="en-US" dirty="0" smtClean="0"/>
              <a:t>使得</a:t>
            </a:r>
            <a:r>
              <a:rPr lang="en-US" altLang="zh-CN" dirty="0" smtClean="0"/>
              <a:t>G</a:t>
            </a:r>
            <a:r>
              <a:rPr lang="zh-CN" altLang="en-US" dirty="0" smtClean="0"/>
              <a:t>的每一条边都连接一个红色顶点和蓝色顶点</a:t>
            </a:r>
            <a:r>
              <a:rPr lang="en-US" altLang="zh-CN" dirty="0" smtClean="0"/>
              <a:t>. </a:t>
            </a:r>
            <a:r>
              <a:rPr lang="zh-CN" altLang="en-US" dirty="0" smtClean="0"/>
              <a:t>不失一般性</a:t>
            </a:r>
            <a:r>
              <a:rPr lang="en-US" altLang="zh-CN" dirty="0" smtClean="0"/>
              <a:t>, </a:t>
            </a:r>
            <a:r>
              <a:rPr lang="zh-CN" altLang="en-US" dirty="0" smtClean="0"/>
              <a:t>我们任意赋予顶点</a:t>
            </a:r>
            <a:r>
              <a:rPr lang="en-US" altLang="zh-CN" dirty="0" smtClean="0"/>
              <a:t>a</a:t>
            </a:r>
            <a:r>
              <a:rPr lang="zh-CN" altLang="en-US" dirty="0" smtClean="0"/>
              <a:t>红色</a:t>
            </a:r>
            <a:r>
              <a:rPr lang="en-US" altLang="zh-CN" dirty="0" smtClean="0"/>
              <a:t>, </a:t>
            </a:r>
            <a:r>
              <a:rPr lang="zh-CN" altLang="en-US" dirty="0" smtClean="0"/>
              <a:t>然后必须对</a:t>
            </a:r>
            <a:r>
              <a:rPr lang="en-US" altLang="zh-CN" dirty="0" smtClean="0"/>
              <a:t>c, e, f, g</a:t>
            </a:r>
            <a:r>
              <a:rPr lang="zh-CN" altLang="en-US" dirty="0" smtClean="0"/>
              <a:t>赋予蓝色</a:t>
            </a:r>
            <a:r>
              <a:rPr lang="en-US" altLang="zh-CN" dirty="0" smtClean="0"/>
              <a:t>, </a:t>
            </a:r>
            <a:r>
              <a:rPr lang="zh-CN" altLang="en-US" dirty="0" smtClean="0"/>
              <a:t>因为他们和</a:t>
            </a:r>
            <a:r>
              <a:rPr lang="en-US" altLang="zh-CN" dirty="0" smtClean="0"/>
              <a:t>a</a:t>
            </a:r>
            <a:r>
              <a:rPr lang="zh-CN" altLang="en-US" dirty="0" smtClean="0"/>
              <a:t>邻接</a:t>
            </a:r>
            <a:r>
              <a:rPr lang="en-US" altLang="zh-CN" dirty="0" smtClean="0"/>
              <a:t>. </a:t>
            </a:r>
            <a:r>
              <a:rPr lang="zh-CN" altLang="en-US" dirty="0" smtClean="0"/>
              <a:t>所以</a:t>
            </a:r>
            <a:r>
              <a:rPr lang="en-US" altLang="zh-CN" dirty="0" smtClean="0"/>
              <a:t>b</a:t>
            </a:r>
            <a:r>
              <a:rPr lang="zh-CN" altLang="en-US" dirty="0" smtClean="0"/>
              <a:t>和</a:t>
            </a:r>
            <a:r>
              <a:rPr lang="en-US" altLang="zh-CN" dirty="0" smtClean="0"/>
              <a:t>d</a:t>
            </a:r>
            <a:r>
              <a:rPr lang="zh-CN" altLang="en-US" dirty="0" smtClean="0"/>
              <a:t>必须赋予红色</a:t>
            </a:r>
            <a:r>
              <a:rPr lang="en-US" altLang="zh-CN" dirty="0" smtClean="0"/>
              <a:t>(</a:t>
            </a:r>
            <a:r>
              <a:rPr lang="zh-CN" altLang="en-US" dirty="0" smtClean="0"/>
              <a:t>意味着</a:t>
            </a:r>
            <a:r>
              <a:rPr lang="en-US" altLang="zh-CN" dirty="0" smtClean="0"/>
              <a:t>a</a:t>
            </a:r>
            <a:r>
              <a:rPr lang="zh-CN" altLang="en-US" dirty="0" smtClean="0"/>
              <a:t>必须赋予红色</a:t>
            </a:r>
            <a:r>
              <a:rPr lang="en-US" altLang="zh-CN" dirty="0" smtClean="0"/>
              <a:t>, </a:t>
            </a:r>
            <a:r>
              <a:rPr lang="zh-CN" altLang="en-US" dirty="0" smtClean="0"/>
              <a:t>而</a:t>
            </a:r>
            <a:r>
              <a:rPr lang="en-US" altLang="zh-CN" dirty="0" smtClean="0"/>
              <a:t>a</a:t>
            </a:r>
            <a:r>
              <a:rPr lang="zh-CN" altLang="en-US" dirty="0" smtClean="0"/>
              <a:t>已经是红色</a:t>
            </a:r>
            <a:r>
              <a:rPr lang="en-US" altLang="zh-CN" dirty="0" smtClean="0"/>
              <a:t>). </a:t>
            </a:r>
            <a:r>
              <a:rPr lang="zh-CN" altLang="en-US" dirty="0" smtClean="0"/>
              <a:t>因此</a:t>
            </a:r>
            <a:r>
              <a:rPr lang="en-US" altLang="zh-CN" dirty="0" smtClean="0"/>
              <a:t>, a, b, d</a:t>
            </a:r>
            <a:r>
              <a:rPr lang="zh-CN" altLang="en-US" dirty="0" smtClean="0"/>
              <a:t>为红色</a:t>
            </a:r>
            <a:r>
              <a:rPr lang="en-US" altLang="zh-CN" dirty="0" smtClean="0"/>
              <a:t>, c, e, f, g</a:t>
            </a:r>
            <a:r>
              <a:rPr lang="zh-CN" altLang="en-US" dirty="0" smtClean="0"/>
              <a:t>为蓝色</a:t>
            </a:r>
            <a:r>
              <a:rPr lang="en-US" altLang="zh-CN" dirty="0" smtClean="0"/>
              <a:t>. </a:t>
            </a:r>
            <a:r>
              <a:rPr lang="zh-CN" altLang="en-US" dirty="0" smtClean="0"/>
              <a:t>查看每一条边</a:t>
            </a:r>
            <a:r>
              <a:rPr lang="en-US" altLang="zh-CN" dirty="0" smtClean="0"/>
              <a:t>, </a:t>
            </a:r>
            <a:r>
              <a:rPr lang="zh-CN" altLang="en-US" dirty="0" smtClean="0"/>
              <a:t>我们看到每条边都连接一个红色顶点和一个蓝色顶点</a:t>
            </a:r>
            <a:r>
              <a:rPr lang="en-US" altLang="zh-CN" dirty="0" smtClean="0"/>
              <a:t>. </a:t>
            </a:r>
            <a:r>
              <a:rPr lang="zh-CN" altLang="en-US" dirty="0" smtClean="0"/>
              <a:t>因此</a:t>
            </a:r>
            <a:r>
              <a:rPr lang="en-US" altLang="zh-CN" dirty="0" smtClean="0"/>
              <a:t>, </a:t>
            </a:r>
            <a:r>
              <a:rPr lang="zh-CN" altLang="en-US" dirty="0" smtClean="0"/>
              <a:t>图</a:t>
            </a:r>
            <a:r>
              <a:rPr lang="en-US" altLang="zh-CN" dirty="0" smtClean="0"/>
              <a:t>G</a:t>
            </a:r>
            <a:r>
              <a:rPr lang="zh-CN" altLang="en-US" dirty="0" smtClean="0"/>
              <a:t>是二分图</a:t>
            </a:r>
            <a:r>
              <a:rPr lang="en-US" altLang="zh-CN" dirty="0" smtClean="0"/>
              <a:t>.</a:t>
            </a:r>
            <a:endParaRPr lang="en-US" altLang="zh-CN"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81400" y="1907251"/>
            <a:ext cx="4695820" cy="1742313"/>
          </a:xfrm>
          <a:prstGeom prst="rect">
            <a:avLst/>
          </a:prstGeom>
          <a:ln>
            <a:solidFill>
              <a:schemeClr val="accent1"/>
            </a:solidFill>
          </a:ln>
        </p:spPr>
      </p:pic>
      <p:sp>
        <p:nvSpPr>
          <p:cNvPr id="16" name="日期占位符 15"/>
          <p:cNvSpPr>
            <a:spLocks noGrp="1"/>
          </p:cNvSpPr>
          <p:nvPr>
            <p:ph type="dt" sz="half" idx="10"/>
          </p:nvPr>
        </p:nvSpPr>
        <p:spPr/>
        <p:txBody>
          <a:bodyPr/>
          <a:lstStyle/>
          <a:p>
            <a:fld id="{15E846BD-3D1C-4725-9371-EE19EB4C6532}" type="datetime1">
              <a:rPr lang="zh-CN" altLang="en-US" smtClean="0"/>
              <a:t>2025/4/15</a:t>
            </a:fld>
            <a:endParaRPr lang="zh-CN" altLang="en-US" dirty="0"/>
          </a:p>
        </p:txBody>
      </p:sp>
      <p:sp>
        <p:nvSpPr>
          <p:cNvPr id="17" name="页脚占位符 1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18" name="灯片编号占位符 17"/>
          <p:cNvSpPr>
            <a:spLocks noGrp="1"/>
          </p:cNvSpPr>
          <p:nvPr>
            <p:ph type="sldNum" sz="quarter" idx="12"/>
          </p:nvPr>
        </p:nvSpPr>
        <p:spPr/>
        <p:txBody>
          <a:bodyPr/>
          <a:lstStyle/>
          <a:p>
            <a:fld id="{67913A8A-9EFB-4B5F-9CCB-3D21173FAA85}" type="slidenum">
              <a:rPr lang="zh-CN" altLang="en-US" smtClean="0"/>
              <a:pPr/>
              <a:t>44</a:t>
            </a:fld>
            <a:endParaRPr lang="zh-CN" altLang="en-US" dirty="0"/>
          </a:p>
        </p:txBody>
      </p:sp>
      <p:sp>
        <p:nvSpPr>
          <p:cNvPr id="5" name="椭圆 4"/>
          <p:cNvSpPr/>
          <p:nvPr/>
        </p:nvSpPr>
        <p:spPr>
          <a:xfrm>
            <a:off x="4114800" y="1958785"/>
            <a:ext cx="304800" cy="378749"/>
          </a:xfrm>
          <a:prstGeom prst="ellipse">
            <a:avLst/>
          </a:prstGeom>
          <a:solidFill>
            <a:srgbClr val="FF0000">
              <a:alpha val="5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5029200" y="1907251"/>
            <a:ext cx="304800" cy="378749"/>
          </a:xfrm>
          <a:prstGeom prst="ellipse">
            <a:avLst/>
          </a:prstGeom>
          <a:solidFill>
            <a:srgbClr val="FF0000">
              <a:alpha val="5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5029200" y="2915052"/>
            <a:ext cx="304800" cy="378749"/>
          </a:xfrm>
          <a:prstGeom prst="ellipse">
            <a:avLst/>
          </a:prstGeom>
          <a:solidFill>
            <a:srgbClr val="FF0000">
              <a:alpha val="5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5551081" y="2266330"/>
            <a:ext cx="304800" cy="378749"/>
          </a:xfrm>
          <a:prstGeom prst="ellipse">
            <a:avLst/>
          </a:prstGeom>
          <a:solidFill>
            <a:srgbClr val="01559D">
              <a:alpha val="5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3581400" y="2182572"/>
            <a:ext cx="304800" cy="378749"/>
          </a:xfrm>
          <a:prstGeom prst="ellipse">
            <a:avLst/>
          </a:prstGeom>
          <a:solidFill>
            <a:srgbClr val="01559D">
              <a:alpha val="5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3581400" y="2595752"/>
            <a:ext cx="304800" cy="378749"/>
          </a:xfrm>
          <a:prstGeom prst="ellipse">
            <a:avLst/>
          </a:prstGeom>
          <a:solidFill>
            <a:srgbClr val="01559D">
              <a:alpha val="5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4152900" y="2949708"/>
            <a:ext cx="304800" cy="378749"/>
          </a:xfrm>
          <a:prstGeom prst="ellipse">
            <a:avLst/>
          </a:prstGeom>
          <a:solidFill>
            <a:srgbClr val="01559D">
              <a:alpha val="5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825423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wipe(down)">
                                      <p:cBhvr>
                                        <p:cTn id="7" dur="500"/>
                                        <p:tgtEl>
                                          <p:spTgt spid="3">
                                            <p:txEl>
                                              <p:pRg st="4" end="4"/>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wipe(down)">
                                      <p:cBhvr>
                                        <p:cTn id="10" dur="500"/>
                                        <p:tgtEl>
                                          <p:spTgt spid="3">
                                            <p:txEl>
                                              <p:pRg st="5" end="5"/>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down)">
                                      <p:cBhvr>
                                        <p:cTn id="13" dur="500"/>
                                        <p:tgtEl>
                                          <p:spTgt spid="12"/>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wipe(down)">
                                      <p:cBhvr>
                                        <p:cTn id="16" dur="500"/>
                                        <p:tgtEl>
                                          <p:spTgt spid="13"/>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down)">
                                      <p:cBhvr>
                                        <p:cTn id="19" dur="500"/>
                                        <p:tgtEl>
                                          <p:spTgt spid="14"/>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down)">
                                      <p:cBhvr>
                                        <p:cTn id="22" dur="500"/>
                                        <p:tgtEl>
                                          <p:spTgt spid="10"/>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wipe(down)">
                                      <p:cBhvr>
                                        <p:cTn id="25" dur="500"/>
                                        <p:tgtEl>
                                          <p:spTgt spid="11"/>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wipe(down)">
                                      <p:cBhvr>
                                        <p:cTn id="28" dur="500"/>
                                        <p:tgtEl>
                                          <p:spTgt spid="9"/>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wipe(down)">
                                      <p:cBhvr>
                                        <p:cTn id="3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二分图</a:t>
            </a:r>
            <a:endParaRPr lang="en-US" dirty="0"/>
          </a:p>
        </p:txBody>
      </p:sp>
      <p:sp>
        <p:nvSpPr>
          <p:cNvPr id="3" name="Content Placeholder 2"/>
          <p:cNvSpPr>
            <a:spLocks noGrp="1"/>
          </p:cNvSpPr>
          <p:nvPr>
            <p:ph idx="1"/>
          </p:nvPr>
        </p:nvSpPr>
        <p:spPr/>
        <p:txBody>
          <a:bodyPr>
            <a:normAutofit/>
          </a:bodyPr>
          <a:lstStyle/>
          <a:p>
            <a:pPr lvl="1"/>
            <a:endParaRPr lang="en-US" altLang="zh-CN" dirty="0" smtClean="0"/>
          </a:p>
          <a:p>
            <a:pPr lvl="1"/>
            <a:endParaRPr lang="en-US" altLang="zh-CN" dirty="0"/>
          </a:p>
          <a:p>
            <a:pPr lvl="1"/>
            <a:endParaRPr lang="en-US" altLang="zh-CN" dirty="0" smtClean="0"/>
          </a:p>
          <a:p>
            <a:pPr lvl="1"/>
            <a:endParaRPr lang="en-US" altLang="zh-CN" dirty="0" smtClean="0"/>
          </a:p>
          <a:p>
            <a:pPr lvl="1"/>
            <a:endParaRPr lang="en-US" altLang="zh-CN" dirty="0" smtClean="0"/>
          </a:p>
          <a:p>
            <a:pPr lvl="1"/>
            <a:endParaRPr lang="en-US" altLang="zh-CN" dirty="0"/>
          </a:p>
          <a:p>
            <a:pPr lvl="0"/>
            <a:r>
              <a:rPr lang="zh-CN" altLang="en-US" dirty="0" smtClean="0">
                <a:solidFill>
                  <a:prstClr val="black"/>
                </a:solidFill>
              </a:rPr>
              <a:t>解</a:t>
            </a:r>
            <a:r>
              <a:rPr lang="en-US" altLang="zh-CN" dirty="0" smtClean="0">
                <a:solidFill>
                  <a:prstClr val="black"/>
                </a:solidFill>
              </a:rPr>
              <a:t>(</a:t>
            </a:r>
            <a:r>
              <a:rPr lang="zh-CN" altLang="en-US" dirty="0" smtClean="0">
                <a:solidFill>
                  <a:prstClr val="black"/>
                </a:solidFill>
              </a:rPr>
              <a:t>续</a:t>
            </a:r>
            <a:r>
              <a:rPr lang="en-US" altLang="zh-CN" dirty="0" smtClean="0">
                <a:solidFill>
                  <a:prstClr val="black"/>
                </a:solidFill>
              </a:rPr>
              <a:t>): </a:t>
            </a:r>
            <a:endParaRPr lang="en-US" altLang="zh-CN" dirty="0" smtClean="0"/>
          </a:p>
          <a:p>
            <a:pPr lvl="1">
              <a:lnSpc>
                <a:spcPct val="100000"/>
              </a:lnSpc>
            </a:pPr>
            <a:r>
              <a:rPr lang="zh-CN" altLang="en-US" dirty="0" smtClean="0"/>
              <a:t>图</a:t>
            </a:r>
            <a:r>
              <a:rPr lang="en-US" altLang="zh-CN" dirty="0" smtClean="0"/>
              <a:t>H</a:t>
            </a:r>
            <a:r>
              <a:rPr lang="zh-CN" altLang="en-US" dirty="0" smtClean="0"/>
              <a:t>中</a:t>
            </a:r>
            <a:r>
              <a:rPr lang="en-US" altLang="zh-CN" dirty="0" smtClean="0"/>
              <a:t>, </a:t>
            </a:r>
            <a:r>
              <a:rPr lang="zh-CN" altLang="en-US" dirty="0" smtClean="0"/>
              <a:t>试为每个顶点赋予两种颜色</a:t>
            </a:r>
            <a:r>
              <a:rPr lang="en-US" altLang="zh-CN" dirty="0" smtClean="0"/>
              <a:t>(</a:t>
            </a:r>
            <a:r>
              <a:rPr lang="zh-CN" altLang="en-US" dirty="0" smtClean="0"/>
              <a:t>如红和蓝</a:t>
            </a:r>
            <a:r>
              <a:rPr lang="en-US" altLang="zh-CN" dirty="0" smtClean="0"/>
              <a:t>)</a:t>
            </a:r>
            <a:r>
              <a:rPr lang="zh-CN" altLang="en-US" dirty="0" smtClean="0"/>
              <a:t>中的一种</a:t>
            </a:r>
            <a:r>
              <a:rPr lang="en-US" altLang="zh-CN" dirty="0" smtClean="0"/>
              <a:t>, </a:t>
            </a:r>
            <a:r>
              <a:rPr lang="zh-CN" altLang="en-US" dirty="0" smtClean="0"/>
              <a:t>使得</a:t>
            </a:r>
            <a:r>
              <a:rPr lang="en-US" altLang="zh-CN" dirty="0" smtClean="0"/>
              <a:t>G</a:t>
            </a:r>
            <a:r>
              <a:rPr lang="zh-CN" altLang="en-US" dirty="0" smtClean="0"/>
              <a:t>的每一条边都连接一个红色顶点和蓝色顶点</a:t>
            </a:r>
            <a:r>
              <a:rPr lang="en-US" altLang="zh-CN" dirty="0" smtClean="0"/>
              <a:t>. </a:t>
            </a:r>
            <a:r>
              <a:rPr lang="zh-CN" altLang="en-US" dirty="0" smtClean="0"/>
              <a:t>不失一般性</a:t>
            </a:r>
            <a:r>
              <a:rPr lang="en-US" altLang="zh-CN" dirty="0" smtClean="0"/>
              <a:t>, </a:t>
            </a:r>
            <a:r>
              <a:rPr lang="zh-CN" altLang="en-US" dirty="0" smtClean="0"/>
              <a:t>我们任意赋予顶点</a:t>
            </a:r>
            <a:r>
              <a:rPr lang="en-US" altLang="zh-CN" dirty="0" smtClean="0"/>
              <a:t>a</a:t>
            </a:r>
            <a:r>
              <a:rPr lang="zh-CN" altLang="en-US" dirty="0" smtClean="0"/>
              <a:t>红色</a:t>
            </a:r>
            <a:r>
              <a:rPr lang="en-US" altLang="zh-CN" dirty="0" smtClean="0"/>
              <a:t>, </a:t>
            </a:r>
            <a:r>
              <a:rPr lang="zh-CN" altLang="en-US" dirty="0" smtClean="0"/>
              <a:t>然后必须对</a:t>
            </a:r>
            <a:r>
              <a:rPr lang="en-US" altLang="zh-CN" dirty="0" smtClean="0"/>
              <a:t>b, e, f</a:t>
            </a:r>
            <a:r>
              <a:rPr lang="zh-CN" altLang="en-US" dirty="0" smtClean="0"/>
              <a:t>赋予蓝色</a:t>
            </a:r>
            <a:r>
              <a:rPr lang="en-US" altLang="zh-CN" dirty="0" smtClean="0"/>
              <a:t>, </a:t>
            </a:r>
            <a:r>
              <a:rPr lang="zh-CN" altLang="en-US" dirty="0" smtClean="0"/>
              <a:t>因为他们和</a:t>
            </a:r>
            <a:r>
              <a:rPr lang="en-US" altLang="zh-CN" dirty="0" smtClean="0"/>
              <a:t>a</a:t>
            </a:r>
            <a:r>
              <a:rPr lang="zh-CN" altLang="en-US" dirty="0" smtClean="0"/>
              <a:t>邻接</a:t>
            </a:r>
            <a:r>
              <a:rPr lang="en-US" altLang="zh-CN" dirty="0" smtClean="0"/>
              <a:t>. </a:t>
            </a:r>
            <a:r>
              <a:rPr lang="zh-CN" altLang="en-US" dirty="0" smtClean="0"/>
              <a:t>但是这是不可能的</a:t>
            </a:r>
            <a:r>
              <a:rPr lang="en-US" altLang="zh-CN" dirty="0" smtClean="0"/>
              <a:t>, </a:t>
            </a:r>
            <a:r>
              <a:rPr lang="zh-CN" altLang="en-US" dirty="0" smtClean="0"/>
              <a:t>以为</a:t>
            </a:r>
            <a:r>
              <a:rPr lang="en-US" altLang="zh-CN" dirty="0" smtClean="0"/>
              <a:t>e</a:t>
            </a:r>
            <a:r>
              <a:rPr lang="zh-CN" altLang="en-US" dirty="0" smtClean="0"/>
              <a:t>和</a:t>
            </a:r>
            <a:r>
              <a:rPr lang="en-US" altLang="zh-CN" dirty="0" smtClean="0"/>
              <a:t>f</a:t>
            </a:r>
            <a:r>
              <a:rPr lang="zh-CN" altLang="en-US" dirty="0" smtClean="0"/>
              <a:t>是相邻的</a:t>
            </a:r>
            <a:r>
              <a:rPr lang="en-US" altLang="zh-CN" dirty="0" smtClean="0"/>
              <a:t>, </a:t>
            </a:r>
            <a:r>
              <a:rPr lang="zh-CN" altLang="en-US" dirty="0" smtClean="0"/>
              <a:t>因此不能两个都赋予蓝色</a:t>
            </a:r>
            <a:r>
              <a:rPr lang="en-US" altLang="zh-CN" dirty="0" smtClean="0"/>
              <a:t>, </a:t>
            </a:r>
            <a:r>
              <a:rPr lang="zh-CN" altLang="en-US" dirty="0" smtClean="0"/>
              <a:t>这违背了定理</a:t>
            </a:r>
            <a:r>
              <a:rPr lang="en-US" altLang="zh-CN" dirty="0" smtClean="0"/>
              <a:t>, </a:t>
            </a:r>
            <a:r>
              <a:rPr lang="zh-CN" altLang="en-US" dirty="0" smtClean="0"/>
              <a:t>因此</a:t>
            </a:r>
            <a:r>
              <a:rPr lang="en-US" altLang="zh-CN" dirty="0" smtClean="0"/>
              <a:t>H</a:t>
            </a:r>
            <a:r>
              <a:rPr lang="zh-CN" altLang="en-US" dirty="0" smtClean="0"/>
              <a:t>不是二分图</a:t>
            </a:r>
            <a:r>
              <a:rPr lang="en-US" altLang="zh-CN" dirty="0" smtClean="0"/>
              <a:t>.</a:t>
            </a:r>
            <a:endParaRPr lang="en-US" altLang="zh-CN"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40834" y="1524000"/>
            <a:ext cx="4695820" cy="1742313"/>
          </a:xfrm>
          <a:prstGeom prst="rect">
            <a:avLst/>
          </a:prstGeom>
          <a:ln>
            <a:solidFill>
              <a:schemeClr val="accent1"/>
            </a:solidFill>
          </a:ln>
        </p:spPr>
      </p:pic>
      <p:sp>
        <p:nvSpPr>
          <p:cNvPr id="16" name="日期占位符 15"/>
          <p:cNvSpPr>
            <a:spLocks noGrp="1"/>
          </p:cNvSpPr>
          <p:nvPr>
            <p:ph type="dt" sz="half" idx="10"/>
          </p:nvPr>
        </p:nvSpPr>
        <p:spPr/>
        <p:txBody>
          <a:bodyPr/>
          <a:lstStyle/>
          <a:p>
            <a:fld id="{2CBBEA7C-4A62-4F40-9B3A-C539E6E734AE}" type="datetime1">
              <a:rPr lang="zh-CN" altLang="en-US" smtClean="0"/>
              <a:t>2025/4/15</a:t>
            </a:fld>
            <a:endParaRPr lang="zh-CN" altLang="en-US" dirty="0"/>
          </a:p>
        </p:txBody>
      </p:sp>
      <p:sp>
        <p:nvSpPr>
          <p:cNvPr id="17" name="页脚占位符 1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18" name="灯片编号占位符 17"/>
          <p:cNvSpPr>
            <a:spLocks noGrp="1"/>
          </p:cNvSpPr>
          <p:nvPr>
            <p:ph type="sldNum" sz="quarter" idx="12"/>
          </p:nvPr>
        </p:nvSpPr>
        <p:spPr/>
        <p:txBody>
          <a:bodyPr/>
          <a:lstStyle/>
          <a:p>
            <a:fld id="{67913A8A-9EFB-4B5F-9CCB-3D21173FAA85}" type="slidenum">
              <a:rPr lang="zh-CN" altLang="en-US" smtClean="0"/>
              <a:pPr/>
              <a:t>45</a:t>
            </a:fld>
            <a:endParaRPr lang="zh-CN" altLang="en-US" dirty="0"/>
          </a:p>
        </p:txBody>
      </p:sp>
      <p:sp>
        <p:nvSpPr>
          <p:cNvPr id="8" name="椭圆 7"/>
          <p:cNvSpPr/>
          <p:nvPr/>
        </p:nvSpPr>
        <p:spPr>
          <a:xfrm>
            <a:off x="6705600" y="1526458"/>
            <a:ext cx="304800" cy="378749"/>
          </a:xfrm>
          <a:prstGeom prst="ellipse">
            <a:avLst/>
          </a:prstGeom>
          <a:solidFill>
            <a:srgbClr val="FF0000">
              <a:alpha val="5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6088744" y="2016407"/>
            <a:ext cx="304800" cy="378749"/>
          </a:xfrm>
          <a:prstGeom prst="ellipse">
            <a:avLst/>
          </a:prstGeom>
          <a:solidFill>
            <a:srgbClr val="01559D">
              <a:alpha val="5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6649183" y="2514600"/>
            <a:ext cx="304800" cy="378749"/>
          </a:xfrm>
          <a:prstGeom prst="ellipse">
            <a:avLst/>
          </a:prstGeom>
          <a:solidFill>
            <a:srgbClr val="01559D">
              <a:alpha val="5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7593080" y="1555728"/>
            <a:ext cx="304800" cy="378749"/>
          </a:xfrm>
          <a:prstGeom prst="ellipse">
            <a:avLst/>
          </a:prstGeom>
          <a:solidFill>
            <a:srgbClr val="01559D">
              <a:alpha val="5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p:nvGrpSpPr>
        <p:grpSpPr>
          <a:xfrm>
            <a:off x="6428014" y="2291891"/>
            <a:ext cx="201386" cy="359229"/>
            <a:chOff x="9552214" y="2155371"/>
            <a:chExt cx="408215" cy="522515"/>
          </a:xfrm>
        </p:grpSpPr>
        <p:sp>
          <p:nvSpPr>
            <p:cNvPr id="5" name="任意多边形 4"/>
            <p:cNvSpPr/>
            <p:nvPr/>
          </p:nvSpPr>
          <p:spPr>
            <a:xfrm>
              <a:off x="9552214" y="2155371"/>
              <a:ext cx="408215" cy="473529"/>
            </a:xfrm>
            <a:custGeom>
              <a:avLst/>
              <a:gdLst>
                <a:gd name="connsiteX0" fmla="*/ 0 w 408215"/>
                <a:gd name="connsiteY0" fmla="*/ 0 h 473529"/>
                <a:gd name="connsiteX1" fmla="*/ 81643 w 408215"/>
                <a:gd name="connsiteY1" fmla="*/ 16329 h 473529"/>
                <a:gd name="connsiteX2" fmla="*/ 97972 w 408215"/>
                <a:gd name="connsiteY2" fmla="*/ 65315 h 473529"/>
                <a:gd name="connsiteX3" fmla="*/ 146957 w 408215"/>
                <a:gd name="connsiteY3" fmla="*/ 114300 h 473529"/>
                <a:gd name="connsiteX4" fmla="*/ 212272 w 408215"/>
                <a:gd name="connsiteY4" fmla="*/ 212272 h 473529"/>
                <a:gd name="connsiteX5" fmla="*/ 293915 w 408215"/>
                <a:gd name="connsiteY5" fmla="*/ 293915 h 473529"/>
                <a:gd name="connsiteX6" fmla="*/ 326572 w 408215"/>
                <a:gd name="connsiteY6" fmla="*/ 391886 h 473529"/>
                <a:gd name="connsiteX7" fmla="*/ 408215 w 408215"/>
                <a:gd name="connsiteY7" fmla="*/ 473529 h 473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8215" h="473529">
                  <a:moveTo>
                    <a:pt x="0" y="0"/>
                  </a:moveTo>
                  <a:cubicBezTo>
                    <a:pt x="27214" y="5443"/>
                    <a:pt x="58551" y="934"/>
                    <a:pt x="81643" y="16329"/>
                  </a:cubicBezTo>
                  <a:cubicBezTo>
                    <a:pt x="95964" y="25877"/>
                    <a:pt x="88425" y="50994"/>
                    <a:pt x="97972" y="65315"/>
                  </a:cubicBezTo>
                  <a:cubicBezTo>
                    <a:pt x="110781" y="84528"/>
                    <a:pt x="132780" y="96072"/>
                    <a:pt x="146957" y="114300"/>
                  </a:cubicBezTo>
                  <a:cubicBezTo>
                    <a:pt x="171054" y="145282"/>
                    <a:pt x="184519" y="184519"/>
                    <a:pt x="212272" y="212272"/>
                  </a:cubicBezTo>
                  <a:lnTo>
                    <a:pt x="293915" y="293915"/>
                  </a:lnTo>
                  <a:cubicBezTo>
                    <a:pt x="304801" y="326572"/>
                    <a:pt x="302231" y="367545"/>
                    <a:pt x="326572" y="391886"/>
                  </a:cubicBezTo>
                  <a:lnTo>
                    <a:pt x="408215" y="473529"/>
                  </a:lnTo>
                </a:path>
              </a:pathLst>
            </a:cu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任意多边形 5"/>
            <p:cNvSpPr/>
            <p:nvPr/>
          </p:nvSpPr>
          <p:spPr>
            <a:xfrm>
              <a:off x="9650185" y="2155371"/>
              <a:ext cx="310243" cy="522515"/>
            </a:xfrm>
            <a:custGeom>
              <a:avLst/>
              <a:gdLst>
                <a:gd name="connsiteX0" fmla="*/ 244928 w 244928"/>
                <a:gd name="connsiteY0" fmla="*/ 0 h 408215"/>
                <a:gd name="connsiteX1" fmla="*/ 130628 w 244928"/>
                <a:gd name="connsiteY1" fmla="*/ 146958 h 408215"/>
                <a:gd name="connsiteX2" fmla="*/ 65314 w 244928"/>
                <a:gd name="connsiteY2" fmla="*/ 293915 h 408215"/>
                <a:gd name="connsiteX3" fmla="*/ 16328 w 244928"/>
                <a:gd name="connsiteY3" fmla="*/ 342900 h 408215"/>
                <a:gd name="connsiteX4" fmla="*/ 0 w 244928"/>
                <a:gd name="connsiteY4" fmla="*/ 408215 h 4082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4928" h="408215">
                  <a:moveTo>
                    <a:pt x="244928" y="0"/>
                  </a:moveTo>
                  <a:cubicBezTo>
                    <a:pt x="237735" y="8632"/>
                    <a:pt x="146696" y="110804"/>
                    <a:pt x="130628" y="146958"/>
                  </a:cubicBezTo>
                  <a:cubicBezTo>
                    <a:pt x="89945" y="238496"/>
                    <a:pt x="118103" y="230568"/>
                    <a:pt x="65314" y="293915"/>
                  </a:cubicBezTo>
                  <a:cubicBezTo>
                    <a:pt x="50531" y="311655"/>
                    <a:pt x="32657" y="326572"/>
                    <a:pt x="16328" y="342900"/>
                  </a:cubicBezTo>
                  <a:lnTo>
                    <a:pt x="0" y="408215"/>
                  </a:lnTo>
                </a:path>
              </a:pathLst>
            </a:cu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930775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57200" y="1143000"/>
            <a:ext cx="11277599" cy="12954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二分图</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smtClean="0"/>
                  <a:t>定义</a:t>
                </a:r>
                <a:r>
                  <a:rPr lang="en-US" dirty="0" smtClean="0"/>
                  <a:t>: </a:t>
                </a:r>
                <a:r>
                  <a:rPr lang="zh-CN" altLang="en-US" b="1" dirty="0" smtClean="0">
                    <a:solidFill>
                      <a:srgbClr val="C00000"/>
                    </a:solidFill>
                  </a:rPr>
                  <a:t>完全二分图</a:t>
                </a:r>
                <a14:m>
                  <m:oMath xmlns:m="http://schemas.openxmlformats.org/officeDocument/2006/math">
                    <m:sSub>
                      <m:sSubPr>
                        <m:ctrlPr>
                          <a:rPr lang="en-US" altLang="zh-CN" b="1" i="1" smtClean="0">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𝑲</m:t>
                        </m:r>
                      </m:e>
                      <m:sub>
                        <m:r>
                          <a:rPr lang="en-US" altLang="zh-CN" b="1" i="1" smtClean="0">
                            <a:solidFill>
                              <a:srgbClr val="C00000"/>
                            </a:solidFill>
                            <a:latin typeface="Cambria Math" panose="02040503050406030204" pitchFamily="18" charset="0"/>
                          </a:rPr>
                          <m:t>𝒎</m:t>
                        </m:r>
                        <m:r>
                          <a:rPr lang="en-US" altLang="zh-CN" b="1" i="1" smtClean="0">
                            <a:solidFill>
                              <a:srgbClr val="C00000"/>
                            </a:solidFill>
                            <a:latin typeface="Cambria Math" panose="02040503050406030204" pitchFamily="18" charset="0"/>
                          </a:rPr>
                          <m:t>, </m:t>
                        </m:r>
                        <m:r>
                          <a:rPr lang="en-US" altLang="zh-CN" b="1" i="1" smtClean="0">
                            <a:solidFill>
                              <a:srgbClr val="C00000"/>
                            </a:solidFill>
                            <a:latin typeface="Cambria Math" panose="02040503050406030204" pitchFamily="18" charset="0"/>
                          </a:rPr>
                          <m:t>𝒏</m:t>
                        </m:r>
                      </m:sub>
                    </m:sSub>
                  </m:oMath>
                </a14:m>
                <a:r>
                  <a:rPr lang="zh-CN" altLang="en-US" dirty="0" smtClean="0"/>
                  <a:t>是顶点集划分分别含有</a:t>
                </a:r>
                <a:r>
                  <a:rPr lang="en-US" altLang="zh-CN" dirty="0" smtClean="0"/>
                  <a:t>m</a:t>
                </a:r>
                <a:r>
                  <a:rPr lang="zh-CN" altLang="en-US" dirty="0" smtClean="0"/>
                  <a:t>和</a:t>
                </a:r>
                <a:r>
                  <a:rPr lang="en-US" altLang="zh-CN" dirty="0" smtClean="0"/>
                  <a:t>n</a:t>
                </a:r>
                <a:r>
                  <a:rPr lang="zh-CN" altLang="en-US" dirty="0" smtClean="0"/>
                  <a:t>个顶点的两个子集的图</a:t>
                </a:r>
                <a:r>
                  <a:rPr lang="en-US" altLang="zh-CN" dirty="0" smtClean="0"/>
                  <a:t>, </a:t>
                </a:r>
                <a:r>
                  <a:rPr lang="zh-CN" altLang="en-US" dirty="0" smtClean="0"/>
                  <a:t>并且两个顶点之间有边当且仅当一个顶点属于第一个子集而另外一个顶点属于第二个子集</a:t>
                </a:r>
                <a:r>
                  <a:rPr lang="en-US" altLang="zh-CN" dirty="0" smtClean="0"/>
                  <a:t>.</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310" r="-610"/>
                </a:stretch>
              </a:blipFill>
            </p:spPr>
            <p:txBody>
              <a:bodyPr/>
              <a:lstStyle/>
              <a:p>
                <a:r>
                  <a:rPr lang="zh-CN" altLang="en-US">
                    <a:noFill/>
                  </a:rPr>
                  <a:t> </a:t>
                </a:r>
              </a:p>
            </p:txBody>
          </p:sp>
        </mc:Fallback>
      </mc:AlternateContent>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09800" y="2667000"/>
            <a:ext cx="7467600" cy="3200400"/>
          </a:xfrm>
          <a:prstGeom prst="rect">
            <a:avLst/>
          </a:prstGeom>
        </p:spPr>
      </p:pic>
      <p:sp>
        <p:nvSpPr>
          <p:cNvPr id="7" name="日期占位符 6"/>
          <p:cNvSpPr>
            <a:spLocks noGrp="1"/>
          </p:cNvSpPr>
          <p:nvPr>
            <p:ph type="dt" sz="half" idx="10"/>
          </p:nvPr>
        </p:nvSpPr>
        <p:spPr/>
        <p:txBody>
          <a:bodyPr/>
          <a:lstStyle/>
          <a:p>
            <a:fld id="{A8B180F1-0A57-4E97-8E33-62D311A4A542}"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46</a:t>
            </a:fld>
            <a:endParaRPr lang="zh-CN" altLang="en-US" dirty="0"/>
          </a:p>
        </p:txBody>
      </p:sp>
    </p:spTree>
    <p:extLst>
      <p:ext uri="{BB962C8B-B14F-4D97-AF65-F5344CB8AC3E}">
        <p14:creationId xmlns:p14="http://schemas.microsoft.com/office/powerpoint/2010/main" val="80315999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二分图和匹配</a:t>
            </a:r>
            <a:endParaRPr lang="en-US" dirty="0"/>
          </a:p>
        </p:txBody>
      </p:sp>
      <p:sp>
        <p:nvSpPr>
          <p:cNvPr id="3" name="Content Placeholder 2"/>
          <p:cNvSpPr>
            <a:spLocks noGrp="1"/>
          </p:cNvSpPr>
          <p:nvPr>
            <p:ph idx="1"/>
          </p:nvPr>
        </p:nvSpPr>
        <p:spPr/>
        <p:txBody>
          <a:bodyPr>
            <a:normAutofit/>
          </a:bodyPr>
          <a:lstStyle/>
          <a:p>
            <a:r>
              <a:rPr lang="zh-CN" altLang="en-US" dirty="0" smtClean="0"/>
              <a:t>二分图可以用来为许多类型的应用建模</a:t>
            </a:r>
            <a:r>
              <a:rPr lang="en-US" altLang="zh-CN" dirty="0" smtClean="0"/>
              <a:t>, </a:t>
            </a:r>
            <a:r>
              <a:rPr lang="zh-CN" altLang="en-US" dirty="0" smtClean="0"/>
              <a:t>如把一个集合中的元素和另外一个集合中的元素进行匹配</a:t>
            </a:r>
            <a:r>
              <a:rPr lang="en-US" dirty="0" smtClean="0"/>
              <a:t>: </a:t>
            </a:r>
          </a:p>
          <a:p>
            <a:r>
              <a:rPr lang="zh-CN" altLang="en-US" dirty="0" smtClean="0"/>
              <a:t>任务分配</a:t>
            </a:r>
            <a:r>
              <a:rPr lang="en-US" dirty="0" smtClean="0"/>
              <a:t>: </a:t>
            </a:r>
            <a:r>
              <a:rPr lang="zh-CN" altLang="en-US" dirty="0"/>
              <a:t>顶点代表</a:t>
            </a:r>
            <a:r>
              <a:rPr lang="zh-CN" altLang="en-US" dirty="0" smtClean="0"/>
              <a:t>员工</a:t>
            </a:r>
            <a:r>
              <a:rPr lang="zh-CN" altLang="en-US" dirty="0"/>
              <a:t>和</a:t>
            </a:r>
            <a:r>
              <a:rPr lang="zh-CN" altLang="en-US" dirty="0" smtClean="0"/>
              <a:t>任务</a:t>
            </a:r>
            <a:r>
              <a:rPr lang="en-US" altLang="zh-CN" dirty="0" smtClean="0"/>
              <a:t>(</a:t>
            </a:r>
            <a:r>
              <a:rPr lang="zh-CN" altLang="en-US" dirty="0" smtClean="0"/>
              <a:t>员工的数量大于等于任务的数量</a:t>
            </a:r>
            <a:r>
              <a:rPr lang="en-US" altLang="zh-CN" dirty="0" smtClean="0"/>
              <a:t>), </a:t>
            </a:r>
            <a:r>
              <a:rPr lang="zh-CN" altLang="en-US" dirty="0" smtClean="0"/>
              <a:t>边代表员工分配到的任务</a:t>
            </a:r>
            <a:r>
              <a:rPr lang="en-US" altLang="zh-CN" dirty="0" smtClean="0"/>
              <a:t>. </a:t>
            </a:r>
            <a:r>
              <a:rPr lang="zh-CN" altLang="en-US" dirty="0" smtClean="0"/>
              <a:t>一种常见的目标就是如何合理分配任务给员工</a:t>
            </a:r>
            <a:r>
              <a:rPr lang="en-US" altLang="zh-CN" dirty="0" smtClean="0"/>
              <a:t>, </a:t>
            </a:r>
            <a:r>
              <a:rPr lang="zh-CN" altLang="en-US" dirty="0" smtClean="0"/>
              <a:t>每个</a:t>
            </a:r>
            <a:r>
              <a:rPr lang="zh-CN" altLang="en-US" dirty="0"/>
              <a:t>任务分配一名员工</a:t>
            </a:r>
            <a:r>
              <a:rPr lang="en-US" altLang="zh-CN" dirty="0"/>
              <a:t>, </a:t>
            </a:r>
            <a:r>
              <a:rPr lang="zh-CN" altLang="en-US" dirty="0"/>
              <a:t>以保证每个任务都有员工来完成</a:t>
            </a:r>
            <a:r>
              <a:rPr lang="en-US" altLang="zh-CN" dirty="0"/>
              <a:t>, </a:t>
            </a:r>
            <a:r>
              <a:rPr lang="zh-CN" altLang="en-US" dirty="0"/>
              <a:t>且没有员工分配的工作多于</a:t>
            </a:r>
            <a:r>
              <a:rPr lang="en-US" altLang="zh-CN" dirty="0"/>
              <a:t>1</a:t>
            </a:r>
            <a:r>
              <a:rPr lang="zh-CN" altLang="en-US" dirty="0" smtClean="0"/>
              <a:t>个</a:t>
            </a:r>
            <a:r>
              <a:rPr lang="en-US" altLang="zh-CN" dirty="0" smtClean="0"/>
              <a:t>.</a:t>
            </a:r>
            <a:endParaRPr lang="en-US" dirty="0" smtClean="0"/>
          </a:p>
          <a:p>
            <a:endParaRPr lang="en-US" dirty="0" smtClean="0"/>
          </a:p>
          <a:p>
            <a:endParaRPr lang="en-US" dirty="0"/>
          </a:p>
        </p:txBody>
      </p:sp>
      <p:sp>
        <p:nvSpPr>
          <p:cNvPr id="7" name="日期占位符 6"/>
          <p:cNvSpPr>
            <a:spLocks noGrp="1"/>
          </p:cNvSpPr>
          <p:nvPr>
            <p:ph type="dt" sz="half" idx="10"/>
          </p:nvPr>
        </p:nvSpPr>
        <p:spPr/>
        <p:txBody>
          <a:bodyPr/>
          <a:lstStyle/>
          <a:p>
            <a:fld id="{D506D45C-6112-44A4-B4AF-E34407A8FA32}"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47</a:t>
            </a:fld>
            <a:endParaRPr lang="zh-CN" altLang="en-US" dirty="0"/>
          </a:p>
        </p:txBody>
      </p:sp>
    </p:spTree>
    <p:extLst>
      <p:ext uri="{BB962C8B-B14F-4D97-AF65-F5344CB8AC3E}">
        <p14:creationId xmlns:p14="http://schemas.microsoft.com/office/powerpoint/2010/main" val="13052583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二分图和匹配</a:t>
            </a:r>
            <a:endParaRPr lang="en-US" dirty="0"/>
          </a:p>
        </p:txBody>
      </p:sp>
      <p:sp>
        <p:nvSpPr>
          <p:cNvPr id="3" name="Content Placeholder 2"/>
          <p:cNvSpPr>
            <a:spLocks noGrp="1"/>
          </p:cNvSpPr>
          <p:nvPr>
            <p:ph idx="1"/>
          </p:nvPr>
        </p:nvSpPr>
        <p:spPr/>
        <p:txBody>
          <a:bodyPr>
            <a:normAutofit/>
          </a:bodyPr>
          <a:lstStyle/>
          <a:p>
            <a:r>
              <a:rPr lang="zh-CN" altLang="en-US" dirty="0" smtClean="0"/>
              <a:t>例</a:t>
            </a:r>
            <a:r>
              <a:rPr lang="en-US" altLang="zh-CN" dirty="0" smtClean="0"/>
              <a:t>: </a:t>
            </a:r>
            <a:r>
              <a:rPr lang="zh-CN" altLang="en-US" dirty="0" smtClean="0"/>
              <a:t>某项目中有</a:t>
            </a:r>
            <a:r>
              <a:rPr lang="en-US" altLang="zh-CN" dirty="0" smtClean="0"/>
              <a:t>4</a:t>
            </a:r>
            <a:r>
              <a:rPr lang="zh-CN" altLang="en-US" dirty="0" smtClean="0"/>
              <a:t>名员工</a:t>
            </a:r>
            <a:r>
              <a:rPr lang="en-US" altLang="zh-CN" dirty="0" smtClean="0"/>
              <a:t>: </a:t>
            </a:r>
            <a:r>
              <a:rPr lang="zh-CN" altLang="en-US" dirty="0" smtClean="0"/>
              <a:t>张三</a:t>
            </a:r>
            <a:r>
              <a:rPr lang="en-US" altLang="zh-CN" dirty="0" smtClean="0"/>
              <a:t>, </a:t>
            </a:r>
            <a:r>
              <a:rPr lang="zh-CN" altLang="en-US" dirty="0" smtClean="0"/>
              <a:t>李四</a:t>
            </a:r>
            <a:r>
              <a:rPr lang="en-US" altLang="zh-CN" dirty="0" smtClean="0"/>
              <a:t>, </a:t>
            </a:r>
            <a:r>
              <a:rPr lang="zh-CN" altLang="en-US" dirty="0" smtClean="0"/>
              <a:t>王五</a:t>
            </a:r>
            <a:r>
              <a:rPr lang="en-US" altLang="zh-CN" dirty="0" smtClean="0"/>
              <a:t>, </a:t>
            </a:r>
            <a:r>
              <a:rPr lang="zh-CN" altLang="en-US" dirty="0" smtClean="0"/>
              <a:t>赵六</a:t>
            </a:r>
            <a:r>
              <a:rPr lang="en-US" altLang="zh-CN" dirty="0" smtClean="0"/>
              <a:t>. </a:t>
            </a:r>
            <a:r>
              <a:rPr lang="zh-CN" altLang="en-US" dirty="0" smtClean="0"/>
              <a:t>该项目有</a:t>
            </a:r>
            <a:r>
              <a:rPr lang="en-US" altLang="zh-CN" dirty="0" smtClean="0"/>
              <a:t>4</a:t>
            </a:r>
            <a:r>
              <a:rPr lang="zh-CN" altLang="en-US" dirty="0" smtClean="0"/>
              <a:t>项任务</a:t>
            </a:r>
            <a:r>
              <a:rPr lang="en-US" altLang="zh-CN" dirty="0" smtClean="0"/>
              <a:t>: </a:t>
            </a:r>
            <a:r>
              <a:rPr lang="zh-CN" altLang="en-US" dirty="0" smtClean="0"/>
              <a:t>需求</a:t>
            </a:r>
            <a:r>
              <a:rPr lang="en-US" altLang="zh-CN" dirty="0" smtClean="0"/>
              <a:t>, </a:t>
            </a:r>
            <a:r>
              <a:rPr lang="zh-CN" altLang="en-US" dirty="0" smtClean="0"/>
              <a:t>架构</a:t>
            </a:r>
            <a:r>
              <a:rPr lang="en-US" altLang="zh-CN" dirty="0" smtClean="0"/>
              <a:t>, </a:t>
            </a:r>
            <a:r>
              <a:rPr lang="zh-CN" altLang="en-US" dirty="0" smtClean="0"/>
              <a:t>实现</a:t>
            </a:r>
            <a:r>
              <a:rPr lang="en-US" altLang="zh-CN" dirty="0" smtClean="0"/>
              <a:t>, </a:t>
            </a:r>
            <a:r>
              <a:rPr lang="zh-CN" altLang="en-US" dirty="0" smtClean="0"/>
              <a:t>测试</a:t>
            </a:r>
            <a:r>
              <a:rPr lang="en-US" altLang="zh-CN" dirty="0" smtClean="0"/>
              <a:t>. </a:t>
            </a:r>
            <a:r>
              <a:rPr lang="zh-CN" altLang="en-US" dirty="0" smtClean="0"/>
              <a:t>如下所示为员工能胜任的任务</a:t>
            </a:r>
            <a:r>
              <a:rPr lang="en-US" altLang="zh-CN" dirty="0" smtClean="0"/>
              <a:t>. </a:t>
            </a:r>
            <a:r>
              <a:rPr lang="zh-CN" altLang="en-US" dirty="0" smtClean="0"/>
              <a:t>为了完成项目</a:t>
            </a:r>
            <a:r>
              <a:rPr lang="en-US" altLang="zh-CN" dirty="0" smtClean="0"/>
              <a:t>, </a:t>
            </a:r>
            <a:r>
              <a:rPr lang="zh-CN" altLang="en-US" dirty="0" smtClean="0"/>
              <a:t>应该如何为每个任务分配一名员工</a:t>
            </a:r>
            <a:r>
              <a:rPr lang="en-US" altLang="zh-CN" dirty="0" smtClean="0"/>
              <a:t>, </a:t>
            </a:r>
            <a:r>
              <a:rPr lang="zh-CN" altLang="en-US" dirty="0" smtClean="0"/>
              <a:t>以保证每个任务都有员工来完成</a:t>
            </a:r>
            <a:r>
              <a:rPr lang="en-US" altLang="zh-CN" dirty="0" smtClean="0"/>
              <a:t>, </a:t>
            </a:r>
            <a:r>
              <a:rPr lang="zh-CN" altLang="en-US" dirty="0" smtClean="0"/>
              <a:t>且没有员工分配的工作多于</a:t>
            </a:r>
            <a:r>
              <a:rPr lang="en-US" altLang="zh-CN" dirty="0" smtClean="0"/>
              <a:t>1</a:t>
            </a:r>
            <a:r>
              <a:rPr lang="zh-CN" altLang="en-US" dirty="0" smtClean="0"/>
              <a:t>个</a:t>
            </a:r>
            <a:r>
              <a:rPr lang="en-US" altLang="zh-CN" dirty="0" smtClean="0"/>
              <a:t>?</a:t>
            </a:r>
          </a:p>
          <a:p>
            <a:endParaRPr lang="en-US" dirty="0"/>
          </a:p>
          <a:p>
            <a:endParaRPr lang="en-US" dirty="0" smtClean="0"/>
          </a:p>
          <a:p>
            <a:endParaRPr lang="en-US" dirty="0"/>
          </a:p>
          <a:p>
            <a:endParaRPr lang="en-US" dirty="0" smtClean="0"/>
          </a:p>
          <a:p>
            <a:r>
              <a:rPr lang="zh-CN" altLang="en-US" dirty="0" smtClean="0"/>
              <a:t>解</a:t>
            </a:r>
            <a:r>
              <a:rPr lang="en-US" altLang="zh-CN" dirty="0" smtClean="0"/>
              <a:t>: </a:t>
            </a:r>
            <a:r>
              <a:rPr lang="zh-CN" altLang="en-US" dirty="0" smtClean="0"/>
              <a:t>赵六首先分配需求</a:t>
            </a:r>
            <a:r>
              <a:rPr lang="en-US" altLang="zh-CN" dirty="0" smtClean="0"/>
              <a:t>, </a:t>
            </a:r>
            <a:r>
              <a:rPr lang="zh-CN" altLang="en-US" dirty="0" smtClean="0"/>
              <a:t>张三分配测试</a:t>
            </a:r>
            <a:r>
              <a:rPr lang="en-US" altLang="zh-CN" dirty="0" smtClean="0"/>
              <a:t>, </a:t>
            </a:r>
            <a:r>
              <a:rPr lang="zh-CN" altLang="en-US" dirty="0" smtClean="0"/>
              <a:t>李四分配架构</a:t>
            </a:r>
            <a:r>
              <a:rPr lang="en-US" altLang="zh-CN" dirty="0" smtClean="0"/>
              <a:t>, </a:t>
            </a:r>
            <a:r>
              <a:rPr lang="zh-CN" altLang="en-US" dirty="0" smtClean="0"/>
              <a:t>王五分配实现</a:t>
            </a:r>
            <a:r>
              <a:rPr lang="en-US" altLang="zh-CN" dirty="0" smtClean="0"/>
              <a:t>.</a:t>
            </a:r>
          </a:p>
          <a:p>
            <a:r>
              <a:rPr lang="zh-CN" altLang="en-US" dirty="0" smtClean="0"/>
              <a:t>思考</a:t>
            </a:r>
            <a:r>
              <a:rPr lang="en-US" altLang="zh-CN" dirty="0" smtClean="0"/>
              <a:t>: </a:t>
            </a:r>
            <a:r>
              <a:rPr lang="zh-CN" altLang="en-US" dirty="0" smtClean="0"/>
              <a:t>分配方法可能并非唯一</a:t>
            </a:r>
            <a:r>
              <a:rPr lang="en-US" altLang="zh-CN" dirty="0" smtClean="0"/>
              <a:t>. </a:t>
            </a:r>
            <a:endParaRPr lang="en-US" dirty="0" smtClean="0"/>
          </a:p>
          <a:p>
            <a:endParaRPr lang="en-US" dirty="0" smtClean="0"/>
          </a:p>
          <a:p>
            <a:endParaRPr lang="en-US" dirty="0"/>
          </a:p>
          <a:p>
            <a:endParaRPr lang="en-US" dirty="0" smtClean="0"/>
          </a:p>
          <a:p>
            <a:endParaRPr lang="en-US" dirty="0"/>
          </a:p>
          <a:p>
            <a:endParaRPr lang="en-US" dirty="0" smtClean="0"/>
          </a:p>
          <a:p>
            <a:endParaRPr lang="en-US" dirty="0" smtClean="0"/>
          </a:p>
          <a:p>
            <a:endParaRPr lang="en-US" dirty="0" smtClean="0"/>
          </a:p>
          <a:p>
            <a:endParaRPr lang="en-US" dirty="0"/>
          </a:p>
        </p:txBody>
      </p:sp>
      <p:sp>
        <p:nvSpPr>
          <p:cNvPr id="7" name="日期占位符 6"/>
          <p:cNvSpPr>
            <a:spLocks noGrp="1"/>
          </p:cNvSpPr>
          <p:nvPr>
            <p:ph type="dt" sz="half" idx="10"/>
          </p:nvPr>
        </p:nvSpPr>
        <p:spPr/>
        <p:txBody>
          <a:bodyPr/>
          <a:lstStyle/>
          <a:p>
            <a:fld id="{B602704D-62B0-4172-A154-B77B916017A6}"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48</a:t>
            </a:fld>
            <a:endParaRPr lang="zh-CN" altLang="en-US" dirty="0"/>
          </a:p>
        </p:txBody>
      </p:sp>
      <p:pic>
        <p:nvPicPr>
          <p:cNvPr id="5" name="图片 4"/>
          <p:cNvPicPr>
            <a:picLocks noChangeAspect="1"/>
          </p:cNvPicPr>
          <p:nvPr/>
        </p:nvPicPr>
        <p:blipFill>
          <a:blip r:embed="rId2"/>
          <a:stretch>
            <a:fillRect/>
          </a:stretch>
        </p:blipFill>
        <p:spPr>
          <a:xfrm>
            <a:off x="4238501" y="2743200"/>
            <a:ext cx="3232150" cy="2438400"/>
          </a:xfrm>
          <a:prstGeom prst="rect">
            <a:avLst/>
          </a:prstGeom>
        </p:spPr>
      </p:pic>
      <p:pic>
        <p:nvPicPr>
          <p:cNvPr id="6" name="图片 5"/>
          <p:cNvPicPr>
            <a:picLocks noChangeAspect="1"/>
          </p:cNvPicPr>
          <p:nvPr/>
        </p:nvPicPr>
        <p:blipFill>
          <a:blip r:embed="rId3"/>
          <a:stretch>
            <a:fillRect/>
          </a:stretch>
        </p:blipFill>
        <p:spPr>
          <a:xfrm>
            <a:off x="4235450" y="2743200"/>
            <a:ext cx="3232150" cy="2438400"/>
          </a:xfrm>
          <a:prstGeom prst="rect">
            <a:avLst/>
          </a:prstGeom>
        </p:spPr>
      </p:pic>
    </p:spTree>
    <p:extLst>
      <p:ext uri="{BB962C8B-B14F-4D97-AF65-F5344CB8AC3E}">
        <p14:creationId xmlns:p14="http://schemas.microsoft.com/office/powerpoint/2010/main" val="2184995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wipe(down)">
                                      <p:cBhvr>
                                        <p:cTn id="10" dur="500"/>
                                        <p:tgtEl>
                                          <p:spTgt spid="3">
                                            <p:txEl>
                                              <p:pRg st="5" end="5"/>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wipe(down)">
                                      <p:cBhvr>
                                        <p:cTn id="13"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二分图和匹配</a:t>
            </a:r>
            <a:endParaRPr lang="en-US" dirty="0"/>
          </a:p>
        </p:txBody>
      </p:sp>
      <p:sp>
        <p:nvSpPr>
          <p:cNvPr id="3" name="Content Placeholder 2"/>
          <p:cNvSpPr>
            <a:spLocks noGrp="1"/>
          </p:cNvSpPr>
          <p:nvPr>
            <p:ph idx="1"/>
          </p:nvPr>
        </p:nvSpPr>
        <p:spPr/>
        <p:txBody>
          <a:bodyPr>
            <a:normAutofit/>
          </a:bodyPr>
          <a:lstStyle/>
          <a:p>
            <a:r>
              <a:rPr lang="zh-CN" altLang="en-US" dirty="0" smtClean="0"/>
              <a:t>例</a:t>
            </a:r>
            <a:r>
              <a:rPr lang="en-US" altLang="zh-CN" dirty="0" smtClean="0"/>
              <a:t>: </a:t>
            </a:r>
            <a:r>
              <a:rPr lang="zh-CN" altLang="en-US" dirty="0" smtClean="0"/>
              <a:t>某项目中有</a:t>
            </a:r>
            <a:r>
              <a:rPr lang="en-US" altLang="zh-CN" dirty="0" smtClean="0"/>
              <a:t>4</a:t>
            </a:r>
            <a:r>
              <a:rPr lang="zh-CN" altLang="en-US" dirty="0" smtClean="0"/>
              <a:t>名员工</a:t>
            </a:r>
            <a:r>
              <a:rPr lang="en-US" altLang="zh-CN" dirty="0" smtClean="0"/>
              <a:t>:</a:t>
            </a:r>
            <a:r>
              <a:rPr lang="zh-CN" altLang="en-US" dirty="0" smtClean="0"/>
              <a:t>张三</a:t>
            </a:r>
            <a:r>
              <a:rPr lang="en-US" altLang="zh-CN" dirty="0" smtClean="0"/>
              <a:t>, </a:t>
            </a:r>
            <a:r>
              <a:rPr lang="zh-CN" altLang="en-US" dirty="0" smtClean="0"/>
              <a:t>李四</a:t>
            </a:r>
            <a:r>
              <a:rPr lang="en-US" altLang="zh-CN" dirty="0" smtClean="0"/>
              <a:t>, </a:t>
            </a:r>
            <a:r>
              <a:rPr lang="zh-CN" altLang="en-US" dirty="0" smtClean="0"/>
              <a:t>王五</a:t>
            </a:r>
            <a:r>
              <a:rPr lang="en-US" altLang="zh-CN" dirty="0" smtClean="0"/>
              <a:t>, </a:t>
            </a:r>
            <a:r>
              <a:rPr lang="zh-CN" altLang="en-US" dirty="0" smtClean="0"/>
              <a:t>赵六</a:t>
            </a:r>
            <a:r>
              <a:rPr lang="en-US" altLang="zh-CN" dirty="0" smtClean="0"/>
              <a:t>. </a:t>
            </a:r>
            <a:r>
              <a:rPr lang="zh-CN" altLang="en-US" dirty="0" smtClean="0"/>
              <a:t>该项目有</a:t>
            </a:r>
            <a:r>
              <a:rPr lang="en-US" altLang="zh-CN" dirty="0" smtClean="0"/>
              <a:t>4</a:t>
            </a:r>
            <a:r>
              <a:rPr lang="zh-CN" altLang="en-US" dirty="0" smtClean="0"/>
              <a:t>项任务</a:t>
            </a:r>
            <a:r>
              <a:rPr lang="en-US" altLang="zh-CN" dirty="0" smtClean="0"/>
              <a:t>: </a:t>
            </a:r>
            <a:r>
              <a:rPr lang="zh-CN" altLang="en-US" dirty="0" smtClean="0"/>
              <a:t>需求</a:t>
            </a:r>
            <a:r>
              <a:rPr lang="en-US" altLang="zh-CN" dirty="0" smtClean="0"/>
              <a:t>, </a:t>
            </a:r>
            <a:r>
              <a:rPr lang="zh-CN" altLang="en-US" dirty="0" smtClean="0"/>
              <a:t>架构</a:t>
            </a:r>
            <a:r>
              <a:rPr lang="en-US" altLang="zh-CN" dirty="0" smtClean="0"/>
              <a:t>, </a:t>
            </a:r>
            <a:r>
              <a:rPr lang="zh-CN" altLang="en-US" dirty="0" smtClean="0"/>
              <a:t>实现</a:t>
            </a:r>
            <a:r>
              <a:rPr lang="en-US" altLang="zh-CN" dirty="0" smtClean="0"/>
              <a:t>, </a:t>
            </a:r>
            <a:r>
              <a:rPr lang="zh-CN" altLang="en-US" dirty="0" smtClean="0"/>
              <a:t>测试</a:t>
            </a:r>
            <a:r>
              <a:rPr lang="en-US" altLang="zh-CN" dirty="0" smtClean="0"/>
              <a:t>. </a:t>
            </a:r>
            <a:r>
              <a:rPr lang="zh-CN" altLang="en-US" dirty="0" smtClean="0"/>
              <a:t>如下所示为员工能胜任的任务</a:t>
            </a:r>
            <a:r>
              <a:rPr lang="en-US" altLang="zh-CN" dirty="0" smtClean="0"/>
              <a:t>. </a:t>
            </a:r>
            <a:r>
              <a:rPr lang="zh-CN" altLang="en-US" dirty="0" smtClean="0"/>
              <a:t>为了完成项目</a:t>
            </a:r>
            <a:r>
              <a:rPr lang="en-US" altLang="zh-CN" dirty="0" smtClean="0"/>
              <a:t>, </a:t>
            </a:r>
            <a:r>
              <a:rPr lang="zh-CN" altLang="en-US" dirty="0" smtClean="0"/>
              <a:t>应该如何为每个任务分配一名员工</a:t>
            </a:r>
            <a:r>
              <a:rPr lang="en-US" altLang="zh-CN" dirty="0" smtClean="0"/>
              <a:t>, </a:t>
            </a:r>
            <a:r>
              <a:rPr lang="zh-CN" altLang="en-US" dirty="0" smtClean="0"/>
              <a:t>以保证每个任务都有员工来完成</a:t>
            </a:r>
            <a:r>
              <a:rPr lang="en-US" altLang="zh-CN" dirty="0" smtClean="0"/>
              <a:t>, </a:t>
            </a:r>
            <a:r>
              <a:rPr lang="zh-CN" altLang="en-US" dirty="0" smtClean="0"/>
              <a:t>且没有员工分配的工作多于</a:t>
            </a:r>
            <a:r>
              <a:rPr lang="en-US" altLang="zh-CN" dirty="0" smtClean="0"/>
              <a:t>1</a:t>
            </a:r>
            <a:r>
              <a:rPr lang="zh-CN" altLang="en-US" dirty="0" smtClean="0"/>
              <a:t>个</a:t>
            </a:r>
            <a:r>
              <a:rPr lang="en-US" altLang="zh-CN" dirty="0" smtClean="0"/>
              <a:t>?</a:t>
            </a:r>
          </a:p>
          <a:p>
            <a:endParaRPr lang="en-US" dirty="0"/>
          </a:p>
          <a:p>
            <a:endParaRPr lang="en-US" dirty="0" smtClean="0"/>
          </a:p>
          <a:p>
            <a:endParaRPr lang="en-US" dirty="0"/>
          </a:p>
          <a:p>
            <a:endParaRPr lang="en-US" dirty="0" smtClean="0"/>
          </a:p>
          <a:p>
            <a:r>
              <a:rPr lang="zh-CN" altLang="en-US" dirty="0" smtClean="0"/>
              <a:t>解</a:t>
            </a:r>
            <a:r>
              <a:rPr lang="en-US" altLang="zh-CN" dirty="0" smtClean="0"/>
              <a:t>: </a:t>
            </a:r>
            <a:r>
              <a:rPr lang="zh-CN" altLang="en-US" dirty="0" smtClean="0"/>
              <a:t>张三和王五都只会架构</a:t>
            </a:r>
            <a:r>
              <a:rPr lang="en-US" altLang="zh-CN" dirty="0" smtClean="0"/>
              <a:t>. </a:t>
            </a:r>
            <a:r>
              <a:rPr lang="zh-CN" altLang="en-US" dirty="0" smtClean="0"/>
              <a:t>因此架构分配给他们任何一个</a:t>
            </a:r>
            <a:r>
              <a:rPr lang="en-US" altLang="zh-CN" dirty="0" smtClean="0"/>
              <a:t>, </a:t>
            </a:r>
            <a:r>
              <a:rPr lang="zh-CN" altLang="en-US" dirty="0"/>
              <a:t>都无法满足题目的</a:t>
            </a:r>
            <a:r>
              <a:rPr lang="zh-CN" altLang="en-US" dirty="0" smtClean="0"/>
              <a:t>要求来让剩下的三项任务分配给李四和赵六两个人</a:t>
            </a:r>
            <a:r>
              <a:rPr lang="en-US" altLang="zh-CN" dirty="0" smtClean="0"/>
              <a:t>.</a:t>
            </a:r>
          </a:p>
          <a:p>
            <a:pPr marL="0" indent="0">
              <a:buNone/>
            </a:pPr>
            <a:endParaRPr lang="en-US" dirty="0" smtClean="0"/>
          </a:p>
          <a:p>
            <a:endParaRPr lang="en-US" dirty="0"/>
          </a:p>
          <a:p>
            <a:endParaRPr lang="en-US" dirty="0" smtClean="0"/>
          </a:p>
          <a:p>
            <a:endParaRPr lang="en-US" dirty="0"/>
          </a:p>
          <a:p>
            <a:endParaRPr lang="en-US" dirty="0" smtClean="0"/>
          </a:p>
          <a:p>
            <a:endParaRPr lang="en-US" dirty="0" smtClean="0"/>
          </a:p>
          <a:p>
            <a:endParaRPr lang="en-US" dirty="0" smtClean="0"/>
          </a:p>
          <a:p>
            <a:endParaRPr lang="en-US" dirty="0"/>
          </a:p>
        </p:txBody>
      </p:sp>
      <p:sp>
        <p:nvSpPr>
          <p:cNvPr id="7" name="日期占位符 6"/>
          <p:cNvSpPr>
            <a:spLocks noGrp="1"/>
          </p:cNvSpPr>
          <p:nvPr>
            <p:ph type="dt" sz="half" idx="10"/>
          </p:nvPr>
        </p:nvSpPr>
        <p:spPr/>
        <p:txBody>
          <a:bodyPr/>
          <a:lstStyle/>
          <a:p>
            <a:fld id="{76C3D4EC-706B-4579-AE8F-1C9930CEB0F8}"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49</a:t>
            </a:fld>
            <a:endParaRPr lang="zh-CN" altLang="en-US" dirty="0"/>
          </a:p>
        </p:txBody>
      </p:sp>
      <p:pic>
        <p:nvPicPr>
          <p:cNvPr id="4" name="图片 3"/>
          <p:cNvPicPr>
            <a:picLocks noChangeAspect="1"/>
          </p:cNvPicPr>
          <p:nvPr/>
        </p:nvPicPr>
        <p:blipFill>
          <a:blip r:embed="rId2"/>
          <a:stretch>
            <a:fillRect/>
          </a:stretch>
        </p:blipFill>
        <p:spPr>
          <a:xfrm>
            <a:off x="4114800" y="2743200"/>
            <a:ext cx="3232150" cy="2438400"/>
          </a:xfrm>
          <a:prstGeom prst="rect">
            <a:avLst/>
          </a:prstGeom>
        </p:spPr>
      </p:pic>
      <p:cxnSp>
        <p:nvCxnSpPr>
          <p:cNvPr id="11" name="直接连接符 10"/>
          <p:cNvCxnSpPr/>
          <p:nvPr/>
        </p:nvCxnSpPr>
        <p:spPr>
          <a:xfrm>
            <a:off x="4419600" y="3429000"/>
            <a:ext cx="762000" cy="1066800"/>
          </a:xfrm>
          <a:prstGeom prst="line">
            <a:avLst/>
          </a:prstGeom>
        </p:spPr>
        <p:style>
          <a:lnRef idx="3">
            <a:schemeClr val="accent2"/>
          </a:lnRef>
          <a:fillRef idx="0">
            <a:schemeClr val="accent2"/>
          </a:fillRef>
          <a:effectRef idx="2">
            <a:schemeClr val="accent2"/>
          </a:effectRef>
          <a:fontRef idx="minor">
            <a:schemeClr val="tx1"/>
          </a:fontRef>
        </p:style>
      </p:cxnSp>
      <p:cxnSp>
        <p:nvCxnSpPr>
          <p:cNvPr id="14" name="直接连接符 13"/>
          <p:cNvCxnSpPr/>
          <p:nvPr/>
        </p:nvCxnSpPr>
        <p:spPr>
          <a:xfrm flipH="1">
            <a:off x="5181600" y="3352800"/>
            <a:ext cx="990600" cy="114300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802133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down)">
                                      <p:cBhvr>
                                        <p:cTn id="7" dur="500"/>
                                        <p:tgtEl>
                                          <p:spTgt spid="14"/>
                                        </p:tgtEl>
                                      </p:cBhvr>
                                    </p:animEffect>
                                  </p:childTnLst>
                                </p:cTn>
                              </p:par>
                              <p:par>
                                <p:cTn id="8" presetID="22" presetClass="entr" presetSubtype="4"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down)">
                                      <p:cBhvr>
                                        <p:cTn id="10" dur="500"/>
                                        <p:tgtEl>
                                          <p:spTgt spid="11"/>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wipe(down)">
                                      <p:cBhvr>
                                        <p:cTn id="13"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57200" y="1981200"/>
            <a:ext cx="11277599" cy="38862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smtClean="0"/>
              <a:t>二分图和匹配</a:t>
            </a:r>
            <a:endParaRPr lang="en-US" b="1" dirty="0">
              <a:solidFill>
                <a:srgbClr val="C00000"/>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zh-CN" altLang="en-US" dirty="0" smtClean="0"/>
                  <a:t>前述案例中寻找一种把工作分配给员工的方法可以视为在图模型中寻求匹配</a:t>
                </a:r>
                <a:r>
                  <a:rPr lang="en-US" altLang="zh-CN" dirty="0" smtClean="0"/>
                  <a:t>. </a:t>
                </a:r>
              </a:p>
              <a:p>
                <a:r>
                  <a:rPr lang="zh-CN" altLang="en-US" dirty="0" smtClean="0"/>
                  <a:t>在简单图</a:t>
                </a:r>
                <a:r>
                  <a:rPr lang="en-US" altLang="zh-CN" dirty="0" smtClean="0"/>
                  <a:t>G=(V, E)</a:t>
                </a:r>
                <a:r>
                  <a:rPr lang="zh-CN" altLang="en-US" dirty="0" smtClean="0"/>
                  <a:t>中的一个</a:t>
                </a:r>
                <a:r>
                  <a:rPr lang="zh-CN" altLang="en-US" b="1" dirty="0" smtClean="0">
                    <a:solidFill>
                      <a:srgbClr val="C00000"/>
                    </a:solidFill>
                  </a:rPr>
                  <a:t>匹配</a:t>
                </a:r>
                <a:r>
                  <a:rPr lang="en-US" altLang="zh-CN" dirty="0" smtClean="0"/>
                  <a:t>M</a:t>
                </a:r>
                <a:r>
                  <a:rPr lang="zh-CN" altLang="en-US" dirty="0" smtClean="0"/>
                  <a:t>就是图中边集</a:t>
                </a:r>
                <a:r>
                  <a:rPr lang="en-US" altLang="zh-CN" dirty="0" smtClean="0"/>
                  <a:t>E</a:t>
                </a:r>
                <a:r>
                  <a:rPr lang="zh-CN" altLang="en-US" dirty="0" smtClean="0"/>
                  <a:t>的子集</a:t>
                </a:r>
                <a:r>
                  <a:rPr lang="en-US" altLang="zh-CN" dirty="0" smtClean="0"/>
                  <a:t>, </a:t>
                </a:r>
                <a:r>
                  <a:rPr lang="zh-CN" altLang="en-US" dirty="0" smtClean="0"/>
                  <a:t>该子集中没有两条边关联相同的顶点</a:t>
                </a:r>
                <a:r>
                  <a:rPr lang="en-US" altLang="zh-CN" dirty="0" smtClean="0"/>
                  <a:t>.</a:t>
                </a:r>
              </a:p>
              <a:p>
                <a:r>
                  <a:rPr lang="zh-CN" altLang="en-US" dirty="0" smtClean="0"/>
                  <a:t>换言之</a:t>
                </a:r>
                <a:r>
                  <a:rPr lang="en-US" altLang="zh-CN" dirty="0" smtClean="0"/>
                  <a:t>, </a:t>
                </a:r>
                <a:r>
                  <a:rPr lang="zh-CN" altLang="en-US" dirty="0" smtClean="0"/>
                  <a:t>匹配是边的子集</a:t>
                </a:r>
                <a:r>
                  <a:rPr lang="en-US" altLang="zh-CN" dirty="0" smtClean="0"/>
                  <a:t>, </a:t>
                </a:r>
                <a:r>
                  <a:rPr lang="zh-CN" altLang="en-US" dirty="0" smtClean="0"/>
                  <a:t>假设</a:t>
                </a:r>
                <a:r>
                  <a:rPr lang="en-US" altLang="zh-CN" dirty="0" smtClean="0"/>
                  <a:t>{s, t}</a:t>
                </a:r>
                <a:r>
                  <a:rPr lang="zh-CN" altLang="en-US" dirty="0" smtClean="0"/>
                  <a:t>和</a:t>
                </a:r>
                <a:r>
                  <a:rPr lang="en-US" altLang="zh-CN" dirty="0" smtClean="0"/>
                  <a:t>{u, v}</a:t>
                </a:r>
                <a:r>
                  <a:rPr lang="zh-CN" altLang="en-US" dirty="0" smtClean="0"/>
                  <a:t>是匹配中不同的边</a:t>
                </a:r>
                <a:r>
                  <a:rPr lang="en-US" altLang="zh-CN" dirty="0" smtClean="0"/>
                  <a:t>, </a:t>
                </a:r>
                <a:r>
                  <a:rPr lang="zh-CN" altLang="en-US" dirty="0" smtClean="0"/>
                  <a:t>那么</a:t>
                </a:r>
                <a:r>
                  <a:rPr lang="en-US" altLang="zh-CN" dirty="0" smtClean="0"/>
                  <a:t>s, t, u, v</a:t>
                </a:r>
                <a:r>
                  <a:rPr lang="zh-CN" altLang="en-US" dirty="0" smtClean="0"/>
                  <a:t>是不同的顶点</a:t>
                </a:r>
                <a:r>
                  <a:rPr lang="en-US" altLang="zh-CN" dirty="0" smtClean="0"/>
                  <a:t>. </a:t>
                </a:r>
                <a:r>
                  <a:rPr lang="zh-CN" altLang="en-US" dirty="0" smtClean="0"/>
                  <a:t>若一个顶点是匹配</a:t>
                </a:r>
                <a:r>
                  <a:rPr lang="en-US" altLang="zh-CN" dirty="0" smtClean="0"/>
                  <a:t>M</a:t>
                </a:r>
                <a:r>
                  <a:rPr lang="zh-CN" altLang="en-US" dirty="0" smtClean="0"/>
                  <a:t>中的一条边的端点</a:t>
                </a:r>
                <a:r>
                  <a:rPr lang="en-US" altLang="zh-CN" dirty="0" smtClean="0"/>
                  <a:t>, </a:t>
                </a:r>
                <a:r>
                  <a:rPr lang="zh-CN" altLang="en-US" dirty="0" smtClean="0"/>
                  <a:t>则称该顶点在</a:t>
                </a:r>
                <a:r>
                  <a:rPr lang="en-US" altLang="zh-CN" dirty="0" smtClean="0"/>
                  <a:t>M</a:t>
                </a:r>
                <a:r>
                  <a:rPr lang="zh-CN" altLang="en-US" dirty="0" smtClean="0"/>
                  <a:t>中</a:t>
                </a:r>
                <a:r>
                  <a:rPr lang="zh-CN" altLang="en-US" b="1" dirty="0" smtClean="0">
                    <a:solidFill>
                      <a:srgbClr val="C00000"/>
                    </a:solidFill>
                  </a:rPr>
                  <a:t>被匹配</a:t>
                </a:r>
                <a:r>
                  <a:rPr lang="en-US" altLang="zh-CN" dirty="0" smtClean="0"/>
                  <a:t>; </a:t>
                </a:r>
                <a:r>
                  <a:rPr lang="zh-CN" altLang="en-US" dirty="0" smtClean="0"/>
                  <a:t>否则称为</a:t>
                </a:r>
                <a:r>
                  <a:rPr lang="zh-CN" altLang="en-US" b="1" dirty="0" smtClean="0">
                    <a:solidFill>
                      <a:srgbClr val="C00000"/>
                    </a:solidFill>
                  </a:rPr>
                  <a:t>未被匹配</a:t>
                </a:r>
                <a:r>
                  <a:rPr lang="en-US" altLang="zh-CN" dirty="0" smtClean="0"/>
                  <a:t>.</a:t>
                </a:r>
              </a:p>
              <a:p>
                <a:r>
                  <a:rPr lang="zh-CN" altLang="en-US" dirty="0" smtClean="0"/>
                  <a:t>包含最多边数的一个匹配称为</a:t>
                </a:r>
                <a:r>
                  <a:rPr lang="zh-CN" altLang="en-US" b="1" dirty="0" smtClean="0">
                    <a:solidFill>
                      <a:srgbClr val="C00000"/>
                    </a:solidFill>
                  </a:rPr>
                  <a:t>最大匹配</a:t>
                </a:r>
                <a:r>
                  <a:rPr lang="en-US" altLang="zh-CN" dirty="0" smtClean="0"/>
                  <a:t>.</a:t>
                </a:r>
              </a:p>
              <a:p>
                <a:r>
                  <a:rPr lang="zh-CN" altLang="en-US" dirty="0" smtClean="0"/>
                  <a:t>在二分图</a:t>
                </a:r>
                <a:r>
                  <a:rPr lang="en-US" altLang="zh-CN" dirty="0"/>
                  <a:t>G</a:t>
                </a:r>
                <a:r>
                  <a:rPr lang="en-US" altLang="zh-CN" dirty="0" smtClean="0"/>
                  <a:t>=(V, E)</a:t>
                </a:r>
                <a:r>
                  <a:rPr lang="zh-CN" altLang="en-US" dirty="0" smtClean="0"/>
                  <a:t>中的一个匹配</a:t>
                </a:r>
                <a:r>
                  <a:rPr lang="en-US" altLang="zh-CN" dirty="0" smtClean="0"/>
                  <a:t>M, </a:t>
                </a:r>
                <a:r>
                  <a:rPr lang="zh-CN" altLang="en-US" dirty="0" smtClean="0"/>
                  <a:t>其划分为</a:t>
                </a:r>
                <a:r>
                  <a:rPr lang="en-US" altLang="zh-CN" dirty="0" smtClean="0"/>
                  <a:t>(</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i="1">
                            <a:latin typeface="Cambria Math" panose="02040503050406030204" pitchFamily="18" charset="0"/>
                          </a:rPr>
                          <m:t>1</m:t>
                        </m:r>
                      </m:sub>
                    </m:sSub>
                  </m:oMath>
                </a14:m>
                <a:r>
                  <a:rPr lang="en-US" altLang="zh-CN" dirty="0" smtClean="0"/>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b="0" i="1" smtClean="0">
                            <a:latin typeface="Cambria Math" panose="02040503050406030204" pitchFamily="18" charset="0"/>
                          </a:rPr>
                          <m:t>2</m:t>
                        </m:r>
                      </m:sub>
                    </m:sSub>
                  </m:oMath>
                </a14:m>
                <a:r>
                  <a:rPr lang="en-US" altLang="zh-CN" dirty="0" smtClean="0"/>
                  <a:t>), </a:t>
                </a:r>
                <a:r>
                  <a:rPr lang="zh-CN" altLang="en-US" dirty="0" smtClean="0"/>
                  <a:t>若</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i="1">
                            <a:latin typeface="Cambria Math" panose="02040503050406030204" pitchFamily="18" charset="0"/>
                          </a:rPr>
                          <m:t>1</m:t>
                        </m:r>
                      </m:sub>
                    </m:sSub>
                  </m:oMath>
                </a14:m>
                <a:r>
                  <a:rPr lang="zh-CN" altLang="en-US" dirty="0" smtClean="0"/>
                  <a:t>中的每个顶点都是匹配中的边的端点或</a:t>
                </a:r>
                <a:r>
                  <a:rPr lang="en-US" altLang="zh-CN" dirty="0" smtClean="0"/>
                  <a:t>|M|=|</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i="1">
                            <a:latin typeface="Cambria Math" panose="02040503050406030204" pitchFamily="18" charset="0"/>
                          </a:rPr>
                          <m:t>1</m:t>
                        </m:r>
                      </m:sub>
                    </m:sSub>
                  </m:oMath>
                </a14:m>
                <a:r>
                  <a:rPr lang="en-US" altLang="zh-CN" dirty="0" smtClean="0"/>
                  <a:t>|, </a:t>
                </a:r>
                <a:r>
                  <a:rPr lang="zh-CN" altLang="en-US" dirty="0" smtClean="0"/>
                  <a:t>则称匹配</a:t>
                </a:r>
                <a:r>
                  <a:rPr lang="en-US" altLang="zh-CN" dirty="0" smtClean="0"/>
                  <a:t>M</a:t>
                </a:r>
                <a:r>
                  <a:rPr lang="zh-CN" altLang="en-US" dirty="0" smtClean="0"/>
                  <a:t>是从</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i="1">
                            <a:latin typeface="Cambria Math" panose="02040503050406030204" pitchFamily="18" charset="0"/>
                          </a:rPr>
                          <m:t>1</m:t>
                        </m:r>
                      </m:sub>
                    </m:sSub>
                  </m:oMath>
                </a14:m>
                <a:r>
                  <a:rPr lang="zh-CN" altLang="en-US" dirty="0" smtClean="0"/>
                  <a:t>到</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b="0" i="1" smtClean="0">
                            <a:latin typeface="Cambria Math" panose="02040503050406030204" pitchFamily="18" charset="0"/>
                          </a:rPr>
                          <m:t>2</m:t>
                        </m:r>
                      </m:sub>
                    </m:sSub>
                  </m:oMath>
                </a14:m>
                <a:r>
                  <a:rPr lang="zh-CN" altLang="en-US" dirty="0" smtClean="0"/>
                  <a:t>的</a:t>
                </a:r>
                <a:r>
                  <a:rPr lang="zh-CN" altLang="en-US" b="1" dirty="0" smtClean="0">
                    <a:solidFill>
                      <a:srgbClr val="C00000"/>
                    </a:solidFill>
                  </a:rPr>
                  <a:t>完全匹配</a:t>
                </a:r>
                <a:r>
                  <a:rPr lang="en-US" altLang="zh-CN" dirty="0" smtClean="0"/>
                  <a:t>.</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999" t="-2143" r="-2719"/>
                </a:stretch>
              </a:blipFill>
            </p:spPr>
            <p:txBody>
              <a:bodyPr/>
              <a:lstStyle/>
              <a:p>
                <a:r>
                  <a:rPr lang="zh-CN" altLang="en-US">
                    <a:noFill/>
                  </a:rPr>
                  <a:t> </a:t>
                </a:r>
              </a:p>
            </p:txBody>
          </p:sp>
        </mc:Fallback>
      </mc:AlternateContent>
      <p:sp>
        <p:nvSpPr>
          <p:cNvPr id="7" name="日期占位符 6"/>
          <p:cNvSpPr>
            <a:spLocks noGrp="1"/>
          </p:cNvSpPr>
          <p:nvPr>
            <p:ph type="dt" sz="half" idx="10"/>
          </p:nvPr>
        </p:nvSpPr>
        <p:spPr/>
        <p:txBody>
          <a:bodyPr/>
          <a:lstStyle/>
          <a:p>
            <a:fld id="{4DA0819B-D224-42D2-B115-2282086954E3}"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50</a:t>
            </a:fld>
            <a:endParaRPr lang="zh-CN" altLang="en-US" dirty="0"/>
          </a:p>
        </p:txBody>
      </p:sp>
    </p:spTree>
    <p:extLst>
      <p:ext uri="{BB962C8B-B14F-4D97-AF65-F5344CB8AC3E}">
        <p14:creationId xmlns:p14="http://schemas.microsoft.com/office/powerpoint/2010/main" val="406410444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96530" y="2128684"/>
            <a:ext cx="11277599" cy="843116"/>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smtClean="0"/>
              <a:t>二分图和匹配</a:t>
            </a:r>
            <a:endParaRPr lang="en-US" b="1" dirty="0">
              <a:solidFill>
                <a:srgbClr val="C00000"/>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smtClean="0"/>
                  <a:t>完全匹配的充分必要条件</a:t>
                </a:r>
                <a:r>
                  <a:rPr lang="en-US" altLang="zh-CN" dirty="0" smtClean="0"/>
                  <a:t>: </a:t>
                </a:r>
                <a:r>
                  <a:rPr lang="zh-CN" altLang="en-US" dirty="0" smtClean="0"/>
                  <a:t>设</a:t>
                </a:r>
                <a:r>
                  <a:rPr lang="en-US" altLang="zh-CN" dirty="0" smtClean="0"/>
                  <a:t>(</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i="1">
                            <a:latin typeface="Cambria Math" panose="02040503050406030204" pitchFamily="18" charset="0"/>
                          </a:rPr>
                          <m:t>1</m:t>
                        </m:r>
                      </m:sub>
                    </m:sSub>
                  </m:oMath>
                </a14:m>
                <a:r>
                  <a:rPr lang="en-US" altLang="zh-CN" dirty="0" smtClean="0"/>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b="0" i="1" smtClean="0">
                            <a:latin typeface="Cambria Math" panose="02040503050406030204" pitchFamily="18" charset="0"/>
                          </a:rPr>
                          <m:t>2</m:t>
                        </m:r>
                      </m:sub>
                    </m:sSub>
                  </m:oMath>
                </a14:m>
                <a:r>
                  <a:rPr lang="en-US" altLang="zh-CN" dirty="0" smtClean="0"/>
                  <a:t>)</a:t>
                </a:r>
                <a:r>
                  <a:rPr lang="zh-CN" altLang="en-US" dirty="0" smtClean="0"/>
                  <a:t>是二分图</a:t>
                </a:r>
                <a:r>
                  <a:rPr lang="en-US" altLang="zh-CN" dirty="0" smtClean="0"/>
                  <a:t>G=(V, E)</a:t>
                </a:r>
                <a:r>
                  <a:rPr lang="zh-CN" altLang="en-US" dirty="0" smtClean="0"/>
                  <a:t>的一个二部划分</a:t>
                </a:r>
                <a:r>
                  <a:rPr lang="en-US" altLang="zh-CN" dirty="0" smtClean="0"/>
                  <a:t>, </a:t>
                </a:r>
                <a:r>
                  <a:rPr lang="zh-CN" altLang="en-US" dirty="0" smtClean="0"/>
                  <a:t>如何判断从</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i="1">
                            <a:latin typeface="Cambria Math" panose="02040503050406030204" pitchFamily="18" charset="0"/>
                          </a:rPr>
                          <m:t>1</m:t>
                        </m:r>
                      </m:sub>
                    </m:sSub>
                  </m:oMath>
                </a14:m>
                <a:r>
                  <a:rPr lang="zh-CN" altLang="en-US" dirty="0" smtClean="0"/>
                  <a:t>到</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b="0" i="1" smtClean="0">
                            <a:latin typeface="Cambria Math" panose="02040503050406030204" pitchFamily="18" charset="0"/>
                          </a:rPr>
                          <m:t>2</m:t>
                        </m:r>
                      </m:sub>
                    </m:sSub>
                  </m:oMath>
                </a14:m>
                <a:r>
                  <a:rPr lang="zh-CN" altLang="en-US" dirty="0" smtClean="0"/>
                  <a:t>的完全匹配是否存在？</a:t>
                </a:r>
                <a:endParaRPr lang="en-US" altLang="zh-CN" dirty="0" smtClean="0"/>
              </a:p>
              <a:p>
                <a:r>
                  <a:rPr lang="zh-CN" altLang="en-US" dirty="0" smtClean="0"/>
                  <a:t>定理</a:t>
                </a:r>
                <a:r>
                  <a:rPr lang="en-US" altLang="zh-CN" dirty="0" smtClean="0"/>
                  <a:t>(</a:t>
                </a:r>
                <a:r>
                  <a:rPr lang="zh-CN" altLang="en-US" b="1" dirty="0" smtClean="0">
                    <a:solidFill>
                      <a:srgbClr val="C00000"/>
                    </a:solidFill>
                  </a:rPr>
                  <a:t>霍尔婚姻定理</a:t>
                </a:r>
                <a:r>
                  <a:rPr lang="en-US" altLang="zh-CN" dirty="0" smtClean="0"/>
                  <a:t>): </a:t>
                </a:r>
                <a:r>
                  <a:rPr lang="zh-CN" altLang="en-US" dirty="0" smtClean="0"/>
                  <a:t>带有</a:t>
                </a:r>
                <a:r>
                  <a:rPr lang="en-US" altLang="zh-CN" dirty="0" smtClean="0"/>
                  <a:t>(</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i="1">
                            <a:latin typeface="Cambria Math" panose="02040503050406030204" pitchFamily="18" charset="0"/>
                          </a:rPr>
                          <m:t>1</m:t>
                        </m:r>
                      </m:sub>
                    </m:sSub>
                  </m:oMath>
                </a14:m>
                <a:r>
                  <a:rPr lang="en-US" altLang="zh-CN" dirty="0" smtClean="0"/>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b="0" i="1" smtClean="0">
                            <a:latin typeface="Cambria Math" panose="02040503050406030204" pitchFamily="18" charset="0"/>
                          </a:rPr>
                          <m:t>2</m:t>
                        </m:r>
                      </m:sub>
                    </m:sSub>
                  </m:oMath>
                </a14:m>
                <a:r>
                  <a:rPr lang="en-US" altLang="zh-CN" dirty="0" smtClean="0"/>
                  <a:t>)</a:t>
                </a:r>
                <a:r>
                  <a:rPr lang="zh-CN" altLang="en-US" dirty="0" smtClean="0"/>
                  <a:t>的</a:t>
                </a:r>
                <a:r>
                  <a:rPr lang="zh-CN" altLang="en-US" dirty="0"/>
                  <a:t>二分图</a:t>
                </a:r>
                <a:r>
                  <a:rPr lang="en-US" altLang="zh-CN" dirty="0"/>
                  <a:t>G</a:t>
                </a:r>
                <a:r>
                  <a:rPr lang="en-US" altLang="zh-CN" dirty="0" smtClean="0"/>
                  <a:t>=(V, E)</a:t>
                </a:r>
                <a:r>
                  <a:rPr lang="zh-CN" altLang="en-US" dirty="0" smtClean="0"/>
                  <a:t>中有一个从</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i="1">
                            <a:latin typeface="Cambria Math" panose="02040503050406030204" pitchFamily="18" charset="0"/>
                          </a:rPr>
                          <m:t>1</m:t>
                        </m:r>
                      </m:sub>
                    </m:sSub>
                  </m:oMath>
                </a14:m>
                <a:r>
                  <a:rPr lang="zh-CN" altLang="en-US" dirty="0" smtClean="0"/>
                  <a:t>到</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b="0" i="1" smtClean="0">
                            <a:latin typeface="Cambria Math" panose="02040503050406030204" pitchFamily="18" charset="0"/>
                          </a:rPr>
                          <m:t>2</m:t>
                        </m:r>
                      </m:sub>
                    </m:sSub>
                  </m:oMath>
                </a14:m>
                <a:r>
                  <a:rPr lang="zh-CN" altLang="en-US" dirty="0" smtClean="0"/>
                  <a:t>的完全匹配</a:t>
                </a:r>
                <a:r>
                  <a:rPr lang="en-US" altLang="zh-CN" dirty="0" smtClean="0"/>
                  <a:t>, </a:t>
                </a:r>
                <a:r>
                  <a:rPr lang="zh-CN" altLang="en-US" dirty="0" smtClean="0"/>
                  <a:t>当且仅当对于</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i="1">
                            <a:latin typeface="Cambria Math" panose="02040503050406030204" pitchFamily="18" charset="0"/>
                          </a:rPr>
                          <m:t>1</m:t>
                        </m:r>
                      </m:sub>
                    </m:sSub>
                  </m:oMath>
                </a14:m>
                <a:r>
                  <a:rPr lang="zh-CN" altLang="en-US" dirty="0" smtClean="0"/>
                  <a:t>的所有子集</a:t>
                </a:r>
                <a:r>
                  <a:rPr lang="en-US" altLang="zh-CN" dirty="0" smtClean="0"/>
                  <a:t>A, </a:t>
                </a:r>
                <a:r>
                  <a:rPr lang="zh-CN" altLang="en-US" dirty="0" smtClean="0"/>
                  <a:t>有</a:t>
                </a:r>
                <a14:m>
                  <m:oMath xmlns:m="http://schemas.openxmlformats.org/officeDocument/2006/math">
                    <m:r>
                      <a:rPr lang="en-US" altLang="zh-CN" b="0" i="0" smtClean="0">
                        <a:latin typeface="Cambria Math" panose="02040503050406030204" pitchFamily="18" charset="0"/>
                        <a:ea typeface="Cambria Math" panose="02040503050406030204" pitchFamily="18" charset="0"/>
                      </a:rPr>
                      <m:t>|</m:t>
                    </m:r>
                    <m:r>
                      <m:rPr>
                        <m:sty m:val="p"/>
                      </m:rPr>
                      <a:rPr lang="en-US" altLang="zh-CN" b="0" i="0" smtClean="0">
                        <a:latin typeface="Cambria Math" panose="02040503050406030204" pitchFamily="18" charset="0"/>
                        <a:ea typeface="Cambria Math" panose="02040503050406030204" pitchFamily="18" charset="0"/>
                      </a:rPr>
                      <m:t>N</m:t>
                    </m:r>
                    <m:r>
                      <a:rPr lang="en-US" altLang="zh-CN" b="0" i="0" smtClean="0">
                        <a:latin typeface="Cambria Math" panose="02040503050406030204" pitchFamily="18" charset="0"/>
                        <a:ea typeface="Cambria Math" panose="02040503050406030204" pitchFamily="18" charset="0"/>
                      </a:rPr>
                      <m:t>(</m:t>
                    </m:r>
                    <m:r>
                      <m:rPr>
                        <m:sty m:val="p"/>
                      </m:rPr>
                      <a:rPr lang="en-US" altLang="zh-CN" b="0" i="0" smtClean="0">
                        <a:latin typeface="Cambria Math" panose="02040503050406030204" pitchFamily="18" charset="0"/>
                        <a:ea typeface="Cambria Math" panose="02040503050406030204" pitchFamily="18" charset="0"/>
                      </a:rPr>
                      <m:t>A</m:t>
                    </m:r>
                    <m:r>
                      <a:rPr lang="en-US" altLang="zh-CN" b="0" i="1" smtClean="0">
                        <a:latin typeface="Cambria Math" panose="02040503050406030204" pitchFamily="18" charset="0"/>
                        <a:ea typeface="Cambria Math" panose="02040503050406030204" pitchFamily="18" charset="0"/>
                      </a:rPr>
                      <m:t>)</m:t>
                    </m:r>
                    <m:r>
                      <a:rPr lang="en-US" altLang="zh-CN" b="0" i="0" smtClean="0">
                        <a:latin typeface="Cambria Math" panose="02040503050406030204" pitchFamily="18" charset="0"/>
                        <a:ea typeface="Cambria Math" panose="02040503050406030204" pitchFamily="18" charset="0"/>
                      </a:rPr>
                      <m:t>|</m:t>
                    </m:r>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𝐴</m:t>
                    </m:r>
                    <m:r>
                      <a:rPr lang="en-US" altLang="zh-CN" b="0" i="1" smtClean="0">
                        <a:latin typeface="Cambria Math" panose="02040503050406030204" pitchFamily="18" charset="0"/>
                        <a:ea typeface="Cambria Math" panose="02040503050406030204" pitchFamily="18" charset="0"/>
                      </a:rPr>
                      <m:t>|</m:t>
                    </m:r>
                  </m:oMath>
                </a14:m>
                <a:r>
                  <a:rPr lang="en-US" altLang="zh-CN" dirty="0" smtClean="0"/>
                  <a:t>.</a:t>
                </a:r>
              </a:p>
              <a:p>
                <a:r>
                  <a:rPr lang="en-US" dirty="0" smtClean="0"/>
                  <a:t>(</a:t>
                </a:r>
                <a:r>
                  <a:rPr lang="zh-CN" altLang="en-US" dirty="0" smtClean="0"/>
                  <a:t>证明略</a:t>
                </a:r>
                <a:r>
                  <a:rPr lang="en-US" dirty="0" smtClean="0"/>
                  <a:t>)</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999" t="-1310" r="-943"/>
                </a:stretch>
              </a:blipFill>
            </p:spPr>
            <p:txBody>
              <a:bodyPr/>
              <a:lstStyle/>
              <a:p>
                <a:r>
                  <a:rPr lang="zh-CN" altLang="en-US">
                    <a:noFill/>
                  </a:rPr>
                  <a:t> </a:t>
                </a:r>
              </a:p>
            </p:txBody>
          </p:sp>
        </mc:Fallback>
      </mc:AlternateContent>
      <p:sp>
        <p:nvSpPr>
          <p:cNvPr id="7" name="日期占位符 6"/>
          <p:cNvSpPr>
            <a:spLocks noGrp="1"/>
          </p:cNvSpPr>
          <p:nvPr>
            <p:ph type="dt" sz="half" idx="10"/>
          </p:nvPr>
        </p:nvSpPr>
        <p:spPr/>
        <p:txBody>
          <a:bodyPr/>
          <a:lstStyle/>
          <a:p>
            <a:fld id="{F3741CF2-937D-4AA5-B2A8-C9399EC0A123}"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51</a:t>
            </a:fld>
            <a:endParaRPr lang="zh-CN" altLang="en-US" dirty="0"/>
          </a:p>
        </p:txBody>
      </p:sp>
    </p:spTree>
    <p:extLst>
      <p:ext uri="{BB962C8B-B14F-4D97-AF65-F5344CB8AC3E}">
        <p14:creationId xmlns:p14="http://schemas.microsoft.com/office/powerpoint/2010/main" val="283628998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二分图和匹配</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20000"/>
              </a:bodyPr>
              <a:lstStyle/>
              <a:p>
                <a:r>
                  <a:rPr lang="zh-CN" altLang="en-US" dirty="0"/>
                  <a:t>例</a:t>
                </a:r>
                <a:r>
                  <a:rPr lang="en-US" altLang="zh-CN" dirty="0"/>
                  <a:t>:</a:t>
                </a:r>
                <a:r>
                  <a:rPr lang="zh-CN" altLang="en-US" dirty="0"/>
                  <a:t>利用霍尔婚姻定理说明下图是否有完全匹配</a:t>
                </a:r>
                <a:r>
                  <a:rPr lang="en-US" altLang="zh-CN" dirty="0"/>
                  <a:t>(</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i="1">
                            <a:latin typeface="Cambria Math" panose="02040503050406030204" pitchFamily="18" charset="0"/>
                          </a:rPr>
                          <m:t>1</m:t>
                        </m:r>
                      </m:sub>
                    </m:sSub>
                  </m:oMath>
                </a14:m>
                <a:r>
                  <a:rPr lang="zh-CN" altLang="en-US" dirty="0"/>
                  <a:t>为员工集合</a:t>
                </a:r>
                <a:r>
                  <a:rPr lang="en-US" altLang="zh-CN" dirty="0"/>
                  <a:t>).</a:t>
                </a:r>
              </a:p>
              <a:p>
                <a:endParaRPr lang="en-US" dirty="0"/>
              </a:p>
              <a:p>
                <a:endParaRPr lang="en-US" dirty="0" smtClean="0"/>
              </a:p>
              <a:p>
                <a:endParaRPr lang="en-US" dirty="0"/>
              </a:p>
              <a:p>
                <a:endParaRPr lang="en-US" dirty="0" smtClean="0"/>
              </a:p>
              <a:p>
                <a:r>
                  <a:rPr lang="zh-CN" altLang="en-US" dirty="0" smtClean="0"/>
                  <a:t>解</a:t>
                </a:r>
                <a:r>
                  <a:rPr lang="en-US" altLang="zh-CN" dirty="0" smtClean="0"/>
                  <a:t>: </a:t>
                </a:r>
              </a:p>
              <a:p>
                <a:pPr lvl="1">
                  <a:lnSpc>
                    <a:spcPct val="120000"/>
                  </a:lnSpc>
                </a:pPr>
                <a:r>
                  <a:rPr lang="zh-CN" altLang="en-US" sz="2600" dirty="0"/>
                  <a:t>为了看是否有完全匹配</a:t>
                </a:r>
                <a:r>
                  <a:rPr lang="en-US" altLang="zh-CN" sz="2600" dirty="0"/>
                  <a:t>, </a:t>
                </a:r>
                <a:r>
                  <a:rPr lang="zh-CN" altLang="en-US" sz="2600" dirty="0"/>
                  <a:t>我们需要检查</a:t>
                </a:r>
                <a14:m>
                  <m:oMath xmlns:m="http://schemas.openxmlformats.org/officeDocument/2006/math">
                    <m:sSub>
                      <m:sSubPr>
                        <m:ctrlPr>
                          <a:rPr lang="en-US" altLang="zh-CN" sz="2600" i="1">
                            <a:latin typeface="Cambria Math" panose="02040503050406030204" pitchFamily="18" charset="0"/>
                          </a:rPr>
                        </m:ctrlPr>
                      </m:sSubPr>
                      <m:e>
                        <m:r>
                          <m:rPr>
                            <m:sty m:val="p"/>
                          </m:rPr>
                          <a:rPr lang="en-US" altLang="zh-CN" sz="2600">
                            <a:latin typeface="Cambria Math" panose="02040503050406030204" pitchFamily="18" charset="0"/>
                          </a:rPr>
                          <m:t>V</m:t>
                        </m:r>
                      </m:e>
                      <m:sub>
                        <m:r>
                          <a:rPr lang="en-US" altLang="zh-CN" sz="2600">
                            <a:latin typeface="Cambria Math" panose="02040503050406030204" pitchFamily="18" charset="0"/>
                          </a:rPr>
                          <m:t>1</m:t>
                        </m:r>
                      </m:sub>
                    </m:sSub>
                  </m:oMath>
                </a14:m>
                <a:r>
                  <a:rPr lang="zh-CN" altLang="en-US" sz="2600" dirty="0"/>
                  <a:t>的所有子集的情况</a:t>
                </a:r>
                <a:r>
                  <a:rPr lang="en-US" altLang="zh-CN" sz="2600" dirty="0"/>
                  <a:t>.</a:t>
                </a:r>
              </a:p>
              <a:p>
                <a:pPr lvl="1">
                  <a:lnSpc>
                    <a:spcPct val="120000"/>
                  </a:lnSpc>
                </a:pPr>
                <a:r>
                  <a:rPr lang="en-US" altLang="zh-CN" sz="2600" dirty="0"/>
                  <a:t>|N(</a:t>
                </a:r>
                <a14:m>
                  <m:oMath xmlns:m="http://schemas.openxmlformats.org/officeDocument/2006/math">
                    <m:r>
                      <a:rPr lang="zh-CN" altLang="en-US" sz="2600">
                        <a:latin typeface="Cambria Math" panose="02040503050406030204" pitchFamily="18" charset="0"/>
                      </a:rPr>
                      <m:t>𝜙</m:t>
                    </m:r>
                  </m:oMath>
                </a14:m>
                <a:r>
                  <a:rPr lang="en-US" altLang="zh-CN" sz="2600" dirty="0"/>
                  <a:t>)|=0= |</a:t>
                </a:r>
                <a14:m>
                  <m:oMath xmlns:m="http://schemas.openxmlformats.org/officeDocument/2006/math">
                    <m:r>
                      <a:rPr lang="zh-CN" altLang="en-US" sz="2600">
                        <a:latin typeface="Cambria Math" panose="02040503050406030204" pitchFamily="18" charset="0"/>
                      </a:rPr>
                      <m:t>𝜙</m:t>
                    </m:r>
                  </m:oMath>
                </a14:m>
                <a:r>
                  <a:rPr lang="en-US" altLang="zh-CN" sz="2600" dirty="0"/>
                  <a:t>|</a:t>
                </a:r>
              </a:p>
              <a:p>
                <a:pPr lvl="1">
                  <a:lnSpc>
                    <a:spcPct val="120000"/>
                  </a:lnSpc>
                </a:pPr>
                <a:r>
                  <a:rPr lang="en-US" altLang="zh-CN" sz="2600" dirty="0"/>
                  <a:t>|N(</a:t>
                </a:r>
                <a:r>
                  <a:rPr lang="zh-CN" altLang="en-US" sz="2600" dirty="0"/>
                  <a:t>张三</a:t>
                </a:r>
                <a:r>
                  <a:rPr lang="en-US" altLang="zh-CN" sz="2600" dirty="0"/>
                  <a:t>)|= |{</a:t>
                </a:r>
                <a:r>
                  <a:rPr lang="zh-CN" altLang="en-US" sz="2600" dirty="0"/>
                  <a:t>需求</a:t>
                </a:r>
                <a:r>
                  <a:rPr lang="en-US" altLang="zh-CN" sz="2600" dirty="0"/>
                  <a:t>,</a:t>
                </a:r>
                <a:r>
                  <a:rPr lang="zh-CN" altLang="en-US" sz="2600" dirty="0"/>
                  <a:t>测试</a:t>
                </a:r>
                <a:r>
                  <a:rPr lang="en-US" altLang="zh-CN" sz="2600" dirty="0"/>
                  <a:t>} |=2 ,|</a:t>
                </a:r>
                <a:r>
                  <a:rPr lang="zh-CN" altLang="en-US" sz="2600" dirty="0"/>
                  <a:t>张三</a:t>
                </a:r>
                <a:r>
                  <a:rPr lang="en-US" altLang="zh-CN" sz="2600" dirty="0"/>
                  <a:t>|=1,2</a:t>
                </a:r>
                <a14:m>
                  <m:oMath xmlns:m="http://schemas.openxmlformats.org/officeDocument/2006/math">
                    <m:r>
                      <a:rPr lang="en-US" altLang="zh-CN" sz="2600">
                        <a:latin typeface="Cambria Math" panose="02040503050406030204" pitchFamily="18" charset="0"/>
                      </a:rPr>
                      <m:t>≥1</m:t>
                    </m:r>
                  </m:oMath>
                </a14:m>
                <a:endParaRPr lang="en-US" altLang="zh-CN" sz="2600" dirty="0"/>
              </a:p>
              <a:p>
                <a:pPr lvl="1">
                  <a:lnSpc>
                    <a:spcPct val="120000"/>
                  </a:lnSpc>
                </a:pPr>
                <a:r>
                  <a:rPr lang="en-US" altLang="zh-CN" sz="2600" dirty="0"/>
                  <a:t>|N(</a:t>
                </a:r>
                <a:r>
                  <a:rPr lang="zh-CN" altLang="en-US" sz="2600" dirty="0"/>
                  <a:t>李四</a:t>
                </a:r>
                <a:r>
                  <a:rPr lang="en-US" altLang="zh-CN" sz="2600" dirty="0"/>
                  <a:t>)|= |{</a:t>
                </a:r>
                <a:r>
                  <a:rPr lang="zh-CN" altLang="en-US" sz="2600" dirty="0"/>
                  <a:t>架构</a:t>
                </a:r>
                <a:r>
                  <a:rPr lang="en-US" altLang="zh-CN" sz="2600" dirty="0"/>
                  <a:t>,</a:t>
                </a:r>
                <a:r>
                  <a:rPr lang="zh-CN" altLang="en-US" sz="2600" dirty="0"/>
                  <a:t>实现</a:t>
                </a:r>
                <a:r>
                  <a:rPr lang="en-US" altLang="zh-CN" sz="2600" dirty="0"/>
                  <a:t>,</a:t>
                </a:r>
                <a:r>
                  <a:rPr lang="zh-CN" altLang="en-US" sz="2600" dirty="0"/>
                  <a:t>测试</a:t>
                </a:r>
                <a:r>
                  <a:rPr lang="en-US" altLang="zh-CN" sz="2600" dirty="0"/>
                  <a:t>} |=3, |</a:t>
                </a:r>
                <a:r>
                  <a:rPr lang="zh-CN" altLang="en-US" sz="2600" dirty="0"/>
                  <a:t>李四</a:t>
                </a:r>
                <a:r>
                  <a:rPr lang="en-US" altLang="zh-CN" sz="2600" dirty="0"/>
                  <a:t>|=1,3</a:t>
                </a:r>
                <a14:m>
                  <m:oMath xmlns:m="http://schemas.openxmlformats.org/officeDocument/2006/math">
                    <m:r>
                      <a:rPr lang="en-US" altLang="zh-CN" sz="2600">
                        <a:latin typeface="Cambria Math" panose="02040503050406030204" pitchFamily="18" charset="0"/>
                      </a:rPr>
                      <m:t>≥1</m:t>
                    </m:r>
                  </m:oMath>
                </a14:m>
                <a:endParaRPr lang="en-US" altLang="zh-CN" sz="2600" dirty="0"/>
              </a:p>
              <a:p>
                <a:pPr lvl="1">
                  <a:lnSpc>
                    <a:spcPct val="120000"/>
                  </a:lnSpc>
                </a:pPr>
                <a:r>
                  <a:rPr lang="en-US" altLang="zh-CN" sz="2600" dirty="0"/>
                  <a:t>|N(</a:t>
                </a:r>
                <a:r>
                  <a:rPr lang="zh-CN" altLang="en-US" sz="2600" dirty="0"/>
                  <a:t>王五</a:t>
                </a:r>
                <a:r>
                  <a:rPr lang="en-US" altLang="zh-CN" sz="2600" dirty="0"/>
                  <a:t>)|= |{</a:t>
                </a:r>
                <a:r>
                  <a:rPr lang="zh-CN" altLang="en-US" sz="2600" dirty="0"/>
                  <a:t>需求</a:t>
                </a:r>
                <a:r>
                  <a:rPr lang="en-US" altLang="zh-CN" sz="2600" dirty="0"/>
                  <a:t>,</a:t>
                </a:r>
                <a:r>
                  <a:rPr lang="zh-CN" altLang="en-US" sz="2600" dirty="0"/>
                  <a:t>架构</a:t>
                </a:r>
                <a:r>
                  <a:rPr lang="en-US" altLang="zh-CN" sz="2600" dirty="0"/>
                  <a:t>,</a:t>
                </a:r>
                <a:r>
                  <a:rPr lang="zh-CN" altLang="en-US" sz="2600" dirty="0"/>
                  <a:t>实现</a:t>
                </a:r>
                <a:r>
                  <a:rPr lang="en-US" altLang="zh-CN" sz="2600" dirty="0"/>
                  <a:t>} |=3,|</a:t>
                </a:r>
                <a:r>
                  <a:rPr lang="zh-CN" altLang="en-US" sz="2600" dirty="0"/>
                  <a:t>王五</a:t>
                </a:r>
                <a:r>
                  <a:rPr lang="en-US" altLang="zh-CN" sz="2600" dirty="0"/>
                  <a:t>|=1,3</a:t>
                </a:r>
                <a14:m>
                  <m:oMath xmlns:m="http://schemas.openxmlformats.org/officeDocument/2006/math">
                    <m:r>
                      <a:rPr lang="en-US" altLang="zh-CN" sz="2600">
                        <a:latin typeface="Cambria Math" panose="02040503050406030204" pitchFamily="18" charset="0"/>
                      </a:rPr>
                      <m:t>≥1</m:t>
                    </m:r>
                  </m:oMath>
                </a14:m>
                <a:endParaRPr lang="en-US" altLang="zh-CN" sz="2600" dirty="0"/>
              </a:p>
              <a:p>
                <a:pPr marL="0" indent="0">
                  <a:buNone/>
                </a:pPr>
                <a:endParaRPr lang="en-US" altLang="zh-CN" dirty="0" smtClean="0"/>
              </a:p>
              <a:p>
                <a:endParaRPr lang="en-US" dirty="0" smtClean="0"/>
              </a:p>
              <a:p>
                <a:endParaRPr lang="en-US" dirty="0"/>
              </a:p>
              <a:p>
                <a:endParaRPr lang="en-US" dirty="0" smtClean="0"/>
              </a:p>
              <a:p>
                <a:endParaRPr lang="en-US" dirty="0"/>
              </a:p>
              <a:p>
                <a:endParaRPr lang="en-US" dirty="0" smtClean="0"/>
              </a:p>
              <a:p>
                <a:endParaRPr lang="en-US" dirty="0" smtClean="0"/>
              </a:p>
              <a:p>
                <a:endParaRPr lang="en-US" dirty="0" smtClean="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888" t="-2738"/>
                </a:stretch>
              </a:blipFill>
            </p:spPr>
            <p:txBody>
              <a:bodyPr/>
              <a:lstStyle/>
              <a:p>
                <a:r>
                  <a:rPr lang="zh-CN" altLang="en-US">
                    <a:noFill/>
                  </a:rPr>
                  <a:t> </a:t>
                </a:r>
              </a:p>
            </p:txBody>
          </p:sp>
        </mc:Fallback>
      </mc:AlternateContent>
      <p:sp>
        <p:nvSpPr>
          <p:cNvPr id="7" name="日期占位符 6"/>
          <p:cNvSpPr>
            <a:spLocks noGrp="1"/>
          </p:cNvSpPr>
          <p:nvPr>
            <p:ph type="dt" sz="half" idx="10"/>
          </p:nvPr>
        </p:nvSpPr>
        <p:spPr/>
        <p:txBody>
          <a:bodyPr/>
          <a:lstStyle/>
          <a:p>
            <a:fld id="{9477AAA6-A782-4C34-BEB0-FAE524204EBF}"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52</a:t>
            </a:fld>
            <a:endParaRPr lang="zh-CN" altLang="en-US" dirty="0"/>
          </a:p>
        </p:txBody>
      </p:sp>
      <p:pic>
        <p:nvPicPr>
          <p:cNvPr id="5" name="图片 4"/>
          <p:cNvPicPr>
            <a:picLocks noChangeAspect="1"/>
          </p:cNvPicPr>
          <p:nvPr/>
        </p:nvPicPr>
        <p:blipFill>
          <a:blip r:embed="rId3"/>
          <a:stretch>
            <a:fillRect/>
          </a:stretch>
        </p:blipFill>
        <p:spPr>
          <a:xfrm>
            <a:off x="3962400" y="1371600"/>
            <a:ext cx="3232150" cy="2438400"/>
          </a:xfrm>
          <a:prstGeom prst="rect">
            <a:avLst/>
          </a:prstGeom>
        </p:spPr>
      </p:pic>
      <p:sp>
        <p:nvSpPr>
          <p:cNvPr id="10" name="矩形 9"/>
          <p:cNvSpPr/>
          <p:nvPr/>
        </p:nvSpPr>
        <p:spPr>
          <a:xfrm>
            <a:off x="4038600" y="1905000"/>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4876800" y="1828800"/>
            <a:ext cx="304800" cy="304800"/>
          </a:xfrm>
          <a:prstGeom prst="rect">
            <a:avLst/>
          </a:pr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4038600" y="2926970"/>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6858000" y="2926970"/>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4876800" y="2926970"/>
            <a:ext cx="304800" cy="304800"/>
          </a:xfrm>
          <a:prstGeom prst="rect">
            <a:avLst/>
          </a:pr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5845056" y="2926970"/>
            <a:ext cx="304800" cy="304800"/>
          </a:xfrm>
          <a:prstGeom prst="rect">
            <a:avLst/>
          </a:pr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6781800" y="2895600"/>
            <a:ext cx="457438" cy="379742"/>
          </a:xfrm>
          <a:prstGeom prst="rect">
            <a:avLst/>
          </a:pr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939968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wipe(down)">
                                      <p:cBhvr>
                                        <p:cTn id="7" dur="500"/>
                                        <p:tgtEl>
                                          <p:spTgt spid="3">
                                            <p:txEl>
                                              <p:pRg st="5" end="5"/>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wipe(down)">
                                      <p:cBhvr>
                                        <p:cTn id="10" dur="500"/>
                                        <p:tgtEl>
                                          <p:spTgt spid="3">
                                            <p:txEl>
                                              <p:pRg st="6" end="6"/>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animEffect transition="in" filter="wipe(down)">
                                      <p:cBhvr>
                                        <p:cTn id="13" dur="500"/>
                                        <p:tgtEl>
                                          <p:spTgt spid="3">
                                            <p:txEl>
                                              <p:pRg st="7" end="7"/>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8" end="8"/>
                                            </p:txEl>
                                          </p:spTgt>
                                        </p:tgtEl>
                                        <p:attrNameLst>
                                          <p:attrName>style.visibility</p:attrName>
                                        </p:attrNameLst>
                                      </p:cBhvr>
                                      <p:to>
                                        <p:strVal val="visible"/>
                                      </p:to>
                                    </p:set>
                                    <p:animEffect transition="in" filter="wipe(down)">
                                      <p:cBhvr>
                                        <p:cTn id="16" dur="500"/>
                                        <p:tgtEl>
                                          <p:spTgt spid="3">
                                            <p:txEl>
                                              <p:pRg st="8" end="8"/>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animEffect transition="in" filter="wipe(down)">
                                      <p:cBhvr>
                                        <p:cTn id="19" dur="500"/>
                                        <p:tgtEl>
                                          <p:spTgt spid="3">
                                            <p:txEl>
                                              <p:pRg st="9" end="9"/>
                                            </p:txEl>
                                          </p:spTgt>
                                        </p:tgtEl>
                                      </p:cBhvr>
                                    </p:animEffect>
                                  </p:childTnLst>
                                </p:cTn>
                              </p:par>
                              <p:par>
                                <p:cTn id="20" presetID="22" presetClass="entr" presetSubtype="4" fill="hold" nodeType="withEffect">
                                  <p:stCondLst>
                                    <p:cond delay="0"/>
                                  </p:stCondLst>
                                  <p:childTnLst>
                                    <p:set>
                                      <p:cBhvr>
                                        <p:cTn id="21" dur="1" fill="hold">
                                          <p:stCondLst>
                                            <p:cond delay="0"/>
                                          </p:stCondLst>
                                        </p:cTn>
                                        <p:tgtEl>
                                          <p:spTgt spid="3">
                                            <p:txEl>
                                              <p:pRg st="10" end="10"/>
                                            </p:txEl>
                                          </p:spTgt>
                                        </p:tgtEl>
                                        <p:attrNameLst>
                                          <p:attrName>style.visibility</p:attrName>
                                        </p:attrNameLst>
                                      </p:cBhvr>
                                      <p:to>
                                        <p:strVal val="visible"/>
                                      </p:to>
                                    </p:set>
                                    <p:animEffect transition="in" filter="wipe(down)">
                                      <p:cBhvr>
                                        <p:cTn id="22"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二分图和匹配</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smtClean="0"/>
                  <a:t>解</a:t>
                </a:r>
                <a:r>
                  <a:rPr lang="en-US" altLang="zh-CN" dirty="0" smtClean="0"/>
                  <a:t>(</a:t>
                </a:r>
                <a:r>
                  <a:rPr lang="zh-CN" altLang="en-US" dirty="0" smtClean="0"/>
                  <a:t>续</a:t>
                </a:r>
                <a:r>
                  <a:rPr lang="en-US" altLang="zh-CN" dirty="0"/>
                  <a:t>)</a:t>
                </a:r>
                <a:r>
                  <a:rPr lang="en-US" altLang="zh-CN" dirty="0" smtClean="0"/>
                  <a:t>: </a:t>
                </a:r>
                <a:endParaRPr lang="en-US" altLang="zh-CN" dirty="0"/>
              </a:p>
              <a:p>
                <a:pPr lvl="1">
                  <a:lnSpc>
                    <a:spcPct val="110000"/>
                  </a:lnSpc>
                </a:pPr>
                <a:r>
                  <a:rPr lang="en-US" altLang="zh-CN" dirty="0" smtClean="0"/>
                  <a:t>|</a:t>
                </a:r>
                <a:r>
                  <a:rPr lang="en-US" altLang="zh-CN" dirty="0"/>
                  <a:t>N(</a:t>
                </a:r>
                <a:r>
                  <a:rPr lang="zh-CN" altLang="en-US" dirty="0"/>
                  <a:t>赵六</a:t>
                </a:r>
                <a:r>
                  <a:rPr lang="en-US" altLang="zh-CN" dirty="0"/>
                  <a:t>)|=|{</a:t>
                </a:r>
                <a:r>
                  <a:rPr lang="zh-CN" altLang="en-US" dirty="0"/>
                  <a:t>需求</a:t>
                </a:r>
                <a:r>
                  <a:rPr lang="en-US" altLang="zh-CN" dirty="0"/>
                  <a:t>}|=1 ,|</a:t>
                </a:r>
                <a:r>
                  <a:rPr lang="zh-CN" altLang="en-US" dirty="0"/>
                  <a:t>赵六</a:t>
                </a:r>
                <a:r>
                  <a:rPr lang="en-US" altLang="zh-CN" dirty="0"/>
                  <a:t>|=1,1</a:t>
                </a:r>
                <a14:m>
                  <m:oMath xmlns:m="http://schemas.openxmlformats.org/officeDocument/2006/math">
                    <m:r>
                      <a:rPr lang="en-US" altLang="zh-CN">
                        <a:latin typeface="Cambria Math" panose="02040503050406030204" pitchFamily="18" charset="0"/>
                      </a:rPr>
                      <m:t>≥</m:t>
                    </m:r>
                  </m:oMath>
                </a14:m>
                <a:r>
                  <a:rPr lang="en-US" altLang="zh-CN" dirty="0"/>
                  <a:t>1</a:t>
                </a:r>
              </a:p>
              <a:p>
                <a:pPr lvl="1">
                  <a:lnSpc>
                    <a:spcPct val="110000"/>
                  </a:lnSpc>
                </a:pPr>
                <a:r>
                  <a:rPr lang="en-US" altLang="zh-CN" dirty="0"/>
                  <a:t>|N(</a:t>
                </a:r>
                <a:r>
                  <a:rPr lang="zh-CN" altLang="en-US" dirty="0"/>
                  <a:t>张三</a:t>
                </a:r>
                <a:r>
                  <a:rPr lang="en-US" altLang="zh-CN" dirty="0"/>
                  <a:t>,</a:t>
                </a:r>
                <a:r>
                  <a:rPr lang="zh-CN" altLang="en-US" dirty="0"/>
                  <a:t>李四</a:t>
                </a:r>
                <a:r>
                  <a:rPr lang="en-US" altLang="zh-CN" dirty="0"/>
                  <a:t>)|=|{</a:t>
                </a:r>
                <a:r>
                  <a:rPr lang="zh-CN" altLang="en-US" dirty="0"/>
                  <a:t>需求</a:t>
                </a:r>
                <a:r>
                  <a:rPr lang="en-US" altLang="zh-CN" dirty="0"/>
                  <a:t>,</a:t>
                </a:r>
                <a:r>
                  <a:rPr lang="zh-CN" altLang="en-US" dirty="0"/>
                  <a:t>架构</a:t>
                </a:r>
                <a:r>
                  <a:rPr lang="en-US" altLang="zh-CN" dirty="0"/>
                  <a:t>,</a:t>
                </a:r>
                <a:r>
                  <a:rPr lang="zh-CN" altLang="en-US" dirty="0"/>
                  <a:t>实现</a:t>
                </a:r>
                <a:r>
                  <a:rPr lang="en-US" altLang="zh-CN" dirty="0"/>
                  <a:t>,</a:t>
                </a:r>
                <a:r>
                  <a:rPr lang="zh-CN" altLang="en-US" dirty="0"/>
                  <a:t>测试</a:t>
                </a:r>
                <a:r>
                  <a:rPr lang="en-US" altLang="zh-CN" dirty="0"/>
                  <a:t>}|=4, </a:t>
                </a:r>
              </a:p>
              <a:p>
                <a:pPr marL="393192" lvl="1" indent="0">
                  <a:lnSpc>
                    <a:spcPct val="110000"/>
                  </a:lnSpc>
                  <a:buNone/>
                </a:pPr>
                <a:r>
                  <a:rPr lang="en-US" altLang="zh-CN" dirty="0" smtClean="0"/>
                  <a:t> |</a:t>
                </a:r>
                <a:r>
                  <a:rPr lang="zh-CN" altLang="en-US" dirty="0"/>
                  <a:t>张三</a:t>
                </a:r>
                <a:r>
                  <a:rPr lang="en-US" altLang="zh-CN" dirty="0"/>
                  <a:t>,</a:t>
                </a:r>
                <a:r>
                  <a:rPr lang="zh-CN" altLang="en-US" dirty="0"/>
                  <a:t>李四</a:t>
                </a:r>
                <a:r>
                  <a:rPr lang="en-US" altLang="zh-CN" dirty="0"/>
                  <a:t>|=2, 4</a:t>
                </a:r>
                <a14:m>
                  <m:oMath xmlns:m="http://schemas.openxmlformats.org/officeDocument/2006/math">
                    <m:r>
                      <a:rPr lang="en-US" altLang="zh-CN">
                        <a:latin typeface="Cambria Math" panose="02040503050406030204" pitchFamily="18" charset="0"/>
                      </a:rPr>
                      <m:t>≥</m:t>
                    </m:r>
                  </m:oMath>
                </a14:m>
                <a:r>
                  <a:rPr lang="en-US" altLang="zh-CN" dirty="0"/>
                  <a:t>2</a:t>
                </a:r>
              </a:p>
              <a:p>
                <a:pPr lvl="1">
                  <a:lnSpc>
                    <a:spcPct val="110000"/>
                  </a:lnSpc>
                </a:pPr>
                <a:r>
                  <a:rPr lang="en-US" altLang="zh-CN" dirty="0"/>
                  <a:t>|N(</a:t>
                </a:r>
                <a:r>
                  <a:rPr lang="zh-CN" altLang="en-US" dirty="0"/>
                  <a:t>张三</a:t>
                </a:r>
                <a:r>
                  <a:rPr lang="en-US" altLang="zh-CN" dirty="0"/>
                  <a:t>,</a:t>
                </a:r>
                <a:r>
                  <a:rPr lang="zh-CN" altLang="en-US" dirty="0"/>
                  <a:t>王五</a:t>
                </a:r>
                <a:r>
                  <a:rPr lang="en-US" altLang="zh-CN" dirty="0"/>
                  <a:t>)|=|{</a:t>
                </a:r>
                <a:r>
                  <a:rPr lang="zh-CN" altLang="en-US" dirty="0"/>
                  <a:t>需求</a:t>
                </a:r>
                <a:r>
                  <a:rPr lang="en-US" altLang="zh-CN" dirty="0"/>
                  <a:t>,</a:t>
                </a:r>
                <a:r>
                  <a:rPr lang="zh-CN" altLang="en-US" dirty="0"/>
                  <a:t>架构</a:t>
                </a:r>
                <a:r>
                  <a:rPr lang="en-US" altLang="zh-CN" dirty="0"/>
                  <a:t>,</a:t>
                </a:r>
                <a:r>
                  <a:rPr lang="zh-CN" altLang="en-US" dirty="0"/>
                  <a:t>实现</a:t>
                </a:r>
                <a:r>
                  <a:rPr lang="en-US" altLang="zh-CN" dirty="0"/>
                  <a:t>,</a:t>
                </a:r>
                <a:r>
                  <a:rPr lang="zh-CN" altLang="en-US" dirty="0"/>
                  <a:t>测试</a:t>
                </a:r>
                <a:r>
                  <a:rPr lang="en-US" altLang="zh-CN" dirty="0"/>
                  <a:t>}|=4, |</a:t>
                </a:r>
                <a:r>
                  <a:rPr lang="zh-CN" altLang="en-US" dirty="0"/>
                  <a:t>张三</a:t>
                </a:r>
                <a:r>
                  <a:rPr lang="en-US" altLang="zh-CN" dirty="0"/>
                  <a:t>, </a:t>
                </a:r>
                <a:r>
                  <a:rPr lang="zh-CN" altLang="en-US" dirty="0"/>
                  <a:t>王五</a:t>
                </a:r>
                <a:r>
                  <a:rPr lang="en-US" altLang="zh-CN" dirty="0"/>
                  <a:t>|=2, 4≥2</a:t>
                </a:r>
              </a:p>
              <a:p>
                <a:pPr lvl="1">
                  <a:lnSpc>
                    <a:spcPct val="110000"/>
                  </a:lnSpc>
                </a:pPr>
                <a:r>
                  <a:rPr lang="en-US" altLang="zh-CN" dirty="0"/>
                  <a:t>|N(</a:t>
                </a:r>
                <a:r>
                  <a:rPr lang="zh-CN" altLang="en-US" dirty="0"/>
                  <a:t>张三</a:t>
                </a:r>
                <a:r>
                  <a:rPr lang="en-US" altLang="zh-CN" dirty="0"/>
                  <a:t>,</a:t>
                </a:r>
                <a:r>
                  <a:rPr lang="zh-CN" altLang="en-US" dirty="0"/>
                  <a:t>赵六</a:t>
                </a:r>
                <a:r>
                  <a:rPr lang="en-US" altLang="zh-CN" dirty="0"/>
                  <a:t>)|=|{</a:t>
                </a:r>
                <a:r>
                  <a:rPr lang="zh-CN" altLang="en-US" dirty="0"/>
                  <a:t>需求</a:t>
                </a:r>
                <a:r>
                  <a:rPr lang="en-US" altLang="zh-CN" dirty="0"/>
                  <a:t>,</a:t>
                </a:r>
                <a:r>
                  <a:rPr lang="zh-CN" altLang="en-US" dirty="0"/>
                  <a:t>测试</a:t>
                </a:r>
                <a:r>
                  <a:rPr lang="en-US" altLang="zh-CN" dirty="0"/>
                  <a:t>}|=2, |</a:t>
                </a:r>
                <a:r>
                  <a:rPr lang="zh-CN" altLang="en-US" dirty="0"/>
                  <a:t>张三</a:t>
                </a:r>
                <a:r>
                  <a:rPr lang="en-US" altLang="zh-CN" dirty="0"/>
                  <a:t>,</a:t>
                </a:r>
                <a:r>
                  <a:rPr lang="zh-CN" altLang="en-US" dirty="0"/>
                  <a:t>赵六</a:t>
                </a:r>
                <a:r>
                  <a:rPr lang="en-US" altLang="zh-CN" dirty="0"/>
                  <a:t>|=2, 2≥2</a:t>
                </a:r>
              </a:p>
              <a:p>
                <a:pPr lvl="1">
                  <a:lnSpc>
                    <a:spcPct val="110000"/>
                  </a:lnSpc>
                </a:pPr>
                <a:r>
                  <a:rPr lang="en-US" altLang="zh-CN" dirty="0"/>
                  <a:t>|N(</a:t>
                </a:r>
                <a:r>
                  <a:rPr lang="zh-CN" altLang="en-US" dirty="0"/>
                  <a:t>李四</a:t>
                </a:r>
                <a:r>
                  <a:rPr lang="en-US" altLang="zh-CN" dirty="0"/>
                  <a:t>,</a:t>
                </a:r>
                <a:r>
                  <a:rPr lang="zh-CN" altLang="en-US" dirty="0"/>
                  <a:t>王五</a:t>
                </a:r>
                <a:r>
                  <a:rPr lang="en-US" altLang="zh-CN" dirty="0"/>
                  <a:t>)|=|{</a:t>
                </a:r>
                <a:r>
                  <a:rPr lang="zh-CN" altLang="en-US" dirty="0"/>
                  <a:t>需求</a:t>
                </a:r>
                <a:r>
                  <a:rPr lang="en-US" altLang="zh-CN" dirty="0"/>
                  <a:t>,</a:t>
                </a:r>
                <a:r>
                  <a:rPr lang="zh-CN" altLang="en-US" dirty="0"/>
                  <a:t>架构</a:t>
                </a:r>
                <a:r>
                  <a:rPr lang="en-US" altLang="zh-CN" dirty="0"/>
                  <a:t>,</a:t>
                </a:r>
                <a:r>
                  <a:rPr lang="zh-CN" altLang="en-US" dirty="0"/>
                  <a:t>实现</a:t>
                </a:r>
                <a:r>
                  <a:rPr lang="en-US" altLang="zh-CN" dirty="0"/>
                  <a:t>,</a:t>
                </a:r>
                <a:r>
                  <a:rPr lang="zh-CN" altLang="en-US" dirty="0"/>
                  <a:t>测试</a:t>
                </a:r>
                <a:r>
                  <a:rPr lang="en-US" altLang="zh-CN" dirty="0"/>
                  <a:t>}|=4, |</a:t>
                </a:r>
                <a:r>
                  <a:rPr lang="zh-CN" altLang="en-US" dirty="0"/>
                  <a:t>李四</a:t>
                </a:r>
                <a:r>
                  <a:rPr lang="en-US" altLang="zh-CN" dirty="0"/>
                  <a:t>,</a:t>
                </a:r>
                <a:r>
                  <a:rPr lang="zh-CN" altLang="en-US" dirty="0"/>
                  <a:t>王五</a:t>
                </a:r>
                <a:r>
                  <a:rPr lang="en-US" altLang="zh-CN" dirty="0"/>
                  <a:t>|=2, 4≥2</a:t>
                </a:r>
              </a:p>
              <a:p>
                <a:pPr lvl="1">
                  <a:lnSpc>
                    <a:spcPct val="110000"/>
                  </a:lnSpc>
                </a:pPr>
                <a:r>
                  <a:rPr lang="en-US" altLang="zh-CN" dirty="0"/>
                  <a:t>|N(</a:t>
                </a:r>
                <a:r>
                  <a:rPr lang="zh-CN" altLang="en-US" dirty="0"/>
                  <a:t>李四</a:t>
                </a:r>
                <a:r>
                  <a:rPr lang="en-US" altLang="zh-CN" dirty="0"/>
                  <a:t>,</a:t>
                </a:r>
                <a:r>
                  <a:rPr lang="zh-CN" altLang="en-US" dirty="0"/>
                  <a:t>赵六</a:t>
                </a:r>
                <a:r>
                  <a:rPr lang="en-US" altLang="zh-CN" dirty="0"/>
                  <a:t>)|=|{</a:t>
                </a:r>
                <a:r>
                  <a:rPr lang="zh-CN" altLang="en-US" dirty="0"/>
                  <a:t>需求</a:t>
                </a:r>
                <a:r>
                  <a:rPr lang="en-US" altLang="zh-CN" dirty="0"/>
                  <a:t>,</a:t>
                </a:r>
                <a:r>
                  <a:rPr lang="zh-CN" altLang="en-US" dirty="0"/>
                  <a:t>架构</a:t>
                </a:r>
                <a:r>
                  <a:rPr lang="en-US" altLang="zh-CN" dirty="0"/>
                  <a:t>,</a:t>
                </a:r>
                <a:r>
                  <a:rPr lang="zh-CN" altLang="en-US" dirty="0"/>
                  <a:t>实现</a:t>
                </a:r>
                <a:r>
                  <a:rPr lang="en-US" altLang="zh-CN" dirty="0"/>
                  <a:t>,</a:t>
                </a:r>
                <a:r>
                  <a:rPr lang="zh-CN" altLang="en-US" dirty="0"/>
                  <a:t>测试</a:t>
                </a:r>
                <a:r>
                  <a:rPr lang="en-US" altLang="zh-CN" dirty="0"/>
                  <a:t>}|=4, |</a:t>
                </a:r>
                <a:r>
                  <a:rPr lang="zh-CN" altLang="en-US" dirty="0"/>
                  <a:t>李四</a:t>
                </a:r>
                <a:r>
                  <a:rPr lang="en-US" altLang="zh-CN" dirty="0"/>
                  <a:t>,</a:t>
                </a:r>
                <a:r>
                  <a:rPr lang="zh-CN" altLang="en-US" dirty="0"/>
                  <a:t>赵六</a:t>
                </a:r>
                <a:r>
                  <a:rPr lang="en-US" altLang="zh-CN" dirty="0"/>
                  <a:t>|=2, 4≥2</a:t>
                </a:r>
              </a:p>
              <a:p>
                <a:pPr lvl="1">
                  <a:lnSpc>
                    <a:spcPct val="110000"/>
                  </a:lnSpc>
                </a:pPr>
                <a:r>
                  <a:rPr lang="en-US" altLang="zh-CN" dirty="0"/>
                  <a:t>|N(</a:t>
                </a:r>
                <a:r>
                  <a:rPr lang="zh-CN" altLang="en-US" dirty="0"/>
                  <a:t>王五</a:t>
                </a:r>
                <a:r>
                  <a:rPr lang="en-US" altLang="zh-CN" dirty="0"/>
                  <a:t>,</a:t>
                </a:r>
                <a:r>
                  <a:rPr lang="zh-CN" altLang="en-US" dirty="0"/>
                  <a:t>赵六</a:t>
                </a:r>
                <a:r>
                  <a:rPr lang="en-US" altLang="zh-CN" dirty="0"/>
                  <a:t>)|=|{</a:t>
                </a:r>
                <a:r>
                  <a:rPr lang="zh-CN" altLang="en-US" dirty="0"/>
                  <a:t>需求</a:t>
                </a:r>
                <a:r>
                  <a:rPr lang="en-US" altLang="zh-CN" dirty="0"/>
                  <a:t>,</a:t>
                </a:r>
                <a:r>
                  <a:rPr lang="zh-CN" altLang="en-US" dirty="0"/>
                  <a:t>架构</a:t>
                </a:r>
                <a:r>
                  <a:rPr lang="en-US" altLang="zh-CN" dirty="0"/>
                  <a:t>,</a:t>
                </a:r>
                <a:r>
                  <a:rPr lang="zh-CN" altLang="en-US" dirty="0"/>
                  <a:t>实现</a:t>
                </a:r>
                <a:r>
                  <a:rPr lang="en-US" altLang="zh-CN" dirty="0"/>
                  <a:t>}|=3, |</a:t>
                </a:r>
                <a:r>
                  <a:rPr lang="zh-CN" altLang="en-US" dirty="0"/>
                  <a:t>王五</a:t>
                </a:r>
                <a:r>
                  <a:rPr lang="en-US" altLang="zh-CN" dirty="0"/>
                  <a:t>,</a:t>
                </a:r>
                <a:r>
                  <a:rPr lang="zh-CN" altLang="en-US" dirty="0"/>
                  <a:t>赵六</a:t>
                </a:r>
                <a:r>
                  <a:rPr lang="en-US" altLang="zh-CN" dirty="0"/>
                  <a:t>|=2, 3≥2</a:t>
                </a:r>
              </a:p>
              <a:p>
                <a:pPr lvl="1">
                  <a:lnSpc>
                    <a:spcPct val="110000"/>
                  </a:lnSpc>
                </a:pPr>
                <a:r>
                  <a:rPr lang="en-US" altLang="zh-CN" dirty="0"/>
                  <a:t>|N(</a:t>
                </a:r>
                <a:r>
                  <a:rPr lang="zh-CN" altLang="en-US" dirty="0"/>
                  <a:t>张三</a:t>
                </a:r>
                <a:r>
                  <a:rPr lang="en-US" altLang="zh-CN" dirty="0"/>
                  <a:t>,</a:t>
                </a:r>
                <a:r>
                  <a:rPr lang="zh-CN" altLang="en-US" dirty="0"/>
                  <a:t>李四</a:t>
                </a:r>
                <a:r>
                  <a:rPr lang="en-US" altLang="zh-CN" dirty="0"/>
                  <a:t>,</a:t>
                </a:r>
                <a:r>
                  <a:rPr lang="zh-CN" altLang="en-US" dirty="0"/>
                  <a:t>王五</a:t>
                </a:r>
                <a:r>
                  <a:rPr lang="en-US" altLang="zh-CN" dirty="0"/>
                  <a:t>)|=|{</a:t>
                </a:r>
                <a:r>
                  <a:rPr lang="zh-CN" altLang="en-US" dirty="0"/>
                  <a:t>需求</a:t>
                </a:r>
                <a:r>
                  <a:rPr lang="en-US" altLang="zh-CN" dirty="0"/>
                  <a:t>,</a:t>
                </a:r>
                <a:r>
                  <a:rPr lang="zh-CN" altLang="en-US" dirty="0"/>
                  <a:t>架构</a:t>
                </a:r>
                <a:r>
                  <a:rPr lang="en-US" altLang="zh-CN" dirty="0"/>
                  <a:t>,</a:t>
                </a:r>
                <a:r>
                  <a:rPr lang="zh-CN" altLang="en-US" dirty="0"/>
                  <a:t>实现</a:t>
                </a:r>
                <a:r>
                  <a:rPr lang="en-US" altLang="zh-CN" dirty="0"/>
                  <a:t>,</a:t>
                </a:r>
                <a:r>
                  <a:rPr lang="zh-CN" altLang="en-US" dirty="0"/>
                  <a:t>测试</a:t>
                </a:r>
                <a:r>
                  <a:rPr lang="en-US" altLang="zh-CN" dirty="0"/>
                  <a:t>}|=4, |</a:t>
                </a:r>
                <a:r>
                  <a:rPr lang="zh-CN" altLang="en-US" dirty="0"/>
                  <a:t>张三</a:t>
                </a:r>
                <a:r>
                  <a:rPr lang="en-US" altLang="zh-CN" dirty="0"/>
                  <a:t>,</a:t>
                </a:r>
                <a:r>
                  <a:rPr lang="zh-CN" altLang="en-US" dirty="0"/>
                  <a:t>李四</a:t>
                </a:r>
                <a:r>
                  <a:rPr lang="en-US" altLang="zh-CN" dirty="0"/>
                  <a:t>,</a:t>
                </a:r>
                <a:r>
                  <a:rPr lang="zh-CN" altLang="en-US" dirty="0"/>
                  <a:t>王五</a:t>
                </a:r>
                <a:r>
                  <a:rPr lang="en-US" altLang="zh-CN" dirty="0"/>
                  <a:t>|=3, 4≥</a:t>
                </a:r>
                <a:r>
                  <a:rPr lang="en-US" altLang="zh-CN" dirty="0" smtClean="0"/>
                  <a:t>3</a:t>
                </a:r>
                <a:endParaRPr lang="en-US" altLang="zh-CN" dirty="0"/>
              </a:p>
              <a:p>
                <a:endParaRPr lang="en-US" altLang="zh-CN" dirty="0"/>
              </a:p>
              <a:p>
                <a:endParaRPr lang="en-US" dirty="0" smtClean="0"/>
              </a:p>
              <a:p>
                <a:endParaRPr lang="en-US" dirty="0" smtClean="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310"/>
                </a:stretch>
              </a:blipFill>
            </p:spPr>
            <p:txBody>
              <a:bodyPr/>
              <a:lstStyle/>
              <a:p>
                <a:r>
                  <a:rPr lang="zh-CN" altLang="en-US">
                    <a:noFill/>
                  </a:rPr>
                  <a:t> </a:t>
                </a:r>
              </a:p>
            </p:txBody>
          </p:sp>
        </mc:Fallback>
      </mc:AlternateContent>
      <p:sp>
        <p:nvSpPr>
          <p:cNvPr id="7" name="日期占位符 6"/>
          <p:cNvSpPr>
            <a:spLocks noGrp="1"/>
          </p:cNvSpPr>
          <p:nvPr>
            <p:ph type="dt" sz="half" idx="10"/>
          </p:nvPr>
        </p:nvSpPr>
        <p:spPr/>
        <p:txBody>
          <a:bodyPr/>
          <a:lstStyle/>
          <a:p>
            <a:fld id="{35D89276-018E-4BD1-BB7F-3BE7D8D85C1D}"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53</a:t>
            </a:fld>
            <a:endParaRPr lang="zh-CN" altLang="en-US" dirty="0"/>
          </a:p>
        </p:txBody>
      </p:sp>
      <p:pic>
        <p:nvPicPr>
          <p:cNvPr id="5" name="图片 4"/>
          <p:cNvPicPr>
            <a:picLocks noChangeAspect="1"/>
          </p:cNvPicPr>
          <p:nvPr/>
        </p:nvPicPr>
        <p:blipFill>
          <a:blip r:embed="rId3"/>
          <a:stretch>
            <a:fillRect/>
          </a:stretch>
        </p:blipFill>
        <p:spPr>
          <a:xfrm>
            <a:off x="8660643" y="375981"/>
            <a:ext cx="2895600" cy="2184499"/>
          </a:xfrm>
          <a:prstGeom prst="rect">
            <a:avLst/>
          </a:prstGeom>
        </p:spPr>
      </p:pic>
    </p:spTree>
    <p:extLst>
      <p:ext uri="{BB962C8B-B14F-4D97-AF65-F5344CB8AC3E}">
        <p14:creationId xmlns:p14="http://schemas.microsoft.com/office/powerpoint/2010/main" val="2368040477"/>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二分图和匹配</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a:t>解</a:t>
                </a:r>
                <a:r>
                  <a:rPr lang="en-US" altLang="zh-CN" dirty="0"/>
                  <a:t>(</a:t>
                </a:r>
                <a:r>
                  <a:rPr lang="zh-CN" altLang="en-US" dirty="0"/>
                  <a:t>续</a:t>
                </a:r>
                <a:r>
                  <a:rPr lang="en-US" altLang="zh-CN" dirty="0"/>
                  <a:t>): </a:t>
                </a:r>
              </a:p>
              <a:p>
                <a:pPr lvl="1">
                  <a:lnSpc>
                    <a:spcPct val="120000"/>
                  </a:lnSpc>
                </a:pPr>
                <a:r>
                  <a:rPr lang="en-US" altLang="zh-CN" dirty="0" smtClean="0"/>
                  <a:t>|</a:t>
                </a:r>
                <a:r>
                  <a:rPr lang="en-US" altLang="zh-CN" dirty="0"/>
                  <a:t>N(</a:t>
                </a:r>
                <a:r>
                  <a:rPr lang="zh-CN" altLang="en-US" dirty="0"/>
                  <a:t>李四</a:t>
                </a:r>
                <a:r>
                  <a:rPr lang="en-US" altLang="zh-CN" dirty="0"/>
                  <a:t>,</a:t>
                </a:r>
                <a:r>
                  <a:rPr lang="zh-CN" altLang="en-US" dirty="0"/>
                  <a:t>王五</a:t>
                </a:r>
                <a:r>
                  <a:rPr lang="en-US" altLang="zh-CN" dirty="0"/>
                  <a:t>,</a:t>
                </a:r>
                <a:r>
                  <a:rPr lang="zh-CN" altLang="en-US" dirty="0"/>
                  <a:t>赵六</a:t>
                </a:r>
                <a:r>
                  <a:rPr lang="en-US" altLang="zh-CN" dirty="0"/>
                  <a:t>)|=|{</a:t>
                </a:r>
                <a:r>
                  <a:rPr lang="zh-CN" altLang="en-US" dirty="0"/>
                  <a:t>需求</a:t>
                </a:r>
                <a:r>
                  <a:rPr lang="en-US" altLang="zh-CN" dirty="0"/>
                  <a:t>,</a:t>
                </a:r>
                <a:r>
                  <a:rPr lang="zh-CN" altLang="en-US" dirty="0"/>
                  <a:t>架构</a:t>
                </a:r>
                <a:r>
                  <a:rPr lang="en-US" altLang="zh-CN" dirty="0"/>
                  <a:t>,</a:t>
                </a:r>
                <a:r>
                  <a:rPr lang="zh-CN" altLang="en-US" dirty="0"/>
                  <a:t>实现</a:t>
                </a:r>
                <a:r>
                  <a:rPr lang="en-US" altLang="zh-CN" dirty="0"/>
                  <a:t>,</a:t>
                </a:r>
                <a:r>
                  <a:rPr lang="zh-CN" altLang="en-US" dirty="0"/>
                  <a:t>测试</a:t>
                </a:r>
                <a:r>
                  <a:rPr lang="en-US" altLang="zh-CN" dirty="0"/>
                  <a:t>}|=4, </a:t>
                </a:r>
              </a:p>
              <a:p>
                <a:pPr marL="393192" lvl="1" indent="0">
                  <a:lnSpc>
                    <a:spcPct val="120000"/>
                  </a:lnSpc>
                  <a:buNone/>
                </a:pPr>
                <a:r>
                  <a:rPr lang="en-US" altLang="zh-CN" dirty="0" smtClean="0"/>
                  <a:t> |</a:t>
                </a:r>
                <a:r>
                  <a:rPr lang="zh-CN" altLang="en-US" dirty="0"/>
                  <a:t>李四</a:t>
                </a:r>
                <a:r>
                  <a:rPr lang="en-US" altLang="zh-CN" dirty="0"/>
                  <a:t>,</a:t>
                </a:r>
                <a:r>
                  <a:rPr lang="zh-CN" altLang="en-US" dirty="0"/>
                  <a:t>王五</a:t>
                </a:r>
                <a:r>
                  <a:rPr lang="en-US" altLang="zh-CN" dirty="0"/>
                  <a:t>,</a:t>
                </a:r>
                <a:r>
                  <a:rPr lang="zh-CN" altLang="en-US" dirty="0"/>
                  <a:t>赵六</a:t>
                </a:r>
                <a:r>
                  <a:rPr lang="en-US" altLang="zh-CN" dirty="0"/>
                  <a:t>|=3, 4≥3</a:t>
                </a:r>
              </a:p>
              <a:p>
                <a:pPr lvl="1">
                  <a:lnSpc>
                    <a:spcPct val="120000"/>
                  </a:lnSpc>
                </a:pPr>
                <a:r>
                  <a:rPr lang="en-US" altLang="zh-CN" dirty="0"/>
                  <a:t>|N(</a:t>
                </a:r>
                <a:r>
                  <a:rPr lang="zh-CN" altLang="en-US" dirty="0"/>
                  <a:t>张三</a:t>
                </a:r>
                <a:r>
                  <a:rPr lang="en-US" altLang="zh-CN" dirty="0"/>
                  <a:t>,</a:t>
                </a:r>
                <a:r>
                  <a:rPr lang="zh-CN" altLang="en-US" dirty="0"/>
                  <a:t>王五</a:t>
                </a:r>
                <a:r>
                  <a:rPr lang="en-US" altLang="zh-CN" dirty="0"/>
                  <a:t>,</a:t>
                </a:r>
                <a:r>
                  <a:rPr lang="zh-CN" altLang="en-US" dirty="0"/>
                  <a:t>赵六</a:t>
                </a:r>
                <a:r>
                  <a:rPr lang="en-US" altLang="zh-CN" dirty="0"/>
                  <a:t>)|=|{</a:t>
                </a:r>
                <a:r>
                  <a:rPr lang="zh-CN" altLang="en-US" dirty="0"/>
                  <a:t>需求</a:t>
                </a:r>
                <a:r>
                  <a:rPr lang="en-US" altLang="zh-CN" dirty="0"/>
                  <a:t>,</a:t>
                </a:r>
                <a:r>
                  <a:rPr lang="zh-CN" altLang="en-US" dirty="0"/>
                  <a:t>架构</a:t>
                </a:r>
                <a:r>
                  <a:rPr lang="en-US" altLang="zh-CN" dirty="0"/>
                  <a:t>,</a:t>
                </a:r>
                <a:r>
                  <a:rPr lang="zh-CN" altLang="en-US" dirty="0"/>
                  <a:t>实现</a:t>
                </a:r>
                <a:r>
                  <a:rPr lang="en-US" altLang="zh-CN" dirty="0"/>
                  <a:t>,</a:t>
                </a:r>
                <a:r>
                  <a:rPr lang="zh-CN" altLang="en-US" dirty="0"/>
                  <a:t>测试</a:t>
                </a:r>
                <a:r>
                  <a:rPr lang="en-US" altLang="zh-CN" dirty="0"/>
                  <a:t>}|=4, </a:t>
                </a:r>
              </a:p>
              <a:p>
                <a:pPr marL="393192" lvl="1" indent="0">
                  <a:lnSpc>
                    <a:spcPct val="120000"/>
                  </a:lnSpc>
                  <a:buNone/>
                </a:pPr>
                <a:r>
                  <a:rPr lang="en-US" altLang="zh-CN" dirty="0" smtClean="0"/>
                  <a:t> |</a:t>
                </a:r>
                <a:r>
                  <a:rPr lang="zh-CN" altLang="en-US" dirty="0"/>
                  <a:t>张三</a:t>
                </a:r>
                <a:r>
                  <a:rPr lang="en-US" altLang="zh-CN" dirty="0"/>
                  <a:t>,</a:t>
                </a:r>
                <a:r>
                  <a:rPr lang="zh-CN" altLang="en-US" dirty="0"/>
                  <a:t>王五</a:t>
                </a:r>
                <a:r>
                  <a:rPr lang="en-US" altLang="zh-CN" dirty="0"/>
                  <a:t>,</a:t>
                </a:r>
                <a:r>
                  <a:rPr lang="zh-CN" altLang="en-US" dirty="0"/>
                  <a:t>赵六</a:t>
                </a:r>
                <a:r>
                  <a:rPr lang="en-US" altLang="zh-CN" dirty="0"/>
                  <a:t>|=3, 4≥3</a:t>
                </a:r>
              </a:p>
              <a:p>
                <a:pPr lvl="1">
                  <a:lnSpc>
                    <a:spcPct val="120000"/>
                  </a:lnSpc>
                </a:pPr>
                <a:r>
                  <a:rPr lang="en-US" altLang="zh-CN" dirty="0"/>
                  <a:t>|N(</a:t>
                </a:r>
                <a:r>
                  <a:rPr lang="zh-CN" altLang="en-US" dirty="0"/>
                  <a:t>张三</a:t>
                </a:r>
                <a:r>
                  <a:rPr lang="en-US" altLang="zh-CN" dirty="0"/>
                  <a:t>,</a:t>
                </a:r>
                <a:r>
                  <a:rPr lang="zh-CN" altLang="en-US" dirty="0"/>
                  <a:t>李四</a:t>
                </a:r>
                <a:r>
                  <a:rPr lang="en-US" altLang="zh-CN" dirty="0"/>
                  <a:t>,</a:t>
                </a:r>
                <a:r>
                  <a:rPr lang="zh-CN" altLang="en-US" dirty="0"/>
                  <a:t>赵六</a:t>
                </a:r>
                <a:r>
                  <a:rPr lang="en-US" altLang="zh-CN" dirty="0"/>
                  <a:t>)|=|{</a:t>
                </a:r>
                <a:r>
                  <a:rPr lang="zh-CN" altLang="en-US" dirty="0"/>
                  <a:t>需求</a:t>
                </a:r>
                <a:r>
                  <a:rPr lang="en-US" altLang="zh-CN" dirty="0"/>
                  <a:t>,</a:t>
                </a:r>
                <a:r>
                  <a:rPr lang="zh-CN" altLang="en-US" dirty="0"/>
                  <a:t>架构</a:t>
                </a:r>
                <a:r>
                  <a:rPr lang="en-US" altLang="zh-CN" dirty="0"/>
                  <a:t>,</a:t>
                </a:r>
                <a:r>
                  <a:rPr lang="zh-CN" altLang="en-US" dirty="0"/>
                  <a:t>实现</a:t>
                </a:r>
                <a:r>
                  <a:rPr lang="en-US" altLang="zh-CN" dirty="0"/>
                  <a:t>,</a:t>
                </a:r>
                <a:r>
                  <a:rPr lang="zh-CN" altLang="en-US" dirty="0"/>
                  <a:t>测试</a:t>
                </a:r>
                <a:r>
                  <a:rPr lang="en-US" altLang="zh-CN" dirty="0"/>
                  <a:t>}|=4, |</a:t>
                </a:r>
                <a:r>
                  <a:rPr lang="zh-CN" altLang="en-US" dirty="0"/>
                  <a:t>张三</a:t>
                </a:r>
                <a:r>
                  <a:rPr lang="en-US" altLang="zh-CN" dirty="0"/>
                  <a:t>,</a:t>
                </a:r>
                <a:r>
                  <a:rPr lang="zh-CN" altLang="en-US" dirty="0"/>
                  <a:t>李四</a:t>
                </a:r>
                <a:r>
                  <a:rPr lang="en-US" altLang="zh-CN" dirty="0"/>
                  <a:t>,</a:t>
                </a:r>
                <a:r>
                  <a:rPr lang="zh-CN" altLang="en-US" dirty="0"/>
                  <a:t>赵六</a:t>
                </a:r>
                <a:r>
                  <a:rPr lang="en-US" altLang="zh-CN" dirty="0"/>
                  <a:t>|=3, 4≥3</a:t>
                </a:r>
              </a:p>
              <a:p>
                <a:pPr lvl="1">
                  <a:lnSpc>
                    <a:spcPct val="120000"/>
                  </a:lnSpc>
                </a:pPr>
                <a:r>
                  <a:rPr lang="en-US" altLang="zh-CN" dirty="0"/>
                  <a:t>|N(</a:t>
                </a:r>
                <a:r>
                  <a:rPr lang="zh-CN" altLang="en-US" dirty="0"/>
                  <a:t>张三</a:t>
                </a:r>
                <a:r>
                  <a:rPr lang="en-US" altLang="zh-CN" dirty="0"/>
                  <a:t>,</a:t>
                </a:r>
                <a:r>
                  <a:rPr lang="zh-CN" altLang="en-US" dirty="0"/>
                  <a:t>李四</a:t>
                </a:r>
                <a:r>
                  <a:rPr lang="en-US" altLang="zh-CN" dirty="0"/>
                  <a:t>,</a:t>
                </a:r>
                <a:r>
                  <a:rPr lang="zh-CN" altLang="en-US" dirty="0"/>
                  <a:t>王五</a:t>
                </a:r>
                <a:r>
                  <a:rPr lang="en-US" altLang="zh-CN" dirty="0"/>
                  <a:t>,</a:t>
                </a:r>
                <a:r>
                  <a:rPr lang="zh-CN" altLang="en-US" dirty="0"/>
                  <a:t>赵六</a:t>
                </a:r>
                <a:r>
                  <a:rPr lang="en-US" altLang="zh-CN" dirty="0"/>
                  <a:t>)|=|{</a:t>
                </a:r>
                <a:r>
                  <a:rPr lang="zh-CN" altLang="en-US" dirty="0"/>
                  <a:t>需求</a:t>
                </a:r>
                <a:r>
                  <a:rPr lang="en-US" altLang="zh-CN" dirty="0"/>
                  <a:t>,</a:t>
                </a:r>
                <a:r>
                  <a:rPr lang="zh-CN" altLang="en-US" dirty="0"/>
                  <a:t>架构</a:t>
                </a:r>
                <a:r>
                  <a:rPr lang="en-US" altLang="zh-CN" dirty="0"/>
                  <a:t>,</a:t>
                </a:r>
                <a:r>
                  <a:rPr lang="zh-CN" altLang="en-US" dirty="0"/>
                  <a:t>实现</a:t>
                </a:r>
                <a:r>
                  <a:rPr lang="en-US" altLang="zh-CN" dirty="0"/>
                  <a:t>,</a:t>
                </a:r>
                <a:r>
                  <a:rPr lang="zh-CN" altLang="en-US" dirty="0"/>
                  <a:t>测试</a:t>
                </a:r>
                <a:r>
                  <a:rPr lang="en-US" altLang="zh-CN" dirty="0"/>
                  <a:t>}|=4, |</a:t>
                </a:r>
                <a:r>
                  <a:rPr lang="zh-CN" altLang="en-US" dirty="0"/>
                  <a:t>张三</a:t>
                </a:r>
                <a:r>
                  <a:rPr lang="en-US" altLang="zh-CN" dirty="0"/>
                  <a:t>,</a:t>
                </a:r>
                <a:r>
                  <a:rPr lang="zh-CN" altLang="en-US" dirty="0"/>
                  <a:t>李四</a:t>
                </a:r>
                <a:r>
                  <a:rPr lang="en-US" altLang="zh-CN" dirty="0"/>
                  <a:t>,</a:t>
                </a:r>
                <a:r>
                  <a:rPr lang="zh-CN" altLang="en-US" dirty="0"/>
                  <a:t>王五</a:t>
                </a:r>
                <a:r>
                  <a:rPr lang="en-US" altLang="zh-CN" dirty="0"/>
                  <a:t>,</a:t>
                </a:r>
                <a:r>
                  <a:rPr lang="zh-CN" altLang="en-US" dirty="0"/>
                  <a:t>赵六</a:t>
                </a:r>
                <a:r>
                  <a:rPr lang="en-US" altLang="zh-CN" dirty="0"/>
                  <a:t>|=4, 4≥4</a:t>
                </a:r>
              </a:p>
              <a:p>
                <a:pPr lvl="1">
                  <a:lnSpc>
                    <a:spcPct val="120000"/>
                  </a:lnSpc>
                </a:pPr>
                <a:r>
                  <a:rPr lang="zh-CN" altLang="en-US" dirty="0"/>
                  <a:t>对于</a:t>
                </a:r>
                <a14:m>
                  <m:oMath xmlns:m="http://schemas.openxmlformats.org/officeDocument/2006/math">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V</m:t>
                        </m:r>
                      </m:e>
                      <m:sub>
                        <m:r>
                          <a:rPr lang="en-US" altLang="zh-CN">
                            <a:latin typeface="Cambria Math" panose="02040503050406030204" pitchFamily="18" charset="0"/>
                          </a:rPr>
                          <m:t>1</m:t>
                        </m:r>
                      </m:sub>
                    </m:sSub>
                  </m:oMath>
                </a14:m>
                <a:r>
                  <a:rPr lang="zh-CN" altLang="en-US" dirty="0"/>
                  <a:t>的所有子集</a:t>
                </a:r>
                <a:r>
                  <a:rPr lang="en-US" altLang="zh-CN" dirty="0"/>
                  <a:t>A</a:t>
                </a:r>
                <a:r>
                  <a:rPr lang="en-US" altLang="zh-CN" dirty="0" smtClean="0"/>
                  <a:t>, </a:t>
                </a:r>
                <a:r>
                  <a:rPr lang="zh-CN" altLang="en-US" dirty="0" smtClean="0"/>
                  <a:t>都</a:t>
                </a:r>
                <a:r>
                  <a:rPr lang="zh-CN" altLang="en-US" dirty="0"/>
                  <a:t>有</a:t>
                </a:r>
                <a14:m>
                  <m:oMath xmlns:m="http://schemas.openxmlformats.org/officeDocument/2006/math">
                    <m:d>
                      <m:dPr>
                        <m:begChr m:val="|"/>
                        <m:endChr m:val="|"/>
                        <m:ctrlPr>
                          <a:rPr lang="en-US" altLang="zh-CN" i="1">
                            <a:latin typeface="Cambria Math" panose="02040503050406030204" pitchFamily="18" charset="0"/>
                          </a:rPr>
                        </m:ctrlPr>
                      </m:dPr>
                      <m:e>
                        <m:r>
                          <m:rPr>
                            <m:sty m:val="p"/>
                          </m:rPr>
                          <a:rPr lang="en-US" altLang="zh-CN">
                            <a:latin typeface="Cambria Math" panose="02040503050406030204" pitchFamily="18" charset="0"/>
                          </a:rPr>
                          <m:t>N</m:t>
                        </m:r>
                        <m:d>
                          <m:dPr>
                            <m:ctrlPr>
                              <a:rPr lang="en-US" altLang="zh-CN" i="1">
                                <a:latin typeface="Cambria Math" panose="02040503050406030204" pitchFamily="18" charset="0"/>
                              </a:rPr>
                            </m:ctrlPr>
                          </m:dPr>
                          <m:e>
                            <m:r>
                              <m:rPr>
                                <m:sty m:val="p"/>
                              </m:rPr>
                              <a:rPr lang="en-US" altLang="zh-CN">
                                <a:latin typeface="Cambria Math" panose="02040503050406030204" pitchFamily="18" charset="0"/>
                              </a:rPr>
                              <m:t>A</m:t>
                            </m:r>
                          </m:e>
                        </m:d>
                      </m:e>
                    </m:d>
                    <m:r>
                      <a:rPr lang="en-US" altLang="zh-CN">
                        <a:latin typeface="Cambria Math" panose="02040503050406030204" pitchFamily="18" charset="0"/>
                      </a:rPr>
                      <m:t>≥</m:t>
                    </m:r>
                    <m:d>
                      <m:dPr>
                        <m:begChr m:val="|"/>
                        <m:endChr m:val="|"/>
                        <m:ctrlPr>
                          <a:rPr lang="en-US" altLang="zh-CN" i="1">
                            <a:latin typeface="Cambria Math" panose="02040503050406030204" pitchFamily="18" charset="0"/>
                          </a:rPr>
                        </m:ctrlPr>
                      </m:dPr>
                      <m:e>
                        <m:r>
                          <a:rPr lang="en-US" altLang="zh-CN">
                            <a:latin typeface="Cambria Math" panose="02040503050406030204" pitchFamily="18" charset="0"/>
                          </a:rPr>
                          <m:t>𝐴</m:t>
                        </m:r>
                      </m:e>
                    </m:d>
                    <m:r>
                      <a:rPr lang="en-US" altLang="zh-CN">
                        <a:latin typeface="Cambria Math" panose="02040503050406030204" pitchFamily="18" charset="0"/>
                      </a:rPr>
                      <m:t>,</m:t>
                    </m:r>
                  </m:oMath>
                </a14:m>
                <a:r>
                  <a:rPr lang="en-US" altLang="zh-CN" dirty="0"/>
                  <a:t> </a:t>
                </a:r>
                <a:r>
                  <a:rPr lang="zh-CN" altLang="en-US" dirty="0"/>
                  <a:t>所以存在完全匹配</a:t>
                </a:r>
                <a:r>
                  <a:rPr lang="en-US" altLang="zh-CN" dirty="0"/>
                  <a:t>. </a:t>
                </a:r>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dirty="0" smtClean="0"/>
              </a:p>
              <a:p>
                <a:endParaRPr lang="en-US" dirty="0" smtClean="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310"/>
                </a:stretch>
              </a:blipFill>
            </p:spPr>
            <p:txBody>
              <a:bodyPr/>
              <a:lstStyle/>
              <a:p>
                <a:r>
                  <a:rPr lang="zh-CN" altLang="en-US">
                    <a:noFill/>
                  </a:rPr>
                  <a:t> </a:t>
                </a:r>
              </a:p>
            </p:txBody>
          </p:sp>
        </mc:Fallback>
      </mc:AlternateContent>
      <p:sp>
        <p:nvSpPr>
          <p:cNvPr id="7" name="日期占位符 6"/>
          <p:cNvSpPr>
            <a:spLocks noGrp="1"/>
          </p:cNvSpPr>
          <p:nvPr>
            <p:ph type="dt" sz="half" idx="10"/>
          </p:nvPr>
        </p:nvSpPr>
        <p:spPr/>
        <p:txBody>
          <a:bodyPr/>
          <a:lstStyle/>
          <a:p>
            <a:fld id="{3B296FFA-DB65-4690-A0CC-ED9861ABFC39}"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54</a:t>
            </a:fld>
            <a:endParaRPr lang="zh-CN" altLang="en-US" dirty="0"/>
          </a:p>
        </p:txBody>
      </p:sp>
      <p:pic>
        <p:nvPicPr>
          <p:cNvPr id="5" name="图片 4"/>
          <p:cNvPicPr>
            <a:picLocks noChangeAspect="1"/>
          </p:cNvPicPr>
          <p:nvPr/>
        </p:nvPicPr>
        <p:blipFill>
          <a:blip r:embed="rId3"/>
          <a:stretch>
            <a:fillRect/>
          </a:stretch>
        </p:blipFill>
        <p:spPr>
          <a:xfrm>
            <a:off x="8660643" y="375981"/>
            <a:ext cx="2895600" cy="2184499"/>
          </a:xfrm>
          <a:prstGeom prst="rect">
            <a:avLst/>
          </a:prstGeom>
        </p:spPr>
      </p:pic>
    </p:spTree>
    <p:extLst>
      <p:ext uri="{BB962C8B-B14F-4D97-AF65-F5344CB8AC3E}">
        <p14:creationId xmlns:p14="http://schemas.microsoft.com/office/powerpoint/2010/main" val="2177672701"/>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二分图和匹配</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smtClean="0"/>
                  <a:t>例</a:t>
                </a:r>
                <a:r>
                  <a:rPr lang="en-US" altLang="zh-CN" dirty="0" smtClean="0"/>
                  <a:t>:</a:t>
                </a:r>
                <a:r>
                  <a:rPr lang="zh-CN" altLang="en-US" dirty="0" smtClean="0"/>
                  <a:t>利用霍</a:t>
                </a:r>
                <a:r>
                  <a:rPr lang="zh-CN" altLang="en-US" dirty="0"/>
                  <a:t>尔婚姻</a:t>
                </a:r>
                <a:r>
                  <a:rPr lang="zh-CN" altLang="en-US" dirty="0" smtClean="0"/>
                  <a:t>定理说明下图是否有完全匹配</a:t>
                </a:r>
                <a:r>
                  <a:rPr lang="en-US" altLang="zh-CN" dirty="0" smtClean="0"/>
                  <a:t>(</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i="1">
                            <a:latin typeface="Cambria Math" panose="02040503050406030204" pitchFamily="18" charset="0"/>
                          </a:rPr>
                          <m:t>1</m:t>
                        </m:r>
                      </m:sub>
                    </m:sSub>
                  </m:oMath>
                </a14:m>
                <a:r>
                  <a:rPr lang="zh-CN" altLang="en-US" dirty="0" smtClean="0"/>
                  <a:t>为员工集合</a:t>
                </a:r>
                <a:r>
                  <a:rPr lang="en-US" altLang="zh-CN" dirty="0" smtClean="0"/>
                  <a:t>).</a:t>
                </a:r>
              </a:p>
              <a:p>
                <a:endParaRPr lang="en-US" dirty="0"/>
              </a:p>
              <a:p>
                <a:endParaRPr lang="en-US" dirty="0" smtClean="0"/>
              </a:p>
              <a:p>
                <a:endParaRPr lang="en-US" dirty="0"/>
              </a:p>
              <a:p>
                <a:endParaRPr lang="en-US" dirty="0" smtClean="0"/>
              </a:p>
              <a:p>
                <a:endParaRPr lang="en-US" dirty="0" smtClean="0"/>
              </a:p>
              <a:p>
                <a:r>
                  <a:rPr lang="zh-CN" altLang="en-US" dirty="0" smtClean="0"/>
                  <a:t>解</a:t>
                </a:r>
                <a:r>
                  <a:rPr lang="en-US" altLang="zh-CN" dirty="0" smtClean="0"/>
                  <a:t>: </a:t>
                </a:r>
                <a:r>
                  <a:rPr lang="zh-CN" altLang="en-US" dirty="0" smtClean="0"/>
                  <a:t>为了看是否有完全匹配</a:t>
                </a:r>
                <a:r>
                  <a:rPr lang="en-US" altLang="zh-CN" dirty="0" smtClean="0"/>
                  <a:t>, </a:t>
                </a:r>
                <a:r>
                  <a:rPr lang="zh-CN" altLang="en-US" dirty="0" smtClean="0"/>
                  <a:t>我们需要检查</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i="1">
                            <a:latin typeface="Cambria Math" panose="02040503050406030204" pitchFamily="18" charset="0"/>
                          </a:rPr>
                          <m:t>1</m:t>
                        </m:r>
                      </m:sub>
                    </m:sSub>
                  </m:oMath>
                </a14:m>
                <a:r>
                  <a:rPr lang="zh-CN" altLang="en-US" dirty="0" smtClean="0"/>
                  <a:t>的所有子集的情况</a:t>
                </a:r>
                <a:r>
                  <a:rPr lang="en-US" altLang="zh-CN" dirty="0" smtClean="0"/>
                  <a:t>. </a:t>
                </a:r>
                <a:r>
                  <a:rPr lang="zh-CN" altLang="en-US" dirty="0" smtClean="0"/>
                  <a:t>可以看到</a:t>
                </a:r>
                <a:r>
                  <a:rPr lang="en-US" altLang="zh-CN" dirty="0"/>
                  <a:t>|N(</a:t>
                </a:r>
                <a:r>
                  <a:rPr lang="zh-CN" altLang="en-US" dirty="0"/>
                  <a:t>张三</a:t>
                </a:r>
                <a:r>
                  <a:rPr lang="en-US" altLang="zh-CN" dirty="0"/>
                  <a:t>,</a:t>
                </a:r>
                <a:r>
                  <a:rPr lang="zh-CN" altLang="en-US" dirty="0"/>
                  <a:t>王五</a:t>
                </a:r>
                <a:r>
                  <a:rPr lang="en-US" altLang="zh-CN" dirty="0" smtClean="0"/>
                  <a:t>)|=|{</a:t>
                </a:r>
                <a:r>
                  <a:rPr lang="zh-CN" altLang="en-US" dirty="0" smtClean="0"/>
                  <a:t>架构</a:t>
                </a:r>
                <a:r>
                  <a:rPr lang="en-US" altLang="zh-CN" dirty="0" smtClean="0"/>
                  <a:t>}|=1, </a:t>
                </a:r>
                <a:r>
                  <a:rPr lang="en-US" altLang="zh-CN" dirty="0"/>
                  <a:t>|</a:t>
                </a:r>
                <a:r>
                  <a:rPr lang="zh-CN" altLang="en-US" dirty="0"/>
                  <a:t>张三</a:t>
                </a:r>
                <a:r>
                  <a:rPr lang="en-US" altLang="zh-CN" dirty="0"/>
                  <a:t>, </a:t>
                </a:r>
                <a:r>
                  <a:rPr lang="zh-CN" altLang="en-US" dirty="0"/>
                  <a:t>王五</a:t>
                </a:r>
                <a:r>
                  <a:rPr lang="en-US" altLang="zh-CN" dirty="0"/>
                  <a:t>|=2, </a:t>
                </a:r>
                <a:r>
                  <a:rPr lang="zh-CN" altLang="en-US" dirty="0" smtClean="0"/>
                  <a:t>但是</a:t>
                </a:r>
                <a:r>
                  <a:rPr lang="en-US" altLang="zh-CN" dirty="0" smtClean="0"/>
                  <a:t>1</a:t>
                </a:r>
                <a14:m>
                  <m:oMath xmlns:m="http://schemas.openxmlformats.org/officeDocument/2006/math">
                    <m:r>
                      <a:rPr lang="en-US" altLang="zh-CN" i="1" smtClean="0">
                        <a:latin typeface="Cambria Math" panose="02040503050406030204" pitchFamily="18" charset="0"/>
                        <a:ea typeface="Cambria Math" panose="02040503050406030204" pitchFamily="18" charset="0"/>
                      </a:rPr>
                      <m:t>&lt;</m:t>
                    </m:r>
                  </m:oMath>
                </a14:m>
                <a:r>
                  <a:rPr lang="en-US" altLang="zh-CN" dirty="0"/>
                  <a:t>2</a:t>
                </a:r>
                <a:r>
                  <a:rPr lang="en-US" altLang="zh-CN" dirty="0" smtClean="0"/>
                  <a:t>. </a:t>
                </a:r>
                <a:r>
                  <a:rPr lang="zh-CN" altLang="en-US" dirty="0" smtClean="0"/>
                  <a:t>所以不存在完全匹配</a:t>
                </a:r>
                <a:r>
                  <a:rPr lang="en-US" altLang="zh-CN" dirty="0"/>
                  <a:t>.</a:t>
                </a:r>
              </a:p>
              <a:p>
                <a:endParaRPr lang="en-US" altLang="zh-CN" dirty="0" smtClean="0"/>
              </a:p>
              <a:p>
                <a:pPr marL="0" indent="0">
                  <a:buNone/>
                </a:pPr>
                <a:endParaRPr lang="en-US" altLang="zh-CN" dirty="0" smtClean="0"/>
              </a:p>
              <a:p>
                <a:endParaRPr lang="en-US" dirty="0" smtClean="0"/>
              </a:p>
              <a:p>
                <a:endParaRPr lang="en-US" dirty="0"/>
              </a:p>
              <a:p>
                <a:endParaRPr lang="en-US" dirty="0" smtClean="0"/>
              </a:p>
              <a:p>
                <a:endParaRPr lang="en-US" dirty="0"/>
              </a:p>
              <a:p>
                <a:endParaRPr lang="en-US" dirty="0" smtClean="0"/>
              </a:p>
              <a:p>
                <a:endParaRPr lang="en-US" dirty="0" smtClean="0"/>
              </a:p>
              <a:p>
                <a:endParaRPr lang="en-US" dirty="0" smtClean="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310" r="-555"/>
                </a:stretch>
              </a:blipFill>
            </p:spPr>
            <p:txBody>
              <a:bodyPr/>
              <a:lstStyle/>
              <a:p>
                <a:r>
                  <a:rPr lang="zh-CN" altLang="en-US">
                    <a:noFill/>
                  </a:rPr>
                  <a:t> </a:t>
                </a:r>
              </a:p>
            </p:txBody>
          </p:sp>
        </mc:Fallback>
      </mc:AlternateContent>
      <p:sp>
        <p:nvSpPr>
          <p:cNvPr id="7" name="日期占位符 6"/>
          <p:cNvSpPr>
            <a:spLocks noGrp="1"/>
          </p:cNvSpPr>
          <p:nvPr>
            <p:ph type="dt" sz="half" idx="10"/>
          </p:nvPr>
        </p:nvSpPr>
        <p:spPr/>
        <p:txBody>
          <a:bodyPr/>
          <a:lstStyle/>
          <a:p>
            <a:fld id="{F3E5BDE3-5AA1-4975-8DAB-1B31CFE4C510}"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55</a:t>
            </a:fld>
            <a:endParaRPr lang="zh-CN" altLang="en-US" dirty="0"/>
          </a:p>
        </p:txBody>
      </p:sp>
      <p:pic>
        <p:nvPicPr>
          <p:cNvPr id="10" name="图片 9"/>
          <p:cNvPicPr>
            <a:picLocks noChangeAspect="1"/>
          </p:cNvPicPr>
          <p:nvPr/>
        </p:nvPicPr>
        <p:blipFill>
          <a:blip r:embed="rId3"/>
          <a:stretch>
            <a:fillRect/>
          </a:stretch>
        </p:blipFill>
        <p:spPr>
          <a:xfrm>
            <a:off x="4419600" y="1752600"/>
            <a:ext cx="3232150" cy="2438400"/>
          </a:xfrm>
          <a:prstGeom prst="rect">
            <a:avLst/>
          </a:prstGeom>
        </p:spPr>
      </p:pic>
      <p:sp>
        <p:nvSpPr>
          <p:cNvPr id="12" name="矩形 11"/>
          <p:cNvSpPr/>
          <p:nvPr/>
        </p:nvSpPr>
        <p:spPr>
          <a:xfrm>
            <a:off x="6324600" y="2286000"/>
            <a:ext cx="304800" cy="304800"/>
          </a:xfrm>
          <a:prstGeom prst="rect">
            <a:avLst/>
          </a:pr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4495800" y="2209800"/>
            <a:ext cx="304800" cy="304800"/>
          </a:xfrm>
          <a:prstGeom prst="rect">
            <a:avLst/>
          </a:pr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5334000" y="3331014"/>
            <a:ext cx="304800" cy="304800"/>
          </a:xfrm>
          <a:prstGeom prst="rect">
            <a:avLst/>
          </a:pr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350880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wipe(down)">
                                      <p:cBhvr>
                                        <p:cTn id="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57200" y="2514600"/>
            <a:ext cx="11277599" cy="946714"/>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smtClean="0"/>
              <a:t>从旧图构造新图</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smtClean="0"/>
                  <a:t>有时</a:t>
                </a:r>
                <a:r>
                  <a:rPr lang="en-US" altLang="zh-CN" dirty="0" smtClean="0"/>
                  <a:t>, </a:t>
                </a:r>
                <a:r>
                  <a:rPr lang="zh-CN" altLang="en-US" dirty="0" smtClean="0"/>
                  <a:t>我们解决问题只需要图的一部分</a:t>
                </a:r>
                <a:r>
                  <a:rPr lang="en-US" altLang="zh-CN" dirty="0" smtClean="0"/>
                  <a:t>, </a:t>
                </a:r>
                <a:r>
                  <a:rPr lang="zh-CN" altLang="en-US" dirty="0" smtClean="0"/>
                  <a:t>例如只关心大型计算机网络中涉及到纽约和亚特兰大的计算机中心的那一部分</a:t>
                </a:r>
                <a:r>
                  <a:rPr lang="en-US" altLang="zh-CN" dirty="0" smtClean="0"/>
                  <a:t>, </a:t>
                </a:r>
                <a:r>
                  <a:rPr lang="zh-CN" altLang="en-US" dirty="0" smtClean="0"/>
                  <a:t>所以对应的图中</a:t>
                </a:r>
                <a:r>
                  <a:rPr lang="en-US" altLang="zh-CN" dirty="0" smtClean="0"/>
                  <a:t>, </a:t>
                </a:r>
                <a:r>
                  <a:rPr lang="zh-CN" altLang="en-US" dirty="0" smtClean="0"/>
                  <a:t>可以只考虑图中特定部分</a:t>
                </a:r>
                <a:r>
                  <a:rPr lang="en-US" altLang="zh-CN" dirty="0" smtClean="0"/>
                  <a:t>.</a:t>
                </a:r>
                <a:endParaRPr lang="en-US" dirty="0" smtClean="0"/>
              </a:p>
              <a:p>
                <a:r>
                  <a:rPr lang="zh-CN" altLang="en-US" dirty="0" smtClean="0">
                    <a:uFill>
                      <a:solidFill>
                        <a:schemeClr val="tx1"/>
                      </a:solidFill>
                    </a:uFill>
                  </a:rPr>
                  <a:t>定义</a:t>
                </a:r>
                <a:r>
                  <a:rPr lang="en-US" dirty="0" smtClean="0">
                    <a:uFill>
                      <a:solidFill>
                        <a:schemeClr val="tx1"/>
                      </a:solidFill>
                    </a:uFill>
                  </a:rPr>
                  <a:t>:</a:t>
                </a:r>
                <a:r>
                  <a:rPr lang="en-US" b="1" dirty="0">
                    <a:uFill>
                      <a:solidFill>
                        <a:schemeClr val="tx1"/>
                      </a:solidFill>
                    </a:uFill>
                  </a:rPr>
                  <a:t> </a:t>
                </a:r>
                <a:r>
                  <a:rPr lang="zh-CN" altLang="en-US" dirty="0" smtClean="0"/>
                  <a:t>图</a:t>
                </a:r>
                <a:r>
                  <a:rPr lang="en-US" dirty="0" smtClean="0"/>
                  <a:t>G = (V, E) </a:t>
                </a:r>
                <a:r>
                  <a:rPr lang="zh-CN" altLang="en-US" dirty="0" smtClean="0"/>
                  <a:t>的</a:t>
                </a:r>
                <a:r>
                  <a:rPr lang="zh-CN" altLang="en-US" b="1" dirty="0" smtClean="0">
                    <a:solidFill>
                      <a:srgbClr val="C00000"/>
                    </a:solidFill>
                  </a:rPr>
                  <a:t>子图</a:t>
                </a:r>
                <a:r>
                  <a:rPr lang="zh-CN" altLang="en-US" dirty="0" smtClean="0"/>
                  <a:t>是图</a:t>
                </a:r>
                <a:r>
                  <a:rPr lang="en-US" altLang="zh-CN" dirty="0" smtClean="0"/>
                  <a:t>H=</a:t>
                </a:r>
                <a:r>
                  <a:rPr lang="en-US" dirty="0" smtClean="0"/>
                  <a:t>(W, F), </a:t>
                </a:r>
                <a:r>
                  <a:rPr lang="zh-CN" altLang="en-US" dirty="0" smtClean="0"/>
                  <a:t>其中</a:t>
                </a:r>
                <a:r>
                  <a:rPr lang="en-US" dirty="0" smtClean="0"/>
                  <a:t> W</a:t>
                </a:r>
                <a14:m>
                  <m:oMath xmlns:m="http://schemas.openxmlformats.org/officeDocument/2006/math">
                    <m:r>
                      <a:rPr lang="en-US" i="1" dirty="0" smtClean="0">
                        <a:latin typeface="Cambria Math" panose="02040503050406030204" pitchFamily="18" charset="0"/>
                        <a:ea typeface="Cambria Math" panose="02040503050406030204" pitchFamily="18" charset="0"/>
                      </a:rPr>
                      <m:t>⊆</m:t>
                    </m:r>
                  </m:oMath>
                </a14:m>
                <a:r>
                  <a:rPr lang="en-US" dirty="0" smtClean="0"/>
                  <a:t>V</a:t>
                </a:r>
                <a:r>
                  <a:rPr lang="en-US" altLang="zh-CN" dirty="0" smtClean="0"/>
                  <a:t>, </a:t>
                </a:r>
                <a:r>
                  <a:rPr lang="en-US" dirty="0" smtClean="0"/>
                  <a:t>F</a:t>
                </a:r>
                <a14:m>
                  <m:oMath xmlns:m="http://schemas.openxmlformats.org/officeDocument/2006/math">
                    <m:r>
                      <a:rPr lang="en-US" altLang="zh-CN" i="1" dirty="0">
                        <a:latin typeface="Cambria Math" panose="02040503050406030204" pitchFamily="18" charset="0"/>
                        <a:ea typeface="Cambria Math" panose="02040503050406030204" pitchFamily="18" charset="0"/>
                      </a:rPr>
                      <m:t>⊆</m:t>
                    </m:r>
                  </m:oMath>
                </a14:m>
                <a:r>
                  <a:rPr lang="en-US" dirty="0" smtClean="0"/>
                  <a:t>E. </a:t>
                </a:r>
                <a:r>
                  <a:rPr lang="zh-CN" altLang="en-US" dirty="0" smtClean="0"/>
                  <a:t>如果</a:t>
                </a:r>
                <a:r>
                  <a:rPr lang="en-US" altLang="zh-CN" dirty="0" smtClean="0"/>
                  <a:t>H≠G, </a:t>
                </a:r>
                <a:r>
                  <a:rPr lang="zh-CN" altLang="en-US" dirty="0" smtClean="0"/>
                  <a:t>则称</a:t>
                </a:r>
                <a:r>
                  <a:rPr lang="en-US" altLang="zh-CN" dirty="0" smtClean="0"/>
                  <a:t>G</a:t>
                </a:r>
                <a:r>
                  <a:rPr lang="zh-CN" altLang="en-US" dirty="0" smtClean="0"/>
                  <a:t>的子图</a:t>
                </a:r>
                <a:r>
                  <a:rPr lang="en-US" altLang="zh-CN" dirty="0" smtClean="0"/>
                  <a:t>H</a:t>
                </a:r>
                <a:r>
                  <a:rPr lang="zh-CN" altLang="en-US" dirty="0" smtClean="0"/>
                  <a:t>是</a:t>
                </a:r>
                <a:r>
                  <a:rPr lang="en-US" altLang="zh-CN" dirty="0" smtClean="0"/>
                  <a:t>G</a:t>
                </a:r>
                <a:r>
                  <a:rPr lang="zh-CN" altLang="en-US" dirty="0" smtClean="0"/>
                  <a:t>的真子图</a:t>
                </a:r>
                <a:r>
                  <a:rPr lang="en-US" altLang="zh-CN" dirty="0" smtClean="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310" r="-2608"/>
                </a:stretch>
              </a:blipFill>
            </p:spPr>
            <p:txBody>
              <a:bodyPr/>
              <a:lstStyle/>
              <a:p>
                <a:r>
                  <a:rPr lang="zh-CN" altLang="en-US">
                    <a:noFill/>
                  </a:rPr>
                  <a:t> </a:t>
                </a:r>
              </a:p>
            </p:txBody>
          </p:sp>
        </mc:Fallback>
      </mc:AlternateContent>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59426" y="3657600"/>
            <a:ext cx="5262327" cy="2362200"/>
          </a:xfrm>
          <a:prstGeom prst="rect">
            <a:avLst/>
          </a:prstGeom>
        </p:spPr>
      </p:pic>
      <p:sp>
        <p:nvSpPr>
          <p:cNvPr id="9" name="日期占位符 8"/>
          <p:cNvSpPr>
            <a:spLocks noGrp="1"/>
          </p:cNvSpPr>
          <p:nvPr>
            <p:ph type="dt" sz="half" idx="10"/>
          </p:nvPr>
        </p:nvSpPr>
        <p:spPr/>
        <p:txBody>
          <a:bodyPr/>
          <a:lstStyle/>
          <a:p>
            <a:fld id="{7084ED0F-6076-452E-B630-287287915607}" type="datetime1">
              <a:rPr lang="zh-CN" altLang="en-US" smtClean="0"/>
              <a:t>2025/4/15</a:t>
            </a:fld>
            <a:endParaRPr lang="zh-CN" altLang="en-US" dirty="0"/>
          </a:p>
        </p:txBody>
      </p:sp>
      <p:sp>
        <p:nvSpPr>
          <p:cNvPr id="10" name="页脚占位符 9"/>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11" name="灯片编号占位符 10"/>
          <p:cNvSpPr>
            <a:spLocks noGrp="1"/>
          </p:cNvSpPr>
          <p:nvPr>
            <p:ph type="sldNum" sz="quarter" idx="12"/>
          </p:nvPr>
        </p:nvSpPr>
        <p:spPr/>
        <p:txBody>
          <a:bodyPr/>
          <a:lstStyle/>
          <a:p>
            <a:fld id="{67913A8A-9EFB-4B5F-9CCB-3D21173FAA85}" type="slidenum">
              <a:rPr lang="zh-CN" altLang="en-US" smtClean="0"/>
              <a:pPr/>
              <a:t>56</a:t>
            </a:fld>
            <a:endParaRPr lang="zh-CN" altLang="en-US"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457200" y="1143000"/>
            <a:ext cx="11277599" cy="12954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smtClean="0"/>
              <a:t>从旧图构造新图</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smtClean="0"/>
                  <a:t>定义</a:t>
                </a:r>
                <a:r>
                  <a:rPr lang="en-US" dirty="0" smtClean="0"/>
                  <a:t>: </a:t>
                </a:r>
                <a:r>
                  <a:rPr lang="zh-CN" altLang="en-US" dirty="0" smtClean="0"/>
                  <a:t>令</a:t>
                </a:r>
                <a:r>
                  <a:rPr lang="en-US" dirty="0" smtClean="0"/>
                  <a:t>G=(V, E)</a:t>
                </a:r>
                <a:r>
                  <a:rPr lang="zh-CN" altLang="en-US" dirty="0" smtClean="0"/>
                  <a:t>是一个简单图</a:t>
                </a:r>
                <a:r>
                  <a:rPr lang="en-US" altLang="zh-CN" dirty="0" smtClean="0"/>
                  <a:t>, </a:t>
                </a:r>
                <a:r>
                  <a:rPr lang="zh-CN" altLang="en-US" dirty="0" smtClean="0"/>
                  <a:t>图</a:t>
                </a:r>
                <a:r>
                  <a:rPr lang="en-US" altLang="zh-CN" dirty="0" smtClean="0"/>
                  <a:t>(W, F)</a:t>
                </a:r>
                <a:r>
                  <a:rPr lang="zh-CN" altLang="en-US" dirty="0" smtClean="0"/>
                  <a:t>是由顶点集</a:t>
                </a:r>
                <a:r>
                  <a:rPr lang="en-US" altLang="zh-CN" dirty="0" smtClean="0"/>
                  <a:t>V</a:t>
                </a:r>
                <a:r>
                  <a:rPr lang="zh-CN" altLang="en-US" dirty="0" smtClean="0"/>
                  <a:t>的子集</a:t>
                </a:r>
                <a:r>
                  <a:rPr lang="en-US" altLang="zh-CN" dirty="0" smtClean="0"/>
                  <a:t>W</a:t>
                </a:r>
                <a:r>
                  <a:rPr lang="zh-CN" altLang="en-US" b="1" dirty="0" smtClean="0">
                    <a:solidFill>
                      <a:srgbClr val="C00000"/>
                    </a:solidFill>
                  </a:rPr>
                  <a:t>导出的子图（点导出的子图）</a:t>
                </a:r>
                <a:r>
                  <a:rPr lang="en-US" altLang="zh-CN" dirty="0" smtClean="0"/>
                  <a:t>, </a:t>
                </a:r>
                <a:r>
                  <a:rPr lang="zh-CN" altLang="en-US" dirty="0" smtClean="0"/>
                  <a:t>其中边集</a:t>
                </a:r>
                <a:r>
                  <a:rPr lang="en-US" altLang="zh-CN" dirty="0" smtClean="0"/>
                  <a:t>F</a:t>
                </a:r>
                <a:r>
                  <a:rPr lang="zh-CN" altLang="en-US" dirty="0" smtClean="0"/>
                  <a:t>包含</a:t>
                </a:r>
                <a:r>
                  <a:rPr lang="en-US" altLang="zh-CN" dirty="0" smtClean="0"/>
                  <a:t>E</a:t>
                </a:r>
                <a:r>
                  <a:rPr lang="zh-CN" altLang="en-US" dirty="0" smtClean="0"/>
                  <a:t>中的一条边当且仅当这条边的两个端点都在</a:t>
                </a:r>
                <a:r>
                  <a:rPr lang="en-US" altLang="zh-CN" dirty="0" smtClean="0"/>
                  <a:t>W</a:t>
                </a:r>
                <a:r>
                  <a:rPr lang="zh-CN" altLang="en-US" dirty="0" smtClean="0"/>
                  <a:t>中，记做</a:t>
                </a:r>
                <a:r>
                  <a:rPr lang="en-US" altLang="zh-CN" dirty="0" smtClean="0"/>
                  <a:t>G</a:t>
                </a:r>
                <a:r>
                  <a:rPr lang="zh-CN" altLang="en-US" dirty="0" smtClean="0"/>
                  <a:t>（</a:t>
                </a:r>
                <a:r>
                  <a:rPr lang="en-US" altLang="zh-CN" dirty="0" smtClean="0"/>
                  <a:t>W</a:t>
                </a:r>
                <a:r>
                  <a:rPr lang="zh-CN" altLang="en-US" dirty="0" smtClean="0"/>
                  <a:t>）</a:t>
                </a:r>
                <a:endParaRPr lang="en-US" dirty="0" smtClean="0"/>
              </a:p>
              <a:p>
                <a:r>
                  <a:rPr lang="zh-CN" altLang="en-US" dirty="0" smtClean="0"/>
                  <a:t>例</a:t>
                </a:r>
                <a:r>
                  <a:rPr lang="en-US" altLang="zh-CN" dirty="0" smtClean="0"/>
                  <a:t>: </a:t>
                </a:r>
                <a:r>
                  <a:rPr lang="zh-CN" altLang="en-US" dirty="0" smtClean="0"/>
                  <a:t>完全图</a:t>
                </a:r>
                <a14:m>
                  <m:oMath xmlns:m="http://schemas.openxmlformats.org/officeDocument/2006/math">
                    <m:sSub>
                      <m:sSubPr>
                        <m:ctrlPr>
                          <a:rPr lang="en-US" altLang="zh-CN" i="1" smtClean="0">
                            <a:latin typeface="Cambria Math" panose="02040503050406030204" pitchFamily="18" charset="0"/>
                          </a:rPr>
                        </m:ctrlPr>
                      </m:sSubPr>
                      <m:e>
                        <m:r>
                          <m:rPr>
                            <m:sty m:val="p"/>
                          </m:rPr>
                          <a:rPr lang="en-US" altLang="zh-CN" i="1">
                            <a:latin typeface="Cambria Math" panose="02040503050406030204" pitchFamily="18" charset="0"/>
                          </a:rPr>
                          <m:t>K</m:t>
                        </m:r>
                      </m:e>
                      <m:sub>
                        <m:r>
                          <a:rPr lang="en-US" altLang="zh-CN" b="0" i="1" smtClean="0">
                            <a:latin typeface="Cambria Math" panose="02040503050406030204" pitchFamily="18" charset="0"/>
                          </a:rPr>
                          <m:t>5</m:t>
                        </m:r>
                      </m:sub>
                    </m:sSub>
                  </m:oMath>
                </a14:m>
                <a:r>
                  <a:rPr lang="zh-CN" altLang="en-US" dirty="0" smtClean="0"/>
                  <a:t>和它的一个子图</a:t>
                </a:r>
                <a:r>
                  <a:rPr lang="en-US" altLang="zh-CN" dirty="0" smtClean="0"/>
                  <a:t>, </a:t>
                </a:r>
                <a:r>
                  <a:rPr lang="zh-CN" altLang="en-US" dirty="0" smtClean="0"/>
                  <a:t>如我们在子图中增加一条连接</a:t>
                </a:r>
                <a:r>
                  <a:rPr lang="en-US" altLang="zh-CN" dirty="0" smtClean="0"/>
                  <a:t>c</a:t>
                </a:r>
                <a:r>
                  <a:rPr lang="zh-CN" altLang="en-US" dirty="0" smtClean="0"/>
                  <a:t>和</a:t>
                </a:r>
                <a:r>
                  <a:rPr lang="en-US" altLang="zh-CN" dirty="0" smtClean="0"/>
                  <a:t>e</a:t>
                </a:r>
                <a:r>
                  <a:rPr lang="zh-CN" altLang="en-US" dirty="0" smtClean="0"/>
                  <a:t>的边</a:t>
                </a:r>
                <a:r>
                  <a:rPr lang="en-US" altLang="zh-CN" dirty="0" smtClean="0"/>
                  <a:t>, </a:t>
                </a:r>
                <a:r>
                  <a:rPr lang="zh-CN" altLang="en-US" dirty="0" smtClean="0"/>
                  <a:t>就得到一个有</a:t>
                </a:r>
                <a:r>
                  <a:rPr lang="en-US" dirty="0" smtClean="0"/>
                  <a:t>W= {a, b, c, e}</a:t>
                </a:r>
                <a:r>
                  <a:rPr lang="zh-CN" altLang="en-US" dirty="0" smtClean="0"/>
                  <a:t>导出的子图</a:t>
                </a:r>
                <a:r>
                  <a:rPr lang="en-US" dirty="0" smtClean="0"/>
                  <a:t>.</a:t>
                </a:r>
              </a:p>
              <a:p>
                <a:endParaRPr lang="en-US" dirty="0" smtClean="0"/>
              </a:p>
              <a:p>
                <a:endParaRPr lang="en-US" dirty="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99" t="-1310" r="-111"/>
                </a:stretch>
              </a:blipFill>
            </p:spPr>
            <p:txBody>
              <a:bodyPr/>
              <a:lstStyle/>
              <a:p>
                <a:r>
                  <a:rPr lang="zh-CN" altLang="en-US">
                    <a:noFill/>
                  </a:rPr>
                  <a:t> </a:t>
                </a:r>
              </a:p>
            </p:txBody>
          </p:sp>
        </mc:Fallback>
      </mc:AlternateContent>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2000" y="3505200"/>
            <a:ext cx="4544667" cy="2040051"/>
          </a:xfrm>
          <a:prstGeom prst="rect">
            <a:avLst/>
          </a:prstGeom>
        </p:spPr>
      </p:pic>
      <p:cxnSp>
        <p:nvCxnSpPr>
          <p:cNvPr id="7" name="Straight Connector 6"/>
          <p:cNvCxnSpPr/>
          <p:nvPr/>
        </p:nvCxnSpPr>
        <p:spPr>
          <a:xfrm flipH="1" flipV="1">
            <a:off x="3431745" y="4419600"/>
            <a:ext cx="1295400" cy="838200"/>
          </a:xfrm>
          <a:prstGeom prst="line">
            <a:avLst/>
          </a:prstGeom>
          <a:ln w="15875">
            <a:solidFill>
              <a:srgbClr val="C00000"/>
            </a:solidFill>
          </a:ln>
        </p:spPr>
        <p:style>
          <a:lnRef idx="1">
            <a:schemeClr val="accent1"/>
          </a:lnRef>
          <a:fillRef idx="0">
            <a:schemeClr val="accent1"/>
          </a:fillRef>
          <a:effectRef idx="0">
            <a:schemeClr val="accent1"/>
          </a:effectRef>
          <a:fontRef idx="minor">
            <a:schemeClr val="tx1"/>
          </a:fontRef>
        </p:style>
      </p:cxnSp>
      <p:sp>
        <p:nvSpPr>
          <p:cNvPr id="9" name="日期占位符 8"/>
          <p:cNvSpPr>
            <a:spLocks noGrp="1"/>
          </p:cNvSpPr>
          <p:nvPr>
            <p:ph type="dt" sz="half" idx="10"/>
          </p:nvPr>
        </p:nvSpPr>
        <p:spPr/>
        <p:txBody>
          <a:bodyPr/>
          <a:lstStyle/>
          <a:p>
            <a:fld id="{3EDF2E35-6548-4350-AF23-B74E77E2032E}" type="datetime1">
              <a:rPr lang="zh-CN" altLang="en-US" smtClean="0"/>
              <a:t>2025/4/15</a:t>
            </a:fld>
            <a:endParaRPr lang="zh-CN" altLang="en-US" dirty="0"/>
          </a:p>
        </p:txBody>
      </p:sp>
      <p:sp>
        <p:nvSpPr>
          <p:cNvPr id="10" name="页脚占位符 9"/>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11" name="灯片编号占位符 10"/>
          <p:cNvSpPr>
            <a:spLocks noGrp="1"/>
          </p:cNvSpPr>
          <p:nvPr>
            <p:ph type="sldNum" sz="quarter" idx="12"/>
          </p:nvPr>
        </p:nvSpPr>
        <p:spPr/>
        <p:txBody>
          <a:bodyPr/>
          <a:lstStyle/>
          <a:p>
            <a:fld id="{67913A8A-9EFB-4B5F-9CCB-3D21173FAA85}" type="slidenum">
              <a:rPr lang="zh-CN" altLang="en-US" smtClean="0"/>
              <a:pPr/>
              <a:t>57</a:t>
            </a:fld>
            <a:endParaRPr lang="zh-CN" altLang="en-US" dirty="0"/>
          </a:p>
        </p:txBody>
      </p:sp>
      <p:pic>
        <p:nvPicPr>
          <p:cNvPr id="8" name="图片 7"/>
          <p:cNvPicPr>
            <a:picLocks noChangeAspect="1"/>
          </p:cNvPicPr>
          <p:nvPr/>
        </p:nvPicPr>
        <p:blipFill>
          <a:blip r:embed="rId4"/>
          <a:stretch>
            <a:fillRect/>
          </a:stretch>
        </p:blipFill>
        <p:spPr>
          <a:xfrm>
            <a:off x="6629400" y="3539576"/>
            <a:ext cx="4665898" cy="336378"/>
          </a:xfrm>
          <a:prstGeom prst="rect">
            <a:avLst/>
          </a:prstGeom>
        </p:spPr>
      </p:pic>
      <p:pic>
        <p:nvPicPr>
          <p:cNvPr id="13" name="图片 12"/>
          <p:cNvPicPr>
            <a:picLocks noChangeAspect="1"/>
          </p:cNvPicPr>
          <p:nvPr/>
        </p:nvPicPr>
        <p:blipFill>
          <a:blip r:embed="rId5"/>
          <a:stretch>
            <a:fillRect/>
          </a:stretch>
        </p:blipFill>
        <p:spPr>
          <a:xfrm>
            <a:off x="5943600" y="4195842"/>
            <a:ext cx="2337612" cy="1562576"/>
          </a:xfrm>
          <a:prstGeom prst="rect">
            <a:avLst/>
          </a:prstGeom>
        </p:spPr>
      </p:pic>
      <p:pic>
        <p:nvPicPr>
          <p:cNvPr id="14" name="图片 13"/>
          <p:cNvPicPr>
            <a:picLocks noChangeAspect="1"/>
          </p:cNvPicPr>
          <p:nvPr/>
        </p:nvPicPr>
        <p:blipFill>
          <a:blip r:embed="rId6"/>
          <a:stretch>
            <a:fillRect/>
          </a:stretch>
        </p:blipFill>
        <p:spPr>
          <a:xfrm>
            <a:off x="8839200" y="4454767"/>
            <a:ext cx="2268154" cy="1044725"/>
          </a:xfrm>
          <a:prstGeom prst="rect">
            <a:avLst/>
          </a:prstGeom>
        </p:spPr>
      </p:pic>
      <p:sp>
        <p:nvSpPr>
          <p:cNvPr id="15" name="矩形 14"/>
          <p:cNvSpPr/>
          <p:nvPr/>
        </p:nvSpPr>
        <p:spPr>
          <a:xfrm>
            <a:off x="1600200" y="3636387"/>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777636" y="4216100"/>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2438400" y="4220998"/>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2104691" y="5105400"/>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2057400" y="3962400"/>
            <a:ext cx="304800" cy="152400"/>
          </a:xfrm>
          <a:prstGeom prst="ellipse">
            <a:avLst/>
          </a:pr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2337610" y="4714659"/>
            <a:ext cx="304800" cy="152400"/>
          </a:xfrm>
          <a:prstGeom prst="ellipse">
            <a:avLst/>
          </a:pr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1905000" y="4454767"/>
            <a:ext cx="304800" cy="152400"/>
          </a:xfrm>
          <a:prstGeom prst="ellipse">
            <a:avLst/>
          </a:pr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p:nvPr/>
        </p:nvSpPr>
        <p:spPr>
          <a:xfrm>
            <a:off x="1240112" y="3971552"/>
            <a:ext cx="304800" cy="152400"/>
          </a:xfrm>
          <a:prstGeom prst="ellipse">
            <a:avLst/>
          </a:pr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nvSpPr>
        <p:spPr>
          <a:xfrm>
            <a:off x="1512075" y="4762500"/>
            <a:ext cx="304800" cy="152400"/>
          </a:xfrm>
          <a:prstGeom prst="ellipse">
            <a:avLst/>
          </a:pr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6138969" y="4800600"/>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6836825" y="5194692"/>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7605605" y="4953000"/>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p:nvSpPr>
        <p:spPr>
          <a:xfrm>
            <a:off x="6477000" y="5029200"/>
            <a:ext cx="304800" cy="152400"/>
          </a:xfrm>
          <a:prstGeom prst="ellipse">
            <a:avLst/>
          </a:pr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p:nvPr/>
        </p:nvSpPr>
        <p:spPr>
          <a:xfrm>
            <a:off x="7162800" y="4977129"/>
            <a:ext cx="304800" cy="152400"/>
          </a:xfrm>
          <a:prstGeom prst="ellipse">
            <a:avLst/>
          </a:pr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p:nvPr/>
        </p:nvSpPr>
        <p:spPr>
          <a:xfrm>
            <a:off x="7211881" y="5173415"/>
            <a:ext cx="304800" cy="152400"/>
          </a:xfrm>
          <a:prstGeom prst="ellipse">
            <a:avLst/>
          </a:pr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14731520"/>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457200" y="1143000"/>
            <a:ext cx="11277599" cy="12954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smtClean="0"/>
              <a:t>从旧图构造新图</a:t>
            </a:r>
            <a:endParaRPr lang="en-US" dirty="0"/>
          </a:p>
        </p:txBody>
      </p:sp>
      <p:sp>
        <p:nvSpPr>
          <p:cNvPr id="3" name="Content Placeholder 2"/>
          <p:cNvSpPr>
            <a:spLocks noGrp="1"/>
          </p:cNvSpPr>
          <p:nvPr>
            <p:ph idx="1"/>
          </p:nvPr>
        </p:nvSpPr>
        <p:spPr/>
        <p:txBody>
          <a:bodyPr>
            <a:normAutofit/>
          </a:bodyPr>
          <a:lstStyle/>
          <a:p>
            <a:r>
              <a:rPr lang="zh-CN" altLang="en-US" dirty="0" smtClean="0"/>
              <a:t>定义</a:t>
            </a:r>
            <a:r>
              <a:rPr lang="en-US" dirty="0" smtClean="0"/>
              <a:t>: </a:t>
            </a:r>
            <a:r>
              <a:rPr lang="zh-CN" altLang="en-US" dirty="0" smtClean="0"/>
              <a:t>令</a:t>
            </a:r>
            <a:r>
              <a:rPr lang="en-US" dirty="0" smtClean="0"/>
              <a:t>G=(V, E)</a:t>
            </a:r>
            <a:r>
              <a:rPr lang="zh-CN" altLang="en-US" dirty="0" smtClean="0"/>
              <a:t>是一个简单图</a:t>
            </a:r>
            <a:r>
              <a:rPr lang="en-US" altLang="zh-CN" dirty="0" smtClean="0"/>
              <a:t>, </a:t>
            </a:r>
            <a:r>
              <a:rPr lang="zh-CN" altLang="en-US" dirty="0" smtClean="0"/>
              <a:t>图</a:t>
            </a:r>
            <a:r>
              <a:rPr lang="en-US" altLang="zh-CN" dirty="0" smtClean="0"/>
              <a:t>H(W, F)</a:t>
            </a:r>
            <a:r>
              <a:rPr lang="zh-CN" altLang="en-US" dirty="0" smtClean="0"/>
              <a:t>是由边集</a:t>
            </a:r>
            <a:r>
              <a:rPr lang="en-US" altLang="zh-CN" dirty="0" smtClean="0"/>
              <a:t>E</a:t>
            </a:r>
            <a:r>
              <a:rPr lang="zh-CN" altLang="en-US" dirty="0" smtClean="0"/>
              <a:t>的子集</a:t>
            </a:r>
            <a:r>
              <a:rPr lang="en-US" altLang="zh-CN" dirty="0" smtClean="0"/>
              <a:t>F</a:t>
            </a:r>
            <a:r>
              <a:rPr lang="zh-CN" altLang="en-US" b="1" dirty="0" smtClean="0">
                <a:solidFill>
                  <a:srgbClr val="C00000"/>
                </a:solidFill>
              </a:rPr>
              <a:t>导出的子图（边导出的子图）</a:t>
            </a:r>
            <a:r>
              <a:rPr lang="en-US" altLang="zh-CN" dirty="0" smtClean="0"/>
              <a:t>, </a:t>
            </a:r>
            <a:r>
              <a:rPr lang="zh-CN" altLang="en-US" dirty="0" smtClean="0"/>
              <a:t>其中边集</a:t>
            </a:r>
            <a:r>
              <a:rPr lang="en-US" altLang="zh-CN" dirty="0" smtClean="0"/>
              <a:t>F</a:t>
            </a:r>
            <a:r>
              <a:rPr lang="zh-CN" altLang="en-US" dirty="0" smtClean="0"/>
              <a:t>包含于</a:t>
            </a:r>
            <a:r>
              <a:rPr lang="en-US" altLang="zh-CN" dirty="0" smtClean="0"/>
              <a:t>E</a:t>
            </a:r>
            <a:r>
              <a:rPr lang="zh-CN" altLang="en-US" dirty="0" smtClean="0"/>
              <a:t>，</a:t>
            </a:r>
            <a:r>
              <a:rPr lang="en-US" altLang="zh-CN" dirty="0" smtClean="0"/>
              <a:t>F</a:t>
            </a:r>
            <a:r>
              <a:rPr lang="zh-CN" altLang="en-US" dirty="0" smtClean="0"/>
              <a:t>中边关联的顶点为顶点集</a:t>
            </a:r>
            <a:r>
              <a:rPr lang="en-US" altLang="zh-CN" dirty="0" smtClean="0"/>
              <a:t>W</a:t>
            </a:r>
            <a:r>
              <a:rPr lang="zh-CN" altLang="en-US" dirty="0" smtClean="0"/>
              <a:t>的图</a:t>
            </a:r>
            <a:r>
              <a:rPr lang="en-US" altLang="zh-CN" dirty="0" smtClean="0"/>
              <a:t>.</a:t>
            </a:r>
            <a:endParaRPr lang="en-US" dirty="0" smtClean="0"/>
          </a:p>
          <a:p>
            <a:r>
              <a:rPr lang="zh-CN" altLang="en-US" dirty="0" smtClean="0"/>
              <a:t>例</a:t>
            </a:r>
            <a:r>
              <a:rPr lang="en-US" altLang="zh-CN" dirty="0" smtClean="0"/>
              <a:t>:</a:t>
            </a:r>
            <a:endParaRPr lang="en-US" dirty="0" smtClean="0"/>
          </a:p>
          <a:p>
            <a:pPr marL="0" indent="0">
              <a:buNone/>
            </a:pPr>
            <a:endParaRPr lang="en-US" dirty="0" smtClean="0"/>
          </a:p>
          <a:p>
            <a:endParaRPr lang="en-US" dirty="0" smtClean="0"/>
          </a:p>
        </p:txBody>
      </p:sp>
      <p:cxnSp>
        <p:nvCxnSpPr>
          <p:cNvPr id="7" name="Straight Connector 6"/>
          <p:cNvCxnSpPr/>
          <p:nvPr/>
        </p:nvCxnSpPr>
        <p:spPr>
          <a:xfrm flipH="1" flipV="1">
            <a:off x="5323752" y="3446101"/>
            <a:ext cx="609600" cy="718425"/>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日期占位符 8"/>
          <p:cNvSpPr>
            <a:spLocks noGrp="1"/>
          </p:cNvSpPr>
          <p:nvPr>
            <p:ph type="dt" sz="half" idx="10"/>
          </p:nvPr>
        </p:nvSpPr>
        <p:spPr/>
        <p:txBody>
          <a:bodyPr/>
          <a:lstStyle/>
          <a:p>
            <a:fld id="{3EDF2E35-6548-4350-AF23-B74E77E2032E}" type="datetime1">
              <a:rPr lang="zh-CN" altLang="en-US" smtClean="0"/>
              <a:t>2025/4/15</a:t>
            </a:fld>
            <a:endParaRPr lang="zh-CN" altLang="en-US" dirty="0"/>
          </a:p>
        </p:txBody>
      </p:sp>
      <p:sp>
        <p:nvSpPr>
          <p:cNvPr id="10" name="页脚占位符 9"/>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11" name="灯片编号占位符 10"/>
          <p:cNvSpPr>
            <a:spLocks noGrp="1"/>
          </p:cNvSpPr>
          <p:nvPr>
            <p:ph type="sldNum" sz="quarter" idx="12"/>
          </p:nvPr>
        </p:nvSpPr>
        <p:spPr/>
        <p:txBody>
          <a:bodyPr/>
          <a:lstStyle/>
          <a:p>
            <a:fld id="{67913A8A-9EFB-4B5F-9CCB-3D21173FAA85}" type="slidenum">
              <a:rPr lang="zh-CN" altLang="en-US" smtClean="0"/>
              <a:pPr/>
              <a:t>58</a:t>
            </a:fld>
            <a:endParaRPr lang="zh-CN" altLang="en-US" dirty="0"/>
          </a:p>
        </p:txBody>
      </p:sp>
      <p:pic>
        <p:nvPicPr>
          <p:cNvPr id="4" name="图片 3"/>
          <p:cNvPicPr>
            <a:picLocks noChangeAspect="1"/>
          </p:cNvPicPr>
          <p:nvPr/>
        </p:nvPicPr>
        <p:blipFill>
          <a:blip r:embed="rId2"/>
          <a:stretch>
            <a:fillRect/>
          </a:stretch>
        </p:blipFill>
        <p:spPr>
          <a:xfrm>
            <a:off x="2192919" y="2551410"/>
            <a:ext cx="2728196" cy="2331922"/>
          </a:xfrm>
          <a:prstGeom prst="rect">
            <a:avLst/>
          </a:prstGeom>
        </p:spPr>
      </p:pic>
      <p:cxnSp>
        <p:nvCxnSpPr>
          <p:cNvPr id="13" name="Straight Connector 6"/>
          <p:cNvCxnSpPr/>
          <p:nvPr/>
        </p:nvCxnSpPr>
        <p:spPr>
          <a:xfrm flipV="1">
            <a:off x="6005318" y="4311614"/>
            <a:ext cx="1143000" cy="1"/>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6"/>
          <p:cNvCxnSpPr/>
          <p:nvPr/>
        </p:nvCxnSpPr>
        <p:spPr>
          <a:xfrm flipH="1" flipV="1">
            <a:off x="6134600" y="3118117"/>
            <a:ext cx="731401" cy="599254"/>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pic>
        <p:nvPicPr>
          <p:cNvPr id="18" name="图片 17"/>
          <p:cNvPicPr>
            <a:picLocks noChangeAspect="1"/>
          </p:cNvPicPr>
          <p:nvPr/>
        </p:nvPicPr>
        <p:blipFill>
          <a:blip r:embed="rId3"/>
          <a:stretch>
            <a:fillRect/>
          </a:stretch>
        </p:blipFill>
        <p:spPr>
          <a:xfrm>
            <a:off x="5860526" y="2844677"/>
            <a:ext cx="289585" cy="259102"/>
          </a:xfrm>
          <a:prstGeom prst="rect">
            <a:avLst/>
          </a:prstGeom>
        </p:spPr>
      </p:pic>
      <p:pic>
        <p:nvPicPr>
          <p:cNvPr id="19" name="图片 18"/>
          <p:cNvPicPr>
            <a:picLocks noChangeAspect="1"/>
          </p:cNvPicPr>
          <p:nvPr/>
        </p:nvPicPr>
        <p:blipFill>
          <a:blip r:embed="rId4"/>
          <a:stretch>
            <a:fillRect/>
          </a:stretch>
        </p:blipFill>
        <p:spPr>
          <a:xfrm>
            <a:off x="6965407" y="3779501"/>
            <a:ext cx="220999" cy="312447"/>
          </a:xfrm>
          <a:prstGeom prst="rect">
            <a:avLst/>
          </a:prstGeom>
        </p:spPr>
      </p:pic>
      <p:pic>
        <p:nvPicPr>
          <p:cNvPr id="20" name="图片 19"/>
          <p:cNvPicPr>
            <a:picLocks noChangeAspect="1"/>
          </p:cNvPicPr>
          <p:nvPr/>
        </p:nvPicPr>
        <p:blipFill>
          <a:blip r:embed="rId5"/>
          <a:stretch>
            <a:fillRect/>
          </a:stretch>
        </p:blipFill>
        <p:spPr>
          <a:xfrm>
            <a:off x="5023756" y="3068582"/>
            <a:ext cx="228620" cy="243861"/>
          </a:xfrm>
          <a:prstGeom prst="rect">
            <a:avLst/>
          </a:prstGeom>
        </p:spPr>
      </p:pic>
      <p:pic>
        <p:nvPicPr>
          <p:cNvPr id="21" name="图片 20"/>
          <p:cNvPicPr>
            <a:picLocks noChangeAspect="1"/>
          </p:cNvPicPr>
          <p:nvPr/>
        </p:nvPicPr>
        <p:blipFill>
          <a:blip r:embed="rId6"/>
          <a:stretch>
            <a:fillRect/>
          </a:stretch>
        </p:blipFill>
        <p:spPr>
          <a:xfrm>
            <a:off x="5650701" y="4323914"/>
            <a:ext cx="320068" cy="266723"/>
          </a:xfrm>
          <a:prstGeom prst="rect">
            <a:avLst/>
          </a:prstGeom>
        </p:spPr>
      </p:pic>
      <p:pic>
        <p:nvPicPr>
          <p:cNvPr id="22" name="图片 21"/>
          <p:cNvPicPr>
            <a:picLocks noChangeAspect="1"/>
          </p:cNvPicPr>
          <p:nvPr/>
        </p:nvPicPr>
        <p:blipFill>
          <a:blip r:embed="rId7"/>
          <a:stretch>
            <a:fillRect/>
          </a:stretch>
        </p:blipFill>
        <p:spPr>
          <a:xfrm>
            <a:off x="6936286" y="4436575"/>
            <a:ext cx="365792" cy="259102"/>
          </a:xfrm>
          <a:prstGeom prst="rect">
            <a:avLst/>
          </a:prstGeom>
        </p:spPr>
      </p:pic>
      <p:pic>
        <p:nvPicPr>
          <p:cNvPr id="23" name="图片 22"/>
          <p:cNvPicPr>
            <a:picLocks noChangeAspect="1"/>
          </p:cNvPicPr>
          <p:nvPr/>
        </p:nvPicPr>
        <p:blipFill>
          <a:blip r:embed="rId8"/>
          <a:stretch>
            <a:fillRect/>
          </a:stretch>
        </p:blipFill>
        <p:spPr>
          <a:xfrm>
            <a:off x="6051527" y="3045720"/>
            <a:ext cx="129551" cy="144793"/>
          </a:xfrm>
          <a:prstGeom prst="rect">
            <a:avLst/>
          </a:prstGeom>
        </p:spPr>
      </p:pic>
      <p:pic>
        <p:nvPicPr>
          <p:cNvPr id="24" name="图片 23"/>
          <p:cNvPicPr>
            <a:picLocks noChangeAspect="1"/>
          </p:cNvPicPr>
          <p:nvPr/>
        </p:nvPicPr>
        <p:blipFill>
          <a:blip r:embed="rId8"/>
          <a:stretch>
            <a:fillRect/>
          </a:stretch>
        </p:blipFill>
        <p:spPr>
          <a:xfrm>
            <a:off x="6801225" y="3626220"/>
            <a:ext cx="129551" cy="144793"/>
          </a:xfrm>
          <a:prstGeom prst="rect">
            <a:avLst/>
          </a:prstGeom>
        </p:spPr>
      </p:pic>
      <p:pic>
        <p:nvPicPr>
          <p:cNvPr id="28" name="图片 27"/>
          <p:cNvPicPr>
            <a:picLocks noChangeAspect="1"/>
          </p:cNvPicPr>
          <p:nvPr/>
        </p:nvPicPr>
        <p:blipFill>
          <a:blip r:embed="rId8"/>
          <a:stretch>
            <a:fillRect/>
          </a:stretch>
        </p:blipFill>
        <p:spPr>
          <a:xfrm>
            <a:off x="5897653" y="4161798"/>
            <a:ext cx="129551" cy="144793"/>
          </a:xfrm>
          <a:prstGeom prst="rect">
            <a:avLst/>
          </a:prstGeom>
        </p:spPr>
      </p:pic>
      <p:pic>
        <p:nvPicPr>
          <p:cNvPr id="29" name="图片 28"/>
          <p:cNvPicPr>
            <a:picLocks noChangeAspect="1"/>
          </p:cNvPicPr>
          <p:nvPr/>
        </p:nvPicPr>
        <p:blipFill>
          <a:blip r:embed="rId8"/>
          <a:stretch>
            <a:fillRect/>
          </a:stretch>
        </p:blipFill>
        <p:spPr>
          <a:xfrm>
            <a:off x="7106647" y="4274806"/>
            <a:ext cx="129551" cy="144793"/>
          </a:xfrm>
          <a:prstGeom prst="rect">
            <a:avLst/>
          </a:prstGeom>
        </p:spPr>
      </p:pic>
      <p:pic>
        <p:nvPicPr>
          <p:cNvPr id="30" name="图片 29"/>
          <p:cNvPicPr>
            <a:picLocks noChangeAspect="1"/>
          </p:cNvPicPr>
          <p:nvPr/>
        </p:nvPicPr>
        <p:blipFill>
          <a:blip r:embed="rId8"/>
          <a:stretch>
            <a:fillRect/>
          </a:stretch>
        </p:blipFill>
        <p:spPr>
          <a:xfrm>
            <a:off x="5194201" y="3301308"/>
            <a:ext cx="129551" cy="144793"/>
          </a:xfrm>
          <a:prstGeom prst="rect">
            <a:avLst/>
          </a:prstGeom>
        </p:spPr>
      </p:pic>
      <p:sp>
        <p:nvSpPr>
          <p:cNvPr id="31" name="文本框 30"/>
          <p:cNvSpPr txBox="1"/>
          <p:nvPr/>
        </p:nvSpPr>
        <p:spPr>
          <a:xfrm>
            <a:off x="1252750" y="3571892"/>
            <a:ext cx="1828800" cy="954107"/>
          </a:xfrm>
          <a:prstGeom prst="rect">
            <a:avLst/>
          </a:prstGeom>
          <a:noFill/>
        </p:spPr>
        <p:txBody>
          <a:bodyPr wrap="square" rtlCol="0">
            <a:spAutoFit/>
          </a:bodyPr>
          <a:lstStyle/>
          <a:p>
            <a:r>
              <a:rPr lang="en-US" altLang="zh-CN" dirty="0" smtClean="0"/>
              <a:t>          </a:t>
            </a:r>
            <a:r>
              <a:rPr lang="en-US" altLang="zh-CN" sz="2800" dirty="0" smtClean="0">
                <a:latin typeface="微软雅黑" panose="020B0503020204020204" pitchFamily="34" charset="-122"/>
                <a:ea typeface="微软雅黑" panose="020B0503020204020204" pitchFamily="34" charset="-122"/>
              </a:rPr>
              <a:t>G </a:t>
            </a:r>
            <a:r>
              <a:rPr lang="zh-CN" altLang="en-US" sz="2800" dirty="0" smtClean="0">
                <a:latin typeface="微软雅黑" panose="020B0503020204020204" pitchFamily="34" charset="-122"/>
                <a:ea typeface="微软雅黑" panose="020B0503020204020204" pitchFamily="34" charset="-122"/>
              </a:rPr>
              <a:t>（母图）</a:t>
            </a:r>
            <a:endParaRPr lang="zh-CN" altLang="en-US" sz="2800" dirty="0">
              <a:latin typeface="微软雅黑" panose="020B0503020204020204" pitchFamily="34" charset="-122"/>
              <a:ea typeface="微软雅黑" panose="020B0503020204020204" pitchFamily="34" charset="-122"/>
            </a:endParaRPr>
          </a:p>
        </p:txBody>
      </p:sp>
      <p:sp>
        <p:nvSpPr>
          <p:cNvPr id="32" name="文本框 31"/>
          <p:cNvSpPr txBox="1"/>
          <p:nvPr/>
        </p:nvSpPr>
        <p:spPr>
          <a:xfrm>
            <a:off x="5283083" y="4657285"/>
            <a:ext cx="2434433" cy="954107"/>
          </a:xfrm>
          <a:prstGeom prst="rect">
            <a:avLst/>
          </a:prstGeom>
          <a:noFill/>
        </p:spPr>
        <p:txBody>
          <a:bodyPr wrap="square" rtlCol="0">
            <a:spAutoFit/>
          </a:bodyPr>
          <a:lstStyle/>
          <a:p>
            <a:r>
              <a:rPr lang="en-US" altLang="zh-CN" dirty="0" smtClean="0"/>
              <a:t>             </a:t>
            </a:r>
            <a:r>
              <a:rPr lang="en-US" altLang="zh-CN" sz="2800" dirty="0" smtClean="0">
                <a:latin typeface="微软雅黑" panose="020B0503020204020204" pitchFamily="34" charset="-122"/>
                <a:ea typeface="微软雅黑" panose="020B0503020204020204" pitchFamily="34" charset="-122"/>
              </a:rPr>
              <a:t>H</a:t>
            </a:r>
          </a:p>
          <a:p>
            <a:r>
              <a:rPr lang="zh-CN" altLang="en-US" sz="2800" dirty="0" smtClean="0">
                <a:latin typeface="微软雅黑" panose="020B0503020204020204" pitchFamily="34" charset="-122"/>
                <a:ea typeface="微软雅黑" panose="020B0503020204020204" pitchFamily="34" charset="-122"/>
              </a:rPr>
              <a:t>（边导出子图）</a:t>
            </a:r>
            <a:endParaRPr lang="zh-CN" altLang="en-US" sz="2800" dirty="0">
              <a:latin typeface="微软雅黑" panose="020B0503020204020204" pitchFamily="34" charset="-122"/>
              <a:ea typeface="微软雅黑" panose="020B0503020204020204" pitchFamily="34" charset="-122"/>
            </a:endParaRPr>
          </a:p>
        </p:txBody>
      </p:sp>
      <p:pic>
        <p:nvPicPr>
          <p:cNvPr id="33" name="图片 32"/>
          <p:cNvPicPr>
            <a:picLocks noChangeAspect="1"/>
          </p:cNvPicPr>
          <p:nvPr/>
        </p:nvPicPr>
        <p:blipFill>
          <a:blip r:embed="rId9"/>
          <a:stretch>
            <a:fillRect/>
          </a:stretch>
        </p:blipFill>
        <p:spPr>
          <a:xfrm>
            <a:off x="6477000" y="2427100"/>
            <a:ext cx="5599452" cy="494731"/>
          </a:xfrm>
          <a:prstGeom prst="rect">
            <a:avLst/>
          </a:prstGeom>
        </p:spPr>
      </p:pic>
      <p:pic>
        <p:nvPicPr>
          <p:cNvPr id="34" name="图片 33"/>
          <p:cNvPicPr>
            <a:picLocks noChangeAspect="1"/>
          </p:cNvPicPr>
          <p:nvPr/>
        </p:nvPicPr>
        <p:blipFill>
          <a:blip r:embed="rId10"/>
          <a:stretch>
            <a:fillRect/>
          </a:stretch>
        </p:blipFill>
        <p:spPr>
          <a:xfrm>
            <a:off x="7669433" y="3177880"/>
            <a:ext cx="2320825" cy="1828136"/>
          </a:xfrm>
          <a:prstGeom prst="rect">
            <a:avLst/>
          </a:prstGeom>
        </p:spPr>
      </p:pic>
      <p:pic>
        <p:nvPicPr>
          <p:cNvPr id="35" name="图片 34"/>
          <p:cNvPicPr>
            <a:picLocks noChangeAspect="1"/>
          </p:cNvPicPr>
          <p:nvPr/>
        </p:nvPicPr>
        <p:blipFill>
          <a:blip r:embed="rId11"/>
          <a:stretch>
            <a:fillRect/>
          </a:stretch>
        </p:blipFill>
        <p:spPr>
          <a:xfrm>
            <a:off x="10085549" y="3327405"/>
            <a:ext cx="2065384" cy="1396482"/>
          </a:xfrm>
          <a:prstGeom prst="rect">
            <a:avLst/>
          </a:prstGeom>
        </p:spPr>
      </p:pic>
      <p:sp>
        <p:nvSpPr>
          <p:cNvPr id="27" name="椭圆 26"/>
          <p:cNvSpPr/>
          <p:nvPr/>
        </p:nvSpPr>
        <p:spPr>
          <a:xfrm>
            <a:off x="2671276" y="3930313"/>
            <a:ext cx="304800" cy="152400"/>
          </a:xfrm>
          <a:prstGeom prst="ellipse">
            <a:avLst/>
          </a:pr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椭圆 35"/>
          <p:cNvSpPr/>
          <p:nvPr/>
        </p:nvSpPr>
        <p:spPr>
          <a:xfrm>
            <a:off x="3411908" y="4413726"/>
            <a:ext cx="304800" cy="152400"/>
          </a:xfrm>
          <a:prstGeom prst="ellipse">
            <a:avLst/>
          </a:pr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p:nvPr/>
        </p:nvSpPr>
        <p:spPr>
          <a:xfrm>
            <a:off x="3924067" y="3092445"/>
            <a:ext cx="304800" cy="152400"/>
          </a:xfrm>
          <a:prstGeom prst="ellipse">
            <a:avLst/>
          </a:pr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p:cNvSpPr/>
          <p:nvPr/>
        </p:nvSpPr>
        <p:spPr>
          <a:xfrm>
            <a:off x="8212736" y="4201216"/>
            <a:ext cx="304800" cy="152400"/>
          </a:xfrm>
          <a:prstGeom prst="ellipse">
            <a:avLst/>
          </a:pr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p:cNvSpPr/>
          <p:nvPr/>
        </p:nvSpPr>
        <p:spPr>
          <a:xfrm>
            <a:off x="8939938" y="4323518"/>
            <a:ext cx="304800" cy="152400"/>
          </a:xfrm>
          <a:prstGeom prst="ellipse">
            <a:avLst/>
          </a:pr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p:cNvSpPr/>
          <p:nvPr/>
        </p:nvSpPr>
        <p:spPr>
          <a:xfrm>
            <a:off x="8919401" y="3618613"/>
            <a:ext cx="304800" cy="152400"/>
          </a:xfrm>
          <a:prstGeom prst="ellipse">
            <a:avLst/>
          </a:pr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a:off x="2518876" y="3373987"/>
            <a:ext cx="304800" cy="304800"/>
          </a:xfrm>
          <a:prstGeom prst="rect">
            <a:avLst/>
          </a:prstGeom>
          <a:noFill/>
          <a:ln w="254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2894617" y="4323518"/>
            <a:ext cx="304800" cy="304800"/>
          </a:xfrm>
          <a:prstGeom prst="rect">
            <a:avLst/>
          </a:prstGeom>
          <a:noFill/>
          <a:ln w="254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43"/>
          <p:cNvSpPr/>
          <p:nvPr/>
        </p:nvSpPr>
        <p:spPr>
          <a:xfrm>
            <a:off x="3974060" y="4306591"/>
            <a:ext cx="304800" cy="304800"/>
          </a:xfrm>
          <a:prstGeom prst="rect">
            <a:avLst/>
          </a:prstGeom>
          <a:noFill/>
          <a:ln w="254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p:cNvSpPr/>
          <p:nvPr/>
        </p:nvSpPr>
        <p:spPr>
          <a:xfrm>
            <a:off x="3413885" y="2692277"/>
            <a:ext cx="304800" cy="304800"/>
          </a:xfrm>
          <a:prstGeom prst="rect">
            <a:avLst/>
          </a:prstGeom>
          <a:noFill/>
          <a:ln w="254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p:cNvSpPr/>
          <p:nvPr/>
        </p:nvSpPr>
        <p:spPr>
          <a:xfrm>
            <a:off x="4385330" y="3390013"/>
            <a:ext cx="304800" cy="304800"/>
          </a:xfrm>
          <a:prstGeom prst="rect">
            <a:avLst/>
          </a:prstGeom>
          <a:noFill/>
          <a:ln w="254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p:cNvSpPr/>
          <p:nvPr/>
        </p:nvSpPr>
        <p:spPr>
          <a:xfrm>
            <a:off x="7907936" y="3867152"/>
            <a:ext cx="304800" cy="304800"/>
          </a:xfrm>
          <a:prstGeom prst="rect">
            <a:avLst/>
          </a:prstGeom>
          <a:noFill/>
          <a:ln w="254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p:cNvSpPr/>
          <p:nvPr/>
        </p:nvSpPr>
        <p:spPr>
          <a:xfrm>
            <a:off x="8604726" y="4423459"/>
            <a:ext cx="304800" cy="304800"/>
          </a:xfrm>
          <a:prstGeom prst="rect">
            <a:avLst/>
          </a:prstGeom>
          <a:noFill/>
          <a:ln w="254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48"/>
          <p:cNvSpPr/>
          <p:nvPr/>
        </p:nvSpPr>
        <p:spPr>
          <a:xfrm>
            <a:off x="9421730" y="4171118"/>
            <a:ext cx="304800" cy="304800"/>
          </a:xfrm>
          <a:prstGeom prst="rect">
            <a:avLst/>
          </a:prstGeom>
          <a:noFill/>
          <a:ln w="254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p:cNvSpPr/>
          <p:nvPr/>
        </p:nvSpPr>
        <p:spPr>
          <a:xfrm>
            <a:off x="8477040" y="3572063"/>
            <a:ext cx="304800" cy="304800"/>
          </a:xfrm>
          <a:prstGeom prst="rect">
            <a:avLst/>
          </a:prstGeom>
          <a:noFill/>
          <a:ln w="254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p:cNvSpPr/>
          <p:nvPr/>
        </p:nvSpPr>
        <p:spPr>
          <a:xfrm>
            <a:off x="9420356" y="3574082"/>
            <a:ext cx="304800" cy="304800"/>
          </a:xfrm>
          <a:prstGeom prst="rect">
            <a:avLst/>
          </a:prstGeom>
          <a:noFill/>
          <a:ln w="254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5952064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457200" y="1143000"/>
            <a:ext cx="11277599" cy="12954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smtClean="0"/>
              <a:t>从旧图构造新图</a:t>
            </a:r>
            <a:endParaRPr lang="en-US" dirty="0"/>
          </a:p>
        </p:txBody>
      </p:sp>
      <p:sp>
        <p:nvSpPr>
          <p:cNvPr id="3" name="Content Placeholder 2"/>
          <p:cNvSpPr>
            <a:spLocks noGrp="1"/>
          </p:cNvSpPr>
          <p:nvPr>
            <p:ph idx="1"/>
          </p:nvPr>
        </p:nvSpPr>
        <p:spPr/>
        <p:txBody>
          <a:bodyPr>
            <a:normAutofit/>
          </a:bodyPr>
          <a:lstStyle/>
          <a:p>
            <a:r>
              <a:rPr lang="zh-CN" altLang="en-US" dirty="0" smtClean="0"/>
              <a:t>定义</a:t>
            </a:r>
            <a:r>
              <a:rPr lang="en-US" dirty="0" smtClean="0"/>
              <a:t>: </a:t>
            </a:r>
            <a:r>
              <a:rPr lang="zh-CN" altLang="en-US" dirty="0" smtClean="0"/>
              <a:t>令</a:t>
            </a:r>
            <a:r>
              <a:rPr lang="en-US" dirty="0" smtClean="0"/>
              <a:t>G=(V, E)</a:t>
            </a:r>
            <a:r>
              <a:rPr lang="zh-CN" altLang="en-US" dirty="0" smtClean="0"/>
              <a:t>是一个简单图</a:t>
            </a:r>
            <a:r>
              <a:rPr lang="en-US" altLang="zh-CN" dirty="0" smtClean="0"/>
              <a:t>, </a:t>
            </a:r>
            <a:r>
              <a:rPr lang="zh-CN" altLang="en-US" dirty="0" smtClean="0"/>
              <a:t>若</a:t>
            </a:r>
            <a:r>
              <a:rPr lang="en-US" altLang="zh-CN" dirty="0"/>
              <a:t>F</a:t>
            </a:r>
            <a:r>
              <a:rPr lang="zh-CN" altLang="en-US" dirty="0"/>
              <a:t>包含于</a:t>
            </a:r>
            <a:r>
              <a:rPr lang="en-US" altLang="zh-CN" dirty="0"/>
              <a:t>E</a:t>
            </a:r>
            <a:r>
              <a:rPr lang="zh-CN" altLang="en-US" dirty="0"/>
              <a:t>且</a:t>
            </a:r>
            <a:r>
              <a:rPr lang="en-US" altLang="zh-CN" dirty="0"/>
              <a:t>V=W</a:t>
            </a:r>
            <a:r>
              <a:rPr lang="en-US" altLang="zh-CN" dirty="0" smtClean="0"/>
              <a:t>, </a:t>
            </a:r>
            <a:r>
              <a:rPr lang="zh-CN" altLang="en-US" dirty="0" smtClean="0"/>
              <a:t>则图</a:t>
            </a:r>
            <a:r>
              <a:rPr lang="en-US" altLang="zh-CN" dirty="0"/>
              <a:t>H </a:t>
            </a:r>
            <a:r>
              <a:rPr lang="en-US" altLang="zh-CN" dirty="0" smtClean="0"/>
              <a:t>=(W, F)</a:t>
            </a:r>
            <a:r>
              <a:rPr lang="zh-CN" altLang="en-US" dirty="0" smtClean="0"/>
              <a:t>是</a:t>
            </a:r>
            <a:r>
              <a:rPr lang="en-US" altLang="zh-CN" dirty="0" smtClean="0"/>
              <a:t>G</a:t>
            </a:r>
            <a:r>
              <a:rPr lang="zh-CN" altLang="en-US" dirty="0" smtClean="0"/>
              <a:t>的</a:t>
            </a:r>
            <a:r>
              <a:rPr lang="zh-CN" altLang="en-US" b="1" dirty="0" smtClean="0">
                <a:solidFill>
                  <a:srgbClr val="C00000"/>
                </a:solidFill>
              </a:rPr>
              <a:t>生成子图</a:t>
            </a:r>
            <a:r>
              <a:rPr lang="en-US" altLang="zh-CN" dirty="0" smtClean="0"/>
              <a:t>.</a:t>
            </a:r>
            <a:endParaRPr lang="en-US" dirty="0" smtClean="0"/>
          </a:p>
          <a:p>
            <a:r>
              <a:rPr lang="zh-CN" altLang="en-US" dirty="0" smtClean="0"/>
              <a:t>例</a:t>
            </a:r>
            <a:r>
              <a:rPr lang="en-US" altLang="zh-CN" dirty="0" smtClean="0"/>
              <a:t>: </a:t>
            </a:r>
            <a:endParaRPr lang="en-US" dirty="0" smtClean="0"/>
          </a:p>
          <a:p>
            <a:endParaRPr lang="en-US" dirty="0" smtClean="0"/>
          </a:p>
          <a:p>
            <a:pPr marL="0" indent="0">
              <a:buNone/>
            </a:pPr>
            <a:endParaRPr lang="en-US" dirty="0" smtClean="0"/>
          </a:p>
        </p:txBody>
      </p:sp>
      <p:sp>
        <p:nvSpPr>
          <p:cNvPr id="9" name="日期占位符 8"/>
          <p:cNvSpPr>
            <a:spLocks noGrp="1"/>
          </p:cNvSpPr>
          <p:nvPr>
            <p:ph type="dt" sz="half" idx="10"/>
          </p:nvPr>
        </p:nvSpPr>
        <p:spPr/>
        <p:txBody>
          <a:bodyPr/>
          <a:lstStyle/>
          <a:p>
            <a:fld id="{3EDF2E35-6548-4350-AF23-B74E77E2032E}" type="datetime1">
              <a:rPr lang="zh-CN" altLang="en-US" smtClean="0"/>
              <a:t>2025/4/15</a:t>
            </a:fld>
            <a:endParaRPr lang="zh-CN" altLang="en-US" dirty="0"/>
          </a:p>
        </p:txBody>
      </p:sp>
      <p:sp>
        <p:nvSpPr>
          <p:cNvPr id="10" name="页脚占位符 9"/>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11" name="灯片编号占位符 10"/>
          <p:cNvSpPr>
            <a:spLocks noGrp="1"/>
          </p:cNvSpPr>
          <p:nvPr>
            <p:ph type="sldNum" sz="quarter" idx="12"/>
          </p:nvPr>
        </p:nvSpPr>
        <p:spPr/>
        <p:txBody>
          <a:bodyPr/>
          <a:lstStyle/>
          <a:p>
            <a:fld id="{67913A8A-9EFB-4B5F-9CCB-3D21173FAA85}" type="slidenum">
              <a:rPr lang="zh-CN" altLang="en-US" smtClean="0"/>
              <a:pPr/>
              <a:t>59</a:t>
            </a:fld>
            <a:endParaRPr lang="zh-CN" altLang="en-US" dirty="0"/>
          </a:p>
        </p:txBody>
      </p:sp>
      <p:pic>
        <p:nvPicPr>
          <p:cNvPr id="4" name="图片 3"/>
          <p:cNvPicPr>
            <a:picLocks noChangeAspect="1"/>
          </p:cNvPicPr>
          <p:nvPr/>
        </p:nvPicPr>
        <p:blipFill>
          <a:blip r:embed="rId2"/>
          <a:stretch>
            <a:fillRect/>
          </a:stretch>
        </p:blipFill>
        <p:spPr>
          <a:xfrm>
            <a:off x="2362200" y="2508126"/>
            <a:ext cx="2895600" cy="2965094"/>
          </a:xfrm>
          <a:prstGeom prst="rect">
            <a:avLst/>
          </a:prstGeom>
        </p:spPr>
      </p:pic>
      <p:pic>
        <p:nvPicPr>
          <p:cNvPr id="5" name="图片 4"/>
          <p:cNvPicPr>
            <a:picLocks noChangeAspect="1"/>
          </p:cNvPicPr>
          <p:nvPr/>
        </p:nvPicPr>
        <p:blipFill>
          <a:blip r:embed="rId3"/>
          <a:stretch>
            <a:fillRect/>
          </a:stretch>
        </p:blipFill>
        <p:spPr>
          <a:xfrm>
            <a:off x="6400800" y="2676740"/>
            <a:ext cx="2819400" cy="2796480"/>
          </a:xfrm>
          <a:prstGeom prst="rect">
            <a:avLst/>
          </a:prstGeom>
        </p:spPr>
      </p:pic>
      <p:sp>
        <p:nvSpPr>
          <p:cNvPr id="8" name="文本框 7"/>
          <p:cNvSpPr txBox="1"/>
          <p:nvPr/>
        </p:nvSpPr>
        <p:spPr>
          <a:xfrm>
            <a:off x="2971800" y="4898315"/>
            <a:ext cx="1828800" cy="954107"/>
          </a:xfrm>
          <a:prstGeom prst="rect">
            <a:avLst/>
          </a:prstGeom>
          <a:noFill/>
        </p:spPr>
        <p:txBody>
          <a:bodyPr wrap="square" rtlCol="0">
            <a:spAutoFit/>
          </a:bodyPr>
          <a:lstStyle/>
          <a:p>
            <a:r>
              <a:rPr lang="en-US" altLang="zh-CN" dirty="0" smtClean="0"/>
              <a:t>          </a:t>
            </a:r>
            <a:r>
              <a:rPr lang="en-US" altLang="zh-CN" sz="2800" dirty="0" smtClean="0">
                <a:latin typeface="微软雅黑" panose="020B0503020204020204" pitchFamily="34" charset="-122"/>
                <a:ea typeface="微软雅黑" panose="020B0503020204020204" pitchFamily="34" charset="-122"/>
              </a:rPr>
              <a:t>G </a:t>
            </a:r>
            <a:r>
              <a:rPr lang="zh-CN" altLang="en-US" sz="2800" dirty="0" smtClean="0">
                <a:latin typeface="微软雅黑" panose="020B0503020204020204" pitchFamily="34" charset="-122"/>
                <a:ea typeface="微软雅黑" panose="020B0503020204020204" pitchFamily="34" charset="-122"/>
              </a:rPr>
              <a:t>（母图）</a:t>
            </a:r>
            <a:endParaRPr lang="zh-CN" altLang="en-US" sz="2800" dirty="0">
              <a:latin typeface="微软雅黑" panose="020B0503020204020204" pitchFamily="34" charset="-122"/>
              <a:ea typeface="微软雅黑" panose="020B0503020204020204" pitchFamily="34" charset="-122"/>
            </a:endParaRPr>
          </a:p>
        </p:txBody>
      </p:sp>
      <p:sp>
        <p:nvSpPr>
          <p:cNvPr id="13" name="文本框 12"/>
          <p:cNvSpPr txBox="1"/>
          <p:nvPr/>
        </p:nvSpPr>
        <p:spPr>
          <a:xfrm>
            <a:off x="6800850" y="4932417"/>
            <a:ext cx="2019300" cy="954107"/>
          </a:xfrm>
          <a:prstGeom prst="rect">
            <a:avLst/>
          </a:prstGeom>
          <a:noFill/>
        </p:spPr>
        <p:txBody>
          <a:bodyPr wrap="square" rtlCol="0">
            <a:spAutoFit/>
          </a:bodyPr>
          <a:lstStyle/>
          <a:p>
            <a:r>
              <a:rPr lang="en-US" altLang="zh-CN" dirty="0" smtClean="0"/>
              <a:t>             </a:t>
            </a:r>
            <a:r>
              <a:rPr lang="en-US" altLang="zh-CN" sz="2800" dirty="0" smtClean="0">
                <a:latin typeface="微软雅黑" panose="020B0503020204020204" pitchFamily="34" charset="-122"/>
                <a:ea typeface="微软雅黑" panose="020B0503020204020204" pitchFamily="34" charset="-122"/>
              </a:rPr>
              <a:t>H</a:t>
            </a:r>
          </a:p>
          <a:p>
            <a:r>
              <a:rPr lang="zh-CN" altLang="en-US" sz="2800" dirty="0" smtClean="0">
                <a:latin typeface="微软雅黑" panose="020B0503020204020204" pitchFamily="34" charset="-122"/>
                <a:ea typeface="微软雅黑" panose="020B0503020204020204" pitchFamily="34" charset="-122"/>
              </a:rPr>
              <a:t>（生成子图）</a:t>
            </a:r>
            <a:endParaRPr lang="zh-CN" altLang="en-US" sz="28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63417292"/>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457200" y="1143000"/>
            <a:ext cx="11277599" cy="12954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smtClean="0"/>
              <a:t>从旧图构造新图</a:t>
            </a:r>
            <a:endParaRPr lang="en-US" dirty="0"/>
          </a:p>
        </p:txBody>
      </p:sp>
      <p:sp>
        <p:nvSpPr>
          <p:cNvPr id="3" name="Content Placeholder 2"/>
          <p:cNvSpPr>
            <a:spLocks noGrp="1"/>
          </p:cNvSpPr>
          <p:nvPr>
            <p:ph idx="1"/>
          </p:nvPr>
        </p:nvSpPr>
        <p:spPr/>
        <p:txBody>
          <a:bodyPr>
            <a:normAutofit/>
          </a:bodyPr>
          <a:lstStyle/>
          <a:p>
            <a:r>
              <a:rPr lang="zh-CN" altLang="en-US" dirty="0" smtClean="0"/>
              <a:t>定义</a:t>
            </a:r>
            <a:r>
              <a:rPr lang="en-US" dirty="0" smtClean="0"/>
              <a:t>: </a:t>
            </a:r>
            <a:r>
              <a:rPr lang="zh-CN" altLang="en-US" dirty="0" smtClean="0"/>
              <a:t>令</a:t>
            </a:r>
            <a:r>
              <a:rPr lang="en-US" dirty="0" smtClean="0"/>
              <a:t>G1=(V, E)</a:t>
            </a:r>
            <a:r>
              <a:rPr lang="zh-CN" altLang="en-US" dirty="0" smtClean="0"/>
              <a:t>是一个简单图</a:t>
            </a:r>
            <a:r>
              <a:rPr lang="en-US" altLang="zh-CN" dirty="0" smtClean="0"/>
              <a:t>, G2</a:t>
            </a:r>
            <a:r>
              <a:rPr lang="zh-CN" altLang="en-US" dirty="0" smtClean="0"/>
              <a:t>（</a:t>
            </a:r>
            <a:r>
              <a:rPr lang="en-US" altLang="zh-CN" dirty="0" smtClean="0"/>
              <a:t>V</a:t>
            </a:r>
            <a:r>
              <a:rPr lang="zh-CN" altLang="en-US" dirty="0" smtClean="0"/>
              <a:t>，</a:t>
            </a:r>
            <a:r>
              <a:rPr lang="en-US" altLang="zh-CN" dirty="0" smtClean="0"/>
              <a:t>F</a:t>
            </a:r>
            <a:r>
              <a:rPr lang="zh-CN" altLang="en-US" dirty="0" smtClean="0"/>
              <a:t>）是一个完全图，则称</a:t>
            </a:r>
            <a:r>
              <a:rPr lang="en-US" altLang="zh-CN" dirty="0" smtClean="0"/>
              <a:t>G3</a:t>
            </a:r>
            <a:r>
              <a:rPr lang="zh-CN" altLang="en-US" dirty="0" smtClean="0"/>
              <a:t>（</a:t>
            </a:r>
            <a:r>
              <a:rPr lang="en-US" altLang="zh-CN" dirty="0" smtClean="0"/>
              <a:t>V</a:t>
            </a:r>
            <a:r>
              <a:rPr lang="zh-CN" altLang="en-US" dirty="0" smtClean="0"/>
              <a:t>，</a:t>
            </a:r>
            <a:r>
              <a:rPr lang="en-US" altLang="zh-CN" dirty="0" smtClean="0"/>
              <a:t>F-E</a:t>
            </a:r>
            <a:r>
              <a:rPr lang="zh-CN" altLang="en-US" dirty="0" smtClean="0"/>
              <a:t>）是</a:t>
            </a:r>
            <a:r>
              <a:rPr lang="en-US" altLang="zh-CN" b="1" dirty="0" smtClean="0">
                <a:solidFill>
                  <a:srgbClr val="C00000"/>
                </a:solidFill>
              </a:rPr>
              <a:t>G1</a:t>
            </a:r>
            <a:r>
              <a:rPr lang="zh-CN" altLang="en-US" b="1" dirty="0" smtClean="0">
                <a:solidFill>
                  <a:srgbClr val="C00000"/>
                </a:solidFill>
              </a:rPr>
              <a:t>的补图，记为</a:t>
            </a:r>
            <a:endParaRPr lang="en-US" altLang="zh-CN" dirty="0" smtClean="0"/>
          </a:p>
          <a:p>
            <a:endParaRPr lang="en-US" dirty="0" smtClean="0"/>
          </a:p>
          <a:p>
            <a:pPr marL="0" indent="0">
              <a:buNone/>
            </a:pPr>
            <a:endParaRPr lang="en-US" dirty="0" smtClean="0"/>
          </a:p>
        </p:txBody>
      </p:sp>
      <p:sp>
        <p:nvSpPr>
          <p:cNvPr id="9" name="日期占位符 8"/>
          <p:cNvSpPr>
            <a:spLocks noGrp="1"/>
          </p:cNvSpPr>
          <p:nvPr>
            <p:ph type="dt" sz="half" idx="10"/>
          </p:nvPr>
        </p:nvSpPr>
        <p:spPr/>
        <p:txBody>
          <a:bodyPr/>
          <a:lstStyle/>
          <a:p>
            <a:fld id="{3EDF2E35-6548-4350-AF23-B74E77E2032E}" type="datetime1">
              <a:rPr lang="zh-CN" altLang="en-US" smtClean="0"/>
              <a:t>2025/4/15</a:t>
            </a:fld>
            <a:endParaRPr lang="zh-CN" altLang="en-US" dirty="0"/>
          </a:p>
        </p:txBody>
      </p:sp>
      <p:sp>
        <p:nvSpPr>
          <p:cNvPr id="10" name="页脚占位符 9"/>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11" name="灯片编号占位符 10"/>
          <p:cNvSpPr>
            <a:spLocks noGrp="1"/>
          </p:cNvSpPr>
          <p:nvPr>
            <p:ph type="sldNum" sz="quarter" idx="12"/>
          </p:nvPr>
        </p:nvSpPr>
        <p:spPr/>
        <p:txBody>
          <a:bodyPr/>
          <a:lstStyle/>
          <a:p>
            <a:fld id="{67913A8A-9EFB-4B5F-9CCB-3D21173FAA85}" type="slidenum">
              <a:rPr lang="zh-CN" altLang="en-US" smtClean="0"/>
              <a:pPr/>
              <a:t>60</a:t>
            </a:fld>
            <a:endParaRPr lang="zh-CN" altLang="en-US" dirty="0"/>
          </a:p>
        </p:txBody>
      </p:sp>
      <p:graphicFrame>
        <p:nvGraphicFramePr>
          <p:cNvPr id="6" name="对象 5"/>
          <p:cNvGraphicFramePr>
            <a:graphicFrameLocks noChangeAspect="1"/>
          </p:cNvGraphicFramePr>
          <p:nvPr>
            <p:extLst>
              <p:ext uri="{D42A27DB-BD31-4B8C-83A1-F6EECF244321}">
                <p14:modId xmlns:p14="http://schemas.microsoft.com/office/powerpoint/2010/main" val="1851131969"/>
              </p:ext>
            </p:extLst>
          </p:nvPr>
        </p:nvGraphicFramePr>
        <p:xfrm>
          <a:off x="6248400" y="1419105"/>
          <a:ext cx="496888" cy="644525"/>
        </p:xfrm>
        <a:graphic>
          <a:graphicData uri="http://schemas.openxmlformats.org/presentationml/2006/ole">
            <mc:AlternateContent xmlns:mc="http://schemas.openxmlformats.org/markup-compatibility/2006">
              <mc:Choice xmlns:v="urn:schemas-microsoft-com:vml" Requires="v">
                <p:oleObj spid="_x0000_s1157" name="Equation" r:id="rId3" imgW="215640" imgH="279360" progId="Equation.DSMT4">
                  <p:embed/>
                </p:oleObj>
              </mc:Choice>
              <mc:Fallback>
                <p:oleObj name="Equation" r:id="rId3" imgW="215640" imgH="279360" progId="Equation.DSMT4">
                  <p:embed/>
                  <p:pic>
                    <p:nvPicPr>
                      <p:cNvPr id="0" name=""/>
                      <p:cNvPicPr/>
                      <p:nvPr/>
                    </p:nvPicPr>
                    <p:blipFill>
                      <a:blip r:embed="rId4"/>
                      <a:stretch>
                        <a:fillRect/>
                      </a:stretch>
                    </p:blipFill>
                    <p:spPr>
                      <a:xfrm>
                        <a:off x="6248400" y="1419105"/>
                        <a:ext cx="496888" cy="644525"/>
                      </a:xfrm>
                      <a:prstGeom prst="rect">
                        <a:avLst/>
                      </a:prstGeom>
                    </p:spPr>
                  </p:pic>
                </p:oleObj>
              </mc:Fallback>
            </mc:AlternateContent>
          </a:graphicData>
        </a:graphic>
      </p:graphicFrame>
      <p:pic>
        <p:nvPicPr>
          <p:cNvPr id="7" name="图片 6"/>
          <p:cNvPicPr>
            <a:picLocks noChangeAspect="1"/>
          </p:cNvPicPr>
          <p:nvPr/>
        </p:nvPicPr>
        <p:blipFill>
          <a:blip r:embed="rId5"/>
          <a:stretch>
            <a:fillRect/>
          </a:stretch>
        </p:blipFill>
        <p:spPr>
          <a:xfrm>
            <a:off x="1524000" y="2895600"/>
            <a:ext cx="8923242" cy="1859408"/>
          </a:xfrm>
          <a:prstGeom prst="rect">
            <a:avLst/>
          </a:prstGeom>
        </p:spPr>
      </p:pic>
    </p:spTree>
    <p:extLst>
      <p:ext uri="{BB962C8B-B14F-4D97-AF65-F5344CB8AC3E}">
        <p14:creationId xmlns:p14="http://schemas.microsoft.com/office/powerpoint/2010/main" val="2022533767"/>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457200" y="1142999"/>
            <a:ext cx="11277599" cy="2323531"/>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smtClean="0"/>
              <a:t>从旧图构造新图</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b="1" dirty="0" smtClean="0">
                    <a:solidFill>
                      <a:srgbClr val="C00000"/>
                    </a:solidFill>
                  </a:rPr>
                  <a:t>删除图中的边</a:t>
                </a:r>
                <a:r>
                  <a:rPr lang="en-US" altLang="zh-CN" dirty="0" smtClean="0"/>
                  <a:t>: </a:t>
                </a:r>
                <a:r>
                  <a:rPr lang="zh-CN" altLang="en-US" dirty="0" smtClean="0"/>
                  <a:t>已知图</a:t>
                </a:r>
                <a:r>
                  <a:rPr lang="en-US" dirty="0" smtClean="0"/>
                  <a:t>G=(V, E), </a:t>
                </a:r>
                <a:r>
                  <a:rPr lang="zh-CN" altLang="en-US" dirty="0" smtClean="0"/>
                  <a:t>边</a:t>
                </a:r>
                <a:r>
                  <a:rPr lang="en-US" altLang="zh-CN" dirty="0" smtClean="0"/>
                  <a:t>e</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𝐸</m:t>
                    </m:r>
                    <m:r>
                      <a:rPr lang="en-US" altLang="zh-CN" b="0" i="1" smtClean="0">
                        <a:latin typeface="Cambria Math" panose="02040503050406030204" pitchFamily="18" charset="0"/>
                        <a:ea typeface="Cambria Math" panose="02040503050406030204" pitchFamily="18" charset="0"/>
                      </a:rPr>
                      <m:t>. </m:t>
                    </m:r>
                  </m:oMath>
                </a14:m>
                <a:r>
                  <a:rPr lang="zh-CN" altLang="en-US" dirty="0" smtClean="0"/>
                  <a:t>通过删除</a:t>
                </a:r>
                <a:r>
                  <a:rPr lang="en-US" altLang="zh-CN" dirty="0" smtClean="0"/>
                  <a:t>e</a:t>
                </a:r>
                <a:r>
                  <a:rPr lang="zh-CN" altLang="en-US" dirty="0" smtClean="0"/>
                  <a:t>得到图</a:t>
                </a:r>
                <a:r>
                  <a:rPr lang="en-US" altLang="zh-CN" dirty="0" smtClean="0"/>
                  <a:t>G</a:t>
                </a:r>
                <a:r>
                  <a:rPr lang="zh-CN" altLang="en-US" dirty="0" smtClean="0"/>
                  <a:t>的一个子图</a:t>
                </a:r>
                <a:r>
                  <a:rPr lang="en-US" altLang="zh-CN" dirty="0" smtClean="0"/>
                  <a:t>. </a:t>
                </a:r>
                <a:r>
                  <a:rPr lang="zh-CN" altLang="en-US" dirty="0" smtClean="0"/>
                  <a:t>所得到的子图记作</a:t>
                </a:r>
                <a:r>
                  <a:rPr lang="en-US" altLang="zh-CN" dirty="0" smtClean="0"/>
                  <a:t>G-e, </a:t>
                </a:r>
                <a:r>
                  <a:rPr lang="zh-CN" altLang="en-US" dirty="0" smtClean="0"/>
                  <a:t>它和图</a:t>
                </a:r>
                <a:r>
                  <a:rPr lang="en-US" altLang="zh-CN" dirty="0" smtClean="0"/>
                  <a:t>G</a:t>
                </a:r>
                <a:r>
                  <a:rPr lang="zh-CN" altLang="en-US" dirty="0" smtClean="0"/>
                  <a:t>具有相同的顶点集</a:t>
                </a:r>
                <a:r>
                  <a:rPr lang="en-US" altLang="zh-CN" dirty="0" smtClean="0"/>
                  <a:t>V, </a:t>
                </a:r>
                <a:r>
                  <a:rPr lang="zh-CN" altLang="en-US" dirty="0" smtClean="0"/>
                  <a:t>它的边集是</a:t>
                </a:r>
                <a:r>
                  <a:rPr lang="en-US" altLang="zh-CN" dirty="0" smtClean="0"/>
                  <a:t>E-{e}. </a:t>
                </a:r>
                <a:r>
                  <a:rPr lang="zh-CN" altLang="en-US" dirty="0" smtClean="0"/>
                  <a:t>所以</a:t>
                </a:r>
                <a:r>
                  <a:rPr lang="en-US" altLang="zh-CN" dirty="0" smtClean="0"/>
                  <a:t>G-e=(V,E-{e})</a:t>
                </a:r>
              </a:p>
              <a:p>
                <a:r>
                  <a:rPr lang="zh-CN" altLang="en-US" dirty="0"/>
                  <a:t>类似地</a:t>
                </a:r>
                <a:r>
                  <a:rPr lang="en-US" altLang="zh-CN" dirty="0"/>
                  <a:t>, </a:t>
                </a:r>
                <a:r>
                  <a:rPr lang="zh-CN" altLang="en-US" dirty="0"/>
                  <a:t>若</a:t>
                </a:r>
                <a14:m>
                  <m:oMath xmlns:m="http://schemas.openxmlformats.org/officeDocument/2006/math">
                    <m:sSup>
                      <m:sSupPr>
                        <m:ctrlPr>
                          <a:rPr lang="en-US" altLang="zh-CN" i="1">
                            <a:latin typeface="Cambria Math" panose="02040503050406030204" pitchFamily="18" charset="0"/>
                          </a:rPr>
                        </m:ctrlPr>
                      </m:sSupPr>
                      <m:e>
                        <m:r>
                          <m:rPr>
                            <m:sty m:val="p"/>
                          </m:rPr>
                          <a:rPr lang="en-US" altLang="zh-CN" i="1">
                            <a:latin typeface="Cambria Math" panose="02040503050406030204" pitchFamily="18" charset="0"/>
                          </a:rPr>
                          <m:t>E</m:t>
                        </m:r>
                      </m:e>
                      <m:sup>
                        <m:r>
                          <a:rPr lang="en-US" altLang="zh-CN" i="1">
                            <a:latin typeface="Cambria Math" panose="02040503050406030204" pitchFamily="18" charset="0"/>
                          </a:rPr>
                          <m:t>′</m:t>
                        </m:r>
                      </m:sup>
                    </m:sSup>
                    <m:r>
                      <a:rPr lang="zh-CN" altLang="en-US" i="1">
                        <a:latin typeface="Cambria Math" panose="02040503050406030204" pitchFamily="18" charset="0"/>
                      </a:rPr>
                      <m:t>是</m:t>
                    </m:r>
                  </m:oMath>
                </a14:m>
                <a:r>
                  <a:rPr lang="en-US" altLang="zh-CN" dirty="0"/>
                  <a:t>E</a:t>
                </a:r>
                <a:r>
                  <a:rPr lang="zh-CN" altLang="en-US" dirty="0"/>
                  <a:t>的子集</a:t>
                </a:r>
                <a:r>
                  <a:rPr lang="en-US" altLang="zh-CN" dirty="0"/>
                  <a:t>, </a:t>
                </a:r>
                <a:r>
                  <a:rPr lang="zh-CN" altLang="en-US" dirty="0"/>
                  <a:t>我们可以通过从图中删除</a:t>
                </a:r>
                <a14:m>
                  <m:oMath xmlns:m="http://schemas.openxmlformats.org/officeDocument/2006/math">
                    <m:sSup>
                      <m:sSupPr>
                        <m:ctrlPr>
                          <a:rPr lang="en-US" altLang="zh-CN" i="1">
                            <a:latin typeface="Cambria Math" panose="02040503050406030204" pitchFamily="18" charset="0"/>
                          </a:rPr>
                        </m:ctrlPr>
                      </m:sSupPr>
                      <m:e>
                        <m:r>
                          <m:rPr>
                            <m:sty m:val="p"/>
                          </m:rPr>
                          <a:rPr lang="en-US" altLang="zh-CN" i="1">
                            <a:latin typeface="Cambria Math" panose="02040503050406030204" pitchFamily="18" charset="0"/>
                          </a:rPr>
                          <m:t>E</m:t>
                        </m:r>
                      </m:e>
                      <m:sup>
                        <m:r>
                          <a:rPr lang="en-US" altLang="zh-CN" i="1">
                            <a:latin typeface="Cambria Math" panose="02040503050406030204" pitchFamily="18" charset="0"/>
                          </a:rPr>
                          <m:t>′</m:t>
                        </m:r>
                      </m:sup>
                    </m:sSup>
                  </m:oMath>
                </a14:m>
                <a:r>
                  <a:rPr lang="zh-CN" altLang="en-US" dirty="0"/>
                  <a:t>中的边得到图</a:t>
                </a:r>
                <a:r>
                  <a:rPr lang="en-US" altLang="zh-CN" dirty="0"/>
                  <a:t>G</a:t>
                </a:r>
                <a:r>
                  <a:rPr lang="zh-CN" altLang="en-US" dirty="0"/>
                  <a:t>的子图</a:t>
                </a:r>
                <a:r>
                  <a:rPr lang="en-US" altLang="zh-CN" dirty="0"/>
                  <a:t>. </a:t>
                </a:r>
                <a:r>
                  <a:rPr lang="zh-CN" altLang="en-US" dirty="0"/>
                  <a:t>所得到的子图和图</a:t>
                </a:r>
                <a:r>
                  <a:rPr lang="en-US" altLang="zh-CN" dirty="0"/>
                  <a:t>G</a:t>
                </a:r>
                <a:r>
                  <a:rPr lang="zh-CN" altLang="en-US" dirty="0"/>
                  <a:t>具有相同的顶点集</a:t>
                </a:r>
                <a:r>
                  <a:rPr lang="en-US" altLang="zh-CN" dirty="0"/>
                  <a:t>V, </a:t>
                </a:r>
                <a:r>
                  <a:rPr lang="zh-CN" altLang="en-US" dirty="0"/>
                  <a:t>它的边集是</a:t>
                </a:r>
                <a:r>
                  <a:rPr lang="en-US" altLang="zh-CN" dirty="0"/>
                  <a:t>E-</a:t>
                </a:r>
                <a14:m>
                  <m:oMath xmlns:m="http://schemas.openxmlformats.org/officeDocument/2006/math">
                    <m:sSup>
                      <m:sSupPr>
                        <m:ctrlPr>
                          <a:rPr lang="en-US" altLang="zh-CN" i="1">
                            <a:latin typeface="Cambria Math" panose="02040503050406030204" pitchFamily="18" charset="0"/>
                          </a:rPr>
                        </m:ctrlPr>
                      </m:sSupPr>
                      <m:e>
                        <m:r>
                          <m:rPr>
                            <m:sty m:val="p"/>
                          </m:rPr>
                          <a:rPr lang="en-US" altLang="zh-CN" i="1">
                            <a:latin typeface="Cambria Math" panose="02040503050406030204" pitchFamily="18" charset="0"/>
                          </a:rPr>
                          <m:t>E</m:t>
                        </m:r>
                      </m:e>
                      <m:sup>
                        <m:r>
                          <a:rPr lang="en-US" altLang="zh-CN" i="1">
                            <a:latin typeface="Cambria Math" panose="02040503050406030204" pitchFamily="18" charset="0"/>
                          </a:rPr>
                          <m:t>′</m:t>
                        </m:r>
                      </m:sup>
                    </m:sSup>
                  </m:oMath>
                </a14:m>
                <a:r>
                  <a:rPr lang="en-US" altLang="zh-CN" dirty="0"/>
                  <a:t>.</a:t>
                </a:r>
              </a:p>
              <a:p>
                <a:r>
                  <a:rPr lang="zh-CN" altLang="en-US" dirty="0" smtClean="0"/>
                  <a:t>例</a:t>
                </a:r>
                <a:r>
                  <a:rPr lang="en-US" altLang="zh-CN" dirty="0" smtClean="0"/>
                  <a:t>: </a:t>
                </a:r>
                <a:r>
                  <a:rPr lang="zh-CN" altLang="en-US" dirty="0" smtClean="0"/>
                  <a:t>如图</a:t>
                </a:r>
                <a:r>
                  <a:rPr lang="en-US" altLang="zh-CN" dirty="0" smtClean="0"/>
                  <a:t>G1, </a:t>
                </a:r>
                <a:r>
                  <a:rPr lang="zh-CN" altLang="en-US" dirty="0" smtClean="0"/>
                  <a:t>我们通过删除以</a:t>
                </a:r>
                <a:r>
                  <a:rPr lang="en-US" altLang="zh-CN" dirty="0" smtClean="0"/>
                  <a:t>e</a:t>
                </a:r>
                <a:r>
                  <a:rPr lang="zh-CN" altLang="en-US" dirty="0" smtClean="0"/>
                  <a:t>和</a:t>
                </a:r>
                <a:r>
                  <a:rPr lang="en-US" altLang="zh-CN" dirty="0" smtClean="0"/>
                  <a:t>c</a:t>
                </a:r>
                <a:r>
                  <a:rPr lang="zh-CN" altLang="en-US" dirty="0" smtClean="0"/>
                  <a:t>作为端点的那条边得到图</a:t>
                </a:r>
                <a:r>
                  <a:rPr lang="en-US" altLang="zh-CN" dirty="0" smtClean="0"/>
                  <a:t>G2</a:t>
                </a:r>
                <a:r>
                  <a:rPr lang="en-US" dirty="0" smtClean="0"/>
                  <a:t>.</a:t>
                </a:r>
              </a:p>
              <a:p>
                <a:endParaRPr lang="en-US" dirty="0" smtClean="0"/>
              </a:p>
              <a:p>
                <a:endParaRPr lang="en-US" dirty="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310"/>
                </a:stretch>
              </a:blipFill>
            </p:spPr>
            <p:txBody>
              <a:bodyPr/>
              <a:lstStyle/>
              <a:p>
                <a:r>
                  <a:rPr lang="zh-CN" altLang="en-US">
                    <a:noFill/>
                  </a:rPr>
                  <a:t> </a:t>
                </a:r>
              </a:p>
            </p:txBody>
          </p:sp>
        </mc:Fallback>
      </mc:AlternateContent>
      <p:sp>
        <p:nvSpPr>
          <p:cNvPr id="9" name="日期占位符 8"/>
          <p:cNvSpPr>
            <a:spLocks noGrp="1"/>
          </p:cNvSpPr>
          <p:nvPr>
            <p:ph type="dt" sz="half" idx="10"/>
          </p:nvPr>
        </p:nvSpPr>
        <p:spPr/>
        <p:txBody>
          <a:bodyPr/>
          <a:lstStyle/>
          <a:p>
            <a:fld id="{9DEEB2CC-E080-4E38-BACF-2BA14E2861CE}" type="datetime1">
              <a:rPr lang="zh-CN" altLang="en-US" smtClean="0"/>
              <a:t>2025/4/15</a:t>
            </a:fld>
            <a:endParaRPr lang="zh-CN" altLang="en-US" dirty="0"/>
          </a:p>
        </p:txBody>
      </p:sp>
      <p:sp>
        <p:nvSpPr>
          <p:cNvPr id="10" name="页脚占位符 9"/>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11" name="灯片编号占位符 10"/>
          <p:cNvSpPr>
            <a:spLocks noGrp="1"/>
          </p:cNvSpPr>
          <p:nvPr>
            <p:ph type="sldNum" sz="quarter" idx="12"/>
          </p:nvPr>
        </p:nvSpPr>
        <p:spPr/>
        <p:txBody>
          <a:bodyPr/>
          <a:lstStyle/>
          <a:p>
            <a:fld id="{67913A8A-9EFB-4B5F-9CCB-3D21173FAA85}" type="slidenum">
              <a:rPr lang="zh-CN" altLang="en-US" smtClean="0"/>
              <a:pPr/>
              <a:t>61</a:t>
            </a:fld>
            <a:endParaRPr lang="zh-CN" altLang="en-US" dirty="0"/>
          </a:p>
        </p:txBody>
      </p:sp>
      <p:pic>
        <p:nvPicPr>
          <p:cNvPr id="5" name="图片 4"/>
          <p:cNvPicPr>
            <a:picLocks noChangeAspect="1"/>
          </p:cNvPicPr>
          <p:nvPr/>
        </p:nvPicPr>
        <p:blipFill>
          <a:blip r:embed="rId3"/>
          <a:stretch>
            <a:fillRect/>
          </a:stretch>
        </p:blipFill>
        <p:spPr>
          <a:xfrm>
            <a:off x="3733800" y="3913287"/>
            <a:ext cx="5035550" cy="2501900"/>
          </a:xfrm>
          <a:prstGeom prst="rect">
            <a:avLst/>
          </a:prstGeom>
        </p:spPr>
      </p:pic>
    </p:spTree>
    <p:extLst>
      <p:ext uri="{BB962C8B-B14F-4D97-AF65-F5344CB8AC3E}">
        <p14:creationId xmlns:p14="http://schemas.microsoft.com/office/powerpoint/2010/main" val="458474742"/>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457200" y="1143000"/>
            <a:ext cx="11277599" cy="17526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smtClean="0"/>
              <a:t>从旧图构造新图</a:t>
            </a:r>
            <a:endParaRPr lang="en-US" dirty="0"/>
          </a:p>
        </p:txBody>
      </p:sp>
      <p:sp>
        <p:nvSpPr>
          <p:cNvPr id="3" name="Content Placeholder 2"/>
          <p:cNvSpPr>
            <a:spLocks noGrp="1"/>
          </p:cNvSpPr>
          <p:nvPr>
            <p:ph idx="1"/>
          </p:nvPr>
        </p:nvSpPr>
        <p:spPr/>
        <p:txBody>
          <a:bodyPr>
            <a:normAutofit/>
          </a:bodyPr>
          <a:lstStyle/>
          <a:p>
            <a:r>
              <a:rPr lang="zh-CN" altLang="en-US" b="1" dirty="0" smtClean="0">
                <a:solidFill>
                  <a:srgbClr val="C00000"/>
                </a:solidFill>
              </a:rPr>
              <a:t>增加图中的边</a:t>
            </a:r>
            <a:r>
              <a:rPr lang="zh-CN" altLang="en-US" dirty="0" smtClean="0"/>
              <a:t>：已知</a:t>
            </a:r>
            <a:r>
              <a:rPr lang="zh-CN" altLang="en-US" dirty="0"/>
              <a:t>图</a:t>
            </a:r>
            <a:r>
              <a:rPr lang="en-US" altLang="zh-CN" dirty="0"/>
              <a:t>G=(V, E</a:t>
            </a:r>
            <a:r>
              <a:rPr lang="en-US" altLang="zh-CN" dirty="0" smtClean="0"/>
              <a:t>), </a:t>
            </a:r>
            <a:r>
              <a:rPr lang="zh-CN" altLang="en-US" dirty="0" smtClean="0"/>
              <a:t>我们可以通过在图中增加一条连接图</a:t>
            </a:r>
            <a:r>
              <a:rPr lang="en-US" altLang="zh-CN" dirty="0" smtClean="0"/>
              <a:t>G</a:t>
            </a:r>
            <a:r>
              <a:rPr lang="zh-CN" altLang="en-US" dirty="0" smtClean="0"/>
              <a:t>中已有顶点的边</a:t>
            </a:r>
            <a:r>
              <a:rPr lang="en-US" altLang="zh-CN" dirty="0" smtClean="0"/>
              <a:t>e</a:t>
            </a:r>
            <a:r>
              <a:rPr lang="zh-CN" altLang="en-US" dirty="0" smtClean="0"/>
              <a:t>得到一个新的更大的图</a:t>
            </a:r>
            <a:r>
              <a:rPr lang="en-US" altLang="zh-CN" dirty="0" smtClean="0"/>
              <a:t>. </a:t>
            </a:r>
            <a:r>
              <a:rPr lang="zh-CN" altLang="en-US" dirty="0" smtClean="0"/>
              <a:t>我们把图</a:t>
            </a:r>
            <a:r>
              <a:rPr lang="en-US" altLang="zh-CN" dirty="0" smtClean="0"/>
              <a:t>G</a:t>
            </a:r>
            <a:r>
              <a:rPr lang="zh-CN" altLang="en-US" dirty="0" smtClean="0"/>
              <a:t>中增加一条新边</a:t>
            </a:r>
            <a:r>
              <a:rPr lang="en-US" altLang="zh-CN" dirty="0" smtClean="0"/>
              <a:t>e</a:t>
            </a:r>
            <a:r>
              <a:rPr lang="zh-CN" altLang="en-US" dirty="0" smtClean="0"/>
              <a:t>，该边连接图</a:t>
            </a:r>
            <a:r>
              <a:rPr lang="en-US" altLang="zh-CN" dirty="0" smtClean="0"/>
              <a:t>G</a:t>
            </a:r>
            <a:r>
              <a:rPr lang="zh-CN" altLang="en-US" dirty="0" smtClean="0"/>
              <a:t>中两个原本不相关联的顶点</a:t>
            </a:r>
            <a:r>
              <a:rPr lang="en-US" altLang="zh-CN" dirty="0" smtClean="0"/>
              <a:t>, </a:t>
            </a:r>
            <a:r>
              <a:rPr lang="zh-CN" altLang="en-US" dirty="0" smtClean="0"/>
              <a:t>所得到的新图记作</a:t>
            </a:r>
            <a:r>
              <a:rPr lang="en-US" altLang="zh-CN" dirty="0" err="1" smtClean="0"/>
              <a:t>G+e</a:t>
            </a:r>
            <a:r>
              <a:rPr lang="en-US" altLang="zh-CN" dirty="0" smtClean="0"/>
              <a:t>. </a:t>
            </a:r>
            <a:r>
              <a:rPr lang="zh-CN" altLang="en-US" dirty="0" smtClean="0"/>
              <a:t>所以</a:t>
            </a:r>
            <a:r>
              <a:rPr lang="en-US" altLang="zh-CN" dirty="0" err="1" smtClean="0"/>
              <a:t>G+e</a:t>
            </a:r>
            <a:r>
              <a:rPr lang="en-US" altLang="zh-CN" dirty="0" smtClean="0"/>
              <a:t>=(V, E+{e})</a:t>
            </a:r>
            <a:endParaRPr lang="en-US" altLang="zh-CN" dirty="0"/>
          </a:p>
          <a:p>
            <a:endParaRPr lang="en-US" altLang="zh-CN" dirty="0" smtClean="0"/>
          </a:p>
          <a:p>
            <a:r>
              <a:rPr lang="zh-CN" altLang="en-US" dirty="0" smtClean="0"/>
              <a:t>例</a:t>
            </a:r>
            <a:r>
              <a:rPr lang="en-US" altLang="zh-CN" dirty="0" smtClean="0"/>
              <a:t>: </a:t>
            </a:r>
            <a:r>
              <a:rPr lang="zh-CN" altLang="en-US" dirty="0" smtClean="0"/>
              <a:t>如图</a:t>
            </a:r>
            <a:r>
              <a:rPr lang="en-US" altLang="zh-CN" dirty="0" smtClean="0"/>
              <a:t>G1, </a:t>
            </a:r>
            <a:r>
              <a:rPr lang="zh-CN" altLang="en-US" dirty="0" smtClean="0"/>
              <a:t>我们通过增加以</a:t>
            </a:r>
            <a:r>
              <a:rPr lang="en-US" altLang="zh-CN" dirty="0" smtClean="0"/>
              <a:t>a</a:t>
            </a:r>
            <a:r>
              <a:rPr lang="zh-CN" altLang="en-US" dirty="0" smtClean="0"/>
              <a:t>和</a:t>
            </a:r>
            <a:r>
              <a:rPr lang="en-US" altLang="zh-CN" dirty="0" smtClean="0"/>
              <a:t>e</a:t>
            </a:r>
            <a:r>
              <a:rPr lang="zh-CN" altLang="en-US" dirty="0" smtClean="0"/>
              <a:t>作为端点的那条新边得到图</a:t>
            </a:r>
            <a:r>
              <a:rPr lang="en-US" altLang="zh-CN" dirty="0" smtClean="0"/>
              <a:t>G2</a:t>
            </a:r>
            <a:r>
              <a:rPr lang="en-US" dirty="0" smtClean="0"/>
              <a:t>.</a:t>
            </a:r>
          </a:p>
          <a:p>
            <a:endParaRPr lang="en-US" dirty="0" smtClean="0"/>
          </a:p>
          <a:p>
            <a:endParaRPr lang="en-US" dirty="0" smtClean="0"/>
          </a:p>
        </p:txBody>
      </p:sp>
      <p:sp>
        <p:nvSpPr>
          <p:cNvPr id="9" name="日期占位符 8"/>
          <p:cNvSpPr>
            <a:spLocks noGrp="1"/>
          </p:cNvSpPr>
          <p:nvPr>
            <p:ph type="dt" sz="half" idx="10"/>
          </p:nvPr>
        </p:nvSpPr>
        <p:spPr/>
        <p:txBody>
          <a:bodyPr/>
          <a:lstStyle/>
          <a:p>
            <a:fld id="{9A994C93-988A-45D3-914F-C99DAD0B10A0}" type="datetime1">
              <a:rPr lang="zh-CN" altLang="en-US" smtClean="0"/>
              <a:t>2025/4/15</a:t>
            </a:fld>
            <a:endParaRPr lang="zh-CN" altLang="en-US" dirty="0"/>
          </a:p>
        </p:txBody>
      </p:sp>
      <p:sp>
        <p:nvSpPr>
          <p:cNvPr id="10" name="页脚占位符 9"/>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11" name="灯片编号占位符 10"/>
          <p:cNvSpPr>
            <a:spLocks noGrp="1"/>
          </p:cNvSpPr>
          <p:nvPr>
            <p:ph type="sldNum" sz="quarter" idx="12"/>
          </p:nvPr>
        </p:nvSpPr>
        <p:spPr/>
        <p:txBody>
          <a:bodyPr/>
          <a:lstStyle/>
          <a:p>
            <a:fld id="{67913A8A-9EFB-4B5F-9CCB-3D21173FAA85}" type="slidenum">
              <a:rPr lang="zh-CN" altLang="en-US" smtClean="0"/>
              <a:pPr/>
              <a:t>62</a:t>
            </a:fld>
            <a:endParaRPr lang="zh-CN" altLang="en-US" dirty="0"/>
          </a:p>
        </p:txBody>
      </p:sp>
      <p:pic>
        <p:nvPicPr>
          <p:cNvPr id="4" name="图片 3"/>
          <p:cNvPicPr>
            <a:picLocks noChangeAspect="1"/>
          </p:cNvPicPr>
          <p:nvPr/>
        </p:nvPicPr>
        <p:blipFill>
          <a:blip r:embed="rId2"/>
          <a:stretch>
            <a:fillRect/>
          </a:stretch>
        </p:blipFill>
        <p:spPr>
          <a:xfrm>
            <a:off x="3578224" y="3917868"/>
            <a:ext cx="5035550" cy="2501900"/>
          </a:xfrm>
          <a:prstGeom prst="rect">
            <a:avLst/>
          </a:prstGeom>
        </p:spPr>
      </p:pic>
    </p:spTree>
    <p:extLst>
      <p:ext uri="{BB962C8B-B14F-4D97-AF65-F5344CB8AC3E}">
        <p14:creationId xmlns:p14="http://schemas.microsoft.com/office/powerpoint/2010/main" val="1248292929"/>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457200" y="2133600"/>
            <a:ext cx="11277599" cy="25908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smtClean="0"/>
              <a:t>从旧图构造新图</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smtClean="0"/>
                  <a:t>有时</a:t>
                </a:r>
                <a:r>
                  <a:rPr lang="en-US" altLang="zh-CN" dirty="0" smtClean="0"/>
                  <a:t>,</a:t>
                </a:r>
                <a:r>
                  <a:rPr lang="zh-CN" altLang="en-US" dirty="0" smtClean="0"/>
                  <a:t>我们从图中删除某条边时</a:t>
                </a:r>
                <a:r>
                  <a:rPr lang="en-US" altLang="zh-CN" dirty="0" smtClean="0"/>
                  <a:t>, </a:t>
                </a:r>
                <a:r>
                  <a:rPr lang="zh-CN" altLang="en-US" dirty="0" smtClean="0"/>
                  <a:t>不希望该边的端点作为独立的顶点保留在所得到的图中</a:t>
                </a:r>
                <a:r>
                  <a:rPr lang="en-US" altLang="zh-CN" dirty="0" smtClean="0"/>
                  <a:t>.</a:t>
                </a:r>
              </a:p>
              <a:p>
                <a:r>
                  <a:rPr lang="zh-CN" altLang="en-US" b="1" dirty="0" smtClean="0">
                    <a:solidFill>
                      <a:srgbClr val="C00000"/>
                    </a:solidFill>
                  </a:rPr>
                  <a:t>边的收缩</a:t>
                </a:r>
                <a:r>
                  <a:rPr lang="zh-CN" altLang="en-US" dirty="0" smtClean="0"/>
                  <a:t>：</a:t>
                </a:r>
                <a:r>
                  <a:rPr lang="zh-CN" altLang="en-US" dirty="0"/>
                  <a:t>已知图</a:t>
                </a:r>
                <a:r>
                  <a:rPr lang="en-US" altLang="zh-CN" dirty="0"/>
                  <a:t>G=(V, E), </a:t>
                </a:r>
                <a:r>
                  <a:rPr lang="zh-CN" altLang="en-US" dirty="0" smtClean="0"/>
                  <a:t>对端点</a:t>
                </a:r>
                <a:r>
                  <a:rPr lang="zh-CN" altLang="en-US" dirty="0"/>
                  <a:t>为</a:t>
                </a:r>
                <a:r>
                  <a:rPr lang="en-US" altLang="zh-CN" dirty="0"/>
                  <a:t>u</a:t>
                </a:r>
                <a:r>
                  <a:rPr lang="zh-CN" altLang="en-US" dirty="0"/>
                  <a:t>和</a:t>
                </a:r>
                <a:r>
                  <a:rPr lang="en-US" altLang="zh-CN" dirty="0"/>
                  <a:t>v</a:t>
                </a:r>
                <a:r>
                  <a:rPr lang="zh-CN" altLang="en-US" dirty="0"/>
                  <a:t>的边</a:t>
                </a:r>
                <a:r>
                  <a:rPr lang="en-US" altLang="zh-CN" dirty="0" smtClean="0"/>
                  <a:t>e</a:t>
                </a:r>
                <a:r>
                  <a:rPr lang="zh-CN" altLang="en-US" dirty="0" smtClean="0"/>
                  <a:t>进行收缩</a:t>
                </a:r>
                <a:r>
                  <a:rPr lang="en-US" altLang="zh-CN" dirty="0" smtClean="0"/>
                  <a:t>. </a:t>
                </a:r>
                <a:r>
                  <a:rPr lang="zh-CN" altLang="en-US" dirty="0" smtClean="0"/>
                  <a:t>删除端点为</a:t>
                </a:r>
                <a:r>
                  <a:rPr lang="en-US" altLang="zh-CN" dirty="0" smtClean="0"/>
                  <a:t>u</a:t>
                </a:r>
                <a:r>
                  <a:rPr lang="zh-CN" altLang="en-US" dirty="0" smtClean="0"/>
                  <a:t>和</a:t>
                </a:r>
                <a:r>
                  <a:rPr lang="en-US" altLang="zh-CN" dirty="0" smtClean="0"/>
                  <a:t>v</a:t>
                </a:r>
                <a:r>
                  <a:rPr lang="zh-CN" altLang="en-US" dirty="0" smtClean="0"/>
                  <a:t>的边</a:t>
                </a:r>
                <a:r>
                  <a:rPr lang="en-US" altLang="zh-CN" dirty="0" smtClean="0"/>
                  <a:t>e, </a:t>
                </a:r>
                <a:r>
                  <a:rPr lang="zh-CN" altLang="en-US" dirty="0" smtClean="0"/>
                  <a:t>把</a:t>
                </a:r>
                <a:r>
                  <a:rPr lang="en-US" altLang="zh-CN" dirty="0" smtClean="0"/>
                  <a:t>u</a:t>
                </a:r>
                <a:r>
                  <a:rPr lang="zh-CN" altLang="en-US" dirty="0" smtClean="0"/>
                  <a:t>和</a:t>
                </a:r>
                <a:r>
                  <a:rPr lang="en-US" altLang="zh-CN" dirty="0" smtClean="0"/>
                  <a:t>v</a:t>
                </a:r>
                <a:r>
                  <a:rPr lang="zh-CN" altLang="en-US" dirty="0" smtClean="0"/>
                  <a:t>合并成一个新的点</a:t>
                </a:r>
                <a:r>
                  <a:rPr lang="en-US" altLang="zh-CN" dirty="0" smtClean="0"/>
                  <a:t>w. </a:t>
                </a:r>
                <a:r>
                  <a:rPr lang="zh-CN" altLang="en-US" dirty="0" smtClean="0"/>
                  <a:t>对每一条以</a:t>
                </a:r>
                <a:r>
                  <a:rPr lang="en-US" altLang="zh-CN" dirty="0" smtClean="0"/>
                  <a:t>u</a:t>
                </a:r>
                <a:r>
                  <a:rPr lang="zh-CN" altLang="en-US" dirty="0" smtClean="0"/>
                  <a:t>或者</a:t>
                </a:r>
                <a:r>
                  <a:rPr lang="en-US" altLang="zh-CN" dirty="0" smtClean="0"/>
                  <a:t>v</a:t>
                </a:r>
                <a:r>
                  <a:rPr lang="zh-CN" altLang="en-US" dirty="0" smtClean="0"/>
                  <a:t>为端点的边</a:t>
                </a:r>
                <a:r>
                  <a:rPr lang="en-US" altLang="zh-CN" dirty="0" smtClean="0"/>
                  <a:t>, </a:t>
                </a:r>
                <a:r>
                  <a:rPr lang="zh-CN" altLang="en-US" dirty="0" smtClean="0"/>
                  <a:t>将该边</a:t>
                </a:r>
                <a:r>
                  <a:rPr lang="en-US" altLang="zh-CN" dirty="0" smtClean="0"/>
                  <a:t>u</a:t>
                </a:r>
                <a:r>
                  <a:rPr lang="zh-CN" altLang="en-US" dirty="0" smtClean="0"/>
                  <a:t>或</a:t>
                </a:r>
                <a:r>
                  <a:rPr lang="en-US" altLang="zh-CN" dirty="0" smtClean="0"/>
                  <a:t>v</a:t>
                </a:r>
                <a:r>
                  <a:rPr lang="zh-CN" altLang="en-US" dirty="0" smtClean="0"/>
                  <a:t>的位置替换成</a:t>
                </a:r>
                <a:r>
                  <a:rPr lang="en-US" altLang="zh-CN" dirty="0" smtClean="0"/>
                  <a:t>w, </a:t>
                </a:r>
                <a:r>
                  <a:rPr lang="zh-CN" altLang="en-US" dirty="0" smtClean="0"/>
                  <a:t>且另外一个端点不变</a:t>
                </a:r>
                <a:r>
                  <a:rPr lang="en-US" altLang="zh-CN" dirty="0" smtClean="0"/>
                  <a:t>. </a:t>
                </a:r>
                <a:r>
                  <a:rPr lang="zh-CN" altLang="en-US" dirty="0" smtClean="0"/>
                  <a:t>新图</a:t>
                </a:r>
                <a14:m>
                  <m:oMath xmlns:m="http://schemas.openxmlformats.org/officeDocument/2006/math">
                    <m:sSup>
                      <m:sSupPr>
                        <m:ctrlPr>
                          <a:rPr lang="en-US" altLang="zh-CN" i="1" smtClean="0">
                            <a:latin typeface="Cambria Math" panose="02040503050406030204" pitchFamily="18" charset="0"/>
                          </a:rPr>
                        </m:ctrlPr>
                      </m:sSupPr>
                      <m:e>
                        <m:r>
                          <m:rPr>
                            <m:sty m:val="p"/>
                          </m:rPr>
                          <a:rPr lang="en-US" altLang="zh-CN" i="1">
                            <a:latin typeface="Cambria Math" panose="02040503050406030204" pitchFamily="18" charset="0"/>
                          </a:rPr>
                          <m:t>G</m:t>
                        </m:r>
                      </m:e>
                      <m:sup>
                        <m:r>
                          <a:rPr lang="en-US" altLang="zh-CN" b="0" i="1" smtClean="0">
                            <a:latin typeface="Cambria Math" panose="02040503050406030204" pitchFamily="18" charset="0"/>
                          </a:rPr>
                          <m:t>′</m:t>
                        </m:r>
                      </m:sup>
                    </m:sSup>
                  </m:oMath>
                </a14:m>
                <a:r>
                  <a:rPr lang="en-US" altLang="zh-CN" dirty="0"/>
                  <a:t>=(</a:t>
                </a:r>
                <a14:m>
                  <m:oMath xmlns:m="http://schemas.openxmlformats.org/officeDocument/2006/math">
                    <m:sSup>
                      <m:sSupPr>
                        <m:ctrlPr>
                          <a:rPr lang="en-US" altLang="zh-CN" i="1">
                            <a:latin typeface="Cambria Math" panose="02040503050406030204" pitchFamily="18" charset="0"/>
                          </a:rPr>
                        </m:ctrlPr>
                      </m:sSupPr>
                      <m:e>
                        <m:r>
                          <a:rPr lang="en-US" altLang="zh-CN" b="0" i="1" smtClean="0">
                            <a:latin typeface="Cambria Math" panose="02040503050406030204" pitchFamily="18" charset="0"/>
                          </a:rPr>
                          <m:t>𝑉</m:t>
                        </m:r>
                      </m:e>
                      <m:sup>
                        <m:r>
                          <a:rPr lang="en-US" altLang="zh-CN" i="1">
                            <a:latin typeface="Cambria Math" panose="02040503050406030204" pitchFamily="18" charset="0"/>
                          </a:rPr>
                          <m:t>′</m:t>
                        </m:r>
                      </m:sup>
                    </m:sSup>
                  </m:oMath>
                </a14:m>
                <a:r>
                  <a:rPr lang="en-US" altLang="zh-CN" dirty="0"/>
                  <a:t>, </a:t>
                </a:r>
                <a14:m>
                  <m:oMath xmlns:m="http://schemas.openxmlformats.org/officeDocument/2006/math">
                    <m:sSup>
                      <m:sSupPr>
                        <m:ctrlPr>
                          <a:rPr lang="en-US" altLang="zh-CN" i="1">
                            <a:latin typeface="Cambria Math" panose="02040503050406030204" pitchFamily="18" charset="0"/>
                          </a:rPr>
                        </m:ctrlPr>
                      </m:sSupPr>
                      <m:e>
                        <m:r>
                          <a:rPr lang="en-US" altLang="zh-CN" b="0" i="1" smtClean="0">
                            <a:latin typeface="Cambria Math" panose="02040503050406030204" pitchFamily="18" charset="0"/>
                          </a:rPr>
                          <m:t>𝐸</m:t>
                        </m:r>
                      </m:e>
                      <m:sup>
                        <m:r>
                          <a:rPr lang="en-US" altLang="zh-CN" i="1">
                            <a:latin typeface="Cambria Math" panose="02040503050406030204" pitchFamily="18" charset="0"/>
                          </a:rPr>
                          <m:t>′</m:t>
                        </m:r>
                      </m:sup>
                    </m:sSup>
                  </m:oMath>
                </a14:m>
                <a:r>
                  <a:rPr lang="en-US" altLang="zh-CN" dirty="0" smtClean="0"/>
                  <a:t>) (</a:t>
                </a:r>
                <a:r>
                  <a:rPr lang="zh-CN" altLang="en-US" dirty="0" smtClean="0"/>
                  <a:t>这不是图</a:t>
                </a:r>
                <a:r>
                  <a:rPr lang="en-US" altLang="zh-CN" dirty="0" smtClean="0"/>
                  <a:t>G</a:t>
                </a:r>
                <a:r>
                  <a:rPr lang="zh-CN" altLang="en-US" dirty="0" smtClean="0"/>
                  <a:t>的子图</a:t>
                </a:r>
                <a:r>
                  <a:rPr lang="en-US" altLang="zh-CN" dirty="0" smtClean="0"/>
                  <a:t>), </a:t>
                </a:r>
                <a:r>
                  <a:rPr lang="zh-CN" altLang="en-US" dirty="0" smtClean="0"/>
                  <a:t>其中</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𝑉</m:t>
                        </m:r>
                      </m:e>
                      <m:sup>
                        <m:r>
                          <a:rPr lang="en-US" altLang="zh-CN" i="1">
                            <a:latin typeface="Cambria Math" panose="02040503050406030204" pitchFamily="18" charset="0"/>
                          </a:rPr>
                          <m:t>′</m:t>
                        </m:r>
                      </m:sup>
                    </m:sSup>
                  </m:oMath>
                </a14:m>
                <a:r>
                  <a:rPr lang="en-US" dirty="0" smtClean="0"/>
                  <a:t>=V-{</a:t>
                </a:r>
                <a:r>
                  <a:rPr lang="en-US" dirty="0" err="1" smtClean="0"/>
                  <a:t>u,v</a:t>
                </a:r>
                <a:r>
                  <a:rPr lang="en-US" dirty="0" smtClean="0"/>
                  <a:t>}</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𝑤</m:t>
                    </m:r>
                    <m:r>
                      <a:rPr lang="en-US" b="0" i="1" smtClean="0">
                        <a:latin typeface="Cambria Math" panose="02040503050406030204" pitchFamily="18" charset="0"/>
                        <a:ea typeface="Cambria Math" panose="02040503050406030204" pitchFamily="18" charset="0"/>
                      </a:rPr>
                      <m:t>}</m:t>
                    </m:r>
                  </m:oMath>
                </a14:m>
                <a:r>
                  <a:rPr lang="zh-CN" altLang="en-US" dirty="0" smtClean="0"/>
                  <a:t>，</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𝐸</m:t>
                        </m:r>
                      </m:e>
                      <m:sup>
                        <m:r>
                          <a:rPr lang="en-US" altLang="zh-CN" i="1">
                            <a:latin typeface="Cambria Math" panose="02040503050406030204" pitchFamily="18" charset="0"/>
                          </a:rPr>
                          <m:t>′</m:t>
                        </m:r>
                      </m:sup>
                    </m:sSup>
                  </m:oMath>
                </a14:m>
                <a:r>
                  <a:rPr lang="zh-CN" altLang="en-US" dirty="0" smtClean="0"/>
                  <a:t>包含</a:t>
                </a:r>
                <a:r>
                  <a:rPr lang="en-US" altLang="zh-CN" dirty="0" smtClean="0"/>
                  <a:t>E</a:t>
                </a:r>
                <a:r>
                  <a:rPr lang="zh-CN" altLang="en-US" dirty="0" smtClean="0"/>
                  <a:t>中不以</a:t>
                </a:r>
                <a:r>
                  <a:rPr lang="en-US" altLang="zh-CN" dirty="0" smtClean="0"/>
                  <a:t>u</a:t>
                </a:r>
                <a:r>
                  <a:rPr lang="zh-CN" altLang="en-US" dirty="0" smtClean="0"/>
                  <a:t>或</a:t>
                </a:r>
                <a:r>
                  <a:rPr lang="en-US" altLang="zh-CN" dirty="0" smtClean="0"/>
                  <a:t>v</a:t>
                </a:r>
                <a:r>
                  <a:rPr lang="zh-CN" altLang="en-US" dirty="0" smtClean="0"/>
                  <a:t>作为端点的边以及连接</a:t>
                </a:r>
                <a:r>
                  <a:rPr lang="en-US" altLang="zh-CN" dirty="0" smtClean="0"/>
                  <a:t>w</a:t>
                </a:r>
                <a:r>
                  <a:rPr lang="zh-CN" altLang="en-US" dirty="0" smtClean="0"/>
                  <a:t>与集合</a:t>
                </a:r>
                <a:r>
                  <a:rPr lang="en-US" altLang="zh-CN" dirty="0" smtClean="0"/>
                  <a:t>V</a:t>
                </a:r>
                <a:r>
                  <a:rPr lang="zh-CN" altLang="en-US" dirty="0" smtClean="0"/>
                  <a:t>中所有与</a:t>
                </a:r>
                <a:r>
                  <a:rPr lang="en-US" altLang="zh-CN" dirty="0" smtClean="0"/>
                  <a:t>u</a:t>
                </a:r>
                <a:r>
                  <a:rPr lang="zh-CN" altLang="en-US" dirty="0" smtClean="0"/>
                  <a:t>或</a:t>
                </a:r>
                <a:r>
                  <a:rPr lang="en-US" altLang="zh-CN" dirty="0" smtClean="0"/>
                  <a:t>v</a:t>
                </a:r>
                <a:r>
                  <a:rPr lang="zh-CN" altLang="en-US" dirty="0" smtClean="0"/>
                  <a:t>相邻的顶点的边</a:t>
                </a:r>
                <a:r>
                  <a:rPr lang="en-US" altLang="zh-CN" dirty="0"/>
                  <a:t>. </a:t>
                </a:r>
                <a:endParaRPr lang="en-US" altLang="zh-CN" dirty="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3"/>
                <a:stretch>
                  <a:fillRect l="-999" t="-1310"/>
                </a:stretch>
              </a:blipFill>
            </p:spPr>
            <p:txBody>
              <a:bodyPr/>
              <a:lstStyle/>
              <a:p>
                <a:r>
                  <a:rPr lang="zh-CN" altLang="en-US">
                    <a:noFill/>
                  </a:rPr>
                  <a:t> </a:t>
                </a:r>
              </a:p>
            </p:txBody>
          </p:sp>
        </mc:Fallback>
      </mc:AlternateContent>
      <p:sp>
        <p:nvSpPr>
          <p:cNvPr id="9" name="日期占位符 8"/>
          <p:cNvSpPr>
            <a:spLocks noGrp="1"/>
          </p:cNvSpPr>
          <p:nvPr>
            <p:ph type="dt" sz="half" idx="10"/>
          </p:nvPr>
        </p:nvSpPr>
        <p:spPr/>
        <p:txBody>
          <a:bodyPr/>
          <a:lstStyle/>
          <a:p>
            <a:fld id="{1688B2DA-BF66-45C6-880E-BF0B8B153947}" type="datetime1">
              <a:rPr lang="zh-CN" altLang="en-US" smtClean="0"/>
              <a:t>2025/4/15</a:t>
            </a:fld>
            <a:endParaRPr lang="zh-CN" altLang="en-US" dirty="0"/>
          </a:p>
        </p:txBody>
      </p:sp>
      <p:sp>
        <p:nvSpPr>
          <p:cNvPr id="10" name="页脚占位符 9"/>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11" name="灯片编号占位符 10"/>
          <p:cNvSpPr>
            <a:spLocks noGrp="1"/>
          </p:cNvSpPr>
          <p:nvPr>
            <p:ph type="sldNum" sz="quarter" idx="12"/>
          </p:nvPr>
        </p:nvSpPr>
        <p:spPr/>
        <p:txBody>
          <a:bodyPr/>
          <a:lstStyle/>
          <a:p>
            <a:fld id="{67913A8A-9EFB-4B5F-9CCB-3D21173FAA85}" type="slidenum">
              <a:rPr lang="zh-CN" altLang="en-US" smtClean="0"/>
              <a:pPr/>
              <a:t>63</a:t>
            </a:fld>
            <a:endParaRPr lang="zh-CN" altLang="en-US" dirty="0"/>
          </a:p>
        </p:txBody>
      </p:sp>
      <p:sp>
        <p:nvSpPr>
          <p:cNvPr id="4" name="椭圆 3"/>
          <p:cNvSpPr/>
          <p:nvPr/>
        </p:nvSpPr>
        <p:spPr>
          <a:xfrm>
            <a:off x="3381670" y="49911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a:stCxn id="13" idx="5"/>
            <a:endCxn id="4" idx="2"/>
          </p:cNvCxnSpPr>
          <p:nvPr/>
        </p:nvCxnSpPr>
        <p:spPr>
          <a:xfrm>
            <a:off x="2366686" y="5018041"/>
            <a:ext cx="1014984" cy="11159"/>
          </a:xfrm>
          <a:prstGeom prst="line">
            <a:avLst/>
          </a:prstGeom>
        </p:spPr>
        <p:style>
          <a:lnRef idx="1">
            <a:schemeClr val="accent1"/>
          </a:lnRef>
          <a:fillRef idx="0">
            <a:schemeClr val="accent1"/>
          </a:fillRef>
          <a:effectRef idx="0">
            <a:schemeClr val="accent1"/>
          </a:effectRef>
          <a:fontRef idx="minor">
            <a:schemeClr val="tx1"/>
          </a:fontRef>
        </p:style>
      </p:cxnSp>
      <p:sp>
        <p:nvSpPr>
          <p:cNvPr id="13" name="椭圆 12"/>
          <p:cNvSpPr/>
          <p:nvPr/>
        </p:nvSpPr>
        <p:spPr>
          <a:xfrm>
            <a:off x="2301645" y="49530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4461695" y="49911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5562600" y="5011639"/>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 name="直接连接符 18"/>
          <p:cNvCxnSpPr/>
          <p:nvPr/>
        </p:nvCxnSpPr>
        <p:spPr>
          <a:xfrm>
            <a:off x="3457735" y="5026905"/>
            <a:ext cx="1030712" cy="6402"/>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4537895" y="5033307"/>
            <a:ext cx="1030712" cy="6402"/>
          </a:xfrm>
          <a:prstGeom prst="line">
            <a:avLst/>
          </a:prstGeom>
        </p:spPr>
        <p:style>
          <a:lnRef idx="1">
            <a:schemeClr val="accent1"/>
          </a:lnRef>
          <a:fillRef idx="0">
            <a:schemeClr val="accent1"/>
          </a:fillRef>
          <a:effectRef idx="0">
            <a:schemeClr val="accent1"/>
          </a:effectRef>
          <a:fontRef idx="minor">
            <a:schemeClr val="tx1"/>
          </a:fontRef>
        </p:style>
      </p:cxnSp>
      <p:sp>
        <p:nvSpPr>
          <p:cNvPr id="23" name="椭圆 22"/>
          <p:cNvSpPr/>
          <p:nvPr/>
        </p:nvSpPr>
        <p:spPr>
          <a:xfrm>
            <a:off x="3733800" y="5907221"/>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4" name="直接连接符 23"/>
          <p:cNvCxnSpPr>
            <a:stCxn id="4" idx="5"/>
            <a:endCxn id="23" idx="0"/>
          </p:cNvCxnSpPr>
          <p:nvPr/>
        </p:nvCxnSpPr>
        <p:spPr>
          <a:xfrm>
            <a:off x="3446711" y="5056141"/>
            <a:ext cx="325189" cy="85108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直接连接符 27"/>
          <p:cNvCxnSpPr>
            <a:stCxn id="17" idx="3"/>
            <a:endCxn id="23" idx="7"/>
          </p:cNvCxnSpPr>
          <p:nvPr/>
        </p:nvCxnSpPr>
        <p:spPr>
          <a:xfrm flipH="1">
            <a:off x="3798841" y="5056141"/>
            <a:ext cx="674013" cy="862239"/>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32" name="对象 31"/>
          <p:cNvGraphicFramePr>
            <a:graphicFrameLocks noChangeAspect="1"/>
          </p:cNvGraphicFramePr>
          <p:nvPr>
            <p:extLst>
              <p:ext uri="{D42A27DB-BD31-4B8C-83A1-F6EECF244321}">
                <p14:modId xmlns:p14="http://schemas.microsoft.com/office/powerpoint/2010/main" val="628609589"/>
              </p:ext>
            </p:extLst>
          </p:nvPr>
        </p:nvGraphicFramePr>
        <p:xfrm>
          <a:off x="3175301" y="4719318"/>
          <a:ext cx="261689" cy="287858"/>
        </p:xfrm>
        <a:graphic>
          <a:graphicData uri="http://schemas.openxmlformats.org/presentationml/2006/ole">
            <mc:AlternateContent xmlns:mc="http://schemas.openxmlformats.org/markup-compatibility/2006">
              <mc:Choice xmlns:v="urn:schemas-microsoft-com:vml" Requires="v">
                <p:oleObj spid="_x0000_s7470" name="Equation" r:id="rId4" imgW="126720" imgH="139680" progId="Equation.DSMT4">
                  <p:embed/>
                </p:oleObj>
              </mc:Choice>
              <mc:Fallback>
                <p:oleObj name="Equation" r:id="rId4" imgW="126720" imgH="139680" progId="Equation.DSMT4">
                  <p:embed/>
                  <p:pic>
                    <p:nvPicPr>
                      <p:cNvPr id="0" name=""/>
                      <p:cNvPicPr/>
                      <p:nvPr/>
                    </p:nvPicPr>
                    <p:blipFill>
                      <a:blip r:embed="rId5"/>
                      <a:stretch>
                        <a:fillRect/>
                      </a:stretch>
                    </p:blipFill>
                    <p:spPr>
                      <a:xfrm>
                        <a:off x="3175301" y="4719318"/>
                        <a:ext cx="261689" cy="287858"/>
                      </a:xfrm>
                      <a:prstGeom prst="rect">
                        <a:avLst/>
                      </a:prstGeom>
                    </p:spPr>
                  </p:pic>
                </p:oleObj>
              </mc:Fallback>
            </mc:AlternateContent>
          </a:graphicData>
        </a:graphic>
      </p:graphicFrame>
      <p:graphicFrame>
        <p:nvGraphicFramePr>
          <p:cNvPr id="33" name="对象 32"/>
          <p:cNvGraphicFramePr>
            <a:graphicFrameLocks noChangeAspect="1"/>
          </p:cNvGraphicFramePr>
          <p:nvPr>
            <p:extLst>
              <p:ext uri="{D42A27DB-BD31-4B8C-83A1-F6EECF244321}">
                <p14:modId xmlns:p14="http://schemas.microsoft.com/office/powerpoint/2010/main" val="326241531"/>
              </p:ext>
            </p:extLst>
          </p:nvPr>
        </p:nvGraphicFramePr>
        <p:xfrm>
          <a:off x="4419600" y="4703763"/>
          <a:ext cx="236538" cy="287337"/>
        </p:xfrm>
        <a:graphic>
          <a:graphicData uri="http://schemas.openxmlformats.org/presentationml/2006/ole">
            <mc:AlternateContent xmlns:mc="http://schemas.openxmlformats.org/markup-compatibility/2006">
              <mc:Choice xmlns:v="urn:schemas-microsoft-com:vml" Requires="v">
                <p:oleObj spid="_x0000_s7471" name="Equation" r:id="rId6" imgW="114120" imgH="139680" progId="Equation.DSMT4">
                  <p:embed/>
                </p:oleObj>
              </mc:Choice>
              <mc:Fallback>
                <p:oleObj name="Equation" r:id="rId6" imgW="114120" imgH="139680" progId="Equation.DSMT4">
                  <p:embed/>
                  <p:pic>
                    <p:nvPicPr>
                      <p:cNvPr id="0" name=""/>
                      <p:cNvPicPr/>
                      <p:nvPr/>
                    </p:nvPicPr>
                    <p:blipFill>
                      <a:blip r:embed="rId7"/>
                      <a:stretch>
                        <a:fillRect/>
                      </a:stretch>
                    </p:blipFill>
                    <p:spPr>
                      <a:xfrm>
                        <a:off x="4419600" y="4703763"/>
                        <a:ext cx="236538" cy="287337"/>
                      </a:xfrm>
                      <a:prstGeom prst="rect">
                        <a:avLst/>
                      </a:prstGeom>
                    </p:spPr>
                  </p:pic>
                </p:oleObj>
              </mc:Fallback>
            </mc:AlternateContent>
          </a:graphicData>
        </a:graphic>
      </p:graphicFrame>
      <p:graphicFrame>
        <p:nvGraphicFramePr>
          <p:cNvPr id="34" name="对象 33"/>
          <p:cNvGraphicFramePr>
            <a:graphicFrameLocks noChangeAspect="1"/>
          </p:cNvGraphicFramePr>
          <p:nvPr>
            <p:extLst>
              <p:ext uri="{D42A27DB-BD31-4B8C-83A1-F6EECF244321}">
                <p14:modId xmlns:p14="http://schemas.microsoft.com/office/powerpoint/2010/main" val="35924306"/>
              </p:ext>
            </p:extLst>
          </p:nvPr>
        </p:nvGraphicFramePr>
        <p:xfrm>
          <a:off x="3790950" y="5054600"/>
          <a:ext cx="236538" cy="287338"/>
        </p:xfrm>
        <a:graphic>
          <a:graphicData uri="http://schemas.openxmlformats.org/presentationml/2006/ole">
            <mc:AlternateContent xmlns:mc="http://schemas.openxmlformats.org/markup-compatibility/2006">
              <mc:Choice xmlns:v="urn:schemas-microsoft-com:vml" Requires="v">
                <p:oleObj spid="_x0000_s7472" name="Equation" r:id="rId8" imgW="114120" imgH="139680" progId="Equation.DSMT4">
                  <p:embed/>
                </p:oleObj>
              </mc:Choice>
              <mc:Fallback>
                <p:oleObj name="Equation" r:id="rId8" imgW="114120" imgH="139680" progId="Equation.DSMT4">
                  <p:embed/>
                  <p:pic>
                    <p:nvPicPr>
                      <p:cNvPr id="0" name=""/>
                      <p:cNvPicPr/>
                      <p:nvPr/>
                    </p:nvPicPr>
                    <p:blipFill>
                      <a:blip r:embed="rId9"/>
                      <a:stretch>
                        <a:fillRect/>
                      </a:stretch>
                    </p:blipFill>
                    <p:spPr>
                      <a:xfrm>
                        <a:off x="3790950" y="5054600"/>
                        <a:ext cx="236538" cy="287338"/>
                      </a:xfrm>
                      <a:prstGeom prst="rect">
                        <a:avLst/>
                      </a:prstGeom>
                    </p:spPr>
                  </p:pic>
                </p:oleObj>
              </mc:Fallback>
            </mc:AlternateContent>
          </a:graphicData>
        </a:graphic>
      </p:graphicFrame>
      <p:sp>
        <p:nvSpPr>
          <p:cNvPr id="35" name="椭圆 34"/>
          <p:cNvSpPr/>
          <p:nvPr/>
        </p:nvSpPr>
        <p:spPr>
          <a:xfrm>
            <a:off x="7669399" y="5033307"/>
            <a:ext cx="76200" cy="76200"/>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6" name="直接连接符 35"/>
          <p:cNvCxnSpPr>
            <a:stCxn id="37" idx="5"/>
            <a:endCxn id="35" idx="2"/>
          </p:cNvCxnSpPr>
          <p:nvPr/>
        </p:nvCxnSpPr>
        <p:spPr>
          <a:xfrm>
            <a:off x="6465841" y="5054420"/>
            <a:ext cx="1203558" cy="16987"/>
          </a:xfrm>
          <a:prstGeom prst="line">
            <a:avLst/>
          </a:prstGeom>
        </p:spPr>
        <p:style>
          <a:lnRef idx="1">
            <a:schemeClr val="accent1"/>
          </a:lnRef>
          <a:fillRef idx="0">
            <a:schemeClr val="accent1"/>
          </a:fillRef>
          <a:effectRef idx="0">
            <a:schemeClr val="accent1"/>
          </a:effectRef>
          <a:fontRef idx="minor">
            <a:schemeClr val="tx1"/>
          </a:fontRef>
        </p:style>
      </p:cxnSp>
      <p:sp>
        <p:nvSpPr>
          <p:cNvPr id="37" name="椭圆 36"/>
          <p:cNvSpPr/>
          <p:nvPr/>
        </p:nvSpPr>
        <p:spPr>
          <a:xfrm>
            <a:off x="6400800" y="4989379"/>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p:cNvSpPr/>
          <p:nvPr/>
        </p:nvSpPr>
        <p:spPr>
          <a:xfrm>
            <a:off x="8991600" y="5048018"/>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1" name="直接连接符 40"/>
          <p:cNvCxnSpPr>
            <a:stCxn id="35" idx="6"/>
          </p:cNvCxnSpPr>
          <p:nvPr/>
        </p:nvCxnSpPr>
        <p:spPr>
          <a:xfrm>
            <a:off x="7745599" y="5071407"/>
            <a:ext cx="1252008" cy="4681"/>
          </a:xfrm>
          <a:prstGeom prst="line">
            <a:avLst/>
          </a:prstGeom>
        </p:spPr>
        <p:style>
          <a:lnRef idx="1">
            <a:schemeClr val="accent1"/>
          </a:lnRef>
          <a:fillRef idx="0">
            <a:schemeClr val="accent1"/>
          </a:fillRef>
          <a:effectRef idx="0">
            <a:schemeClr val="accent1"/>
          </a:effectRef>
          <a:fontRef idx="minor">
            <a:schemeClr val="tx1"/>
          </a:fontRef>
        </p:style>
      </p:cxnSp>
      <p:sp>
        <p:nvSpPr>
          <p:cNvPr id="42" name="椭圆 41"/>
          <p:cNvSpPr/>
          <p:nvPr/>
        </p:nvSpPr>
        <p:spPr>
          <a:xfrm>
            <a:off x="7654790" y="5949333"/>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3" name="直接连接符 42"/>
          <p:cNvCxnSpPr/>
          <p:nvPr/>
        </p:nvCxnSpPr>
        <p:spPr>
          <a:xfrm flipH="1">
            <a:off x="7701332" y="5103928"/>
            <a:ext cx="6167" cy="850984"/>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49" name="对象 48"/>
          <p:cNvGraphicFramePr>
            <a:graphicFrameLocks noChangeAspect="1"/>
          </p:cNvGraphicFramePr>
          <p:nvPr>
            <p:extLst>
              <p:ext uri="{D42A27DB-BD31-4B8C-83A1-F6EECF244321}">
                <p14:modId xmlns:p14="http://schemas.microsoft.com/office/powerpoint/2010/main" val="1772679527"/>
              </p:ext>
            </p:extLst>
          </p:nvPr>
        </p:nvGraphicFramePr>
        <p:xfrm>
          <a:off x="7551738" y="4699000"/>
          <a:ext cx="314325" cy="287338"/>
        </p:xfrm>
        <a:graphic>
          <a:graphicData uri="http://schemas.openxmlformats.org/presentationml/2006/ole">
            <mc:AlternateContent xmlns:mc="http://schemas.openxmlformats.org/markup-compatibility/2006">
              <mc:Choice xmlns:v="urn:schemas-microsoft-com:vml" Requires="v">
                <p:oleObj spid="_x0000_s7473" name="Equation" r:id="rId10" imgW="152280" imgH="139680" progId="Equation.DSMT4">
                  <p:embed/>
                </p:oleObj>
              </mc:Choice>
              <mc:Fallback>
                <p:oleObj name="Equation" r:id="rId10" imgW="152280" imgH="139680" progId="Equation.DSMT4">
                  <p:embed/>
                  <p:pic>
                    <p:nvPicPr>
                      <p:cNvPr id="0" name=""/>
                      <p:cNvPicPr/>
                      <p:nvPr/>
                    </p:nvPicPr>
                    <p:blipFill>
                      <a:blip r:embed="rId11"/>
                      <a:stretch>
                        <a:fillRect/>
                      </a:stretch>
                    </p:blipFill>
                    <p:spPr>
                      <a:xfrm>
                        <a:off x="7551738" y="4699000"/>
                        <a:ext cx="314325" cy="287338"/>
                      </a:xfrm>
                      <a:prstGeom prst="rect">
                        <a:avLst/>
                      </a:prstGeom>
                    </p:spPr>
                  </p:pic>
                </p:oleObj>
              </mc:Fallback>
            </mc:AlternateContent>
          </a:graphicData>
        </a:graphic>
      </p:graphicFrame>
      <p:sp>
        <p:nvSpPr>
          <p:cNvPr id="51" name="文本框 50"/>
          <p:cNvSpPr txBox="1"/>
          <p:nvPr/>
        </p:nvSpPr>
        <p:spPr>
          <a:xfrm>
            <a:off x="3381670" y="6002782"/>
            <a:ext cx="1614269" cy="369332"/>
          </a:xfrm>
          <a:prstGeom prst="rect">
            <a:avLst/>
          </a:prstGeom>
          <a:noFill/>
        </p:spPr>
        <p:txBody>
          <a:bodyPr wrap="square" rtlCol="0">
            <a:spAutoFit/>
          </a:bodyPr>
          <a:lstStyle/>
          <a:p>
            <a:r>
              <a:rPr lang="zh-CN" altLang="en-US" b="1" dirty="0" smtClean="0"/>
              <a:t>收缩前</a:t>
            </a:r>
            <a:endParaRPr lang="zh-CN" altLang="en-US" b="1" dirty="0"/>
          </a:p>
        </p:txBody>
      </p:sp>
      <p:sp>
        <p:nvSpPr>
          <p:cNvPr id="52" name="文本框 51"/>
          <p:cNvSpPr txBox="1"/>
          <p:nvPr/>
        </p:nvSpPr>
        <p:spPr>
          <a:xfrm>
            <a:off x="7239000" y="6002782"/>
            <a:ext cx="1614269" cy="369332"/>
          </a:xfrm>
          <a:prstGeom prst="rect">
            <a:avLst/>
          </a:prstGeom>
          <a:noFill/>
        </p:spPr>
        <p:txBody>
          <a:bodyPr wrap="square" rtlCol="0">
            <a:spAutoFit/>
          </a:bodyPr>
          <a:lstStyle/>
          <a:p>
            <a:r>
              <a:rPr lang="zh-CN" altLang="en-US" b="1" dirty="0" smtClean="0"/>
              <a:t>收缩后</a:t>
            </a:r>
            <a:endParaRPr lang="zh-CN" altLang="en-US" b="1" dirty="0"/>
          </a:p>
        </p:txBody>
      </p:sp>
    </p:spTree>
    <p:extLst>
      <p:ext uri="{BB962C8B-B14F-4D97-AF65-F5344CB8AC3E}">
        <p14:creationId xmlns:p14="http://schemas.microsoft.com/office/powerpoint/2010/main" val="1806189439"/>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从旧图构造新图</a:t>
            </a:r>
            <a:endParaRPr lang="en-US" dirty="0"/>
          </a:p>
        </p:txBody>
      </p:sp>
      <p:sp>
        <p:nvSpPr>
          <p:cNvPr id="3" name="Content Placeholder 2"/>
          <p:cNvSpPr>
            <a:spLocks noGrp="1"/>
          </p:cNvSpPr>
          <p:nvPr>
            <p:ph idx="1"/>
          </p:nvPr>
        </p:nvSpPr>
        <p:spPr/>
        <p:txBody>
          <a:bodyPr>
            <a:normAutofit/>
          </a:bodyPr>
          <a:lstStyle/>
          <a:p>
            <a:r>
              <a:rPr lang="zh-CN" altLang="en-US" dirty="0" smtClean="0"/>
              <a:t>例</a:t>
            </a:r>
            <a:r>
              <a:rPr lang="en-US" altLang="zh-CN" dirty="0" smtClean="0"/>
              <a:t>: </a:t>
            </a:r>
            <a:r>
              <a:rPr lang="zh-CN" altLang="en-US" dirty="0" smtClean="0"/>
              <a:t>如图</a:t>
            </a:r>
            <a:r>
              <a:rPr lang="en-US" altLang="zh-CN" dirty="0" smtClean="0"/>
              <a:t>G1, </a:t>
            </a:r>
            <a:r>
              <a:rPr lang="zh-CN" altLang="en-US" dirty="0" smtClean="0"/>
              <a:t>我们通过收缩以</a:t>
            </a:r>
            <a:r>
              <a:rPr lang="en-US" altLang="zh-CN" dirty="0" smtClean="0"/>
              <a:t>c</a:t>
            </a:r>
            <a:r>
              <a:rPr lang="zh-CN" altLang="en-US" dirty="0" smtClean="0"/>
              <a:t>和</a:t>
            </a:r>
            <a:r>
              <a:rPr lang="en-US" altLang="zh-CN" dirty="0" smtClean="0"/>
              <a:t>e</a:t>
            </a:r>
            <a:r>
              <a:rPr lang="zh-CN" altLang="en-US" dirty="0" smtClean="0"/>
              <a:t>作为端点的那条边得到新图</a:t>
            </a:r>
            <a:r>
              <a:rPr lang="en-US" altLang="zh-CN" dirty="0" smtClean="0"/>
              <a:t>G2</a:t>
            </a:r>
            <a:r>
              <a:rPr lang="en-US" dirty="0" smtClean="0"/>
              <a:t>.</a:t>
            </a:r>
          </a:p>
          <a:p>
            <a:endParaRPr lang="en-US" dirty="0" smtClean="0"/>
          </a:p>
          <a:p>
            <a:endParaRPr lang="en-US" dirty="0" smtClean="0"/>
          </a:p>
        </p:txBody>
      </p:sp>
      <p:sp>
        <p:nvSpPr>
          <p:cNvPr id="9" name="日期占位符 8"/>
          <p:cNvSpPr>
            <a:spLocks noGrp="1"/>
          </p:cNvSpPr>
          <p:nvPr>
            <p:ph type="dt" sz="half" idx="10"/>
          </p:nvPr>
        </p:nvSpPr>
        <p:spPr/>
        <p:txBody>
          <a:bodyPr/>
          <a:lstStyle/>
          <a:p>
            <a:fld id="{2A131630-561F-45D1-B35C-03BAF40B1E82}" type="datetime1">
              <a:rPr lang="zh-CN" altLang="en-US" smtClean="0"/>
              <a:t>2025/4/15</a:t>
            </a:fld>
            <a:endParaRPr lang="zh-CN" altLang="en-US" dirty="0"/>
          </a:p>
        </p:txBody>
      </p:sp>
      <p:sp>
        <p:nvSpPr>
          <p:cNvPr id="10" name="页脚占位符 9"/>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11" name="灯片编号占位符 10"/>
          <p:cNvSpPr>
            <a:spLocks noGrp="1"/>
          </p:cNvSpPr>
          <p:nvPr>
            <p:ph type="sldNum" sz="quarter" idx="12"/>
          </p:nvPr>
        </p:nvSpPr>
        <p:spPr/>
        <p:txBody>
          <a:bodyPr/>
          <a:lstStyle/>
          <a:p>
            <a:fld id="{67913A8A-9EFB-4B5F-9CCB-3D21173FAA85}" type="slidenum">
              <a:rPr lang="zh-CN" altLang="en-US" smtClean="0"/>
              <a:pPr/>
              <a:t>64</a:t>
            </a:fld>
            <a:endParaRPr lang="zh-CN" altLang="en-US" dirty="0"/>
          </a:p>
        </p:txBody>
      </p:sp>
      <p:pic>
        <p:nvPicPr>
          <p:cNvPr id="5" name="图片 4"/>
          <p:cNvPicPr>
            <a:picLocks noChangeAspect="1"/>
          </p:cNvPicPr>
          <p:nvPr/>
        </p:nvPicPr>
        <p:blipFill>
          <a:blip r:embed="rId2"/>
          <a:stretch>
            <a:fillRect/>
          </a:stretch>
        </p:blipFill>
        <p:spPr>
          <a:xfrm>
            <a:off x="3495533" y="1828800"/>
            <a:ext cx="4610100" cy="2501900"/>
          </a:xfrm>
          <a:prstGeom prst="rect">
            <a:avLst/>
          </a:prstGeom>
        </p:spPr>
      </p:pic>
    </p:spTree>
    <p:extLst>
      <p:ext uri="{BB962C8B-B14F-4D97-AF65-F5344CB8AC3E}">
        <p14:creationId xmlns:p14="http://schemas.microsoft.com/office/powerpoint/2010/main" val="2586640707"/>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457200" y="1143000"/>
            <a:ext cx="11277599" cy="22860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smtClean="0"/>
              <a:t>从旧图构造新图</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b="1" dirty="0" smtClean="0">
                    <a:solidFill>
                      <a:srgbClr val="C00000"/>
                    </a:solidFill>
                  </a:rPr>
                  <a:t>从图中删除顶点</a:t>
                </a:r>
                <a:r>
                  <a:rPr lang="zh-CN" altLang="en-US" dirty="0" smtClean="0"/>
                  <a:t>：已知</a:t>
                </a:r>
                <a:r>
                  <a:rPr lang="zh-CN" altLang="en-US" dirty="0"/>
                  <a:t>图</a:t>
                </a:r>
                <a:r>
                  <a:rPr lang="en-US" altLang="zh-CN" dirty="0"/>
                  <a:t>G=(V, E</a:t>
                </a:r>
                <a:r>
                  <a:rPr lang="en-US" altLang="zh-CN" dirty="0" smtClean="0"/>
                  <a:t>), </a:t>
                </a:r>
                <a:r>
                  <a:rPr lang="zh-CN" altLang="en-US" dirty="0" smtClean="0"/>
                  <a:t>我们可以从图中删除顶点</a:t>
                </a:r>
                <a:r>
                  <a:rPr lang="en-US" altLang="zh-CN" dirty="0" smtClean="0"/>
                  <a:t>v</a:t>
                </a:r>
                <a:r>
                  <a:rPr lang="zh-CN" altLang="en-US" dirty="0" smtClean="0"/>
                  <a:t>以及它关联的边</a:t>
                </a:r>
                <a:r>
                  <a:rPr lang="en-US" altLang="zh-CN" dirty="0" smtClean="0"/>
                  <a:t>, </a:t>
                </a:r>
                <a:r>
                  <a:rPr lang="zh-CN" altLang="en-US" dirty="0" smtClean="0"/>
                  <a:t>得到一个图</a:t>
                </a:r>
                <a:r>
                  <a:rPr lang="en-US" altLang="zh-CN" dirty="0" smtClean="0"/>
                  <a:t>G</a:t>
                </a:r>
                <a:r>
                  <a:rPr lang="zh-CN" altLang="en-US" dirty="0" smtClean="0"/>
                  <a:t>的子图</a:t>
                </a:r>
                <a:r>
                  <a:rPr lang="en-US" altLang="zh-CN" dirty="0" smtClean="0"/>
                  <a:t>G-v. G-v=(V-v, </a:t>
                </a:r>
                <a14:m>
                  <m:oMath xmlns:m="http://schemas.openxmlformats.org/officeDocument/2006/math">
                    <m:sSup>
                      <m:sSupPr>
                        <m:ctrlPr>
                          <a:rPr lang="en-US" altLang="zh-CN" i="1">
                            <a:latin typeface="Cambria Math" panose="02040503050406030204" pitchFamily="18" charset="0"/>
                          </a:rPr>
                        </m:ctrlPr>
                      </m:sSupPr>
                      <m:e>
                        <m:r>
                          <m:rPr>
                            <m:sty m:val="p"/>
                          </m:rPr>
                          <a:rPr lang="en-US" altLang="zh-CN" i="1">
                            <a:latin typeface="Cambria Math" panose="02040503050406030204" pitchFamily="18" charset="0"/>
                          </a:rPr>
                          <m:t>E</m:t>
                        </m:r>
                      </m:e>
                      <m:sup>
                        <m:r>
                          <a:rPr lang="en-US" altLang="zh-CN" i="1">
                            <a:latin typeface="Cambria Math" panose="02040503050406030204" pitchFamily="18" charset="0"/>
                          </a:rPr>
                          <m:t>′</m:t>
                        </m:r>
                      </m:sup>
                    </m:sSup>
                  </m:oMath>
                </a14:m>
                <a:r>
                  <a:rPr lang="en-US" altLang="zh-CN" dirty="0" smtClean="0"/>
                  <a:t>), </a:t>
                </a:r>
                <a:r>
                  <a:rPr lang="zh-CN" altLang="en-US" dirty="0" smtClean="0"/>
                  <a:t>其中</a:t>
                </a:r>
                <a14:m>
                  <m:oMath xmlns:m="http://schemas.openxmlformats.org/officeDocument/2006/math">
                    <m:sSup>
                      <m:sSupPr>
                        <m:ctrlPr>
                          <a:rPr lang="en-US" altLang="zh-CN" i="1">
                            <a:latin typeface="Cambria Math" panose="02040503050406030204" pitchFamily="18" charset="0"/>
                          </a:rPr>
                        </m:ctrlPr>
                      </m:sSupPr>
                      <m:e>
                        <m:r>
                          <m:rPr>
                            <m:sty m:val="p"/>
                          </m:rPr>
                          <a:rPr lang="en-US" altLang="zh-CN" i="1">
                            <a:latin typeface="Cambria Math" panose="02040503050406030204" pitchFamily="18" charset="0"/>
                          </a:rPr>
                          <m:t>E</m:t>
                        </m:r>
                      </m:e>
                      <m:sup>
                        <m:r>
                          <a:rPr lang="en-US" altLang="zh-CN" i="1">
                            <a:latin typeface="Cambria Math" panose="02040503050406030204" pitchFamily="18" charset="0"/>
                          </a:rPr>
                          <m:t>′</m:t>
                        </m:r>
                      </m:sup>
                    </m:sSup>
                  </m:oMath>
                </a14:m>
                <a:r>
                  <a:rPr lang="zh-CN" altLang="en-US" dirty="0" smtClean="0"/>
                  <a:t>是</a:t>
                </a:r>
                <a:r>
                  <a:rPr lang="en-US" altLang="zh-CN" dirty="0" smtClean="0"/>
                  <a:t>G</a:t>
                </a:r>
                <a:r>
                  <a:rPr lang="zh-CN" altLang="en-US" dirty="0" smtClean="0"/>
                  <a:t>中不与</a:t>
                </a:r>
                <a:r>
                  <a:rPr lang="en-US" altLang="zh-CN" dirty="0" smtClean="0"/>
                  <a:t>v</a:t>
                </a:r>
                <a:r>
                  <a:rPr lang="zh-CN" altLang="en-US" dirty="0" smtClean="0"/>
                  <a:t>相关联的边的集合</a:t>
                </a:r>
                <a:r>
                  <a:rPr lang="en-US" altLang="zh-CN" dirty="0" smtClean="0"/>
                  <a:t>.</a:t>
                </a:r>
              </a:p>
              <a:p>
                <a:r>
                  <a:rPr lang="zh-CN" altLang="en-US" dirty="0" smtClean="0"/>
                  <a:t>类似地</a:t>
                </a:r>
                <a:r>
                  <a:rPr lang="en-US" altLang="zh-CN" dirty="0" smtClean="0"/>
                  <a:t>, </a:t>
                </a:r>
                <a14:m>
                  <m:oMath xmlns:m="http://schemas.openxmlformats.org/officeDocument/2006/math">
                    <m:sSup>
                      <m:sSupPr>
                        <m:ctrlPr>
                          <a:rPr lang="en-US" altLang="zh-CN" i="1">
                            <a:latin typeface="Cambria Math" panose="02040503050406030204" pitchFamily="18" charset="0"/>
                          </a:rPr>
                        </m:ctrlPr>
                      </m:sSupPr>
                      <m:e>
                        <m:r>
                          <m:rPr>
                            <m:sty m:val="p"/>
                          </m:rPr>
                          <a:rPr lang="en-US" altLang="zh-CN" i="1" smtClean="0">
                            <a:latin typeface="Cambria Math" panose="02040503050406030204" pitchFamily="18" charset="0"/>
                          </a:rPr>
                          <m:t>V</m:t>
                        </m:r>
                      </m:e>
                      <m:sup>
                        <m:r>
                          <a:rPr lang="en-US" altLang="zh-CN" i="1">
                            <a:latin typeface="Cambria Math" panose="02040503050406030204" pitchFamily="18" charset="0"/>
                          </a:rPr>
                          <m:t>′</m:t>
                        </m:r>
                      </m:sup>
                    </m:sSup>
                    <m:r>
                      <a:rPr lang="zh-CN" altLang="en-US" i="1">
                        <a:latin typeface="Cambria Math" panose="02040503050406030204" pitchFamily="18" charset="0"/>
                      </a:rPr>
                      <m:t>是</m:t>
                    </m:r>
                  </m:oMath>
                </a14:m>
                <a:r>
                  <a:rPr lang="en-US" altLang="zh-CN" dirty="0" smtClean="0"/>
                  <a:t>V</a:t>
                </a:r>
                <a:r>
                  <a:rPr lang="zh-CN" altLang="en-US" dirty="0" smtClean="0"/>
                  <a:t>的子集</a:t>
                </a:r>
                <a:r>
                  <a:rPr lang="en-US" altLang="zh-CN" dirty="0" smtClean="0"/>
                  <a:t>, </a:t>
                </a:r>
                <a:r>
                  <a:rPr lang="zh-CN" altLang="en-US" dirty="0" smtClean="0"/>
                  <a:t>则图</a:t>
                </a:r>
                <a:r>
                  <a:rPr lang="en-US" altLang="zh-CN" dirty="0" smtClean="0"/>
                  <a:t>G-</a:t>
                </a:r>
                <a14:m>
                  <m:oMath xmlns:m="http://schemas.openxmlformats.org/officeDocument/2006/math">
                    <m:sSup>
                      <m:sSupPr>
                        <m:ctrlPr>
                          <a:rPr lang="en-US" altLang="zh-CN" i="1">
                            <a:latin typeface="Cambria Math" panose="02040503050406030204" pitchFamily="18" charset="0"/>
                          </a:rPr>
                        </m:ctrlPr>
                      </m:sSupPr>
                      <m:e>
                        <m:r>
                          <a:rPr lang="en-US" altLang="zh-CN" b="0" i="1" smtClean="0">
                            <a:latin typeface="Cambria Math" panose="02040503050406030204" pitchFamily="18" charset="0"/>
                          </a:rPr>
                          <m:t>𝑉</m:t>
                        </m:r>
                      </m:e>
                      <m:sup>
                        <m:r>
                          <a:rPr lang="en-US" altLang="zh-CN" i="1">
                            <a:latin typeface="Cambria Math" panose="02040503050406030204" pitchFamily="18" charset="0"/>
                          </a:rPr>
                          <m:t>′</m:t>
                        </m:r>
                      </m:sup>
                    </m:sSup>
                  </m:oMath>
                </a14:m>
                <a:r>
                  <a:rPr lang="en-US" altLang="zh-CN" dirty="0" smtClean="0"/>
                  <a:t>=(V-</a:t>
                </a:r>
                <a14:m>
                  <m:oMath xmlns:m="http://schemas.openxmlformats.org/officeDocument/2006/math">
                    <m:sSup>
                      <m:sSupPr>
                        <m:ctrlPr>
                          <a:rPr lang="en-US" altLang="zh-CN" i="1">
                            <a:latin typeface="Cambria Math" panose="02040503050406030204" pitchFamily="18" charset="0"/>
                          </a:rPr>
                        </m:ctrlPr>
                      </m:sSupPr>
                      <m:e>
                        <m:r>
                          <a:rPr lang="en-US" altLang="zh-CN" b="0" i="1" smtClean="0">
                            <a:latin typeface="Cambria Math" panose="02040503050406030204" pitchFamily="18" charset="0"/>
                          </a:rPr>
                          <m:t>𝑉</m:t>
                        </m:r>
                      </m:e>
                      <m:sup>
                        <m:r>
                          <a:rPr lang="en-US" altLang="zh-CN" i="1">
                            <a:latin typeface="Cambria Math" panose="02040503050406030204" pitchFamily="18" charset="0"/>
                          </a:rPr>
                          <m:t>′</m:t>
                        </m:r>
                      </m:sup>
                    </m:sSup>
                  </m:oMath>
                </a14:m>
                <a:r>
                  <a:rPr lang="en-US" altLang="zh-CN" dirty="0" smtClean="0"/>
                  <a:t>,</a:t>
                </a:r>
                <a:r>
                  <a:rPr lang="en-US" altLang="zh-CN" dirty="0"/>
                  <a:t> </a:t>
                </a:r>
                <a14:m>
                  <m:oMath xmlns:m="http://schemas.openxmlformats.org/officeDocument/2006/math">
                    <m:sSup>
                      <m:sSupPr>
                        <m:ctrlPr>
                          <a:rPr lang="en-US" altLang="zh-CN" i="1">
                            <a:latin typeface="Cambria Math" panose="02040503050406030204" pitchFamily="18" charset="0"/>
                          </a:rPr>
                        </m:ctrlPr>
                      </m:sSupPr>
                      <m:e>
                        <m:r>
                          <m:rPr>
                            <m:sty m:val="p"/>
                          </m:rPr>
                          <a:rPr lang="en-US" altLang="zh-CN" i="1">
                            <a:latin typeface="Cambria Math" panose="02040503050406030204" pitchFamily="18" charset="0"/>
                          </a:rPr>
                          <m:t>E</m:t>
                        </m:r>
                      </m:e>
                      <m:sup>
                        <m:r>
                          <a:rPr lang="en-US" altLang="zh-CN" i="1">
                            <a:latin typeface="Cambria Math" panose="02040503050406030204" pitchFamily="18" charset="0"/>
                          </a:rPr>
                          <m:t>′</m:t>
                        </m:r>
                      </m:sup>
                    </m:sSup>
                  </m:oMath>
                </a14:m>
                <a:r>
                  <a:rPr lang="en-US" altLang="zh-CN" dirty="0" smtClean="0"/>
                  <a:t>)</a:t>
                </a:r>
                <a:r>
                  <a:rPr lang="zh-CN" altLang="en-US" dirty="0" smtClean="0"/>
                  <a:t>，</a:t>
                </a:r>
                <a:r>
                  <a:rPr lang="zh-CN" altLang="en-US" dirty="0"/>
                  <a:t>其中</a:t>
                </a:r>
                <a14:m>
                  <m:oMath xmlns:m="http://schemas.openxmlformats.org/officeDocument/2006/math">
                    <m:sSup>
                      <m:sSupPr>
                        <m:ctrlPr>
                          <a:rPr lang="en-US" altLang="zh-CN" i="1">
                            <a:latin typeface="Cambria Math" panose="02040503050406030204" pitchFamily="18" charset="0"/>
                          </a:rPr>
                        </m:ctrlPr>
                      </m:sSupPr>
                      <m:e>
                        <m:r>
                          <m:rPr>
                            <m:sty m:val="p"/>
                          </m:rPr>
                          <a:rPr lang="en-US" altLang="zh-CN" i="1">
                            <a:latin typeface="Cambria Math" panose="02040503050406030204" pitchFamily="18" charset="0"/>
                          </a:rPr>
                          <m:t>E</m:t>
                        </m:r>
                      </m:e>
                      <m:sup>
                        <m:r>
                          <a:rPr lang="en-US" altLang="zh-CN" i="1">
                            <a:latin typeface="Cambria Math" panose="02040503050406030204" pitchFamily="18" charset="0"/>
                          </a:rPr>
                          <m:t>′</m:t>
                        </m:r>
                      </m:sup>
                    </m:sSup>
                  </m:oMath>
                </a14:m>
                <a:r>
                  <a:rPr lang="zh-CN" altLang="en-US" dirty="0"/>
                  <a:t>是</a:t>
                </a:r>
                <a:r>
                  <a:rPr lang="en-US" altLang="zh-CN" dirty="0"/>
                  <a:t>G</a:t>
                </a:r>
                <a:r>
                  <a:rPr lang="zh-CN" altLang="en-US" dirty="0"/>
                  <a:t>中</a:t>
                </a:r>
                <a:r>
                  <a:rPr lang="zh-CN" altLang="en-US" dirty="0" smtClean="0"/>
                  <a:t>不与</a:t>
                </a:r>
                <a14:m>
                  <m:oMath xmlns:m="http://schemas.openxmlformats.org/officeDocument/2006/math">
                    <m:sSup>
                      <m:sSupPr>
                        <m:ctrlPr>
                          <a:rPr lang="en-US" altLang="zh-CN" i="1">
                            <a:latin typeface="Cambria Math" panose="02040503050406030204" pitchFamily="18" charset="0"/>
                          </a:rPr>
                        </m:ctrlPr>
                      </m:sSupPr>
                      <m:e>
                        <m:r>
                          <m:rPr>
                            <m:sty m:val="p"/>
                          </m:rPr>
                          <a:rPr lang="en-US" altLang="zh-CN" i="1">
                            <a:latin typeface="Cambria Math" panose="02040503050406030204" pitchFamily="18" charset="0"/>
                          </a:rPr>
                          <m:t>V</m:t>
                        </m:r>
                      </m:e>
                      <m:sup>
                        <m:r>
                          <a:rPr lang="en-US" altLang="zh-CN" i="1">
                            <a:latin typeface="Cambria Math" panose="02040503050406030204" pitchFamily="18" charset="0"/>
                          </a:rPr>
                          <m:t>′</m:t>
                        </m:r>
                      </m:sup>
                    </m:sSup>
                  </m:oMath>
                </a14:m>
                <a:r>
                  <a:rPr lang="zh-CN" altLang="en-US" dirty="0" smtClean="0"/>
                  <a:t>中顶点相</a:t>
                </a:r>
                <a:r>
                  <a:rPr lang="zh-CN" altLang="en-US" dirty="0"/>
                  <a:t>关联的边的集合</a:t>
                </a:r>
                <a:r>
                  <a:rPr lang="en-US" altLang="zh-CN" dirty="0"/>
                  <a:t>.</a:t>
                </a:r>
                <a:endParaRPr lang="en-US" altLang="zh-CN" dirty="0" smtClean="0"/>
              </a:p>
              <a:p>
                <a:r>
                  <a:rPr lang="zh-CN" altLang="en-US" dirty="0" smtClean="0"/>
                  <a:t>例</a:t>
                </a:r>
                <a:r>
                  <a:rPr lang="en-US" altLang="zh-CN" dirty="0" smtClean="0"/>
                  <a:t>: </a:t>
                </a:r>
                <a:r>
                  <a:rPr lang="zh-CN" altLang="en-US" dirty="0" smtClean="0"/>
                  <a:t>如图</a:t>
                </a:r>
                <a:r>
                  <a:rPr lang="en-US" altLang="zh-CN" dirty="0" smtClean="0"/>
                  <a:t>G1, </a:t>
                </a:r>
                <a:r>
                  <a:rPr lang="zh-CN" altLang="en-US" dirty="0" smtClean="0"/>
                  <a:t>我们通过删除顶点</a:t>
                </a:r>
                <a:r>
                  <a:rPr lang="en-US" altLang="zh-CN" dirty="0" smtClean="0"/>
                  <a:t>a</a:t>
                </a:r>
                <a:r>
                  <a:rPr lang="zh-CN" altLang="en-US" dirty="0" smtClean="0"/>
                  <a:t>得到子图</a:t>
                </a:r>
                <a:r>
                  <a:rPr lang="en-US" altLang="zh-CN" dirty="0" smtClean="0"/>
                  <a:t>G2</a:t>
                </a:r>
                <a:r>
                  <a:rPr lang="en-US" dirty="0" smtClean="0"/>
                  <a:t>.</a:t>
                </a:r>
              </a:p>
              <a:p>
                <a:endParaRPr lang="en-US" dirty="0" smtClean="0"/>
              </a:p>
              <a:p>
                <a:endParaRPr lang="en-US" dirty="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310" r="-555"/>
                </a:stretch>
              </a:blipFill>
            </p:spPr>
            <p:txBody>
              <a:bodyPr/>
              <a:lstStyle/>
              <a:p>
                <a:r>
                  <a:rPr lang="zh-CN" altLang="en-US">
                    <a:noFill/>
                  </a:rPr>
                  <a:t> </a:t>
                </a:r>
              </a:p>
            </p:txBody>
          </p:sp>
        </mc:Fallback>
      </mc:AlternateContent>
      <p:sp>
        <p:nvSpPr>
          <p:cNvPr id="9" name="日期占位符 8"/>
          <p:cNvSpPr>
            <a:spLocks noGrp="1"/>
          </p:cNvSpPr>
          <p:nvPr>
            <p:ph type="dt" sz="half" idx="10"/>
          </p:nvPr>
        </p:nvSpPr>
        <p:spPr/>
        <p:txBody>
          <a:bodyPr/>
          <a:lstStyle/>
          <a:p>
            <a:fld id="{979748FF-8A1E-47BB-B848-EE22A6107429}" type="datetime1">
              <a:rPr lang="zh-CN" altLang="en-US" smtClean="0"/>
              <a:t>2025/4/15</a:t>
            </a:fld>
            <a:endParaRPr lang="zh-CN" altLang="en-US" dirty="0"/>
          </a:p>
        </p:txBody>
      </p:sp>
      <p:sp>
        <p:nvSpPr>
          <p:cNvPr id="10" name="页脚占位符 9"/>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11" name="灯片编号占位符 10"/>
          <p:cNvSpPr>
            <a:spLocks noGrp="1"/>
          </p:cNvSpPr>
          <p:nvPr>
            <p:ph type="sldNum" sz="quarter" idx="12"/>
          </p:nvPr>
        </p:nvSpPr>
        <p:spPr/>
        <p:txBody>
          <a:bodyPr/>
          <a:lstStyle/>
          <a:p>
            <a:fld id="{67913A8A-9EFB-4B5F-9CCB-3D21173FAA85}" type="slidenum">
              <a:rPr lang="zh-CN" altLang="en-US" smtClean="0"/>
              <a:pPr/>
              <a:t>65</a:t>
            </a:fld>
            <a:endParaRPr lang="zh-CN" altLang="en-US" dirty="0"/>
          </a:p>
        </p:txBody>
      </p:sp>
      <p:pic>
        <p:nvPicPr>
          <p:cNvPr id="6" name="图片 5"/>
          <p:cNvPicPr>
            <a:picLocks noChangeAspect="1"/>
          </p:cNvPicPr>
          <p:nvPr/>
        </p:nvPicPr>
        <p:blipFill>
          <a:blip r:embed="rId3"/>
          <a:stretch>
            <a:fillRect/>
          </a:stretch>
        </p:blipFill>
        <p:spPr>
          <a:xfrm>
            <a:off x="3578225" y="3943354"/>
            <a:ext cx="5035550" cy="2501900"/>
          </a:xfrm>
          <a:prstGeom prst="rect">
            <a:avLst/>
          </a:prstGeom>
        </p:spPr>
      </p:pic>
    </p:spTree>
    <p:extLst>
      <p:ext uri="{BB962C8B-B14F-4D97-AF65-F5344CB8AC3E}">
        <p14:creationId xmlns:p14="http://schemas.microsoft.com/office/powerpoint/2010/main" val="725496889"/>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57200" y="1143000"/>
            <a:ext cx="11277599" cy="12954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从旧图构造新图</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smtClean="0"/>
                  <a:t>定义</a:t>
                </a:r>
                <a:r>
                  <a:rPr lang="en-US" altLang="zh-CN" b="1" dirty="0" smtClean="0"/>
                  <a:t>: </a:t>
                </a:r>
                <a:r>
                  <a:rPr lang="zh-CN" altLang="en-US" dirty="0" smtClean="0"/>
                  <a:t>两个简单图</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𝐺</m:t>
                        </m:r>
                      </m:e>
                      <m:sub>
                        <m:r>
                          <a:rPr lang="en-US" altLang="zh-CN" i="1">
                            <a:latin typeface="Cambria Math" panose="02040503050406030204" pitchFamily="18" charset="0"/>
                          </a:rPr>
                          <m:t>1</m:t>
                        </m:r>
                      </m:sub>
                    </m:sSub>
                  </m:oMath>
                </a14:m>
                <a:r>
                  <a:rPr lang="en-US" dirty="0" smtClean="0"/>
                  <a:t> =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i="1">
                            <a:latin typeface="Cambria Math" panose="02040503050406030204" pitchFamily="18" charset="0"/>
                          </a:rPr>
                          <m:t>1</m:t>
                        </m:r>
                      </m:sub>
                    </m:sSub>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b="0" i="0" smtClean="0">
                            <a:latin typeface="Cambria Math" panose="02040503050406030204" pitchFamily="18" charset="0"/>
                          </a:rPr>
                          <m:t>E</m:t>
                        </m:r>
                      </m:e>
                      <m:sub>
                        <m:r>
                          <a:rPr lang="en-US" altLang="zh-CN" i="1">
                            <a:latin typeface="Cambria Math" panose="02040503050406030204" pitchFamily="18" charset="0"/>
                          </a:rPr>
                          <m:t>1</m:t>
                        </m:r>
                      </m:sub>
                    </m:sSub>
                  </m:oMath>
                </a14:m>
                <a:r>
                  <a:rPr lang="en-US" dirty="0" smtClean="0"/>
                  <a:t>)</a:t>
                </a:r>
                <a:r>
                  <a:rPr lang="en-US" altLang="zh-CN"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𝐺</m:t>
                        </m:r>
                      </m:e>
                      <m:sub>
                        <m:r>
                          <a:rPr lang="en-US" altLang="zh-CN" b="0" i="1" smtClean="0">
                            <a:latin typeface="Cambria Math" panose="02040503050406030204" pitchFamily="18" charset="0"/>
                          </a:rPr>
                          <m:t>2</m:t>
                        </m:r>
                      </m:sub>
                    </m:sSub>
                  </m:oMath>
                </a14:m>
                <a:r>
                  <a:rPr lang="en-US" dirty="0" smtClean="0"/>
                  <a:t> =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b="0" i="1" smtClean="0">
                            <a:latin typeface="Cambria Math" panose="02040503050406030204" pitchFamily="18" charset="0"/>
                          </a:rPr>
                          <m:t>2</m:t>
                        </m:r>
                      </m:sub>
                    </m:sSub>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E</m:t>
                        </m:r>
                      </m:e>
                      <m:sub>
                        <m:r>
                          <a:rPr lang="en-US" altLang="zh-CN" b="0" i="1" smtClean="0">
                            <a:latin typeface="Cambria Math" panose="02040503050406030204" pitchFamily="18" charset="0"/>
                          </a:rPr>
                          <m:t>2</m:t>
                        </m:r>
                      </m:sub>
                    </m:sSub>
                  </m:oMath>
                </a14:m>
                <a:r>
                  <a:rPr lang="en-US" dirty="0" smtClean="0"/>
                  <a:t>)</a:t>
                </a:r>
                <a:r>
                  <a:rPr lang="zh-CN" altLang="en-US" dirty="0" smtClean="0"/>
                  <a:t>的</a:t>
                </a:r>
                <a:r>
                  <a:rPr lang="zh-CN" altLang="en-US" b="1" dirty="0" smtClean="0">
                    <a:solidFill>
                      <a:srgbClr val="C00000"/>
                    </a:solidFill>
                  </a:rPr>
                  <a:t>并图</a:t>
                </a:r>
                <a:r>
                  <a:rPr lang="zh-CN" altLang="en-US" dirty="0" smtClean="0"/>
                  <a:t>是带有顶点集</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i="1">
                            <a:latin typeface="Cambria Math" panose="02040503050406030204" pitchFamily="18" charset="0"/>
                          </a:rPr>
                          <m:t>1</m:t>
                        </m:r>
                      </m:sub>
                    </m:sSub>
                  </m:oMath>
                </a14:m>
                <a:r>
                  <a:rPr lang="en-US" dirty="0" smtClean="0"/>
                  <a:t> ⋃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b="0" i="1" smtClean="0">
                            <a:latin typeface="Cambria Math" panose="02040503050406030204" pitchFamily="18" charset="0"/>
                          </a:rPr>
                          <m:t>2</m:t>
                        </m:r>
                      </m:sub>
                    </m:sSub>
                  </m:oMath>
                </a14:m>
                <a:r>
                  <a:rPr lang="zh-CN" altLang="en-US" dirty="0" smtClean="0"/>
                  <a:t>和边集</a:t>
                </a:r>
                <a:r>
                  <a:rPr lang="en-US" dirty="0" smtClean="0"/>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E</m:t>
                        </m:r>
                      </m:e>
                      <m:sub>
                        <m:r>
                          <a:rPr lang="en-US" altLang="zh-CN" i="1">
                            <a:latin typeface="Cambria Math" panose="02040503050406030204" pitchFamily="18" charset="0"/>
                          </a:rPr>
                          <m:t>1</m:t>
                        </m:r>
                      </m:sub>
                    </m:sSub>
                  </m:oMath>
                </a14:m>
                <a:r>
                  <a:rPr lang="en-US" dirty="0" smtClean="0"/>
                  <a:t>⋃</a:t>
                </a:r>
                <a14:m>
                  <m:oMath xmlns:m="http://schemas.openxmlformats.org/officeDocument/2006/math">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E</m:t>
                        </m:r>
                      </m:e>
                      <m:sub>
                        <m:r>
                          <a:rPr lang="en-US" altLang="zh-CN" i="1">
                            <a:latin typeface="Cambria Math" panose="02040503050406030204" pitchFamily="18" charset="0"/>
                          </a:rPr>
                          <m:t>2</m:t>
                        </m:r>
                      </m:sub>
                    </m:sSub>
                  </m:oMath>
                </a14:m>
                <a:r>
                  <a:rPr lang="zh-CN" altLang="en-US" dirty="0" smtClean="0"/>
                  <a:t>的简单图</a:t>
                </a:r>
                <a:r>
                  <a:rPr lang="en-US"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𝐺</m:t>
                        </m:r>
                      </m:e>
                      <m:sub>
                        <m:r>
                          <a:rPr lang="en-US" altLang="zh-CN" i="1">
                            <a:latin typeface="Cambria Math" panose="02040503050406030204" pitchFamily="18" charset="0"/>
                          </a:rPr>
                          <m:t>1</m:t>
                        </m:r>
                      </m:sub>
                    </m:sSub>
                  </m:oMath>
                </a14:m>
                <a:r>
                  <a:rPr lang="zh-CN" altLang="en-US" dirty="0" smtClean="0"/>
                  <a:t>和</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𝐺</m:t>
                        </m:r>
                      </m:e>
                      <m:sub>
                        <m:r>
                          <a:rPr lang="en-US" altLang="zh-CN" b="0" i="1" smtClean="0">
                            <a:latin typeface="Cambria Math" panose="02040503050406030204" pitchFamily="18" charset="0"/>
                          </a:rPr>
                          <m:t>2</m:t>
                        </m:r>
                      </m:sub>
                    </m:sSub>
                  </m:oMath>
                </a14:m>
                <a:r>
                  <a:rPr lang="zh-CN" altLang="en-US" dirty="0" smtClean="0"/>
                  <a:t>的并图记作</a:t>
                </a:r>
                <a:r>
                  <a:rPr lang="en-US"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𝐺</m:t>
                        </m:r>
                      </m:e>
                      <m:sub>
                        <m:r>
                          <a:rPr lang="en-US" altLang="zh-CN" i="1">
                            <a:latin typeface="Cambria Math" panose="02040503050406030204" pitchFamily="18" charset="0"/>
                          </a:rPr>
                          <m:t>1</m:t>
                        </m:r>
                      </m:sub>
                    </m:sSub>
                  </m:oMath>
                </a14:m>
                <a:r>
                  <a:rPr lang="en-US" dirty="0" smtClean="0"/>
                  <a:t>⋃</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𝐺</m:t>
                        </m:r>
                      </m:e>
                      <m:sub>
                        <m:r>
                          <a:rPr lang="en-US" altLang="zh-CN" b="0" i="1" smtClean="0">
                            <a:latin typeface="Cambria Math" panose="02040503050406030204" pitchFamily="18" charset="0"/>
                          </a:rPr>
                          <m:t>2</m:t>
                        </m:r>
                      </m:sub>
                    </m:sSub>
                  </m:oMath>
                </a14:m>
                <a:r>
                  <a:rPr lang="en-US" dirty="0" smtClean="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310"/>
                </a:stretch>
              </a:blipFill>
            </p:spPr>
            <p:txBody>
              <a:bodyPr/>
              <a:lstStyle/>
              <a:p>
                <a:r>
                  <a:rPr lang="zh-CN" altLang="en-US">
                    <a:noFill/>
                  </a:rPr>
                  <a:t> </a:t>
                </a:r>
              </a:p>
            </p:txBody>
          </p:sp>
        </mc:Fallback>
      </mc:AlternateContent>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57400" y="2736658"/>
            <a:ext cx="7608439" cy="2378413"/>
          </a:xfrm>
          <a:prstGeom prst="rect">
            <a:avLst/>
          </a:prstGeom>
        </p:spPr>
      </p:pic>
      <p:sp>
        <p:nvSpPr>
          <p:cNvPr id="7" name="日期占位符 6"/>
          <p:cNvSpPr>
            <a:spLocks noGrp="1"/>
          </p:cNvSpPr>
          <p:nvPr>
            <p:ph type="dt" sz="half" idx="10"/>
          </p:nvPr>
        </p:nvSpPr>
        <p:spPr/>
        <p:txBody>
          <a:bodyPr/>
          <a:lstStyle/>
          <a:p>
            <a:fld id="{69CD85A4-EFC3-48EC-9559-6F553D130ABB}"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66</a:t>
            </a:fld>
            <a:endParaRPr lang="zh-CN" altLang="en-US" dirty="0"/>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57200" y="1143000"/>
            <a:ext cx="11277599" cy="12954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从旧图构造新图</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smtClean="0"/>
                  <a:t>定义</a:t>
                </a:r>
                <a:r>
                  <a:rPr lang="en-US" altLang="zh-CN" b="1" dirty="0" smtClean="0"/>
                  <a:t>: </a:t>
                </a:r>
                <a:r>
                  <a:rPr lang="zh-CN" altLang="en-US" dirty="0" smtClean="0"/>
                  <a:t>两个简单图</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𝐺</m:t>
                        </m:r>
                      </m:e>
                      <m:sub>
                        <m:r>
                          <a:rPr lang="en-US" altLang="zh-CN" i="1">
                            <a:latin typeface="Cambria Math" panose="02040503050406030204" pitchFamily="18" charset="0"/>
                          </a:rPr>
                          <m:t>1</m:t>
                        </m:r>
                      </m:sub>
                    </m:sSub>
                  </m:oMath>
                </a14:m>
                <a:r>
                  <a:rPr lang="en-US" dirty="0" smtClean="0"/>
                  <a:t> =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i="1">
                            <a:latin typeface="Cambria Math" panose="02040503050406030204" pitchFamily="18" charset="0"/>
                          </a:rPr>
                          <m:t>1</m:t>
                        </m:r>
                      </m:sub>
                    </m:sSub>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b="0" i="0" smtClean="0">
                            <a:latin typeface="Cambria Math" panose="02040503050406030204" pitchFamily="18" charset="0"/>
                          </a:rPr>
                          <m:t>E</m:t>
                        </m:r>
                      </m:e>
                      <m:sub>
                        <m:r>
                          <a:rPr lang="en-US" altLang="zh-CN" i="1">
                            <a:latin typeface="Cambria Math" panose="02040503050406030204" pitchFamily="18" charset="0"/>
                          </a:rPr>
                          <m:t>1</m:t>
                        </m:r>
                      </m:sub>
                    </m:sSub>
                  </m:oMath>
                </a14:m>
                <a:r>
                  <a:rPr lang="en-US" dirty="0" smtClean="0"/>
                  <a:t>)</a:t>
                </a:r>
                <a:r>
                  <a:rPr lang="en-US" altLang="zh-CN"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𝐺</m:t>
                        </m:r>
                      </m:e>
                      <m:sub>
                        <m:r>
                          <a:rPr lang="en-US" altLang="zh-CN" b="0" i="1" smtClean="0">
                            <a:latin typeface="Cambria Math" panose="02040503050406030204" pitchFamily="18" charset="0"/>
                          </a:rPr>
                          <m:t>2</m:t>
                        </m:r>
                      </m:sub>
                    </m:sSub>
                  </m:oMath>
                </a14:m>
                <a:r>
                  <a:rPr lang="en-US" dirty="0" smtClean="0"/>
                  <a:t> =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b="0" i="1" smtClean="0">
                            <a:latin typeface="Cambria Math" panose="02040503050406030204" pitchFamily="18" charset="0"/>
                          </a:rPr>
                          <m:t>2</m:t>
                        </m:r>
                      </m:sub>
                    </m:sSub>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E</m:t>
                        </m:r>
                      </m:e>
                      <m:sub>
                        <m:r>
                          <a:rPr lang="en-US" altLang="zh-CN" b="0" i="1" smtClean="0">
                            <a:latin typeface="Cambria Math" panose="02040503050406030204" pitchFamily="18" charset="0"/>
                          </a:rPr>
                          <m:t>2</m:t>
                        </m:r>
                      </m:sub>
                    </m:sSub>
                  </m:oMath>
                </a14:m>
                <a:r>
                  <a:rPr lang="en-US" dirty="0" smtClean="0"/>
                  <a:t>)</a:t>
                </a:r>
                <a:r>
                  <a:rPr lang="zh-CN" altLang="en-US" dirty="0" smtClean="0"/>
                  <a:t>的</a:t>
                </a:r>
                <a:r>
                  <a:rPr lang="zh-CN" altLang="en-US" b="1" dirty="0">
                    <a:solidFill>
                      <a:srgbClr val="C00000"/>
                    </a:solidFill>
                  </a:rPr>
                  <a:t>交</a:t>
                </a:r>
                <a:r>
                  <a:rPr lang="zh-CN" altLang="en-US" b="1" dirty="0" smtClean="0">
                    <a:solidFill>
                      <a:srgbClr val="C00000"/>
                    </a:solidFill>
                  </a:rPr>
                  <a:t>图</a:t>
                </a:r>
                <a:r>
                  <a:rPr lang="zh-CN" altLang="en-US" dirty="0" smtClean="0"/>
                  <a:t>是带有顶点集</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i="1">
                            <a:latin typeface="Cambria Math" panose="02040503050406030204" pitchFamily="18" charset="0"/>
                          </a:rPr>
                          <m:t>1</m:t>
                        </m:r>
                      </m:sub>
                    </m:sSub>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b="0" i="1" smtClean="0">
                            <a:latin typeface="Cambria Math" panose="02040503050406030204" pitchFamily="18" charset="0"/>
                          </a:rPr>
                          <m:t>2</m:t>
                        </m:r>
                      </m:sub>
                    </m:sSub>
                  </m:oMath>
                </a14:m>
                <a:r>
                  <a:rPr lang="zh-CN" altLang="en-US" dirty="0" smtClean="0"/>
                  <a:t>和边集</a:t>
                </a:r>
                <a:r>
                  <a:rPr lang="en-US" dirty="0" smtClean="0"/>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E</m:t>
                        </m:r>
                      </m:e>
                      <m:sub>
                        <m:r>
                          <a:rPr lang="en-US" altLang="zh-CN" i="1">
                            <a:latin typeface="Cambria Math" panose="02040503050406030204" pitchFamily="18" charset="0"/>
                          </a:rPr>
                          <m:t>1</m:t>
                        </m:r>
                      </m:sub>
                    </m:sSub>
                    <m:r>
                      <a:rPr lang="en-US" altLang="zh-CN" b="0" i="1">
                        <a:latin typeface="Cambria Math" panose="02040503050406030204" pitchFamily="18" charset="0"/>
                      </a:rPr>
                      <m:t>   </m:t>
                    </m:r>
                    <m:r>
                      <a:rPr lang="en-US" altLang="zh-CN" b="0" i="1" smtClean="0">
                        <a:latin typeface="Cambria Math" panose="02040503050406030204" pitchFamily="18" charset="0"/>
                      </a:rPr>
                      <m:t> </m:t>
                    </m:r>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E</m:t>
                        </m:r>
                      </m:e>
                      <m:sub>
                        <m:r>
                          <a:rPr lang="en-US" altLang="zh-CN" i="1">
                            <a:latin typeface="Cambria Math" panose="02040503050406030204" pitchFamily="18" charset="0"/>
                          </a:rPr>
                          <m:t>2</m:t>
                        </m:r>
                      </m:sub>
                    </m:sSub>
                  </m:oMath>
                </a14:m>
                <a:r>
                  <a:rPr lang="zh-CN" altLang="en-US" dirty="0" smtClean="0"/>
                  <a:t>的简单图</a:t>
                </a:r>
                <a:r>
                  <a:rPr lang="en-US"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𝐺</m:t>
                        </m:r>
                      </m:e>
                      <m:sub>
                        <m:r>
                          <a:rPr lang="en-US" altLang="zh-CN" i="1">
                            <a:latin typeface="Cambria Math" panose="02040503050406030204" pitchFamily="18" charset="0"/>
                          </a:rPr>
                          <m:t>1</m:t>
                        </m:r>
                      </m:sub>
                    </m:sSub>
                  </m:oMath>
                </a14:m>
                <a:r>
                  <a:rPr lang="zh-CN" altLang="en-US" dirty="0" smtClean="0"/>
                  <a:t>和</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𝐺</m:t>
                        </m:r>
                      </m:e>
                      <m:sub>
                        <m:r>
                          <a:rPr lang="en-US" altLang="zh-CN" b="0" i="1" smtClean="0">
                            <a:latin typeface="Cambria Math" panose="02040503050406030204" pitchFamily="18" charset="0"/>
                          </a:rPr>
                          <m:t>2</m:t>
                        </m:r>
                      </m:sub>
                    </m:sSub>
                  </m:oMath>
                </a14:m>
                <a:r>
                  <a:rPr lang="zh-CN" altLang="en-US" dirty="0" smtClean="0"/>
                  <a:t>的交图记作</a:t>
                </a:r>
                <a:r>
                  <a:rPr lang="en-US"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𝐺</m:t>
                        </m:r>
                      </m:e>
                      <m:sub>
                        <m:r>
                          <a:rPr lang="en-US" altLang="zh-CN" i="1">
                            <a:latin typeface="Cambria Math" panose="02040503050406030204" pitchFamily="18" charset="0"/>
                          </a:rPr>
                          <m:t>1</m:t>
                        </m:r>
                      </m:sub>
                    </m:sSub>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      </m:t>
                        </m:r>
                        <m:r>
                          <a:rPr lang="en-US" altLang="zh-CN" i="1">
                            <a:latin typeface="Cambria Math" panose="02040503050406030204" pitchFamily="18" charset="0"/>
                          </a:rPr>
                          <m:t>𝐺</m:t>
                        </m:r>
                      </m:e>
                      <m:sub>
                        <m:r>
                          <a:rPr lang="en-US" altLang="zh-CN" b="0" i="1" smtClean="0">
                            <a:latin typeface="Cambria Math" panose="02040503050406030204" pitchFamily="18" charset="0"/>
                          </a:rPr>
                          <m:t>2</m:t>
                        </m:r>
                      </m:sub>
                    </m:sSub>
                  </m:oMath>
                </a14:m>
                <a:r>
                  <a:rPr lang="en-US" dirty="0" smtClean="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3"/>
                <a:stretch>
                  <a:fillRect l="-999" t="-1310"/>
                </a:stretch>
              </a:blipFill>
            </p:spPr>
            <p:txBody>
              <a:bodyPr/>
              <a:lstStyle/>
              <a:p>
                <a:r>
                  <a:rPr lang="zh-CN" altLang="en-US">
                    <a:noFill/>
                  </a:rPr>
                  <a:t> </a:t>
                </a:r>
              </a:p>
            </p:txBody>
          </p:sp>
        </mc:Fallback>
      </mc:AlternateContent>
      <p:sp>
        <p:nvSpPr>
          <p:cNvPr id="7" name="日期占位符 6"/>
          <p:cNvSpPr>
            <a:spLocks noGrp="1"/>
          </p:cNvSpPr>
          <p:nvPr>
            <p:ph type="dt" sz="half" idx="10"/>
          </p:nvPr>
        </p:nvSpPr>
        <p:spPr/>
        <p:txBody>
          <a:bodyPr/>
          <a:lstStyle/>
          <a:p>
            <a:fld id="{69CD85A4-EFC3-48EC-9559-6F553D130ABB}"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67</a:t>
            </a:fld>
            <a:endParaRPr lang="zh-CN" altLang="en-US" dirty="0"/>
          </a:p>
        </p:txBody>
      </p:sp>
      <p:graphicFrame>
        <p:nvGraphicFramePr>
          <p:cNvPr id="5" name="对象 4"/>
          <p:cNvGraphicFramePr>
            <a:graphicFrameLocks noChangeAspect="1"/>
          </p:cNvGraphicFramePr>
          <p:nvPr>
            <p:extLst>
              <p:ext uri="{D42A27DB-BD31-4B8C-83A1-F6EECF244321}">
                <p14:modId xmlns:p14="http://schemas.microsoft.com/office/powerpoint/2010/main" val="2680464830"/>
              </p:ext>
            </p:extLst>
          </p:nvPr>
        </p:nvGraphicFramePr>
        <p:xfrm>
          <a:off x="632900" y="1676400"/>
          <a:ext cx="381000" cy="308239"/>
        </p:xfrm>
        <a:graphic>
          <a:graphicData uri="http://schemas.openxmlformats.org/presentationml/2006/ole">
            <mc:AlternateContent xmlns:mc="http://schemas.openxmlformats.org/markup-compatibility/2006">
              <mc:Choice xmlns:v="urn:schemas-microsoft-com:vml" Requires="v">
                <p:oleObj spid="_x0000_s3374" name="Equation" r:id="rId4" imgW="164880" imgH="126720" progId="Equation.DSMT4">
                  <p:embed/>
                </p:oleObj>
              </mc:Choice>
              <mc:Fallback>
                <p:oleObj name="Equation" r:id="rId4" imgW="164880" imgH="126720" progId="Equation.DSMT4">
                  <p:embed/>
                  <p:pic>
                    <p:nvPicPr>
                      <p:cNvPr id="0" name=""/>
                      <p:cNvPicPr/>
                      <p:nvPr/>
                    </p:nvPicPr>
                    <p:blipFill>
                      <a:blip r:embed="rId5"/>
                      <a:stretch>
                        <a:fillRect/>
                      </a:stretch>
                    </p:blipFill>
                    <p:spPr>
                      <a:xfrm>
                        <a:off x="632900" y="1676400"/>
                        <a:ext cx="381000" cy="308239"/>
                      </a:xfrm>
                      <a:prstGeom prst="rect">
                        <a:avLst/>
                      </a:prstGeom>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2521729456"/>
              </p:ext>
            </p:extLst>
          </p:nvPr>
        </p:nvGraphicFramePr>
        <p:xfrm>
          <a:off x="2819400" y="1636580"/>
          <a:ext cx="381000" cy="308239"/>
        </p:xfrm>
        <a:graphic>
          <a:graphicData uri="http://schemas.openxmlformats.org/presentationml/2006/ole">
            <mc:AlternateContent xmlns:mc="http://schemas.openxmlformats.org/markup-compatibility/2006">
              <mc:Choice xmlns:v="urn:schemas-microsoft-com:vml" Requires="v">
                <p:oleObj spid="_x0000_s3375" name="Equation" r:id="rId6" imgW="164880" imgH="126720" progId="Equation.DSMT4">
                  <p:embed/>
                </p:oleObj>
              </mc:Choice>
              <mc:Fallback>
                <p:oleObj name="Equation" r:id="rId6" imgW="164880" imgH="126720" progId="Equation.DSMT4">
                  <p:embed/>
                  <p:pic>
                    <p:nvPicPr>
                      <p:cNvPr id="0" name=""/>
                      <p:cNvPicPr/>
                      <p:nvPr/>
                    </p:nvPicPr>
                    <p:blipFill>
                      <a:blip r:embed="rId7"/>
                      <a:stretch>
                        <a:fillRect/>
                      </a:stretch>
                    </p:blipFill>
                    <p:spPr>
                      <a:xfrm>
                        <a:off x="2819400" y="1636580"/>
                        <a:ext cx="381000" cy="308239"/>
                      </a:xfrm>
                      <a:prstGeom prst="rect">
                        <a:avLst/>
                      </a:prstGeom>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2831844800"/>
              </p:ext>
            </p:extLst>
          </p:nvPr>
        </p:nvGraphicFramePr>
        <p:xfrm>
          <a:off x="8534400" y="1643050"/>
          <a:ext cx="381000" cy="308239"/>
        </p:xfrm>
        <a:graphic>
          <a:graphicData uri="http://schemas.openxmlformats.org/presentationml/2006/ole">
            <mc:AlternateContent xmlns:mc="http://schemas.openxmlformats.org/markup-compatibility/2006">
              <mc:Choice xmlns:v="urn:schemas-microsoft-com:vml" Requires="v">
                <p:oleObj spid="_x0000_s3376" name="Equation" r:id="rId8" imgW="164880" imgH="126720" progId="Equation.DSMT4">
                  <p:embed/>
                </p:oleObj>
              </mc:Choice>
              <mc:Fallback>
                <p:oleObj name="Equation" r:id="rId8" imgW="164880" imgH="126720" progId="Equation.DSMT4">
                  <p:embed/>
                  <p:pic>
                    <p:nvPicPr>
                      <p:cNvPr id="0" name=""/>
                      <p:cNvPicPr/>
                      <p:nvPr/>
                    </p:nvPicPr>
                    <p:blipFill>
                      <a:blip r:embed="rId7"/>
                      <a:stretch>
                        <a:fillRect/>
                      </a:stretch>
                    </p:blipFill>
                    <p:spPr>
                      <a:xfrm>
                        <a:off x="8534400" y="1643050"/>
                        <a:ext cx="381000" cy="308239"/>
                      </a:xfrm>
                      <a:prstGeom prst="rect">
                        <a:avLst/>
                      </a:prstGeom>
                    </p:spPr>
                  </p:pic>
                </p:oleObj>
              </mc:Fallback>
            </mc:AlternateContent>
          </a:graphicData>
        </a:graphic>
      </p:graphicFrame>
      <p:pic>
        <p:nvPicPr>
          <p:cNvPr id="6" name="图片 5"/>
          <p:cNvPicPr>
            <a:picLocks noChangeAspect="1"/>
          </p:cNvPicPr>
          <p:nvPr/>
        </p:nvPicPr>
        <p:blipFill>
          <a:blip r:embed="rId9"/>
          <a:stretch>
            <a:fillRect/>
          </a:stretch>
        </p:blipFill>
        <p:spPr>
          <a:xfrm>
            <a:off x="1295400" y="2708824"/>
            <a:ext cx="5754974" cy="2236612"/>
          </a:xfrm>
          <a:prstGeom prst="rect">
            <a:avLst/>
          </a:prstGeom>
        </p:spPr>
      </p:pic>
      <p:pic>
        <p:nvPicPr>
          <p:cNvPr id="13" name="图片 12"/>
          <p:cNvPicPr>
            <a:picLocks noChangeAspect="1"/>
          </p:cNvPicPr>
          <p:nvPr/>
        </p:nvPicPr>
        <p:blipFill>
          <a:blip r:embed="rId10"/>
          <a:stretch>
            <a:fillRect/>
          </a:stretch>
        </p:blipFill>
        <p:spPr>
          <a:xfrm>
            <a:off x="7318888" y="2971800"/>
            <a:ext cx="2812024" cy="365792"/>
          </a:xfrm>
          <a:prstGeom prst="rect">
            <a:avLst/>
          </a:prstGeom>
        </p:spPr>
      </p:pic>
      <p:pic>
        <p:nvPicPr>
          <p:cNvPr id="14" name="图片 13"/>
          <p:cNvPicPr>
            <a:picLocks noChangeAspect="1"/>
          </p:cNvPicPr>
          <p:nvPr/>
        </p:nvPicPr>
        <p:blipFill>
          <a:blip r:embed="rId11"/>
          <a:stretch>
            <a:fillRect/>
          </a:stretch>
        </p:blipFill>
        <p:spPr>
          <a:xfrm>
            <a:off x="7543800" y="4363045"/>
            <a:ext cx="129551" cy="137172"/>
          </a:xfrm>
          <a:prstGeom prst="rect">
            <a:avLst/>
          </a:prstGeom>
        </p:spPr>
      </p:pic>
      <p:pic>
        <p:nvPicPr>
          <p:cNvPr id="15" name="图片 14"/>
          <p:cNvPicPr>
            <a:picLocks noChangeAspect="1"/>
          </p:cNvPicPr>
          <p:nvPr/>
        </p:nvPicPr>
        <p:blipFill>
          <a:blip r:embed="rId12"/>
          <a:stretch>
            <a:fillRect/>
          </a:stretch>
        </p:blipFill>
        <p:spPr>
          <a:xfrm>
            <a:off x="7486644" y="4686912"/>
            <a:ext cx="243861" cy="198137"/>
          </a:xfrm>
          <a:prstGeom prst="rect">
            <a:avLst/>
          </a:prstGeom>
        </p:spPr>
      </p:pic>
      <p:pic>
        <p:nvPicPr>
          <p:cNvPr id="16" name="图片 15"/>
          <p:cNvPicPr>
            <a:picLocks noChangeAspect="1"/>
          </p:cNvPicPr>
          <p:nvPr/>
        </p:nvPicPr>
        <p:blipFill>
          <a:blip r:embed="rId13"/>
          <a:stretch>
            <a:fillRect/>
          </a:stretch>
        </p:blipFill>
        <p:spPr>
          <a:xfrm>
            <a:off x="2133600" y="4876455"/>
            <a:ext cx="411516" cy="419136"/>
          </a:xfrm>
          <a:prstGeom prst="rect">
            <a:avLst/>
          </a:prstGeom>
        </p:spPr>
      </p:pic>
      <p:pic>
        <p:nvPicPr>
          <p:cNvPr id="17" name="图片 16"/>
          <p:cNvPicPr>
            <a:picLocks noChangeAspect="1"/>
          </p:cNvPicPr>
          <p:nvPr/>
        </p:nvPicPr>
        <p:blipFill>
          <a:blip r:embed="rId14"/>
          <a:stretch>
            <a:fillRect/>
          </a:stretch>
        </p:blipFill>
        <p:spPr>
          <a:xfrm>
            <a:off x="5562600" y="4785980"/>
            <a:ext cx="487722" cy="449619"/>
          </a:xfrm>
          <a:prstGeom prst="rect">
            <a:avLst/>
          </a:prstGeom>
        </p:spPr>
      </p:pic>
      <p:pic>
        <p:nvPicPr>
          <p:cNvPr id="18" name="图片 17"/>
          <p:cNvPicPr>
            <a:picLocks noChangeAspect="1"/>
          </p:cNvPicPr>
          <p:nvPr/>
        </p:nvPicPr>
        <p:blipFill>
          <a:blip r:embed="rId15"/>
          <a:stretch>
            <a:fillRect/>
          </a:stretch>
        </p:blipFill>
        <p:spPr>
          <a:xfrm>
            <a:off x="8231390" y="4675337"/>
            <a:ext cx="1425063" cy="518205"/>
          </a:xfrm>
          <a:prstGeom prst="rect">
            <a:avLst/>
          </a:prstGeom>
        </p:spPr>
      </p:pic>
    </p:spTree>
    <p:extLst>
      <p:ext uri="{BB962C8B-B14F-4D97-AF65-F5344CB8AC3E}">
        <p14:creationId xmlns:p14="http://schemas.microsoft.com/office/powerpoint/2010/main" val="720093677"/>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57200" y="1143000"/>
            <a:ext cx="11277599" cy="12954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从旧图构造新图</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smtClean="0"/>
                  <a:t>定义</a:t>
                </a:r>
                <a:r>
                  <a:rPr lang="en-US" altLang="zh-CN" b="1" dirty="0" smtClean="0"/>
                  <a:t>: </a:t>
                </a:r>
                <a:r>
                  <a:rPr lang="zh-CN" altLang="en-US" dirty="0" smtClean="0"/>
                  <a:t>两个简单图</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𝐺</m:t>
                        </m:r>
                      </m:e>
                      <m:sub>
                        <m:r>
                          <a:rPr lang="en-US" altLang="zh-CN" i="1">
                            <a:latin typeface="Cambria Math" panose="02040503050406030204" pitchFamily="18" charset="0"/>
                          </a:rPr>
                          <m:t>1</m:t>
                        </m:r>
                      </m:sub>
                    </m:sSub>
                  </m:oMath>
                </a14:m>
                <a:r>
                  <a:rPr lang="en-US" dirty="0" smtClean="0"/>
                  <a:t> =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i="1">
                            <a:latin typeface="Cambria Math" panose="02040503050406030204" pitchFamily="18" charset="0"/>
                          </a:rPr>
                          <m:t>1</m:t>
                        </m:r>
                      </m:sub>
                    </m:sSub>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b="0" i="0" smtClean="0">
                            <a:latin typeface="Cambria Math" panose="02040503050406030204" pitchFamily="18" charset="0"/>
                          </a:rPr>
                          <m:t>E</m:t>
                        </m:r>
                      </m:e>
                      <m:sub>
                        <m:r>
                          <a:rPr lang="en-US" altLang="zh-CN" i="1">
                            <a:latin typeface="Cambria Math" panose="02040503050406030204" pitchFamily="18" charset="0"/>
                          </a:rPr>
                          <m:t>1</m:t>
                        </m:r>
                      </m:sub>
                    </m:sSub>
                  </m:oMath>
                </a14:m>
                <a:r>
                  <a:rPr lang="en-US" dirty="0" smtClean="0"/>
                  <a:t>)</a:t>
                </a:r>
                <a:r>
                  <a:rPr lang="en-US" altLang="zh-CN"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𝐺</m:t>
                        </m:r>
                      </m:e>
                      <m:sub>
                        <m:r>
                          <a:rPr lang="en-US" altLang="zh-CN" b="0" i="1" smtClean="0">
                            <a:latin typeface="Cambria Math" panose="02040503050406030204" pitchFamily="18" charset="0"/>
                          </a:rPr>
                          <m:t>2</m:t>
                        </m:r>
                      </m:sub>
                    </m:sSub>
                  </m:oMath>
                </a14:m>
                <a:r>
                  <a:rPr lang="en-US" dirty="0" smtClean="0"/>
                  <a:t> =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b="0" i="1" smtClean="0">
                            <a:latin typeface="Cambria Math" panose="02040503050406030204" pitchFamily="18" charset="0"/>
                          </a:rPr>
                          <m:t>2</m:t>
                        </m:r>
                      </m:sub>
                    </m:sSub>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E</m:t>
                        </m:r>
                      </m:e>
                      <m:sub>
                        <m:r>
                          <a:rPr lang="en-US" altLang="zh-CN" b="0" i="1" smtClean="0">
                            <a:latin typeface="Cambria Math" panose="02040503050406030204" pitchFamily="18" charset="0"/>
                          </a:rPr>
                          <m:t>2</m:t>
                        </m:r>
                      </m:sub>
                    </m:sSub>
                  </m:oMath>
                </a14:m>
                <a:r>
                  <a:rPr lang="en-US" dirty="0" smtClean="0"/>
                  <a:t>)</a:t>
                </a:r>
                <a:r>
                  <a:rPr lang="zh-CN" altLang="en-US" dirty="0" smtClean="0"/>
                  <a:t>的</a:t>
                </a:r>
                <a:r>
                  <a:rPr lang="zh-CN" altLang="en-US" b="1" dirty="0" smtClean="0">
                    <a:solidFill>
                      <a:srgbClr val="C00000"/>
                    </a:solidFill>
                  </a:rPr>
                  <a:t>差图</a:t>
                </a:r>
                <a:r>
                  <a:rPr lang="zh-CN" altLang="en-US" dirty="0" smtClean="0"/>
                  <a:t>是指从</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𝐺</m:t>
                        </m:r>
                      </m:e>
                      <m:sub>
                        <m:r>
                          <a:rPr lang="en-US" altLang="zh-CN" i="1">
                            <a:latin typeface="Cambria Math" panose="02040503050406030204" pitchFamily="18" charset="0"/>
                          </a:rPr>
                          <m:t>1</m:t>
                        </m:r>
                      </m:sub>
                    </m:sSub>
                  </m:oMath>
                </a14:m>
                <a:r>
                  <a:rPr lang="zh-CN" altLang="en-US" dirty="0" smtClean="0"/>
                  <a:t>中删除</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𝐺</m:t>
                        </m:r>
                      </m:e>
                      <m:sub>
                        <m:r>
                          <a:rPr lang="en-US" altLang="zh-CN" i="1">
                            <a:latin typeface="Cambria Math" panose="02040503050406030204" pitchFamily="18" charset="0"/>
                          </a:rPr>
                          <m:t>2</m:t>
                        </m:r>
                      </m:sub>
                    </m:sSub>
                  </m:oMath>
                </a14:m>
                <a:r>
                  <a:rPr lang="zh-CN" altLang="en-US" dirty="0" smtClean="0"/>
                  <a:t>中的边所得的图，记做</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𝐺</m:t>
                        </m:r>
                      </m:e>
                      <m:sub>
                        <m:r>
                          <a:rPr lang="en-US" altLang="zh-CN" i="1">
                            <a:latin typeface="Cambria Math" panose="02040503050406030204" pitchFamily="18" charset="0"/>
                          </a:rPr>
                          <m:t>1</m:t>
                        </m:r>
                      </m:sub>
                    </m:sSub>
                  </m:oMath>
                </a14:m>
                <a:r>
                  <a:rPr lang="en-US" altLang="zh-CN" dirty="0" smtClean="0"/>
                  <a:t>-</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𝐺</m:t>
                        </m:r>
                      </m:e>
                      <m:sub>
                        <m:r>
                          <a:rPr lang="en-US" altLang="zh-CN" i="1">
                            <a:latin typeface="Cambria Math" panose="02040503050406030204" pitchFamily="18" charset="0"/>
                          </a:rPr>
                          <m:t>2</m:t>
                        </m:r>
                      </m:sub>
                    </m:sSub>
                  </m:oMath>
                </a14:m>
                <a:endParaRPr lang="en-US" dirty="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99" t="-1310" r="-444"/>
                </a:stretch>
              </a:blipFill>
            </p:spPr>
            <p:txBody>
              <a:bodyPr/>
              <a:lstStyle/>
              <a:p>
                <a:r>
                  <a:rPr lang="zh-CN" altLang="en-US">
                    <a:noFill/>
                  </a:rPr>
                  <a:t> </a:t>
                </a:r>
              </a:p>
            </p:txBody>
          </p:sp>
        </mc:Fallback>
      </mc:AlternateContent>
      <p:sp>
        <p:nvSpPr>
          <p:cNvPr id="7" name="日期占位符 6"/>
          <p:cNvSpPr>
            <a:spLocks noGrp="1"/>
          </p:cNvSpPr>
          <p:nvPr>
            <p:ph type="dt" sz="half" idx="10"/>
          </p:nvPr>
        </p:nvSpPr>
        <p:spPr/>
        <p:txBody>
          <a:bodyPr/>
          <a:lstStyle/>
          <a:p>
            <a:fld id="{69CD85A4-EFC3-48EC-9559-6F553D130ABB}"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68</a:t>
            </a:fld>
            <a:endParaRPr lang="zh-CN" altLang="en-US" dirty="0"/>
          </a:p>
        </p:txBody>
      </p:sp>
      <p:pic>
        <p:nvPicPr>
          <p:cNvPr id="6" name="图片 5"/>
          <p:cNvPicPr>
            <a:picLocks noChangeAspect="1"/>
          </p:cNvPicPr>
          <p:nvPr/>
        </p:nvPicPr>
        <p:blipFill>
          <a:blip r:embed="rId3"/>
          <a:stretch>
            <a:fillRect/>
          </a:stretch>
        </p:blipFill>
        <p:spPr>
          <a:xfrm>
            <a:off x="1295400" y="2708824"/>
            <a:ext cx="5754974" cy="2236612"/>
          </a:xfrm>
          <a:prstGeom prst="rect">
            <a:avLst/>
          </a:prstGeom>
        </p:spPr>
      </p:pic>
      <p:pic>
        <p:nvPicPr>
          <p:cNvPr id="16" name="图片 15"/>
          <p:cNvPicPr>
            <a:picLocks noChangeAspect="1"/>
          </p:cNvPicPr>
          <p:nvPr/>
        </p:nvPicPr>
        <p:blipFill>
          <a:blip r:embed="rId4"/>
          <a:stretch>
            <a:fillRect/>
          </a:stretch>
        </p:blipFill>
        <p:spPr>
          <a:xfrm>
            <a:off x="2133600" y="4876455"/>
            <a:ext cx="411516" cy="419136"/>
          </a:xfrm>
          <a:prstGeom prst="rect">
            <a:avLst/>
          </a:prstGeom>
        </p:spPr>
      </p:pic>
      <p:pic>
        <p:nvPicPr>
          <p:cNvPr id="20" name="图片 19"/>
          <p:cNvPicPr>
            <a:picLocks noChangeAspect="1"/>
          </p:cNvPicPr>
          <p:nvPr/>
        </p:nvPicPr>
        <p:blipFill>
          <a:blip r:embed="rId5"/>
          <a:stretch>
            <a:fillRect/>
          </a:stretch>
        </p:blipFill>
        <p:spPr>
          <a:xfrm>
            <a:off x="9106135" y="3262110"/>
            <a:ext cx="129551" cy="137172"/>
          </a:xfrm>
          <a:prstGeom prst="rect">
            <a:avLst/>
          </a:prstGeom>
        </p:spPr>
      </p:pic>
      <p:pic>
        <p:nvPicPr>
          <p:cNvPr id="21" name="图片 20"/>
          <p:cNvPicPr>
            <a:picLocks noChangeAspect="1"/>
          </p:cNvPicPr>
          <p:nvPr/>
        </p:nvPicPr>
        <p:blipFill>
          <a:blip r:embed="rId5"/>
          <a:stretch>
            <a:fillRect/>
          </a:stretch>
        </p:blipFill>
        <p:spPr>
          <a:xfrm>
            <a:off x="9824215" y="3231359"/>
            <a:ext cx="129551" cy="137172"/>
          </a:xfrm>
          <a:prstGeom prst="rect">
            <a:avLst/>
          </a:prstGeom>
        </p:spPr>
      </p:pic>
      <p:pic>
        <p:nvPicPr>
          <p:cNvPr id="4" name="图片 3"/>
          <p:cNvPicPr>
            <a:picLocks noChangeAspect="1"/>
          </p:cNvPicPr>
          <p:nvPr/>
        </p:nvPicPr>
        <p:blipFill>
          <a:blip r:embed="rId6"/>
          <a:stretch>
            <a:fillRect/>
          </a:stretch>
        </p:blipFill>
        <p:spPr>
          <a:xfrm>
            <a:off x="8257116" y="4769545"/>
            <a:ext cx="1059272" cy="502964"/>
          </a:xfrm>
          <a:prstGeom prst="rect">
            <a:avLst/>
          </a:prstGeom>
        </p:spPr>
      </p:pic>
      <p:pic>
        <p:nvPicPr>
          <p:cNvPr id="23" name="图片 22"/>
          <p:cNvPicPr>
            <a:picLocks noChangeAspect="1"/>
          </p:cNvPicPr>
          <p:nvPr/>
        </p:nvPicPr>
        <p:blipFill>
          <a:blip r:embed="rId7"/>
          <a:stretch>
            <a:fillRect/>
          </a:stretch>
        </p:blipFill>
        <p:spPr>
          <a:xfrm>
            <a:off x="7769115" y="3124200"/>
            <a:ext cx="220999" cy="1295400"/>
          </a:xfrm>
          <a:prstGeom prst="rect">
            <a:avLst/>
          </a:prstGeom>
        </p:spPr>
      </p:pic>
      <p:pic>
        <p:nvPicPr>
          <p:cNvPr id="24" name="图片 23"/>
          <p:cNvPicPr>
            <a:picLocks noChangeAspect="1"/>
          </p:cNvPicPr>
          <p:nvPr/>
        </p:nvPicPr>
        <p:blipFill>
          <a:blip r:embed="rId8"/>
          <a:stretch>
            <a:fillRect/>
          </a:stretch>
        </p:blipFill>
        <p:spPr>
          <a:xfrm>
            <a:off x="7734646" y="4556772"/>
            <a:ext cx="320068" cy="213378"/>
          </a:xfrm>
          <a:prstGeom prst="rect">
            <a:avLst/>
          </a:prstGeom>
        </p:spPr>
      </p:pic>
      <p:pic>
        <p:nvPicPr>
          <p:cNvPr id="25" name="图片 24"/>
          <p:cNvPicPr>
            <a:picLocks noChangeAspect="1"/>
          </p:cNvPicPr>
          <p:nvPr/>
        </p:nvPicPr>
        <p:blipFill>
          <a:blip r:embed="rId9"/>
          <a:stretch>
            <a:fillRect/>
          </a:stretch>
        </p:blipFill>
        <p:spPr>
          <a:xfrm>
            <a:off x="7990114" y="4320525"/>
            <a:ext cx="1287892" cy="175275"/>
          </a:xfrm>
          <a:prstGeom prst="rect">
            <a:avLst/>
          </a:prstGeom>
        </p:spPr>
      </p:pic>
      <p:pic>
        <p:nvPicPr>
          <p:cNvPr id="26" name="图片 25"/>
          <p:cNvPicPr>
            <a:picLocks noChangeAspect="1"/>
          </p:cNvPicPr>
          <p:nvPr/>
        </p:nvPicPr>
        <p:blipFill>
          <a:blip r:embed="rId10"/>
          <a:stretch>
            <a:fillRect/>
          </a:stretch>
        </p:blipFill>
        <p:spPr>
          <a:xfrm>
            <a:off x="9133205" y="4473523"/>
            <a:ext cx="220999" cy="259102"/>
          </a:xfrm>
          <a:prstGeom prst="rect">
            <a:avLst/>
          </a:prstGeom>
        </p:spPr>
      </p:pic>
      <p:cxnSp>
        <p:nvCxnSpPr>
          <p:cNvPr id="27" name="Straight Connector 6"/>
          <p:cNvCxnSpPr>
            <a:endCxn id="21" idx="2"/>
          </p:cNvCxnSpPr>
          <p:nvPr/>
        </p:nvCxnSpPr>
        <p:spPr>
          <a:xfrm flipV="1">
            <a:off x="9243704" y="3368531"/>
            <a:ext cx="645287" cy="951989"/>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pic>
        <p:nvPicPr>
          <p:cNvPr id="31" name="图片 30"/>
          <p:cNvPicPr>
            <a:picLocks noChangeAspect="1"/>
          </p:cNvPicPr>
          <p:nvPr/>
        </p:nvPicPr>
        <p:blipFill>
          <a:blip r:embed="rId11"/>
          <a:stretch>
            <a:fillRect/>
          </a:stretch>
        </p:blipFill>
        <p:spPr>
          <a:xfrm>
            <a:off x="8714504" y="2919278"/>
            <a:ext cx="251482" cy="266723"/>
          </a:xfrm>
          <a:prstGeom prst="rect">
            <a:avLst/>
          </a:prstGeom>
        </p:spPr>
      </p:pic>
      <p:pic>
        <p:nvPicPr>
          <p:cNvPr id="33" name="图片 32"/>
          <p:cNvPicPr>
            <a:picLocks noChangeAspect="1"/>
          </p:cNvPicPr>
          <p:nvPr/>
        </p:nvPicPr>
        <p:blipFill>
          <a:blip r:embed="rId12"/>
          <a:stretch>
            <a:fillRect/>
          </a:stretch>
        </p:blipFill>
        <p:spPr>
          <a:xfrm>
            <a:off x="9824215" y="2957771"/>
            <a:ext cx="205758" cy="220999"/>
          </a:xfrm>
          <a:prstGeom prst="rect">
            <a:avLst/>
          </a:prstGeom>
        </p:spPr>
      </p:pic>
      <p:cxnSp>
        <p:nvCxnSpPr>
          <p:cNvPr id="34" name="Straight Connector 6"/>
          <p:cNvCxnSpPr/>
          <p:nvPr/>
        </p:nvCxnSpPr>
        <p:spPr>
          <a:xfrm flipH="1" flipV="1">
            <a:off x="9183378" y="3382729"/>
            <a:ext cx="23504" cy="970175"/>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图片 4"/>
          <p:cNvPicPr>
            <a:picLocks noChangeAspect="1"/>
          </p:cNvPicPr>
          <p:nvPr/>
        </p:nvPicPr>
        <p:blipFill>
          <a:blip r:embed="rId13"/>
          <a:stretch>
            <a:fillRect/>
          </a:stretch>
        </p:blipFill>
        <p:spPr>
          <a:xfrm>
            <a:off x="5410200" y="4871572"/>
            <a:ext cx="476657" cy="462428"/>
          </a:xfrm>
          <a:prstGeom prst="rect">
            <a:avLst/>
          </a:prstGeom>
        </p:spPr>
      </p:pic>
    </p:spTree>
    <p:extLst>
      <p:ext uri="{BB962C8B-B14F-4D97-AF65-F5344CB8AC3E}">
        <p14:creationId xmlns:p14="http://schemas.microsoft.com/office/powerpoint/2010/main" val="1027857396"/>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57200" y="1143000"/>
            <a:ext cx="11277599" cy="12954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从旧图构造新</a:t>
            </a:r>
            <a:r>
              <a:rPr lang="zh-CN" altLang="en-US" dirty="0" smtClean="0"/>
              <a:t>图（对称差或环合，  表示）</a:t>
            </a:r>
            <a:endParaRPr lang="en-US" dirty="0"/>
          </a:p>
        </p:txBody>
      </p:sp>
      <p:sp>
        <p:nvSpPr>
          <p:cNvPr id="7" name="日期占位符 6"/>
          <p:cNvSpPr>
            <a:spLocks noGrp="1"/>
          </p:cNvSpPr>
          <p:nvPr>
            <p:ph type="dt" sz="half" idx="10"/>
          </p:nvPr>
        </p:nvSpPr>
        <p:spPr/>
        <p:txBody>
          <a:bodyPr/>
          <a:lstStyle/>
          <a:p>
            <a:fld id="{69CD85A4-EFC3-48EC-9559-6F553D130ABB}"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69</a:t>
            </a:fld>
            <a:endParaRPr lang="zh-CN" altLang="en-US" dirty="0"/>
          </a:p>
        </p:txBody>
      </p:sp>
      <p:pic>
        <p:nvPicPr>
          <p:cNvPr id="39" name="图片 38"/>
          <p:cNvPicPr>
            <a:picLocks noChangeAspect="1"/>
          </p:cNvPicPr>
          <p:nvPr/>
        </p:nvPicPr>
        <p:blipFill>
          <a:blip r:embed="rId3"/>
          <a:stretch>
            <a:fillRect/>
          </a:stretch>
        </p:blipFill>
        <p:spPr>
          <a:xfrm>
            <a:off x="381000" y="933336"/>
            <a:ext cx="11582399" cy="5276969"/>
          </a:xfrm>
          <a:prstGeom prst="rect">
            <a:avLst/>
          </a:prstGeom>
        </p:spPr>
      </p:pic>
      <p:graphicFrame>
        <p:nvGraphicFramePr>
          <p:cNvPr id="5" name="内容占位符 4"/>
          <p:cNvGraphicFramePr>
            <a:graphicFrameLocks noGrp="1" noChangeAspect="1"/>
          </p:cNvGraphicFramePr>
          <p:nvPr>
            <p:ph idx="1"/>
            <p:extLst>
              <p:ext uri="{D42A27DB-BD31-4B8C-83A1-F6EECF244321}">
                <p14:modId xmlns:p14="http://schemas.microsoft.com/office/powerpoint/2010/main" val="528882140"/>
              </p:ext>
            </p:extLst>
          </p:nvPr>
        </p:nvGraphicFramePr>
        <p:xfrm>
          <a:off x="7274443" y="240061"/>
          <a:ext cx="617127" cy="664599"/>
        </p:xfrm>
        <a:graphic>
          <a:graphicData uri="http://schemas.openxmlformats.org/presentationml/2006/ole">
            <mc:AlternateContent xmlns:mc="http://schemas.openxmlformats.org/markup-compatibility/2006">
              <mc:Choice xmlns:v="urn:schemas-microsoft-com:vml" Requires="v">
                <p:oleObj spid="_x0000_s4186" name="Equation" r:id="rId4" imgW="164880" imgH="177480" progId="Equation.DSMT4">
                  <p:embed/>
                </p:oleObj>
              </mc:Choice>
              <mc:Fallback>
                <p:oleObj name="Equation" r:id="rId4" imgW="164880" imgH="177480" progId="Equation.DSMT4">
                  <p:embed/>
                  <p:pic>
                    <p:nvPicPr>
                      <p:cNvPr id="0" name=""/>
                      <p:cNvPicPr/>
                      <p:nvPr/>
                    </p:nvPicPr>
                    <p:blipFill>
                      <a:blip r:embed="rId5"/>
                      <a:stretch>
                        <a:fillRect/>
                      </a:stretch>
                    </p:blipFill>
                    <p:spPr>
                      <a:xfrm>
                        <a:off x="7274443" y="240061"/>
                        <a:ext cx="617127" cy="664599"/>
                      </a:xfrm>
                      <a:prstGeom prst="rect">
                        <a:avLst/>
                      </a:prstGeom>
                    </p:spPr>
                  </p:pic>
                </p:oleObj>
              </mc:Fallback>
            </mc:AlternateContent>
          </a:graphicData>
        </a:graphic>
      </p:graphicFrame>
    </p:spTree>
    <p:extLst>
      <p:ext uri="{BB962C8B-B14F-4D97-AF65-F5344CB8AC3E}">
        <p14:creationId xmlns:p14="http://schemas.microsoft.com/office/powerpoint/2010/main" val="2679069911"/>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57200" y="1143000"/>
            <a:ext cx="11277599" cy="12954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从旧图构造新图</a:t>
            </a:r>
            <a:endParaRPr lang="en-US" dirty="0"/>
          </a:p>
        </p:txBody>
      </p:sp>
      <p:pic>
        <p:nvPicPr>
          <p:cNvPr id="4" name="内容占位符 3"/>
          <p:cNvPicPr>
            <a:picLocks noGrp="1" noChangeAspect="1"/>
          </p:cNvPicPr>
          <p:nvPr>
            <p:ph idx="1"/>
          </p:nvPr>
        </p:nvPicPr>
        <p:blipFill>
          <a:blip r:embed="rId2"/>
          <a:stretch>
            <a:fillRect/>
          </a:stretch>
        </p:blipFill>
        <p:spPr>
          <a:xfrm>
            <a:off x="226424" y="990600"/>
            <a:ext cx="11724640" cy="5105400"/>
          </a:xfrm>
          <a:prstGeom prst="rect">
            <a:avLst/>
          </a:prstGeom>
        </p:spPr>
      </p:pic>
      <p:sp>
        <p:nvSpPr>
          <p:cNvPr id="7" name="日期占位符 6"/>
          <p:cNvSpPr>
            <a:spLocks noGrp="1"/>
          </p:cNvSpPr>
          <p:nvPr>
            <p:ph type="dt" sz="half" idx="10"/>
          </p:nvPr>
        </p:nvSpPr>
        <p:spPr/>
        <p:txBody>
          <a:bodyPr/>
          <a:lstStyle/>
          <a:p>
            <a:fld id="{69CD85A4-EFC3-48EC-9559-6F553D130ABB}"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70</a:t>
            </a:fld>
            <a:endParaRPr lang="zh-CN" altLang="en-US" dirty="0"/>
          </a:p>
        </p:txBody>
      </p:sp>
    </p:spTree>
    <p:extLst>
      <p:ext uri="{BB962C8B-B14F-4D97-AF65-F5344CB8AC3E}">
        <p14:creationId xmlns:p14="http://schemas.microsoft.com/office/powerpoint/2010/main" val="3261002637"/>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57200" y="1143000"/>
            <a:ext cx="11277599" cy="12954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从旧图构造新图</a:t>
            </a:r>
            <a:endParaRPr lang="en-US" dirty="0"/>
          </a:p>
        </p:txBody>
      </p:sp>
      <p:sp>
        <p:nvSpPr>
          <p:cNvPr id="7" name="日期占位符 6"/>
          <p:cNvSpPr>
            <a:spLocks noGrp="1"/>
          </p:cNvSpPr>
          <p:nvPr>
            <p:ph type="dt" sz="half" idx="10"/>
          </p:nvPr>
        </p:nvSpPr>
        <p:spPr/>
        <p:txBody>
          <a:bodyPr/>
          <a:lstStyle/>
          <a:p>
            <a:fld id="{69CD85A4-EFC3-48EC-9559-6F553D130ABB}"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71</a:t>
            </a:fld>
            <a:endParaRPr lang="zh-CN" altLang="en-US" dirty="0"/>
          </a:p>
        </p:txBody>
      </p:sp>
      <p:sp>
        <p:nvSpPr>
          <p:cNvPr id="3" name="内容占位符 2"/>
          <p:cNvSpPr>
            <a:spLocks noGrp="1"/>
          </p:cNvSpPr>
          <p:nvPr>
            <p:ph idx="1"/>
          </p:nvPr>
        </p:nvSpPr>
        <p:spPr/>
        <p:txBody>
          <a:bodyPr/>
          <a:lstStyle/>
          <a:p>
            <a:endParaRPr lang="zh-CN" altLang="en-US"/>
          </a:p>
        </p:txBody>
      </p:sp>
      <p:pic>
        <p:nvPicPr>
          <p:cNvPr id="5" name="图片 4"/>
          <p:cNvPicPr>
            <a:picLocks noChangeAspect="1"/>
          </p:cNvPicPr>
          <p:nvPr/>
        </p:nvPicPr>
        <p:blipFill>
          <a:blip r:embed="rId2"/>
          <a:stretch>
            <a:fillRect/>
          </a:stretch>
        </p:blipFill>
        <p:spPr>
          <a:xfrm>
            <a:off x="453999" y="1072270"/>
            <a:ext cx="11280800" cy="4871330"/>
          </a:xfrm>
          <a:prstGeom prst="rect">
            <a:avLst/>
          </a:prstGeom>
        </p:spPr>
      </p:pic>
      <p:sp>
        <p:nvSpPr>
          <p:cNvPr id="11" name="椭圆 10"/>
          <p:cNvSpPr/>
          <p:nvPr/>
        </p:nvSpPr>
        <p:spPr>
          <a:xfrm>
            <a:off x="8229600" y="3886200"/>
            <a:ext cx="304800" cy="152400"/>
          </a:xfrm>
          <a:prstGeom prst="ellipse">
            <a:avLst/>
          </a:pr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7543800" y="4255758"/>
            <a:ext cx="304800" cy="152400"/>
          </a:xfrm>
          <a:prstGeom prst="ellipse">
            <a:avLst/>
          </a:pr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521885029"/>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57200" y="1143000"/>
            <a:ext cx="11277599" cy="12954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从旧图构造新图</a:t>
            </a:r>
            <a:endParaRPr lang="en-US" dirty="0"/>
          </a:p>
        </p:txBody>
      </p:sp>
      <p:sp>
        <p:nvSpPr>
          <p:cNvPr id="7" name="日期占位符 6"/>
          <p:cNvSpPr>
            <a:spLocks noGrp="1"/>
          </p:cNvSpPr>
          <p:nvPr>
            <p:ph type="dt" sz="half" idx="10"/>
          </p:nvPr>
        </p:nvSpPr>
        <p:spPr/>
        <p:txBody>
          <a:bodyPr/>
          <a:lstStyle/>
          <a:p>
            <a:fld id="{69CD85A4-EFC3-48EC-9559-6F553D130ABB}"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72</a:t>
            </a:fld>
            <a:endParaRPr lang="zh-CN" altLang="en-US" dirty="0"/>
          </a:p>
        </p:txBody>
      </p:sp>
      <p:sp>
        <p:nvSpPr>
          <p:cNvPr id="3" name="内容占位符 2"/>
          <p:cNvSpPr>
            <a:spLocks noGrp="1"/>
          </p:cNvSpPr>
          <p:nvPr>
            <p:ph idx="1"/>
          </p:nvPr>
        </p:nvSpPr>
        <p:spPr/>
        <p:txBody>
          <a:bodyPr/>
          <a:lstStyle/>
          <a:p>
            <a:endParaRPr lang="zh-CN" altLang="en-US"/>
          </a:p>
        </p:txBody>
      </p:sp>
      <p:pic>
        <p:nvPicPr>
          <p:cNvPr id="4" name="图片 3"/>
          <p:cNvPicPr>
            <a:picLocks noChangeAspect="1"/>
          </p:cNvPicPr>
          <p:nvPr/>
        </p:nvPicPr>
        <p:blipFill>
          <a:blip r:embed="rId2"/>
          <a:stretch>
            <a:fillRect/>
          </a:stretch>
        </p:blipFill>
        <p:spPr>
          <a:xfrm>
            <a:off x="457200" y="1078774"/>
            <a:ext cx="11277599" cy="5017225"/>
          </a:xfrm>
          <a:prstGeom prst="rect">
            <a:avLst/>
          </a:prstGeom>
        </p:spPr>
      </p:pic>
    </p:spTree>
    <p:extLst>
      <p:ext uri="{BB962C8B-B14F-4D97-AF65-F5344CB8AC3E}">
        <p14:creationId xmlns:p14="http://schemas.microsoft.com/office/powerpoint/2010/main" val="96956265"/>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57200" y="1143000"/>
            <a:ext cx="11277599" cy="12954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smtClean="0"/>
              <a:t>可图序列</a:t>
            </a:r>
            <a:endParaRPr lang="en-US" dirty="0"/>
          </a:p>
        </p:txBody>
      </p:sp>
      <p:sp>
        <p:nvSpPr>
          <p:cNvPr id="7" name="日期占位符 6"/>
          <p:cNvSpPr>
            <a:spLocks noGrp="1"/>
          </p:cNvSpPr>
          <p:nvPr>
            <p:ph type="dt" sz="half" idx="10"/>
          </p:nvPr>
        </p:nvSpPr>
        <p:spPr/>
        <p:txBody>
          <a:bodyPr/>
          <a:lstStyle/>
          <a:p>
            <a:fld id="{69CD85A4-EFC3-48EC-9559-6F553D130ABB}"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73</a:t>
            </a:fld>
            <a:endParaRPr lang="zh-CN" altLang="en-US" dirty="0"/>
          </a:p>
        </p:txBody>
      </p:sp>
      <p:sp>
        <p:nvSpPr>
          <p:cNvPr id="3" name="内容占位符 2"/>
          <p:cNvSpPr>
            <a:spLocks noGrp="1"/>
          </p:cNvSpPr>
          <p:nvPr>
            <p:ph idx="1"/>
          </p:nvPr>
        </p:nvSpPr>
        <p:spPr/>
        <p:txBody>
          <a:bodyPr>
            <a:normAutofit/>
          </a:bodyPr>
          <a:lstStyle/>
          <a:p>
            <a:r>
              <a:rPr lang="en-US" altLang="zh-CN" dirty="0" smtClean="0"/>
              <a:t> </a:t>
            </a:r>
            <a:r>
              <a:rPr lang="zh-CN" altLang="en-US" dirty="0" smtClean="0"/>
              <a:t>度序列：若把图</a:t>
            </a:r>
            <a:r>
              <a:rPr lang="en-US" altLang="zh-CN" dirty="0" smtClean="0"/>
              <a:t>G</a:t>
            </a:r>
            <a:r>
              <a:rPr lang="zh-CN" altLang="en-US" dirty="0" smtClean="0"/>
              <a:t>所有顶点的度数排成一个序列，责成该序列为图</a:t>
            </a:r>
            <a:r>
              <a:rPr lang="en-US" altLang="zh-CN" dirty="0" smtClean="0"/>
              <a:t>G</a:t>
            </a:r>
            <a:r>
              <a:rPr lang="zh-CN" altLang="en-US" dirty="0" smtClean="0"/>
              <a:t>的一个序列。该序列可以是非递增的，可以是非递减的，也可以是任意无序的。</a:t>
            </a:r>
            <a:endParaRPr lang="en-US" altLang="zh-CN" dirty="0" smtClean="0"/>
          </a:p>
          <a:p>
            <a:r>
              <a:rPr lang="en-US" altLang="zh-CN" dirty="0" smtClean="0"/>
              <a:t>Havel-</a:t>
            </a:r>
            <a:r>
              <a:rPr lang="en-US" altLang="zh-CN" dirty="0" err="1" smtClean="0"/>
              <a:t>Hakimi</a:t>
            </a:r>
            <a:r>
              <a:rPr lang="en-US" altLang="zh-CN" dirty="0" smtClean="0"/>
              <a:t> </a:t>
            </a:r>
            <a:r>
              <a:rPr lang="zh-CN" altLang="en-US" dirty="0" smtClean="0"/>
              <a:t>定理：给定一个非负整数序列</a:t>
            </a:r>
            <a:r>
              <a:rPr lang="en-US" altLang="zh-CN" dirty="0" smtClean="0"/>
              <a:t>{d1,d2,…,</a:t>
            </a:r>
            <a:r>
              <a:rPr lang="en-US" altLang="zh-CN" dirty="0" err="1" smtClean="0"/>
              <a:t>dn</a:t>
            </a:r>
            <a:r>
              <a:rPr lang="en-US" altLang="zh-CN" dirty="0" smtClean="0"/>
              <a:t>}, </a:t>
            </a:r>
            <a:r>
              <a:rPr lang="zh-CN" altLang="en-US" dirty="0" smtClean="0"/>
              <a:t>若存在一个无向图使得图中各点的度与此序列一一对应，则称此序列可图化或为可图序列。进一步，若为简单图，则称此序列可简单图化。</a:t>
            </a:r>
            <a:endParaRPr lang="en-US" altLang="zh-CN" dirty="0" smtClean="0"/>
          </a:p>
          <a:p>
            <a:r>
              <a:rPr lang="zh-CN" altLang="en-US" dirty="0"/>
              <a:t>方法</a:t>
            </a:r>
            <a:r>
              <a:rPr lang="zh-CN" altLang="en-US" dirty="0" smtClean="0"/>
              <a:t>描述：由非负整数组成的有限非递增序列，</a:t>
            </a:r>
            <a:r>
              <a:rPr lang="en-US" altLang="zh-CN" dirty="0" smtClean="0"/>
              <a:t>S={d1,d2,d3,…,</a:t>
            </a:r>
            <a:r>
              <a:rPr lang="en-US" altLang="zh-CN" dirty="0" err="1" smtClean="0"/>
              <a:t>dn</a:t>
            </a:r>
            <a:r>
              <a:rPr lang="en-US" altLang="zh-CN" dirty="0" smtClean="0"/>
              <a:t>}</a:t>
            </a:r>
            <a:r>
              <a:rPr lang="zh-CN" altLang="en-US" dirty="0" smtClean="0"/>
              <a:t>可简单图化当且仅当</a:t>
            </a:r>
            <a:r>
              <a:rPr lang="en-US" altLang="zh-CN" dirty="0" smtClean="0"/>
              <a:t>S1={d2-1,d3-1…d(d1+1),d(d1+2),…</a:t>
            </a:r>
            <a:r>
              <a:rPr lang="en-US" altLang="zh-CN" dirty="0" err="1" smtClean="0"/>
              <a:t>dn</a:t>
            </a:r>
            <a:r>
              <a:rPr lang="en-US" altLang="zh-CN" dirty="0" smtClean="0"/>
              <a:t>}</a:t>
            </a:r>
            <a:r>
              <a:rPr lang="zh-CN" altLang="en-US" dirty="0" smtClean="0"/>
              <a:t>也是可简单图化的，也就是说，序列</a:t>
            </a:r>
            <a:r>
              <a:rPr lang="en-US" altLang="zh-CN" dirty="0" smtClean="0"/>
              <a:t>S1</a:t>
            </a:r>
            <a:r>
              <a:rPr lang="zh-CN" altLang="en-US" dirty="0" smtClean="0"/>
              <a:t>也是由非负整数组成的有限非递增序列，</a:t>
            </a:r>
            <a:r>
              <a:rPr lang="en-US" altLang="zh-CN" dirty="0" smtClean="0"/>
              <a:t>S1</a:t>
            </a:r>
            <a:r>
              <a:rPr lang="zh-CN" altLang="en-US" dirty="0" smtClean="0"/>
              <a:t>是</a:t>
            </a:r>
            <a:r>
              <a:rPr lang="en-US" altLang="zh-CN" dirty="0" smtClean="0"/>
              <a:t>S</a:t>
            </a:r>
            <a:r>
              <a:rPr lang="zh-CN" altLang="en-US" dirty="0" smtClean="0"/>
              <a:t>的删除第一个元素</a:t>
            </a:r>
            <a:r>
              <a:rPr lang="en-US" altLang="zh-CN" dirty="0" smtClean="0"/>
              <a:t>d1</a:t>
            </a:r>
            <a:r>
              <a:rPr lang="zh-CN" altLang="en-US" dirty="0" smtClean="0"/>
              <a:t>之后的前</a:t>
            </a:r>
            <a:r>
              <a:rPr lang="en-US" altLang="zh-CN" dirty="0" smtClean="0"/>
              <a:t>d1</a:t>
            </a:r>
            <a:r>
              <a:rPr lang="zh-CN" altLang="en-US" dirty="0" smtClean="0"/>
              <a:t>个元素分别减一后得到的序列。</a:t>
            </a:r>
            <a:endParaRPr lang="zh-CN" altLang="en-US" dirty="0"/>
          </a:p>
        </p:txBody>
      </p:sp>
    </p:spTree>
    <p:extLst>
      <p:ext uri="{BB962C8B-B14F-4D97-AF65-F5344CB8AC3E}">
        <p14:creationId xmlns:p14="http://schemas.microsoft.com/office/powerpoint/2010/main" val="1809423223"/>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57200" y="1143000"/>
            <a:ext cx="11277599" cy="12954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smtClean="0"/>
              <a:t>可图序列</a:t>
            </a:r>
            <a:endParaRPr lang="en-US" dirty="0"/>
          </a:p>
        </p:txBody>
      </p:sp>
      <p:sp>
        <p:nvSpPr>
          <p:cNvPr id="7" name="日期占位符 6"/>
          <p:cNvSpPr>
            <a:spLocks noGrp="1"/>
          </p:cNvSpPr>
          <p:nvPr>
            <p:ph type="dt" sz="half" idx="10"/>
          </p:nvPr>
        </p:nvSpPr>
        <p:spPr/>
        <p:txBody>
          <a:bodyPr/>
          <a:lstStyle/>
          <a:p>
            <a:fld id="{69CD85A4-EFC3-48EC-9559-6F553D130ABB}"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74</a:t>
            </a:fld>
            <a:endParaRPr lang="zh-CN" altLang="en-US" dirty="0"/>
          </a:p>
        </p:txBody>
      </p:sp>
      <p:sp>
        <p:nvSpPr>
          <p:cNvPr id="3" name="内容占位符 2"/>
          <p:cNvSpPr>
            <a:spLocks noGrp="1"/>
          </p:cNvSpPr>
          <p:nvPr>
            <p:ph idx="1"/>
          </p:nvPr>
        </p:nvSpPr>
        <p:spPr/>
        <p:txBody>
          <a:bodyPr>
            <a:normAutofit/>
          </a:bodyPr>
          <a:lstStyle/>
          <a:p>
            <a:r>
              <a:rPr lang="en-US" altLang="zh-CN" dirty="0" smtClean="0"/>
              <a:t> </a:t>
            </a:r>
            <a:r>
              <a:rPr lang="zh-CN" altLang="en-US" dirty="0" smtClean="0"/>
              <a:t>例：判断序列</a:t>
            </a:r>
            <a:r>
              <a:rPr lang="en-US" altLang="zh-CN" dirty="0" smtClean="0"/>
              <a:t>S={6,5,4,3,3,3,2,0}</a:t>
            </a:r>
            <a:r>
              <a:rPr lang="zh-CN" altLang="en-US" dirty="0" smtClean="0"/>
              <a:t>是否是可简单图化？</a:t>
            </a:r>
            <a:endParaRPr lang="en-US" altLang="zh-CN" dirty="0" smtClean="0"/>
          </a:p>
          <a:p>
            <a:pPr marL="0" indent="0">
              <a:buNone/>
            </a:pPr>
            <a:r>
              <a:rPr lang="zh-CN" altLang="en-US" dirty="0" smtClean="0"/>
              <a:t>证明</a:t>
            </a:r>
            <a:r>
              <a:rPr lang="zh-CN" altLang="en-US" dirty="0" smtClean="0">
                <a:sym typeface="Wingdings" panose="05000000000000000000" pitchFamily="2" charset="2"/>
              </a:rPr>
              <a:t>：</a:t>
            </a:r>
            <a:r>
              <a:rPr lang="en-US" altLang="zh-CN" dirty="0" smtClean="0">
                <a:sym typeface="Wingdings" panose="05000000000000000000" pitchFamily="2" charset="2"/>
              </a:rPr>
              <a:t>(1</a:t>
            </a:r>
            <a:r>
              <a:rPr lang="zh-CN" altLang="en-US" dirty="0" smtClean="0">
                <a:sym typeface="Wingdings" panose="05000000000000000000" pitchFamily="2" charset="2"/>
              </a:rPr>
              <a:t>）删除首元素</a:t>
            </a:r>
            <a:r>
              <a:rPr lang="en-US" altLang="zh-CN" dirty="0" smtClean="0">
                <a:sym typeface="Wingdings" panose="05000000000000000000" pitchFamily="2" charset="2"/>
              </a:rPr>
              <a:t>6</a:t>
            </a:r>
            <a:r>
              <a:rPr lang="zh-CN" altLang="en-US" dirty="0" smtClean="0">
                <a:sym typeface="Wingdings" panose="05000000000000000000" pitchFamily="2" charset="2"/>
              </a:rPr>
              <a:t>，将第一个元素后面的</a:t>
            </a:r>
            <a:r>
              <a:rPr lang="en-US" altLang="zh-CN" dirty="0" smtClean="0">
                <a:sym typeface="Wingdings" panose="05000000000000000000" pitchFamily="2" charset="2"/>
              </a:rPr>
              <a:t>6</a:t>
            </a:r>
            <a:r>
              <a:rPr lang="zh-CN" altLang="en-US" dirty="0" smtClean="0">
                <a:sym typeface="Wingdings" panose="05000000000000000000" pitchFamily="2" charset="2"/>
              </a:rPr>
              <a:t>个元素减一，得到</a:t>
            </a:r>
            <a:r>
              <a:rPr lang="en-US" altLang="zh-CN" dirty="0" smtClean="0">
                <a:sym typeface="Wingdings" panose="05000000000000000000" pitchFamily="2" charset="2"/>
              </a:rPr>
              <a:t>S1={4,3,2,2,2,1,0}</a:t>
            </a:r>
          </a:p>
          <a:p>
            <a:pPr marL="0" indent="0">
              <a:buNone/>
            </a:pPr>
            <a:r>
              <a:rPr lang="en-US" altLang="zh-CN" dirty="0" smtClean="0">
                <a:sym typeface="Wingdings" panose="05000000000000000000" pitchFamily="2" charset="2"/>
              </a:rPr>
              <a:t>(2) </a:t>
            </a:r>
            <a:r>
              <a:rPr lang="zh-CN" altLang="en-US" dirty="0" smtClean="0">
                <a:sym typeface="Wingdings" panose="05000000000000000000" pitchFamily="2" charset="2"/>
              </a:rPr>
              <a:t>删除首元素</a:t>
            </a:r>
            <a:r>
              <a:rPr lang="en-US" altLang="zh-CN" dirty="0" smtClean="0">
                <a:sym typeface="Wingdings" panose="05000000000000000000" pitchFamily="2" charset="2"/>
              </a:rPr>
              <a:t>4</a:t>
            </a:r>
            <a:r>
              <a:rPr lang="zh-CN" altLang="en-US" dirty="0" smtClean="0">
                <a:sym typeface="Wingdings" panose="05000000000000000000" pitchFamily="2" charset="2"/>
              </a:rPr>
              <a:t>，将除去第一个元素后面的</a:t>
            </a:r>
            <a:r>
              <a:rPr lang="en-US" altLang="zh-CN" dirty="0" smtClean="0">
                <a:sym typeface="Wingdings" panose="05000000000000000000" pitchFamily="2" charset="2"/>
              </a:rPr>
              <a:t>4</a:t>
            </a:r>
            <a:r>
              <a:rPr lang="zh-CN" altLang="en-US" dirty="0" smtClean="0">
                <a:sym typeface="Wingdings" panose="05000000000000000000" pitchFamily="2" charset="2"/>
              </a:rPr>
              <a:t>个元素减一，得到</a:t>
            </a:r>
            <a:r>
              <a:rPr lang="en-US" altLang="zh-CN" dirty="0" smtClean="0">
                <a:sym typeface="Wingdings" panose="05000000000000000000" pitchFamily="2" charset="2"/>
              </a:rPr>
              <a:t>S2={2,1,1,1,1,0}</a:t>
            </a:r>
          </a:p>
          <a:p>
            <a:pPr marL="0" indent="0">
              <a:buNone/>
            </a:pPr>
            <a:r>
              <a:rPr lang="en-US" altLang="zh-CN" dirty="0" smtClean="0">
                <a:sym typeface="Wingdings" panose="05000000000000000000" pitchFamily="2" charset="2"/>
              </a:rPr>
              <a:t>(3) </a:t>
            </a:r>
            <a:r>
              <a:rPr lang="zh-CN" altLang="en-US" dirty="0" smtClean="0">
                <a:sym typeface="Wingdings" panose="05000000000000000000" pitchFamily="2" charset="2"/>
              </a:rPr>
              <a:t>删除首元素</a:t>
            </a:r>
            <a:r>
              <a:rPr lang="en-US" altLang="zh-CN" dirty="0" smtClean="0">
                <a:sym typeface="Wingdings" panose="05000000000000000000" pitchFamily="2" charset="2"/>
              </a:rPr>
              <a:t>2</a:t>
            </a:r>
            <a:r>
              <a:rPr lang="zh-CN" altLang="en-US" dirty="0" smtClean="0">
                <a:sym typeface="Wingdings" panose="05000000000000000000" pitchFamily="2" charset="2"/>
              </a:rPr>
              <a:t>， 将除去第一个元素后面的</a:t>
            </a:r>
            <a:r>
              <a:rPr lang="en-US" altLang="zh-CN" dirty="0" smtClean="0">
                <a:sym typeface="Wingdings" panose="05000000000000000000" pitchFamily="2" charset="2"/>
              </a:rPr>
              <a:t>2</a:t>
            </a:r>
            <a:r>
              <a:rPr lang="zh-CN" altLang="en-US" dirty="0" smtClean="0">
                <a:sym typeface="Wingdings" panose="05000000000000000000" pitchFamily="2" charset="2"/>
              </a:rPr>
              <a:t>个元素减一，得到</a:t>
            </a:r>
            <a:r>
              <a:rPr lang="en-US" altLang="zh-CN" dirty="0" smtClean="0">
                <a:sym typeface="Wingdings" panose="05000000000000000000" pitchFamily="2" charset="2"/>
              </a:rPr>
              <a:t>S3={0,0,1,1,0}</a:t>
            </a:r>
          </a:p>
          <a:p>
            <a:pPr marL="0" indent="0">
              <a:buNone/>
            </a:pPr>
            <a:r>
              <a:rPr lang="en-US" altLang="zh-CN" dirty="0" smtClean="0">
                <a:sym typeface="Wingdings" panose="05000000000000000000" pitchFamily="2" charset="2"/>
              </a:rPr>
              <a:t>(4)</a:t>
            </a:r>
            <a:r>
              <a:rPr lang="zh-CN" altLang="en-US" dirty="0" smtClean="0">
                <a:sym typeface="Wingdings" panose="05000000000000000000" pitchFamily="2" charset="2"/>
              </a:rPr>
              <a:t>重新排序：</a:t>
            </a:r>
            <a:r>
              <a:rPr lang="en-US" altLang="zh-CN" dirty="0" smtClean="0">
                <a:sym typeface="Wingdings" panose="05000000000000000000" pitchFamily="2" charset="2"/>
              </a:rPr>
              <a:t>S4={1,1,0,0,0}</a:t>
            </a:r>
          </a:p>
          <a:p>
            <a:pPr marL="0" indent="0">
              <a:buNone/>
            </a:pPr>
            <a:r>
              <a:rPr lang="en-US" altLang="zh-CN" dirty="0" smtClean="0">
                <a:sym typeface="Wingdings" panose="05000000000000000000" pitchFamily="2" charset="2"/>
              </a:rPr>
              <a:t>(5) </a:t>
            </a:r>
            <a:r>
              <a:rPr lang="zh-CN" altLang="en-US" dirty="0" smtClean="0">
                <a:sym typeface="Wingdings" panose="05000000000000000000" pitchFamily="2" charset="2"/>
              </a:rPr>
              <a:t>删除首元素</a:t>
            </a:r>
            <a:r>
              <a:rPr lang="en-US" altLang="zh-CN" dirty="0" smtClean="0">
                <a:sym typeface="Wingdings" panose="05000000000000000000" pitchFamily="2" charset="2"/>
              </a:rPr>
              <a:t>1</a:t>
            </a:r>
            <a:r>
              <a:rPr lang="zh-CN" altLang="en-US" dirty="0" smtClean="0">
                <a:sym typeface="Wingdings" panose="05000000000000000000" pitchFamily="2" charset="2"/>
              </a:rPr>
              <a:t>，将除去第一个元素后面的</a:t>
            </a:r>
            <a:r>
              <a:rPr lang="en-US" altLang="zh-CN" dirty="0" smtClean="0">
                <a:sym typeface="Wingdings" panose="05000000000000000000" pitchFamily="2" charset="2"/>
              </a:rPr>
              <a:t>1</a:t>
            </a:r>
            <a:r>
              <a:rPr lang="zh-CN" altLang="en-US" dirty="0" smtClean="0">
                <a:sym typeface="Wingdings" panose="05000000000000000000" pitchFamily="2" charset="2"/>
              </a:rPr>
              <a:t>个元素减一，得到</a:t>
            </a:r>
            <a:r>
              <a:rPr lang="en-US" altLang="zh-CN" dirty="0" smtClean="0">
                <a:sym typeface="Wingdings" panose="05000000000000000000" pitchFamily="2" charset="2"/>
              </a:rPr>
              <a:t>S5={0,0,0,0},</a:t>
            </a:r>
            <a:r>
              <a:rPr lang="zh-CN" altLang="en-US" dirty="0" smtClean="0">
                <a:sym typeface="Wingdings" panose="05000000000000000000" pitchFamily="2" charset="2"/>
              </a:rPr>
              <a:t>最后得到非负序列，该序列是可图的。</a:t>
            </a:r>
            <a:endParaRPr lang="zh-CN" altLang="en-US" dirty="0"/>
          </a:p>
        </p:txBody>
      </p:sp>
    </p:spTree>
    <p:extLst>
      <p:ext uri="{BB962C8B-B14F-4D97-AF65-F5344CB8AC3E}">
        <p14:creationId xmlns:p14="http://schemas.microsoft.com/office/powerpoint/2010/main" val="1899881248"/>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57200" y="1143000"/>
            <a:ext cx="11277599" cy="12954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smtClean="0"/>
              <a:t>可图序列</a:t>
            </a:r>
            <a:endParaRPr lang="en-US" dirty="0"/>
          </a:p>
        </p:txBody>
      </p:sp>
      <p:sp>
        <p:nvSpPr>
          <p:cNvPr id="7" name="日期占位符 6"/>
          <p:cNvSpPr>
            <a:spLocks noGrp="1"/>
          </p:cNvSpPr>
          <p:nvPr>
            <p:ph type="dt" sz="half" idx="10"/>
          </p:nvPr>
        </p:nvSpPr>
        <p:spPr/>
        <p:txBody>
          <a:bodyPr/>
          <a:lstStyle/>
          <a:p>
            <a:fld id="{69CD85A4-EFC3-48EC-9559-6F553D130ABB}"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75</a:t>
            </a:fld>
            <a:endParaRPr lang="zh-CN" altLang="en-US" dirty="0"/>
          </a:p>
        </p:txBody>
      </p:sp>
      <p:sp>
        <p:nvSpPr>
          <p:cNvPr id="3" name="内容占位符 2"/>
          <p:cNvSpPr>
            <a:spLocks noGrp="1"/>
          </p:cNvSpPr>
          <p:nvPr>
            <p:ph idx="1"/>
          </p:nvPr>
        </p:nvSpPr>
        <p:spPr/>
        <p:txBody>
          <a:bodyPr>
            <a:normAutofit fontScale="92500" lnSpcReduction="20000"/>
          </a:bodyPr>
          <a:lstStyle/>
          <a:p>
            <a:r>
              <a:rPr lang="en-US" altLang="zh-CN" dirty="0" smtClean="0"/>
              <a:t> </a:t>
            </a:r>
            <a:r>
              <a:rPr lang="zh-CN" altLang="en-US" dirty="0" smtClean="0"/>
              <a:t>例：判断序列</a:t>
            </a:r>
            <a:r>
              <a:rPr lang="en-US" altLang="zh-CN" dirty="0" smtClean="0"/>
              <a:t>S={7,6,4,3,3,3,2,1}</a:t>
            </a:r>
            <a:r>
              <a:rPr lang="zh-CN" altLang="en-US" dirty="0" smtClean="0"/>
              <a:t>是否是可简单图化？</a:t>
            </a:r>
            <a:endParaRPr lang="en-US" altLang="zh-CN" dirty="0" smtClean="0"/>
          </a:p>
          <a:p>
            <a:pPr marL="0" indent="0">
              <a:buNone/>
            </a:pPr>
            <a:r>
              <a:rPr lang="zh-CN" altLang="en-US" dirty="0" smtClean="0"/>
              <a:t>证明</a:t>
            </a:r>
            <a:r>
              <a:rPr lang="zh-CN" altLang="en-US" dirty="0" smtClean="0">
                <a:sym typeface="Wingdings" panose="05000000000000000000" pitchFamily="2" charset="2"/>
              </a:rPr>
              <a:t>：</a:t>
            </a:r>
            <a:r>
              <a:rPr lang="en-US" altLang="zh-CN" dirty="0" smtClean="0">
                <a:sym typeface="Wingdings" panose="05000000000000000000" pitchFamily="2" charset="2"/>
              </a:rPr>
              <a:t>(1</a:t>
            </a:r>
            <a:r>
              <a:rPr lang="zh-CN" altLang="en-US" dirty="0" smtClean="0">
                <a:sym typeface="Wingdings" panose="05000000000000000000" pitchFamily="2" charset="2"/>
              </a:rPr>
              <a:t>）删除首元素</a:t>
            </a:r>
            <a:r>
              <a:rPr lang="en-US" altLang="zh-CN" dirty="0">
                <a:sym typeface="Wingdings" panose="05000000000000000000" pitchFamily="2" charset="2"/>
              </a:rPr>
              <a:t>7</a:t>
            </a:r>
            <a:r>
              <a:rPr lang="zh-CN" altLang="en-US" dirty="0" smtClean="0">
                <a:sym typeface="Wingdings" panose="05000000000000000000" pitchFamily="2" charset="2"/>
              </a:rPr>
              <a:t>，将第一个元素后面的</a:t>
            </a:r>
            <a:r>
              <a:rPr lang="en-US" altLang="zh-CN" dirty="0">
                <a:sym typeface="Wingdings" panose="05000000000000000000" pitchFamily="2" charset="2"/>
              </a:rPr>
              <a:t>7</a:t>
            </a:r>
            <a:r>
              <a:rPr lang="zh-CN" altLang="en-US" dirty="0" smtClean="0">
                <a:sym typeface="Wingdings" panose="05000000000000000000" pitchFamily="2" charset="2"/>
              </a:rPr>
              <a:t>个元素减一，得到</a:t>
            </a:r>
            <a:r>
              <a:rPr lang="en-US" altLang="zh-CN" dirty="0" smtClean="0">
                <a:sym typeface="Wingdings" panose="05000000000000000000" pitchFamily="2" charset="2"/>
              </a:rPr>
              <a:t>S1={5,3,2,2,2,1,0}</a:t>
            </a:r>
          </a:p>
          <a:p>
            <a:pPr marL="0" indent="0">
              <a:buNone/>
            </a:pPr>
            <a:r>
              <a:rPr lang="en-US" altLang="zh-CN" dirty="0" smtClean="0">
                <a:sym typeface="Wingdings" panose="05000000000000000000" pitchFamily="2" charset="2"/>
              </a:rPr>
              <a:t>(2) </a:t>
            </a:r>
            <a:r>
              <a:rPr lang="zh-CN" altLang="en-US" dirty="0" smtClean="0">
                <a:sym typeface="Wingdings" panose="05000000000000000000" pitchFamily="2" charset="2"/>
              </a:rPr>
              <a:t>删除首元素</a:t>
            </a:r>
            <a:r>
              <a:rPr lang="en-US" altLang="zh-CN" dirty="0">
                <a:sym typeface="Wingdings" panose="05000000000000000000" pitchFamily="2" charset="2"/>
              </a:rPr>
              <a:t>5</a:t>
            </a:r>
            <a:r>
              <a:rPr lang="zh-CN" altLang="en-US" dirty="0" smtClean="0">
                <a:sym typeface="Wingdings" panose="05000000000000000000" pitchFamily="2" charset="2"/>
              </a:rPr>
              <a:t>，将除去第一个元素后面的</a:t>
            </a:r>
            <a:r>
              <a:rPr lang="en-US" altLang="zh-CN" dirty="0">
                <a:sym typeface="Wingdings" panose="05000000000000000000" pitchFamily="2" charset="2"/>
              </a:rPr>
              <a:t>5</a:t>
            </a:r>
            <a:r>
              <a:rPr lang="zh-CN" altLang="en-US" dirty="0" smtClean="0">
                <a:sym typeface="Wingdings" panose="05000000000000000000" pitchFamily="2" charset="2"/>
              </a:rPr>
              <a:t>个元素减一，得到</a:t>
            </a:r>
            <a:r>
              <a:rPr lang="en-US" altLang="zh-CN" dirty="0" smtClean="0">
                <a:sym typeface="Wingdings" panose="05000000000000000000" pitchFamily="2" charset="2"/>
              </a:rPr>
              <a:t>S2={2,1,1,1,0,0}</a:t>
            </a:r>
          </a:p>
          <a:p>
            <a:pPr marL="0" indent="0">
              <a:buNone/>
            </a:pPr>
            <a:r>
              <a:rPr lang="en-US" altLang="zh-CN" dirty="0" smtClean="0">
                <a:sym typeface="Wingdings" panose="05000000000000000000" pitchFamily="2" charset="2"/>
              </a:rPr>
              <a:t>(3) </a:t>
            </a:r>
            <a:r>
              <a:rPr lang="zh-CN" altLang="en-US" dirty="0">
                <a:sym typeface="Wingdings" panose="05000000000000000000" pitchFamily="2" charset="2"/>
              </a:rPr>
              <a:t>删除首</a:t>
            </a:r>
            <a:r>
              <a:rPr lang="zh-CN" altLang="en-US" dirty="0" smtClean="0">
                <a:sym typeface="Wingdings" panose="05000000000000000000" pitchFamily="2" charset="2"/>
              </a:rPr>
              <a:t>元素</a:t>
            </a:r>
            <a:r>
              <a:rPr lang="en-US" altLang="zh-CN" dirty="0" smtClean="0">
                <a:sym typeface="Wingdings" panose="05000000000000000000" pitchFamily="2" charset="2"/>
              </a:rPr>
              <a:t>2</a:t>
            </a:r>
            <a:r>
              <a:rPr lang="zh-CN" altLang="en-US" dirty="0" smtClean="0">
                <a:sym typeface="Wingdings" panose="05000000000000000000" pitchFamily="2" charset="2"/>
              </a:rPr>
              <a:t>，</a:t>
            </a:r>
            <a:r>
              <a:rPr lang="zh-CN" altLang="en-US" dirty="0">
                <a:sym typeface="Wingdings" panose="05000000000000000000" pitchFamily="2" charset="2"/>
              </a:rPr>
              <a:t>将除去第一个元素后面</a:t>
            </a:r>
            <a:r>
              <a:rPr lang="zh-CN" altLang="en-US" dirty="0" smtClean="0">
                <a:sym typeface="Wingdings" panose="05000000000000000000" pitchFamily="2" charset="2"/>
              </a:rPr>
              <a:t>的</a:t>
            </a:r>
            <a:r>
              <a:rPr lang="en-US" altLang="zh-CN" dirty="0" smtClean="0">
                <a:sym typeface="Wingdings" panose="05000000000000000000" pitchFamily="2" charset="2"/>
              </a:rPr>
              <a:t>2</a:t>
            </a:r>
            <a:r>
              <a:rPr lang="zh-CN" altLang="en-US" dirty="0" smtClean="0">
                <a:sym typeface="Wingdings" panose="05000000000000000000" pitchFamily="2" charset="2"/>
              </a:rPr>
              <a:t>个</a:t>
            </a:r>
            <a:r>
              <a:rPr lang="zh-CN" altLang="en-US" dirty="0">
                <a:sym typeface="Wingdings" panose="05000000000000000000" pitchFamily="2" charset="2"/>
              </a:rPr>
              <a:t>元素减一，得到</a:t>
            </a:r>
            <a:r>
              <a:rPr lang="en-US" altLang="zh-CN" dirty="0" smtClean="0">
                <a:sym typeface="Wingdings" panose="05000000000000000000" pitchFamily="2" charset="2"/>
              </a:rPr>
              <a:t>S3={0,0,1,0,0}</a:t>
            </a:r>
          </a:p>
          <a:p>
            <a:pPr marL="0" indent="0">
              <a:buNone/>
            </a:pPr>
            <a:r>
              <a:rPr lang="en-US" altLang="zh-CN" dirty="0" smtClean="0">
                <a:sym typeface="Wingdings" panose="05000000000000000000" pitchFamily="2" charset="2"/>
              </a:rPr>
              <a:t>(4) </a:t>
            </a:r>
            <a:r>
              <a:rPr lang="zh-CN" altLang="en-US" dirty="0" smtClean="0">
                <a:sym typeface="Wingdings" panose="05000000000000000000" pitchFamily="2" charset="2"/>
              </a:rPr>
              <a:t>重新排列，以非递增顺序，得到</a:t>
            </a:r>
            <a:r>
              <a:rPr lang="en-US" altLang="zh-CN" dirty="0" smtClean="0">
                <a:sym typeface="Wingdings" panose="05000000000000000000" pitchFamily="2" charset="2"/>
              </a:rPr>
              <a:t>S4={1,0,0,0,0}</a:t>
            </a:r>
          </a:p>
          <a:p>
            <a:pPr marL="0" indent="0">
              <a:buNone/>
            </a:pPr>
            <a:r>
              <a:rPr lang="en-US" altLang="zh-CN" dirty="0">
                <a:sym typeface="Wingdings" panose="05000000000000000000" pitchFamily="2" charset="2"/>
              </a:rPr>
              <a:t>(3) </a:t>
            </a:r>
            <a:r>
              <a:rPr lang="zh-CN" altLang="en-US" dirty="0">
                <a:sym typeface="Wingdings" panose="05000000000000000000" pitchFamily="2" charset="2"/>
              </a:rPr>
              <a:t>删除首</a:t>
            </a:r>
            <a:r>
              <a:rPr lang="zh-CN" altLang="en-US" dirty="0" smtClean="0">
                <a:sym typeface="Wingdings" panose="05000000000000000000" pitchFamily="2" charset="2"/>
              </a:rPr>
              <a:t>元素</a:t>
            </a:r>
            <a:r>
              <a:rPr lang="en-US" altLang="zh-CN" dirty="0" smtClean="0">
                <a:sym typeface="Wingdings" panose="05000000000000000000" pitchFamily="2" charset="2"/>
              </a:rPr>
              <a:t>1</a:t>
            </a:r>
            <a:r>
              <a:rPr lang="zh-CN" altLang="en-US" dirty="0" smtClean="0">
                <a:sym typeface="Wingdings" panose="05000000000000000000" pitchFamily="2" charset="2"/>
              </a:rPr>
              <a:t>，</a:t>
            </a:r>
            <a:r>
              <a:rPr lang="zh-CN" altLang="en-US" dirty="0">
                <a:sym typeface="Wingdings" panose="05000000000000000000" pitchFamily="2" charset="2"/>
              </a:rPr>
              <a:t>将除去第一个元素后面</a:t>
            </a:r>
            <a:r>
              <a:rPr lang="zh-CN" altLang="en-US" dirty="0" smtClean="0">
                <a:sym typeface="Wingdings" panose="05000000000000000000" pitchFamily="2" charset="2"/>
              </a:rPr>
              <a:t>的</a:t>
            </a:r>
            <a:r>
              <a:rPr lang="en-US" altLang="zh-CN" dirty="0" smtClean="0">
                <a:sym typeface="Wingdings" panose="05000000000000000000" pitchFamily="2" charset="2"/>
              </a:rPr>
              <a:t>1</a:t>
            </a:r>
            <a:r>
              <a:rPr lang="zh-CN" altLang="en-US" dirty="0" smtClean="0">
                <a:sym typeface="Wingdings" panose="05000000000000000000" pitchFamily="2" charset="2"/>
              </a:rPr>
              <a:t>个</a:t>
            </a:r>
            <a:r>
              <a:rPr lang="zh-CN" altLang="en-US" dirty="0">
                <a:sym typeface="Wingdings" panose="05000000000000000000" pitchFamily="2" charset="2"/>
              </a:rPr>
              <a:t>元素减一，得到</a:t>
            </a:r>
            <a:r>
              <a:rPr lang="en-US" altLang="zh-CN" dirty="0" smtClean="0">
                <a:sym typeface="Wingdings" panose="05000000000000000000" pitchFamily="2" charset="2"/>
              </a:rPr>
              <a:t>S5={-1</a:t>
            </a:r>
            <a:r>
              <a:rPr lang="zh-CN" altLang="en-US" dirty="0" smtClean="0">
                <a:sym typeface="Wingdings" panose="05000000000000000000" pitchFamily="2" charset="2"/>
              </a:rPr>
              <a:t>，</a:t>
            </a:r>
            <a:r>
              <a:rPr lang="en-US" altLang="zh-CN" dirty="0" smtClean="0">
                <a:sym typeface="Wingdings" panose="05000000000000000000" pitchFamily="2" charset="2"/>
              </a:rPr>
              <a:t>0,0,0}</a:t>
            </a:r>
            <a:endParaRPr lang="en-US" altLang="zh-CN" dirty="0">
              <a:sym typeface="Wingdings" panose="05000000000000000000" pitchFamily="2" charset="2"/>
            </a:endParaRPr>
          </a:p>
          <a:p>
            <a:pPr marL="0" indent="0">
              <a:buNone/>
            </a:pPr>
            <a:endParaRPr lang="en-US" altLang="zh-CN" dirty="0" smtClean="0">
              <a:sym typeface="Wingdings" panose="05000000000000000000" pitchFamily="2" charset="2"/>
            </a:endParaRPr>
          </a:p>
          <a:p>
            <a:pPr marL="0" indent="0">
              <a:buNone/>
            </a:pPr>
            <a:r>
              <a:rPr lang="zh-CN" altLang="en-US" dirty="0" smtClean="0">
                <a:sym typeface="Wingdings" panose="05000000000000000000" pitchFamily="2" charset="2"/>
              </a:rPr>
              <a:t>最后得到存在负数的序列，该序列是不可简单图</a:t>
            </a:r>
            <a:r>
              <a:rPr lang="zh-CN" altLang="en-US" dirty="0">
                <a:sym typeface="Wingdings" panose="05000000000000000000" pitchFamily="2" charset="2"/>
              </a:rPr>
              <a:t>化</a:t>
            </a:r>
            <a:r>
              <a:rPr lang="zh-CN" altLang="en-US" dirty="0" smtClean="0">
                <a:sym typeface="Wingdings" panose="05000000000000000000" pitchFamily="2" charset="2"/>
              </a:rPr>
              <a:t>。</a:t>
            </a:r>
            <a:endParaRPr lang="zh-CN" altLang="en-US" dirty="0"/>
          </a:p>
        </p:txBody>
      </p:sp>
    </p:spTree>
    <p:extLst>
      <p:ext uri="{BB962C8B-B14F-4D97-AF65-F5344CB8AC3E}">
        <p14:creationId xmlns:p14="http://schemas.microsoft.com/office/powerpoint/2010/main" val="221689150"/>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066800" y="1295400"/>
            <a:ext cx="11277599" cy="1295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smtClean="0"/>
              <a:t>支配集与支配数</a:t>
            </a:r>
            <a:endParaRPr lang="en-US" dirty="0"/>
          </a:p>
        </p:txBody>
      </p:sp>
      <p:sp>
        <p:nvSpPr>
          <p:cNvPr id="7" name="日期占位符 6"/>
          <p:cNvSpPr>
            <a:spLocks noGrp="1"/>
          </p:cNvSpPr>
          <p:nvPr>
            <p:ph type="dt" sz="half" idx="10"/>
          </p:nvPr>
        </p:nvSpPr>
        <p:spPr/>
        <p:txBody>
          <a:bodyPr/>
          <a:lstStyle/>
          <a:p>
            <a:fld id="{69CD85A4-EFC3-48EC-9559-6F553D130ABB}"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76</a:t>
            </a:fld>
            <a:endParaRPr lang="zh-CN" altLang="en-US" dirty="0"/>
          </a:p>
        </p:txBody>
      </p:sp>
      <p:sp>
        <p:nvSpPr>
          <p:cNvPr id="11" name="Rectangle 8"/>
          <p:cNvSpPr txBox="1">
            <a:spLocks noChangeArrowheads="1"/>
          </p:cNvSpPr>
          <p:nvPr/>
        </p:nvSpPr>
        <p:spPr>
          <a:xfrm>
            <a:off x="457200" y="1066800"/>
            <a:ext cx="11582400" cy="4525962"/>
          </a:xfrm>
          <a:prstGeom prst="rect">
            <a:avLst/>
          </a:prstGeom>
        </p:spPr>
        <p:txBody>
          <a:bodyPr vert="horz" lIns="91440" tIns="45720" rIns="91440" bIns="45720" rtlCol="0">
            <a:normAutofit lnSpcReduction="10000"/>
          </a:bodyPr>
          <a:lstStyle>
            <a:lvl1pPr marL="274320" indent="-274320" algn="l" defTabSz="914400" rtl="0" eaLnBrk="1" latinLnBrk="0" hangingPunct="1">
              <a:lnSpc>
                <a:spcPct val="100000"/>
              </a:lnSpc>
              <a:spcBef>
                <a:spcPts val="1000"/>
              </a:spcBef>
              <a:buClr>
                <a:srgbClr val="CEA524"/>
              </a:buClr>
              <a:buSzPct val="100000"/>
              <a:buFont typeface="Wingdings" panose="05000000000000000000" pitchFamily="2" charset="2"/>
              <a:buChar char="q"/>
              <a:defRPr sz="2800" kern="1200">
                <a:solidFill>
                  <a:schemeClr val="tx1"/>
                </a:solidFill>
                <a:latin typeface="微软雅黑" panose="020B0503020204020204" pitchFamily="34" charset="-122"/>
                <a:ea typeface="微软雅黑" panose="020B0503020204020204" pitchFamily="34" charset="-122"/>
                <a:cs typeface="+mn-cs"/>
              </a:defRPr>
            </a:lvl1pPr>
            <a:lvl2pPr marL="640080" indent="-246888" algn="l" defTabSz="914400" rtl="0" eaLnBrk="1" latinLnBrk="0" hangingPunct="1">
              <a:lnSpc>
                <a:spcPct val="90000"/>
              </a:lnSpc>
              <a:spcBef>
                <a:spcPts val="500"/>
              </a:spcBef>
              <a:buClr>
                <a:srgbClr val="01559D"/>
              </a:buClr>
              <a:buSzPct val="97000"/>
              <a:buFont typeface="Wingdings" panose="05000000000000000000" pitchFamily="2" charset="2"/>
              <a:buChar char="Ø"/>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r>
              <a:rPr lang="zh-CN" altLang="en-US" dirty="0" smtClean="0"/>
              <a:t>如果图</a:t>
            </a:r>
            <a:r>
              <a:rPr lang="en-US" altLang="zh-CN" dirty="0" smtClean="0"/>
              <a:t>G</a:t>
            </a:r>
            <a:r>
              <a:rPr lang="zh-CN" altLang="en-US" dirty="0" smtClean="0"/>
              <a:t>（</a:t>
            </a:r>
            <a:r>
              <a:rPr lang="en-US" altLang="zh-CN" dirty="0" smtClean="0"/>
              <a:t>V</a:t>
            </a:r>
            <a:r>
              <a:rPr lang="zh-CN" altLang="en-US" dirty="0" smtClean="0"/>
              <a:t>，</a:t>
            </a:r>
            <a:r>
              <a:rPr lang="en-US" altLang="zh-CN" dirty="0" smtClean="0"/>
              <a:t>E</a:t>
            </a:r>
            <a:r>
              <a:rPr lang="zh-CN" altLang="en-US" dirty="0" smtClean="0"/>
              <a:t>）的顶点数为</a:t>
            </a:r>
            <a:r>
              <a:rPr lang="en-US" altLang="zh-CN" dirty="0" smtClean="0"/>
              <a:t>n, </a:t>
            </a:r>
            <a:r>
              <a:rPr lang="zh-CN" altLang="en-US" dirty="0" smtClean="0"/>
              <a:t>称为</a:t>
            </a:r>
            <a:r>
              <a:rPr lang="en-US" altLang="zh-CN" dirty="0" smtClean="0"/>
              <a:t>n</a:t>
            </a:r>
            <a:r>
              <a:rPr lang="zh-CN" altLang="en-US" dirty="0" smtClean="0"/>
              <a:t>阶图</a:t>
            </a:r>
            <a:endParaRPr lang="en-US" altLang="zh-CN" dirty="0" smtClean="0"/>
          </a:p>
          <a:p>
            <a:pPr marL="457200" indent="-457200"/>
            <a:r>
              <a:rPr lang="zh-CN" altLang="en-US" dirty="0" smtClean="0">
                <a:solidFill>
                  <a:srgbClr val="A50021"/>
                </a:solidFill>
                <a:latin typeface="Times New Roman" panose="02020603050405020304" pitchFamily="18" charset="0"/>
              </a:rPr>
              <a:t>定义</a:t>
            </a:r>
            <a:r>
              <a:rPr lang="en-US" altLang="zh-CN" dirty="0" smtClean="0">
                <a:latin typeface="Times New Roman" panose="02020603050405020304" pitchFamily="18" charset="0"/>
              </a:rPr>
              <a:t> </a:t>
            </a:r>
            <a:r>
              <a:rPr lang="zh-CN" altLang="en-US" dirty="0" smtClean="0">
                <a:latin typeface="Times New Roman" panose="02020603050405020304" pitchFamily="18" charset="0"/>
              </a:rPr>
              <a:t>设</a:t>
            </a:r>
            <a:r>
              <a:rPr lang="en-US" altLang="zh-CN" i="1" dirty="0" smtClean="0">
                <a:latin typeface="Times New Roman" panose="02020603050405020304" pitchFamily="18" charset="0"/>
              </a:rPr>
              <a:t>G</a:t>
            </a:r>
            <a:r>
              <a:rPr lang="en-US" altLang="zh-CN" dirty="0" smtClean="0">
                <a:latin typeface="Times New Roman" panose="02020603050405020304" pitchFamily="18" charset="0"/>
              </a:rPr>
              <a:t>=(</a:t>
            </a:r>
            <a:r>
              <a:rPr lang="en-US" altLang="zh-CN" i="1" dirty="0" smtClean="0">
                <a:latin typeface="Times New Roman" panose="02020603050405020304" pitchFamily="18" charset="0"/>
              </a:rPr>
              <a:t>V</a:t>
            </a:r>
            <a:r>
              <a:rPr lang="en-US" altLang="zh-CN" dirty="0" smtClean="0">
                <a:latin typeface="Times New Roman" panose="02020603050405020304" pitchFamily="18" charset="0"/>
              </a:rPr>
              <a:t>,</a:t>
            </a:r>
            <a:r>
              <a:rPr lang="en-US" altLang="zh-CN" i="1" dirty="0" smtClean="0">
                <a:latin typeface="Times New Roman" panose="02020603050405020304" pitchFamily="18" charset="0"/>
              </a:rPr>
              <a:t>E</a:t>
            </a:r>
            <a:r>
              <a:rPr lang="en-US" altLang="zh-CN" dirty="0">
                <a:latin typeface="Times New Roman" panose="02020603050405020304" pitchFamily="18" charset="0"/>
              </a:rPr>
              <a:t>)</a:t>
            </a:r>
            <a:r>
              <a:rPr lang="zh-CN" altLang="en-US" dirty="0" smtClean="0">
                <a:latin typeface="Times New Roman" panose="02020603050405020304" pitchFamily="18" charset="0"/>
              </a:rPr>
              <a:t>，</a:t>
            </a:r>
            <a:r>
              <a:rPr lang="en-US" altLang="zh-CN" i="1" dirty="0" smtClean="0">
                <a:latin typeface="Times New Roman" panose="02020603050405020304" pitchFamily="18" charset="0"/>
              </a:rPr>
              <a:t>V</a:t>
            </a:r>
            <a:r>
              <a:rPr lang="en-US" altLang="zh-CN" dirty="0" smtClean="0">
                <a:latin typeface="Times New Roman" panose="02020603050405020304" pitchFamily="18" charset="0"/>
              </a:rPr>
              <a:t>*</a:t>
            </a:r>
            <a:r>
              <a:rPr lang="en-US" altLang="zh-CN" dirty="0" smtClean="0">
                <a:latin typeface="Times New Roman" panose="02020603050405020304" pitchFamily="18" charset="0"/>
                <a:sym typeface="Symbol" panose="05050102010706020507" pitchFamily="18" charset="2"/>
              </a:rPr>
              <a:t></a:t>
            </a:r>
            <a:r>
              <a:rPr lang="en-US" altLang="zh-CN" i="1" dirty="0" smtClean="0">
                <a:latin typeface="Times New Roman" panose="02020603050405020304" pitchFamily="18" charset="0"/>
              </a:rPr>
              <a:t>V</a:t>
            </a:r>
            <a:r>
              <a:rPr lang="en-US" altLang="zh-CN" dirty="0" smtClean="0">
                <a:latin typeface="Times New Roman" panose="02020603050405020304" pitchFamily="18" charset="0"/>
              </a:rPr>
              <a:t>.</a:t>
            </a:r>
          </a:p>
          <a:p>
            <a:pPr marL="457200" indent="-457200"/>
            <a:r>
              <a:rPr lang="en-US" altLang="zh-CN" dirty="0" smtClean="0">
                <a:latin typeface="Times New Roman" panose="02020603050405020304" pitchFamily="18" charset="0"/>
              </a:rPr>
              <a:t>(1) </a:t>
            </a:r>
            <a:r>
              <a:rPr lang="en-US" altLang="zh-CN" i="1" dirty="0" smtClean="0">
                <a:latin typeface="Times New Roman" panose="02020603050405020304" pitchFamily="18" charset="0"/>
              </a:rPr>
              <a:t>V</a:t>
            </a:r>
            <a:r>
              <a:rPr lang="en-US" altLang="zh-CN" dirty="0" smtClean="0">
                <a:latin typeface="Times New Roman" panose="02020603050405020304" pitchFamily="18" charset="0"/>
              </a:rPr>
              <a:t>*</a:t>
            </a:r>
            <a:r>
              <a:rPr lang="zh-CN" altLang="en-US" dirty="0" smtClean="0">
                <a:latin typeface="Times New Roman" panose="02020603050405020304" pitchFamily="18" charset="0"/>
              </a:rPr>
              <a:t>为</a:t>
            </a:r>
            <a:r>
              <a:rPr lang="zh-CN" altLang="en-US" dirty="0" smtClean="0">
                <a:solidFill>
                  <a:srgbClr val="A50021"/>
                </a:solidFill>
                <a:latin typeface="Times New Roman" panose="02020603050405020304" pitchFamily="18" charset="0"/>
              </a:rPr>
              <a:t>支配集</a:t>
            </a:r>
            <a:r>
              <a:rPr lang="en-US" altLang="zh-CN" dirty="0" smtClean="0">
                <a:latin typeface="Times New Roman" panose="02020603050405020304" pitchFamily="18" charset="0"/>
              </a:rPr>
              <a:t>——</a:t>
            </a:r>
            <a:r>
              <a:rPr lang="en-US" altLang="zh-CN" dirty="0" smtClean="0">
                <a:latin typeface="Times New Roman" panose="02020603050405020304" pitchFamily="18" charset="0"/>
                <a:sym typeface="Symbol" panose="05050102010706020507" pitchFamily="18" charset="2"/>
              </a:rPr>
              <a:t></a:t>
            </a:r>
            <a:r>
              <a:rPr lang="en-US" altLang="zh-CN" i="1" dirty="0" err="1" smtClean="0">
                <a:latin typeface="Times New Roman" panose="02020603050405020304" pitchFamily="18" charset="0"/>
              </a:rPr>
              <a:t>v</a:t>
            </a:r>
            <a:r>
              <a:rPr lang="en-US" altLang="zh-CN" i="1" baseline="-25000" dirty="0" err="1" smtClean="0">
                <a:latin typeface="Times New Roman" panose="02020603050405020304" pitchFamily="18" charset="0"/>
              </a:rPr>
              <a:t>i</a:t>
            </a:r>
            <a:r>
              <a:rPr lang="en-US" altLang="zh-CN" dirty="0" err="1" smtClean="0">
                <a:latin typeface="Times New Roman" panose="02020603050405020304" pitchFamily="18" charset="0"/>
                <a:sym typeface="Symbol" panose="05050102010706020507" pitchFamily="18" charset="2"/>
              </a:rPr>
              <a:t></a:t>
            </a:r>
            <a:r>
              <a:rPr lang="en-US" altLang="zh-CN" i="1" dirty="0" err="1" smtClean="0">
                <a:latin typeface="Times New Roman" panose="02020603050405020304" pitchFamily="18" charset="0"/>
              </a:rPr>
              <a:t>V</a:t>
            </a:r>
            <a:r>
              <a:rPr lang="en-US" altLang="zh-CN" dirty="0" err="1" smtClean="0">
                <a:latin typeface="Times New Roman" panose="02020603050405020304" pitchFamily="18" charset="0"/>
                <a:sym typeface="Symbol" panose="05050102010706020507" pitchFamily="18" charset="2"/>
              </a:rPr>
              <a:t></a:t>
            </a:r>
            <a:r>
              <a:rPr lang="en-US" altLang="zh-CN" i="1" dirty="0" err="1" smtClean="0">
                <a:latin typeface="Times New Roman" panose="02020603050405020304" pitchFamily="18" charset="0"/>
              </a:rPr>
              <a:t>V</a:t>
            </a:r>
            <a:r>
              <a:rPr lang="en-US" altLang="zh-CN" dirty="0" smtClean="0">
                <a:latin typeface="Times New Roman" panose="02020603050405020304" pitchFamily="18" charset="0"/>
              </a:rPr>
              <a:t>*, </a:t>
            </a:r>
            <a:r>
              <a:rPr lang="en-US" altLang="zh-CN" dirty="0" smtClean="0">
                <a:latin typeface="Times New Roman" panose="02020603050405020304" pitchFamily="18" charset="0"/>
                <a:sym typeface="Symbol" panose="05050102010706020507" pitchFamily="18" charset="2"/>
              </a:rPr>
              <a:t></a:t>
            </a:r>
            <a:r>
              <a:rPr lang="en-US" altLang="zh-CN" i="1" dirty="0" err="1" smtClean="0">
                <a:latin typeface="Times New Roman" panose="02020603050405020304" pitchFamily="18" charset="0"/>
              </a:rPr>
              <a:t>v</a:t>
            </a:r>
            <a:r>
              <a:rPr lang="en-US" altLang="zh-CN" i="1" baseline="-25000" dirty="0" err="1" smtClean="0">
                <a:latin typeface="Times New Roman" panose="02020603050405020304" pitchFamily="18" charset="0"/>
              </a:rPr>
              <a:t>j</a:t>
            </a:r>
            <a:r>
              <a:rPr lang="en-US" altLang="zh-CN" dirty="0" err="1" smtClean="0">
                <a:latin typeface="Times New Roman" panose="02020603050405020304" pitchFamily="18" charset="0"/>
                <a:sym typeface="Symbol" panose="05050102010706020507" pitchFamily="18" charset="2"/>
              </a:rPr>
              <a:t></a:t>
            </a:r>
            <a:r>
              <a:rPr lang="en-US" altLang="zh-CN" i="1" dirty="0" err="1" smtClean="0">
                <a:latin typeface="Times New Roman" panose="02020603050405020304" pitchFamily="18" charset="0"/>
              </a:rPr>
              <a:t>V</a:t>
            </a:r>
            <a:r>
              <a:rPr lang="en-US" altLang="zh-CN" dirty="0" smtClean="0">
                <a:latin typeface="Times New Roman" panose="02020603050405020304" pitchFamily="18" charset="0"/>
              </a:rPr>
              <a:t>*</a:t>
            </a:r>
            <a:r>
              <a:rPr lang="zh-CN" altLang="en-US" dirty="0" smtClean="0">
                <a:latin typeface="Times New Roman" panose="02020603050405020304" pitchFamily="18" charset="0"/>
              </a:rPr>
              <a:t>，使得</a:t>
            </a:r>
            <a:r>
              <a:rPr lang="en-US" altLang="zh-CN" dirty="0" smtClean="0">
                <a:latin typeface="Times New Roman" panose="02020603050405020304" pitchFamily="18" charset="0"/>
              </a:rPr>
              <a:t>(</a:t>
            </a:r>
            <a:r>
              <a:rPr lang="en-US" altLang="zh-CN" i="1" dirty="0" err="1" smtClean="0">
                <a:latin typeface="Times New Roman" panose="02020603050405020304" pitchFamily="18" charset="0"/>
              </a:rPr>
              <a:t>v</a:t>
            </a:r>
            <a:r>
              <a:rPr lang="en-US" altLang="zh-CN" i="1" baseline="-25000" dirty="0" err="1" smtClean="0">
                <a:latin typeface="Times New Roman" panose="02020603050405020304" pitchFamily="18" charset="0"/>
              </a:rPr>
              <a:t>i</a:t>
            </a:r>
            <a:r>
              <a:rPr lang="en-US" altLang="zh-CN" dirty="0" err="1" smtClean="0">
                <a:latin typeface="Times New Roman" panose="02020603050405020304" pitchFamily="18" charset="0"/>
              </a:rPr>
              <a:t>,</a:t>
            </a:r>
            <a:r>
              <a:rPr lang="en-US" altLang="zh-CN" i="1" dirty="0" err="1" smtClean="0">
                <a:latin typeface="Times New Roman" panose="02020603050405020304" pitchFamily="18" charset="0"/>
              </a:rPr>
              <a:t>v</a:t>
            </a:r>
            <a:r>
              <a:rPr lang="en-US" altLang="zh-CN" i="1" baseline="-25000" dirty="0" err="1" smtClean="0">
                <a:latin typeface="Times New Roman" panose="02020603050405020304" pitchFamily="18" charset="0"/>
              </a:rPr>
              <a:t>j</a:t>
            </a:r>
            <a:r>
              <a:rPr lang="en-US" altLang="zh-CN" dirty="0" smtClean="0">
                <a:latin typeface="Times New Roman" panose="02020603050405020304" pitchFamily="18" charset="0"/>
              </a:rPr>
              <a:t>)</a:t>
            </a:r>
            <a:r>
              <a:rPr lang="en-US" altLang="zh-CN" dirty="0" smtClean="0">
                <a:latin typeface="Times New Roman" panose="02020603050405020304" pitchFamily="18" charset="0"/>
                <a:sym typeface="Symbol" panose="05050102010706020507" pitchFamily="18" charset="2"/>
              </a:rPr>
              <a:t></a:t>
            </a:r>
            <a:r>
              <a:rPr lang="en-US" altLang="zh-CN" i="1" dirty="0" smtClean="0">
                <a:latin typeface="Times New Roman" panose="02020603050405020304" pitchFamily="18" charset="0"/>
              </a:rPr>
              <a:t>E</a:t>
            </a:r>
            <a:r>
              <a:rPr lang="en-US" altLang="zh-CN" dirty="0" smtClean="0">
                <a:latin typeface="Times New Roman" panose="02020603050405020304" pitchFamily="18" charset="0"/>
              </a:rPr>
              <a:t> </a:t>
            </a:r>
          </a:p>
          <a:p>
            <a:pPr marL="457200" indent="-457200"/>
            <a:r>
              <a:rPr lang="en-US" altLang="zh-CN" dirty="0" smtClean="0">
                <a:latin typeface="Times New Roman" panose="02020603050405020304" pitchFamily="18" charset="0"/>
              </a:rPr>
              <a:t>(2) </a:t>
            </a:r>
            <a:r>
              <a:rPr lang="en-US" altLang="zh-CN" i="1" dirty="0" smtClean="0">
                <a:latin typeface="Times New Roman" panose="02020603050405020304" pitchFamily="18" charset="0"/>
              </a:rPr>
              <a:t>V</a:t>
            </a:r>
            <a:r>
              <a:rPr lang="en-US" altLang="zh-CN" dirty="0" smtClean="0">
                <a:latin typeface="Times New Roman" panose="02020603050405020304" pitchFamily="18" charset="0"/>
              </a:rPr>
              <a:t>*</a:t>
            </a:r>
            <a:r>
              <a:rPr lang="zh-CN" altLang="en-US" dirty="0" smtClean="0">
                <a:latin typeface="Times New Roman" panose="02020603050405020304" pitchFamily="18" charset="0"/>
              </a:rPr>
              <a:t>为</a:t>
            </a:r>
            <a:r>
              <a:rPr lang="zh-CN" altLang="en-US" dirty="0" smtClean="0">
                <a:solidFill>
                  <a:srgbClr val="A50021"/>
                </a:solidFill>
                <a:latin typeface="Times New Roman" panose="02020603050405020304" pitchFamily="18" charset="0"/>
              </a:rPr>
              <a:t>极小支配集</a:t>
            </a:r>
            <a:r>
              <a:rPr lang="en-US" altLang="zh-CN" dirty="0" smtClean="0">
                <a:latin typeface="Times New Roman" panose="02020603050405020304" pitchFamily="18" charset="0"/>
              </a:rPr>
              <a:t>——</a:t>
            </a:r>
            <a:r>
              <a:rPr lang="en-US" altLang="zh-CN" i="1" dirty="0" smtClean="0">
                <a:latin typeface="Times New Roman" panose="02020603050405020304" pitchFamily="18" charset="0"/>
              </a:rPr>
              <a:t>V</a:t>
            </a:r>
            <a:r>
              <a:rPr lang="en-US" altLang="zh-CN" dirty="0" smtClean="0">
                <a:latin typeface="Times New Roman" panose="02020603050405020304" pitchFamily="18" charset="0"/>
              </a:rPr>
              <a:t>*</a:t>
            </a:r>
            <a:r>
              <a:rPr lang="zh-CN" altLang="en-US" dirty="0" smtClean="0">
                <a:latin typeface="Times New Roman" panose="02020603050405020304" pitchFamily="18" charset="0"/>
              </a:rPr>
              <a:t>的真子集不是支配集</a:t>
            </a:r>
          </a:p>
          <a:p>
            <a:pPr marL="457200" indent="-457200"/>
            <a:r>
              <a:rPr lang="en-US" altLang="zh-CN" dirty="0" smtClean="0">
                <a:latin typeface="Times New Roman" panose="02020603050405020304" pitchFamily="18" charset="0"/>
              </a:rPr>
              <a:t>(3) </a:t>
            </a:r>
            <a:r>
              <a:rPr lang="zh-CN" altLang="en-US" dirty="0" smtClean="0">
                <a:solidFill>
                  <a:srgbClr val="A50021"/>
                </a:solidFill>
                <a:latin typeface="Times New Roman" panose="02020603050405020304" pitchFamily="18" charset="0"/>
              </a:rPr>
              <a:t>最小支配集</a:t>
            </a:r>
            <a:r>
              <a:rPr lang="en-US" altLang="zh-CN" dirty="0" smtClean="0">
                <a:latin typeface="Times New Roman" panose="02020603050405020304" pitchFamily="18" charset="0"/>
              </a:rPr>
              <a:t>——</a:t>
            </a:r>
            <a:r>
              <a:rPr lang="zh-CN" altLang="en-US" dirty="0" smtClean="0">
                <a:latin typeface="Times New Roman" panose="02020603050405020304" pitchFamily="18" charset="0"/>
              </a:rPr>
              <a:t>元素最少的支配集</a:t>
            </a:r>
          </a:p>
          <a:p>
            <a:pPr marL="457200" indent="-457200"/>
            <a:r>
              <a:rPr lang="en-US" altLang="zh-CN" dirty="0" smtClean="0">
                <a:latin typeface="Times New Roman" panose="02020603050405020304" pitchFamily="18" charset="0"/>
              </a:rPr>
              <a:t>(4) </a:t>
            </a:r>
            <a:r>
              <a:rPr lang="zh-CN" altLang="en-US" dirty="0" smtClean="0">
                <a:solidFill>
                  <a:srgbClr val="A50021"/>
                </a:solidFill>
                <a:latin typeface="Times New Roman" panose="02020603050405020304" pitchFamily="18" charset="0"/>
              </a:rPr>
              <a:t>支配数</a:t>
            </a:r>
            <a:r>
              <a:rPr lang="zh-CN" altLang="en-US" dirty="0" smtClean="0">
                <a:latin typeface="Times New Roman" panose="02020603050405020304" pitchFamily="18" charset="0"/>
                <a:sym typeface="Symbol" panose="05050102010706020507" pitchFamily="18" charset="2"/>
              </a:rPr>
              <a:t></a:t>
            </a:r>
            <a:r>
              <a:rPr lang="en-US" altLang="zh-CN" baseline="-25000" dirty="0" smtClean="0">
                <a:latin typeface="Times New Roman" panose="02020603050405020304" pitchFamily="18" charset="0"/>
              </a:rPr>
              <a:t>0</a:t>
            </a:r>
            <a:r>
              <a:rPr lang="en-US" altLang="zh-CN" dirty="0" smtClean="0">
                <a:latin typeface="Times New Roman" panose="02020603050405020304" pitchFamily="18" charset="0"/>
              </a:rPr>
              <a:t>(</a:t>
            </a:r>
            <a:r>
              <a:rPr lang="en-US" altLang="zh-CN" i="1" dirty="0" smtClean="0">
                <a:latin typeface="Times New Roman" panose="02020603050405020304" pitchFamily="18" charset="0"/>
              </a:rPr>
              <a:t>G</a:t>
            </a:r>
            <a:r>
              <a:rPr lang="en-US" altLang="zh-CN" dirty="0" smtClean="0">
                <a:latin typeface="Times New Roman" panose="02020603050405020304" pitchFamily="18" charset="0"/>
              </a:rPr>
              <a:t>)——</a:t>
            </a:r>
            <a:r>
              <a:rPr lang="zh-CN" altLang="en-US" dirty="0" smtClean="0">
                <a:latin typeface="Times New Roman" panose="02020603050405020304" pitchFamily="18" charset="0"/>
              </a:rPr>
              <a:t>最小支配集中的元素个数</a:t>
            </a:r>
            <a:endParaRPr lang="en-US" altLang="zh-CN" dirty="0" smtClean="0">
              <a:latin typeface="Times New Roman" panose="02020603050405020304" pitchFamily="18" charset="0"/>
            </a:endParaRPr>
          </a:p>
          <a:p>
            <a:pPr marL="457200" indent="-457200"/>
            <a:endParaRPr lang="en-US" altLang="zh-CN" dirty="0">
              <a:latin typeface="Times New Roman" panose="02020603050405020304" pitchFamily="18" charset="0"/>
            </a:endParaRPr>
          </a:p>
          <a:p>
            <a:pPr marL="457200" indent="-457200"/>
            <a:r>
              <a:rPr lang="zh-CN" altLang="en-US" dirty="0" smtClean="0">
                <a:latin typeface="Times New Roman" panose="02020603050405020304" pitchFamily="18" charset="0"/>
              </a:rPr>
              <a:t>通俗的说，支配集就是集合</a:t>
            </a:r>
            <a:r>
              <a:rPr lang="en-US" altLang="zh-CN" i="1" dirty="0">
                <a:latin typeface="Times New Roman" panose="02020603050405020304" pitchFamily="18" charset="0"/>
              </a:rPr>
              <a:t>V</a:t>
            </a:r>
            <a:r>
              <a:rPr lang="en-US" altLang="zh-CN" dirty="0" smtClean="0">
                <a:latin typeface="Times New Roman" panose="02020603050405020304" pitchFamily="18" charset="0"/>
              </a:rPr>
              <a:t>*</a:t>
            </a:r>
            <a:r>
              <a:rPr lang="zh-CN" altLang="en-US" dirty="0" smtClean="0">
                <a:latin typeface="Times New Roman" panose="02020603050405020304" pitchFamily="18" charset="0"/>
              </a:rPr>
              <a:t>中的顶点（结点）能与</a:t>
            </a:r>
            <a:r>
              <a:rPr lang="en-US" altLang="zh-CN" i="1" dirty="0">
                <a:latin typeface="Times New Roman" panose="02020603050405020304" pitchFamily="18" charset="0"/>
              </a:rPr>
              <a:t>V</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V</a:t>
            </a:r>
            <a:r>
              <a:rPr lang="en-US" altLang="zh-CN" dirty="0" smtClean="0">
                <a:latin typeface="Times New Roman" panose="02020603050405020304" pitchFamily="18" charset="0"/>
              </a:rPr>
              <a:t>*</a:t>
            </a:r>
            <a:r>
              <a:rPr lang="zh-CN" altLang="en-US" dirty="0" smtClean="0">
                <a:latin typeface="Times New Roman" panose="02020603050405020304" pitchFamily="18" charset="0"/>
              </a:rPr>
              <a:t>中的结点相关联</a:t>
            </a:r>
            <a:endParaRPr lang="zh-CN" altLang="en-US" dirty="0">
              <a:latin typeface="Times New Roman" panose="02020603050405020304" pitchFamily="18" charset="0"/>
            </a:endParaRPr>
          </a:p>
        </p:txBody>
      </p:sp>
    </p:spTree>
    <p:extLst>
      <p:ext uri="{BB962C8B-B14F-4D97-AF65-F5344CB8AC3E}">
        <p14:creationId xmlns:p14="http://schemas.microsoft.com/office/powerpoint/2010/main" val="3121753058"/>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066800" y="1295400"/>
            <a:ext cx="11277599" cy="1295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smtClean="0"/>
              <a:t>支配集与支配数</a:t>
            </a:r>
            <a:endParaRPr lang="en-US" dirty="0"/>
          </a:p>
        </p:txBody>
      </p:sp>
      <p:sp>
        <p:nvSpPr>
          <p:cNvPr id="7" name="日期占位符 6"/>
          <p:cNvSpPr>
            <a:spLocks noGrp="1"/>
          </p:cNvSpPr>
          <p:nvPr>
            <p:ph type="dt" sz="half" idx="10"/>
          </p:nvPr>
        </p:nvSpPr>
        <p:spPr/>
        <p:txBody>
          <a:bodyPr/>
          <a:lstStyle/>
          <a:p>
            <a:fld id="{69CD85A4-EFC3-48EC-9559-6F553D130ABB}"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77</a:t>
            </a:fld>
            <a:endParaRPr lang="zh-CN" altLang="en-US" dirty="0"/>
          </a:p>
        </p:txBody>
      </p:sp>
      <p:sp>
        <p:nvSpPr>
          <p:cNvPr id="12" name="Rectangle 9"/>
          <p:cNvSpPr txBox="1">
            <a:spLocks noChangeArrowheads="1"/>
          </p:cNvSpPr>
          <p:nvPr/>
        </p:nvSpPr>
        <p:spPr>
          <a:xfrm>
            <a:off x="595087" y="1079500"/>
            <a:ext cx="8229600" cy="1511300"/>
          </a:xfrm>
          <a:prstGeom prst="rect">
            <a:avLst/>
          </a:prstGeom>
        </p:spPr>
        <p:txBody>
          <a:bodyPr vert="horz" lIns="91440" tIns="45720" rIns="91440" bIns="45720" rtlCol="0">
            <a:normAutofit lnSpcReduction="10000"/>
          </a:bodyPr>
          <a:lstStyle>
            <a:lvl1pPr marL="274320" indent="-274320" algn="l" defTabSz="914400" rtl="0" eaLnBrk="1" latinLnBrk="0" hangingPunct="1">
              <a:lnSpc>
                <a:spcPct val="100000"/>
              </a:lnSpc>
              <a:spcBef>
                <a:spcPts val="1000"/>
              </a:spcBef>
              <a:buClr>
                <a:srgbClr val="CEA524"/>
              </a:buClr>
              <a:buSzPct val="100000"/>
              <a:buFont typeface="Wingdings" panose="05000000000000000000" pitchFamily="2" charset="2"/>
              <a:buChar char="q"/>
              <a:defRPr sz="2800" kern="1200">
                <a:solidFill>
                  <a:schemeClr val="tx1"/>
                </a:solidFill>
                <a:latin typeface="微软雅黑" panose="020B0503020204020204" pitchFamily="34" charset="-122"/>
                <a:ea typeface="微软雅黑" panose="020B0503020204020204" pitchFamily="34" charset="-122"/>
                <a:cs typeface="+mn-cs"/>
              </a:defRPr>
            </a:lvl1pPr>
            <a:lvl2pPr marL="640080" indent="-246888" algn="l" defTabSz="914400" rtl="0" eaLnBrk="1" latinLnBrk="0" hangingPunct="1">
              <a:lnSpc>
                <a:spcPct val="90000"/>
              </a:lnSpc>
              <a:spcBef>
                <a:spcPts val="500"/>
              </a:spcBef>
              <a:buClr>
                <a:srgbClr val="01559D"/>
              </a:buClr>
              <a:buSzPct val="97000"/>
              <a:buFont typeface="Wingdings" panose="05000000000000000000" pitchFamily="2" charset="2"/>
              <a:buChar char="Ø"/>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smtClean="0"/>
              <a:t>最小支配集为极小支配集，但反之不真</a:t>
            </a:r>
            <a:r>
              <a:rPr lang="en-US" altLang="zh-CN" dirty="0" smtClean="0"/>
              <a:t>.</a:t>
            </a:r>
          </a:p>
          <a:p>
            <a:r>
              <a:rPr lang="zh-CN" altLang="en-US" dirty="0" smtClean="0"/>
              <a:t>另外，极小支配集与最小支配集都可能不惟一</a:t>
            </a:r>
            <a:r>
              <a:rPr lang="en-US" altLang="zh-CN" dirty="0" smtClean="0"/>
              <a:t>.</a:t>
            </a:r>
          </a:p>
          <a:p>
            <a:r>
              <a:rPr lang="zh-CN" altLang="en-US" dirty="0" smtClean="0"/>
              <a:t>又易知完全图、轮图、星形图的支配数均是</a:t>
            </a:r>
            <a:r>
              <a:rPr lang="en-US" altLang="zh-CN" dirty="0" smtClean="0"/>
              <a:t>1.  </a:t>
            </a:r>
          </a:p>
          <a:p>
            <a:endParaRPr lang="en-US" altLang="zh-CN" dirty="0" smtClean="0"/>
          </a:p>
          <a:p>
            <a:endParaRPr lang="en-US" altLang="zh-CN" dirty="0" smtClean="0"/>
          </a:p>
          <a:p>
            <a:endParaRPr lang="en-US" altLang="zh-CN" dirty="0"/>
          </a:p>
        </p:txBody>
      </p:sp>
      <p:grpSp>
        <p:nvGrpSpPr>
          <p:cNvPr id="14" name="Group 22"/>
          <p:cNvGrpSpPr>
            <a:grpSpLocks/>
          </p:cNvGrpSpPr>
          <p:nvPr/>
        </p:nvGrpSpPr>
        <p:grpSpPr bwMode="auto">
          <a:xfrm>
            <a:off x="1905000" y="2765640"/>
            <a:ext cx="7343775" cy="2493963"/>
            <a:chOff x="476" y="1706"/>
            <a:chExt cx="4626" cy="1571"/>
          </a:xfrm>
        </p:grpSpPr>
        <p:grpSp>
          <p:nvGrpSpPr>
            <p:cNvPr id="15" name="Group 20"/>
            <p:cNvGrpSpPr>
              <a:grpSpLocks/>
            </p:cNvGrpSpPr>
            <p:nvPr/>
          </p:nvGrpSpPr>
          <p:grpSpPr bwMode="auto">
            <a:xfrm>
              <a:off x="476" y="1706"/>
              <a:ext cx="4626" cy="1339"/>
              <a:chOff x="521" y="1888"/>
              <a:chExt cx="4626" cy="1339"/>
            </a:xfrm>
          </p:grpSpPr>
          <p:pic>
            <p:nvPicPr>
              <p:cNvPr id="17" name="Picture 16" descr="18-1"/>
              <p:cNvPicPr>
                <a:picLocks noChangeAspect="1" noChangeArrowheads="1"/>
              </p:cNvPicPr>
              <p:nvPr/>
            </p:nvPicPr>
            <p:blipFill>
              <a:blip r:embed="rId2">
                <a:extLst>
                  <a:ext uri="{28A0092B-C50C-407E-A947-70E740481C1C}">
                    <a14:useLocalDpi xmlns:a14="http://schemas.microsoft.com/office/drawing/2010/main" val="0"/>
                  </a:ext>
                </a:extLst>
              </a:blip>
              <a:srcRect l="78070"/>
              <a:stretch>
                <a:fillRect/>
              </a:stretch>
            </p:blipFill>
            <p:spPr bwMode="auto">
              <a:xfrm>
                <a:off x="3787" y="1888"/>
                <a:ext cx="1360" cy="1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17" descr="18-1"/>
              <p:cNvPicPr>
                <a:picLocks noChangeAspect="1" noChangeArrowheads="1"/>
              </p:cNvPicPr>
              <p:nvPr/>
            </p:nvPicPr>
            <p:blipFill>
              <a:blip r:embed="rId2">
                <a:extLst>
                  <a:ext uri="{28A0092B-C50C-407E-A947-70E740481C1C}">
                    <a14:useLocalDpi xmlns:a14="http://schemas.microsoft.com/office/drawing/2010/main" val="0"/>
                  </a:ext>
                </a:extLst>
              </a:blip>
              <a:srcRect r="72810"/>
              <a:stretch>
                <a:fillRect/>
              </a:stretch>
            </p:blipFill>
            <p:spPr bwMode="auto">
              <a:xfrm>
                <a:off x="521" y="2024"/>
                <a:ext cx="1588"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18" descr="18-1"/>
              <p:cNvPicPr>
                <a:picLocks noChangeAspect="1" noChangeArrowheads="1"/>
              </p:cNvPicPr>
              <p:nvPr/>
            </p:nvPicPr>
            <p:blipFill>
              <a:blip r:embed="rId2">
                <a:extLst>
                  <a:ext uri="{28A0092B-C50C-407E-A947-70E740481C1C}">
                    <a14:useLocalDpi xmlns:a14="http://schemas.microsoft.com/office/drawing/2010/main" val="0"/>
                  </a:ext>
                </a:extLst>
              </a:blip>
              <a:srcRect l="41229" r="35100"/>
              <a:stretch>
                <a:fillRect/>
              </a:stretch>
            </p:blipFill>
            <p:spPr bwMode="auto">
              <a:xfrm>
                <a:off x="2200" y="1979"/>
                <a:ext cx="1361" cy="1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6" name="Text Box 21"/>
            <p:cNvSpPr txBox="1">
              <a:spLocks noChangeArrowheads="1"/>
            </p:cNvSpPr>
            <p:nvPr/>
          </p:nvSpPr>
          <p:spPr bwMode="auto">
            <a:xfrm>
              <a:off x="962" y="2989"/>
              <a:ext cx="39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t>  </a:t>
              </a:r>
              <a:r>
                <a:rPr lang="en-US" altLang="zh-CN" b="1" dirty="0">
                  <a:latin typeface="Times New Roman" panose="02020603050405020304" pitchFamily="18" charset="0"/>
                </a:rPr>
                <a:t>(1)                              (2)                              (3)</a:t>
              </a:r>
              <a:r>
                <a:rPr lang="en-US" altLang="zh-CN" dirty="0"/>
                <a:t>   </a:t>
              </a:r>
            </a:p>
          </p:txBody>
        </p:sp>
      </p:grpSp>
      <p:sp>
        <p:nvSpPr>
          <p:cNvPr id="3" name="矩形 2"/>
          <p:cNvSpPr/>
          <p:nvPr/>
        </p:nvSpPr>
        <p:spPr>
          <a:xfrm>
            <a:off x="993775" y="5282043"/>
            <a:ext cx="6096000" cy="757130"/>
          </a:xfrm>
          <a:prstGeom prst="rect">
            <a:avLst/>
          </a:prstGeom>
        </p:spPr>
        <p:txBody>
          <a:bodyPr>
            <a:spAutoFit/>
          </a:bodyPr>
          <a:lstStyle/>
          <a:p>
            <a:pPr>
              <a:lnSpc>
                <a:spcPct val="120000"/>
              </a:lnSpc>
            </a:pPr>
            <a:r>
              <a:rPr lang="zh-CN" altLang="en-US" b="1" dirty="0">
                <a:latin typeface="Times New Roman" panose="02020603050405020304" pitchFamily="18" charset="0"/>
              </a:rPr>
              <a:t>图中，</a:t>
            </a:r>
            <a:r>
              <a:rPr lang="en-US" altLang="zh-CN" b="1" dirty="0">
                <a:latin typeface="Times New Roman" panose="02020603050405020304" pitchFamily="18" charset="0"/>
              </a:rPr>
              <a:t>(1),(2),(3)(</a:t>
            </a:r>
            <a:r>
              <a:rPr lang="zh-CN" altLang="en-US" b="1" dirty="0">
                <a:latin typeface="Times New Roman" panose="02020603050405020304" pitchFamily="18" charset="0"/>
              </a:rPr>
              <a:t>彼得松图</a:t>
            </a:r>
            <a:r>
              <a:rPr lang="en-US" altLang="zh-CN" b="1" dirty="0">
                <a:latin typeface="Times New Roman" panose="02020603050405020304" pitchFamily="18" charset="0"/>
              </a:rPr>
              <a:t>)</a:t>
            </a:r>
            <a:r>
              <a:rPr lang="zh-CN" altLang="en-US" b="1" dirty="0">
                <a:latin typeface="Times New Roman" panose="02020603050405020304" pitchFamily="18" charset="0"/>
              </a:rPr>
              <a:t>的支配数分别为</a:t>
            </a:r>
            <a:r>
              <a:rPr lang="en-US" altLang="zh-CN" b="1" dirty="0">
                <a:latin typeface="Times New Roman" panose="02020603050405020304" pitchFamily="18" charset="0"/>
              </a:rPr>
              <a:t>1</a:t>
            </a:r>
            <a:r>
              <a:rPr lang="zh-CN" altLang="en-US" b="1" dirty="0">
                <a:latin typeface="Times New Roman" panose="02020603050405020304" pitchFamily="18" charset="0"/>
              </a:rPr>
              <a:t>，</a:t>
            </a:r>
            <a:r>
              <a:rPr lang="en-US" altLang="zh-CN" b="1" dirty="0">
                <a:latin typeface="Times New Roman" panose="02020603050405020304" pitchFamily="18" charset="0"/>
              </a:rPr>
              <a:t>2</a:t>
            </a:r>
            <a:r>
              <a:rPr lang="zh-CN" altLang="en-US" b="1" dirty="0">
                <a:latin typeface="Times New Roman" panose="02020603050405020304" pitchFamily="18" charset="0"/>
              </a:rPr>
              <a:t>，</a:t>
            </a:r>
            <a:r>
              <a:rPr lang="en-US" altLang="zh-CN" b="1" dirty="0">
                <a:latin typeface="Times New Roman" panose="02020603050405020304" pitchFamily="18" charset="0"/>
              </a:rPr>
              <a:t>3. </a:t>
            </a:r>
          </a:p>
          <a:p>
            <a:pPr>
              <a:lnSpc>
                <a:spcPct val="120000"/>
              </a:lnSpc>
            </a:pPr>
            <a:r>
              <a:rPr lang="zh-CN" altLang="en-US" b="1" dirty="0">
                <a:latin typeface="Times New Roman" panose="02020603050405020304" pitchFamily="18" charset="0"/>
              </a:rPr>
              <a:t>请各找出一个最小支配集</a:t>
            </a:r>
            <a:r>
              <a:rPr lang="en-US" altLang="zh-CN" b="1" dirty="0">
                <a:latin typeface="Times New Roman" panose="02020603050405020304" pitchFamily="18" charset="0"/>
              </a:rPr>
              <a:t>. </a:t>
            </a:r>
          </a:p>
        </p:txBody>
      </p:sp>
      <p:sp>
        <p:nvSpPr>
          <p:cNvPr id="4" name="矩形 3"/>
          <p:cNvSpPr/>
          <p:nvPr/>
        </p:nvSpPr>
        <p:spPr>
          <a:xfrm>
            <a:off x="2743200" y="4419600"/>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4709887" y="3662290"/>
            <a:ext cx="287612"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6456626" y="3662863"/>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8382000" y="4080233"/>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9043040" y="3404312"/>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7543800" y="4411663"/>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247196593"/>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066800" y="1295400"/>
            <a:ext cx="11277599" cy="1295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smtClean="0"/>
              <a:t>点独立集与点独立数</a:t>
            </a:r>
            <a:endParaRPr lang="en-US" dirty="0"/>
          </a:p>
        </p:txBody>
      </p:sp>
      <p:sp>
        <p:nvSpPr>
          <p:cNvPr id="7" name="日期占位符 6"/>
          <p:cNvSpPr>
            <a:spLocks noGrp="1"/>
          </p:cNvSpPr>
          <p:nvPr>
            <p:ph type="dt" sz="half" idx="10"/>
          </p:nvPr>
        </p:nvSpPr>
        <p:spPr/>
        <p:txBody>
          <a:bodyPr/>
          <a:lstStyle/>
          <a:p>
            <a:fld id="{69CD85A4-EFC3-48EC-9559-6F553D130ABB}"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78</a:t>
            </a:fld>
            <a:endParaRPr lang="zh-CN" altLang="en-US" dirty="0"/>
          </a:p>
        </p:txBody>
      </p:sp>
      <p:sp>
        <p:nvSpPr>
          <p:cNvPr id="12" name="Rectangle 9"/>
          <p:cNvSpPr txBox="1">
            <a:spLocks noChangeArrowheads="1"/>
          </p:cNvSpPr>
          <p:nvPr/>
        </p:nvSpPr>
        <p:spPr>
          <a:xfrm>
            <a:off x="457200" y="988904"/>
            <a:ext cx="11749312" cy="2663825"/>
          </a:xfrm>
          <a:prstGeom prst="rect">
            <a:avLst/>
          </a:prstGeom>
        </p:spPr>
        <p:txBody>
          <a:bodyPr vert="horz" lIns="91440" tIns="45720" rIns="91440" bIns="45720" rtlCol="0">
            <a:normAutofit lnSpcReduction="10000"/>
          </a:bodyPr>
          <a:lstStyle>
            <a:lvl1pPr marL="274320" indent="-274320" algn="l" defTabSz="914400" rtl="0" eaLnBrk="1" latinLnBrk="0" hangingPunct="1">
              <a:lnSpc>
                <a:spcPct val="100000"/>
              </a:lnSpc>
              <a:spcBef>
                <a:spcPts val="1000"/>
              </a:spcBef>
              <a:buClr>
                <a:srgbClr val="CEA524"/>
              </a:buClr>
              <a:buSzPct val="100000"/>
              <a:buFont typeface="Wingdings" panose="05000000000000000000" pitchFamily="2" charset="2"/>
              <a:buChar char="q"/>
              <a:defRPr sz="2800" kern="1200">
                <a:solidFill>
                  <a:schemeClr val="tx1"/>
                </a:solidFill>
                <a:latin typeface="微软雅黑" panose="020B0503020204020204" pitchFamily="34" charset="-122"/>
                <a:ea typeface="微软雅黑" panose="020B0503020204020204" pitchFamily="34" charset="-122"/>
                <a:cs typeface="+mn-cs"/>
              </a:defRPr>
            </a:lvl1pPr>
            <a:lvl2pPr marL="640080" indent="-246888" algn="l" defTabSz="914400" rtl="0" eaLnBrk="1" latinLnBrk="0" hangingPunct="1">
              <a:lnSpc>
                <a:spcPct val="90000"/>
              </a:lnSpc>
              <a:spcBef>
                <a:spcPts val="500"/>
              </a:spcBef>
              <a:buClr>
                <a:srgbClr val="01559D"/>
              </a:buClr>
              <a:buSzPct val="97000"/>
              <a:buFont typeface="Wingdings" panose="05000000000000000000" pitchFamily="2" charset="2"/>
              <a:buChar char="Ø"/>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smtClean="0">
                <a:latin typeface="Times New Roman" panose="02020603050405020304" pitchFamily="18" charset="0"/>
              </a:rPr>
              <a:t>设</a:t>
            </a:r>
            <a:r>
              <a:rPr lang="en-US" altLang="zh-CN" i="1" dirty="0" smtClean="0">
                <a:latin typeface="Times New Roman" panose="02020603050405020304" pitchFamily="18" charset="0"/>
              </a:rPr>
              <a:t>G</a:t>
            </a:r>
            <a:r>
              <a:rPr lang="en-US" altLang="zh-CN" dirty="0" smtClean="0">
                <a:latin typeface="Times New Roman" panose="02020603050405020304" pitchFamily="18" charset="0"/>
              </a:rPr>
              <a:t>=(</a:t>
            </a:r>
            <a:r>
              <a:rPr lang="en-US" altLang="zh-CN" i="1" dirty="0" smtClean="0">
                <a:latin typeface="Times New Roman" panose="02020603050405020304" pitchFamily="18" charset="0"/>
              </a:rPr>
              <a:t>V</a:t>
            </a:r>
            <a:r>
              <a:rPr lang="en-US" altLang="zh-CN" dirty="0" smtClean="0">
                <a:latin typeface="Times New Roman" panose="02020603050405020304" pitchFamily="18" charset="0"/>
              </a:rPr>
              <a:t>,</a:t>
            </a:r>
            <a:r>
              <a:rPr lang="en-US" altLang="zh-CN" i="1" dirty="0" smtClean="0">
                <a:latin typeface="Times New Roman" panose="02020603050405020304" pitchFamily="18" charset="0"/>
              </a:rPr>
              <a:t>E</a:t>
            </a:r>
            <a:r>
              <a:rPr lang="en-US" altLang="zh-CN" dirty="0">
                <a:latin typeface="Times New Roman" panose="02020603050405020304" pitchFamily="18" charset="0"/>
              </a:rPr>
              <a:t>)</a:t>
            </a:r>
            <a:r>
              <a:rPr lang="zh-CN" altLang="en-US" dirty="0" smtClean="0">
                <a:latin typeface="Times New Roman" panose="02020603050405020304" pitchFamily="18" charset="0"/>
              </a:rPr>
              <a:t>，</a:t>
            </a:r>
            <a:r>
              <a:rPr lang="en-US" altLang="zh-CN" i="1" dirty="0" smtClean="0">
                <a:latin typeface="Times New Roman" panose="02020603050405020304" pitchFamily="18" charset="0"/>
              </a:rPr>
              <a:t>V</a:t>
            </a:r>
            <a:r>
              <a:rPr lang="en-US" altLang="zh-CN" dirty="0" smtClean="0">
                <a:latin typeface="Times New Roman" panose="02020603050405020304" pitchFamily="18" charset="0"/>
              </a:rPr>
              <a:t>*</a:t>
            </a:r>
            <a:r>
              <a:rPr lang="en-US" altLang="zh-CN" dirty="0" smtClean="0">
                <a:latin typeface="Times New Roman" panose="02020603050405020304" pitchFamily="18" charset="0"/>
                <a:sym typeface="Symbol" panose="05050102010706020507" pitchFamily="18" charset="2"/>
              </a:rPr>
              <a:t></a:t>
            </a:r>
            <a:r>
              <a:rPr lang="en-US" altLang="zh-CN" i="1" dirty="0" smtClean="0">
                <a:latin typeface="Times New Roman" panose="02020603050405020304" pitchFamily="18" charset="0"/>
              </a:rPr>
              <a:t>V</a:t>
            </a:r>
            <a:r>
              <a:rPr lang="en-US" altLang="zh-CN" dirty="0" smtClean="0">
                <a:latin typeface="Times New Roman" panose="02020603050405020304" pitchFamily="18" charset="0"/>
              </a:rPr>
              <a:t>.</a:t>
            </a:r>
          </a:p>
          <a:p>
            <a:r>
              <a:rPr lang="en-US" altLang="zh-CN" dirty="0" smtClean="0">
                <a:latin typeface="Times New Roman" panose="02020603050405020304" pitchFamily="18" charset="0"/>
              </a:rPr>
              <a:t>(1) </a:t>
            </a:r>
            <a:r>
              <a:rPr lang="zh-CN" altLang="en-US" dirty="0" smtClean="0">
                <a:solidFill>
                  <a:srgbClr val="A50021"/>
                </a:solidFill>
                <a:latin typeface="Times New Roman" panose="02020603050405020304" pitchFamily="18" charset="0"/>
              </a:rPr>
              <a:t>点独立集</a:t>
            </a:r>
            <a:r>
              <a:rPr lang="en-US" altLang="zh-CN" i="1" dirty="0" smtClean="0">
                <a:latin typeface="Times New Roman" panose="02020603050405020304" pitchFamily="18" charset="0"/>
              </a:rPr>
              <a:t>V</a:t>
            </a:r>
            <a:r>
              <a:rPr lang="en-US" altLang="zh-CN" dirty="0" smtClean="0">
                <a:latin typeface="Times New Roman" panose="02020603050405020304" pitchFamily="18" charset="0"/>
              </a:rPr>
              <a:t>*——</a:t>
            </a:r>
            <a:r>
              <a:rPr lang="en-US" altLang="zh-CN" i="1" dirty="0" smtClean="0">
                <a:latin typeface="Times New Roman" panose="02020603050405020304" pitchFamily="18" charset="0"/>
              </a:rPr>
              <a:t>V</a:t>
            </a:r>
            <a:r>
              <a:rPr lang="en-US" altLang="zh-CN" dirty="0" smtClean="0">
                <a:latin typeface="Times New Roman" panose="02020603050405020304" pitchFamily="18" charset="0"/>
              </a:rPr>
              <a:t>*</a:t>
            </a:r>
            <a:r>
              <a:rPr lang="zh-CN" altLang="en-US" dirty="0" smtClean="0">
                <a:latin typeface="Times New Roman" panose="02020603050405020304" pitchFamily="18" charset="0"/>
              </a:rPr>
              <a:t>中顶点彼此不相邻</a:t>
            </a:r>
          </a:p>
          <a:p>
            <a:r>
              <a:rPr lang="en-US" altLang="zh-CN" dirty="0" smtClean="0">
                <a:latin typeface="Times New Roman" panose="02020603050405020304" pitchFamily="18" charset="0"/>
              </a:rPr>
              <a:t>(2) </a:t>
            </a:r>
            <a:r>
              <a:rPr lang="en-US" altLang="zh-CN" i="1" dirty="0" smtClean="0">
                <a:latin typeface="Times New Roman" panose="02020603050405020304" pitchFamily="18" charset="0"/>
              </a:rPr>
              <a:t>V</a:t>
            </a:r>
            <a:r>
              <a:rPr lang="en-US" altLang="zh-CN" dirty="0" smtClean="0">
                <a:latin typeface="Times New Roman" panose="02020603050405020304" pitchFamily="18" charset="0"/>
              </a:rPr>
              <a:t>*</a:t>
            </a:r>
            <a:r>
              <a:rPr lang="zh-CN" altLang="en-US" dirty="0" smtClean="0">
                <a:latin typeface="Times New Roman" panose="02020603050405020304" pitchFamily="18" charset="0"/>
              </a:rPr>
              <a:t>为</a:t>
            </a:r>
            <a:r>
              <a:rPr lang="zh-CN" altLang="en-US" dirty="0" smtClean="0">
                <a:solidFill>
                  <a:srgbClr val="A50021"/>
                </a:solidFill>
                <a:latin typeface="Times New Roman" panose="02020603050405020304" pitchFamily="18" charset="0"/>
              </a:rPr>
              <a:t>极大点独立集</a:t>
            </a:r>
            <a:r>
              <a:rPr lang="en-US" altLang="zh-CN" dirty="0" smtClean="0">
                <a:latin typeface="Times New Roman" panose="02020603050405020304" pitchFamily="18" charset="0"/>
              </a:rPr>
              <a:t>——</a:t>
            </a:r>
            <a:r>
              <a:rPr lang="en-US" altLang="zh-CN" i="1" dirty="0" smtClean="0">
                <a:latin typeface="Times New Roman" panose="02020603050405020304" pitchFamily="18" charset="0"/>
              </a:rPr>
              <a:t>V</a:t>
            </a:r>
            <a:r>
              <a:rPr lang="en-US" altLang="zh-CN" dirty="0" smtClean="0">
                <a:latin typeface="Times New Roman" panose="02020603050405020304" pitchFamily="18" charset="0"/>
              </a:rPr>
              <a:t>*</a:t>
            </a:r>
            <a:r>
              <a:rPr lang="zh-CN" altLang="en-US" dirty="0" smtClean="0">
                <a:latin typeface="Times New Roman" panose="02020603050405020304" pitchFamily="18" charset="0"/>
              </a:rPr>
              <a:t>中再加入任何顶点就不是点独立集</a:t>
            </a:r>
          </a:p>
          <a:p>
            <a:r>
              <a:rPr lang="en-US" altLang="zh-CN" dirty="0" smtClean="0">
                <a:latin typeface="Times New Roman" panose="02020603050405020304" pitchFamily="18" charset="0"/>
              </a:rPr>
              <a:t>(3) </a:t>
            </a:r>
            <a:r>
              <a:rPr lang="zh-CN" altLang="en-US" dirty="0" smtClean="0">
                <a:solidFill>
                  <a:srgbClr val="A50021"/>
                </a:solidFill>
                <a:latin typeface="Times New Roman" panose="02020603050405020304" pitchFamily="18" charset="0"/>
              </a:rPr>
              <a:t>最大点独立集</a:t>
            </a:r>
            <a:r>
              <a:rPr lang="en-US" altLang="zh-CN" dirty="0" smtClean="0">
                <a:latin typeface="Times New Roman" panose="02020603050405020304" pitchFamily="18" charset="0"/>
              </a:rPr>
              <a:t>——</a:t>
            </a:r>
            <a:r>
              <a:rPr lang="zh-CN" altLang="en-US" dirty="0" smtClean="0">
                <a:latin typeface="Times New Roman" panose="02020603050405020304" pitchFamily="18" charset="0"/>
              </a:rPr>
              <a:t>元素最多的点独立集</a:t>
            </a:r>
          </a:p>
          <a:p>
            <a:r>
              <a:rPr lang="en-US" altLang="zh-CN" dirty="0" smtClean="0">
                <a:latin typeface="Times New Roman" panose="02020603050405020304" pitchFamily="18" charset="0"/>
              </a:rPr>
              <a:t>(4) </a:t>
            </a:r>
            <a:r>
              <a:rPr lang="zh-CN" altLang="en-US" dirty="0" smtClean="0">
                <a:solidFill>
                  <a:srgbClr val="A50021"/>
                </a:solidFill>
                <a:latin typeface="Times New Roman" panose="02020603050405020304" pitchFamily="18" charset="0"/>
              </a:rPr>
              <a:t>点独立数</a:t>
            </a:r>
            <a:r>
              <a:rPr lang="en-US" altLang="zh-CN" dirty="0" smtClean="0">
                <a:latin typeface="Times New Roman" panose="02020603050405020304" pitchFamily="18" charset="0"/>
              </a:rPr>
              <a:t>——</a:t>
            </a:r>
            <a:r>
              <a:rPr lang="zh-CN" altLang="en-US" dirty="0" smtClean="0">
                <a:latin typeface="Times New Roman" panose="02020603050405020304" pitchFamily="18" charset="0"/>
              </a:rPr>
              <a:t>最大点独立集中的元素个数，记为</a:t>
            </a:r>
            <a:r>
              <a:rPr lang="zh-CN" altLang="en-US" dirty="0" smtClean="0">
                <a:latin typeface="Times New Roman" panose="02020603050405020304" pitchFamily="18" charset="0"/>
                <a:sym typeface="Symbol" panose="05050102010706020507" pitchFamily="18" charset="2"/>
              </a:rPr>
              <a:t></a:t>
            </a:r>
            <a:r>
              <a:rPr lang="en-US" altLang="zh-CN" baseline="-25000" dirty="0" smtClean="0">
                <a:latin typeface="Times New Roman" panose="02020603050405020304" pitchFamily="18" charset="0"/>
              </a:rPr>
              <a:t>0</a:t>
            </a:r>
            <a:r>
              <a:rPr lang="en-US" altLang="zh-CN" dirty="0" smtClean="0">
                <a:latin typeface="Times New Roman" panose="02020603050405020304" pitchFamily="18" charset="0"/>
              </a:rPr>
              <a:t> </a:t>
            </a:r>
            <a:endParaRPr lang="en-US" altLang="zh-CN" dirty="0">
              <a:latin typeface="Times New Roman" panose="02020603050405020304" pitchFamily="18" charset="0"/>
            </a:endParaRPr>
          </a:p>
        </p:txBody>
      </p:sp>
      <p:grpSp>
        <p:nvGrpSpPr>
          <p:cNvPr id="13" name="Group 11"/>
          <p:cNvGrpSpPr>
            <a:grpSpLocks/>
          </p:cNvGrpSpPr>
          <p:nvPr/>
        </p:nvGrpSpPr>
        <p:grpSpPr bwMode="auto">
          <a:xfrm>
            <a:off x="838200" y="3505200"/>
            <a:ext cx="7343775" cy="2493963"/>
            <a:chOff x="476" y="1706"/>
            <a:chExt cx="4626" cy="1571"/>
          </a:xfrm>
        </p:grpSpPr>
        <p:grpSp>
          <p:nvGrpSpPr>
            <p:cNvPr id="14" name="Group 12"/>
            <p:cNvGrpSpPr>
              <a:grpSpLocks/>
            </p:cNvGrpSpPr>
            <p:nvPr/>
          </p:nvGrpSpPr>
          <p:grpSpPr bwMode="auto">
            <a:xfrm>
              <a:off x="476" y="1706"/>
              <a:ext cx="4626" cy="1339"/>
              <a:chOff x="521" y="1888"/>
              <a:chExt cx="4626" cy="1339"/>
            </a:xfrm>
          </p:grpSpPr>
          <p:pic>
            <p:nvPicPr>
              <p:cNvPr id="16" name="Picture 13" descr="18-1"/>
              <p:cNvPicPr>
                <a:picLocks noChangeAspect="1" noChangeArrowheads="1"/>
              </p:cNvPicPr>
              <p:nvPr/>
            </p:nvPicPr>
            <p:blipFill>
              <a:blip r:embed="rId2">
                <a:extLst>
                  <a:ext uri="{28A0092B-C50C-407E-A947-70E740481C1C}">
                    <a14:useLocalDpi xmlns:a14="http://schemas.microsoft.com/office/drawing/2010/main" val="0"/>
                  </a:ext>
                </a:extLst>
              </a:blip>
              <a:srcRect l="78070"/>
              <a:stretch>
                <a:fillRect/>
              </a:stretch>
            </p:blipFill>
            <p:spPr bwMode="auto">
              <a:xfrm>
                <a:off x="3787" y="1888"/>
                <a:ext cx="1360" cy="1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14" descr="18-1"/>
              <p:cNvPicPr>
                <a:picLocks noChangeAspect="1" noChangeArrowheads="1"/>
              </p:cNvPicPr>
              <p:nvPr/>
            </p:nvPicPr>
            <p:blipFill>
              <a:blip r:embed="rId2">
                <a:extLst>
                  <a:ext uri="{28A0092B-C50C-407E-A947-70E740481C1C}">
                    <a14:useLocalDpi xmlns:a14="http://schemas.microsoft.com/office/drawing/2010/main" val="0"/>
                  </a:ext>
                </a:extLst>
              </a:blip>
              <a:srcRect r="72810"/>
              <a:stretch>
                <a:fillRect/>
              </a:stretch>
            </p:blipFill>
            <p:spPr bwMode="auto">
              <a:xfrm>
                <a:off x="521" y="2024"/>
                <a:ext cx="1588"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15" descr="18-1"/>
              <p:cNvPicPr>
                <a:picLocks noChangeAspect="1" noChangeArrowheads="1"/>
              </p:cNvPicPr>
              <p:nvPr/>
            </p:nvPicPr>
            <p:blipFill>
              <a:blip r:embed="rId2">
                <a:extLst>
                  <a:ext uri="{28A0092B-C50C-407E-A947-70E740481C1C}">
                    <a14:useLocalDpi xmlns:a14="http://schemas.microsoft.com/office/drawing/2010/main" val="0"/>
                  </a:ext>
                </a:extLst>
              </a:blip>
              <a:srcRect l="41229" r="35100"/>
              <a:stretch>
                <a:fillRect/>
              </a:stretch>
            </p:blipFill>
            <p:spPr bwMode="auto">
              <a:xfrm>
                <a:off x="2200" y="1979"/>
                <a:ext cx="1361" cy="1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5" name="Text Box 16"/>
            <p:cNvSpPr txBox="1">
              <a:spLocks noChangeArrowheads="1"/>
            </p:cNvSpPr>
            <p:nvPr/>
          </p:nvSpPr>
          <p:spPr bwMode="auto">
            <a:xfrm>
              <a:off x="962" y="2989"/>
              <a:ext cx="39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t>  </a:t>
              </a:r>
              <a:r>
                <a:rPr lang="en-US" altLang="zh-CN" b="1">
                  <a:latin typeface="Times New Roman" panose="02020603050405020304" pitchFamily="18" charset="0"/>
                </a:rPr>
                <a:t>(1)                              (2)                              (3)</a:t>
              </a:r>
              <a:r>
                <a:rPr lang="en-US" altLang="zh-CN"/>
                <a:t>   </a:t>
              </a:r>
            </a:p>
          </p:txBody>
        </p:sp>
      </p:grpSp>
      <p:sp>
        <p:nvSpPr>
          <p:cNvPr id="3" name="矩形 2"/>
          <p:cNvSpPr/>
          <p:nvPr/>
        </p:nvSpPr>
        <p:spPr>
          <a:xfrm>
            <a:off x="7696200" y="5561114"/>
            <a:ext cx="3416320" cy="369332"/>
          </a:xfrm>
          <a:prstGeom prst="rect">
            <a:avLst/>
          </a:prstGeom>
        </p:spPr>
        <p:txBody>
          <a:bodyPr wrap="none">
            <a:spAutoFit/>
          </a:bodyPr>
          <a:lstStyle/>
          <a:p>
            <a:pPr>
              <a:spcBef>
                <a:spcPct val="20000"/>
              </a:spcBef>
              <a:buClr>
                <a:srgbClr val="69B3F1"/>
              </a:buClr>
              <a:buFont typeface="Wingdings" panose="05000000000000000000" pitchFamily="2" charset="2"/>
              <a:buNone/>
            </a:pPr>
            <a:r>
              <a:rPr lang="zh-CN" altLang="en-US" b="1" dirty="0"/>
              <a:t>在图中，点独立数依次为</a:t>
            </a:r>
            <a:r>
              <a:rPr lang="en-US" altLang="zh-CN" b="1" dirty="0">
                <a:latin typeface="Times New Roman" panose="02020603050405020304" pitchFamily="18" charset="0"/>
              </a:rPr>
              <a:t>2, 2, </a:t>
            </a:r>
            <a:r>
              <a:rPr lang="en-US" altLang="zh-CN" b="1" dirty="0" smtClean="0">
                <a:latin typeface="Times New Roman" panose="02020603050405020304" pitchFamily="18" charset="0"/>
              </a:rPr>
              <a:t>4.</a:t>
            </a:r>
            <a:r>
              <a:rPr lang="en-US" altLang="zh-CN" dirty="0" smtClean="0">
                <a:latin typeface="Times New Roman" panose="02020603050405020304" pitchFamily="18" charset="0"/>
              </a:rPr>
              <a:t> </a:t>
            </a:r>
            <a:endParaRPr lang="en-US" altLang="zh-CN" dirty="0">
              <a:latin typeface="Times New Roman" panose="02020603050405020304" pitchFamily="18" charset="0"/>
            </a:endParaRPr>
          </a:p>
        </p:txBody>
      </p:sp>
      <p:sp>
        <p:nvSpPr>
          <p:cNvPr id="19" name="矩形 18"/>
          <p:cNvSpPr/>
          <p:nvPr/>
        </p:nvSpPr>
        <p:spPr>
          <a:xfrm>
            <a:off x="1828007" y="3662268"/>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2782888" y="4214019"/>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4059626" y="3689705"/>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4114800" y="5055287"/>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7037705" y="3548747"/>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7620000" y="5134535"/>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6754241" y="4822814"/>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6601841" y="4241232"/>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735849190"/>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066800" y="1295400"/>
            <a:ext cx="11277599" cy="1295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smtClean="0"/>
              <a:t>极大点独立集与极小支配集</a:t>
            </a:r>
            <a:endParaRPr lang="en-US" dirty="0"/>
          </a:p>
        </p:txBody>
      </p:sp>
      <p:sp>
        <p:nvSpPr>
          <p:cNvPr id="7" name="日期占位符 6"/>
          <p:cNvSpPr>
            <a:spLocks noGrp="1"/>
          </p:cNvSpPr>
          <p:nvPr>
            <p:ph type="dt" sz="half" idx="10"/>
          </p:nvPr>
        </p:nvSpPr>
        <p:spPr/>
        <p:txBody>
          <a:bodyPr/>
          <a:lstStyle/>
          <a:p>
            <a:fld id="{69CD85A4-EFC3-48EC-9559-6F553D130ABB}"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79</a:t>
            </a:fld>
            <a:endParaRPr lang="zh-CN" altLang="en-US" dirty="0"/>
          </a:p>
        </p:txBody>
      </p:sp>
      <p:sp>
        <p:nvSpPr>
          <p:cNvPr id="19" name="Rectangle 8"/>
          <p:cNvSpPr txBox="1">
            <a:spLocks noChangeArrowheads="1"/>
          </p:cNvSpPr>
          <p:nvPr/>
        </p:nvSpPr>
        <p:spPr>
          <a:xfrm>
            <a:off x="457200" y="1086975"/>
            <a:ext cx="11353800" cy="1008062"/>
          </a:xfrm>
          <a:prstGeom prst="rect">
            <a:avLst/>
          </a:prstGeom>
        </p:spPr>
        <p:txBody>
          <a:bodyPr vert="horz" lIns="91440" tIns="45720" rIns="91440" bIns="45720" rtlCol="0">
            <a:normAutofit/>
          </a:bodyPr>
          <a:lstStyle>
            <a:lvl1pPr marL="274320" indent="-274320" algn="l" defTabSz="914400" rtl="0" eaLnBrk="1" latinLnBrk="0" hangingPunct="1">
              <a:lnSpc>
                <a:spcPct val="100000"/>
              </a:lnSpc>
              <a:spcBef>
                <a:spcPts val="1000"/>
              </a:spcBef>
              <a:buClr>
                <a:srgbClr val="CEA524"/>
              </a:buClr>
              <a:buSzPct val="100000"/>
              <a:buFont typeface="Wingdings" panose="05000000000000000000" pitchFamily="2" charset="2"/>
              <a:buChar char="q"/>
              <a:defRPr sz="2800" kern="1200">
                <a:solidFill>
                  <a:schemeClr val="tx1"/>
                </a:solidFill>
                <a:latin typeface="微软雅黑" panose="020B0503020204020204" pitchFamily="34" charset="-122"/>
                <a:ea typeface="微软雅黑" panose="020B0503020204020204" pitchFamily="34" charset="-122"/>
                <a:cs typeface="+mn-cs"/>
              </a:defRPr>
            </a:lvl1pPr>
            <a:lvl2pPr marL="640080" indent="-246888" algn="l" defTabSz="914400" rtl="0" eaLnBrk="1" latinLnBrk="0" hangingPunct="1">
              <a:lnSpc>
                <a:spcPct val="90000"/>
              </a:lnSpc>
              <a:spcBef>
                <a:spcPts val="500"/>
              </a:spcBef>
              <a:buClr>
                <a:srgbClr val="01559D"/>
              </a:buClr>
              <a:buSzPct val="97000"/>
              <a:buFont typeface="Wingdings" panose="05000000000000000000" pitchFamily="2" charset="2"/>
              <a:buChar char="Ø"/>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smtClean="0">
                <a:solidFill>
                  <a:srgbClr val="A50021"/>
                </a:solidFill>
                <a:latin typeface="Times New Roman" panose="02020603050405020304" pitchFamily="18" charset="0"/>
              </a:rPr>
              <a:t>定理</a:t>
            </a:r>
            <a:r>
              <a:rPr lang="en-US" altLang="zh-CN" dirty="0" smtClean="0">
                <a:latin typeface="Times New Roman" panose="02020603050405020304" pitchFamily="18" charset="0"/>
              </a:rPr>
              <a:t> </a:t>
            </a:r>
            <a:r>
              <a:rPr lang="zh-CN" altLang="en-US" dirty="0" smtClean="0">
                <a:latin typeface="Times New Roman" panose="02020603050405020304" pitchFamily="18" charset="0"/>
              </a:rPr>
              <a:t>设</a:t>
            </a:r>
            <a:r>
              <a:rPr lang="en-US" altLang="zh-CN" i="1" dirty="0" smtClean="0">
                <a:latin typeface="Times New Roman" panose="02020603050405020304" pitchFamily="18" charset="0"/>
              </a:rPr>
              <a:t>G</a:t>
            </a:r>
            <a:r>
              <a:rPr lang="en-US" altLang="zh-CN" dirty="0" smtClean="0">
                <a:latin typeface="Times New Roman" panose="02020603050405020304" pitchFamily="18" charset="0"/>
              </a:rPr>
              <a:t>=(</a:t>
            </a:r>
            <a:r>
              <a:rPr lang="en-US" altLang="zh-CN" i="1" dirty="0" smtClean="0">
                <a:latin typeface="Times New Roman" panose="02020603050405020304" pitchFamily="18" charset="0"/>
              </a:rPr>
              <a:t>V</a:t>
            </a:r>
            <a:r>
              <a:rPr lang="en-US" altLang="zh-CN" dirty="0" smtClean="0">
                <a:latin typeface="Times New Roman" panose="02020603050405020304" pitchFamily="18" charset="0"/>
              </a:rPr>
              <a:t>,</a:t>
            </a:r>
            <a:r>
              <a:rPr lang="en-US" altLang="zh-CN" i="1" dirty="0" smtClean="0">
                <a:latin typeface="Times New Roman" panose="02020603050405020304" pitchFamily="18" charset="0"/>
              </a:rPr>
              <a:t>E</a:t>
            </a:r>
            <a:r>
              <a:rPr lang="en-US" altLang="zh-CN" dirty="0" smtClean="0">
                <a:latin typeface="Times New Roman" panose="02020603050405020304" pitchFamily="18" charset="0"/>
              </a:rPr>
              <a:t>) </a:t>
            </a:r>
            <a:r>
              <a:rPr lang="zh-CN" altLang="en-US" dirty="0" smtClean="0">
                <a:latin typeface="Times New Roman" panose="02020603050405020304" pitchFamily="18" charset="0"/>
              </a:rPr>
              <a:t>中无孤立点，则</a:t>
            </a:r>
            <a:r>
              <a:rPr lang="en-US" altLang="zh-CN" i="1" dirty="0" smtClean="0">
                <a:latin typeface="Times New Roman" panose="02020603050405020304" pitchFamily="18" charset="0"/>
              </a:rPr>
              <a:t>G</a:t>
            </a:r>
            <a:r>
              <a:rPr lang="zh-CN" altLang="en-US" dirty="0" smtClean="0">
                <a:latin typeface="Times New Roman" panose="02020603050405020304" pitchFamily="18" charset="0"/>
              </a:rPr>
              <a:t>的极大点独立集都是极小支配集</a:t>
            </a:r>
            <a:r>
              <a:rPr lang="en-US" altLang="zh-CN" dirty="0" smtClean="0">
                <a:latin typeface="Times New Roman" panose="02020603050405020304" pitchFamily="18" charset="0"/>
              </a:rPr>
              <a:t>. </a:t>
            </a:r>
            <a:endParaRPr lang="en-US" altLang="zh-CN" dirty="0">
              <a:latin typeface="Times New Roman" panose="02020603050405020304" pitchFamily="18" charset="0"/>
            </a:endParaRPr>
          </a:p>
        </p:txBody>
      </p:sp>
      <p:sp>
        <p:nvSpPr>
          <p:cNvPr id="20" name="Rectangle 9"/>
          <p:cNvSpPr>
            <a:spLocks noChangeArrowheads="1"/>
          </p:cNvSpPr>
          <p:nvPr/>
        </p:nvSpPr>
        <p:spPr bwMode="auto">
          <a:xfrm>
            <a:off x="595087" y="1963407"/>
            <a:ext cx="10987314" cy="2520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r>
              <a:rPr lang="zh-CN" altLang="en-US" sz="2800" dirty="0">
                <a:latin typeface="Times New Roman" panose="02020603050405020304" pitchFamily="18" charset="0"/>
                <a:ea typeface="微软雅黑" panose="020B0503020204020204" pitchFamily="34" charset="-122"/>
              </a:rPr>
              <a:t>证明：</a:t>
            </a:r>
          </a:p>
          <a:p>
            <a:r>
              <a:rPr lang="en-US" altLang="zh-CN" sz="2800" b="0" dirty="0">
                <a:latin typeface="Times New Roman" panose="02020603050405020304" pitchFamily="18" charset="0"/>
                <a:ea typeface="微软雅黑" panose="020B0503020204020204" pitchFamily="34" charset="-122"/>
              </a:rPr>
              <a:t>(1) </a:t>
            </a:r>
            <a:r>
              <a:rPr lang="zh-CN" altLang="en-US" sz="2800" b="0" dirty="0">
                <a:latin typeface="Times New Roman" panose="02020603050405020304" pitchFamily="18" charset="0"/>
                <a:ea typeface="微软雅黑" panose="020B0503020204020204" pitchFamily="34" charset="-122"/>
              </a:rPr>
              <a:t>设</a:t>
            </a:r>
            <a:r>
              <a:rPr lang="en-US" altLang="zh-CN" sz="2800" b="0" dirty="0">
                <a:latin typeface="Times New Roman" panose="02020603050405020304" pitchFamily="18" charset="0"/>
                <a:ea typeface="微软雅黑" panose="020B0503020204020204" pitchFamily="34" charset="-122"/>
              </a:rPr>
              <a:t>V*</a:t>
            </a:r>
            <a:r>
              <a:rPr lang="zh-CN" altLang="en-US" sz="2800" b="0" dirty="0">
                <a:latin typeface="Times New Roman" panose="02020603050405020304" pitchFamily="18" charset="0"/>
                <a:ea typeface="微软雅黑" panose="020B0503020204020204" pitchFamily="34" charset="-122"/>
              </a:rPr>
              <a:t>为</a:t>
            </a:r>
            <a:r>
              <a:rPr lang="en-US" altLang="zh-CN" sz="2800" b="0" dirty="0">
                <a:latin typeface="Times New Roman" panose="02020603050405020304" pitchFamily="18" charset="0"/>
                <a:ea typeface="微软雅黑" panose="020B0503020204020204" pitchFamily="34" charset="-122"/>
              </a:rPr>
              <a:t>G</a:t>
            </a:r>
            <a:r>
              <a:rPr lang="zh-CN" altLang="en-US" sz="2800" b="0" dirty="0">
                <a:latin typeface="Times New Roman" panose="02020603050405020304" pitchFamily="18" charset="0"/>
                <a:ea typeface="微软雅黑" panose="020B0503020204020204" pitchFamily="34" charset="-122"/>
              </a:rPr>
              <a:t>的极大点独立集，证明它也是支配集</a:t>
            </a:r>
            <a:r>
              <a:rPr lang="en-US" altLang="zh-CN" sz="2800" b="0" dirty="0">
                <a:latin typeface="Times New Roman" panose="02020603050405020304" pitchFamily="18" charset="0"/>
                <a:ea typeface="微软雅黑" panose="020B0503020204020204" pitchFamily="34" charset="-122"/>
              </a:rPr>
              <a:t>. </a:t>
            </a:r>
            <a:r>
              <a:rPr lang="en-US" altLang="zh-CN" sz="2800" b="0" dirty="0">
                <a:latin typeface="Times New Roman" panose="02020603050405020304" pitchFamily="18" charset="0"/>
                <a:ea typeface="微软雅黑" panose="020B0503020204020204" pitchFamily="34" charset="-122"/>
                <a:sym typeface="Symbol" panose="05050102010706020507" pitchFamily="18" charset="2"/>
              </a:rPr>
              <a:t></a:t>
            </a:r>
            <a:r>
              <a:rPr lang="en-US" altLang="zh-CN" sz="2800" b="0" dirty="0" err="1">
                <a:latin typeface="Times New Roman" panose="02020603050405020304" pitchFamily="18" charset="0"/>
                <a:ea typeface="微软雅黑" panose="020B0503020204020204" pitchFamily="34" charset="-122"/>
              </a:rPr>
              <a:t>v</a:t>
            </a:r>
            <a:r>
              <a:rPr lang="en-US" altLang="zh-CN" sz="2800" b="0" dirty="0" err="1">
                <a:latin typeface="Times New Roman" panose="02020603050405020304" pitchFamily="18" charset="0"/>
                <a:ea typeface="微软雅黑" panose="020B0503020204020204" pitchFamily="34" charset="-122"/>
                <a:sym typeface="Symbol" panose="05050102010706020507" pitchFamily="18" charset="2"/>
              </a:rPr>
              <a:t></a:t>
            </a:r>
            <a:r>
              <a:rPr lang="en-US" altLang="zh-CN" sz="2800" b="0" dirty="0" err="1">
                <a:latin typeface="Times New Roman" panose="02020603050405020304" pitchFamily="18" charset="0"/>
                <a:ea typeface="微软雅黑" panose="020B0503020204020204" pitchFamily="34" charset="-122"/>
              </a:rPr>
              <a:t>V</a:t>
            </a:r>
            <a:r>
              <a:rPr lang="en-US" altLang="zh-CN" sz="2800" b="0" dirty="0" err="1">
                <a:latin typeface="Times New Roman" panose="02020603050405020304" pitchFamily="18" charset="0"/>
                <a:ea typeface="微软雅黑" panose="020B0503020204020204" pitchFamily="34" charset="-122"/>
                <a:sym typeface="Symbol" panose="05050102010706020507" pitchFamily="18" charset="2"/>
              </a:rPr>
              <a:t></a:t>
            </a:r>
            <a:r>
              <a:rPr lang="en-US" altLang="zh-CN" sz="2800" b="0" dirty="0" err="1">
                <a:latin typeface="Times New Roman" panose="02020603050405020304" pitchFamily="18" charset="0"/>
                <a:ea typeface="微软雅黑" panose="020B0503020204020204" pitchFamily="34" charset="-122"/>
              </a:rPr>
              <a:t>V</a:t>
            </a:r>
            <a:r>
              <a:rPr lang="en-US" altLang="zh-CN" sz="2800" b="0" dirty="0">
                <a:latin typeface="Times New Roman" panose="02020603050405020304" pitchFamily="18" charset="0"/>
                <a:ea typeface="微软雅黑" panose="020B0503020204020204" pitchFamily="34" charset="-122"/>
              </a:rPr>
              <a:t>*</a:t>
            </a:r>
            <a:r>
              <a:rPr lang="zh-CN" altLang="en-US" sz="2800" b="0" dirty="0">
                <a:latin typeface="Times New Roman" panose="02020603050405020304" pitchFamily="18" charset="0"/>
                <a:ea typeface="微软雅黑" panose="020B0503020204020204" pitchFamily="34" charset="-122"/>
              </a:rPr>
              <a:t>，必</a:t>
            </a:r>
            <a:r>
              <a:rPr lang="zh-CN" altLang="en-US" sz="2800" b="0" dirty="0">
                <a:latin typeface="Times New Roman" panose="02020603050405020304" pitchFamily="18" charset="0"/>
                <a:ea typeface="微软雅黑" panose="020B0503020204020204" pitchFamily="34" charset="-122"/>
                <a:sym typeface="Symbol" panose="05050102010706020507" pitchFamily="18" charset="2"/>
              </a:rPr>
              <a:t></a:t>
            </a:r>
            <a:r>
              <a:rPr lang="en-US" altLang="zh-CN" sz="2800" b="0" dirty="0">
                <a:latin typeface="Times New Roman" panose="02020603050405020304" pitchFamily="18" charset="0"/>
                <a:ea typeface="微软雅黑" panose="020B0503020204020204" pitchFamily="34" charset="-122"/>
              </a:rPr>
              <a:t>v</a:t>
            </a:r>
            <a:r>
              <a:rPr lang="en-US" altLang="zh-CN" sz="2800" b="0" dirty="0">
                <a:latin typeface="Times New Roman" panose="02020603050405020304" pitchFamily="18" charset="0"/>
                <a:ea typeface="微软雅黑" panose="020B0503020204020204" pitchFamily="34" charset="-122"/>
                <a:sym typeface="Symbol" panose="05050102010706020507" pitchFamily="18" charset="2"/>
              </a:rPr>
              <a:t></a:t>
            </a:r>
            <a:r>
              <a:rPr lang="en-US" altLang="zh-CN" sz="2800" b="0" dirty="0">
                <a:latin typeface="Times New Roman" panose="02020603050405020304" pitchFamily="18" charset="0"/>
                <a:ea typeface="微软雅黑" panose="020B0503020204020204" pitchFamily="34" charset="-122"/>
              </a:rPr>
              <a:t>V*</a:t>
            </a:r>
            <a:r>
              <a:rPr lang="zh-CN" altLang="en-US" sz="2800" b="0" dirty="0">
                <a:latin typeface="Times New Roman" panose="02020603050405020304" pitchFamily="18" charset="0"/>
                <a:ea typeface="微软雅黑" panose="020B0503020204020204" pitchFamily="34" charset="-122"/>
              </a:rPr>
              <a:t>，使</a:t>
            </a:r>
            <a:r>
              <a:rPr lang="en-US" altLang="zh-CN" sz="2800" b="0" dirty="0">
                <a:latin typeface="Times New Roman" panose="02020603050405020304" pitchFamily="18" charset="0"/>
                <a:ea typeface="微软雅黑" panose="020B0503020204020204" pitchFamily="34" charset="-122"/>
              </a:rPr>
              <a:t>(</a:t>
            </a:r>
            <a:r>
              <a:rPr lang="en-US" altLang="zh-CN" sz="2800" b="0" dirty="0" err="1">
                <a:latin typeface="Times New Roman" panose="02020603050405020304" pitchFamily="18" charset="0"/>
                <a:ea typeface="微软雅黑" panose="020B0503020204020204" pitchFamily="34" charset="-122"/>
              </a:rPr>
              <a:t>v,v</a:t>
            </a:r>
            <a:r>
              <a:rPr lang="en-US" altLang="zh-CN" sz="2800" b="0" dirty="0">
                <a:latin typeface="Times New Roman" panose="02020603050405020304" pitchFamily="18" charset="0"/>
                <a:ea typeface="微软雅黑" panose="020B0503020204020204" pitchFamily="34" charset="-122"/>
                <a:sym typeface="Symbol" panose="05050102010706020507" pitchFamily="18" charset="2"/>
              </a:rPr>
              <a:t></a:t>
            </a:r>
            <a:r>
              <a:rPr lang="en-US" altLang="zh-CN" sz="2800" b="0" dirty="0">
                <a:latin typeface="Times New Roman" panose="02020603050405020304" pitchFamily="18" charset="0"/>
                <a:ea typeface="微软雅黑" panose="020B0503020204020204" pitchFamily="34" charset="-122"/>
              </a:rPr>
              <a:t>)</a:t>
            </a:r>
            <a:r>
              <a:rPr lang="en-US" altLang="zh-CN" sz="2800" b="0" dirty="0">
                <a:latin typeface="Times New Roman" panose="02020603050405020304" pitchFamily="18" charset="0"/>
                <a:ea typeface="微软雅黑" panose="020B0503020204020204" pitchFamily="34" charset="-122"/>
                <a:sym typeface="Symbol" panose="05050102010706020507" pitchFamily="18" charset="2"/>
              </a:rPr>
              <a:t></a:t>
            </a:r>
            <a:r>
              <a:rPr lang="en-US" altLang="zh-CN" sz="2800" b="0" dirty="0">
                <a:latin typeface="Times New Roman" panose="02020603050405020304" pitchFamily="18" charset="0"/>
                <a:ea typeface="微软雅黑" panose="020B0503020204020204" pitchFamily="34" charset="-122"/>
              </a:rPr>
              <a:t>E</a:t>
            </a:r>
            <a:r>
              <a:rPr lang="zh-CN" altLang="en-US" sz="2800" b="0" dirty="0">
                <a:latin typeface="Times New Roman" panose="02020603050405020304" pitchFamily="18" charset="0"/>
                <a:ea typeface="微软雅黑" panose="020B0503020204020204" pitchFamily="34" charset="-122"/>
              </a:rPr>
              <a:t>，否则</a:t>
            </a:r>
            <a:r>
              <a:rPr lang="zh-CN" altLang="en-US" sz="2800" b="0" dirty="0">
                <a:latin typeface="Times New Roman" panose="02020603050405020304" pitchFamily="18" charset="0"/>
                <a:ea typeface="微软雅黑" panose="020B0503020204020204" pitchFamily="34" charset="-122"/>
                <a:sym typeface="Symbol" panose="05050102010706020507" pitchFamily="18" charset="2"/>
              </a:rPr>
              <a:t></a:t>
            </a:r>
            <a:r>
              <a:rPr lang="en-US" altLang="zh-CN" sz="2800" b="0" dirty="0">
                <a:latin typeface="Times New Roman" panose="02020603050405020304" pitchFamily="18" charset="0"/>
                <a:ea typeface="微软雅黑" panose="020B0503020204020204" pitchFamily="34" charset="-122"/>
              </a:rPr>
              <a:t>v0</a:t>
            </a:r>
            <a:r>
              <a:rPr lang="en-US" altLang="zh-CN" sz="2800" b="0" dirty="0">
                <a:latin typeface="Times New Roman" panose="02020603050405020304" pitchFamily="18" charset="0"/>
                <a:ea typeface="微软雅黑" panose="020B0503020204020204" pitchFamily="34" charset="-122"/>
                <a:sym typeface="Symbol" panose="05050102010706020507" pitchFamily="18" charset="2"/>
              </a:rPr>
              <a:t></a:t>
            </a:r>
            <a:r>
              <a:rPr lang="en-US" altLang="zh-CN" sz="2800" b="0" dirty="0">
                <a:latin typeface="Times New Roman" panose="02020603050405020304" pitchFamily="18" charset="0"/>
                <a:ea typeface="微软雅黑" panose="020B0503020204020204" pitchFamily="34" charset="-122"/>
              </a:rPr>
              <a:t> V</a:t>
            </a:r>
            <a:r>
              <a:rPr lang="en-US" altLang="zh-CN" sz="2800" b="0" dirty="0">
                <a:latin typeface="Times New Roman" panose="02020603050405020304" pitchFamily="18" charset="0"/>
                <a:ea typeface="微软雅黑" panose="020B0503020204020204" pitchFamily="34" charset="-122"/>
                <a:sym typeface="Symbol" panose="05050102010706020507" pitchFamily="18" charset="2"/>
              </a:rPr>
              <a:t></a:t>
            </a:r>
            <a:r>
              <a:rPr lang="en-US" altLang="zh-CN" sz="2800" b="0" dirty="0">
                <a:latin typeface="Times New Roman" panose="02020603050405020304" pitchFamily="18" charset="0"/>
                <a:ea typeface="微软雅黑" panose="020B0503020204020204" pitchFamily="34" charset="-122"/>
              </a:rPr>
              <a:t>V*</a:t>
            </a:r>
            <a:r>
              <a:rPr lang="zh-CN" altLang="en-US" sz="2800" b="0" dirty="0">
                <a:latin typeface="Times New Roman" panose="02020603050405020304" pitchFamily="18" charset="0"/>
                <a:ea typeface="微软雅黑" panose="020B0503020204020204" pitchFamily="34" charset="-122"/>
              </a:rPr>
              <a:t>不与</a:t>
            </a:r>
            <a:r>
              <a:rPr lang="en-US" altLang="zh-CN" sz="2800" b="0" dirty="0">
                <a:latin typeface="Times New Roman" panose="02020603050405020304" pitchFamily="18" charset="0"/>
                <a:ea typeface="微软雅黑" panose="020B0503020204020204" pitchFamily="34" charset="-122"/>
              </a:rPr>
              <a:t>V*</a:t>
            </a:r>
            <a:r>
              <a:rPr lang="zh-CN" altLang="en-US" sz="2800" b="0" dirty="0">
                <a:latin typeface="Times New Roman" panose="02020603050405020304" pitchFamily="18" charset="0"/>
                <a:ea typeface="微软雅黑" panose="020B0503020204020204" pitchFamily="34" charset="-122"/>
              </a:rPr>
              <a:t>中任何顶点相邻，则</a:t>
            </a:r>
            <a:r>
              <a:rPr lang="en-US" altLang="zh-CN" sz="2800" b="0" dirty="0">
                <a:latin typeface="Times New Roman" panose="02020603050405020304" pitchFamily="18" charset="0"/>
                <a:ea typeface="微软雅黑" panose="020B0503020204020204" pitchFamily="34" charset="-122"/>
              </a:rPr>
              <a:t>V*</a:t>
            </a:r>
            <a:r>
              <a:rPr lang="en-US" altLang="zh-CN" sz="2800" b="0" dirty="0">
                <a:latin typeface="Times New Roman" panose="02020603050405020304" pitchFamily="18" charset="0"/>
                <a:ea typeface="微软雅黑" panose="020B0503020204020204" pitchFamily="34" charset="-122"/>
                <a:sym typeface="Symbol" panose="05050102010706020507" pitchFamily="18" charset="2"/>
              </a:rPr>
              <a:t></a:t>
            </a:r>
            <a:r>
              <a:rPr lang="en-US" altLang="zh-CN" sz="2800" b="0" dirty="0">
                <a:latin typeface="Times New Roman" panose="02020603050405020304" pitchFamily="18" charset="0"/>
                <a:ea typeface="微软雅黑" panose="020B0503020204020204" pitchFamily="34" charset="-122"/>
              </a:rPr>
              <a:t>{v0}</a:t>
            </a:r>
            <a:r>
              <a:rPr lang="zh-CN" altLang="en-US" sz="2800" b="0" dirty="0">
                <a:latin typeface="Times New Roman" panose="02020603050405020304" pitchFamily="18" charset="0"/>
                <a:ea typeface="微软雅黑" panose="020B0503020204020204" pitchFamily="34" charset="-122"/>
              </a:rPr>
              <a:t>仍为点独立集，这与</a:t>
            </a:r>
            <a:r>
              <a:rPr lang="en-US" altLang="zh-CN" sz="2800" b="0" dirty="0">
                <a:latin typeface="Times New Roman" panose="02020603050405020304" pitchFamily="18" charset="0"/>
                <a:ea typeface="微软雅黑" panose="020B0503020204020204" pitchFamily="34" charset="-122"/>
              </a:rPr>
              <a:t>V*</a:t>
            </a:r>
            <a:r>
              <a:rPr lang="zh-CN" altLang="en-US" sz="2800" b="0" dirty="0">
                <a:latin typeface="Times New Roman" panose="02020603050405020304" pitchFamily="18" charset="0"/>
                <a:ea typeface="微软雅黑" panose="020B0503020204020204" pitchFamily="34" charset="-122"/>
              </a:rPr>
              <a:t>是极大点独立集矛盾</a:t>
            </a:r>
            <a:r>
              <a:rPr lang="en-US" altLang="zh-CN" sz="2800" b="0" dirty="0">
                <a:latin typeface="Times New Roman" panose="02020603050405020304" pitchFamily="18" charset="0"/>
                <a:ea typeface="微软雅黑" panose="020B0503020204020204" pitchFamily="34" charset="-122"/>
              </a:rPr>
              <a:t>. </a:t>
            </a:r>
          </a:p>
          <a:p>
            <a:r>
              <a:rPr lang="en-US" altLang="zh-CN" sz="2800" b="0" dirty="0">
                <a:latin typeface="Times New Roman" panose="02020603050405020304" pitchFamily="18" charset="0"/>
                <a:ea typeface="微软雅黑" panose="020B0503020204020204" pitchFamily="34" charset="-122"/>
              </a:rPr>
              <a:t>(2) </a:t>
            </a:r>
            <a:r>
              <a:rPr lang="zh-CN" altLang="en-US" sz="2800" b="0" dirty="0">
                <a:latin typeface="Times New Roman" panose="02020603050405020304" pitchFamily="18" charset="0"/>
                <a:ea typeface="微软雅黑" panose="020B0503020204020204" pitchFamily="34" charset="-122"/>
              </a:rPr>
              <a:t>证</a:t>
            </a:r>
            <a:r>
              <a:rPr lang="en-US" altLang="zh-CN" sz="2800" b="0" dirty="0">
                <a:latin typeface="Times New Roman" panose="02020603050405020304" pitchFamily="18" charset="0"/>
                <a:ea typeface="微软雅黑" panose="020B0503020204020204" pitchFamily="34" charset="-122"/>
              </a:rPr>
              <a:t>V*</a:t>
            </a:r>
            <a:r>
              <a:rPr lang="zh-CN" altLang="en-US" sz="2800" b="0" dirty="0">
                <a:latin typeface="Times New Roman" panose="02020603050405020304" pitchFamily="18" charset="0"/>
                <a:ea typeface="微软雅黑" panose="020B0503020204020204" pitchFamily="34" charset="-122"/>
              </a:rPr>
              <a:t>是极小支配集</a:t>
            </a:r>
            <a:r>
              <a:rPr lang="en-US" altLang="zh-CN" sz="2800" b="0" dirty="0">
                <a:latin typeface="Times New Roman" panose="02020603050405020304" pitchFamily="18" charset="0"/>
                <a:ea typeface="微软雅黑" panose="020B0503020204020204" pitchFamily="34" charset="-122"/>
              </a:rPr>
              <a:t>. </a:t>
            </a:r>
            <a:r>
              <a:rPr lang="zh-CN" altLang="en-US" sz="2800" b="0" dirty="0">
                <a:latin typeface="Times New Roman" panose="02020603050405020304" pitchFamily="18" charset="0"/>
                <a:ea typeface="微软雅黑" panose="020B0503020204020204" pitchFamily="34" charset="-122"/>
              </a:rPr>
              <a:t>只需证</a:t>
            </a:r>
            <a:r>
              <a:rPr lang="en-US" altLang="zh-CN" sz="2800" b="0" dirty="0">
                <a:latin typeface="Times New Roman" panose="02020603050405020304" pitchFamily="18" charset="0"/>
                <a:ea typeface="微软雅黑" panose="020B0503020204020204" pitchFamily="34" charset="-122"/>
              </a:rPr>
              <a:t>V*</a:t>
            </a:r>
            <a:r>
              <a:rPr lang="zh-CN" altLang="en-US" sz="2800" b="0" dirty="0">
                <a:latin typeface="Times New Roman" panose="02020603050405020304" pitchFamily="18" charset="0"/>
                <a:ea typeface="微软雅黑" panose="020B0503020204020204" pitchFamily="34" charset="-122"/>
              </a:rPr>
              <a:t>的真子集不是支配集</a:t>
            </a:r>
            <a:r>
              <a:rPr lang="en-US" altLang="zh-CN" sz="2800" b="0" dirty="0">
                <a:latin typeface="Times New Roman" panose="02020603050405020304" pitchFamily="18" charset="0"/>
                <a:ea typeface="微软雅黑" panose="020B0503020204020204" pitchFamily="34" charset="-122"/>
              </a:rPr>
              <a:t>.</a:t>
            </a:r>
          </a:p>
        </p:txBody>
      </p:sp>
      <p:sp>
        <p:nvSpPr>
          <p:cNvPr id="21" name="Rectangle 10"/>
          <p:cNvSpPr>
            <a:spLocks noChangeArrowheads="1"/>
          </p:cNvSpPr>
          <p:nvPr/>
        </p:nvSpPr>
        <p:spPr bwMode="auto">
          <a:xfrm>
            <a:off x="1066800" y="5216874"/>
            <a:ext cx="76327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buClr>
                <a:srgbClr val="69B3F1"/>
              </a:buClr>
              <a:buFont typeface="Wingdings" panose="05000000000000000000" pitchFamily="2" charset="2"/>
              <a:buNone/>
            </a:pPr>
            <a:r>
              <a:rPr lang="zh-CN" altLang="en-US" sz="2800" dirty="0">
                <a:latin typeface="Times New Roman" panose="02020603050405020304" pitchFamily="18" charset="0"/>
                <a:ea typeface="微软雅黑" panose="020B0503020204020204" pitchFamily="34" charset="-122"/>
              </a:rPr>
              <a:t>特别注意，定理其逆不真</a:t>
            </a:r>
            <a:r>
              <a:rPr lang="en-US" altLang="zh-CN" sz="2800" dirty="0">
                <a:latin typeface="Times New Roman" panose="02020603050405020304" pitchFamily="18" charset="0"/>
                <a:ea typeface="微软雅黑" panose="020B0503020204020204" pitchFamily="34" charset="-122"/>
              </a:rPr>
              <a:t>. </a:t>
            </a:r>
          </a:p>
        </p:txBody>
      </p:sp>
    </p:spTree>
    <p:extLst>
      <p:ext uri="{BB962C8B-B14F-4D97-AF65-F5344CB8AC3E}">
        <p14:creationId xmlns:p14="http://schemas.microsoft.com/office/powerpoint/2010/main" val="3249051216"/>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点覆盖集与点覆盖数</a:t>
            </a:r>
            <a:endParaRPr lang="en-US" dirty="0"/>
          </a:p>
        </p:txBody>
      </p:sp>
      <p:sp>
        <p:nvSpPr>
          <p:cNvPr id="7" name="日期占位符 6"/>
          <p:cNvSpPr>
            <a:spLocks noGrp="1"/>
          </p:cNvSpPr>
          <p:nvPr>
            <p:ph type="dt" sz="half" idx="10"/>
          </p:nvPr>
        </p:nvSpPr>
        <p:spPr/>
        <p:txBody>
          <a:bodyPr/>
          <a:lstStyle/>
          <a:p>
            <a:fld id="{69CD85A4-EFC3-48EC-9559-6F553D130ABB}"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80</a:t>
            </a:fld>
            <a:endParaRPr lang="zh-CN" altLang="en-US" dirty="0"/>
          </a:p>
        </p:txBody>
      </p:sp>
      <p:sp>
        <p:nvSpPr>
          <p:cNvPr id="11" name="Rectangle 9"/>
          <p:cNvSpPr txBox="1">
            <a:spLocks noChangeArrowheads="1"/>
          </p:cNvSpPr>
          <p:nvPr/>
        </p:nvSpPr>
        <p:spPr>
          <a:xfrm>
            <a:off x="595087" y="1035329"/>
            <a:ext cx="10072913" cy="2305050"/>
          </a:xfrm>
          <a:prstGeom prst="rect">
            <a:avLst/>
          </a:prstGeom>
        </p:spPr>
        <p:txBody>
          <a:bodyPr vert="horz" lIns="91440" tIns="45720" rIns="91440" bIns="45720" rtlCol="0">
            <a:normAutofit fontScale="92500" lnSpcReduction="20000"/>
          </a:bodyPr>
          <a:lstStyle>
            <a:lvl1pPr marL="274320" indent="-274320" algn="l" defTabSz="914400" rtl="0" eaLnBrk="1" latinLnBrk="0" hangingPunct="1">
              <a:lnSpc>
                <a:spcPct val="100000"/>
              </a:lnSpc>
              <a:spcBef>
                <a:spcPts val="1000"/>
              </a:spcBef>
              <a:buClr>
                <a:srgbClr val="CEA524"/>
              </a:buClr>
              <a:buSzPct val="100000"/>
              <a:buFont typeface="Wingdings" panose="05000000000000000000" pitchFamily="2" charset="2"/>
              <a:buChar char="q"/>
              <a:defRPr sz="2800" kern="1200">
                <a:solidFill>
                  <a:schemeClr val="tx1"/>
                </a:solidFill>
                <a:latin typeface="微软雅黑" panose="020B0503020204020204" pitchFamily="34" charset="-122"/>
                <a:ea typeface="微软雅黑" panose="020B0503020204020204" pitchFamily="34" charset="-122"/>
                <a:cs typeface="+mn-cs"/>
              </a:defRPr>
            </a:lvl1pPr>
            <a:lvl2pPr marL="640080" indent="-246888" algn="l" defTabSz="914400" rtl="0" eaLnBrk="1" latinLnBrk="0" hangingPunct="1">
              <a:lnSpc>
                <a:spcPct val="90000"/>
              </a:lnSpc>
              <a:spcBef>
                <a:spcPts val="500"/>
              </a:spcBef>
              <a:buClr>
                <a:srgbClr val="01559D"/>
              </a:buClr>
              <a:buSzPct val="97000"/>
              <a:buFont typeface="Wingdings" panose="05000000000000000000" pitchFamily="2" charset="2"/>
              <a:buChar char="Ø"/>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r>
              <a:rPr lang="en-US" altLang="zh-CN" dirty="0" smtClean="0">
                <a:latin typeface="Times New Roman" panose="02020603050405020304" pitchFamily="18" charset="0"/>
              </a:rPr>
              <a:t> </a:t>
            </a:r>
            <a:r>
              <a:rPr lang="zh-CN" altLang="en-US" dirty="0" smtClean="0">
                <a:latin typeface="Times New Roman" panose="02020603050405020304" pitchFamily="18" charset="0"/>
              </a:rPr>
              <a:t>设</a:t>
            </a:r>
            <a:r>
              <a:rPr lang="en-US" altLang="zh-CN" i="1" dirty="0" smtClean="0">
                <a:latin typeface="Times New Roman" panose="02020603050405020304" pitchFamily="18" charset="0"/>
              </a:rPr>
              <a:t>G</a:t>
            </a:r>
            <a:r>
              <a:rPr lang="en-US" altLang="zh-CN" dirty="0" smtClean="0">
                <a:latin typeface="Times New Roman" panose="02020603050405020304" pitchFamily="18" charset="0"/>
              </a:rPr>
              <a:t>=&lt;</a:t>
            </a:r>
            <a:r>
              <a:rPr lang="en-US" altLang="zh-CN" i="1" dirty="0" smtClean="0">
                <a:latin typeface="Times New Roman" panose="02020603050405020304" pitchFamily="18" charset="0"/>
              </a:rPr>
              <a:t>V</a:t>
            </a:r>
            <a:r>
              <a:rPr lang="en-US" altLang="zh-CN" dirty="0" smtClean="0">
                <a:latin typeface="Times New Roman" panose="02020603050405020304" pitchFamily="18" charset="0"/>
              </a:rPr>
              <a:t>,</a:t>
            </a:r>
            <a:r>
              <a:rPr lang="en-US" altLang="zh-CN" i="1" dirty="0" smtClean="0">
                <a:latin typeface="Times New Roman" panose="02020603050405020304" pitchFamily="18" charset="0"/>
              </a:rPr>
              <a:t>E</a:t>
            </a:r>
            <a:r>
              <a:rPr lang="en-US" altLang="zh-CN" dirty="0" smtClean="0">
                <a:latin typeface="Times New Roman" panose="02020603050405020304" pitchFamily="18" charset="0"/>
              </a:rPr>
              <a:t>&gt;, </a:t>
            </a:r>
            <a:r>
              <a:rPr lang="en-US" altLang="zh-CN" i="1" dirty="0" smtClean="0">
                <a:latin typeface="Times New Roman" panose="02020603050405020304" pitchFamily="18" charset="0"/>
              </a:rPr>
              <a:t>V</a:t>
            </a:r>
            <a:r>
              <a:rPr lang="en-US" altLang="zh-CN" dirty="0" smtClean="0">
                <a:latin typeface="Times New Roman" panose="02020603050405020304" pitchFamily="18" charset="0"/>
              </a:rPr>
              <a:t>*</a:t>
            </a:r>
            <a:r>
              <a:rPr lang="en-US" altLang="zh-CN" dirty="0" smtClean="0">
                <a:latin typeface="Times New Roman" panose="02020603050405020304" pitchFamily="18" charset="0"/>
                <a:sym typeface="Symbol" panose="05050102010706020507" pitchFamily="18" charset="2"/>
              </a:rPr>
              <a:t></a:t>
            </a:r>
            <a:r>
              <a:rPr lang="en-US" altLang="zh-CN" i="1" dirty="0" smtClean="0">
                <a:latin typeface="Times New Roman" panose="02020603050405020304" pitchFamily="18" charset="0"/>
              </a:rPr>
              <a:t>V</a:t>
            </a:r>
            <a:r>
              <a:rPr lang="en-US" altLang="zh-CN" dirty="0" smtClean="0">
                <a:latin typeface="Times New Roman" panose="02020603050405020304" pitchFamily="18" charset="0"/>
              </a:rPr>
              <a:t>.</a:t>
            </a:r>
          </a:p>
          <a:p>
            <a:pPr marL="457200" indent="-457200"/>
            <a:r>
              <a:rPr lang="en-US" altLang="zh-CN" dirty="0" smtClean="0">
                <a:latin typeface="Times New Roman" panose="02020603050405020304" pitchFamily="18" charset="0"/>
              </a:rPr>
              <a:t>(1) </a:t>
            </a:r>
            <a:r>
              <a:rPr lang="en-US" altLang="zh-CN" i="1" dirty="0" smtClean="0">
                <a:latin typeface="Times New Roman" panose="02020603050405020304" pitchFamily="18" charset="0"/>
              </a:rPr>
              <a:t>V</a:t>
            </a:r>
            <a:r>
              <a:rPr lang="en-US" altLang="zh-CN" dirty="0" smtClean="0">
                <a:latin typeface="Times New Roman" panose="02020603050405020304" pitchFamily="18" charset="0"/>
              </a:rPr>
              <a:t>*</a:t>
            </a:r>
            <a:r>
              <a:rPr lang="zh-CN" altLang="en-US" dirty="0" smtClean="0">
                <a:latin typeface="Times New Roman" panose="02020603050405020304" pitchFamily="18" charset="0"/>
              </a:rPr>
              <a:t>是</a:t>
            </a:r>
            <a:r>
              <a:rPr lang="zh-CN" altLang="en-US" dirty="0" smtClean="0">
                <a:solidFill>
                  <a:srgbClr val="A50021"/>
                </a:solidFill>
                <a:latin typeface="Times New Roman" panose="02020603050405020304" pitchFamily="18" charset="0"/>
              </a:rPr>
              <a:t>点覆盖集</a:t>
            </a:r>
            <a:r>
              <a:rPr lang="en-US" altLang="zh-CN" dirty="0" smtClean="0">
                <a:latin typeface="Times New Roman" panose="02020603050405020304" pitchFamily="18" charset="0"/>
              </a:rPr>
              <a:t>——</a:t>
            </a:r>
            <a:r>
              <a:rPr lang="en-US" altLang="zh-CN" dirty="0" smtClean="0">
                <a:latin typeface="Times New Roman" panose="02020603050405020304" pitchFamily="18" charset="0"/>
                <a:sym typeface="Symbol" panose="05050102010706020507" pitchFamily="18" charset="2"/>
              </a:rPr>
              <a:t></a:t>
            </a:r>
            <a:r>
              <a:rPr lang="en-US" altLang="zh-CN" i="1" dirty="0" err="1" smtClean="0">
                <a:latin typeface="Times New Roman" panose="02020603050405020304" pitchFamily="18" charset="0"/>
              </a:rPr>
              <a:t>e</a:t>
            </a:r>
            <a:r>
              <a:rPr lang="en-US" altLang="zh-CN" dirty="0" err="1" smtClean="0">
                <a:latin typeface="Times New Roman" panose="02020603050405020304" pitchFamily="18" charset="0"/>
                <a:sym typeface="Symbol" panose="05050102010706020507" pitchFamily="18" charset="2"/>
              </a:rPr>
              <a:t></a:t>
            </a:r>
            <a:r>
              <a:rPr lang="en-US" altLang="zh-CN" i="1" dirty="0" err="1" smtClean="0">
                <a:latin typeface="Times New Roman" panose="02020603050405020304" pitchFamily="18" charset="0"/>
              </a:rPr>
              <a:t>E</a:t>
            </a:r>
            <a:r>
              <a:rPr lang="zh-CN" altLang="en-US" dirty="0" smtClean="0">
                <a:latin typeface="Times New Roman" panose="02020603050405020304" pitchFamily="18" charset="0"/>
              </a:rPr>
              <a:t>，</a:t>
            </a:r>
            <a:r>
              <a:rPr lang="zh-CN" altLang="en-US" dirty="0" smtClean="0">
                <a:latin typeface="Times New Roman" panose="02020603050405020304" pitchFamily="18" charset="0"/>
                <a:sym typeface="Symbol" panose="05050102010706020507" pitchFamily="18" charset="2"/>
              </a:rPr>
              <a:t></a:t>
            </a:r>
            <a:r>
              <a:rPr lang="en-US" altLang="zh-CN" i="1" dirty="0" err="1" smtClean="0">
                <a:latin typeface="Times New Roman" panose="02020603050405020304" pitchFamily="18" charset="0"/>
              </a:rPr>
              <a:t>v</a:t>
            </a:r>
            <a:r>
              <a:rPr lang="en-US" altLang="zh-CN" dirty="0" err="1" smtClean="0">
                <a:latin typeface="Times New Roman" panose="02020603050405020304" pitchFamily="18" charset="0"/>
                <a:sym typeface="Symbol" panose="05050102010706020507" pitchFamily="18" charset="2"/>
              </a:rPr>
              <a:t></a:t>
            </a:r>
            <a:r>
              <a:rPr lang="en-US" altLang="zh-CN" i="1" dirty="0" err="1" smtClean="0">
                <a:latin typeface="Times New Roman" panose="02020603050405020304" pitchFamily="18" charset="0"/>
              </a:rPr>
              <a:t>V</a:t>
            </a:r>
            <a:r>
              <a:rPr lang="en-US" altLang="zh-CN" dirty="0" smtClean="0">
                <a:latin typeface="Times New Roman" panose="02020603050405020304" pitchFamily="18" charset="0"/>
              </a:rPr>
              <a:t>*</a:t>
            </a:r>
            <a:r>
              <a:rPr lang="zh-CN" altLang="en-US" dirty="0" smtClean="0">
                <a:latin typeface="Times New Roman" panose="02020603050405020304" pitchFamily="18" charset="0"/>
              </a:rPr>
              <a:t>，使</a:t>
            </a:r>
            <a:r>
              <a:rPr lang="en-US" altLang="zh-CN" i="1" dirty="0" smtClean="0">
                <a:latin typeface="Times New Roman" panose="02020603050405020304" pitchFamily="18" charset="0"/>
              </a:rPr>
              <a:t>e</a:t>
            </a:r>
            <a:r>
              <a:rPr lang="zh-CN" altLang="en-US" dirty="0" smtClean="0">
                <a:latin typeface="Times New Roman" panose="02020603050405020304" pitchFamily="18" charset="0"/>
              </a:rPr>
              <a:t>与</a:t>
            </a:r>
            <a:r>
              <a:rPr lang="en-US" altLang="zh-CN" i="1" dirty="0" smtClean="0">
                <a:latin typeface="Times New Roman" panose="02020603050405020304" pitchFamily="18" charset="0"/>
              </a:rPr>
              <a:t>v</a:t>
            </a:r>
            <a:r>
              <a:rPr lang="zh-CN" altLang="en-US" dirty="0" smtClean="0">
                <a:latin typeface="Times New Roman" panose="02020603050405020304" pitchFamily="18" charset="0"/>
              </a:rPr>
              <a:t>关联</a:t>
            </a:r>
          </a:p>
          <a:p>
            <a:pPr marL="457200" indent="-457200"/>
            <a:r>
              <a:rPr lang="en-US" altLang="zh-CN" dirty="0" smtClean="0">
                <a:latin typeface="Times New Roman" panose="02020603050405020304" pitchFamily="18" charset="0"/>
              </a:rPr>
              <a:t>(2) </a:t>
            </a:r>
            <a:r>
              <a:rPr lang="en-US" altLang="zh-CN" i="1" dirty="0" smtClean="0">
                <a:latin typeface="Times New Roman" panose="02020603050405020304" pitchFamily="18" charset="0"/>
              </a:rPr>
              <a:t>V</a:t>
            </a:r>
            <a:r>
              <a:rPr lang="en-US" altLang="zh-CN" dirty="0" smtClean="0">
                <a:latin typeface="Times New Roman" panose="02020603050405020304" pitchFamily="18" charset="0"/>
              </a:rPr>
              <a:t>*</a:t>
            </a:r>
            <a:r>
              <a:rPr lang="zh-CN" altLang="en-US" dirty="0" smtClean="0">
                <a:latin typeface="Times New Roman" panose="02020603050405020304" pitchFamily="18" charset="0"/>
              </a:rPr>
              <a:t>是</a:t>
            </a:r>
            <a:r>
              <a:rPr lang="zh-CN" altLang="en-US" dirty="0" smtClean="0">
                <a:solidFill>
                  <a:srgbClr val="A50021"/>
                </a:solidFill>
                <a:latin typeface="Times New Roman" panose="02020603050405020304" pitchFamily="18" charset="0"/>
              </a:rPr>
              <a:t>极小点覆盖集</a:t>
            </a:r>
            <a:r>
              <a:rPr lang="en-US" altLang="zh-CN" dirty="0" smtClean="0">
                <a:latin typeface="Times New Roman" panose="02020603050405020304" pitchFamily="18" charset="0"/>
              </a:rPr>
              <a:t>——</a:t>
            </a:r>
            <a:r>
              <a:rPr lang="en-US" altLang="zh-CN" i="1" dirty="0">
                <a:latin typeface="Times New Roman" panose="02020603050405020304" pitchFamily="18" charset="0"/>
              </a:rPr>
              <a:t>V</a:t>
            </a:r>
            <a:r>
              <a:rPr lang="en-US" altLang="zh-CN" dirty="0">
                <a:latin typeface="Times New Roman" panose="02020603050405020304" pitchFamily="18" charset="0"/>
              </a:rPr>
              <a:t>*</a:t>
            </a:r>
            <a:r>
              <a:rPr lang="zh-CN" altLang="en-US" dirty="0" smtClean="0">
                <a:latin typeface="Times New Roman" panose="02020603050405020304" pitchFamily="18" charset="0"/>
              </a:rPr>
              <a:t>的任何真子集都不是点覆盖集</a:t>
            </a:r>
          </a:p>
          <a:p>
            <a:pPr marL="457200" indent="-457200"/>
            <a:r>
              <a:rPr lang="en-US" altLang="zh-CN" dirty="0" smtClean="0">
                <a:latin typeface="Times New Roman" panose="02020603050405020304" pitchFamily="18" charset="0"/>
              </a:rPr>
              <a:t>(3) </a:t>
            </a:r>
            <a:r>
              <a:rPr lang="zh-CN" altLang="en-US" dirty="0" smtClean="0">
                <a:solidFill>
                  <a:srgbClr val="A50021"/>
                </a:solidFill>
                <a:latin typeface="Times New Roman" panose="02020603050405020304" pitchFamily="18" charset="0"/>
              </a:rPr>
              <a:t>最小点覆盖集</a:t>
            </a:r>
            <a:r>
              <a:rPr lang="en-US" altLang="zh-CN" dirty="0" smtClean="0">
                <a:latin typeface="Times New Roman" panose="02020603050405020304" pitchFamily="18" charset="0"/>
              </a:rPr>
              <a:t>(</a:t>
            </a:r>
            <a:r>
              <a:rPr lang="zh-CN" altLang="en-US" dirty="0" smtClean="0">
                <a:latin typeface="Times New Roman" panose="02020603050405020304" pitchFamily="18" charset="0"/>
              </a:rPr>
              <a:t>或最小点覆盖</a:t>
            </a:r>
            <a:r>
              <a:rPr lang="en-US" altLang="zh-CN" dirty="0" smtClean="0">
                <a:latin typeface="Times New Roman" panose="02020603050405020304" pitchFamily="18" charset="0"/>
              </a:rPr>
              <a:t>)——</a:t>
            </a:r>
            <a:r>
              <a:rPr lang="zh-CN" altLang="en-US" dirty="0" smtClean="0">
                <a:latin typeface="Times New Roman" panose="02020603050405020304" pitchFamily="18" charset="0"/>
              </a:rPr>
              <a:t>顶点数最少的点覆盖集</a:t>
            </a:r>
          </a:p>
          <a:p>
            <a:pPr marL="457200" indent="-457200"/>
            <a:r>
              <a:rPr lang="en-US" altLang="zh-CN" dirty="0" smtClean="0">
                <a:latin typeface="Times New Roman" panose="02020603050405020304" pitchFamily="18" charset="0"/>
              </a:rPr>
              <a:t>(4) </a:t>
            </a:r>
            <a:r>
              <a:rPr lang="zh-CN" altLang="en-US" dirty="0" smtClean="0">
                <a:solidFill>
                  <a:srgbClr val="A50021"/>
                </a:solidFill>
                <a:latin typeface="Times New Roman" panose="02020603050405020304" pitchFamily="18" charset="0"/>
              </a:rPr>
              <a:t>点覆盖数</a:t>
            </a:r>
            <a:r>
              <a:rPr lang="en-US" altLang="zh-CN" dirty="0" smtClean="0">
                <a:latin typeface="Times New Roman" panose="02020603050405020304" pitchFamily="18" charset="0"/>
              </a:rPr>
              <a:t>——</a:t>
            </a:r>
            <a:r>
              <a:rPr lang="en-US" altLang="zh-CN" dirty="0" smtClean="0">
                <a:latin typeface="Times New Roman" panose="02020603050405020304" pitchFamily="18" charset="0"/>
                <a:sym typeface="Symbol" panose="05050102010706020507" pitchFamily="18" charset="2"/>
              </a:rPr>
              <a:t></a:t>
            </a:r>
            <a:r>
              <a:rPr lang="en-US" altLang="zh-CN" baseline="-25000" dirty="0" smtClean="0">
                <a:latin typeface="Times New Roman" panose="02020603050405020304" pitchFamily="18" charset="0"/>
              </a:rPr>
              <a:t>0</a:t>
            </a:r>
            <a:r>
              <a:rPr lang="en-US" altLang="zh-CN" dirty="0" smtClean="0">
                <a:latin typeface="Times New Roman" panose="02020603050405020304" pitchFamily="18" charset="0"/>
              </a:rPr>
              <a:t>(</a:t>
            </a:r>
            <a:r>
              <a:rPr lang="en-US" altLang="zh-CN" i="1" dirty="0" smtClean="0">
                <a:latin typeface="Times New Roman" panose="02020603050405020304" pitchFamily="18" charset="0"/>
              </a:rPr>
              <a:t>G</a:t>
            </a:r>
            <a:r>
              <a:rPr lang="en-US" altLang="zh-CN" dirty="0" smtClean="0">
                <a:latin typeface="Times New Roman" panose="02020603050405020304" pitchFamily="18" charset="0"/>
              </a:rPr>
              <a:t>)——</a:t>
            </a:r>
            <a:r>
              <a:rPr lang="zh-CN" altLang="en-US" dirty="0" smtClean="0">
                <a:latin typeface="Times New Roman" panose="02020603050405020304" pitchFamily="18" charset="0"/>
              </a:rPr>
              <a:t>最小点覆盖的元素个数</a:t>
            </a:r>
            <a:endParaRPr lang="zh-CN" altLang="en-US" dirty="0">
              <a:latin typeface="Times New Roman" panose="02020603050405020304" pitchFamily="18" charset="0"/>
            </a:endParaRPr>
          </a:p>
        </p:txBody>
      </p:sp>
      <p:grpSp>
        <p:nvGrpSpPr>
          <p:cNvPr id="12" name="Group 14"/>
          <p:cNvGrpSpPr>
            <a:grpSpLocks/>
          </p:cNvGrpSpPr>
          <p:nvPr/>
        </p:nvGrpSpPr>
        <p:grpSpPr bwMode="auto">
          <a:xfrm>
            <a:off x="1676400" y="3471048"/>
            <a:ext cx="7129462" cy="1993900"/>
            <a:chOff x="521" y="2251"/>
            <a:chExt cx="4491" cy="1256"/>
          </a:xfrm>
        </p:grpSpPr>
        <p:pic>
          <p:nvPicPr>
            <p:cNvPr id="13" name="Picture 10" descr="18-1"/>
            <p:cNvPicPr>
              <a:picLocks noChangeAspect="1" noChangeArrowheads="1"/>
            </p:cNvPicPr>
            <p:nvPr/>
          </p:nvPicPr>
          <p:blipFill>
            <a:blip r:embed="rId2">
              <a:extLst>
                <a:ext uri="{28A0092B-C50C-407E-A947-70E740481C1C}">
                  <a14:useLocalDpi xmlns:a14="http://schemas.microsoft.com/office/drawing/2010/main" val="0"/>
                </a:ext>
              </a:extLst>
            </a:blip>
            <a:srcRect l="77180"/>
            <a:stretch>
              <a:fillRect/>
            </a:stretch>
          </p:blipFill>
          <p:spPr bwMode="auto">
            <a:xfrm>
              <a:off x="3696" y="2251"/>
              <a:ext cx="1316" cy="1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2" descr="18-1"/>
            <p:cNvPicPr>
              <a:picLocks noChangeAspect="1" noChangeArrowheads="1"/>
            </p:cNvPicPr>
            <p:nvPr/>
          </p:nvPicPr>
          <p:blipFill>
            <a:blip r:embed="rId2">
              <a:extLst>
                <a:ext uri="{28A0092B-C50C-407E-A947-70E740481C1C}">
                  <a14:useLocalDpi xmlns:a14="http://schemas.microsoft.com/office/drawing/2010/main" val="0"/>
                </a:ext>
              </a:extLst>
            </a:blip>
            <a:srcRect r="74550"/>
            <a:stretch>
              <a:fillRect/>
            </a:stretch>
          </p:blipFill>
          <p:spPr bwMode="auto">
            <a:xfrm>
              <a:off x="521" y="2296"/>
              <a:ext cx="1497" cy="1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3" descr="18-1"/>
            <p:cNvPicPr>
              <a:picLocks noChangeAspect="1" noChangeArrowheads="1"/>
            </p:cNvPicPr>
            <p:nvPr/>
          </p:nvPicPr>
          <p:blipFill>
            <a:blip r:embed="rId2">
              <a:extLst>
                <a:ext uri="{28A0092B-C50C-407E-A947-70E740481C1C}">
                  <a14:useLocalDpi xmlns:a14="http://schemas.microsoft.com/office/drawing/2010/main" val="0"/>
                </a:ext>
              </a:extLst>
            </a:blip>
            <a:srcRect l="41211" r="33359"/>
            <a:stretch>
              <a:fillRect/>
            </a:stretch>
          </p:blipFill>
          <p:spPr bwMode="auto">
            <a:xfrm>
              <a:off x="2200" y="2296"/>
              <a:ext cx="1451" cy="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6" name="Rectangle 11"/>
          <p:cNvSpPr>
            <a:spLocks noChangeArrowheads="1"/>
          </p:cNvSpPr>
          <p:nvPr/>
        </p:nvSpPr>
        <p:spPr bwMode="auto">
          <a:xfrm>
            <a:off x="1077810" y="5737677"/>
            <a:ext cx="7345363"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buClr>
                <a:srgbClr val="69B3F1"/>
              </a:buClr>
              <a:buFont typeface="Wingdings" panose="05000000000000000000" pitchFamily="2" charset="2"/>
              <a:buNone/>
            </a:pPr>
            <a:r>
              <a:rPr lang="zh-CN" altLang="en-US" sz="2600" b="1" dirty="0">
                <a:latin typeface="Times New Roman" panose="02020603050405020304" pitchFamily="18" charset="0"/>
                <a:ea typeface="微软雅黑" panose="020B0503020204020204" pitchFamily="34" charset="-122"/>
              </a:rPr>
              <a:t>图中，点覆盖数依次为</a:t>
            </a:r>
            <a:r>
              <a:rPr lang="en-US" altLang="zh-CN" sz="2600" b="1" dirty="0">
                <a:latin typeface="Times New Roman" panose="02020603050405020304" pitchFamily="18" charset="0"/>
                <a:ea typeface="微软雅黑" panose="020B0503020204020204" pitchFamily="34" charset="-122"/>
              </a:rPr>
              <a:t>3</a:t>
            </a:r>
            <a:r>
              <a:rPr lang="zh-CN" altLang="en-US" sz="2600" b="1" dirty="0">
                <a:latin typeface="Times New Roman" panose="02020603050405020304" pitchFamily="18" charset="0"/>
                <a:ea typeface="微软雅黑" panose="020B0503020204020204" pitchFamily="34" charset="-122"/>
              </a:rPr>
              <a:t>，</a:t>
            </a:r>
            <a:r>
              <a:rPr lang="en-US" altLang="zh-CN" sz="2600" b="1" dirty="0">
                <a:latin typeface="Times New Roman" panose="02020603050405020304" pitchFamily="18" charset="0"/>
                <a:ea typeface="微软雅黑" panose="020B0503020204020204" pitchFamily="34" charset="-122"/>
              </a:rPr>
              <a:t>4</a:t>
            </a:r>
            <a:r>
              <a:rPr lang="zh-CN" altLang="en-US" sz="2600" b="1" dirty="0" smtClean="0">
                <a:latin typeface="Times New Roman" panose="02020603050405020304" pitchFamily="18" charset="0"/>
                <a:ea typeface="微软雅黑" panose="020B0503020204020204" pitchFamily="34" charset="-122"/>
              </a:rPr>
              <a:t>，</a:t>
            </a:r>
            <a:r>
              <a:rPr lang="en-US" altLang="zh-CN" sz="2600" b="1" dirty="0">
                <a:latin typeface="Times New Roman" panose="02020603050405020304" pitchFamily="18" charset="0"/>
                <a:ea typeface="微软雅黑" panose="020B0503020204020204" pitchFamily="34" charset="-122"/>
              </a:rPr>
              <a:t>7</a:t>
            </a:r>
            <a:r>
              <a:rPr lang="en-US" altLang="zh-CN" sz="2600" b="1" dirty="0" smtClean="0">
                <a:latin typeface="Times New Roman" panose="02020603050405020304" pitchFamily="18" charset="0"/>
                <a:ea typeface="微软雅黑" panose="020B0503020204020204" pitchFamily="34" charset="-122"/>
              </a:rPr>
              <a:t>.</a:t>
            </a:r>
            <a:endParaRPr lang="en-US" altLang="zh-CN" sz="2600" b="1" dirty="0">
              <a:latin typeface="Times New Roman" panose="02020603050405020304" pitchFamily="18" charset="0"/>
              <a:ea typeface="微软雅黑" panose="020B0503020204020204" pitchFamily="34" charset="-122"/>
            </a:endParaRPr>
          </a:p>
        </p:txBody>
      </p:sp>
      <p:sp>
        <p:nvSpPr>
          <p:cNvPr id="17" name="矩形 16"/>
          <p:cNvSpPr/>
          <p:nvPr/>
        </p:nvSpPr>
        <p:spPr>
          <a:xfrm>
            <a:off x="2705100" y="3498123"/>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2542244" y="4953000"/>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3702497" y="4038600"/>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4495800" y="4261623"/>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6227087" y="4254546"/>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4930894" y="4945923"/>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5753893" y="3542486"/>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7772400" y="3511672"/>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8270773" y="4931769"/>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a:off x="8189435" y="4190597"/>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6934199" y="4102146"/>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7373144" y="4190597"/>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p:nvSpPr>
        <p:spPr>
          <a:xfrm>
            <a:off x="7772400" y="3892351"/>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7525544" y="4674513"/>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775670147"/>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533401" y="1119436"/>
            <a:ext cx="11277599" cy="1295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smtClean="0"/>
              <a:t>边覆盖集与边覆盖数</a:t>
            </a:r>
            <a:endParaRPr lang="en-US" dirty="0"/>
          </a:p>
        </p:txBody>
      </p:sp>
      <p:sp>
        <p:nvSpPr>
          <p:cNvPr id="7" name="日期占位符 6"/>
          <p:cNvSpPr>
            <a:spLocks noGrp="1"/>
          </p:cNvSpPr>
          <p:nvPr>
            <p:ph type="dt" sz="half" idx="10"/>
          </p:nvPr>
        </p:nvSpPr>
        <p:spPr/>
        <p:txBody>
          <a:bodyPr/>
          <a:lstStyle/>
          <a:p>
            <a:fld id="{69CD85A4-EFC3-48EC-9559-6F553D130ABB}"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81</a:t>
            </a:fld>
            <a:endParaRPr lang="zh-CN" altLang="en-US" dirty="0"/>
          </a:p>
        </p:txBody>
      </p:sp>
      <p:sp>
        <p:nvSpPr>
          <p:cNvPr id="11" name="Rectangle 9"/>
          <p:cNvSpPr txBox="1">
            <a:spLocks noChangeArrowheads="1"/>
          </p:cNvSpPr>
          <p:nvPr/>
        </p:nvSpPr>
        <p:spPr>
          <a:xfrm>
            <a:off x="395288" y="1125538"/>
            <a:ext cx="9358312" cy="2232025"/>
          </a:xfrm>
          <a:prstGeom prst="rect">
            <a:avLst/>
          </a:prstGeom>
        </p:spPr>
        <p:txBody>
          <a:bodyPr vert="horz" lIns="91440" tIns="45720" rIns="91440" bIns="45720" rtlCol="0">
            <a:normAutofit fontScale="62500" lnSpcReduction="20000"/>
          </a:bodyPr>
          <a:lstStyle>
            <a:lvl1pPr marL="274320" indent="-274320" algn="l" defTabSz="914400" rtl="0" eaLnBrk="1" latinLnBrk="0" hangingPunct="1">
              <a:lnSpc>
                <a:spcPct val="100000"/>
              </a:lnSpc>
              <a:spcBef>
                <a:spcPts val="1000"/>
              </a:spcBef>
              <a:buClr>
                <a:srgbClr val="CEA524"/>
              </a:buClr>
              <a:buSzPct val="100000"/>
              <a:buFont typeface="Wingdings" panose="05000000000000000000" pitchFamily="2" charset="2"/>
              <a:buChar char="q"/>
              <a:defRPr sz="2800" kern="1200">
                <a:solidFill>
                  <a:schemeClr val="tx1"/>
                </a:solidFill>
                <a:latin typeface="微软雅黑" panose="020B0503020204020204" pitchFamily="34" charset="-122"/>
                <a:ea typeface="微软雅黑" panose="020B0503020204020204" pitchFamily="34" charset="-122"/>
                <a:cs typeface="+mn-cs"/>
              </a:defRPr>
            </a:lvl1pPr>
            <a:lvl2pPr marL="640080" indent="-246888" algn="l" defTabSz="914400" rtl="0" eaLnBrk="1" latinLnBrk="0" hangingPunct="1">
              <a:lnSpc>
                <a:spcPct val="90000"/>
              </a:lnSpc>
              <a:spcBef>
                <a:spcPts val="500"/>
              </a:spcBef>
              <a:buClr>
                <a:srgbClr val="01559D"/>
              </a:buClr>
              <a:buSzPct val="97000"/>
              <a:buFont typeface="Wingdings" panose="05000000000000000000" pitchFamily="2" charset="2"/>
              <a:buChar char="Ø"/>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a:lnSpc>
                <a:spcPct val="80000"/>
              </a:lnSpc>
            </a:pPr>
            <a:r>
              <a:rPr lang="zh-CN" altLang="en-US" sz="4400" dirty="0" smtClean="0">
                <a:solidFill>
                  <a:srgbClr val="A50021"/>
                </a:solidFill>
                <a:latin typeface="Times New Roman" panose="02020603050405020304" pitchFamily="18" charset="0"/>
              </a:rPr>
              <a:t>定义</a:t>
            </a:r>
            <a:r>
              <a:rPr lang="en-US" altLang="zh-CN" sz="4400" dirty="0" smtClean="0">
                <a:latin typeface="Times New Roman" panose="02020603050405020304" pitchFamily="18" charset="0"/>
              </a:rPr>
              <a:t> </a:t>
            </a:r>
            <a:r>
              <a:rPr lang="zh-CN" altLang="en-US" sz="4400" dirty="0" smtClean="0">
                <a:latin typeface="Times New Roman" panose="02020603050405020304" pitchFamily="18" charset="0"/>
              </a:rPr>
              <a:t>设</a:t>
            </a:r>
            <a:r>
              <a:rPr lang="en-US" altLang="zh-CN" sz="4400" i="1" dirty="0" smtClean="0">
                <a:latin typeface="Times New Roman" panose="02020603050405020304" pitchFamily="18" charset="0"/>
              </a:rPr>
              <a:t>G</a:t>
            </a:r>
            <a:r>
              <a:rPr lang="en-US" altLang="zh-CN" sz="4400" dirty="0" smtClean="0">
                <a:latin typeface="Times New Roman" panose="02020603050405020304" pitchFamily="18" charset="0"/>
              </a:rPr>
              <a:t>=&lt;</a:t>
            </a:r>
            <a:r>
              <a:rPr lang="en-US" altLang="zh-CN" sz="4400" i="1" dirty="0" smtClean="0">
                <a:latin typeface="Times New Roman" panose="02020603050405020304" pitchFamily="18" charset="0"/>
              </a:rPr>
              <a:t>V</a:t>
            </a:r>
            <a:r>
              <a:rPr lang="en-US" altLang="zh-CN" sz="4400" dirty="0" smtClean="0">
                <a:latin typeface="Times New Roman" panose="02020603050405020304" pitchFamily="18" charset="0"/>
              </a:rPr>
              <a:t>,</a:t>
            </a:r>
            <a:r>
              <a:rPr lang="en-US" altLang="zh-CN" sz="4400" i="1" dirty="0" smtClean="0">
                <a:latin typeface="Times New Roman" panose="02020603050405020304" pitchFamily="18" charset="0"/>
              </a:rPr>
              <a:t>E</a:t>
            </a:r>
            <a:r>
              <a:rPr lang="en-US" altLang="zh-CN" sz="4400" dirty="0" smtClean="0">
                <a:latin typeface="Times New Roman" panose="02020603050405020304" pitchFamily="18" charset="0"/>
              </a:rPr>
              <a:t>&gt;</a:t>
            </a:r>
            <a:r>
              <a:rPr lang="zh-CN" altLang="en-US" sz="4400" dirty="0" smtClean="0">
                <a:latin typeface="Times New Roman" panose="02020603050405020304" pitchFamily="18" charset="0"/>
              </a:rPr>
              <a:t>，</a:t>
            </a:r>
            <a:r>
              <a:rPr lang="en-US" altLang="zh-CN" sz="4400" i="1" dirty="0" smtClean="0">
                <a:latin typeface="Times New Roman" panose="02020603050405020304" pitchFamily="18" charset="0"/>
              </a:rPr>
              <a:t>E</a:t>
            </a:r>
            <a:r>
              <a:rPr lang="en-US" altLang="zh-CN" sz="4400" dirty="0" smtClean="0">
                <a:latin typeface="Times New Roman" panose="02020603050405020304" pitchFamily="18" charset="0"/>
              </a:rPr>
              <a:t>* </a:t>
            </a:r>
            <a:r>
              <a:rPr lang="en-US" altLang="zh-CN" sz="4400" dirty="0" smtClean="0">
                <a:latin typeface="Times New Roman" panose="02020603050405020304" pitchFamily="18" charset="0"/>
                <a:sym typeface="Symbol" panose="05050102010706020507" pitchFamily="18" charset="2"/>
              </a:rPr>
              <a:t></a:t>
            </a:r>
            <a:r>
              <a:rPr lang="en-US" altLang="zh-CN" sz="4400" i="1" dirty="0" smtClean="0">
                <a:latin typeface="Times New Roman" panose="02020603050405020304" pitchFamily="18" charset="0"/>
              </a:rPr>
              <a:t>E</a:t>
            </a:r>
            <a:r>
              <a:rPr lang="zh-CN" altLang="en-US" sz="4400" dirty="0" smtClean="0">
                <a:latin typeface="Times New Roman" panose="02020603050405020304" pitchFamily="18" charset="0"/>
              </a:rPr>
              <a:t>，</a:t>
            </a:r>
          </a:p>
          <a:p>
            <a:pPr marL="609600" indent="-609600">
              <a:lnSpc>
                <a:spcPct val="80000"/>
              </a:lnSpc>
            </a:pPr>
            <a:r>
              <a:rPr lang="en-US" altLang="zh-CN" sz="4400" dirty="0" smtClean="0">
                <a:latin typeface="Times New Roman" panose="02020603050405020304" pitchFamily="18" charset="0"/>
              </a:rPr>
              <a:t>(1) </a:t>
            </a:r>
            <a:r>
              <a:rPr lang="en-US" altLang="zh-CN" sz="4400" i="1" dirty="0" smtClean="0">
                <a:latin typeface="Times New Roman" panose="02020603050405020304" pitchFamily="18" charset="0"/>
              </a:rPr>
              <a:t>E</a:t>
            </a:r>
            <a:r>
              <a:rPr lang="en-US" altLang="zh-CN" sz="4400" dirty="0" smtClean="0">
                <a:latin typeface="Times New Roman" panose="02020603050405020304" pitchFamily="18" charset="0"/>
              </a:rPr>
              <a:t>* </a:t>
            </a:r>
            <a:r>
              <a:rPr lang="zh-CN" altLang="en-US" sz="4400" dirty="0" smtClean="0">
                <a:latin typeface="Times New Roman" panose="02020603050405020304" pitchFamily="18" charset="0"/>
              </a:rPr>
              <a:t>为</a:t>
            </a:r>
            <a:r>
              <a:rPr lang="zh-CN" altLang="en-US" sz="4400" dirty="0" smtClean="0">
                <a:solidFill>
                  <a:srgbClr val="A50021"/>
                </a:solidFill>
                <a:latin typeface="Times New Roman" panose="02020603050405020304" pitchFamily="18" charset="0"/>
              </a:rPr>
              <a:t>边覆盖集</a:t>
            </a:r>
            <a:r>
              <a:rPr lang="en-US" altLang="zh-CN" sz="4400" dirty="0" smtClean="0">
                <a:latin typeface="Times New Roman" panose="02020603050405020304" pitchFamily="18" charset="0"/>
              </a:rPr>
              <a:t>——</a:t>
            </a:r>
            <a:r>
              <a:rPr lang="en-US" altLang="zh-CN" sz="4400" dirty="0" smtClean="0">
                <a:latin typeface="Times New Roman" panose="02020603050405020304" pitchFamily="18" charset="0"/>
                <a:sym typeface="Symbol" panose="05050102010706020507" pitchFamily="18" charset="2"/>
              </a:rPr>
              <a:t></a:t>
            </a:r>
            <a:r>
              <a:rPr lang="en-US" altLang="zh-CN" sz="4400" i="1" dirty="0" err="1" smtClean="0">
                <a:latin typeface="Times New Roman" panose="02020603050405020304" pitchFamily="18" charset="0"/>
              </a:rPr>
              <a:t>v</a:t>
            </a:r>
            <a:r>
              <a:rPr lang="en-US" altLang="zh-CN" sz="4400" dirty="0" err="1" smtClean="0">
                <a:latin typeface="Times New Roman" panose="02020603050405020304" pitchFamily="18" charset="0"/>
                <a:sym typeface="Symbol" panose="05050102010706020507" pitchFamily="18" charset="2"/>
              </a:rPr>
              <a:t></a:t>
            </a:r>
            <a:r>
              <a:rPr lang="en-US" altLang="zh-CN" sz="4400" i="1" dirty="0" err="1" smtClean="0">
                <a:latin typeface="Times New Roman" panose="02020603050405020304" pitchFamily="18" charset="0"/>
              </a:rPr>
              <a:t>V</a:t>
            </a:r>
            <a:r>
              <a:rPr lang="zh-CN" altLang="en-US" sz="4400" dirty="0" smtClean="0">
                <a:latin typeface="Times New Roman" panose="02020603050405020304" pitchFamily="18" charset="0"/>
              </a:rPr>
              <a:t>，</a:t>
            </a:r>
            <a:r>
              <a:rPr lang="zh-CN" altLang="en-US" sz="4400" dirty="0" smtClean="0">
                <a:latin typeface="Times New Roman" panose="02020603050405020304" pitchFamily="18" charset="0"/>
                <a:sym typeface="Symbol" panose="05050102010706020507" pitchFamily="18" charset="2"/>
              </a:rPr>
              <a:t></a:t>
            </a:r>
            <a:r>
              <a:rPr lang="en-US" altLang="zh-CN" sz="4400" i="1" dirty="0" smtClean="0">
                <a:latin typeface="Times New Roman" panose="02020603050405020304" pitchFamily="18" charset="0"/>
              </a:rPr>
              <a:t>e</a:t>
            </a:r>
            <a:r>
              <a:rPr lang="en-US" altLang="zh-CN" sz="4400" dirty="0" smtClean="0">
                <a:latin typeface="Times New Roman" panose="02020603050405020304" pitchFamily="18" charset="0"/>
                <a:sym typeface="Symbol" panose="05050102010706020507" pitchFamily="18" charset="2"/>
              </a:rPr>
              <a:t></a:t>
            </a:r>
            <a:r>
              <a:rPr lang="en-US" altLang="zh-CN" sz="4400" dirty="0">
                <a:latin typeface="Times New Roman" panose="02020603050405020304" pitchFamily="18" charset="0"/>
              </a:rPr>
              <a:t> </a:t>
            </a:r>
            <a:r>
              <a:rPr lang="en-US" altLang="zh-CN" sz="4400" i="1" dirty="0">
                <a:latin typeface="Times New Roman" panose="02020603050405020304" pitchFamily="18" charset="0"/>
              </a:rPr>
              <a:t>E</a:t>
            </a:r>
            <a:r>
              <a:rPr lang="en-US" altLang="zh-CN" sz="4400" dirty="0">
                <a:latin typeface="Times New Roman" panose="02020603050405020304" pitchFamily="18" charset="0"/>
              </a:rPr>
              <a:t>* </a:t>
            </a:r>
            <a:r>
              <a:rPr lang="zh-CN" altLang="en-US" sz="4400" dirty="0" smtClean="0">
                <a:latin typeface="Times New Roman" panose="02020603050405020304" pitchFamily="18" charset="0"/>
              </a:rPr>
              <a:t>，使得</a:t>
            </a:r>
            <a:r>
              <a:rPr lang="en-US" altLang="zh-CN" sz="4400" i="1" dirty="0" smtClean="0">
                <a:latin typeface="Times New Roman" panose="02020603050405020304" pitchFamily="18" charset="0"/>
              </a:rPr>
              <a:t>v</a:t>
            </a:r>
            <a:r>
              <a:rPr lang="zh-CN" altLang="en-US" sz="4400" dirty="0" smtClean="0">
                <a:latin typeface="Times New Roman" panose="02020603050405020304" pitchFamily="18" charset="0"/>
              </a:rPr>
              <a:t>与</a:t>
            </a:r>
            <a:r>
              <a:rPr lang="en-US" altLang="zh-CN" sz="4400" i="1" dirty="0" smtClean="0">
                <a:latin typeface="Times New Roman" panose="02020603050405020304" pitchFamily="18" charset="0"/>
              </a:rPr>
              <a:t>e</a:t>
            </a:r>
            <a:r>
              <a:rPr lang="zh-CN" altLang="en-US" sz="4400" dirty="0" smtClean="0">
                <a:latin typeface="Times New Roman" panose="02020603050405020304" pitchFamily="18" charset="0"/>
              </a:rPr>
              <a:t>关联</a:t>
            </a:r>
          </a:p>
          <a:p>
            <a:pPr marL="609600" indent="-609600">
              <a:lnSpc>
                <a:spcPct val="80000"/>
              </a:lnSpc>
            </a:pPr>
            <a:r>
              <a:rPr lang="en-US" altLang="zh-CN" sz="4400" dirty="0" smtClean="0">
                <a:latin typeface="Times New Roman" panose="02020603050405020304" pitchFamily="18" charset="0"/>
              </a:rPr>
              <a:t>(2) </a:t>
            </a:r>
            <a:r>
              <a:rPr lang="en-US" altLang="zh-CN" sz="4400" i="1" dirty="0" smtClean="0">
                <a:latin typeface="Times New Roman" panose="02020603050405020304" pitchFamily="18" charset="0"/>
              </a:rPr>
              <a:t>E</a:t>
            </a:r>
            <a:r>
              <a:rPr lang="en-US" altLang="zh-CN" sz="4400" dirty="0" smtClean="0">
                <a:latin typeface="Times New Roman" panose="02020603050405020304" pitchFamily="18" charset="0"/>
              </a:rPr>
              <a:t>* </a:t>
            </a:r>
            <a:r>
              <a:rPr lang="zh-CN" altLang="en-US" sz="4400" dirty="0" smtClean="0">
                <a:latin typeface="Times New Roman" panose="02020603050405020304" pitchFamily="18" charset="0"/>
              </a:rPr>
              <a:t>为</a:t>
            </a:r>
            <a:r>
              <a:rPr lang="zh-CN" altLang="en-US" sz="4400" dirty="0" smtClean="0">
                <a:solidFill>
                  <a:srgbClr val="A50021"/>
                </a:solidFill>
                <a:latin typeface="Times New Roman" panose="02020603050405020304" pitchFamily="18" charset="0"/>
              </a:rPr>
              <a:t>极小边覆盖</a:t>
            </a:r>
            <a:r>
              <a:rPr lang="en-US" altLang="zh-CN" sz="4400" dirty="0" smtClean="0">
                <a:latin typeface="Times New Roman" panose="02020603050405020304" pitchFamily="18" charset="0"/>
              </a:rPr>
              <a:t>——</a:t>
            </a:r>
            <a:r>
              <a:rPr lang="en-US" altLang="zh-CN" sz="4400" i="1" dirty="0" smtClean="0">
                <a:latin typeface="Times New Roman" panose="02020603050405020304" pitchFamily="18" charset="0"/>
              </a:rPr>
              <a:t>E</a:t>
            </a:r>
            <a:r>
              <a:rPr lang="en-US" altLang="zh-CN" sz="4400" dirty="0" smtClean="0">
                <a:latin typeface="Times New Roman" panose="02020603050405020304" pitchFamily="18" charset="0"/>
              </a:rPr>
              <a:t>* </a:t>
            </a:r>
            <a:r>
              <a:rPr lang="zh-CN" altLang="en-US" sz="4400" dirty="0" smtClean="0">
                <a:latin typeface="Times New Roman" panose="02020603050405020304" pitchFamily="18" charset="0"/>
              </a:rPr>
              <a:t>的真子集不是边覆盖</a:t>
            </a:r>
          </a:p>
          <a:p>
            <a:pPr marL="609600" indent="-609600">
              <a:lnSpc>
                <a:spcPct val="80000"/>
              </a:lnSpc>
            </a:pPr>
            <a:r>
              <a:rPr lang="en-US" altLang="zh-CN" sz="4400" dirty="0" smtClean="0">
                <a:latin typeface="Times New Roman" panose="02020603050405020304" pitchFamily="18" charset="0"/>
              </a:rPr>
              <a:t>(3) </a:t>
            </a:r>
            <a:r>
              <a:rPr lang="zh-CN" altLang="en-US" sz="4400" dirty="0" smtClean="0">
                <a:solidFill>
                  <a:srgbClr val="A50021"/>
                </a:solidFill>
                <a:latin typeface="Times New Roman" panose="02020603050405020304" pitchFamily="18" charset="0"/>
              </a:rPr>
              <a:t>最小边覆盖</a:t>
            </a:r>
            <a:r>
              <a:rPr lang="en-US" altLang="zh-CN" sz="4400" dirty="0" smtClean="0">
                <a:latin typeface="Times New Roman" panose="02020603050405020304" pitchFamily="18" charset="0"/>
              </a:rPr>
              <a:t>——</a:t>
            </a:r>
            <a:r>
              <a:rPr lang="zh-CN" altLang="en-US" sz="4400" dirty="0" smtClean="0">
                <a:latin typeface="Times New Roman" panose="02020603050405020304" pitchFamily="18" charset="0"/>
              </a:rPr>
              <a:t>边数最少的边覆盖</a:t>
            </a:r>
          </a:p>
          <a:p>
            <a:pPr marL="609600" indent="-609600">
              <a:lnSpc>
                <a:spcPct val="80000"/>
              </a:lnSpc>
            </a:pPr>
            <a:r>
              <a:rPr lang="en-US" altLang="zh-CN" sz="4400" dirty="0" smtClean="0">
                <a:latin typeface="Times New Roman" panose="02020603050405020304" pitchFamily="18" charset="0"/>
              </a:rPr>
              <a:t>(4) </a:t>
            </a:r>
            <a:r>
              <a:rPr lang="zh-CN" altLang="en-US" sz="4400" dirty="0" smtClean="0">
                <a:solidFill>
                  <a:srgbClr val="A50021"/>
                </a:solidFill>
                <a:latin typeface="Times New Roman" panose="02020603050405020304" pitchFamily="18" charset="0"/>
              </a:rPr>
              <a:t>边覆盖数</a:t>
            </a:r>
            <a:r>
              <a:rPr lang="zh-CN" altLang="en-US" sz="4400" dirty="0" smtClean="0">
                <a:latin typeface="Times New Roman" panose="02020603050405020304" pitchFamily="18" charset="0"/>
                <a:sym typeface="Symbol" panose="05050102010706020507" pitchFamily="18" charset="2"/>
              </a:rPr>
              <a:t></a:t>
            </a:r>
            <a:r>
              <a:rPr lang="en-US" altLang="zh-CN" sz="4400" baseline="-25000" dirty="0" smtClean="0">
                <a:latin typeface="Times New Roman" panose="02020603050405020304" pitchFamily="18" charset="0"/>
              </a:rPr>
              <a:t>1</a:t>
            </a:r>
            <a:r>
              <a:rPr lang="en-US" altLang="zh-CN" sz="4400" dirty="0" smtClean="0">
                <a:latin typeface="Times New Roman" panose="02020603050405020304" pitchFamily="18" charset="0"/>
              </a:rPr>
              <a:t>——</a:t>
            </a:r>
            <a:r>
              <a:rPr lang="zh-CN" altLang="en-US" sz="4400" dirty="0" smtClean="0">
                <a:latin typeface="Times New Roman" panose="02020603050405020304" pitchFamily="18" charset="0"/>
              </a:rPr>
              <a:t>最小边覆盖中元素个数</a:t>
            </a:r>
          </a:p>
          <a:p>
            <a:pPr marL="609600" indent="-609600">
              <a:lnSpc>
                <a:spcPct val="80000"/>
              </a:lnSpc>
            </a:pPr>
            <a:r>
              <a:rPr lang="zh-CN" altLang="en-US" dirty="0" smtClean="0">
                <a:latin typeface="Times New Roman" panose="02020603050405020304" pitchFamily="18" charset="0"/>
              </a:rPr>
              <a:t>  </a:t>
            </a:r>
          </a:p>
          <a:p>
            <a:pPr marL="609600" indent="-609600">
              <a:lnSpc>
                <a:spcPct val="80000"/>
              </a:lnSpc>
            </a:pPr>
            <a:endParaRPr lang="zh-CN" altLang="en-US" dirty="0" smtClean="0"/>
          </a:p>
          <a:p>
            <a:pPr marL="609600" indent="-609600">
              <a:lnSpc>
                <a:spcPct val="80000"/>
              </a:lnSpc>
            </a:pPr>
            <a:endParaRPr lang="zh-CN" altLang="en-US" dirty="0" smtClean="0"/>
          </a:p>
          <a:p>
            <a:pPr marL="609600" indent="-609600">
              <a:lnSpc>
                <a:spcPct val="80000"/>
              </a:lnSpc>
            </a:pPr>
            <a:endParaRPr lang="zh-CN" altLang="en-US" dirty="0" smtClean="0"/>
          </a:p>
          <a:p>
            <a:pPr marL="609600" indent="-609600">
              <a:lnSpc>
                <a:spcPct val="80000"/>
              </a:lnSpc>
            </a:pPr>
            <a:endParaRPr lang="zh-CN" altLang="en-US" dirty="0" smtClean="0"/>
          </a:p>
          <a:p>
            <a:pPr marL="609600" indent="-609600">
              <a:lnSpc>
                <a:spcPct val="80000"/>
              </a:lnSpc>
            </a:pPr>
            <a:endParaRPr lang="zh-CN" altLang="en-US" dirty="0" smtClean="0"/>
          </a:p>
          <a:p>
            <a:pPr marL="609600" indent="-609600">
              <a:lnSpc>
                <a:spcPct val="80000"/>
              </a:lnSpc>
            </a:pPr>
            <a:endParaRPr lang="en-US" altLang="zh-CN" dirty="0"/>
          </a:p>
        </p:txBody>
      </p:sp>
      <p:pic>
        <p:nvPicPr>
          <p:cNvPr id="12" name="Picture 10" descr="18-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1" y="3357563"/>
            <a:ext cx="8135937" cy="175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ectangle 12"/>
          <p:cNvSpPr>
            <a:spLocks noChangeArrowheads="1"/>
          </p:cNvSpPr>
          <p:nvPr/>
        </p:nvSpPr>
        <p:spPr bwMode="auto">
          <a:xfrm>
            <a:off x="1066800" y="5334074"/>
            <a:ext cx="4519186" cy="8125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80000"/>
              </a:lnSpc>
              <a:spcBef>
                <a:spcPct val="20000"/>
              </a:spcBef>
              <a:buClr>
                <a:srgbClr val="69B3F1"/>
              </a:buClr>
              <a:buFont typeface="Wingdings" panose="05000000000000000000" pitchFamily="2" charset="2"/>
              <a:buNone/>
            </a:pPr>
            <a:r>
              <a:rPr lang="zh-CN" altLang="en-US" sz="2600" b="1" dirty="0">
                <a:latin typeface="Times New Roman" panose="02020603050405020304" pitchFamily="18" charset="0"/>
                <a:ea typeface="微软雅黑" panose="020B0503020204020204" pitchFamily="34" charset="-122"/>
              </a:rPr>
              <a:t>图中各图的边覆盖数依次</a:t>
            </a:r>
            <a:r>
              <a:rPr lang="zh-CN" altLang="en-US" sz="2600" b="1" dirty="0" smtClean="0">
                <a:latin typeface="Times New Roman" panose="02020603050405020304" pitchFamily="18" charset="0"/>
                <a:ea typeface="微软雅黑" panose="020B0503020204020204" pitchFamily="34" charset="-122"/>
              </a:rPr>
              <a:t>为？</a:t>
            </a:r>
            <a:endParaRPr lang="en-US" altLang="zh-CN" sz="2600" b="1" dirty="0" smtClean="0">
              <a:latin typeface="Times New Roman" panose="02020603050405020304" pitchFamily="18" charset="0"/>
              <a:ea typeface="微软雅黑" panose="020B0503020204020204" pitchFamily="34" charset="-122"/>
            </a:endParaRPr>
          </a:p>
          <a:p>
            <a:pPr>
              <a:lnSpc>
                <a:spcPct val="80000"/>
              </a:lnSpc>
              <a:spcBef>
                <a:spcPct val="20000"/>
              </a:spcBef>
              <a:buClr>
                <a:srgbClr val="69B3F1"/>
              </a:buClr>
              <a:buFont typeface="Wingdings" panose="05000000000000000000" pitchFamily="2" charset="2"/>
              <a:buNone/>
            </a:pPr>
            <a:r>
              <a:rPr lang="zh-CN" altLang="en-US" sz="2600" b="1" dirty="0" smtClean="0">
                <a:latin typeface="Times New Roman" panose="02020603050405020304" pitchFamily="18" charset="0"/>
                <a:ea typeface="微软雅黑" panose="020B0503020204020204" pitchFamily="34" charset="-122"/>
              </a:rPr>
              <a:t>请</a:t>
            </a:r>
            <a:r>
              <a:rPr lang="zh-CN" altLang="en-US" sz="2600" b="1" dirty="0">
                <a:latin typeface="Times New Roman" panose="02020603050405020304" pitchFamily="18" charset="0"/>
                <a:ea typeface="微软雅黑" panose="020B0503020204020204" pitchFamily="34" charset="-122"/>
              </a:rPr>
              <a:t>各找出一个最小边覆盖</a:t>
            </a:r>
            <a:r>
              <a:rPr lang="en-US" altLang="zh-CN" sz="2600" b="1" dirty="0">
                <a:latin typeface="Times New Roman" panose="02020603050405020304" pitchFamily="18" charset="0"/>
                <a:ea typeface="微软雅黑" panose="020B0503020204020204" pitchFamily="34" charset="-122"/>
              </a:rPr>
              <a:t>.</a:t>
            </a:r>
          </a:p>
        </p:txBody>
      </p:sp>
      <p:graphicFrame>
        <p:nvGraphicFramePr>
          <p:cNvPr id="3" name="对象 2"/>
          <p:cNvGraphicFramePr>
            <a:graphicFrameLocks noChangeAspect="1"/>
          </p:cNvGraphicFramePr>
          <p:nvPr>
            <p:extLst>
              <p:ext uri="{D42A27DB-BD31-4B8C-83A1-F6EECF244321}">
                <p14:modId xmlns:p14="http://schemas.microsoft.com/office/powerpoint/2010/main" val="3462574184"/>
              </p:ext>
            </p:extLst>
          </p:nvPr>
        </p:nvGraphicFramePr>
        <p:xfrm>
          <a:off x="2286000" y="3280323"/>
          <a:ext cx="298450" cy="488373"/>
        </p:xfrm>
        <a:graphic>
          <a:graphicData uri="http://schemas.openxmlformats.org/presentationml/2006/ole">
            <mc:AlternateContent xmlns:mc="http://schemas.openxmlformats.org/markup-compatibility/2006">
              <mc:Choice xmlns:v="urn:schemas-microsoft-com:vml" Requires="v">
                <p:oleObj spid="_x0000_s8378" name="Equation" r:id="rId4" imgW="139680" imgH="228600" progId="Equation.DSMT4">
                  <p:embed/>
                </p:oleObj>
              </mc:Choice>
              <mc:Fallback>
                <p:oleObj name="Equation" r:id="rId4" imgW="139680" imgH="228600" progId="Equation.DSMT4">
                  <p:embed/>
                  <p:pic>
                    <p:nvPicPr>
                      <p:cNvPr id="0" name=""/>
                      <p:cNvPicPr/>
                      <p:nvPr/>
                    </p:nvPicPr>
                    <p:blipFill>
                      <a:blip r:embed="rId5"/>
                      <a:stretch>
                        <a:fillRect/>
                      </a:stretch>
                    </p:blipFill>
                    <p:spPr>
                      <a:xfrm>
                        <a:off x="2286000" y="3280323"/>
                        <a:ext cx="298450" cy="488373"/>
                      </a:xfrm>
                      <a:prstGeom prst="rect">
                        <a:avLst/>
                      </a:prstGeom>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3173440694"/>
              </p:ext>
            </p:extLst>
          </p:nvPr>
        </p:nvGraphicFramePr>
        <p:xfrm>
          <a:off x="2146237" y="4193110"/>
          <a:ext cx="325437" cy="487363"/>
        </p:xfrm>
        <a:graphic>
          <a:graphicData uri="http://schemas.openxmlformats.org/presentationml/2006/ole">
            <mc:AlternateContent xmlns:mc="http://schemas.openxmlformats.org/markup-compatibility/2006">
              <mc:Choice xmlns:v="urn:schemas-microsoft-com:vml" Requires="v">
                <p:oleObj spid="_x0000_s8379" name="Equation" r:id="rId6" imgW="152280" imgH="228600" progId="Equation.DSMT4">
                  <p:embed/>
                </p:oleObj>
              </mc:Choice>
              <mc:Fallback>
                <p:oleObj name="Equation" r:id="rId6" imgW="152280" imgH="228600" progId="Equation.DSMT4">
                  <p:embed/>
                  <p:pic>
                    <p:nvPicPr>
                      <p:cNvPr id="0" name=""/>
                      <p:cNvPicPr/>
                      <p:nvPr/>
                    </p:nvPicPr>
                    <p:blipFill>
                      <a:blip r:embed="rId7"/>
                      <a:stretch>
                        <a:fillRect/>
                      </a:stretch>
                    </p:blipFill>
                    <p:spPr>
                      <a:xfrm>
                        <a:off x="2146237" y="4193110"/>
                        <a:ext cx="325437" cy="487363"/>
                      </a:xfrm>
                      <a:prstGeom prst="rect">
                        <a:avLst/>
                      </a:prstGeom>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4114574151"/>
              </p:ext>
            </p:extLst>
          </p:nvPr>
        </p:nvGraphicFramePr>
        <p:xfrm>
          <a:off x="1063752" y="4197838"/>
          <a:ext cx="325438" cy="488950"/>
        </p:xfrm>
        <a:graphic>
          <a:graphicData uri="http://schemas.openxmlformats.org/presentationml/2006/ole">
            <mc:AlternateContent xmlns:mc="http://schemas.openxmlformats.org/markup-compatibility/2006">
              <mc:Choice xmlns:v="urn:schemas-microsoft-com:vml" Requires="v">
                <p:oleObj spid="_x0000_s8380" name="Equation" r:id="rId8" imgW="152280" imgH="228600" progId="Equation.DSMT4">
                  <p:embed/>
                </p:oleObj>
              </mc:Choice>
              <mc:Fallback>
                <p:oleObj name="Equation" r:id="rId8" imgW="152280" imgH="228600" progId="Equation.DSMT4">
                  <p:embed/>
                  <p:pic>
                    <p:nvPicPr>
                      <p:cNvPr id="0" name=""/>
                      <p:cNvPicPr/>
                      <p:nvPr/>
                    </p:nvPicPr>
                    <p:blipFill>
                      <a:blip r:embed="rId9"/>
                      <a:stretch>
                        <a:fillRect/>
                      </a:stretch>
                    </p:blipFill>
                    <p:spPr>
                      <a:xfrm>
                        <a:off x="1063752" y="4197838"/>
                        <a:ext cx="325438" cy="488950"/>
                      </a:xfrm>
                      <a:prstGeom prst="rect">
                        <a:avLst/>
                      </a:prstGeom>
                    </p:spPr>
                  </p:pic>
                </p:oleObj>
              </mc:Fallback>
            </mc:AlternateContent>
          </a:graphicData>
        </a:graphic>
      </p:graphicFrame>
    </p:spTree>
    <p:extLst>
      <p:ext uri="{BB962C8B-B14F-4D97-AF65-F5344CB8AC3E}">
        <p14:creationId xmlns:p14="http://schemas.microsoft.com/office/powerpoint/2010/main" val="147344146"/>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匹配（边独立集）与匹配数（边独立数）</a:t>
            </a:r>
            <a:endParaRPr lang="en-US" dirty="0"/>
          </a:p>
        </p:txBody>
      </p:sp>
      <p:sp>
        <p:nvSpPr>
          <p:cNvPr id="7" name="日期占位符 6"/>
          <p:cNvSpPr>
            <a:spLocks noGrp="1"/>
          </p:cNvSpPr>
          <p:nvPr>
            <p:ph type="dt" sz="half" idx="10"/>
          </p:nvPr>
        </p:nvSpPr>
        <p:spPr/>
        <p:txBody>
          <a:bodyPr/>
          <a:lstStyle/>
          <a:p>
            <a:fld id="{69CD85A4-EFC3-48EC-9559-6F553D130ABB}"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82</a:t>
            </a:fld>
            <a:endParaRPr lang="zh-CN" altLang="en-US" dirty="0"/>
          </a:p>
        </p:txBody>
      </p:sp>
      <p:sp>
        <p:nvSpPr>
          <p:cNvPr id="14" name="Rectangle 9"/>
          <p:cNvSpPr txBox="1">
            <a:spLocks noChangeArrowheads="1"/>
          </p:cNvSpPr>
          <p:nvPr/>
        </p:nvSpPr>
        <p:spPr>
          <a:xfrm>
            <a:off x="395288" y="1125538"/>
            <a:ext cx="8280400" cy="2376487"/>
          </a:xfrm>
          <a:prstGeom prst="rect">
            <a:avLst/>
          </a:prstGeom>
        </p:spPr>
        <p:txBody>
          <a:bodyPr vert="horz" lIns="91440" tIns="45720" rIns="91440" bIns="45720" rtlCol="0">
            <a:normAutofit fontScale="92500" lnSpcReduction="20000"/>
          </a:bodyPr>
          <a:lstStyle>
            <a:lvl1pPr marL="274320" indent="-274320" algn="l" defTabSz="914400" rtl="0" eaLnBrk="1" latinLnBrk="0" hangingPunct="1">
              <a:lnSpc>
                <a:spcPct val="100000"/>
              </a:lnSpc>
              <a:spcBef>
                <a:spcPts val="1000"/>
              </a:spcBef>
              <a:buClr>
                <a:srgbClr val="CEA524"/>
              </a:buClr>
              <a:buSzPct val="100000"/>
              <a:buFont typeface="Wingdings" panose="05000000000000000000" pitchFamily="2" charset="2"/>
              <a:buChar char="q"/>
              <a:defRPr sz="2800" kern="1200">
                <a:solidFill>
                  <a:schemeClr val="tx1"/>
                </a:solidFill>
                <a:latin typeface="微软雅黑" panose="020B0503020204020204" pitchFamily="34" charset="-122"/>
                <a:ea typeface="微软雅黑" panose="020B0503020204020204" pitchFamily="34" charset="-122"/>
                <a:cs typeface="+mn-cs"/>
              </a:defRPr>
            </a:lvl1pPr>
            <a:lvl2pPr marL="640080" indent="-246888" algn="l" defTabSz="914400" rtl="0" eaLnBrk="1" latinLnBrk="0" hangingPunct="1">
              <a:lnSpc>
                <a:spcPct val="90000"/>
              </a:lnSpc>
              <a:spcBef>
                <a:spcPts val="500"/>
              </a:spcBef>
              <a:buClr>
                <a:srgbClr val="01559D"/>
              </a:buClr>
              <a:buSzPct val="97000"/>
              <a:buFont typeface="Wingdings" panose="05000000000000000000" pitchFamily="2" charset="2"/>
              <a:buChar char="Ø"/>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smtClean="0">
                <a:solidFill>
                  <a:srgbClr val="A50021"/>
                </a:solidFill>
                <a:latin typeface="Times New Roman" panose="02020603050405020304" pitchFamily="18" charset="0"/>
              </a:rPr>
              <a:t>定义</a:t>
            </a:r>
            <a:r>
              <a:rPr lang="en-US" altLang="zh-CN" dirty="0" smtClean="0">
                <a:latin typeface="Times New Roman" panose="02020603050405020304" pitchFamily="18" charset="0"/>
              </a:rPr>
              <a:t>  </a:t>
            </a:r>
            <a:r>
              <a:rPr lang="zh-CN" altLang="en-US" dirty="0" smtClean="0">
                <a:latin typeface="Times New Roman" panose="02020603050405020304" pitchFamily="18" charset="0"/>
              </a:rPr>
              <a:t>设</a:t>
            </a:r>
            <a:r>
              <a:rPr lang="en-US" altLang="zh-CN" i="1" dirty="0" smtClean="0">
                <a:latin typeface="Times New Roman" panose="02020603050405020304" pitchFamily="18" charset="0"/>
              </a:rPr>
              <a:t>G</a:t>
            </a:r>
            <a:r>
              <a:rPr lang="en-US" altLang="zh-CN" dirty="0" smtClean="0">
                <a:latin typeface="Times New Roman" panose="02020603050405020304" pitchFamily="18" charset="0"/>
              </a:rPr>
              <a:t>=&lt;</a:t>
            </a:r>
            <a:r>
              <a:rPr lang="en-US" altLang="zh-CN" i="1" dirty="0" smtClean="0">
                <a:latin typeface="Times New Roman" panose="02020603050405020304" pitchFamily="18" charset="0"/>
              </a:rPr>
              <a:t>V</a:t>
            </a:r>
            <a:r>
              <a:rPr lang="en-US" altLang="zh-CN" dirty="0" smtClean="0">
                <a:latin typeface="Times New Roman" panose="02020603050405020304" pitchFamily="18" charset="0"/>
              </a:rPr>
              <a:t>,</a:t>
            </a:r>
            <a:r>
              <a:rPr lang="en-US" altLang="zh-CN" i="1" dirty="0" smtClean="0">
                <a:latin typeface="Times New Roman" panose="02020603050405020304" pitchFamily="18" charset="0"/>
              </a:rPr>
              <a:t>E</a:t>
            </a:r>
            <a:r>
              <a:rPr lang="en-US" altLang="zh-CN" dirty="0" smtClean="0">
                <a:latin typeface="Times New Roman" panose="02020603050405020304" pitchFamily="18" charset="0"/>
              </a:rPr>
              <a:t>&gt;, </a:t>
            </a:r>
            <a:r>
              <a:rPr lang="en-US" altLang="zh-CN" i="1" dirty="0" smtClean="0">
                <a:latin typeface="Times New Roman" panose="02020603050405020304" pitchFamily="18" charset="0"/>
              </a:rPr>
              <a:t>E</a:t>
            </a:r>
            <a:r>
              <a:rPr lang="en-US" altLang="zh-CN" dirty="0" smtClean="0">
                <a:latin typeface="Times New Roman" panose="02020603050405020304" pitchFamily="18" charset="0"/>
              </a:rPr>
              <a:t>*</a:t>
            </a:r>
            <a:r>
              <a:rPr lang="en-US" altLang="zh-CN" dirty="0" smtClean="0">
                <a:latin typeface="Times New Roman" panose="02020603050405020304" pitchFamily="18" charset="0"/>
                <a:sym typeface="Symbol" panose="05050102010706020507" pitchFamily="18" charset="2"/>
              </a:rPr>
              <a:t></a:t>
            </a:r>
            <a:r>
              <a:rPr lang="en-US" altLang="zh-CN" i="1" dirty="0" smtClean="0">
                <a:latin typeface="Times New Roman" panose="02020603050405020304" pitchFamily="18" charset="0"/>
              </a:rPr>
              <a:t>E</a:t>
            </a:r>
            <a:r>
              <a:rPr lang="zh-CN" altLang="en-US" dirty="0" smtClean="0">
                <a:latin typeface="Times New Roman" panose="02020603050405020304" pitchFamily="18" charset="0"/>
              </a:rPr>
              <a:t>，</a:t>
            </a:r>
          </a:p>
          <a:p>
            <a:r>
              <a:rPr lang="en-US" altLang="zh-CN" dirty="0" smtClean="0">
                <a:latin typeface="Times New Roman" panose="02020603050405020304" pitchFamily="18" charset="0"/>
              </a:rPr>
              <a:t>(1) </a:t>
            </a:r>
            <a:r>
              <a:rPr lang="zh-CN" altLang="en-US" dirty="0" smtClean="0">
                <a:solidFill>
                  <a:srgbClr val="A50021"/>
                </a:solidFill>
                <a:latin typeface="Times New Roman" panose="02020603050405020304" pitchFamily="18" charset="0"/>
              </a:rPr>
              <a:t>匹配</a:t>
            </a:r>
            <a:r>
              <a:rPr lang="en-US" altLang="zh-CN" dirty="0" smtClean="0">
                <a:latin typeface="Times New Roman" panose="02020603050405020304" pitchFamily="18" charset="0"/>
              </a:rPr>
              <a:t>(</a:t>
            </a:r>
            <a:r>
              <a:rPr lang="zh-CN" altLang="en-US" dirty="0" smtClean="0">
                <a:latin typeface="Times New Roman" panose="02020603050405020304" pitchFamily="18" charset="0"/>
              </a:rPr>
              <a:t>边独立集</a:t>
            </a:r>
            <a:r>
              <a:rPr lang="en-US" altLang="zh-CN" dirty="0" smtClean="0">
                <a:latin typeface="Times New Roman" panose="02020603050405020304" pitchFamily="18" charset="0"/>
              </a:rPr>
              <a:t>)</a:t>
            </a:r>
            <a:r>
              <a:rPr lang="en-US" altLang="zh-CN" i="1" dirty="0" smtClean="0">
                <a:latin typeface="Times New Roman" panose="02020603050405020304" pitchFamily="18" charset="0"/>
              </a:rPr>
              <a:t>E</a:t>
            </a:r>
            <a:r>
              <a:rPr lang="en-US" altLang="zh-CN" dirty="0" smtClean="0">
                <a:latin typeface="Times New Roman" panose="02020603050405020304" pitchFamily="18" charset="0"/>
              </a:rPr>
              <a:t>*——</a:t>
            </a:r>
            <a:r>
              <a:rPr lang="en-US" altLang="zh-CN" i="1" dirty="0" smtClean="0">
                <a:latin typeface="Times New Roman" panose="02020603050405020304" pitchFamily="18" charset="0"/>
              </a:rPr>
              <a:t>E</a:t>
            </a:r>
            <a:r>
              <a:rPr lang="en-US" altLang="zh-CN" dirty="0" smtClean="0">
                <a:latin typeface="Times New Roman" panose="02020603050405020304" pitchFamily="18" charset="0"/>
              </a:rPr>
              <a:t>*</a:t>
            </a:r>
            <a:r>
              <a:rPr lang="zh-CN" altLang="en-US" dirty="0" smtClean="0">
                <a:latin typeface="Times New Roman" panose="02020603050405020304" pitchFamily="18" charset="0"/>
              </a:rPr>
              <a:t>中各边均不相邻</a:t>
            </a:r>
          </a:p>
          <a:p>
            <a:r>
              <a:rPr lang="en-US" altLang="zh-CN" dirty="0" smtClean="0">
                <a:latin typeface="Times New Roman" panose="02020603050405020304" pitchFamily="18" charset="0"/>
              </a:rPr>
              <a:t>(2) </a:t>
            </a:r>
            <a:r>
              <a:rPr lang="zh-CN" altLang="en-US" dirty="0" smtClean="0">
                <a:solidFill>
                  <a:srgbClr val="A50021"/>
                </a:solidFill>
                <a:latin typeface="Times New Roman" panose="02020603050405020304" pitchFamily="18" charset="0"/>
              </a:rPr>
              <a:t>极大匹配</a:t>
            </a:r>
            <a:r>
              <a:rPr lang="en-US" altLang="zh-CN" i="1" dirty="0" smtClean="0">
                <a:latin typeface="Times New Roman" panose="02020603050405020304" pitchFamily="18" charset="0"/>
              </a:rPr>
              <a:t>E</a:t>
            </a:r>
            <a:r>
              <a:rPr lang="en-US" altLang="zh-CN" dirty="0" smtClean="0">
                <a:latin typeface="Times New Roman" panose="02020603050405020304" pitchFamily="18" charset="0"/>
              </a:rPr>
              <a:t>*——</a:t>
            </a:r>
            <a:r>
              <a:rPr lang="en-US" altLang="zh-CN" i="1" dirty="0" smtClean="0">
                <a:latin typeface="Times New Roman" panose="02020603050405020304" pitchFamily="18" charset="0"/>
              </a:rPr>
              <a:t>E</a:t>
            </a:r>
            <a:r>
              <a:rPr lang="en-US" altLang="zh-CN" dirty="0" smtClean="0">
                <a:latin typeface="Times New Roman" panose="02020603050405020304" pitchFamily="18" charset="0"/>
              </a:rPr>
              <a:t>*</a:t>
            </a:r>
            <a:r>
              <a:rPr lang="zh-CN" altLang="en-US" dirty="0" smtClean="0">
                <a:latin typeface="Times New Roman" panose="02020603050405020304" pitchFamily="18" charset="0"/>
              </a:rPr>
              <a:t>中不能再加其他边了</a:t>
            </a:r>
          </a:p>
          <a:p>
            <a:r>
              <a:rPr lang="en-US" altLang="zh-CN" dirty="0" smtClean="0">
                <a:latin typeface="Times New Roman" panose="02020603050405020304" pitchFamily="18" charset="0"/>
              </a:rPr>
              <a:t>(3) </a:t>
            </a:r>
            <a:r>
              <a:rPr lang="zh-CN" altLang="en-US" dirty="0" smtClean="0">
                <a:solidFill>
                  <a:srgbClr val="A50021"/>
                </a:solidFill>
                <a:latin typeface="Times New Roman" panose="02020603050405020304" pitchFamily="18" charset="0"/>
              </a:rPr>
              <a:t>最大匹配</a:t>
            </a:r>
            <a:r>
              <a:rPr lang="en-US" altLang="zh-CN" dirty="0" smtClean="0">
                <a:latin typeface="Times New Roman" panose="02020603050405020304" pitchFamily="18" charset="0"/>
              </a:rPr>
              <a:t>——</a:t>
            </a:r>
            <a:r>
              <a:rPr lang="zh-CN" altLang="en-US" dirty="0" smtClean="0">
                <a:latin typeface="Times New Roman" panose="02020603050405020304" pitchFamily="18" charset="0"/>
              </a:rPr>
              <a:t>边数最多的匹配</a:t>
            </a:r>
          </a:p>
          <a:p>
            <a:r>
              <a:rPr lang="en-US" altLang="zh-CN" dirty="0" smtClean="0">
                <a:latin typeface="Times New Roman" panose="02020603050405020304" pitchFamily="18" charset="0"/>
              </a:rPr>
              <a:t>(4) </a:t>
            </a:r>
            <a:r>
              <a:rPr lang="zh-CN" altLang="en-US" dirty="0" smtClean="0">
                <a:solidFill>
                  <a:srgbClr val="A50021"/>
                </a:solidFill>
                <a:latin typeface="Times New Roman" panose="02020603050405020304" pitchFamily="18" charset="0"/>
              </a:rPr>
              <a:t>匹配数</a:t>
            </a:r>
            <a:r>
              <a:rPr lang="en-US" altLang="zh-CN" dirty="0" smtClean="0">
                <a:latin typeface="Times New Roman" panose="02020603050405020304" pitchFamily="18" charset="0"/>
              </a:rPr>
              <a:t>——</a:t>
            </a:r>
            <a:r>
              <a:rPr lang="zh-CN" altLang="en-US" dirty="0" smtClean="0">
                <a:latin typeface="Times New Roman" panose="02020603050405020304" pitchFamily="18" charset="0"/>
              </a:rPr>
              <a:t>最大匹配中的边数，记为</a:t>
            </a:r>
            <a:r>
              <a:rPr lang="zh-CN" altLang="en-US" dirty="0" smtClean="0">
                <a:latin typeface="Times New Roman" panose="02020603050405020304" pitchFamily="18" charset="0"/>
                <a:sym typeface="Symbol" panose="05050102010706020507" pitchFamily="18" charset="2"/>
              </a:rPr>
              <a:t></a:t>
            </a:r>
            <a:r>
              <a:rPr lang="en-US" altLang="zh-CN" baseline="-25000" dirty="0" smtClean="0">
                <a:latin typeface="Times New Roman" panose="02020603050405020304" pitchFamily="18" charset="0"/>
              </a:rPr>
              <a:t>1 </a:t>
            </a:r>
            <a:endParaRPr lang="en-US" altLang="zh-CN" baseline="-25000" dirty="0">
              <a:latin typeface="Times New Roman" panose="02020603050405020304" pitchFamily="18" charset="0"/>
            </a:endParaRPr>
          </a:p>
        </p:txBody>
      </p:sp>
      <p:pic>
        <p:nvPicPr>
          <p:cNvPr id="15" name="Picture 11" descr="18-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3479327"/>
            <a:ext cx="8208963" cy="177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Rectangle 10"/>
          <p:cNvSpPr>
            <a:spLocks noChangeArrowheads="1"/>
          </p:cNvSpPr>
          <p:nvPr/>
        </p:nvSpPr>
        <p:spPr bwMode="auto">
          <a:xfrm>
            <a:off x="1143000" y="5587433"/>
            <a:ext cx="5186035" cy="4124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80000"/>
              </a:lnSpc>
              <a:spcBef>
                <a:spcPts val="1000"/>
              </a:spcBef>
              <a:buClr>
                <a:srgbClr val="CEA524"/>
              </a:buClr>
              <a:buSzPct val="100000"/>
            </a:pPr>
            <a:r>
              <a:rPr lang="zh-CN" altLang="en-US" sz="2600" dirty="0">
                <a:latin typeface="Times New Roman" panose="02020603050405020304" pitchFamily="18" charset="0"/>
                <a:ea typeface="微软雅黑" panose="020B0503020204020204" pitchFamily="34" charset="-122"/>
              </a:rPr>
              <a:t>上图中各图的匹配数依次为</a:t>
            </a:r>
            <a:r>
              <a:rPr lang="en-US" altLang="zh-CN" sz="2600" dirty="0">
                <a:latin typeface="Times New Roman" panose="02020603050405020304" pitchFamily="18" charset="0"/>
                <a:ea typeface="微软雅黑" panose="020B0503020204020204" pitchFamily="34" charset="-122"/>
              </a:rPr>
              <a:t>3, 3, 4. </a:t>
            </a:r>
          </a:p>
        </p:txBody>
      </p:sp>
      <p:graphicFrame>
        <p:nvGraphicFramePr>
          <p:cNvPr id="10" name="对象 9"/>
          <p:cNvGraphicFramePr>
            <a:graphicFrameLocks noChangeAspect="1"/>
          </p:cNvGraphicFramePr>
          <p:nvPr>
            <p:extLst>
              <p:ext uri="{D42A27DB-BD31-4B8C-83A1-F6EECF244321}">
                <p14:modId xmlns:p14="http://schemas.microsoft.com/office/powerpoint/2010/main" val="1834073089"/>
              </p:ext>
            </p:extLst>
          </p:nvPr>
        </p:nvGraphicFramePr>
        <p:xfrm>
          <a:off x="2743200" y="3387361"/>
          <a:ext cx="298450" cy="488373"/>
        </p:xfrm>
        <a:graphic>
          <a:graphicData uri="http://schemas.openxmlformats.org/presentationml/2006/ole">
            <mc:AlternateContent xmlns:mc="http://schemas.openxmlformats.org/markup-compatibility/2006">
              <mc:Choice xmlns:v="urn:schemas-microsoft-com:vml" Requires="v">
                <p:oleObj spid="_x0000_s9778" name="Equation" r:id="rId4" imgW="139680" imgH="228600" progId="Equation.DSMT4">
                  <p:embed/>
                </p:oleObj>
              </mc:Choice>
              <mc:Fallback>
                <p:oleObj name="Equation" r:id="rId4" imgW="139680" imgH="228600" progId="Equation.DSMT4">
                  <p:embed/>
                  <p:pic>
                    <p:nvPicPr>
                      <p:cNvPr id="0" name=""/>
                      <p:cNvPicPr/>
                      <p:nvPr/>
                    </p:nvPicPr>
                    <p:blipFill>
                      <a:blip r:embed="rId5"/>
                      <a:stretch>
                        <a:fillRect/>
                      </a:stretch>
                    </p:blipFill>
                    <p:spPr>
                      <a:xfrm>
                        <a:off x="2743200" y="3387361"/>
                        <a:ext cx="298450" cy="488373"/>
                      </a:xfrm>
                      <a:prstGeom prst="rect">
                        <a:avLst/>
                      </a:prstGeom>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932424826"/>
              </p:ext>
            </p:extLst>
          </p:nvPr>
        </p:nvGraphicFramePr>
        <p:xfrm>
          <a:off x="2581275" y="4360863"/>
          <a:ext cx="325438" cy="487362"/>
        </p:xfrm>
        <a:graphic>
          <a:graphicData uri="http://schemas.openxmlformats.org/presentationml/2006/ole">
            <mc:AlternateContent xmlns:mc="http://schemas.openxmlformats.org/markup-compatibility/2006">
              <mc:Choice xmlns:v="urn:schemas-microsoft-com:vml" Requires="v">
                <p:oleObj spid="_x0000_s9779" name="Equation" r:id="rId6" imgW="152280" imgH="228600" progId="Equation.DSMT4">
                  <p:embed/>
                </p:oleObj>
              </mc:Choice>
              <mc:Fallback>
                <p:oleObj name="Equation" r:id="rId6" imgW="152280" imgH="228600" progId="Equation.DSMT4">
                  <p:embed/>
                  <p:pic>
                    <p:nvPicPr>
                      <p:cNvPr id="0" name=""/>
                      <p:cNvPicPr/>
                      <p:nvPr/>
                    </p:nvPicPr>
                    <p:blipFill>
                      <a:blip r:embed="rId7"/>
                      <a:stretch>
                        <a:fillRect/>
                      </a:stretch>
                    </p:blipFill>
                    <p:spPr>
                      <a:xfrm>
                        <a:off x="2581275" y="4360863"/>
                        <a:ext cx="325438" cy="487362"/>
                      </a:xfrm>
                      <a:prstGeom prst="rect">
                        <a:avLst/>
                      </a:prstGeom>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2222658545"/>
              </p:ext>
            </p:extLst>
          </p:nvPr>
        </p:nvGraphicFramePr>
        <p:xfrm>
          <a:off x="1436688" y="4359275"/>
          <a:ext cx="325437" cy="488950"/>
        </p:xfrm>
        <a:graphic>
          <a:graphicData uri="http://schemas.openxmlformats.org/presentationml/2006/ole">
            <mc:AlternateContent xmlns:mc="http://schemas.openxmlformats.org/markup-compatibility/2006">
              <mc:Choice xmlns:v="urn:schemas-microsoft-com:vml" Requires="v">
                <p:oleObj spid="_x0000_s9780" name="Equation" r:id="rId8" imgW="152280" imgH="228600" progId="Equation.DSMT4">
                  <p:embed/>
                </p:oleObj>
              </mc:Choice>
              <mc:Fallback>
                <p:oleObj name="Equation" r:id="rId8" imgW="152280" imgH="228600" progId="Equation.DSMT4">
                  <p:embed/>
                  <p:pic>
                    <p:nvPicPr>
                      <p:cNvPr id="0" name=""/>
                      <p:cNvPicPr/>
                      <p:nvPr/>
                    </p:nvPicPr>
                    <p:blipFill>
                      <a:blip r:embed="rId9"/>
                      <a:stretch>
                        <a:fillRect/>
                      </a:stretch>
                    </p:blipFill>
                    <p:spPr>
                      <a:xfrm>
                        <a:off x="1436688" y="4359275"/>
                        <a:ext cx="325437" cy="488950"/>
                      </a:xfrm>
                      <a:prstGeom prst="rect">
                        <a:avLst/>
                      </a:prstGeom>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143177802"/>
              </p:ext>
            </p:extLst>
          </p:nvPr>
        </p:nvGraphicFramePr>
        <p:xfrm>
          <a:off x="4753088" y="3530701"/>
          <a:ext cx="298450" cy="488373"/>
        </p:xfrm>
        <a:graphic>
          <a:graphicData uri="http://schemas.openxmlformats.org/presentationml/2006/ole">
            <mc:AlternateContent xmlns:mc="http://schemas.openxmlformats.org/markup-compatibility/2006">
              <mc:Choice xmlns:v="urn:schemas-microsoft-com:vml" Requires="v">
                <p:oleObj spid="_x0000_s9781" name="Equation" r:id="rId10" imgW="139680" imgH="228600" progId="Equation.DSMT4">
                  <p:embed/>
                </p:oleObj>
              </mc:Choice>
              <mc:Fallback>
                <p:oleObj name="Equation" r:id="rId10" imgW="139680" imgH="228600" progId="Equation.DSMT4">
                  <p:embed/>
                  <p:pic>
                    <p:nvPicPr>
                      <p:cNvPr id="0" name=""/>
                      <p:cNvPicPr/>
                      <p:nvPr/>
                    </p:nvPicPr>
                    <p:blipFill>
                      <a:blip r:embed="rId5"/>
                      <a:stretch>
                        <a:fillRect/>
                      </a:stretch>
                    </p:blipFill>
                    <p:spPr>
                      <a:xfrm>
                        <a:off x="4753088" y="3530701"/>
                        <a:ext cx="298450" cy="488373"/>
                      </a:xfrm>
                      <a:prstGeom prst="rect">
                        <a:avLst/>
                      </a:prstGeom>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2560238707"/>
              </p:ext>
            </p:extLst>
          </p:nvPr>
        </p:nvGraphicFramePr>
        <p:xfrm>
          <a:off x="5249863" y="4114800"/>
          <a:ext cx="327025" cy="488950"/>
        </p:xfrm>
        <a:graphic>
          <a:graphicData uri="http://schemas.openxmlformats.org/presentationml/2006/ole">
            <mc:AlternateContent xmlns:mc="http://schemas.openxmlformats.org/markup-compatibility/2006">
              <mc:Choice xmlns:v="urn:schemas-microsoft-com:vml" Requires="v">
                <p:oleObj spid="_x0000_s9782" name="Equation" r:id="rId11" imgW="152280" imgH="228600" progId="Equation.DSMT4">
                  <p:embed/>
                </p:oleObj>
              </mc:Choice>
              <mc:Fallback>
                <p:oleObj name="Equation" r:id="rId11" imgW="152280" imgH="228600" progId="Equation.DSMT4">
                  <p:embed/>
                  <p:pic>
                    <p:nvPicPr>
                      <p:cNvPr id="0" name=""/>
                      <p:cNvPicPr/>
                      <p:nvPr/>
                    </p:nvPicPr>
                    <p:blipFill>
                      <a:blip r:embed="rId12"/>
                      <a:stretch>
                        <a:fillRect/>
                      </a:stretch>
                    </p:blipFill>
                    <p:spPr>
                      <a:xfrm>
                        <a:off x="5249863" y="4114800"/>
                        <a:ext cx="327025" cy="488950"/>
                      </a:xfrm>
                      <a:prstGeom prst="rect">
                        <a:avLst/>
                      </a:prstGeom>
                    </p:spPr>
                  </p:pic>
                </p:oleObj>
              </mc:Fallback>
            </mc:AlternateContent>
          </a:graphicData>
        </a:graphic>
      </p:graphicFrame>
      <p:graphicFrame>
        <p:nvGraphicFramePr>
          <p:cNvPr id="18" name="对象 17"/>
          <p:cNvGraphicFramePr>
            <a:graphicFrameLocks noChangeAspect="1"/>
          </p:cNvGraphicFramePr>
          <p:nvPr>
            <p:extLst>
              <p:ext uri="{D42A27DB-BD31-4B8C-83A1-F6EECF244321}">
                <p14:modId xmlns:p14="http://schemas.microsoft.com/office/powerpoint/2010/main" val="51915031"/>
              </p:ext>
            </p:extLst>
          </p:nvPr>
        </p:nvGraphicFramePr>
        <p:xfrm>
          <a:off x="4446588" y="4462463"/>
          <a:ext cx="325437" cy="488950"/>
        </p:xfrm>
        <a:graphic>
          <a:graphicData uri="http://schemas.openxmlformats.org/presentationml/2006/ole">
            <mc:AlternateContent xmlns:mc="http://schemas.openxmlformats.org/markup-compatibility/2006">
              <mc:Choice xmlns:v="urn:schemas-microsoft-com:vml" Requires="v">
                <p:oleObj spid="_x0000_s9783" name="Equation" r:id="rId13" imgW="152280" imgH="228600" progId="Equation.DSMT4">
                  <p:embed/>
                </p:oleObj>
              </mc:Choice>
              <mc:Fallback>
                <p:oleObj name="Equation" r:id="rId13" imgW="152280" imgH="228600" progId="Equation.DSMT4">
                  <p:embed/>
                  <p:pic>
                    <p:nvPicPr>
                      <p:cNvPr id="0" name=""/>
                      <p:cNvPicPr/>
                      <p:nvPr/>
                    </p:nvPicPr>
                    <p:blipFill>
                      <a:blip r:embed="rId14"/>
                      <a:stretch>
                        <a:fillRect/>
                      </a:stretch>
                    </p:blipFill>
                    <p:spPr>
                      <a:xfrm>
                        <a:off x="4446588" y="4462463"/>
                        <a:ext cx="325437" cy="488950"/>
                      </a:xfrm>
                      <a:prstGeom prst="rect">
                        <a:avLst/>
                      </a:prstGeom>
                    </p:spPr>
                  </p:pic>
                </p:oleObj>
              </mc:Fallback>
            </mc:AlternateContent>
          </a:graphicData>
        </a:graphic>
      </p:graphicFrame>
      <p:graphicFrame>
        <p:nvGraphicFramePr>
          <p:cNvPr id="19" name="对象 18"/>
          <p:cNvGraphicFramePr>
            <a:graphicFrameLocks noChangeAspect="1"/>
          </p:cNvGraphicFramePr>
          <p:nvPr>
            <p:extLst>
              <p:ext uri="{D42A27DB-BD31-4B8C-83A1-F6EECF244321}">
                <p14:modId xmlns:p14="http://schemas.microsoft.com/office/powerpoint/2010/main" val="1328437124"/>
              </p:ext>
            </p:extLst>
          </p:nvPr>
        </p:nvGraphicFramePr>
        <p:xfrm>
          <a:off x="7315200" y="3180292"/>
          <a:ext cx="298450" cy="488373"/>
        </p:xfrm>
        <a:graphic>
          <a:graphicData uri="http://schemas.openxmlformats.org/presentationml/2006/ole">
            <mc:AlternateContent xmlns:mc="http://schemas.openxmlformats.org/markup-compatibility/2006">
              <mc:Choice xmlns:v="urn:schemas-microsoft-com:vml" Requires="v">
                <p:oleObj spid="_x0000_s9784" name="Equation" r:id="rId15" imgW="139680" imgH="228600" progId="Equation.DSMT4">
                  <p:embed/>
                </p:oleObj>
              </mc:Choice>
              <mc:Fallback>
                <p:oleObj name="Equation" r:id="rId15" imgW="139680" imgH="228600" progId="Equation.DSMT4">
                  <p:embed/>
                  <p:pic>
                    <p:nvPicPr>
                      <p:cNvPr id="0" name=""/>
                      <p:cNvPicPr/>
                      <p:nvPr/>
                    </p:nvPicPr>
                    <p:blipFill>
                      <a:blip r:embed="rId5"/>
                      <a:stretch>
                        <a:fillRect/>
                      </a:stretch>
                    </p:blipFill>
                    <p:spPr>
                      <a:xfrm>
                        <a:off x="7315200" y="3180292"/>
                        <a:ext cx="298450" cy="488373"/>
                      </a:xfrm>
                      <a:prstGeom prst="rect">
                        <a:avLst/>
                      </a:prstGeom>
                    </p:spPr>
                  </p:pic>
                </p:oleObj>
              </mc:Fallback>
            </mc:AlternateContent>
          </a:graphicData>
        </a:graphic>
      </p:graphicFrame>
      <p:graphicFrame>
        <p:nvGraphicFramePr>
          <p:cNvPr id="20" name="对象 19"/>
          <p:cNvGraphicFramePr>
            <a:graphicFrameLocks noChangeAspect="1"/>
          </p:cNvGraphicFramePr>
          <p:nvPr>
            <p:extLst>
              <p:ext uri="{D42A27DB-BD31-4B8C-83A1-F6EECF244321}">
                <p14:modId xmlns:p14="http://schemas.microsoft.com/office/powerpoint/2010/main" val="1705080141"/>
              </p:ext>
            </p:extLst>
          </p:nvPr>
        </p:nvGraphicFramePr>
        <p:xfrm>
          <a:off x="7302500" y="3830638"/>
          <a:ext cx="325438" cy="488950"/>
        </p:xfrm>
        <a:graphic>
          <a:graphicData uri="http://schemas.openxmlformats.org/presentationml/2006/ole">
            <mc:AlternateContent xmlns:mc="http://schemas.openxmlformats.org/markup-compatibility/2006">
              <mc:Choice xmlns:v="urn:schemas-microsoft-com:vml" Requires="v">
                <p:oleObj spid="_x0000_s9785" name="Equation" r:id="rId16" imgW="152280" imgH="228600" progId="Equation.DSMT4">
                  <p:embed/>
                </p:oleObj>
              </mc:Choice>
              <mc:Fallback>
                <p:oleObj name="Equation" r:id="rId16" imgW="152280" imgH="228600" progId="Equation.DSMT4">
                  <p:embed/>
                  <p:pic>
                    <p:nvPicPr>
                      <p:cNvPr id="0" name=""/>
                      <p:cNvPicPr/>
                      <p:nvPr/>
                    </p:nvPicPr>
                    <p:blipFill>
                      <a:blip r:embed="rId17"/>
                      <a:stretch>
                        <a:fillRect/>
                      </a:stretch>
                    </p:blipFill>
                    <p:spPr>
                      <a:xfrm>
                        <a:off x="7302500" y="3830638"/>
                        <a:ext cx="325438" cy="488950"/>
                      </a:xfrm>
                      <a:prstGeom prst="rect">
                        <a:avLst/>
                      </a:prstGeom>
                    </p:spPr>
                  </p:pic>
                </p:oleObj>
              </mc:Fallback>
            </mc:AlternateContent>
          </a:graphicData>
        </a:graphic>
      </p:graphicFrame>
      <p:graphicFrame>
        <p:nvGraphicFramePr>
          <p:cNvPr id="21" name="对象 20"/>
          <p:cNvGraphicFramePr>
            <a:graphicFrameLocks noChangeAspect="1"/>
          </p:cNvGraphicFramePr>
          <p:nvPr>
            <p:extLst>
              <p:ext uri="{D42A27DB-BD31-4B8C-83A1-F6EECF244321}">
                <p14:modId xmlns:p14="http://schemas.microsoft.com/office/powerpoint/2010/main" val="1501693010"/>
              </p:ext>
            </p:extLst>
          </p:nvPr>
        </p:nvGraphicFramePr>
        <p:xfrm>
          <a:off x="7292975" y="4462463"/>
          <a:ext cx="327025" cy="488950"/>
        </p:xfrm>
        <a:graphic>
          <a:graphicData uri="http://schemas.openxmlformats.org/presentationml/2006/ole">
            <mc:AlternateContent xmlns:mc="http://schemas.openxmlformats.org/markup-compatibility/2006">
              <mc:Choice xmlns:v="urn:schemas-microsoft-com:vml" Requires="v">
                <p:oleObj spid="_x0000_s9786" name="Equation" r:id="rId18" imgW="152280" imgH="228600" progId="Equation.DSMT4">
                  <p:embed/>
                </p:oleObj>
              </mc:Choice>
              <mc:Fallback>
                <p:oleObj name="Equation" r:id="rId18" imgW="152280" imgH="228600" progId="Equation.DSMT4">
                  <p:embed/>
                  <p:pic>
                    <p:nvPicPr>
                      <p:cNvPr id="0" name=""/>
                      <p:cNvPicPr/>
                      <p:nvPr/>
                    </p:nvPicPr>
                    <p:blipFill>
                      <a:blip r:embed="rId19"/>
                      <a:stretch>
                        <a:fillRect/>
                      </a:stretch>
                    </p:blipFill>
                    <p:spPr>
                      <a:xfrm>
                        <a:off x="7292975" y="4462463"/>
                        <a:ext cx="327025" cy="488950"/>
                      </a:xfrm>
                      <a:prstGeom prst="rect">
                        <a:avLst/>
                      </a:prstGeom>
                    </p:spPr>
                  </p:pic>
                </p:oleObj>
              </mc:Fallback>
            </mc:AlternateContent>
          </a:graphicData>
        </a:graphic>
      </p:graphicFrame>
      <p:graphicFrame>
        <p:nvGraphicFramePr>
          <p:cNvPr id="22" name="对象 21"/>
          <p:cNvGraphicFramePr>
            <a:graphicFrameLocks noChangeAspect="1"/>
          </p:cNvGraphicFramePr>
          <p:nvPr>
            <p:extLst>
              <p:ext uri="{D42A27DB-BD31-4B8C-83A1-F6EECF244321}">
                <p14:modId xmlns:p14="http://schemas.microsoft.com/office/powerpoint/2010/main" val="1675547538"/>
              </p:ext>
            </p:extLst>
          </p:nvPr>
        </p:nvGraphicFramePr>
        <p:xfrm>
          <a:off x="8578850" y="4002088"/>
          <a:ext cx="325438" cy="487362"/>
        </p:xfrm>
        <a:graphic>
          <a:graphicData uri="http://schemas.openxmlformats.org/presentationml/2006/ole">
            <mc:AlternateContent xmlns:mc="http://schemas.openxmlformats.org/markup-compatibility/2006">
              <mc:Choice xmlns:v="urn:schemas-microsoft-com:vml" Requires="v">
                <p:oleObj spid="_x0000_s9787" name="Equation" r:id="rId20" imgW="152280" imgH="228600" progId="Equation.DSMT4">
                  <p:embed/>
                </p:oleObj>
              </mc:Choice>
              <mc:Fallback>
                <p:oleObj name="Equation" r:id="rId20" imgW="152280" imgH="228600" progId="Equation.DSMT4">
                  <p:embed/>
                  <p:pic>
                    <p:nvPicPr>
                      <p:cNvPr id="0" name=""/>
                      <p:cNvPicPr/>
                      <p:nvPr/>
                    </p:nvPicPr>
                    <p:blipFill>
                      <a:blip r:embed="rId21"/>
                      <a:stretch>
                        <a:fillRect/>
                      </a:stretch>
                    </p:blipFill>
                    <p:spPr>
                      <a:xfrm>
                        <a:off x="8578850" y="4002088"/>
                        <a:ext cx="325438" cy="487362"/>
                      </a:xfrm>
                      <a:prstGeom prst="rect">
                        <a:avLst/>
                      </a:prstGeom>
                    </p:spPr>
                  </p:pic>
                </p:oleObj>
              </mc:Fallback>
            </mc:AlternateContent>
          </a:graphicData>
        </a:graphic>
      </p:graphicFrame>
    </p:spTree>
    <p:extLst>
      <p:ext uri="{BB962C8B-B14F-4D97-AF65-F5344CB8AC3E}">
        <p14:creationId xmlns:p14="http://schemas.microsoft.com/office/powerpoint/2010/main" val="1676634379"/>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第</a:t>
            </a:r>
            <a:r>
              <a:rPr lang="en-US" altLang="zh-CN" dirty="0"/>
              <a:t>5</a:t>
            </a:r>
            <a:r>
              <a:rPr lang="en-US" altLang="zh-CN" dirty="0" smtClean="0"/>
              <a:t>.3</a:t>
            </a:r>
            <a:r>
              <a:rPr lang="zh-CN" altLang="en-US" dirty="0" smtClean="0"/>
              <a:t>节 图</a:t>
            </a:r>
            <a:r>
              <a:rPr lang="zh-CN" altLang="en-US" dirty="0"/>
              <a:t>的表示和图的同构</a:t>
            </a:r>
            <a:endParaRPr lang="en-US" dirty="0"/>
          </a:p>
        </p:txBody>
      </p:sp>
      <p:sp>
        <p:nvSpPr>
          <p:cNvPr id="3" name="Content Placeholder 2"/>
          <p:cNvSpPr>
            <a:spLocks noGrp="1"/>
          </p:cNvSpPr>
          <p:nvPr>
            <p:ph idx="1"/>
          </p:nvPr>
        </p:nvSpPr>
        <p:spPr/>
        <p:txBody>
          <a:bodyPr/>
          <a:lstStyle/>
          <a:p>
            <a:r>
              <a:rPr lang="zh-CN" altLang="en-US" dirty="0" smtClean="0"/>
              <a:t>邻接矩阵</a:t>
            </a:r>
            <a:endParaRPr lang="en-US" altLang="zh-CN" dirty="0" smtClean="0"/>
          </a:p>
          <a:p>
            <a:r>
              <a:rPr lang="zh-CN" altLang="en-US" dirty="0" smtClean="0"/>
              <a:t>关联矩阵</a:t>
            </a:r>
            <a:endParaRPr lang="en-US" altLang="zh-CN" dirty="0" smtClean="0"/>
          </a:p>
          <a:p>
            <a:r>
              <a:rPr lang="zh-CN" altLang="en-US" dirty="0" smtClean="0"/>
              <a:t>图的同构</a:t>
            </a:r>
            <a:endParaRPr lang="en-US" altLang="zh-CN" dirty="0" smtClean="0"/>
          </a:p>
          <a:p>
            <a:r>
              <a:rPr lang="zh-CN" altLang="en-US" dirty="0" smtClean="0"/>
              <a:t>判定两个简单图是否同构</a:t>
            </a:r>
            <a:endParaRPr lang="en-US" altLang="zh-CN" dirty="0" smtClean="0"/>
          </a:p>
        </p:txBody>
      </p:sp>
      <p:sp>
        <p:nvSpPr>
          <p:cNvPr id="6" name="日期占位符 5"/>
          <p:cNvSpPr>
            <a:spLocks noGrp="1"/>
          </p:cNvSpPr>
          <p:nvPr>
            <p:ph type="dt" sz="half" idx="10"/>
          </p:nvPr>
        </p:nvSpPr>
        <p:spPr/>
        <p:txBody>
          <a:bodyPr/>
          <a:lstStyle/>
          <a:p>
            <a:fld id="{3A5DC753-99E2-4F9E-B332-E8FAFD5922FE}" type="datetime1">
              <a:rPr lang="zh-CN" altLang="en-US" smtClean="0"/>
              <a:t>2025/4/15</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83</a:t>
            </a:fld>
            <a:endParaRPr lang="zh-CN" altLang="en-US" dirty="0"/>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图的表示</a:t>
            </a:r>
            <a:r>
              <a:rPr lang="en-US" altLang="zh-CN" dirty="0" smtClean="0"/>
              <a:t>: </a:t>
            </a:r>
            <a:r>
              <a:rPr lang="zh-CN" altLang="en-US" dirty="0" smtClean="0"/>
              <a:t>邻接表</a:t>
            </a:r>
            <a:endParaRPr lang="en-US" dirty="0"/>
          </a:p>
        </p:txBody>
      </p:sp>
      <p:sp>
        <p:nvSpPr>
          <p:cNvPr id="3" name="Content Placeholder 2"/>
          <p:cNvSpPr>
            <a:spLocks noGrp="1"/>
          </p:cNvSpPr>
          <p:nvPr>
            <p:ph idx="1"/>
          </p:nvPr>
        </p:nvSpPr>
        <p:spPr/>
        <p:txBody>
          <a:bodyPr/>
          <a:lstStyle/>
          <a:p>
            <a:r>
              <a:rPr lang="zh-CN" altLang="en-US" dirty="0" smtClean="0"/>
              <a:t>定义</a:t>
            </a:r>
            <a:r>
              <a:rPr lang="en-US" dirty="0" smtClean="0"/>
              <a:t>: </a:t>
            </a:r>
            <a:r>
              <a:rPr lang="zh-CN" altLang="en-US" b="1" dirty="0" smtClean="0">
                <a:solidFill>
                  <a:srgbClr val="C00000"/>
                </a:solidFill>
              </a:rPr>
              <a:t>邻接表</a:t>
            </a:r>
            <a:r>
              <a:rPr lang="zh-CN" altLang="en-US" dirty="0" smtClean="0"/>
              <a:t>可以用来表示不带多重边的图</a:t>
            </a:r>
            <a:r>
              <a:rPr lang="en-US" altLang="zh-CN" dirty="0" smtClean="0"/>
              <a:t>, </a:t>
            </a:r>
            <a:r>
              <a:rPr lang="zh-CN" altLang="en-US" dirty="0" smtClean="0"/>
              <a:t>它给出与图中每个顶点相邻的顶点</a:t>
            </a:r>
            <a:r>
              <a:rPr lang="en-US" altLang="zh-CN" dirty="0" smtClean="0"/>
              <a:t>.</a:t>
            </a:r>
            <a:endParaRPr lang="en-US" dirty="0" smtClean="0"/>
          </a:p>
          <a:p>
            <a:endParaRPr lang="en-US" dirty="0" smtClean="0"/>
          </a:p>
          <a:p>
            <a:endParaRPr lang="en-US" dirty="0" smtClean="0"/>
          </a:p>
          <a:p>
            <a:endParaRPr lang="en-US" dirty="0" smtClean="0"/>
          </a:p>
          <a:p>
            <a:endParaRPr lang="en-US" dirty="0" smtClean="0"/>
          </a:p>
          <a:p>
            <a:endParaRPr lang="en-US" dirty="0"/>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352800" y="1565459"/>
            <a:ext cx="2209800" cy="2063361"/>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486565" y="1621891"/>
            <a:ext cx="2285999" cy="1950496"/>
          </a:xfrm>
          <a:prstGeom prst="rect">
            <a:avLst/>
          </a:prstGeom>
        </p:spPr>
      </p:pic>
      <p:sp>
        <p:nvSpPr>
          <p:cNvPr id="12" name="日期占位符 11"/>
          <p:cNvSpPr>
            <a:spLocks noGrp="1"/>
          </p:cNvSpPr>
          <p:nvPr>
            <p:ph type="dt" sz="half" idx="10"/>
          </p:nvPr>
        </p:nvSpPr>
        <p:spPr/>
        <p:txBody>
          <a:bodyPr/>
          <a:lstStyle/>
          <a:p>
            <a:fld id="{1A48116E-6089-4B0A-BA62-2285235E40EC}" type="datetime1">
              <a:rPr lang="zh-CN" altLang="en-US" smtClean="0"/>
              <a:t>2025/4/15</a:t>
            </a:fld>
            <a:endParaRPr lang="zh-CN" altLang="en-US" dirty="0"/>
          </a:p>
        </p:txBody>
      </p:sp>
      <p:sp>
        <p:nvSpPr>
          <p:cNvPr id="13" name="页脚占位符 12"/>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14" name="灯片编号占位符 13"/>
          <p:cNvSpPr>
            <a:spLocks noGrp="1"/>
          </p:cNvSpPr>
          <p:nvPr>
            <p:ph type="sldNum" sz="quarter" idx="12"/>
          </p:nvPr>
        </p:nvSpPr>
        <p:spPr/>
        <p:txBody>
          <a:bodyPr/>
          <a:lstStyle/>
          <a:p>
            <a:fld id="{67913A8A-9EFB-4B5F-9CCB-3D21173FAA85}" type="slidenum">
              <a:rPr lang="zh-CN" altLang="en-US" smtClean="0"/>
              <a:pPr/>
              <a:t>84</a:t>
            </a:fld>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3586161114"/>
              </p:ext>
            </p:extLst>
          </p:nvPr>
        </p:nvGraphicFramePr>
        <p:xfrm>
          <a:off x="2894495" y="3801441"/>
          <a:ext cx="2514601" cy="2225040"/>
        </p:xfrm>
        <a:graphic>
          <a:graphicData uri="http://schemas.openxmlformats.org/drawingml/2006/table">
            <a:tbl>
              <a:tblPr firstRow="1" bandRow="1">
                <a:tableStyleId>{5C22544A-7EE6-4342-B048-85BDC9FD1C3A}</a:tableStyleId>
              </a:tblPr>
              <a:tblGrid>
                <a:gridCol w="646771">
                  <a:extLst>
                    <a:ext uri="{9D8B030D-6E8A-4147-A177-3AD203B41FA5}">
                      <a16:colId xmlns:a16="http://schemas.microsoft.com/office/drawing/2014/main" xmlns="" val="1285586478"/>
                    </a:ext>
                  </a:extLst>
                </a:gridCol>
                <a:gridCol w="1867830">
                  <a:extLst>
                    <a:ext uri="{9D8B030D-6E8A-4147-A177-3AD203B41FA5}">
                      <a16:colId xmlns:a16="http://schemas.microsoft.com/office/drawing/2014/main" xmlns="" val="3711823557"/>
                    </a:ext>
                  </a:extLst>
                </a:gridCol>
              </a:tblGrid>
              <a:tr h="370840">
                <a:tc>
                  <a:txBody>
                    <a:bodyPr/>
                    <a:lstStyle/>
                    <a:p>
                      <a:r>
                        <a:rPr lang="zh-CN" altLang="en-US" dirty="0" smtClean="0">
                          <a:latin typeface="微软雅黑" panose="020B0503020204020204" pitchFamily="34" charset="-122"/>
                          <a:ea typeface="微软雅黑" panose="020B0503020204020204" pitchFamily="34" charset="-122"/>
                        </a:rPr>
                        <a:t>顶点</a:t>
                      </a:r>
                      <a:endParaRPr lang="zh-CN" altLang="en-US" dirty="0">
                        <a:latin typeface="微软雅黑" panose="020B0503020204020204" pitchFamily="34" charset="-122"/>
                        <a:ea typeface="微软雅黑" panose="020B0503020204020204" pitchFamily="34" charset="-122"/>
                      </a:endParaRPr>
                    </a:p>
                  </a:txBody>
                  <a:tcPr/>
                </a:tc>
                <a:tc>
                  <a:txBody>
                    <a:bodyPr/>
                    <a:lstStyle/>
                    <a:p>
                      <a:r>
                        <a:rPr lang="zh-CN" altLang="en-US" dirty="0" smtClean="0">
                          <a:latin typeface="微软雅黑" panose="020B0503020204020204" pitchFamily="34" charset="-122"/>
                          <a:ea typeface="微软雅黑" panose="020B0503020204020204" pitchFamily="34" charset="-122"/>
                        </a:rPr>
                        <a:t>相邻顶点</a:t>
                      </a:r>
                      <a:endParaRPr lang="zh-CN" altLang="en-US"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xmlns="" val="61333938"/>
                  </a:ext>
                </a:extLst>
              </a:tr>
              <a:tr h="370840">
                <a:tc>
                  <a:txBody>
                    <a:bodyPr/>
                    <a:lstStyle/>
                    <a:p>
                      <a:r>
                        <a:rPr lang="en-US" altLang="zh-CN" dirty="0" smtClean="0">
                          <a:latin typeface="微软雅黑" panose="020B0503020204020204" pitchFamily="34" charset="-122"/>
                          <a:ea typeface="微软雅黑" panose="020B0503020204020204" pitchFamily="34" charset="-122"/>
                        </a:rPr>
                        <a:t>a</a:t>
                      </a:r>
                      <a:endParaRPr lang="zh-CN" altLang="en-US" dirty="0">
                        <a:latin typeface="微软雅黑" panose="020B0503020204020204" pitchFamily="34" charset="-122"/>
                        <a:ea typeface="微软雅黑" panose="020B0503020204020204" pitchFamily="34" charset="-122"/>
                      </a:endParaRPr>
                    </a:p>
                  </a:txBody>
                  <a:tcPr/>
                </a:tc>
                <a:tc>
                  <a:txBody>
                    <a:bodyPr/>
                    <a:lstStyle/>
                    <a:p>
                      <a:r>
                        <a:rPr lang="en-US" altLang="zh-CN" dirty="0" err="1" smtClean="0">
                          <a:latin typeface="微软雅黑" panose="020B0503020204020204" pitchFamily="34" charset="-122"/>
                          <a:ea typeface="微软雅黑" panose="020B0503020204020204" pitchFamily="34" charset="-122"/>
                        </a:rPr>
                        <a:t>b,c,e</a:t>
                      </a:r>
                      <a:endParaRPr lang="zh-CN" altLang="en-US"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xmlns="" val="2627506641"/>
                  </a:ext>
                </a:extLst>
              </a:tr>
              <a:tr h="370840">
                <a:tc>
                  <a:txBody>
                    <a:bodyPr/>
                    <a:lstStyle/>
                    <a:p>
                      <a:r>
                        <a:rPr lang="en-US" altLang="zh-CN" dirty="0" smtClean="0">
                          <a:latin typeface="微软雅黑" panose="020B0503020204020204" pitchFamily="34" charset="-122"/>
                          <a:ea typeface="微软雅黑" panose="020B0503020204020204" pitchFamily="34" charset="-122"/>
                        </a:rPr>
                        <a:t>b</a:t>
                      </a:r>
                      <a:endParaRPr lang="zh-CN" altLang="en-US" dirty="0">
                        <a:latin typeface="微软雅黑" panose="020B0503020204020204" pitchFamily="34" charset="-122"/>
                        <a:ea typeface="微软雅黑" panose="020B0503020204020204" pitchFamily="34" charset="-122"/>
                      </a:endParaRPr>
                    </a:p>
                  </a:txBody>
                  <a:tcPr/>
                </a:tc>
                <a:tc>
                  <a:txBody>
                    <a:bodyPr/>
                    <a:lstStyle/>
                    <a:p>
                      <a:r>
                        <a:rPr lang="en-US" altLang="zh-CN" dirty="0" smtClean="0">
                          <a:latin typeface="微软雅黑" panose="020B0503020204020204" pitchFamily="34" charset="-122"/>
                          <a:ea typeface="微软雅黑" panose="020B0503020204020204" pitchFamily="34" charset="-122"/>
                        </a:rPr>
                        <a:t>a</a:t>
                      </a:r>
                      <a:endParaRPr lang="zh-CN" altLang="en-US"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xmlns="" val="3169715607"/>
                  </a:ext>
                </a:extLst>
              </a:tr>
              <a:tr h="370840">
                <a:tc>
                  <a:txBody>
                    <a:bodyPr/>
                    <a:lstStyle/>
                    <a:p>
                      <a:r>
                        <a:rPr lang="en-US" altLang="zh-CN" dirty="0" smtClean="0">
                          <a:latin typeface="微软雅黑" panose="020B0503020204020204" pitchFamily="34" charset="-122"/>
                          <a:ea typeface="微软雅黑" panose="020B0503020204020204" pitchFamily="34" charset="-122"/>
                        </a:rPr>
                        <a:t>c</a:t>
                      </a:r>
                      <a:endParaRPr lang="zh-CN" altLang="en-US" dirty="0">
                        <a:latin typeface="微软雅黑" panose="020B0503020204020204" pitchFamily="34" charset="-122"/>
                        <a:ea typeface="微软雅黑" panose="020B0503020204020204" pitchFamily="34" charset="-122"/>
                      </a:endParaRPr>
                    </a:p>
                  </a:txBody>
                  <a:tcPr/>
                </a:tc>
                <a:tc>
                  <a:txBody>
                    <a:bodyPr/>
                    <a:lstStyle/>
                    <a:p>
                      <a:r>
                        <a:rPr lang="en-US" altLang="zh-CN" dirty="0" err="1" smtClean="0">
                          <a:latin typeface="微软雅黑" panose="020B0503020204020204" pitchFamily="34" charset="-122"/>
                          <a:ea typeface="微软雅黑" panose="020B0503020204020204" pitchFamily="34" charset="-122"/>
                        </a:rPr>
                        <a:t>a,d,e</a:t>
                      </a:r>
                      <a:endParaRPr lang="zh-CN" altLang="en-US"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xmlns="" val="1574033955"/>
                  </a:ext>
                </a:extLst>
              </a:tr>
              <a:tr h="370840">
                <a:tc>
                  <a:txBody>
                    <a:bodyPr/>
                    <a:lstStyle/>
                    <a:p>
                      <a:r>
                        <a:rPr lang="en-US" altLang="zh-CN" dirty="0" smtClean="0">
                          <a:latin typeface="微软雅黑" panose="020B0503020204020204" pitchFamily="34" charset="-122"/>
                          <a:ea typeface="微软雅黑" panose="020B0503020204020204" pitchFamily="34" charset="-122"/>
                        </a:rPr>
                        <a:t>d</a:t>
                      </a:r>
                      <a:endParaRPr lang="zh-CN" altLang="en-US" dirty="0">
                        <a:latin typeface="微软雅黑" panose="020B0503020204020204" pitchFamily="34" charset="-122"/>
                        <a:ea typeface="微软雅黑" panose="020B0503020204020204" pitchFamily="34" charset="-122"/>
                      </a:endParaRPr>
                    </a:p>
                  </a:txBody>
                  <a:tcPr/>
                </a:tc>
                <a:tc>
                  <a:txBody>
                    <a:bodyPr/>
                    <a:lstStyle/>
                    <a:p>
                      <a:r>
                        <a:rPr lang="en-US" altLang="zh-CN" dirty="0" err="1" smtClean="0">
                          <a:latin typeface="微软雅黑" panose="020B0503020204020204" pitchFamily="34" charset="-122"/>
                          <a:ea typeface="微软雅黑" panose="020B0503020204020204" pitchFamily="34" charset="-122"/>
                        </a:rPr>
                        <a:t>c,e</a:t>
                      </a:r>
                      <a:endParaRPr lang="zh-CN" altLang="en-US"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xmlns="" val="2944547529"/>
                  </a:ext>
                </a:extLst>
              </a:tr>
              <a:tr h="370840">
                <a:tc>
                  <a:txBody>
                    <a:bodyPr/>
                    <a:lstStyle/>
                    <a:p>
                      <a:r>
                        <a:rPr lang="en-US" altLang="zh-CN" dirty="0" smtClean="0">
                          <a:latin typeface="微软雅黑" panose="020B0503020204020204" pitchFamily="34" charset="-122"/>
                          <a:ea typeface="微软雅黑" panose="020B0503020204020204" pitchFamily="34" charset="-122"/>
                        </a:rPr>
                        <a:t>e</a:t>
                      </a:r>
                      <a:endParaRPr lang="zh-CN" altLang="en-US" dirty="0">
                        <a:latin typeface="微软雅黑" panose="020B0503020204020204" pitchFamily="34" charset="-122"/>
                        <a:ea typeface="微软雅黑" panose="020B0503020204020204" pitchFamily="34" charset="-122"/>
                      </a:endParaRPr>
                    </a:p>
                  </a:txBody>
                  <a:tcPr/>
                </a:tc>
                <a:tc>
                  <a:txBody>
                    <a:bodyPr/>
                    <a:lstStyle/>
                    <a:p>
                      <a:r>
                        <a:rPr lang="en-US" altLang="zh-CN" dirty="0" err="1" smtClean="0">
                          <a:latin typeface="微软雅黑" panose="020B0503020204020204" pitchFamily="34" charset="-122"/>
                          <a:ea typeface="微软雅黑" panose="020B0503020204020204" pitchFamily="34" charset="-122"/>
                        </a:rPr>
                        <a:t>a,c,d</a:t>
                      </a:r>
                      <a:endParaRPr lang="zh-CN" altLang="en-US"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xmlns="" val="1161435827"/>
                  </a:ext>
                </a:extLst>
              </a:tr>
            </a:tbl>
          </a:graphicData>
        </a:graphic>
      </p:graphicFrame>
      <p:graphicFrame>
        <p:nvGraphicFramePr>
          <p:cNvPr id="15" name="表格 14"/>
          <p:cNvGraphicFramePr>
            <a:graphicFrameLocks noGrp="1"/>
          </p:cNvGraphicFramePr>
          <p:nvPr>
            <p:extLst>
              <p:ext uri="{D42A27DB-BD31-4B8C-83A1-F6EECF244321}">
                <p14:modId xmlns:p14="http://schemas.microsoft.com/office/powerpoint/2010/main" val="1158605009"/>
              </p:ext>
            </p:extLst>
          </p:nvPr>
        </p:nvGraphicFramePr>
        <p:xfrm>
          <a:off x="7429499" y="3801441"/>
          <a:ext cx="2514601" cy="2225040"/>
        </p:xfrm>
        <a:graphic>
          <a:graphicData uri="http://schemas.openxmlformats.org/drawingml/2006/table">
            <a:tbl>
              <a:tblPr firstRow="1" bandRow="1">
                <a:tableStyleId>{5C22544A-7EE6-4342-B048-85BDC9FD1C3A}</a:tableStyleId>
              </a:tblPr>
              <a:tblGrid>
                <a:gridCol w="646771">
                  <a:extLst>
                    <a:ext uri="{9D8B030D-6E8A-4147-A177-3AD203B41FA5}">
                      <a16:colId xmlns:a16="http://schemas.microsoft.com/office/drawing/2014/main" xmlns="" val="1285586478"/>
                    </a:ext>
                  </a:extLst>
                </a:gridCol>
                <a:gridCol w="1867830">
                  <a:extLst>
                    <a:ext uri="{9D8B030D-6E8A-4147-A177-3AD203B41FA5}">
                      <a16:colId xmlns:a16="http://schemas.microsoft.com/office/drawing/2014/main" xmlns="" val="3711823557"/>
                    </a:ext>
                  </a:extLst>
                </a:gridCol>
              </a:tblGrid>
              <a:tr h="370840">
                <a:tc>
                  <a:txBody>
                    <a:bodyPr/>
                    <a:lstStyle/>
                    <a:p>
                      <a:r>
                        <a:rPr lang="zh-CN" altLang="en-US" dirty="0" smtClean="0">
                          <a:latin typeface="微软雅黑" panose="020B0503020204020204" pitchFamily="34" charset="-122"/>
                          <a:ea typeface="微软雅黑" panose="020B0503020204020204" pitchFamily="34" charset="-122"/>
                        </a:rPr>
                        <a:t>起点</a:t>
                      </a:r>
                      <a:endParaRPr lang="zh-CN" altLang="en-US" dirty="0">
                        <a:latin typeface="微软雅黑" panose="020B0503020204020204" pitchFamily="34" charset="-122"/>
                        <a:ea typeface="微软雅黑" panose="020B0503020204020204" pitchFamily="34" charset="-122"/>
                      </a:endParaRPr>
                    </a:p>
                  </a:txBody>
                  <a:tcPr/>
                </a:tc>
                <a:tc>
                  <a:txBody>
                    <a:bodyPr/>
                    <a:lstStyle/>
                    <a:p>
                      <a:r>
                        <a:rPr lang="zh-CN" altLang="en-US" dirty="0" smtClean="0">
                          <a:latin typeface="微软雅黑" panose="020B0503020204020204" pitchFamily="34" charset="-122"/>
                          <a:ea typeface="微软雅黑" panose="020B0503020204020204" pitchFamily="34" charset="-122"/>
                        </a:rPr>
                        <a:t>终点</a:t>
                      </a:r>
                      <a:endParaRPr lang="zh-CN" altLang="en-US"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xmlns="" val="61333938"/>
                  </a:ext>
                </a:extLst>
              </a:tr>
              <a:tr h="370840">
                <a:tc>
                  <a:txBody>
                    <a:bodyPr/>
                    <a:lstStyle/>
                    <a:p>
                      <a:r>
                        <a:rPr lang="en-US" altLang="zh-CN" dirty="0" smtClean="0">
                          <a:latin typeface="微软雅黑" panose="020B0503020204020204" pitchFamily="34" charset="-122"/>
                          <a:ea typeface="微软雅黑" panose="020B0503020204020204" pitchFamily="34" charset="-122"/>
                        </a:rPr>
                        <a:t>a</a:t>
                      </a:r>
                      <a:endParaRPr lang="zh-CN" altLang="en-US" dirty="0">
                        <a:latin typeface="微软雅黑" panose="020B0503020204020204" pitchFamily="34" charset="-122"/>
                        <a:ea typeface="微软雅黑" panose="020B0503020204020204" pitchFamily="34" charset="-122"/>
                      </a:endParaRPr>
                    </a:p>
                  </a:txBody>
                  <a:tcPr/>
                </a:tc>
                <a:tc>
                  <a:txBody>
                    <a:bodyPr/>
                    <a:lstStyle/>
                    <a:p>
                      <a:r>
                        <a:rPr lang="en-US" altLang="zh-CN" dirty="0" err="1" smtClean="0">
                          <a:latin typeface="微软雅黑" panose="020B0503020204020204" pitchFamily="34" charset="-122"/>
                          <a:ea typeface="微软雅黑" panose="020B0503020204020204" pitchFamily="34" charset="-122"/>
                        </a:rPr>
                        <a:t>b,c,d,e</a:t>
                      </a:r>
                      <a:endParaRPr lang="zh-CN" altLang="en-US"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xmlns="" val="2627506641"/>
                  </a:ext>
                </a:extLst>
              </a:tr>
              <a:tr h="370840">
                <a:tc>
                  <a:txBody>
                    <a:bodyPr/>
                    <a:lstStyle/>
                    <a:p>
                      <a:r>
                        <a:rPr lang="en-US" altLang="zh-CN" dirty="0" smtClean="0">
                          <a:latin typeface="微软雅黑" panose="020B0503020204020204" pitchFamily="34" charset="-122"/>
                          <a:ea typeface="微软雅黑" panose="020B0503020204020204" pitchFamily="34" charset="-122"/>
                        </a:rPr>
                        <a:t>b</a:t>
                      </a:r>
                      <a:endParaRPr lang="zh-CN" altLang="en-US" dirty="0">
                        <a:latin typeface="微软雅黑" panose="020B0503020204020204" pitchFamily="34" charset="-122"/>
                        <a:ea typeface="微软雅黑" panose="020B0503020204020204" pitchFamily="34" charset="-122"/>
                      </a:endParaRPr>
                    </a:p>
                  </a:txBody>
                  <a:tcPr/>
                </a:tc>
                <a:tc>
                  <a:txBody>
                    <a:bodyPr/>
                    <a:lstStyle/>
                    <a:p>
                      <a:r>
                        <a:rPr lang="en-US" altLang="zh-CN" dirty="0" err="1" smtClean="0">
                          <a:latin typeface="微软雅黑" panose="020B0503020204020204" pitchFamily="34" charset="-122"/>
                          <a:ea typeface="微软雅黑" panose="020B0503020204020204" pitchFamily="34" charset="-122"/>
                        </a:rPr>
                        <a:t>b,d</a:t>
                      </a:r>
                      <a:endParaRPr lang="zh-CN" altLang="en-US"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xmlns="" val="3169715607"/>
                  </a:ext>
                </a:extLst>
              </a:tr>
              <a:tr h="370840">
                <a:tc>
                  <a:txBody>
                    <a:bodyPr/>
                    <a:lstStyle/>
                    <a:p>
                      <a:r>
                        <a:rPr lang="en-US" altLang="zh-CN" dirty="0" smtClean="0">
                          <a:latin typeface="微软雅黑" panose="020B0503020204020204" pitchFamily="34" charset="-122"/>
                          <a:ea typeface="微软雅黑" panose="020B0503020204020204" pitchFamily="34" charset="-122"/>
                        </a:rPr>
                        <a:t>c</a:t>
                      </a:r>
                      <a:endParaRPr lang="zh-CN" altLang="en-US" dirty="0">
                        <a:latin typeface="微软雅黑" panose="020B0503020204020204" pitchFamily="34" charset="-122"/>
                        <a:ea typeface="微软雅黑" panose="020B0503020204020204" pitchFamily="34" charset="-122"/>
                      </a:endParaRPr>
                    </a:p>
                  </a:txBody>
                  <a:tcPr/>
                </a:tc>
                <a:tc>
                  <a:txBody>
                    <a:bodyPr/>
                    <a:lstStyle/>
                    <a:p>
                      <a:r>
                        <a:rPr lang="en-US" altLang="zh-CN" dirty="0" err="1" smtClean="0">
                          <a:latin typeface="微软雅黑" panose="020B0503020204020204" pitchFamily="34" charset="-122"/>
                          <a:ea typeface="微软雅黑" panose="020B0503020204020204" pitchFamily="34" charset="-122"/>
                        </a:rPr>
                        <a:t>a,c,e</a:t>
                      </a:r>
                      <a:endParaRPr lang="zh-CN" altLang="en-US"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xmlns="" val="1574033955"/>
                  </a:ext>
                </a:extLst>
              </a:tr>
              <a:tr h="370840">
                <a:tc>
                  <a:txBody>
                    <a:bodyPr/>
                    <a:lstStyle/>
                    <a:p>
                      <a:r>
                        <a:rPr lang="en-US" altLang="zh-CN" dirty="0" smtClean="0">
                          <a:latin typeface="微软雅黑" panose="020B0503020204020204" pitchFamily="34" charset="-122"/>
                          <a:ea typeface="微软雅黑" panose="020B0503020204020204" pitchFamily="34" charset="-122"/>
                        </a:rPr>
                        <a:t>d</a:t>
                      </a:r>
                      <a:endParaRPr lang="zh-CN" altLang="en-US" dirty="0">
                        <a:latin typeface="微软雅黑" panose="020B0503020204020204" pitchFamily="34" charset="-122"/>
                        <a:ea typeface="微软雅黑" panose="020B0503020204020204" pitchFamily="34" charset="-122"/>
                      </a:endParaRPr>
                    </a:p>
                  </a:txBody>
                  <a:tcPr/>
                </a:tc>
                <a:tc>
                  <a:txBody>
                    <a:bodyPr/>
                    <a:lstStyle/>
                    <a:p>
                      <a:endParaRPr lang="zh-CN" altLang="en-US"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xmlns="" val="2944547529"/>
                  </a:ext>
                </a:extLst>
              </a:tr>
              <a:tr h="370840">
                <a:tc>
                  <a:txBody>
                    <a:bodyPr/>
                    <a:lstStyle/>
                    <a:p>
                      <a:r>
                        <a:rPr lang="en-US" altLang="zh-CN" dirty="0" smtClean="0">
                          <a:latin typeface="微软雅黑" panose="020B0503020204020204" pitchFamily="34" charset="-122"/>
                          <a:ea typeface="微软雅黑" panose="020B0503020204020204" pitchFamily="34" charset="-122"/>
                        </a:rPr>
                        <a:t>e</a:t>
                      </a:r>
                      <a:endParaRPr lang="zh-CN" altLang="en-US" dirty="0">
                        <a:latin typeface="微软雅黑" panose="020B0503020204020204" pitchFamily="34" charset="-122"/>
                        <a:ea typeface="微软雅黑" panose="020B0503020204020204" pitchFamily="34" charset="-122"/>
                      </a:endParaRPr>
                    </a:p>
                  </a:txBody>
                  <a:tcPr/>
                </a:tc>
                <a:tc>
                  <a:txBody>
                    <a:bodyPr/>
                    <a:lstStyle/>
                    <a:p>
                      <a:r>
                        <a:rPr lang="en-US" altLang="zh-CN" dirty="0" err="1" smtClean="0">
                          <a:latin typeface="微软雅黑" panose="020B0503020204020204" pitchFamily="34" charset="-122"/>
                          <a:ea typeface="微软雅黑" panose="020B0503020204020204" pitchFamily="34" charset="-122"/>
                        </a:rPr>
                        <a:t>b,c,d</a:t>
                      </a:r>
                      <a:endParaRPr lang="zh-CN" altLang="en-US"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xmlns="" val="1161435827"/>
                  </a:ext>
                </a:extLst>
              </a:tr>
            </a:tbl>
          </a:graphicData>
        </a:graphic>
      </p:graphicFrame>
    </p:spTree>
    <p:extLst>
      <p:ext uri="{BB962C8B-B14F-4D97-AF65-F5344CB8AC3E}">
        <p14:creationId xmlns:p14="http://schemas.microsoft.com/office/powerpoint/2010/main" val="2450788592"/>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57200" y="1143000"/>
            <a:ext cx="11277599" cy="13716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smtClean="0"/>
              <a:t>图的表示</a:t>
            </a:r>
            <a:r>
              <a:rPr lang="en-US" altLang="zh-CN" dirty="0" smtClean="0"/>
              <a:t>: </a:t>
            </a:r>
            <a:r>
              <a:rPr lang="zh-CN" altLang="en-US" dirty="0" smtClean="0"/>
              <a:t>邻接矩阵</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smtClean="0"/>
                  <a:t>定义</a:t>
                </a:r>
                <a:r>
                  <a:rPr lang="en-US" altLang="zh-CN" dirty="0" smtClean="0"/>
                  <a:t>: </a:t>
                </a:r>
                <a:r>
                  <a:rPr lang="zh-CN" altLang="en-US" dirty="0" smtClean="0"/>
                  <a:t>设</a:t>
                </a:r>
                <a:r>
                  <a:rPr lang="en-US" dirty="0" smtClean="0"/>
                  <a:t>G=(V, E)</a:t>
                </a:r>
                <a:r>
                  <a:rPr lang="zh-CN" altLang="en-US" dirty="0" smtClean="0"/>
                  <a:t>是</a:t>
                </a:r>
                <a:r>
                  <a:rPr lang="zh-CN" altLang="en-US" b="1" dirty="0" smtClean="0"/>
                  <a:t>简单图</a:t>
                </a:r>
                <a:r>
                  <a:rPr lang="en-US" altLang="zh-CN" dirty="0" smtClean="0"/>
                  <a:t>, </a:t>
                </a:r>
                <a:r>
                  <a:rPr lang="zh-CN" altLang="en-US" dirty="0" smtClean="0"/>
                  <a:t>其中</a:t>
                </a:r>
                <a:r>
                  <a:rPr lang="en-US" dirty="0" smtClean="0"/>
                  <a:t>|V|= n. </a:t>
                </a:r>
                <a:r>
                  <a:rPr lang="zh-CN" altLang="en-US" dirty="0" smtClean="0"/>
                  <a:t>把</a:t>
                </a:r>
                <a:r>
                  <a:rPr lang="en-US" altLang="zh-CN" dirty="0" smtClean="0"/>
                  <a:t>G</a:t>
                </a:r>
                <a:r>
                  <a:rPr lang="zh-CN" altLang="en-US" dirty="0" smtClean="0"/>
                  <a:t>中的顶点任意排列成为</a:t>
                </a:r>
                <a14:m>
                  <m:oMath xmlns:m="http://schemas.openxmlformats.org/officeDocument/2006/math">
                    <m:sSub>
                      <m:sSubPr>
                        <m:ctrlPr>
                          <a:rPr lang="en-US" altLang="zh-CN" i="1" smtClean="0">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b="0" i="1" smtClean="0">
                            <a:latin typeface="Cambria Math" panose="02040503050406030204" pitchFamily="18" charset="0"/>
                          </a:rPr>
                          <m:t>1</m:t>
                        </m:r>
                      </m:sub>
                    </m:sSub>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b="0" i="1" smtClean="0">
                            <a:latin typeface="Cambria Math" panose="02040503050406030204" pitchFamily="18" charset="0"/>
                          </a:rPr>
                          <m:t>2</m:t>
                        </m:r>
                      </m:sub>
                    </m:sSub>
                  </m:oMath>
                </a14:m>
                <a:r>
                  <a:rPr lang="en-US" dirty="0" smtClean="0"/>
                  <a:t>, …,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b="0" i="1" smtClean="0">
                            <a:latin typeface="Cambria Math" panose="02040503050406030204" pitchFamily="18" charset="0"/>
                          </a:rPr>
                          <m:t>𝑛</m:t>
                        </m:r>
                      </m:sub>
                    </m:sSub>
                  </m:oMath>
                </a14:m>
                <a:r>
                  <a:rPr lang="en-US" dirty="0" smtClean="0"/>
                  <a:t>. </a:t>
                </a:r>
                <a:r>
                  <a:rPr lang="en-US" altLang="zh-CN" dirty="0" smtClean="0"/>
                  <a:t>G</a:t>
                </a:r>
                <a:r>
                  <a:rPr lang="zh-CN" altLang="en-US" dirty="0" smtClean="0"/>
                  <a:t>的</a:t>
                </a:r>
                <a:r>
                  <a:rPr lang="zh-CN" altLang="en-US" b="1" dirty="0" smtClean="0">
                    <a:solidFill>
                      <a:srgbClr val="C00000"/>
                    </a:solidFill>
                  </a:rPr>
                  <a:t>邻接矩阵</a:t>
                </a:r>
                <a:r>
                  <a:rPr lang="en-US" altLang="zh-CN" dirty="0" smtClean="0"/>
                  <a:t>A(</a:t>
                </a:r>
                <a:r>
                  <a:rPr lang="zh-CN" altLang="en-US" dirty="0" smtClean="0"/>
                  <a:t>或</a:t>
                </a:r>
                <a14:m>
                  <m:oMath xmlns:m="http://schemas.openxmlformats.org/officeDocument/2006/math">
                    <m:sSub>
                      <m:sSubPr>
                        <m:ctrlPr>
                          <a:rPr lang="en-US" altLang="zh-CN" i="1" smtClean="0">
                            <a:latin typeface="Cambria Math" panose="02040503050406030204" pitchFamily="18" charset="0"/>
                          </a:rPr>
                        </m:ctrlPr>
                      </m:sSubPr>
                      <m:e>
                        <m:r>
                          <m:rPr>
                            <m:sty m:val="p"/>
                          </m:rPr>
                          <a:rPr lang="en-US" altLang="zh-CN">
                            <a:latin typeface="Cambria Math" panose="02040503050406030204" pitchFamily="18" charset="0"/>
                          </a:rPr>
                          <m:t>A</m:t>
                        </m:r>
                      </m:e>
                      <m:sub>
                        <m:r>
                          <a:rPr lang="en-US" altLang="zh-CN" smtClean="0">
                            <a:latin typeface="Cambria Math" panose="02040503050406030204" pitchFamily="18" charset="0"/>
                          </a:rPr>
                          <m:t>𝐺</m:t>
                        </m:r>
                      </m:sub>
                    </m:sSub>
                  </m:oMath>
                </a14:m>
                <a:r>
                  <a:rPr lang="en-US" altLang="zh-CN" dirty="0" smtClean="0"/>
                  <a:t>)</a:t>
                </a:r>
                <a:r>
                  <a:rPr lang="zh-CN" altLang="en-US" dirty="0" smtClean="0"/>
                  <a:t>是一个</a:t>
                </a:r>
                <a:r>
                  <a:rPr lang="en-US" dirty="0" smtClean="0"/>
                  <a:t>n × n </a:t>
                </a:r>
                <a:r>
                  <a:rPr lang="zh-CN" altLang="en-US" dirty="0" smtClean="0"/>
                  <a:t>的</a:t>
                </a:r>
                <a:r>
                  <a:rPr lang="en-US" altLang="zh-CN" dirty="0" smtClean="0"/>
                  <a:t>0-1</a:t>
                </a:r>
                <a:r>
                  <a:rPr lang="zh-CN" altLang="en-US" dirty="0" smtClean="0"/>
                  <a:t>矩阵</a:t>
                </a:r>
                <a:r>
                  <a:rPr lang="en-US" altLang="zh-CN" dirty="0" smtClean="0"/>
                  <a:t>, </a:t>
                </a:r>
                <a:r>
                  <a:rPr lang="zh-CN" altLang="en-US" dirty="0" smtClean="0"/>
                  <a:t>它满足</a:t>
                </a:r>
                <a:r>
                  <a:rPr lang="en-US" altLang="zh-CN" dirty="0" smtClean="0"/>
                  <a:t>: </a:t>
                </a:r>
                <a:r>
                  <a:rPr lang="zh-CN" altLang="en-US" dirty="0" smtClean="0"/>
                  <a:t>当</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b="0" i="1" smtClean="0">
                            <a:latin typeface="Cambria Math" panose="02040503050406030204" pitchFamily="18" charset="0"/>
                          </a:rPr>
                          <m:t>𝑖</m:t>
                        </m:r>
                      </m:sub>
                    </m:sSub>
                  </m:oMath>
                </a14:m>
                <a:r>
                  <a:rPr lang="en-US" altLang="zh-CN" dirty="0" smtClean="0"/>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b="0" i="1" smtClean="0">
                            <a:latin typeface="Cambria Math" panose="02040503050406030204" pitchFamily="18" charset="0"/>
                          </a:rPr>
                          <m:t>𝑗</m:t>
                        </m:r>
                      </m:sub>
                    </m:sSub>
                  </m:oMath>
                </a14:m>
                <a:r>
                  <a:rPr lang="zh-CN" altLang="en-US" dirty="0" smtClean="0"/>
                  <a:t>相邻时</a:t>
                </a:r>
                <a:r>
                  <a:rPr lang="en-US" altLang="zh-CN" dirty="0" smtClean="0"/>
                  <a:t>, </a:t>
                </a:r>
                <a:r>
                  <a:rPr lang="zh-CN" altLang="en-US" dirty="0" smtClean="0"/>
                  <a:t>第</a:t>
                </a:r>
                <a:r>
                  <a:rPr lang="en-US" dirty="0" smtClean="0"/>
                  <a:t> (</a:t>
                </a:r>
                <a:r>
                  <a:rPr lang="en-US" dirty="0" err="1" smtClean="0"/>
                  <a:t>i</a:t>
                </a:r>
                <a:r>
                  <a:rPr lang="en-US" dirty="0" smtClean="0"/>
                  <a:t>, j)</a:t>
                </a:r>
                <a:r>
                  <a:rPr lang="zh-CN" altLang="en-US" dirty="0" smtClean="0"/>
                  <a:t>项为</a:t>
                </a:r>
                <a:r>
                  <a:rPr lang="en-US" altLang="zh-CN" dirty="0" smtClean="0"/>
                  <a:t>1; </a:t>
                </a:r>
                <a:r>
                  <a:rPr lang="zh-CN" altLang="en-US" dirty="0" smtClean="0"/>
                  <a:t>当</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i="1">
                            <a:latin typeface="Cambria Math" panose="02040503050406030204" pitchFamily="18" charset="0"/>
                          </a:rPr>
                          <m:t>𝑖</m:t>
                        </m:r>
                      </m:sub>
                    </m:sSub>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i="1">
                            <a:latin typeface="Cambria Math" panose="02040503050406030204" pitchFamily="18" charset="0"/>
                          </a:rPr>
                          <m:t>𝑗</m:t>
                        </m:r>
                      </m:sub>
                    </m:sSub>
                  </m:oMath>
                </a14:m>
                <a:r>
                  <a:rPr lang="zh-CN" altLang="en-US" dirty="0" smtClean="0"/>
                  <a:t>不相邻时</a:t>
                </a:r>
                <a:r>
                  <a:rPr lang="en-US" altLang="zh-CN" dirty="0" smtClean="0"/>
                  <a:t>, </a:t>
                </a:r>
                <a:r>
                  <a:rPr lang="zh-CN" altLang="en-US" dirty="0" smtClean="0"/>
                  <a:t>第</a:t>
                </a:r>
                <a:r>
                  <a:rPr lang="en-US" altLang="zh-CN" dirty="0" smtClean="0"/>
                  <a:t> (</a:t>
                </a:r>
                <a:r>
                  <a:rPr lang="en-US" altLang="zh-CN" dirty="0" err="1" smtClean="0"/>
                  <a:t>i</a:t>
                </a:r>
                <a:r>
                  <a:rPr lang="en-US" altLang="zh-CN" dirty="0" smtClean="0"/>
                  <a:t>, j)</a:t>
                </a:r>
                <a:r>
                  <a:rPr lang="zh-CN" altLang="en-US" dirty="0" smtClean="0"/>
                  <a:t>项为</a:t>
                </a:r>
                <a:r>
                  <a:rPr lang="en-US" altLang="zh-CN" dirty="0" smtClean="0"/>
                  <a:t>0.</a:t>
                </a:r>
              </a:p>
              <a:p>
                <a:r>
                  <a:rPr lang="zh-CN" altLang="en-US" dirty="0" smtClean="0"/>
                  <a:t>换句话说</a:t>
                </a:r>
                <a:r>
                  <a:rPr lang="en-US" altLang="zh-CN" dirty="0" smtClean="0"/>
                  <a:t>, </a:t>
                </a:r>
                <a:r>
                  <a:rPr lang="zh-CN" altLang="en-US" dirty="0" smtClean="0"/>
                  <a:t>若邻接矩阵</a:t>
                </a:r>
                <a:r>
                  <a:rPr lang="en-US" dirty="0" smtClean="0"/>
                  <a:t>A = [</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m:t>
                        </m:r>
                        <m:r>
                          <a:rPr lang="en-US" altLang="zh-CN" i="1">
                            <a:latin typeface="Cambria Math" panose="02040503050406030204" pitchFamily="18" charset="0"/>
                          </a:rPr>
                          <m:t>𝑗</m:t>
                        </m:r>
                      </m:sub>
                    </m:sSub>
                  </m:oMath>
                </a14:m>
                <a:r>
                  <a:rPr lang="en-US" dirty="0" smtClean="0"/>
                  <a:t>], </a:t>
                </a:r>
                <a:r>
                  <a:rPr lang="zh-CN" altLang="en-US" dirty="0" smtClean="0"/>
                  <a:t>则</a:t>
                </a:r>
                <a:endParaRPr lang="en-US" altLang="zh-CN" dirty="0" smtClean="0"/>
              </a:p>
              <a:p>
                <a:pPr marL="0" indent="0">
                  <a:buNone/>
                </a:pPr>
                <a14:m>
                  <m:oMathPara xmlns:m="http://schemas.openxmlformats.org/officeDocument/2006/math">
                    <m:oMathParaPr>
                      <m:jc m:val="center"/>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𝑖𝑗</m:t>
                          </m:r>
                        </m:sub>
                      </m:sSub>
                      <m:r>
                        <a:rPr lang="en-US" altLang="zh-CN" b="0" i="1" smtClean="0">
                          <a:latin typeface="Cambria Math" panose="02040503050406030204" pitchFamily="18" charset="0"/>
                        </a:rPr>
                        <m:t>=</m:t>
                      </m:r>
                      <m:d>
                        <m:dPr>
                          <m:begChr m:val="{"/>
                          <m:endChr m:val=""/>
                          <m:ctrlPr>
                            <a:rPr lang="en-US" altLang="zh-CN" i="1" smtClean="0">
                              <a:latin typeface="Cambria Math" panose="02040503050406030204" pitchFamily="18" charset="0"/>
                            </a:rPr>
                          </m:ctrlPr>
                        </m:dPr>
                        <m:e>
                          <m:eqArr>
                            <m:eqArrPr>
                              <m:ctrlPr>
                                <a:rPr lang="en-US" altLang="zh-CN" i="1" smtClean="0">
                                  <a:latin typeface="Cambria Math" panose="02040503050406030204" pitchFamily="18" charset="0"/>
                                </a:rPr>
                              </m:ctrlPr>
                            </m:eqArrPr>
                            <m:e>
                              <m:r>
                                <a:rPr lang="en-US" altLang="zh-CN" b="0" i="1" smtClean="0">
                                  <a:latin typeface="Cambria Math" panose="02040503050406030204" pitchFamily="18" charset="0"/>
                                </a:rPr>
                                <m:t>1, </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i="1">
                                      <a:latin typeface="Cambria Math" panose="02040503050406030204" pitchFamily="18" charset="0"/>
                                    </a:rPr>
                                    <m:t>𝑖</m:t>
                                  </m:r>
                                </m:sub>
                              </m:sSub>
                              <m:r>
                                <m:rPr>
                                  <m:nor/>
                                </m:rPr>
                                <a:rPr lang="en-US" altLang="zh-CN" dirty="0"/>
                                <m:t>, </m:t>
                              </m:r>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i="1">
                                      <a:latin typeface="Cambria Math" panose="02040503050406030204" pitchFamily="18" charset="0"/>
                                    </a:rPr>
                                    <m:t>𝑗</m:t>
                                  </m:r>
                                </m:sub>
                              </m:sSub>
                              <m:r>
                                <a:rPr lang="en-US" altLang="zh-CN" i="1">
                                  <a:latin typeface="Cambria Math" panose="02040503050406030204" pitchFamily="18" charset="0"/>
                                </a:rPr>
                                <m:t>}</m:t>
                              </m:r>
                              <m:r>
                                <a:rPr lang="zh-CN" altLang="en-US" i="1" smtClean="0">
                                  <a:latin typeface="Cambria Math" panose="02040503050406030204" pitchFamily="18" charset="0"/>
                                </a:rPr>
                                <m:t>是</m:t>
                              </m:r>
                              <m:r>
                                <m:rPr>
                                  <m:sty m:val="p"/>
                                </m:rPr>
                                <a:rPr lang="en-US" altLang="zh-CN" i="1">
                                  <a:latin typeface="Cambria Math" panose="02040503050406030204" pitchFamily="18" charset="0"/>
                                </a:rPr>
                                <m:t>G</m:t>
                              </m:r>
                              <m:r>
                                <a:rPr lang="zh-CN" altLang="en-US" i="1" smtClean="0">
                                  <a:latin typeface="Cambria Math" panose="02040503050406030204" pitchFamily="18" charset="0"/>
                                </a:rPr>
                                <m:t>的</m:t>
                              </m:r>
                              <m:r>
                                <a:rPr lang="zh-CN" altLang="en-US" i="1">
                                  <a:latin typeface="Cambria Math" panose="02040503050406030204" pitchFamily="18" charset="0"/>
                                </a:rPr>
                                <m:t>边</m:t>
                              </m:r>
                            </m:e>
                            <m:e>
                              <m:r>
                                <a:rPr lang="en-US" altLang="zh-CN" b="0" i="1" smtClean="0">
                                  <a:latin typeface="Cambria Math" panose="02040503050406030204" pitchFamily="18" charset="0"/>
                                </a:rPr>
                                <m:t>0, </m:t>
                              </m:r>
                              <m:r>
                                <a:rPr lang="zh-CN" altLang="en-US" i="1">
                                  <a:latin typeface="Cambria Math" panose="02040503050406030204" pitchFamily="18" charset="0"/>
                                </a:rPr>
                                <m:t>其他</m:t>
                              </m:r>
                              <m:r>
                                <a:rPr lang="zh-CN" altLang="en-US" i="1" smtClean="0">
                                  <a:latin typeface="Cambria Math" panose="02040503050406030204" pitchFamily="18" charset="0"/>
                                </a:rPr>
                                <m:t>情况</m:t>
                              </m:r>
                              <m:r>
                                <a:rPr lang="en-US" altLang="zh-CN" b="0" i="1" smtClean="0">
                                  <a:latin typeface="Cambria Math" panose="02040503050406030204" pitchFamily="18" charset="0"/>
                                </a:rPr>
                                <m:t> </m:t>
                              </m:r>
                            </m:e>
                          </m:eqArr>
                        </m:e>
                      </m:d>
                    </m:oMath>
                  </m:oMathPara>
                </a14:m>
                <a:endParaRPr lang="en-US" altLang="zh-CN" dirty="0" smtClean="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99" t="-1310" r="-1720"/>
                </a:stretch>
              </a:blipFill>
            </p:spPr>
            <p:txBody>
              <a:bodyPr/>
              <a:lstStyle/>
              <a:p>
                <a:r>
                  <a:rPr lang="zh-CN" altLang="en-US">
                    <a:noFill/>
                  </a:rPr>
                  <a:t> </a:t>
                </a:r>
              </a:p>
            </p:txBody>
          </p:sp>
        </mc:Fallback>
      </mc:AlternateContent>
      <p:sp>
        <p:nvSpPr>
          <p:cNvPr id="7" name="日期占位符 6"/>
          <p:cNvSpPr>
            <a:spLocks noGrp="1"/>
          </p:cNvSpPr>
          <p:nvPr>
            <p:ph type="dt" sz="half" idx="10"/>
          </p:nvPr>
        </p:nvSpPr>
        <p:spPr/>
        <p:txBody>
          <a:bodyPr/>
          <a:lstStyle/>
          <a:p>
            <a:fld id="{DC233B46-D45C-4906-9F3C-81B9D2844507}"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85</a:t>
            </a:fld>
            <a:endParaRPr lang="zh-CN" altLang="en-US" dirty="0"/>
          </a:p>
        </p:txBody>
      </p:sp>
    </p:spTree>
    <p:extLst>
      <p:ext uri="{BB962C8B-B14F-4D97-AF65-F5344CB8AC3E}">
        <p14:creationId xmlns:p14="http://schemas.microsoft.com/office/powerpoint/2010/main" val="1418618960"/>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图的</a:t>
            </a:r>
            <a:r>
              <a:rPr lang="zh-CN" altLang="en-US" dirty="0" smtClean="0"/>
              <a:t>表示</a:t>
            </a:r>
            <a:r>
              <a:rPr lang="en-US" altLang="zh-CN" dirty="0" smtClean="0"/>
              <a:t>: </a:t>
            </a:r>
            <a:r>
              <a:rPr lang="zh-CN" altLang="en-US" dirty="0" smtClean="0"/>
              <a:t>邻接矩阵</a:t>
            </a:r>
            <a:endParaRPr lang="en-US" dirty="0"/>
          </a:p>
        </p:txBody>
      </p:sp>
      <p:sp>
        <p:nvSpPr>
          <p:cNvPr id="3" name="Content Placeholder 2"/>
          <p:cNvSpPr>
            <a:spLocks noGrp="1"/>
          </p:cNvSpPr>
          <p:nvPr>
            <p:ph idx="1"/>
          </p:nvPr>
        </p:nvSpPr>
        <p:spPr/>
        <p:txBody>
          <a:bodyPr/>
          <a:lstStyle/>
          <a:p>
            <a:r>
              <a:rPr lang="zh-CN" altLang="en-US" dirty="0" smtClean="0"/>
              <a:t>例</a:t>
            </a:r>
            <a:r>
              <a:rPr lang="en-US" altLang="zh-CN" dirty="0" smtClean="0"/>
              <a:t>: </a:t>
            </a:r>
            <a:r>
              <a:rPr lang="zh-CN" altLang="en-US" dirty="0" smtClean="0"/>
              <a:t>用邻接矩阵表示下图</a:t>
            </a:r>
            <a:r>
              <a:rPr lang="en-US" altLang="zh-CN" dirty="0" smtClean="0"/>
              <a:t>.</a:t>
            </a:r>
          </a:p>
          <a:p>
            <a:endParaRPr lang="en-US" dirty="0"/>
          </a:p>
          <a:p>
            <a:endParaRPr lang="en-US" dirty="0" smtClean="0"/>
          </a:p>
          <a:p>
            <a:endParaRPr lang="en-US" dirty="0"/>
          </a:p>
          <a:p>
            <a:endParaRPr lang="en-US" dirty="0" smtClean="0"/>
          </a:p>
          <a:p>
            <a:r>
              <a:rPr lang="zh-CN" altLang="en-US" dirty="0" smtClean="0"/>
              <a:t>解</a:t>
            </a:r>
            <a:r>
              <a:rPr lang="en-US" altLang="zh-CN" dirty="0" smtClean="0"/>
              <a:t>: </a:t>
            </a:r>
            <a:r>
              <a:rPr lang="zh-CN" altLang="en-US" dirty="0" smtClean="0"/>
              <a:t>如果我们把顶点排列成</a:t>
            </a:r>
            <a:r>
              <a:rPr lang="en-US" altLang="zh-CN" dirty="0" smtClean="0"/>
              <a:t>a, b, c, d. </a:t>
            </a:r>
            <a:r>
              <a:rPr lang="zh-CN" altLang="en-US" dirty="0" smtClean="0"/>
              <a:t>那么这个图的邻接矩阵为</a:t>
            </a:r>
            <a:endParaRPr lang="en-US" dirty="0"/>
          </a:p>
        </p:txBody>
      </p:sp>
      <p:sp>
        <p:nvSpPr>
          <p:cNvPr id="7" name="日期占位符 6"/>
          <p:cNvSpPr>
            <a:spLocks noGrp="1"/>
          </p:cNvSpPr>
          <p:nvPr>
            <p:ph type="dt" sz="half" idx="10"/>
          </p:nvPr>
        </p:nvSpPr>
        <p:spPr/>
        <p:txBody>
          <a:bodyPr/>
          <a:lstStyle/>
          <a:p>
            <a:fld id="{554674F4-A35B-48B7-9435-82A8535898E6}"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86</a:t>
            </a:fld>
            <a:endParaRPr lang="zh-CN" altLang="en-US" dirty="0"/>
          </a:p>
        </p:txBody>
      </p:sp>
      <p:pic>
        <p:nvPicPr>
          <p:cNvPr id="10" name="Content Placeholder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52600" y="1646223"/>
            <a:ext cx="1325188" cy="1794352"/>
          </a:xfrm>
          <a:prstGeom prst="rect">
            <a:avLst/>
          </a:prstGeom>
        </p:spPr>
      </p:pic>
      <p:pic>
        <p:nvPicPr>
          <p:cNvPr id="11" name="Picture 13"/>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1914646" y="4495800"/>
            <a:ext cx="2205779" cy="1583001"/>
          </a:xfrm>
          <a:prstGeom prst="rect">
            <a:avLst/>
          </a:prstGeom>
        </p:spPr>
      </p:pic>
    </p:spTree>
    <p:extLst>
      <p:ext uri="{BB962C8B-B14F-4D97-AF65-F5344CB8AC3E}">
        <p14:creationId xmlns:p14="http://schemas.microsoft.com/office/powerpoint/2010/main" val="3431311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wipe(down)">
                                      <p:cBhvr>
                                        <p:cTn id="7" dur="500"/>
                                        <p:tgtEl>
                                          <p:spTgt spid="3">
                                            <p:txEl>
                                              <p:pRg st="5" end="5"/>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down)">
                                      <p:cBhvr>
                                        <p:cTn id="1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图的</a:t>
            </a:r>
            <a:r>
              <a:rPr lang="zh-CN" altLang="en-US" dirty="0" smtClean="0"/>
              <a:t>表示</a:t>
            </a:r>
            <a:r>
              <a:rPr lang="en-US" altLang="zh-CN" dirty="0" smtClean="0"/>
              <a:t>: </a:t>
            </a:r>
            <a:r>
              <a:rPr lang="zh-CN" altLang="en-US" dirty="0" smtClean="0"/>
              <a:t>邻接矩阵</a:t>
            </a:r>
            <a:endParaRPr lang="en-US" dirty="0"/>
          </a:p>
        </p:txBody>
      </p:sp>
      <p:sp>
        <p:nvSpPr>
          <p:cNvPr id="3" name="Content Placeholder 2"/>
          <p:cNvSpPr>
            <a:spLocks noGrp="1"/>
          </p:cNvSpPr>
          <p:nvPr>
            <p:ph idx="1"/>
          </p:nvPr>
        </p:nvSpPr>
        <p:spPr/>
        <p:txBody>
          <a:bodyPr/>
          <a:lstStyle/>
          <a:p>
            <a:r>
              <a:rPr lang="zh-CN" altLang="en-US" dirty="0" smtClean="0"/>
              <a:t>例</a:t>
            </a:r>
            <a:r>
              <a:rPr lang="en-US" altLang="zh-CN" dirty="0" smtClean="0"/>
              <a:t>: </a:t>
            </a:r>
            <a:r>
              <a:rPr lang="zh-CN" altLang="en-US" dirty="0" smtClean="0"/>
              <a:t>画出下列邻接矩阵对应的图</a:t>
            </a:r>
            <a:r>
              <a:rPr lang="en-US" altLang="zh-CN" dirty="0" smtClean="0"/>
              <a:t>, </a:t>
            </a:r>
            <a:r>
              <a:rPr lang="zh-CN" altLang="en-US" dirty="0" smtClean="0"/>
              <a:t>其中顶点顺序为</a:t>
            </a:r>
            <a:r>
              <a:rPr lang="en-US" altLang="zh-CN" dirty="0" smtClean="0"/>
              <a:t>a, b, c, d.</a:t>
            </a:r>
          </a:p>
          <a:p>
            <a:endParaRPr lang="en-US" dirty="0"/>
          </a:p>
          <a:p>
            <a:endParaRPr lang="en-US" dirty="0" smtClean="0"/>
          </a:p>
          <a:p>
            <a:endParaRPr lang="en-US" dirty="0"/>
          </a:p>
          <a:p>
            <a:endParaRPr lang="en-US" dirty="0" smtClean="0"/>
          </a:p>
          <a:p>
            <a:r>
              <a:rPr lang="zh-CN" altLang="en-US" dirty="0" smtClean="0"/>
              <a:t>解</a:t>
            </a:r>
            <a:r>
              <a:rPr lang="en-US" altLang="zh-CN" dirty="0" smtClean="0"/>
              <a:t>: </a:t>
            </a:r>
            <a:endParaRPr lang="en-US" dirty="0"/>
          </a:p>
        </p:txBody>
      </p:sp>
      <p:sp>
        <p:nvSpPr>
          <p:cNvPr id="7" name="日期占位符 6"/>
          <p:cNvSpPr>
            <a:spLocks noGrp="1"/>
          </p:cNvSpPr>
          <p:nvPr>
            <p:ph type="dt" sz="half" idx="10"/>
          </p:nvPr>
        </p:nvSpPr>
        <p:spPr/>
        <p:txBody>
          <a:bodyPr/>
          <a:lstStyle/>
          <a:p>
            <a:fld id="{88F15BB8-E7A0-4F88-9FF6-9DE2FB11B7FA}"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87</a:t>
            </a:fld>
            <a:endParaRPr lang="zh-CN" altLang="en-US" dirty="0"/>
          </a:p>
        </p:txBody>
      </p:sp>
      <p:pic>
        <p:nvPicPr>
          <p:cNvPr id="12" name="Picture 12"/>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1935866" y="1833256"/>
            <a:ext cx="2184559" cy="1567772"/>
          </a:xfrm>
          <a:prstGeom prst="rect">
            <a:avLst/>
          </a:prstGeom>
        </p:spPr>
      </p:pic>
      <p:pic>
        <p:nvPicPr>
          <p:cNvPr id="13"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057400" y="3965962"/>
            <a:ext cx="1721734" cy="2339590"/>
          </a:xfrm>
          <a:prstGeom prst="rect">
            <a:avLst/>
          </a:prstGeom>
        </p:spPr>
      </p:pic>
    </p:spTree>
    <p:extLst>
      <p:ext uri="{BB962C8B-B14F-4D97-AF65-F5344CB8AC3E}">
        <p14:creationId xmlns:p14="http://schemas.microsoft.com/office/powerpoint/2010/main" val="1845352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wipe(down)">
                                      <p:cBhvr>
                                        <p:cTn id="7" dur="500"/>
                                        <p:tgtEl>
                                          <p:spTgt spid="3">
                                            <p:txEl>
                                              <p:pRg st="5" end="5"/>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wipe(down)">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图的</a:t>
            </a:r>
            <a:r>
              <a:rPr lang="zh-CN" altLang="en-US" dirty="0" smtClean="0"/>
              <a:t>表示</a:t>
            </a:r>
            <a:r>
              <a:rPr lang="en-US" altLang="zh-CN" dirty="0" smtClean="0"/>
              <a:t>: </a:t>
            </a:r>
            <a:r>
              <a:rPr lang="zh-CN" altLang="en-US" dirty="0" smtClean="0"/>
              <a:t>邻接矩阵</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smtClean="0"/>
                  <a:t>图的邻接矩阵依赖于所选择的顶点的顺序</a:t>
                </a:r>
                <a:r>
                  <a:rPr lang="en-US" altLang="zh-CN" dirty="0" smtClean="0"/>
                  <a:t>. </a:t>
                </a:r>
                <a:r>
                  <a:rPr lang="zh-CN" altLang="en-US" b="1" dirty="0" smtClean="0"/>
                  <a:t>因此带有</a:t>
                </a:r>
                <a:r>
                  <a:rPr lang="en-US" altLang="zh-CN" b="1" dirty="0" smtClean="0"/>
                  <a:t>n</a:t>
                </a:r>
                <a:r>
                  <a:rPr lang="zh-CN" altLang="en-US" b="1" dirty="0" smtClean="0"/>
                  <a:t>个顶点的图将会有</a:t>
                </a:r>
                <a:r>
                  <a:rPr lang="en-US" altLang="zh-CN" b="1" dirty="0" smtClean="0"/>
                  <a:t>n!</a:t>
                </a:r>
                <a:r>
                  <a:rPr lang="zh-CN" altLang="en-US" b="1" dirty="0" smtClean="0"/>
                  <a:t>个不同的邻接矩阵</a:t>
                </a:r>
                <a:r>
                  <a:rPr lang="en-US" altLang="zh-CN" b="1" dirty="0" smtClean="0"/>
                  <a:t>, </a:t>
                </a:r>
                <a:r>
                  <a:rPr lang="zh-CN" altLang="en-US" b="1" dirty="0" smtClean="0"/>
                  <a:t>因为</a:t>
                </a:r>
                <a:r>
                  <a:rPr lang="en-US" altLang="zh-CN" b="1" dirty="0" smtClean="0"/>
                  <a:t>n</a:t>
                </a:r>
                <a:r>
                  <a:rPr lang="zh-CN" altLang="en-US" b="1" dirty="0" smtClean="0"/>
                  <a:t>个顶点会有</a:t>
                </a:r>
                <a:r>
                  <a:rPr lang="en-US" altLang="zh-CN" b="1" dirty="0" smtClean="0"/>
                  <a:t>n!</a:t>
                </a:r>
                <a:r>
                  <a:rPr lang="zh-CN" altLang="en-US" b="1" dirty="0" smtClean="0"/>
                  <a:t>个不同的排列顺序</a:t>
                </a:r>
                <a:r>
                  <a:rPr lang="en-US" altLang="zh-CN" dirty="0" smtClean="0"/>
                  <a:t>.</a:t>
                </a:r>
              </a:p>
              <a:p>
                <a:r>
                  <a:rPr lang="zh-CN" altLang="en-US" b="1" dirty="0"/>
                  <a:t>简单</a:t>
                </a:r>
                <a:r>
                  <a:rPr lang="zh-CN" altLang="en-US" b="1" dirty="0" smtClean="0"/>
                  <a:t>图的邻接矩阵是对称的</a:t>
                </a:r>
                <a:r>
                  <a:rPr lang="en-US" altLang="zh-CN" dirty="0" smtClean="0"/>
                  <a:t>, </a:t>
                </a:r>
                <a:r>
                  <a:rPr lang="zh-CN" altLang="en-US" dirty="0" smtClean="0"/>
                  <a:t>即</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𝑖𝑗</m:t>
                        </m:r>
                      </m:sub>
                    </m:sSub>
                  </m:oMath>
                </a14:m>
                <a:r>
                  <a:rPr lang="en-US" altLang="zh-CN"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𝑗</m:t>
                        </m:r>
                        <m:r>
                          <a:rPr lang="en-US" altLang="zh-CN" b="0" i="1" smtClean="0">
                            <a:latin typeface="Cambria Math" panose="02040503050406030204" pitchFamily="18" charset="0"/>
                          </a:rPr>
                          <m:t>𝑖</m:t>
                        </m:r>
                      </m:sub>
                    </m:sSub>
                  </m:oMath>
                </a14:m>
                <a:r>
                  <a:rPr lang="en-US" altLang="zh-CN" dirty="0" smtClean="0"/>
                  <a:t>, </a:t>
                </a:r>
                <a:r>
                  <a:rPr lang="zh-CN" altLang="en-US" dirty="0" smtClean="0"/>
                  <a:t>因为当</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i="1">
                            <a:latin typeface="Cambria Math" panose="02040503050406030204" pitchFamily="18" charset="0"/>
                          </a:rPr>
                          <m:t>𝑖</m:t>
                        </m:r>
                      </m:sub>
                    </m:sSub>
                  </m:oMath>
                </a14:m>
                <a:r>
                  <a:rPr lang="zh-CN" altLang="en-US" dirty="0" smtClean="0"/>
                  <a:t>和</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i="1">
                            <a:latin typeface="Cambria Math" panose="02040503050406030204" pitchFamily="18" charset="0"/>
                          </a:rPr>
                          <m:t>𝑗</m:t>
                        </m:r>
                      </m:sub>
                    </m:sSub>
                  </m:oMath>
                </a14:m>
                <a:r>
                  <a:rPr lang="zh-CN" altLang="en-US" dirty="0" smtClean="0"/>
                  <a:t>相邻时</a:t>
                </a:r>
                <a:r>
                  <a:rPr lang="en-US" altLang="zh-CN" dirty="0" smtClean="0"/>
                  <a:t>, </a:t>
                </a:r>
                <a:r>
                  <a:rPr lang="zh-CN" altLang="en-US" dirty="0" smtClean="0"/>
                  <a:t>这两个项都是</a:t>
                </a:r>
                <a:r>
                  <a:rPr lang="en-US" altLang="zh-CN" dirty="0" smtClean="0"/>
                  <a:t>1, </a:t>
                </a:r>
                <a:r>
                  <a:rPr lang="zh-CN" altLang="en-US" dirty="0" smtClean="0"/>
                  <a:t>否则都是</a:t>
                </a:r>
                <a:r>
                  <a:rPr lang="en-US" altLang="zh-CN" dirty="0" smtClean="0"/>
                  <a:t>0.</a:t>
                </a:r>
              </a:p>
              <a:p>
                <a:r>
                  <a:rPr lang="zh-CN" altLang="en-US" dirty="0" smtClean="0"/>
                  <a:t>此外</a:t>
                </a:r>
                <a:r>
                  <a:rPr lang="en-US" altLang="zh-CN" dirty="0" smtClean="0"/>
                  <a:t>, </a:t>
                </a:r>
                <a:r>
                  <a:rPr lang="zh-CN" altLang="en-US" dirty="0" smtClean="0"/>
                  <a:t>因为</a:t>
                </a:r>
                <a:r>
                  <a:rPr lang="zh-CN" altLang="en-US" b="1" dirty="0" smtClean="0"/>
                  <a:t>简单图是无环的</a:t>
                </a:r>
                <a:r>
                  <a:rPr lang="en-US" altLang="zh-CN" b="1" dirty="0" smtClean="0"/>
                  <a:t>, </a:t>
                </a:r>
                <a:r>
                  <a:rPr lang="zh-CN" altLang="en-US" b="1" dirty="0" smtClean="0"/>
                  <a:t>所以每一项</a:t>
                </a:r>
                <a14:m>
                  <m:oMath xmlns:m="http://schemas.openxmlformats.org/officeDocument/2006/math">
                    <m:sSub>
                      <m:sSubPr>
                        <m:ctrlPr>
                          <a:rPr lang="en-US" altLang="zh-CN" b="1" i="1">
                            <a:latin typeface="Cambria Math" panose="02040503050406030204" pitchFamily="18" charset="0"/>
                          </a:rPr>
                        </m:ctrlPr>
                      </m:sSubPr>
                      <m:e>
                        <m:r>
                          <a:rPr lang="en-US" altLang="zh-CN" b="1" i="1">
                            <a:latin typeface="Cambria Math" panose="02040503050406030204" pitchFamily="18" charset="0"/>
                          </a:rPr>
                          <m:t>𝒂</m:t>
                        </m:r>
                      </m:e>
                      <m:sub>
                        <m:r>
                          <a:rPr lang="en-US" altLang="zh-CN" b="1" i="1">
                            <a:latin typeface="Cambria Math" panose="02040503050406030204" pitchFamily="18" charset="0"/>
                          </a:rPr>
                          <m:t>𝒊</m:t>
                        </m:r>
                        <m:r>
                          <a:rPr lang="en-US" altLang="zh-CN" b="1" i="1" smtClean="0">
                            <a:latin typeface="Cambria Math" panose="02040503050406030204" pitchFamily="18" charset="0"/>
                          </a:rPr>
                          <m:t>𝒊</m:t>
                        </m:r>
                      </m:sub>
                    </m:sSub>
                  </m:oMath>
                </a14:m>
                <a:r>
                  <a:rPr lang="en-US" altLang="zh-CN" b="1" dirty="0" smtClean="0"/>
                  <a:t>=0</a:t>
                </a:r>
                <a:r>
                  <a:rPr lang="en-US" altLang="zh-CN" dirty="0" smtClean="0"/>
                  <a:t>, </a:t>
                </a:r>
                <a:r>
                  <a:rPr lang="en-US" altLang="zh-CN" dirty="0" err="1" smtClean="0"/>
                  <a:t>i</a:t>
                </a:r>
                <a:r>
                  <a:rPr lang="en-US" altLang="zh-CN" dirty="0" smtClean="0"/>
                  <a:t>=1, 2, 3, …, n.</a:t>
                </a:r>
              </a:p>
              <a:p>
                <a:r>
                  <a:rPr lang="zh-CN" altLang="en-US" dirty="0" smtClean="0"/>
                  <a:t>在邻接表和邻接矩阵之间取舍</a:t>
                </a:r>
                <a:r>
                  <a:rPr lang="en-US" altLang="zh-CN" dirty="0" smtClean="0"/>
                  <a:t>: </a:t>
                </a:r>
                <a:r>
                  <a:rPr lang="zh-CN" altLang="en-US" dirty="0" smtClean="0"/>
                  <a:t>当一个简单图包含的边较少时</a:t>
                </a:r>
                <a:r>
                  <a:rPr lang="en-US" altLang="zh-CN" dirty="0" smtClean="0"/>
                  <a:t>, </a:t>
                </a:r>
                <a:r>
                  <a:rPr lang="zh-CN" altLang="en-US" dirty="0" smtClean="0"/>
                  <a:t>即该图是一个稀疏图</a:t>
                </a:r>
                <a:r>
                  <a:rPr lang="en-US" altLang="zh-CN" dirty="0" smtClean="0"/>
                  <a:t>, </a:t>
                </a:r>
                <a:r>
                  <a:rPr lang="zh-CN" altLang="en-US" dirty="0" smtClean="0"/>
                  <a:t>通常用邻接表更适合表示它</a:t>
                </a:r>
                <a:r>
                  <a:rPr lang="en-US" altLang="zh-CN" dirty="0" smtClean="0"/>
                  <a:t>.</a:t>
                </a:r>
              </a:p>
              <a:p>
                <a:endParaRPr lang="en-US" dirty="0" smtClean="0"/>
              </a:p>
              <a:p>
                <a:endParaRPr lang="en-US" dirty="0"/>
              </a:p>
              <a:p>
                <a:endParaRPr lang="en-US" dirty="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99" t="-1310"/>
                </a:stretch>
              </a:blipFill>
            </p:spPr>
            <p:txBody>
              <a:bodyPr/>
              <a:lstStyle/>
              <a:p>
                <a:r>
                  <a:rPr lang="zh-CN" altLang="en-US">
                    <a:noFill/>
                  </a:rPr>
                  <a:t> </a:t>
                </a:r>
              </a:p>
            </p:txBody>
          </p:sp>
        </mc:Fallback>
      </mc:AlternateContent>
      <p:sp>
        <p:nvSpPr>
          <p:cNvPr id="7" name="日期占位符 6"/>
          <p:cNvSpPr>
            <a:spLocks noGrp="1"/>
          </p:cNvSpPr>
          <p:nvPr>
            <p:ph type="dt" sz="half" idx="10"/>
          </p:nvPr>
        </p:nvSpPr>
        <p:spPr/>
        <p:txBody>
          <a:bodyPr/>
          <a:lstStyle/>
          <a:p>
            <a:fld id="{E59F2B88-57D1-4CB0-81BE-17392CE268D2}"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88</a:t>
            </a:fld>
            <a:endParaRPr lang="zh-CN" altLang="en-US" dirty="0"/>
          </a:p>
        </p:txBody>
      </p:sp>
    </p:spTree>
    <p:extLst>
      <p:ext uri="{BB962C8B-B14F-4D97-AF65-F5344CB8AC3E}">
        <p14:creationId xmlns:p14="http://schemas.microsoft.com/office/powerpoint/2010/main" val="408461312"/>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图的</a:t>
            </a:r>
            <a:r>
              <a:rPr lang="zh-CN" altLang="en-US" dirty="0" smtClean="0"/>
              <a:t>表示</a:t>
            </a:r>
            <a:r>
              <a:rPr lang="en-US" altLang="zh-CN" dirty="0" smtClean="0"/>
              <a:t>: </a:t>
            </a:r>
            <a:r>
              <a:rPr lang="zh-CN" altLang="en-US" dirty="0" smtClean="0"/>
              <a:t>邻接矩阵</a:t>
            </a:r>
            <a:endParaRPr lang="en-US" dirty="0"/>
          </a:p>
        </p:txBody>
      </p:sp>
      <mc:AlternateContent xmlns:mc="http://schemas.openxmlformats.org/markup-compatibility/2006" xmlns:a14="http://schemas.microsoft.com/office/drawing/2010/main">
        <mc:Choice Requires="a14">
          <p:sp>
            <p:nvSpPr>
              <p:cNvPr id="7" name="Content Placeholder 6"/>
              <p:cNvSpPr>
                <a:spLocks noGrp="1"/>
              </p:cNvSpPr>
              <p:nvPr>
                <p:ph idx="1"/>
              </p:nvPr>
            </p:nvSpPr>
            <p:spPr/>
            <p:txBody>
              <a:bodyPr>
                <a:normAutofit/>
              </a:bodyPr>
              <a:lstStyle/>
              <a:p>
                <a:r>
                  <a:rPr lang="zh-CN" altLang="en-US" b="1" dirty="0" smtClean="0"/>
                  <a:t>邻接矩阵</a:t>
                </a:r>
                <a:r>
                  <a:rPr lang="zh-CN" altLang="en-US" dirty="0" smtClean="0"/>
                  <a:t>除了可以表示简单图以外</a:t>
                </a:r>
                <a:r>
                  <a:rPr lang="en-US" altLang="zh-CN" dirty="0" smtClean="0"/>
                  <a:t>, </a:t>
                </a:r>
                <a:r>
                  <a:rPr lang="zh-CN" altLang="en-US" dirty="0" smtClean="0"/>
                  <a:t>还能</a:t>
                </a:r>
                <a:r>
                  <a:rPr lang="zh-CN" altLang="en-US" b="1" dirty="0" smtClean="0"/>
                  <a:t>表示带环和多重边的无向图</a:t>
                </a:r>
                <a:r>
                  <a:rPr lang="zh-CN" altLang="en-US" dirty="0" smtClean="0"/>
                  <a:t>：</a:t>
                </a:r>
                <a:endParaRPr lang="en-US" altLang="zh-CN" dirty="0" smtClean="0"/>
              </a:p>
              <a:p>
                <a:r>
                  <a:rPr lang="zh-CN" altLang="en-US" dirty="0" smtClean="0"/>
                  <a:t>顶点</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i="1">
                            <a:latin typeface="Cambria Math" panose="02040503050406030204" pitchFamily="18" charset="0"/>
                          </a:rPr>
                          <m:t>𝑖</m:t>
                        </m:r>
                      </m:sub>
                    </m:sSub>
                  </m:oMath>
                </a14:m>
                <a:r>
                  <a:rPr lang="zh-CN" altLang="en-US" dirty="0" smtClean="0"/>
                  <a:t>上的环表示为邻接矩阵第</a:t>
                </a:r>
                <a:r>
                  <a:rPr lang="en-US" altLang="zh-CN" dirty="0" smtClean="0"/>
                  <a:t>(</a:t>
                </a:r>
                <a:r>
                  <a:rPr lang="en-US" altLang="zh-CN" dirty="0" err="1" smtClean="0"/>
                  <a:t>i</a:t>
                </a:r>
                <a:r>
                  <a:rPr lang="en-US" altLang="zh-CN" dirty="0" smtClean="0"/>
                  <a:t>, </a:t>
                </a:r>
                <a:r>
                  <a:rPr lang="en-US" altLang="zh-CN" dirty="0" err="1" smtClean="0"/>
                  <a:t>i</a:t>
                </a:r>
                <a:r>
                  <a:rPr lang="en-US" altLang="zh-CN" dirty="0" smtClean="0"/>
                  <a:t>)</a:t>
                </a:r>
                <a:r>
                  <a:rPr lang="zh-CN" altLang="en-US" dirty="0" smtClean="0"/>
                  <a:t>位置上为</a:t>
                </a:r>
                <a:r>
                  <a:rPr lang="en-US" altLang="zh-CN" dirty="0" smtClean="0"/>
                  <a:t>1. </a:t>
                </a:r>
              </a:p>
              <a:p>
                <a:r>
                  <a:rPr lang="zh-CN" altLang="en-US" b="1" dirty="0" smtClean="0"/>
                  <a:t>多重边连接的相同顶点对</a:t>
                </a:r>
                <a14:m>
                  <m:oMath xmlns:m="http://schemas.openxmlformats.org/officeDocument/2006/math">
                    <m:sSub>
                      <m:sSubPr>
                        <m:ctrlPr>
                          <a:rPr lang="en-US" altLang="zh-CN" b="1" i="1">
                            <a:latin typeface="Cambria Math" panose="02040503050406030204" pitchFamily="18" charset="0"/>
                          </a:rPr>
                        </m:ctrlPr>
                      </m:sSubPr>
                      <m:e>
                        <m:r>
                          <a:rPr lang="en-US" altLang="zh-CN" b="1" i="1">
                            <a:latin typeface="Cambria Math" panose="02040503050406030204" pitchFamily="18" charset="0"/>
                          </a:rPr>
                          <m:t>𝑽</m:t>
                        </m:r>
                      </m:e>
                      <m:sub>
                        <m:r>
                          <a:rPr lang="en-US" altLang="zh-CN" b="1" i="1">
                            <a:latin typeface="Cambria Math" panose="02040503050406030204" pitchFamily="18" charset="0"/>
                          </a:rPr>
                          <m:t>𝒊</m:t>
                        </m:r>
                      </m:sub>
                    </m:sSub>
                  </m:oMath>
                </a14:m>
                <a:r>
                  <a:rPr lang="zh-CN" altLang="en-US" b="1" dirty="0" smtClean="0"/>
                  <a:t>和</a:t>
                </a:r>
                <a14:m>
                  <m:oMath xmlns:m="http://schemas.openxmlformats.org/officeDocument/2006/math">
                    <m:sSub>
                      <m:sSubPr>
                        <m:ctrlPr>
                          <a:rPr lang="en-US" altLang="zh-CN" b="1" i="1">
                            <a:latin typeface="Cambria Math" panose="02040503050406030204" pitchFamily="18" charset="0"/>
                          </a:rPr>
                        </m:ctrlPr>
                      </m:sSubPr>
                      <m:e>
                        <m:r>
                          <a:rPr lang="en-US" altLang="zh-CN" b="1" i="1">
                            <a:latin typeface="Cambria Math" panose="02040503050406030204" pitchFamily="18" charset="0"/>
                          </a:rPr>
                          <m:t>𝑽</m:t>
                        </m:r>
                      </m:e>
                      <m:sub>
                        <m:r>
                          <a:rPr lang="en-US" altLang="zh-CN" b="1" i="1" smtClean="0">
                            <a:latin typeface="Cambria Math" panose="02040503050406030204" pitchFamily="18" charset="0"/>
                          </a:rPr>
                          <m:t>𝒋</m:t>
                        </m:r>
                      </m:sub>
                    </m:sSub>
                  </m:oMath>
                </a14:m>
                <a:r>
                  <a:rPr lang="zh-CN" altLang="en-US" b="1" dirty="0" smtClean="0"/>
                  <a:t>时</a:t>
                </a:r>
                <a:r>
                  <a:rPr lang="en-US" altLang="zh-CN" b="1" dirty="0" smtClean="0"/>
                  <a:t>, </a:t>
                </a:r>
                <a:r>
                  <a:rPr lang="zh-CN" altLang="en-US" b="1" dirty="0" smtClean="0"/>
                  <a:t>邻接矩阵不再是</a:t>
                </a:r>
                <a:r>
                  <a:rPr lang="en-US" altLang="zh-CN" b="1" dirty="0" smtClean="0"/>
                  <a:t>0-1</a:t>
                </a:r>
                <a:r>
                  <a:rPr lang="zh-CN" altLang="en-US" b="1" dirty="0" smtClean="0"/>
                  <a:t>矩阵</a:t>
                </a:r>
                <a:r>
                  <a:rPr lang="en-US" altLang="zh-CN" dirty="0" smtClean="0"/>
                  <a:t>, </a:t>
                </a:r>
                <a:r>
                  <a:rPr lang="zh-CN" altLang="en-US" dirty="0" smtClean="0"/>
                  <a:t>因为邻接矩阵的第</a:t>
                </a:r>
                <a:r>
                  <a:rPr lang="en-US" dirty="0" smtClean="0"/>
                  <a:t> (</a:t>
                </a:r>
                <a:r>
                  <a:rPr lang="en-US" dirty="0" err="1" smtClean="0"/>
                  <a:t>i</a:t>
                </a:r>
                <a:r>
                  <a:rPr lang="en-US" dirty="0" smtClean="0"/>
                  <a:t>, j)</a:t>
                </a:r>
                <a:r>
                  <a:rPr lang="zh-CN" altLang="en-US" dirty="0" smtClean="0"/>
                  <a:t>项等于与</a:t>
                </a:r>
                <a:r>
                  <a:rPr lang="en-US" altLang="zh-CN" dirty="0" smtClean="0"/>
                  <a:t>{</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i="1">
                            <a:latin typeface="Cambria Math" panose="02040503050406030204" pitchFamily="18" charset="0"/>
                          </a:rPr>
                          <m:t>𝑖</m:t>
                        </m:r>
                      </m:sub>
                    </m:sSub>
                  </m:oMath>
                </a14:m>
                <a:r>
                  <a:rPr lang="en-US" altLang="zh-CN" dirty="0" smtClean="0"/>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b="0" i="1" smtClean="0">
                            <a:latin typeface="Cambria Math" panose="02040503050406030204" pitchFamily="18" charset="0"/>
                          </a:rPr>
                          <m:t>𝑗</m:t>
                        </m:r>
                      </m:sub>
                    </m:sSub>
                  </m:oMath>
                </a14:m>
                <a:r>
                  <a:rPr lang="en-US" altLang="zh-CN" dirty="0" smtClean="0"/>
                  <a:t>}</a:t>
                </a:r>
                <a:r>
                  <a:rPr lang="zh-CN" altLang="en-US" dirty="0" smtClean="0"/>
                  <a:t>关联的边数</a:t>
                </a:r>
                <a:r>
                  <a:rPr lang="en-US" altLang="zh-CN" dirty="0" smtClean="0"/>
                  <a:t>. </a:t>
                </a:r>
                <a:r>
                  <a:rPr lang="zh-CN" altLang="en-US" dirty="0" smtClean="0"/>
                  <a:t>这样</a:t>
                </a:r>
                <a:r>
                  <a:rPr lang="zh-CN" altLang="en-US" dirty="0"/>
                  <a:t>的</a:t>
                </a:r>
                <a:r>
                  <a:rPr lang="zh-CN" altLang="en-US" b="1" dirty="0"/>
                  <a:t>邻接矩阵也</a:t>
                </a:r>
                <a:r>
                  <a:rPr lang="zh-CN" altLang="en-US" b="1" dirty="0" smtClean="0"/>
                  <a:t>具有对称性</a:t>
                </a:r>
                <a:r>
                  <a:rPr lang="en-US" altLang="zh-CN" dirty="0" smtClean="0"/>
                  <a:t>.</a:t>
                </a:r>
                <a:endParaRPr lang="en-US" dirty="0" smtClean="0"/>
              </a:p>
            </p:txBody>
          </p:sp>
        </mc:Choice>
        <mc:Fallback xmlns="">
          <p:sp>
            <p:nvSpPr>
              <p:cNvPr id="7" name="Content Placeholder 6"/>
              <p:cNvSpPr>
                <a:spLocks noGrp="1" noRot="1" noChangeAspect="1" noMove="1" noResize="1" noEditPoints="1" noAdjustHandles="1" noChangeArrowheads="1" noChangeShapeType="1" noTextEdit="1"/>
              </p:cNvSpPr>
              <p:nvPr>
                <p:ph idx="1"/>
              </p:nvPr>
            </p:nvSpPr>
            <p:spPr>
              <a:blipFill rotWithShape="0">
                <a:blip r:embed="rId2"/>
                <a:stretch>
                  <a:fillRect l="-999" t="-1310" r="-444"/>
                </a:stretch>
              </a:blipFill>
            </p:spPr>
            <p:txBody>
              <a:bodyPr/>
              <a:lstStyle/>
              <a:p>
                <a:r>
                  <a:rPr lang="zh-CN" altLang="en-US">
                    <a:noFill/>
                  </a:rPr>
                  <a:t> </a:t>
                </a:r>
              </a:p>
            </p:txBody>
          </p:sp>
        </mc:Fallback>
      </mc:AlternateContent>
      <p:sp>
        <p:nvSpPr>
          <p:cNvPr id="5" name="日期占位符 4"/>
          <p:cNvSpPr>
            <a:spLocks noGrp="1"/>
          </p:cNvSpPr>
          <p:nvPr>
            <p:ph type="dt" sz="half" idx="10"/>
          </p:nvPr>
        </p:nvSpPr>
        <p:spPr/>
        <p:txBody>
          <a:bodyPr/>
          <a:lstStyle/>
          <a:p>
            <a:fld id="{DD2AC882-FADB-43DE-917A-1917F816A128}" type="datetime1">
              <a:rPr lang="zh-CN" altLang="en-US" smtClean="0"/>
              <a:t>2025/4/15</a:t>
            </a:fld>
            <a:endParaRPr lang="zh-CN" altLang="en-US" dirty="0"/>
          </a:p>
        </p:txBody>
      </p:sp>
      <p:sp>
        <p:nvSpPr>
          <p:cNvPr id="9" name="页脚占位符 8"/>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10" name="灯片编号占位符 9"/>
          <p:cNvSpPr>
            <a:spLocks noGrp="1"/>
          </p:cNvSpPr>
          <p:nvPr>
            <p:ph type="sldNum" sz="quarter" idx="12"/>
          </p:nvPr>
        </p:nvSpPr>
        <p:spPr/>
        <p:txBody>
          <a:bodyPr/>
          <a:lstStyle/>
          <a:p>
            <a:fld id="{67913A8A-9EFB-4B5F-9CCB-3D21173FAA85}" type="slidenum">
              <a:rPr lang="zh-CN" altLang="en-US" smtClean="0"/>
              <a:pPr/>
              <a:t>89</a:t>
            </a:fld>
            <a:endParaRPr lang="zh-CN" altLang="en-US" dirty="0"/>
          </a:p>
        </p:txBody>
      </p:sp>
    </p:spTree>
    <p:extLst>
      <p:ext uri="{BB962C8B-B14F-4D97-AF65-F5344CB8AC3E}">
        <p14:creationId xmlns:p14="http://schemas.microsoft.com/office/powerpoint/2010/main" val="3723089863"/>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图的</a:t>
            </a:r>
            <a:r>
              <a:rPr lang="zh-CN" altLang="en-US" dirty="0" smtClean="0"/>
              <a:t>表示</a:t>
            </a:r>
            <a:r>
              <a:rPr lang="en-US" altLang="zh-CN" dirty="0" smtClean="0"/>
              <a:t>: </a:t>
            </a:r>
            <a:r>
              <a:rPr lang="zh-CN" altLang="en-US" dirty="0" smtClean="0"/>
              <a:t>邻接矩阵</a:t>
            </a:r>
            <a:endParaRPr lang="en-US" dirty="0"/>
          </a:p>
        </p:txBody>
      </p:sp>
      <p:sp>
        <p:nvSpPr>
          <p:cNvPr id="7" name="Content Placeholder 6"/>
          <p:cNvSpPr>
            <a:spLocks noGrp="1"/>
          </p:cNvSpPr>
          <p:nvPr>
            <p:ph idx="1"/>
          </p:nvPr>
        </p:nvSpPr>
        <p:spPr/>
        <p:txBody>
          <a:bodyPr>
            <a:normAutofit/>
          </a:bodyPr>
          <a:lstStyle/>
          <a:p>
            <a:r>
              <a:rPr lang="zh-CN" altLang="en-US" dirty="0" smtClean="0"/>
              <a:t>例</a:t>
            </a:r>
            <a:r>
              <a:rPr lang="en-US" altLang="zh-CN" dirty="0" smtClean="0"/>
              <a:t>: </a:t>
            </a:r>
            <a:r>
              <a:rPr lang="zh-CN" altLang="en-US" dirty="0" smtClean="0"/>
              <a:t>用邻接矩阵表示下图</a:t>
            </a:r>
            <a:r>
              <a:rPr lang="en-US" altLang="zh-CN" dirty="0" smtClean="0"/>
              <a:t>.</a:t>
            </a:r>
          </a:p>
          <a:p>
            <a:endParaRPr lang="en-US" dirty="0"/>
          </a:p>
          <a:p>
            <a:endParaRPr lang="en-US" dirty="0" smtClean="0"/>
          </a:p>
          <a:p>
            <a:endParaRPr lang="en-US" dirty="0"/>
          </a:p>
          <a:p>
            <a:endParaRPr lang="en-US" dirty="0" smtClean="0"/>
          </a:p>
          <a:p>
            <a:r>
              <a:rPr lang="zh-CN" altLang="en-US" dirty="0" smtClean="0"/>
              <a:t>解</a:t>
            </a:r>
            <a:r>
              <a:rPr lang="en-US" altLang="zh-CN" dirty="0" smtClean="0"/>
              <a:t>: </a:t>
            </a:r>
            <a:r>
              <a:rPr lang="zh-CN" altLang="en-US" dirty="0" smtClean="0"/>
              <a:t>设顶点顺序为</a:t>
            </a:r>
            <a:r>
              <a:rPr lang="en-US" dirty="0" smtClean="0"/>
              <a:t>a, b, c, d, </a:t>
            </a:r>
            <a:r>
              <a:rPr lang="zh-CN" altLang="en-US" dirty="0" smtClean="0"/>
              <a:t>那么邻接矩阵为</a:t>
            </a:r>
            <a:r>
              <a:rPr lang="en-US" dirty="0" smtClean="0"/>
              <a:t> </a:t>
            </a: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49706" y="1747730"/>
            <a:ext cx="1823336" cy="1905000"/>
          </a:xfrm>
          <a:prstGeom prst="rect">
            <a:avLst/>
          </a:prstGeom>
        </p:spPr>
      </p:pic>
      <p:pic>
        <p:nvPicPr>
          <p:cNvPr id="8" name="Picture 7"/>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1752600" y="4606843"/>
            <a:ext cx="2184560" cy="1567773"/>
          </a:xfrm>
          <a:prstGeom prst="rect">
            <a:avLst/>
          </a:prstGeom>
        </p:spPr>
      </p:pic>
      <p:sp>
        <p:nvSpPr>
          <p:cNvPr id="5" name="日期占位符 4"/>
          <p:cNvSpPr>
            <a:spLocks noGrp="1"/>
          </p:cNvSpPr>
          <p:nvPr>
            <p:ph type="dt" sz="half" idx="10"/>
          </p:nvPr>
        </p:nvSpPr>
        <p:spPr/>
        <p:txBody>
          <a:bodyPr/>
          <a:lstStyle/>
          <a:p>
            <a:fld id="{7630D0C9-80E4-4CDD-B3FC-EB0E4C342D2B}" type="datetime1">
              <a:rPr lang="zh-CN" altLang="en-US" smtClean="0"/>
              <a:t>2025/4/15</a:t>
            </a:fld>
            <a:endParaRPr lang="zh-CN" altLang="en-US" dirty="0"/>
          </a:p>
        </p:txBody>
      </p:sp>
      <p:sp>
        <p:nvSpPr>
          <p:cNvPr id="9" name="页脚占位符 8"/>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10" name="灯片编号占位符 9"/>
          <p:cNvSpPr>
            <a:spLocks noGrp="1"/>
          </p:cNvSpPr>
          <p:nvPr>
            <p:ph type="sldNum" sz="quarter" idx="12"/>
          </p:nvPr>
        </p:nvSpPr>
        <p:spPr/>
        <p:txBody>
          <a:bodyPr/>
          <a:lstStyle/>
          <a:p>
            <a:fld id="{67913A8A-9EFB-4B5F-9CCB-3D21173FAA85}" type="slidenum">
              <a:rPr lang="zh-CN" altLang="en-US" smtClean="0"/>
              <a:pPr/>
              <a:t>90</a:t>
            </a:fld>
            <a:endParaRPr lang="zh-CN" altLang="en-US" dirty="0"/>
          </a:p>
        </p:txBody>
      </p:sp>
    </p:spTree>
    <p:extLst>
      <p:ext uri="{BB962C8B-B14F-4D97-AF65-F5344CB8AC3E}">
        <p14:creationId xmlns:p14="http://schemas.microsoft.com/office/powerpoint/2010/main" val="3928559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xEl>
                                              <p:pRg st="5" end="5"/>
                                            </p:txEl>
                                          </p:spTgt>
                                        </p:tgtEl>
                                        <p:attrNameLst>
                                          <p:attrName>style.visibility</p:attrName>
                                        </p:attrNameLst>
                                      </p:cBhvr>
                                      <p:to>
                                        <p:strVal val="visible"/>
                                      </p:to>
                                    </p:set>
                                    <p:animEffect transition="in" filter="wipe(down)">
                                      <p:cBhvr>
                                        <p:cTn id="7" dur="500"/>
                                        <p:tgtEl>
                                          <p:spTgt spid="7">
                                            <p:txEl>
                                              <p:pRg st="5" end="5"/>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down)">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图的</a:t>
            </a:r>
            <a:r>
              <a:rPr lang="zh-CN" altLang="en-US" dirty="0" smtClean="0"/>
              <a:t>表示</a:t>
            </a:r>
            <a:r>
              <a:rPr lang="en-US" altLang="zh-CN" dirty="0" smtClean="0"/>
              <a:t>: </a:t>
            </a:r>
            <a:r>
              <a:rPr lang="zh-CN" altLang="en-US" dirty="0" smtClean="0"/>
              <a:t>邻接矩阵</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smtClean="0"/>
                  <a:t>邻接矩阵还可以用来表示</a:t>
                </a:r>
                <a:r>
                  <a:rPr lang="zh-CN" altLang="en-US" b="1" dirty="0" smtClean="0"/>
                  <a:t>简单有向图</a:t>
                </a:r>
                <a:r>
                  <a:rPr lang="en-US" altLang="zh-CN" dirty="0" smtClean="0"/>
                  <a:t>. </a:t>
                </a:r>
                <a:r>
                  <a:rPr lang="zh-CN" altLang="en-US" dirty="0" smtClean="0"/>
                  <a:t>若简单有向图</a:t>
                </a:r>
                <a:r>
                  <a:rPr lang="en-US" altLang="zh-CN" dirty="0" smtClean="0"/>
                  <a:t>G=(V, E)</a:t>
                </a:r>
                <a:r>
                  <a:rPr lang="zh-CN" altLang="en-US" dirty="0" smtClean="0"/>
                  <a:t>从</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i="1">
                            <a:latin typeface="Cambria Math" panose="02040503050406030204" pitchFamily="18" charset="0"/>
                          </a:rPr>
                          <m:t>𝑖</m:t>
                        </m:r>
                      </m:sub>
                    </m:sSub>
                  </m:oMath>
                </a14:m>
                <a:r>
                  <a:rPr lang="zh-CN" altLang="en-US" dirty="0" smtClean="0"/>
                  <a:t>到</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b="0" i="1" smtClean="0">
                            <a:latin typeface="Cambria Math" panose="02040503050406030204" pitchFamily="18" charset="0"/>
                          </a:rPr>
                          <m:t>𝑗</m:t>
                        </m:r>
                      </m:sub>
                    </m:sSub>
                  </m:oMath>
                </a14:m>
                <a:r>
                  <a:rPr lang="zh-CN" altLang="en-US" dirty="0" smtClean="0"/>
                  <a:t>有边</a:t>
                </a:r>
                <a:r>
                  <a:rPr lang="en-US" altLang="zh-CN" dirty="0" smtClean="0"/>
                  <a:t>, </a:t>
                </a:r>
                <a:r>
                  <a:rPr lang="zh-CN" altLang="en-US" dirty="0" smtClean="0"/>
                  <a:t>则他的矩阵在</a:t>
                </a:r>
                <a:r>
                  <a:rPr lang="en-US" altLang="zh-CN" dirty="0" smtClean="0"/>
                  <a:t>(</a:t>
                </a:r>
                <a:r>
                  <a:rPr lang="en-US" altLang="zh-CN" dirty="0" err="1" smtClean="0"/>
                  <a:t>i</a:t>
                </a:r>
                <a:r>
                  <a:rPr lang="en-US" altLang="zh-CN" dirty="0" smtClean="0"/>
                  <a:t>, j)</a:t>
                </a:r>
                <a:r>
                  <a:rPr lang="zh-CN" altLang="en-US" dirty="0" smtClean="0"/>
                  <a:t>位置上为</a:t>
                </a:r>
                <a:r>
                  <a:rPr lang="en-US" altLang="zh-CN" dirty="0" smtClean="0"/>
                  <a:t>1, </a:t>
                </a:r>
                <a:r>
                  <a:rPr lang="zh-CN" altLang="en-US" dirty="0" smtClean="0"/>
                  <a:t>其中</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b="0" i="1" smtClean="0">
                            <a:latin typeface="Cambria Math" panose="02040503050406030204" pitchFamily="18" charset="0"/>
                          </a:rPr>
                          <m:t>1</m:t>
                        </m:r>
                      </m:sub>
                    </m:sSub>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b="0" i="1" smtClean="0">
                            <a:latin typeface="Cambria Math" panose="02040503050406030204" pitchFamily="18" charset="0"/>
                          </a:rPr>
                          <m:t>2</m:t>
                        </m:r>
                      </m:sub>
                    </m:sSub>
                  </m:oMath>
                </a14:m>
                <a:r>
                  <a:rPr lang="en-US" dirty="0" smtClean="0"/>
                  <a:t>, …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b="0" i="1" smtClean="0">
                            <a:latin typeface="Cambria Math" panose="02040503050406030204" pitchFamily="18" charset="0"/>
                          </a:rPr>
                          <m:t>𝑛</m:t>
                        </m:r>
                      </m:sub>
                    </m:sSub>
                  </m:oMath>
                </a14:m>
                <a:r>
                  <a:rPr lang="zh-CN" altLang="en-US" dirty="0" smtClean="0"/>
                  <a:t>是简单有向图的任意的顶点序列</a:t>
                </a:r>
                <a:r>
                  <a:rPr lang="en-US" altLang="zh-CN" dirty="0" smtClean="0"/>
                  <a:t>. </a:t>
                </a:r>
                <a:r>
                  <a:rPr lang="zh-CN" altLang="en-US" dirty="0" smtClean="0"/>
                  <a:t>该</a:t>
                </a:r>
                <a:r>
                  <a:rPr lang="zh-CN" altLang="en-US" b="1" dirty="0"/>
                  <a:t>邻接矩阵不一定是对称</a:t>
                </a:r>
                <a:r>
                  <a:rPr lang="zh-CN" altLang="en-US" b="1" dirty="0" smtClean="0"/>
                  <a:t>的</a:t>
                </a:r>
                <a:r>
                  <a:rPr lang="en-US" altLang="zh-CN" dirty="0" smtClean="0"/>
                  <a:t>, </a:t>
                </a:r>
                <a:r>
                  <a:rPr lang="zh-CN" altLang="en-US" dirty="0" smtClean="0"/>
                  <a:t>因为</a:t>
                </a:r>
                <a:r>
                  <a:rPr lang="zh-CN" altLang="en-US" dirty="0"/>
                  <a:t>当从</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i="1">
                            <a:latin typeface="Cambria Math" panose="02040503050406030204" pitchFamily="18" charset="0"/>
                          </a:rPr>
                          <m:t>𝑖</m:t>
                        </m:r>
                      </m:sub>
                    </m:sSub>
                  </m:oMath>
                </a14:m>
                <a:r>
                  <a:rPr lang="zh-CN" altLang="en-US" dirty="0"/>
                  <a:t>到</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i="1">
                            <a:latin typeface="Cambria Math" panose="02040503050406030204" pitchFamily="18" charset="0"/>
                          </a:rPr>
                          <m:t>𝑗</m:t>
                        </m:r>
                      </m:sub>
                    </m:sSub>
                  </m:oMath>
                </a14:m>
                <a:r>
                  <a:rPr lang="zh-CN" altLang="en-US" dirty="0"/>
                  <a:t>有</a:t>
                </a:r>
                <a:r>
                  <a:rPr lang="zh-CN" altLang="en-US" dirty="0" smtClean="0"/>
                  <a:t>边时</a:t>
                </a:r>
                <a:r>
                  <a:rPr lang="en-US" altLang="zh-CN" dirty="0" smtClean="0"/>
                  <a:t>, </a:t>
                </a:r>
                <a:r>
                  <a:rPr lang="zh-CN" altLang="en-US" dirty="0" smtClean="0"/>
                  <a:t>不一定</a:t>
                </a:r>
                <a:r>
                  <a:rPr lang="zh-CN" altLang="en-US" dirty="0"/>
                  <a:t>从</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i="1">
                            <a:latin typeface="Cambria Math" panose="02040503050406030204" pitchFamily="18" charset="0"/>
                          </a:rPr>
                          <m:t>𝑗</m:t>
                        </m:r>
                      </m:sub>
                    </m:sSub>
                  </m:oMath>
                </a14:m>
                <a:r>
                  <a:rPr lang="zh-CN" altLang="en-US" dirty="0"/>
                  <a:t>到</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i="1">
                            <a:latin typeface="Cambria Math" panose="02040503050406030204" pitchFamily="18" charset="0"/>
                          </a:rPr>
                          <m:t>𝑖</m:t>
                        </m:r>
                      </m:sub>
                    </m:sSub>
                  </m:oMath>
                </a14:m>
                <a:r>
                  <a:rPr lang="zh-CN" altLang="en-US" dirty="0"/>
                  <a:t>有</a:t>
                </a:r>
                <a:r>
                  <a:rPr lang="zh-CN" altLang="en-US" dirty="0" smtClean="0"/>
                  <a:t>边</a:t>
                </a:r>
                <a:r>
                  <a:rPr lang="en-US" altLang="zh-CN" dirty="0" smtClean="0"/>
                  <a:t>.</a:t>
                </a:r>
              </a:p>
              <a:p>
                <a:r>
                  <a:rPr lang="zh-CN" altLang="en-US" dirty="0" smtClean="0"/>
                  <a:t>换句话说</a:t>
                </a:r>
                <a:r>
                  <a:rPr lang="en-US" altLang="zh-CN" dirty="0" smtClean="0"/>
                  <a:t>, </a:t>
                </a:r>
                <a:r>
                  <a:rPr lang="zh-CN" altLang="en-US" dirty="0" smtClean="0"/>
                  <a:t>若</a:t>
                </a:r>
                <a:r>
                  <a:rPr lang="en-US" dirty="0" smtClean="0"/>
                  <a:t> AG =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𝑖𝑗</m:t>
                        </m:r>
                      </m:sub>
                    </m:sSub>
                  </m:oMath>
                </a14:m>
                <a:r>
                  <a:rPr lang="en-US" dirty="0" smtClean="0"/>
                  <a:t>]</a:t>
                </a:r>
                <a:r>
                  <a:rPr lang="en-US" altLang="zh-CN" dirty="0" smtClean="0"/>
                  <a:t>, </a:t>
                </a:r>
                <a:r>
                  <a:rPr lang="zh-CN" altLang="en-US" dirty="0" smtClean="0"/>
                  <a:t>则</a:t>
                </a:r>
                <a:endParaRPr lang="en-US" altLang="zh-CN" dirty="0" smtClean="0"/>
              </a:p>
              <a:p>
                <a:pPr marL="0" indent="0">
                  <a:buNone/>
                </a:pPr>
                <a14:m>
                  <m:oMathPara xmlns:m="http://schemas.openxmlformats.org/officeDocument/2006/math">
                    <m:oMathParaPr>
                      <m:jc m:val="center"/>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𝑖𝑗</m:t>
                          </m:r>
                        </m:sub>
                      </m:sSub>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r>
                                <a:rPr lang="en-US" altLang="zh-CN" i="1">
                                  <a:latin typeface="Cambria Math" panose="02040503050406030204" pitchFamily="18" charset="0"/>
                                </a:rPr>
                                <m:t>1,</m:t>
                              </m:r>
                              <m:r>
                                <a:rPr lang="en-US" altLang="zh-CN" i="1" smtClean="0">
                                  <a:latin typeface="Cambria Math" panose="02040503050406030204" pitchFamily="18" charset="0"/>
                                </a:rPr>
                                <m:t> </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i="1">
                                      <a:latin typeface="Cambria Math" panose="02040503050406030204" pitchFamily="18" charset="0"/>
                                    </a:rPr>
                                    <m:t>𝑖</m:t>
                                  </m:r>
                                </m:sub>
                              </m:sSub>
                              <m:r>
                                <m:rPr>
                                  <m:nor/>
                                </m:rPr>
                                <a:rPr lang="en-US" altLang="zh-CN" dirty="0"/>
                                <m:t>, </m:t>
                              </m:r>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i="1">
                                      <a:latin typeface="Cambria Math" panose="02040503050406030204" pitchFamily="18" charset="0"/>
                                    </a:rPr>
                                    <m:t>𝑗</m:t>
                                  </m:r>
                                </m:sub>
                              </m:sSub>
                              <m:r>
                                <a:rPr lang="en-US" altLang="zh-CN" i="1">
                                  <a:latin typeface="Cambria Math" panose="02040503050406030204" pitchFamily="18" charset="0"/>
                                </a:rPr>
                                <m:t>}</m:t>
                              </m:r>
                              <m:r>
                                <a:rPr lang="zh-CN" altLang="en-US" i="1">
                                  <a:latin typeface="Cambria Math" panose="02040503050406030204" pitchFamily="18" charset="0"/>
                                </a:rPr>
                                <m:t>是</m:t>
                              </m:r>
                              <m:r>
                                <m:rPr>
                                  <m:sty m:val="p"/>
                                </m:rPr>
                                <a:rPr lang="en-US" altLang="zh-CN" i="1">
                                  <a:latin typeface="Cambria Math" panose="02040503050406030204" pitchFamily="18" charset="0"/>
                                </a:rPr>
                                <m:t>G</m:t>
                              </m:r>
                              <m:r>
                                <a:rPr lang="zh-CN" altLang="en-US" i="1">
                                  <a:latin typeface="Cambria Math" panose="02040503050406030204" pitchFamily="18" charset="0"/>
                                </a:rPr>
                                <m:t>的边</m:t>
                              </m:r>
                            </m:e>
                            <m:e>
                              <m:r>
                                <a:rPr lang="en-US" altLang="zh-CN" i="1">
                                  <a:latin typeface="Cambria Math" panose="02040503050406030204" pitchFamily="18" charset="0"/>
                                </a:rPr>
                                <m:t>0,</m:t>
                              </m:r>
                              <m:r>
                                <a:rPr lang="en-US" altLang="zh-CN" i="1" smtClean="0">
                                  <a:latin typeface="Cambria Math" panose="02040503050406030204" pitchFamily="18" charset="0"/>
                                </a:rPr>
                                <m:t> </m:t>
                              </m:r>
                              <m:r>
                                <a:rPr lang="zh-CN" altLang="en-US" i="1">
                                  <a:latin typeface="Cambria Math" panose="02040503050406030204" pitchFamily="18" charset="0"/>
                                </a:rPr>
                                <m:t>其他情况</m:t>
                              </m:r>
                              <m:r>
                                <a:rPr lang="en-US" altLang="zh-CN" i="1" smtClean="0">
                                  <a:latin typeface="Cambria Math" panose="02040503050406030204" pitchFamily="18" charset="0"/>
                                </a:rPr>
                                <m:t> </m:t>
                              </m:r>
                            </m:e>
                          </m:eqArr>
                        </m:e>
                      </m:d>
                    </m:oMath>
                  </m:oMathPara>
                </a14:m>
                <a:endParaRPr lang="en-US" dirty="0" smtClean="0"/>
              </a:p>
              <a:p>
                <a:r>
                  <a:rPr lang="zh-CN" altLang="en-US" dirty="0" smtClean="0"/>
                  <a:t>邻接矩阵还可以用来表示</a:t>
                </a:r>
                <a:r>
                  <a:rPr lang="zh-CN" altLang="en-US" b="1" dirty="0" smtClean="0"/>
                  <a:t>有向多重图</a:t>
                </a:r>
                <a:r>
                  <a:rPr lang="en-US" altLang="zh-CN" dirty="0" smtClean="0"/>
                  <a:t>. </a:t>
                </a:r>
                <a:r>
                  <a:rPr lang="zh-CN" altLang="en-US" dirty="0" smtClean="0"/>
                  <a:t>类似地</a:t>
                </a:r>
                <a:r>
                  <a:rPr lang="en-US" altLang="zh-CN" dirty="0" smtClean="0"/>
                  <a:t>, </a:t>
                </a:r>
                <a:r>
                  <a:rPr lang="zh-CN" altLang="en-US" dirty="0" smtClean="0"/>
                  <a:t>当有连接两个顶点的同向多重边时</a:t>
                </a:r>
                <a:r>
                  <a:rPr lang="en-US" altLang="zh-CN" dirty="0" smtClean="0"/>
                  <a:t>, </a:t>
                </a:r>
                <a:r>
                  <a:rPr lang="zh-CN" altLang="en-US" dirty="0" smtClean="0"/>
                  <a:t>这个邻接矩阵不再是</a:t>
                </a:r>
                <a:r>
                  <a:rPr lang="en-US" altLang="zh-CN" dirty="0" smtClean="0"/>
                  <a:t>0-1</a:t>
                </a:r>
                <a:r>
                  <a:rPr lang="zh-CN" altLang="en-US" dirty="0" smtClean="0"/>
                  <a:t>矩阵</a:t>
                </a:r>
                <a:r>
                  <a:rPr lang="en-US" altLang="zh-CN" dirty="0" smtClean="0"/>
                  <a:t>, </a:t>
                </a:r>
                <a:r>
                  <a:rPr lang="zh-CN" altLang="en-US" dirty="0" smtClean="0"/>
                  <a:t>其中</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𝑖𝑗</m:t>
                        </m:r>
                      </m:sub>
                    </m:sSub>
                  </m:oMath>
                </a14:m>
                <a:r>
                  <a:rPr lang="zh-CN" altLang="en-US" dirty="0" smtClean="0"/>
                  <a:t>等于关联到</a:t>
                </a:r>
                <a:r>
                  <a:rPr lang="en-US" altLang="zh-CN" dirty="0" smtClean="0"/>
                  <a:t>(</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i="1">
                            <a:latin typeface="Cambria Math" panose="02040503050406030204" pitchFamily="18" charset="0"/>
                          </a:rPr>
                          <m:t>𝑖</m:t>
                        </m:r>
                      </m:sub>
                    </m:sSub>
                  </m:oMath>
                </a14:m>
                <a:r>
                  <a:rPr lang="en-US" altLang="zh-CN" dirty="0" smtClean="0"/>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i="1">
                            <a:latin typeface="Cambria Math" panose="02040503050406030204" pitchFamily="18" charset="0"/>
                          </a:rPr>
                          <m:t>𝑗</m:t>
                        </m:r>
                      </m:sub>
                    </m:sSub>
                  </m:oMath>
                </a14:m>
                <a:r>
                  <a:rPr lang="en-US" altLang="zh-CN" dirty="0" smtClean="0"/>
                  <a:t>)</a:t>
                </a:r>
                <a:r>
                  <a:rPr lang="zh-CN" altLang="en-US" dirty="0" smtClean="0"/>
                  <a:t>的边数</a:t>
                </a:r>
                <a:r>
                  <a:rPr lang="en-US" altLang="zh-CN" dirty="0" smtClean="0"/>
                  <a:t>.</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99" t="-1310" r="-1110" b="-1667"/>
                </a:stretch>
              </a:blipFill>
            </p:spPr>
            <p:txBody>
              <a:bodyPr/>
              <a:lstStyle/>
              <a:p>
                <a:r>
                  <a:rPr lang="zh-CN" altLang="en-US">
                    <a:noFill/>
                  </a:rPr>
                  <a:t> </a:t>
                </a:r>
              </a:p>
            </p:txBody>
          </p:sp>
        </mc:Fallback>
      </mc:AlternateContent>
      <p:sp>
        <p:nvSpPr>
          <p:cNvPr id="7" name="日期占位符 6"/>
          <p:cNvSpPr>
            <a:spLocks noGrp="1"/>
          </p:cNvSpPr>
          <p:nvPr>
            <p:ph type="dt" sz="half" idx="10"/>
          </p:nvPr>
        </p:nvSpPr>
        <p:spPr/>
        <p:txBody>
          <a:bodyPr/>
          <a:lstStyle/>
          <a:p>
            <a:fld id="{8E301AF6-C61F-4C04-956D-BDF931A8E451}"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91</a:t>
            </a:fld>
            <a:endParaRPr lang="zh-CN" altLang="en-US" dirty="0"/>
          </a:p>
        </p:txBody>
      </p:sp>
    </p:spTree>
    <p:extLst>
      <p:ext uri="{BB962C8B-B14F-4D97-AF65-F5344CB8AC3E}">
        <p14:creationId xmlns:p14="http://schemas.microsoft.com/office/powerpoint/2010/main" val="2135266854"/>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57200" y="1676400"/>
            <a:ext cx="11277599" cy="25146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图的</a:t>
            </a:r>
            <a:r>
              <a:rPr lang="zh-CN" altLang="en-US" dirty="0" smtClean="0"/>
              <a:t>表示</a:t>
            </a:r>
            <a:r>
              <a:rPr lang="en-US" altLang="zh-CN" dirty="0" smtClean="0"/>
              <a:t>: </a:t>
            </a:r>
            <a:r>
              <a:rPr lang="zh-CN" altLang="en-US" dirty="0" smtClean="0"/>
              <a:t>关联矩阵</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smtClean="0"/>
                  <a:t>第三种常见的表示图的方式</a:t>
                </a:r>
                <a:r>
                  <a:rPr lang="en-US" altLang="zh-CN" dirty="0" smtClean="0"/>
                  <a:t>:</a:t>
                </a:r>
              </a:p>
              <a:p>
                <a:r>
                  <a:rPr lang="zh-CN" altLang="en-US" dirty="0" smtClean="0"/>
                  <a:t>定义</a:t>
                </a:r>
                <a:r>
                  <a:rPr lang="en-US" dirty="0" smtClean="0"/>
                  <a:t>: </a:t>
                </a:r>
                <a:r>
                  <a:rPr lang="zh-CN" altLang="en-US" dirty="0" smtClean="0"/>
                  <a:t>设</a:t>
                </a:r>
                <a:r>
                  <a:rPr lang="en-US" dirty="0" smtClean="0"/>
                  <a:t>G=(V, E)</a:t>
                </a:r>
                <a:r>
                  <a:rPr lang="zh-CN" altLang="en-US" dirty="0" smtClean="0"/>
                  <a:t>是无向图</a:t>
                </a:r>
                <a:r>
                  <a:rPr lang="en-US" altLang="zh-CN" dirty="0" smtClean="0"/>
                  <a:t>. </a:t>
                </a:r>
                <a:r>
                  <a:rPr lang="zh-CN" altLang="en-US" dirty="0" smtClean="0"/>
                  <a:t>设</a:t>
                </a:r>
                <a:r>
                  <a:rPr lang="en-US" dirty="0" smtClean="0"/>
                  <a:t> </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i="1">
                            <a:latin typeface="Cambria Math" panose="02040503050406030204" pitchFamily="18" charset="0"/>
                          </a:rPr>
                          <m:t>1</m:t>
                        </m:r>
                      </m:sub>
                    </m:sSub>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i="1">
                            <a:latin typeface="Cambria Math" panose="02040503050406030204" pitchFamily="18" charset="0"/>
                          </a:rPr>
                          <m:t>2</m:t>
                        </m:r>
                      </m:sub>
                    </m:sSub>
                  </m:oMath>
                </a14:m>
                <a:r>
                  <a:rPr lang="en-US" altLang="zh-CN" dirty="0" smtClean="0"/>
                  <a:t>, … </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i="1">
                            <a:latin typeface="Cambria Math" panose="02040503050406030204" pitchFamily="18" charset="0"/>
                          </a:rPr>
                          <m:t>𝑛</m:t>
                        </m:r>
                      </m:sub>
                    </m:sSub>
                  </m:oMath>
                </a14:m>
                <a:r>
                  <a:rPr lang="zh-CN" altLang="en-US" dirty="0" smtClean="0"/>
                  <a:t>是图</a:t>
                </a:r>
                <a:r>
                  <a:rPr lang="en-US" altLang="zh-CN" dirty="0" smtClean="0"/>
                  <a:t>G</a:t>
                </a:r>
                <a:r>
                  <a:rPr lang="zh-CN" altLang="en-US" dirty="0" smtClean="0"/>
                  <a:t>的顶点</a:t>
                </a:r>
                <a:r>
                  <a:rPr lang="en-US" altLang="zh-CN" dirty="0" smtClean="0"/>
                  <a:t>, </a:t>
                </a:r>
                <a:r>
                  <a:rPr lang="zh-CN" altLang="en-US" dirty="0" smtClean="0"/>
                  <a:t>而</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𝑒</m:t>
                        </m:r>
                      </m:e>
                      <m:sub>
                        <m:r>
                          <a:rPr lang="en-US" altLang="zh-CN" i="1">
                            <a:latin typeface="Cambria Math" panose="02040503050406030204" pitchFamily="18" charset="0"/>
                          </a:rPr>
                          <m:t>1</m:t>
                        </m:r>
                      </m:sub>
                    </m:sSub>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𝑒</m:t>
                        </m:r>
                      </m:e>
                      <m:sub>
                        <m:r>
                          <a:rPr lang="en-US" altLang="zh-CN" i="1">
                            <a:latin typeface="Cambria Math" panose="02040503050406030204" pitchFamily="18" charset="0"/>
                          </a:rPr>
                          <m:t>2</m:t>
                        </m:r>
                      </m:sub>
                    </m:sSub>
                  </m:oMath>
                </a14:m>
                <a:r>
                  <a:rPr lang="en-US" altLang="zh-CN" dirty="0" smtClean="0"/>
                  <a:t>, … </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𝑒</m:t>
                        </m:r>
                      </m:e>
                      <m:sub>
                        <m:r>
                          <a:rPr lang="en-US" altLang="zh-CN" b="0" i="1" smtClean="0">
                            <a:latin typeface="Cambria Math" panose="02040503050406030204" pitchFamily="18" charset="0"/>
                          </a:rPr>
                          <m:t>𝑚</m:t>
                        </m:r>
                      </m:sub>
                    </m:sSub>
                  </m:oMath>
                </a14:m>
                <a:r>
                  <a:rPr lang="zh-CN" altLang="en-US" dirty="0" smtClean="0"/>
                  <a:t>是图</a:t>
                </a:r>
                <a:r>
                  <a:rPr lang="en-US" altLang="zh-CN" dirty="0" smtClean="0"/>
                  <a:t>G</a:t>
                </a:r>
                <a:r>
                  <a:rPr lang="zh-CN" altLang="en-US" dirty="0" smtClean="0"/>
                  <a:t>的边</a:t>
                </a:r>
                <a:r>
                  <a:rPr lang="en-US" dirty="0" smtClean="0"/>
                  <a:t>. </a:t>
                </a:r>
                <a:r>
                  <a:rPr lang="zh-CN" altLang="en-US" dirty="0" smtClean="0"/>
                  <a:t>相对于</a:t>
                </a:r>
                <a:r>
                  <a:rPr lang="en-US" altLang="zh-CN" dirty="0" smtClean="0"/>
                  <a:t>V</a:t>
                </a:r>
                <a:r>
                  <a:rPr lang="zh-CN" altLang="en-US" dirty="0" smtClean="0"/>
                  <a:t>和</a:t>
                </a:r>
                <a:r>
                  <a:rPr lang="en-US" altLang="zh-CN" dirty="0" smtClean="0"/>
                  <a:t>E</a:t>
                </a:r>
                <a:r>
                  <a:rPr lang="zh-CN" altLang="en-US" dirty="0" smtClean="0"/>
                  <a:t>的这个顺序的</a:t>
                </a:r>
                <a:r>
                  <a:rPr lang="zh-CN" altLang="en-US" b="1" dirty="0" smtClean="0">
                    <a:solidFill>
                      <a:srgbClr val="C00000"/>
                    </a:solidFill>
                  </a:rPr>
                  <a:t>关联矩阵</a:t>
                </a:r>
                <a:r>
                  <a:rPr lang="zh-CN" altLang="en-US" dirty="0" smtClean="0"/>
                  <a:t>是</a:t>
                </a:r>
                <a:r>
                  <a:rPr lang="en-US" dirty="0" err="1" smtClean="0"/>
                  <a:t>n×m</a:t>
                </a:r>
                <a:r>
                  <a:rPr lang="zh-CN" altLang="en-US" dirty="0" smtClean="0"/>
                  <a:t>的矩阵</a:t>
                </a:r>
                <a:r>
                  <a:rPr lang="en-US" dirty="0" smtClean="0"/>
                  <a:t>M = [</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𝑚</m:t>
                        </m:r>
                      </m:e>
                      <m:sub>
                        <m:r>
                          <a:rPr lang="en-US" altLang="zh-CN" i="1">
                            <a:latin typeface="Cambria Math" panose="02040503050406030204" pitchFamily="18" charset="0"/>
                          </a:rPr>
                          <m:t>𝑖𝑗</m:t>
                        </m:r>
                      </m:sub>
                    </m:sSub>
                  </m:oMath>
                </a14:m>
                <a:r>
                  <a:rPr lang="en-US" dirty="0" smtClean="0"/>
                  <a:t>], </a:t>
                </a:r>
                <a:r>
                  <a:rPr lang="zh-CN" altLang="en-US" dirty="0" smtClean="0"/>
                  <a:t>其中</a:t>
                </a:r>
                <a:endParaRPr lang="en-US" altLang="zh-CN" dirty="0" smtClean="0"/>
              </a:p>
              <a:p>
                <a:pPr marL="0" indent="0">
                  <a:buNone/>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𝑚</m:t>
                          </m:r>
                        </m:e>
                        <m:sub>
                          <m:r>
                            <a:rPr lang="en-US" altLang="zh-CN" i="1">
                              <a:latin typeface="Cambria Math" panose="02040503050406030204" pitchFamily="18" charset="0"/>
                            </a:rPr>
                            <m:t>𝑖𝑗</m:t>
                          </m:r>
                        </m:sub>
                      </m:sSub>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r>
                                <a:rPr lang="en-US" altLang="zh-CN" i="1">
                                  <a:latin typeface="Cambria Math" panose="02040503050406030204" pitchFamily="18" charset="0"/>
                                </a:rPr>
                                <m:t>1,</m:t>
                              </m:r>
                              <m:r>
                                <a:rPr lang="en-US" altLang="zh-CN" i="1" smtClean="0">
                                  <a:latin typeface="Cambria Math" panose="02040503050406030204" pitchFamily="18" charset="0"/>
                                </a:rPr>
                                <m:t> </m:t>
                              </m:r>
                              <m:r>
                                <a:rPr lang="zh-CN" altLang="en-US" i="1">
                                  <a:latin typeface="Cambria Math" panose="02040503050406030204" pitchFamily="18" charset="0"/>
                                </a:rPr>
                                <m:t>当边</m:t>
                              </m:r>
                              <m:sSub>
                                <m:sSubPr>
                                  <m:ctrlPr>
                                    <a:rPr lang="en-US" altLang="zh-CN" i="1">
                                      <a:latin typeface="Cambria Math" panose="02040503050406030204" pitchFamily="18" charset="0"/>
                                    </a:rPr>
                                  </m:ctrlPr>
                                </m:sSubPr>
                                <m:e>
                                  <m:r>
                                    <m:rPr>
                                      <m:sty m:val="p"/>
                                    </m:rPr>
                                    <a:rPr lang="en-US" altLang="zh-CN" i="1" smtClean="0">
                                      <a:latin typeface="Cambria Math" panose="02040503050406030204" pitchFamily="18" charset="0"/>
                                    </a:rPr>
                                    <m:t>e</m:t>
                                  </m:r>
                                </m:e>
                                <m:sub>
                                  <m:r>
                                    <a:rPr lang="en-US" altLang="zh-CN" i="1">
                                      <a:latin typeface="Cambria Math" panose="02040503050406030204" pitchFamily="18" charset="0"/>
                                    </a:rPr>
                                    <m:t>𝑗</m:t>
                                  </m:r>
                                </m:sub>
                              </m:sSub>
                              <m:r>
                                <a:rPr lang="zh-CN" altLang="en-US" i="1">
                                  <a:latin typeface="Cambria Math" panose="02040503050406030204" pitchFamily="18" charset="0"/>
                                </a:rPr>
                                <m:t>关联</m:t>
                              </m:r>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i="1">
                                      <a:latin typeface="Cambria Math" panose="02040503050406030204" pitchFamily="18" charset="0"/>
                                    </a:rPr>
                                    <m:t>𝑖</m:t>
                                  </m:r>
                                </m:sub>
                              </m:sSub>
                              <m:r>
                                <a:rPr lang="zh-CN" altLang="en-US" i="1" smtClean="0">
                                  <a:latin typeface="Cambria Math" panose="02040503050406030204" pitchFamily="18" charset="0"/>
                                </a:rPr>
                                <m:t> </m:t>
                              </m:r>
                            </m:e>
                            <m:e>
                              <m:r>
                                <a:rPr lang="en-US" altLang="zh-CN" i="1">
                                  <a:latin typeface="Cambria Math" panose="02040503050406030204" pitchFamily="18" charset="0"/>
                                </a:rPr>
                                <m:t>0,</m:t>
                              </m:r>
                              <m:r>
                                <a:rPr lang="en-US" altLang="zh-CN" i="1" smtClean="0">
                                  <a:latin typeface="Cambria Math" panose="02040503050406030204" pitchFamily="18" charset="0"/>
                                </a:rPr>
                                <m:t> </m:t>
                              </m:r>
                              <m:r>
                                <a:rPr lang="zh-CN" altLang="en-US" i="1">
                                  <a:latin typeface="Cambria Math" panose="02040503050406030204" pitchFamily="18" charset="0"/>
                                </a:rPr>
                                <m:t>其他情况</m:t>
                              </m:r>
                              <m:r>
                                <a:rPr lang="en-US" altLang="zh-CN" i="1" smtClean="0">
                                  <a:latin typeface="Cambria Math" panose="02040503050406030204" pitchFamily="18" charset="0"/>
                                </a:rPr>
                                <m:t> </m:t>
                              </m:r>
                            </m:e>
                          </m:eqArr>
                        </m:e>
                      </m:d>
                    </m:oMath>
                  </m:oMathPara>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310" r="-1554"/>
                </a:stretch>
              </a:blipFill>
            </p:spPr>
            <p:txBody>
              <a:bodyPr/>
              <a:lstStyle/>
              <a:p>
                <a:r>
                  <a:rPr lang="zh-CN" altLang="en-US">
                    <a:noFill/>
                  </a:rPr>
                  <a:t> </a:t>
                </a:r>
              </a:p>
            </p:txBody>
          </p:sp>
        </mc:Fallback>
      </mc:AlternateContent>
      <p:sp>
        <p:nvSpPr>
          <p:cNvPr id="7" name="日期占位符 6"/>
          <p:cNvSpPr>
            <a:spLocks noGrp="1"/>
          </p:cNvSpPr>
          <p:nvPr>
            <p:ph type="dt" sz="half" idx="10"/>
          </p:nvPr>
        </p:nvSpPr>
        <p:spPr/>
        <p:txBody>
          <a:bodyPr/>
          <a:lstStyle/>
          <a:p>
            <a:fld id="{60BE6958-10D0-4DD8-8D79-CCB6450403AC}"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92</a:t>
            </a:fld>
            <a:endParaRPr lang="zh-CN" altLang="en-US" dirty="0"/>
          </a:p>
        </p:txBody>
      </p:sp>
    </p:spTree>
    <p:extLst>
      <p:ext uri="{BB962C8B-B14F-4D97-AF65-F5344CB8AC3E}">
        <p14:creationId xmlns:p14="http://schemas.microsoft.com/office/powerpoint/2010/main" val="1746907366"/>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图的</a:t>
            </a:r>
            <a:r>
              <a:rPr lang="zh-CN" altLang="en-US" dirty="0" smtClean="0"/>
              <a:t>表示</a:t>
            </a:r>
            <a:r>
              <a:rPr lang="en-US" altLang="zh-CN" dirty="0" smtClean="0"/>
              <a:t>: </a:t>
            </a:r>
            <a:r>
              <a:rPr lang="zh-CN" altLang="en-US" dirty="0" smtClean="0"/>
              <a:t>关联矩阵</a:t>
            </a:r>
            <a:endParaRPr lang="en-US" dirty="0"/>
          </a:p>
        </p:txBody>
      </p:sp>
      <p:sp>
        <p:nvSpPr>
          <p:cNvPr id="3" name="Content Placeholder 2"/>
          <p:cNvSpPr>
            <a:spLocks noGrp="1"/>
          </p:cNvSpPr>
          <p:nvPr>
            <p:ph idx="1"/>
          </p:nvPr>
        </p:nvSpPr>
        <p:spPr/>
        <p:txBody>
          <a:bodyPr/>
          <a:lstStyle/>
          <a:p>
            <a:r>
              <a:rPr lang="zh-CN" altLang="en-US" dirty="0" smtClean="0"/>
              <a:t>例</a:t>
            </a:r>
            <a:r>
              <a:rPr lang="en-US" altLang="zh-CN" dirty="0" smtClean="0"/>
              <a:t>: </a:t>
            </a:r>
            <a:r>
              <a:rPr lang="zh-CN" altLang="en-US" dirty="0" smtClean="0"/>
              <a:t>用关联矩阵表示下图</a:t>
            </a:r>
            <a:endParaRPr lang="en-US" altLang="zh-CN" dirty="0" smtClean="0"/>
          </a:p>
          <a:p>
            <a:endParaRPr lang="en-US" dirty="0"/>
          </a:p>
          <a:p>
            <a:endParaRPr lang="en-US" dirty="0" smtClean="0"/>
          </a:p>
          <a:p>
            <a:endParaRPr lang="en-US" dirty="0"/>
          </a:p>
          <a:p>
            <a:endParaRPr lang="en-US" dirty="0" smtClean="0"/>
          </a:p>
          <a:p>
            <a:r>
              <a:rPr lang="zh-CN" altLang="en-US" dirty="0" smtClean="0"/>
              <a:t>解</a:t>
            </a:r>
            <a:r>
              <a:rPr lang="en-US" altLang="zh-CN" dirty="0" smtClean="0"/>
              <a:t>: </a:t>
            </a:r>
            <a:r>
              <a:rPr lang="zh-CN" altLang="en-US" dirty="0" smtClean="0"/>
              <a:t>对应的关联矩阵为</a:t>
            </a:r>
            <a:endParaRPr lang="en-US" dirty="0"/>
          </a:p>
        </p:txBody>
      </p:sp>
      <p:sp>
        <p:nvSpPr>
          <p:cNvPr id="7" name="日期占位符 6"/>
          <p:cNvSpPr>
            <a:spLocks noGrp="1"/>
          </p:cNvSpPr>
          <p:nvPr>
            <p:ph type="dt" sz="half" idx="10"/>
          </p:nvPr>
        </p:nvSpPr>
        <p:spPr/>
        <p:txBody>
          <a:bodyPr/>
          <a:lstStyle/>
          <a:p>
            <a:fld id="{470ADB2E-424C-49DF-9ED8-273B57A752D1}"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93</a:t>
            </a:fld>
            <a:endParaRPr lang="zh-CN" altLang="en-US" dirty="0"/>
          </a:p>
        </p:txBody>
      </p:sp>
      <p:pic>
        <p:nvPicPr>
          <p:cNvPr id="10"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83803" y="1710562"/>
            <a:ext cx="2743200" cy="1975897"/>
          </a:xfrm>
          <a:prstGeom prst="rect">
            <a:avLst/>
          </a:prstGeom>
        </p:spPr>
      </p:pic>
      <p:pic>
        <p:nvPicPr>
          <p:cNvPr id="11" name="Picture 2"/>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4986218" y="4343400"/>
            <a:ext cx="2890260" cy="1790705"/>
          </a:xfrm>
          <a:prstGeom prst="rect">
            <a:avLst/>
          </a:prstGeom>
        </p:spPr>
      </p:pic>
      <p:sp>
        <p:nvSpPr>
          <p:cNvPr id="4" name="文本框 3"/>
          <p:cNvSpPr txBox="1"/>
          <p:nvPr/>
        </p:nvSpPr>
        <p:spPr>
          <a:xfrm>
            <a:off x="4495800" y="4288749"/>
            <a:ext cx="441146" cy="1887696"/>
          </a:xfrm>
          <a:prstGeom prst="rect">
            <a:avLst/>
          </a:prstGeom>
          <a:noFill/>
        </p:spPr>
        <p:txBody>
          <a:bodyPr wrap="none" rtlCol="0">
            <a:spAutoFit/>
          </a:bodyPr>
          <a:lstStyle/>
          <a:p>
            <a:pPr>
              <a:lnSpc>
                <a:spcPts val="2800"/>
              </a:lnSpc>
            </a:pPr>
            <a:r>
              <a:rPr lang="en-US" altLang="zh-CN" dirty="0" smtClean="0">
                <a:latin typeface="微软雅黑" panose="020B0503020204020204" pitchFamily="34" charset="-122"/>
                <a:ea typeface="微软雅黑" panose="020B0503020204020204" pitchFamily="34" charset="-122"/>
              </a:rPr>
              <a:t>v1</a:t>
            </a:r>
          </a:p>
          <a:p>
            <a:pPr>
              <a:lnSpc>
                <a:spcPts val="2800"/>
              </a:lnSpc>
            </a:pPr>
            <a:r>
              <a:rPr lang="en-US" altLang="zh-CN" dirty="0" smtClean="0">
                <a:latin typeface="微软雅黑" panose="020B0503020204020204" pitchFamily="34" charset="-122"/>
                <a:ea typeface="微软雅黑" panose="020B0503020204020204" pitchFamily="34" charset="-122"/>
              </a:rPr>
              <a:t>v2</a:t>
            </a:r>
          </a:p>
          <a:p>
            <a:pPr>
              <a:lnSpc>
                <a:spcPts val="2800"/>
              </a:lnSpc>
            </a:pPr>
            <a:r>
              <a:rPr lang="en-US" altLang="zh-CN" dirty="0" smtClean="0">
                <a:latin typeface="微软雅黑" panose="020B0503020204020204" pitchFamily="34" charset="-122"/>
                <a:ea typeface="微软雅黑" panose="020B0503020204020204" pitchFamily="34" charset="-122"/>
              </a:rPr>
              <a:t>v3</a:t>
            </a:r>
          </a:p>
          <a:p>
            <a:pPr>
              <a:lnSpc>
                <a:spcPts val="2800"/>
              </a:lnSpc>
            </a:pPr>
            <a:r>
              <a:rPr lang="en-US" altLang="zh-CN" dirty="0" smtClean="0">
                <a:latin typeface="微软雅黑" panose="020B0503020204020204" pitchFamily="34" charset="-122"/>
                <a:ea typeface="微软雅黑" panose="020B0503020204020204" pitchFamily="34" charset="-122"/>
              </a:rPr>
              <a:t>v4</a:t>
            </a:r>
          </a:p>
          <a:p>
            <a:pPr>
              <a:lnSpc>
                <a:spcPts val="2800"/>
              </a:lnSpc>
            </a:pPr>
            <a:r>
              <a:rPr lang="en-US" altLang="zh-CN" dirty="0" smtClean="0">
                <a:latin typeface="微软雅黑" panose="020B0503020204020204" pitchFamily="34" charset="-122"/>
                <a:ea typeface="微软雅黑" panose="020B0503020204020204" pitchFamily="34" charset="-122"/>
              </a:rPr>
              <a:t>v5</a:t>
            </a:r>
            <a:endParaRPr lang="zh-CN" altLang="en-US" dirty="0">
              <a:latin typeface="微软雅黑" panose="020B0503020204020204" pitchFamily="34" charset="-122"/>
              <a:ea typeface="微软雅黑" panose="020B0503020204020204" pitchFamily="34" charset="-122"/>
            </a:endParaRPr>
          </a:p>
        </p:txBody>
      </p:sp>
      <p:sp>
        <p:nvSpPr>
          <p:cNvPr id="12" name="文本框 11"/>
          <p:cNvSpPr txBox="1"/>
          <p:nvPr/>
        </p:nvSpPr>
        <p:spPr>
          <a:xfrm>
            <a:off x="5105400" y="3962400"/>
            <a:ext cx="3276600" cy="451406"/>
          </a:xfrm>
          <a:prstGeom prst="rect">
            <a:avLst/>
          </a:prstGeom>
          <a:noFill/>
        </p:spPr>
        <p:txBody>
          <a:bodyPr wrap="square" rtlCol="0">
            <a:spAutoFit/>
          </a:bodyPr>
          <a:lstStyle/>
          <a:p>
            <a:pPr>
              <a:lnSpc>
                <a:spcPts val="2800"/>
              </a:lnSpc>
            </a:pPr>
            <a:r>
              <a:rPr lang="en-US" altLang="zh-CN" dirty="0" smtClean="0">
                <a:latin typeface="微软雅黑" panose="020B0503020204020204" pitchFamily="34" charset="-122"/>
                <a:ea typeface="微软雅黑" panose="020B0503020204020204" pitchFamily="34" charset="-122"/>
              </a:rPr>
              <a:t>e1   e2   e3  e4   e5   e6</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26312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wipe(down)">
                                      <p:cBhvr>
                                        <p:cTn id="7" dur="500"/>
                                        <p:tgtEl>
                                          <p:spTgt spid="3">
                                            <p:txEl>
                                              <p:pRg st="5" end="5"/>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down)">
                                      <p:cBhvr>
                                        <p:cTn id="10" dur="500"/>
                                        <p:tgtEl>
                                          <p:spTgt spid="11"/>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down)">
                                      <p:cBhvr>
                                        <p:cTn id="13" dur="500"/>
                                        <p:tgtEl>
                                          <p:spTgt spid="4"/>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down)">
                                      <p:cBhvr>
                                        <p:cTn id="1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2"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图的</a:t>
            </a:r>
            <a:r>
              <a:rPr lang="zh-CN" altLang="en-US" dirty="0" smtClean="0"/>
              <a:t>表示</a:t>
            </a:r>
            <a:r>
              <a:rPr lang="en-US" altLang="zh-CN" dirty="0" smtClean="0"/>
              <a:t>: </a:t>
            </a:r>
            <a:r>
              <a:rPr lang="zh-CN" altLang="en-US" dirty="0" smtClean="0"/>
              <a:t>关联矩阵</a:t>
            </a:r>
            <a:endParaRPr lang="en-US" dirty="0"/>
          </a:p>
        </p:txBody>
      </p:sp>
      <p:sp>
        <p:nvSpPr>
          <p:cNvPr id="3" name="Content Placeholder 2"/>
          <p:cNvSpPr>
            <a:spLocks noGrp="1"/>
          </p:cNvSpPr>
          <p:nvPr>
            <p:ph idx="1"/>
          </p:nvPr>
        </p:nvSpPr>
        <p:spPr/>
        <p:txBody>
          <a:bodyPr/>
          <a:lstStyle/>
          <a:p>
            <a:r>
              <a:rPr lang="zh-CN" altLang="en-US" dirty="0" smtClean="0"/>
              <a:t>例</a:t>
            </a:r>
            <a:r>
              <a:rPr lang="en-US" altLang="zh-CN" dirty="0" smtClean="0"/>
              <a:t>: </a:t>
            </a:r>
            <a:r>
              <a:rPr lang="zh-CN" altLang="en-US" dirty="0" smtClean="0"/>
              <a:t>用关联矩阵表示下图</a:t>
            </a:r>
            <a:endParaRPr lang="en-US" altLang="zh-CN" dirty="0" smtClean="0"/>
          </a:p>
          <a:p>
            <a:endParaRPr lang="en-US" dirty="0"/>
          </a:p>
          <a:p>
            <a:endParaRPr lang="en-US" dirty="0" smtClean="0"/>
          </a:p>
          <a:p>
            <a:endParaRPr lang="en-US" dirty="0"/>
          </a:p>
          <a:p>
            <a:endParaRPr lang="en-US" dirty="0" smtClean="0"/>
          </a:p>
          <a:p>
            <a:r>
              <a:rPr lang="zh-CN" altLang="en-US" dirty="0" smtClean="0"/>
              <a:t>解</a:t>
            </a:r>
            <a:r>
              <a:rPr lang="en-US" altLang="zh-CN" dirty="0" smtClean="0"/>
              <a:t>: </a:t>
            </a:r>
            <a:r>
              <a:rPr lang="zh-CN" altLang="en-US" dirty="0" smtClean="0"/>
              <a:t>对应的关联矩阵为</a:t>
            </a:r>
            <a:endParaRPr lang="en-US" dirty="0"/>
          </a:p>
        </p:txBody>
      </p:sp>
      <p:sp>
        <p:nvSpPr>
          <p:cNvPr id="7" name="日期占位符 6"/>
          <p:cNvSpPr>
            <a:spLocks noGrp="1"/>
          </p:cNvSpPr>
          <p:nvPr>
            <p:ph type="dt" sz="half" idx="10"/>
          </p:nvPr>
        </p:nvSpPr>
        <p:spPr/>
        <p:txBody>
          <a:bodyPr/>
          <a:lstStyle/>
          <a:p>
            <a:fld id="{054CD88F-4F19-403D-A9DA-AAC9AB621B2E}"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94</a:t>
            </a:fld>
            <a:endParaRPr lang="zh-CN" altLang="en-US" dirty="0"/>
          </a:p>
        </p:txBody>
      </p:sp>
      <p:pic>
        <p:nvPicPr>
          <p:cNvPr id="12" name="Content Placeholder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88626" y="1524000"/>
            <a:ext cx="3212939" cy="2149749"/>
          </a:xfrm>
          <a:prstGeom prst="rect">
            <a:avLst/>
          </a:prstGeom>
        </p:spPr>
      </p:pic>
      <p:pic>
        <p:nvPicPr>
          <p:cNvPr id="13" name="Picture 11"/>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1676400" y="4593422"/>
            <a:ext cx="3657600" cy="1731178"/>
          </a:xfrm>
          <a:prstGeom prst="rect">
            <a:avLst/>
          </a:prstGeom>
        </p:spPr>
      </p:pic>
      <p:sp>
        <p:nvSpPr>
          <p:cNvPr id="10" name="文本框 9"/>
          <p:cNvSpPr txBox="1"/>
          <p:nvPr/>
        </p:nvSpPr>
        <p:spPr>
          <a:xfrm>
            <a:off x="1235254" y="4454422"/>
            <a:ext cx="441146" cy="1887696"/>
          </a:xfrm>
          <a:prstGeom prst="rect">
            <a:avLst/>
          </a:prstGeom>
          <a:noFill/>
        </p:spPr>
        <p:txBody>
          <a:bodyPr wrap="none" rtlCol="0">
            <a:spAutoFit/>
          </a:bodyPr>
          <a:lstStyle/>
          <a:p>
            <a:pPr>
              <a:lnSpc>
                <a:spcPts val="2800"/>
              </a:lnSpc>
            </a:pPr>
            <a:r>
              <a:rPr lang="en-US" altLang="zh-CN" dirty="0" smtClean="0">
                <a:latin typeface="微软雅黑" panose="020B0503020204020204" pitchFamily="34" charset="-122"/>
                <a:ea typeface="微软雅黑" panose="020B0503020204020204" pitchFamily="34" charset="-122"/>
              </a:rPr>
              <a:t>v1</a:t>
            </a:r>
          </a:p>
          <a:p>
            <a:pPr>
              <a:lnSpc>
                <a:spcPts val="2800"/>
              </a:lnSpc>
            </a:pPr>
            <a:r>
              <a:rPr lang="en-US" altLang="zh-CN" dirty="0" smtClean="0">
                <a:latin typeface="微软雅黑" panose="020B0503020204020204" pitchFamily="34" charset="-122"/>
                <a:ea typeface="微软雅黑" panose="020B0503020204020204" pitchFamily="34" charset="-122"/>
              </a:rPr>
              <a:t>v2</a:t>
            </a:r>
          </a:p>
          <a:p>
            <a:pPr>
              <a:lnSpc>
                <a:spcPts val="2800"/>
              </a:lnSpc>
            </a:pPr>
            <a:r>
              <a:rPr lang="en-US" altLang="zh-CN" dirty="0" smtClean="0">
                <a:latin typeface="微软雅黑" panose="020B0503020204020204" pitchFamily="34" charset="-122"/>
                <a:ea typeface="微软雅黑" panose="020B0503020204020204" pitchFamily="34" charset="-122"/>
              </a:rPr>
              <a:t>v3</a:t>
            </a:r>
          </a:p>
          <a:p>
            <a:pPr>
              <a:lnSpc>
                <a:spcPts val="2800"/>
              </a:lnSpc>
            </a:pPr>
            <a:r>
              <a:rPr lang="en-US" altLang="zh-CN" dirty="0" smtClean="0">
                <a:latin typeface="微软雅黑" panose="020B0503020204020204" pitchFamily="34" charset="-122"/>
                <a:ea typeface="微软雅黑" panose="020B0503020204020204" pitchFamily="34" charset="-122"/>
              </a:rPr>
              <a:t>v4</a:t>
            </a:r>
          </a:p>
          <a:p>
            <a:pPr>
              <a:lnSpc>
                <a:spcPts val="2800"/>
              </a:lnSpc>
            </a:pPr>
            <a:r>
              <a:rPr lang="en-US" altLang="zh-CN" dirty="0" smtClean="0">
                <a:latin typeface="微软雅黑" panose="020B0503020204020204" pitchFamily="34" charset="-122"/>
                <a:ea typeface="微软雅黑" panose="020B0503020204020204" pitchFamily="34" charset="-122"/>
              </a:rPr>
              <a:t>v5</a:t>
            </a:r>
            <a:endParaRPr lang="zh-CN" altLang="en-US" dirty="0">
              <a:latin typeface="微软雅黑" panose="020B0503020204020204" pitchFamily="34" charset="-122"/>
              <a:ea typeface="微软雅黑" panose="020B0503020204020204" pitchFamily="34" charset="-122"/>
            </a:endParaRPr>
          </a:p>
        </p:txBody>
      </p:sp>
      <p:sp>
        <p:nvSpPr>
          <p:cNvPr id="11" name="文本框 10"/>
          <p:cNvSpPr txBox="1"/>
          <p:nvPr/>
        </p:nvSpPr>
        <p:spPr>
          <a:xfrm>
            <a:off x="1676400" y="4191000"/>
            <a:ext cx="3962400" cy="451406"/>
          </a:xfrm>
          <a:prstGeom prst="rect">
            <a:avLst/>
          </a:prstGeom>
          <a:noFill/>
        </p:spPr>
        <p:txBody>
          <a:bodyPr wrap="square" rtlCol="0">
            <a:spAutoFit/>
          </a:bodyPr>
          <a:lstStyle/>
          <a:p>
            <a:pPr>
              <a:lnSpc>
                <a:spcPts val="2800"/>
              </a:lnSpc>
            </a:pPr>
            <a:r>
              <a:rPr lang="en-US" altLang="zh-CN" dirty="0" smtClean="0">
                <a:latin typeface="微软雅黑" panose="020B0503020204020204" pitchFamily="34" charset="-122"/>
                <a:ea typeface="微软雅黑" panose="020B0503020204020204" pitchFamily="34" charset="-122"/>
              </a:rPr>
              <a:t>e1    e2   e3  e4  e5   e6   e7  e8</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5876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wipe(down)">
                                      <p:cBhvr>
                                        <p:cTn id="7" dur="500"/>
                                        <p:tgtEl>
                                          <p:spTgt spid="3">
                                            <p:txEl>
                                              <p:pRg st="5" end="5"/>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down)">
                                      <p:cBhvr>
                                        <p:cTn id="10" dur="500"/>
                                        <p:tgtEl>
                                          <p:spTgt spid="10"/>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down)">
                                      <p:cBhvr>
                                        <p:cTn id="13" dur="500"/>
                                        <p:tgtEl>
                                          <p:spTgt spid="11"/>
                                        </p:tgtEl>
                                      </p:cBhvr>
                                    </p:animEffect>
                                  </p:childTnLst>
                                </p:cTn>
                              </p:par>
                              <p:par>
                                <p:cTn id="14" presetID="22" presetClass="entr" presetSubtype="4"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wipe(down)">
                                      <p:cBhvr>
                                        <p:cTn id="1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449944" y="2133600"/>
            <a:ext cx="11277599" cy="22098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smtClean="0"/>
              <a:t>图的同构</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smtClean="0"/>
                  <a:t>我们经常需要知道是否有可能以同样的方式来画出两个图</a:t>
                </a:r>
                <a:r>
                  <a:rPr lang="en-US" altLang="zh-CN" dirty="0" smtClean="0"/>
                  <a:t>. </a:t>
                </a:r>
                <a:r>
                  <a:rPr lang="zh-CN" altLang="en-US" dirty="0" smtClean="0"/>
                  <a:t>也就是说</a:t>
                </a:r>
                <a:r>
                  <a:rPr lang="en-US" altLang="zh-CN" dirty="0" smtClean="0"/>
                  <a:t>, </a:t>
                </a:r>
                <a:r>
                  <a:rPr lang="zh-CN" altLang="en-US" dirty="0" smtClean="0"/>
                  <a:t>当我们忽略图中的顶点的标识时</a:t>
                </a:r>
                <a:r>
                  <a:rPr lang="en-US" altLang="zh-CN" dirty="0" smtClean="0"/>
                  <a:t>, </a:t>
                </a:r>
                <a:r>
                  <a:rPr lang="zh-CN" altLang="en-US" dirty="0" smtClean="0"/>
                  <a:t>这两个图是否具有相同的结构</a:t>
                </a:r>
                <a:r>
                  <a:rPr lang="en-US" altLang="zh-CN" dirty="0" smtClean="0"/>
                  <a:t>.</a:t>
                </a:r>
              </a:p>
              <a:p>
                <a:r>
                  <a:rPr lang="zh-CN" altLang="en-US" dirty="0" smtClean="0"/>
                  <a:t>定义</a:t>
                </a:r>
                <a:r>
                  <a:rPr lang="en-US" dirty="0" smtClean="0"/>
                  <a:t>: </a:t>
                </a:r>
                <a:r>
                  <a:rPr lang="zh-CN" altLang="en-US" dirty="0" smtClean="0"/>
                  <a:t>设</a:t>
                </a:r>
                <a14:m>
                  <m:oMath xmlns:m="http://schemas.openxmlformats.org/officeDocument/2006/math">
                    <m:sSub>
                      <m:sSubPr>
                        <m:ctrlPr>
                          <a:rPr lang="en-US" altLang="zh-CN" i="1" dirty="0" smtClean="0">
                            <a:latin typeface="Cambria Math" panose="02040503050406030204" pitchFamily="18" charset="0"/>
                          </a:rPr>
                        </m:ctrlPr>
                      </m:sSubPr>
                      <m:e>
                        <m:r>
                          <m:rPr>
                            <m:sty m:val="p"/>
                          </m:rPr>
                          <a:rPr lang="en-US" altLang="zh-CN" i="1" dirty="0">
                            <a:latin typeface="Cambria Math" panose="02040503050406030204" pitchFamily="18" charset="0"/>
                          </a:rPr>
                          <m:t>G</m:t>
                        </m:r>
                      </m:e>
                      <m:sub>
                        <m:r>
                          <a:rPr lang="en-US" altLang="zh-CN" b="0" i="1" dirty="0" smtClean="0">
                            <a:latin typeface="Cambria Math" panose="02040503050406030204" pitchFamily="18" charset="0"/>
                          </a:rPr>
                          <m:t>1</m:t>
                        </m:r>
                      </m:sub>
                    </m:sSub>
                  </m:oMath>
                </a14:m>
                <a:r>
                  <a:rPr lang="en-US" dirty="0" smtClean="0"/>
                  <a:t>=(</a:t>
                </a:r>
                <a14:m>
                  <m:oMath xmlns:m="http://schemas.openxmlformats.org/officeDocument/2006/math">
                    <m:sSub>
                      <m:sSubPr>
                        <m:ctrlPr>
                          <a:rPr lang="en-US" altLang="zh-CN" i="1" dirty="0">
                            <a:latin typeface="Cambria Math" panose="02040503050406030204" pitchFamily="18" charset="0"/>
                          </a:rPr>
                        </m:ctrlPr>
                      </m:sSubPr>
                      <m:e>
                        <m:r>
                          <a:rPr lang="en-US" altLang="zh-CN" b="0" i="1" dirty="0" smtClean="0">
                            <a:latin typeface="Cambria Math" panose="02040503050406030204" pitchFamily="18" charset="0"/>
                          </a:rPr>
                          <m:t>𝑉</m:t>
                        </m:r>
                      </m:e>
                      <m:sub>
                        <m:r>
                          <a:rPr lang="en-US" altLang="zh-CN" i="1" dirty="0">
                            <a:latin typeface="Cambria Math" panose="02040503050406030204" pitchFamily="18" charset="0"/>
                          </a:rPr>
                          <m:t>1</m:t>
                        </m:r>
                      </m:sub>
                    </m:sSub>
                  </m:oMath>
                </a14:m>
                <a:r>
                  <a:rPr lang="en-US" dirty="0" smtClean="0"/>
                  <a:t>, </a:t>
                </a:r>
                <a14:m>
                  <m:oMath xmlns:m="http://schemas.openxmlformats.org/officeDocument/2006/math">
                    <m:sSub>
                      <m:sSubPr>
                        <m:ctrlPr>
                          <a:rPr lang="en-US" altLang="zh-CN" i="1" dirty="0">
                            <a:latin typeface="Cambria Math" panose="02040503050406030204" pitchFamily="18" charset="0"/>
                          </a:rPr>
                        </m:ctrlPr>
                      </m:sSubPr>
                      <m:e>
                        <m:r>
                          <a:rPr lang="en-US" altLang="zh-CN" b="0" i="1" dirty="0" smtClean="0">
                            <a:latin typeface="Cambria Math" panose="02040503050406030204" pitchFamily="18" charset="0"/>
                          </a:rPr>
                          <m:t>𝐸</m:t>
                        </m:r>
                      </m:e>
                      <m:sub>
                        <m:r>
                          <a:rPr lang="en-US" altLang="zh-CN" i="1" dirty="0">
                            <a:latin typeface="Cambria Math" panose="02040503050406030204" pitchFamily="18" charset="0"/>
                          </a:rPr>
                          <m:t>1</m:t>
                        </m:r>
                      </m:sub>
                    </m:sSub>
                  </m:oMath>
                </a14:m>
                <a:r>
                  <a:rPr lang="en-US" dirty="0" smtClean="0"/>
                  <a:t>)</a:t>
                </a:r>
                <a:r>
                  <a:rPr lang="zh-CN" altLang="en-US" dirty="0" smtClean="0"/>
                  <a:t>和</a:t>
                </a:r>
                <a14:m>
                  <m:oMath xmlns:m="http://schemas.openxmlformats.org/officeDocument/2006/math">
                    <m:sSub>
                      <m:sSubPr>
                        <m:ctrlPr>
                          <a:rPr lang="en-US" altLang="zh-CN" i="1" dirty="0">
                            <a:latin typeface="Cambria Math" panose="02040503050406030204" pitchFamily="18" charset="0"/>
                          </a:rPr>
                        </m:ctrlPr>
                      </m:sSubPr>
                      <m:e>
                        <m:r>
                          <m:rPr>
                            <m:sty m:val="p"/>
                          </m:rPr>
                          <a:rPr lang="en-US" altLang="zh-CN" i="1" dirty="0">
                            <a:latin typeface="Cambria Math" panose="02040503050406030204" pitchFamily="18" charset="0"/>
                          </a:rPr>
                          <m:t>G</m:t>
                        </m:r>
                      </m:e>
                      <m:sub>
                        <m:r>
                          <a:rPr lang="en-US" altLang="zh-CN" b="0" i="1" dirty="0" smtClean="0">
                            <a:latin typeface="Cambria Math" panose="02040503050406030204" pitchFamily="18" charset="0"/>
                          </a:rPr>
                          <m:t>2</m:t>
                        </m:r>
                      </m:sub>
                    </m:sSub>
                  </m:oMath>
                </a14:m>
                <a:r>
                  <a:rPr lang="en-US" dirty="0" smtClean="0"/>
                  <a:t>=(</a:t>
                </a:r>
                <a14:m>
                  <m:oMath xmlns:m="http://schemas.openxmlformats.org/officeDocument/2006/math">
                    <m:sSub>
                      <m:sSubPr>
                        <m:ctrlPr>
                          <a:rPr lang="en-US" altLang="zh-CN" i="1" dirty="0">
                            <a:latin typeface="Cambria Math" panose="02040503050406030204" pitchFamily="18" charset="0"/>
                          </a:rPr>
                        </m:ctrlPr>
                      </m:sSubPr>
                      <m:e>
                        <m:r>
                          <a:rPr lang="en-US" altLang="zh-CN" b="0" i="1" dirty="0" smtClean="0">
                            <a:latin typeface="Cambria Math" panose="02040503050406030204" pitchFamily="18" charset="0"/>
                          </a:rPr>
                          <m:t>𝑉</m:t>
                        </m:r>
                      </m:e>
                      <m:sub>
                        <m:r>
                          <a:rPr lang="en-US" altLang="zh-CN" i="1" dirty="0">
                            <a:latin typeface="Cambria Math" panose="02040503050406030204" pitchFamily="18" charset="0"/>
                          </a:rPr>
                          <m:t>2</m:t>
                        </m:r>
                      </m:sub>
                    </m:sSub>
                  </m:oMath>
                </a14:m>
                <a:r>
                  <a:rPr lang="en-US" dirty="0" smtClean="0"/>
                  <a:t>, </a:t>
                </a:r>
                <a14:m>
                  <m:oMath xmlns:m="http://schemas.openxmlformats.org/officeDocument/2006/math">
                    <m:sSub>
                      <m:sSubPr>
                        <m:ctrlPr>
                          <a:rPr lang="en-US" altLang="zh-CN" i="1" dirty="0">
                            <a:latin typeface="Cambria Math" panose="02040503050406030204" pitchFamily="18" charset="0"/>
                          </a:rPr>
                        </m:ctrlPr>
                      </m:sSubPr>
                      <m:e>
                        <m:r>
                          <a:rPr lang="en-US" altLang="zh-CN" b="0" i="1" dirty="0" smtClean="0">
                            <a:latin typeface="Cambria Math" panose="02040503050406030204" pitchFamily="18" charset="0"/>
                          </a:rPr>
                          <m:t>𝐸</m:t>
                        </m:r>
                      </m:e>
                      <m:sub>
                        <m:r>
                          <a:rPr lang="en-US" altLang="zh-CN" i="1" dirty="0">
                            <a:latin typeface="Cambria Math" panose="02040503050406030204" pitchFamily="18" charset="0"/>
                          </a:rPr>
                          <m:t>2</m:t>
                        </m:r>
                      </m:sub>
                    </m:sSub>
                  </m:oMath>
                </a14:m>
                <a:r>
                  <a:rPr lang="en-US" dirty="0" smtClean="0"/>
                  <a:t>)</a:t>
                </a:r>
                <a:r>
                  <a:rPr lang="zh-CN" altLang="en-US" dirty="0" smtClean="0"/>
                  <a:t>是</a:t>
                </a:r>
                <a:r>
                  <a:rPr lang="zh-CN" altLang="en-US" b="1" dirty="0" smtClean="0"/>
                  <a:t>简单图</a:t>
                </a:r>
                <a:r>
                  <a:rPr lang="en-US" altLang="zh-CN" dirty="0" smtClean="0"/>
                  <a:t>. </a:t>
                </a:r>
                <a:r>
                  <a:rPr lang="zh-CN" altLang="en-US" dirty="0" smtClean="0"/>
                  <a:t>若存在一对一的和映上的从</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𝑉</m:t>
                        </m:r>
                      </m:e>
                      <m:sub>
                        <m:r>
                          <a:rPr lang="en-US" altLang="zh-CN" i="1" dirty="0">
                            <a:latin typeface="Cambria Math" panose="02040503050406030204" pitchFamily="18" charset="0"/>
                          </a:rPr>
                          <m:t>1</m:t>
                        </m:r>
                      </m:sub>
                    </m:sSub>
                  </m:oMath>
                </a14:m>
                <a:r>
                  <a:rPr lang="zh-CN" altLang="en-US" dirty="0" smtClean="0"/>
                  <a:t>到</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𝑉</m:t>
                        </m:r>
                      </m:e>
                      <m:sub>
                        <m:r>
                          <a:rPr lang="en-US" altLang="zh-CN" i="1" dirty="0">
                            <a:latin typeface="Cambria Math" panose="02040503050406030204" pitchFamily="18" charset="0"/>
                          </a:rPr>
                          <m:t>2</m:t>
                        </m:r>
                      </m:sub>
                    </m:sSub>
                  </m:oMath>
                </a14:m>
                <a:r>
                  <a:rPr lang="zh-CN" altLang="en-US" dirty="0" smtClean="0"/>
                  <a:t>的函数</a:t>
                </a:r>
                <a14:m>
                  <m:oMath xmlns:m="http://schemas.openxmlformats.org/officeDocument/2006/math">
                    <m:r>
                      <a:rPr lang="en-US" altLang="zh-CN" b="0" i="1" dirty="0" smtClean="0">
                        <a:latin typeface="Cambria Math" panose="02040503050406030204" pitchFamily="18" charset="0"/>
                      </a:rPr>
                      <m:t>𝑓</m:t>
                    </m:r>
                  </m:oMath>
                </a14:m>
                <a:r>
                  <a:rPr lang="en-US" altLang="zh-CN" dirty="0" smtClean="0"/>
                  <a:t>, </a:t>
                </a:r>
                <a:r>
                  <a:rPr lang="zh-CN" altLang="en-US" dirty="0" smtClean="0"/>
                  <a:t>且</a:t>
                </a:r>
                <a14:m>
                  <m:oMath xmlns:m="http://schemas.openxmlformats.org/officeDocument/2006/math">
                    <m:r>
                      <a:rPr lang="en-US" altLang="zh-CN" i="1" dirty="0">
                        <a:latin typeface="Cambria Math" panose="02040503050406030204" pitchFamily="18" charset="0"/>
                      </a:rPr>
                      <m:t>𝑓</m:t>
                    </m:r>
                  </m:oMath>
                </a14:m>
                <a:r>
                  <a:rPr lang="zh-CN" altLang="en-US" dirty="0" smtClean="0"/>
                  <a:t>具有这样的性质</a:t>
                </a:r>
                <a:r>
                  <a:rPr lang="en-US" altLang="zh-CN" dirty="0" smtClean="0"/>
                  <a:t>: </a:t>
                </a:r>
                <a:r>
                  <a:rPr lang="zh-CN" altLang="en-US" dirty="0" smtClean="0"/>
                  <a:t>对</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𝑉</m:t>
                        </m:r>
                      </m:e>
                      <m:sub>
                        <m:r>
                          <a:rPr lang="en-US" altLang="zh-CN" i="1" dirty="0">
                            <a:latin typeface="Cambria Math" panose="02040503050406030204" pitchFamily="18" charset="0"/>
                          </a:rPr>
                          <m:t>1</m:t>
                        </m:r>
                      </m:sub>
                    </m:sSub>
                  </m:oMath>
                </a14:m>
                <a:r>
                  <a:rPr lang="zh-CN" altLang="en-US" dirty="0" smtClean="0"/>
                  <a:t>中的所有的</a:t>
                </a:r>
                <a:r>
                  <a:rPr lang="en-US" altLang="zh-CN" dirty="0" smtClean="0"/>
                  <a:t>a</a:t>
                </a:r>
                <a:r>
                  <a:rPr lang="zh-CN" altLang="en-US" dirty="0" smtClean="0"/>
                  <a:t>和</a:t>
                </a:r>
                <a:r>
                  <a:rPr lang="en-US" altLang="zh-CN" dirty="0" smtClean="0"/>
                  <a:t>b</a:t>
                </a:r>
                <a:r>
                  <a:rPr lang="zh-CN" altLang="en-US" dirty="0" smtClean="0"/>
                  <a:t>来说</a:t>
                </a:r>
                <a:r>
                  <a:rPr lang="en-US" altLang="zh-CN" dirty="0" smtClean="0"/>
                  <a:t>, a</a:t>
                </a:r>
                <a:r>
                  <a:rPr lang="zh-CN" altLang="en-US" dirty="0" smtClean="0"/>
                  <a:t>和</a:t>
                </a:r>
                <a:r>
                  <a:rPr lang="en-US" altLang="zh-CN" dirty="0" smtClean="0"/>
                  <a:t>b</a:t>
                </a:r>
                <a:r>
                  <a:rPr lang="zh-CN" altLang="en-US" dirty="0" smtClean="0"/>
                  <a:t>在</a:t>
                </a:r>
                <a14:m>
                  <m:oMath xmlns:m="http://schemas.openxmlformats.org/officeDocument/2006/math">
                    <m:sSub>
                      <m:sSubPr>
                        <m:ctrlPr>
                          <a:rPr lang="en-US" altLang="zh-CN" i="1" dirty="0">
                            <a:latin typeface="Cambria Math" panose="02040503050406030204" pitchFamily="18" charset="0"/>
                          </a:rPr>
                        </m:ctrlPr>
                      </m:sSubPr>
                      <m:e>
                        <m:r>
                          <m:rPr>
                            <m:sty m:val="p"/>
                          </m:rPr>
                          <a:rPr lang="en-US" altLang="zh-CN" i="1" dirty="0">
                            <a:latin typeface="Cambria Math" panose="02040503050406030204" pitchFamily="18" charset="0"/>
                          </a:rPr>
                          <m:t>G</m:t>
                        </m:r>
                      </m:e>
                      <m:sub>
                        <m:r>
                          <a:rPr lang="en-US" altLang="zh-CN" i="1" dirty="0">
                            <a:latin typeface="Cambria Math" panose="02040503050406030204" pitchFamily="18" charset="0"/>
                          </a:rPr>
                          <m:t>1</m:t>
                        </m:r>
                      </m:sub>
                    </m:sSub>
                  </m:oMath>
                </a14:m>
                <a:r>
                  <a:rPr lang="zh-CN" altLang="en-US" dirty="0" smtClean="0"/>
                  <a:t>中相邻当且仅当</a:t>
                </a:r>
                <a14:m>
                  <m:oMath xmlns:m="http://schemas.openxmlformats.org/officeDocument/2006/math">
                    <m:r>
                      <a:rPr lang="en-US" altLang="zh-CN" i="1" dirty="0">
                        <a:latin typeface="Cambria Math" panose="02040503050406030204" pitchFamily="18" charset="0"/>
                      </a:rPr>
                      <m:t>𝑓</m:t>
                    </m:r>
                  </m:oMath>
                </a14:m>
                <a:r>
                  <a:rPr lang="en-US" altLang="zh-CN" dirty="0" smtClean="0"/>
                  <a:t>(a)</a:t>
                </a:r>
                <a:r>
                  <a:rPr lang="zh-CN" altLang="en-US" dirty="0" smtClean="0"/>
                  <a:t>和</a:t>
                </a:r>
                <a14:m>
                  <m:oMath xmlns:m="http://schemas.openxmlformats.org/officeDocument/2006/math">
                    <m:r>
                      <a:rPr lang="en-US" altLang="zh-CN" i="1" dirty="0">
                        <a:latin typeface="Cambria Math" panose="02040503050406030204" pitchFamily="18" charset="0"/>
                      </a:rPr>
                      <m:t>𝑓</m:t>
                    </m:r>
                  </m:oMath>
                </a14:m>
                <a:r>
                  <a:rPr lang="en-US" altLang="zh-CN" dirty="0" smtClean="0"/>
                  <a:t>(b)</a:t>
                </a:r>
                <a:r>
                  <a:rPr lang="zh-CN" altLang="en-US" dirty="0" smtClean="0"/>
                  <a:t>在</a:t>
                </a:r>
                <a14:m>
                  <m:oMath xmlns:m="http://schemas.openxmlformats.org/officeDocument/2006/math">
                    <m:sSub>
                      <m:sSubPr>
                        <m:ctrlPr>
                          <a:rPr lang="en-US" altLang="zh-CN" i="1" dirty="0">
                            <a:latin typeface="Cambria Math" panose="02040503050406030204" pitchFamily="18" charset="0"/>
                          </a:rPr>
                        </m:ctrlPr>
                      </m:sSubPr>
                      <m:e>
                        <m:r>
                          <m:rPr>
                            <m:sty m:val="p"/>
                          </m:rPr>
                          <a:rPr lang="en-US" altLang="zh-CN" i="1" dirty="0">
                            <a:latin typeface="Cambria Math" panose="02040503050406030204" pitchFamily="18" charset="0"/>
                          </a:rPr>
                          <m:t>G</m:t>
                        </m:r>
                      </m:e>
                      <m:sub>
                        <m:r>
                          <a:rPr lang="en-US" altLang="zh-CN" i="1" dirty="0">
                            <a:latin typeface="Cambria Math" panose="02040503050406030204" pitchFamily="18" charset="0"/>
                          </a:rPr>
                          <m:t>2</m:t>
                        </m:r>
                      </m:sub>
                    </m:sSub>
                  </m:oMath>
                </a14:m>
                <a:r>
                  <a:rPr lang="zh-CN" altLang="en-US" dirty="0" smtClean="0"/>
                  <a:t>中相邻</a:t>
                </a:r>
                <a:r>
                  <a:rPr lang="en-US" altLang="zh-CN" dirty="0" smtClean="0"/>
                  <a:t>, </a:t>
                </a:r>
                <a:r>
                  <a:rPr lang="zh-CN" altLang="en-US" dirty="0" smtClean="0"/>
                  <a:t>则称</a:t>
                </a:r>
                <a14:m>
                  <m:oMath xmlns:m="http://schemas.openxmlformats.org/officeDocument/2006/math">
                    <m:sSub>
                      <m:sSubPr>
                        <m:ctrlPr>
                          <a:rPr lang="en-US" altLang="zh-CN" i="1" dirty="0">
                            <a:latin typeface="Cambria Math" panose="02040503050406030204" pitchFamily="18" charset="0"/>
                          </a:rPr>
                        </m:ctrlPr>
                      </m:sSubPr>
                      <m:e>
                        <m:r>
                          <m:rPr>
                            <m:sty m:val="p"/>
                          </m:rPr>
                          <a:rPr lang="en-US" altLang="zh-CN" i="1" dirty="0">
                            <a:latin typeface="Cambria Math" panose="02040503050406030204" pitchFamily="18" charset="0"/>
                          </a:rPr>
                          <m:t>G</m:t>
                        </m:r>
                      </m:e>
                      <m:sub>
                        <m:r>
                          <a:rPr lang="en-US" altLang="zh-CN" i="1" dirty="0">
                            <a:latin typeface="Cambria Math" panose="02040503050406030204" pitchFamily="18" charset="0"/>
                          </a:rPr>
                          <m:t>1</m:t>
                        </m:r>
                      </m:sub>
                    </m:sSub>
                  </m:oMath>
                </a14:m>
                <a:r>
                  <a:rPr lang="zh-CN" altLang="en-US" dirty="0" smtClean="0"/>
                  <a:t>和</a:t>
                </a:r>
                <a14:m>
                  <m:oMath xmlns:m="http://schemas.openxmlformats.org/officeDocument/2006/math">
                    <m:sSub>
                      <m:sSubPr>
                        <m:ctrlPr>
                          <a:rPr lang="en-US" altLang="zh-CN" i="1" dirty="0">
                            <a:latin typeface="Cambria Math" panose="02040503050406030204" pitchFamily="18" charset="0"/>
                          </a:rPr>
                        </m:ctrlPr>
                      </m:sSubPr>
                      <m:e>
                        <m:r>
                          <m:rPr>
                            <m:sty m:val="p"/>
                          </m:rPr>
                          <a:rPr lang="en-US" altLang="zh-CN" i="1" dirty="0">
                            <a:latin typeface="Cambria Math" panose="02040503050406030204" pitchFamily="18" charset="0"/>
                          </a:rPr>
                          <m:t>G</m:t>
                        </m:r>
                      </m:e>
                      <m:sub>
                        <m:r>
                          <a:rPr lang="en-US" altLang="zh-CN" i="1" dirty="0">
                            <a:latin typeface="Cambria Math" panose="02040503050406030204" pitchFamily="18" charset="0"/>
                          </a:rPr>
                          <m:t>2</m:t>
                        </m:r>
                      </m:sub>
                    </m:sSub>
                  </m:oMath>
                </a14:m>
                <a:r>
                  <a:rPr lang="zh-CN" altLang="en-US" dirty="0" smtClean="0"/>
                  <a:t>是</a:t>
                </a:r>
                <a:r>
                  <a:rPr lang="zh-CN" altLang="en-US" b="1" dirty="0" smtClean="0">
                    <a:solidFill>
                      <a:srgbClr val="C00000"/>
                    </a:solidFill>
                  </a:rPr>
                  <a:t>同构</a:t>
                </a:r>
                <a:r>
                  <a:rPr lang="zh-CN" altLang="en-US" dirty="0" smtClean="0"/>
                  <a:t>的</a:t>
                </a:r>
                <a:r>
                  <a:rPr lang="en-US" altLang="zh-CN" dirty="0" smtClean="0"/>
                  <a:t>. </a:t>
                </a:r>
                <a:r>
                  <a:rPr lang="zh-CN" altLang="en-US" dirty="0" smtClean="0"/>
                  <a:t>这样的函数</a:t>
                </a:r>
                <a14:m>
                  <m:oMath xmlns:m="http://schemas.openxmlformats.org/officeDocument/2006/math">
                    <m:r>
                      <a:rPr lang="en-US" altLang="zh-CN" i="1" dirty="0">
                        <a:latin typeface="Cambria Math" panose="02040503050406030204" pitchFamily="18" charset="0"/>
                      </a:rPr>
                      <m:t>𝑓</m:t>
                    </m:r>
                  </m:oMath>
                </a14:m>
                <a:r>
                  <a:rPr lang="zh-CN" altLang="en-US" dirty="0" smtClean="0"/>
                  <a:t>称为同构</a:t>
                </a:r>
                <a:r>
                  <a:rPr lang="en-US" altLang="zh-CN" dirty="0" smtClean="0"/>
                  <a:t>. </a:t>
                </a:r>
                <a:r>
                  <a:rPr lang="zh-CN" altLang="en-US" dirty="0" smtClean="0"/>
                  <a:t>两个不同构的简单图称为非同构的</a:t>
                </a:r>
                <a:r>
                  <a:rPr lang="en-US" altLang="zh-CN" dirty="0" smtClean="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99" t="-1310" r="-1776"/>
                </a:stretch>
              </a:blipFill>
            </p:spPr>
            <p:txBody>
              <a:bodyPr/>
              <a:lstStyle/>
              <a:p>
                <a:r>
                  <a:rPr lang="zh-CN" altLang="en-US">
                    <a:noFill/>
                  </a:rPr>
                  <a:t> </a:t>
                </a:r>
              </a:p>
            </p:txBody>
          </p:sp>
        </mc:Fallback>
      </mc:AlternateContent>
      <p:sp>
        <p:nvSpPr>
          <p:cNvPr id="6" name="日期占位符 5"/>
          <p:cNvSpPr>
            <a:spLocks noGrp="1"/>
          </p:cNvSpPr>
          <p:nvPr>
            <p:ph type="dt" sz="half" idx="10"/>
          </p:nvPr>
        </p:nvSpPr>
        <p:spPr/>
        <p:txBody>
          <a:bodyPr/>
          <a:lstStyle/>
          <a:p>
            <a:fld id="{9A6CC707-2362-4D19-81B4-F24026C93D06}" type="datetime1">
              <a:rPr lang="zh-CN" altLang="en-US" smtClean="0"/>
              <a:t>2025/4/15</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95</a:t>
            </a:fld>
            <a:endParaRPr lang="zh-CN" altLang="en-US" dirty="0"/>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图的同构</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95086" y="1088824"/>
                <a:ext cx="10987315" cy="5121481"/>
              </a:xfrm>
            </p:spPr>
            <p:txBody>
              <a:bodyPr>
                <a:normAutofit/>
              </a:bodyPr>
              <a:lstStyle/>
              <a:p>
                <a:r>
                  <a:rPr lang="zh-CN" altLang="en-US" dirty="0" smtClean="0"/>
                  <a:t>例</a:t>
                </a:r>
                <a:r>
                  <a:rPr lang="en-US" dirty="0" smtClean="0"/>
                  <a:t>: </a:t>
                </a:r>
                <a:r>
                  <a:rPr lang="zh-CN" altLang="en-US" dirty="0" smtClean="0"/>
                  <a:t>证明图</a:t>
                </a:r>
                <a:r>
                  <a:rPr lang="en-US" dirty="0" smtClean="0"/>
                  <a:t>G =(V, E)</a:t>
                </a:r>
                <a:r>
                  <a:rPr lang="zh-CN" altLang="en-US" dirty="0" smtClean="0"/>
                  <a:t>和图</a:t>
                </a:r>
                <a:r>
                  <a:rPr lang="en-US" dirty="0" smtClean="0"/>
                  <a:t> H = (W, F)</a:t>
                </a:r>
                <a:r>
                  <a:rPr lang="zh-CN" altLang="en-US" dirty="0" smtClean="0"/>
                  <a:t>同构</a:t>
                </a:r>
                <a:r>
                  <a:rPr lang="en-US" dirty="0" smtClean="0"/>
                  <a:t>.</a:t>
                </a:r>
              </a:p>
              <a:p>
                <a:endParaRPr lang="en-US" dirty="0" smtClean="0"/>
              </a:p>
              <a:p>
                <a:endParaRPr lang="en-US" dirty="0" smtClean="0"/>
              </a:p>
              <a:p>
                <a:endParaRPr lang="en-US" dirty="0"/>
              </a:p>
              <a:p>
                <a:r>
                  <a:rPr lang="zh-CN" altLang="en-US" dirty="0" smtClean="0"/>
                  <a:t>解</a:t>
                </a:r>
                <a:r>
                  <a:rPr lang="en-US" altLang="zh-CN" dirty="0" smtClean="0"/>
                  <a:t>: </a:t>
                </a:r>
                <a:r>
                  <a:rPr lang="zh-CN" altLang="en-US" dirty="0" smtClean="0"/>
                  <a:t>函数</a:t>
                </a:r>
                <a:r>
                  <a:rPr lang="en-US" altLang="zh-CN" dirty="0" smtClean="0"/>
                  <a:t>f</a:t>
                </a:r>
                <a:r>
                  <a:rPr lang="zh-CN" altLang="en-US" dirty="0" smtClean="0"/>
                  <a:t>定义为</a:t>
                </a:r>
                <a14:m>
                  <m:oMath xmlns:m="http://schemas.openxmlformats.org/officeDocument/2006/math">
                    <m:r>
                      <a:rPr lang="en-US" altLang="zh-CN" i="1" dirty="0">
                        <a:latin typeface="Cambria Math" panose="02040503050406030204" pitchFamily="18" charset="0"/>
                      </a:rPr>
                      <m:t>𝑓</m:t>
                    </m:r>
                  </m:oMath>
                </a14:m>
                <a:r>
                  <a:rPr lang="en-US" dirty="0" smtClean="0"/>
                  <a:t>(</a:t>
                </a:r>
                <a14:m>
                  <m:oMath xmlns:m="http://schemas.openxmlformats.org/officeDocument/2006/math">
                    <m:sSub>
                      <m:sSubPr>
                        <m:ctrlPr>
                          <a:rPr lang="en-US" altLang="zh-CN" i="1" dirty="0">
                            <a:latin typeface="Cambria Math" panose="02040503050406030204" pitchFamily="18" charset="0"/>
                          </a:rPr>
                        </m:ctrlPr>
                      </m:sSubPr>
                      <m:e>
                        <m:r>
                          <a:rPr lang="en-US" altLang="zh-CN" b="0" i="1" dirty="0" smtClean="0">
                            <a:latin typeface="Cambria Math" panose="02040503050406030204" pitchFamily="18" charset="0"/>
                          </a:rPr>
                          <m:t>𝑢</m:t>
                        </m:r>
                      </m:e>
                      <m:sub>
                        <m:r>
                          <a:rPr lang="en-US" altLang="zh-CN" i="1" dirty="0">
                            <a:latin typeface="Cambria Math" panose="02040503050406030204" pitchFamily="18" charset="0"/>
                          </a:rPr>
                          <m:t>1</m:t>
                        </m:r>
                      </m:sub>
                    </m:sSub>
                  </m:oMath>
                </a14:m>
                <a:r>
                  <a:rPr lang="en-US" dirty="0" smtClean="0"/>
                  <a:t>)=</a:t>
                </a:r>
                <a14:m>
                  <m:oMath xmlns:m="http://schemas.openxmlformats.org/officeDocument/2006/math">
                    <m:sSub>
                      <m:sSubPr>
                        <m:ctrlPr>
                          <a:rPr lang="en-US" altLang="zh-CN" i="1" dirty="0">
                            <a:latin typeface="Cambria Math" panose="02040503050406030204" pitchFamily="18" charset="0"/>
                          </a:rPr>
                        </m:ctrlPr>
                      </m:sSubPr>
                      <m:e>
                        <m:r>
                          <a:rPr lang="en-US" altLang="zh-CN" b="0" i="1" dirty="0" smtClean="0">
                            <a:latin typeface="Cambria Math" panose="02040503050406030204" pitchFamily="18" charset="0"/>
                          </a:rPr>
                          <m:t>𝑣</m:t>
                        </m:r>
                      </m:e>
                      <m:sub>
                        <m:r>
                          <a:rPr lang="en-US" altLang="zh-CN" i="1" dirty="0">
                            <a:latin typeface="Cambria Math" panose="02040503050406030204" pitchFamily="18" charset="0"/>
                          </a:rPr>
                          <m:t>1</m:t>
                        </m:r>
                      </m:sub>
                    </m:sSub>
                  </m:oMath>
                </a14:m>
                <a:r>
                  <a:rPr lang="en-US" dirty="0" smtClean="0"/>
                  <a:t>, </a:t>
                </a:r>
                <a14:m>
                  <m:oMath xmlns:m="http://schemas.openxmlformats.org/officeDocument/2006/math">
                    <m:r>
                      <a:rPr lang="en-US" altLang="zh-CN" i="1" dirty="0">
                        <a:latin typeface="Cambria Math" panose="02040503050406030204" pitchFamily="18" charset="0"/>
                      </a:rPr>
                      <m:t>𝑓</m:t>
                    </m:r>
                  </m:oMath>
                </a14:m>
                <a:r>
                  <a:rPr lang="en-US" dirty="0" smtClean="0"/>
                  <a:t>(</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𝑢</m:t>
                        </m:r>
                      </m:e>
                      <m:sub>
                        <m:r>
                          <a:rPr lang="en-US" altLang="zh-CN" b="0" i="1" dirty="0" smtClean="0">
                            <a:latin typeface="Cambria Math" panose="02040503050406030204" pitchFamily="18" charset="0"/>
                          </a:rPr>
                          <m:t>2</m:t>
                        </m:r>
                      </m:sub>
                    </m:sSub>
                  </m:oMath>
                </a14:m>
                <a:r>
                  <a:rPr lang="en-US" dirty="0" smtClean="0"/>
                  <a:t>)=</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𝑣</m:t>
                        </m:r>
                      </m:e>
                      <m:sub>
                        <m:r>
                          <a:rPr lang="en-US" altLang="zh-CN" b="0" i="1" dirty="0" smtClean="0">
                            <a:latin typeface="Cambria Math" panose="02040503050406030204" pitchFamily="18" charset="0"/>
                          </a:rPr>
                          <m:t>4</m:t>
                        </m:r>
                      </m:sub>
                    </m:sSub>
                  </m:oMath>
                </a14:m>
                <a:r>
                  <a:rPr lang="en-US" dirty="0" smtClean="0"/>
                  <a:t>, </a:t>
                </a:r>
                <a14:m>
                  <m:oMath xmlns:m="http://schemas.openxmlformats.org/officeDocument/2006/math">
                    <m:r>
                      <a:rPr lang="en-US" altLang="zh-CN" i="1" dirty="0">
                        <a:latin typeface="Cambria Math" panose="02040503050406030204" pitchFamily="18" charset="0"/>
                      </a:rPr>
                      <m:t>𝑓</m:t>
                    </m:r>
                  </m:oMath>
                </a14:m>
                <a:r>
                  <a:rPr lang="en-US" dirty="0" smtClean="0"/>
                  <a:t>(</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𝑢</m:t>
                        </m:r>
                      </m:e>
                      <m:sub>
                        <m:r>
                          <a:rPr lang="en-US" altLang="zh-CN" b="0" i="1" dirty="0" smtClean="0">
                            <a:latin typeface="Cambria Math" panose="02040503050406030204" pitchFamily="18" charset="0"/>
                          </a:rPr>
                          <m:t>3</m:t>
                        </m:r>
                      </m:sub>
                    </m:sSub>
                  </m:oMath>
                </a14:m>
                <a:r>
                  <a:rPr lang="en-US" dirty="0" smtClean="0"/>
                  <a:t>)=</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𝑣</m:t>
                        </m:r>
                      </m:e>
                      <m:sub>
                        <m:r>
                          <a:rPr lang="en-US" altLang="zh-CN" b="0" i="1" dirty="0" smtClean="0">
                            <a:latin typeface="Cambria Math" panose="02040503050406030204" pitchFamily="18" charset="0"/>
                          </a:rPr>
                          <m:t>3</m:t>
                        </m:r>
                      </m:sub>
                    </m:sSub>
                  </m:oMath>
                </a14:m>
                <a:r>
                  <a:rPr lang="en-US" dirty="0" smtClean="0"/>
                  <a:t>, </a:t>
                </a:r>
                <a14:m>
                  <m:oMath xmlns:m="http://schemas.openxmlformats.org/officeDocument/2006/math">
                    <m:r>
                      <a:rPr lang="en-US" altLang="zh-CN" i="1" dirty="0">
                        <a:latin typeface="Cambria Math" panose="02040503050406030204" pitchFamily="18" charset="0"/>
                      </a:rPr>
                      <m:t>𝑓</m:t>
                    </m:r>
                  </m:oMath>
                </a14:m>
                <a:r>
                  <a:rPr lang="en-US" dirty="0" smtClean="0"/>
                  <a:t>(</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𝑢</m:t>
                        </m:r>
                      </m:e>
                      <m:sub>
                        <m:r>
                          <a:rPr lang="en-US" altLang="zh-CN" b="0" i="1" dirty="0" smtClean="0">
                            <a:latin typeface="Cambria Math" panose="02040503050406030204" pitchFamily="18" charset="0"/>
                          </a:rPr>
                          <m:t>4</m:t>
                        </m:r>
                      </m:sub>
                    </m:sSub>
                  </m:oMath>
                </a14:m>
                <a:r>
                  <a:rPr lang="en-US" dirty="0" smtClean="0"/>
                  <a:t>)=</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𝑣</m:t>
                        </m:r>
                      </m:e>
                      <m:sub>
                        <m:r>
                          <a:rPr lang="en-US" altLang="zh-CN" b="0" i="1" dirty="0" smtClean="0">
                            <a:latin typeface="Cambria Math" panose="02040503050406030204" pitchFamily="18" charset="0"/>
                          </a:rPr>
                          <m:t>2</m:t>
                        </m:r>
                      </m:sub>
                    </m:sSub>
                  </m:oMath>
                </a14:m>
                <a:r>
                  <a:rPr lang="en-US" altLang="zh-CN" dirty="0" smtClean="0"/>
                  <a:t>. </a:t>
                </a:r>
                <a:r>
                  <a:rPr lang="zh-CN" altLang="en-US" dirty="0" smtClean="0"/>
                  <a:t>它是</a:t>
                </a:r>
                <a:r>
                  <a:rPr lang="en-US" altLang="zh-CN" dirty="0" smtClean="0"/>
                  <a:t>V</a:t>
                </a:r>
                <a:r>
                  <a:rPr lang="zh-CN" altLang="en-US" dirty="0" smtClean="0"/>
                  <a:t>和</a:t>
                </a:r>
                <a:r>
                  <a:rPr lang="en-US" altLang="zh-CN" dirty="0" smtClean="0"/>
                  <a:t>W</a:t>
                </a:r>
                <a:r>
                  <a:rPr lang="zh-CN" altLang="en-US" dirty="0" smtClean="0"/>
                  <a:t>之间的一一对应</a:t>
                </a:r>
                <a:r>
                  <a:rPr lang="en-US" altLang="zh-CN" dirty="0" smtClean="0"/>
                  <a:t>. </a:t>
                </a:r>
                <a:r>
                  <a:rPr lang="zh-CN" altLang="en-US" dirty="0" smtClean="0"/>
                  <a:t>为了看出这个对应保持相邻关系</a:t>
                </a:r>
                <a:r>
                  <a:rPr lang="en-US" altLang="zh-CN" dirty="0" smtClean="0"/>
                  <a:t>, </a:t>
                </a:r>
                <a:r>
                  <a:rPr lang="zh-CN" altLang="en-US" dirty="0" smtClean="0"/>
                  <a:t>注意</a:t>
                </a:r>
                <a:r>
                  <a:rPr lang="en-US" altLang="zh-CN" dirty="0" smtClean="0"/>
                  <a:t>G</a:t>
                </a:r>
                <a:r>
                  <a:rPr lang="zh-CN" altLang="en-US" dirty="0" smtClean="0"/>
                  <a:t>中相邻的顶点是</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𝑢</m:t>
                        </m:r>
                      </m:e>
                      <m:sub>
                        <m:r>
                          <a:rPr lang="en-US" altLang="zh-CN" i="1" dirty="0">
                            <a:latin typeface="Cambria Math" panose="02040503050406030204" pitchFamily="18" charset="0"/>
                          </a:rPr>
                          <m:t>1</m:t>
                        </m:r>
                      </m:sub>
                    </m:sSub>
                  </m:oMath>
                </a14:m>
                <a:r>
                  <a:rPr lang="zh-CN" altLang="en-US" dirty="0" smtClean="0"/>
                  <a:t>和</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𝑢</m:t>
                        </m:r>
                      </m:e>
                      <m:sub>
                        <m:r>
                          <a:rPr lang="en-US" altLang="zh-CN" i="1" dirty="0">
                            <a:latin typeface="Cambria Math" panose="02040503050406030204" pitchFamily="18" charset="0"/>
                          </a:rPr>
                          <m:t>2</m:t>
                        </m:r>
                      </m:sub>
                    </m:sSub>
                  </m:oMath>
                </a14:m>
                <a:r>
                  <a:rPr lang="en-US" altLang="zh-CN" dirty="0" smtClean="0"/>
                  <a:t>, </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𝑢</m:t>
                        </m:r>
                      </m:e>
                      <m:sub>
                        <m:r>
                          <a:rPr lang="en-US" altLang="zh-CN" i="1" dirty="0">
                            <a:latin typeface="Cambria Math" panose="02040503050406030204" pitchFamily="18" charset="0"/>
                          </a:rPr>
                          <m:t>1</m:t>
                        </m:r>
                      </m:sub>
                    </m:sSub>
                  </m:oMath>
                </a14:m>
                <a:r>
                  <a:rPr lang="zh-CN" altLang="en-US" dirty="0" smtClean="0"/>
                  <a:t>和</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𝑢</m:t>
                        </m:r>
                      </m:e>
                      <m:sub>
                        <m:r>
                          <a:rPr lang="en-US" altLang="zh-CN" i="1" dirty="0">
                            <a:latin typeface="Cambria Math" panose="02040503050406030204" pitchFamily="18" charset="0"/>
                          </a:rPr>
                          <m:t>3</m:t>
                        </m:r>
                      </m:sub>
                    </m:sSub>
                  </m:oMath>
                </a14:m>
                <a:r>
                  <a:rPr lang="en-US" altLang="zh-CN" dirty="0" smtClean="0"/>
                  <a:t>, </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𝑢</m:t>
                        </m:r>
                      </m:e>
                      <m:sub>
                        <m:r>
                          <a:rPr lang="en-US" altLang="zh-CN" i="1" dirty="0">
                            <a:latin typeface="Cambria Math" panose="02040503050406030204" pitchFamily="18" charset="0"/>
                          </a:rPr>
                          <m:t>2</m:t>
                        </m:r>
                      </m:sub>
                    </m:sSub>
                  </m:oMath>
                </a14:m>
                <a:r>
                  <a:rPr lang="zh-CN" altLang="en-US" dirty="0" smtClean="0"/>
                  <a:t>和</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𝑢</m:t>
                        </m:r>
                      </m:e>
                      <m:sub>
                        <m:r>
                          <a:rPr lang="en-US" altLang="zh-CN" i="1" dirty="0">
                            <a:latin typeface="Cambria Math" panose="02040503050406030204" pitchFamily="18" charset="0"/>
                          </a:rPr>
                          <m:t>4</m:t>
                        </m:r>
                      </m:sub>
                    </m:sSub>
                  </m:oMath>
                </a14:m>
                <a:r>
                  <a:rPr lang="en-US" altLang="zh-CN" dirty="0" smtClean="0"/>
                  <a:t>, </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𝑢</m:t>
                        </m:r>
                      </m:e>
                      <m:sub>
                        <m:r>
                          <a:rPr lang="en-US" altLang="zh-CN" i="1" dirty="0">
                            <a:latin typeface="Cambria Math" panose="02040503050406030204" pitchFamily="18" charset="0"/>
                          </a:rPr>
                          <m:t>3</m:t>
                        </m:r>
                      </m:sub>
                    </m:sSub>
                  </m:oMath>
                </a14:m>
                <a:r>
                  <a:rPr lang="zh-CN" altLang="en-US" dirty="0" smtClean="0"/>
                  <a:t>和</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𝑢</m:t>
                        </m:r>
                      </m:e>
                      <m:sub>
                        <m:r>
                          <a:rPr lang="en-US" altLang="zh-CN" i="1" dirty="0">
                            <a:latin typeface="Cambria Math" panose="02040503050406030204" pitchFamily="18" charset="0"/>
                          </a:rPr>
                          <m:t>4</m:t>
                        </m:r>
                      </m:sub>
                    </m:sSub>
                  </m:oMath>
                </a14:m>
                <a:r>
                  <a:rPr lang="en-US" altLang="zh-CN" dirty="0" smtClean="0"/>
                  <a:t>. </a:t>
                </a:r>
                <a:r>
                  <a:rPr lang="zh-CN" altLang="en-US" dirty="0" smtClean="0"/>
                  <a:t>由</a:t>
                </a:r>
                <a14:m>
                  <m:oMath xmlns:m="http://schemas.openxmlformats.org/officeDocument/2006/math">
                    <m:r>
                      <a:rPr lang="en-US" altLang="zh-CN" i="1" dirty="0">
                        <a:latin typeface="Cambria Math" panose="02040503050406030204" pitchFamily="18" charset="0"/>
                      </a:rPr>
                      <m:t>𝑓</m:t>
                    </m:r>
                  </m:oMath>
                </a14:m>
                <a:r>
                  <a:rPr lang="en-US" altLang="zh-CN" dirty="0" smtClean="0"/>
                  <a:t>(</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𝑢</m:t>
                        </m:r>
                      </m:e>
                      <m:sub>
                        <m:r>
                          <a:rPr lang="en-US" altLang="zh-CN" i="1" dirty="0">
                            <a:latin typeface="Cambria Math" panose="02040503050406030204" pitchFamily="18" charset="0"/>
                          </a:rPr>
                          <m:t>1</m:t>
                        </m:r>
                      </m:sub>
                    </m:sSub>
                  </m:oMath>
                </a14:m>
                <a:r>
                  <a:rPr lang="en-US" altLang="zh-CN" dirty="0" smtClean="0"/>
                  <a:t>)=</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𝑣</m:t>
                        </m:r>
                      </m:e>
                      <m:sub>
                        <m:r>
                          <a:rPr lang="en-US" altLang="zh-CN" i="1" dirty="0">
                            <a:latin typeface="Cambria Math" panose="02040503050406030204" pitchFamily="18" charset="0"/>
                          </a:rPr>
                          <m:t>1</m:t>
                        </m:r>
                      </m:sub>
                    </m:sSub>
                  </m:oMath>
                </a14:m>
                <a:r>
                  <a:rPr lang="zh-CN" altLang="en-US" dirty="0" smtClean="0"/>
                  <a:t>和</a:t>
                </a:r>
                <a14:m>
                  <m:oMath xmlns:m="http://schemas.openxmlformats.org/officeDocument/2006/math">
                    <m:r>
                      <a:rPr lang="en-US" altLang="zh-CN" i="1" dirty="0">
                        <a:latin typeface="Cambria Math" panose="02040503050406030204" pitchFamily="18" charset="0"/>
                      </a:rPr>
                      <m:t>𝑓</m:t>
                    </m:r>
                  </m:oMath>
                </a14:m>
                <a:r>
                  <a:rPr lang="en-US" altLang="zh-CN" dirty="0" smtClean="0"/>
                  <a:t>(</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𝑢</m:t>
                        </m:r>
                      </m:e>
                      <m:sub>
                        <m:r>
                          <a:rPr lang="en-US" altLang="zh-CN" i="1" dirty="0">
                            <a:latin typeface="Cambria Math" panose="02040503050406030204" pitchFamily="18" charset="0"/>
                          </a:rPr>
                          <m:t>2</m:t>
                        </m:r>
                      </m:sub>
                    </m:sSub>
                  </m:oMath>
                </a14:m>
                <a:r>
                  <a:rPr lang="en-US" altLang="zh-CN" dirty="0" smtClean="0"/>
                  <a:t>)=</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𝑣</m:t>
                        </m:r>
                      </m:e>
                      <m:sub>
                        <m:r>
                          <a:rPr lang="en-US" altLang="zh-CN" i="1" dirty="0">
                            <a:latin typeface="Cambria Math" panose="02040503050406030204" pitchFamily="18" charset="0"/>
                          </a:rPr>
                          <m:t>4</m:t>
                        </m:r>
                      </m:sub>
                    </m:sSub>
                  </m:oMath>
                </a14:m>
                <a:r>
                  <a:rPr lang="zh-CN" altLang="en-US" dirty="0" smtClean="0"/>
                  <a:t>、</a:t>
                </a:r>
                <a14:m>
                  <m:oMath xmlns:m="http://schemas.openxmlformats.org/officeDocument/2006/math">
                    <m:r>
                      <a:rPr lang="en-US" altLang="zh-CN" i="1" dirty="0">
                        <a:latin typeface="Cambria Math" panose="02040503050406030204" pitchFamily="18" charset="0"/>
                      </a:rPr>
                      <m:t>𝑓</m:t>
                    </m:r>
                  </m:oMath>
                </a14:m>
                <a:r>
                  <a:rPr lang="en-US" altLang="zh-CN" dirty="0" smtClean="0"/>
                  <a:t>(</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𝑢</m:t>
                        </m:r>
                      </m:e>
                      <m:sub>
                        <m:r>
                          <a:rPr lang="en-US" altLang="zh-CN" i="1" dirty="0">
                            <a:latin typeface="Cambria Math" panose="02040503050406030204" pitchFamily="18" charset="0"/>
                          </a:rPr>
                          <m:t>1</m:t>
                        </m:r>
                      </m:sub>
                    </m:sSub>
                  </m:oMath>
                </a14:m>
                <a:r>
                  <a:rPr lang="en-US" altLang="zh-CN" dirty="0" smtClean="0"/>
                  <a:t>)=</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𝑣</m:t>
                        </m:r>
                      </m:e>
                      <m:sub>
                        <m:r>
                          <a:rPr lang="en-US" altLang="zh-CN" i="1" dirty="0">
                            <a:latin typeface="Cambria Math" panose="02040503050406030204" pitchFamily="18" charset="0"/>
                          </a:rPr>
                          <m:t>1</m:t>
                        </m:r>
                      </m:sub>
                    </m:sSub>
                  </m:oMath>
                </a14:m>
                <a:r>
                  <a:rPr lang="zh-CN" altLang="en-US" dirty="0" smtClean="0"/>
                  <a:t>和</a:t>
                </a:r>
                <a:r>
                  <a:rPr lang="en-US" altLang="zh-CN" dirty="0" smtClean="0"/>
                  <a:t> </a:t>
                </a:r>
                <a14:m>
                  <m:oMath xmlns:m="http://schemas.openxmlformats.org/officeDocument/2006/math">
                    <m:r>
                      <a:rPr lang="en-US" altLang="zh-CN" i="1" dirty="0">
                        <a:latin typeface="Cambria Math" panose="02040503050406030204" pitchFamily="18" charset="0"/>
                      </a:rPr>
                      <m:t>𝑓</m:t>
                    </m:r>
                  </m:oMath>
                </a14:m>
                <a:r>
                  <a:rPr lang="en-US" altLang="zh-CN" dirty="0" smtClean="0"/>
                  <a:t>(</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𝑢</m:t>
                        </m:r>
                      </m:e>
                      <m:sub>
                        <m:r>
                          <a:rPr lang="en-US" altLang="zh-CN" i="1" dirty="0">
                            <a:latin typeface="Cambria Math" panose="02040503050406030204" pitchFamily="18" charset="0"/>
                          </a:rPr>
                          <m:t>3</m:t>
                        </m:r>
                      </m:sub>
                    </m:sSub>
                  </m:oMath>
                </a14:m>
                <a:r>
                  <a:rPr lang="en-US" altLang="zh-CN" dirty="0" smtClean="0"/>
                  <a:t>)=</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𝑣</m:t>
                        </m:r>
                      </m:e>
                      <m:sub>
                        <m:r>
                          <a:rPr lang="en-US" altLang="zh-CN" i="1" dirty="0">
                            <a:latin typeface="Cambria Math" panose="02040503050406030204" pitchFamily="18" charset="0"/>
                          </a:rPr>
                          <m:t>3</m:t>
                        </m:r>
                      </m:sub>
                    </m:sSub>
                  </m:oMath>
                </a14:m>
                <a:r>
                  <a:rPr lang="en-US" altLang="zh-CN" dirty="0"/>
                  <a:t> </a:t>
                </a:r>
                <a:r>
                  <a:rPr lang="zh-CN" altLang="en-US" dirty="0" smtClean="0"/>
                  <a:t>、</a:t>
                </a:r>
                <a14:m>
                  <m:oMath xmlns:m="http://schemas.openxmlformats.org/officeDocument/2006/math">
                    <m:r>
                      <a:rPr lang="en-US" altLang="zh-CN" i="1" dirty="0">
                        <a:latin typeface="Cambria Math" panose="02040503050406030204" pitchFamily="18" charset="0"/>
                      </a:rPr>
                      <m:t>𝑓</m:t>
                    </m:r>
                  </m:oMath>
                </a14:m>
                <a:r>
                  <a:rPr lang="en-US" altLang="zh-CN" dirty="0" smtClean="0"/>
                  <a:t>(</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𝑢</m:t>
                        </m:r>
                      </m:e>
                      <m:sub>
                        <m:r>
                          <a:rPr lang="en-US" altLang="zh-CN" i="1" dirty="0">
                            <a:latin typeface="Cambria Math" panose="02040503050406030204" pitchFamily="18" charset="0"/>
                          </a:rPr>
                          <m:t>2</m:t>
                        </m:r>
                      </m:sub>
                    </m:sSub>
                  </m:oMath>
                </a14:m>
                <a:r>
                  <a:rPr lang="en-US" altLang="zh-CN" dirty="0" smtClean="0"/>
                  <a:t>)=</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𝑣</m:t>
                        </m:r>
                      </m:e>
                      <m:sub>
                        <m:r>
                          <a:rPr lang="en-US" altLang="zh-CN" i="1" dirty="0">
                            <a:latin typeface="Cambria Math" panose="02040503050406030204" pitchFamily="18" charset="0"/>
                          </a:rPr>
                          <m:t>4</m:t>
                        </m:r>
                      </m:sub>
                    </m:sSub>
                  </m:oMath>
                </a14:m>
                <a:r>
                  <a:rPr lang="zh-CN" altLang="en-US" dirty="0" smtClean="0"/>
                  <a:t>和</a:t>
                </a:r>
                <a14:m>
                  <m:oMath xmlns:m="http://schemas.openxmlformats.org/officeDocument/2006/math">
                    <m:r>
                      <a:rPr lang="en-US" altLang="zh-CN" i="1" dirty="0">
                        <a:latin typeface="Cambria Math" panose="02040503050406030204" pitchFamily="18" charset="0"/>
                      </a:rPr>
                      <m:t>𝑓</m:t>
                    </m:r>
                  </m:oMath>
                </a14:m>
                <a:r>
                  <a:rPr lang="en-US" altLang="zh-CN" dirty="0" smtClean="0"/>
                  <a:t>(</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𝑢</m:t>
                        </m:r>
                      </m:e>
                      <m:sub>
                        <m:r>
                          <a:rPr lang="en-US" altLang="zh-CN" i="1" dirty="0">
                            <a:latin typeface="Cambria Math" panose="02040503050406030204" pitchFamily="18" charset="0"/>
                          </a:rPr>
                          <m:t>4</m:t>
                        </m:r>
                      </m:sub>
                    </m:sSub>
                  </m:oMath>
                </a14:m>
                <a:r>
                  <a:rPr lang="en-US" altLang="zh-CN" dirty="0" smtClean="0"/>
                  <a:t>)=</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𝑣</m:t>
                        </m:r>
                      </m:e>
                      <m:sub>
                        <m:r>
                          <a:rPr lang="en-US" altLang="zh-CN" i="1" dirty="0">
                            <a:latin typeface="Cambria Math" panose="02040503050406030204" pitchFamily="18" charset="0"/>
                          </a:rPr>
                          <m:t>2</m:t>
                        </m:r>
                      </m:sub>
                    </m:sSub>
                  </m:oMath>
                </a14:m>
                <a:r>
                  <a:rPr lang="zh-CN" altLang="en-US" dirty="0" smtClean="0"/>
                  <a:t>、</a:t>
                </a:r>
                <a14:m>
                  <m:oMath xmlns:m="http://schemas.openxmlformats.org/officeDocument/2006/math">
                    <m:r>
                      <a:rPr lang="en-US" altLang="zh-CN" i="1" dirty="0">
                        <a:latin typeface="Cambria Math" panose="02040503050406030204" pitchFamily="18" charset="0"/>
                      </a:rPr>
                      <m:t>𝑓</m:t>
                    </m:r>
                  </m:oMath>
                </a14:m>
                <a:r>
                  <a:rPr lang="en-US" altLang="zh-CN" dirty="0" smtClean="0"/>
                  <a:t>(</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𝑢</m:t>
                        </m:r>
                      </m:e>
                      <m:sub>
                        <m:r>
                          <a:rPr lang="en-US" altLang="zh-CN" i="1" dirty="0">
                            <a:latin typeface="Cambria Math" panose="02040503050406030204" pitchFamily="18" charset="0"/>
                          </a:rPr>
                          <m:t>3</m:t>
                        </m:r>
                      </m:sub>
                    </m:sSub>
                  </m:oMath>
                </a14:m>
                <a:r>
                  <a:rPr lang="en-US" altLang="zh-CN" dirty="0" smtClean="0"/>
                  <a:t>)=</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𝑣</m:t>
                        </m:r>
                      </m:e>
                      <m:sub>
                        <m:r>
                          <a:rPr lang="en-US" altLang="zh-CN" i="1" dirty="0">
                            <a:latin typeface="Cambria Math" panose="02040503050406030204" pitchFamily="18" charset="0"/>
                          </a:rPr>
                          <m:t>3</m:t>
                        </m:r>
                      </m:sub>
                    </m:sSub>
                  </m:oMath>
                </a14:m>
                <a:r>
                  <a:rPr lang="zh-CN" altLang="en-US" dirty="0" smtClean="0"/>
                  <a:t>和</a:t>
                </a:r>
                <a14:m>
                  <m:oMath xmlns:m="http://schemas.openxmlformats.org/officeDocument/2006/math">
                    <m:r>
                      <a:rPr lang="en-US" altLang="zh-CN" i="1" dirty="0">
                        <a:latin typeface="Cambria Math" panose="02040503050406030204" pitchFamily="18" charset="0"/>
                      </a:rPr>
                      <m:t>𝑓</m:t>
                    </m:r>
                  </m:oMath>
                </a14:m>
                <a:r>
                  <a:rPr lang="en-US" altLang="zh-CN" dirty="0" smtClean="0"/>
                  <a:t>(</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𝑢</m:t>
                        </m:r>
                      </m:e>
                      <m:sub>
                        <m:r>
                          <a:rPr lang="en-US" altLang="zh-CN" i="1" dirty="0">
                            <a:latin typeface="Cambria Math" panose="02040503050406030204" pitchFamily="18" charset="0"/>
                          </a:rPr>
                          <m:t>4</m:t>
                        </m:r>
                      </m:sub>
                    </m:sSub>
                  </m:oMath>
                </a14:m>
                <a:r>
                  <a:rPr lang="en-US" altLang="zh-CN" dirty="0" smtClean="0"/>
                  <a:t>)=</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𝑣</m:t>
                        </m:r>
                      </m:e>
                      <m:sub>
                        <m:r>
                          <a:rPr lang="en-US" altLang="zh-CN" i="1" dirty="0">
                            <a:latin typeface="Cambria Math" panose="02040503050406030204" pitchFamily="18" charset="0"/>
                          </a:rPr>
                          <m:t>2</m:t>
                        </m:r>
                      </m:sub>
                    </m:sSub>
                  </m:oMath>
                </a14:m>
                <a:r>
                  <a:rPr lang="zh-CN" altLang="en-US" dirty="0" smtClean="0"/>
                  <a:t>所组成的每一对顶点都在</a:t>
                </a:r>
                <a:r>
                  <a:rPr lang="en-US" altLang="zh-CN" dirty="0" smtClean="0"/>
                  <a:t>H</a:t>
                </a:r>
                <a:r>
                  <a:rPr lang="zh-CN" altLang="en-US" dirty="0" smtClean="0"/>
                  <a:t>中相邻</a:t>
                </a:r>
                <a:r>
                  <a:rPr lang="en-US" altLang="zh-CN" dirty="0" smtClean="0"/>
                  <a:t>. </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95086" y="1088824"/>
                <a:ext cx="10987315" cy="5121481"/>
              </a:xfrm>
              <a:blipFill>
                <a:blip r:embed="rId2"/>
                <a:stretch>
                  <a:fillRect l="-999" t="-1310" r="-333"/>
                </a:stretch>
              </a:blipFill>
            </p:spPr>
            <p:txBody>
              <a:bodyPr/>
              <a:lstStyle/>
              <a:p>
                <a:r>
                  <a:rPr lang="zh-CN" altLang="en-US">
                    <a:noFill/>
                  </a:rPr>
                  <a:t> </a:t>
                </a:r>
              </a:p>
            </p:txBody>
          </p:sp>
        </mc:Fallback>
      </mc:AlternateContent>
      <p:sp>
        <p:nvSpPr>
          <p:cNvPr id="7" name="日期占位符 6"/>
          <p:cNvSpPr>
            <a:spLocks noGrp="1"/>
          </p:cNvSpPr>
          <p:nvPr>
            <p:ph type="dt" sz="half" idx="10"/>
          </p:nvPr>
        </p:nvSpPr>
        <p:spPr/>
        <p:txBody>
          <a:bodyPr/>
          <a:lstStyle/>
          <a:p>
            <a:fld id="{5B1834E4-701B-4671-8842-EBA6DD7CE608}"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96</a:t>
            </a:fld>
            <a:endParaRPr lang="zh-CN" altLang="en-US" dirty="0"/>
          </a:p>
        </p:txBody>
      </p:sp>
      <p:pic>
        <p:nvPicPr>
          <p:cNvPr id="5" name="图片 4"/>
          <p:cNvPicPr>
            <a:picLocks noChangeAspect="1"/>
          </p:cNvPicPr>
          <p:nvPr/>
        </p:nvPicPr>
        <p:blipFill>
          <a:blip r:embed="rId3"/>
          <a:stretch>
            <a:fillRect/>
          </a:stretch>
        </p:blipFill>
        <p:spPr>
          <a:xfrm>
            <a:off x="4523000" y="1530388"/>
            <a:ext cx="1579531" cy="1922561"/>
          </a:xfrm>
          <a:prstGeom prst="rect">
            <a:avLst/>
          </a:prstGeom>
        </p:spPr>
      </p:pic>
      <p:pic>
        <p:nvPicPr>
          <p:cNvPr id="6" name="图片 5"/>
          <p:cNvPicPr>
            <a:picLocks noChangeAspect="1"/>
          </p:cNvPicPr>
          <p:nvPr/>
        </p:nvPicPr>
        <p:blipFill>
          <a:blip r:embed="rId4"/>
          <a:stretch>
            <a:fillRect/>
          </a:stretch>
        </p:blipFill>
        <p:spPr>
          <a:xfrm>
            <a:off x="7696200" y="1421889"/>
            <a:ext cx="2038350" cy="2007111"/>
          </a:xfrm>
          <a:prstGeom prst="rect">
            <a:avLst/>
          </a:prstGeom>
        </p:spPr>
      </p:pic>
      <p:sp>
        <p:nvSpPr>
          <p:cNvPr id="10" name="矩形 9"/>
          <p:cNvSpPr/>
          <p:nvPr/>
        </p:nvSpPr>
        <p:spPr>
          <a:xfrm flipV="1">
            <a:off x="4545917" y="1530388"/>
            <a:ext cx="275863" cy="358976"/>
          </a:xfrm>
          <a:prstGeom prst="rect">
            <a:avLst/>
          </a:prstGeom>
          <a:no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flipV="1">
            <a:off x="7678729" y="1521729"/>
            <a:ext cx="275863" cy="376294"/>
          </a:xfrm>
          <a:prstGeom prst="rect">
            <a:avLst/>
          </a:prstGeom>
          <a:no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flipV="1">
            <a:off x="5760839" y="1539047"/>
            <a:ext cx="275863" cy="358976"/>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flipV="1">
            <a:off x="9296400" y="2819400"/>
            <a:ext cx="275863" cy="358976"/>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flipV="1">
            <a:off x="4523000" y="2924339"/>
            <a:ext cx="275863" cy="358976"/>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flipV="1">
            <a:off x="7702731" y="2826426"/>
            <a:ext cx="275863" cy="358976"/>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flipV="1">
            <a:off x="5741298" y="2924339"/>
            <a:ext cx="275863" cy="358976"/>
          </a:xfrm>
          <a:prstGeom prst="rect">
            <a:avLst/>
          </a:prstGeom>
          <a:noFill/>
          <a:ln w="254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flipV="1">
            <a:off x="9269984" y="1521729"/>
            <a:ext cx="275863" cy="358976"/>
          </a:xfrm>
          <a:prstGeom prst="rect">
            <a:avLst/>
          </a:prstGeom>
          <a:noFill/>
          <a:ln w="254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278310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wipe(down)">
                                      <p:cBhvr>
                                        <p:cTn id="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图的同构</a:t>
            </a:r>
            <a:endParaRPr lang="en-US" dirty="0"/>
          </a:p>
        </p:txBody>
      </p:sp>
      <p:sp>
        <p:nvSpPr>
          <p:cNvPr id="3" name="Content Placeholder 2"/>
          <p:cNvSpPr>
            <a:spLocks noGrp="1"/>
          </p:cNvSpPr>
          <p:nvPr>
            <p:ph idx="1"/>
          </p:nvPr>
        </p:nvSpPr>
        <p:spPr/>
        <p:txBody>
          <a:bodyPr>
            <a:normAutofit/>
          </a:bodyPr>
          <a:lstStyle/>
          <a:p>
            <a:r>
              <a:rPr lang="zh-CN" altLang="en-US" dirty="0" smtClean="0"/>
              <a:t>判断两个简单图是否同构常常是一件很困难的事情</a:t>
            </a:r>
            <a:r>
              <a:rPr lang="en-US" altLang="zh-CN" dirty="0" smtClean="0"/>
              <a:t>. </a:t>
            </a:r>
            <a:r>
              <a:rPr lang="zh-CN" altLang="en-US" dirty="0" smtClean="0"/>
              <a:t>因为两个带有</a:t>
            </a:r>
            <a:r>
              <a:rPr lang="en-US" altLang="zh-CN" dirty="0" smtClean="0"/>
              <a:t>n</a:t>
            </a:r>
            <a:r>
              <a:rPr lang="zh-CN" altLang="en-US" dirty="0" smtClean="0"/>
              <a:t>个顶点的简单图的顶点集之间有</a:t>
            </a:r>
            <a:r>
              <a:rPr lang="en-US" altLang="zh-CN" dirty="0" smtClean="0"/>
              <a:t>n</a:t>
            </a:r>
            <a:r>
              <a:rPr lang="en-US" altLang="zh-CN" dirty="0"/>
              <a:t>!</a:t>
            </a:r>
            <a:r>
              <a:rPr lang="zh-CN" altLang="en-US" dirty="0" smtClean="0"/>
              <a:t>中可能的一一对应</a:t>
            </a:r>
            <a:r>
              <a:rPr lang="en-US" altLang="zh-CN" dirty="0" smtClean="0"/>
              <a:t>. </a:t>
            </a:r>
            <a:r>
              <a:rPr lang="zh-CN" altLang="en-US" dirty="0" smtClean="0"/>
              <a:t>如果</a:t>
            </a:r>
            <a:r>
              <a:rPr lang="en-US" altLang="zh-CN" dirty="0" smtClean="0"/>
              <a:t>n</a:t>
            </a:r>
            <a:r>
              <a:rPr lang="zh-CN" altLang="en-US" dirty="0" smtClean="0"/>
              <a:t>太大</a:t>
            </a:r>
            <a:r>
              <a:rPr lang="en-US" altLang="zh-CN" dirty="0" smtClean="0"/>
              <a:t>, </a:t>
            </a:r>
            <a:r>
              <a:rPr lang="zh-CN" altLang="en-US" dirty="0" smtClean="0"/>
              <a:t>则通过检验每一种对应不现实</a:t>
            </a:r>
            <a:r>
              <a:rPr lang="en-US" altLang="zh-CN" dirty="0" smtClean="0"/>
              <a:t>.</a:t>
            </a:r>
          </a:p>
          <a:p>
            <a:r>
              <a:rPr lang="zh-CN" altLang="en-US" dirty="0" smtClean="0"/>
              <a:t>有时说明两个简单图不同构并不困难</a:t>
            </a:r>
            <a:r>
              <a:rPr lang="en-US" altLang="zh-CN" dirty="0" smtClean="0"/>
              <a:t>. </a:t>
            </a:r>
            <a:r>
              <a:rPr lang="zh-CN" altLang="en-US" dirty="0" smtClean="0"/>
              <a:t>特别的</a:t>
            </a:r>
            <a:r>
              <a:rPr lang="en-US" altLang="zh-CN" dirty="0" smtClean="0"/>
              <a:t>, </a:t>
            </a:r>
            <a:r>
              <a:rPr lang="zh-CN" altLang="en-US" dirty="0" smtClean="0"/>
              <a:t>找到某个属性</a:t>
            </a:r>
            <a:r>
              <a:rPr lang="en-US" altLang="zh-CN" dirty="0" smtClean="0"/>
              <a:t>, </a:t>
            </a:r>
            <a:r>
              <a:rPr lang="zh-CN" altLang="en-US" dirty="0" smtClean="0"/>
              <a:t>两个图中只有一个图具有这个属性</a:t>
            </a:r>
            <a:r>
              <a:rPr lang="en-US" altLang="zh-CN" dirty="0" smtClean="0"/>
              <a:t>, </a:t>
            </a:r>
            <a:r>
              <a:rPr lang="zh-CN" altLang="en-US" dirty="0" smtClean="0"/>
              <a:t>而另外一个图不具有</a:t>
            </a:r>
            <a:r>
              <a:rPr lang="en-US" altLang="zh-CN" dirty="0" smtClean="0"/>
              <a:t>, </a:t>
            </a:r>
            <a:r>
              <a:rPr lang="zh-CN" altLang="en-US" dirty="0" smtClean="0"/>
              <a:t>就可以说这两个图不同构</a:t>
            </a:r>
            <a:r>
              <a:rPr lang="en-US" altLang="zh-CN" dirty="0" smtClean="0"/>
              <a:t>. </a:t>
            </a:r>
            <a:r>
              <a:rPr lang="zh-CN" altLang="en-US" dirty="0" smtClean="0"/>
              <a:t>这种属性叫做</a:t>
            </a:r>
            <a:r>
              <a:rPr lang="zh-CN" altLang="en-US" b="1" dirty="0" smtClean="0">
                <a:solidFill>
                  <a:srgbClr val="C00000"/>
                </a:solidFill>
              </a:rPr>
              <a:t>图形不变量</a:t>
            </a:r>
            <a:r>
              <a:rPr lang="en-US" altLang="zh-CN" dirty="0" smtClean="0"/>
              <a:t>, </a:t>
            </a:r>
            <a:r>
              <a:rPr lang="zh-CN" altLang="en-US" dirty="0" smtClean="0"/>
              <a:t>例如同构的简单图必须具有</a:t>
            </a:r>
            <a:r>
              <a:rPr lang="zh-CN" altLang="en-US" b="1" u="sng" dirty="0" smtClean="0"/>
              <a:t>相同的顶点数</a:t>
            </a:r>
            <a:r>
              <a:rPr lang="en-US" altLang="zh-CN" dirty="0" smtClean="0"/>
              <a:t>, </a:t>
            </a:r>
            <a:r>
              <a:rPr lang="zh-CN" altLang="en-US" b="1" u="sng" dirty="0" smtClean="0"/>
              <a:t>相同的边数</a:t>
            </a:r>
            <a:r>
              <a:rPr lang="en-US" altLang="zh-CN" dirty="0" smtClean="0"/>
              <a:t>, </a:t>
            </a:r>
            <a:r>
              <a:rPr lang="zh-CN" altLang="en-US" b="1" u="sng" dirty="0" smtClean="0"/>
              <a:t>对应的顶点的度必须相同</a:t>
            </a:r>
            <a:r>
              <a:rPr lang="en-US" altLang="zh-CN" dirty="0" smtClean="0"/>
              <a:t>.</a:t>
            </a:r>
          </a:p>
          <a:p>
            <a:r>
              <a:rPr lang="zh-CN" altLang="en-US" dirty="0" smtClean="0"/>
              <a:t>注意</a:t>
            </a:r>
            <a:r>
              <a:rPr lang="en-US" altLang="zh-CN" dirty="0" smtClean="0"/>
              <a:t>, </a:t>
            </a:r>
            <a:r>
              <a:rPr lang="zh-CN" altLang="en-US" dirty="0" smtClean="0"/>
              <a:t>以上这些都是同构下的不变量</a:t>
            </a:r>
            <a:r>
              <a:rPr lang="en-US" altLang="zh-CN" dirty="0" smtClean="0"/>
              <a:t>. </a:t>
            </a:r>
            <a:r>
              <a:rPr lang="zh-CN" altLang="en-US" dirty="0" smtClean="0"/>
              <a:t>若两个简单图的这些不变量任何一个不同</a:t>
            </a:r>
            <a:r>
              <a:rPr lang="en-US" altLang="zh-CN" dirty="0" smtClean="0"/>
              <a:t>, </a:t>
            </a:r>
            <a:r>
              <a:rPr lang="zh-CN" altLang="en-US" dirty="0" smtClean="0"/>
              <a:t>则这两个图不是同构的</a:t>
            </a:r>
            <a:r>
              <a:rPr lang="en-US" altLang="zh-CN" dirty="0" smtClean="0"/>
              <a:t>. </a:t>
            </a:r>
            <a:r>
              <a:rPr lang="zh-CN" altLang="en-US" dirty="0" smtClean="0"/>
              <a:t>但如果这些都相同</a:t>
            </a:r>
            <a:r>
              <a:rPr lang="en-US" altLang="zh-CN" dirty="0" smtClean="0"/>
              <a:t>, </a:t>
            </a:r>
            <a:r>
              <a:rPr lang="zh-CN" altLang="en-US" dirty="0" smtClean="0"/>
              <a:t>也不一定意味着这两个图是同构的</a:t>
            </a:r>
            <a:r>
              <a:rPr lang="en-US" altLang="zh-CN" dirty="0" smtClean="0"/>
              <a:t>. </a:t>
            </a:r>
            <a:r>
              <a:rPr lang="zh-CN" altLang="en-US" dirty="0" smtClean="0"/>
              <a:t>目前还没有已知的用来判定简单图是否同构的不变量集</a:t>
            </a:r>
            <a:r>
              <a:rPr lang="en-US" altLang="zh-CN" dirty="0" smtClean="0"/>
              <a:t>.</a:t>
            </a:r>
          </a:p>
        </p:txBody>
      </p:sp>
      <p:sp>
        <p:nvSpPr>
          <p:cNvPr id="6" name="日期占位符 5"/>
          <p:cNvSpPr>
            <a:spLocks noGrp="1"/>
          </p:cNvSpPr>
          <p:nvPr>
            <p:ph type="dt" sz="half" idx="10"/>
          </p:nvPr>
        </p:nvSpPr>
        <p:spPr/>
        <p:txBody>
          <a:bodyPr/>
          <a:lstStyle/>
          <a:p>
            <a:fld id="{E4A66BB9-ACBE-4F5A-AA0B-73357934A92A}" type="datetime1">
              <a:rPr lang="zh-CN" altLang="en-US" smtClean="0"/>
              <a:t>2025/4/15</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97</a:t>
            </a:fld>
            <a:endParaRPr lang="zh-CN" altLang="en-US" dirty="0"/>
          </a:p>
        </p:txBody>
      </p:sp>
    </p:spTree>
    <p:extLst>
      <p:ext uri="{BB962C8B-B14F-4D97-AF65-F5344CB8AC3E}">
        <p14:creationId xmlns:p14="http://schemas.microsoft.com/office/powerpoint/2010/main" val="1663453830"/>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图的同构</a:t>
            </a:r>
            <a:endParaRPr lang="en-US" dirty="0"/>
          </a:p>
        </p:txBody>
      </p:sp>
      <p:sp>
        <p:nvSpPr>
          <p:cNvPr id="3" name="Content Placeholder 2"/>
          <p:cNvSpPr>
            <a:spLocks noGrp="1"/>
          </p:cNvSpPr>
          <p:nvPr>
            <p:ph idx="1"/>
          </p:nvPr>
        </p:nvSpPr>
        <p:spPr/>
        <p:txBody>
          <a:bodyPr>
            <a:normAutofit/>
          </a:bodyPr>
          <a:lstStyle/>
          <a:p>
            <a:r>
              <a:rPr lang="zh-CN" altLang="en-US" dirty="0" smtClean="0"/>
              <a:t>例</a:t>
            </a:r>
            <a:r>
              <a:rPr lang="en-US" altLang="zh-CN" dirty="0" smtClean="0"/>
              <a:t>: </a:t>
            </a:r>
            <a:r>
              <a:rPr lang="zh-CN" altLang="en-US" dirty="0" smtClean="0"/>
              <a:t>说明下面两个图不同构</a:t>
            </a:r>
            <a:r>
              <a:rPr lang="en-US" altLang="zh-CN" dirty="0" smtClean="0"/>
              <a:t>.</a:t>
            </a:r>
          </a:p>
          <a:p>
            <a:endParaRPr lang="en-US" dirty="0" smtClean="0"/>
          </a:p>
          <a:p>
            <a:endParaRPr lang="en-US" dirty="0"/>
          </a:p>
          <a:p>
            <a:endParaRPr lang="en-US" dirty="0" smtClean="0"/>
          </a:p>
          <a:p>
            <a:endParaRPr lang="en-US" dirty="0"/>
          </a:p>
          <a:p>
            <a:endParaRPr lang="en-US" dirty="0" smtClean="0"/>
          </a:p>
          <a:p>
            <a:r>
              <a:rPr lang="zh-CN" altLang="en-US" dirty="0" smtClean="0"/>
              <a:t>解</a:t>
            </a:r>
            <a:r>
              <a:rPr lang="en-US" altLang="zh-CN" dirty="0" smtClean="0"/>
              <a:t>: G</a:t>
            </a:r>
            <a:r>
              <a:rPr lang="zh-CN" altLang="en-US" dirty="0" smtClean="0"/>
              <a:t>和</a:t>
            </a:r>
            <a:r>
              <a:rPr lang="en-US" altLang="zh-CN" dirty="0" smtClean="0"/>
              <a:t>H</a:t>
            </a:r>
            <a:r>
              <a:rPr lang="zh-CN" altLang="en-US" dirty="0" smtClean="0"/>
              <a:t>都具有</a:t>
            </a:r>
            <a:r>
              <a:rPr lang="en-US" altLang="zh-CN" dirty="0" smtClean="0"/>
              <a:t>5</a:t>
            </a:r>
            <a:r>
              <a:rPr lang="zh-CN" altLang="en-US" dirty="0" smtClean="0"/>
              <a:t>个顶点</a:t>
            </a:r>
            <a:r>
              <a:rPr lang="en-US" altLang="zh-CN" dirty="0" smtClean="0"/>
              <a:t>, 6</a:t>
            </a:r>
            <a:r>
              <a:rPr lang="zh-CN" altLang="en-US" dirty="0" smtClean="0"/>
              <a:t>条边</a:t>
            </a:r>
            <a:r>
              <a:rPr lang="en-US" altLang="zh-CN" dirty="0" smtClean="0"/>
              <a:t>. </a:t>
            </a:r>
            <a:r>
              <a:rPr lang="zh-CN" altLang="en-US" dirty="0" smtClean="0"/>
              <a:t>但是</a:t>
            </a:r>
            <a:r>
              <a:rPr lang="en-US" altLang="zh-CN" dirty="0" smtClean="0"/>
              <a:t>H</a:t>
            </a:r>
            <a:r>
              <a:rPr lang="zh-CN" altLang="en-US" dirty="0" smtClean="0"/>
              <a:t>有一个度为</a:t>
            </a:r>
            <a:r>
              <a:rPr lang="en-US" altLang="zh-CN" dirty="0" smtClean="0"/>
              <a:t>1</a:t>
            </a:r>
            <a:r>
              <a:rPr lang="zh-CN" altLang="en-US" dirty="0" smtClean="0"/>
              <a:t>的顶点</a:t>
            </a:r>
            <a:r>
              <a:rPr lang="en-US" altLang="zh-CN" dirty="0" smtClean="0"/>
              <a:t>e, </a:t>
            </a:r>
            <a:r>
              <a:rPr lang="zh-CN" altLang="en-US" dirty="0" smtClean="0"/>
              <a:t>而</a:t>
            </a:r>
            <a:r>
              <a:rPr lang="en-US" altLang="zh-CN" dirty="0" smtClean="0"/>
              <a:t>G</a:t>
            </a:r>
            <a:r>
              <a:rPr lang="zh-CN" altLang="en-US" dirty="0" smtClean="0"/>
              <a:t>中没有度为</a:t>
            </a:r>
            <a:r>
              <a:rPr lang="en-US" altLang="zh-CN" dirty="0" smtClean="0"/>
              <a:t>1</a:t>
            </a:r>
            <a:r>
              <a:rPr lang="zh-CN" altLang="en-US" dirty="0" smtClean="0"/>
              <a:t>的顶点</a:t>
            </a:r>
            <a:r>
              <a:rPr lang="en-US" altLang="zh-CN" dirty="0" smtClean="0"/>
              <a:t>, </a:t>
            </a:r>
            <a:r>
              <a:rPr lang="zh-CN" altLang="en-US" dirty="0" smtClean="0"/>
              <a:t>所以</a:t>
            </a:r>
            <a:r>
              <a:rPr lang="en-US" altLang="zh-CN" dirty="0" smtClean="0"/>
              <a:t>G</a:t>
            </a:r>
            <a:r>
              <a:rPr lang="zh-CN" altLang="en-US" dirty="0" smtClean="0"/>
              <a:t>和</a:t>
            </a:r>
            <a:r>
              <a:rPr lang="en-US" altLang="zh-CN" dirty="0" smtClean="0"/>
              <a:t>H</a:t>
            </a:r>
            <a:r>
              <a:rPr lang="zh-CN" altLang="en-US" dirty="0" smtClean="0"/>
              <a:t>不是同构的</a:t>
            </a:r>
            <a:r>
              <a:rPr lang="en-US" altLang="zh-CN" dirty="0" smtClean="0"/>
              <a:t>.</a:t>
            </a:r>
            <a:endParaRPr lang="en-US" dirty="0"/>
          </a:p>
        </p:txBody>
      </p:sp>
      <p:sp>
        <p:nvSpPr>
          <p:cNvPr id="8" name="日期占位符 7"/>
          <p:cNvSpPr>
            <a:spLocks noGrp="1"/>
          </p:cNvSpPr>
          <p:nvPr>
            <p:ph type="dt" sz="half" idx="10"/>
          </p:nvPr>
        </p:nvSpPr>
        <p:spPr/>
        <p:txBody>
          <a:bodyPr/>
          <a:lstStyle/>
          <a:p>
            <a:fld id="{145A3AAB-BB29-4C11-AB18-D418FC12D8F6}" type="datetime1">
              <a:rPr lang="zh-CN" altLang="en-US" smtClean="0"/>
              <a:t>2025/4/15</a:t>
            </a:fld>
            <a:endParaRPr lang="zh-CN" altLang="en-US" dirty="0"/>
          </a:p>
        </p:txBody>
      </p:sp>
      <p:sp>
        <p:nvSpPr>
          <p:cNvPr id="9" name="页脚占位符 8"/>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10" name="灯片编号占位符 9"/>
          <p:cNvSpPr>
            <a:spLocks noGrp="1"/>
          </p:cNvSpPr>
          <p:nvPr>
            <p:ph type="sldNum" sz="quarter" idx="12"/>
          </p:nvPr>
        </p:nvSpPr>
        <p:spPr/>
        <p:txBody>
          <a:bodyPr/>
          <a:lstStyle/>
          <a:p>
            <a:fld id="{67913A8A-9EFB-4B5F-9CCB-3D21173FAA85}" type="slidenum">
              <a:rPr lang="zh-CN" altLang="en-US" smtClean="0"/>
              <a:pPr/>
              <a:t>98</a:t>
            </a:fld>
            <a:endParaRPr lang="zh-CN" altLang="en-US" dirty="0"/>
          </a:p>
        </p:txBody>
      </p:sp>
      <p:pic>
        <p:nvPicPr>
          <p:cNvPr id="4" name="图片 3"/>
          <p:cNvPicPr>
            <a:picLocks noChangeAspect="1"/>
          </p:cNvPicPr>
          <p:nvPr/>
        </p:nvPicPr>
        <p:blipFill>
          <a:blip r:embed="rId2"/>
          <a:stretch>
            <a:fillRect/>
          </a:stretch>
        </p:blipFill>
        <p:spPr>
          <a:xfrm>
            <a:off x="4271058" y="1524000"/>
            <a:ext cx="3413700" cy="2774214"/>
          </a:xfrm>
          <a:prstGeom prst="rect">
            <a:avLst/>
          </a:prstGeom>
        </p:spPr>
      </p:pic>
      <p:sp>
        <p:nvSpPr>
          <p:cNvPr id="12" name="矩形 11"/>
          <p:cNvSpPr/>
          <p:nvPr/>
        </p:nvSpPr>
        <p:spPr>
          <a:xfrm>
            <a:off x="6400800" y="2286000"/>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6400800" y="3048000"/>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939984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wipe(down)">
                                      <p:cBhvr>
                                        <p:cTn id="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图的同构</a:t>
            </a:r>
            <a:endParaRPr lang="en-US" dirty="0"/>
          </a:p>
        </p:txBody>
      </p:sp>
      <p:sp>
        <p:nvSpPr>
          <p:cNvPr id="3" name="Content Placeholder 2"/>
          <p:cNvSpPr>
            <a:spLocks noGrp="1"/>
          </p:cNvSpPr>
          <p:nvPr>
            <p:ph idx="1"/>
          </p:nvPr>
        </p:nvSpPr>
        <p:spPr/>
        <p:txBody>
          <a:bodyPr>
            <a:normAutofit/>
          </a:bodyPr>
          <a:lstStyle/>
          <a:p>
            <a:r>
              <a:rPr lang="zh-CN" altLang="en-US" dirty="0" smtClean="0"/>
              <a:t>例</a:t>
            </a:r>
            <a:r>
              <a:rPr lang="en-US" altLang="zh-CN" dirty="0" smtClean="0"/>
              <a:t>: </a:t>
            </a:r>
            <a:r>
              <a:rPr lang="zh-CN" altLang="en-US" dirty="0" smtClean="0"/>
              <a:t>判断下面两个图是否同构</a:t>
            </a:r>
            <a:r>
              <a:rPr lang="en-US" altLang="zh-CN" dirty="0" smtClean="0"/>
              <a:t>.</a:t>
            </a:r>
          </a:p>
          <a:p>
            <a:endParaRPr lang="en-US" dirty="0" smtClean="0"/>
          </a:p>
          <a:p>
            <a:endParaRPr lang="en-US" dirty="0"/>
          </a:p>
          <a:p>
            <a:endParaRPr lang="en-US" dirty="0" smtClean="0"/>
          </a:p>
          <a:p>
            <a:r>
              <a:rPr lang="zh-CN" altLang="en-US" dirty="0" smtClean="0"/>
              <a:t>解</a:t>
            </a:r>
            <a:r>
              <a:rPr lang="en-US" altLang="zh-CN" dirty="0" smtClean="0"/>
              <a:t>1: </a:t>
            </a:r>
          </a:p>
          <a:p>
            <a:pPr lvl="1">
              <a:lnSpc>
                <a:spcPct val="110000"/>
              </a:lnSpc>
            </a:pPr>
            <a:r>
              <a:rPr lang="en-US" altLang="zh-CN" dirty="0"/>
              <a:t>G</a:t>
            </a:r>
            <a:r>
              <a:rPr lang="zh-CN" altLang="en-US" dirty="0"/>
              <a:t>和</a:t>
            </a:r>
            <a:r>
              <a:rPr lang="en-US" altLang="zh-CN" dirty="0"/>
              <a:t>H</a:t>
            </a:r>
            <a:r>
              <a:rPr lang="zh-CN" altLang="en-US" dirty="0"/>
              <a:t>都有</a:t>
            </a:r>
            <a:r>
              <a:rPr lang="en-US" altLang="zh-CN" dirty="0"/>
              <a:t>8</a:t>
            </a:r>
            <a:r>
              <a:rPr lang="zh-CN" altLang="en-US" dirty="0"/>
              <a:t>个顶点</a:t>
            </a:r>
            <a:r>
              <a:rPr lang="en-US" altLang="zh-CN" dirty="0" smtClean="0"/>
              <a:t>, 10</a:t>
            </a:r>
            <a:r>
              <a:rPr lang="zh-CN" altLang="en-US" dirty="0"/>
              <a:t>条边</a:t>
            </a:r>
            <a:r>
              <a:rPr lang="en-US" altLang="zh-CN" dirty="0"/>
              <a:t>. </a:t>
            </a:r>
            <a:r>
              <a:rPr lang="zh-CN" altLang="en-US" dirty="0"/>
              <a:t>他们</a:t>
            </a:r>
            <a:r>
              <a:rPr lang="zh-CN" altLang="en-US" dirty="0" smtClean="0"/>
              <a:t>都有</a:t>
            </a:r>
            <a:r>
              <a:rPr lang="en-US" altLang="zh-CN" dirty="0"/>
              <a:t>4</a:t>
            </a:r>
            <a:r>
              <a:rPr lang="zh-CN" altLang="en-US" dirty="0"/>
              <a:t>个度为</a:t>
            </a:r>
            <a:r>
              <a:rPr lang="en-US" altLang="zh-CN" dirty="0"/>
              <a:t>2</a:t>
            </a:r>
            <a:r>
              <a:rPr lang="zh-CN" altLang="en-US" dirty="0"/>
              <a:t>的顶点</a:t>
            </a:r>
            <a:r>
              <a:rPr lang="en-US" altLang="zh-CN" dirty="0"/>
              <a:t>, </a:t>
            </a:r>
            <a:r>
              <a:rPr lang="en-US" altLang="zh-CN" dirty="0" smtClean="0"/>
              <a:t>4</a:t>
            </a:r>
            <a:r>
              <a:rPr lang="zh-CN" altLang="en-US" dirty="0"/>
              <a:t>个度为</a:t>
            </a:r>
            <a:r>
              <a:rPr lang="en-US" altLang="zh-CN" dirty="0"/>
              <a:t>3</a:t>
            </a:r>
            <a:r>
              <a:rPr lang="zh-CN" altLang="en-US" dirty="0"/>
              <a:t>的顶点</a:t>
            </a:r>
            <a:r>
              <a:rPr lang="en-US" altLang="zh-CN" dirty="0"/>
              <a:t>. </a:t>
            </a:r>
            <a:r>
              <a:rPr lang="zh-CN" altLang="en-US" dirty="0" smtClean="0"/>
              <a:t>因此</a:t>
            </a:r>
            <a:r>
              <a:rPr lang="en-US" altLang="zh-CN" dirty="0" smtClean="0"/>
              <a:t>G</a:t>
            </a:r>
            <a:r>
              <a:rPr lang="zh-CN" altLang="en-US" dirty="0"/>
              <a:t>和</a:t>
            </a:r>
            <a:r>
              <a:rPr lang="en-US" altLang="zh-CN" dirty="0"/>
              <a:t>H</a:t>
            </a:r>
            <a:r>
              <a:rPr lang="zh-CN" altLang="en-US" dirty="0"/>
              <a:t>可能会是同构的</a:t>
            </a:r>
            <a:r>
              <a:rPr lang="en-US" altLang="zh-CN" dirty="0"/>
              <a:t>. </a:t>
            </a:r>
          </a:p>
          <a:p>
            <a:pPr lvl="1">
              <a:lnSpc>
                <a:spcPct val="110000"/>
              </a:lnSpc>
            </a:pPr>
            <a:r>
              <a:rPr lang="zh-CN" altLang="en-US" dirty="0"/>
              <a:t>但是他们其实不是同构的</a:t>
            </a:r>
            <a:r>
              <a:rPr lang="en-US" altLang="zh-CN" dirty="0"/>
              <a:t>. </a:t>
            </a:r>
            <a:r>
              <a:rPr lang="zh-CN" altLang="en-US" dirty="0"/>
              <a:t>因为</a:t>
            </a:r>
            <a:r>
              <a:rPr lang="en-US" altLang="zh-CN" dirty="0"/>
              <a:t>G</a:t>
            </a:r>
            <a:r>
              <a:rPr lang="zh-CN" altLang="en-US" dirty="0"/>
              <a:t>中</a:t>
            </a:r>
            <a:r>
              <a:rPr lang="en-US" altLang="zh-CN" dirty="0" err="1"/>
              <a:t>deg</a:t>
            </a:r>
            <a:r>
              <a:rPr lang="en-US" altLang="zh-CN" dirty="0"/>
              <a:t>(a)=2</a:t>
            </a:r>
            <a:r>
              <a:rPr lang="en-US" altLang="zh-CN" dirty="0" smtClean="0"/>
              <a:t>, </a:t>
            </a:r>
            <a:r>
              <a:rPr lang="zh-CN" altLang="en-US" dirty="0" smtClean="0"/>
              <a:t>所以</a:t>
            </a:r>
            <a:r>
              <a:rPr lang="en-US" altLang="zh-CN" dirty="0"/>
              <a:t>a</a:t>
            </a:r>
            <a:r>
              <a:rPr lang="zh-CN" altLang="en-US" dirty="0"/>
              <a:t>必然对应</a:t>
            </a:r>
            <a:r>
              <a:rPr lang="en-US" altLang="zh-CN" dirty="0"/>
              <a:t>H</a:t>
            </a:r>
            <a:r>
              <a:rPr lang="zh-CN" altLang="en-US" dirty="0"/>
              <a:t>中的</a:t>
            </a:r>
            <a:r>
              <a:rPr lang="en-US" altLang="zh-CN" dirty="0"/>
              <a:t>t, u, x</a:t>
            </a:r>
            <a:r>
              <a:rPr lang="zh-CN" altLang="en-US" dirty="0"/>
              <a:t>或</a:t>
            </a:r>
            <a:r>
              <a:rPr lang="en-US" altLang="zh-CN" dirty="0"/>
              <a:t>y</a:t>
            </a:r>
            <a:r>
              <a:rPr lang="en-US" altLang="zh-CN" dirty="0" smtClean="0"/>
              <a:t>, </a:t>
            </a:r>
            <a:r>
              <a:rPr lang="zh-CN" altLang="en-US" dirty="0" smtClean="0"/>
              <a:t>因为</a:t>
            </a:r>
            <a:r>
              <a:rPr lang="zh-CN" altLang="en-US" dirty="0"/>
              <a:t>这几个顶点也是度为</a:t>
            </a:r>
            <a:r>
              <a:rPr lang="en-US" altLang="zh-CN" dirty="0"/>
              <a:t>2</a:t>
            </a:r>
            <a:r>
              <a:rPr lang="zh-CN" altLang="en-US" dirty="0"/>
              <a:t>的顶点</a:t>
            </a:r>
            <a:r>
              <a:rPr lang="en-US" altLang="zh-CN" dirty="0"/>
              <a:t>. </a:t>
            </a:r>
            <a:r>
              <a:rPr lang="zh-CN" altLang="en-US" dirty="0"/>
              <a:t>然后</a:t>
            </a:r>
            <a:r>
              <a:rPr lang="en-US" altLang="zh-CN" dirty="0"/>
              <a:t>H</a:t>
            </a:r>
            <a:r>
              <a:rPr lang="zh-CN" altLang="en-US" dirty="0"/>
              <a:t>中这</a:t>
            </a:r>
            <a:r>
              <a:rPr lang="en-US" altLang="zh-CN" dirty="0"/>
              <a:t>4</a:t>
            </a:r>
            <a:r>
              <a:rPr lang="zh-CN" altLang="en-US" dirty="0"/>
              <a:t>个顶点的每一个都与</a:t>
            </a:r>
            <a:r>
              <a:rPr lang="en-US" altLang="zh-CN" dirty="0"/>
              <a:t>H</a:t>
            </a:r>
            <a:r>
              <a:rPr lang="zh-CN" altLang="en-US" dirty="0"/>
              <a:t>中另一个度为</a:t>
            </a:r>
            <a:r>
              <a:rPr lang="en-US" altLang="zh-CN" dirty="0"/>
              <a:t>2</a:t>
            </a:r>
            <a:r>
              <a:rPr lang="zh-CN" altLang="en-US" dirty="0"/>
              <a:t>的顶点相邻</a:t>
            </a:r>
            <a:r>
              <a:rPr lang="en-US" altLang="zh-CN" dirty="0"/>
              <a:t>. </a:t>
            </a:r>
            <a:r>
              <a:rPr lang="zh-CN" altLang="en-US" dirty="0"/>
              <a:t>但是</a:t>
            </a:r>
            <a:r>
              <a:rPr lang="en-US" altLang="zh-CN" dirty="0"/>
              <a:t>G</a:t>
            </a:r>
            <a:r>
              <a:rPr lang="zh-CN" altLang="en-US" dirty="0"/>
              <a:t>中</a:t>
            </a:r>
            <a:r>
              <a:rPr lang="en-US" altLang="zh-CN" dirty="0"/>
              <a:t>a</a:t>
            </a:r>
            <a:r>
              <a:rPr lang="zh-CN" altLang="en-US" dirty="0"/>
              <a:t>却不是这样</a:t>
            </a:r>
            <a:r>
              <a:rPr lang="en-US" altLang="zh-CN" dirty="0"/>
              <a:t>. </a:t>
            </a:r>
            <a:r>
              <a:rPr lang="zh-CN" altLang="en-US" dirty="0"/>
              <a:t>所以</a:t>
            </a:r>
            <a:r>
              <a:rPr lang="en-US" altLang="zh-CN" dirty="0"/>
              <a:t>G</a:t>
            </a:r>
            <a:r>
              <a:rPr lang="zh-CN" altLang="en-US" dirty="0"/>
              <a:t>和</a:t>
            </a:r>
            <a:r>
              <a:rPr lang="en-US" altLang="zh-CN" dirty="0"/>
              <a:t>H</a:t>
            </a:r>
            <a:r>
              <a:rPr lang="zh-CN" altLang="en-US" dirty="0"/>
              <a:t>不是同构的</a:t>
            </a:r>
            <a:r>
              <a:rPr lang="en-US" altLang="zh-CN" dirty="0"/>
              <a:t>.</a:t>
            </a: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695700" y="1524000"/>
            <a:ext cx="4800600" cy="1816782"/>
          </a:xfrm>
          <a:prstGeom prst="rect">
            <a:avLst/>
          </a:prstGeom>
        </p:spPr>
      </p:pic>
      <p:sp>
        <p:nvSpPr>
          <p:cNvPr id="8" name="日期占位符 7"/>
          <p:cNvSpPr>
            <a:spLocks noGrp="1"/>
          </p:cNvSpPr>
          <p:nvPr>
            <p:ph type="dt" sz="half" idx="10"/>
          </p:nvPr>
        </p:nvSpPr>
        <p:spPr/>
        <p:txBody>
          <a:bodyPr/>
          <a:lstStyle/>
          <a:p>
            <a:fld id="{D9655576-F8E6-4B87-99BC-4D338EC8A904}" type="datetime1">
              <a:rPr lang="zh-CN" altLang="en-US" smtClean="0"/>
              <a:t>2025/4/15</a:t>
            </a:fld>
            <a:endParaRPr lang="zh-CN" altLang="en-US" dirty="0"/>
          </a:p>
        </p:txBody>
      </p:sp>
      <p:sp>
        <p:nvSpPr>
          <p:cNvPr id="9" name="页脚占位符 8"/>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10" name="灯片编号占位符 9"/>
          <p:cNvSpPr>
            <a:spLocks noGrp="1"/>
          </p:cNvSpPr>
          <p:nvPr>
            <p:ph type="sldNum" sz="quarter" idx="12"/>
          </p:nvPr>
        </p:nvSpPr>
        <p:spPr/>
        <p:txBody>
          <a:bodyPr/>
          <a:lstStyle/>
          <a:p>
            <a:fld id="{67913A8A-9EFB-4B5F-9CCB-3D21173FAA85}" type="slidenum">
              <a:rPr lang="zh-CN" altLang="en-US" smtClean="0"/>
              <a:pPr/>
              <a:t>99</a:t>
            </a:fld>
            <a:endParaRPr lang="zh-CN" altLang="en-US" dirty="0"/>
          </a:p>
        </p:txBody>
      </p:sp>
      <p:sp>
        <p:nvSpPr>
          <p:cNvPr id="11" name="矩形 10"/>
          <p:cNvSpPr/>
          <p:nvPr/>
        </p:nvSpPr>
        <p:spPr>
          <a:xfrm>
            <a:off x="3543300" y="1549782"/>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4022271" y="1854582"/>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5105400" y="2362200"/>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5562600" y="2699657"/>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8305800" y="1549782"/>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8305800" y="2699657"/>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7848600" y="1914878"/>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7848600" y="2387288"/>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428779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wipe(down)">
                                      <p:cBhvr>
                                        <p:cTn id="7" dur="500"/>
                                        <p:tgtEl>
                                          <p:spTgt spid="3">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5" end="5"/>
                                            </p:txEl>
                                          </p:spTgt>
                                        </p:tgtEl>
                                        <p:attrNameLst>
                                          <p:attrName>style.visibility</p:attrName>
                                        </p:attrNameLst>
                                      </p:cBhvr>
                                      <p:to>
                                        <p:strVal val="visible"/>
                                      </p:to>
                                    </p:set>
                                    <p:animEffect transition="in" filter="wipe(down)">
                                      <p:cBhvr>
                                        <p:cTn id="12" dur="500"/>
                                        <p:tgtEl>
                                          <p:spTgt spid="3">
                                            <p:txEl>
                                              <p:pRg st="5" end="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Effect transition="in" filter="wipe(down)">
                                      <p:cBhvr>
                                        <p:cTn id="1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图的同构</a:t>
            </a:r>
            <a:endParaRPr lang="en-US" dirty="0"/>
          </a:p>
        </p:txBody>
      </p:sp>
      <p:sp>
        <p:nvSpPr>
          <p:cNvPr id="3" name="Content Placeholder 2"/>
          <p:cNvSpPr>
            <a:spLocks noGrp="1"/>
          </p:cNvSpPr>
          <p:nvPr>
            <p:ph idx="1"/>
          </p:nvPr>
        </p:nvSpPr>
        <p:spPr/>
        <p:txBody>
          <a:bodyPr>
            <a:normAutofit/>
          </a:bodyPr>
          <a:lstStyle/>
          <a:p>
            <a:r>
              <a:rPr lang="zh-CN" altLang="en-US" dirty="0" smtClean="0"/>
              <a:t>例</a:t>
            </a:r>
            <a:r>
              <a:rPr lang="en-US" altLang="zh-CN" dirty="0" smtClean="0"/>
              <a:t>: </a:t>
            </a:r>
            <a:r>
              <a:rPr lang="zh-CN" altLang="en-US" dirty="0" smtClean="0"/>
              <a:t>判断下面两个图是否同构</a:t>
            </a:r>
            <a:r>
              <a:rPr lang="en-US" altLang="zh-CN" dirty="0" smtClean="0"/>
              <a:t>.</a:t>
            </a:r>
          </a:p>
          <a:p>
            <a:endParaRPr lang="en-US" dirty="0" smtClean="0"/>
          </a:p>
          <a:p>
            <a:endParaRPr lang="en-US" dirty="0"/>
          </a:p>
          <a:p>
            <a:endParaRPr lang="en-US" dirty="0" smtClean="0"/>
          </a:p>
          <a:p>
            <a:r>
              <a:rPr lang="zh-CN" altLang="en-US" dirty="0" smtClean="0"/>
              <a:t>解</a:t>
            </a:r>
            <a:r>
              <a:rPr lang="en-US" altLang="zh-CN" dirty="0" smtClean="0"/>
              <a:t>2: </a:t>
            </a:r>
            <a:r>
              <a:rPr lang="zh-CN" altLang="en-US" dirty="0" smtClean="0"/>
              <a:t>看出</a:t>
            </a:r>
            <a:r>
              <a:rPr lang="en-US" altLang="zh-CN" dirty="0" smtClean="0"/>
              <a:t>G</a:t>
            </a:r>
            <a:r>
              <a:rPr lang="zh-CN" altLang="en-US" dirty="0" smtClean="0"/>
              <a:t>和</a:t>
            </a:r>
            <a:r>
              <a:rPr lang="en-US" altLang="zh-CN" dirty="0" smtClean="0"/>
              <a:t>H</a:t>
            </a:r>
            <a:r>
              <a:rPr lang="zh-CN" altLang="en-US" dirty="0" smtClean="0"/>
              <a:t>不同构的另外一种方法是</a:t>
            </a:r>
            <a:r>
              <a:rPr lang="en-US" altLang="zh-CN" dirty="0" smtClean="0"/>
              <a:t>, </a:t>
            </a:r>
            <a:r>
              <a:rPr lang="zh-CN" altLang="en-US" dirty="0" smtClean="0"/>
              <a:t>若这两个图同构</a:t>
            </a:r>
            <a:r>
              <a:rPr lang="en-US" altLang="zh-CN" dirty="0" smtClean="0"/>
              <a:t>, </a:t>
            </a:r>
            <a:r>
              <a:rPr lang="zh-CN" altLang="en-US" dirty="0" smtClean="0"/>
              <a:t>则由度为</a:t>
            </a:r>
            <a:r>
              <a:rPr lang="en-US" altLang="zh-CN" dirty="0" smtClean="0"/>
              <a:t>3</a:t>
            </a:r>
            <a:r>
              <a:rPr lang="zh-CN" altLang="en-US" dirty="0" smtClean="0"/>
              <a:t>的顶点和连接它们的边组成的</a:t>
            </a:r>
            <a:r>
              <a:rPr lang="en-US" altLang="zh-CN" dirty="0" smtClean="0"/>
              <a:t>G</a:t>
            </a:r>
            <a:r>
              <a:rPr lang="zh-CN" altLang="en-US" dirty="0" smtClean="0"/>
              <a:t>和</a:t>
            </a:r>
            <a:r>
              <a:rPr lang="en-US" altLang="zh-CN" dirty="0" smtClean="0"/>
              <a:t>H</a:t>
            </a:r>
            <a:r>
              <a:rPr lang="zh-CN" altLang="en-US" dirty="0" smtClean="0"/>
              <a:t>的子图一定是同构的</a:t>
            </a:r>
            <a:r>
              <a:rPr lang="en-US" altLang="zh-CN" dirty="0" smtClean="0"/>
              <a:t>(</a:t>
            </a:r>
            <a:r>
              <a:rPr lang="zh-CN" altLang="en-US" dirty="0" smtClean="0"/>
              <a:t>自行验证</a:t>
            </a:r>
            <a:r>
              <a:rPr lang="en-US" altLang="zh-CN" dirty="0" smtClean="0"/>
              <a:t>). </a:t>
            </a:r>
            <a:r>
              <a:rPr lang="zh-CN" altLang="en-US" dirty="0" smtClean="0"/>
              <a:t>这两个子图如下所示</a:t>
            </a:r>
            <a:r>
              <a:rPr lang="en-US" altLang="zh-CN" dirty="0" smtClean="0"/>
              <a:t>, </a:t>
            </a:r>
            <a:r>
              <a:rPr lang="zh-CN" altLang="en-US" dirty="0" smtClean="0"/>
              <a:t>两个子图不是同构的</a:t>
            </a:r>
            <a:r>
              <a:rPr lang="en-US" altLang="zh-CN" dirty="0" smtClean="0"/>
              <a:t>.</a:t>
            </a:r>
            <a:endParaRPr lang="en-US" dirty="0" smtClean="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67150" y="1600200"/>
            <a:ext cx="4457700" cy="1687012"/>
          </a:xfrm>
          <a:prstGeom prst="rect">
            <a:avLst/>
          </a:prstGeom>
        </p:spPr>
      </p:pic>
      <p:sp>
        <p:nvSpPr>
          <p:cNvPr id="8" name="日期占位符 7"/>
          <p:cNvSpPr>
            <a:spLocks noGrp="1"/>
          </p:cNvSpPr>
          <p:nvPr>
            <p:ph type="dt" sz="half" idx="10"/>
          </p:nvPr>
        </p:nvSpPr>
        <p:spPr/>
        <p:txBody>
          <a:bodyPr/>
          <a:lstStyle/>
          <a:p>
            <a:fld id="{EF6A6DC0-D33C-4FBF-BE43-B4B82AE2D7B1}" type="datetime1">
              <a:rPr lang="zh-CN" altLang="en-US" smtClean="0"/>
              <a:t>2025/4/15</a:t>
            </a:fld>
            <a:endParaRPr lang="zh-CN" altLang="en-US" dirty="0"/>
          </a:p>
        </p:txBody>
      </p:sp>
      <p:sp>
        <p:nvSpPr>
          <p:cNvPr id="9" name="页脚占位符 8"/>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10" name="灯片编号占位符 9"/>
          <p:cNvSpPr>
            <a:spLocks noGrp="1"/>
          </p:cNvSpPr>
          <p:nvPr>
            <p:ph type="sldNum" sz="quarter" idx="12"/>
          </p:nvPr>
        </p:nvSpPr>
        <p:spPr/>
        <p:txBody>
          <a:bodyPr/>
          <a:lstStyle/>
          <a:p>
            <a:fld id="{67913A8A-9EFB-4B5F-9CCB-3D21173FAA85}" type="slidenum">
              <a:rPr lang="zh-CN" altLang="en-US" smtClean="0"/>
              <a:pPr/>
              <a:t>100</a:t>
            </a:fld>
            <a:endParaRPr lang="zh-CN" altLang="en-US" dirty="0"/>
          </a:p>
        </p:txBody>
      </p:sp>
      <p:pic>
        <p:nvPicPr>
          <p:cNvPr id="4" name="图片 3"/>
          <p:cNvPicPr>
            <a:picLocks noChangeAspect="1"/>
          </p:cNvPicPr>
          <p:nvPr/>
        </p:nvPicPr>
        <p:blipFill>
          <a:blip r:embed="rId3"/>
          <a:stretch>
            <a:fillRect/>
          </a:stretch>
        </p:blipFill>
        <p:spPr>
          <a:xfrm>
            <a:off x="3962400" y="4752980"/>
            <a:ext cx="1771650" cy="1457325"/>
          </a:xfrm>
          <a:prstGeom prst="rect">
            <a:avLst/>
          </a:prstGeom>
        </p:spPr>
      </p:pic>
      <p:pic>
        <p:nvPicPr>
          <p:cNvPr id="5" name="图片 4"/>
          <p:cNvPicPr>
            <a:picLocks noChangeAspect="1"/>
          </p:cNvPicPr>
          <p:nvPr/>
        </p:nvPicPr>
        <p:blipFill>
          <a:blip r:embed="rId4"/>
          <a:stretch>
            <a:fillRect/>
          </a:stretch>
        </p:blipFill>
        <p:spPr>
          <a:xfrm>
            <a:off x="6629400" y="4635781"/>
            <a:ext cx="1781175" cy="1666875"/>
          </a:xfrm>
          <a:prstGeom prst="rect">
            <a:avLst/>
          </a:prstGeom>
        </p:spPr>
      </p:pic>
      <p:sp>
        <p:nvSpPr>
          <p:cNvPr id="11" name="矩形 10"/>
          <p:cNvSpPr/>
          <p:nvPr/>
        </p:nvSpPr>
        <p:spPr>
          <a:xfrm flipH="1">
            <a:off x="6172200" y="1600200"/>
            <a:ext cx="838200" cy="13716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5181600" y="1683848"/>
            <a:ext cx="762000" cy="449752"/>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3714750" y="2438400"/>
            <a:ext cx="1009650" cy="4572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326070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wipe(down)">
                                      <p:cBhvr>
                                        <p:cTn id="7" dur="500"/>
                                        <p:tgtEl>
                                          <p:spTgt spid="3">
                                            <p:txEl>
                                              <p:pRg st="4" end="4"/>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down)">
                                      <p:cBhvr>
                                        <p:cTn id="10" dur="500"/>
                                        <p:tgtEl>
                                          <p:spTgt spid="4"/>
                                        </p:tgtEl>
                                      </p:cBhvr>
                                    </p:animEffect>
                                  </p:childTnLst>
                                </p:cTn>
                              </p:par>
                              <p:par>
                                <p:cTn id="11" presetID="22" presetClass="entr" presetSubtype="4"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down)">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图的同构</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smtClean="0"/>
                  <a:t>例</a:t>
                </a:r>
                <a:r>
                  <a:rPr lang="en-US" altLang="zh-CN" dirty="0" smtClean="0"/>
                  <a:t>: </a:t>
                </a:r>
                <a:r>
                  <a:rPr lang="zh-CN" altLang="en-US" dirty="0" smtClean="0"/>
                  <a:t>判断以下两个图是否同构</a:t>
                </a:r>
                <a:r>
                  <a:rPr lang="en-US" altLang="zh-CN" dirty="0" smtClean="0"/>
                  <a:t>.</a:t>
                </a:r>
              </a:p>
              <a:p>
                <a:endParaRPr lang="en-US" dirty="0" smtClean="0"/>
              </a:p>
              <a:p>
                <a:endParaRPr lang="en-US" dirty="0" smtClean="0"/>
              </a:p>
              <a:p>
                <a:endParaRPr lang="en-US" dirty="0" smtClean="0"/>
              </a:p>
              <a:p>
                <a:r>
                  <a:rPr lang="zh-CN" altLang="en-US" dirty="0" smtClean="0"/>
                  <a:t>解</a:t>
                </a:r>
                <a:r>
                  <a:rPr lang="en-US" altLang="zh-CN" dirty="0" smtClean="0"/>
                  <a:t>: </a:t>
                </a:r>
              </a:p>
              <a:p>
                <a:pPr lvl="1">
                  <a:lnSpc>
                    <a:spcPct val="100000"/>
                  </a:lnSpc>
                </a:pPr>
                <a:r>
                  <a:rPr lang="en-US" altLang="zh-CN" dirty="0" smtClean="0"/>
                  <a:t>G</a:t>
                </a:r>
                <a:r>
                  <a:rPr lang="zh-CN" altLang="en-US" dirty="0"/>
                  <a:t>和</a:t>
                </a:r>
                <a:r>
                  <a:rPr lang="en-US" altLang="zh-CN" dirty="0"/>
                  <a:t>H</a:t>
                </a:r>
                <a:r>
                  <a:rPr lang="zh-CN" altLang="en-US" dirty="0"/>
                  <a:t>都有</a:t>
                </a:r>
                <a:r>
                  <a:rPr lang="en-US" altLang="zh-CN" dirty="0"/>
                  <a:t>6</a:t>
                </a:r>
                <a:r>
                  <a:rPr lang="zh-CN" altLang="en-US" dirty="0"/>
                  <a:t>个顶点</a:t>
                </a:r>
                <a:r>
                  <a:rPr lang="en-US" altLang="zh-CN" dirty="0"/>
                  <a:t>, </a:t>
                </a:r>
                <a:r>
                  <a:rPr lang="en-US" altLang="zh-CN" dirty="0" smtClean="0"/>
                  <a:t>7</a:t>
                </a:r>
                <a:r>
                  <a:rPr lang="zh-CN" altLang="en-US" dirty="0"/>
                  <a:t>条边</a:t>
                </a:r>
                <a:r>
                  <a:rPr lang="en-US" altLang="zh-CN" dirty="0"/>
                  <a:t>, </a:t>
                </a:r>
                <a:r>
                  <a:rPr lang="zh-CN" altLang="en-US" dirty="0" smtClean="0"/>
                  <a:t>都</a:t>
                </a:r>
                <a:r>
                  <a:rPr lang="zh-CN" altLang="en-US" dirty="0"/>
                  <a:t>有</a:t>
                </a:r>
                <a:r>
                  <a:rPr lang="en-US" altLang="zh-CN" dirty="0"/>
                  <a:t>4</a:t>
                </a:r>
                <a:r>
                  <a:rPr lang="zh-CN" altLang="en-US" dirty="0"/>
                  <a:t>个度为</a:t>
                </a:r>
                <a:r>
                  <a:rPr lang="en-US" altLang="zh-CN" dirty="0"/>
                  <a:t>2</a:t>
                </a:r>
                <a:r>
                  <a:rPr lang="zh-CN" altLang="en-US" dirty="0"/>
                  <a:t>的顶点</a:t>
                </a:r>
                <a:r>
                  <a:rPr lang="en-US" altLang="zh-CN" dirty="0"/>
                  <a:t>, </a:t>
                </a:r>
                <a:r>
                  <a:rPr lang="en-US" altLang="zh-CN" dirty="0" smtClean="0"/>
                  <a:t>2</a:t>
                </a:r>
                <a:r>
                  <a:rPr lang="zh-CN" altLang="en-US" dirty="0"/>
                  <a:t>个度为</a:t>
                </a:r>
                <a:r>
                  <a:rPr lang="en-US" altLang="zh-CN" dirty="0"/>
                  <a:t>3</a:t>
                </a:r>
                <a:r>
                  <a:rPr lang="zh-CN" altLang="en-US" dirty="0"/>
                  <a:t>的顶点</a:t>
                </a:r>
                <a:r>
                  <a:rPr lang="en-US" altLang="zh-CN" dirty="0"/>
                  <a:t>. </a:t>
                </a:r>
              </a:p>
              <a:p>
                <a:pPr lvl="1">
                  <a:lnSpc>
                    <a:spcPct val="100000"/>
                  </a:lnSpc>
                </a:pPr>
                <a:r>
                  <a:rPr lang="zh-CN" altLang="en-US" dirty="0"/>
                  <a:t>此外</a:t>
                </a:r>
                <a:r>
                  <a:rPr lang="en-US" altLang="zh-CN" dirty="0"/>
                  <a:t>, </a:t>
                </a:r>
                <a:r>
                  <a:rPr lang="zh-CN" altLang="en-US" dirty="0" smtClean="0"/>
                  <a:t>有</a:t>
                </a:r>
                <a:r>
                  <a:rPr lang="zh-CN" altLang="en-US" dirty="0"/>
                  <a:t>度为</a:t>
                </a:r>
                <a:r>
                  <a:rPr lang="en-US" altLang="zh-CN" dirty="0"/>
                  <a:t>2</a:t>
                </a:r>
                <a:r>
                  <a:rPr lang="zh-CN" altLang="en-US" dirty="0"/>
                  <a:t>的顶点和连接它们的边组成的图</a:t>
                </a:r>
                <a:r>
                  <a:rPr lang="en-US" altLang="zh-CN" dirty="0"/>
                  <a:t>G</a:t>
                </a:r>
                <a:r>
                  <a:rPr lang="zh-CN" altLang="en-US" dirty="0"/>
                  <a:t>和</a:t>
                </a:r>
                <a:r>
                  <a:rPr lang="en-US" altLang="zh-CN" dirty="0"/>
                  <a:t>H</a:t>
                </a:r>
                <a:r>
                  <a:rPr lang="zh-CN" altLang="en-US" dirty="0"/>
                  <a:t>的子图也是同构的</a:t>
                </a:r>
                <a:r>
                  <a:rPr lang="en-US" altLang="zh-CN" dirty="0"/>
                  <a:t>. </a:t>
                </a:r>
              </a:p>
              <a:p>
                <a:pPr lvl="1">
                  <a:lnSpc>
                    <a:spcPct val="100000"/>
                  </a:lnSpc>
                </a:pPr>
                <a:r>
                  <a:rPr lang="zh-CN" altLang="en-US" dirty="0"/>
                  <a:t>所以</a:t>
                </a:r>
                <a:r>
                  <a:rPr lang="en-US" altLang="zh-CN" dirty="0"/>
                  <a:t>, </a:t>
                </a:r>
                <a:r>
                  <a:rPr lang="zh-CN" altLang="en-US" dirty="0" smtClean="0"/>
                  <a:t>我们</a:t>
                </a:r>
                <a:r>
                  <a:rPr lang="zh-CN" altLang="en-US" dirty="0"/>
                  <a:t>有理由尝试找出一个同构</a:t>
                </a:r>
                <a14:m>
                  <m:oMath xmlns:m="http://schemas.openxmlformats.org/officeDocument/2006/math">
                    <m:r>
                      <a:rPr lang="en-US" altLang="zh-CN" dirty="0">
                        <a:latin typeface="Cambria Math" panose="02040503050406030204" pitchFamily="18" charset="0"/>
                      </a:rPr>
                      <m:t>𝑓</m:t>
                    </m:r>
                  </m:oMath>
                </a14:m>
                <a:r>
                  <a:rPr lang="en-US" altLang="zh-CN" dirty="0"/>
                  <a:t>, </a:t>
                </a:r>
                <a:r>
                  <a:rPr lang="zh-CN" altLang="en-US" dirty="0"/>
                  <a:t>然后判断它们是否同构</a:t>
                </a:r>
                <a:r>
                  <a:rPr lang="en-US" altLang="zh-CN" dirty="0"/>
                  <a:t>. </a:t>
                </a:r>
                <a:r>
                  <a:rPr lang="zh-CN" altLang="en-US" dirty="0" smtClean="0"/>
                  <a:t>因为</a:t>
                </a:r>
                <a:r>
                  <a:rPr lang="en-US" altLang="zh-CN" dirty="0" err="1" smtClean="0"/>
                  <a:t>deg</a:t>
                </a:r>
                <a:r>
                  <a:rPr lang="en-US" altLang="zh-CN" dirty="0"/>
                  <a:t>(</a:t>
                </a:r>
                <a14:m>
                  <m:oMath xmlns:m="http://schemas.openxmlformats.org/officeDocument/2006/math">
                    <m:sSub>
                      <m:sSubPr>
                        <m:ctrlPr>
                          <a:rPr lang="en-US" altLang="zh-CN" i="1" dirty="0">
                            <a:latin typeface="Cambria Math" panose="02040503050406030204" pitchFamily="18" charset="0"/>
                          </a:rPr>
                        </m:ctrlPr>
                      </m:sSubPr>
                      <m:e>
                        <m:r>
                          <a:rPr lang="en-US" altLang="zh-CN" dirty="0">
                            <a:latin typeface="Cambria Math" panose="02040503050406030204" pitchFamily="18" charset="0"/>
                          </a:rPr>
                          <m:t>𝑢</m:t>
                        </m:r>
                      </m:e>
                      <m:sub>
                        <m:r>
                          <a:rPr lang="en-US" altLang="zh-CN" dirty="0">
                            <a:latin typeface="Cambria Math" panose="02040503050406030204" pitchFamily="18" charset="0"/>
                          </a:rPr>
                          <m:t>1</m:t>
                        </m:r>
                      </m:sub>
                    </m:sSub>
                  </m:oMath>
                </a14:m>
                <a:r>
                  <a:rPr lang="en-US" altLang="zh-CN" dirty="0"/>
                  <a:t>)=2</a:t>
                </a:r>
                <a:r>
                  <a:rPr lang="en-US" altLang="zh-CN" dirty="0" smtClean="0"/>
                  <a:t>, </a:t>
                </a:r>
                <a:r>
                  <a:rPr lang="zh-CN" altLang="en-US" dirty="0" smtClean="0"/>
                  <a:t>且</a:t>
                </a:r>
                <a14:m>
                  <m:oMath xmlns:m="http://schemas.openxmlformats.org/officeDocument/2006/math">
                    <m:sSub>
                      <m:sSubPr>
                        <m:ctrlPr>
                          <a:rPr lang="en-US" altLang="zh-CN" i="1" dirty="0">
                            <a:latin typeface="Cambria Math" panose="02040503050406030204" pitchFamily="18" charset="0"/>
                          </a:rPr>
                        </m:ctrlPr>
                      </m:sSubPr>
                      <m:e>
                        <m:r>
                          <a:rPr lang="en-US" altLang="zh-CN" dirty="0">
                            <a:latin typeface="Cambria Math" panose="02040503050406030204" pitchFamily="18" charset="0"/>
                          </a:rPr>
                          <m:t>𝑢</m:t>
                        </m:r>
                      </m:e>
                      <m:sub>
                        <m:r>
                          <a:rPr lang="en-US" altLang="zh-CN" dirty="0">
                            <a:latin typeface="Cambria Math" panose="02040503050406030204" pitchFamily="18" charset="0"/>
                          </a:rPr>
                          <m:t>1</m:t>
                        </m:r>
                      </m:sub>
                    </m:sSub>
                  </m:oMath>
                </a14:m>
                <a:r>
                  <a:rPr lang="zh-CN" altLang="en-US" dirty="0"/>
                  <a:t>不与任何其他度为</a:t>
                </a:r>
                <a:r>
                  <a:rPr lang="en-US" altLang="zh-CN" dirty="0"/>
                  <a:t>2</a:t>
                </a:r>
                <a:r>
                  <a:rPr lang="zh-CN" altLang="en-US" dirty="0"/>
                  <a:t>的顶点相邻</a:t>
                </a:r>
                <a:r>
                  <a:rPr lang="en-US" altLang="zh-CN" dirty="0" smtClean="0"/>
                  <a:t>, </a:t>
                </a:r>
                <a:r>
                  <a:rPr lang="zh-CN" altLang="en-US" dirty="0" smtClean="0"/>
                  <a:t>所以</a:t>
                </a:r>
                <a14:m>
                  <m:oMath xmlns:m="http://schemas.openxmlformats.org/officeDocument/2006/math">
                    <m:sSub>
                      <m:sSubPr>
                        <m:ctrlPr>
                          <a:rPr lang="en-US" altLang="zh-CN" i="1" dirty="0">
                            <a:latin typeface="Cambria Math" panose="02040503050406030204" pitchFamily="18" charset="0"/>
                          </a:rPr>
                        </m:ctrlPr>
                      </m:sSubPr>
                      <m:e>
                        <m:r>
                          <a:rPr lang="en-US" altLang="zh-CN" dirty="0">
                            <a:latin typeface="Cambria Math" panose="02040503050406030204" pitchFamily="18" charset="0"/>
                          </a:rPr>
                          <m:t>𝑢</m:t>
                        </m:r>
                      </m:e>
                      <m:sub>
                        <m:r>
                          <a:rPr lang="en-US" altLang="zh-CN" dirty="0">
                            <a:latin typeface="Cambria Math" panose="02040503050406030204" pitchFamily="18" charset="0"/>
                          </a:rPr>
                          <m:t>1</m:t>
                        </m:r>
                      </m:sub>
                    </m:sSub>
                  </m:oMath>
                </a14:m>
                <a:r>
                  <a:rPr lang="zh-CN" altLang="en-US" dirty="0"/>
                  <a:t>的像必然是</a:t>
                </a:r>
                <a14:m>
                  <m:oMath xmlns:m="http://schemas.openxmlformats.org/officeDocument/2006/math">
                    <m:sSub>
                      <m:sSubPr>
                        <m:ctrlPr>
                          <a:rPr lang="en-US" altLang="zh-CN" i="1" dirty="0">
                            <a:latin typeface="Cambria Math" panose="02040503050406030204" pitchFamily="18" charset="0"/>
                          </a:rPr>
                        </m:ctrlPr>
                      </m:sSubPr>
                      <m:e>
                        <m:r>
                          <a:rPr lang="en-US" altLang="zh-CN" dirty="0">
                            <a:latin typeface="Cambria Math" panose="02040503050406030204" pitchFamily="18" charset="0"/>
                          </a:rPr>
                          <m:t>𝑣</m:t>
                        </m:r>
                      </m:e>
                      <m:sub>
                        <m:r>
                          <a:rPr lang="en-US" altLang="zh-CN" dirty="0">
                            <a:latin typeface="Cambria Math" panose="02040503050406030204" pitchFamily="18" charset="0"/>
                          </a:rPr>
                          <m:t>4</m:t>
                        </m:r>
                      </m:sub>
                    </m:sSub>
                  </m:oMath>
                </a14:m>
                <a:r>
                  <a:rPr lang="zh-CN" altLang="en-US" dirty="0"/>
                  <a:t>或</a:t>
                </a:r>
                <a14:m>
                  <m:oMath xmlns:m="http://schemas.openxmlformats.org/officeDocument/2006/math">
                    <m:sSub>
                      <m:sSubPr>
                        <m:ctrlPr>
                          <a:rPr lang="en-US" altLang="zh-CN" i="1" dirty="0">
                            <a:latin typeface="Cambria Math" panose="02040503050406030204" pitchFamily="18" charset="0"/>
                          </a:rPr>
                        </m:ctrlPr>
                      </m:sSubPr>
                      <m:e>
                        <m:r>
                          <a:rPr lang="en-US" altLang="zh-CN" dirty="0">
                            <a:latin typeface="Cambria Math" panose="02040503050406030204" pitchFamily="18" charset="0"/>
                          </a:rPr>
                          <m:t>𝑣</m:t>
                        </m:r>
                      </m:e>
                      <m:sub>
                        <m:r>
                          <a:rPr lang="en-US" altLang="zh-CN" dirty="0">
                            <a:latin typeface="Cambria Math" panose="02040503050406030204" pitchFamily="18" charset="0"/>
                          </a:rPr>
                          <m:t>6</m:t>
                        </m:r>
                      </m:sub>
                    </m:sSub>
                  </m:oMath>
                </a14:m>
                <a:r>
                  <a:rPr lang="en-US" altLang="zh-CN" dirty="0" smtClean="0"/>
                  <a:t>, </a:t>
                </a:r>
                <a:r>
                  <a:rPr lang="zh-CN" altLang="en-US" dirty="0" smtClean="0"/>
                  <a:t>因为</a:t>
                </a:r>
                <a:r>
                  <a:rPr lang="zh-CN" altLang="en-US" dirty="0"/>
                  <a:t>它们是</a:t>
                </a:r>
                <a:r>
                  <a:rPr lang="en-US" altLang="zh-CN" dirty="0"/>
                  <a:t>H</a:t>
                </a:r>
                <a:r>
                  <a:rPr lang="zh-CN" altLang="en-US" dirty="0"/>
                  <a:t>中仅有的不与度为</a:t>
                </a:r>
                <a:r>
                  <a:rPr lang="en-US" altLang="zh-CN" dirty="0"/>
                  <a:t>2</a:t>
                </a:r>
                <a:r>
                  <a:rPr lang="zh-CN" altLang="en-US" dirty="0"/>
                  <a:t>的顶点相邻的度为</a:t>
                </a:r>
                <a:r>
                  <a:rPr lang="en-US" altLang="zh-CN" dirty="0"/>
                  <a:t>2</a:t>
                </a:r>
                <a:r>
                  <a:rPr lang="zh-CN" altLang="en-US" dirty="0"/>
                  <a:t>的顶点</a:t>
                </a:r>
                <a:r>
                  <a:rPr lang="en-US" altLang="zh-CN" dirty="0"/>
                  <a:t>. </a:t>
                </a:r>
                <a:r>
                  <a:rPr lang="zh-CN" altLang="en-US" dirty="0"/>
                  <a:t>我们任取</a:t>
                </a:r>
                <a14:m>
                  <m:oMath xmlns:m="http://schemas.openxmlformats.org/officeDocument/2006/math">
                    <m:r>
                      <a:rPr lang="en-US" altLang="zh-CN" dirty="0">
                        <a:latin typeface="Cambria Math" panose="02040503050406030204" pitchFamily="18" charset="0"/>
                      </a:rPr>
                      <m:t>𝑓</m:t>
                    </m:r>
                  </m:oMath>
                </a14:m>
                <a:r>
                  <a:rPr lang="en-US" altLang="zh-CN" dirty="0"/>
                  <a:t>(</a:t>
                </a:r>
                <a14:m>
                  <m:oMath xmlns:m="http://schemas.openxmlformats.org/officeDocument/2006/math">
                    <m:sSub>
                      <m:sSubPr>
                        <m:ctrlPr>
                          <a:rPr lang="en-US" altLang="zh-CN" i="1" dirty="0">
                            <a:latin typeface="Cambria Math" panose="02040503050406030204" pitchFamily="18" charset="0"/>
                          </a:rPr>
                        </m:ctrlPr>
                      </m:sSubPr>
                      <m:e>
                        <m:r>
                          <a:rPr lang="en-US" altLang="zh-CN" dirty="0">
                            <a:latin typeface="Cambria Math" panose="02040503050406030204" pitchFamily="18" charset="0"/>
                          </a:rPr>
                          <m:t>𝑢</m:t>
                        </m:r>
                      </m:e>
                      <m:sub>
                        <m:r>
                          <a:rPr lang="en-US" altLang="zh-CN" dirty="0">
                            <a:latin typeface="Cambria Math" panose="02040503050406030204" pitchFamily="18" charset="0"/>
                          </a:rPr>
                          <m:t>1</m:t>
                        </m:r>
                      </m:sub>
                    </m:sSub>
                  </m:oMath>
                </a14:m>
                <a:r>
                  <a:rPr lang="en-US" altLang="zh-CN" dirty="0"/>
                  <a:t>)=</a:t>
                </a:r>
                <a14:m>
                  <m:oMath xmlns:m="http://schemas.openxmlformats.org/officeDocument/2006/math">
                    <m:sSub>
                      <m:sSubPr>
                        <m:ctrlPr>
                          <a:rPr lang="en-US" altLang="zh-CN" i="1" dirty="0">
                            <a:latin typeface="Cambria Math" panose="02040503050406030204" pitchFamily="18" charset="0"/>
                          </a:rPr>
                        </m:ctrlPr>
                      </m:sSubPr>
                      <m:e>
                        <m:r>
                          <a:rPr lang="en-US" altLang="zh-CN" dirty="0">
                            <a:latin typeface="Cambria Math" panose="02040503050406030204" pitchFamily="18" charset="0"/>
                          </a:rPr>
                          <m:t>𝑣</m:t>
                        </m:r>
                      </m:e>
                      <m:sub>
                        <m:r>
                          <a:rPr lang="en-US" altLang="zh-CN" dirty="0">
                            <a:latin typeface="Cambria Math" panose="02040503050406030204" pitchFamily="18" charset="0"/>
                          </a:rPr>
                          <m:t>6</m:t>
                        </m:r>
                      </m:sub>
                    </m:sSub>
                  </m:oMath>
                </a14:m>
                <a:r>
                  <a:rPr lang="en-US" altLang="zh-CN" dirty="0"/>
                  <a:t> (</a:t>
                </a:r>
                <a:r>
                  <a:rPr lang="zh-CN" altLang="en-US" dirty="0"/>
                  <a:t>如果发现这个</a:t>
                </a:r>
                <a:r>
                  <a:rPr lang="zh-CN" altLang="en-US" dirty="0" smtClean="0"/>
                  <a:t>选择是不</a:t>
                </a:r>
                <a:r>
                  <a:rPr lang="zh-CN" altLang="en-US" dirty="0"/>
                  <a:t>同构</a:t>
                </a:r>
                <a:r>
                  <a:rPr lang="en-US" altLang="zh-CN" dirty="0"/>
                  <a:t>, </a:t>
                </a:r>
                <a:r>
                  <a:rPr lang="zh-CN" altLang="en-US" dirty="0"/>
                  <a:t>那还需要继续试验</a:t>
                </a:r>
                <a14:m>
                  <m:oMath xmlns:m="http://schemas.openxmlformats.org/officeDocument/2006/math">
                    <m:r>
                      <a:rPr lang="en-US" altLang="zh-CN" i="1" dirty="0">
                        <a:latin typeface="Cambria Math" panose="02040503050406030204" pitchFamily="18" charset="0"/>
                      </a:rPr>
                      <m:t>𝑓</m:t>
                    </m:r>
                  </m:oMath>
                </a14:m>
                <a:r>
                  <a:rPr lang="en-US" altLang="zh-CN" dirty="0"/>
                  <a:t>(</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𝑢</m:t>
                        </m:r>
                      </m:e>
                      <m:sub>
                        <m:r>
                          <a:rPr lang="en-US" altLang="zh-CN" i="1" dirty="0">
                            <a:latin typeface="Cambria Math" panose="02040503050406030204" pitchFamily="18" charset="0"/>
                          </a:rPr>
                          <m:t>1</m:t>
                        </m:r>
                      </m:sub>
                    </m:sSub>
                  </m:oMath>
                </a14:m>
                <a:r>
                  <a:rPr lang="en-US" altLang="zh-CN" dirty="0"/>
                  <a:t>)=</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𝑣</m:t>
                        </m:r>
                      </m:e>
                      <m:sub>
                        <m:r>
                          <a:rPr lang="en-US" altLang="zh-CN" i="1" dirty="0">
                            <a:latin typeface="Cambria Math" panose="02040503050406030204" pitchFamily="18" charset="0"/>
                          </a:rPr>
                          <m:t>4</m:t>
                        </m:r>
                      </m:sub>
                    </m:sSub>
                  </m:oMath>
                </a14:m>
                <a:r>
                  <a:rPr lang="zh-CN" altLang="en-US" dirty="0"/>
                  <a:t>的情况</a:t>
                </a:r>
                <a:r>
                  <a:rPr lang="en-US" altLang="zh-CN" dirty="0"/>
                  <a:t>). </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310" r="-55" b="-2738"/>
                </a:stretch>
              </a:blipFill>
            </p:spPr>
            <p:txBody>
              <a:bodyPr/>
              <a:lstStyle/>
              <a:p>
                <a:r>
                  <a:rPr lang="zh-CN" altLang="en-US">
                    <a:noFill/>
                  </a:rPr>
                  <a:t> </a:t>
                </a:r>
              </a:p>
            </p:txBody>
          </p:sp>
        </mc:Fallback>
      </mc:AlternateContent>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95800" y="1600200"/>
            <a:ext cx="3980727" cy="1701628"/>
          </a:xfrm>
          <a:prstGeom prst="rect">
            <a:avLst/>
          </a:prstGeom>
        </p:spPr>
      </p:pic>
      <p:sp>
        <p:nvSpPr>
          <p:cNvPr id="6" name="日期占位符 5"/>
          <p:cNvSpPr>
            <a:spLocks noGrp="1"/>
          </p:cNvSpPr>
          <p:nvPr>
            <p:ph type="dt" sz="half" idx="10"/>
          </p:nvPr>
        </p:nvSpPr>
        <p:spPr/>
        <p:txBody>
          <a:bodyPr/>
          <a:lstStyle/>
          <a:p>
            <a:fld id="{5E1B6296-60CC-426F-AC33-0565B5CE742E}" type="datetime1">
              <a:rPr lang="zh-CN" altLang="en-US" smtClean="0"/>
              <a:t>2025/4/15</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101</a:t>
            </a:fld>
            <a:endParaRPr lang="zh-CN" altLang="en-US" dirty="0"/>
          </a:p>
        </p:txBody>
      </p:sp>
      <p:sp>
        <p:nvSpPr>
          <p:cNvPr id="10" name="矩形 9"/>
          <p:cNvSpPr/>
          <p:nvPr/>
        </p:nvSpPr>
        <p:spPr>
          <a:xfrm>
            <a:off x="4419600" y="1600200"/>
            <a:ext cx="304800" cy="3810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7772400" y="2209800"/>
            <a:ext cx="304800" cy="393614"/>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6124937" y="1638300"/>
            <a:ext cx="304800" cy="304800"/>
          </a:xfrm>
          <a:prstGeom prst="rect">
            <a:avLst/>
          </a:pr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8232373" y="1655202"/>
            <a:ext cx="304800" cy="304800"/>
          </a:xfrm>
          <a:prstGeom prst="rect">
            <a:avLst/>
          </a:pr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flipV="1">
            <a:off x="6124937" y="2667000"/>
            <a:ext cx="275863" cy="358976"/>
          </a:xfrm>
          <a:prstGeom prst="rect">
            <a:avLst/>
          </a:prstGeom>
          <a:noFill/>
          <a:ln w="254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flipV="1">
            <a:off x="8276864" y="2687786"/>
            <a:ext cx="275863" cy="358976"/>
          </a:xfrm>
          <a:prstGeom prst="rect">
            <a:avLst/>
          </a:prstGeom>
          <a:noFill/>
          <a:ln w="254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flipV="1">
            <a:off x="4434068" y="2687786"/>
            <a:ext cx="275863" cy="358976"/>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flipV="1">
            <a:off x="6585995" y="2694933"/>
            <a:ext cx="275863" cy="358976"/>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flipV="1">
            <a:off x="4953000" y="2092309"/>
            <a:ext cx="275863" cy="358976"/>
          </a:xfrm>
          <a:prstGeom prst="rect">
            <a:avLst/>
          </a:prstGeom>
          <a:noFill/>
          <a:ln w="254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flipV="1">
            <a:off x="6585995" y="1630566"/>
            <a:ext cx="275863" cy="358976"/>
          </a:xfrm>
          <a:prstGeom prst="rect">
            <a:avLst/>
          </a:prstGeom>
          <a:noFill/>
          <a:ln w="254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flipV="1">
            <a:off x="5562600" y="2227119"/>
            <a:ext cx="275863" cy="358976"/>
          </a:xfrm>
          <a:prstGeom prst="rect">
            <a:avLst/>
          </a:prstGeom>
          <a:noFill/>
          <a:ln w="254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flipV="1">
            <a:off x="7162800" y="2092038"/>
            <a:ext cx="275863" cy="358976"/>
          </a:xfrm>
          <a:prstGeom prst="rect">
            <a:avLst/>
          </a:prstGeom>
          <a:noFill/>
          <a:ln w="254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905030639"/>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图的同构</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endParaRPr lang="en-US" dirty="0" smtClean="0"/>
              </a:p>
              <a:p>
                <a:endParaRPr lang="en-US" dirty="0" smtClean="0"/>
              </a:p>
              <a:p>
                <a:endParaRPr lang="en-US" dirty="0" smtClean="0"/>
              </a:p>
              <a:p>
                <a:r>
                  <a:rPr lang="zh-CN" altLang="en-US" dirty="0">
                    <a:sym typeface="Wingdings" panose="05000000000000000000" pitchFamily="2" charset="2"/>
                  </a:rPr>
                  <a:t>解</a:t>
                </a:r>
                <a:r>
                  <a:rPr lang="en-US" altLang="zh-CN" dirty="0">
                    <a:sym typeface="Wingdings" panose="05000000000000000000" pitchFamily="2" charset="2"/>
                  </a:rPr>
                  <a:t>(</a:t>
                </a:r>
                <a:r>
                  <a:rPr lang="zh-CN" altLang="en-US" dirty="0">
                    <a:sym typeface="Wingdings" panose="05000000000000000000" pitchFamily="2" charset="2"/>
                  </a:rPr>
                  <a:t>续</a:t>
                </a:r>
                <a:r>
                  <a:rPr lang="en-US" altLang="zh-CN" dirty="0">
                    <a:sym typeface="Wingdings" panose="05000000000000000000" pitchFamily="2" charset="2"/>
                  </a:rPr>
                  <a:t>): </a:t>
                </a:r>
                <a:endParaRPr lang="en-US" dirty="0" smtClean="0"/>
              </a:p>
              <a:p>
                <a:pPr lvl="1">
                  <a:lnSpc>
                    <a:spcPct val="100000"/>
                  </a:lnSpc>
                </a:pPr>
                <a:r>
                  <a:rPr lang="zh-CN" altLang="en-US" dirty="0"/>
                  <a:t>因为</a:t>
                </a:r>
                <a14:m>
                  <m:oMath xmlns:m="http://schemas.openxmlformats.org/officeDocument/2006/math">
                    <m:sSub>
                      <m:sSubPr>
                        <m:ctrlPr>
                          <a:rPr lang="en-US" altLang="zh-CN" i="1" dirty="0">
                            <a:latin typeface="Cambria Math" panose="02040503050406030204" pitchFamily="18" charset="0"/>
                          </a:rPr>
                        </m:ctrlPr>
                      </m:sSubPr>
                      <m:e>
                        <m:r>
                          <a:rPr lang="en-US" altLang="zh-CN" dirty="0">
                            <a:latin typeface="Cambria Math" panose="02040503050406030204" pitchFamily="18" charset="0"/>
                          </a:rPr>
                          <m:t>𝑢</m:t>
                        </m:r>
                      </m:e>
                      <m:sub>
                        <m:r>
                          <a:rPr lang="en-US" altLang="zh-CN" dirty="0">
                            <a:latin typeface="Cambria Math" panose="02040503050406030204" pitchFamily="18" charset="0"/>
                          </a:rPr>
                          <m:t>2</m:t>
                        </m:r>
                      </m:sub>
                    </m:sSub>
                  </m:oMath>
                </a14:m>
                <a:r>
                  <a:rPr lang="zh-CN" altLang="en-US" dirty="0"/>
                  <a:t>和</a:t>
                </a:r>
                <a14:m>
                  <m:oMath xmlns:m="http://schemas.openxmlformats.org/officeDocument/2006/math">
                    <m:sSub>
                      <m:sSubPr>
                        <m:ctrlPr>
                          <a:rPr lang="en-US" altLang="zh-CN" i="1" dirty="0">
                            <a:latin typeface="Cambria Math" panose="02040503050406030204" pitchFamily="18" charset="0"/>
                          </a:rPr>
                        </m:ctrlPr>
                      </m:sSubPr>
                      <m:e>
                        <m:r>
                          <a:rPr lang="en-US" altLang="zh-CN" dirty="0">
                            <a:latin typeface="Cambria Math" panose="02040503050406030204" pitchFamily="18" charset="0"/>
                          </a:rPr>
                          <m:t>𝑢</m:t>
                        </m:r>
                      </m:e>
                      <m:sub>
                        <m:r>
                          <a:rPr lang="en-US" altLang="zh-CN" dirty="0">
                            <a:latin typeface="Cambria Math" panose="02040503050406030204" pitchFamily="18" charset="0"/>
                          </a:rPr>
                          <m:t>1</m:t>
                        </m:r>
                      </m:sub>
                    </m:sSub>
                  </m:oMath>
                </a14:m>
                <a:r>
                  <a:rPr lang="zh-CN" altLang="en-US" dirty="0"/>
                  <a:t>相邻</a:t>
                </a:r>
                <a:r>
                  <a:rPr lang="en-US" altLang="zh-CN" dirty="0" smtClean="0"/>
                  <a:t>, </a:t>
                </a:r>
                <a:r>
                  <a:rPr lang="zh-CN" altLang="en-US" dirty="0" smtClean="0"/>
                  <a:t>所以</a:t>
                </a:r>
                <a14:m>
                  <m:oMath xmlns:m="http://schemas.openxmlformats.org/officeDocument/2006/math">
                    <m:sSub>
                      <m:sSubPr>
                        <m:ctrlPr>
                          <a:rPr lang="en-US" altLang="zh-CN" i="1" dirty="0">
                            <a:latin typeface="Cambria Math" panose="02040503050406030204" pitchFamily="18" charset="0"/>
                          </a:rPr>
                        </m:ctrlPr>
                      </m:sSubPr>
                      <m:e>
                        <m:r>
                          <a:rPr lang="en-US" altLang="zh-CN" dirty="0">
                            <a:latin typeface="Cambria Math" panose="02040503050406030204" pitchFamily="18" charset="0"/>
                          </a:rPr>
                          <m:t>𝑢</m:t>
                        </m:r>
                      </m:e>
                      <m:sub>
                        <m:r>
                          <a:rPr lang="en-US" altLang="zh-CN" dirty="0">
                            <a:latin typeface="Cambria Math" panose="02040503050406030204" pitchFamily="18" charset="0"/>
                          </a:rPr>
                          <m:t>2</m:t>
                        </m:r>
                      </m:sub>
                    </m:sSub>
                  </m:oMath>
                </a14:m>
                <a:r>
                  <a:rPr lang="zh-CN" altLang="en-US" dirty="0"/>
                  <a:t>的可能的像是</a:t>
                </a:r>
                <a14:m>
                  <m:oMath xmlns:m="http://schemas.openxmlformats.org/officeDocument/2006/math">
                    <m:sSub>
                      <m:sSubPr>
                        <m:ctrlPr>
                          <a:rPr lang="en-US" altLang="zh-CN" i="1" dirty="0">
                            <a:latin typeface="Cambria Math" panose="02040503050406030204" pitchFamily="18" charset="0"/>
                          </a:rPr>
                        </m:ctrlPr>
                      </m:sSubPr>
                      <m:e>
                        <m:r>
                          <a:rPr lang="en-US" altLang="zh-CN" dirty="0">
                            <a:latin typeface="Cambria Math" panose="02040503050406030204" pitchFamily="18" charset="0"/>
                          </a:rPr>
                          <m:t>𝑣</m:t>
                        </m:r>
                      </m:e>
                      <m:sub>
                        <m:r>
                          <a:rPr lang="en-US" altLang="zh-CN" dirty="0">
                            <a:latin typeface="Cambria Math" panose="02040503050406030204" pitchFamily="18" charset="0"/>
                          </a:rPr>
                          <m:t>3</m:t>
                        </m:r>
                      </m:sub>
                    </m:sSub>
                  </m:oMath>
                </a14:m>
                <a:r>
                  <a:rPr lang="zh-CN" altLang="en-US" dirty="0"/>
                  <a:t>和</a:t>
                </a:r>
                <a14:m>
                  <m:oMath xmlns:m="http://schemas.openxmlformats.org/officeDocument/2006/math">
                    <m:sSub>
                      <m:sSubPr>
                        <m:ctrlPr>
                          <a:rPr lang="en-US" altLang="zh-CN" i="1" dirty="0">
                            <a:latin typeface="Cambria Math" panose="02040503050406030204" pitchFamily="18" charset="0"/>
                          </a:rPr>
                        </m:ctrlPr>
                      </m:sSubPr>
                      <m:e>
                        <m:r>
                          <a:rPr lang="en-US" altLang="zh-CN" dirty="0">
                            <a:latin typeface="Cambria Math" panose="02040503050406030204" pitchFamily="18" charset="0"/>
                          </a:rPr>
                          <m:t>𝑣</m:t>
                        </m:r>
                      </m:e>
                      <m:sub>
                        <m:r>
                          <a:rPr lang="en-US" altLang="zh-CN" dirty="0">
                            <a:latin typeface="Cambria Math" panose="02040503050406030204" pitchFamily="18" charset="0"/>
                          </a:rPr>
                          <m:t>5</m:t>
                        </m:r>
                      </m:sub>
                    </m:sSub>
                  </m:oMath>
                </a14:m>
                <a:r>
                  <a:rPr lang="en-US" altLang="zh-CN" dirty="0"/>
                  <a:t>. </a:t>
                </a:r>
                <a:r>
                  <a:rPr lang="zh-CN" altLang="en-US" dirty="0"/>
                  <a:t>我们任取</a:t>
                </a:r>
                <a14:m>
                  <m:oMath xmlns:m="http://schemas.openxmlformats.org/officeDocument/2006/math">
                    <m:r>
                      <a:rPr lang="en-US" altLang="zh-CN" dirty="0">
                        <a:latin typeface="Cambria Math" panose="02040503050406030204" pitchFamily="18" charset="0"/>
                      </a:rPr>
                      <m:t>𝑓</m:t>
                    </m:r>
                  </m:oMath>
                </a14:m>
                <a:r>
                  <a:rPr lang="en-US" altLang="zh-CN" dirty="0"/>
                  <a:t>(</a:t>
                </a:r>
                <a14:m>
                  <m:oMath xmlns:m="http://schemas.openxmlformats.org/officeDocument/2006/math">
                    <m:sSub>
                      <m:sSubPr>
                        <m:ctrlPr>
                          <a:rPr lang="en-US" altLang="zh-CN" i="1" dirty="0">
                            <a:latin typeface="Cambria Math" panose="02040503050406030204" pitchFamily="18" charset="0"/>
                          </a:rPr>
                        </m:ctrlPr>
                      </m:sSubPr>
                      <m:e>
                        <m:r>
                          <a:rPr lang="en-US" altLang="zh-CN" dirty="0">
                            <a:latin typeface="Cambria Math" panose="02040503050406030204" pitchFamily="18" charset="0"/>
                          </a:rPr>
                          <m:t>𝑢</m:t>
                        </m:r>
                      </m:e>
                      <m:sub>
                        <m:r>
                          <a:rPr lang="en-US" altLang="zh-CN" dirty="0">
                            <a:latin typeface="Cambria Math" panose="02040503050406030204" pitchFamily="18" charset="0"/>
                          </a:rPr>
                          <m:t>2</m:t>
                        </m:r>
                      </m:sub>
                    </m:sSub>
                  </m:oMath>
                </a14:m>
                <a:r>
                  <a:rPr lang="en-US" altLang="zh-CN" dirty="0"/>
                  <a:t>)=</a:t>
                </a:r>
                <a14:m>
                  <m:oMath xmlns:m="http://schemas.openxmlformats.org/officeDocument/2006/math">
                    <m:sSub>
                      <m:sSubPr>
                        <m:ctrlPr>
                          <a:rPr lang="en-US" altLang="zh-CN" i="1" dirty="0">
                            <a:latin typeface="Cambria Math" panose="02040503050406030204" pitchFamily="18" charset="0"/>
                          </a:rPr>
                        </m:ctrlPr>
                      </m:sSubPr>
                      <m:e>
                        <m:r>
                          <a:rPr lang="en-US" altLang="zh-CN" dirty="0">
                            <a:latin typeface="Cambria Math" panose="02040503050406030204" pitchFamily="18" charset="0"/>
                          </a:rPr>
                          <m:t>𝑣</m:t>
                        </m:r>
                      </m:e>
                      <m:sub>
                        <m:r>
                          <a:rPr lang="en-US" altLang="zh-CN" dirty="0">
                            <a:latin typeface="Cambria Math" panose="02040503050406030204" pitchFamily="18" charset="0"/>
                          </a:rPr>
                          <m:t>3</m:t>
                        </m:r>
                      </m:sub>
                    </m:sSub>
                  </m:oMath>
                </a14:m>
                <a:r>
                  <a:rPr lang="en-US" altLang="zh-CN" dirty="0"/>
                  <a:t>. </a:t>
                </a:r>
                <a:r>
                  <a:rPr lang="zh-CN" altLang="en-US" dirty="0"/>
                  <a:t>如此下去</a:t>
                </a:r>
                <a:r>
                  <a:rPr lang="en-US" altLang="zh-CN" dirty="0" smtClean="0"/>
                  <a:t>, </a:t>
                </a:r>
                <a:r>
                  <a:rPr lang="zh-CN" altLang="en-US" dirty="0" smtClean="0"/>
                  <a:t>用</a:t>
                </a:r>
                <a:r>
                  <a:rPr lang="zh-CN" altLang="en-US" dirty="0"/>
                  <a:t>顶点的相邻关系和度作为指引</a:t>
                </a:r>
                <a:r>
                  <a:rPr lang="en-US" altLang="zh-CN" dirty="0" smtClean="0"/>
                  <a:t>, </a:t>
                </a:r>
                <a:r>
                  <a:rPr lang="zh-CN" altLang="en-US" dirty="0" smtClean="0"/>
                  <a:t>得到</a:t>
                </a:r>
                <a14:m>
                  <m:oMath xmlns:m="http://schemas.openxmlformats.org/officeDocument/2006/math">
                    <m:r>
                      <a:rPr lang="en-US" altLang="zh-CN" dirty="0">
                        <a:latin typeface="Cambria Math" panose="02040503050406030204" pitchFamily="18" charset="0"/>
                      </a:rPr>
                      <m:t>𝑓</m:t>
                    </m:r>
                  </m:oMath>
                </a14:m>
                <a:r>
                  <a:rPr lang="en-US" dirty="0"/>
                  <a:t>(</a:t>
                </a:r>
                <a14:m>
                  <m:oMath xmlns:m="http://schemas.openxmlformats.org/officeDocument/2006/math">
                    <m:sSub>
                      <m:sSubPr>
                        <m:ctrlPr>
                          <a:rPr lang="en-US" altLang="zh-CN" i="1" dirty="0">
                            <a:latin typeface="Cambria Math" panose="02040503050406030204" pitchFamily="18" charset="0"/>
                          </a:rPr>
                        </m:ctrlPr>
                      </m:sSubPr>
                      <m:e>
                        <m:r>
                          <a:rPr lang="en-US" altLang="zh-CN" dirty="0">
                            <a:latin typeface="Cambria Math" panose="02040503050406030204" pitchFamily="18" charset="0"/>
                          </a:rPr>
                          <m:t>𝑢</m:t>
                        </m:r>
                      </m:e>
                      <m:sub>
                        <m:r>
                          <a:rPr lang="en-US" altLang="zh-CN" dirty="0">
                            <a:latin typeface="Cambria Math" panose="02040503050406030204" pitchFamily="18" charset="0"/>
                          </a:rPr>
                          <m:t>3</m:t>
                        </m:r>
                      </m:sub>
                    </m:sSub>
                  </m:oMath>
                </a14:m>
                <a:r>
                  <a:rPr lang="en-US" dirty="0"/>
                  <a:t>)=</a:t>
                </a:r>
                <a14:m>
                  <m:oMath xmlns:m="http://schemas.openxmlformats.org/officeDocument/2006/math">
                    <m:sSub>
                      <m:sSubPr>
                        <m:ctrlPr>
                          <a:rPr lang="en-US" altLang="zh-CN" i="1" dirty="0">
                            <a:latin typeface="Cambria Math" panose="02040503050406030204" pitchFamily="18" charset="0"/>
                          </a:rPr>
                        </m:ctrlPr>
                      </m:sSubPr>
                      <m:e>
                        <m:r>
                          <a:rPr lang="en-US" altLang="zh-CN" dirty="0">
                            <a:latin typeface="Cambria Math" panose="02040503050406030204" pitchFamily="18" charset="0"/>
                          </a:rPr>
                          <m:t>𝑣</m:t>
                        </m:r>
                      </m:e>
                      <m:sub>
                        <m:r>
                          <a:rPr lang="en-US" altLang="zh-CN" dirty="0">
                            <a:latin typeface="Cambria Math" panose="02040503050406030204" pitchFamily="18" charset="0"/>
                          </a:rPr>
                          <m:t>4</m:t>
                        </m:r>
                      </m:sub>
                    </m:sSub>
                  </m:oMath>
                </a14:m>
                <a:r>
                  <a:rPr lang="en-US" dirty="0"/>
                  <a:t>, </a:t>
                </a:r>
                <a14:m>
                  <m:oMath xmlns:m="http://schemas.openxmlformats.org/officeDocument/2006/math">
                    <m:r>
                      <a:rPr lang="en-US" altLang="zh-CN" dirty="0">
                        <a:latin typeface="Cambria Math" panose="02040503050406030204" pitchFamily="18" charset="0"/>
                      </a:rPr>
                      <m:t>𝑓</m:t>
                    </m:r>
                  </m:oMath>
                </a14:m>
                <a:r>
                  <a:rPr lang="en-US" dirty="0"/>
                  <a:t>(</a:t>
                </a:r>
                <a14:m>
                  <m:oMath xmlns:m="http://schemas.openxmlformats.org/officeDocument/2006/math">
                    <m:sSub>
                      <m:sSubPr>
                        <m:ctrlPr>
                          <a:rPr lang="en-US" altLang="zh-CN" i="1" dirty="0">
                            <a:latin typeface="Cambria Math" panose="02040503050406030204" pitchFamily="18" charset="0"/>
                          </a:rPr>
                        </m:ctrlPr>
                      </m:sSubPr>
                      <m:e>
                        <m:r>
                          <a:rPr lang="en-US" altLang="zh-CN" dirty="0">
                            <a:latin typeface="Cambria Math" panose="02040503050406030204" pitchFamily="18" charset="0"/>
                          </a:rPr>
                          <m:t>𝑢</m:t>
                        </m:r>
                      </m:e>
                      <m:sub>
                        <m:r>
                          <a:rPr lang="en-US" altLang="zh-CN" dirty="0">
                            <a:latin typeface="Cambria Math" panose="02040503050406030204" pitchFamily="18" charset="0"/>
                          </a:rPr>
                          <m:t>4</m:t>
                        </m:r>
                      </m:sub>
                    </m:sSub>
                  </m:oMath>
                </a14:m>
                <a:r>
                  <a:rPr lang="en-US" dirty="0"/>
                  <a:t>)=</a:t>
                </a:r>
                <a14:m>
                  <m:oMath xmlns:m="http://schemas.openxmlformats.org/officeDocument/2006/math">
                    <m:sSub>
                      <m:sSubPr>
                        <m:ctrlPr>
                          <a:rPr lang="en-US" altLang="zh-CN" i="1" dirty="0">
                            <a:latin typeface="Cambria Math" panose="02040503050406030204" pitchFamily="18" charset="0"/>
                          </a:rPr>
                        </m:ctrlPr>
                      </m:sSubPr>
                      <m:e>
                        <m:r>
                          <a:rPr lang="en-US" altLang="zh-CN" dirty="0">
                            <a:latin typeface="Cambria Math" panose="02040503050406030204" pitchFamily="18" charset="0"/>
                          </a:rPr>
                          <m:t>𝑣</m:t>
                        </m:r>
                      </m:e>
                      <m:sub>
                        <m:r>
                          <a:rPr lang="en-US" altLang="zh-CN" dirty="0">
                            <a:latin typeface="Cambria Math" panose="02040503050406030204" pitchFamily="18" charset="0"/>
                          </a:rPr>
                          <m:t>5</m:t>
                        </m:r>
                      </m:sub>
                    </m:sSub>
                  </m:oMath>
                </a14:m>
                <a:r>
                  <a:rPr lang="en-US" dirty="0"/>
                  <a:t> , </a:t>
                </a:r>
                <a14:m>
                  <m:oMath xmlns:m="http://schemas.openxmlformats.org/officeDocument/2006/math">
                    <m:r>
                      <a:rPr lang="en-US" altLang="zh-CN" dirty="0">
                        <a:latin typeface="Cambria Math" panose="02040503050406030204" pitchFamily="18" charset="0"/>
                      </a:rPr>
                      <m:t>𝑓</m:t>
                    </m:r>
                  </m:oMath>
                </a14:m>
                <a:r>
                  <a:rPr lang="en-US" dirty="0"/>
                  <a:t>(</a:t>
                </a:r>
                <a14:m>
                  <m:oMath xmlns:m="http://schemas.openxmlformats.org/officeDocument/2006/math">
                    <m:sSub>
                      <m:sSubPr>
                        <m:ctrlPr>
                          <a:rPr lang="en-US" altLang="zh-CN" i="1" dirty="0">
                            <a:latin typeface="Cambria Math" panose="02040503050406030204" pitchFamily="18" charset="0"/>
                          </a:rPr>
                        </m:ctrlPr>
                      </m:sSubPr>
                      <m:e>
                        <m:r>
                          <a:rPr lang="en-US" altLang="zh-CN" dirty="0">
                            <a:latin typeface="Cambria Math" panose="02040503050406030204" pitchFamily="18" charset="0"/>
                          </a:rPr>
                          <m:t>𝑢</m:t>
                        </m:r>
                      </m:e>
                      <m:sub>
                        <m:r>
                          <a:rPr lang="en-US" altLang="zh-CN" dirty="0">
                            <a:latin typeface="Cambria Math" panose="02040503050406030204" pitchFamily="18" charset="0"/>
                          </a:rPr>
                          <m:t>5</m:t>
                        </m:r>
                      </m:sub>
                    </m:sSub>
                  </m:oMath>
                </a14:m>
                <a:r>
                  <a:rPr lang="en-US" dirty="0"/>
                  <a:t>)=</a:t>
                </a:r>
                <a14:m>
                  <m:oMath xmlns:m="http://schemas.openxmlformats.org/officeDocument/2006/math">
                    <m:sSub>
                      <m:sSubPr>
                        <m:ctrlPr>
                          <a:rPr lang="en-US" altLang="zh-CN" i="1" dirty="0">
                            <a:latin typeface="Cambria Math" panose="02040503050406030204" pitchFamily="18" charset="0"/>
                          </a:rPr>
                        </m:ctrlPr>
                      </m:sSubPr>
                      <m:e>
                        <m:r>
                          <a:rPr lang="en-US" altLang="zh-CN" dirty="0">
                            <a:latin typeface="Cambria Math" panose="02040503050406030204" pitchFamily="18" charset="0"/>
                          </a:rPr>
                          <m:t>𝑣</m:t>
                        </m:r>
                      </m:e>
                      <m:sub>
                        <m:r>
                          <a:rPr lang="en-US" altLang="zh-CN" dirty="0">
                            <a:latin typeface="Cambria Math" panose="02040503050406030204" pitchFamily="18" charset="0"/>
                          </a:rPr>
                          <m:t>1</m:t>
                        </m:r>
                      </m:sub>
                    </m:sSub>
                  </m:oMath>
                </a14:m>
                <a:r>
                  <a:rPr lang="en-US" dirty="0"/>
                  <a:t>, </a:t>
                </a:r>
                <a14:m>
                  <m:oMath xmlns:m="http://schemas.openxmlformats.org/officeDocument/2006/math">
                    <m:r>
                      <a:rPr lang="en-US" altLang="zh-CN" dirty="0">
                        <a:latin typeface="Cambria Math" panose="02040503050406030204" pitchFamily="18" charset="0"/>
                      </a:rPr>
                      <m:t>𝑓</m:t>
                    </m:r>
                  </m:oMath>
                </a14:m>
                <a:r>
                  <a:rPr lang="en-US" dirty="0"/>
                  <a:t>(</a:t>
                </a:r>
                <a14:m>
                  <m:oMath xmlns:m="http://schemas.openxmlformats.org/officeDocument/2006/math">
                    <m:sSub>
                      <m:sSubPr>
                        <m:ctrlPr>
                          <a:rPr lang="en-US" altLang="zh-CN" i="1" dirty="0">
                            <a:latin typeface="Cambria Math" panose="02040503050406030204" pitchFamily="18" charset="0"/>
                          </a:rPr>
                        </m:ctrlPr>
                      </m:sSubPr>
                      <m:e>
                        <m:r>
                          <a:rPr lang="en-US" altLang="zh-CN" dirty="0">
                            <a:latin typeface="Cambria Math" panose="02040503050406030204" pitchFamily="18" charset="0"/>
                          </a:rPr>
                          <m:t>𝑢</m:t>
                        </m:r>
                      </m:e>
                      <m:sub>
                        <m:r>
                          <a:rPr lang="en-US" altLang="zh-CN" dirty="0">
                            <a:latin typeface="Cambria Math" panose="02040503050406030204" pitchFamily="18" charset="0"/>
                          </a:rPr>
                          <m:t>6</m:t>
                        </m:r>
                      </m:sub>
                    </m:sSub>
                  </m:oMath>
                </a14:m>
                <a:r>
                  <a:rPr lang="en-US" dirty="0"/>
                  <a:t>)=</a:t>
                </a:r>
                <a14:m>
                  <m:oMath xmlns:m="http://schemas.openxmlformats.org/officeDocument/2006/math">
                    <m:sSub>
                      <m:sSubPr>
                        <m:ctrlPr>
                          <a:rPr lang="en-US" altLang="zh-CN" i="1" dirty="0">
                            <a:latin typeface="Cambria Math" panose="02040503050406030204" pitchFamily="18" charset="0"/>
                          </a:rPr>
                        </m:ctrlPr>
                      </m:sSubPr>
                      <m:e>
                        <m:r>
                          <a:rPr lang="en-US" altLang="zh-CN" dirty="0">
                            <a:latin typeface="Cambria Math" panose="02040503050406030204" pitchFamily="18" charset="0"/>
                          </a:rPr>
                          <m:t>𝑣</m:t>
                        </m:r>
                      </m:e>
                      <m:sub>
                        <m:r>
                          <a:rPr lang="en-US" altLang="zh-CN" dirty="0">
                            <a:latin typeface="Cambria Math" panose="02040503050406030204" pitchFamily="18" charset="0"/>
                          </a:rPr>
                          <m:t>2</m:t>
                        </m:r>
                      </m:sub>
                    </m:sSub>
                  </m:oMath>
                </a14:m>
                <a:r>
                  <a:rPr lang="en-US" altLang="zh-CN" dirty="0"/>
                  <a:t>. </a:t>
                </a:r>
                <a:r>
                  <a:rPr lang="zh-CN" altLang="en-US" dirty="0"/>
                  <a:t>现在已经有了在</a:t>
                </a:r>
                <a:r>
                  <a:rPr lang="en-US" altLang="zh-CN" dirty="0"/>
                  <a:t>G</a:t>
                </a:r>
                <a:r>
                  <a:rPr lang="zh-CN" altLang="en-US" dirty="0"/>
                  <a:t>的顶点集合</a:t>
                </a:r>
                <a:r>
                  <a:rPr lang="en-US" altLang="zh-CN" dirty="0"/>
                  <a:t>H</a:t>
                </a:r>
                <a:r>
                  <a:rPr lang="zh-CN" altLang="en-US" dirty="0"/>
                  <a:t>的顶点集的一一对应</a:t>
                </a:r>
                <a:r>
                  <a:rPr lang="en-US" altLang="zh-CN" dirty="0"/>
                  <a:t>. </a:t>
                </a:r>
                <a:r>
                  <a:rPr lang="zh-CN" altLang="en-US" dirty="0"/>
                  <a:t>为了查看</a:t>
                </a:r>
                <a14:m>
                  <m:oMath xmlns:m="http://schemas.openxmlformats.org/officeDocument/2006/math">
                    <m:r>
                      <a:rPr lang="en-US" altLang="zh-CN" dirty="0">
                        <a:latin typeface="Cambria Math" panose="02040503050406030204" pitchFamily="18" charset="0"/>
                      </a:rPr>
                      <m:t>𝑓</m:t>
                    </m:r>
                  </m:oMath>
                </a14:m>
                <a:r>
                  <a:rPr lang="zh-CN" altLang="en-US" dirty="0"/>
                  <a:t>是否保持边</a:t>
                </a:r>
                <a:r>
                  <a:rPr lang="en-US" altLang="zh-CN" dirty="0" smtClean="0"/>
                  <a:t>, </a:t>
                </a:r>
                <a:r>
                  <a:rPr lang="zh-CN" altLang="en-US" dirty="0" smtClean="0"/>
                  <a:t>就</a:t>
                </a:r>
                <a:r>
                  <a:rPr lang="zh-CN" altLang="en-US" dirty="0"/>
                  <a:t>检查</a:t>
                </a:r>
                <a:r>
                  <a:rPr lang="en-US" altLang="zh-CN" dirty="0"/>
                  <a:t>G</a:t>
                </a:r>
                <a:r>
                  <a:rPr lang="zh-CN" altLang="en-US" dirty="0"/>
                  <a:t>的邻接矩阵和</a:t>
                </a:r>
                <a:r>
                  <a:rPr lang="en-US" altLang="zh-CN" dirty="0"/>
                  <a:t>H</a:t>
                </a:r>
                <a:r>
                  <a:rPr lang="zh-CN" altLang="en-US" dirty="0"/>
                  <a:t>的邻接矩阵</a:t>
                </a:r>
                <a:r>
                  <a:rPr lang="en-US" altLang="zh-CN" dirty="0"/>
                  <a:t>. </a:t>
                </a:r>
                <a:r>
                  <a:rPr lang="zh-CN" altLang="en-US" dirty="0"/>
                  <a:t>如下所示</a:t>
                </a:r>
                <a:r>
                  <a:rPr lang="en-US" altLang="zh-CN" dirty="0"/>
                  <a:t>: </a:t>
                </a:r>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r="-666"/>
                </a:stretch>
              </a:blipFill>
            </p:spPr>
            <p:txBody>
              <a:bodyPr/>
              <a:lstStyle/>
              <a:p>
                <a:r>
                  <a:rPr lang="zh-CN" altLang="en-US">
                    <a:noFill/>
                  </a:rPr>
                  <a:t> </a:t>
                </a:r>
              </a:p>
            </p:txBody>
          </p:sp>
        </mc:Fallback>
      </mc:AlternateContent>
      <p:sp>
        <p:nvSpPr>
          <p:cNvPr id="6" name="日期占位符 5"/>
          <p:cNvSpPr>
            <a:spLocks noGrp="1"/>
          </p:cNvSpPr>
          <p:nvPr>
            <p:ph type="dt" sz="half" idx="10"/>
          </p:nvPr>
        </p:nvSpPr>
        <p:spPr/>
        <p:txBody>
          <a:bodyPr/>
          <a:lstStyle/>
          <a:p>
            <a:fld id="{F777EDBE-70E6-4D1B-8D7D-ADA5B079F61B}" type="datetime1">
              <a:rPr lang="zh-CN" altLang="en-US" smtClean="0"/>
              <a:t>2025/4/15</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102</a:t>
            </a:fld>
            <a:endParaRPr lang="zh-CN" altLang="en-US" dirty="0"/>
          </a:p>
        </p:txBody>
      </p:sp>
      <p:pic>
        <p:nvPicPr>
          <p:cNvPr id="10"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98380" y="1219200"/>
            <a:ext cx="3980727" cy="1701628"/>
          </a:xfrm>
          <a:prstGeom prst="rect">
            <a:avLst/>
          </a:prstGeom>
        </p:spPr>
      </p:pic>
      <p:pic>
        <p:nvPicPr>
          <p:cNvPr id="8" name="图片 7"/>
          <p:cNvPicPr>
            <a:picLocks noChangeAspect="1"/>
          </p:cNvPicPr>
          <p:nvPr/>
        </p:nvPicPr>
        <p:blipFill>
          <a:blip r:embed="rId4"/>
          <a:stretch>
            <a:fillRect/>
          </a:stretch>
        </p:blipFill>
        <p:spPr>
          <a:xfrm>
            <a:off x="2133600" y="4781604"/>
            <a:ext cx="2819400" cy="1458149"/>
          </a:xfrm>
          <a:prstGeom prst="rect">
            <a:avLst/>
          </a:prstGeom>
        </p:spPr>
      </p:pic>
      <p:pic>
        <p:nvPicPr>
          <p:cNvPr id="11" name="图片 10"/>
          <p:cNvPicPr>
            <a:picLocks noChangeAspect="1"/>
          </p:cNvPicPr>
          <p:nvPr/>
        </p:nvPicPr>
        <p:blipFill>
          <a:blip r:embed="rId5"/>
          <a:stretch>
            <a:fillRect/>
          </a:stretch>
        </p:blipFill>
        <p:spPr>
          <a:xfrm>
            <a:off x="6084277" y="4800863"/>
            <a:ext cx="2819400" cy="1477371"/>
          </a:xfrm>
          <a:prstGeom prst="rect">
            <a:avLst/>
          </a:prstGeom>
        </p:spPr>
      </p:pic>
    </p:spTree>
    <p:extLst>
      <p:ext uri="{BB962C8B-B14F-4D97-AF65-F5344CB8AC3E}">
        <p14:creationId xmlns:p14="http://schemas.microsoft.com/office/powerpoint/2010/main" val="3034830760"/>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图的同构</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endParaRPr lang="en-US" altLang="zh-CN" dirty="0" smtClean="0">
                  <a:sym typeface="Wingdings" panose="05000000000000000000" pitchFamily="2" charset="2"/>
                </a:endParaRPr>
              </a:p>
              <a:p>
                <a:endParaRPr lang="en-US" altLang="zh-CN" dirty="0">
                  <a:sym typeface="Wingdings" panose="05000000000000000000" pitchFamily="2" charset="2"/>
                </a:endParaRPr>
              </a:p>
              <a:p>
                <a:endParaRPr lang="en-US" altLang="zh-CN" dirty="0" smtClean="0">
                  <a:sym typeface="Wingdings" panose="05000000000000000000" pitchFamily="2" charset="2"/>
                </a:endParaRPr>
              </a:p>
              <a:p>
                <a:r>
                  <a:rPr lang="zh-CN" altLang="en-US" dirty="0" smtClean="0">
                    <a:sym typeface="Wingdings" panose="05000000000000000000" pitchFamily="2" charset="2"/>
                  </a:rPr>
                  <a:t>解</a:t>
                </a:r>
                <a:r>
                  <a:rPr lang="en-US" altLang="zh-CN" dirty="0" smtClean="0">
                    <a:sym typeface="Wingdings" panose="05000000000000000000" pitchFamily="2" charset="2"/>
                  </a:rPr>
                  <a:t>(</a:t>
                </a:r>
                <a:r>
                  <a:rPr lang="zh-CN" altLang="en-US" dirty="0" smtClean="0">
                    <a:sym typeface="Wingdings" panose="05000000000000000000" pitchFamily="2" charset="2"/>
                  </a:rPr>
                  <a:t>续</a:t>
                </a:r>
                <a:r>
                  <a:rPr lang="en-US" altLang="zh-CN" dirty="0" smtClean="0">
                    <a:sym typeface="Wingdings" panose="05000000000000000000" pitchFamily="2" charset="2"/>
                  </a:rPr>
                  <a:t>): </a:t>
                </a:r>
                <a:endParaRPr lang="en-US" altLang="zh-CN" dirty="0"/>
              </a:p>
              <a:p>
                <a:pPr lvl="1">
                  <a:lnSpc>
                    <a:spcPct val="100000"/>
                  </a:lnSpc>
                </a:pPr>
                <a:r>
                  <a:rPr lang="zh-CN" altLang="en-US" dirty="0"/>
                  <a:t>因为</a:t>
                </a:r>
                <a:r>
                  <a:rPr lang="en-US" altLang="zh-CN" dirty="0"/>
                  <a:t>AG=AH. </a:t>
                </a:r>
                <a:r>
                  <a:rPr lang="zh-CN" altLang="en-US" dirty="0"/>
                  <a:t>所以</a:t>
                </a:r>
                <a14:m>
                  <m:oMath xmlns:m="http://schemas.openxmlformats.org/officeDocument/2006/math">
                    <m:r>
                      <a:rPr lang="en-US" altLang="zh-CN" dirty="0">
                        <a:latin typeface="Cambria Math" panose="02040503050406030204" pitchFamily="18" charset="0"/>
                      </a:rPr>
                      <m:t>𝑓</m:t>
                    </m:r>
                  </m:oMath>
                </a14:m>
                <a:r>
                  <a:rPr lang="zh-CN" altLang="en-US" dirty="0"/>
                  <a:t>是保持边的</a:t>
                </a:r>
                <a:r>
                  <a:rPr lang="en-US" altLang="zh-CN" dirty="0" smtClean="0"/>
                  <a:t>, </a:t>
                </a:r>
                <a:r>
                  <a:rPr lang="zh-CN" altLang="en-US" dirty="0" smtClean="0"/>
                  <a:t>由此</a:t>
                </a:r>
                <a:r>
                  <a:rPr lang="zh-CN" altLang="en-US" dirty="0"/>
                  <a:t>得出</a:t>
                </a:r>
                <a14:m>
                  <m:oMath xmlns:m="http://schemas.openxmlformats.org/officeDocument/2006/math">
                    <m:r>
                      <a:rPr lang="en-US" altLang="zh-CN" dirty="0">
                        <a:latin typeface="Cambria Math" panose="02040503050406030204" pitchFamily="18" charset="0"/>
                      </a:rPr>
                      <m:t>𝑓</m:t>
                    </m:r>
                  </m:oMath>
                </a14:m>
                <a:r>
                  <a:rPr lang="zh-CN" altLang="en-US" dirty="0"/>
                  <a:t>是同构的</a:t>
                </a:r>
                <a:r>
                  <a:rPr lang="en-US" altLang="zh-CN" dirty="0" smtClean="0"/>
                  <a:t>, </a:t>
                </a:r>
                <a:r>
                  <a:rPr lang="zh-CN" altLang="en-US" dirty="0" smtClean="0"/>
                  <a:t>所以</a:t>
                </a:r>
                <a:r>
                  <a:rPr lang="en-US" altLang="zh-CN" dirty="0"/>
                  <a:t>G</a:t>
                </a:r>
                <a:r>
                  <a:rPr lang="zh-CN" altLang="en-US" dirty="0"/>
                  <a:t>和</a:t>
                </a:r>
                <a:r>
                  <a:rPr lang="en-US" altLang="zh-CN" dirty="0"/>
                  <a:t>H</a:t>
                </a:r>
                <a:r>
                  <a:rPr lang="zh-CN" altLang="en-US" dirty="0"/>
                  <a:t>是同构的</a:t>
                </a:r>
                <a:r>
                  <a:rPr lang="en-US" altLang="zh-CN" dirty="0"/>
                  <a:t>.</a:t>
                </a:r>
              </a:p>
              <a:p>
                <a:pPr lvl="1">
                  <a:lnSpc>
                    <a:spcPct val="100000"/>
                  </a:lnSpc>
                </a:pPr>
                <a:r>
                  <a:rPr lang="en-US" altLang="zh-CN" dirty="0"/>
                  <a:t>(</a:t>
                </a:r>
                <a:r>
                  <a:rPr lang="zh-CN" altLang="en-US" dirty="0"/>
                  <a:t>若证明</a:t>
                </a:r>
                <a14:m>
                  <m:oMath xmlns:m="http://schemas.openxmlformats.org/officeDocument/2006/math">
                    <m:r>
                      <a:rPr lang="en-US" altLang="zh-CN" dirty="0">
                        <a:latin typeface="Cambria Math" panose="02040503050406030204" pitchFamily="18" charset="0"/>
                      </a:rPr>
                      <m:t>𝑓</m:t>
                    </m:r>
                  </m:oMath>
                </a14:m>
                <a:r>
                  <a:rPr lang="zh-CN" altLang="en-US" dirty="0"/>
                  <a:t>不是同构的</a:t>
                </a:r>
                <a:r>
                  <a:rPr lang="en-US" altLang="zh-CN" dirty="0" smtClean="0"/>
                  <a:t>, </a:t>
                </a:r>
                <a:r>
                  <a:rPr lang="zh-CN" altLang="en-US" dirty="0" smtClean="0"/>
                  <a:t>是</a:t>
                </a:r>
                <a:r>
                  <a:rPr lang="zh-CN" altLang="en-US" dirty="0"/>
                  <a:t>无法得出</a:t>
                </a:r>
                <a:r>
                  <a:rPr lang="en-US" altLang="zh-CN" dirty="0"/>
                  <a:t>G</a:t>
                </a:r>
                <a:r>
                  <a:rPr lang="zh-CN" altLang="en-US" dirty="0"/>
                  <a:t>和</a:t>
                </a:r>
                <a:r>
                  <a:rPr lang="en-US" altLang="zh-CN" dirty="0"/>
                  <a:t>H</a:t>
                </a:r>
                <a:r>
                  <a:rPr lang="zh-CN" altLang="en-US" dirty="0"/>
                  <a:t>不是同构的</a:t>
                </a:r>
                <a:r>
                  <a:rPr lang="en-US" altLang="zh-CN" dirty="0" smtClean="0"/>
                  <a:t>, </a:t>
                </a:r>
                <a:r>
                  <a:rPr lang="zh-CN" altLang="en-US" dirty="0" smtClean="0"/>
                  <a:t>因为</a:t>
                </a:r>
                <a:r>
                  <a:rPr lang="en-US" altLang="zh-CN" dirty="0"/>
                  <a:t>G</a:t>
                </a:r>
                <a:r>
                  <a:rPr lang="zh-CN" altLang="en-US" dirty="0"/>
                  <a:t>和</a:t>
                </a:r>
                <a:r>
                  <a:rPr lang="en-US" altLang="zh-CN" dirty="0"/>
                  <a:t>H</a:t>
                </a:r>
                <a:r>
                  <a:rPr lang="zh-CN" altLang="en-US" dirty="0"/>
                  <a:t>中的顶点的另一个对应仍然可以是同构的</a:t>
                </a:r>
                <a:r>
                  <a:rPr lang="en-US" altLang="zh-CN" dirty="0"/>
                  <a:t>). </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a:stretch>
              </a:blipFill>
            </p:spPr>
            <p:txBody>
              <a:bodyPr/>
              <a:lstStyle/>
              <a:p>
                <a:r>
                  <a:rPr lang="zh-CN" altLang="en-US">
                    <a:noFill/>
                  </a:rPr>
                  <a:t> </a:t>
                </a:r>
              </a:p>
            </p:txBody>
          </p:sp>
        </mc:Fallback>
      </mc:AlternateContent>
      <p:sp>
        <p:nvSpPr>
          <p:cNvPr id="6" name="日期占位符 5"/>
          <p:cNvSpPr>
            <a:spLocks noGrp="1"/>
          </p:cNvSpPr>
          <p:nvPr>
            <p:ph type="dt" sz="half" idx="10"/>
          </p:nvPr>
        </p:nvSpPr>
        <p:spPr/>
        <p:txBody>
          <a:bodyPr/>
          <a:lstStyle/>
          <a:p>
            <a:fld id="{E1613DAE-4431-4FA6-9EBA-31A1C87B8E04}" type="datetime1">
              <a:rPr lang="zh-CN" altLang="en-US" smtClean="0"/>
              <a:t>2025/4/15</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103</a:t>
            </a:fld>
            <a:endParaRPr lang="zh-CN" alt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98380" y="1219200"/>
            <a:ext cx="3980727" cy="1701628"/>
          </a:xfrm>
          <a:prstGeom prst="rect">
            <a:avLst/>
          </a:prstGeom>
        </p:spPr>
      </p:pic>
    </p:spTree>
    <p:extLst>
      <p:ext uri="{BB962C8B-B14F-4D97-AF65-F5344CB8AC3E}">
        <p14:creationId xmlns:p14="http://schemas.microsoft.com/office/powerpoint/2010/main" val="2107622188"/>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457200" y="1143000"/>
            <a:ext cx="11277599" cy="12954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smtClean="0"/>
              <a:t>从旧图构造新图</a:t>
            </a:r>
            <a:endParaRPr lang="en-US" dirty="0"/>
          </a:p>
        </p:txBody>
      </p:sp>
      <p:sp>
        <p:nvSpPr>
          <p:cNvPr id="3" name="Content Placeholder 2"/>
          <p:cNvSpPr>
            <a:spLocks noGrp="1"/>
          </p:cNvSpPr>
          <p:nvPr>
            <p:ph idx="1"/>
          </p:nvPr>
        </p:nvSpPr>
        <p:spPr/>
        <p:txBody>
          <a:bodyPr>
            <a:normAutofit/>
          </a:bodyPr>
          <a:lstStyle/>
          <a:p>
            <a:r>
              <a:rPr lang="zh-CN" altLang="en-US" dirty="0" smtClean="0"/>
              <a:t>例</a:t>
            </a:r>
            <a:r>
              <a:rPr lang="en-US" altLang="zh-CN" dirty="0" smtClean="0"/>
              <a:t>: </a:t>
            </a:r>
            <a:r>
              <a:rPr lang="zh-CN" altLang="en-US" dirty="0" smtClean="0"/>
              <a:t>画出</a:t>
            </a:r>
            <a:r>
              <a:rPr lang="en-US" altLang="zh-CN" dirty="0" smtClean="0"/>
              <a:t>K</a:t>
            </a:r>
            <a:r>
              <a:rPr lang="en-US" altLang="zh-CN" baseline="-25000" dirty="0" smtClean="0"/>
              <a:t>4</a:t>
            </a:r>
            <a:r>
              <a:rPr lang="zh-CN" altLang="en-US" dirty="0" smtClean="0"/>
              <a:t>所有非同构的生成子图</a:t>
            </a:r>
            <a:endParaRPr lang="en-US" dirty="0" smtClean="0"/>
          </a:p>
          <a:p>
            <a:endParaRPr lang="en-US" dirty="0" smtClean="0"/>
          </a:p>
          <a:p>
            <a:pPr marL="0" indent="0">
              <a:buNone/>
            </a:pPr>
            <a:endParaRPr lang="en-US" dirty="0" smtClean="0"/>
          </a:p>
        </p:txBody>
      </p:sp>
      <p:sp>
        <p:nvSpPr>
          <p:cNvPr id="9" name="日期占位符 8"/>
          <p:cNvSpPr>
            <a:spLocks noGrp="1"/>
          </p:cNvSpPr>
          <p:nvPr>
            <p:ph type="dt" sz="half" idx="10"/>
          </p:nvPr>
        </p:nvSpPr>
        <p:spPr/>
        <p:txBody>
          <a:bodyPr/>
          <a:lstStyle/>
          <a:p>
            <a:fld id="{3EDF2E35-6548-4350-AF23-B74E77E2032E}" type="datetime1">
              <a:rPr lang="zh-CN" altLang="en-US" smtClean="0"/>
              <a:t>2025/4/15</a:t>
            </a:fld>
            <a:endParaRPr lang="zh-CN" altLang="en-US" dirty="0"/>
          </a:p>
        </p:txBody>
      </p:sp>
      <p:sp>
        <p:nvSpPr>
          <p:cNvPr id="10" name="页脚占位符 9"/>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11" name="灯片编号占位符 10"/>
          <p:cNvSpPr>
            <a:spLocks noGrp="1"/>
          </p:cNvSpPr>
          <p:nvPr>
            <p:ph type="sldNum" sz="quarter" idx="12"/>
          </p:nvPr>
        </p:nvSpPr>
        <p:spPr/>
        <p:txBody>
          <a:bodyPr/>
          <a:lstStyle/>
          <a:p>
            <a:fld id="{67913A8A-9EFB-4B5F-9CCB-3D21173FAA85}" type="slidenum">
              <a:rPr lang="zh-CN" altLang="en-US" smtClean="0"/>
              <a:pPr/>
              <a:t>104</a:t>
            </a:fld>
            <a:endParaRPr lang="zh-CN" altLang="en-US" dirty="0"/>
          </a:p>
        </p:txBody>
      </p:sp>
      <p:pic>
        <p:nvPicPr>
          <p:cNvPr id="14" name="图片 13"/>
          <p:cNvPicPr>
            <a:picLocks noChangeAspect="1"/>
          </p:cNvPicPr>
          <p:nvPr/>
        </p:nvPicPr>
        <p:blipFill>
          <a:blip r:embed="rId2"/>
          <a:stretch>
            <a:fillRect/>
          </a:stretch>
        </p:blipFill>
        <p:spPr>
          <a:xfrm>
            <a:off x="304800" y="2616468"/>
            <a:ext cx="2895600" cy="2965094"/>
          </a:xfrm>
          <a:prstGeom prst="rect">
            <a:avLst/>
          </a:prstGeom>
        </p:spPr>
      </p:pic>
      <p:pic>
        <p:nvPicPr>
          <p:cNvPr id="16" name="图片 15"/>
          <p:cNvPicPr>
            <a:picLocks noChangeAspect="1"/>
          </p:cNvPicPr>
          <p:nvPr/>
        </p:nvPicPr>
        <p:blipFill>
          <a:blip r:embed="rId3"/>
          <a:stretch>
            <a:fillRect/>
          </a:stretch>
        </p:blipFill>
        <p:spPr>
          <a:xfrm>
            <a:off x="3127614" y="1723897"/>
            <a:ext cx="8301850" cy="4244399"/>
          </a:xfrm>
          <a:prstGeom prst="rect">
            <a:avLst/>
          </a:prstGeom>
        </p:spPr>
      </p:pic>
    </p:spTree>
    <p:extLst>
      <p:ext uri="{BB962C8B-B14F-4D97-AF65-F5344CB8AC3E}">
        <p14:creationId xmlns:p14="http://schemas.microsoft.com/office/powerpoint/2010/main" val="137352571"/>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457200" y="1143000"/>
            <a:ext cx="11277599" cy="12954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smtClean="0"/>
              <a:t>从旧图构造新图</a:t>
            </a:r>
            <a:endParaRPr lang="en-US" dirty="0"/>
          </a:p>
        </p:txBody>
      </p:sp>
      <p:sp>
        <p:nvSpPr>
          <p:cNvPr id="3" name="Content Placeholder 2"/>
          <p:cNvSpPr>
            <a:spLocks noGrp="1"/>
          </p:cNvSpPr>
          <p:nvPr>
            <p:ph idx="1"/>
          </p:nvPr>
        </p:nvSpPr>
        <p:spPr/>
        <p:txBody>
          <a:bodyPr>
            <a:normAutofit/>
          </a:bodyPr>
          <a:lstStyle/>
          <a:p>
            <a:r>
              <a:rPr lang="zh-CN" altLang="en-US" dirty="0" smtClean="0"/>
              <a:t>例</a:t>
            </a:r>
            <a:r>
              <a:rPr lang="en-US" altLang="zh-CN" dirty="0" smtClean="0"/>
              <a:t>: </a:t>
            </a:r>
            <a:r>
              <a:rPr lang="zh-CN" altLang="en-US" dirty="0" smtClean="0"/>
              <a:t>若</a:t>
            </a:r>
            <a:r>
              <a:rPr lang="en-US" altLang="zh-CN" dirty="0" smtClean="0"/>
              <a:t>G1</a:t>
            </a:r>
            <a:r>
              <a:rPr lang="zh-CN" altLang="en-US" dirty="0" smtClean="0"/>
              <a:t>与      同构，则称</a:t>
            </a:r>
            <a:r>
              <a:rPr lang="en-US" altLang="zh-CN" dirty="0" smtClean="0"/>
              <a:t>G1</a:t>
            </a:r>
            <a:r>
              <a:rPr lang="zh-CN" altLang="en-US" dirty="0" smtClean="0"/>
              <a:t>是自补图</a:t>
            </a:r>
            <a:endParaRPr lang="en-US" dirty="0" smtClean="0"/>
          </a:p>
          <a:p>
            <a:endParaRPr lang="en-US" dirty="0" smtClean="0"/>
          </a:p>
          <a:p>
            <a:pPr marL="0" indent="0">
              <a:buNone/>
            </a:pPr>
            <a:endParaRPr lang="en-US" dirty="0" smtClean="0"/>
          </a:p>
        </p:txBody>
      </p:sp>
      <p:sp>
        <p:nvSpPr>
          <p:cNvPr id="9" name="日期占位符 8"/>
          <p:cNvSpPr>
            <a:spLocks noGrp="1"/>
          </p:cNvSpPr>
          <p:nvPr>
            <p:ph type="dt" sz="half" idx="10"/>
          </p:nvPr>
        </p:nvSpPr>
        <p:spPr/>
        <p:txBody>
          <a:bodyPr/>
          <a:lstStyle/>
          <a:p>
            <a:fld id="{3EDF2E35-6548-4350-AF23-B74E77E2032E}" type="datetime1">
              <a:rPr lang="zh-CN" altLang="en-US" smtClean="0"/>
              <a:t>2025/4/15</a:t>
            </a:fld>
            <a:endParaRPr lang="zh-CN" altLang="en-US" dirty="0"/>
          </a:p>
        </p:txBody>
      </p:sp>
      <p:sp>
        <p:nvSpPr>
          <p:cNvPr id="10" name="页脚占位符 9"/>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11" name="灯片编号占位符 10"/>
          <p:cNvSpPr>
            <a:spLocks noGrp="1"/>
          </p:cNvSpPr>
          <p:nvPr>
            <p:ph type="sldNum" sz="quarter" idx="12"/>
          </p:nvPr>
        </p:nvSpPr>
        <p:spPr/>
        <p:txBody>
          <a:bodyPr/>
          <a:lstStyle/>
          <a:p>
            <a:fld id="{67913A8A-9EFB-4B5F-9CCB-3D21173FAA85}" type="slidenum">
              <a:rPr lang="zh-CN" altLang="en-US" smtClean="0"/>
              <a:pPr/>
              <a:t>105</a:t>
            </a:fld>
            <a:endParaRPr lang="zh-CN" altLang="en-US" dirty="0"/>
          </a:p>
        </p:txBody>
      </p:sp>
      <p:pic>
        <p:nvPicPr>
          <p:cNvPr id="7" name="图片 6"/>
          <p:cNvPicPr>
            <a:picLocks noChangeAspect="1"/>
          </p:cNvPicPr>
          <p:nvPr/>
        </p:nvPicPr>
        <p:blipFill>
          <a:blip r:embed="rId3"/>
          <a:stretch>
            <a:fillRect/>
          </a:stretch>
        </p:blipFill>
        <p:spPr>
          <a:xfrm>
            <a:off x="1524000" y="2895600"/>
            <a:ext cx="8923242" cy="1859408"/>
          </a:xfrm>
          <a:prstGeom prst="rect">
            <a:avLst/>
          </a:prstGeom>
        </p:spPr>
      </p:pic>
      <p:graphicFrame>
        <p:nvGraphicFramePr>
          <p:cNvPr id="14" name="对象 13"/>
          <p:cNvGraphicFramePr>
            <a:graphicFrameLocks noChangeAspect="1"/>
          </p:cNvGraphicFramePr>
          <p:nvPr>
            <p:extLst>
              <p:ext uri="{D42A27DB-BD31-4B8C-83A1-F6EECF244321}">
                <p14:modId xmlns:p14="http://schemas.microsoft.com/office/powerpoint/2010/main" val="3697792586"/>
              </p:ext>
            </p:extLst>
          </p:nvPr>
        </p:nvGraphicFramePr>
        <p:xfrm>
          <a:off x="2819400" y="932092"/>
          <a:ext cx="496888" cy="644525"/>
        </p:xfrm>
        <a:graphic>
          <a:graphicData uri="http://schemas.openxmlformats.org/presentationml/2006/ole">
            <mc:AlternateContent xmlns:mc="http://schemas.openxmlformats.org/markup-compatibility/2006">
              <mc:Choice xmlns:v="urn:schemas-microsoft-com:vml" Requires="v">
                <p:oleObj spid="_x0000_s6225" name="Equation" r:id="rId4" imgW="215640" imgH="279360" progId="Equation.DSMT4">
                  <p:embed/>
                </p:oleObj>
              </mc:Choice>
              <mc:Fallback>
                <p:oleObj name="Equation" r:id="rId4" imgW="215640" imgH="279360" progId="Equation.DSMT4">
                  <p:embed/>
                  <p:pic>
                    <p:nvPicPr>
                      <p:cNvPr id="0" name=""/>
                      <p:cNvPicPr/>
                      <p:nvPr/>
                    </p:nvPicPr>
                    <p:blipFill>
                      <a:blip r:embed="rId5"/>
                      <a:stretch>
                        <a:fillRect/>
                      </a:stretch>
                    </p:blipFill>
                    <p:spPr>
                      <a:xfrm>
                        <a:off x="2819400" y="932092"/>
                        <a:ext cx="496888" cy="644525"/>
                      </a:xfrm>
                      <a:prstGeom prst="rect">
                        <a:avLst/>
                      </a:prstGeom>
                    </p:spPr>
                  </p:pic>
                </p:oleObj>
              </mc:Fallback>
            </mc:AlternateContent>
          </a:graphicData>
        </a:graphic>
      </p:graphicFrame>
    </p:spTree>
    <p:extLst>
      <p:ext uri="{BB962C8B-B14F-4D97-AF65-F5344CB8AC3E}">
        <p14:creationId xmlns:p14="http://schemas.microsoft.com/office/powerpoint/2010/main" val="3673341406"/>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图同构算法</a:t>
            </a:r>
            <a:endParaRPr lang="en-US" dirty="0"/>
          </a:p>
        </p:txBody>
      </p:sp>
      <p:sp>
        <p:nvSpPr>
          <p:cNvPr id="3" name="Content Placeholder 2"/>
          <p:cNvSpPr>
            <a:spLocks noGrp="1"/>
          </p:cNvSpPr>
          <p:nvPr>
            <p:ph idx="1"/>
          </p:nvPr>
        </p:nvSpPr>
        <p:spPr/>
        <p:txBody>
          <a:bodyPr>
            <a:normAutofit/>
          </a:bodyPr>
          <a:lstStyle/>
          <a:p>
            <a:r>
              <a:rPr lang="zh-CN" altLang="en-US" dirty="0" smtClean="0"/>
              <a:t>已知的最好的判定两个图是否同构的算法具有指数的最坏情况时间复杂度</a:t>
            </a:r>
            <a:r>
              <a:rPr lang="en-US" altLang="zh-CN" dirty="0" smtClean="0"/>
              <a:t>.</a:t>
            </a:r>
          </a:p>
          <a:p>
            <a:r>
              <a:rPr lang="zh-CN" altLang="en-US" dirty="0"/>
              <a:t>一</a:t>
            </a:r>
            <a:r>
              <a:rPr lang="zh-CN" altLang="en-US" dirty="0" smtClean="0"/>
              <a:t>种名为</a:t>
            </a:r>
            <a:r>
              <a:rPr lang="en-US" altLang="zh-CN" dirty="0" smtClean="0"/>
              <a:t>NAUTY</a:t>
            </a:r>
            <a:r>
              <a:rPr lang="zh-CN" altLang="en-US" dirty="0" smtClean="0"/>
              <a:t>的用于测试图同构的最佳使用算法</a:t>
            </a:r>
            <a:r>
              <a:rPr lang="en-US" altLang="zh-CN" dirty="0" smtClean="0"/>
              <a:t>, </a:t>
            </a:r>
            <a:r>
              <a:rPr lang="zh-CN" altLang="en-US" dirty="0" smtClean="0"/>
              <a:t>可下载</a:t>
            </a:r>
            <a:r>
              <a:rPr lang="en-US" altLang="zh-CN" dirty="0" smtClean="0"/>
              <a:t>NAUTY</a:t>
            </a:r>
            <a:r>
              <a:rPr lang="zh-CN" altLang="en-US" dirty="0" smtClean="0"/>
              <a:t>软件来实验</a:t>
            </a:r>
            <a:r>
              <a:rPr lang="en-US" altLang="zh-CN" dirty="0" smtClean="0"/>
              <a:t>. https</a:t>
            </a:r>
            <a:r>
              <a:rPr lang="en-US" altLang="zh-CN" dirty="0"/>
              <a:t>://pallini.di.uniroma1.it</a:t>
            </a:r>
            <a:r>
              <a:rPr lang="en-US" altLang="zh-CN" dirty="0" smtClean="0"/>
              <a:t>/</a:t>
            </a:r>
          </a:p>
          <a:p>
            <a:r>
              <a:rPr lang="zh-CN" altLang="en-US" dirty="0" smtClean="0"/>
              <a:t>判定任意两个图是否同构的问题是少有的几个不知理论可行的或</a:t>
            </a:r>
            <a:r>
              <a:rPr lang="en-US" altLang="zh-CN" dirty="0" smtClean="0"/>
              <a:t>NP</a:t>
            </a:r>
            <a:r>
              <a:rPr lang="zh-CN" altLang="en-US" dirty="0" smtClean="0"/>
              <a:t>完全的</a:t>
            </a:r>
            <a:r>
              <a:rPr lang="en-US" altLang="zh-CN" dirty="0" smtClean="0"/>
              <a:t>NP</a:t>
            </a:r>
            <a:r>
              <a:rPr lang="zh-CN" altLang="en-US" dirty="0" smtClean="0"/>
              <a:t>问题之一</a:t>
            </a:r>
            <a:r>
              <a:rPr lang="en-US" altLang="zh-CN" dirty="0" smtClean="0"/>
              <a:t>.</a:t>
            </a:r>
          </a:p>
        </p:txBody>
      </p:sp>
      <p:sp>
        <p:nvSpPr>
          <p:cNvPr id="6" name="日期占位符 5"/>
          <p:cNvSpPr>
            <a:spLocks noGrp="1"/>
          </p:cNvSpPr>
          <p:nvPr>
            <p:ph type="dt" sz="half" idx="10"/>
          </p:nvPr>
        </p:nvSpPr>
        <p:spPr/>
        <p:txBody>
          <a:bodyPr/>
          <a:lstStyle/>
          <a:p>
            <a:fld id="{5CCED506-16E0-4519-9F9A-D5B37D56C2E5}" type="datetime1">
              <a:rPr lang="zh-CN" altLang="en-US" smtClean="0"/>
              <a:t>2025/4/15</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106</a:t>
            </a:fld>
            <a:endParaRPr lang="zh-CN" altLang="en-US" dirty="0"/>
          </a:p>
        </p:txBody>
      </p:sp>
    </p:spTree>
    <p:extLst>
      <p:ext uri="{BB962C8B-B14F-4D97-AF65-F5344CB8AC3E}">
        <p14:creationId xmlns:p14="http://schemas.microsoft.com/office/powerpoint/2010/main" val="1205066574"/>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图同构的应用</a:t>
            </a:r>
            <a:endParaRPr lang="en-US" dirty="0"/>
          </a:p>
        </p:txBody>
      </p:sp>
      <p:sp>
        <p:nvSpPr>
          <p:cNvPr id="3" name="Content Placeholder 2"/>
          <p:cNvSpPr>
            <a:spLocks noGrp="1"/>
          </p:cNvSpPr>
          <p:nvPr>
            <p:ph idx="1"/>
          </p:nvPr>
        </p:nvSpPr>
        <p:spPr/>
        <p:txBody>
          <a:bodyPr>
            <a:normAutofit/>
          </a:bodyPr>
          <a:lstStyle/>
          <a:p>
            <a:r>
              <a:rPr lang="zh-CN" altLang="en-US" dirty="0" smtClean="0"/>
              <a:t>图同构在图领域中具有重要的作用</a:t>
            </a:r>
            <a:r>
              <a:rPr lang="en-US" altLang="zh-CN" dirty="0" smtClean="0"/>
              <a:t>, </a:t>
            </a:r>
            <a:r>
              <a:rPr lang="zh-CN" altLang="en-US" dirty="0" smtClean="0"/>
              <a:t>例如</a:t>
            </a:r>
            <a:r>
              <a:rPr lang="en-US" dirty="0" smtClean="0"/>
              <a:t>, </a:t>
            </a:r>
          </a:p>
          <a:p>
            <a:pPr lvl="1"/>
            <a:r>
              <a:rPr lang="zh-CN" altLang="en-US" dirty="0" smtClean="0"/>
              <a:t>化学家用多图为化学成分建模</a:t>
            </a:r>
            <a:r>
              <a:rPr lang="en-US" altLang="zh-CN" dirty="0" smtClean="0"/>
              <a:t>. </a:t>
            </a:r>
            <a:r>
              <a:rPr lang="zh-CN" altLang="en-US" dirty="0" smtClean="0"/>
              <a:t>顶点表示原子</a:t>
            </a:r>
            <a:r>
              <a:rPr lang="en-US" altLang="zh-CN" dirty="0" smtClean="0"/>
              <a:t>, </a:t>
            </a:r>
            <a:r>
              <a:rPr lang="zh-CN" altLang="en-US" dirty="0" smtClean="0"/>
              <a:t>边表示原子之间的化学键</a:t>
            </a:r>
            <a:r>
              <a:rPr lang="en-US" altLang="zh-CN" dirty="0" smtClean="0"/>
              <a:t>. </a:t>
            </a:r>
            <a:r>
              <a:rPr lang="zh-CN" altLang="en-US" dirty="0" smtClean="0"/>
              <a:t>当分析出新的化学合成物时</a:t>
            </a:r>
            <a:r>
              <a:rPr lang="en-US" altLang="zh-CN" dirty="0" smtClean="0"/>
              <a:t>, </a:t>
            </a:r>
            <a:r>
              <a:rPr lang="zh-CN" altLang="en-US" dirty="0" smtClean="0"/>
              <a:t>就检查分子图数据库</a:t>
            </a:r>
            <a:r>
              <a:rPr lang="en-US" altLang="zh-CN" dirty="0" smtClean="0"/>
              <a:t>, </a:t>
            </a:r>
            <a:r>
              <a:rPr lang="zh-CN" altLang="en-US" dirty="0" smtClean="0"/>
              <a:t>来判断是否和已知的化合物相同</a:t>
            </a:r>
            <a:r>
              <a:rPr lang="en-US" dirty="0" smtClean="0"/>
              <a:t>. </a:t>
            </a:r>
          </a:p>
          <a:p>
            <a:pPr lvl="1"/>
            <a:r>
              <a:rPr lang="zh-CN" altLang="en-US" dirty="0" smtClean="0"/>
              <a:t>为电路图建模</a:t>
            </a:r>
            <a:r>
              <a:rPr lang="en-US" altLang="zh-CN" dirty="0" smtClean="0"/>
              <a:t>. </a:t>
            </a:r>
            <a:r>
              <a:rPr lang="zh-CN" altLang="en-US" dirty="0" smtClean="0"/>
              <a:t>顶点表示组件</a:t>
            </a:r>
            <a:r>
              <a:rPr lang="en-US" altLang="zh-CN" dirty="0" smtClean="0"/>
              <a:t>, </a:t>
            </a:r>
            <a:r>
              <a:rPr lang="zh-CN" altLang="en-US" dirty="0" smtClean="0"/>
              <a:t>边表示组件之间的连接</a:t>
            </a:r>
            <a:r>
              <a:rPr lang="en-US" altLang="zh-CN" dirty="0" smtClean="0"/>
              <a:t>. </a:t>
            </a:r>
            <a:r>
              <a:rPr lang="zh-CN" altLang="en-US" dirty="0" smtClean="0"/>
              <a:t>图同构用来验证一个销售商的芯片与另外一个销售商的芯片是否具有相同的知识产权等</a:t>
            </a:r>
            <a:r>
              <a:rPr lang="en-US" altLang="zh-CN" dirty="0" smtClean="0"/>
              <a:t>.</a:t>
            </a:r>
            <a:endParaRPr lang="en-US" dirty="0"/>
          </a:p>
        </p:txBody>
      </p:sp>
      <p:sp>
        <p:nvSpPr>
          <p:cNvPr id="6" name="日期占位符 5"/>
          <p:cNvSpPr>
            <a:spLocks noGrp="1"/>
          </p:cNvSpPr>
          <p:nvPr>
            <p:ph type="dt" sz="half" idx="10"/>
          </p:nvPr>
        </p:nvSpPr>
        <p:spPr/>
        <p:txBody>
          <a:bodyPr/>
          <a:lstStyle/>
          <a:p>
            <a:fld id="{C2C5AE75-5FE9-46F6-ABD1-BB282C3D77BE}" type="datetime1">
              <a:rPr lang="zh-CN" altLang="en-US" smtClean="0"/>
              <a:t>2025/4/15</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107</a:t>
            </a:fld>
            <a:endParaRPr lang="zh-CN" altLang="en-US" dirty="0"/>
          </a:p>
        </p:txBody>
      </p:sp>
    </p:spTree>
    <p:extLst>
      <p:ext uri="{BB962C8B-B14F-4D97-AF65-F5344CB8AC3E}">
        <p14:creationId xmlns:p14="http://schemas.microsoft.com/office/powerpoint/2010/main" val="2293554144"/>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第</a:t>
            </a:r>
            <a:r>
              <a:rPr lang="en-US" altLang="zh-CN" dirty="0"/>
              <a:t>4</a:t>
            </a:r>
            <a:r>
              <a:rPr lang="en-US" altLang="zh-CN" dirty="0" smtClean="0"/>
              <a:t>.4</a:t>
            </a:r>
            <a:r>
              <a:rPr lang="zh-CN" altLang="en-US" dirty="0" smtClean="0"/>
              <a:t>节 连通性</a:t>
            </a:r>
            <a:endParaRPr lang="en-US" dirty="0"/>
          </a:p>
        </p:txBody>
      </p:sp>
      <p:sp>
        <p:nvSpPr>
          <p:cNvPr id="3" name="Content Placeholder 2"/>
          <p:cNvSpPr>
            <a:spLocks noGrp="1"/>
          </p:cNvSpPr>
          <p:nvPr>
            <p:ph idx="1"/>
          </p:nvPr>
        </p:nvSpPr>
        <p:spPr/>
        <p:txBody>
          <a:bodyPr>
            <a:normAutofit/>
          </a:bodyPr>
          <a:lstStyle/>
          <a:p>
            <a:r>
              <a:rPr lang="zh-CN" altLang="en-US" dirty="0" smtClean="0"/>
              <a:t>通路</a:t>
            </a:r>
            <a:endParaRPr lang="en-US" altLang="zh-CN" dirty="0" smtClean="0"/>
          </a:p>
          <a:p>
            <a:r>
              <a:rPr lang="zh-CN" altLang="en-US" dirty="0" smtClean="0"/>
              <a:t>无向图的连通性</a:t>
            </a:r>
            <a:endParaRPr lang="en-US" altLang="zh-CN" dirty="0" smtClean="0"/>
          </a:p>
          <a:p>
            <a:r>
              <a:rPr lang="zh-CN" altLang="en-US" dirty="0" smtClean="0"/>
              <a:t>图是如何连通的</a:t>
            </a:r>
            <a:endParaRPr lang="en-US" altLang="zh-CN" dirty="0" smtClean="0"/>
          </a:p>
          <a:p>
            <a:r>
              <a:rPr lang="zh-CN" altLang="en-US" dirty="0" smtClean="0"/>
              <a:t>有向图的连通性</a:t>
            </a:r>
            <a:endParaRPr lang="en-US" altLang="zh-CN" dirty="0" smtClean="0"/>
          </a:p>
          <a:p>
            <a:r>
              <a:rPr lang="zh-CN" altLang="en-US" dirty="0" smtClean="0"/>
              <a:t>通路和同构</a:t>
            </a:r>
            <a:endParaRPr lang="en-US" altLang="zh-CN" dirty="0" smtClean="0"/>
          </a:p>
          <a:p>
            <a:r>
              <a:rPr lang="zh-CN" altLang="en-US" dirty="0" smtClean="0"/>
              <a:t>计算顶点之间的通路数</a:t>
            </a:r>
            <a:endParaRPr lang="en-US" altLang="zh-CN" dirty="0" smtClean="0"/>
          </a:p>
        </p:txBody>
      </p:sp>
      <p:sp>
        <p:nvSpPr>
          <p:cNvPr id="6" name="日期占位符 5"/>
          <p:cNvSpPr>
            <a:spLocks noGrp="1"/>
          </p:cNvSpPr>
          <p:nvPr>
            <p:ph type="dt" sz="half" idx="10"/>
          </p:nvPr>
        </p:nvSpPr>
        <p:spPr/>
        <p:txBody>
          <a:bodyPr/>
          <a:lstStyle/>
          <a:p>
            <a:fld id="{A4A747B0-AFF3-4918-B859-78FAC1AF0163}" type="datetime1">
              <a:rPr lang="zh-CN" altLang="en-US" smtClean="0"/>
              <a:t>2025/4/15</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108</a:t>
            </a:fld>
            <a:endParaRPr lang="zh-CN" altLang="en-US" dirty="0"/>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通路</a:t>
            </a:r>
            <a:endParaRPr lang="en-US" dirty="0"/>
          </a:p>
        </p:txBody>
      </p:sp>
      <p:sp>
        <p:nvSpPr>
          <p:cNvPr id="3" name="Content Placeholder 2"/>
          <p:cNvSpPr>
            <a:spLocks noGrp="1"/>
          </p:cNvSpPr>
          <p:nvPr>
            <p:ph idx="1"/>
          </p:nvPr>
        </p:nvSpPr>
        <p:spPr/>
        <p:txBody>
          <a:bodyPr/>
          <a:lstStyle/>
          <a:p>
            <a:r>
              <a:rPr lang="zh-CN" altLang="en-US" dirty="0" smtClean="0"/>
              <a:t>非正式定义</a:t>
            </a:r>
            <a:r>
              <a:rPr lang="en-US" dirty="0" smtClean="0"/>
              <a:t>: </a:t>
            </a:r>
            <a:r>
              <a:rPr lang="zh-CN" altLang="en-US" b="1" dirty="0" smtClean="0"/>
              <a:t>通路是在图中沿着顶点的边前进形成的路线</a:t>
            </a:r>
            <a:r>
              <a:rPr lang="en-US" dirty="0" smtClean="0"/>
              <a:t>. </a:t>
            </a:r>
            <a:r>
              <a:rPr lang="zh-CN" altLang="en-US" dirty="0" smtClean="0"/>
              <a:t>由于它沿着边前进</a:t>
            </a:r>
            <a:r>
              <a:rPr lang="en-US" altLang="zh-CN" dirty="0" smtClean="0"/>
              <a:t>, </a:t>
            </a:r>
            <a:r>
              <a:rPr lang="zh-CN" altLang="en-US" dirty="0" smtClean="0"/>
              <a:t>它经历了边对应的顶点</a:t>
            </a:r>
            <a:r>
              <a:rPr lang="en-US" altLang="zh-CN" dirty="0" smtClean="0"/>
              <a:t>, </a:t>
            </a:r>
            <a:r>
              <a:rPr lang="zh-CN" altLang="en-US" dirty="0" smtClean="0"/>
              <a:t>也结束于顶点</a:t>
            </a:r>
            <a:r>
              <a:rPr lang="en-US" dirty="0" smtClean="0"/>
              <a:t>. </a:t>
            </a:r>
            <a:r>
              <a:rPr lang="zh-CN" altLang="en-US" b="1" dirty="0" smtClean="0"/>
              <a:t>通路是边的序列</a:t>
            </a:r>
            <a:r>
              <a:rPr lang="en-US" altLang="zh-CN" dirty="0" smtClean="0"/>
              <a:t>.</a:t>
            </a:r>
            <a:endParaRPr lang="en-US" dirty="0" smtClean="0"/>
          </a:p>
          <a:p>
            <a:r>
              <a:rPr lang="zh-CN" altLang="en-US" dirty="0" smtClean="0"/>
              <a:t>应用</a:t>
            </a:r>
            <a:r>
              <a:rPr lang="en-US" dirty="0" smtClean="0"/>
              <a:t>: </a:t>
            </a:r>
            <a:r>
              <a:rPr lang="zh-CN" altLang="en-US" dirty="0" smtClean="0"/>
              <a:t>有许多问题可以通过图模型中的通路来</a:t>
            </a:r>
            <a:r>
              <a:rPr lang="zh-CN" altLang="en-US" dirty="0"/>
              <a:t>解决</a:t>
            </a:r>
            <a:r>
              <a:rPr lang="en-US" dirty="0" smtClean="0"/>
              <a:t>: </a:t>
            </a:r>
          </a:p>
          <a:p>
            <a:pPr lvl="1"/>
            <a:r>
              <a:rPr lang="zh-CN" altLang="en-US" dirty="0" smtClean="0"/>
              <a:t>判定</a:t>
            </a:r>
            <a:r>
              <a:rPr lang="zh-CN" altLang="en-US" b="1" dirty="0" smtClean="0"/>
              <a:t>两个计算机之间用中间连接传递消息的问题</a:t>
            </a:r>
            <a:endParaRPr lang="en-US" altLang="zh-CN" b="1" dirty="0" smtClean="0"/>
          </a:p>
          <a:p>
            <a:pPr lvl="1"/>
            <a:r>
              <a:rPr lang="zh-CN" altLang="en-US" dirty="0" smtClean="0"/>
              <a:t>利用图模型中的通路</a:t>
            </a:r>
            <a:r>
              <a:rPr lang="en-US" altLang="zh-CN" dirty="0" smtClean="0"/>
              <a:t>, </a:t>
            </a:r>
            <a:r>
              <a:rPr lang="zh-CN" altLang="en-US" dirty="0" smtClean="0"/>
              <a:t>解决投递邮件、收取垃圾以及计算机网络诊断等有效规划路线的问题</a:t>
            </a:r>
            <a:r>
              <a:rPr lang="en-US" dirty="0" smtClean="0"/>
              <a:t>.</a:t>
            </a:r>
          </a:p>
        </p:txBody>
      </p:sp>
      <p:sp>
        <p:nvSpPr>
          <p:cNvPr id="6" name="日期占位符 5"/>
          <p:cNvSpPr>
            <a:spLocks noGrp="1"/>
          </p:cNvSpPr>
          <p:nvPr>
            <p:ph type="dt" sz="half" idx="10"/>
          </p:nvPr>
        </p:nvSpPr>
        <p:spPr/>
        <p:txBody>
          <a:bodyPr/>
          <a:lstStyle/>
          <a:p>
            <a:fld id="{CCBF58A6-FED5-4209-8BFD-65B659F52CBD}" type="datetime1">
              <a:rPr lang="zh-CN" altLang="en-US" smtClean="0"/>
              <a:t>2025/4/15</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109</a:t>
            </a:fld>
            <a:endParaRPr lang="zh-CN" altLang="en-US" dirty="0"/>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57200" y="1143000"/>
            <a:ext cx="11277599" cy="12954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通路</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smtClean="0"/>
                  <a:t>定义</a:t>
                </a:r>
                <a:r>
                  <a:rPr lang="en-US" dirty="0" smtClean="0"/>
                  <a:t>: </a:t>
                </a:r>
                <a:r>
                  <a:rPr lang="zh-CN" altLang="en-US" dirty="0" smtClean="0"/>
                  <a:t>令</a:t>
                </a:r>
                <a:r>
                  <a:rPr lang="en-US" altLang="zh-CN" dirty="0" smtClean="0"/>
                  <a:t>n</a:t>
                </a:r>
                <a:r>
                  <a:rPr lang="zh-CN" altLang="en-US" dirty="0" smtClean="0"/>
                  <a:t>是非负整数且</a:t>
                </a:r>
                <a:r>
                  <a:rPr lang="en-US" altLang="zh-CN" dirty="0" smtClean="0"/>
                  <a:t>G</a:t>
                </a:r>
                <a:r>
                  <a:rPr lang="zh-CN" altLang="en-US" dirty="0" smtClean="0"/>
                  <a:t>是无向图</a:t>
                </a:r>
                <a:r>
                  <a:rPr lang="en-US" altLang="zh-CN" dirty="0" smtClean="0"/>
                  <a:t>. </a:t>
                </a:r>
                <a:r>
                  <a:rPr lang="zh-CN" altLang="en-US" dirty="0" smtClean="0"/>
                  <a:t>在</a:t>
                </a:r>
                <a:r>
                  <a:rPr lang="en-US" altLang="zh-CN" dirty="0" smtClean="0"/>
                  <a:t>G</a:t>
                </a:r>
                <a:r>
                  <a:rPr lang="zh-CN" altLang="en-US" dirty="0" smtClean="0"/>
                  <a:t>中从</a:t>
                </a:r>
                <a:r>
                  <a:rPr lang="en-US" altLang="zh-CN" dirty="0" smtClean="0"/>
                  <a:t>u</a:t>
                </a:r>
                <a:r>
                  <a:rPr lang="zh-CN" altLang="en-US" dirty="0" smtClean="0"/>
                  <a:t>到</a:t>
                </a:r>
                <a:r>
                  <a:rPr lang="en-US" altLang="zh-CN" dirty="0" smtClean="0"/>
                  <a:t>v</a:t>
                </a:r>
                <a:r>
                  <a:rPr lang="zh-CN" altLang="en-US" dirty="0" smtClean="0"/>
                  <a:t>的长度为</a:t>
                </a:r>
                <a:r>
                  <a:rPr lang="en-US" altLang="zh-CN" dirty="0" smtClean="0"/>
                  <a:t>n</a:t>
                </a:r>
                <a:r>
                  <a:rPr lang="zh-CN" altLang="en-US" dirty="0" smtClean="0"/>
                  <a:t>的</a:t>
                </a:r>
                <a:r>
                  <a:rPr lang="zh-CN" altLang="en-US" b="1" dirty="0" smtClean="0">
                    <a:solidFill>
                      <a:srgbClr val="C00000"/>
                    </a:solidFill>
                  </a:rPr>
                  <a:t>通路</a:t>
                </a:r>
                <a:r>
                  <a:rPr lang="zh-CN" altLang="en-US" dirty="0" smtClean="0"/>
                  <a:t>是</a:t>
                </a:r>
                <a:r>
                  <a:rPr lang="en-US" altLang="zh-CN" dirty="0" smtClean="0"/>
                  <a:t>G</a:t>
                </a:r>
                <a:r>
                  <a:rPr lang="zh-CN" altLang="en-US" dirty="0" smtClean="0"/>
                  <a:t>的</a:t>
                </a:r>
                <a14:m>
                  <m:oMath xmlns:m="http://schemas.openxmlformats.org/officeDocument/2006/math">
                    <m:r>
                      <a:rPr lang="en-US" altLang="zh-CN" i="1">
                        <a:latin typeface="Cambria Math" panose="02040503050406030204" pitchFamily="18" charset="0"/>
                      </a:rPr>
                      <m:t>𝑛</m:t>
                    </m:r>
                  </m:oMath>
                </a14:m>
                <a:r>
                  <a:rPr lang="zh-CN" altLang="en-US" dirty="0" smtClean="0"/>
                  <a:t>条边</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𝑒</m:t>
                        </m:r>
                      </m:e>
                      <m:sub>
                        <m:r>
                          <a:rPr lang="en-US" altLang="zh-CN" b="0" i="1" smtClean="0">
                            <a:latin typeface="Cambria Math" panose="02040503050406030204" pitchFamily="18" charset="0"/>
                          </a:rPr>
                          <m:t>1</m:t>
                        </m:r>
                      </m:sub>
                    </m:sSub>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𝑒</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 </m:t>
                    </m:r>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𝑒</m:t>
                        </m:r>
                      </m:e>
                      <m:sub>
                        <m:r>
                          <a:rPr lang="en-US" altLang="zh-CN" b="0" i="1" smtClean="0">
                            <a:latin typeface="Cambria Math" panose="02040503050406030204" pitchFamily="18" charset="0"/>
                          </a:rPr>
                          <m:t>𝑛</m:t>
                        </m:r>
                      </m:sub>
                    </m:sSub>
                  </m:oMath>
                </a14:m>
                <a:r>
                  <a:rPr lang="zh-CN" altLang="en-US" dirty="0" smtClean="0"/>
                  <a:t>的序列</a:t>
                </a:r>
                <a:r>
                  <a:rPr lang="en-US" altLang="zh-CN" dirty="0" smtClean="0"/>
                  <a:t>. </a:t>
                </a:r>
                <a:r>
                  <a:rPr lang="zh-CN" altLang="en-US" dirty="0" smtClean="0"/>
                  <a:t>其中存在</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0</m:t>
                        </m:r>
                      </m:sub>
                    </m:sSub>
                  </m:oMath>
                </a14:m>
                <a:r>
                  <a:rPr lang="en-US" dirty="0" smtClean="0"/>
                  <a:t>=u,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1</m:t>
                        </m:r>
                      </m:sub>
                    </m:sSub>
                  </m:oMath>
                </a14:m>
                <a:r>
                  <a:rPr lang="en-US" dirty="0" smtClean="0"/>
                  <a:t>, …,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𝑛</m:t>
                        </m:r>
                        <m:r>
                          <a:rPr lang="en-US" altLang="zh-CN" b="0" i="1" smtClean="0">
                            <a:latin typeface="Cambria Math" panose="02040503050406030204" pitchFamily="18" charset="0"/>
                          </a:rPr>
                          <m:t>−1</m:t>
                        </m:r>
                      </m:sub>
                    </m:sSub>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𝑛</m:t>
                        </m:r>
                      </m:sub>
                    </m:sSub>
                  </m:oMath>
                </a14:m>
                <a:r>
                  <a:rPr lang="en-US" dirty="0" smtClean="0"/>
                  <a:t>=v</a:t>
                </a:r>
                <a:r>
                  <a:rPr lang="zh-CN" altLang="en-US" dirty="0" smtClean="0"/>
                  <a:t>的顶点序列</a:t>
                </a:r>
                <a:r>
                  <a:rPr lang="en-US" altLang="zh-CN" dirty="0" smtClean="0"/>
                  <a:t>, </a:t>
                </a:r>
                <a:r>
                  <a:rPr lang="zh-CN" altLang="en-US" dirty="0" smtClean="0"/>
                  <a:t>使得对于</a:t>
                </a:r>
                <a:r>
                  <a:rPr lang="en-US" dirty="0" err="1" smtClean="0"/>
                  <a:t>i</a:t>
                </a:r>
                <a:r>
                  <a:rPr lang="en-US" dirty="0" smtClean="0"/>
                  <a:t>=1, …, n,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𝑒</m:t>
                        </m:r>
                      </m:e>
                      <m:sub>
                        <m:r>
                          <a:rPr lang="en-US" altLang="zh-CN" b="0" i="1" smtClean="0">
                            <a:latin typeface="Cambria Math" panose="02040503050406030204" pitchFamily="18" charset="0"/>
                          </a:rPr>
                          <m:t>𝑖</m:t>
                        </m:r>
                      </m:sub>
                    </m:sSub>
                  </m:oMath>
                </a14:m>
                <a:r>
                  <a:rPr lang="zh-CN" altLang="en-US" dirty="0" smtClean="0"/>
                  <a:t>以</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𝑖</m:t>
                        </m:r>
                        <m:r>
                          <a:rPr lang="en-US" altLang="zh-CN" i="1">
                            <a:latin typeface="Cambria Math" panose="02040503050406030204" pitchFamily="18" charset="0"/>
                          </a:rPr>
                          <m:t>−1</m:t>
                        </m:r>
                      </m:sub>
                    </m:sSub>
                  </m:oMath>
                </a14:m>
                <a:r>
                  <a:rPr lang="zh-CN" altLang="en-US" dirty="0" smtClean="0"/>
                  <a:t>和</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𝑖</m:t>
                        </m:r>
                      </m:sub>
                    </m:sSub>
                  </m:oMath>
                </a14:m>
                <a:r>
                  <a:rPr lang="zh-CN" altLang="en-US" dirty="0" smtClean="0"/>
                  <a:t>作为端点</a:t>
                </a:r>
                <a:r>
                  <a:rPr lang="en-US" dirty="0" smtClean="0"/>
                  <a:t>. </a:t>
                </a:r>
              </a:p>
              <a:p>
                <a:pPr lvl="1"/>
                <a:r>
                  <a:rPr lang="zh-CN" altLang="en-US" dirty="0" smtClean="0"/>
                  <a:t>图</a:t>
                </a:r>
                <a:r>
                  <a:rPr lang="en-US" altLang="zh-CN" dirty="0" smtClean="0"/>
                  <a:t>G</a:t>
                </a:r>
                <a:r>
                  <a:rPr lang="zh-CN" altLang="en-US" dirty="0" smtClean="0"/>
                  <a:t>是简单图时</a:t>
                </a:r>
                <a:r>
                  <a:rPr lang="en-US" altLang="zh-CN" dirty="0" smtClean="0"/>
                  <a:t>, </a:t>
                </a:r>
                <a:r>
                  <a:rPr lang="zh-CN" altLang="en-US" dirty="0" smtClean="0"/>
                  <a:t>用顶点序列</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0</m:t>
                        </m:r>
                      </m:sub>
                    </m:sSub>
                  </m:oMath>
                </a14:m>
                <a:r>
                  <a:rPr lang="en-US" dirty="0" smtClean="0"/>
                  <a:t>,</a:t>
                </a:r>
                <a14:m>
                  <m:oMath xmlns:m="http://schemas.openxmlformats.org/officeDocument/2006/math">
                    <m:r>
                      <a:rPr lang="en-US" altLang="zh-CN" b="0" i="0" smtClean="0">
                        <a:latin typeface="Cambria Math" panose="02040503050406030204" pitchFamily="18" charset="0"/>
                      </a:rPr>
                      <m:t>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1</m:t>
                        </m:r>
                      </m:sub>
                    </m:sSub>
                  </m:oMath>
                </a14:m>
                <a:r>
                  <a:rPr lang="en-US" dirty="0" smtClean="0"/>
                  <a:t>, …,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𝑛</m:t>
                        </m:r>
                      </m:sub>
                    </m:sSub>
                  </m:oMath>
                </a14:m>
                <a:r>
                  <a:rPr lang="zh-CN" altLang="en-US" dirty="0" smtClean="0"/>
                  <a:t>表示这条通路</a:t>
                </a:r>
                <a:r>
                  <a:rPr lang="en-US" dirty="0" smtClean="0"/>
                  <a:t>(</a:t>
                </a:r>
                <a:r>
                  <a:rPr lang="zh-CN" altLang="en-US" dirty="0" smtClean="0"/>
                  <a:t>列出这些顶点就唯一地确定了通路</a:t>
                </a:r>
                <a:r>
                  <a:rPr lang="en-US" altLang="zh-CN" dirty="0" smtClean="0"/>
                  <a:t>)</a:t>
                </a:r>
                <a:r>
                  <a:rPr lang="en-US" dirty="0" smtClean="0"/>
                  <a:t>. </a:t>
                </a:r>
                <a:r>
                  <a:rPr lang="zh-CN" altLang="en-US" dirty="0" smtClean="0"/>
                  <a:t>路长为</a:t>
                </a:r>
                <a:r>
                  <a:rPr lang="en-US" altLang="zh-CN" dirty="0" smtClean="0"/>
                  <a:t>n.</a:t>
                </a:r>
                <a:endParaRPr lang="en-US" dirty="0" smtClean="0"/>
              </a:p>
              <a:p>
                <a:pPr lvl="1"/>
                <a:r>
                  <a:rPr lang="zh-CN" altLang="en-US" dirty="0" smtClean="0"/>
                  <a:t>若一条通路在相同的顶点开始和结束</a:t>
                </a:r>
                <a:r>
                  <a:rPr lang="en-US" altLang="zh-CN" dirty="0" smtClean="0"/>
                  <a:t>, </a:t>
                </a:r>
                <a:r>
                  <a:rPr lang="zh-CN" altLang="en-US" dirty="0" smtClean="0"/>
                  <a:t>即</a:t>
                </a:r>
                <a:r>
                  <a:rPr lang="en-US" altLang="zh-CN" dirty="0" smtClean="0"/>
                  <a:t>u=v, </a:t>
                </a:r>
                <a:r>
                  <a:rPr lang="zh-CN" altLang="en-US" dirty="0" smtClean="0"/>
                  <a:t>且长度大于</a:t>
                </a:r>
                <a:r>
                  <a:rPr lang="en-US" altLang="zh-CN" dirty="0" smtClean="0"/>
                  <a:t>0, </a:t>
                </a:r>
                <a:r>
                  <a:rPr lang="zh-CN" altLang="en-US" dirty="0" smtClean="0"/>
                  <a:t>则它是一条</a:t>
                </a:r>
                <a:r>
                  <a:rPr lang="zh-CN" altLang="en-US" b="1" dirty="0" smtClean="0">
                    <a:solidFill>
                      <a:srgbClr val="C00000"/>
                    </a:solidFill>
                  </a:rPr>
                  <a:t>回路</a:t>
                </a:r>
                <a:r>
                  <a:rPr lang="en-US" dirty="0" smtClean="0"/>
                  <a:t>. </a:t>
                </a:r>
                <a:r>
                  <a:rPr lang="zh-CN" altLang="en-US" dirty="0" smtClean="0"/>
                  <a:t>如果不是回路</a:t>
                </a:r>
                <a:r>
                  <a:rPr lang="en-US" altLang="zh-CN" dirty="0" smtClean="0"/>
                  <a:t>, </a:t>
                </a:r>
                <a:r>
                  <a:rPr lang="zh-CN" altLang="en-US" dirty="0" smtClean="0"/>
                  <a:t>则称为开路</a:t>
                </a:r>
                <a:r>
                  <a:rPr lang="en-US" altLang="zh-CN" dirty="0" smtClean="0"/>
                  <a:t>.</a:t>
                </a:r>
                <a:endParaRPr lang="en-US" dirty="0" smtClean="0"/>
              </a:p>
              <a:p>
                <a:pPr lvl="1"/>
                <a:r>
                  <a:rPr lang="zh-CN" altLang="en-US" dirty="0" smtClean="0"/>
                  <a:t>通路或回路说成是经过顶点</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1</m:t>
                        </m:r>
                      </m:sub>
                    </m:sSub>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2</m:t>
                        </m:r>
                      </m:sub>
                    </m:sSub>
                  </m:oMath>
                </a14:m>
                <a:r>
                  <a:rPr lang="en-US" dirty="0" smtClean="0"/>
                  <a:t>, …,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𝑛</m:t>
                        </m:r>
                        <m:r>
                          <a:rPr lang="en-US" altLang="zh-CN" i="1">
                            <a:latin typeface="Cambria Math" panose="02040503050406030204" pitchFamily="18" charset="0"/>
                          </a:rPr>
                          <m:t>−1</m:t>
                        </m:r>
                      </m:sub>
                    </m:sSub>
                  </m:oMath>
                </a14:m>
                <a:r>
                  <a:rPr lang="zh-CN" altLang="en-US" dirty="0" smtClean="0"/>
                  <a:t>或遍历边</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𝑒</m:t>
                        </m:r>
                      </m:e>
                      <m:sub>
                        <m:r>
                          <a:rPr lang="en-US" altLang="zh-CN" i="1">
                            <a:latin typeface="Cambria Math" panose="02040503050406030204" pitchFamily="18" charset="0"/>
                          </a:rPr>
                          <m:t>1</m:t>
                        </m:r>
                      </m:sub>
                    </m:sSub>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𝑒</m:t>
                        </m:r>
                      </m:e>
                      <m:sub>
                        <m:r>
                          <a:rPr lang="en-US" altLang="zh-CN" i="1">
                            <a:latin typeface="Cambria Math" panose="02040503050406030204" pitchFamily="18" charset="0"/>
                          </a:rPr>
                          <m:t>2</m:t>
                        </m:r>
                      </m:sub>
                    </m:sSub>
                    <m:r>
                      <a:rPr lang="en-US" altLang="zh-CN" i="1">
                        <a:latin typeface="Cambria Math" panose="02040503050406030204" pitchFamily="18" charset="0"/>
                      </a:rPr>
                      <m:t>, </m:t>
                    </m:r>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𝑒</m:t>
                        </m:r>
                      </m:e>
                      <m:sub>
                        <m:r>
                          <a:rPr lang="en-US" altLang="zh-CN" i="1">
                            <a:latin typeface="Cambria Math" panose="02040503050406030204" pitchFamily="18" charset="0"/>
                          </a:rPr>
                          <m:t>𝑛</m:t>
                        </m:r>
                      </m:sub>
                    </m:sSub>
                  </m:oMath>
                </a14:m>
                <a:r>
                  <a:rPr lang="en-US" dirty="0" smtClean="0"/>
                  <a:t>.</a:t>
                </a:r>
              </a:p>
              <a:p>
                <a:pPr lvl="1"/>
                <a:r>
                  <a:rPr lang="zh-CN" altLang="en-US" dirty="0" smtClean="0"/>
                  <a:t>若通路或回路不重复地包含相同的边</a:t>
                </a:r>
                <a:r>
                  <a:rPr lang="en-US" altLang="zh-CN" dirty="0" smtClean="0"/>
                  <a:t>, </a:t>
                </a:r>
                <a:r>
                  <a:rPr lang="zh-CN" altLang="en-US" dirty="0" smtClean="0"/>
                  <a:t>则它是</a:t>
                </a:r>
                <a:r>
                  <a:rPr lang="zh-CN" altLang="en-US" b="1" dirty="0" smtClean="0">
                    <a:solidFill>
                      <a:srgbClr val="C00000"/>
                    </a:solidFill>
                  </a:rPr>
                  <a:t>简单的</a:t>
                </a:r>
                <a:r>
                  <a:rPr lang="en-US" dirty="0" smtClean="0"/>
                  <a:t>. </a:t>
                </a:r>
              </a:p>
              <a:p>
                <a:pPr lvl="1"/>
                <a:r>
                  <a:rPr lang="zh-CN" altLang="en-US" dirty="0" smtClean="0"/>
                  <a:t>长度为</a:t>
                </a:r>
                <a:r>
                  <a:rPr lang="en-US" altLang="zh-CN" dirty="0" smtClean="0"/>
                  <a:t>0</a:t>
                </a:r>
                <a:r>
                  <a:rPr lang="zh-CN" altLang="en-US" dirty="0" smtClean="0"/>
                  <a:t>的通路是由单个顶点组成</a:t>
                </a:r>
                <a:r>
                  <a:rPr lang="en-US" altLang="zh-CN" dirty="0" smtClean="0"/>
                  <a:t>.</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310" r="-1443"/>
                </a:stretch>
              </a:blipFill>
            </p:spPr>
            <p:txBody>
              <a:bodyPr/>
              <a:lstStyle/>
              <a:p>
                <a:r>
                  <a:rPr lang="zh-CN" altLang="en-US">
                    <a:noFill/>
                  </a:rPr>
                  <a:t> </a:t>
                </a:r>
              </a:p>
            </p:txBody>
          </p:sp>
        </mc:Fallback>
      </mc:AlternateContent>
      <p:sp>
        <p:nvSpPr>
          <p:cNvPr id="7" name="日期占位符 6"/>
          <p:cNvSpPr>
            <a:spLocks noGrp="1"/>
          </p:cNvSpPr>
          <p:nvPr>
            <p:ph type="dt" sz="half" idx="10"/>
          </p:nvPr>
        </p:nvSpPr>
        <p:spPr/>
        <p:txBody>
          <a:bodyPr/>
          <a:lstStyle/>
          <a:p>
            <a:fld id="{938B58DB-305A-4401-A7D1-4AE0C2A0FFBF}"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110</a:t>
            </a:fld>
            <a:endParaRPr lang="zh-CN" altLang="en-US" dirty="0"/>
          </a:p>
        </p:txBody>
      </p:sp>
    </p:spTree>
    <p:extLst>
      <p:ext uri="{BB962C8B-B14F-4D97-AF65-F5344CB8AC3E}">
        <p14:creationId xmlns:p14="http://schemas.microsoft.com/office/powerpoint/2010/main" val="497551538"/>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通路</a:t>
            </a:r>
            <a:endParaRPr lang="en-US" dirty="0"/>
          </a:p>
        </p:txBody>
      </p:sp>
      <p:sp>
        <p:nvSpPr>
          <p:cNvPr id="3" name="Content Placeholder 2"/>
          <p:cNvSpPr>
            <a:spLocks noGrp="1"/>
          </p:cNvSpPr>
          <p:nvPr>
            <p:ph idx="1"/>
          </p:nvPr>
        </p:nvSpPr>
        <p:spPr/>
        <p:txBody>
          <a:bodyPr>
            <a:normAutofit/>
          </a:bodyPr>
          <a:lstStyle/>
          <a:p>
            <a:r>
              <a:rPr lang="zh-CN" altLang="en-US" dirty="0" smtClean="0"/>
              <a:t>例</a:t>
            </a:r>
            <a:r>
              <a:rPr lang="en-US" dirty="0" smtClean="0"/>
              <a:t>: </a:t>
            </a:r>
            <a:r>
              <a:rPr lang="zh-CN" altLang="en-US" dirty="0" smtClean="0"/>
              <a:t>在如下简单图中</a:t>
            </a:r>
            <a:r>
              <a:rPr lang="en-US" dirty="0" smtClean="0"/>
              <a:t>: </a:t>
            </a:r>
          </a:p>
          <a:p>
            <a:endParaRPr lang="en-US" dirty="0"/>
          </a:p>
          <a:p>
            <a:endParaRPr lang="en-US" dirty="0" smtClean="0"/>
          </a:p>
          <a:p>
            <a:endParaRPr lang="en-US" dirty="0"/>
          </a:p>
          <a:p>
            <a:endParaRPr lang="en-US" dirty="0" smtClean="0"/>
          </a:p>
          <a:p>
            <a:endParaRPr lang="en-US" dirty="0" smtClean="0"/>
          </a:p>
          <a:p>
            <a:pPr lvl="1"/>
            <a:r>
              <a:rPr lang="en-US" dirty="0" smtClean="0"/>
              <a:t>a, d, c, f, e </a:t>
            </a:r>
            <a:r>
              <a:rPr lang="zh-CN" altLang="en-US" dirty="0" smtClean="0"/>
              <a:t>是长度为</a:t>
            </a:r>
            <a:r>
              <a:rPr lang="en-US" altLang="zh-CN" dirty="0" smtClean="0"/>
              <a:t>4</a:t>
            </a:r>
            <a:r>
              <a:rPr lang="zh-CN" altLang="en-US" dirty="0" smtClean="0"/>
              <a:t>的简单通路</a:t>
            </a:r>
            <a:r>
              <a:rPr lang="en-US" dirty="0" smtClean="0"/>
              <a:t>. </a:t>
            </a:r>
          </a:p>
          <a:p>
            <a:pPr lvl="1"/>
            <a:r>
              <a:rPr lang="en-US" dirty="0" smtClean="0"/>
              <a:t>d, e, c, a</a:t>
            </a:r>
            <a:r>
              <a:rPr lang="zh-CN" altLang="en-US" dirty="0" smtClean="0"/>
              <a:t>不是一个通路</a:t>
            </a:r>
            <a:r>
              <a:rPr lang="en-US" altLang="zh-CN" dirty="0" smtClean="0"/>
              <a:t>, </a:t>
            </a:r>
            <a:r>
              <a:rPr lang="zh-CN" altLang="en-US" dirty="0" smtClean="0"/>
              <a:t>因为</a:t>
            </a:r>
            <a:r>
              <a:rPr lang="en-US" altLang="zh-CN" dirty="0" smtClean="0"/>
              <a:t>e</a:t>
            </a:r>
            <a:r>
              <a:rPr lang="zh-CN" altLang="en-US" dirty="0" smtClean="0"/>
              <a:t>没有连接到</a:t>
            </a:r>
            <a:r>
              <a:rPr lang="en-US" altLang="zh-CN" dirty="0" smtClean="0"/>
              <a:t>c</a:t>
            </a:r>
            <a:r>
              <a:rPr lang="en-US" dirty="0" smtClean="0"/>
              <a:t>.</a:t>
            </a:r>
          </a:p>
          <a:p>
            <a:pPr lvl="1"/>
            <a:r>
              <a:rPr lang="en-US" dirty="0" smtClean="0"/>
              <a:t>b, c, f, e, b </a:t>
            </a:r>
            <a:r>
              <a:rPr lang="zh-CN" altLang="en-US" dirty="0" smtClean="0"/>
              <a:t>是长度为</a:t>
            </a:r>
            <a:r>
              <a:rPr lang="en-US" altLang="zh-CN" dirty="0" smtClean="0"/>
              <a:t>4</a:t>
            </a:r>
            <a:r>
              <a:rPr lang="zh-CN" altLang="en-US" dirty="0" smtClean="0"/>
              <a:t>的回路</a:t>
            </a:r>
            <a:r>
              <a:rPr lang="en-US" dirty="0" smtClean="0"/>
              <a:t>. </a:t>
            </a:r>
          </a:p>
          <a:p>
            <a:pPr lvl="1"/>
            <a:r>
              <a:rPr lang="en-US" dirty="0" smtClean="0"/>
              <a:t>a, b, e, d, a, b </a:t>
            </a:r>
            <a:r>
              <a:rPr lang="zh-CN" altLang="en-US" dirty="0" smtClean="0"/>
              <a:t>是长度为</a:t>
            </a:r>
            <a:r>
              <a:rPr lang="en-US" altLang="zh-CN" dirty="0" smtClean="0"/>
              <a:t>5</a:t>
            </a:r>
            <a:r>
              <a:rPr lang="zh-CN" altLang="en-US" dirty="0" smtClean="0"/>
              <a:t>的通路</a:t>
            </a:r>
            <a:r>
              <a:rPr lang="en-US" altLang="zh-CN" dirty="0" smtClean="0"/>
              <a:t>, </a:t>
            </a:r>
            <a:r>
              <a:rPr lang="zh-CN" altLang="en-US" dirty="0" smtClean="0"/>
              <a:t>但不是简单通路</a:t>
            </a:r>
            <a:r>
              <a:rPr lang="en-US" dirty="0" smtClean="0"/>
              <a:t>. </a:t>
            </a:r>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10000" y="1752600"/>
            <a:ext cx="3200400" cy="2229363"/>
          </a:xfrm>
          <a:prstGeom prst="rect">
            <a:avLst/>
          </a:prstGeom>
        </p:spPr>
      </p:pic>
      <p:sp>
        <p:nvSpPr>
          <p:cNvPr id="7" name="日期占位符 6"/>
          <p:cNvSpPr>
            <a:spLocks noGrp="1"/>
          </p:cNvSpPr>
          <p:nvPr>
            <p:ph type="dt" sz="half" idx="10"/>
          </p:nvPr>
        </p:nvSpPr>
        <p:spPr/>
        <p:txBody>
          <a:bodyPr/>
          <a:lstStyle/>
          <a:p>
            <a:fld id="{41787091-DD09-44C5-B386-E2947DF503B1}"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111</a:t>
            </a:fld>
            <a:endParaRPr lang="zh-CN" altLang="en-US" dirty="0"/>
          </a:p>
        </p:txBody>
      </p:sp>
    </p:spTree>
    <p:extLst>
      <p:ext uri="{BB962C8B-B14F-4D97-AF65-F5344CB8AC3E}">
        <p14:creationId xmlns:p14="http://schemas.microsoft.com/office/powerpoint/2010/main" val="3011144861"/>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57200" y="1676400"/>
            <a:ext cx="11277599" cy="12954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通路</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smtClean="0"/>
                  <a:t>有向图的通路和回路</a:t>
                </a:r>
                <a:r>
                  <a:rPr lang="en-US" altLang="zh-CN" dirty="0" smtClean="0"/>
                  <a:t>:</a:t>
                </a:r>
              </a:p>
              <a:p>
                <a:r>
                  <a:rPr lang="zh-CN" altLang="en-US" dirty="0" smtClean="0"/>
                  <a:t>定义</a:t>
                </a:r>
                <a:r>
                  <a:rPr lang="en-US" dirty="0" smtClean="0"/>
                  <a:t>: </a:t>
                </a:r>
                <a:r>
                  <a:rPr lang="zh-CN" altLang="en-US" dirty="0" smtClean="0"/>
                  <a:t>令</a:t>
                </a:r>
                <a:r>
                  <a:rPr lang="en-US" altLang="zh-CN" dirty="0" smtClean="0"/>
                  <a:t>n</a:t>
                </a:r>
                <a:r>
                  <a:rPr lang="zh-CN" altLang="en-US" dirty="0" smtClean="0"/>
                  <a:t>是非负整数且</a:t>
                </a:r>
                <a:r>
                  <a:rPr lang="en-US" altLang="zh-CN" dirty="0" smtClean="0"/>
                  <a:t>G</a:t>
                </a:r>
                <a:r>
                  <a:rPr lang="zh-CN" altLang="en-US" dirty="0" smtClean="0"/>
                  <a:t>是有向图</a:t>
                </a:r>
                <a:r>
                  <a:rPr lang="en-US" altLang="zh-CN" dirty="0" smtClean="0"/>
                  <a:t>. </a:t>
                </a:r>
                <a:r>
                  <a:rPr lang="zh-CN" altLang="en-US" dirty="0" smtClean="0"/>
                  <a:t>在</a:t>
                </a:r>
                <a:r>
                  <a:rPr lang="en-US" altLang="zh-CN" dirty="0" smtClean="0"/>
                  <a:t>G</a:t>
                </a:r>
                <a:r>
                  <a:rPr lang="zh-CN" altLang="en-US" dirty="0" smtClean="0"/>
                  <a:t>中从</a:t>
                </a:r>
                <a:r>
                  <a:rPr lang="en-US" altLang="zh-CN" dirty="0" smtClean="0"/>
                  <a:t>u</a:t>
                </a:r>
                <a:r>
                  <a:rPr lang="zh-CN" altLang="en-US" dirty="0" smtClean="0"/>
                  <a:t>到</a:t>
                </a:r>
                <a:r>
                  <a:rPr lang="en-US" altLang="zh-CN" dirty="0" smtClean="0"/>
                  <a:t>v</a:t>
                </a:r>
                <a:r>
                  <a:rPr lang="zh-CN" altLang="en-US" dirty="0" smtClean="0"/>
                  <a:t>的长度为</a:t>
                </a:r>
                <a:r>
                  <a:rPr lang="en-US" altLang="zh-CN" dirty="0" smtClean="0"/>
                  <a:t>n</a:t>
                </a:r>
                <a:r>
                  <a:rPr lang="zh-CN" altLang="en-US" dirty="0" smtClean="0"/>
                  <a:t>的</a:t>
                </a:r>
                <a:r>
                  <a:rPr lang="zh-CN" altLang="en-US" b="1" dirty="0" smtClean="0">
                    <a:solidFill>
                      <a:srgbClr val="C00000"/>
                    </a:solidFill>
                  </a:rPr>
                  <a:t>通路</a:t>
                </a:r>
                <a:r>
                  <a:rPr lang="zh-CN" altLang="en-US" dirty="0" smtClean="0"/>
                  <a:t>是</a:t>
                </a:r>
                <a:r>
                  <a:rPr lang="en-US" altLang="zh-CN" dirty="0" smtClean="0"/>
                  <a:t>G</a:t>
                </a:r>
                <a:r>
                  <a:rPr lang="zh-CN" altLang="en-US" dirty="0" smtClean="0"/>
                  <a:t>的</a:t>
                </a:r>
                <a14:m>
                  <m:oMath xmlns:m="http://schemas.openxmlformats.org/officeDocument/2006/math">
                    <m:r>
                      <a:rPr lang="en-US" altLang="zh-CN" i="1">
                        <a:latin typeface="Cambria Math" panose="02040503050406030204" pitchFamily="18" charset="0"/>
                      </a:rPr>
                      <m:t>𝑛</m:t>
                    </m:r>
                  </m:oMath>
                </a14:m>
                <a:r>
                  <a:rPr lang="zh-CN" altLang="en-US" dirty="0" smtClean="0"/>
                  <a:t>条边</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𝑒</m:t>
                        </m:r>
                      </m:e>
                      <m:sub>
                        <m:r>
                          <a:rPr lang="en-US" altLang="zh-CN" b="0" i="1" smtClean="0">
                            <a:latin typeface="Cambria Math" panose="02040503050406030204" pitchFamily="18" charset="0"/>
                          </a:rPr>
                          <m:t>1</m:t>
                        </m:r>
                      </m:sub>
                    </m:sSub>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𝑒</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 </m:t>
                    </m:r>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𝑒</m:t>
                        </m:r>
                      </m:e>
                      <m:sub>
                        <m:r>
                          <a:rPr lang="en-US" altLang="zh-CN" b="0" i="1" smtClean="0">
                            <a:latin typeface="Cambria Math" panose="02040503050406030204" pitchFamily="18" charset="0"/>
                          </a:rPr>
                          <m:t>𝑛</m:t>
                        </m:r>
                      </m:sub>
                    </m:sSub>
                  </m:oMath>
                </a14:m>
                <a:r>
                  <a:rPr lang="zh-CN" altLang="en-US" dirty="0" smtClean="0"/>
                  <a:t>的序列</a:t>
                </a:r>
                <a:r>
                  <a:rPr lang="en-US" altLang="zh-CN" dirty="0" smtClean="0"/>
                  <a:t>, </a:t>
                </a:r>
                <a:r>
                  <a:rPr lang="zh-CN" altLang="en-US" dirty="0" smtClean="0"/>
                  <a:t>使得</a:t>
                </a:r>
                <a14:m>
                  <m:oMath xmlns:m="http://schemas.openxmlformats.org/officeDocument/2006/math">
                    <m:r>
                      <a:rPr lang="en-US" altLang="zh-CN" b="0" i="1" dirty="0" smtClean="0">
                        <a:latin typeface="Cambria Math" panose="02040503050406030204" pitchFamily="18" charset="0"/>
                      </a:rPr>
                      <m:t>𝑓</m:t>
                    </m:r>
                    <m:d>
                      <m:dPr>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𝑒</m:t>
                            </m:r>
                          </m:e>
                          <m:sub>
                            <m:r>
                              <a:rPr lang="en-US" altLang="zh-CN" b="0" i="1" dirty="0" smtClean="0">
                                <a:latin typeface="Cambria Math" panose="02040503050406030204" pitchFamily="18" charset="0"/>
                              </a:rPr>
                              <m:t>1</m:t>
                            </m:r>
                          </m:sub>
                        </m:sSub>
                      </m:e>
                    </m:d>
                    <m:r>
                      <a:rPr lang="en-US" altLang="zh-CN" b="0" i="1" dirty="0" smtClean="0">
                        <a:latin typeface="Cambria Math" panose="02040503050406030204" pitchFamily="18" charset="0"/>
                      </a:rPr>
                      <m:t>=</m:t>
                    </m:r>
                    <m:d>
                      <m:dPr>
                        <m:ctrlPr>
                          <a:rPr lang="en-US" altLang="zh-CN" b="0" i="1" dirty="0" smtClean="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b="0" i="1" dirty="0" smtClean="0">
                                <a:latin typeface="Cambria Math" panose="02040503050406030204" pitchFamily="18" charset="0"/>
                              </a:rPr>
                              <m:t>𝑥</m:t>
                            </m:r>
                          </m:e>
                          <m:sub>
                            <m:r>
                              <a:rPr lang="en-US" altLang="zh-CN" b="0" i="1" dirty="0" smtClean="0">
                                <a:latin typeface="Cambria Math" panose="02040503050406030204" pitchFamily="18" charset="0"/>
                              </a:rPr>
                              <m:t>0</m:t>
                            </m:r>
                          </m:sub>
                        </m:sSub>
                        <m:r>
                          <a:rPr lang="en-US" altLang="zh-CN" b="0" i="1" dirty="0" smtClean="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𝑥</m:t>
                            </m:r>
                          </m:e>
                          <m:sub>
                            <m:r>
                              <a:rPr lang="en-US" altLang="zh-CN" b="0" i="1" dirty="0" smtClean="0">
                                <a:latin typeface="Cambria Math" panose="02040503050406030204" pitchFamily="18" charset="0"/>
                              </a:rPr>
                              <m:t>1</m:t>
                            </m:r>
                          </m:sub>
                        </m:sSub>
                      </m:e>
                    </m:d>
                    <m:r>
                      <a:rPr lang="en-US" altLang="zh-CN" b="0" i="1" dirty="0" smtClean="0">
                        <a:latin typeface="Cambria Math" panose="02040503050406030204" pitchFamily="18" charset="0"/>
                      </a:rPr>
                      <m:t>,</m:t>
                    </m:r>
                  </m:oMath>
                </a14:m>
                <a:r>
                  <a:rPr lang="en-US" altLang="zh-CN" dirty="0"/>
                  <a:t> </a:t>
                </a:r>
                <a14:m>
                  <m:oMath xmlns:m="http://schemas.openxmlformats.org/officeDocument/2006/math">
                    <m:r>
                      <a:rPr lang="en-US" altLang="zh-CN" i="1" dirty="0">
                        <a:latin typeface="Cambria Math" panose="02040503050406030204" pitchFamily="18" charset="0"/>
                      </a:rPr>
                      <m:t>𝑓</m:t>
                    </m:r>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𝑒</m:t>
                            </m:r>
                          </m:e>
                          <m:sub>
                            <m:r>
                              <a:rPr lang="en-US" altLang="zh-CN" b="0" i="1" dirty="0" smtClean="0">
                                <a:latin typeface="Cambria Math" panose="02040503050406030204" pitchFamily="18" charset="0"/>
                              </a:rPr>
                              <m:t>2</m:t>
                            </m:r>
                          </m:sub>
                        </m:sSub>
                      </m:e>
                    </m:d>
                    <m:r>
                      <a:rPr lang="en-US" altLang="zh-CN" i="1" dirty="0">
                        <a:latin typeface="Cambria Math" panose="02040503050406030204" pitchFamily="18" charset="0"/>
                      </a:rPr>
                      <m:t>=</m:t>
                    </m:r>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𝑥</m:t>
                            </m:r>
                          </m:e>
                          <m:sub>
                            <m:r>
                              <a:rPr lang="en-US" altLang="zh-CN" b="0" i="1" dirty="0" smtClean="0">
                                <a:latin typeface="Cambria Math" panose="02040503050406030204" pitchFamily="18" charset="0"/>
                              </a:rPr>
                              <m:t>1</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𝑥</m:t>
                            </m:r>
                          </m:e>
                          <m:sub>
                            <m:r>
                              <a:rPr lang="en-US" altLang="zh-CN" b="0" i="1" dirty="0" smtClean="0">
                                <a:latin typeface="Cambria Math" panose="02040503050406030204" pitchFamily="18" charset="0"/>
                              </a:rPr>
                              <m:t>2</m:t>
                            </m:r>
                          </m:sub>
                        </m:sSub>
                      </m:e>
                    </m:d>
                    <m:r>
                      <a:rPr lang="en-US" altLang="zh-CN" i="1" dirty="0">
                        <a:latin typeface="Cambria Math" panose="02040503050406030204" pitchFamily="18" charset="0"/>
                      </a:rPr>
                      <m:t>,</m:t>
                    </m:r>
                  </m:oMath>
                </a14:m>
                <a:r>
                  <a:rPr lang="en-US" altLang="zh-CN" dirty="0" smtClean="0"/>
                  <a:t> …, </a:t>
                </a:r>
                <a14:m>
                  <m:oMath xmlns:m="http://schemas.openxmlformats.org/officeDocument/2006/math">
                    <m:r>
                      <a:rPr lang="en-US" altLang="zh-CN" i="1" dirty="0">
                        <a:latin typeface="Cambria Math" panose="02040503050406030204" pitchFamily="18" charset="0"/>
                      </a:rPr>
                      <m:t>𝑓</m:t>
                    </m:r>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𝑒</m:t>
                            </m:r>
                          </m:e>
                          <m:sub>
                            <m:r>
                              <a:rPr lang="en-US" altLang="zh-CN" b="0" i="1" dirty="0" smtClean="0">
                                <a:latin typeface="Cambria Math" panose="02040503050406030204" pitchFamily="18" charset="0"/>
                              </a:rPr>
                              <m:t>𝑛</m:t>
                            </m:r>
                          </m:sub>
                        </m:sSub>
                      </m:e>
                    </m:d>
                    <m:r>
                      <a:rPr lang="en-US" altLang="zh-CN" i="1" dirty="0">
                        <a:latin typeface="Cambria Math" panose="02040503050406030204" pitchFamily="18" charset="0"/>
                      </a:rPr>
                      <m:t>=</m:t>
                    </m:r>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𝑥</m:t>
                            </m:r>
                          </m:e>
                          <m:sub>
                            <m:r>
                              <a:rPr lang="en-US" altLang="zh-CN" b="0" i="1" dirty="0" smtClean="0">
                                <a:latin typeface="Cambria Math" panose="02040503050406030204" pitchFamily="18" charset="0"/>
                              </a:rPr>
                              <m:t>𝑛</m:t>
                            </m:r>
                            <m:r>
                              <a:rPr lang="en-US" altLang="zh-CN" b="0" i="1" dirty="0" smtClean="0">
                                <a:latin typeface="Cambria Math" panose="02040503050406030204" pitchFamily="18" charset="0"/>
                              </a:rPr>
                              <m:t>−1</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𝑥</m:t>
                            </m:r>
                          </m:e>
                          <m:sub>
                            <m:r>
                              <a:rPr lang="en-US" altLang="zh-CN" b="0" i="1" dirty="0" smtClean="0">
                                <a:latin typeface="Cambria Math" panose="02040503050406030204" pitchFamily="18" charset="0"/>
                              </a:rPr>
                              <m:t>𝑛</m:t>
                            </m:r>
                          </m:sub>
                        </m:sSub>
                      </m:e>
                    </m:d>
                    <m:r>
                      <a:rPr lang="en-US" altLang="zh-CN" i="1" dirty="0">
                        <a:latin typeface="Cambria Math" panose="02040503050406030204" pitchFamily="18" charset="0"/>
                      </a:rPr>
                      <m:t>,</m:t>
                    </m:r>
                  </m:oMath>
                </a14:m>
                <a:r>
                  <a:rPr lang="zh-CN" altLang="en-US" dirty="0" smtClean="0"/>
                  <a:t> 其中</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0</m:t>
                        </m:r>
                      </m:sub>
                    </m:sSub>
                  </m:oMath>
                </a14:m>
                <a:r>
                  <a:rPr lang="en-US" dirty="0" smtClean="0"/>
                  <a:t>=u,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𝑛</m:t>
                        </m:r>
                      </m:sub>
                    </m:sSub>
                  </m:oMath>
                </a14:m>
                <a:r>
                  <a:rPr lang="en-US" dirty="0" smtClean="0"/>
                  <a:t>=v. </a:t>
                </a:r>
              </a:p>
              <a:p>
                <a:pPr lvl="1"/>
                <a:r>
                  <a:rPr lang="zh-CN" altLang="en-US" dirty="0" smtClean="0"/>
                  <a:t>图</a:t>
                </a:r>
                <a:r>
                  <a:rPr lang="en-US" altLang="zh-CN" dirty="0" smtClean="0"/>
                  <a:t>G</a:t>
                </a:r>
                <a:r>
                  <a:rPr lang="zh-CN" altLang="en-US" dirty="0" smtClean="0"/>
                  <a:t>没有多重边时</a:t>
                </a:r>
                <a:r>
                  <a:rPr lang="en-US" altLang="zh-CN" dirty="0" smtClean="0"/>
                  <a:t>, </a:t>
                </a:r>
                <a:r>
                  <a:rPr lang="zh-CN" altLang="en-US" dirty="0" smtClean="0"/>
                  <a:t>用顶点序列</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0</m:t>
                        </m:r>
                      </m:sub>
                    </m:sSub>
                  </m:oMath>
                </a14:m>
                <a:r>
                  <a:rPr lang="en-US" dirty="0" smtClean="0"/>
                  <a:t>,</a:t>
                </a:r>
                <a14:m>
                  <m:oMath xmlns:m="http://schemas.openxmlformats.org/officeDocument/2006/math">
                    <m:r>
                      <a:rPr lang="en-US" altLang="zh-CN" b="0" i="0" smtClean="0">
                        <a:latin typeface="Cambria Math" panose="02040503050406030204" pitchFamily="18" charset="0"/>
                      </a:rPr>
                      <m:t>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1</m:t>
                        </m:r>
                      </m:sub>
                    </m:sSub>
                  </m:oMath>
                </a14:m>
                <a:r>
                  <a:rPr lang="en-US" dirty="0" smtClean="0"/>
                  <a:t>, …,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𝑛</m:t>
                        </m:r>
                      </m:sub>
                    </m:sSub>
                  </m:oMath>
                </a14:m>
                <a:r>
                  <a:rPr lang="zh-CN" altLang="en-US" dirty="0" smtClean="0"/>
                  <a:t>表示这条通路</a:t>
                </a:r>
                <a:r>
                  <a:rPr lang="en-US" dirty="0" smtClean="0"/>
                  <a:t>.</a:t>
                </a:r>
              </a:p>
              <a:p>
                <a:pPr lvl="1"/>
                <a:r>
                  <a:rPr lang="zh-CN" altLang="en-US" dirty="0" smtClean="0"/>
                  <a:t>把在相同顶点开始和结束的长度大于</a:t>
                </a:r>
                <a:r>
                  <a:rPr lang="en-US" altLang="zh-CN" dirty="0" smtClean="0"/>
                  <a:t>0</a:t>
                </a:r>
                <a:r>
                  <a:rPr lang="zh-CN" altLang="en-US" dirty="0" smtClean="0"/>
                  <a:t>的通路称为</a:t>
                </a:r>
                <a:r>
                  <a:rPr lang="zh-CN" altLang="en-US" b="1" dirty="0" smtClean="0">
                    <a:solidFill>
                      <a:srgbClr val="C00000"/>
                    </a:solidFill>
                  </a:rPr>
                  <a:t>回路</a:t>
                </a:r>
                <a:r>
                  <a:rPr lang="zh-CN" altLang="en-US" dirty="0" smtClean="0"/>
                  <a:t>或圈</a:t>
                </a:r>
                <a:r>
                  <a:rPr lang="en-US" dirty="0" smtClean="0"/>
                  <a:t>.</a:t>
                </a:r>
              </a:p>
              <a:p>
                <a:pPr lvl="1"/>
                <a:r>
                  <a:rPr lang="zh-CN" altLang="en-US" dirty="0" smtClean="0"/>
                  <a:t>若一条通路或回路不重复地包含相同的边</a:t>
                </a:r>
                <a:r>
                  <a:rPr lang="en-US" altLang="zh-CN" dirty="0" smtClean="0"/>
                  <a:t>, </a:t>
                </a:r>
                <a:r>
                  <a:rPr lang="zh-CN" altLang="en-US" dirty="0" smtClean="0"/>
                  <a:t>则称为</a:t>
                </a:r>
                <a:r>
                  <a:rPr lang="zh-CN" altLang="en-US" b="1" dirty="0" smtClean="0">
                    <a:solidFill>
                      <a:srgbClr val="C00000"/>
                    </a:solidFill>
                  </a:rPr>
                  <a:t>简单的</a:t>
                </a:r>
                <a:r>
                  <a:rPr lang="en-US" altLang="zh-CN" dirty="0" smtClean="0"/>
                  <a:t>.</a:t>
                </a:r>
                <a:endParaRPr lang="en-US" dirty="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310"/>
                </a:stretch>
              </a:blipFill>
            </p:spPr>
            <p:txBody>
              <a:bodyPr/>
              <a:lstStyle/>
              <a:p>
                <a:r>
                  <a:rPr lang="zh-CN" altLang="en-US">
                    <a:noFill/>
                  </a:rPr>
                  <a:t> </a:t>
                </a:r>
              </a:p>
            </p:txBody>
          </p:sp>
        </mc:Fallback>
      </mc:AlternateContent>
      <p:sp>
        <p:nvSpPr>
          <p:cNvPr id="7" name="日期占位符 6"/>
          <p:cNvSpPr>
            <a:spLocks noGrp="1"/>
          </p:cNvSpPr>
          <p:nvPr>
            <p:ph type="dt" sz="half" idx="10"/>
          </p:nvPr>
        </p:nvSpPr>
        <p:spPr/>
        <p:txBody>
          <a:bodyPr/>
          <a:lstStyle/>
          <a:p>
            <a:fld id="{E02604A6-EDF8-4E8E-BFFD-67315FCFBF4E}"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112</a:t>
            </a:fld>
            <a:endParaRPr lang="zh-CN" altLang="en-US" dirty="0"/>
          </a:p>
        </p:txBody>
      </p:sp>
    </p:spTree>
    <p:extLst>
      <p:ext uri="{BB962C8B-B14F-4D97-AF65-F5344CB8AC3E}">
        <p14:creationId xmlns:p14="http://schemas.microsoft.com/office/powerpoint/2010/main" val="3634625908"/>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57200" y="1143000"/>
            <a:ext cx="11277599" cy="13716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smtClean="0"/>
              <a:t>无向图的连通性</a:t>
            </a:r>
            <a:endParaRPr lang="en-US" dirty="0"/>
          </a:p>
        </p:txBody>
      </p:sp>
      <p:sp>
        <p:nvSpPr>
          <p:cNvPr id="3" name="Content Placeholder 2"/>
          <p:cNvSpPr>
            <a:spLocks noGrp="1"/>
          </p:cNvSpPr>
          <p:nvPr>
            <p:ph idx="1"/>
          </p:nvPr>
        </p:nvSpPr>
        <p:spPr/>
        <p:txBody>
          <a:bodyPr>
            <a:normAutofit/>
          </a:bodyPr>
          <a:lstStyle/>
          <a:p>
            <a:r>
              <a:rPr lang="zh-CN" altLang="en-US" dirty="0" smtClean="0"/>
              <a:t>定义</a:t>
            </a:r>
            <a:r>
              <a:rPr lang="en-US" dirty="0" smtClean="0"/>
              <a:t>: </a:t>
            </a:r>
            <a:r>
              <a:rPr lang="zh-CN" altLang="en-US" dirty="0" smtClean="0"/>
              <a:t>若无向图的</a:t>
            </a:r>
            <a:r>
              <a:rPr lang="zh-CN" altLang="en-US" b="1" dirty="0" smtClean="0">
                <a:solidFill>
                  <a:srgbClr val="C00000"/>
                </a:solidFill>
              </a:rPr>
              <a:t>每一对</a:t>
            </a:r>
            <a:r>
              <a:rPr lang="zh-CN" altLang="en-US" b="1" dirty="0" smtClean="0"/>
              <a:t>不同顶点之间都有通路</a:t>
            </a:r>
            <a:r>
              <a:rPr lang="en-US" altLang="zh-CN" dirty="0" smtClean="0"/>
              <a:t>, </a:t>
            </a:r>
            <a:r>
              <a:rPr lang="zh-CN" altLang="en-US" dirty="0" smtClean="0"/>
              <a:t>则该图称为</a:t>
            </a:r>
            <a:r>
              <a:rPr lang="zh-CN" altLang="en-US" b="1" dirty="0" smtClean="0">
                <a:solidFill>
                  <a:srgbClr val="C00000"/>
                </a:solidFill>
              </a:rPr>
              <a:t>连通的</a:t>
            </a:r>
            <a:r>
              <a:rPr lang="en-US" altLang="zh-CN" dirty="0" smtClean="0"/>
              <a:t>. </a:t>
            </a:r>
            <a:r>
              <a:rPr lang="zh-CN" altLang="en-US" dirty="0" smtClean="0"/>
              <a:t>不连通的无向图称为不连通</a:t>
            </a:r>
            <a:r>
              <a:rPr lang="en-US" altLang="zh-CN" dirty="0" smtClean="0"/>
              <a:t>. </a:t>
            </a:r>
            <a:r>
              <a:rPr lang="zh-CN" altLang="en-US" dirty="0" smtClean="0"/>
              <a:t>当从图中删除顶点或边</a:t>
            </a:r>
            <a:r>
              <a:rPr lang="en-US" altLang="zh-CN" dirty="0" smtClean="0"/>
              <a:t>, </a:t>
            </a:r>
            <a:r>
              <a:rPr lang="zh-CN" altLang="en-US" dirty="0" smtClean="0"/>
              <a:t>或两者时</a:t>
            </a:r>
            <a:r>
              <a:rPr lang="en-US" altLang="zh-CN" dirty="0" smtClean="0"/>
              <a:t>, </a:t>
            </a:r>
            <a:r>
              <a:rPr lang="zh-CN" altLang="en-US" dirty="0" smtClean="0"/>
              <a:t>得到不连通的子图</a:t>
            </a:r>
            <a:r>
              <a:rPr lang="en-US" altLang="zh-CN" dirty="0" smtClean="0"/>
              <a:t>, </a:t>
            </a:r>
            <a:r>
              <a:rPr lang="zh-CN" altLang="en-US" dirty="0" smtClean="0"/>
              <a:t>就称</a:t>
            </a:r>
            <a:r>
              <a:rPr lang="zh-CN" altLang="en-US" b="1" dirty="0" smtClean="0">
                <a:solidFill>
                  <a:srgbClr val="C00000"/>
                </a:solidFill>
              </a:rPr>
              <a:t>将图变为不连通的</a:t>
            </a:r>
            <a:r>
              <a:rPr lang="en-US" dirty="0" smtClean="0"/>
              <a:t>. </a:t>
            </a:r>
          </a:p>
          <a:p>
            <a:r>
              <a:rPr lang="zh-CN" altLang="en-US" dirty="0" smtClean="0"/>
              <a:t>例</a:t>
            </a:r>
            <a:r>
              <a:rPr lang="en-US" dirty="0" smtClean="0"/>
              <a:t>: </a:t>
            </a:r>
            <a:r>
              <a:rPr lang="zh-CN" altLang="en-US" dirty="0" smtClean="0"/>
              <a:t>如下的图</a:t>
            </a:r>
            <a:r>
              <a:rPr lang="en-US" altLang="zh-CN" dirty="0" smtClean="0"/>
              <a:t>G1</a:t>
            </a:r>
            <a:r>
              <a:rPr lang="zh-CN" altLang="en-US" dirty="0" smtClean="0"/>
              <a:t>和</a:t>
            </a:r>
            <a:r>
              <a:rPr lang="en-US" altLang="zh-CN" dirty="0" smtClean="0"/>
              <a:t>G2</a:t>
            </a:r>
            <a:r>
              <a:rPr lang="zh-CN" altLang="en-US" dirty="0" smtClean="0"/>
              <a:t>是否是连通的？</a:t>
            </a:r>
            <a:endParaRPr lang="en-US" altLang="zh-CN" dirty="0" smtClean="0"/>
          </a:p>
          <a:p>
            <a:endParaRPr lang="en-US" altLang="zh-CN" dirty="0" smtClean="0"/>
          </a:p>
          <a:p>
            <a:pPr marL="0" indent="0">
              <a:buNone/>
            </a:pPr>
            <a:endParaRPr lang="en-US" altLang="zh-CN" dirty="0"/>
          </a:p>
          <a:p>
            <a:endParaRPr lang="en-US" altLang="zh-CN" dirty="0" smtClean="0"/>
          </a:p>
          <a:p>
            <a:endParaRPr lang="en-US" altLang="zh-CN" dirty="0" smtClean="0"/>
          </a:p>
          <a:p>
            <a:r>
              <a:rPr lang="zh-CN" altLang="en-US" dirty="0" smtClean="0"/>
              <a:t>解</a:t>
            </a:r>
            <a:r>
              <a:rPr lang="en-US" altLang="zh-CN" dirty="0" smtClean="0"/>
              <a:t>: </a:t>
            </a:r>
            <a:r>
              <a:rPr lang="en-US" dirty="0" smtClean="0"/>
              <a:t>G1</a:t>
            </a:r>
            <a:r>
              <a:rPr lang="zh-CN" altLang="en-US" dirty="0" smtClean="0"/>
              <a:t>是连通的</a:t>
            </a:r>
            <a:r>
              <a:rPr lang="en-US" altLang="zh-CN" dirty="0" smtClean="0"/>
              <a:t>, </a:t>
            </a:r>
            <a:r>
              <a:rPr lang="zh-CN" altLang="en-US" dirty="0" smtClean="0"/>
              <a:t>因为每一对不同的顶点之间都有通路</a:t>
            </a:r>
            <a:r>
              <a:rPr lang="en-US" altLang="zh-CN" dirty="0" smtClean="0"/>
              <a:t>. G2</a:t>
            </a:r>
            <a:r>
              <a:rPr lang="zh-CN" altLang="en-US" dirty="0" smtClean="0"/>
              <a:t>不是连通的</a:t>
            </a:r>
            <a:r>
              <a:rPr lang="en-US" altLang="zh-CN" dirty="0" smtClean="0"/>
              <a:t>, </a:t>
            </a:r>
            <a:r>
              <a:rPr lang="zh-CN" altLang="en-US" dirty="0" smtClean="0"/>
              <a:t>如顶点</a:t>
            </a:r>
            <a:r>
              <a:rPr lang="en-US" altLang="zh-CN" dirty="0" smtClean="0"/>
              <a:t>a</a:t>
            </a:r>
            <a:r>
              <a:rPr lang="zh-CN" altLang="en-US" dirty="0" smtClean="0"/>
              <a:t>和</a:t>
            </a:r>
            <a:r>
              <a:rPr lang="en-US" altLang="zh-CN" dirty="0" smtClean="0"/>
              <a:t>d</a:t>
            </a:r>
            <a:r>
              <a:rPr lang="zh-CN" altLang="en-US" dirty="0" smtClean="0"/>
              <a:t>之间不连通</a:t>
            </a:r>
            <a:r>
              <a:rPr lang="en-US" dirty="0" smtClean="0"/>
              <a:t>. </a:t>
            </a:r>
          </a:p>
        </p:txBody>
      </p:sp>
      <p:pic>
        <p:nvPicPr>
          <p:cNvPr id="4"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28616" y="3020222"/>
            <a:ext cx="2996184" cy="2190220"/>
          </a:xfrm>
          <a:prstGeom prst="rect">
            <a:avLst/>
          </a:prstGeom>
        </p:spPr>
      </p:pic>
      <p:sp>
        <p:nvSpPr>
          <p:cNvPr id="7" name="日期占位符 6"/>
          <p:cNvSpPr>
            <a:spLocks noGrp="1"/>
          </p:cNvSpPr>
          <p:nvPr>
            <p:ph type="dt" sz="half" idx="10"/>
          </p:nvPr>
        </p:nvSpPr>
        <p:spPr/>
        <p:txBody>
          <a:bodyPr/>
          <a:lstStyle/>
          <a:p>
            <a:fld id="{297634C1-19F1-4BB3-9068-09849D335C82}"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113</a:t>
            </a:fld>
            <a:endParaRPr lang="zh-CN" altLang="en-US" dirty="0"/>
          </a:p>
        </p:txBody>
      </p:sp>
    </p:spTree>
    <p:extLst>
      <p:ext uri="{BB962C8B-B14F-4D97-AF65-F5344CB8AC3E}">
        <p14:creationId xmlns:p14="http://schemas.microsoft.com/office/powerpoint/2010/main" val="3935227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wipe(down)">
                                      <p:cBhvr>
                                        <p:cTn id="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57200" y="1143000"/>
            <a:ext cx="11277599" cy="3810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smtClean="0"/>
              <a:t>无向图的连通性</a:t>
            </a:r>
            <a:endParaRPr lang="en-US" dirty="0">
              <a:solidFill>
                <a:srgbClr val="C00000"/>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smtClean="0"/>
                  <a:t>定理</a:t>
                </a:r>
                <a:r>
                  <a:rPr lang="en-US" dirty="0" smtClean="0"/>
                  <a:t>: </a:t>
                </a:r>
                <a:r>
                  <a:rPr lang="zh-CN" altLang="en-US" dirty="0" smtClean="0"/>
                  <a:t>在连通无向图的每一对不同顶点之间都存在简单通路</a:t>
                </a:r>
                <a:r>
                  <a:rPr lang="en-US" altLang="zh-CN" dirty="0" smtClean="0"/>
                  <a:t>.</a:t>
                </a:r>
              </a:p>
              <a:p>
                <a:endParaRPr lang="en-US" altLang="zh-CN" dirty="0" smtClean="0"/>
              </a:p>
              <a:p>
                <a:r>
                  <a:rPr lang="zh-CN" altLang="en-US" dirty="0" smtClean="0"/>
                  <a:t>证</a:t>
                </a:r>
                <a:r>
                  <a:rPr lang="en-US" altLang="zh-CN" dirty="0" smtClean="0"/>
                  <a:t>: </a:t>
                </a:r>
              </a:p>
              <a:p>
                <a:pPr lvl="1"/>
                <a:r>
                  <a:rPr lang="zh-CN" altLang="en-US" dirty="0"/>
                  <a:t>设</a:t>
                </a:r>
                <a:r>
                  <a:rPr lang="en-US" altLang="zh-CN" dirty="0"/>
                  <a:t>u</a:t>
                </a:r>
                <a:r>
                  <a:rPr lang="zh-CN" altLang="en-US" dirty="0"/>
                  <a:t>和</a:t>
                </a:r>
                <a:r>
                  <a:rPr lang="en-US" altLang="zh-CN" dirty="0"/>
                  <a:t>v</a:t>
                </a:r>
                <a:r>
                  <a:rPr lang="zh-CN" altLang="en-US" dirty="0"/>
                  <a:t>是连通无向图</a:t>
                </a:r>
                <a:r>
                  <a:rPr lang="en-US" altLang="zh-CN" dirty="0"/>
                  <a:t>G=(V, E)</a:t>
                </a:r>
                <a:r>
                  <a:rPr lang="zh-CN" altLang="en-US" dirty="0"/>
                  <a:t>的两个不同顶点</a:t>
                </a:r>
                <a:r>
                  <a:rPr lang="en-US" altLang="zh-CN" dirty="0"/>
                  <a:t>. </a:t>
                </a:r>
                <a:r>
                  <a:rPr lang="zh-CN" altLang="en-US" dirty="0"/>
                  <a:t>因为</a:t>
                </a:r>
                <a:r>
                  <a:rPr lang="en-US" altLang="zh-CN" dirty="0"/>
                  <a:t>G</a:t>
                </a:r>
                <a:r>
                  <a:rPr lang="zh-CN" altLang="en-US" dirty="0"/>
                  <a:t>是连通的</a:t>
                </a:r>
                <a:r>
                  <a:rPr lang="en-US" altLang="zh-CN" dirty="0"/>
                  <a:t>, </a:t>
                </a:r>
                <a:r>
                  <a:rPr lang="zh-CN" altLang="en-US" dirty="0"/>
                  <a:t>所以</a:t>
                </a:r>
                <a:r>
                  <a:rPr lang="en-US" altLang="zh-CN" dirty="0"/>
                  <a:t>u</a:t>
                </a:r>
                <a:r>
                  <a:rPr lang="zh-CN" altLang="en-US" dirty="0"/>
                  <a:t>和</a:t>
                </a:r>
                <a:r>
                  <a:rPr lang="en-US" altLang="zh-CN" dirty="0"/>
                  <a:t>v</a:t>
                </a:r>
                <a:r>
                  <a:rPr lang="zh-CN" altLang="en-US" dirty="0"/>
                  <a:t>之间至少有一条通路</a:t>
                </a:r>
                <a:r>
                  <a:rPr lang="en-US" altLang="zh-CN" dirty="0"/>
                  <a:t>. </a:t>
                </a:r>
                <a:r>
                  <a:rPr lang="zh-CN" altLang="en-US" dirty="0"/>
                  <a:t>设</a:t>
                </a:r>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panose="02040503050406030204" pitchFamily="18" charset="0"/>
                          </a:rPr>
                          <m:t>𝑥</m:t>
                        </m:r>
                      </m:e>
                      <m:sub>
                        <m:r>
                          <a:rPr lang="en-US" altLang="zh-CN">
                            <a:latin typeface="Cambria Math" panose="02040503050406030204" pitchFamily="18" charset="0"/>
                          </a:rPr>
                          <m:t>0</m:t>
                        </m:r>
                      </m:sub>
                    </m:sSub>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panose="02040503050406030204" pitchFamily="18" charset="0"/>
                          </a:rPr>
                          <m:t>𝑥</m:t>
                        </m:r>
                      </m:e>
                      <m:sub>
                        <m:r>
                          <a:rPr lang="en-US" altLang="zh-CN">
                            <a:latin typeface="Cambria Math" panose="02040503050406030204" pitchFamily="18" charset="0"/>
                          </a:rPr>
                          <m:t>1</m:t>
                        </m:r>
                      </m:sub>
                    </m:sSub>
                  </m:oMath>
                </a14:m>
                <a:r>
                  <a:rPr lang="en-US" altLang="zh-CN" dirty="0"/>
                  <a:t>, …, </a:t>
                </a:r>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panose="02040503050406030204" pitchFamily="18" charset="0"/>
                          </a:rPr>
                          <m:t>𝑥</m:t>
                        </m:r>
                      </m:e>
                      <m:sub>
                        <m:r>
                          <a:rPr lang="en-US" altLang="zh-CN">
                            <a:latin typeface="Cambria Math" panose="02040503050406030204" pitchFamily="18" charset="0"/>
                          </a:rPr>
                          <m:t>𝑛</m:t>
                        </m:r>
                        <m:r>
                          <a:rPr lang="en-US" altLang="zh-CN">
                            <a:latin typeface="Cambria Math" panose="02040503050406030204" pitchFamily="18" charset="0"/>
                          </a:rPr>
                          <m:t>−1</m:t>
                        </m:r>
                      </m:sub>
                    </m:sSub>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panose="02040503050406030204" pitchFamily="18" charset="0"/>
                          </a:rPr>
                          <m:t>𝑥</m:t>
                        </m:r>
                      </m:e>
                      <m:sub>
                        <m:r>
                          <a:rPr lang="en-US" altLang="zh-CN">
                            <a:latin typeface="Cambria Math" panose="02040503050406030204" pitchFamily="18" charset="0"/>
                          </a:rPr>
                          <m:t>𝑛</m:t>
                        </m:r>
                      </m:sub>
                    </m:sSub>
                  </m:oMath>
                </a14:m>
                <a:r>
                  <a:rPr lang="zh-CN" altLang="en-US" dirty="0"/>
                  <a:t>是长度最短的通路的顶点序列</a:t>
                </a:r>
                <a:r>
                  <a:rPr lang="en-US" altLang="zh-CN" dirty="0"/>
                  <a:t>, </a:t>
                </a:r>
                <a:r>
                  <a:rPr lang="zh-CN" altLang="en-US" dirty="0"/>
                  <a:t>其中</a:t>
                </a:r>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panose="02040503050406030204" pitchFamily="18" charset="0"/>
                          </a:rPr>
                          <m:t>𝑥</m:t>
                        </m:r>
                      </m:e>
                      <m:sub>
                        <m:r>
                          <a:rPr lang="en-US" altLang="zh-CN">
                            <a:latin typeface="Cambria Math" panose="02040503050406030204" pitchFamily="18" charset="0"/>
                          </a:rPr>
                          <m:t>0</m:t>
                        </m:r>
                      </m:sub>
                    </m:sSub>
                  </m:oMath>
                </a14:m>
                <a:r>
                  <a:rPr lang="en-US" altLang="zh-CN" dirty="0"/>
                  <a:t>=u, </a:t>
                </a:r>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panose="02040503050406030204" pitchFamily="18" charset="0"/>
                          </a:rPr>
                          <m:t>𝑥</m:t>
                        </m:r>
                      </m:e>
                      <m:sub>
                        <m:r>
                          <a:rPr lang="en-US" altLang="zh-CN">
                            <a:latin typeface="Cambria Math" panose="02040503050406030204" pitchFamily="18" charset="0"/>
                          </a:rPr>
                          <m:t>𝑛</m:t>
                        </m:r>
                      </m:sub>
                    </m:sSub>
                  </m:oMath>
                </a14:m>
                <a:r>
                  <a:rPr lang="en-US" altLang="zh-CN" dirty="0"/>
                  <a:t>=v. </a:t>
                </a:r>
              </a:p>
              <a:p>
                <a:pPr lvl="1"/>
                <a:r>
                  <a:rPr lang="zh-CN" altLang="en-US" dirty="0"/>
                  <a:t>这条长度最短的通路是简单的</a:t>
                </a:r>
                <a:r>
                  <a:rPr lang="en-US" altLang="zh-CN" dirty="0"/>
                  <a:t>. </a:t>
                </a:r>
                <a:r>
                  <a:rPr lang="zh-CN" altLang="en-US" dirty="0"/>
                  <a:t>为了证明它是简单的</a:t>
                </a:r>
                <a:r>
                  <a:rPr lang="en-US" altLang="zh-CN" dirty="0" smtClean="0"/>
                  <a:t>, </a:t>
                </a:r>
                <a:r>
                  <a:rPr lang="zh-CN" altLang="en-US" dirty="0" smtClean="0"/>
                  <a:t>我们</a:t>
                </a:r>
                <a:r>
                  <a:rPr lang="zh-CN" altLang="en-US" dirty="0"/>
                  <a:t>先假设它不是简单的</a:t>
                </a:r>
                <a:r>
                  <a:rPr lang="en-US" altLang="zh-CN" dirty="0"/>
                  <a:t>. </a:t>
                </a:r>
                <a:r>
                  <a:rPr lang="zh-CN" altLang="en-US" dirty="0"/>
                  <a:t>则对满足</a:t>
                </a:r>
                <a14:m>
                  <m:oMath xmlns:m="http://schemas.openxmlformats.org/officeDocument/2006/math">
                    <m:r>
                      <a:rPr lang="en-US" altLang="zh-CN">
                        <a:latin typeface="Cambria Math" panose="02040503050406030204" pitchFamily="18" charset="0"/>
                      </a:rPr>
                      <m:t>0≤</m:t>
                    </m:r>
                    <m:r>
                      <a:rPr lang="en-US" altLang="zh-CN">
                        <a:latin typeface="Cambria Math" panose="02040503050406030204" pitchFamily="18" charset="0"/>
                      </a:rPr>
                      <m:t>𝑖</m:t>
                    </m:r>
                    <m:r>
                      <a:rPr lang="en-US" altLang="zh-CN">
                        <a:latin typeface="Cambria Math" panose="02040503050406030204" pitchFamily="18" charset="0"/>
                      </a:rPr>
                      <m:t>&lt;</m:t>
                    </m:r>
                    <m:r>
                      <a:rPr lang="en-US" altLang="zh-CN">
                        <a:latin typeface="Cambria Math" panose="02040503050406030204" pitchFamily="18" charset="0"/>
                      </a:rPr>
                      <m:t>𝑗</m:t>
                    </m:r>
                  </m:oMath>
                </a14:m>
                <a:r>
                  <a:rPr lang="zh-CN" altLang="en-US" dirty="0"/>
                  <a:t>的某个</a:t>
                </a:r>
                <a14:m>
                  <m:oMath xmlns:m="http://schemas.openxmlformats.org/officeDocument/2006/math">
                    <m:r>
                      <a:rPr lang="en-US" altLang="zh-CN">
                        <a:latin typeface="Cambria Math" panose="02040503050406030204" pitchFamily="18" charset="0"/>
                      </a:rPr>
                      <m:t>𝑖</m:t>
                    </m:r>
                  </m:oMath>
                </a14:m>
                <a:r>
                  <a:rPr lang="zh-CN" altLang="en-US" dirty="0"/>
                  <a:t>和</a:t>
                </a:r>
                <a14:m>
                  <m:oMath xmlns:m="http://schemas.openxmlformats.org/officeDocument/2006/math">
                    <m:r>
                      <a:rPr lang="en-US" altLang="zh-CN">
                        <a:latin typeface="Cambria Math" panose="02040503050406030204" pitchFamily="18" charset="0"/>
                      </a:rPr>
                      <m:t>𝑗</m:t>
                    </m:r>
                  </m:oMath>
                </a14:m>
                <a:r>
                  <a:rPr lang="zh-CN" altLang="en-US" dirty="0"/>
                  <a:t>来说</a:t>
                </a:r>
                <a:r>
                  <a:rPr lang="en-US" altLang="zh-CN" dirty="0"/>
                  <a:t>, </a:t>
                </a:r>
                <a:r>
                  <a:rPr lang="zh-CN" altLang="en-US" dirty="0"/>
                  <a:t>有</a:t>
                </a:r>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panose="02040503050406030204" pitchFamily="18" charset="0"/>
                          </a:rPr>
                          <m:t>𝑥</m:t>
                        </m:r>
                      </m:e>
                      <m:sub>
                        <m:r>
                          <a:rPr lang="en-US" altLang="zh-CN">
                            <a:latin typeface="Cambria Math" panose="02040503050406030204" pitchFamily="18" charset="0"/>
                          </a:rPr>
                          <m:t>𝑖</m:t>
                        </m:r>
                      </m:sub>
                    </m:sSub>
                  </m:oMath>
                </a14:m>
                <a:r>
                  <a:rPr lang="en-US" altLang="zh-CN" dirty="0"/>
                  <a:t>=</a:t>
                </a:r>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panose="02040503050406030204" pitchFamily="18" charset="0"/>
                          </a:rPr>
                          <m:t>𝑥</m:t>
                        </m:r>
                      </m:e>
                      <m:sub>
                        <m:r>
                          <a:rPr lang="en-US" altLang="zh-CN">
                            <a:latin typeface="Cambria Math" panose="02040503050406030204" pitchFamily="18" charset="0"/>
                          </a:rPr>
                          <m:t>𝑗</m:t>
                        </m:r>
                      </m:sub>
                    </m:sSub>
                  </m:oMath>
                </a14:m>
                <a:r>
                  <a:rPr lang="en-US" altLang="zh-CN" dirty="0"/>
                  <a:t>. </a:t>
                </a:r>
                <a:r>
                  <a:rPr lang="zh-CN" altLang="en-US" dirty="0"/>
                  <a:t>这意味着通过删除顶点序列</a:t>
                </a:r>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panose="02040503050406030204" pitchFamily="18" charset="0"/>
                          </a:rPr>
                          <m:t>𝑥</m:t>
                        </m:r>
                      </m:e>
                      <m:sub>
                        <m:r>
                          <a:rPr lang="en-US" altLang="zh-CN">
                            <a:latin typeface="Cambria Math" panose="02040503050406030204" pitchFamily="18" charset="0"/>
                          </a:rPr>
                          <m:t>𝑖</m:t>
                        </m:r>
                      </m:sub>
                    </m:sSub>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panose="02040503050406030204" pitchFamily="18" charset="0"/>
                          </a:rPr>
                          <m:t>𝑥</m:t>
                        </m:r>
                      </m:e>
                      <m:sub>
                        <m:r>
                          <a:rPr lang="en-US" altLang="zh-CN">
                            <a:latin typeface="Cambria Math" panose="02040503050406030204" pitchFamily="18" charset="0"/>
                          </a:rPr>
                          <m:t>𝑖</m:t>
                        </m:r>
                        <m:r>
                          <a:rPr lang="en-US" altLang="zh-CN">
                            <a:latin typeface="Cambria Math" panose="02040503050406030204" pitchFamily="18" charset="0"/>
                          </a:rPr>
                          <m:t>+1,</m:t>
                        </m:r>
                      </m:sub>
                    </m:sSub>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panose="02040503050406030204" pitchFamily="18" charset="0"/>
                          </a:rPr>
                          <m:t>𝑥</m:t>
                        </m:r>
                      </m:e>
                      <m:sub>
                        <m:r>
                          <a:rPr lang="en-US" altLang="zh-CN">
                            <a:latin typeface="Cambria Math" panose="02040503050406030204" pitchFamily="18" charset="0"/>
                          </a:rPr>
                          <m:t>𝑗</m:t>
                        </m:r>
                        <m:r>
                          <a:rPr lang="en-US" altLang="zh-CN">
                            <a:latin typeface="Cambria Math" panose="02040503050406030204" pitchFamily="18" charset="0"/>
                          </a:rPr>
                          <m:t>−1</m:t>
                        </m:r>
                      </m:sub>
                    </m:sSub>
                  </m:oMath>
                </a14:m>
                <a:r>
                  <a:rPr lang="zh-CN" altLang="en-US" dirty="0"/>
                  <a:t>所对应的边</a:t>
                </a:r>
                <a:r>
                  <a:rPr lang="en-US" altLang="zh-CN" dirty="0"/>
                  <a:t>, </a:t>
                </a:r>
                <a:r>
                  <a:rPr lang="zh-CN" altLang="en-US" dirty="0"/>
                  <a:t>就得到带有顶点序列</a:t>
                </a:r>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panose="02040503050406030204" pitchFamily="18" charset="0"/>
                          </a:rPr>
                          <m:t>𝑥</m:t>
                        </m:r>
                      </m:e>
                      <m:sub>
                        <m:r>
                          <a:rPr lang="en-US" altLang="zh-CN">
                            <a:latin typeface="Cambria Math" panose="02040503050406030204" pitchFamily="18" charset="0"/>
                          </a:rPr>
                          <m:t>0</m:t>
                        </m:r>
                      </m:sub>
                    </m:sSub>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panose="02040503050406030204" pitchFamily="18" charset="0"/>
                          </a:rPr>
                          <m:t>𝑥</m:t>
                        </m:r>
                      </m:e>
                      <m:sub>
                        <m:r>
                          <a:rPr lang="en-US" altLang="zh-CN">
                            <a:latin typeface="Cambria Math" panose="02040503050406030204" pitchFamily="18" charset="0"/>
                          </a:rPr>
                          <m:t>1</m:t>
                        </m:r>
                      </m:sub>
                    </m:sSub>
                  </m:oMath>
                </a14:m>
                <a:r>
                  <a:rPr lang="en-US" altLang="zh-CN" dirty="0"/>
                  <a:t>, …, </a:t>
                </a:r>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panose="02040503050406030204" pitchFamily="18" charset="0"/>
                          </a:rPr>
                          <m:t>𝑥</m:t>
                        </m:r>
                      </m:e>
                      <m:sub>
                        <m:r>
                          <a:rPr lang="en-US" altLang="zh-CN">
                            <a:latin typeface="Cambria Math" panose="02040503050406030204" pitchFamily="18" charset="0"/>
                          </a:rPr>
                          <m:t>𝑖</m:t>
                        </m:r>
                        <m:r>
                          <a:rPr lang="en-US" altLang="zh-CN">
                            <a:latin typeface="Cambria Math" panose="02040503050406030204" pitchFamily="18" charset="0"/>
                          </a:rPr>
                          <m:t>−1,</m:t>
                        </m:r>
                      </m:sub>
                    </m:sSub>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panose="02040503050406030204" pitchFamily="18" charset="0"/>
                          </a:rPr>
                          <m:t>𝑥</m:t>
                        </m:r>
                      </m:e>
                      <m:sub>
                        <m:r>
                          <a:rPr lang="en-US" altLang="zh-CN">
                            <a:latin typeface="Cambria Math" panose="02040503050406030204" pitchFamily="18" charset="0"/>
                          </a:rPr>
                          <m:t>𝑗</m:t>
                        </m:r>
                      </m:sub>
                    </m:sSub>
                  </m:oMath>
                </a14:m>
                <a:r>
                  <a:rPr lang="en-US" altLang="zh-CN" dirty="0"/>
                  <a:t>, …, </a:t>
                </a:r>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panose="02040503050406030204" pitchFamily="18" charset="0"/>
                          </a:rPr>
                          <m:t>𝑥</m:t>
                        </m:r>
                      </m:e>
                      <m:sub>
                        <m:r>
                          <a:rPr lang="en-US" altLang="zh-CN">
                            <a:latin typeface="Cambria Math" panose="02040503050406030204" pitchFamily="18" charset="0"/>
                          </a:rPr>
                          <m:t>𝑛</m:t>
                        </m:r>
                      </m:sub>
                    </m:sSub>
                  </m:oMath>
                </a14:m>
                <a:r>
                  <a:rPr lang="zh-CN" altLang="en-US" dirty="0"/>
                  <a:t>的从</a:t>
                </a:r>
                <a:r>
                  <a:rPr lang="en-US" altLang="zh-CN" dirty="0"/>
                  <a:t>u</a:t>
                </a:r>
                <a:r>
                  <a:rPr lang="zh-CN" altLang="en-US" dirty="0"/>
                  <a:t>到</a:t>
                </a:r>
                <a:r>
                  <a:rPr lang="en-US" altLang="zh-CN" dirty="0"/>
                  <a:t>v</a:t>
                </a:r>
                <a:r>
                  <a:rPr lang="zh-CN" altLang="en-US" dirty="0"/>
                  <a:t>的更短通路</a:t>
                </a:r>
                <a:r>
                  <a:rPr lang="en-US" altLang="zh-CN" dirty="0" smtClean="0"/>
                  <a:t>.</a:t>
                </a:r>
              </a:p>
              <a:p>
                <a:pPr lvl="1"/>
                <a:r>
                  <a:rPr lang="zh-CN" altLang="en-US" dirty="0" smtClean="0"/>
                  <a:t>从而得证</a:t>
                </a:r>
                <a:r>
                  <a:rPr lang="en-US" altLang="zh-CN" dirty="0" smtClean="0"/>
                  <a:t>, </a:t>
                </a:r>
                <a:r>
                  <a:rPr lang="zh-CN" altLang="en-US" dirty="0" smtClean="0"/>
                  <a:t>在</a:t>
                </a:r>
                <a:r>
                  <a:rPr lang="zh-CN" altLang="en-US" dirty="0"/>
                  <a:t>连通无向图的每一对不同顶点之间都存在简单通路</a:t>
                </a:r>
                <a:r>
                  <a:rPr lang="en-US" altLang="zh-CN" dirty="0" smtClean="0"/>
                  <a:t>.</a:t>
                </a:r>
                <a:endParaRPr lang="en-US" altLang="zh-C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310" r="-111"/>
                </a:stretch>
              </a:blipFill>
            </p:spPr>
            <p:txBody>
              <a:bodyPr/>
              <a:lstStyle/>
              <a:p>
                <a:r>
                  <a:rPr lang="zh-CN" altLang="en-US">
                    <a:noFill/>
                  </a:rPr>
                  <a:t> </a:t>
                </a:r>
              </a:p>
            </p:txBody>
          </p:sp>
        </mc:Fallback>
      </mc:AlternateContent>
      <p:sp>
        <p:nvSpPr>
          <p:cNvPr id="7" name="日期占位符 6"/>
          <p:cNvSpPr>
            <a:spLocks noGrp="1"/>
          </p:cNvSpPr>
          <p:nvPr>
            <p:ph type="dt" sz="half" idx="10"/>
          </p:nvPr>
        </p:nvSpPr>
        <p:spPr/>
        <p:txBody>
          <a:bodyPr/>
          <a:lstStyle/>
          <a:p>
            <a:fld id="{13BC0863-1B78-4F87-8101-906E3AD4233E}"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114</a:t>
            </a:fld>
            <a:endParaRPr lang="zh-CN" altLang="en-US" dirty="0"/>
          </a:p>
        </p:txBody>
      </p:sp>
    </p:spTree>
    <p:extLst>
      <p:ext uri="{BB962C8B-B14F-4D97-AF65-F5344CB8AC3E}">
        <p14:creationId xmlns:p14="http://schemas.microsoft.com/office/powerpoint/2010/main" val="1590815000"/>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57200" y="1143000"/>
            <a:ext cx="11277599" cy="17526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无向图的连通性</a:t>
            </a:r>
            <a:endParaRPr lang="en-US" dirty="0"/>
          </a:p>
        </p:txBody>
      </p:sp>
      <p:sp>
        <p:nvSpPr>
          <p:cNvPr id="3" name="Content Placeholder 2"/>
          <p:cNvSpPr>
            <a:spLocks noGrp="1"/>
          </p:cNvSpPr>
          <p:nvPr>
            <p:ph idx="1"/>
          </p:nvPr>
        </p:nvSpPr>
        <p:spPr/>
        <p:txBody>
          <a:bodyPr>
            <a:normAutofit/>
          </a:bodyPr>
          <a:lstStyle/>
          <a:p>
            <a:r>
              <a:rPr lang="zh-CN" altLang="en-US" dirty="0" smtClean="0"/>
              <a:t>定义</a:t>
            </a:r>
            <a:r>
              <a:rPr lang="en-US" dirty="0" smtClean="0"/>
              <a:t>: </a:t>
            </a:r>
            <a:r>
              <a:rPr lang="zh-CN" altLang="en-US" dirty="0" smtClean="0"/>
              <a:t>图</a:t>
            </a:r>
            <a:r>
              <a:rPr lang="en-US" altLang="zh-CN" dirty="0" smtClean="0"/>
              <a:t>G</a:t>
            </a:r>
            <a:r>
              <a:rPr lang="zh-CN" altLang="en-US" dirty="0" smtClean="0"/>
              <a:t>的</a:t>
            </a:r>
            <a:r>
              <a:rPr lang="zh-CN" altLang="en-US" b="1" dirty="0" smtClean="0">
                <a:solidFill>
                  <a:srgbClr val="C00000"/>
                </a:solidFill>
              </a:rPr>
              <a:t>连通分支</a:t>
            </a:r>
            <a:r>
              <a:rPr lang="en-US" altLang="zh-CN" dirty="0" smtClean="0"/>
              <a:t>(</a:t>
            </a:r>
            <a:r>
              <a:rPr lang="zh-CN" altLang="en-US" dirty="0" smtClean="0"/>
              <a:t>又名分图</a:t>
            </a:r>
            <a:r>
              <a:rPr lang="en-US" altLang="zh-CN" dirty="0" smtClean="0"/>
              <a:t>)</a:t>
            </a:r>
            <a:r>
              <a:rPr lang="zh-CN" altLang="en-US" dirty="0" smtClean="0"/>
              <a:t>是</a:t>
            </a:r>
            <a:r>
              <a:rPr lang="en-US" altLang="zh-CN" dirty="0" smtClean="0"/>
              <a:t>G</a:t>
            </a:r>
            <a:r>
              <a:rPr lang="zh-CN" altLang="en-US" dirty="0" smtClean="0"/>
              <a:t>的连通子图</a:t>
            </a:r>
            <a:r>
              <a:rPr lang="en-US" altLang="zh-CN" dirty="0" smtClean="0"/>
              <a:t>, </a:t>
            </a:r>
            <a:r>
              <a:rPr lang="zh-CN" altLang="en-US" dirty="0" smtClean="0"/>
              <a:t>且该子图不是图</a:t>
            </a:r>
            <a:r>
              <a:rPr lang="en-US" altLang="zh-CN" dirty="0" smtClean="0"/>
              <a:t>G</a:t>
            </a:r>
            <a:r>
              <a:rPr lang="zh-CN" altLang="en-US" dirty="0" smtClean="0"/>
              <a:t>的另一个连通子图的真子图</a:t>
            </a:r>
            <a:r>
              <a:rPr lang="en-US" altLang="zh-CN" dirty="0" smtClean="0"/>
              <a:t>. </a:t>
            </a:r>
            <a:r>
              <a:rPr lang="zh-CN" altLang="en-US" dirty="0" smtClean="0"/>
              <a:t>即图</a:t>
            </a:r>
            <a:r>
              <a:rPr lang="en-US" altLang="zh-CN" dirty="0" smtClean="0"/>
              <a:t>G</a:t>
            </a:r>
            <a:r>
              <a:rPr lang="zh-CN" altLang="en-US" dirty="0" smtClean="0"/>
              <a:t>的连通分支是</a:t>
            </a:r>
            <a:r>
              <a:rPr lang="en-US" altLang="zh-CN" dirty="0" smtClean="0"/>
              <a:t>G</a:t>
            </a:r>
            <a:r>
              <a:rPr lang="zh-CN" altLang="en-US" dirty="0" smtClean="0"/>
              <a:t>的一个极大连通子图</a:t>
            </a:r>
            <a:r>
              <a:rPr lang="en-US" altLang="zh-CN" dirty="0" smtClean="0"/>
              <a:t>. </a:t>
            </a:r>
            <a:r>
              <a:rPr lang="zh-CN" altLang="en-US" dirty="0" smtClean="0"/>
              <a:t>如果图</a:t>
            </a:r>
            <a:r>
              <a:rPr lang="en-US" altLang="zh-CN" dirty="0" smtClean="0"/>
              <a:t>G</a:t>
            </a:r>
            <a:r>
              <a:rPr lang="zh-CN" altLang="en-US" dirty="0" smtClean="0"/>
              <a:t>是不连通的</a:t>
            </a:r>
            <a:r>
              <a:rPr lang="en-US" altLang="zh-CN" dirty="0" smtClean="0"/>
              <a:t>, </a:t>
            </a:r>
            <a:r>
              <a:rPr lang="zh-CN" altLang="en-US" dirty="0" smtClean="0"/>
              <a:t>它具有</a:t>
            </a:r>
            <a:r>
              <a:rPr lang="en-US" altLang="zh-CN" dirty="0" smtClean="0"/>
              <a:t>2</a:t>
            </a:r>
            <a:r>
              <a:rPr lang="zh-CN" altLang="en-US" dirty="0" smtClean="0"/>
              <a:t>个或</a:t>
            </a:r>
            <a:r>
              <a:rPr lang="en-US" altLang="zh-CN" dirty="0" smtClean="0"/>
              <a:t>2</a:t>
            </a:r>
            <a:r>
              <a:rPr lang="zh-CN" altLang="en-US" dirty="0" smtClean="0"/>
              <a:t>个以上不相交的连通子图</a:t>
            </a:r>
            <a:r>
              <a:rPr lang="en-US" altLang="zh-CN" dirty="0" smtClean="0"/>
              <a:t>, </a:t>
            </a:r>
            <a:r>
              <a:rPr lang="zh-CN" altLang="en-US" dirty="0" smtClean="0"/>
              <a:t>并且</a:t>
            </a:r>
            <a:r>
              <a:rPr lang="en-US" altLang="zh-CN" dirty="0" smtClean="0"/>
              <a:t>G</a:t>
            </a:r>
            <a:r>
              <a:rPr lang="zh-CN" altLang="en-US" dirty="0" smtClean="0"/>
              <a:t>是这些连通子图的并</a:t>
            </a:r>
            <a:r>
              <a:rPr lang="en-US" dirty="0" smtClean="0"/>
              <a:t>. </a:t>
            </a:r>
          </a:p>
          <a:p>
            <a:r>
              <a:rPr lang="zh-CN" altLang="en-US" dirty="0" smtClean="0"/>
              <a:t>例</a:t>
            </a:r>
            <a:r>
              <a:rPr lang="en-US" dirty="0" smtClean="0"/>
              <a:t>: </a:t>
            </a:r>
            <a:r>
              <a:rPr lang="zh-CN" altLang="en-US" dirty="0" smtClean="0"/>
              <a:t>图</a:t>
            </a:r>
            <a:r>
              <a:rPr lang="en-US" altLang="zh-CN" dirty="0" smtClean="0"/>
              <a:t>H</a:t>
            </a:r>
            <a:r>
              <a:rPr lang="zh-CN" altLang="en-US" dirty="0" smtClean="0"/>
              <a:t>的连通分支是什么？</a:t>
            </a:r>
            <a:endParaRPr lang="en-US" altLang="zh-CN" dirty="0" smtClean="0"/>
          </a:p>
          <a:p>
            <a:endParaRPr lang="en-US" altLang="zh-CN" dirty="0"/>
          </a:p>
          <a:p>
            <a:endParaRPr lang="en-US" altLang="zh-CN" dirty="0" smtClean="0"/>
          </a:p>
          <a:p>
            <a:pPr marL="0" indent="0">
              <a:buNone/>
            </a:pPr>
            <a:endParaRPr lang="en-US" altLang="zh-CN" dirty="0"/>
          </a:p>
          <a:p>
            <a:r>
              <a:rPr lang="zh-CN" altLang="en-US" dirty="0" smtClean="0"/>
              <a:t>解</a:t>
            </a:r>
            <a:r>
              <a:rPr lang="en-US" altLang="zh-CN" dirty="0" smtClean="0"/>
              <a:t>: </a:t>
            </a:r>
            <a:r>
              <a:rPr lang="zh-CN" altLang="en-US" dirty="0" smtClean="0"/>
              <a:t>图</a:t>
            </a:r>
            <a:r>
              <a:rPr lang="en-US" altLang="zh-CN" dirty="0" smtClean="0"/>
              <a:t>H</a:t>
            </a:r>
            <a:r>
              <a:rPr lang="zh-CN" altLang="en-US" dirty="0" smtClean="0"/>
              <a:t>是</a:t>
            </a:r>
            <a:r>
              <a:rPr lang="en-US" altLang="zh-CN" dirty="0" smtClean="0"/>
              <a:t>3</a:t>
            </a:r>
            <a:r>
              <a:rPr lang="zh-CN" altLang="en-US" dirty="0" smtClean="0"/>
              <a:t>个不相交的连通子图</a:t>
            </a:r>
            <a:r>
              <a:rPr lang="en-US" altLang="zh-CN" dirty="0" smtClean="0"/>
              <a:t>H1, H2, H3</a:t>
            </a:r>
            <a:r>
              <a:rPr lang="zh-CN" altLang="en-US" dirty="0" smtClean="0"/>
              <a:t>的并</a:t>
            </a:r>
            <a:r>
              <a:rPr lang="en-US" altLang="zh-CN" dirty="0" smtClean="0"/>
              <a:t>, </a:t>
            </a:r>
            <a:r>
              <a:rPr lang="zh-CN" altLang="en-US" dirty="0" smtClean="0"/>
              <a:t>所以这</a:t>
            </a:r>
            <a:r>
              <a:rPr lang="en-US" altLang="zh-CN" dirty="0" smtClean="0"/>
              <a:t>3</a:t>
            </a:r>
            <a:r>
              <a:rPr lang="zh-CN" altLang="en-US" dirty="0" smtClean="0"/>
              <a:t>个子图是</a:t>
            </a:r>
            <a:r>
              <a:rPr lang="en-US" altLang="zh-CN" dirty="0" smtClean="0"/>
              <a:t>H</a:t>
            </a:r>
            <a:r>
              <a:rPr lang="zh-CN" altLang="en-US" dirty="0" smtClean="0"/>
              <a:t>的连通分支</a:t>
            </a:r>
            <a:r>
              <a:rPr lang="en-US" dirty="0" smtClean="0"/>
              <a:t>. </a:t>
            </a:r>
          </a:p>
        </p:txBody>
      </p:sp>
      <p:sp>
        <p:nvSpPr>
          <p:cNvPr id="7" name="日期占位符 6"/>
          <p:cNvSpPr>
            <a:spLocks noGrp="1"/>
          </p:cNvSpPr>
          <p:nvPr>
            <p:ph type="dt" sz="half" idx="10"/>
          </p:nvPr>
        </p:nvSpPr>
        <p:spPr/>
        <p:txBody>
          <a:bodyPr/>
          <a:lstStyle/>
          <a:p>
            <a:fld id="{9B425908-7EC6-47EC-B2DC-4D46AF52161D}"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115</a:t>
            </a:fld>
            <a:endParaRPr lang="zh-CN" altLang="en-US" dirty="0"/>
          </a:p>
        </p:txBody>
      </p:sp>
      <p:pic>
        <p:nvPicPr>
          <p:cNvPr id="6" name="图片 5"/>
          <p:cNvPicPr>
            <a:picLocks noChangeAspect="1"/>
          </p:cNvPicPr>
          <p:nvPr/>
        </p:nvPicPr>
        <p:blipFill>
          <a:blip r:embed="rId2"/>
          <a:stretch>
            <a:fillRect/>
          </a:stretch>
        </p:blipFill>
        <p:spPr>
          <a:xfrm>
            <a:off x="5715000" y="3159061"/>
            <a:ext cx="2906362" cy="2133600"/>
          </a:xfrm>
          <a:prstGeom prst="rect">
            <a:avLst/>
          </a:prstGeom>
        </p:spPr>
      </p:pic>
      <p:pic>
        <p:nvPicPr>
          <p:cNvPr id="11" name="图片 10"/>
          <p:cNvPicPr>
            <a:picLocks noChangeAspect="1"/>
          </p:cNvPicPr>
          <p:nvPr/>
        </p:nvPicPr>
        <p:blipFill>
          <a:blip r:embed="rId3"/>
          <a:stretch>
            <a:fillRect/>
          </a:stretch>
        </p:blipFill>
        <p:spPr>
          <a:xfrm>
            <a:off x="5486400" y="2743200"/>
            <a:ext cx="3298151" cy="2549461"/>
          </a:xfrm>
          <a:prstGeom prst="rect">
            <a:avLst/>
          </a:prstGeom>
        </p:spPr>
      </p:pic>
    </p:spTree>
    <p:extLst>
      <p:ext uri="{BB962C8B-B14F-4D97-AF65-F5344CB8AC3E}">
        <p14:creationId xmlns:p14="http://schemas.microsoft.com/office/powerpoint/2010/main" val="1752110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wipe(down)">
                                      <p:cBhvr>
                                        <p:cTn id="7" dur="500"/>
                                        <p:tgtEl>
                                          <p:spTgt spid="3">
                                            <p:txEl>
                                              <p:pRg st="5" end="5"/>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down)">
                                      <p:cBhvr>
                                        <p:cTn id="1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520701" y="2695359"/>
            <a:ext cx="11277599" cy="886041"/>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457200" y="1143000"/>
            <a:ext cx="11277599" cy="9144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smtClean="0"/>
              <a:t>图是如何连通的</a:t>
            </a:r>
            <a:endParaRPr lang="en-US" dirty="0">
              <a:solidFill>
                <a:srgbClr val="C00000"/>
              </a:solidFill>
            </a:endParaRPr>
          </a:p>
        </p:txBody>
      </p:sp>
      <p:sp>
        <p:nvSpPr>
          <p:cNvPr id="3" name="Content Placeholder 2"/>
          <p:cNvSpPr>
            <a:spLocks noGrp="1"/>
          </p:cNvSpPr>
          <p:nvPr>
            <p:ph idx="1"/>
          </p:nvPr>
        </p:nvSpPr>
        <p:spPr/>
        <p:txBody>
          <a:bodyPr>
            <a:normAutofit/>
          </a:bodyPr>
          <a:lstStyle/>
          <a:p>
            <a:r>
              <a:rPr lang="zh-CN" altLang="en-US" dirty="0" smtClean="0"/>
              <a:t>有时</a:t>
            </a:r>
            <a:r>
              <a:rPr lang="zh-CN" altLang="en-US" b="1" dirty="0" smtClean="0"/>
              <a:t>删除</a:t>
            </a:r>
            <a:r>
              <a:rPr lang="zh-CN" altLang="en-US" dirty="0" smtClean="0"/>
              <a:t>图中的</a:t>
            </a:r>
            <a:r>
              <a:rPr lang="zh-CN" altLang="en-US" b="1" dirty="0" smtClean="0"/>
              <a:t>一个顶点</a:t>
            </a:r>
            <a:r>
              <a:rPr lang="zh-CN" altLang="en-US" dirty="0" smtClean="0"/>
              <a:t>和</a:t>
            </a:r>
            <a:r>
              <a:rPr lang="zh-CN" altLang="en-US" b="1" dirty="0" smtClean="0"/>
              <a:t>它关联的边</a:t>
            </a:r>
            <a:r>
              <a:rPr lang="en-US" altLang="zh-CN" dirty="0" smtClean="0"/>
              <a:t>, </a:t>
            </a:r>
            <a:r>
              <a:rPr lang="zh-CN" altLang="en-US" dirty="0" smtClean="0"/>
              <a:t>就产生了比原图更多的连通分支的子图</a:t>
            </a:r>
            <a:r>
              <a:rPr lang="en-US" altLang="zh-CN" dirty="0" smtClean="0"/>
              <a:t>. </a:t>
            </a:r>
            <a:r>
              <a:rPr lang="zh-CN" altLang="en-US" dirty="0" smtClean="0"/>
              <a:t>这样的顶点叫做</a:t>
            </a:r>
            <a:r>
              <a:rPr lang="zh-CN" altLang="en-US" b="1" dirty="0" smtClean="0">
                <a:solidFill>
                  <a:srgbClr val="C00000"/>
                </a:solidFill>
              </a:rPr>
              <a:t>割点</a:t>
            </a:r>
            <a:r>
              <a:rPr lang="en-US" altLang="zh-CN" dirty="0" smtClean="0"/>
              <a:t>(</a:t>
            </a:r>
            <a:r>
              <a:rPr lang="zh-CN" altLang="en-US" dirty="0" smtClean="0"/>
              <a:t>或</a:t>
            </a:r>
            <a:r>
              <a:rPr lang="zh-CN" altLang="en-US" b="1" dirty="0" smtClean="0"/>
              <a:t>关节点</a:t>
            </a:r>
            <a:r>
              <a:rPr lang="en-US" altLang="zh-CN" dirty="0" smtClean="0"/>
              <a:t>).</a:t>
            </a:r>
          </a:p>
          <a:p>
            <a:r>
              <a:rPr lang="zh-CN" altLang="en-US" dirty="0" smtClean="0"/>
              <a:t>从连通图中删除割点</a:t>
            </a:r>
            <a:r>
              <a:rPr lang="en-US" altLang="zh-CN" dirty="0" smtClean="0"/>
              <a:t>, </a:t>
            </a:r>
            <a:r>
              <a:rPr lang="zh-CN" altLang="en-US" dirty="0" smtClean="0"/>
              <a:t>就产生不连通的子图</a:t>
            </a:r>
            <a:r>
              <a:rPr lang="en-US" altLang="zh-CN" dirty="0" smtClean="0"/>
              <a:t>.</a:t>
            </a:r>
          </a:p>
          <a:p>
            <a:r>
              <a:rPr lang="zh-CN" altLang="en-US" dirty="0" smtClean="0"/>
              <a:t>类似地</a:t>
            </a:r>
            <a:r>
              <a:rPr lang="en-US" altLang="zh-CN" dirty="0" smtClean="0"/>
              <a:t>, </a:t>
            </a:r>
            <a:r>
              <a:rPr lang="zh-CN" altLang="en-US" dirty="0" smtClean="0"/>
              <a:t>如果</a:t>
            </a:r>
            <a:r>
              <a:rPr lang="zh-CN" altLang="en-US" b="1" dirty="0" smtClean="0"/>
              <a:t>删除图中的一条边</a:t>
            </a:r>
            <a:r>
              <a:rPr lang="en-US" altLang="zh-CN" dirty="0" smtClean="0"/>
              <a:t>, </a:t>
            </a:r>
            <a:r>
              <a:rPr lang="zh-CN" altLang="en-US" dirty="0" smtClean="0"/>
              <a:t>就产生比原图更多的连通分支的子图</a:t>
            </a:r>
            <a:r>
              <a:rPr lang="en-US" altLang="zh-CN" dirty="0" smtClean="0"/>
              <a:t>. </a:t>
            </a:r>
            <a:r>
              <a:rPr lang="zh-CN" altLang="en-US" dirty="0" smtClean="0"/>
              <a:t>这样的边称为</a:t>
            </a:r>
            <a:r>
              <a:rPr lang="zh-CN" altLang="en-US" b="1" dirty="0" smtClean="0">
                <a:solidFill>
                  <a:srgbClr val="C00000"/>
                </a:solidFill>
              </a:rPr>
              <a:t>割边</a:t>
            </a:r>
            <a:r>
              <a:rPr lang="zh-CN" altLang="en-US" dirty="0" smtClean="0"/>
              <a:t>或桥</a:t>
            </a:r>
            <a:r>
              <a:rPr lang="en-US" altLang="zh-CN" dirty="0" smtClean="0"/>
              <a:t>.</a:t>
            </a:r>
          </a:p>
          <a:p>
            <a:r>
              <a:rPr lang="zh-CN" altLang="en-US" dirty="0" smtClean="0"/>
              <a:t>在计算机中割点和割边表示最重要的路由器和最重要的链路</a:t>
            </a:r>
            <a:r>
              <a:rPr lang="en-US" altLang="zh-CN" dirty="0" smtClean="0"/>
              <a:t>. </a:t>
            </a:r>
            <a:r>
              <a:rPr lang="zh-CN" altLang="en-US" dirty="0" smtClean="0"/>
              <a:t>为了是所有的计算机可以通信</a:t>
            </a:r>
            <a:r>
              <a:rPr lang="en-US" altLang="zh-CN" dirty="0" smtClean="0"/>
              <a:t>, </a:t>
            </a:r>
            <a:r>
              <a:rPr lang="zh-CN" altLang="en-US" dirty="0" smtClean="0"/>
              <a:t>他们不能发生故障</a:t>
            </a:r>
            <a:r>
              <a:rPr lang="en-US" altLang="zh-CN" dirty="0" smtClean="0"/>
              <a:t>.</a:t>
            </a:r>
            <a:endParaRPr lang="en-US" dirty="0" smtClean="0"/>
          </a:p>
        </p:txBody>
      </p:sp>
      <p:sp>
        <p:nvSpPr>
          <p:cNvPr id="7" name="日期占位符 6"/>
          <p:cNvSpPr>
            <a:spLocks noGrp="1"/>
          </p:cNvSpPr>
          <p:nvPr>
            <p:ph type="dt" sz="half" idx="10"/>
          </p:nvPr>
        </p:nvSpPr>
        <p:spPr/>
        <p:txBody>
          <a:bodyPr/>
          <a:lstStyle/>
          <a:p>
            <a:fld id="{50560079-DFE9-415A-AC34-63535EBD75C2}"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116</a:t>
            </a:fld>
            <a:endParaRPr lang="zh-CN" altLang="en-US" dirty="0"/>
          </a:p>
        </p:txBody>
      </p:sp>
    </p:spTree>
    <p:extLst>
      <p:ext uri="{BB962C8B-B14F-4D97-AF65-F5344CB8AC3E}">
        <p14:creationId xmlns:p14="http://schemas.microsoft.com/office/powerpoint/2010/main" val="179589858"/>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图是如何连通的</a:t>
            </a:r>
            <a:endParaRPr lang="en-US" dirty="0">
              <a:solidFill>
                <a:srgbClr val="C00000"/>
              </a:solidFill>
            </a:endParaRPr>
          </a:p>
        </p:txBody>
      </p:sp>
      <p:sp>
        <p:nvSpPr>
          <p:cNvPr id="3" name="Content Placeholder 2"/>
          <p:cNvSpPr>
            <a:spLocks noGrp="1"/>
          </p:cNvSpPr>
          <p:nvPr>
            <p:ph idx="1"/>
          </p:nvPr>
        </p:nvSpPr>
        <p:spPr/>
        <p:txBody>
          <a:bodyPr>
            <a:normAutofit/>
          </a:bodyPr>
          <a:lstStyle/>
          <a:p>
            <a:r>
              <a:rPr lang="zh-CN" altLang="en-US" dirty="0" smtClean="0"/>
              <a:t>例</a:t>
            </a:r>
            <a:r>
              <a:rPr lang="en-US" altLang="zh-CN" dirty="0" smtClean="0"/>
              <a:t>: </a:t>
            </a:r>
            <a:r>
              <a:rPr lang="zh-CN" altLang="en-US" dirty="0" smtClean="0"/>
              <a:t>求下图</a:t>
            </a:r>
            <a:r>
              <a:rPr lang="en-US" altLang="zh-CN" dirty="0" smtClean="0"/>
              <a:t>G1</a:t>
            </a:r>
            <a:r>
              <a:rPr lang="zh-CN" altLang="en-US" dirty="0" smtClean="0"/>
              <a:t>的割点和割边</a:t>
            </a:r>
            <a:r>
              <a:rPr lang="en-US" altLang="zh-CN" dirty="0" smtClean="0"/>
              <a:t>.</a:t>
            </a:r>
          </a:p>
          <a:p>
            <a:endParaRPr lang="en-US" altLang="zh-CN" dirty="0"/>
          </a:p>
          <a:p>
            <a:endParaRPr lang="en-US" altLang="zh-CN" dirty="0" smtClean="0"/>
          </a:p>
          <a:p>
            <a:endParaRPr lang="en-US" altLang="zh-CN" dirty="0"/>
          </a:p>
          <a:p>
            <a:endParaRPr lang="en-US" altLang="zh-CN" dirty="0" smtClean="0"/>
          </a:p>
          <a:p>
            <a:r>
              <a:rPr lang="zh-CN" altLang="en-US" dirty="0" smtClean="0"/>
              <a:t>解</a:t>
            </a:r>
            <a:r>
              <a:rPr lang="en-US" altLang="zh-CN" dirty="0" smtClean="0"/>
              <a:t>: </a:t>
            </a:r>
          </a:p>
          <a:p>
            <a:pPr lvl="1"/>
            <a:r>
              <a:rPr lang="en-US" altLang="zh-CN" dirty="0"/>
              <a:t>G1</a:t>
            </a:r>
            <a:r>
              <a:rPr lang="zh-CN" altLang="en-US" dirty="0"/>
              <a:t>的连通分支是它本身</a:t>
            </a:r>
            <a:r>
              <a:rPr lang="en-US" altLang="zh-CN" dirty="0"/>
              <a:t>.</a:t>
            </a:r>
          </a:p>
          <a:p>
            <a:pPr lvl="1"/>
            <a:r>
              <a:rPr lang="en-US" altLang="zh-CN" dirty="0"/>
              <a:t>G1</a:t>
            </a:r>
            <a:r>
              <a:rPr lang="zh-CN" altLang="en-US" dirty="0"/>
              <a:t>的割点为</a:t>
            </a:r>
            <a:r>
              <a:rPr lang="en-US" altLang="zh-CN" dirty="0"/>
              <a:t>b, c, e</a:t>
            </a:r>
            <a:r>
              <a:rPr lang="en-US" altLang="zh-CN" dirty="0" smtClean="0"/>
              <a:t>, </a:t>
            </a:r>
            <a:r>
              <a:rPr lang="zh-CN" altLang="en-US" dirty="0" smtClean="0"/>
              <a:t>因为</a:t>
            </a:r>
            <a:r>
              <a:rPr lang="zh-CN" altLang="en-US" dirty="0"/>
              <a:t>删除它们后的图不再</a:t>
            </a:r>
            <a:r>
              <a:rPr lang="zh-CN" altLang="en-US" dirty="0" smtClean="0"/>
              <a:t>连通</a:t>
            </a:r>
            <a:r>
              <a:rPr lang="en-US" altLang="zh-CN" dirty="0" smtClean="0"/>
              <a:t>, </a:t>
            </a:r>
            <a:r>
              <a:rPr lang="zh-CN" altLang="en-US" dirty="0" smtClean="0"/>
              <a:t>那么对应的连通分支的子图就更多</a:t>
            </a:r>
            <a:r>
              <a:rPr lang="en-US" altLang="zh-CN" dirty="0" smtClean="0"/>
              <a:t>.</a:t>
            </a:r>
            <a:endParaRPr lang="en-US" altLang="zh-CN" dirty="0"/>
          </a:p>
          <a:p>
            <a:pPr lvl="1"/>
            <a:r>
              <a:rPr lang="zh-CN" altLang="en-US" dirty="0"/>
              <a:t>割边是</a:t>
            </a:r>
            <a:r>
              <a:rPr lang="en-US" altLang="zh-CN" dirty="0"/>
              <a:t>{a, b}, {c, e</a:t>
            </a:r>
            <a:r>
              <a:rPr lang="en-US" altLang="zh-CN" dirty="0" smtClean="0"/>
              <a:t>}, </a:t>
            </a:r>
            <a:r>
              <a:rPr lang="zh-CN" altLang="en-US" dirty="0" smtClean="0"/>
              <a:t>因为</a:t>
            </a:r>
            <a:r>
              <a:rPr lang="zh-CN" altLang="en-US" dirty="0"/>
              <a:t>删除它们后的图不再连通</a:t>
            </a:r>
            <a:r>
              <a:rPr lang="en-US" altLang="zh-CN" dirty="0"/>
              <a:t>.</a:t>
            </a:r>
          </a:p>
        </p:txBody>
      </p:sp>
      <p:sp>
        <p:nvSpPr>
          <p:cNvPr id="7" name="日期占位符 6"/>
          <p:cNvSpPr>
            <a:spLocks noGrp="1"/>
          </p:cNvSpPr>
          <p:nvPr>
            <p:ph type="dt" sz="half" idx="10"/>
          </p:nvPr>
        </p:nvSpPr>
        <p:spPr/>
        <p:txBody>
          <a:bodyPr/>
          <a:lstStyle/>
          <a:p>
            <a:fld id="{8EAD59FC-468A-4B73-8750-40EEBE13F491}"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117</a:t>
            </a:fld>
            <a:endParaRPr lang="zh-CN" altLang="en-US" dirty="0"/>
          </a:p>
        </p:txBody>
      </p:sp>
      <p:pic>
        <p:nvPicPr>
          <p:cNvPr id="4" name="图片 3"/>
          <p:cNvPicPr>
            <a:picLocks noChangeAspect="1"/>
          </p:cNvPicPr>
          <p:nvPr/>
        </p:nvPicPr>
        <p:blipFill>
          <a:blip r:embed="rId2"/>
          <a:stretch>
            <a:fillRect/>
          </a:stretch>
        </p:blipFill>
        <p:spPr>
          <a:xfrm>
            <a:off x="4876800" y="1524000"/>
            <a:ext cx="2590800" cy="2623376"/>
          </a:xfrm>
          <a:prstGeom prst="rect">
            <a:avLst/>
          </a:prstGeom>
        </p:spPr>
      </p:pic>
      <p:sp>
        <p:nvSpPr>
          <p:cNvPr id="10" name="矩形 9"/>
          <p:cNvSpPr/>
          <p:nvPr/>
        </p:nvSpPr>
        <p:spPr>
          <a:xfrm>
            <a:off x="5181600" y="2743200"/>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5791200" y="2761488"/>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6327648" y="2761488"/>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5181600" y="2373212"/>
            <a:ext cx="304800" cy="152400"/>
          </a:xfrm>
          <a:prstGeom prst="ellipse">
            <a:avLst/>
          </a:pr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6056376" y="2843552"/>
            <a:ext cx="304800" cy="152400"/>
          </a:xfrm>
          <a:prstGeom prst="ellipse">
            <a:avLst/>
          </a:pr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716069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wipe(down)">
                                      <p:cBhvr>
                                        <p:cTn id="7" dur="500"/>
                                        <p:tgtEl>
                                          <p:spTgt spid="3">
                                            <p:txEl>
                                              <p:pRg st="5" end="5"/>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wipe(down)">
                                      <p:cBhvr>
                                        <p:cTn id="10" dur="500"/>
                                        <p:tgtEl>
                                          <p:spTgt spid="3">
                                            <p:txEl>
                                              <p:pRg st="6" end="6"/>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animEffect transition="in" filter="wipe(down)">
                                      <p:cBhvr>
                                        <p:cTn id="13" dur="500"/>
                                        <p:tgtEl>
                                          <p:spTgt spid="3">
                                            <p:txEl>
                                              <p:pRg st="7" end="7"/>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8" end="8"/>
                                            </p:txEl>
                                          </p:spTgt>
                                        </p:tgtEl>
                                        <p:attrNameLst>
                                          <p:attrName>style.visibility</p:attrName>
                                        </p:attrNameLst>
                                      </p:cBhvr>
                                      <p:to>
                                        <p:strVal val="visible"/>
                                      </p:to>
                                    </p:set>
                                    <p:animEffect transition="in" filter="wipe(down)">
                                      <p:cBhvr>
                                        <p:cTn id="16"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图是如何连通的</a:t>
            </a:r>
            <a:endParaRPr lang="en-US" dirty="0">
              <a:solidFill>
                <a:srgbClr val="C00000"/>
              </a:solidFill>
            </a:endParaRPr>
          </a:p>
        </p:txBody>
      </p:sp>
      <p:sp>
        <p:nvSpPr>
          <p:cNvPr id="3" name="Content Placeholder 2"/>
          <p:cNvSpPr>
            <a:spLocks noGrp="1"/>
          </p:cNvSpPr>
          <p:nvPr>
            <p:ph idx="1"/>
          </p:nvPr>
        </p:nvSpPr>
        <p:spPr/>
        <p:txBody>
          <a:bodyPr>
            <a:normAutofit/>
          </a:bodyPr>
          <a:lstStyle/>
          <a:p>
            <a:r>
              <a:rPr lang="zh-CN" altLang="en-US" dirty="0" smtClean="0"/>
              <a:t>例</a:t>
            </a:r>
            <a:r>
              <a:rPr lang="en-US" altLang="zh-CN" dirty="0" smtClean="0"/>
              <a:t>: </a:t>
            </a:r>
            <a:r>
              <a:rPr lang="zh-CN" altLang="en-US" dirty="0" smtClean="0"/>
              <a:t>求下图</a:t>
            </a:r>
            <a:r>
              <a:rPr lang="en-US" altLang="zh-CN" dirty="0" smtClean="0"/>
              <a:t>G2</a:t>
            </a:r>
            <a:r>
              <a:rPr lang="zh-CN" altLang="en-US" dirty="0" smtClean="0"/>
              <a:t>的割点和割边</a:t>
            </a:r>
            <a:r>
              <a:rPr lang="en-US" altLang="zh-CN" dirty="0" smtClean="0"/>
              <a:t>.</a:t>
            </a:r>
          </a:p>
          <a:p>
            <a:endParaRPr lang="en-US" altLang="zh-CN" dirty="0"/>
          </a:p>
          <a:p>
            <a:endParaRPr lang="en-US" altLang="zh-CN" dirty="0" smtClean="0"/>
          </a:p>
          <a:p>
            <a:endParaRPr lang="en-US" altLang="zh-CN" dirty="0"/>
          </a:p>
          <a:p>
            <a:endParaRPr lang="en-US" altLang="zh-CN" dirty="0" smtClean="0"/>
          </a:p>
          <a:p>
            <a:r>
              <a:rPr lang="zh-CN" altLang="en-US" dirty="0" smtClean="0"/>
              <a:t>解</a:t>
            </a:r>
            <a:r>
              <a:rPr lang="en-US" altLang="zh-CN" dirty="0" smtClean="0"/>
              <a:t>: </a:t>
            </a:r>
          </a:p>
          <a:p>
            <a:pPr lvl="1"/>
            <a:r>
              <a:rPr lang="en-US" altLang="zh-CN" dirty="0" smtClean="0"/>
              <a:t>G2</a:t>
            </a:r>
            <a:r>
              <a:rPr lang="zh-CN" altLang="en-US" dirty="0" smtClean="0"/>
              <a:t>的</a:t>
            </a:r>
            <a:r>
              <a:rPr lang="zh-CN" altLang="en-US" dirty="0"/>
              <a:t>割点</a:t>
            </a:r>
            <a:r>
              <a:rPr lang="zh-CN" altLang="en-US" dirty="0" smtClean="0"/>
              <a:t>为</a:t>
            </a:r>
            <a:r>
              <a:rPr lang="en-US" altLang="zh-CN" dirty="0" smtClean="0"/>
              <a:t>c, </a:t>
            </a:r>
            <a:r>
              <a:rPr lang="zh-CN" altLang="en-US" dirty="0" smtClean="0"/>
              <a:t>因为</a:t>
            </a:r>
            <a:r>
              <a:rPr lang="zh-CN" altLang="en-US" dirty="0"/>
              <a:t>删除</a:t>
            </a:r>
            <a:r>
              <a:rPr lang="zh-CN" altLang="en-US" dirty="0" smtClean="0"/>
              <a:t>它后</a:t>
            </a:r>
            <a:r>
              <a:rPr lang="zh-CN" altLang="en-US" dirty="0"/>
              <a:t>的图不再</a:t>
            </a:r>
            <a:r>
              <a:rPr lang="zh-CN" altLang="en-US" dirty="0" smtClean="0"/>
              <a:t>连通</a:t>
            </a:r>
            <a:r>
              <a:rPr lang="en-US" altLang="zh-CN" dirty="0" smtClean="0"/>
              <a:t>, </a:t>
            </a:r>
            <a:r>
              <a:rPr lang="zh-CN" altLang="en-US" dirty="0" smtClean="0"/>
              <a:t>那么对应的连通分支的子图就更多</a:t>
            </a:r>
            <a:r>
              <a:rPr lang="en-US" altLang="zh-CN" dirty="0" smtClean="0"/>
              <a:t>.</a:t>
            </a:r>
            <a:endParaRPr lang="en-US" altLang="zh-CN" dirty="0"/>
          </a:p>
          <a:p>
            <a:pPr lvl="1"/>
            <a:r>
              <a:rPr lang="en-US" altLang="zh-CN" dirty="0" smtClean="0"/>
              <a:t>G2</a:t>
            </a:r>
            <a:r>
              <a:rPr lang="zh-CN" altLang="en-US" dirty="0" smtClean="0"/>
              <a:t>无割边</a:t>
            </a:r>
            <a:r>
              <a:rPr lang="en-US" altLang="zh-CN" dirty="0" smtClean="0"/>
              <a:t>.</a:t>
            </a:r>
            <a:endParaRPr lang="en-US" altLang="zh-CN" dirty="0"/>
          </a:p>
        </p:txBody>
      </p:sp>
      <p:sp>
        <p:nvSpPr>
          <p:cNvPr id="7" name="日期占位符 6"/>
          <p:cNvSpPr>
            <a:spLocks noGrp="1"/>
          </p:cNvSpPr>
          <p:nvPr>
            <p:ph type="dt" sz="half" idx="10"/>
          </p:nvPr>
        </p:nvSpPr>
        <p:spPr/>
        <p:txBody>
          <a:bodyPr/>
          <a:lstStyle/>
          <a:p>
            <a:fld id="{9749E77A-343B-4BED-A1B4-6A93C6356124}"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118</a:t>
            </a:fld>
            <a:endParaRPr lang="zh-CN" altLang="en-US" dirty="0"/>
          </a:p>
        </p:txBody>
      </p:sp>
      <p:pic>
        <p:nvPicPr>
          <p:cNvPr id="11" name="图片 10"/>
          <p:cNvPicPr>
            <a:picLocks noChangeAspect="1"/>
          </p:cNvPicPr>
          <p:nvPr/>
        </p:nvPicPr>
        <p:blipFill>
          <a:blip r:embed="rId2"/>
          <a:stretch>
            <a:fillRect/>
          </a:stretch>
        </p:blipFill>
        <p:spPr>
          <a:xfrm>
            <a:off x="5181600" y="1100946"/>
            <a:ext cx="2209800" cy="2770496"/>
          </a:xfrm>
          <a:prstGeom prst="rect">
            <a:avLst/>
          </a:prstGeom>
        </p:spPr>
      </p:pic>
      <p:sp>
        <p:nvSpPr>
          <p:cNvPr id="10" name="矩形 9"/>
          <p:cNvSpPr/>
          <p:nvPr/>
        </p:nvSpPr>
        <p:spPr>
          <a:xfrm>
            <a:off x="5936344" y="2181394"/>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629070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wipe(down)">
                                      <p:cBhvr>
                                        <p:cTn id="7" dur="500"/>
                                        <p:tgtEl>
                                          <p:spTgt spid="3">
                                            <p:txEl>
                                              <p:pRg st="5" end="5"/>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wipe(down)">
                                      <p:cBhvr>
                                        <p:cTn id="10" dur="500"/>
                                        <p:tgtEl>
                                          <p:spTgt spid="3">
                                            <p:txEl>
                                              <p:pRg st="6" end="6"/>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animEffect transition="in" filter="wipe(down)">
                                      <p:cBhvr>
                                        <p:cTn id="13"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图是如何连通的</a:t>
            </a:r>
            <a:endParaRPr lang="en-US" dirty="0">
              <a:solidFill>
                <a:srgbClr val="C00000"/>
              </a:solidFill>
            </a:endParaRPr>
          </a:p>
        </p:txBody>
      </p:sp>
      <p:sp>
        <p:nvSpPr>
          <p:cNvPr id="3" name="Content Placeholder 2"/>
          <p:cNvSpPr>
            <a:spLocks noGrp="1"/>
          </p:cNvSpPr>
          <p:nvPr>
            <p:ph idx="1"/>
          </p:nvPr>
        </p:nvSpPr>
        <p:spPr/>
        <p:txBody>
          <a:bodyPr>
            <a:normAutofit/>
          </a:bodyPr>
          <a:lstStyle/>
          <a:p>
            <a:r>
              <a:rPr lang="zh-CN" altLang="en-US" dirty="0" smtClean="0"/>
              <a:t>例</a:t>
            </a:r>
            <a:r>
              <a:rPr lang="en-US" altLang="zh-CN" dirty="0" smtClean="0"/>
              <a:t>: </a:t>
            </a:r>
            <a:r>
              <a:rPr lang="zh-CN" altLang="en-US" dirty="0" smtClean="0"/>
              <a:t>求下图</a:t>
            </a:r>
            <a:r>
              <a:rPr lang="en-US" altLang="zh-CN" dirty="0" smtClean="0"/>
              <a:t>G3</a:t>
            </a:r>
            <a:r>
              <a:rPr lang="zh-CN" altLang="en-US" dirty="0" smtClean="0"/>
              <a:t>的割点和割边</a:t>
            </a:r>
            <a:r>
              <a:rPr lang="en-US" altLang="zh-CN" dirty="0" smtClean="0"/>
              <a:t>.</a:t>
            </a:r>
          </a:p>
          <a:p>
            <a:endParaRPr lang="en-US" altLang="zh-CN" dirty="0"/>
          </a:p>
          <a:p>
            <a:endParaRPr lang="en-US" altLang="zh-CN" dirty="0" smtClean="0"/>
          </a:p>
          <a:p>
            <a:endParaRPr lang="en-US" altLang="zh-CN" dirty="0"/>
          </a:p>
          <a:p>
            <a:endParaRPr lang="en-US" altLang="zh-CN" dirty="0" smtClean="0"/>
          </a:p>
          <a:p>
            <a:r>
              <a:rPr lang="zh-CN" altLang="en-US" dirty="0" smtClean="0"/>
              <a:t>解</a:t>
            </a:r>
            <a:r>
              <a:rPr lang="en-US" altLang="zh-CN" dirty="0" smtClean="0"/>
              <a:t>: </a:t>
            </a:r>
          </a:p>
          <a:p>
            <a:pPr lvl="1"/>
            <a:r>
              <a:rPr lang="en-US" altLang="zh-CN" dirty="0" smtClean="0"/>
              <a:t>G3</a:t>
            </a:r>
            <a:r>
              <a:rPr lang="zh-CN" altLang="en-US" dirty="0" smtClean="0"/>
              <a:t>没有割点</a:t>
            </a:r>
            <a:r>
              <a:rPr lang="en-US" altLang="zh-CN" dirty="0" smtClean="0"/>
              <a:t>.</a:t>
            </a:r>
            <a:endParaRPr lang="en-US" altLang="zh-CN" dirty="0"/>
          </a:p>
          <a:p>
            <a:pPr lvl="1"/>
            <a:r>
              <a:rPr lang="en-US" altLang="zh-CN" dirty="0" smtClean="0"/>
              <a:t>G3</a:t>
            </a:r>
            <a:r>
              <a:rPr lang="zh-CN" altLang="en-US" dirty="0" smtClean="0"/>
              <a:t>无</a:t>
            </a:r>
            <a:r>
              <a:rPr lang="zh-CN" altLang="en-US" dirty="0"/>
              <a:t>割</a:t>
            </a:r>
            <a:r>
              <a:rPr lang="zh-CN" altLang="en-US" dirty="0" smtClean="0"/>
              <a:t>边</a:t>
            </a:r>
            <a:r>
              <a:rPr lang="en-US" altLang="zh-CN" dirty="0" smtClean="0"/>
              <a:t>.</a:t>
            </a:r>
            <a:endParaRPr lang="en-US" altLang="zh-CN" dirty="0"/>
          </a:p>
        </p:txBody>
      </p:sp>
      <p:sp>
        <p:nvSpPr>
          <p:cNvPr id="7" name="日期占位符 6"/>
          <p:cNvSpPr>
            <a:spLocks noGrp="1"/>
          </p:cNvSpPr>
          <p:nvPr>
            <p:ph type="dt" sz="half" idx="10"/>
          </p:nvPr>
        </p:nvSpPr>
        <p:spPr/>
        <p:txBody>
          <a:bodyPr/>
          <a:lstStyle/>
          <a:p>
            <a:fld id="{C89E495B-9B6F-4544-A6E4-76B915CCF833}"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119</a:t>
            </a:fld>
            <a:endParaRPr lang="zh-CN" altLang="en-US" dirty="0"/>
          </a:p>
        </p:txBody>
      </p:sp>
      <p:pic>
        <p:nvPicPr>
          <p:cNvPr id="10" name="图片 9"/>
          <p:cNvPicPr>
            <a:picLocks noChangeAspect="1"/>
          </p:cNvPicPr>
          <p:nvPr/>
        </p:nvPicPr>
        <p:blipFill>
          <a:blip r:embed="rId2"/>
          <a:stretch>
            <a:fillRect/>
          </a:stretch>
        </p:blipFill>
        <p:spPr>
          <a:xfrm>
            <a:off x="4648200" y="1447800"/>
            <a:ext cx="2209800" cy="2277708"/>
          </a:xfrm>
          <a:prstGeom prst="rect">
            <a:avLst/>
          </a:prstGeom>
        </p:spPr>
      </p:pic>
    </p:spTree>
    <p:extLst>
      <p:ext uri="{BB962C8B-B14F-4D97-AF65-F5344CB8AC3E}">
        <p14:creationId xmlns:p14="http://schemas.microsoft.com/office/powerpoint/2010/main" val="211480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wipe(down)">
                                      <p:cBhvr>
                                        <p:cTn id="7" dur="500"/>
                                        <p:tgtEl>
                                          <p:spTgt spid="3">
                                            <p:txEl>
                                              <p:pRg st="5" end="5"/>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wipe(down)">
                                      <p:cBhvr>
                                        <p:cTn id="10" dur="500"/>
                                        <p:tgtEl>
                                          <p:spTgt spid="3">
                                            <p:txEl>
                                              <p:pRg st="6" end="6"/>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animEffect transition="in" filter="wipe(down)">
                                      <p:cBhvr>
                                        <p:cTn id="13"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图是如何连通的</a:t>
            </a:r>
            <a:endParaRPr lang="en-US" dirty="0">
              <a:solidFill>
                <a:srgbClr val="C00000"/>
              </a:solidFill>
            </a:endParaRPr>
          </a:p>
        </p:txBody>
      </p:sp>
      <p:sp>
        <p:nvSpPr>
          <p:cNvPr id="3" name="Content Placeholder 2"/>
          <p:cNvSpPr>
            <a:spLocks noGrp="1"/>
          </p:cNvSpPr>
          <p:nvPr>
            <p:ph idx="1"/>
          </p:nvPr>
        </p:nvSpPr>
        <p:spPr/>
        <p:txBody>
          <a:bodyPr>
            <a:normAutofit/>
          </a:bodyPr>
          <a:lstStyle/>
          <a:p>
            <a:r>
              <a:rPr lang="zh-CN" altLang="en-US" dirty="0" smtClean="0"/>
              <a:t>例</a:t>
            </a:r>
            <a:r>
              <a:rPr lang="en-US" altLang="zh-CN" dirty="0" smtClean="0"/>
              <a:t>: </a:t>
            </a:r>
            <a:r>
              <a:rPr lang="zh-CN" altLang="en-US" dirty="0" smtClean="0"/>
              <a:t>求下图</a:t>
            </a:r>
            <a:r>
              <a:rPr lang="en-US" altLang="zh-CN" dirty="0" smtClean="0"/>
              <a:t>G4</a:t>
            </a:r>
            <a:r>
              <a:rPr lang="zh-CN" altLang="en-US" dirty="0" smtClean="0"/>
              <a:t>的割点和割边</a:t>
            </a:r>
            <a:r>
              <a:rPr lang="en-US" altLang="zh-CN" dirty="0" smtClean="0"/>
              <a:t>.</a:t>
            </a:r>
          </a:p>
          <a:p>
            <a:endParaRPr lang="en-US" altLang="zh-CN" dirty="0"/>
          </a:p>
          <a:p>
            <a:endParaRPr lang="en-US" altLang="zh-CN" dirty="0" smtClean="0"/>
          </a:p>
          <a:p>
            <a:endParaRPr lang="en-US" altLang="zh-CN" dirty="0"/>
          </a:p>
          <a:p>
            <a:endParaRPr lang="en-US" altLang="zh-CN" dirty="0" smtClean="0"/>
          </a:p>
          <a:p>
            <a:r>
              <a:rPr lang="zh-CN" altLang="en-US" dirty="0" smtClean="0"/>
              <a:t>解</a:t>
            </a:r>
            <a:r>
              <a:rPr lang="en-US" altLang="zh-CN" dirty="0" smtClean="0"/>
              <a:t>: </a:t>
            </a:r>
          </a:p>
          <a:p>
            <a:pPr lvl="1"/>
            <a:r>
              <a:rPr lang="en-US" altLang="zh-CN" dirty="0" smtClean="0"/>
              <a:t>G4</a:t>
            </a:r>
            <a:r>
              <a:rPr lang="zh-CN" altLang="en-US" dirty="0" smtClean="0"/>
              <a:t>没有</a:t>
            </a:r>
            <a:r>
              <a:rPr lang="zh-CN" altLang="en-US" dirty="0"/>
              <a:t>割点</a:t>
            </a:r>
            <a:r>
              <a:rPr lang="en-US" altLang="zh-CN" dirty="0"/>
              <a:t>.</a:t>
            </a:r>
          </a:p>
          <a:p>
            <a:pPr lvl="1"/>
            <a:r>
              <a:rPr lang="en-US" altLang="zh-CN" dirty="0"/>
              <a:t>G4</a:t>
            </a:r>
            <a:r>
              <a:rPr lang="zh-CN" altLang="en-US" dirty="0" smtClean="0"/>
              <a:t>没有割边</a:t>
            </a:r>
            <a:r>
              <a:rPr lang="en-US" altLang="zh-CN" dirty="0" smtClean="0"/>
              <a:t>.</a:t>
            </a:r>
            <a:endParaRPr lang="en-US" altLang="zh-CN" dirty="0"/>
          </a:p>
        </p:txBody>
      </p:sp>
      <p:sp>
        <p:nvSpPr>
          <p:cNvPr id="7" name="日期占位符 6"/>
          <p:cNvSpPr>
            <a:spLocks noGrp="1"/>
          </p:cNvSpPr>
          <p:nvPr>
            <p:ph type="dt" sz="half" idx="10"/>
          </p:nvPr>
        </p:nvSpPr>
        <p:spPr/>
        <p:txBody>
          <a:bodyPr/>
          <a:lstStyle/>
          <a:p>
            <a:fld id="{DC5A8D1A-D0B5-49A0-AEB0-5B5A81E05781}"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120</a:t>
            </a:fld>
            <a:endParaRPr lang="zh-CN" altLang="en-US" dirty="0"/>
          </a:p>
        </p:txBody>
      </p:sp>
      <p:pic>
        <p:nvPicPr>
          <p:cNvPr id="10" name="图片 9"/>
          <p:cNvPicPr>
            <a:picLocks noChangeAspect="1"/>
          </p:cNvPicPr>
          <p:nvPr/>
        </p:nvPicPr>
        <p:blipFill>
          <a:blip r:embed="rId2"/>
          <a:stretch>
            <a:fillRect/>
          </a:stretch>
        </p:blipFill>
        <p:spPr>
          <a:xfrm>
            <a:off x="4287982" y="1600200"/>
            <a:ext cx="2667000" cy="2160366"/>
          </a:xfrm>
          <a:prstGeom prst="rect">
            <a:avLst/>
          </a:prstGeom>
        </p:spPr>
      </p:pic>
    </p:spTree>
    <p:extLst>
      <p:ext uri="{BB962C8B-B14F-4D97-AF65-F5344CB8AC3E}">
        <p14:creationId xmlns:p14="http://schemas.microsoft.com/office/powerpoint/2010/main" val="704933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wipe(down)">
                                      <p:cBhvr>
                                        <p:cTn id="7" dur="500"/>
                                        <p:tgtEl>
                                          <p:spTgt spid="3">
                                            <p:txEl>
                                              <p:pRg st="5" end="5"/>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7" end="7"/>
                                            </p:txEl>
                                          </p:spTgt>
                                        </p:tgtEl>
                                        <p:attrNameLst>
                                          <p:attrName>style.visibility</p:attrName>
                                        </p:attrNameLst>
                                      </p:cBhvr>
                                      <p:to>
                                        <p:strVal val="visible"/>
                                      </p:to>
                                    </p:set>
                                    <p:animEffect transition="in" filter="wipe(down)">
                                      <p:cBhvr>
                                        <p:cTn id="10" dur="500"/>
                                        <p:tgtEl>
                                          <p:spTgt spid="3">
                                            <p:txEl>
                                              <p:pRg st="7" end="7"/>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wipe(down)">
                                      <p:cBhvr>
                                        <p:cTn id="13"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图是如何连通的</a:t>
            </a:r>
            <a:endParaRPr lang="en-US" dirty="0">
              <a:solidFill>
                <a:srgbClr val="C00000"/>
              </a:solidFill>
            </a:endParaRPr>
          </a:p>
        </p:txBody>
      </p:sp>
      <p:sp>
        <p:nvSpPr>
          <p:cNvPr id="3" name="Content Placeholder 2"/>
          <p:cNvSpPr>
            <a:spLocks noGrp="1"/>
          </p:cNvSpPr>
          <p:nvPr>
            <p:ph idx="1"/>
          </p:nvPr>
        </p:nvSpPr>
        <p:spPr/>
        <p:txBody>
          <a:bodyPr>
            <a:normAutofit/>
          </a:bodyPr>
          <a:lstStyle/>
          <a:p>
            <a:r>
              <a:rPr lang="zh-CN" altLang="en-US" dirty="0" smtClean="0"/>
              <a:t>例</a:t>
            </a:r>
            <a:r>
              <a:rPr lang="en-US" altLang="zh-CN" dirty="0" smtClean="0"/>
              <a:t>: </a:t>
            </a:r>
            <a:r>
              <a:rPr lang="zh-CN" altLang="en-US" dirty="0" smtClean="0"/>
              <a:t>求下图</a:t>
            </a:r>
            <a:r>
              <a:rPr lang="en-US" altLang="zh-CN" dirty="0" smtClean="0"/>
              <a:t>G5</a:t>
            </a:r>
            <a:r>
              <a:rPr lang="zh-CN" altLang="en-US" dirty="0" smtClean="0"/>
              <a:t>的割点和割边</a:t>
            </a:r>
            <a:r>
              <a:rPr lang="en-US" altLang="zh-CN" dirty="0" smtClean="0"/>
              <a:t>.</a:t>
            </a:r>
          </a:p>
          <a:p>
            <a:endParaRPr lang="en-US" altLang="zh-CN" dirty="0"/>
          </a:p>
          <a:p>
            <a:endParaRPr lang="en-US" altLang="zh-CN" dirty="0" smtClean="0"/>
          </a:p>
          <a:p>
            <a:endParaRPr lang="en-US" altLang="zh-CN" dirty="0"/>
          </a:p>
          <a:p>
            <a:endParaRPr lang="en-US" altLang="zh-CN" dirty="0" smtClean="0"/>
          </a:p>
          <a:p>
            <a:r>
              <a:rPr lang="zh-CN" altLang="en-US" dirty="0" smtClean="0"/>
              <a:t>解</a:t>
            </a:r>
            <a:r>
              <a:rPr lang="en-US" altLang="zh-CN" dirty="0" smtClean="0"/>
              <a:t>: </a:t>
            </a:r>
          </a:p>
          <a:p>
            <a:pPr lvl="1"/>
            <a:r>
              <a:rPr lang="en-US" altLang="zh-CN" dirty="0" smtClean="0"/>
              <a:t>G5</a:t>
            </a:r>
            <a:r>
              <a:rPr lang="zh-CN" altLang="en-US" dirty="0" smtClean="0"/>
              <a:t>没有</a:t>
            </a:r>
            <a:r>
              <a:rPr lang="zh-CN" altLang="en-US" dirty="0"/>
              <a:t>割点</a:t>
            </a:r>
            <a:r>
              <a:rPr lang="en-US" altLang="zh-CN" dirty="0"/>
              <a:t>.</a:t>
            </a:r>
          </a:p>
          <a:p>
            <a:pPr lvl="1"/>
            <a:r>
              <a:rPr lang="en-US" altLang="zh-CN" dirty="0"/>
              <a:t>G5</a:t>
            </a:r>
            <a:r>
              <a:rPr lang="zh-CN" altLang="en-US" dirty="0"/>
              <a:t>没有</a:t>
            </a:r>
            <a:r>
              <a:rPr lang="zh-CN" altLang="en-US" dirty="0" smtClean="0"/>
              <a:t>割边</a:t>
            </a:r>
            <a:r>
              <a:rPr lang="en-US" altLang="zh-CN" dirty="0" smtClean="0"/>
              <a:t>.</a:t>
            </a:r>
            <a:endParaRPr lang="en-US" altLang="zh-CN" dirty="0"/>
          </a:p>
        </p:txBody>
      </p:sp>
      <p:sp>
        <p:nvSpPr>
          <p:cNvPr id="7" name="日期占位符 6"/>
          <p:cNvSpPr>
            <a:spLocks noGrp="1"/>
          </p:cNvSpPr>
          <p:nvPr>
            <p:ph type="dt" sz="half" idx="10"/>
          </p:nvPr>
        </p:nvSpPr>
        <p:spPr/>
        <p:txBody>
          <a:bodyPr/>
          <a:lstStyle/>
          <a:p>
            <a:fld id="{E9F84975-3D40-48CB-8A61-BB73734A3211}"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121</a:t>
            </a:fld>
            <a:endParaRPr lang="zh-CN" altLang="en-US" dirty="0"/>
          </a:p>
        </p:txBody>
      </p:sp>
      <p:pic>
        <p:nvPicPr>
          <p:cNvPr id="10" name="图片 9"/>
          <p:cNvPicPr>
            <a:picLocks noChangeAspect="1"/>
          </p:cNvPicPr>
          <p:nvPr/>
        </p:nvPicPr>
        <p:blipFill>
          <a:blip r:embed="rId2"/>
          <a:stretch>
            <a:fillRect/>
          </a:stretch>
        </p:blipFill>
        <p:spPr>
          <a:xfrm>
            <a:off x="4800600" y="1524000"/>
            <a:ext cx="2819400" cy="2354553"/>
          </a:xfrm>
          <a:prstGeom prst="rect">
            <a:avLst/>
          </a:prstGeom>
        </p:spPr>
      </p:pic>
    </p:spTree>
    <p:extLst>
      <p:ext uri="{BB962C8B-B14F-4D97-AF65-F5344CB8AC3E}">
        <p14:creationId xmlns:p14="http://schemas.microsoft.com/office/powerpoint/2010/main" val="162421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wipe(down)">
                                      <p:cBhvr>
                                        <p:cTn id="7" dur="500"/>
                                        <p:tgtEl>
                                          <p:spTgt spid="3">
                                            <p:txEl>
                                              <p:pRg st="5" end="5"/>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wipe(down)">
                                      <p:cBhvr>
                                        <p:cTn id="10" dur="500"/>
                                        <p:tgtEl>
                                          <p:spTgt spid="3">
                                            <p:txEl>
                                              <p:pRg st="6" end="6"/>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animEffect transition="in" filter="wipe(down)">
                                      <p:cBhvr>
                                        <p:cTn id="13"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444500" y="3536954"/>
            <a:ext cx="11277599" cy="577846"/>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smtClean="0"/>
              <a:t>图是如何连通的</a:t>
            </a:r>
            <a:endParaRPr lang="en-US" dirty="0">
              <a:solidFill>
                <a:srgbClr val="C00000"/>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b="1" dirty="0" smtClean="0"/>
                  <a:t>并不是所有的图都有割点</a:t>
                </a:r>
                <a:r>
                  <a:rPr lang="en-US" altLang="zh-CN" dirty="0" smtClean="0"/>
                  <a:t>. </a:t>
                </a:r>
                <a:r>
                  <a:rPr lang="zh-CN" altLang="en-US" dirty="0" smtClean="0"/>
                  <a:t>如</a:t>
                </a:r>
                <a:r>
                  <a:rPr lang="zh-CN" altLang="en-US" b="1" dirty="0" smtClean="0"/>
                  <a:t>完全图</a:t>
                </a:r>
                <a14:m>
                  <m:oMath xmlns:m="http://schemas.openxmlformats.org/officeDocument/2006/math">
                    <m:sSub>
                      <m:sSubPr>
                        <m:ctrlPr>
                          <a:rPr lang="en-US" altLang="zh-CN" b="1" i="1" smtClean="0">
                            <a:latin typeface="Cambria Math" panose="02040503050406030204" pitchFamily="18" charset="0"/>
                          </a:rPr>
                        </m:ctrlPr>
                      </m:sSubPr>
                      <m:e>
                        <m:r>
                          <a:rPr lang="en-US" altLang="zh-CN" b="1" i="1">
                            <a:latin typeface="Cambria Math" panose="02040503050406030204" pitchFamily="18" charset="0"/>
                          </a:rPr>
                          <m:t>𝑲</m:t>
                        </m:r>
                      </m:e>
                      <m:sub>
                        <m:r>
                          <a:rPr lang="en-US" altLang="zh-CN" b="1" i="1" smtClean="0">
                            <a:latin typeface="Cambria Math" panose="02040503050406030204" pitchFamily="18" charset="0"/>
                          </a:rPr>
                          <m:t>𝒏</m:t>
                        </m:r>
                      </m:sub>
                    </m:sSub>
                    <m:r>
                      <a:rPr lang="en-US" altLang="zh-CN" b="0" i="0" smtClean="0">
                        <a:latin typeface="Cambria Math" panose="02040503050406030204" pitchFamily="18" charset="0"/>
                      </a:rPr>
                      <m:t>(</m:t>
                    </m:r>
                    <m:r>
                      <m:rPr>
                        <m:sty m:val="p"/>
                      </m:rPr>
                      <a:rPr lang="en-US" altLang="zh-CN" b="0" i="0" smtClean="0">
                        <a:latin typeface="Cambria Math" panose="02040503050406030204" pitchFamily="18" charset="0"/>
                      </a:rPr>
                      <m:t>n</m:t>
                    </m:r>
                    <m:r>
                      <a:rPr lang="en-US" altLang="zh-CN" b="0" i="1" smtClean="0">
                        <a:latin typeface="Cambria Math" panose="02040503050406030204" pitchFamily="18" charset="0"/>
                        <a:ea typeface="Cambria Math" panose="02040503050406030204" pitchFamily="18" charset="0"/>
                      </a:rPr>
                      <m:t>≥3</m:t>
                    </m:r>
                    <m:r>
                      <a:rPr lang="en-US" altLang="zh-CN" b="0" i="0" smtClean="0">
                        <a:latin typeface="Cambria Math" panose="02040503050406030204" pitchFamily="18" charset="0"/>
                      </a:rPr>
                      <m:t>)</m:t>
                    </m:r>
                  </m:oMath>
                </a14:m>
                <a:r>
                  <a:rPr lang="en-US" altLang="zh-CN" dirty="0" smtClean="0"/>
                  <a:t>, </a:t>
                </a:r>
                <a:r>
                  <a:rPr lang="zh-CN" altLang="en-US" dirty="0" smtClean="0"/>
                  <a:t>就没有割点</a:t>
                </a:r>
                <a:r>
                  <a:rPr lang="en-US" altLang="zh-CN" dirty="0" smtClean="0"/>
                  <a:t>. </a:t>
                </a:r>
                <a:r>
                  <a:rPr lang="zh-CN" altLang="en-US" dirty="0" smtClean="0"/>
                  <a:t>当从</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K</m:t>
                        </m:r>
                      </m:e>
                      <m:sub>
                        <m:r>
                          <a:rPr lang="en-US" altLang="zh-CN" i="1">
                            <a:latin typeface="Cambria Math" panose="02040503050406030204" pitchFamily="18" charset="0"/>
                          </a:rPr>
                          <m:t>𝑛</m:t>
                        </m:r>
                      </m:sub>
                    </m:sSub>
                  </m:oMath>
                </a14:m>
                <a:r>
                  <a:rPr lang="zh-CN" altLang="en-US" dirty="0" smtClean="0"/>
                  <a:t>中删除一个顶点和其关联的边时</a:t>
                </a:r>
                <a:r>
                  <a:rPr lang="en-US" altLang="zh-CN" dirty="0" smtClean="0"/>
                  <a:t>, </a:t>
                </a:r>
                <a:r>
                  <a:rPr lang="zh-CN" altLang="en-US" dirty="0" smtClean="0"/>
                  <a:t>得到的子图是一个连通的完全图</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K</m:t>
                        </m:r>
                      </m:e>
                      <m:sub>
                        <m:r>
                          <a:rPr lang="en-US" altLang="zh-CN" i="1">
                            <a:latin typeface="Cambria Math" panose="02040503050406030204" pitchFamily="18" charset="0"/>
                          </a:rPr>
                          <m:t>𝑛</m:t>
                        </m:r>
                        <m:r>
                          <a:rPr lang="en-US" altLang="zh-CN" b="0" i="1" smtClean="0">
                            <a:latin typeface="Cambria Math" panose="02040503050406030204" pitchFamily="18" charset="0"/>
                          </a:rPr>
                          <m:t>−1</m:t>
                        </m:r>
                      </m:sub>
                    </m:sSub>
                  </m:oMath>
                </a14:m>
                <a:r>
                  <a:rPr lang="en-US" altLang="zh-CN" dirty="0" smtClean="0"/>
                  <a:t>.</a:t>
                </a:r>
              </a:p>
              <a:p>
                <a:endParaRPr lang="en-US" altLang="zh-CN" dirty="0" smtClean="0"/>
              </a:p>
              <a:p>
                <a:endParaRPr lang="en-US" altLang="zh-CN" dirty="0"/>
              </a:p>
              <a:p>
                <a:r>
                  <a:rPr lang="zh-CN" altLang="en-US" dirty="0" smtClean="0"/>
                  <a:t>不含割点的连通图称为</a:t>
                </a:r>
                <a:r>
                  <a:rPr lang="zh-CN" altLang="en-US" b="1" dirty="0" smtClean="0">
                    <a:solidFill>
                      <a:srgbClr val="C00000"/>
                    </a:solidFill>
                  </a:rPr>
                  <a:t>不可分割图</a:t>
                </a:r>
                <a:r>
                  <a:rPr lang="en-US" altLang="zh-CN" dirty="0" smtClean="0"/>
                  <a:t>. </a:t>
                </a:r>
              </a:p>
              <a:p>
                <a:r>
                  <a:rPr lang="zh-CN" altLang="en-US" dirty="0"/>
                  <a:t>不可分割图比</a:t>
                </a:r>
                <a:r>
                  <a:rPr lang="zh-CN" altLang="en-US" dirty="0" smtClean="0"/>
                  <a:t>有割点的连通图具有更好的连通性</a:t>
                </a:r>
                <a:r>
                  <a:rPr lang="en-US" altLang="zh-CN" dirty="0" smtClean="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99" t="-1310"/>
                </a:stretch>
              </a:blipFill>
            </p:spPr>
            <p:txBody>
              <a:bodyPr/>
              <a:lstStyle/>
              <a:p>
                <a:r>
                  <a:rPr lang="zh-CN" altLang="en-US">
                    <a:noFill/>
                  </a:rPr>
                  <a:t> </a:t>
                </a:r>
              </a:p>
            </p:txBody>
          </p:sp>
        </mc:Fallback>
      </mc:AlternateContent>
      <p:sp>
        <p:nvSpPr>
          <p:cNvPr id="7" name="日期占位符 6"/>
          <p:cNvSpPr>
            <a:spLocks noGrp="1"/>
          </p:cNvSpPr>
          <p:nvPr>
            <p:ph type="dt" sz="half" idx="10"/>
          </p:nvPr>
        </p:nvSpPr>
        <p:spPr/>
        <p:txBody>
          <a:bodyPr/>
          <a:lstStyle/>
          <a:p>
            <a:fld id="{20C6AA5A-1B7E-475E-825B-50F10B1A66D5}"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122</a:t>
            </a:fld>
            <a:endParaRPr lang="zh-CN" altLang="en-US" dirty="0"/>
          </a:p>
        </p:txBody>
      </p:sp>
      <p:pic>
        <p:nvPicPr>
          <p:cNvPr id="13"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33600" y="2128046"/>
            <a:ext cx="6886470" cy="1322725"/>
          </a:xfrm>
          <a:prstGeom prst="rect">
            <a:avLst/>
          </a:prstGeom>
        </p:spPr>
      </p:pic>
    </p:spTree>
    <p:extLst>
      <p:ext uri="{BB962C8B-B14F-4D97-AF65-F5344CB8AC3E}">
        <p14:creationId xmlns:p14="http://schemas.microsoft.com/office/powerpoint/2010/main" val="4112786917"/>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57200" y="1143000"/>
            <a:ext cx="11277599" cy="901206"/>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smtClean="0"/>
              <a:t>图是如何连通的</a:t>
            </a:r>
            <a:endParaRPr lang="en-US" dirty="0">
              <a:solidFill>
                <a:srgbClr val="C00000"/>
              </a:solidFill>
            </a:endParaRPr>
          </a:p>
        </p:txBody>
      </p:sp>
      <p:sp>
        <p:nvSpPr>
          <p:cNvPr id="3" name="Content Placeholder 2"/>
          <p:cNvSpPr>
            <a:spLocks noGrp="1"/>
          </p:cNvSpPr>
          <p:nvPr>
            <p:ph idx="1"/>
          </p:nvPr>
        </p:nvSpPr>
        <p:spPr/>
        <p:txBody>
          <a:bodyPr>
            <a:normAutofit/>
          </a:bodyPr>
          <a:lstStyle/>
          <a:p>
            <a:r>
              <a:rPr lang="zh-CN" altLang="en-US" dirty="0" smtClean="0"/>
              <a:t>若图</a:t>
            </a:r>
            <a:r>
              <a:rPr lang="en-US" altLang="zh-CN" dirty="0" smtClean="0"/>
              <a:t>G=</a:t>
            </a:r>
            <a:r>
              <a:rPr lang="zh-CN" altLang="en-US" dirty="0" smtClean="0"/>
              <a:t>（</a:t>
            </a:r>
            <a:r>
              <a:rPr lang="en-US" altLang="zh-CN" dirty="0" smtClean="0"/>
              <a:t>V</a:t>
            </a:r>
            <a:r>
              <a:rPr lang="zh-CN" altLang="en-US" dirty="0" smtClean="0"/>
              <a:t>，</a:t>
            </a:r>
            <a:r>
              <a:rPr lang="en-US" altLang="zh-CN" dirty="0" smtClean="0"/>
              <a:t>E</a:t>
            </a:r>
            <a:r>
              <a:rPr lang="zh-CN" altLang="en-US" dirty="0" smtClean="0"/>
              <a:t>）的一个顶点子集</a:t>
            </a:r>
            <a:r>
              <a:rPr lang="en-US" altLang="zh-CN" dirty="0" smtClean="0"/>
              <a:t>S</a:t>
            </a:r>
            <a:r>
              <a:rPr lang="zh-CN" altLang="en-US" dirty="0" smtClean="0"/>
              <a:t>包含于</a:t>
            </a:r>
            <a:r>
              <a:rPr lang="en-US" altLang="zh-CN" dirty="0" smtClean="0"/>
              <a:t>V</a:t>
            </a:r>
            <a:r>
              <a:rPr lang="zh-CN" altLang="en-US" dirty="0" smtClean="0"/>
              <a:t>，使得删除</a:t>
            </a:r>
            <a:r>
              <a:rPr lang="en-US" altLang="zh-CN" dirty="0" smtClean="0"/>
              <a:t>S</a:t>
            </a:r>
            <a:r>
              <a:rPr lang="zh-CN" altLang="en-US" dirty="0" smtClean="0"/>
              <a:t>后（即</a:t>
            </a:r>
            <a:r>
              <a:rPr lang="en-US" altLang="zh-CN" dirty="0" smtClean="0"/>
              <a:t>G-S</a:t>
            </a:r>
            <a:r>
              <a:rPr lang="zh-CN" altLang="en-US" dirty="0" smtClean="0"/>
              <a:t>）的连通分支数大于原图</a:t>
            </a:r>
            <a:r>
              <a:rPr lang="en-US" altLang="zh-CN" dirty="0" smtClean="0"/>
              <a:t>G</a:t>
            </a:r>
            <a:r>
              <a:rPr lang="zh-CN" altLang="en-US" dirty="0" smtClean="0"/>
              <a:t>的连通分支数，则称是</a:t>
            </a:r>
            <a:r>
              <a:rPr lang="zh-CN" altLang="en-US" b="1" dirty="0" smtClean="0">
                <a:solidFill>
                  <a:srgbClr val="C00000"/>
                </a:solidFill>
              </a:rPr>
              <a:t>点割集</a:t>
            </a:r>
            <a:r>
              <a:rPr lang="zh-CN" altLang="en-US" dirty="0" smtClean="0"/>
              <a:t>或分割集</a:t>
            </a:r>
            <a:r>
              <a:rPr lang="en-US" altLang="zh-CN" dirty="0" smtClean="0"/>
              <a:t>.</a:t>
            </a:r>
          </a:p>
          <a:p>
            <a:r>
              <a:rPr lang="zh-CN" altLang="en-US" dirty="0" smtClean="0"/>
              <a:t>点割集不一定是割点的集合</a:t>
            </a:r>
            <a:r>
              <a:rPr lang="en-US" altLang="zh-CN" dirty="0" smtClean="0"/>
              <a:t>, </a:t>
            </a:r>
            <a:r>
              <a:rPr lang="zh-CN" altLang="en-US" dirty="0" smtClean="0"/>
              <a:t>因为</a:t>
            </a:r>
            <a:r>
              <a:rPr lang="en-US" altLang="zh-CN" dirty="0" smtClean="0"/>
              <a:t>G</a:t>
            </a:r>
            <a:r>
              <a:rPr lang="zh-CN" altLang="en-US" dirty="0" smtClean="0"/>
              <a:t>可能不存在割点，但存在点割集</a:t>
            </a:r>
            <a:r>
              <a:rPr lang="en-US" altLang="zh-CN" dirty="0" smtClean="0"/>
              <a:t>. </a:t>
            </a:r>
          </a:p>
          <a:p>
            <a:r>
              <a:rPr lang="zh-CN" altLang="en-US" dirty="0" smtClean="0"/>
              <a:t>点割集也可能不存在</a:t>
            </a:r>
            <a:r>
              <a:rPr lang="en-US" altLang="zh-CN" dirty="0" smtClean="0"/>
              <a:t>, </a:t>
            </a:r>
            <a:r>
              <a:rPr lang="zh-CN" altLang="en-US" dirty="0" smtClean="0"/>
              <a:t>例如完全图</a:t>
            </a:r>
            <a:r>
              <a:rPr lang="en-US" altLang="zh-CN" dirty="0" smtClean="0"/>
              <a:t>. </a:t>
            </a:r>
            <a:r>
              <a:rPr lang="zh-CN" altLang="en-US" dirty="0" smtClean="0"/>
              <a:t>也可能存在多个</a:t>
            </a:r>
            <a:r>
              <a:rPr lang="en-US" altLang="zh-CN" dirty="0" smtClean="0"/>
              <a:t>.</a:t>
            </a:r>
          </a:p>
          <a:p>
            <a:r>
              <a:rPr lang="zh-CN" altLang="en-US" dirty="0"/>
              <a:t>例</a:t>
            </a:r>
            <a:r>
              <a:rPr lang="en-US" altLang="zh-CN" dirty="0"/>
              <a:t>: </a:t>
            </a:r>
            <a:r>
              <a:rPr lang="zh-CN" altLang="en-US" dirty="0"/>
              <a:t>求下图</a:t>
            </a:r>
            <a:r>
              <a:rPr lang="en-US" altLang="zh-CN" dirty="0"/>
              <a:t>G1</a:t>
            </a:r>
            <a:r>
              <a:rPr lang="zh-CN" altLang="en-US" dirty="0" smtClean="0"/>
              <a:t>的</a:t>
            </a:r>
            <a:r>
              <a:rPr lang="zh-CN" altLang="en-US" dirty="0"/>
              <a:t>一个</a:t>
            </a:r>
            <a:r>
              <a:rPr lang="zh-CN" altLang="en-US" dirty="0" smtClean="0"/>
              <a:t>点割集</a:t>
            </a:r>
            <a:r>
              <a:rPr lang="en-US" altLang="zh-CN" dirty="0" smtClean="0"/>
              <a:t>.</a:t>
            </a:r>
            <a:endParaRPr lang="en-US" altLang="zh-CN" dirty="0"/>
          </a:p>
          <a:p>
            <a:endParaRPr lang="en-US" altLang="zh-CN" dirty="0"/>
          </a:p>
          <a:p>
            <a:endParaRPr lang="en-US" altLang="zh-CN" dirty="0"/>
          </a:p>
          <a:p>
            <a:r>
              <a:rPr lang="zh-CN" altLang="en-US" dirty="0" smtClean="0"/>
              <a:t>解</a:t>
            </a:r>
            <a:r>
              <a:rPr lang="en-US" altLang="zh-CN" dirty="0" smtClean="0"/>
              <a:t>:</a:t>
            </a:r>
            <a:r>
              <a:rPr lang="zh-CN" altLang="en-US" dirty="0" smtClean="0"/>
              <a:t>前面例题中已求出割点为</a:t>
            </a:r>
            <a:r>
              <a:rPr lang="en-US" altLang="zh-CN" dirty="0" err="1" smtClean="0"/>
              <a:t>b,c,e</a:t>
            </a:r>
            <a:r>
              <a:rPr lang="en-US" altLang="zh-CN" dirty="0" smtClean="0"/>
              <a:t>. </a:t>
            </a:r>
            <a:r>
              <a:rPr lang="zh-CN" altLang="en-US" dirty="0" smtClean="0"/>
              <a:t>删除</a:t>
            </a:r>
            <a:r>
              <a:rPr lang="zh-CN" altLang="en-US" dirty="0"/>
              <a:t>它们后的图不再</a:t>
            </a:r>
            <a:r>
              <a:rPr lang="zh-CN" altLang="en-US" dirty="0" smtClean="0"/>
              <a:t>连通</a:t>
            </a:r>
            <a:r>
              <a:rPr lang="en-US" altLang="zh-CN" dirty="0" smtClean="0"/>
              <a:t>, </a:t>
            </a:r>
            <a:r>
              <a:rPr lang="zh-CN" altLang="en-US" dirty="0" smtClean="0"/>
              <a:t>所以</a:t>
            </a:r>
            <a:r>
              <a:rPr lang="en-US" altLang="zh-CN" dirty="0" smtClean="0"/>
              <a:t>{</a:t>
            </a:r>
            <a:r>
              <a:rPr lang="en-US" altLang="zh-CN" dirty="0" err="1" smtClean="0"/>
              <a:t>b,c,e</a:t>
            </a:r>
            <a:r>
              <a:rPr lang="en-US" altLang="zh-CN" dirty="0" smtClean="0"/>
              <a:t>}</a:t>
            </a:r>
            <a:r>
              <a:rPr lang="zh-CN" altLang="en-US" dirty="0" smtClean="0"/>
              <a:t>是一个含有</a:t>
            </a:r>
            <a:r>
              <a:rPr lang="en-US" altLang="zh-CN" dirty="0" smtClean="0"/>
              <a:t>3</a:t>
            </a:r>
            <a:r>
              <a:rPr lang="zh-CN" altLang="en-US" dirty="0" smtClean="0"/>
              <a:t>个顶点的点割集</a:t>
            </a:r>
            <a:r>
              <a:rPr lang="en-US" altLang="zh-CN" dirty="0" smtClean="0"/>
              <a:t>. </a:t>
            </a:r>
            <a:r>
              <a:rPr lang="zh-CN" altLang="en-US" dirty="0" smtClean="0"/>
              <a:t>再比如</a:t>
            </a:r>
            <a:r>
              <a:rPr lang="en-US" altLang="zh-CN" dirty="0" smtClean="0"/>
              <a:t>{</a:t>
            </a:r>
            <a:r>
              <a:rPr lang="en-US" altLang="zh-CN" dirty="0" err="1" smtClean="0"/>
              <a:t>b,c</a:t>
            </a:r>
            <a:r>
              <a:rPr lang="en-US" altLang="zh-CN" dirty="0" smtClean="0"/>
              <a:t>}</a:t>
            </a:r>
            <a:r>
              <a:rPr lang="zh-CN" altLang="en-US" dirty="0" smtClean="0"/>
              <a:t>是另外一个含有</a:t>
            </a:r>
            <a:r>
              <a:rPr lang="en-US" altLang="zh-CN" dirty="0" smtClean="0"/>
              <a:t>2</a:t>
            </a:r>
            <a:r>
              <a:rPr lang="zh-CN" altLang="en-US" dirty="0" smtClean="0"/>
              <a:t>个顶点的点割集</a:t>
            </a:r>
            <a:r>
              <a:rPr lang="en-US" altLang="zh-CN" dirty="0" smtClean="0"/>
              <a:t>. (</a:t>
            </a:r>
            <a:r>
              <a:rPr lang="zh-CN" altLang="en-US" dirty="0" smtClean="0"/>
              <a:t>思考</a:t>
            </a:r>
            <a:r>
              <a:rPr lang="en-US" altLang="zh-CN" dirty="0" smtClean="0"/>
              <a:t>: </a:t>
            </a:r>
            <a:r>
              <a:rPr lang="zh-CN" altLang="en-US" dirty="0" smtClean="0"/>
              <a:t>结果并不是唯一的</a:t>
            </a:r>
            <a:r>
              <a:rPr lang="en-US" altLang="zh-CN" dirty="0" smtClean="0"/>
              <a:t>) </a:t>
            </a:r>
          </a:p>
        </p:txBody>
      </p:sp>
      <p:sp>
        <p:nvSpPr>
          <p:cNvPr id="7" name="日期占位符 6"/>
          <p:cNvSpPr>
            <a:spLocks noGrp="1"/>
          </p:cNvSpPr>
          <p:nvPr>
            <p:ph type="dt" sz="half" idx="10"/>
          </p:nvPr>
        </p:nvSpPr>
        <p:spPr/>
        <p:txBody>
          <a:bodyPr/>
          <a:lstStyle/>
          <a:p>
            <a:fld id="{CE086615-4494-47B3-8676-C4CF827BBCDD}"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123</a:t>
            </a:fld>
            <a:endParaRPr lang="zh-CN" altLang="en-US" dirty="0"/>
          </a:p>
        </p:txBody>
      </p:sp>
      <p:pic>
        <p:nvPicPr>
          <p:cNvPr id="14" name="图片 13"/>
          <p:cNvPicPr>
            <a:picLocks noChangeAspect="1"/>
          </p:cNvPicPr>
          <p:nvPr/>
        </p:nvPicPr>
        <p:blipFill>
          <a:blip r:embed="rId2"/>
          <a:stretch>
            <a:fillRect/>
          </a:stretch>
        </p:blipFill>
        <p:spPr>
          <a:xfrm>
            <a:off x="5638800" y="3124200"/>
            <a:ext cx="1981200" cy="2006111"/>
          </a:xfrm>
          <a:prstGeom prst="rect">
            <a:avLst/>
          </a:prstGeom>
        </p:spPr>
      </p:pic>
      <p:sp>
        <p:nvSpPr>
          <p:cNvPr id="11" name="矩形 10"/>
          <p:cNvSpPr/>
          <p:nvPr/>
        </p:nvSpPr>
        <p:spPr>
          <a:xfrm>
            <a:off x="5812535" y="4033526"/>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6324600" y="4039622"/>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6716267" y="4033526"/>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48447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wipe(down)">
                                      <p:cBhvr>
                                        <p:cTn id="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57200" y="3276600"/>
            <a:ext cx="11277599" cy="6858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smtClean="0"/>
              <a:t>图是如何连通的</a:t>
            </a:r>
            <a:endParaRPr lang="en-US" dirty="0">
              <a:solidFill>
                <a:srgbClr val="C00000"/>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95086" y="1088824"/>
                <a:ext cx="11215914" cy="5121481"/>
              </a:xfrm>
            </p:spPr>
            <p:txBody>
              <a:bodyPr>
                <a:normAutofit/>
              </a:bodyPr>
              <a:lstStyle/>
              <a:p>
                <a:r>
                  <a:rPr lang="zh-CN" altLang="en-US" dirty="0" smtClean="0"/>
                  <a:t>除了完全图以外</a:t>
                </a:r>
                <a:r>
                  <a:rPr lang="en-US" altLang="zh-CN" dirty="0" smtClean="0"/>
                  <a:t>, </a:t>
                </a:r>
                <a:r>
                  <a:rPr lang="zh-CN" altLang="en-US" dirty="0" smtClean="0"/>
                  <a:t>每个连通图都有一个点割集</a:t>
                </a:r>
                <a:r>
                  <a:rPr lang="en-US" altLang="zh-CN" dirty="0" smtClean="0"/>
                  <a:t>.</a:t>
                </a:r>
              </a:p>
              <a:p>
                <a:r>
                  <a:rPr lang="zh-CN" altLang="en-US" b="1" dirty="0" smtClean="0">
                    <a:solidFill>
                      <a:srgbClr val="C00000"/>
                    </a:solidFill>
                  </a:rPr>
                  <a:t>点连通度</a:t>
                </a:r>
                <a:r>
                  <a:rPr lang="en-US" altLang="zh-CN" dirty="0" smtClean="0"/>
                  <a:t>:</a:t>
                </a:r>
              </a:p>
              <a:p>
                <a:pPr lvl="1"/>
                <a:r>
                  <a:rPr lang="zh-CN" altLang="en-US" dirty="0" smtClean="0"/>
                  <a:t>当</a:t>
                </a:r>
                <a:r>
                  <a:rPr lang="en-US" altLang="zh-CN" dirty="0" smtClean="0"/>
                  <a:t>G</a:t>
                </a:r>
                <a:r>
                  <a:rPr lang="zh-CN" altLang="en-US" dirty="0" smtClean="0"/>
                  <a:t>为无向连通图且非完全图时，定义点连通度</a:t>
                </a:r>
                <a:r>
                  <a:rPr lang="zh-CN" altLang="en-US" dirty="0"/>
                  <a:t>为点割集中最小的顶点数</a:t>
                </a:r>
                <a:r>
                  <a:rPr lang="en-US" altLang="zh-CN" dirty="0" smtClean="0"/>
                  <a:t>, </a:t>
                </a:r>
                <a:r>
                  <a:rPr lang="zh-CN" altLang="en-US" dirty="0" smtClean="0"/>
                  <a:t>记</a:t>
                </a:r>
                <a:r>
                  <a:rPr lang="zh-CN" altLang="en-US" dirty="0"/>
                  <a:t>作</a:t>
                </a:r>
                <a14:m>
                  <m:oMath xmlns:m="http://schemas.openxmlformats.org/officeDocument/2006/math">
                    <m:r>
                      <a:rPr lang="zh-CN" altLang="en-US">
                        <a:latin typeface="Cambria Math" panose="02040503050406030204" pitchFamily="18" charset="0"/>
                      </a:rPr>
                      <m:t>𝜅</m:t>
                    </m:r>
                    <m:r>
                      <a:rPr lang="en-US" altLang="zh-CN">
                        <a:latin typeface="Cambria Math" panose="02040503050406030204" pitchFamily="18" charset="0"/>
                      </a:rPr>
                      <m:t>(</m:t>
                    </m:r>
                    <m:r>
                      <a:rPr lang="en-US" altLang="zh-CN">
                        <a:latin typeface="Cambria Math" panose="02040503050406030204" pitchFamily="18" charset="0"/>
                      </a:rPr>
                      <m:t>𝐺</m:t>
                    </m:r>
                    <m:r>
                      <a:rPr lang="en-US" altLang="zh-CN">
                        <a:latin typeface="Cambria Math" panose="02040503050406030204" pitchFamily="18" charset="0"/>
                      </a:rPr>
                      <m:t>)</m:t>
                    </m:r>
                  </m:oMath>
                </a14:m>
                <a:r>
                  <a:rPr lang="en-US" altLang="zh-CN" dirty="0"/>
                  <a:t>.</a:t>
                </a:r>
              </a:p>
              <a:p>
                <a:pPr lvl="1"/>
                <a:r>
                  <a:rPr lang="zh-CN" altLang="en-US" dirty="0"/>
                  <a:t>注意</a:t>
                </a:r>
                <a:r>
                  <a:rPr lang="en-US" altLang="zh-CN" dirty="0"/>
                  <a:t>G</a:t>
                </a:r>
                <a:r>
                  <a:rPr lang="zh-CN" altLang="en-US" dirty="0"/>
                  <a:t>是完全图时</a:t>
                </a:r>
                <a:r>
                  <a:rPr lang="en-US" altLang="zh-CN" dirty="0"/>
                  <a:t>, </a:t>
                </a:r>
                <a:r>
                  <a:rPr lang="zh-CN" altLang="en-US" dirty="0"/>
                  <a:t>没有割点</a:t>
                </a:r>
                <a:r>
                  <a:rPr lang="en-US" altLang="zh-CN" dirty="0"/>
                  <a:t>, </a:t>
                </a:r>
                <a:r>
                  <a:rPr lang="zh-CN" altLang="en-US" dirty="0"/>
                  <a:t>所以也没有点割集</a:t>
                </a:r>
                <a:r>
                  <a:rPr lang="en-US" altLang="zh-CN" dirty="0"/>
                  <a:t>. </a:t>
                </a:r>
                <a:r>
                  <a:rPr lang="zh-CN" altLang="en-US" dirty="0"/>
                  <a:t>因此特别地</a:t>
                </a:r>
                <a:r>
                  <a:rPr lang="en-US" altLang="zh-CN" dirty="0"/>
                  <a:t>, </a:t>
                </a:r>
                <a:r>
                  <a:rPr lang="zh-CN" altLang="en-US" dirty="0"/>
                  <a:t>规定</a:t>
                </a:r>
                <a14:m>
                  <m:oMath xmlns:m="http://schemas.openxmlformats.org/officeDocument/2006/math">
                    <m:r>
                      <a:rPr lang="zh-CN" altLang="en-US">
                        <a:latin typeface="Cambria Math" panose="02040503050406030204" pitchFamily="18" charset="0"/>
                      </a:rPr>
                      <m:t>𝜅</m:t>
                    </m:r>
                    <m:r>
                      <a:rPr lang="en-US" altLang="zh-CN">
                        <a:latin typeface="Cambria Math" panose="02040503050406030204" pitchFamily="18" charset="0"/>
                      </a:rPr>
                      <m:t>(</m:t>
                    </m:r>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K</m:t>
                        </m:r>
                      </m:e>
                      <m:sub>
                        <m:r>
                          <a:rPr lang="en-US" altLang="zh-CN">
                            <a:latin typeface="Cambria Math" panose="02040503050406030204" pitchFamily="18" charset="0"/>
                          </a:rPr>
                          <m:t>𝑛</m:t>
                        </m:r>
                      </m:sub>
                    </m:sSub>
                    <m:r>
                      <a:rPr lang="en-US" altLang="zh-CN">
                        <a:latin typeface="Cambria Math" panose="02040503050406030204" pitchFamily="18" charset="0"/>
                      </a:rPr>
                      <m:t>)</m:t>
                    </m:r>
                  </m:oMath>
                </a14:m>
                <a:r>
                  <a:rPr lang="en-US" altLang="zh-CN" dirty="0"/>
                  <a:t>=n-1. </a:t>
                </a:r>
                <a:r>
                  <a:rPr lang="zh-CN" altLang="en-US" dirty="0"/>
                  <a:t>这表示需要删除的顶点数</a:t>
                </a:r>
                <a:r>
                  <a:rPr lang="en-US" altLang="zh-CN" dirty="0" smtClean="0"/>
                  <a:t>, </a:t>
                </a:r>
                <a:r>
                  <a:rPr lang="zh-CN" altLang="en-US" dirty="0" smtClean="0"/>
                  <a:t>以便</a:t>
                </a:r>
                <a:r>
                  <a:rPr lang="zh-CN" altLang="en-US" dirty="0"/>
                  <a:t>得到只含有一个顶点的图</a:t>
                </a:r>
                <a:r>
                  <a:rPr lang="en-US" altLang="zh-CN" dirty="0"/>
                  <a:t>.</a:t>
                </a:r>
              </a:p>
              <a:p>
                <a:pPr lvl="1"/>
                <a:r>
                  <a:rPr lang="zh-CN" altLang="en-US" dirty="0"/>
                  <a:t>概括来说</a:t>
                </a:r>
                <a:r>
                  <a:rPr lang="en-US" altLang="zh-CN" dirty="0"/>
                  <a:t>,</a:t>
                </a:r>
                <a:r>
                  <a:rPr lang="en-US" altLang="zh-CN" dirty="0" smtClean="0"/>
                  <a:t> </a:t>
                </a:r>
                <a14:m>
                  <m:oMath xmlns:m="http://schemas.openxmlformats.org/officeDocument/2006/math">
                    <m:r>
                      <m:rPr>
                        <m:nor/>
                      </m:rPr>
                      <a:rPr lang="zh-CN" altLang="en-US" dirty="0"/>
                      <m:t>点连通度</m:t>
                    </m:r>
                    <m:r>
                      <a:rPr lang="zh-CN" altLang="en-US">
                        <a:latin typeface="Cambria Math" panose="02040503050406030204" pitchFamily="18" charset="0"/>
                      </a:rPr>
                      <m:t>𝜅</m:t>
                    </m:r>
                    <m:r>
                      <a:rPr lang="en-US" altLang="zh-CN">
                        <a:latin typeface="Cambria Math" panose="02040503050406030204" pitchFamily="18" charset="0"/>
                      </a:rPr>
                      <m:t>(</m:t>
                    </m:r>
                    <m:r>
                      <a:rPr lang="en-US" altLang="zh-CN">
                        <a:latin typeface="Cambria Math" panose="02040503050406030204" pitchFamily="18" charset="0"/>
                      </a:rPr>
                      <m:t>𝐺</m:t>
                    </m:r>
                    <m:r>
                      <a:rPr lang="en-US" altLang="zh-CN">
                        <a:latin typeface="Cambria Math" panose="02040503050406030204" pitchFamily="18" charset="0"/>
                      </a:rPr>
                      <m:t>)</m:t>
                    </m:r>
                  </m:oMath>
                </a14:m>
                <a:r>
                  <a:rPr lang="zh-CN" altLang="en-US" dirty="0" smtClean="0"/>
                  <a:t>是使得</a:t>
                </a:r>
                <a:r>
                  <a:rPr lang="zh-CN" altLang="en-US" dirty="0"/>
                  <a:t>连通分支数大于原图连通分支数或只含一个顶点的</a:t>
                </a:r>
                <a:r>
                  <a:rPr lang="zh-CN" altLang="en-US" dirty="0" smtClean="0"/>
                  <a:t>图需要删除</a:t>
                </a:r>
                <a:r>
                  <a:rPr lang="zh-CN" altLang="en-US" dirty="0"/>
                  <a:t>最少的顶点</a:t>
                </a:r>
                <a:r>
                  <a:rPr lang="zh-CN" altLang="en-US" dirty="0" smtClean="0"/>
                  <a:t>数</a:t>
                </a:r>
                <a:r>
                  <a:rPr lang="en-US" altLang="zh-CN" dirty="0" smtClean="0"/>
                  <a:t>. </a:t>
                </a:r>
                <a:endParaRPr lang="en-US" altLang="zh-CN" dirty="0"/>
              </a:p>
              <a:p>
                <a:pPr lvl="1"/>
                <a:r>
                  <a:rPr lang="zh-CN" altLang="en-US" dirty="0"/>
                  <a:t>若</a:t>
                </a:r>
                <a:r>
                  <a:rPr lang="en-US" altLang="zh-CN" dirty="0"/>
                  <a:t>G</a:t>
                </a:r>
                <a:r>
                  <a:rPr lang="zh-CN" altLang="en-US" dirty="0"/>
                  <a:t>含有</a:t>
                </a:r>
                <a:r>
                  <a:rPr lang="en-US" altLang="zh-CN" dirty="0"/>
                  <a:t>n</a:t>
                </a:r>
                <a:r>
                  <a:rPr lang="zh-CN" altLang="en-US" dirty="0"/>
                  <a:t>个顶点</a:t>
                </a:r>
                <a:r>
                  <a:rPr lang="en-US" altLang="zh-CN" dirty="0"/>
                  <a:t>, </a:t>
                </a:r>
                <a:r>
                  <a:rPr lang="zh-CN" altLang="en-US" dirty="0" smtClean="0"/>
                  <a:t>则</a:t>
                </a:r>
                <a14:m>
                  <m:oMath xmlns:m="http://schemas.openxmlformats.org/officeDocument/2006/math">
                    <m:r>
                      <a:rPr lang="en-US" altLang="zh-CN" dirty="0">
                        <a:latin typeface="Cambria Math" panose="02040503050406030204" pitchFamily="18" charset="0"/>
                      </a:rPr>
                      <m:t>0≤</m:t>
                    </m:r>
                    <m:r>
                      <a:rPr lang="en-US" altLang="zh-CN" dirty="0">
                        <a:latin typeface="Cambria Math" panose="02040503050406030204" pitchFamily="18" charset="0"/>
                      </a:rPr>
                      <m:t>𝑘</m:t>
                    </m:r>
                    <m:r>
                      <a:rPr lang="en-US" altLang="zh-CN" dirty="0">
                        <a:latin typeface="Cambria Math" panose="02040503050406030204" pitchFamily="18" charset="0"/>
                      </a:rPr>
                      <m:t>(</m:t>
                    </m:r>
                    <m:r>
                      <a:rPr lang="en-US" altLang="zh-CN" dirty="0">
                        <a:latin typeface="Cambria Math" panose="02040503050406030204" pitchFamily="18" charset="0"/>
                      </a:rPr>
                      <m:t>𝐺</m:t>
                    </m:r>
                    <m:r>
                      <a:rPr lang="en-US" altLang="zh-CN" dirty="0">
                        <a:latin typeface="Cambria Math" panose="02040503050406030204" pitchFamily="18" charset="0"/>
                      </a:rPr>
                      <m:t>)≤</m:t>
                    </m:r>
                    <m:r>
                      <m:rPr>
                        <m:sty m:val="p"/>
                      </m:rPr>
                      <a:rPr lang="en-US" altLang="zh-CN" dirty="0">
                        <a:latin typeface="Cambria Math" panose="02040503050406030204" pitchFamily="18" charset="0"/>
                      </a:rPr>
                      <m:t>n</m:t>
                    </m:r>
                    <m:r>
                      <a:rPr lang="en-US" altLang="zh-CN" dirty="0">
                        <a:latin typeface="Cambria Math" panose="02040503050406030204" pitchFamily="18" charset="0"/>
                      </a:rPr>
                      <m:t>−1</m:t>
                    </m:r>
                  </m:oMath>
                </a14:m>
                <a:r>
                  <a:rPr lang="en-US" altLang="zh-CN" dirty="0" smtClean="0"/>
                  <a:t>, </a:t>
                </a:r>
              </a:p>
              <a:p>
                <a:pPr lvl="1"/>
                <a:r>
                  <a:rPr lang="en-US" altLang="zh-CN" dirty="0" smtClean="0"/>
                  <a:t> G</a:t>
                </a:r>
                <a:r>
                  <a:rPr lang="zh-CN" altLang="en-US" dirty="0"/>
                  <a:t>是不连通的或者</a:t>
                </a:r>
                <a:r>
                  <a:rPr lang="en-US" altLang="zh-CN" dirty="0"/>
                  <a:t>G=</a:t>
                </a:r>
                <a14:m>
                  <m:oMath xmlns:m="http://schemas.openxmlformats.org/officeDocument/2006/math">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K</m:t>
                        </m:r>
                      </m:e>
                      <m:sub>
                        <m:r>
                          <a:rPr lang="en-US" altLang="zh-CN" b="0" i="0" smtClean="0">
                            <a:latin typeface="Cambria Math" panose="02040503050406030204" pitchFamily="18" charset="0"/>
                          </a:rPr>
                          <m:t>1</m:t>
                        </m:r>
                      </m:sub>
                    </m:sSub>
                    <m:r>
                      <a:rPr lang="zh-CN" altLang="en-US" i="1">
                        <a:latin typeface="Cambria Math" panose="02040503050406030204" pitchFamily="18" charset="0"/>
                      </a:rPr>
                      <m:t>，</m:t>
                    </m:r>
                  </m:oMath>
                </a14:m>
                <a:r>
                  <a:rPr lang="zh-CN" altLang="en-US" dirty="0"/>
                  <a:t>规定</a:t>
                </a:r>
                <a:r>
                  <a:rPr lang="en-US" altLang="zh-CN" dirty="0"/>
                  <a:t>k(G)=0 </a:t>
                </a:r>
                <a:endParaRPr lang="en-US" altLang="zh-CN" dirty="0" smtClean="0"/>
              </a:p>
              <a:p>
                <a:pPr lvl="1"/>
                <a:r>
                  <a:rPr lang="en-US" altLang="zh-CN" dirty="0" smtClean="0"/>
                  <a:t>k(G</a:t>
                </a:r>
                <a:r>
                  <a:rPr lang="en-US" altLang="zh-CN" dirty="0"/>
                  <a:t>)=</a:t>
                </a:r>
                <a:r>
                  <a:rPr lang="en-US" altLang="zh-CN" dirty="0" smtClean="0"/>
                  <a:t>n-1, </a:t>
                </a:r>
                <a:r>
                  <a:rPr lang="zh-CN" altLang="en-US" dirty="0" smtClean="0"/>
                  <a:t>当且仅当</a:t>
                </a:r>
                <a:r>
                  <a:rPr lang="en-US" altLang="zh-CN" dirty="0"/>
                  <a:t>G</a:t>
                </a:r>
                <a:r>
                  <a:rPr lang="zh-CN" altLang="en-US" dirty="0"/>
                  <a:t>是完全图</a:t>
                </a:r>
                <a14:m>
                  <m:oMath xmlns:m="http://schemas.openxmlformats.org/officeDocument/2006/math">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K</m:t>
                        </m:r>
                      </m:e>
                      <m:sub>
                        <m:r>
                          <a:rPr lang="en-US" altLang="zh-CN">
                            <a:latin typeface="Cambria Math" panose="02040503050406030204" pitchFamily="18" charset="0"/>
                          </a:rPr>
                          <m:t>𝑛</m:t>
                        </m:r>
                      </m:sub>
                    </m:sSub>
                  </m:oMath>
                </a14:m>
                <a:r>
                  <a:rPr lang="en-US" altLang="zh-CN" dirty="0" smtClean="0"/>
                  <a:t>.</a:t>
                </a:r>
              </a:p>
              <a:p>
                <a:pPr lvl="1"/>
                <a14:m>
                  <m:oMath xmlns:m="http://schemas.openxmlformats.org/officeDocument/2006/math">
                    <m:r>
                      <a:rPr lang="zh-CN" altLang="en-US" i="1">
                        <a:latin typeface="Cambria Math" panose="02040503050406030204" pitchFamily="18" charset="0"/>
                      </a:rPr>
                      <m:t>𝜅</m:t>
                    </m:r>
                  </m:oMath>
                </a14:m>
                <a:r>
                  <a:rPr lang="en-US" altLang="zh-CN" dirty="0"/>
                  <a:t>(G)</a:t>
                </a:r>
                <a:r>
                  <a:rPr lang="zh-CN" altLang="en-US" dirty="0"/>
                  <a:t>越大</a:t>
                </a:r>
                <a:r>
                  <a:rPr lang="en-US" altLang="zh-CN" dirty="0"/>
                  <a:t>, G</a:t>
                </a:r>
                <a:r>
                  <a:rPr lang="zh-CN" altLang="en-US" dirty="0"/>
                  <a:t>的连通性越好</a:t>
                </a:r>
                <a:r>
                  <a:rPr lang="en-US" altLang="zh-CN" dirty="0" smtClean="0"/>
                  <a:t>.</a:t>
                </a:r>
                <a:endParaRPr lang="en-US" altLang="zh-CN" dirty="0"/>
              </a:p>
              <a:p>
                <a:endParaRPr lang="en-US" altLang="zh-CN" sz="2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95086" y="1088824"/>
                <a:ext cx="11215914" cy="5121481"/>
              </a:xfrm>
              <a:blipFill rotWithShape="0">
                <a:blip r:embed="rId2"/>
                <a:stretch>
                  <a:fillRect l="-978" t="-1310" r="-2283"/>
                </a:stretch>
              </a:blipFill>
            </p:spPr>
            <p:txBody>
              <a:bodyPr/>
              <a:lstStyle/>
              <a:p>
                <a:r>
                  <a:rPr lang="zh-CN" altLang="en-US">
                    <a:noFill/>
                  </a:rPr>
                  <a:t> </a:t>
                </a:r>
              </a:p>
            </p:txBody>
          </p:sp>
        </mc:Fallback>
      </mc:AlternateContent>
      <p:sp>
        <p:nvSpPr>
          <p:cNvPr id="7" name="日期占位符 6"/>
          <p:cNvSpPr>
            <a:spLocks noGrp="1"/>
          </p:cNvSpPr>
          <p:nvPr>
            <p:ph type="dt" sz="half" idx="10"/>
          </p:nvPr>
        </p:nvSpPr>
        <p:spPr/>
        <p:txBody>
          <a:bodyPr/>
          <a:lstStyle/>
          <a:p>
            <a:fld id="{02AC8ED9-52CC-47EA-89AC-72245945C80F}"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124</a:t>
            </a:fld>
            <a:endParaRPr lang="zh-CN" altLang="en-US" dirty="0"/>
          </a:p>
        </p:txBody>
      </p:sp>
    </p:spTree>
    <p:extLst>
      <p:ext uri="{BB962C8B-B14F-4D97-AF65-F5344CB8AC3E}">
        <p14:creationId xmlns:p14="http://schemas.microsoft.com/office/powerpoint/2010/main" val="228776288"/>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57201" y="1066800"/>
            <a:ext cx="11277599" cy="5334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smtClean="0"/>
              <a:t>图是如何连通的</a:t>
            </a:r>
            <a:endParaRPr lang="en-US" dirty="0">
              <a:solidFill>
                <a:srgbClr val="C00000"/>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274320" lvl="1" indent="-274320">
                  <a:lnSpc>
                    <a:spcPct val="100000"/>
                  </a:lnSpc>
                  <a:spcBef>
                    <a:spcPts val="1000"/>
                  </a:spcBef>
                  <a:buClr>
                    <a:srgbClr val="CEA524"/>
                  </a:buClr>
                  <a:buSzPct val="100000"/>
                  <a:buFont typeface="Wingdings" panose="05000000000000000000" pitchFamily="2" charset="2"/>
                  <a:buChar char="q"/>
                </a:pPr>
                <a:r>
                  <a:rPr lang="zh-CN" altLang="en-US" sz="2800" dirty="0" smtClean="0"/>
                  <a:t>若</a:t>
                </a:r>
                <a14:m>
                  <m:oMath xmlns:m="http://schemas.openxmlformats.org/officeDocument/2006/math">
                    <m:r>
                      <a:rPr lang="zh-CN" altLang="en-US" sz="2800" i="1">
                        <a:latin typeface="Cambria Math" panose="02040503050406030204" pitchFamily="18" charset="0"/>
                      </a:rPr>
                      <m:t>𝜅</m:t>
                    </m:r>
                  </m:oMath>
                </a14:m>
                <a:r>
                  <a:rPr lang="en-US" altLang="zh-CN" sz="2800" dirty="0"/>
                  <a:t>(G)</a:t>
                </a:r>
                <a14:m>
                  <m:oMath xmlns:m="http://schemas.openxmlformats.org/officeDocument/2006/math">
                    <m:r>
                      <a:rPr lang="en-US" altLang="zh-CN" sz="2800">
                        <a:latin typeface="Cambria Math" panose="02040503050406030204" pitchFamily="18" charset="0"/>
                      </a:rPr>
                      <m:t>≥</m:t>
                    </m:r>
                    <m:r>
                      <a:rPr lang="en-US" altLang="zh-CN" sz="2800" i="1">
                        <a:latin typeface="Cambria Math" panose="02040503050406030204" pitchFamily="18" charset="0"/>
                      </a:rPr>
                      <m:t>𝑘</m:t>
                    </m:r>
                  </m:oMath>
                </a14:m>
                <a:r>
                  <a:rPr lang="en-US" altLang="zh-CN" sz="2800" dirty="0" smtClean="0"/>
                  <a:t>, </a:t>
                </a:r>
                <a:r>
                  <a:rPr lang="zh-CN" altLang="en-US" sz="2800" dirty="0" smtClean="0"/>
                  <a:t>我们</a:t>
                </a:r>
                <a:r>
                  <a:rPr lang="zh-CN" altLang="en-US" sz="2800" dirty="0"/>
                  <a:t>则称图</a:t>
                </a:r>
                <a:r>
                  <a:rPr lang="zh-CN" altLang="en-US" sz="2800" dirty="0" smtClean="0"/>
                  <a:t>为</a:t>
                </a:r>
                <a:r>
                  <a:rPr lang="zh-CN" altLang="en-US" sz="2800" b="1" dirty="0" smtClean="0">
                    <a:solidFill>
                      <a:srgbClr val="C00000"/>
                    </a:solidFill>
                  </a:rPr>
                  <a:t>𝑘</a:t>
                </a:r>
                <a:r>
                  <a:rPr lang="zh-CN" altLang="en-US" sz="2800" b="1" dirty="0">
                    <a:solidFill>
                      <a:srgbClr val="C00000"/>
                    </a:solidFill>
                  </a:rPr>
                  <a:t>连通的</a:t>
                </a:r>
                <a:r>
                  <a:rPr lang="en-US" altLang="zh-CN" sz="2800" dirty="0"/>
                  <a:t>(</a:t>
                </a:r>
                <a14:m>
                  <m:oMath xmlns:m="http://schemas.openxmlformats.org/officeDocument/2006/math">
                    <m:r>
                      <a:rPr lang="en-US" altLang="zh-CN" sz="2800" i="1">
                        <a:latin typeface="Cambria Math" panose="02040503050406030204" pitchFamily="18" charset="0"/>
                      </a:rPr>
                      <m:t>𝑘</m:t>
                    </m:r>
                  </m:oMath>
                </a14:m>
                <a:r>
                  <a:rPr lang="zh-CN" altLang="en-US" sz="2800" dirty="0"/>
                  <a:t>顶点</a:t>
                </a:r>
                <a:r>
                  <a:rPr lang="en-US" altLang="zh-CN" sz="2800" dirty="0"/>
                  <a:t>-</a:t>
                </a:r>
                <a:r>
                  <a:rPr lang="zh-CN" altLang="en-US" sz="2800" dirty="0"/>
                  <a:t>连通</a:t>
                </a:r>
                <a:r>
                  <a:rPr lang="en-US" altLang="zh-CN" sz="2800" dirty="0"/>
                  <a:t>).</a:t>
                </a:r>
              </a:p>
              <a:p>
                <a:pPr lvl="1"/>
                <a:r>
                  <a:rPr lang="zh-CN" altLang="en-US" dirty="0" smtClean="0"/>
                  <a:t>若图是连通的且不是只含</a:t>
                </a:r>
                <a:r>
                  <a:rPr lang="en-US" altLang="zh-CN" dirty="0" smtClean="0"/>
                  <a:t>1</a:t>
                </a:r>
                <a:r>
                  <a:rPr lang="zh-CN" altLang="en-US" dirty="0" smtClean="0"/>
                  <a:t>个顶点的图</a:t>
                </a:r>
                <a:r>
                  <a:rPr lang="en-US" altLang="zh-CN" dirty="0" smtClean="0"/>
                  <a:t>, </a:t>
                </a:r>
                <a:r>
                  <a:rPr lang="zh-CN" altLang="en-US" dirty="0" smtClean="0"/>
                  <a:t>则称该图是</a:t>
                </a:r>
                <a:r>
                  <a:rPr lang="en-US" altLang="zh-CN" dirty="0" smtClean="0"/>
                  <a:t>1</a:t>
                </a:r>
                <a:r>
                  <a:rPr lang="zh-CN" altLang="en-US" dirty="0" smtClean="0"/>
                  <a:t>连通的</a:t>
                </a:r>
                <a:r>
                  <a:rPr lang="en-US" altLang="zh-CN" dirty="0" smtClean="0"/>
                  <a:t>.</a:t>
                </a:r>
              </a:p>
              <a:p>
                <a:pPr lvl="1"/>
                <a:r>
                  <a:rPr lang="zh-CN" altLang="en-US" dirty="0" smtClean="0"/>
                  <a:t>若图是不可分割的且至少含有</a:t>
                </a:r>
                <a:r>
                  <a:rPr lang="en-US" altLang="zh-CN" dirty="0" smtClean="0"/>
                  <a:t>3</a:t>
                </a:r>
                <a:r>
                  <a:rPr lang="zh-CN" altLang="en-US" dirty="0" smtClean="0"/>
                  <a:t>个顶点</a:t>
                </a:r>
                <a:r>
                  <a:rPr lang="en-US" altLang="zh-CN" dirty="0" smtClean="0"/>
                  <a:t>, </a:t>
                </a:r>
                <a:r>
                  <a:rPr lang="zh-CN" altLang="en-US" dirty="0" smtClean="0"/>
                  <a:t>则称该图是</a:t>
                </a:r>
                <a:r>
                  <a:rPr lang="en-US" altLang="zh-CN" dirty="0" smtClean="0"/>
                  <a:t>2</a:t>
                </a:r>
                <a:r>
                  <a:rPr lang="zh-CN" altLang="en-US" dirty="0" smtClean="0"/>
                  <a:t>连通的或双连通的</a:t>
                </a:r>
                <a:r>
                  <a:rPr lang="en-US" altLang="zh-CN" dirty="0" smtClean="0"/>
                  <a:t>.</a:t>
                </a:r>
              </a:p>
              <a:p>
                <a:pPr lvl="1"/>
                <a:r>
                  <a:rPr lang="zh-CN" altLang="en-US" dirty="0" smtClean="0"/>
                  <a:t>若</a:t>
                </a:r>
                <a:r>
                  <a:rPr lang="en-US" altLang="zh-CN" dirty="0" smtClean="0"/>
                  <a:t>G</a:t>
                </a:r>
                <a:r>
                  <a:rPr lang="zh-CN" altLang="en-US" dirty="0" smtClean="0"/>
                  <a:t>是一个</a:t>
                </a:r>
                <a14:m>
                  <m:oMath xmlns:m="http://schemas.openxmlformats.org/officeDocument/2006/math">
                    <m:r>
                      <a:rPr lang="en-US" altLang="zh-CN" i="1">
                        <a:latin typeface="Cambria Math" panose="02040503050406030204" pitchFamily="18" charset="0"/>
                      </a:rPr>
                      <m:t>𝑘</m:t>
                    </m:r>
                  </m:oMath>
                </a14:m>
                <a:r>
                  <a:rPr lang="zh-CN" altLang="en-US" dirty="0" smtClean="0"/>
                  <a:t>连通的</a:t>
                </a:r>
                <a:r>
                  <a:rPr lang="en-US" altLang="zh-CN" dirty="0" smtClean="0"/>
                  <a:t>, </a:t>
                </a:r>
                <a:r>
                  <a:rPr lang="zh-CN" altLang="en-US" dirty="0" smtClean="0"/>
                  <a:t>则对所有的</a:t>
                </a:r>
                <a14:m>
                  <m:oMath xmlns:m="http://schemas.openxmlformats.org/officeDocument/2006/math">
                    <m:r>
                      <a:rPr lang="en-US" altLang="zh-CN" i="1">
                        <a:latin typeface="Cambria Math" panose="02040503050406030204" pitchFamily="18" charset="0"/>
                      </a:rPr>
                      <m:t>𝑗</m:t>
                    </m:r>
                  </m:oMath>
                </a14:m>
                <a:r>
                  <a:rPr lang="en-US" altLang="zh-CN" dirty="0" smtClean="0"/>
                  <a:t>, </a:t>
                </a:r>
                <a14:m>
                  <m:oMath xmlns:m="http://schemas.openxmlformats.org/officeDocument/2006/math">
                    <m:r>
                      <a:rPr lang="en-US" altLang="zh-CN" b="0" i="1" smtClean="0">
                        <a:latin typeface="Cambria Math" panose="02040503050406030204" pitchFamily="18" charset="0"/>
                      </a:rPr>
                      <m:t>0</m:t>
                    </m:r>
                    <m:r>
                      <a:rPr lang="zh-CN" altLang="en-US" i="1" smtClean="0">
                        <a:latin typeface="Cambria Math" panose="02040503050406030204" pitchFamily="18" charset="0"/>
                      </a:rPr>
                      <m:t>≤</m:t>
                    </m:r>
                    <m:r>
                      <a:rPr lang="en-US" altLang="zh-CN" i="1">
                        <a:latin typeface="Cambria Math" panose="02040503050406030204" pitchFamily="18" charset="0"/>
                      </a:rPr>
                      <m:t>𝑗</m:t>
                    </m:r>
                    <m:r>
                      <a:rPr lang="zh-CN" altLang="en-US" i="1" smtClean="0">
                        <a:latin typeface="Cambria Math" panose="02040503050406030204" pitchFamily="18" charset="0"/>
                      </a:rPr>
                      <m:t>≤</m:t>
                    </m:r>
                    <m:r>
                      <a:rPr lang="en-US" altLang="zh-CN" b="0" i="1" smtClean="0">
                        <a:latin typeface="Cambria Math" panose="02040503050406030204" pitchFamily="18" charset="0"/>
                      </a:rPr>
                      <m:t>𝑘</m:t>
                    </m:r>
                  </m:oMath>
                </a14:m>
                <a:r>
                  <a:rPr lang="en-US" altLang="zh-CN" dirty="0" smtClean="0"/>
                  <a:t>, G</a:t>
                </a:r>
                <a:r>
                  <a:rPr lang="zh-CN" altLang="en-US" dirty="0" smtClean="0"/>
                  <a:t>是一个</a:t>
                </a:r>
                <a14:m>
                  <m:oMath xmlns:m="http://schemas.openxmlformats.org/officeDocument/2006/math">
                    <m:r>
                      <a:rPr lang="en-US" altLang="zh-CN" i="1">
                        <a:latin typeface="Cambria Math" panose="02040503050406030204" pitchFamily="18" charset="0"/>
                      </a:rPr>
                      <m:t>𝑗</m:t>
                    </m:r>
                  </m:oMath>
                </a14:m>
                <a:r>
                  <a:rPr lang="zh-CN" altLang="en-US" dirty="0" smtClean="0"/>
                  <a:t>连通的</a:t>
                </a:r>
                <a:r>
                  <a:rPr lang="en-US" altLang="zh-CN" dirty="0" smtClean="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429"/>
                </a:stretch>
              </a:blipFill>
            </p:spPr>
            <p:txBody>
              <a:bodyPr/>
              <a:lstStyle/>
              <a:p>
                <a:r>
                  <a:rPr lang="zh-CN" altLang="en-US">
                    <a:noFill/>
                  </a:rPr>
                  <a:t> </a:t>
                </a:r>
              </a:p>
            </p:txBody>
          </p:sp>
        </mc:Fallback>
      </mc:AlternateContent>
      <p:sp>
        <p:nvSpPr>
          <p:cNvPr id="7" name="日期占位符 6"/>
          <p:cNvSpPr>
            <a:spLocks noGrp="1"/>
          </p:cNvSpPr>
          <p:nvPr>
            <p:ph type="dt" sz="half" idx="10"/>
          </p:nvPr>
        </p:nvSpPr>
        <p:spPr/>
        <p:txBody>
          <a:bodyPr/>
          <a:lstStyle/>
          <a:p>
            <a:fld id="{FCCDE634-5912-4D94-B67E-A5C12E011FB9}"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125</a:t>
            </a:fld>
            <a:endParaRPr lang="zh-CN" altLang="en-US" dirty="0"/>
          </a:p>
        </p:txBody>
      </p:sp>
    </p:spTree>
    <p:extLst>
      <p:ext uri="{BB962C8B-B14F-4D97-AF65-F5344CB8AC3E}">
        <p14:creationId xmlns:p14="http://schemas.microsoft.com/office/powerpoint/2010/main" val="3400673441"/>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图是如何连通的</a:t>
            </a:r>
            <a:endParaRPr lang="en-US" dirty="0">
              <a:solidFill>
                <a:srgbClr val="C00000"/>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smtClean="0"/>
                  <a:t>例</a:t>
                </a:r>
                <a:r>
                  <a:rPr lang="en-US" altLang="zh-CN" dirty="0" smtClean="0"/>
                  <a:t>: </a:t>
                </a:r>
                <a:r>
                  <a:rPr lang="zh-CN" altLang="en-US" dirty="0" smtClean="0"/>
                  <a:t>求下图的点连通度</a:t>
                </a:r>
                <a:endParaRPr lang="en-US" altLang="zh-CN" dirty="0" smtClean="0"/>
              </a:p>
              <a:p>
                <a:endParaRPr lang="en-US" altLang="zh-CN" dirty="0"/>
              </a:p>
              <a:p>
                <a:endParaRPr lang="en-US" altLang="zh-CN" dirty="0" smtClean="0"/>
              </a:p>
              <a:p>
                <a:endParaRPr lang="en-US" altLang="zh-CN" dirty="0"/>
              </a:p>
              <a:p>
                <a:endParaRPr lang="en-US" altLang="zh-CN" dirty="0" smtClean="0"/>
              </a:p>
              <a:p>
                <a:r>
                  <a:rPr lang="zh-CN" altLang="en-US" dirty="0" smtClean="0"/>
                  <a:t>解</a:t>
                </a:r>
                <a:r>
                  <a:rPr lang="en-US" altLang="zh-CN" dirty="0" smtClean="0"/>
                  <a:t>: </a:t>
                </a:r>
              </a:p>
              <a:p>
                <a:pPr lvl="1"/>
                <a:r>
                  <a:rPr lang="zh-CN" altLang="en-US" dirty="0"/>
                  <a:t>因为</a:t>
                </a:r>
                <a:r>
                  <a:rPr lang="en-US" altLang="zh-CN" dirty="0"/>
                  <a:t>G1</a:t>
                </a:r>
                <a:r>
                  <a:rPr lang="zh-CN" altLang="en-US" dirty="0"/>
                  <a:t>是有割点</a:t>
                </a:r>
                <a:r>
                  <a:rPr lang="en-US" altLang="zh-CN" dirty="0" smtClean="0"/>
                  <a:t>(</a:t>
                </a:r>
                <a:r>
                  <a:rPr lang="zh-CN" altLang="en-US" dirty="0" smtClean="0"/>
                  <a:t>如</a:t>
                </a:r>
                <a:r>
                  <a:rPr lang="en-US" altLang="zh-CN" dirty="0" err="1" smtClean="0"/>
                  <a:t>b,c,e</a:t>
                </a:r>
                <a:r>
                  <a:rPr lang="en-US" altLang="zh-CN" dirty="0" smtClean="0"/>
                  <a:t>)</a:t>
                </a:r>
                <a:r>
                  <a:rPr lang="zh-CN" altLang="en-US" dirty="0"/>
                  <a:t>的连通图</a:t>
                </a:r>
                <a:r>
                  <a:rPr lang="en-US" altLang="zh-CN" dirty="0"/>
                  <a:t>, </a:t>
                </a:r>
                <a:r>
                  <a:rPr lang="zh-CN" altLang="en-US" dirty="0"/>
                  <a:t>所以</a:t>
                </a:r>
                <a14:m>
                  <m:oMath xmlns:m="http://schemas.openxmlformats.org/officeDocument/2006/math">
                    <m:r>
                      <a:rPr lang="zh-CN" altLang="en-US" i="1">
                        <a:latin typeface="Cambria Math" panose="02040503050406030204" pitchFamily="18" charset="0"/>
                      </a:rPr>
                      <m:t>𝜅</m:t>
                    </m:r>
                  </m:oMath>
                </a14:m>
                <a:r>
                  <a:rPr lang="en-US" altLang="zh-CN" dirty="0"/>
                  <a:t>(G1)=1. </a:t>
                </a:r>
              </a:p>
              <a:p>
                <a:pPr lvl="1"/>
                <a:r>
                  <a:rPr lang="zh-CN" altLang="en-US" dirty="0"/>
                  <a:t>因为</a:t>
                </a:r>
                <a:r>
                  <a:rPr lang="en-US" altLang="zh-CN" dirty="0"/>
                  <a:t>G2</a:t>
                </a:r>
                <a:r>
                  <a:rPr lang="zh-CN" altLang="en-US" dirty="0"/>
                  <a:t>是有</a:t>
                </a:r>
                <a:r>
                  <a:rPr lang="zh-CN" altLang="en-US" dirty="0" smtClean="0"/>
                  <a:t>割点</a:t>
                </a:r>
                <a:r>
                  <a:rPr lang="en-US" altLang="zh-CN" dirty="0" smtClean="0"/>
                  <a:t>(</a:t>
                </a:r>
                <a:r>
                  <a:rPr lang="zh-CN" altLang="en-US" dirty="0" smtClean="0"/>
                  <a:t>如</a:t>
                </a:r>
                <a:r>
                  <a:rPr lang="en-US" altLang="zh-CN" dirty="0" smtClean="0"/>
                  <a:t>c)</a:t>
                </a:r>
                <a:r>
                  <a:rPr lang="zh-CN" altLang="en-US" dirty="0"/>
                  <a:t>的连通图</a:t>
                </a:r>
                <a:r>
                  <a:rPr lang="en-US" altLang="zh-CN" dirty="0"/>
                  <a:t>, </a:t>
                </a:r>
                <a:r>
                  <a:rPr lang="zh-CN" altLang="en-US" dirty="0"/>
                  <a:t>所以</a:t>
                </a:r>
                <a14:m>
                  <m:oMath xmlns:m="http://schemas.openxmlformats.org/officeDocument/2006/math">
                    <m:r>
                      <a:rPr lang="zh-CN" altLang="en-US" i="1">
                        <a:latin typeface="Cambria Math" panose="02040503050406030204" pitchFamily="18" charset="0"/>
                      </a:rPr>
                      <m:t>𝜅</m:t>
                    </m:r>
                  </m:oMath>
                </a14:m>
                <a:r>
                  <a:rPr lang="en-US" altLang="zh-CN" dirty="0"/>
                  <a:t>(G2)=1. </a:t>
                </a:r>
              </a:p>
              <a:p>
                <a:pPr lvl="1"/>
                <a:r>
                  <a:rPr lang="en-US" altLang="zh-CN" dirty="0"/>
                  <a:t>G3</a:t>
                </a:r>
                <a:r>
                  <a:rPr lang="zh-CN" altLang="en-US" dirty="0"/>
                  <a:t>没有割点</a:t>
                </a:r>
                <a:r>
                  <a:rPr lang="en-US" altLang="zh-CN" dirty="0"/>
                  <a:t>, </a:t>
                </a:r>
                <a:r>
                  <a:rPr lang="zh-CN" altLang="en-US" dirty="0"/>
                  <a:t>但是</a:t>
                </a:r>
                <a:r>
                  <a:rPr lang="en-US" altLang="zh-CN" dirty="0"/>
                  <a:t>{b, g}</a:t>
                </a:r>
                <a:r>
                  <a:rPr lang="zh-CN" altLang="en-US" dirty="0"/>
                  <a:t>是一个点割集</a:t>
                </a:r>
                <a:r>
                  <a:rPr lang="en-US" altLang="zh-CN" dirty="0"/>
                  <a:t>, </a:t>
                </a:r>
                <a:r>
                  <a:rPr lang="zh-CN" altLang="en-US" dirty="0"/>
                  <a:t>所以</a:t>
                </a:r>
                <a14:m>
                  <m:oMath xmlns:m="http://schemas.openxmlformats.org/officeDocument/2006/math">
                    <m:r>
                      <a:rPr lang="zh-CN" altLang="en-US" i="1">
                        <a:latin typeface="Cambria Math" panose="02040503050406030204" pitchFamily="18" charset="0"/>
                      </a:rPr>
                      <m:t>𝜅</m:t>
                    </m:r>
                  </m:oMath>
                </a14:m>
                <a:r>
                  <a:rPr lang="en-US" altLang="zh-CN" dirty="0"/>
                  <a:t>(G3)=2</a:t>
                </a:r>
                <a:r>
                  <a:rPr lang="en-US" altLang="zh-CN" dirty="0" smtClean="0"/>
                  <a:t>.</a:t>
                </a:r>
                <a:endParaRPr lang="en-US" altLang="zh-C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310"/>
                </a:stretch>
              </a:blipFill>
            </p:spPr>
            <p:txBody>
              <a:bodyPr/>
              <a:lstStyle/>
              <a:p>
                <a:r>
                  <a:rPr lang="zh-CN" altLang="en-US">
                    <a:noFill/>
                  </a:rPr>
                  <a:t> </a:t>
                </a:r>
              </a:p>
            </p:txBody>
          </p:sp>
        </mc:Fallback>
      </mc:AlternateContent>
      <p:sp>
        <p:nvSpPr>
          <p:cNvPr id="7" name="日期占位符 6"/>
          <p:cNvSpPr>
            <a:spLocks noGrp="1"/>
          </p:cNvSpPr>
          <p:nvPr>
            <p:ph type="dt" sz="half" idx="10"/>
          </p:nvPr>
        </p:nvSpPr>
        <p:spPr/>
        <p:txBody>
          <a:bodyPr/>
          <a:lstStyle/>
          <a:p>
            <a:fld id="{761CEECE-B86B-4F84-8EB8-0D26CC350D04}"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126</a:t>
            </a:fld>
            <a:endParaRPr lang="zh-CN" altLang="en-US" dirty="0"/>
          </a:p>
        </p:txBody>
      </p:sp>
      <p:pic>
        <p:nvPicPr>
          <p:cNvPr id="4" name="图片 3"/>
          <p:cNvPicPr>
            <a:picLocks noChangeAspect="1"/>
          </p:cNvPicPr>
          <p:nvPr/>
        </p:nvPicPr>
        <p:blipFill>
          <a:blip r:embed="rId3"/>
          <a:stretch>
            <a:fillRect/>
          </a:stretch>
        </p:blipFill>
        <p:spPr>
          <a:xfrm>
            <a:off x="1547400" y="1815602"/>
            <a:ext cx="2034000" cy="2059574"/>
          </a:xfrm>
          <a:prstGeom prst="rect">
            <a:avLst/>
          </a:prstGeom>
        </p:spPr>
      </p:pic>
      <p:pic>
        <p:nvPicPr>
          <p:cNvPr id="5" name="图片 4"/>
          <p:cNvPicPr>
            <a:picLocks noChangeAspect="1"/>
          </p:cNvPicPr>
          <p:nvPr/>
        </p:nvPicPr>
        <p:blipFill>
          <a:blip r:embed="rId4"/>
          <a:stretch>
            <a:fillRect/>
          </a:stretch>
        </p:blipFill>
        <p:spPr>
          <a:xfrm>
            <a:off x="8052956" y="1794820"/>
            <a:ext cx="1981200" cy="2042083"/>
          </a:xfrm>
          <a:prstGeom prst="rect">
            <a:avLst/>
          </a:prstGeom>
        </p:spPr>
      </p:pic>
      <p:pic>
        <p:nvPicPr>
          <p:cNvPr id="10" name="图片 9"/>
          <p:cNvPicPr>
            <a:picLocks noChangeAspect="1"/>
          </p:cNvPicPr>
          <p:nvPr/>
        </p:nvPicPr>
        <p:blipFill>
          <a:blip r:embed="rId5"/>
          <a:stretch>
            <a:fillRect/>
          </a:stretch>
        </p:blipFill>
        <p:spPr>
          <a:xfrm>
            <a:off x="5067301" y="1794820"/>
            <a:ext cx="1676400" cy="2101756"/>
          </a:xfrm>
          <a:prstGeom prst="rect">
            <a:avLst/>
          </a:prstGeom>
        </p:spPr>
      </p:pic>
      <p:sp>
        <p:nvSpPr>
          <p:cNvPr id="11" name="矩形 10"/>
          <p:cNvSpPr/>
          <p:nvPr/>
        </p:nvSpPr>
        <p:spPr>
          <a:xfrm>
            <a:off x="5600701" y="2564079"/>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1752600" y="2746844"/>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8686800" y="2133600"/>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8671331" y="2731345"/>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049827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wipe(down)">
                                      <p:cBhvr>
                                        <p:cTn id="7" dur="500"/>
                                        <p:tgtEl>
                                          <p:spTgt spid="3">
                                            <p:txEl>
                                              <p:pRg st="5" end="5"/>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wipe(down)">
                                      <p:cBhvr>
                                        <p:cTn id="10" dur="500"/>
                                        <p:tgtEl>
                                          <p:spTgt spid="3">
                                            <p:txEl>
                                              <p:pRg st="6" end="6"/>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animEffect transition="in" filter="wipe(down)">
                                      <p:cBhvr>
                                        <p:cTn id="13" dur="500"/>
                                        <p:tgtEl>
                                          <p:spTgt spid="3">
                                            <p:txEl>
                                              <p:pRg st="7" end="7"/>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8" end="8"/>
                                            </p:txEl>
                                          </p:spTgt>
                                        </p:tgtEl>
                                        <p:attrNameLst>
                                          <p:attrName>style.visibility</p:attrName>
                                        </p:attrNameLst>
                                      </p:cBhvr>
                                      <p:to>
                                        <p:strVal val="visible"/>
                                      </p:to>
                                    </p:set>
                                    <p:animEffect transition="in" filter="wipe(down)">
                                      <p:cBhvr>
                                        <p:cTn id="16"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图是如何连通的</a:t>
            </a:r>
            <a:endParaRPr lang="en-US" dirty="0">
              <a:solidFill>
                <a:srgbClr val="C00000"/>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smtClean="0"/>
                  <a:t>例</a:t>
                </a:r>
                <a:r>
                  <a:rPr lang="en-US" altLang="zh-CN" dirty="0" smtClean="0"/>
                  <a:t>: </a:t>
                </a:r>
                <a:r>
                  <a:rPr lang="zh-CN" altLang="en-US" dirty="0" smtClean="0"/>
                  <a:t>求下图的点连通度</a:t>
                </a:r>
                <a:endParaRPr lang="en-US" altLang="zh-CN" dirty="0" smtClean="0"/>
              </a:p>
              <a:p>
                <a:endParaRPr lang="en-US" altLang="zh-CN" dirty="0"/>
              </a:p>
              <a:p>
                <a:endParaRPr lang="en-US" altLang="zh-CN" dirty="0" smtClean="0"/>
              </a:p>
              <a:p>
                <a:endParaRPr lang="en-US" altLang="zh-CN" dirty="0"/>
              </a:p>
              <a:p>
                <a:r>
                  <a:rPr lang="zh-CN" altLang="en-US" dirty="0" smtClean="0"/>
                  <a:t>解</a:t>
                </a:r>
                <a:r>
                  <a:rPr lang="en-US" altLang="zh-CN" dirty="0" smtClean="0"/>
                  <a:t>: </a:t>
                </a:r>
              </a:p>
              <a:p>
                <a:pPr lvl="1"/>
                <a:r>
                  <a:rPr lang="en-US" altLang="zh-CN" dirty="0"/>
                  <a:t>G4</a:t>
                </a:r>
                <a:r>
                  <a:rPr lang="zh-CN" altLang="en-US" dirty="0"/>
                  <a:t>没有割点</a:t>
                </a:r>
                <a:r>
                  <a:rPr lang="en-US" altLang="zh-CN" dirty="0" smtClean="0"/>
                  <a:t>, </a:t>
                </a:r>
                <a:r>
                  <a:rPr lang="zh-CN" altLang="en-US" dirty="0" smtClean="0"/>
                  <a:t>但是</a:t>
                </a:r>
                <a:r>
                  <a:rPr lang="en-US" altLang="zh-CN" dirty="0"/>
                  <a:t>{c, f}</a:t>
                </a:r>
                <a:r>
                  <a:rPr lang="zh-CN" altLang="en-US" dirty="0"/>
                  <a:t>是一个点割集</a:t>
                </a:r>
                <a:r>
                  <a:rPr lang="en-US" altLang="zh-CN" dirty="0" smtClean="0"/>
                  <a:t>, </a:t>
                </a:r>
                <a:r>
                  <a:rPr lang="zh-CN" altLang="en-US" dirty="0" smtClean="0"/>
                  <a:t>所以</a:t>
                </a:r>
                <a14:m>
                  <m:oMath xmlns:m="http://schemas.openxmlformats.org/officeDocument/2006/math">
                    <m:r>
                      <a:rPr lang="zh-CN" altLang="en-US" i="1">
                        <a:latin typeface="Cambria Math" panose="02040503050406030204" pitchFamily="18" charset="0"/>
                      </a:rPr>
                      <m:t>𝜅</m:t>
                    </m:r>
                  </m:oMath>
                </a14:m>
                <a:r>
                  <a:rPr lang="en-US" altLang="zh-CN" dirty="0"/>
                  <a:t>(G4)=2.</a:t>
                </a:r>
              </a:p>
              <a:p>
                <a:pPr lvl="1"/>
                <a:r>
                  <a:rPr lang="en-US" altLang="zh-CN" dirty="0"/>
                  <a:t>G5</a:t>
                </a:r>
                <a:r>
                  <a:rPr lang="zh-CN" altLang="en-US" dirty="0"/>
                  <a:t>没有割点</a:t>
                </a:r>
                <a:r>
                  <a:rPr lang="en-US" altLang="zh-CN" dirty="0" smtClean="0"/>
                  <a:t>, </a:t>
                </a:r>
                <a:r>
                  <a:rPr lang="zh-CN" altLang="en-US" dirty="0" smtClean="0"/>
                  <a:t>但是</a:t>
                </a:r>
                <a:r>
                  <a:rPr lang="en-US" altLang="zh-CN" dirty="0"/>
                  <a:t>{b, c, f}</a:t>
                </a:r>
                <a:r>
                  <a:rPr lang="zh-CN" altLang="en-US" dirty="0"/>
                  <a:t>是一个点割集</a:t>
                </a:r>
                <a:r>
                  <a:rPr lang="en-US" altLang="zh-CN" dirty="0" smtClean="0"/>
                  <a:t>, </a:t>
                </a:r>
                <a:r>
                  <a:rPr lang="zh-CN" altLang="en-US" dirty="0" smtClean="0"/>
                  <a:t>所以</a:t>
                </a:r>
                <a14:m>
                  <m:oMath xmlns:m="http://schemas.openxmlformats.org/officeDocument/2006/math">
                    <m:r>
                      <a:rPr lang="zh-CN" altLang="en-US" i="1">
                        <a:latin typeface="Cambria Math" panose="02040503050406030204" pitchFamily="18" charset="0"/>
                      </a:rPr>
                      <m:t>𝜅</m:t>
                    </m:r>
                  </m:oMath>
                </a14:m>
                <a:r>
                  <a:rPr lang="en-US" altLang="zh-CN" dirty="0"/>
                  <a:t>(G4)=3.</a:t>
                </a:r>
              </a:p>
              <a:p>
                <a:endParaRPr lang="en-US" altLang="zh-CN" dirty="0" smtClean="0"/>
              </a:p>
              <a:p>
                <a:endParaRPr lang="en-US" altLang="zh-CN" dirty="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310"/>
                </a:stretch>
              </a:blipFill>
            </p:spPr>
            <p:txBody>
              <a:bodyPr/>
              <a:lstStyle/>
              <a:p>
                <a:r>
                  <a:rPr lang="zh-CN" altLang="en-US">
                    <a:noFill/>
                  </a:rPr>
                  <a:t> </a:t>
                </a:r>
              </a:p>
            </p:txBody>
          </p:sp>
        </mc:Fallback>
      </mc:AlternateContent>
      <p:sp>
        <p:nvSpPr>
          <p:cNvPr id="7" name="日期占位符 6"/>
          <p:cNvSpPr>
            <a:spLocks noGrp="1"/>
          </p:cNvSpPr>
          <p:nvPr>
            <p:ph type="dt" sz="half" idx="10"/>
          </p:nvPr>
        </p:nvSpPr>
        <p:spPr/>
        <p:txBody>
          <a:bodyPr/>
          <a:lstStyle/>
          <a:p>
            <a:fld id="{5B3D0D24-6BDD-418F-AC83-952697D160E9}"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127</a:t>
            </a:fld>
            <a:endParaRPr lang="zh-CN" altLang="en-US" dirty="0"/>
          </a:p>
        </p:txBody>
      </p:sp>
      <p:pic>
        <p:nvPicPr>
          <p:cNvPr id="11" name="图片 10"/>
          <p:cNvPicPr>
            <a:picLocks noChangeAspect="1"/>
          </p:cNvPicPr>
          <p:nvPr/>
        </p:nvPicPr>
        <p:blipFill>
          <a:blip r:embed="rId3"/>
          <a:stretch>
            <a:fillRect/>
          </a:stretch>
        </p:blipFill>
        <p:spPr>
          <a:xfrm>
            <a:off x="2209800" y="1706880"/>
            <a:ext cx="2286000" cy="1851741"/>
          </a:xfrm>
          <a:prstGeom prst="rect">
            <a:avLst/>
          </a:prstGeom>
        </p:spPr>
      </p:pic>
      <p:pic>
        <p:nvPicPr>
          <p:cNvPr id="12" name="图片 11"/>
          <p:cNvPicPr>
            <a:picLocks noChangeAspect="1"/>
          </p:cNvPicPr>
          <p:nvPr/>
        </p:nvPicPr>
        <p:blipFill>
          <a:blip r:embed="rId4"/>
          <a:stretch>
            <a:fillRect/>
          </a:stretch>
        </p:blipFill>
        <p:spPr>
          <a:xfrm>
            <a:off x="6705600" y="1522251"/>
            <a:ext cx="2438400" cy="2036370"/>
          </a:xfrm>
          <a:prstGeom prst="rect">
            <a:avLst/>
          </a:prstGeom>
        </p:spPr>
      </p:pic>
      <p:sp>
        <p:nvSpPr>
          <p:cNvPr id="10" name="矩形 9"/>
          <p:cNvSpPr/>
          <p:nvPr/>
        </p:nvSpPr>
        <p:spPr>
          <a:xfrm>
            <a:off x="3497943" y="1981200"/>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3497943" y="2514485"/>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7620000" y="1845415"/>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8077200" y="1845415"/>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8077200" y="2397218"/>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203545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wipe(down)">
                                      <p:cBhvr>
                                        <p:cTn id="7" dur="500"/>
                                        <p:tgtEl>
                                          <p:spTgt spid="3">
                                            <p:txEl>
                                              <p:pRg st="4" end="4"/>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wipe(down)">
                                      <p:cBhvr>
                                        <p:cTn id="10" dur="500"/>
                                        <p:tgtEl>
                                          <p:spTgt spid="3">
                                            <p:txEl>
                                              <p:pRg st="5" end="5"/>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wipe(down)">
                                      <p:cBhvr>
                                        <p:cTn id="13"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457200" y="3124200"/>
            <a:ext cx="11277599" cy="4572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457200" y="2514600"/>
            <a:ext cx="11277599" cy="5334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smtClean="0"/>
              <a:t>图是如何连通的</a:t>
            </a:r>
            <a:endParaRPr lang="en-US" dirty="0">
              <a:solidFill>
                <a:srgbClr val="C00000"/>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zh-CN" altLang="en-US" dirty="0" smtClean="0"/>
                  <a:t>若一个图含有割边</a:t>
                </a:r>
                <a:r>
                  <a:rPr lang="en-US" altLang="zh-CN" dirty="0" smtClean="0"/>
                  <a:t>, </a:t>
                </a:r>
                <a:r>
                  <a:rPr lang="zh-CN" altLang="en-US" dirty="0" smtClean="0"/>
                  <a:t>那么删除该边就可以使得连通图</a:t>
                </a:r>
                <a:r>
                  <a:rPr lang="en-US" altLang="zh-CN" dirty="0" smtClean="0"/>
                  <a:t>G</a:t>
                </a:r>
                <a:r>
                  <a:rPr lang="zh-CN" altLang="en-US" dirty="0" smtClean="0"/>
                  <a:t>变为不连通</a:t>
                </a:r>
                <a:r>
                  <a:rPr lang="en-US" altLang="zh-CN" dirty="0" smtClean="0"/>
                  <a:t>. </a:t>
                </a:r>
                <a:r>
                  <a:rPr lang="zh-CN" altLang="en-US" dirty="0" smtClean="0"/>
                  <a:t>如果</a:t>
                </a:r>
                <a:r>
                  <a:rPr lang="en-US" altLang="zh-CN" dirty="0" smtClean="0"/>
                  <a:t>G</a:t>
                </a:r>
                <a:r>
                  <a:rPr lang="zh-CN" altLang="en-US" dirty="0" smtClean="0"/>
                  <a:t>不含割边</a:t>
                </a:r>
                <a:r>
                  <a:rPr lang="en-US" altLang="zh-CN" dirty="0" smtClean="0"/>
                  <a:t>, </a:t>
                </a:r>
                <a:r>
                  <a:rPr lang="zh-CN" altLang="en-US" dirty="0" smtClean="0"/>
                  <a:t>那么我们寻找需要删除的最小的边割集</a:t>
                </a:r>
                <a:r>
                  <a:rPr lang="en-US" altLang="zh-CN" dirty="0" smtClean="0"/>
                  <a:t>, </a:t>
                </a:r>
                <a:r>
                  <a:rPr lang="zh-CN" altLang="en-US" dirty="0" smtClean="0"/>
                  <a:t>使得</a:t>
                </a:r>
                <a:r>
                  <a:rPr lang="en-US" altLang="zh-CN" dirty="0" smtClean="0"/>
                  <a:t>G</a:t>
                </a:r>
                <a:r>
                  <a:rPr lang="zh-CN" altLang="en-US" dirty="0" smtClean="0"/>
                  <a:t>变为不连通</a:t>
                </a:r>
                <a:r>
                  <a:rPr lang="en-US" altLang="zh-CN" dirty="0" smtClean="0"/>
                  <a:t>. </a:t>
                </a:r>
              </a:p>
              <a:p>
                <a:r>
                  <a:rPr lang="zh-CN" altLang="en-US" dirty="0"/>
                  <a:t>若图</a:t>
                </a:r>
                <a:r>
                  <a:rPr lang="en-US" altLang="zh-CN" dirty="0"/>
                  <a:t>G=</a:t>
                </a:r>
                <a:r>
                  <a:rPr lang="zh-CN" altLang="en-US" dirty="0"/>
                  <a:t>（</a:t>
                </a:r>
                <a:r>
                  <a:rPr lang="en-US" altLang="zh-CN" dirty="0"/>
                  <a:t>V</a:t>
                </a:r>
                <a:r>
                  <a:rPr lang="zh-CN" altLang="en-US" dirty="0"/>
                  <a:t>，</a:t>
                </a:r>
                <a:r>
                  <a:rPr lang="en-US" altLang="zh-CN" dirty="0"/>
                  <a:t>E</a:t>
                </a:r>
                <a:r>
                  <a:rPr lang="zh-CN" altLang="en-US" dirty="0"/>
                  <a:t>）的一</a:t>
                </a:r>
                <a:r>
                  <a:rPr lang="zh-CN" altLang="en-US" dirty="0" smtClean="0"/>
                  <a:t>个</a:t>
                </a:r>
                <a:r>
                  <a:rPr lang="zh-CN" altLang="en-US" dirty="0"/>
                  <a:t>边</a:t>
                </a:r>
                <a:r>
                  <a:rPr lang="zh-CN" altLang="en-US" dirty="0" smtClean="0"/>
                  <a:t>子集</a:t>
                </a:r>
                <a:r>
                  <a:rPr lang="en-US" altLang="zh-CN" dirty="0" smtClean="0"/>
                  <a:t>F</a:t>
                </a:r>
                <a:r>
                  <a:rPr lang="zh-CN" altLang="en-US" dirty="0" smtClean="0"/>
                  <a:t>包含于</a:t>
                </a:r>
                <a:r>
                  <a:rPr lang="en-US" altLang="zh-CN" dirty="0" smtClean="0"/>
                  <a:t>E</a:t>
                </a:r>
                <a:r>
                  <a:rPr lang="zh-CN" altLang="en-US" dirty="0" smtClean="0"/>
                  <a:t>，</a:t>
                </a:r>
                <a:r>
                  <a:rPr lang="zh-CN" altLang="en-US" dirty="0"/>
                  <a:t>使得</a:t>
                </a:r>
                <a:r>
                  <a:rPr lang="zh-CN" altLang="en-US" dirty="0" smtClean="0"/>
                  <a:t>删除</a:t>
                </a:r>
                <a:r>
                  <a:rPr lang="en-US" altLang="zh-CN" dirty="0" smtClean="0"/>
                  <a:t>F</a:t>
                </a:r>
                <a:r>
                  <a:rPr lang="zh-CN" altLang="en-US" dirty="0" smtClean="0"/>
                  <a:t>后</a:t>
                </a:r>
                <a:r>
                  <a:rPr lang="zh-CN" altLang="en-US" dirty="0"/>
                  <a:t>（即</a:t>
                </a:r>
                <a:r>
                  <a:rPr lang="en-US" altLang="zh-CN" dirty="0" smtClean="0"/>
                  <a:t>G-F</a:t>
                </a:r>
                <a:r>
                  <a:rPr lang="zh-CN" altLang="en-US" dirty="0" smtClean="0"/>
                  <a:t>）</a:t>
                </a:r>
                <a:r>
                  <a:rPr lang="zh-CN" altLang="en-US" dirty="0"/>
                  <a:t>的连通分支数大于原图</a:t>
                </a:r>
                <a:r>
                  <a:rPr lang="en-US" altLang="zh-CN" dirty="0"/>
                  <a:t>G</a:t>
                </a:r>
                <a:r>
                  <a:rPr lang="zh-CN" altLang="en-US" dirty="0"/>
                  <a:t>的连通分支数，则称</a:t>
                </a:r>
                <a:r>
                  <a:rPr lang="zh-CN" altLang="en-US" dirty="0" smtClean="0"/>
                  <a:t>是</a:t>
                </a:r>
                <a:r>
                  <a:rPr lang="zh-CN" altLang="en-US" b="1" dirty="0" smtClean="0">
                    <a:solidFill>
                      <a:srgbClr val="C00000"/>
                    </a:solidFill>
                  </a:rPr>
                  <a:t>边割集</a:t>
                </a:r>
                <a:endParaRPr lang="en-US" altLang="zh-CN" dirty="0" smtClean="0"/>
              </a:p>
              <a:p>
                <a:r>
                  <a:rPr lang="zh-CN" altLang="en-US" dirty="0" smtClean="0"/>
                  <a:t>图</a:t>
                </a:r>
                <a:r>
                  <a:rPr lang="en-US" altLang="zh-CN" dirty="0" smtClean="0"/>
                  <a:t>G</a:t>
                </a:r>
                <a:r>
                  <a:rPr lang="zh-CN" altLang="en-US" dirty="0" smtClean="0"/>
                  <a:t>的</a:t>
                </a:r>
                <a:r>
                  <a:rPr lang="zh-CN" altLang="en-US" b="1" dirty="0" smtClean="0">
                    <a:solidFill>
                      <a:srgbClr val="C00000"/>
                    </a:solidFill>
                  </a:rPr>
                  <a:t>边连通度</a:t>
                </a:r>
                <a:r>
                  <a:rPr lang="en-US" altLang="zh-CN" dirty="0" smtClean="0"/>
                  <a:t>, </a:t>
                </a:r>
                <a:r>
                  <a:rPr lang="zh-CN" altLang="en-US" dirty="0" smtClean="0"/>
                  <a:t>记作</a:t>
                </a:r>
                <a14:m>
                  <m:oMath xmlns:m="http://schemas.openxmlformats.org/officeDocument/2006/math">
                    <m:r>
                      <a:rPr lang="zh-CN" altLang="en-US" i="1" smtClean="0">
                        <a:latin typeface="Cambria Math" panose="02040503050406030204" pitchFamily="18" charset="0"/>
                      </a:rPr>
                      <m:t>𝜆</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𝐺</m:t>
                        </m:r>
                      </m:e>
                    </m:d>
                  </m:oMath>
                </a14:m>
                <a:r>
                  <a:rPr lang="en-US" altLang="zh-CN" dirty="0" smtClean="0"/>
                  <a:t>, </a:t>
                </a:r>
                <a:r>
                  <a:rPr lang="zh-CN" altLang="en-US" dirty="0" smtClean="0"/>
                  <a:t>是无向连通图</a:t>
                </a:r>
                <a:r>
                  <a:rPr lang="en-US" altLang="zh-CN" dirty="0" smtClean="0"/>
                  <a:t>G</a:t>
                </a:r>
                <a:r>
                  <a:rPr lang="zh-CN" altLang="en-US" dirty="0" smtClean="0"/>
                  <a:t>的边割集中的最小的边数</a:t>
                </a:r>
                <a:r>
                  <a:rPr lang="en-US" altLang="zh-CN" dirty="0" smtClean="0"/>
                  <a:t>.</a:t>
                </a:r>
              </a:p>
              <a:p>
                <a:pPr lvl="1">
                  <a:lnSpc>
                    <a:spcPct val="100000"/>
                  </a:lnSpc>
                </a:pPr>
                <a:r>
                  <a:rPr lang="zh-CN" altLang="en-US" dirty="0"/>
                  <a:t>若</a:t>
                </a:r>
                <a:r>
                  <a:rPr lang="en-US" altLang="zh-CN" dirty="0"/>
                  <a:t>G</a:t>
                </a:r>
                <a:r>
                  <a:rPr lang="zh-CN" altLang="en-US" dirty="0"/>
                  <a:t>是含有</a:t>
                </a:r>
                <a:r>
                  <a:rPr lang="en-US" altLang="zh-CN" dirty="0"/>
                  <a:t>n</a:t>
                </a:r>
                <a:r>
                  <a:rPr lang="zh-CN" altLang="en-US" dirty="0"/>
                  <a:t>个顶点的图</a:t>
                </a:r>
                <a:r>
                  <a:rPr lang="en-US" altLang="zh-CN" dirty="0" smtClean="0"/>
                  <a:t>, </a:t>
                </a:r>
                <a:r>
                  <a:rPr lang="zh-CN" altLang="en-US" dirty="0" smtClean="0"/>
                  <a:t>则</a:t>
                </a:r>
                <a:r>
                  <a:rPr lang="zh-CN" altLang="en-US" dirty="0"/>
                  <a:t>有</a:t>
                </a:r>
                <a14:m>
                  <m:oMath xmlns:m="http://schemas.openxmlformats.org/officeDocument/2006/math">
                    <m:r>
                      <a:rPr lang="en-US" altLang="zh-CN">
                        <a:latin typeface="Cambria Math" panose="02040503050406030204" pitchFamily="18" charset="0"/>
                      </a:rPr>
                      <m:t>0</m:t>
                    </m:r>
                    <m:r>
                      <a:rPr lang="zh-CN" altLang="en-US">
                        <a:latin typeface="Cambria Math" panose="02040503050406030204" pitchFamily="18" charset="0"/>
                      </a:rPr>
                      <m:t>≤</m:t>
                    </m:r>
                    <m:r>
                      <a:rPr lang="zh-CN" altLang="en-US">
                        <a:latin typeface="Cambria Math" panose="02040503050406030204" pitchFamily="18" charset="0"/>
                      </a:rPr>
                      <m:t>𝜆</m:t>
                    </m:r>
                    <m:d>
                      <m:dPr>
                        <m:ctrlPr>
                          <a:rPr lang="en-US" altLang="zh-CN" i="1">
                            <a:latin typeface="Cambria Math" panose="02040503050406030204" pitchFamily="18" charset="0"/>
                          </a:rPr>
                        </m:ctrlPr>
                      </m:dPr>
                      <m:e>
                        <m:r>
                          <a:rPr lang="en-US" altLang="zh-CN">
                            <a:latin typeface="Cambria Math" panose="02040503050406030204" pitchFamily="18" charset="0"/>
                          </a:rPr>
                          <m:t>𝐺</m:t>
                        </m:r>
                      </m:e>
                    </m:d>
                    <m:r>
                      <a:rPr lang="zh-CN" altLang="en-US">
                        <a:latin typeface="Cambria Math" panose="02040503050406030204" pitchFamily="18" charset="0"/>
                      </a:rPr>
                      <m:t>≤</m:t>
                    </m:r>
                    <m:r>
                      <a:rPr lang="en-US" altLang="zh-CN">
                        <a:latin typeface="Cambria Math" panose="02040503050406030204" pitchFamily="18" charset="0"/>
                      </a:rPr>
                      <m:t>𝑛</m:t>
                    </m:r>
                    <m:r>
                      <a:rPr lang="en-US" altLang="zh-CN">
                        <a:latin typeface="Cambria Math" panose="02040503050406030204" pitchFamily="18" charset="0"/>
                      </a:rPr>
                      <m:t>−1</m:t>
                    </m:r>
                    <m:r>
                      <a:rPr lang="en-US" altLang="zh-CN" i="1">
                        <a:latin typeface="Cambria Math" panose="02040503050406030204" pitchFamily="18" charset="0"/>
                      </a:rPr>
                      <m:t>.</m:t>
                    </m:r>
                  </m:oMath>
                </a14:m>
                <a:endParaRPr lang="en-US" altLang="zh-CN" dirty="0"/>
              </a:p>
              <a:p>
                <a:pPr lvl="1">
                  <a:lnSpc>
                    <a:spcPct val="100000"/>
                  </a:lnSpc>
                </a:pPr>
                <a:r>
                  <a:rPr lang="zh-CN" altLang="en-US" dirty="0"/>
                  <a:t>若</a:t>
                </a:r>
                <a:r>
                  <a:rPr lang="en-US" altLang="zh-CN" dirty="0"/>
                  <a:t>G</a:t>
                </a:r>
                <a:r>
                  <a:rPr lang="zh-CN" altLang="en-US" dirty="0"/>
                  <a:t>不是连通</a:t>
                </a:r>
                <a:r>
                  <a:rPr lang="zh-CN" altLang="en-US" dirty="0" smtClean="0"/>
                  <a:t>的</a:t>
                </a:r>
                <a:r>
                  <a:rPr lang="en-US" altLang="zh-CN" dirty="0" smtClean="0"/>
                  <a:t>, </a:t>
                </a:r>
                <a:r>
                  <a:rPr lang="zh-CN" altLang="en-US" dirty="0" smtClean="0"/>
                  <a:t>则</a:t>
                </a:r>
                <a14:m>
                  <m:oMath xmlns:m="http://schemas.openxmlformats.org/officeDocument/2006/math">
                    <m:r>
                      <a:rPr lang="zh-CN" altLang="en-US">
                        <a:latin typeface="Cambria Math" panose="02040503050406030204" pitchFamily="18" charset="0"/>
                      </a:rPr>
                      <m:t>𝜆</m:t>
                    </m:r>
                    <m:d>
                      <m:dPr>
                        <m:ctrlPr>
                          <a:rPr lang="en-US" altLang="zh-CN" i="1">
                            <a:latin typeface="Cambria Math" panose="02040503050406030204" pitchFamily="18" charset="0"/>
                          </a:rPr>
                        </m:ctrlPr>
                      </m:dPr>
                      <m:e>
                        <m:r>
                          <a:rPr lang="en-US" altLang="zh-CN">
                            <a:latin typeface="Cambria Math" panose="02040503050406030204" pitchFamily="18" charset="0"/>
                          </a:rPr>
                          <m:t>𝐺</m:t>
                        </m:r>
                      </m:e>
                    </m:d>
                  </m:oMath>
                </a14:m>
                <a:r>
                  <a:rPr lang="en-US" altLang="zh-CN" dirty="0"/>
                  <a:t>=0</a:t>
                </a:r>
                <a:r>
                  <a:rPr lang="zh-CN" altLang="en-US" dirty="0"/>
                  <a:t>；</a:t>
                </a:r>
                <a:endParaRPr lang="en-US" altLang="zh-CN" dirty="0"/>
              </a:p>
              <a:p>
                <a:pPr lvl="1">
                  <a:lnSpc>
                    <a:spcPct val="100000"/>
                  </a:lnSpc>
                </a:pPr>
                <a:r>
                  <a:rPr lang="zh-CN" altLang="en-US" dirty="0"/>
                  <a:t>若</a:t>
                </a:r>
                <a:r>
                  <a:rPr lang="en-US" altLang="zh-CN" dirty="0"/>
                  <a:t>G</a:t>
                </a:r>
                <a:r>
                  <a:rPr lang="zh-CN" altLang="en-US" dirty="0"/>
                  <a:t>是只含有</a:t>
                </a:r>
                <a:r>
                  <a:rPr lang="en-US" altLang="zh-CN" dirty="0"/>
                  <a:t>1</a:t>
                </a:r>
                <a:r>
                  <a:rPr lang="zh-CN" altLang="en-US" dirty="0"/>
                  <a:t>个顶点的</a:t>
                </a:r>
                <a:r>
                  <a:rPr lang="zh-CN" altLang="en-US" dirty="0" smtClean="0"/>
                  <a:t>图</a:t>
                </a:r>
                <a:r>
                  <a:rPr lang="en-US" altLang="zh-CN" dirty="0" smtClean="0"/>
                  <a:t>, </a:t>
                </a:r>
                <a:r>
                  <a:rPr lang="zh-CN" altLang="en-US" dirty="0" smtClean="0"/>
                  <a:t>我们</a:t>
                </a:r>
                <a:r>
                  <a:rPr lang="zh-CN" altLang="en-US" dirty="0"/>
                  <a:t>定义为</a:t>
                </a:r>
                <a14:m>
                  <m:oMath xmlns:m="http://schemas.openxmlformats.org/officeDocument/2006/math">
                    <m:r>
                      <a:rPr lang="zh-CN" altLang="en-US">
                        <a:latin typeface="Cambria Math" panose="02040503050406030204" pitchFamily="18" charset="0"/>
                      </a:rPr>
                      <m:t>𝜆</m:t>
                    </m:r>
                    <m:d>
                      <m:dPr>
                        <m:ctrlPr>
                          <a:rPr lang="en-US" altLang="zh-CN" i="1">
                            <a:latin typeface="Cambria Math" panose="02040503050406030204" pitchFamily="18" charset="0"/>
                          </a:rPr>
                        </m:ctrlPr>
                      </m:dPr>
                      <m:e>
                        <m:r>
                          <a:rPr lang="en-US" altLang="zh-CN">
                            <a:latin typeface="Cambria Math" panose="02040503050406030204" pitchFamily="18" charset="0"/>
                          </a:rPr>
                          <m:t>𝐺</m:t>
                        </m:r>
                      </m:e>
                    </m:d>
                  </m:oMath>
                </a14:m>
                <a:r>
                  <a:rPr lang="en-US" altLang="zh-CN" dirty="0"/>
                  <a:t>=0</a:t>
                </a:r>
                <a:r>
                  <a:rPr lang="zh-CN" altLang="en-US" dirty="0"/>
                  <a:t>；</a:t>
                </a:r>
                <a:endParaRPr lang="en-US" altLang="zh-CN" dirty="0"/>
              </a:p>
              <a:p>
                <a:pPr lvl="1">
                  <a:lnSpc>
                    <a:spcPct val="100000"/>
                  </a:lnSpc>
                </a:pPr>
                <a14:m>
                  <m:oMath xmlns:m="http://schemas.openxmlformats.org/officeDocument/2006/math">
                    <m:r>
                      <a:rPr lang="zh-CN" altLang="en-US">
                        <a:latin typeface="Cambria Math" panose="02040503050406030204" pitchFamily="18" charset="0"/>
                      </a:rPr>
                      <m:t>𝜆</m:t>
                    </m:r>
                    <m:d>
                      <m:dPr>
                        <m:ctrlPr>
                          <a:rPr lang="en-US" altLang="zh-CN" i="1">
                            <a:latin typeface="Cambria Math" panose="02040503050406030204" pitchFamily="18" charset="0"/>
                          </a:rPr>
                        </m:ctrlPr>
                      </m:dPr>
                      <m:e>
                        <m:r>
                          <a:rPr lang="en-US" altLang="zh-CN">
                            <a:latin typeface="Cambria Math" panose="02040503050406030204" pitchFamily="18" charset="0"/>
                          </a:rPr>
                          <m:t>𝐺</m:t>
                        </m:r>
                      </m:e>
                    </m:d>
                  </m:oMath>
                </a14:m>
                <a:r>
                  <a:rPr lang="en-US" altLang="zh-CN" dirty="0"/>
                  <a:t>= </a:t>
                </a:r>
                <a14:m>
                  <m:oMath xmlns:m="http://schemas.openxmlformats.org/officeDocument/2006/math">
                    <m:r>
                      <a:rPr lang="en-US" altLang="zh-CN">
                        <a:latin typeface="Cambria Math" panose="02040503050406030204" pitchFamily="18" charset="0"/>
                      </a:rPr>
                      <m:t>𝑛</m:t>
                    </m:r>
                    <m:r>
                      <a:rPr lang="en-US" altLang="zh-CN" i="1">
                        <a:latin typeface="Cambria Math" panose="02040503050406030204" pitchFamily="18" charset="0"/>
                      </a:rPr>
                      <m:t> </m:t>
                    </m:r>
                  </m:oMath>
                </a14:m>
                <a:r>
                  <a:rPr lang="en-US" altLang="zh-CN" dirty="0" smtClean="0"/>
                  <a:t>-1, </a:t>
                </a:r>
                <a:r>
                  <a:rPr lang="zh-CN" altLang="en-US" dirty="0" smtClean="0"/>
                  <a:t>当且仅当</a:t>
                </a:r>
                <a:r>
                  <a:rPr lang="en-US" altLang="zh-CN" dirty="0" smtClean="0"/>
                  <a:t>G=</a:t>
                </a:r>
                <a14:m>
                  <m:oMath xmlns:m="http://schemas.openxmlformats.org/officeDocument/2006/math">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K</m:t>
                        </m:r>
                      </m:e>
                      <m:sub>
                        <m:r>
                          <a:rPr lang="en-US" altLang="zh-CN">
                            <a:latin typeface="Cambria Math" panose="02040503050406030204" pitchFamily="18" charset="0"/>
                          </a:rPr>
                          <m:t>𝑛</m:t>
                        </m:r>
                      </m:sub>
                    </m:sSub>
                  </m:oMath>
                </a14:m>
                <a:r>
                  <a:rPr lang="en-US" altLang="zh-CN" dirty="0" smtClean="0"/>
                  <a:t>.</a:t>
                </a:r>
                <a:endParaRPr lang="en-US" altLang="zh-CN" dirty="0"/>
              </a:p>
              <a:p>
                <a:pPr lvl="1">
                  <a:lnSpc>
                    <a:spcPct val="100000"/>
                  </a:lnSpc>
                </a:pPr>
                <a:r>
                  <a:rPr lang="zh-CN" altLang="en-US" dirty="0"/>
                  <a:t>若</a:t>
                </a:r>
                <a:r>
                  <a:rPr lang="en-US" altLang="zh-CN" dirty="0"/>
                  <a:t>G</a:t>
                </a:r>
                <a:r>
                  <a:rPr lang="zh-CN" altLang="en-US" dirty="0"/>
                  <a:t>不是</a:t>
                </a:r>
                <a:r>
                  <a:rPr lang="zh-CN" altLang="en-US" dirty="0" smtClean="0"/>
                  <a:t>完全图</a:t>
                </a:r>
                <a:r>
                  <a:rPr lang="en-US" altLang="zh-CN" dirty="0" smtClean="0"/>
                  <a:t>, </a:t>
                </a:r>
                <a:r>
                  <a:rPr lang="zh-CN" altLang="en-US" dirty="0" smtClean="0"/>
                  <a:t>则</a:t>
                </a:r>
                <a14:m>
                  <m:oMath xmlns:m="http://schemas.openxmlformats.org/officeDocument/2006/math">
                    <m:r>
                      <a:rPr lang="zh-CN" altLang="en-US">
                        <a:latin typeface="Cambria Math" panose="02040503050406030204" pitchFamily="18" charset="0"/>
                      </a:rPr>
                      <m:t>𝜆</m:t>
                    </m:r>
                    <m:d>
                      <m:dPr>
                        <m:ctrlPr>
                          <a:rPr lang="en-US" altLang="zh-CN" i="1">
                            <a:latin typeface="Cambria Math" panose="02040503050406030204" pitchFamily="18" charset="0"/>
                          </a:rPr>
                        </m:ctrlPr>
                      </m:dPr>
                      <m:e>
                        <m:r>
                          <a:rPr lang="en-US" altLang="zh-CN">
                            <a:latin typeface="Cambria Math" panose="02040503050406030204" pitchFamily="18" charset="0"/>
                          </a:rPr>
                          <m:t>𝐺</m:t>
                        </m:r>
                      </m:e>
                    </m:d>
                    <m:r>
                      <a:rPr lang="zh-CN" altLang="en-US">
                        <a:latin typeface="Cambria Math" panose="02040503050406030204" pitchFamily="18" charset="0"/>
                      </a:rPr>
                      <m:t>≤</m:t>
                    </m:r>
                    <m:r>
                      <a:rPr lang="en-US" altLang="zh-CN">
                        <a:latin typeface="Cambria Math" panose="02040503050406030204" pitchFamily="18" charset="0"/>
                      </a:rPr>
                      <m:t>𝑛</m:t>
                    </m:r>
                    <m:r>
                      <a:rPr lang="en-US" altLang="zh-CN">
                        <a:latin typeface="Cambria Math" panose="02040503050406030204" pitchFamily="18" charset="0"/>
                      </a:rPr>
                      <m:t>−2</m:t>
                    </m:r>
                  </m:oMath>
                </a14:m>
                <a:endParaRPr lang="en-US" altLang="zh-C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99" t="-2143" r="-888" b="-357"/>
                </a:stretch>
              </a:blipFill>
            </p:spPr>
            <p:txBody>
              <a:bodyPr/>
              <a:lstStyle/>
              <a:p>
                <a:r>
                  <a:rPr lang="zh-CN" altLang="en-US">
                    <a:noFill/>
                  </a:rPr>
                  <a:t> </a:t>
                </a:r>
              </a:p>
            </p:txBody>
          </p:sp>
        </mc:Fallback>
      </mc:AlternateContent>
      <p:sp>
        <p:nvSpPr>
          <p:cNvPr id="7" name="日期占位符 6"/>
          <p:cNvSpPr>
            <a:spLocks noGrp="1"/>
          </p:cNvSpPr>
          <p:nvPr>
            <p:ph type="dt" sz="half" idx="10"/>
          </p:nvPr>
        </p:nvSpPr>
        <p:spPr/>
        <p:txBody>
          <a:bodyPr/>
          <a:lstStyle/>
          <a:p>
            <a:fld id="{C04FE300-5AE8-4C9F-A43A-5D5B09ED51E9}"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128</a:t>
            </a:fld>
            <a:endParaRPr lang="zh-CN" altLang="en-US" dirty="0"/>
          </a:p>
        </p:txBody>
      </p:sp>
    </p:spTree>
    <p:extLst>
      <p:ext uri="{BB962C8B-B14F-4D97-AF65-F5344CB8AC3E}">
        <p14:creationId xmlns:p14="http://schemas.microsoft.com/office/powerpoint/2010/main" val="3405167310"/>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图是如何连通的</a:t>
            </a:r>
            <a:endParaRPr lang="en-US" dirty="0">
              <a:solidFill>
                <a:srgbClr val="C00000"/>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smtClean="0"/>
                  <a:t>例</a:t>
                </a:r>
                <a:r>
                  <a:rPr lang="en-US" altLang="zh-CN" dirty="0" smtClean="0"/>
                  <a:t>: </a:t>
                </a:r>
                <a:r>
                  <a:rPr lang="zh-CN" altLang="en-US" dirty="0" smtClean="0"/>
                  <a:t>求图的边连通度</a:t>
                </a:r>
                <a:endParaRPr lang="en-US" altLang="zh-CN" dirty="0" smtClean="0"/>
              </a:p>
              <a:p>
                <a:endParaRPr lang="en-US" altLang="zh-CN" dirty="0"/>
              </a:p>
              <a:p>
                <a:endParaRPr lang="en-US" altLang="zh-CN" dirty="0" smtClean="0"/>
              </a:p>
              <a:p>
                <a:endParaRPr lang="en-US" altLang="zh-CN" dirty="0" smtClean="0"/>
              </a:p>
              <a:p>
                <a:r>
                  <a:rPr lang="zh-CN" altLang="en-US" dirty="0" smtClean="0"/>
                  <a:t>解</a:t>
                </a:r>
                <a:r>
                  <a:rPr lang="en-US" altLang="zh-CN" dirty="0"/>
                  <a:t>: </a:t>
                </a:r>
              </a:p>
              <a:p>
                <a:pPr lvl="1"/>
                <a:r>
                  <a:rPr lang="zh-CN" altLang="en-US" dirty="0"/>
                  <a:t>因为</a:t>
                </a:r>
                <a:r>
                  <a:rPr lang="en-US" altLang="zh-CN" dirty="0" smtClean="0"/>
                  <a:t>G1</a:t>
                </a:r>
                <a:r>
                  <a:rPr lang="zh-CN" altLang="en-US" dirty="0" smtClean="0"/>
                  <a:t>是含有</a:t>
                </a:r>
                <a:r>
                  <a:rPr lang="zh-CN" altLang="en-US" dirty="0"/>
                  <a:t>割</a:t>
                </a:r>
                <a:r>
                  <a:rPr lang="zh-CN" altLang="en-US" dirty="0" smtClean="0"/>
                  <a:t>边</a:t>
                </a:r>
                <a:r>
                  <a:rPr lang="en-US" altLang="zh-CN" dirty="0" smtClean="0"/>
                  <a:t>(</a:t>
                </a:r>
                <a:r>
                  <a:rPr lang="zh-CN" altLang="en-US" dirty="0"/>
                  <a:t>例如</a:t>
                </a:r>
                <a:r>
                  <a:rPr lang="en-US" altLang="zh-CN" dirty="0" smtClean="0"/>
                  <a:t>{</a:t>
                </a:r>
                <a:r>
                  <a:rPr lang="en-US" altLang="zh-CN" dirty="0" err="1" smtClean="0"/>
                  <a:t>c,e</a:t>
                </a:r>
                <a:r>
                  <a:rPr lang="en-US" altLang="zh-CN" dirty="0"/>
                  <a:t>})</a:t>
                </a:r>
                <a:r>
                  <a:rPr lang="zh-CN" altLang="en-US" dirty="0"/>
                  <a:t>的连通图</a:t>
                </a:r>
                <a:r>
                  <a:rPr lang="en-US" altLang="zh-CN" dirty="0"/>
                  <a:t>, </a:t>
                </a:r>
                <a:r>
                  <a:rPr lang="zh-CN" altLang="en-US" dirty="0"/>
                  <a:t>所以</a:t>
                </a:r>
                <a14:m>
                  <m:oMath xmlns:m="http://schemas.openxmlformats.org/officeDocument/2006/math">
                    <m:r>
                      <a:rPr lang="zh-CN" altLang="en-US">
                        <a:latin typeface="Cambria Math" panose="02040503050406030204" pitchFamily="18" charset="0"/>
                      </a:rPr>
                      <m:t>𝜆</m:t>
                    </m:r>
                  </m:oMath>
                </a14:m>
                <a:r>
                  <a:rPr lang="en-US" altLang="zh-CN" dirty="0"/>
                  <a:t>(G1)=1. </a:t>
                </a:r>
              </a:p>
              <a:p>
                <a:pPr lvl="1"/>
                <a:r>
                  <a:rPr lang="en-US" altLang="zh-CN" dirty="0" smtClean="0"/>
                  <a:t>G2</a:t>
                </a:r>
                <a:r>
                  <a:rPr lang="zh-CN" altLang="en-US" dirty="0"/>
                  <a:t>没有</a:t>
                </a:r>
                <a:r>
                  <a:rPr lang="zh-CN" altLang="en-US" dirty="0" smtClean="0"/>
                  <a:t>割边，但删除</a:t>
                </a:r>
                <a:r>
                  <a:rPr lang="en-US" altLang="zh-CN" dirty="0" smtClean="0"/>
                  <a:t>{</a:t>
                </a:r>
                <a:r>
                  <a:rPr lang="en-US" altLang="zh-CN" dirty="0" err="1" smtClean="0"/>
                  <a:t>a,b</a:t>
                </a:r>
                <a:r>
                  <a:rPr lang="en-US" altLang="zh-CN" dirty="0" smtClean="0"/>
                  <a:t>}</a:t>
                </a:r>
                <a:r>
                  <a:rPr lang="zh-CN" altLang="en-US" dirty="0" smtClean="0"/>
                  <a:t>和</a:t>
                </a:r>
                <a:r>
                  <a:rPr lang="en-US" altLang="zh-CN" dirty="0" smtClean="0"/>
                  <a:t>{</a:t>
                </a:r>
                <a:r>
                  <a:rPr lang="en-US" altLang="zh-CN" dirty="0" err="1" smtClean="0"/>
                  <a:t>a,c</a:t>
                </a:r>
                <a:r>
                  <a:rPr lang="en-US" altLang="zh-CN" dirty="0" smtClean="0"/>
                  <a:t>}</a:t>
                </a:r>
                <a:r>
                  <a:rPr lang="zh-CN" altLang="en-US" dirty="0" smtClean="0"/>
                  <a:t>两条边后不再连通图</a:t>
                </a:r>
                <a:r>
                  <a:rPr lang="en-US" altLang="zh-CN" dirty="0"/>
                  <a:t>, </a:t>
                </a:r>
                <a:r>
                  <a:rPr lang="zh-CN" altLang="en-US" dirty="0"/>
                  <a:t>所以</a:t>
                </a:r>
                <a14:m>
                  <m:oMath xmlns:m="http://schemas.openxmlformats.org/officeDocument/2006/math">
                    <m:r>
                      <a:rPr lang="zh-CN" altLang="en-US">
                        <a:latin typeface="Cambria Math" panose="02040503050406030204" pitchFamily="18" charset="0"/>
                      </a:rPr>
                      <m:t>𝜆</m:t>
                    </m:r>
                  </m:oMath>
                </a14:m>
                <a:r>
                  <a:rPr lang="en-US" altLang="zh-CN" dirty="0"/>
                  <a:t>(G2</a:t>
                </a:r>
                <a:r>
                  <a:rPr lang="en-US" altLang="zh-CN" dirty="0" smtClean="0"/>
                  <a:t>)=2. </a:t>
                </a:r>
                <a:endParaRPr lang="en-US" altLang="zh-CN" dirty="0"/>
              </a:p>
              <a:p>
                <a:pPr lvl="1"/>
                <a:r>
                  <a:rPr lang="en-US" altLang="zh-CN" dirty="0" smtClean="0"/>
                  <a:t>G3</a:t>
                </a:r>
                <a:r>
                  <a:rPr lang="zh-CN" altLang="en-US" dirty="0" smtClean="0"/>
                  <a:t>没有</a:t>
                </a:r>
                <a:r>
                  <a:rPr lang="zh-CN" altLang="en-US" dirty="0"/>
                  <a:t>割边，但</a:t>
                </a:r>
                <a:r>
                  <a:rPr lang="zh-CN" altLang="en-US" dirty="0" smtClean="0"/>
                  <a:t>删除</a:t>
                </a:r>
                <a:r>
                  <a:rPr lang="en-US" altLang="zh-CN" dirty="0"/>
                  <a:t>{b, c}</a:t>
                </a:r>
                <a:r>
                  <a:rPr lang="zh-CN" altLang="en-US" dirty="0"/>
                  <a:t>和</a:t>
                </a:r>
                <a:r>
                  <a:rPr lang="en-US" altLang="zh-CN" dirty="0"/>
                  <a:t>{f, g}</a:t>
                </a:r>
                <a:r>
                  <a:rPr lang="zh-CN" altLang="en-US" dirty="0" smtClean="0"/>
                  <a:t>两</a:t>
                </a:r>
                <a:r>
                  <a:rPr lang="zh-CN" altLang="en-US" dirty="0"/>
                  <a:t>条边后不再连通图</a:t>
                </a:r>
                <a:r>
                  <a:rPr lang="en-US" altLang="zh-CN" dirty="0"/>
                  <a:t>, </a:t>
                </a:r>
                <a:r>
                  <a:rPr lang="zh-CN" altLang="en-US" dirty="0"/>
                  <a:t>所以</a:t>
                </a:r>
                <a14:m>
                  <m:oMath xmlns:m="http://schemas.openxmlformats.org/officeDocument/2006/math">
                    <m:r>
                      <a:rPr lang="zh-CN" altLang="en-US">
                        <a:latin typeface="Cambria Math" panose="02040503050406030204" pitchFamily="18" charset="0"/>
                      </a:rPr>
                      <m:t>𝜆</m:t>
                    </m:r>
                  </m:oMath>
                </a14:m>
                <a:r>
                  <a:rPr lang="en-US" altLang="zh-CN" dirty="0"/>
                  <a:t>(</a:t>
                </a:r>
                <a:r>
                  <a:rPr lang="en-US" altLang="zh-CN" dirty="0" smtClean="0"/>
                  <a:t>G3)=</a:t>
                </a:r>
                <a:r>
                  <a:rPr lang="en-US" altLang="zh-CN" dirty="0"/>
                  <a:t>2.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310"/>
                </a:stretch>
              </a:blipFill>
            </p:spPr>
            <p:txBody>
              <a:bodyPr/>
              <a:lstStyle/>
              <a:p>
                <a:r>
                  <a:rPr lang="zh-CN" altLang="en-US">
                    <a:noFill/>
                  </a:rPr>
                  <a:t> </a:t>
                </a:r>
              </a:p>
            </p:txBody>
          </p:sp>
        </mc:Fallback>
      </mc:AlternateContent>
      <p:sp>
        <p:nvSpPr>
          <p:cNvPr id="7" name="日期占位符 6"/>
          <p:cNvSpPr>
            <a:spLocks noGrp="1"/>
          </p:cNvSpPr>
          <p:nvPr>
            <p:ph type="dt" sz="half" idx="10"/>
          </p:nvPr>
        </p:nvSpPr>
        <p:spPr/>
        <p:txBody>
          <a:bodyPr/>
          <a:lstStyle/>
          <a:p>
            <a:fld id="{F64A444D-AEA1-4880-9771-9F45B0802F7D}"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129</a:t>
            </a:fld>
            <a:endParaRPr lang="zh-CN" altLang="en-US" dirty="0"/>
          </a:p>
        </p:txBody>
      </p:sp>
      <p:pic>
        <p:nvPicPr>
          <p:cNvPr id="4" name="图片 3"/>
          <p:cNvPicPr>
            <a:picLocks noChangeAspect="1"/>
          </p:cNvPicPr>
          <p:nvPr/>
        </p:nvPicPr>
        <p:blipFill>
          <a:blip r:embed="rId3"/>
          <a:stretch>
            <a:fillRect/>
          </a:stretch>
        </p:blipFill>
        <p:spPr>
          <a:xfrm>
            <a:off x="1676400" y="1821464"/>
            <a:ext cx="1805400" cy="1828100"/>
          </a:xfrm>
          <a:prstGeom prst="rect">
            <a:avLst/>
          </a:prstGeom>
        </p:spPr>
      </p:pic>
      <p:pic>
        <p:nvPicPr>
          <p:cNvPr id="5" name="图片 4"/>
          <p:cNvPicPr>
            <a:picLocks noChangeAspect="1"/>
          </p:cNvPicPr>
          <p:nvPr/>
        </p:nvPicPr>
        <p:blipFill>
          <a:blip r:embed="rId4"/>
          <a:stretch>
            <a:fillRect/>
          </a:stretch>
        </p:blipFill>
        <p:spPr>
          <a:xfrm>
            <a:off x="8686800" y="1836614"/>
            <a:ext cx="1744200" cy="1797800"/>
          </a:xfrm>
          <a:prstGeom prst="rect">
            <a:avLst/>
          </a:prstGeom>
        </p:spPr>
      </p:pic>
      <p:pic>
        <p:nvPicPr>
          <p:cNvPr id="12" name="图片 11"/>
          <p:cNvPicPr>
            <a:picLocks noChangeAspect="1"/>
          </p:cNvPicPr>
          <p:nvPr/>
        </p:nvPicPr>
        <p:blipFill>
          <a:blip r:embed="rId5"/>
          <a:stretch>
            <a:fillRect/>
          </a:stretch>
        </p:blipFill>
        <p:spPr>
          <a:xfrm>
            <a:off x="4953000" y="1676400"/>
            <a:ext cx="1531620" cy="1920240"/>
          </a:xfrm>
          <a:prstGeom prst="rect">
            <a:avLst/>
          </a:prstGeom>
        </p:spPr>
      </p:pic>
      <p:sp>
        <p:nvSpPr>
          <p:cNvPr id="10" name="椭圆 9"/>
          <p:cNvSpPr/>
          <p:nvPr/>
        </p:nvSpPr>
        <p:spPr>
          <a:xfrm>
            <a:off x="2472948" y="2735514"/>
            <a:ext cx="304800" cy="152400"/>
          </a:xfrm>
          <a:prstGeom prst="ellipse">
            <a:avLst/>
          </a:pr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5181600" y="2209800"/>
            <a:ext cx="304800" cy="163412"/>
          </a:xfrm>
          <a:prstGeom prst="ellipse">
            <a:avLst/>
          </a:pr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5257800" y="2484120"/>
            <a:ext cx="304800" cy="152400"/>
          </a:xfrm>
          <a:prstGeom prst="ellipse">
            <a:avLst/>
          </a:pr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9406500" y="2209800"/>
            <a:ext cx="304800" cy="152400"/>
          </a:xfrm>
          <a:prstGeom prst="ellipse">
            <a:avLst/>
          </a:pr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9448800" y="2735386"/>
            <a:ext cx="304800" cy="152400"/>
          </a:xfrm>
          <a:prstGeom prst="ellipse">
            <a:avLst/>
          </a:pr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716373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wipe(down)">
                                      <p:cBhvr>
                                        <p:cTn id="7" dur="500"/>
                                        <p:tgtEl>
                                          <p:spTgt spid="3">
                                            <p:txEl>
                                              <p:pRg st="4" end="4"/>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wipe(down)">
                                      <p:cBhvr>
                                        <p:cTn id="10" dur="500"/>
                                        <p:tgtEl>
                                          <p:spTgt spid="3">
                                            <p:txEl>
                                              <p:pRg st="5" end="5"/>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wipe(down)">
                                      <p:cBhvr>
                                        <p:cTn id="13" dur="500"/>
                                        <p:tgtEl>
                                          <p:spTgt spid="3">
                                            <p:txEl>
                                              <p:pRg st="6" end="6"/>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7" end="7"/>
                                            </p:txEl>
                                          </p:spTgt>
                                        </p:tgtEl>
                                        <p:attrNameLst>
                                          <p:attrName>style.visibility</p:attrName>
                                        </p:attrNameLst>
                                      </p:cBhvr>
                                      <p:to>
                                        <p:strVal val="visible"/>
                                      </p:to>
                                    </p:set>
                                    <p:animEffect transition="in" filter="wipe(down)">
                                      <p:cBhvr>
                                        <p:cTn id="16"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图是如何连通的</a:t>
            </a:r>
            <a:endParaRPr lang="en-US" dirty="0">
              <a:solidFill>
                <a:srgbClr val="C00000"/>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smtClean="0"/>
                  <a:t>例</a:t>
                </a:r>
                <a:r>
                  <a:rPr lang="en-US" altLang="zh-CN" dirty="0" smtClean="0"/>
                  <a:t>: </a:t>
                </a:r>
                <a:r>
                  <a:rPr lang="zh-CN" altLang="en-US" dirty="0" smtClean="0"/>
                  <a:t>求图的边连通度</a:t>
                </a:r>
                <a:endParaRPr lang="en-US" altLang="zh-CN" dirty="0" smtClean="0"/>
              </a:p>
              <a:p>
                <a:endParaRPr lang="en-US" altLang="zh-CN" dirty="0"/>
              </a:p>
              <a:p>
                <a:endParaRPr lang="en-US" altLang="zh-CN" dirty="0" smtClean="0"/>
              </a:p>
              <a:p>
                <a:endParaRPr lang="en-US" altLang="zh-CN" dirty="0"/>
              </a:p>
              <a:p>
                <a:r>
                  <a:rPr lang="zh-CN" altLang="en-US" dirty="0"/>
                  <a:t>解</a:t>
                </a:r>
                <a:r>
                  <a:rPr lang="en-US" altLang="zh-CN" dirty="0"/>
                  <a:t>: </a:t>
                </a:r>
              </a:p>
              <a:p>
                <a:pPr lvl="1"/>
                <a:r>
                  <a:rPr lang="zh-CN" altLang="en-US" dirty="0" smtClean="0"/>
                  <a:t>在</a:t>
                </a:r>
                <a:r>
                  <a:rPr lang="en-US" altLang="zh-CN" dirty="0" smtClean="0"/>
                  <a:t>G4</a:t>
                </a:r>
                <a:r>
                  <a:rPr lang="zh-CN" altLang="en-US" dirty="0" smtClean="0"/>
                  <a:t>中删除任意两条边都还继续是连通的</a:t>
                </a:r>
                <a:r>
                  <a:rPr lang="en-US" altLang="zh-CN" dirty="0" smtClean="0"/>
                  <a:t>, </a:t>
                </a:r>
                <a:r>
                  <a:rPr lang="zh-CN" altLang="en-US" dirty="0" smtClean="0"/>
                  <a:t>但删除</a:t>
                </a:r>
                <a:r>
                  <a:rPr lang="en-US" altLang="zh-CN" dirty="0" smtClean="0"/>
                  <a:t>{</a:t>
                </a:r>
                <a:r>
                  <a:rPr lang="en-US" altLang="zh-CN" dirty="0" err="1" smtClean="0"/>
                  <a:t>b,c</a:t>
                </a:r>
                <a:r>
                  <a:rPr lang="en-US" altLang="zh-CN" dirty="0" smtClean="0"/>
                  <a:t>},{</a:t>
                </a:r>
                <a:r>
                  <a:rPr lang="en-US" altLang="zh-CN" dirty="0" err="1" smtClean="0"/>
                  <a:t>a,f</a:t>
                </a:r>
                <a:r>
                  <a:rPr lang="en-US" altLang="zh-CN" dirty="0" smtClean="0"/>
                  <a:t>},{</a:t>
                </a:r>
                <a:r>
                  <a:rPr lang="en-US" altLang="zh-CN" dirty="0" err="1" smtClean="0"/>
                  <a:t>f,g</a:t>
                </a:r>
                <a:r>
                  <a:rPr lang="en-US" altLang="zh-CN" dirty="0" smtClean="0"/>
                  <a:t>}</a:t>
                </a:r>
                <a:r>
                  <a:rPr lang="zh-CN" altLang="en-US" dirty="0"/>
                  <a:t>三</a:t>
                </a:r>
                <a:r>
                  <a:rPr lang="zh-CN" altLang="en-US" dirty="0" smtClean="0"/>
                  <a:t>条边后图不再连通</a:t>
                </a:r>
                <a:r>
                  <a:rPr lang="en-US" altLang="zh-CN" dirty="0" smtClean="0"/>
                  <a:t>.</a:t>
                </a:r>
                <a14:m>
                  <m:oMath xmlns:m="http://schemas.openxmlformats.org/officeDocument/2006/math">
                    <m:r>
                      <a:rPr lang="en-US" altLang="zh-CN" b="0" i="1" smtClean="0">
                        <a:latin typeface="Cambria Math" panose="02040503050406030204" pitchFamily="18" charset="0"/>
                      </a:rPr>
                      <m:t> </m:t>
                    </m:r>
                    <m:r>
                      <a:rPr lang="zh-CN" altLang="en-US">
                        <a:latin typeface="Cambria Math" panose="02040503050406030204" pitchFamily="18" charset="0"/>
                      </a:rPr>
                      <m:t>𝜆</m:t>
                    </m:r>
                  </m:oMath>
                </a14:m>
                <a:r>
                  <a:rPr lang="en-US" altLang="zh-CN" dirty="0"/>
                  <a:t>(</a:t>
                </a:r>
                <a:r>
                  <a:rPr lang="en-US" altLang="zh-CN" dirty="0" smtClean="0"/>
                  <a:t>G4)=3. </a:t>
                </a:r>
              </a:p>
              <a:p>
                <a:pPr lvl="1"/>
                <a:r>
                  <a:rPr lang="zh-CN" altLang="en-US" dirty="0"/>
                  <a:t>在</a:t>
                </a:r>
                <a:r>
                  <a:rPr lang="en-US" altLang="zh-CN" dirty="0" smtClean="0"/>
                  <a:t>G5</a:t>
                </a:r>
                <a:r>
                  <a:rPr lang="zh-CN" altLang="en-US" dirty="0" smtClean="0"/>
                  <a:t>中</a:t>
                </a:r>
                <a:r>
                  <a:rPr lang="zh-CN" altLang="en-US" dirty="0"/>
                  <a:t>删除任意两条边都还继续是连通的</a:t>
                </a:r>
                <a:r>
                  <a:rPr lang="en-US" altLang="zh-CN" dirty="0"/>
                  <a:t>, </a:t>
                </a:r>
                <a:r>
                  <a:rPr lang="zh-CN" altLang="en-US" dirty="0"/>
                  <a:t>但删除</a:t>
                </a:r>
                <a:r>
                  <a:rPr lang="en-US" altLang="zh-CN" dirty="0" smtClean="0"/>
                  <a:t>{</a:t>
                </a:r>
                <a:r>
                  <a:rPr lang="en-US" altLang="zh-CN" dirty="0" err="1" smtClean="0"/>
                  <a:t>a,b</a:t>
                </a:r>
                <a:r>
                  <a:rPr lang="en-US" altLang="zh-CN" dirty="0" smtClean="0"/>
                  <a:t>},{</a:t>
                </a:r>
                <a:r>
                  <a:rPr lang="en-US" altLang="zh-CN" dirty="0" err="1" smtClean="0"/>
                  <a:t>a,g</a:t>
                </a:r>
                <a:r>
                  <a:rPr lang="en-US" altLang="zh-CN" dirty="0" smtClean="0"/>
                  <a:t>},{</a:t>
                </a:r>
                <a:r>
                  <a:rPr lang="en-US" altLang="zh-CN" dirty="0" err="1" smtClean="0"/>
                  <a:t>a,h</a:t>
                </a:r>
                <a:r>
                  <a:rPr lang="en-US" altLang="zh-CN" dirty="0" smtClean="0"/>
                  <a:t>}</a:t>
                </a:r>
                <a:r>
                  <a:rPr lang="zh-CN" altLang="en-US" dirty="0"/>
                  <a:t>三条边后图不再连通</a:t>
                </a:r>
                <a:r>
                  <a:rPr lang="en-US" altLang="zh-CN" dirty="0"/>
                  <a:t>.</a:t>
                </a:r>
                <a14:m>
                  <m:oMath xmlns:m="http://schemas.openxmlformats.org/officeDocument/2006/math">
                    <m:r>
                      <a:rPr lang="en-US" altLang="zh-CN" b="0" i="0" smtClean="0">
                        <a:latin typeface="Cambria Math" panose="02040503050406030204" pitchFamily="18" charset="0"/>
                      </a:rPr>
                      <m:t> </m:t>
                    </m:r>
                    <m:r>
                      <a:rPr lang="zh-CN" altLang="en-US">
                        <a:latin typeface="Cambria Math" panose="02040503050406030204" pitchFamily="18" charset="0"/>
                      </a:rPr>
                      <m:t>𝜆</m:t>
                    </m:r>
                  </m:oMath>
                </a14:m>
                <a:r>
                  <a:rPr lang="en-US" altLang="zh-CN" dirty="0"/>
                  <a:t>(</a:t>
                </a:r>
                <a:r>
                  <a:rPr lang="en-US" altLang="zh-CN" dirty="0" smtClean="0"/>
                  <a:t>G5)=</a:t>
                </a:r>
                <a:r>
                  <a:rPr lang="en-US" altLang="zh-CN" dirty="0"/>
                  <a:t>3. </a:t>
                </a:r>
                <a:endParaRPr lang="en-US" altLang="zh-CN" dirty="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310" r="-166"/>
                </a:stretch>
              </a:blipFill>
            </p:spPr>
            <p:txBody>
              <a:bodyPr/>
              <a:lstStyle/>
              <a:p>
                <a:r>
                  <a:rPr lang="zh-CN" altLang="en-US">
                    <a:noFill/>
                  </a:rPr>
                  <a:t> </a:t>
                </a:r>
              </a:p>
            </p:txBody>
          </p:sp>
        </mc:Fallback>
      </mc:AlternateContent>
      <p:sp>
        <p:nvSpPr>
          <p:cNvPr id="7" name="日期占位符 6"/>
          <p:cNvSpPr>
            <a:spLocks noGrp="1"/>
          </p:cNvSpPr>
          <p:nvPr>
            <p:ph type="dt" sz="half" idx="10"/>
          </p:nvPr>
        </p:nvSpPr>
        <p:spPr/>
        <p:txBody>
          <a:bodyPr/>
          <a:lstStyle/>
          <a:p>
            <a:fld id="{FB34111D-68F8-4A86-8B96-41DF764A9426}"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130</a:t>
            </a:fld>
            <a:endParaRPr lang="zh-CN" altLang="en-US" dirty="0"/>
          </a:p>
        </p:txBody>
      </p:sp>
      <p:pic>
        <p:nvPicPr>
          <p:cNvPr id="13" name="图片 12"/>
          <p:cNvPicPr>
            <a:picLocks noChangeAspect="1"/>
          </p:cNvPicPr>
          <p:nvPr/>
        </p:nvPicPr>
        <p:blipFill>
          <a:blip r:embed="rId3"/>
          <a:stretch>
            <a:fillRect/>
          </a:stretch>
        </p:blipFill>
        <p:spPr>
          <a:xfrm>
            <a:off x="2438400" y="1676400"/>
            <a:ext cx="2570620" cy="2082294"/>
          </a:xfrm>
          <a:prstGeom prst="rect">
            <a:avLst/>
          </a:prstGeom>
        </p:spPr>
      </p:pic>
      <p:pic>
        <p:nvPicPr>
          <p:cNvPr id="14" name="图片 13"/>
          <p:cNvPicPr>
            <a:picLocks noChangeAspect="1"/>
          </p:cNvPicPr>
          <p:nvPr/>
        </p:nvPicPr>
        <p:blipFill>
          <a:blip r:embed="rId4"/>
          <a:stretch>
            <a:fillRect/>
          </a:stretch>
        </p:blipFill>
        <p:spPr>
          <a:xfrm>
            <a:off x="7086600" y="1524000"/>
            <a:ext cx="2510790" cy="2096825"/>
          </a:xfrm>
          <a:prstGeom prst="rect">
            <a:avLst/>
          </a:prstGeom>
        </p:spPr>
      </p:pic>
      <p:sp>
        <p:nvSpPr>
          <p:cNvPr id="10" name="椭圆 9"/>
          <p:cNvSpPr/>
          <p:nvPr/>
        </p:nvSpPr>
        <p:spPr>
          <a:xfrm>
            <a:off x="3652921" y="2072026"/>
            <a:ext cx="304800" cy="152400"/>
          </a:xfrm>
          <a:prstGeom prst="ellipse">
            <a:avLst/>
          </a:pr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3124200" y="3048000"/>
            <a:ext cx="304800" cy="152400"/>
          </a:xfrm>
          <a:prstGeom prst="ellipse">
            <a:avLst/>
          </a:pr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3652921" y="2659602"/>
            <a:ext cx="304800" cy="152400"/>
          </a:xfrm>
          <a:prstGeom prst="ellipse">
            <a:avLst/>
          </a:pr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7620000" y="1986086"/>
            <a:ext cx="304800" cy="152400"/>
          </a:xfrm>
          <a:prstGeom prst="ellipse">
            <a:avLst/>
          </a:pr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7723128" y="2417147"/>
            <a:ext cx="304800" cy="152400"/>
          </a:xfrm>
          <a:prstGeom prst="ellipse">
            <a:avLst/>
          </a:pr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7252464" y="2340947"/>
            <a:ext cx="304800" cy="152400"/>
          </a:xfrm>
          <a:prstGeom prst="ellipse">
            <a:avLst/>
          </a:pr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474714824"/>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图是如何连通的</a:t>
            </a:r>
            <a:endParaRPr lang="en-US" dirty="0">
              <a:solidFill>
                <a:srgbClr val="C00000"/>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smtClean="0"/>
                  <a:t>一个与点连通度和边连通度相关的不等式</a:t>
                </a:r>
                <a:r>
                  <a:rPr lang="en-US" altLang="zh-CN" dirty="0" smtClean="0"/>
                  <a:t>: </a:t>
                </a:r>
              </a:p>
              <a:p>
                <a:r>
                  <a:rPr lang="zh-CN" altLang="en-US" dirty="0" smtClean="0"/>
                  <a:t>当</a:t>
                </a:r>
                <a:r>
                  <a:rPr lang="en-US" altLang="zh-CN" dirty="0" smtClean="0"/>
                  <a:t>G=(V, E)</a:t>
                </a:r>
                <a:r>
                  <a:rPr lang="zh-CN" altLang="en-US" dirty="0" smtClean="0"/>
                  <a:t>是一个至少含有</a:t>
                </a:r>
                <a:r>
                  <a:rPr lang="en-US" altLang="zh-CN" dirty="0" smtClean="0"/>
                  <a:t>3</a:t>
                </a:r>
                <a:r>
                  <a:rPr lang="zh-CN" altLang="en-US" dirty="0" smtClean="0"/>
                  <a:t>个顶点的非完全连通图</a:t>
                </a:r>
                <a:r>
                  <a:rPr lang="en-US" altLang="zh-CN" dirty="0" smtClean="0"/>
                  <a:t>, </a:t>
                </a:r>
                <a:r>
                  <a:rPr lang="zh-CN" altLang="en-US" dirty="0" smtClean="0"/>
                  <a:t>图</a:t>
                </a:r>
                <a:r>
                  <a:rPr lang="en-US" altLang="zh-CN" dirty="0" smtClean="0"/>
                  <a:t>G</a:t>
                </a:r>
                <a:r>
                  <a:rPr lang="zh-CN" altLang="en-US" dirty="0" smtClean="0"/>
                  <a:t>中顶点的最小度是图</a:t>
                </a:r>
                <a:r>
                  <a:rPr lang="en-US" altLang="zh-CN" dirty="0" smtClean="0"/>
                  <a:t>G</a:t>
                </a:r>
                <a:r>
                  <a:rPr lang="zh-CN" altLang="en-US" dirty="0" smtClean="0"/>
                  <a:t>的点连通度和边连通度的上界</a:t>
                </a:r>
                <a:r>
                  <a:rPr lang="en-US" altLang="zh-CN" dirty="0" smtClean="0"/>
                  <a:t>, </a:t>
                </a:r>
                <a:r>
                  <a:rPr lang="zh-CN" altLang="en-US" dirty="0" smtClean="0"/>
                  <a:t>即</a:t>
                </a:r>
                <a:r>
                  <a:rPr lang="en-US" altLang="zh-CN" dirty="0" smtClean="0"/>
                  <a:t>:</a:t>
                </a:r>
              </a:p>
              <a:p>
                <a:pPr marL="0" indent="0" algn="ctr">
                  <a:buNone/>
                </a:pPr>
                <a14:m>
                  <m:oMath xmlns:m="http://schemas.openxmlformats.org/officeDocument/2006/math">
                    <m:r>
                      <a:rPr lang="en-US" altLang="zh-CN" b="0" i="1" dirty="0" smtClean="0">
                        <a:latin typeface="Cambria Math" panose="02040503050406030204" pitchFamily="18" charset="0"/>
                        <a:ea typeface="Cambria Math" panose="02040503050406030204" pitchFamily="18" charset="0"/>
                      </a:rPr>
                      <m:t>𝑘</m:t>
                    </m:r>
                    <m:d>
                      <m:dPr>
                        <m:ctrlPr>
                          <a:rPr lang="en-US" altLang="zh-CN" b="0" i="1" dirty="0" smtClean="0">
                            <a:latin typeface="Cambria Math" panose="02040503050406030204" pitchFamily="18" charset="0"/>
                            <a:ea typeface="Cambria Math" panose="02040503050406030204" pitchFamily="18" charset="0"/>
                          </a:rPr>
                        </m:ctrlPr>
                      </m:dPr>
                      <m:e>
                        <m:r>
                          <a:rPr lang="en-US" altLang="zh-CN" b="0" i="1" dirty="0" smtClean="0">
                            <a:latin typeface="Cambria Math" panose="02040503050406030204" pitchFamily="18" charset="0"/>
                            <a:ea typeface="Cambria Math" panose="02040503050406030204" pitchFamily="18" charset="0"/>
                          </a:rPr>
                          <m:t>𝐺</m:t>
                        </m:r>
                      </m:e>
                    </m:d>
                    <m:r>
                      <a:rPr lang="en-US" altLang="zh-CN" b="0" i="1" dirty="0" smtClean="0">
                        <a:latin typeface="Cambria Math" panose="02040503050406030204" pitchFamily="18" charset="0"/>
                        <a:ea typeface="Cambria Math" panose="02040503050406030204" pitchFamily="18" charset="0"/>
                      </a:rPr>
                      <m:t>≤</m:t>
                    </m:r>
                    <m:func>
                      <m:funcPr>
                        <m:ctrlPr>
                          <a:rPr lang="en-US" altLang="zh-CN" b="0" i="1" dirty="0" smtClean="0">
                            <a:latin typeface="Cambria Math" panose="02040503050406030204" pitchFamily="18" charset="0"/>
                            <a:ea typeface="Cambria Math" panose="02040503050406030204" pitchFamily="18" charset="0"/>
                          </a:rPr>
                        </m:ctrlPr>
                      </m:funcPr>
                      <m:fName>
                        <m:r>
                          <m:rPr>
                            <m:sty m:val="p"/>
                          </m:rPr>
                          <a:rPr lang="en-US" altLang="zh-CN" b="0" i="0" dirty="0" smtClean="0">
                            <a:latin typeface="Cambria Math" panose="02040503050406030204" pitchFamily="18" charset="0"/>
                            <a:ea typeface="Cambria Math" panose="02040503050406030204" pitchFamily="18" charset="0"/>
                          </a:rPr>
                          <m:t>min</m:t>
                        </m:r>
                      </m:fName>
                      <m:e>
                        <m:func>
                          <m:funcPr>
                            <m:ctrlPr>
                              <a:rPr lang="en-US" altLang="zh-CN" b="0" i="1" dirty="0" smtClean="0">
                                <a:latin typeface="Cambria Math" panose="02040503050406030204" pitchFamily="18" charset="0"/>
                                <a:ea typeface="Cambria Math" panose="02040503050406030204" pitchFamily="18" charset="0"/>
                              </a:rPr>
                            </m:ctrlPr>
                          </m:funcPr>
                          <m:fName>
                            <m:r>
                              <m:rPr>
                                <m:sty m:val="p"/>
                              </m:rPr>
                              <a:rPr lang="en-US" altLang="zh-CN" b="0" i="0" dirty="0" smtClean="0">
                                <a:latin typeface="Cambria Math" panose="02040503050406030204" pitchFamily="18" charset="0"/>
                                <a:ea typeface="Cambria Math" panose="02040503050406030204" pitchFamily="18" charset="0"/>
                              </a:rPr>
                              <m:t>deg</m:t>
                            </m:r>
                          </m:fName>
                          <m:e>
                            <m:d>
                              <m:dPr>
                                <m:ctrlPr>
                                  <a:rPr lang="en-US" altLang="zh-CN" b="0" i="1" dirty="0" smtClean="0">
                                    <a:latin typeface="Cambria Math" panose="02040503050406030204" pitchFamily="18" charset="0"/>
                                    <a:ea typeface="Cambria Math" panose="02040503050406030204" pitchFamily="18" charset="0"/>
                                  </a:rPr>
                                </m:ctrlPr>
                              </m:dPr>
                              <m:e>
                                <m:r>
                                  <a:rPr lang="en-US" altLang="zh-CN" b="0" i="1" dirty="0" smtClean="0">
                                    <a:latin typeface="Cambria Math" panose="02040503050406030204" pitchFamily="18" charset="0"/>
                                    <a:ea typeface="Cambria Math" panose="02040503050406030204" pitchFamily="18" charset="0"/>
                                  </a:rPr>
                                  <m:t>𝑣</m:t>
                                </m:r>
                              </m:e>
                            </m:d>
                          </m:e>
                        </m:func>
                      </m:e>
                    </m:func>
                  </m:oMath>
                </a14:m>
                <a:r>
                  <a:rPr lang="en-US" altLang="zh-CN" dirty="0"/>
                  <a:t>, </a:t>
                </a:r>
                <a:r>
                  <a:rPr lang="zh-CN" altLang="en-US" dirty="0" smtClean="0"/>
                  <a:t>其中</a:t>
                </a:r>
                <a14:m>
                  <m:oMath xmlns:m="http://schemas.openxmlformats.org/officeDocument/2006/math">
                    <m:r>
                      <m:rPr>
                        <m:sty m:val="p"/>
                      </m:rPr>
                      <a:rPr lang="en-US" altLang="zh-CN">
                        <a:latin typeface="Cambria Math" panose="02040503050406030204" pitchFamily="18" charset="0"/>
                      </a:rPr>
                      <m:t>v</m:t>
                    </m:r>
                    <m:r>
                      <a:rPr lang="zh-CN" altLang="en-US" i="1">
                        <a:latin typeface="Cambria Math" panose="02040503050406030204" pitchFamily="18" charset="0"/>
                      </a:rPr>
                      <m:t>∈</m:t>
                    </m:r>
                    <m:r>
                      <m:rPr>
                        <m:sty m:val="p"/>
                      </m:rPr>
                      <a:rPr lang="en-US" altLang="zh-CN" i="1">
                        <a:latin typeface="Cambria Math" panose="02040503050406030204" pitchFamily="18" charset="0"/>
                      </a:rPr>
                      <m:t>V</m:t>
                    </m:r>
                    <m:r>
                      <a:rPr lang="en-US" altLang="zh-CN" i="1">
                        <a:latin typeface="Cambria Math" panose="02040503050406030204" pitchFamily="18" charset="0"/>
                      </a:rPr>
                      <m:t>.</m:t>
                    </m:r>
                  </m:oMath>
                </a14:m>
                <a:endParaRPr lang="en-US" altLang="zh-CN" b="0" i="1" dirty="0" smtClean="0">
                  <a:latin typeface="Cambria Math" panose="02040503050406030204" pitchFamily="18" charset="0"/>
                  <a:ea typeface="Cambria Math" panose="02040503050406030204" pitchFamily="18" charset="0"/>
                </a:endParaRPr>
              </a:p>
              <a:p>
                <a:pPr marL="0" indent="0" algn="ctr">
                  <a:buNone/>
                </a:pPr>
                <a14:m>
                  <m:oMath xmlns:m="http://schemas.openxmlformats.org/officeDocument/2006/math">
                    <m:r>
                      <a:rPr lang="zh-CN" altLang="en-US" i="1" dirty="0" smtClean="0">
                        <a:latin typeface="Cambria Math" panose="02040503050406030204" pitchFamily="18" charset="0"/>
                        <a:ea typeface="Cambria Math" panose="02040503050406030204" pitchFamily="18" charset="0"/>
                      </a:rPr>
                      <m:t>𝜆</m:t>
                    </m:r>
                    <m:r>
                      <a:rPr lang="en-US" altLang="zh-CN" b="0" i="1" dirty="0" smtClean="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𝐺</m:t>
                    </m:r>
                    <m:r>
                      <a:rPr lang="en-US" altLang="zh-CN" b="0" i="1" dirty="0" smtClean="0">
                        <a:latin typeface="Cambria Math" panose="02040503050406030204" pitchFamily="18" charset="0"/>
                        <a:ea typeface="Cambria Math" panose="02040503050406030204" pitchFamily="18" charset="0"/>
                      </a:rPr>
                      <m:t>)≤</m:t>
                    </m:r>
                    <m:func>
                      <m:funcPr>
                        <m:ctrlPr>
                          <a:rPr lang="en-US" altLang="zh-CN" b="0" i="1" dirty="0" smtClean="0">
                            <a:latin typeface="Cambria Math" panose="02040503050406030204" pitchFamily="18" charset="0"/>
                            <a:ea typeface="Cambria Math" panose="02040503050406030204" pitchFamily="18" charset="0"/>
                          </a:rPr>
                        </m:ctrlPr>
                      </m:funcPr>
                      <m:fName>
                        <m:r>
                          <m:rPr>
                            <m:sty m:val="p"/>
                          </m:rPr>
                          <a:rPr lang="en-US" altLang="zh-CN" b="0" i="0" dirty="0" smtClean="0">
                            <a:latin typeface="Cambria Math" panose="02040503050406030204" pitchFamily="18" charset="0"/>
                            <a:ea typeface="Cambria Math" panose="02040503050406030204" pitchFamily="18" charset="0"/>
                          </a:rPr>
                          <m:t>min</m:t>
                        </m:r>
                      </m:fName>
                      <m:e>
                        <m:r>
                          <m:rPr>
                            <m:sty m:val="p"/>
                          </m:rPr>
                          <a:rPr lang="en-US" altLang="zh-CN" b="0" i="0" dirty="0" smtClean="0">
                            <a:latin typeface="Cambria Math" panose="02040503050406030204" pitchFamily="18" charset="0"/>
                            <a:ea typeface="Cambria Math" panose="02040503050406030204" pitchFamily="18" charset="0"/>
                          </a:rPr>
                          <m:t>deg</m:t>
                        </m:r>
                        <m:r>
                          <a:rPr lang="en-US" altLang="zh-CN" b="0" i="1" dirty="0" smtClean="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𝑣</m:t>
                        </m:r>
                        <m:r>
                          <a:rPr lang="en-US" altLang="zh-CN" b="0" i="1" dirty="0" smtClean="0">
                            <a:latin typeface="Cambria Math" panose="02040503050406030204" pitchFamily="18" charset="0"/>
                            <a:ea typeface="Cambria Math" panose="02040503050406030204" pitchFamily="18" charset="0"/>
                          </a:rPr>
                          <m:t>)</m:t>
                        </m:r>
                      </m:e>
                    </m:func>
                  </m:oMath>
                </a14:m>
                <a:r>
                  <a:rPr lang="en-US" altLang="zh-CN" dirty="0" smtClean="0"/>
                  <a:t>, </a:t>
                </a:r>
                <a:r>
                  <a:rPr lang="zh-CN" altLang="en-US" dirty="0" smtClean="0"/>
                  <a:t>其中</a:t>
                </a:r>
                <a14:m>
                  <m:oMath xmlns:m="http://schemas.openxmlformats.org/officeDocument/2006/math">
                    <m:r>
                      <m:rPr>
                        <m:sty m:val="p"/>
                      </m:rPr>
                      <a:rPr lang="en-US" altLang="zh-CN" b="0" i="0" smtClean="0">
                        <a:latin typeface="Cambria Math" panose="02040503050406030204" pitchFamily="18" charset="0"/>
                      </a:rPr>
                      <m:t>v</m:t>
                    </m:r>
                    <m:r>
                      <a:rPr lang="zh-CN" altLang="en-US" i="1" smtClean="0">
                        <a:latin typeface="Cambria Math" panose="02040503050406030204" pitchFamily="18" charset="0"/>
                      </a:rPr>
                      <m:t>∈</m:t>
                    </m:r>
                    <m:r>
                      <m:rPr>
                        <m:sty m:val="p"/>
                      </m:rPr>
                      <a:rPr lang="en-US" altLang="zh-CN" i="1">
                        <a:latin typeface="Cambria Math" panose="02040503050406030204" pitchFamily="18" charset="0"/>
                      </a:rPr>
                      <m:t>V</m:t>
                    </m:r>
                    <m:r>
                      <a:rPr lang="en-US" altLang="zh-CN" i="1" smtClean="0">
                        <a:latin typeface="Cambria Math" panose="02040503050406030204" pitchFamily="18" charset="0"/>
                      </a:rPr>
                      <m:t>.</m:t>
                    </m:r>
                  </m:oMath>
                </a14:m>
                <a:endParaRPr lang="en-US" altLang="zh-CN" dirty="0" smtClean="0"/>
              </a:p>
              <a:p>
                <a:r>
                  <a:rPr lang="zh-CN" altLang="en-US" dirty="0" smtClean="0"/>
                  <a:t>删除度最小的顶点的所有邻居</a:t>
                </a:r>
                <a:r>
                  <a:rPr lang="en-US" altLang="zh-CN" dirty="0" smtClean="0"/>
                  <a:t>, </a:t>
                </a:r>
                <a:r>
                  <a:rPr lang="zh-CN" altLang="en-US" dirty="0" smtClean="0"/>
                  <a:t>就使得</a:t>
                </a:r>
                <a:r>
                  <a:rPr lang="en-US" altLang="zh-CN" dirty="0" smtClean="0"/>
                  <a:t>G</a:t>
                </a:r>
                <a:r>
                  <a:rPr lang="zh-CN" altLang="en-US" dirty="0" smtClean="0"/>
                  <a:t>变为不连通的且连通分支数增加</a:t>
                </a:r>
                <a:r>
                  <a:rPr lang="en-US" altLang="zh-CN" dirty="0" smtClean="0"/>
                  <a:t>; </a:t>
                </a:r>
                <a:r>
                  <a:rPr lang="zh-CN" altLang="en-US" dirty="0" smtClean="0"/>
                  <a:t>而且删除所有以度最小的顶点为端点的边</a:t>
                </a:r>
                <a:r>
                  <a:rPr lang="en-US" altLang="zh-CN" dirty="0" smtClean="0"/>
                  <a:t>, </a:t>
                </a:r>
                <a:r>
                  <a:rPr lang="zh-CN" altLang="en-US" dirty="0" smtClean="0"/>
                  <a:t>就使得</a:t>
                </a:r>
                <a:r>
                  <a:rPr lang="en-US" altLang="zh-CN" dirty="0" smtClean="0"/>
                  <a:t>G</a:t>
                </a:r>
                <a:r>
                  <a:rPr lang="zh-CN" altLang="en-US" dirty="0" smtClean="0"/>
                  <a:t>变为不</a:t>
                </a:r>
                <a:r>
                  <a:rPr lang="zh-CN" altLang="en-US" dirty="0"/>
                  <a:t>连通且连通分支数增加</a:t>
                </a:r>
                <a:r>
                  <a:rPr lang="en-US" altLang="zh-CN" dirty="0" smtClean="0"/>
                  <a:t>.</a:t>
                </a:r>
              </a:p>
              <a:p>
                <a:endParaRPr lang="en-US" altLang="zh-CN" dirty="0" smtClean="0"/>
              </a:p>
              <a:p>
                <a:endParaRPr lang="en-US" altLang="zh-CN" dirty="0" smtClean="0"/>
              </a:p>
              <a:p>
                <a:endParaRPr lang="en-US" altLang="zh-CN" sz="2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99" t="-1310" r="-166"/>
                </a:stretch>
              </a:blipFill>
            </p:spPr>
            <p:txBody>
              <a:bodyPr/>
              <a:lstStyle/>
              <a:p>
                <a:r>
                  <a:rPr lang="zh-CN" altLang="en-US">
                    <a:noFill/>
                  </a:rPr>
                  <a:t> </a:t>
                </a:r>
              </a:p>
            </p:txBody>
          </p:sp>
        </mc:Fallback>
      </mc:AlternateContent>
      <p:sp>
        <p:nvSpPr>
          <p:cNvPr id="7" name="日期占位符 6"/>
          <p:cNvSpPr>
            <a:spLocks noGrp="1"/>
          </p:cNvSpPr>
          <p:nvPr>
            <p:ph type="dt" sz="half" idx="10"/>
          </p:nvPr>
        </p:nvSpPr>
        <p:spPr/>
        <p:txBody>
          <a:bodyPr/>
          <a:lstStyle/>
          <a:p>
            <a:fld id="{89C8D9FB-DDE4-4D39-81C8-6B630A157FCF}"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131</a:t>
            </a:fld>
            <a:endParaRPr lang="zh-CN" altLang="en-US" dirty="0"/>
          </a:p>
        </p:txBody>
      </p:sp>
      <p:pic>
        <p:nvPicPr>
          <p:cNvPr id="10" name="图片 9"/>
          <p:cNvPicPr>
            <a:picLocks noChangeAspect="1"/>
          </p:cNvPicPr>
          <p:nvPr/>
        </p:nvPicPr>
        <p:blipFill>
          <a:blip r:embed="rId3"/>
          <a:stretch>
            <a:fillRect/>
          </a:stretch>
        </p:blipFill>
        <p:spPr>
          <a:xfrm>
            <a:off x="3719100" y="4876800"/>
            <a:ext cx="1805400" cy="1828100"/>
          </a:xfrm>
          <a:prstGeom prst="rect">
            <a:avLst/>
          </a:prstGeom>
        </p:spPr>
      </p:pic>
      <mc:AlternateContent xmlns:mc="http://schemas.openxmlformats.org/markup-compatibility/2006" xmlns:a14="http://schemas.microsoft.com/office/drawing/2010/main">
        <mc:Choice Requires="a14">
          <p:sp>
            <p:nvSpPr>
              <p:cNvPr id="4" name="矩形 3"/>
              <p:cNvSpPr/>
              <p:nvPr/>
            </p:nvSpPr>
            <p:spPr>
              <a:xfrm>
                <a:off x="6096000" y="5029200"/>
                <a:ext cx="3505200" cy="1015663"/>
              </a:xfrm>
              <a:prstGeom prst="rect">
                <a:avLst/>
              </a:prstGeom>
            </p:spPr>
            <p:txBody>
              <a:bodyPr wrap="square">
                <a:spAutoFit/>
              </a:bodyPr>
              <a:lstStyle/>
              <a:p>
                <a14:m>
                  <m:oMath xmlns:m="http://schemas.openxmlformats.org/officeDocument/2006/math">
                    <m:r>
                      <a:rPr lang="zh-CN" altLang="en-US" sz="2000" i="1">
                        <a:latin typeface="Cambria Math" panose="02040503050406030204" pitchFamily="18" charset="0"/>
                      </a:rPr>
                      <m:t>𝜅</m:t>
                    </m:r>
                  </m:oMath>
                </a14:m>
                <a:r>
                  <a:rPr lang="en-US" altLang="zh-CN" sz="2000" dirty="0">
                    <a:latin typeface="微软雅黑" panose="020B0503020204020204" pitchFamily="34" charset="-122"/>
                    <a:ea typeface="微软雅黑" panose="020B0503020204020204" pitchFamily="34" charset="-122"/>
                  </a:rPr>
                  <a:t>(G1)=</a:t>
                </a:r>
                <a:r>
                  <a:rPr lang="en-US" altLang="zh-CN" sz="2000" dirty="0" smtClean="0">
                    <a:latin typeface="微软雅黑" panose="020B0503020204020204" pitchFamily="34" charset="-122"/>
                    <a:ea typeface="微软雅黑" panose="020B0503020204020204" pitchFamily="34" charset="-122"/>
                  </a:rPr>
                  <a:t>1</a:t>
                </a:r>
              </a:p>
              <a:p>
                <a14:m>
                  <m:oMath xmlns:m="http://schemas.openxmlformats.org/officeDocument/2006/math">
                    <m:r>
                      <a:rPr lang="zh-CN" altLang="en-US" sz="2000">
                        <a:latin typeface="Cambria Math" panose="02040503050406030204" pitchFamily="18" charset="0"/>
                      </a:rPr>
                      <m:t>𝜆</m:t>
                    </m:r>
                  </m:oMath>
                </a14:m>
                <a:r>
                  <a:rPr lang="en-US" altLang="zh-CN" sz="2000" dirty="0">
                    <a:latin typeface="微软雅黑" panose="020B0503020204020204" pitchFamily="34" charset="-122"/>
                    <a:ea typeface="微软雅黑" panose="020B0503020204020204" pitchFamily="34" charset="-122"/>
                  </a:rPr>
                  <a:t>(G1)=</a:t>
                </a:r>
                <a:r>
                  <a:rPr lang="en-US" altLang="zh-CN" sz="2000" dirty="0" smtClean="0">
                    <a:latin typeface="微软雅黑" panose="020B0503020204020204" pitchFamily="34" charset="-122"/>
                    <a:ea typeface="微软雅黑" panose="020B0503020204020204" pitchFamily="34" charset="-122"/>
                  </a:rPr>
                  <a:t>1</a:t>
                </a:r>
              </a:p>
              <a:p>
                <a:r>
                  <a:rPr lang="en-US" altLang="zh-CN" sz="2000" dirty="0" err="1" smtClean="0">
                    <a:latin typeface="微软雅黑" panose="020B0503020204020204" pitchFamily="34" charset="-122"/>
                    <a:ea typeface="微软雅黑" panose="020B0503020204020204" pitchFamily="34" charset="-122"/>
                  </a:rPr>
                  <a:t>deg</a:t>
                </a:r>
                <a:r>
                  <a:rPr lang="en-US" altLang="zh-CN" sz="2000" dirty="0" smtClean="0">
                    <a:latin typeface="微软雅黑" panose="020B0503020204020204" pitchFamily="34" charset="-122"/>
                    <a:ea typeface="微软雅黑" panose="020B0503020204020204" pitchFamily="34" charset="-122"/>
                  </a:rPr>
                  <a:t>(a)=1, </a:t>
                </a:r>
                <a:r>
                  <a:rPr lang="zh-CN" altLang="en-US" sz="2000" dirty="0" smtClean="0">
                    <a:latin typeface="微软雅黑" panose="020B0503020204020204" pitchFamily="34" charset="-122"/>
                    <a:ea typeface="微软雅黑" panose="020B0503020204020204" pitchFamily="34" charset="-122"/>
                  </a:rPr>
                  <a:t>满足不等式</a:t>
                </a:r>
                <a:endParaRPr lang="zh-CN" altLang="en-US" sz="2000" dirty="0">
                  <a:latin typeface="微软雅黑" panose="020B0503020204020204" pitchFamily="34" charset="-122"/>
                  <a:ea typeface="微软雅黑" panose="020B0503020204020204" pitchFamily="34" charset="-122"/>
                </a:endParaRPr>
              </a:p>
            </p:txBody>
          </p:sp>
        </mc:Choice>
        <mc:Fallback xmlns="">
          <p:sp>
            <p:nvSpPr>
              <p:cNvPr id="4" name="矩形 3"/>
              <p:cNvSpPr>
                <a:spLocks noRot="1" noChangeAspect="1" noMove="1" noResize="1" noEditPoints="1" noAdjustHandles="1" noChangeArrowheads="1" noChangeShapeType="1" noTextEdit="1"/>
              </p:cNvSpPr>
              <p:nvPr/>
            </p:nvSpPr>
            <p:spPr>
              <a:xfrm>
                <a:off x="6096000" y="5029200"/>
                <a:ext cx="3505200" cy="1015663"/>
              </a:xfrm>
              <a:prstGeom prst="rect">
                <a:avLst/>
              </a:prstGeom>
              <a:blipFill>
                <a:blip r:embed="rId4"/>
                <a:stretch>
                  <a:fillRect l="-1739" t="-2994" b="-958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17421080"/>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57200" y="3886200"/>
            <a:ext cx="11277599" cy="5334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smtClean="0"/>
              <a:t>图是如何连通的</a:t>
            </a:r>
            <a:endParaRPr lang="en-US" dirty="0">
              <a:solidFill>
                <a:srgbClr val="C00000"/>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smtClean="0"/>
                  <a:t>一个与点连通度和边连通度相关的不等式</a:t>
                </a:r>
                <a:r>
                  <a:rPr lang="en-US" altLang="zh-CN" dirty="0" smtClean="0"/>
                  <a:t>: </a:t>
                </a:r>
              </a:p>
              <a:p>
                <a:r>
                  <a:rPr lang="zh-CN" altLang="en-US" dirty="0" smtClean="0"/>
                  <a:t>若</a:t>
                </a:r>
                <a:r>
                  <a:rPr lang="en-US" altLang="zh-CN" dirty="0" smtClean="0"/>
                  <a:t>G</a:t>
                </a:r>
                <a:r>
                  <a:rPr lang="zh-CN" altLang="en-US" dirty="0" smtClean="0"/>
                  <a:t>是一个连通的非完全图</a:t>
                </a:r>
                <a:r>
                  <a:rPr lang="en-US" altLang="zh-CN" dirty="0" smtClean="0"/>
                  <a:t>, </a:t>
                </a:r>
                <a:r>
                  <a:rPr lang="zh-CN" altLang="en-US" dirty="0" smtClean="0"/>
                  <a:t>则</a:t>
                </a:r>
                <a14:m>
                  <m:oMath xmlns:m="http://schemas.openxmlformats.org/officeDocument/2006/math">
                    <m:r>
                      <a:rPr lang="en-US" altLang="zh-CN" i="1" dirty="0">
                        <a:latin typeface="Cambria Math" panose="02040503050406030204" pitchFamily="18" charset="0"/>
                        <a:ea typeface="Cambria Math" panose="02040503050406030204" pitchFamily="18" charset="0"/>
                      </a:rPr>
                      <m:t>𝑘</m:t>
                    </m:r>
                    <m:d>
                      <m:dPr>
                        <m:ctrlPr>
                          <a:rPr lang="en-US" altLang="zh-CN" i="1" dirty="0">
                            <a:latin typeface="Cambria Math" panose="02040503050406030204" pitchFamily="18" charset="0"/>
                            <a:ea typeface="Cambria Math" panose="02040503050406030204" pitchFamily="18" charset="0"/>
                          </a:rPr>
                        </m:ctrlPr>
                      </m:dPr>
                      <m:e>
                        <m:r>
                          <a:rPr lang="en-US" altLang="zh-CN" i="1" dirty="0">
                            <a:latin typeface="Cambria Math" panose="02040503050406030204" pitchFamily="18" charset="0"/>
                            <a:ea typeface="Cambria Math" panose="02040503050406030204" pitchFamily="18" charset="0"/>
                          </a:rPr>
                          <m:t>𝐺</m:t>
                        </m:r>
                      </m:e>
                    </m:d>
                    <m:r>
                      <a:rPr lang="en-US" altLang="zh-CN" i="1" dirty="0">
                        <a:latin typeface="Cambria Math" panose="02040503050406030204" pitchFamily="18" charset="0"/>
                        <a:ea typeface="Cambria Math" panose="02040503050406030204" pitchFamily="18" charset="0"/>
                      </a:rPr>
                      <m:t>≤</m:t>
                    </m:r>
                    <m:r>
                      <a:rPr lang="zh-CN" altLang="en-US" i="1" dirty="0">
                        <a:latin typeface="Cambria Math" panose="02040503050406030204" pitchFamily="18" charset="0"/>
                        <a:ea typeface="Cambria Math" panose="02040503050406030204" pitchFamily="18" charset="0"/>
                      </a:rPr>
                      <m:t>𝜆</m:t>
                    </m:r>
                    <m:r>
                      <a:rPr lang="en-US" altLang="zh-CN" i="1" dirty="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ea typeface="Cambria Math" panose="02040503050406030204" pitchFamily="18" charset="0"/>
                      </a:rPr>
                      <m:t>𝐺</m:t>
                    </m:r>
                    <m:r>
                      <a:rPr lang="en-US" altLang="zh-CN" i="1" dirty="0" smtClean="0">
                        <a:latin typeface="Cambria Math" panose="02040503050406030204" pitchFamily="18" charset="0"/>
                        <a:ea typeface="Cambria Math" panose="02040503050406030204" pitchFamily="18" charset="0"/>
                      </a:rPr>
                      <m:t>)</m:t>
                    </m:r>
                  </m:oMath>
                </a14:m>
                <a:r>
                  <a:rPr lang="en-US" altLang="zh-CN" dirty="0" smtClean="0"/>
                  <a:t> .</a:t>
                </a:r>
              </a:p>
              <a:p>
                <a:r>
                  <a:rPr lang="zh-CN" altLang="en-US" dirty="0" smtClean="0"/>
                  <a:t>若</a:t>
                </a:r>
                <a:r>
                  <a:rPr lang="en-US" altLang="zh-CN" dirty="0" smtClean="0"/>
                  <a:t>G</a:t>
                </a:r>
                <a:r>
                  <a:rPr lang="zh-CN" altLang="en-US" dirty="0" smtClean="0"/>
                  <a:t>是完全图</a:t>
                </a:r>
                <a14:m>
                  <m:oMath xmlns:m="http://schemas.openxmlformats.org/officeDocument/2006/math">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K</m:t>
                        </m:r>
                      </m:e>
                      <m:sub>
                        <m:r>
                          <m:rPr>
                            <m:sty m:val="p"/>
                          </m:rPr>
                          <a:rPr lang="en-US" altLang="zh-CN">
                            <a:latin typeface="Cambria Math" panose="02040503050406030204" pitchFamily="18" charset="0"/>
                          </a:rPr>
                          <m:t>n</m:t>
                        </m:r>
                      </m:sub>
                    </m:sSub>
                    <m:r>
                      <a:rPr lang="en-US" altLang="zh-CN" b="0" i="0" smtClean="0">
                        <a:latin typeface="Cambria Math" panose="02040503050406030204" pitchFamily="18" charset="0"/>
                      </a:rPr>
                      <m:t>, </m:t>
                    </m:r>
                  </m:oMath>
                </a14:m>
                <a:r>
                  <a:rPr lang="zh-CN" altLang="en-US" dirty="0" smtClean="0"/>
                  <a:t>则</a:t>
                </a:r>
                <a14:m>
                  <m:oMath xmlns:m="http://schemas.openxmlformats.org/officeDocument/2006/math">
                    <m:r>
                      <a:rPr lang="en-US" altLang="zh-CN" i="1" dirty="0">
                        <a:latin typeface="Cambria Math" panose="02040503050406030204" pitchFamily="18" charset="0"/>
                        <a:ea typeface="Cambria Math" panose="02040503050406030204" pitchFamily="18" charset="0"/>
                      </a:rPr>
                      <m:t>𝑘</m:t>
                    </m:r>
                    <m:d>
                      <m:dPr>
                        <m:ctrlPr>
                          <a:rPr lang="en-US" altLang="zh-CN" i="1" dirty="0">
                            <a:latin typeface="Cambria Math" panose="02040503050406030204" pitchFamily="18" charset="0"/>
                            <a:ea typeface="Cambria Math" panose="02040503050406030204" pitchFamily="18" charset="0"/>
                          </a:rPr>
                        </m:ctrlPr>
                      </m:dPr>
                      <m:e>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K</m:t>
                            </m:r>
                          </m:e>
                          <m:sub>
                            <m:r>
                              <m:rPr>
                                <m:sty m:val="p"/>
                              </m:rPr>
                              <a:rPr lang="en-US" altLang="zh-CN">
                                <a:latin typeface="Cambria Math" panose="02040503050406030204" pitchFamily="18" charset="0"/>
                              </a:rPr>
                              <m:t>n</m:t>
                            </m:r>
                          </m:sub>
                        </m:sSub>
                      </m:e>
                    </m:d>
                    <m:r>
                      <a:rPr lang="en-US" altLang="zh-CN" i="1" dirty="0">
                        <a:latin typeface="Cambria Math" panose="02040503050406030204" pitchFamily="18" charset="0"/>
                        <a:ea typeface="Cambria Math" panose="02040503050406030204" pitchFamily="18" charset="0"/>
                      </a:rPr>
                      <m:t>=</m:t>
                    </m:r>
                    <m:r>
                      <a:rPr lang="zh-CN" altLang="en-US" i="1" dirty="0">
                        <a:latin typeface="Cambria Math" panose="02040503050406030204" pitchFamily="18" charset="0"/>
                        <a:ea typeface="Cambria Math" panose="02040503050406030204" pitchFamily="18" charset="0"/>
                      </a:rPr>
                      <m:t>𝜆</m:t>
                    </m:r>
                    <m:r>
                      <a:rPr lang="en-US" altLang="zh-CN" i="1" dirty="0">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K</m:t>
                        </m:r>
                      </m:e>
                      <m:sub>
                        <m:r>
                          <m:rPr>
                            <m:sty m:val="p"/>
                          </m:rPr>
                          <a:rPr lang="en-US" altLang="zh-CN">
                            <a:latin typeface="Cambria Math" panose="02040503050406030204" pitchFamily="18" charset="0"/>
                          </a:rPr>
                          <m:t>n</m:t>
                        </m:r>
                      </m:sub>
                    </m:sSub>
                    <m:r>
                      <a:rPr lang="en-US" altLang="zh-CN" i="1" dirty="0">
                        <a:latin typeface="Cambria Math" panose="02040503050406030204" pitchFamily="18" charset="0"/>
                        <a:ea typeface="Cambria Math" panose="02040503050406030204" pitchFamily="18" charset="0"/>
                      </a:rPr>
                      <m:t>)</m:t>
                    </m:r>
                  </m:oMath>
                </a14:m>
                <a:r>
                  <a:rPr lang="en-US" altLang="zh-CN" dirty="0"/>
                  <a:t> </a:t>
                </a:r>
                <a:r>
                  <a:rPr lang="en-US" altLang="zh-CN" dirty="0" smtClean="0"/>
                  <a:t>=</a:t>
                </a:r>
                <a14:m>
                  <m:oMath xmlns:m="http://schemas.openxmlformats.org/officeDocument/2006/math">
                    <m:func>
                      <m:funcPr>
                        <m:ctrlPr>
                          <a:rPr lang="en-US" altLang="zh-CN" i="1" dirty="0">
                            <a:latin typeface="Cambria Math" panose="02040503050406030204" pitchFamily="18" charset="0"/>
                            <a:ea typeface="Cambria Math" panose="02040503050406030204" pitchFamily="18" charset="0"/>
                          </a:rPr>
                        </m:ctrlPr>
                      </m:funcPr>
                      <m:fName>
                        <m:r>
                          <m:rPr>
                            <m:sty m:val="p"/>
                          </m:rPr>
                          <a:rPr lang="en-US" altLang="zh-CN" dirty="0">
                            <a:latin typeface="Cambria Math" panose="02040503050406030204" pitchFamily="18" charset="0"/>
                            <a:ea typeface="Cambria Math" panose="02040503050406030204" pitchFamily="18" charset="0"/>
                          </a:rPr>
                          <m:t>min</m:t>
                        </m:r>
                      </m:fName>
                      <m:e>
                        <m:func>
                          <m:funcPr>
                            <m:ctrlPr>
                              <a:rPr lang="en-US" altLang="zh-CN" i="1" dirty="0">
                                <a:latin typeface="Cambria Math" panose="02040503050406030204" pitchFamily="18" charset="0"/>
                                <a:ea typeface="Cambria Math" panose="02040503050406030204" pitchFamily="18" charset="0"/>
                              </a:rPr>
                            </m:ctrlPr>
                          </m:funcPr>
                          <m:fName>
                            <m:r>
                              <m:rPr>
                                <m:sty m:val="p"/>
                              </m:rPr>
                              <a:rPr lang="en-US" altLang="zh-CN" dirty="0">
                                <a:latin typeface="Cambria Math" panose="02040503050406030204" pitchFamily="18" charset="0"/>
                                <a:ea typeface="Cambria Math" panose="02040503050406030204" pitchFamily="18" charset="0"/>
                              </a:rPr>
                              <m:t>deg</m:t>
                            </m:r>
                          </m:fName>
                          <m:e>
                            <m:d>
                              <m:dPr>
                                <m:ctrlPr>
                                  <a:rPr lang="en-US" altLang="zh-CN" i="1" dirty="0">
                                    <a:latin typeface="Cambria Math" panose="02040503050406030204" pitchFamily="18" charset="0"/>
                                    <a:ea typeface="Cambria Math" panose="02040503050406030204" pitchFamily="18" charset="0"/>
                                  </a:rPr>
                                </m:ctrlPr>
                              </m:dPr>
                              <m:e>
                                <m:r>
                                  <a:rPr lang="en-US" altLang="zh-CN" i="1" dirty="0">
                                    <a:latin typeface="Cambria Math" panose="02040503050406030204" pitchFamily="18" charset="0"/>
                                    <a:ea typeface="Cambria Math" panose="02040503050406030204" pitchFamily="18" charset="0"/>
                                  </a:rPr>
                                  <m:t>𝑣</m:t>
                                </m:r>
                              </m:e>
                            </m:d>
                          </m:e>
                        </m:func>
                        <m:r>
                          <a:rPr lang="en-US" altLang="zh-CN" b="0" i="1" dirty="0" smtClean="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𝑛</m:t>
                        </m:r>
                        <m:r>
                          <a:rPr lang="en-US" altLang="zh-CN" b="0" i="1" dirty="0" smtClean="0">
                            <a:latin typeface="Cambria Math" panose="02040503050406030204" pitchFamily="18" charset="0"/>
                            <a:ea typeface="Cambria Math" panose="02040503050406030204" pitchFamily="18" charset="0"/>
                          </a:rPr>
                          <m:t>−1</m:t>
                        </m:r>
                      </m:e>
                    </m:func>
                  </m:oMath>
                </a14:m>
                <a:r>
                  <a:rPr lang="en-US" altLang="zh-CN" dirty="0"/>
                  <a:t>, </a:t>
                </a:r>
                <a:r>
                  <a:rPr lang="zh-CN" altLang="en-US" dirty="0"/>
                  <a:t>其中</a:t>
                </a:r>
                <a14:m>
                  <m:oMath xmlns:m="http://schemas.openxmlformats.org/officeDocument/2006/math">
                    <m:r>
                      <m:rPr>
                        <m:sty m:val="p"/>
                      </m:rPr>
                      <a:rPr lang="en-US" altLang="zh-CN">
                        <a:latin typeface="Cambria Math" panose="02040503050406030204" pitchFamily="18" charset="0"/>
                      </a:rPr>
                      <m:t>v</m:t>
                    </m:r>
                    <m:r>
                      <a:rPr lang="zh-CN" altLang="en-US" i="1">
                        <a:latin typeface="Cambria Math" panose="02040503050406030204" pitchFamily="18" charset="0"/>
                      </a:rPr>
                      <m:t>∈</m:t>
                    </m:r>
                    <m:r>
                      <m:rPr>
                        <m:sty m:val="p"/>
                      </m:rPr>
                      <a:rPr lang="en-US" altLang="zh-CN" i="1">
                        <a:latin typeface="Cambria Math" panose="02040503050406030204" pitchFamily="18" charset="0"/>
                      </a:rPr>
                      <m:t>V</m:t>
                    </m:r>
                    <m:r>
                      <a:rPr lang="en-US" altLang="zh-CN" i="1">
                        <a:latin typeface="Cambria Math" panose="02040503050406030204" pitchFamily="18" charset="0"/>
                      </a:rPr>
                      <m:t>.</m:t>
                    </m:r>
                  </m:oMath>
                </a14:m>
                <a:endParaRPr lang="en-US" altLang="zh-CN" dirty="0" smtClean="0"/>
              </a:p>
              <a:p>
                <a:r>
                  <a:rPr lang="zh-CN" altLang="en-US" dirty="0"/>
                  <a:t>若</a:t>
                </a:r>
                <a:r>
                  <a:rPr lang="en-US" altLang="zh-CN" dirty="0" smtClean="0"/>
                  <a:t>G</a:t>
                </a:r>
                <a:r>
                  <a:rPr lang="zh-CN" altLang="en-US" dirty="0" smtClean="0"/>
                  <a:t>不是连通的</a:t>
                </a:r>
                <a:r>
                  <a:rPr lang="en-US" altLang="zh-CN" dirty="0" smtClean="0"/>
                  <a:t>, </a:t>
                </a:r>
                <a:r>
                  <a:rPr lang="zh-CN" altLang="en-US" dirty="0" smtClean="0"/>
                  <a:t>则</a:t>
                </a:r>
                <a14:m>
                  <m:oMath xmlns:m="http://schemas.openxmlformats.org/officeDocument/2006/math">
                    <m:r>
                      <a:rPr lang="en-US" altLang="zh-CN" i="1" dirty="0">
                        <a:latin typeface="Cambria Math" panose="02040503050406030204" pitchFamily="18" charset="0"/>
                        <a:ea typeface="Cambria Math" panose="02040503050406030204" pitchFamily="18" charset="0"/>
                      </a:rPr>
                      <m:t>𝑘</m:t>
                    </m:r>
                    <m:d>
                      <m:dPr>
                        <m:ctrlPr>
                          <a:rPr lang="en-US" altLang="zh-CN" i="1" dirty="0">
                            <a:latin typeface="Cambria Math" panose="02040503050406030204" pitchFamily="18" charset="0"/>
                            <a:ea typeface="Cambria Math" panose="02040503050406030204" pitchFamily="18" charset="0"/>
                          </a:rPr>
                        </m:ctrlPr>
                      </m:dPr>
                      <m:e>
                        <m:r>
                          <a:rPr lang="en-US" altLang="zh-CN" i="1" dirty="0">
                            <a:latin typeface="Cambria Math" panose="02040503050406030204" pitchFamily="18" charset="0"/>
                            <a:ea typeface="Cambria Math" panose="02040503050406030204" pitchFamily="18" charset="0"/>
                          </a:rPr>
                          <m:t>𝐺</m:t>
                        </m:r>
                      </m:e>
                    </m:d>
                    <m:r>
                      <a:rPr lang="en-US" altLang="zh-CN" i="1" dirty="0">
                        <a:latin typeface="Cambria Math" panose="02040503050406030204" pitchFamily="18" charset="0"/>
                        <a:ea typeface="Cambria Math" panose="02040503050406030204" pitchFamily="18" charset="0"/>
                      </a:rPr>
                      <m:t>=</m:t>
                    </m:r>
                    <m:r>
                      <a:rPr lang="zh-CN" altLang="en-US" i="1" dirty="0">
                        <a:latin typeface="Cambria Math" panose="02040503050406030204" pitchFamily="18" charset="0"/>
                        <a:ea typeface="Cambria Math" panose="02040503050406030204" pitchFamily="18" charset="0"/>
                      </a:rPr>
                      <m:t>𝜆</m:t>
                    </m:r>
                    <m:r>
                      <a:rPr lang="en-US" altLang="zh-CN" i="1" dirty="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ea typeface="Cambria Math" panose="02040503050406030204" pitchFamily="18" charset="0"/>
                      </a:rPr>
                      <m:t>𝐺</m:t>
                    </m:r>
                    <m:r>
                      <a:rPr lang="en-US" altLang="zh-CN" i="1" dirty="0">
                        <a:latin typeface="Cambria Math" panose="02040503050406030204" pitchFamily="18" charset="0"/>
                        <a:ea typeface="Cambria Math" panose="02040503050406030204" pitchFamily="18" charset="0"/>
                      </a:rPr>
                      <m:t>)</m:t>
                    </m:r>
                  </m:oMath>
                </a14:m>
                <a:r>
                  <a:rPr lang="en-US" altLang="zh-CN" dirty="0"/>
                  <a:t> </a:t>
                </a:r>
                <a:r>
                  <a:rPr lang="en-US" altLang="zh-CN" dirty="0" smtClean="0"/>
                  <a:t>=0</a:t>
                </a:r>
              </a:p>
              <a:p>
                <a:r>
                  <a:rPr lang="zh-CN" altLang="en-US" dirty="0" smtClean="0"/>
                  <a:t>综上所述</a:t>
                </a:r>
                <a:r>
                  <a:rPr lang="en-US" altLang="zh-CN" dirty="0" smtClean="0"/>
                  <a:t>, </a:t>
                </a:r>
                <a:r>
                  <a:rPr lang="zh-CN" altLang="en-US" dirty="0" smtClean="0"/>
                  <a:t>对所有的图</a:t>
                </a:r>
                <a:r>
                  <a:rPr lang="en-US" altLang="zh-CN" dirty="0" smtClean="0"/>
                  <a:t>G, </a:t>
                </a:r>
                <a:r>
                  <a:rPr lang="zh-CN" altLang="en-US" dirty="0" smtClean="0"/>
                  <a:t>存在以下等式</a:t>
                </a:r>
                <a:r>
                  <a:rPr lang="en-US" altLang="zh-CN" dirty="0" smtClean="0"/>
                  <a:t>:</a:t>
                </a:r>
              </a:p>
              <a:p>
                <a:pPr marL="0" indent="0" algn="ctr">
                  <a:buNone/>
                </a:pPr>
                <a14:m>
                  <m:oMath xmlns:m="http://schemas.openxmlformats.org/officeDocument/2006/math">
                    <m:r>
                      <a:rPr lang="en-US" altLang="zh-CN" i="1" dirty="0">
                        <a:latin typeface="Cambria Math" panose="02040503050406030204" pitchFamily="18" charset="0"/>
                        <a:ea typeface="Cambria Math" panose="02040503050406030204" pitchFamily="18" charset="0"/>
                      </a:rPr>
                      <m:t>𝑘</m:t>
                    </m:r>
                    <m:d>
                      <m:dPr>
                        <m:ctrlPr>
                          <a:rPr lang="en-US" altLang="zh-CN" i="1" dirty="0">
                            <a:latin typeface="Cambria Math" panose="02040503050406030204" pitchFamily="18" charset="0"/>
                            <a:ea typeface="Cambria Math" panose="02040503050406030204" pitchFamily="18" charset="0"/>
                          </a:rPr>
                        </m:ctrlPr>
                      </m:dPr>
                      <m:e>
                        <m:r>
                          <a:rPr lang="en-US" altLang="zh-CN" i="1" dirty="0">
                            <a:latin typeface="Cambria Math" panose="02040503050406030204" pitchFamily="18" charset="0"/>
                            <a:ea typeface="Cambria Math" panose="02040503050406030204" pitchFamily="18" charset="0"/>
                          </a:rPr>
                          <m:t>𝐺</m:t>
                        </m:r>
                      </m:e>
                    </m:d>
                    <m:r>
                      <a:rPr lang="en-US" altLang="zh-CN" i="1" dirty="0">
                        <a:latin typeface="Cambria Math" panose="02040503050406030204" pitchFamily="18" charset="0"/>
                        <a:ea typeface="Cambria Math" panose="02040503050406030204" pitchFamily="18" charset="0"/>
                      </a:rPr>
                      <m:t>≤</m:t>
                    </m:r>
                    <m:func>
                      <m:funcPr>
                        <m:ctrlPr>
                          <a:rPr lang="en-US" altLang="zh-CN" i="1" dirty="0">
                            <a:latin typeface="Cambria Math" panose="02040503050406030204" pitchFamily="18" charset="0"/>
                            <a:ea typeface="Cambria Math" panose="02040503050406030204" pitchFamily="18" charset="0"/>
                          </a:rPr>
                        </m:ctrlPr>
                      </m:funcPr>
                      <m:fName>
                        <m:r>
                          <a:rPr lang="zh-CN" altLang="en-US" i="1" dirty="0">
                            <a:latin typeface="Cambria Math" panose="02040503050406030204" pitchFamily="18" charset="0"/>
                            <a:ea typeface="Cambria Math" panose="02040503050406030204" pitchFamily="18" charset="0"/>
                          </a:rPr>
                          <m:t>𝜆</m:t>
                        </m:r>
                        <m:r>
                          <a:rPr lang="en-US" altLang="zh-CN" i="1" dirty="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ea typeface="Cambria Math" panose="02040503050406030204" pitchFamily="18" charset="0"/>
                          </a:rPr>
                          <m:t>𝐺</m:t>
                        </m:r>
                        <m:r>
                          <a:rPr lang="en-US" altLang="zh-CN" i="1" dirty="0">
                            <a:latin typeface="Cambria Math" panose="02040503050406030204" pitchFamily="18" charset="0"/>
                            <a:ea typeface="Cambria Math" panose="02040503050406030204" pitchFamily="18" charset="0"/>
                          </a:rPr>
                          <m:t>)≤</m:t>
                        </m:r>
                        <m:r>
                          <m:rPr>
                            <m:sty m:val="p"/>
                          </m:rPr>
                          <a:rPr lang="en-US" altLang="zh-CN" dirty="0">
                            <a:latin typeface="Cambria Math" panose="02040503050406030204" pitchFamily="18" charset="0"/>
                            <a:ea typeface="Cambria Math" panose="02040503050406030204" pitchFamily="18" charset="0"/>
                          </a:rPr>
                          <m:t>min</m:t>
                        </m:r>
                      </m:fName>
                      <m:e>
                        <m:func>
                          <m:funcPr>
                            <m:ctrlPr>
                              <a:rPr lang="en-US" altLang="zh-CN" i="1" dirty="0">
                                <a:latin typeface="Cambria Math" panose="02040503050406030204" pitchFamily="18" charset="0"/>
                                <a:ea typeface="Cambria Math" panose="02040503050406030204" pitchFamily="18" charset="0"/>
                              </a:rPr>
                            </m:ctrlPr>
                          </m:funcPr>
                          <m:fName>
                            <m:r>
                              <m:rPr>
                                <m:sty m:val="p"/>
                              </m:rPr>
                              <a:rPr lang="en-US" altLang="zh-CN" i="0" dirty="0">
                                <a:latin typeface="Cambria Math" panose="02040503050406030204" pitchFamily="18" charset="0"/>
                                <a:ea typeface="Cambria Math" panose="02040503050406030204" pitchFamily="18" charset="0"/>
                              </a:rPr>
                              <m:t>deg</m:t>
                            </m:r>
                          </m:fName>
                          <m:e>
                            <m:d>
                              <m:dPr>
                                <m:ctrlPr>
                                  <a:rPr lang="en-US" altLang="zh-CN" i="1" dirty="0">
                                    <a:latin typeface="Cambria Math" panose="02040503050406030204" pitchFamily="18" charset="0"/>
                                    <a:ea typeface="Cambria Math" panose="02040503050406030204" pitchFamily="18" charset="0"/>
                                  </a:rPr>
                                </m:ctrlPr>
                              </m:dPr>
                              <m:e>
                                <m:r>
                                  <a:rPr lang="en-US" altLang="zh-CN" i="1" dirty="0">
                                    <a:latin typeface="Cambria Math" panose="02040503050406030204" pitchFamily="18" charset="0"/>
                                    <a:ea typeface="Cambria Math" panose="02040503050406030204" pitchFamily="18" charset="0"/>
                                  </a:rPr>
                                  <m:t>𝑣</m:t>
                                </m:r>
                              </m:e>
                            </m:d>
                          </m:e>
                        </m:func>
                      </m:e>
                    </m:func>
                  </m:oMath>
                </a14:m>
                <a:r>
                  <a:rPr lang="en-US" altLang="zh-CN" dirty="0"/>
                  <a:t>, </a:t>
                </a:r>
                <a:r>
                  <a:rPr lang="zh-CN" altLang="en-US" dirty="0"/>
                  <a:t>其中</a:t>
                </a:r>
                <a14:m>
                  <m:oMath xmlns:m="http://schemas.openxmlformats.org/officeDocument/2006/math">
                    <m:r>
                      <m:rPr>
                        <m:sty m:val="p"/>
                      </m:rPr>
                      <a:rPr lang="en-US" altLang="zh-CN">
                        <a:latin typeface="Cambria Math" panose="02040503050406030204" pitchFamily="18" charset="0"/>
                      </a:rPr>
                      <m:t>v</m:t>
                    </m:r>
                    <m:r>
                      <a:rPr lang="zh-CN" altLang="en-US" i="1">
                        <a:latin typeface="Cambria Math" panose="02040503050406030204" pitchFamily="18" charset="0"/>
                      </a:rPr>
                      <m:t>∈</m:t>
                    </m:r>
                    <m:r>
                      <m:rPr>
                        <m:sty m:val="p"/>
                      </m:rPr>
                      <a:rPr lang="en-US" altLang="zh-CN" i="1">
                        <a:latin typeface="Cambria Math" panose="02040503050406030204" pitchFamily="18" charset="0"/>
                      </a:rPr>
                      <m:t>V</m:t>
                    </m:r>
                  </m:oMath>
                </a14:m>
                <a:endParaRPr lang="en-US" altLang="zh-CN" dirty="0" smtClean="0"/>
              </a:p>
              <a:p>
                <a:endParaRPr lang="en-US" altLang="zh-CN" sz="2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99" t="-1310"/>
                </a:stretch>
              </a:blipFill>
            </p:spPr>
            <p:txBody>
              <a:bodyPr/>
              <a:lstStyle/>
              <a:p>
                <a:r>
                  <a:rPr lang="zh-CN" altLang="en-US">
                    <a:noFill/>
                  </a:rPr>
                  <a:t> </a:t>
                </a:r>
              </a:p>
            </p:txBody>
          </p:sp>
        </mc:Fallback>
      </mc:AlternateContent>
      <p:sp>
        <p:nvSpPr>
          <p:cNvPr id="7" name="日期占位符 6"/>
          <p:cNvSpPr>
            <a:spLocks noGrp="1"/>
          </p:cNvSpPr>
          <p:nvPr>
            <p:ph type="dt" sz="half" idx="10"/>
          </p:nvPr>
        </p:nvSpPr>
        <p:spPr/>
        <p:txBody>
          <a:bodyPr/>
          <a:lstStyle/>
          <a:p>
            <a:fld id="{31FA6013-2327-455C-BCAF-8A2BCD227850}"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132</a:t>
            </a:fld>
            <a:endParaRPr lang="zh-CN" altLang="en-US" dirty="0"/>
          </a:p>
        </p:txBody>
      </p:sp>
    </p:spTree>
    <p:extLst>
      <p:ext uri="{BB962C8B-B14F-4D97-AF65-F5344CB8AC3E}">
        <p14:creationId xmlns:p14="http://schemas.microsoft.com/office/powerpoint/2010/main" val="1351576436"/>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图是如何连通的</a:t>
            </a:r>
            <a:endParaRPr lang="en-US" dirty="0">
              <a:solidFill>
                <a:srgbClr val="C00000"/>
              </a:solidFill>
            </a:endParaRPr>
          </a:p>
        </p:txBody>
      </p:sp>
      <p:sp>
        <p:nvSpPr>
          <p:cNvPr id="3" name="Content Placeholder 2"/>
          <p:cNvSpPr>
            <a:spLocks noGrp="1"/>
          </p:cNvSpPr>
          <p:nvPr>
            <p:ph idx="1"/>
          </p:nvPr>
        </p:nvSpPr>
        <p:spPr/>
        <p:txBody>
          <a:bodyPr>
            <a:normAutofit/>
          </a:bodyPr>
          <a:lstStyle/>
          <a:p>
            <a:r>
              <a:rPr lang="zh-CN" altLang="en-US" dirty="0" smtClean="0"/>
              <a:t>点连通度</a:t>
            </a:r>
            <a:r>
              <a:rPr lang="zh-CN" altLang="en-US" dirty="0"/>
              <a:t>和</a:t>
            </a:r>
            <a:r>
              <a:rPr lang="zh-CN" altLang="en-US" dirty="0" smtClean="0"/>
              <a:t>边连通度的应用</a:t>
            </a:r>
            <a:r>
              <a:rPr lang="en-US" altLang="zh-CN" dirty="0" smtClean="0"/>
              <a:t>: </a:t>
            </a:r>
          </a:p>
          <a:p>
            <a:pPr lvl="1">
              <a:lnSpc>
                <a:spcPct val="100000"/>
              </a:lnSpc>
            </a:pPr>
            <a:r>
              <a:rPr lang="zh-CN" altLang="en-US" dirty="0" smtClean="0"/>
              <a:t>在</a:t>
            </a:r>
            <a:r>
              <a:rPr lang="zh-CN" altLang="en-US" dirty="0"/>
              <a:t>计算机网络</a:t>
            </a:r>
            <a:r>
              <a:rPr lang="zh-CN" altLang="en-US" dirty="0" smtClean="0"/>
              <a:t>中</a:t>
            </a:r>
            <a:r>
              <a:rPr lang="en-US" altLang="zh-CN" dirty="0" smtClean="0"/>
              <a:t>, </a:t>
            </a:r>
            <a:r>
              <a:rPr lang="zh-CN" altLang="en-US" dirty="0" smtClean="0"/>
              <a:t>用</a:t>
            </a:r>
            <a:r>
              <a:rPr lang="zh-CN" altLang="en-US" dirty="0"/>
              <a:t>顶点表示</a:t>
            </a:r>
            <a:r>
              <a:rPr lang="zh-CN" altLang="en-US" dirty="0" smtClean="0"/>
              <a:t>路由器</a:t>
            </a:r>
            <a:r>
              <a:rPr lang="en-US" altLang="zh-CN" dirty="0" smtClean="0"/>
              <a:t>, </a:t>
            </a:r>
            <a:r>
              <a:rPr lang="zh-CN" altLang="en-US" dirty="0" smtClean="0"/>
              <a:t>边</a:t>
            </a:r>
            <a:r>
              <a:rPr lang="zh-CN" altLang="en-US" dirty="0"/>
              <a:t>表示它们之间的链路</a:t>
            </a:r>
            <a:r>
              <a:rPr lang="zh-CN" altLang="en-US" dirty="0" smtClean="0"/>
              <a:t>时</a:t>
            </a:r>
            <a:r>
              <a:rPr lang="en-US" altLang="zh-CN" dirty="0" smtClean="0"/>
              <a:t>. </a:t>
            </a:r>
            <a:r>
              <a:rPr lang="zh-CN" altLang="en-US" dirty="0" smtClean="0"/>
              <a:t>图的边连通度表示使得网络不连通发送故障的最小光纤链路数</a:t>
            </a:r>
            <a:r>
              <a:rPr lang="en-US" altLang="zh-CN" dirty="0" smtClean="0"/>
              <a:t>. </a:t>
            </a:r>
            <a:r>
              <a:rPr lang="zh-CN" altLang="en-US" dirty="0" smtClean="0"/>
              <a:t>若发生故障的链路数少于这个数</a:t>
            </a:r>
            <a:r>
              <a:rPr lang="en-US" altLang="zh-CN" dirty="0" smtClean="0"/>
              <a:t>, </a:t>
            </a:r>
            <a:r>
              <a:rPr lang="zh-CN" altLang="en-US" dirty="0" smtClean="0"/>
              <a:t>那么还可以在任意两个路由器之间进行数据传输</a:t>
            </a:r>
            <a:r>
              <a:rPr lang="en-US" altLang="zh-CN" dirty="0" smtClean="0"/>
              <a:t>.</a:t>
            </a:r>
          </a:p>
          <a:p>
            <a:pPr marL="0" indent="0">
              <a:buNone/>
            </a:pPr>
            <a:endParaRPr lang="en-US" altLang="zh-CN" sz="2400" dirty="0"/>
          </a:p>
        </p:txBody>
      </p:sp>
      <p:sp>
        <p:nvSpPr>
          <p:cNvPr id="7" name="日期占位符 6"/>
          <p:cNvSpPr>
            <a:spLocks noGrp="1"/>
          </p:cNvSpPr>
          <p:nvPr>
            <p:ph type="dt" sz="half" idx="10"/>
          </p:nvPr>
        </p:nvSpPr>
        <p:spPr/>
        <p:txBody>
          <a:bodyPr/>
          <a:lstStyle/>
          <a:p>
            <a:fld id="{56E407E6-999F-4495-8BE6-693E7FF5890D}"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133</a:t>
            </a:fld>
            <a:endParaRPr lang="zh-CN" altLang="en-US" dirty="0"/>
          </a:p>
        </p:txBody>
      </p:sp>
    </p:spTree>
    <p:extLst>
      <p:ext uri="{BB962C8B-B14F-4D97-AF65-F5344CB8AC3E}">
        <p14:creationId xmlns:p14="http://schemas.microsoft.com/office/powerpoint/2010/main" val="73075960"/>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57200" y="3657600"/>
            <a:ext cx="11277599" cy="9144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457200" y="1143000"/>
            <a:ext cx="11277599" cy="8382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smtClean="0"/>
              <a:t>有向图的连通性</a:t>
            </a:r>
            <a:endParaRPr lang="en-US" dirty="0"/>
          </a:p>
        </p:txBody>
      </p:sp>
      <p:sp>
        <p:nvSpPr>
          <p:cNvPr id="3" name="Content Placeholder 2"/>
          <p:cNvSpPr>
            <a:spLocks noGrp="1"/>
          </p:cNvSpPr>
          <p:nvPr>
            <p:ph idx="1"/>
          </p:nvPr>
        </p:nvSpPr>
        <p:spPr/>
        <p:txBody>
          <a:bodyPr/>
          <a:lstStyle/>
          <a:p>
            <a:r>
              <a:rPr lang="zh-CN" altLang="en-US" dirty="0" smtClean="0"/>
              <a:t>定义</a:t>
            </a:r>
            <a:r>
              <a:rPr lang="en-US" altLang="zh-CN" dirty="0" smtClean="0"/>
              <a:t>: </a:t>
            </a:r>
            <a:r>
              <a:rPr lang="zh-CN" altLang="en-US" dirty="0" smtClean="0"/>
              <a:t>若对于有向图的任意顶点</a:t>
            </a:r>
            <a:r>
              <a:rPr lang="en-US" altLang="zh-CN" dirty="0" smtClean="0"/>
              <a:t>a</a:t>
            </a:r>
            <a:r>
              <a:rPr lang="zh-CN" altLang="en-US" dirty="0" smtClean="0"/>
              <a:t>和</a:t>
            </a:r>
            <a:r>
              <a:rPr lang="en-US" altLang="zh-CN" dirty="0" smtClean="0"/>
              <a:t>b, </a:t>
            </a:r>
            <a:r>
              <a:rPr lang="zh-CN" altLang="en-US" dirty="0" smtClean="0"/>
              <a:t>都有从</a:t>
            </a:r>
            <a:r>
              <a:rPr lang="en-US" altLang="zh-CN" dirty="0" smtClean="0"/>
              <a:t>a</a:t>
            </a:r>
            <a:r>
              <a:rPr lang="zh-CN" altLang="en-US" dirty="0" smtClean="0"/>
              <a:t>到</a:t>
            </a:r>
            <a:r>
              <a:rPr lang="en-US" altLang="zh-CN" dirty="0" smtClean="0"/>
              <a:t>b</a:t>
            </a:r>
            <a:r>
              <a:rPr lang="zh-CN" altLang="en-US" dirty="0" smtClean="0"/>
              <a:t>和从</a:t>
            </a:r>
            <a:r>
              <a:rPr lang="en-US" altLang="zh-CN" dirty="0" smtClean="0"/>
              <a:t>b</a:t>
            </a:r>
            <a:r>
              <a:rPr lang="zh-CN" altLang="en-US" dirty="0" smtClean="0"/>
              <a:t>到</a:t>
            </a:r>
            <a:r>
              <a:rPr lang="en-US" altLang="zh-CN" dirty="0" smtClean="0"/>
              <a:t>a</a:t>
            </a:r>
            <a:r>
              <a:rPr lang="zh-CN" altLang="en-US" dirty="0" smtClean="0"/>
              <a:t>的通路</a:t>
            </a:r>
            <a:r>
              <a:rPr lang="en-US" altLang="zh-CN" dirty="0" smtClean="0"/>
              <a:t>, </a:t>
            </a:r>
            <a:r>
              <a:rPr lang="zh-CN" altLang="en-US" dirty="0" smtClean="0"/>
              <a:t>则称该图是</a:t>
            </a:r>
            <a:r>
              <a:rPr lang="zh-CN" altLang="en-US" b="1" dirty="0" smtClean="0">
                <a:solidFill>
                  <a:srgbClr val="C00000"/>
                </a:solidFill>
              </a:rPr>
              <a:t>强连通的</a:t>
            </a:r>
            <a:r>
              <a:rPr lang="en-US" dirty="0" smtClean="0"/>
              <a:t>. </a:t>
            </a:r>
          </a:p>
          <a:p>
            <a:r>
              <a:rPr lang="zh-CN" altLang="en-US" dirty="0" smtClean="0"/>
              <a:t>一个强连通的有向图中</a:t>
            </a:r>
            <a:r>
              <a:rPr lang="en-US" altLang="zh-CN" dirty="0" smtClean="0"/>
              <a:t>, </a:t>
            </a:r>
            <a:r>
              <a:rPr lang="zh-CN" altLang="en-US" dirty="0" smtClean="0"/>
              <a:t>任何一个顶点到任何另一个顶点之间一定存在有向边的序列</a:t>
            </a:r>
            <a:r>
              <a:rPr lang="en-US" altLang="zh-CN" dirty="0" smtClean="0"/>
              <a:t>.</a:t>
            </a:r>
          </a:p>
          <a:p>
            <a:endParaRPr lang="en-US" altLang="zh-CN" dirty="0" smtClean="0"/>
          </a:p>
          <a:p>
            <a:r>
              <a:rPr lang="zh-CN" altLang="en-US" dirty="0" smtClean="0"/>
              <a:t>定义</a:t>
            </a:r>
            <a:r>
              <a:rPr lang="en-US" altLang="zh-CN" dirty="0" smtClean="0"/>
              <a:t>: </a:t>
            </a:r>
            <a:r>
              <a:rPr lang="zh-CN" altLang="en-US" dirty="0" smtClean="0"/>
              <a:t>若在有向图的基本无向图中</a:t>
            </a:r>
            <a:r>
              <a:rPr lang="en-US" altLang="zh-CN" dirty="0" smtClean="0"/>
              <a:t>, </a:t>
            </a:r>
            <a:r>
              <a:rPr lang="zh-CN" altLang="en-US" dirty="0" smtClean="0"/>
              <a:t>任何两个顶点之间都有通路</a:t>
            </a:r>
            <a:r>
              <a:rPr lang="en-US" altLang="zh-CN" dirty="0" smtClean="0"/>
              <a:t>, </a:t>
            </a:r>
            <a:r>
              <a:rPr lang="zh-CN" altLang="en-US" dirty="0" smtClean="0"/>
              <a:t>则该有向图是</a:t>
            </a:r>
            <a:r>
              <a:rPr lang="zh-CN" altLang="en-US" b="1" dirty="0" smtClean="0">
                <a:solidFill>
                  <a:srgbClr val="C00000"/>
                </a:solidFill>
              </a:rPr>
              <a:t>弱连通的</a:t>
            </a:r>
            <a:r>
              <a:rPr lang="en-US" dirty="0" smtClean="0"/>
              <a:t>. </a:t>
            </a:r>
            <a:endParaRPr lang="en-US" dirty="0"/>
          </a:p>
        </p:txBody>
      </p:sp>
      <p:sp>
        <p:nvSpPr>
          <p:cNvPr id="6" name="日期占位符 5"/>
          <p:cNvSpPr>
            <a:spLocks noGrp="1"/>
          </p:cNvSpPr>
          <p:nvPr>
            <p:ph type="dt" sz="half" idx="10"/>
          </p:nvPr>
        </p:nvSpPr>
        <p:spPr/>
        <p:txBody>
          <a:bodyPr/>
          <a:lstStyle/>
          <a:p>
            <a:fld id="{79E35FA9-BAAE-410D-8F94-42733A8C5799}" type="datetime1">
              <a:rPr lang="zh-CN" altLang="en-US" smtClean="0"/>
              <a:t>2025/4/15</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134</a:t>
            </a:fld>
            <a:endParaRPr lang="zh-CN" altLang="en-US" dirty="0"/>
          </a:p>
        </p:txBody>
      </p:sp>
    </p:spTree>
    <p:extLst>
      <p:ext uri="{BB962C8B-B14F-4D97-AF65-F5344CB8AC3E}">
        <p14:creationId xmlns:p14="http://schemas.microsoft.com/office/powerpoint/2010/main" val="739562142"/>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有向图的连通性</a:t>
            </a:r>
            <a:endParaRPr lang="en-US" dirty="0"/>
          </a:p>
        </p:txBody>
      </p:sp>
      <p:sp>
        <p:nvSpPr>
          <p:cNvPr id="3" name="Content Placeholder 2"/>
          <p:cNvSpPr>
            <a:spLocks noGrp="1"/>
          </p:cNvSpPr>
          <p:nvPr>
            <p:ph idx="1"/>
          </p:nvPr>
        </p:nvSpPr>
        <p:spPr/>
        <p:txBody>
          <a:bodyPr>
            <a:normAutofit/>
          </a:bodyPr>
          <a:lstStyle/>
          <a:p>
            <a:r>
              <a:rPr lang="zh-CN" altLang="en-US" dirty="0" smtClean="0"/>
              <a:t>例</a:t>
            </a:r>
            <a:r>
              <a:rPr lang="en-US" altLang="zh-CN" dirty="0" smtClean="0"/>
              <a:t>: </a:t>
            </a:r>
            <a:r>
              <a:rPr lang="zh-CN" altLang="en-US" dirty="0" smtClean="0"/>
              <a:t>图示的</a:t>
            </a:r>
            <a:r>
              <a:rPr lang="en-US" altLang="zh-CN" dirty="0" smtClean="0"/>
              <a:t>G</a:t>
            </a:r>
            <a:r>
              <a:rPr lang="zh-CN" altLang="en-US" dirty="0" smtClean="0"/>
              <a:t>和</a:t>
            </a:r>
            <a:r>
              <a:rPr lang="en-US" altLang="zh-CN" dirty="0" smtClean="0"/>
              <a:t>H</a:t>
            </a:r>
            <a:r>
              <a:rPr lang="zh-CN" altLang="en-US" dirty="0" smtClean="0"/>
              <a:t>是否是强连通的</a:t>
            </a:r>
            <a:r>
              <a:rPr lang="en-US" altLang="zh-CN" dirty="0" smtClean="0"/>
              <a:t>, </a:t>
            </a:r>
            <a:r>
              <a:rPr lang="zh-CN" altLang="en-US" dirty="0" smtClean="0"/>
              <a:t>是否是弱连通的？</a:t>
            </a:r>
            <a:endParaRPr lang="en-US" altLang="zh-CN" dirty="0" smtClean="0"/>
          </a:p>
          <a:p>
            <a:endParaRPr lang="en-US" altLang="zh-CN" dirty="0"/>
          </a:p>
          <a:p>
            <a:endParaRPr lang="en-US" altLang="zh-CN" dirty="0" smtClean="0"/>
          </a:p>
          <a:p>
            <a:endParaRPr lang="en-US" altLang="zh-CN" dirty="0" smtClean="0"/>
          </a:p>
          <a:p>
            <a:endParaRPr lang="en-US" altLang="zh-CN" dirty="0" smtClean="0"/>
          </a:p>
          <a:p>
            <a:r>
              <a:rPr lang="zh-CN" altLang="en-US" dirty="0" smtClean="0"/>
              <a:t>解</a:t>
            </a:r>
            <a:r>
              <a:rPr lang="en-US" altLang="zh-CN" dirty="0" smtClean="0"/>
              <a:t>: </a:t>
            </a:r>
          </a:p>
          <a:p>
            <a:pPr lvl="1">
              <a:lnSpc>
                <a:spcPct val="100000"/>
              </a:lnSpc>
            </a:pPr>
            <a:r>
              <a:rPr lang="en-US" dirty="0"/>
              <a:t>G</a:t>
            </a:r>
            <a:r>
              <a:rPr lang="zh-CN" altLang="en-US" dirty="0"/>
              <a:t>是强连通的</a:t>
            </a:r>
            <a:r>
              <a:rPr lang="en-US" altLang="zh-CN" dirty="0"/>
              <a:t>, </a:t>
            </a:r>
            <a:r>
              <a:rPr lang="zh-CN" altLang="en-US" dirty="0" smtClean="0"/>
              <a:t>因为</a:t>
            </a:r>
            <a:r>
              <a:rPr lang="zh-CN" altLang="en-US" dirty="0"/>
              <a:t>任何两个顶点之间都存在</a:t>
            </a:r>
            <a:r>
              <a:rPr lang="zh-CN" altLang="en-US" dirty="0" smtClean="0"/>
              <a:t>通路</a:t>
            </a:r>
            <a:r>
              <a:rPr lang="en-US" altLang="zh-CN" dirty="0" smtClean="0"/>
              <a:t>, </a:t>
            </a:r>
            <a:r>
              <a:rPr lang="zh-CN" altLang="en-US" dirty="0" smtClean="0"/>
              <a:t>因此</a:t>
            </a:r>
            <a:r>
              <a:rPr lang="en-US" altLang="zh-CN" dirty="0"/>
              <a:t>G</a:t>
            </a:r>
            <a:r>
              <a:rPr lang="zh-CN" altLang="en-US" dirty="0"/>
              <a:t>也是弱连通的</a:t>
            </a:r>
            <a:r>
              <a:rPr lang="en-US" altLang="zh-CN" dirty="0"/>
              <a:t>. </a:t>
            </a:r>
          </a:p>
          <a:p>
            <a:pPr lvl="1">
              <a:lnSpc>
                <a:spcPct val="100000"/>
              </a:lnSpc>
            </a:pPr>
            <a:r>
              <a:rPr lang="en-US" altLang="zh-CN" dirty="0"/>
              <a:t>H</a:t>
            </a:r>
            <a:r>
              <a:rPr lang="zh-CN" altLang="en-US" dirty="0"/>
              <a:t>不是强连通的</a:t>
            </a:r>
            <a:r>
              <a:rPr lang="en-US" altLang="zh-CN" dirty="0"/>
              <a:t>, </a:t>
            </a:r>
            <a:r>
              <a:rPr lang="zh-CN" altLang="en-US" dirty="0" smtClean="0"/>
              <a:t>如</a:t>
            </a:r>
            <a:r>
              <a:rPr lang="zh-CN" altLang="en-US" dirty="0"/>
              <a:t>没有</a:t>
            </a:r>
            <a:r>
              <a:rPr lang="en-US" altLang="zh-CN" dirty="0"/>
              <a:t>a</a:t>
            </a:r>
            <a:r>
              <a:rPr lang="zh-CN" altLang="en-US" dirty="0"/>
              <a:t>到</a:t>
            </a:r>
            <a:r>
              <a:rPr lang="en-US" altLang="zh-CN" dirty="0"/>
              <a:t>b</a:t>
            </a:r>
            <a:r>
              <a:rPr lang="zh-CN" altLang="en-US" dirty="0"/>
              <a:t>的有向</a:t>
            </a:r>
            <a:r>
              <a:rPr lang="zh-CN" altLang="en-US" dirty="0" smtClean="0"/>
              <a:t>通路</a:t>
            </a:r>
            <a:r>
              <a:rPr lang="en-US" altLang="zh-CN" dirty="0" smtClean="0"/>
              <a:t>; H</a:t>
            </a:r>
            <a:r>
              <a:rPr lang="zh-CN" altLang="en-US" dirty="0"/>
              <a:t>是弱连通的</a:t>
            </a:r>
            <a:r>
              <a:rPr lang="en-US" altLang="zh-CN" dirty="0"/>
              <a:t>, </a:t>
            </a:r>
            <a:r>
              <a:rPr lang="zh-CN" altLang="en-US" dirty="0" smtClean="0"/>
              <a:t>因为</a:t>
            </a:r>
            <a:r>
              <a:rPr lang="en-US" altLang="zh-CN" dirty="0"/>
              <a:t>H</a:t>
            </a:r>
            <a:r>
              <a:rPr lang="zh-CN" altLang="en-US" dirty="0"/>
              <a:t>的基本无向图中</a:t>
            </a:r>
            <a:r>
              <a:rPr lang="en-US" altLang="zh-CN" dirty="0"/>
              <a:t>, </a:t>
            </a:r>
            <a:r>
              <a:rPr lang="zh-CN" altLang="en-US" dirty="0" smtClean="0"/>
              <a:t>任何</a:t>
            </a:r>
            <a:r>
              <a:rPr lang="zh-CN" altLang="en-US" dirty="0"/>
              <a:t>两个顶点之间都有通路</a:t>
            </a:r>
            <a:r>
              <a:rPr lang="en-US" altLang="zh-CN" dirty="0"/>
              <a:t>.</a:t>
            </a:r>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14800" y="1752600"/>
            <a:ext cx="4413269" cy="2209800"/>
          </a:xfrm>
          <a:prstGeom prst="rect">
            <a:avLst/>
          </a:prstGeom>
        </p:spPr>
      </p:pic>
      <p:sp>
        <p:nvSpPr>
          <p:cNvPr id="7" name="日期占位符 6"/>
          <p:cNvSpPr>
            <a:spLocks noGrp="1"/>
          </p:cNvSpPr>
          <p:nvPr>
            <p:ph type="dt" sz="half" idx="10"/>
          </p:nvPr>
        </p:nvSpPr>
        <p:spPr/>
        <p:txBody>
          <a:bodyPr/>
          <a:lstStyle/>
          <a:p>
            <a:fld id="{2693283E-6953-4FAC-8CCD-4A51679BAB54}"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135</a:t>
            </a:fld>
            <a:endParaRPr lang="zh-CN" altLang="en-US" dirty="0"/>
          </a:p>
        </p:txBody>
      </p:sp>
    </p:spTree>
    <p:extLst>
      <p:ext uri="{BB962C8B-B14F-4D97-AF65-F5344CB8AC3E}">
        <p14:creationId xmlns:p14="http://schemas.microsoft.com/office/powerpoint/2010/main" val="3111153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wipe(down)">
                                      <p:cBhvr>
                                        <p:cTn id="7" dur="500"/>
                                        <p:tgtEl>
                                          <p:spTgt spid="3">
                                            <p:txEl>
                                              <p:pRg st="5" end="5"/>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wipe(down)">
                                      <p:cBhvr>
                                        <p:cTn id="10" dur="500"/>
                                        <p:tgtEl>
                                          <p:spTgt spid="3">
                                            <p:txEl>
                                              <p:pRg st="6" end="6"/>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animEffect transition="in" filter="wipe(down)">
                                      <p:cBhvr>
                                        <p:cTn id="13"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57200" y="3657600"/>
            <a:ext cx="11277599"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457200" y="1143000"/>
            <a:ext cx="11277599"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smtClean="0"/>
              <a:t>有向图的连通性</a:t>
            </a:r>
            <a:endParaRPr lang="en-US" dirty="0"/>
          </a:p>
        </p:txBody>
      </p:sp>
      <p:sp>
        <p:nvSpPr>
          <p:cNvPr id="3" name="Content Placeholder 2"/>
          <p:cNvSpPr>
            <a:spLocks noGrp="1"/>
          </p:cNvSpPr>
          <p:nvPr>
            <p:ph idx="1"/>
          </p:nvPr>
        </p:nvSpPr>
        <p:spPr/>
        <p:txBody>
          <a:bodyPr/>
          <a:lstStyle/>
          <a:p>
            <a:r>
              <a:rPr lang="en-US" altLang="zh-CN" i="1" dirty="0" smtClean="0">
                <a:latin typeface="Times New Roman" panose="02020603050405020304" pitchFamily="18" charset="0"/>
              </a:rPr>
              <a:t>D</a:t>
            </a:r>
            <a:r>
              <a:rPr lang="zh-CN" altLang="en-US" dirty="0" smtClean="0">
                <a:latin typeface="Times New Roman" panose="02020603050405020304" pitchFamily="18" charset="0"/>
              </a:rPr>
              <a:t>（</a:t>
            </a:r>
            <a:r>
              <a:rPr lang="en-US" altLang="zh-CN" i="1" dirty="0" smtClean="0">
                <a:latin typeface="Times New Roman" panose="02020603050405020304" pitchFamily="18" charset="0"/>
              </a:rPr>
              <a:t>V</a:t>
            </a:r>
            <a:r>
              <a:rPr lang="en-US" altLang="zh-CN" dirty="0" smtClean="0">
                <a:latin typeface="Times New Roman" panose="02020603050405020304" pitchFamily="18" charset="0"/>
              </a:rPr>
              <a:t>,</a:t>
            </a:r>
            <a:r>
              <a:rPr lang="en-US" altLang="zh-CN" i="1" dirty="0" smtClean="0">
                <a:latin typeface="Times New Roman" panose="02020603050405020304" pitchFamily="18" charset="0"/>
              </a:rPr>
              <a:t>E</a:t>
            </a:r>
            <a:r>
              <a:rPr lang="zh-CN" altLang="en-US" dirty="0" smtClean="0">
                <a:latin typeface="Times New Roman" panose="02020603050405020304" pitchFamily="18" charset="0"/>
              </a:rPr>
              <a:t>）为</a:t>
            </a:r>
            <a:r>
              <a:rPr lang="zh-CN" altLang="en-US" dirty="0">
                <a:latin typeface="Times New Roman" panose="02020603050405020304" pitchFamily="18" charset="0"/>
              </a:rPr>
              <a:t>有向图</a:t>
            </a:r>
            <a:endParaRPr lang="zh-CN" altLang="en-US" i="1" dirty="0">
              <a:latin typeface="Times New Roman" panose="02020603050405020304" pitchFamily="18" charset="0"/>
            </a:endParaRPr>
          </a:p>
          <a:p>
            <a:pPr marL="0" indent="0">
              <a:buNone/>
            </a:pPr>
            <a:r>
              <a:rPr lang="zh-CN" altLang="en-US" i="1" dirty="0" smtClean="0">
                <a:latin typeface="Times New Roman" panose="02020603050405020304" pitchFamily="18" charset="0"/>
              </a:rPr>
              <a:t>  </a:t>
            </a:r>
            <a:r>
              <a:rPr lang="en-US" altLang="zh-CN" i="1" dirty="0">
                <a:latin typeface="Times New Roman" panose="02020603050405020304" pitchFamily="18" charset="0"/>
              </a:rPr>
              <a:t>v</a:t>
            </a:r>
            <a:r>
              <a:rPr lang="en-US" altLang="zh-CN" i="1" baseline="-25000" dirty="0">
                <a:latin typeface="Times New Roman" panose="02020603050405020304" pitchFamily="18" charset="0"/>
              </a:rPr>
              <a:t>i </a:t>
            </a:r>
            <a:r>
              <a:rPr lang="en-US" altLang="zh-CN" dirty="0">
                <a:latin typeface="Times New Roman" panose="02020603050405020304" pitchFamily="18" charset="0"/>
                <a:sym typeface="Symbol" panose="05050102010706020507" pitchFamily="18" charset="2"/>
              </a:rPr>
              <a:t> </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j</a:t>
            </a:r>
            <a:r>
              <a:rPr lang="zh-CN" altLang="en-US" dirty="0">
                <a:latin typeface="Times New Roman" panose="02020603050405020304" pitchFamily="18" charset="0"/>
              </a:rPr>
              <a:t>（</a:t>
            </a:r>
            <a:r>
              <a:rPr lang="en-US" altLang="zh-CN" b="1" i="1" dirty="0">
                <a:solidFill>
                  <a:srgbClr val="C00000"/>
                </a:solidFill>
                <a:latin typeface="Times New Roman" panose="02020603050405020304" pitchFamily="18" charset="0"/>
              </a:rPr>
              <a:t>v</a:t>
            </a:r>
            <a:r>
              <a:rPr lang="en-US" altLang="zh-CN" b="1" i="1" baseline="-25000" dirty="0">
                <a:solidFill>
                  <a:srgbClr val="C00000"/>
                </a:solidFill>
                <a:latin typeface="Times New Roman" panose="02020603050405020304" pitchFamily="18" charset="0"/>
              </a:rPr>
              <a:t>i </a:t>
            </a:r>
            <a:r>
              <a:rPr lang="zh-CN" altLang="en-US" b="1" dirty="0">
                <a:solidFill>
                  <a:srgbClr val="C00000"/>
                </a:solidFill>
                <a:latin typeface="Times New Roman" panose="02020603050405020304" pitchFamily="18" charset="0"/>
              </a:rPr>
              <a:t>可达 </a:t>
            </a:r>
            <a:r>
              <a:rPr lang="en-US" altLang="zh-CN" b="1" i="1" dirty="0" err="1">
                <a:solidFill>
                  <a:srgbClr val="C00000"/>
                </a:solidFill>
                <a:latin typeface="Times New Roman" panose="02020603050405020304" pitchFamily="18" charset="0"/>
              </a:rPr>
              <a:t>v</a:t>
            </a:r>
            <a:r>
              <a:rPr lang="en-US" altLang="zh-CN" b="1" i="1" baseline="-25000" dirty="0" err="1">
                <a:solidFill>
                  <a:srgbClr val="C00000"/>
                </a:solidFill>
                <a:latin typeface="Times New Roman" panose="02020603050405020304" pitchFamily="18" charset="0"/>
              </a:rPr>
              <a:t>j</a:t>
            </a:r>
            <a:r>
              <a:rPr lang="zh-CN" altLang="en-US" dirty="0">
                <a:latin typeface="Times New Roman" panose="02020603050405020304" pitchFamily="18" charset="0"/>
              </a:rPr>
              <a:t>）</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i="1" baseline="-25000" dirty="0">
                <a:latin typeface="Times New Roman" panose="02020603050405020304" pitchFamily="18" charset="0"/>
              </a:rPr>
              <a:t>i </a:t>
            </a:r>
            <a:r>
              <a:rPr lang="zh-CN" altLang="en-US" dirty="0">
                <a:latin typeface="Times New Roman" panose="02020603050405020304" pitchFamily="18" charset="0"/>
              </a:rPr>
              <a:t>到</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j</a:t>
            </a:r>
            <a:r>
              <a:rPr lang="en-US" altLang="zh-CN" i="1" baseline="-25000" dirty="0">
                <a:latin typeface="Times New Roman" panose="02020603050405020304" pitchFamily="18" charset="0"/>
              </a:rPr>
              <a:t> </a:t>
            </a:r>
            <a:r>
              <a:rPr lang="zh-CN" altLang="en-US" dirty="0">
                <a:latin typeface="Times New Roman" panose="02020603050405020304" pitchFamily="18" charset="0"/>
              </a:rPr>
              <a:t>有</a:t>
            </a:r>
            <a:r>
              <a:rPr lang="zh-CN" altLang="en-US" dirty="0" smtClean="0">
                <a:latin typeface="Times New Roman" panose="02020603050405020304" pitchFamily="18" charset="0"/>
              </a:rPr>
              <a:t>通路</a:t>
            </a:r>
            <a:r>
              <a:rPr lang="zh-CN" altLang="en-US" i="1" dirty="0" smtClean="0">
                <a:latin typeface="Times New Roman" panose="02020603050405020304" pitchFamily="18" charset="0"/>
              </a:rPr>
              <a:t>   </a:t>
            </a:r>
            <a:r>
              <a:rPr lang="en-US" altLang="zh-CN" i="1" dirty="0">
                <a:latin typeface="Times New Roman" panose="02020603050405020304" pitchFamily="18" charset="0"/>
              </a:rPr>
              <a:t>v</a:t>
            </a:r>
            <a:r>
              <a:rPr lang="en-US" altLang="zh-CN" i="1" baseline="-25000" dirty="0">
                <a:latin typeface="Times New Roman" panose="02020603050405020304" pitchFamily="18" charset="0"/>
              </a:rPr>
              <a:t>i </a:t>
            </a:r>
            <a:r>
              <a:rPr lang="en-US" altLang="zh-CN" dirty="0">
                <a:latin typeface="Times New Roman" panose="02020603050405020304" pitchFamily="18" charset="0"/>
                <a:sym typeface="Symbol" panose="05050102010706020507" pitchFamily="18" charset="2"/>
              </a:rPr>
              <a:t> </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j</a:t>
            </a:r>
            <a:r>
              <a:rPr lang="zh-CN" altLang="en-US" dirty="0">
                <a:latin typeface="Times New Roman" panose="02020603050405020304" pitchFamily="18" charset="0"/>
              </a:rPr>
              <a:t>（</a:t>
            </a:r>
            <a:r>
              <a:rPr lang="en-US" altLang="zh-CN" i="1" dirty="0">
                <a:latin typeface="Times New Roman" panose="02020603050405020304" pitchFamily="18" charset="0"/>
              </a:rPr>
              <a:t>v</a:t>
            </a:r>
            <a:r>
              <a:rPr lang="en-US" altLang="zh-CN" i="1" baseline="-25000" dirty="0">
                <a:latin typeface="Times New Roman" panose="02020603050405020304" pitchFamily="18" charset="0"/>
              </a:rPr>
              <a:t>i </a:t>
            </a:r>
            <a:r>
              <a:rPr lang="zh-CN" altLang="en-US" dirty="0">
                <a:latin typeface="Times New Roman" panose="02020603050405020304" pitchFamily="18" charset="0"/>
              </a:rPr>
              <a:t>与</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j</a:t>
            </a:r>
            <a:r>
              <a:rPr lang="en-US" altLang="zh-CN" i="1" baseline="-25000" dirty="0">
                <a:latin typeface="Times New Roman" panose="02020603050405020304" pitchFamily="18" charset="0"/>
              </a:rPr>
              <a:t> </a:t>
            </a:r>
            <a:r>
              <a:rPr lang="zh-CN" altLang="en-US" dirty="0">
                <a:latin typeface="Times New Roman" panose="02020603050405020304" pitchFamily="18" charset="0"/>
              </a:rPr>
              <a:t>相互可达</a:t>
            </a:r>
            <a:r>
              <a:rPr lang="zh-CN" altLang="en-US" dirty="0" smtClean="0">
                <a:latin typeface="Times New Roman" panose="02020603050405020304" pitchFamily="18" charset="0"/>
              </a:rPr>
              <a:t>）</a:t>
            </a:r>
            <a:endParaRPr lang="en-US" altLang="zh-CN" dirty="0" smtClean="0">
              <a:latin typeface="Times New Roman" panose="02020603050405020304" pitchFamily="18" charset="0"/>
            </a:endParaRPr>
          </a:p>
          <a:p>
            <a:pPr marL="0" indent="0">
              <a:buNone/>
            </a:pPr>
            <a:r>
              <a:rPr lang="zh-CN" altLang="en-US" dirty="0" smtClean="0">
                <a:latin typeface="Times New Roman" panose="02020603050405020304" pitchFamily="18" charset="0"/>
              </a:rPr>
              <a:t>若</a:t>
            </a:r>
            <a:r>
              <a:rPr lang="zh-CN" altLang="en-US" dirty="0" smtClean="0">
                <a:latin typeface="Times New Roman" panose="02020603050405020304" pitchFamily="18" charset="0"/>
                <a:sym typeface="Symbol" panose="05050102010706020507" pitchFamily="18" charset="2"/>
              </a:rPr>
              <a:t></a:t>
            </a:r>
            <a:r>
              <a:rPr lang="en-US" altLang="zh-CN" i="1" dirty="0" smtClean="0">
                <a:latin typeface="Times New Roman" panose="02020603050405020304" pitchFamily="18" charset="0"/>
              </a:rPr>
              <a:t>v</a:t>
            </a:r>
            <a:r>
              <a:rPr lang="en-US" altLang="zh-CN" i="1" baseline="-25000" dirty="0" smtClean="0">
                <a:latin typeface="Times New Roman" panose="02020603050405020304" pitchFamily="18" charset="0"/>
                <a:sym typeface="Symbol" panose="05050102010706020507" pitchFamily="18" charset="2"/>
              </a:rPr>
              <a:t>i</a:t>
            </a:r>
            <a:r>
              <a:rPr lang="en-US" altLang="zh-CN" i="1" dirty="0">
                <a:latin typeface="Times New Roman" panose="02020603050405020304" pitchFamily="18" charset="0"/>
              </a:rPr>
              <a:t> </a:t>
            </a:r>
            <a:r>
              <a:rPr lang="en-US" altLang="zh-CN" i="1" dirty="0" smtClean="0">
                <a:latin typeface="Times New Roman" panose="02020603050405020304" pitchFamily="18" charset="0"/>
              </a:rPr>
              <a:t>,</a:t>
            </a:r>
            <a:r>
              <a:rPr lang="en-US" altLang="zh-CN" i="1" dirty="0" err="1" smtClean="0">
                <a:latin typeface="Times New Roman" panose="02020603050405020304" pitchFamily="18" charset="0"/>
              </a:rPr>
              <a:t>v</a:t>
            </a:r>
            <a:r>
              <a:rPr lang="en-US" altLang="zh-CN" i="1" baseline="-25000" dirty="0" err="1" smtClean="0">
                <a:latin typeface="Times New Roman" panose="02020603050405020304" pitchFamily="18" charset="0"/>
                <a:sym typeface="Symbol" panose="05050102010706020507" pitchFamily="18" charset="2"/>
              </a:rPr>
              <a:t>j</a:t>
            </a:r>
            <a:r>
              <a:rPr lang="en-US" altLang="zh-CN" i="1" baseline="-25000" dirty="0" smtClean="0">
                <a:latin typeface="Times New Roman" panose="02020603050405020304" pitchFamily="18" charset="0"/>
                <a:sym typeface="Symbol" panose="05050102010706020507" pitchFamily="18" charset="2"/>
              </a:rPr>
              <a:t> </a:t>
            </a:r>
            <a:r>
              <a:rPr lang="en-US" altLang="zh-CN" dirty="0" smtClean="0">
                <a:latin typeface="Times New Roman" panose="02020603050405020304" pitchFamily="18" charset="0"/>
                <a:sym typeface="Symbol" panose="05050102010706020507" pitchFamily="18" charset="2"/>
              </a:rPr>
              <a:t></a:t>
            </a:r>
            <a:r>
              <a:rPr lang="en-US" altLang="zh-CN" i="1" dirty="0" smtClean="0">
                <a:latin typeface="Times New Roman" panose="02020603050405020304" pitchFamily="18" charset="0"/>
              </a:rPr>
              <a:t>V , v </a:t>
            </a:r>
            <a:r>
              <a:rPr lang="en-US" altLang="zh-CN" i="1" baseline="-25000" dirty="0" err="1" smtClean="0">
                <a:latin typeface="Times New Roman" panose="02020603050405020304" pitchFamily="18" charset="0"/>
              </a:rPr>
              <a:t>i</a:t>
            </a:r>
            <a:r>
              <a:rPr lang="en-US" altLang="zh-CN" i="1" baseline="-25000" dirty="0" smtClean="0">
                <a:latin typeface="Times New Roman" panose="02020603050405020304" pitchFamily="18" charset="0"/>
              </a:rPr>
              <a:t> </a:t>
            </a:r>
            <a:r>
              <a:rPr lang="en-US" altLang="zh-CN" dirty="0">
                <a:latin typeface="Times New Roman" panose="02020603050405020304" pitchFamily="18" charset="0"/>
                <a:sym typeface="Symbol" panose="05050102010706020507" pitchFamily="18" charset="2"/>
              </a:rPr>
              <a:t> </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j</a:t>
            </a:r>
            <a:r>
              <a:rPr lang="en-US" altLang="zh-CN" i="1" baseline="-25000" dirty="0">
                <a:latin typeface="Times New Roman" panose="02020603050405020304" pitchFamily="18" charset="0"/>
              </a:rPr>
              <a:t> </a:t>
            </a:r>
            <a:r>
              <a:rPr lang="zh-CN" altLang="en-US" dirty="0" smtClean="0">
                <a:latin typeface="Times New Roman" panose="02020603050405020304" pitchFamily="18" charset="0"/>
              </a:rPr>
              <a:t>（</a:t>
            </a:r>
            <a:r>
              <a:rPr lang="en-US" altLang="zh-CN" b="1" i="1" dirty="0">
                <a:solidFill>
                  <a:srgbClr val="C00000"/>
                </a:solidFill>
                <a:latin typeface="Times New Roman" panose="02020603050405020304" pitchFamily="18" charset="0"/>
              </a:rPr>
              <a:t>v</a:t>
            </a:r>
            <a:r>
              <a:rPr lang="en-US" altLang="zh-CN" b="1" i="1" baseline="-25000" dirty="0">
                <a:solidFill>
                  <a:srgbClr val="C00000"/>
                </a:solidFill>
                <a:latin typeface="Times New Roman" panose="02020603050405020304" pitchFamily="18" charset="0"/>
              </a:rPr>
              <a:t>i </a:t>
            </a:r>
            <a:r>
              <a:rPr lang="zh-CN" altLang="en-US" b="1" dirty="0">
                <a:solidFill>
                  <a:srgbClr val="C00000"/>
                </a:solidFill>
                <a:latin typeface="Times New Roman" panose="02020603050405020304" pitchFamily="18" charset="0"/>
              </a:rPr>
              <a:t>可达 </a:t>
            </a:r>
            <a:r>
              <a:rPr lang="en-US" altLang="zh-CN" b="1" i="1" dirty="0" err="1">
                <a:solidFill>
                  <a:srgbClr val="C00000"/>
                </a:solidFill>
                <a:latin typeface="Times New Roman" panose="02020603050405020304" pitchFamily="18" charset="0"/>
              </a:rPr>
              <a:t>v</a:t>
            </a:r>
            <a:r>
              <a:rPr lang="en-US" altLang="zh-CN" b="1" i="1" baseline="-25000" dirty="0" err="1">
                <a:solidFill>
                  <a:srgbClr val="C00000"/>
                </a:solidFill>
                <a:latin typeface="Times New Roman" panose="02020603050405020304" pitchFamily="18" charset="0"/>
              </a:rPr>
              <a:t>j</a:t>
            </a:r>
            <a:r>
              <a:rPr lang="zh-CN" altLang="en-US" dirty="0" smtClean="0">
                <a:latin typeface="Times New Roman" panose="02020603050405020304" pitchFamily="18" charset="0"/>
              </a:rPr>
              <a:t>）或 </a:t>
            </a:r>
            <a:r>
              <a:rPr lang="en-US" altLang="zh-CN" i="1" dirty="0" err="1" smtClean="0">
                <a:latin typeface="Times New Roman" panose="02020603050405020304" pitchFamily="18" charset="0"/>
              </a:rPr>
              <a:t>v</a:t>
            </a:r>
            <a:r>
              <a:rPr lang="en-US" altLang="zh-CN" i="1" baseline="-25000" dirty="0" err="1">
                <a:latin typeface="Times New Roman" panose="02020603050405020304" pitchFamily="18" charset="0"/>
              </a:rPr>
              <a:t>j</a:t>
            </a:r>
            <a:r>
              <a:rPr lang="en-US" altLang="zh-CN" i="1" baseline="-25000" dirty="0" smtClean="0">
                <a:latin typeface="Times New Roman" panose="02020603050405020304" pitchFamily="18" charset="0"/>
              </a:rPr>
              <a:t> </a:t>
            </a:r>
            <a:r>
              <a:rPr lang="en-US" altLang="zh-CN" dirty="0">
                <a:latin typeface="Times New Roman" panose="02020603050405020304" pitchFamily="18" charset="0"/>
                <a:sym typeface="Symbol" panose="05050102010706020507" pitchFamily="18" charset="2"/>
              </a:rPr>
              <a:t> </a:t>
            </a:r>
            <a:r>
              <a:rPr lang="en-US" altLang="zh-CN" i="1" dirty="0" smtClean="0">
                <a:latin typeface="Times New Roman" panose="02020603050405020304" pitchFamily="18" charset="0"/>
              </a:rPr>
              <a:t>v</a:t>
            </a:r>
            <a:r>
              <a:rPr lang="en-US" altLang="zh-CN" i="1" baseline="-25000" dirty="0">
                <a:latin typeface="Times New Roman" panose="02020603050405020304" pitchFamily="18" charset="0"/>
              </a:rPr>
              <a:t>i</a:t>
            </a:r>
            <a:r>
              <a:rPr lang="en-US" altLang="zh-CN" i="1" baseline="-25000" dirty="0" smtClean="0">
                <a:latin typeface="Times New Roman" panose="02020603050405020304" pitchFamily="18" charset="0"/>
              </a:rPr>
              <a:t> </a:t>
            </a:r>
            <a:r>
              <a:rPr lang="zh-CN" altLang="en-US" dirty="0">
                <a:latin typeface="Times New Roman" panose="02020603050405020304" pitchFamily="18" charset="0"/>
              </a:rPr>
              <a:t>（</a:t>
            </a:r>
            <a:r>
              <a:rPr lang="en-US" altLang="zh-CN" b="1" i="1" dirty="0" err="1" smtClean="0">
                <a:solidFill>
                  <a:srgbClr val="C00000"/>
                </a:solidFill>
                <a:latin typeface="Times New Roman" panose="02020603050405020304" pitchFamily="18" charset="0"/>
              </a:rPr>
              <a:t>v</a:t>
            </a:r>
            <a:r>
              <a:rPr lang="en-US" altLang="zh-CN" b="1" i="1" baseline="-25000" dirty="0" err="1" smtClean="0">
                <a:solidFill>
                  <a:srgbClr val="C00000"/>
                </a:solidFill>
                <a:latin typeface="Times New Roman" panose="02020603050405020304" pitchFamily="18" charset="0"/>
              </a:rPr>
              <a:t>j</a:t>
            </a:r>
            <a:r>
              <a:rPr lang="en-US" altLang="zh-CN" b="1" i="1" baseline="-25000" dirty="0" smtClean="0">
                <a:solidFill>
                  <a:srgbClr val="C00000"/>
                </a:solidFill>
                <a:latin typeface="Times New Roman" panose="02020603050405020304" pitchFamily="18" charset="0"/>
              </a:rPr>
              <a:t> </a:t>
            </a:r>
            <a:r>
              <a:rPr lang="zh-CN" altLang="en-US" b="1" dirty="0">
                <a:solidFill>
                  <a:srgbClr val="C00000"/>
                </a:solidFill>
                <a:latin typeface="Times New Roman" panose="02020603050405020304" pitchFamily="18" charset="0"/>
              </a:rPr>
              <a:t>可达 </a:t>
            </a:r>
            <a:r>
              <a:rPr lang="en-US" altLang="zh-CN" b="1" i="1" dirty="0" smtClean="0">
                <a:solidFill>
                  <a:srgbClr val="C00000"/>
                </a:solidFill>
                <a:latin typeface="Times New Roman" panose="02020603050405020304" pitchFamily="18" charset="0"/>
              </a:rPr>
              <a:t>v</a:t>
            </a:r>
            <a:r>
              <a:rPr lang="en-US" altLang="zh-CN" b="1" i="1" baseline="-25000" dirty="0" smtClean="0">
                <a:solidFill>
                  <a:srgbClr val="C00000"/>
                </a:solidFill>
                <a:latin typeface="Times New Roman" panose="02020603050405020304" pitchFamily="18" charset="0"/>
              </a:rPr>
              <a:t>i</a:t>
            </a:r>
            <a:r>
              <a:rPr lang="zh-CN" altLang="en-US" dirty="0" smtClean="0">
                <a:latin typeface="Times New Roman" panose="02020603050405020304" pitchFamily="18" charset="0"/>
              </a:rPr>
              <a:t>）</a:t>
            </a:r>
            <a:r>
              <a:rPr lang="en-US" altLang="zh-CN" dirty="0" smtClean="0">
                <a:latin typeface="Times New Roman" panose="02020603050405020304" pitchFamily="18" charset="0"/>
              </a:rPr>
              <a:t>, </a:t>
            </a:r>
            <a:r>
              <a:rPr lang="zh-CN" altLang="en-US" dirty="0" smtClean="0">
                <a:latin typeface="Times New Roman" panose="02020603050405020304" pitchFamily="18" charset="0"/>
              </a:rPr>
              <a:t>称</a:t>
            </a:r>
            <a:r>
              <a:rPr lang="en-US" altLang="zh-CN" dirty="0" smtClean="0">
                <a:latin typeface="Times New Roman" panose="02020603050405020304" pitchFamily="18" charset="0"/>
              </a:rPr>
              <a:t>D</a:t>
            </a:r>
            <a:r>
              <a:rPr lang="zh-CN" altLang="en-US" dirty="0" smtClean="0">
                <a:latin typeface="Times New Roman" panose="02020603050405020304" pitchFamily="18" charset="0"/>
              </a:rPr>
              <a:t>为单向连通图</a:t>
            </a:r>
            <a:endParaRPr lang="zh-CN" altLang="en-US" dirty="0">
              <a:latin typeface="Times New Roman" panose="02020603050405020304" pitchFamily="18" charset="0"/>
            </a:endParaRPr>
          </a:p>
          <a:p>
            <a:pPr>
              <a:spcBef>
                <a:spcPct val="50000"/>
              </a:spcBef>
            </a:pPr>
            <a:r>
              <a:rPr lang="zh-CN" altLang="en-US" dirty="0">
                <a:latin typeface="Times New Roman" panose="02020603050405020304" pitchFamily="18" charset="0"/>
              </a:rPr>
              <a:t>性质</a:t>
            </a:r>
          </a:p>
          <a:p>
            <a:pPr marL="0" indent="0">
              <a:buNone/>
            </a:pPr>
            <a:r>
              <a:rPr lang="zh-CN" altLang="en-US" dirty="0" smtClean="0">
                <a:latin typeface="Times New Roman" panose="02020603050405020304" pitchFamily="18" charset="0"/>
                <a:sym typeface="Symbol" panose="05050102010706020507" pitchFamily="18" charset="2"/>
              </a:rPr>
              <a:t> </a:t>
            </a:r>
            <a:r>
              <a:rPr lang="zh-CN" altLang="en-US" dirty="0">
                <a:latin typeface="Times New Roman" panose="02020603050405020304" pitchFamily="18" charset="0"/>
              </a:rPr>
              <a:t>具有自反性</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i="1" baseline="-25000" dirty="0">
                <a:latin typeface="Times New Roman" panose="02020603050405020304" pitchFamily="18" charset="0"/>
              </a:rPr>
              <a:t>i </a:t>
            </a:r>
            <a:r>
              <a:rPr lang="en-US" altLang="zh-CN" dirty="0">
                <a:latin typeface="Times New Roman" panose="02020603050405020304" pitchFamily="18" charset="0"/>
                <a:sym typeface="Symbol" panose="05050102010706020507" pitchFamily="18" charset="2"/>
              </a:rPr>
              <a:t> </a:t>
            </a:r>
            <a:r>
              <a:rPr lang="en-US" altLang="zh-CN" i="1" dirty="0">
                <a:latin typeface="Times New Roman" panose="02020603050405020304" pitchFamily="18" charset="0"/>
              </a:rPr>
              <a:t>v</a:t>
            </a:r>
            <a:r>
              <a:rPr lang="en-US" altLang="zh-CN" i="1" baseline="-25000" dirty="0">
                <a:latin typeface="Times New Roman" panose="02020603050405020304" pitchFamily="18" charset="0"/>
              </a:rPr>
              <a:t>i</a:t>
            </a:r>
            <a:r>
              <a:rPr lang="en-US" altLang="zh-CN" dirty="0">
                <a:latin typeface="Times New Roman" panose="02020603050405020304" pitchFamily="18" charset="0"/>
              </a:rPr>
              <a:t>)</a:t>
            </a:r>
            <a:r>
              <a:rPr lang="zh-CN" altLang="en-US" dirty="0">
                <a:latin typeface="Times New Roman" panose="02020603050405020304" pitchFamily="18" charset="0"/>
              </a:rPr>
              <a:t>、传递性</a:t>
            </a:r>
          </a:p>
          <a:p>
            <a:pPr>
              <a:buFont typeface="Symbol" panose="05050102010706020507" pitchFamily="18" charset="2"/>
              <a:buChar char="«"/>
            </a:pPr>
            <a:r>
              <a:rPr lang="zh-CN" altLang="en-US" dirty="0" smtClean="0">
                <a:latin typeface="Times New Roman" panose="02020603050405020304" pitchFamily="18" charset="0"/>
              </a:rPr>
              <a:t>具有</a:t>
            </a:r>
            <a:r>
              <a:rPr lang="zh-CN" altLang="en-US" dirty="0">
                <a:latin typeface="Times New Roman" panose="02020603050405020304" pitchFamily="18" charset="0"/>
              </a:rPr>
              <a:t>自反性、对称性、传递性 </a:t>
            </a:r>
            <a:endParaRPr lang="en-US" altLang="zh-CN" dirty="0" smtClean="0">
              <a:latin typeface="Times New Roman" panose="02020603050405020304" pitchFamily="18" charset="0"/>
            </a:endParaRPr>
          </a:p>
          <a:p>
            <a:pPr marL="0" indent="0">
              <a:buNone/>
            </a:pPr>
            <a:endParaRPr lang="zh-CN" altLang="en-US" dirty="0">
              <a:latin typeface="Times New Roman" panose="02020603050405020304" pitchFamily="18" charset="0"/>
            </a:endParaRPr>
          </a:p>
          <a:p>
            <a:endParaRPr lang="en-US" dirty="0"/>
          </a:p>
        </p:txBody>
      </p:sp>
      <p:sp>
        <p:nvSpPr>
          <p:cNvPr id="6" name="日期占位符 5"/>
          <p:cNvSpPr>
            <a:spLocks noGrp="1"/>
          </p:cNvSpPr>
          <p:nvPr>
            <p:ph type="dt" sz="half" idx="10"/>
          </p:nvPr>
        </p:nvSpPr>
        <p:spPr/>
        <p:txBody>
          <a:bodyPr/>
          <a:lstStyle/>
          <a:p>
            <a:fld id="{79E35FA9-BAAE-410D-8F94-42733A8C5799}" type="datetime1">
              <a:rPr lang="zh-CN" altLang="en-US" smtClean="0"/>
              <a:t>2025/4/15</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136</a:t>
            </a:fld>
            <a:endParaRPr lang="zh-CN" altLang="en-US" dirty="0"/>
          </a:p>
        </p:txBody>
      </p:sp>
    </p:spTree>
    <p:extLst>
      <p:ext uri="{BB962C8B-B14F-4D97-AF65-F5344CB8AC3E}">
        <p14:creationId xmlns:p14="http://schemas.microsoft.com/office/powerpoint/2010/main" val="1205585653"/>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57200" y="1143000"/>
            <a:ext cx="11277599" cy="13716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smtClean="0"/>
              <a:t>有向图的连通性</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smtClean="0"/>
                  <a:t>定义</a:t>
                </a:r>
                <a:r>
                  <a:rPr lang="en-US" altLang="zh-CN" dirty="0" smtClean="0"/>
                  <a:t>: </a:t>
                </a:r>
                <a:r>
                  <a:rPr lang="zh-CN" altLang="en-US" dirty="0" smtClean="0"/>
                  <a:t>设</a:t>
                </a:r>
                <a:r>
                  <a:rPr lang="en-US" dirty="0" smtClean="0"/>
                  <a:t>G=(V, E)</a:t>
                </a:r>
                <a:r>
                  <a:rPr lang="zh-CN" altLang="en-US" dirty="0" smtClean="0"/>
                  <a:t>是</a:t>
                </a:r>
                <a:r>
                  <a:rPr lang="zh-CN" altLang="en-US" b="1" dirty="0" smtClean="0"/>
                  <a:t>简单图</a:t>
                </a:r>
                <a:r>
                  <a:rPr lang="en-US" altLang="zh-CN" dirty="0" smtClean="0"/>
                  <a:t>, </a:t>
                </a:r>
                <a:r>
                  <a:rPr lang="zh-CN" altLang="en-US" dirty="0" smtClean="0"/>
                  <a:t>其中</a:t>
                </a:r>
                <a:r>
                  <a:rPr lang="en-US" dirty="0" smtClean="0"/>
                  <a:t>|V|= n. </a:t>
                </a:r>
                <a:r>
                  <a:rPr lang="zh-CN" altLang="en-US" dirty="0" smtClean="0"/>
                  <a:t>把</a:t>
                </a:r>
                <a:r>
                  <a:rPr lang="en-US" altLang="zh-CN" dirty="0" smtClean="0"/>
                  <a:t>G</a:t>
                </a:r>
                <a:r>
                  <a:rPr lang="zh-CN" altLang="en-US" dirty="0" smtClean="0"/>
                  <a:t>中的顶点任意排列成为</a:t>
                </a:r>
                <a14:m>
                  <m:oMath xmlns:m="http://schemas.openxmlformats.org/officeDocument/2006/math">
                    <m:sSub>
                      <m:sSubPr>
                        <m:ctrlPr>
                          <a:rPr lang="en-US" altLang="zh-CN" i="1" smtClean="0">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b="0" i="1" smtClean="0">
                            <a:latin typeface="Cambria Math" panose="02040503050406030204" pitchFamily="18" charset="0"/>
                          </a:rPr>
                          <m:t>1</m:t>
                        </m:r>
                      </m:sub>
                    </m:sSub>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b="0" i="1" smtClean="0">
                            <a:latin typeface="Cambria Math" panose="02040503050406030204" pitchFamily="18" charset="0"/>
                          </a:rPr>
                          <m:t>2</m:t>
                        </m:r>
                      </m:sub>
                    </m:sSub>
                  </m:oMath>
                </a14:m>
                <a:r>
                  <a:rPr lang="en-US" dirty="0" smtClean="0"/>
                  <a:t>, …,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b="0" i="1" smtClean="0">
                            <a:latin typeface="Cambria Math" panose="02040503050406030204" pitchFamily="18" charset="0"/>
                          </a:rPr>
                          <m:t>𝑛</m:t>
                        </m:r>
                      </m:sub>
                    </m:sSub>
                  </m:oMath>
                </a14:m>
                <a:r>
                  <a:rPr lang="en-US" dirty="0" smtClean="0"/>
                  <a:t>. </a:t>
                </a:r>
                <a:r>
                  <a:rPr lang="en-US" altLang="zh-CN" dirty="0" smtClean="0"/>
                  <a:t>G</a:t>
                </a:r>
                <a:r>
                  <a:rPr lang="zh-CN" altLang="en-US" dirty="0" smtClean="0"/>
                  <a:t>的</a:t>
                </a:r>
                <a:r>
                  <a:rPr lang="zh-CN" altLang="en-US" b="1" dirty="0">
                    <a:solidFill>
                      <a:srgbClr val="C00000"/>
                    </a:solidFill>
                  </a:rPr>
                  <a:t>可达</a:t>
                </a:r>
                <a:r>
                  <a:rPr lang="zh-CN" altLang="en-US" b="1" dirty="0" smtClean="0">
                    <a:solidFill>
                      <a:srgbClr val="C00000"/>
                    </a:solidFill>
                  </a:rPr>
                  <a:t>矩阵</a:t>
                </a:r>
                <a:r>
                  <a:rPr lang="en-US" altLang="zh-CN" dirty="0"/>
                  <a:t>P</a:t>
                </a:r>
                <a:r>
                  <a:rPr lang="en-US" altLang="zh-CN" dirty="0" smtClean="0"/>
                  <a:t>(</a:t>
                </a:r>
                <a:r>
                  <a:rPr lang="zh-CN" altLang="en-US" dirty="0" smtClean="0"/>
                  <a:t>或</a:t>
                </a:r>
                <a14:m>
                  <m:oMath xmlns:m="http://schemas.openxmlformats.org/officeDocument/2006/math">
                    <m:sSub>
                      <m:sSubPr>
                        <m:ctrlPr>
                          <a:rPr lang="en-US" altLang="zh-CN" i="1" smtClean="0">
                            <a:latin typeface="Cambria Math" panose="02040503050406030204" pitchFamily="18" charset="0"/>
                          </a:rPr>
                        </m:ctrlPr>
                      </m:sSubPr>
                      <m:e>
                        <m:r>
                          <m:rPr>
                            <m:sty m:val="p"/>
                          </m:rPr>
                          <a:rPr lang="en-US" altLang="zh-CN">
                            <a:latin typeface="Cambria Math" panose="02040503050406030204" pitchFamily="18" charset="0"/>
                          </a:rPr>
                          <m:t>A</m:t>
                        </m:r>
                      </m:e>
                      <m:sub>
                        <m:r>
                          <a:rPr lang="en-US" altLang="zh-CN" smtClean="0">
                            <a:latin typeface="Cambria Math" panose="02040503050406030204" pitchFamily="18" charset="0"/>
                          </a:rPr>
                          <m:t>𝐺</m:t>
                        </m:r>
                      </m:sub>
                    </m:sSub>
                  </m:oMath>
                </a14:m>
                <a:r>
                  <a:rPr lang="en-US" altLang="zh-CN" dirty="0" smtClean="0"/>
                  <a:t>)</a:t>
                </a:r>
                <a:r>
                  <a:rPr lang="zh-CN" altLang="en-US" dirty="0" smtClean="0"/>
                  <a:t>是一个</a:t>
                </a:r>
                <a:r>
                  <a:rPr lang="en-US" dirty="0" smtClean="0"/>
                  <a:t>n × n </a:t>
                </a:r>
                <a:r>
                  <a:rPr lang="zh-CN" altLang="en-US" dirty="0" smtClean="0"/>
                  <a:t>的</a:t>
                </a:r>
                <a:r>
                  <a:rPr lang="en-US" altLang="zh-CN" dirty="0" smtClean="0"/>
                  <a:t>0-1</a:t>
                </a:r>
                <a:r>
                  <a:rPr lang="zh-CN" altLang="en-US" dirty="0" smtClean="0"/>
                  <a:t>矩阵</a:t>
                </a:r>
                <a:r>
                  <a:rPr lang="en-US" altLang="zh-CN" dirty="0" smtClean="0"/>
                  <a:t>, </a:t>
                </a:r>
                <a:r>
                  <a:rPr lang="zh-CN" altLang="en-US" dirty="0" smtClean="0"/>
                  <a:t>它满足</a:t>
                </a:r>
                <a:r>
                  <a:rPr lang="en-US" altLang="zh-CN" dirty="0" smtClean="0"/>
                  <a:t>: </a:t>
                </a:r>
                <a:r>
                  <a:rPr lang="zh-CN" altLang="en-US" dirty="0" smtClean="0"/>
                  <a:t>当</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b="0" i="1" smtClean="0">
                            <a:latin typeface="Cambria Math" panose="02040503050406030204" pitchFamily="18" charset="0"/>
                          </a:rPr>
                          <m:t>𝑖</m:t>
                        </m:r>
                      </m:sub>
                    </m:sSub>
                    <m:r>
                      <a:rPr lang="zh-CN" altLang="en-US" i="1">
                        <a:latin typeface="Cambria Math" panose="02040503050406030204" pitchFamily="18" charset="0"/>
                      </a:rPr>
                      <m:t>可</m:t>
                    </m:r>
                    <m:r>
                      <a:rPr lang="zh-CN" altLang="en-US" i="1" smtClean="0">
                        <a:latin typeface="Cambria Math" panose="02040503050406030204" pitchFamily="18" charset="0"/>
                      </a:rPr>
                      <m:t>达</m:t>
                    </m:r>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b="0" i="1" smtClean="0">
                            <a:latin typeface="Cambria Math" panose="02040503050406030204" pitchFamily="18" charset="0"/>
                          </a:rPr>
                          <m:t>𝑗</m:t>
                        </m:r>
                      </m:sub>
                    </m:sSub>
                  </m:oMath>
                </a14:m>
                <a:r>
                  <a:rPr lang="zh-CN" altLang="en-US" dirty="0" smtClean="0"/>
                  <a:t>时</a:t>
                </a:r>
                <a:r>
                  <a:rPr lang="en-US" altLang="zh-CN" dirty="0" smtClean="0"/>
                  <a:t>, </a:t>
                </a:r>
                <a:r>
                  <a:rPr lang="zh-CN" altLang="en-US" dirty="0" smtClean="0"/>
                  <a:t>第</a:t>
                </a:r>
                <a:r>
                  <a:rPr lang="en-US" dirty="0" smtClean="0"/>
                  <a:t> (</a:t>
                </a:r>
                <a:r>
                  <a:rPr lang="en-US" dirty="0" err="1" smtClean="0"/>
                  <a:t>i</a:t>
                </a:r>
                <a:r>
                  <a:rPr lang="en-US" dirty="0" smtClean="0"/>
                  <a:t>, j)</a:t>
                </a:r>
                <a:r>
                  <a:rPr lang="zh-CN" altLang="en-US" dirty="0" smtClean="0"/>
                  <a:t>项为</a:t>
                </a:r>
                <a:r>
                  <a:rPr lang="en-US" altLang="zh-CN" dirty="0" smtClean="0"/>
                  <a:t>1; </a:t>
                </a:r>
                <a:r>
                  <a:rPr lang="zh-CN" altLang="en-US" dirty="0" smtClean="0"/>
                  <a:t>当</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i="1">
                            <a:latin typeface="Cambria Math" panose="02040503050406030204" pitchFamily="18" charset="0"/>
                          </a:rPr>
                          <m:t>𝑖</m:t>
                        </m:r>
                      </m:sub>
                    </m:sSub>
                  </m:oMath>
                </a14:m>
                <a:r>
                  <a:rPr lang="zh-CN" altLang="en-US" dirty="0" smtClean="0"/>
                  <a:t>不可达</a:t>
                </a:r>
                <a:r>
                  <a:rPr lang="en-US" altLang="zh-CN" dirty="0" smtClean="0"/>
                  <a:t> </a:t>
                </a:r>
                <a14:m>
                  <m:oMath xmlns:m="http://schemas.openxmlformats.org/officeDocument/2006/math">
                    <m:sSub>
                      <m:sSubPr>
                        <m:ctrlPr>
                          <a:rPr lang="en-US" altLang="zh-CN" i="1" smtClean="0">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i="1">
                            <a:latin typeface="Cambria Math" panose="02040503050406030204" pitchFamily="18" charset="0"/>
                          </a:rPr>
                          <m:t>𝑗</m:t>
                        </m:r>
                      </m:sub>
                    </m:sSub>
                  </m:oMath>
                </a14:m>
                <a:r>
                  <a:rPr lang="zh-CN" altLang="en-US" dirty="0" smtClean="0"/>
                  <a:t>时</a:t>
                </a:r>
                <a:r>
                  <a:rPr lang="en-US" altLang="zh-CN" dirty="0" smtClean="0"/>
                  <a:t>, </a:t>
                </a:r>
                <a:r>
                  <a:rPr lang="zh-CN" altLang="en-US" dirty="0" smtClean="0"/>
                  <a:t>第</a:t>
                </a:r>
                <a:r>
                  <a:rPr lang="en-US" altLang="zh-CN" dirty="0" smtClean="0"/>
                  <a:t> (</a:t>
                </a:r>
                <a:r>
                  <a:rPr lang="en-US" altLang="zh-CN" dirty="0" err="1" smtClean="0"/>
                  <a:t>i</a:t>
                </a:r>
                <a:r>
                  <a:rPr lang="en-US" altLang="zh-CN" dirty="0" smtClean="0"/>
                  <a:t>, j)</a:t>
                </a:r>
                <a:r>
                  <a:rPr lang="zh-CN" altLang="en-US" dirty="0" smtClean="0"/>
                  <a:t>项为</a:t>
                </a:r>
                <a:r>
                  <a:rPr lang="en-US" altLang="zh-CN" dirty="0" smtClean="0"/>
                  <a:t>0.</a:t>
                </a:r>
              </a:p>
              <a:p>
                <a:r>
                  <a:rPr lang="zh-CN" altLang="en-US" dirty="0" smtClean="0"/>
                  <a:t>换句话说</a:t>
                </a:r>
                <a:r>
                  <a:rPr lang="en-US" altLang="zh-CN" dirty="0" smtClean="0"/>
                  <a:t>, </a:t>
                </a:r>
                <a:r>
                  <a:rPr lang="zh-CN" altLang="en-US" dirty="0" smtClean="0"/>
                  <a:t>若可达矩阵</a:t>
                </a:r>
                <a:r>
                  <a:rPr lang="en-US" altLang="zh-CN" dirty="0"/>
                  <a:t>P</a:t>
                </a:r>
                <a:r>
                  <a:rPr lang="en-US" dirty="0" smtClean="0"/>
                  <a:t>= [</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m:t>
                        </m:r>
                        <m:r>
                          <a:rPr lang="en-US" altLang="zh-CN" i="1">
                            <a:latin typeface="Cambria Math" panose="02040503050406030204" pitchFamily="18" charset="0"/>
                          </a:rPr>
                          <m:t>𝑗</m:t>
                        </m:r>
                      </m:sub>
                    </m:sSub>
                  </m:oMath>
                </a14:m>
                <a:r>
                  <a:rPr lang="en-US" dirty="0" smtClean="0"/>
                  <a:t>], </a:t>
                </a:r>
                <a:r>
                  <a:rPr lang="zh-CN" altLang="en-US" dirty="0" smtClean="0"/>
                  <a:t>则</a:t>
                </a:r>
                <a:endParaRPr lang="en-US" altLang="zh-CN" dirty="0" smtClean="0"/>
              </a:p>
              <a:p>
                <a:pPr marL="0" indent="0">
                  <a:buNone/>
                </a:pPr>
                <a14:m>
                  <m:oMathPara xmlns:m="http://schemas.openxmlformats.org/officeDocument/2006/math">
                    <m:oMathParaPr>
                      <m:jc m:val="center"/>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𝑖𝑗</m:t>
                          </m:r>
                        </m:sub>
                      </m:sSub>
                      <m:r>
                        <a:rPr lang="en-US" altLang="zh-CN" b="0" i="1" smtClean="0">
                          <a:latin typeface="Cambria Math" panose="02040503050406030204" pitchFamily="18" charset="0"/>
                        </a:rPr>
                        <m:t>=</m:t>
                      </m:r>
                      <m:d>
                        <m:dPr>
                          <m:begChr m:val="{"/>
                          <m:endChr m:val=""/>
                          <m:ctrlPr>
                            <a:rPr lang="en-US" altLang="zh-CN" i="1" smtClean="0">
                              <a:latin typeface="Cambria Math" panose="02040503050406030204" pitchFamily="18" charset="0"/>
                            </a:rPr>
                          </m:ctrlPr>
                        </m:dPr>
                        <m:e>
                          <m:eqArr>
                            <m:eqArrPr>
                              <m:ctrlPr>
                                <a:rPr lang="en-US" altLang="zh-CN" i="1" smtClean="0">
                                  <a:latin typeface="Cambria Math" panose="02040503050406030204" pitchFamily="18" charset="0"/>
                                </a:rPr>
                              </m:ctrlPr>
                            </m:eqArrPr>
                            <m:e>
                              <m:r>
                                <a:rPr lang="en-US" altLang="zh-CN" b="0" i="1" smtClean="0">
                                  <a:latin typeface="Cambria Math" panose="02040503050406030204" pitchFamily="18" charset="0"/>
                                </a:rPr>
                                <m:t>1,</m:t>
                              </m: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     </m:t>
                                  </m:r>
                                  <m:r>
                                    <m:rPr>
                                      <m:sty m:val="p"/>
                                    </m:rPr>
                                    <a:rPr lang="en-US" altLang="zh-CN" i="1">
                                      <a:latin typeface="Cambria Math" panose="02040503050406030204" pitchFamily="18" charset="0"/>
                                    </a:rPr>
                                    <m:t>V</m:t>
                                  </m:r>
                                </m:e>
                                <m:sub>
                                  <m:r>
                                    <a:rPr lang="en-US" altLang="zh-CN" i="1">
                                      <a:latin typeface="Cambria Math" panose="02040503050406030204" pitchFamily="18" charset="0"/>
                                    </a:rPr>
                                    <m:t>𝑖</m:t>
                                  </m:r>
                                </m:sub>
                              </m:sSub>
                              <m:r>
                                <a:rPr lang="zh-CN" altLang="en-US" i="1">
                                  <a:latin typeface="Cambria Math" panose="02040503050406030204" pitchFamily="18" charset="0"/>
                                </a:rPr>
                                <m:t>可达</m:t>
                              </m:r>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V</m:t>
                                  </m:r>
                                </m:e>
                                <m:sub>
                                  <m:r>
                                    <a:rPr lang="en-US" altLang="zh-CN" i="1">
                                      <a:latin typeface="Cambria Math" panose="02040503050406030204" pitchFamily="18" charset="0"/>
                                    </a:rPr>
                                    <m:t>𝑗</m:t>
                                  </m:r>
                                </m:sub>
                              </m:sSub>
                            </m:e>
                            <m:e>
                              <m:r>
                                <a:rPr lang="en-US" altLang="zh-CN" b="0" i="1" smtClean="0">
                                  <a:latin typeface="Cambria Math" panose="02040503050406030204" pitchFamily="18" charset="0"/>
                                </a:rPr>
                                <m:t>0,  </m:t>
                              </m:r>
                              <m:r>
                                <a:rPr lang="zh-CN" altLang="en-US" i="1">
                                  <a:latin typeface="Cambria Math" panose="02040503050406030204" pitchFamily="18" charset="0"/>
                                </a:rPr>
                                <m:t>否则</m:t>
                              </m:r>
                            </m:e>
                          </m:eqArr>
                        </m:e>
                      </m:d>
                    </m:oMath>
                  </m:oMathPara>
                </a14:m>
                <a:endParaRPr lang="en-US" altLang="zh-CN" dirty="0" smtClean="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99" t="-1310" r="-1387"/>
                </a:stretch>
              </a:blipFill>
            </p:spPr>
            <p:txBody>
              <a:bodyPr/>
              <a:lstStyle/>
              <a:p>
                <a:r>
                  <a:rPr lang="zh-CN" altLang="en-US">
                    <a:noFill/>
                  </a:rPr>
                  <a:t> </a:t>
                </a:r>
              </a:p>
            </p:txBody>
          </p:sp>
        </mc:Fallback>
      </mc:AlternateContent>
      <p:sp>
        <p:nvSpPr>
          <p:cNvPr id="7" name="日期占位符 6"/>
          <p:cNvSpPr>
            <a:spLocks noGrp="1"/>
          </p:cNvSpPr>
          <p:nvPr>
            <p:ph type="dt" sz="half" idx="10"/>
          </p:nvPr>
        </p:nvSpPr>
        <p:spPr/>
        <p:txBody>
          <a:bodyPr/>
          <a:lstStyle/>
          <a:p>
            <a:fld id="{DC233B46-D45C-4906-9F3C-81B9D2844507}"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137</a:t>
            </a:fld>
            <a:endParaRPr lang="zh-CN" altLang="en-US" dirty="0"/>
          </a:p>
        </p:txBody>
      </p:sp>
    </p:spTree>
    <p:extLst>
      <p:ext uri="{BB962C8B-B14F-4D97-AF65-F5344CB8AC3E}">
        <p14:creationId xmlns:p14="http://schemas.microsoft.com/office/powerpoint/2010/main" val="436044962"/>
      </p:ext>
    </p:extLst>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57200" y="1143000"/>
            <a:ext cx="11277599" cy="13716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smtClean="0"/>
              <a:t>有向图的连通性</a:t>
            </a:r>
            <a:endParaRPr lang="en-US" dirty="0"/>
          </a:p>
        </p:txBody>
      </p:sp>
      <p:sp>
        <p:nvSpPr>
          <p:cNvPr id="3" name="Content Placeholder 2"/>
          <p:cNvSpPr>
            <a:spLocks noGrp="1"/>
          </p:cNvSpPr>
          <p:nvPr>
            <p:ph idx="1"/>
          </p:nvPr>
        </p:nvSpPr>
        <p:spPr/>
        <p:txBody>
          <a:bodyPr/>
          <a:lstStyle/>
          <a:p>
            <a:pPr marL="0" indent="0">
              <a:lnSpc>
                <a:spcPct val="120000"/>
              </a:lnSpc>
              <a:buNone/>
            </a:pPr>
            <a:r>
              <a:rPr lang="zh-CN" altLang="en-US" dirty="0" smtClean="0">
                <a:latin typeface="Times New Roman" panose="02020603050405020304" pitchFamily="18" charset="0"/>
                <a:sym typeface="Symbol" panose="05050102010706020507" pitchFamily="18" charset="2"/>
              </a:rPr>
              <a:t>由于</a:t>
            </a:r>
            <a:r>
              <a:rPr lang="zh-CN" altLang="en-US" dirty="0">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sym typeface="Symbol" panose="05050102010706020507" pitchFamily="18" charset="2"/>
              </a:rPr>
              <a:t>i</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V</a:t>
            </a:r>
            <a:r>
              <a:rPr lang="zh-CN" altLang="en-US" dirty="0">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sym typeface="Symbol" panose="05050102010706020507" pitchFamily="18" charset="2"/>
              </a:rPr>
              <a:t>v</a:t>
            </a:r>
            <a:r>
              <a:rPr lang="en-US" altLang="zh-CN" i="1" baseline="-25000" dirty="0" err="1">
                <a:latin typeface="Times New Roman" panose="02020603050405020304" pitchFamily="18" charset="0"/>
                <a:sym typeface="Symbol" panose="05050102010706020507" pitchFamily="18" charset="2"/>
              </a:rPr>
              <a:t>i</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sym typeface="Symbol" panose="05050102010706020507" pitchFamily="18" charset="2"/>
              </a:rPr>
              <a:t>i</a:t>
            </a:r>
            <a:r>
              <a:rPr lang="zh-CN" altLang="en-US" dirty="0">
                <a:latin typeface="Times New Roman" panose="02020603050405020304" pitchFamily="18" charset="0"/>
                <a:sym typeface="Symbol" panose="05050102010706020507" pitchFamily="18" charset="2"/>
              </a:rPr>
              <a:t>，所以</a:t>
            </a:r>
            <a:r>
              <a:rPr lang="en-US" altLang="zh-CN" i="1" dirty="0">
                <a:latin typeface="Times New Roman" panose="02020603050405020304" pitchFamily="18" charset="0"/>
                <a:sym typeface="Symbol" panose="05050102010706020507" pitchFamily="18" charset="2"/>
              </a:rPr>
              <a:t>P</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sym typeface="Symbol" panose="05050102010706020507" pitchFamily="18" charset="2"/>
              </a:rPr>
              <a:t>D</a:t>
            </a:r>
            <a:r>
              <a:rPr lang="en-US" altLang="zh-CN"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sym typeface="Symbol" panose="05050102010706020507" pitchFamily="18" charset="2"/>
              </a:rPr>
              <a:t>主对角线上的元素全为</a:t>
            </a:r>
            <a:r>
              <a:rPr lang="en-US" altLang="zh-CN" dirty="0">
                <a:latin typeface="Times New Roman" panose="02020603050405020304" pitchFamily="18" charset="0"/>
                <a:sym typeface="Symbol" panose="05050102010706020507" pitchFamily="18" charset="2"/>
              </a:rPr>
              <a:t>1. </a:t>
            </a:r>
          </a:p>
          <a:p>
            <a:pPr marL="0" indent="0">
              <a:lnSpc>
                <a:spcPct val="120000"/>
              </a:lnSpc>
              <a:buNone/>
            </a:pPr>
            <a:r>
              <a:rPr lang="zh-CN" altLang="en-US" dirty="0">
                <a:latin typeface="Times New Roman" panose="02020603050405020304" pitchFamily="18" charset="0"/>
                <a:sym typeface="Symbol" panose="05050102010706020507" pitchFamily="18" charset="2"/>
              </a:rPr>
              <a:t>由定义不难看出</a:t>
            </a:r>
            <a:r>
              <a:rPr lang="en-US" altLang="zh-CN" dirty="0">
                <a:latin typeface="Times New Roman" panose="02020603050405020304" pitchFamily="18" charset="0"/>
                <a:sym typeface="Symbol" panose="05050102010706020507" pitchFamily="18" charset="2"/>
              </a:rPr>
              <a:t>,  </a:t>
            </a:r>
            <a:r>
              <a:rPr lang="en-US" altLang="zh-CN" i="1" dirty="0">
                <a:latin typeface="Times New Roman" panose="02020603050405020304" pitchFamily="18" charset="0"/>
                <a:sym typeface="Symbol" panose="05050102010706020507" pitchFamily="18" charset="2"/>
              </a:rPr>
              <a:t>D </a:t>
            </a:r>
            <a:r>
              <a:rPr lang="zh-CN" altLang="en-US" dirty="0">
                <a:latin typeface="Times New Roman" panose="02020603050405020304" pitchFamily="18" charset="0"/>
                <a:sym typeface="Symbol" panose="05050102010706020507" pitchFamily="18" charset="2"/>
              </a:rPr>
              <a:t>强连通当且仅当 </a:t>
            </a:r>
            <a:r>
              <a:rPr lang="en-US" altLang="zh-CN" i="1" dirty="0">
                <a:latin typeface="Times New Roman" panose="02020603050405020304" pitchFamily="18" charset="0"/>
                <a:sym typeface="Symbol" panose="05050102010706020507" pitchFamily="18" charset="2"/>
              </a:rPr>
              <a:t>P</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sym typeface="Symbol" panose="05050102010706020507" pitchFamily="18" charset="2"/>
              </a:rPr>
              <a:t>D</a:t>
            </a:r>
            <a:r>
              <a:rPr lang="en-US" altLang="zh-CN"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sym typeface="Symbol" panose="05050102010706020507" pitchFamily="18" charset="2"/>
              </a:rPr>
              <a:t>为全</a:t>
            </a:r>
            <a:r>
              <a:rPr lang="en-US" altLang="zh-CN" dirty="0">
                <a:latin typeface="Times New Roman" panose="02020603050405020304" pitchFamily="18" charset="0"/>
                <a:sym typeface="Symbol" panose="05050102010706020507" pitchFamily="18" charset="2"/>
              </a:rPr>
              <a:t>1</a:t>
            </a:r>
            <a:r>
              <a:rPr lang="zh-CN" altLang="en-US" dirty="0">
                <a:latin typeface="Times New Roman" panose="02020603050405020304" pitchFamily="18" charset="0"/>
                <a:sym typeface="Symbol" panose="05050102010706020507" pitchFamily="18" charset="2"/>
              </a:rPr>
              <a:t>矩阵</a:t>
            </a:r>
            <a:r>
              <a:rPr lang="en-US" altLang="zh-CN" dirty="0">
                <a:latin typeface="Times New Roman" panose="02020603050405020304" pitchFamily="18" charset="0"/>
                <a:sym typeface="Symbol" panose="05050102010706020507" pitchFamily="18" charset="2"/>
              </a:rPr>
              <a:t>. </a:t>
            </a:r>
          </a:p>
          <a:p>
            <a:pPr marL="0" indent="0">
              <a:lnSpc>
                <a:spcPct val="120000"/>
              </a:lnSpc>
              <a:buNone/>
            </a:pPr>
            <a:r>
              <a:rPr lang="zh-CN" altLang="en-US" dirty="0">
                <a:latin typeface="Times New Roman" panose="02020603050405020304" pitchFamily="18" charset="0"/>
                <a:sym typeface="Symbol" panose="05050102010706020507" pitchFamily="18" charset="2"/>
              </a:rPr>
              <a:t>下图所示有向图 </a:t>
            </a:r>
            <a:r>
              <a:rPr lang="en-US" altLang="zh-CN" i="1" dirty="0">
                <a:latin typeface="Times New Roman" panose="02020603050405020304" pitchFamily="18" charset="0"/>
                <a:sym typeface="Symbol" panose="05050102010706020507" pitchFamily="18" charset="2"/>
              </a:rPr>
              <a:t>D </a:t>
            </a:r>
            <a:r>
              <a:rPr lang="zh-CN" altLang="en-US" dirty="0">
                <a:latin typeface="Times New Roman" panose="02020603050405020304" pitchFamily="18" charset="0"/>
                <a:sym typeface="Symbol" panose="05050102010706020507" pitchFamily="18" charset="2"/>
              </a:rPr>
              <a:t>的可达矩阵为</a:t>
            </a:r>
          </a:p>
          <a:p>
            <a:pPr marL="0" indent="0">
              <a:buNone/>
            </a:pPr>
            <a:endParaRPr lang="en-US" dirty="0"/>
          </a:p>
        </p:txBody>
      </p:sp>
      <p:sp>
        <p:nvSpPr>
          <p:cNvPr id="7" name="日期占位符 6"/>
          <p:cNvSpPr>
            <a:spLocks noGrp="1"/>
          </p:cNvSpPr>
          <p:nvPr>
            <p:ph type="dt" sz="half" idx="10"/>
          </p:nvPr>
        </p:nvSpPr>
        <p:spPr/>
        <p:txBody>
          <a:bodyPr/>
          <a:lstStyle/>
          <a:p>
            <a:fld id="{DC233B46-D45C-4906-9F3C-81B9D2844507}"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138</a:t>
            </a:fld>
            <a:endParaRPr lang="zh-CN" altLang="en-US" dirty="0"/>
          </a:p>
        </p:txBody>
      </p:sp>
      <p:pic>
        <p:nvPicPr>
          <p:cNvPr id="11" name="Picture 13" descr="14-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2886379"/>
            <a:ext cx="3581400" cy="2915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2" name="Object 7"/>
          <p:cNvGraphicFramePr>
            <a:graphicFrameLocks noChangeAspect="1"/>
          </p:cNvGraphicFramePr>
          <p:nvPr>
            <p:extLst/>
          </p:nvPr>
        </p:nvGraphicFramePr>
        <p:xfrm>
          <a:off x="5715000" y="3124200"/>
          <a:ext cx="3657600" cy="2849316"/>
        </p:xfrm>
        <a:graphic>
          <a:graphicData uri="http://schemas.openxmlformats.org/presentationml/2006/ole">
            <mc:AlternateContent xmlns:mc="http://schemas.openxmlformats.org/markup-compatibility/2006">
              <mc:Choice xmlns:v="urn:schemas-microsoft-com:vml" Requires="v">
                <p:oleObj spid="_x0000_s10261" name="公式" r:id="rId4" imgW="1168200" imgH="914400" progId="Equation.3">
                  <p:embed/>
                </p:oleObj>
              </mc:Choice>
              <mc:Fallback>
                <p:oleObj name="公式" r:id="rId4" imgW="1168200" imgH="9144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15000" y="3124200"/>
                        <a:ext cx="3657600" cy="2849316"/>
                      </a:xfrm>
                      <a:prstGeom prst="rect">
                        <a:avLst/>
                      </a:prstGeom>
                      <a:noFill/>
                    </p:spPr>
                  </p:pic>
                </p:oleObj>
              </mc:Fallback>
            </mc:AlternateContent>
          </a:graphicData>
        </a:graphic>
      </p:graphicFrame>
      <p:cxnSp>
        <p:nvCxnSpPr>
          <p:cNvPr id="5" name="直接连接符 4"/>
          <p:cNvCxnSpPr/>
          <p:nvPr/>
        </p:nvCxnSpPr>
        <p:spPr>
          <a:xfrm>
            <a:off x="6781800" y="3329658"/>
            <a:ext cx="2362200" cy="243840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896281"/>
      </p:ext>
    </p:extLst>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57200" y="1143000"/>
            <a:ext cx="11277599" cy="8382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有向图的连通性</a:t>
            </a:r>
            <a:endParaRPr lang="en-US" dirty="0"/>
          </a:p>
        </p:txBody>
      </p:sp>
      <p:sp>
        <p:nvSpPr>
          <p:cNvPr id="3" name="Content Placeholder 2"/>
          <p:cNvSpPr>
            <a:spLocks noGrp="1"/>
          </p:cNvSpPr>
          <p:nvPr>
            <p:ph idx="1"/>
          </p:nvPr>
        </p:nvSpPr>
        <p:spPr/>
        <p:txBody>
          <a:bodyPr>
            <a:normAutofit/>
          </a:bodyPr>
          <a:lstStyle/>
          <a:p>
            <a:r>
              <a:rPr lang="zh-CN" altLang="en-US" dirty="0" smtClean="0"/>
              <a:t>定义</a:t>
            </a:r>
            <a:r>
              <a:rPr lang="en-US" dirty="0" smtClean="0"/>
              <a:t>: </a:t>
            </a:r>
            <a:r>
              <a:rPr lang="zh-CN" altLang="en-US" dirty="0" smtClean="0"/>
              <a:t>有向图</a:t>
            </a:r>
            <a:r>
              <a:rPr lang="en-US" altLang="zh-CN" dirty="0" smtClean="0"/>
              <a:t>G</a:t>
            </a:r>
            <a:r>
              <a:rPr lang="zh-CN" altLang="en-US" dirty="0" smtClean="0"/>
              <a:t>的子图是强连通的</a:t>
            </a:r>
            <a:r>
              <a:rPr lang="en-US" altLang="zh-CN" dirty="0" smtClean="0"/>
              <a:t>, </a:t>
            </a:r>
            <a:r>
              <a:rPr lang="zh-CN" altLang="en-US" dirty="0" smtClean="0"/>
              <a:t>但不包含更大的强连通子图中</a:t>
            </a:r>
            <a:r>
              <a:rPr lang="en-US" altLang="zh-CN" dirty="0" smtClean="0"/>
              <a:t>, </a:t>
            </a:r>
            <a:r>
              <a:rPr lang="zh-CN" altLang="en-US" dirty="0" smtClean="0"/>
              <a:t>即极大强连通子图</a:t>
            </a:r>
            <a:r>
              <a:rPr lang="en-US" altLang="zh-CN" dirty="0" smtClean="0"/>
              <a:t>, </a:t>
            </a:r>
            <a:r>
              <a:rPr lang="zh-CN" altLang="en-US" dirty="0" smtClean="0"/>
              <a:t>可称为</a:t>
            </a:r>
            <a:r>
              <a:rPr lang="en-US" altLang="zh-CN" dirty="0" smtClean="0"/>
              <a:t>G</a:t>
            </a:r>
            <a:r>
              <a:rPr lang="zh-CN" altLang="en-US" dirty="0" smtClean="0"/>
              <a:t>的</a:t>
            </a:r>
            <a:r>
              <a:rPr lang="zh-CN" altLang="en-US" b="1" dirty="0" smtClean="0">
                <a:solidFill>
                  <a:srgbClr val="C00000"/>
                </a:solidFill>
              </a:rPr>
              <a:t>强连通分支</a:t>
            </a:r>
            <a:r>
              <a:rPr lang="zh-CN" altLang="en-US" dirty="0" smtClean="0"/>
              <a:t>或强分支</a:t>
            </a:r>
            <a:r>
              <a:rPr lang="en-US" dirty="0" smtClean="0"/>
              <a:t>. </a:t>
            </a:r>
          </a:p>
          <a:p>
            <a:endParaRPr lang="en-US" dirty="0" smtClean="0"/>
          </a:p>
          <a:p>
            <a:r>
              <a:rPr lang="zh-CN" altLang="en-US" dirty="0" smtClean="0"/>
              <a:t>例</a:t>
            </a:r>
            <a:r>
              <a:rPr lang="en-US" altLang="zh-CN" dirty="0" smtClean="0"/>
              <a:t>: </a:t>
            </a:r>
            <a:r>
              <a:rPr lang="zh-CN" altLang="en-US" dirty="0" smtClean="0"/>
              <a:t>图</a:t>
            </a:r>
            <a:r>
              <a:rPr lang="en-US" altLang="zh-CN" dirty="0" smtClean="0"/>
              <a:t>H</a:t>
            </a:r>
            <a:r>
              <a:rPr lang="zh-CN" altLang="en-US" dirty="0" smtClean="0"/>
              <a:t>的强连通分支是什么？</a:t>
            </a:r>
            <a:endParaRPr lang="en-US" altLang="zh-CN" dirty="0" smtClean="0"/>
          </a:p>
          <a:p>
            <a:pPr marL="0" indent="0">
              <a:buNone/>
            </a:pPr>
            <a:endParaRPr lang="en-US" altLang="zh-CN" dirty="0" smtClean="0"/>
          </a:p>
          <a:p>
            <a:endParaRPr lang="en-US" altLang="zh-CN" dirty="0" smtClean="0"/>
          </a:p>
          <a:p>
            <a:endParaRPr lang="en-US" altLang="zh-CN" dirty="0" smtClean="0"/>
          </a:p>
          <a:p>
            <a:r>
              <a:rPr lang="zh-CN" altLang="en-US" dirty="0" smtClean="0"/>
              <a:t>解</a:t>
            </a:r>
            <a:r>
              <a:rPr lang="en-US" altLang="zh-CN" dirty="0" smtClean="0"/>
              <a:t>: H</a:t>
            </a:r>
            <a:r>
              <a:rPr lang="zh-CN" altLang="en-US" dirty="0" smtClean="0"/>
              <a:t>有</a:t>
            </a:r>
            <a:r>
              <a:rPr lang="en-US" altLang="zh-CN" dirty="0" smtClean="0"/>
              <a:t>3</a:t>
            </a:r>
            <a:r>
              <a:rPr lang="zh-CN" altLang="en-US" dirty="0" smtClean="0"/>
              <a:t>个强连通分支</a:t>
            </a:r>
            <a:r>
              <a:rPr lang="en-US" altLang="zh-CN" dirty="0" smtClean="0"/>
              <a:t>, 1. </a:t>
            </a:r>
            <a:r>
              <a:rPr lang="zh-CN" altLang="en-US" dirty="0" smtClean="0"/>
              <a:t>顶点</a:t>
            </a:r>
            <a:r>
              <a:rPr lang="en-US" altLang="zh-CN" dirty="0" smtClean="0"/>
              <a:t>a</a:t>
            </a:r>
            <a:r>
              <a:rPr lang="zh-CN" altLang="en-US" dirty="0" smtClean="0"/>
              <a:t>；</a:t>
            </a:r>
            <a:r>
              <a:rPr lang="en-US" altLang="zh-CN" dirty="0" smtClean="0"/>
              <a:t>2. </a:t>
            </a:r>
            <a:r>
              <a:rPr lang="zh-CN" altLang="en-US" dirty="0" smtClean="0"/>
              <a:t>顶点</a:t>
            </a:r>
            <a:r>
              <a:rPr lang="en-US" altLang="zh-CN" dirty="0" smtClean="0"/>
              <a:t>e</a:t>
            </a:r>
            <a:r>
              <a:rPr lang="zh-CN" altLang="en-US" dirty="0" smtClean="0"/>
              <a:t>；</a:t>
            </a:r>
            <a:r>
              <a:rPr lang="en-US" altLang="zh-CN" dirty="0" smtClean="0"/>
              <a:t>3. </a:t>
            </a:r>
            <a:r>
              <a:rPr lang="zh-CN" altLang="en-US" dirty="0" smtClean="0"/>
              <a:t>顶点</a:t>
            </a:r>
            <a:r>
              <a:rPr lang="en-US" dirty="0" smtClean="0"/>
              <a:t> b, c, d</a:t>
            </a:r>
            <a:r>
              <a:rPr lang="zh-CN" altLang="en-US" dirty="0" smtClean="0"/>
              <a:t>以及边</a:t>
            </a:r>
            <a:r>
              <a:rPr lang="en-US" dirty="0" smtClean="0"/>
              <a:t>(b, c), (c, d), (d, b)</a:t>
            </a:r>
            <a:r>
              <a:rPr lang="zh-CN" altLang="en-US" dirty="0" smtClean="0"/>
              <a:t>组成的子图</a:t>
            </a:r>
            <a:r>
              <a:rPr lang="en-US" dirty="0" smtClean="0"/>
              <a:t>.</a:t>
            </a:r>
            <a:endParaRPr lang="en-US" dirty="0"/>
          </a:p>
        </p:txBody>
      </p:sp>
      <p:sp>
        <p:nvSpPr>
          <p:cNvPr id="7" name="日期占位符 6"/>
          <p:cNvSpPr>
            <a:spLocks noGrp="1"/>
          </p:cNvSpPr>
          <p:nvPr>
            <p:ph type="dt" sz="half" idx="10"/>
          </p:nvPr>
        </p:nvSpPr>
        <p:spPr/>
        <p:txBody>
          <a:bodyPr/>
          <a:lstStyle/>
          <a:p>
            <a:fld id="{F5F7A253-27C0-41F3-9F9D-5B28E6566431}"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139</a:t>
            </a:fld>
            <a:endParaRPr lang="zh-CN" altLang="en-US" dirty="0"/>
          </a:p>
        </p:txBody>
      </p:sp>
      <p:pic>
        <p:nvPicPr>
          <p:cNvPr id="5" name="图片 4"/>
          <p:cNvPicPr>
            <a:picLocks noChangeAspect="1"/>
          </p:cNvPicPr>
          <p:nvPr/>
        </p:nvPicPr>
        <p:blipFill>
          <a:blip r:embed="rId2"/>
          <a:stretch>
            <a:fillRect/>
          </a:stretch>
        </p:blipFill>
        <p:spPr>
          <a:xfrm>
            <a:off x="5867400" y="2895600"/>
            <a:ext cx="1676400" cy="1868857"/>
          </a:xfrm>
          <a:prstGeom prst="rect">
            <a:avLst/>
          </a:prstGeom>
        </p:spPr>
      </p:pic>
      <p:sp>
        <p:nvSpPr>
          <p:cNvPr id="11" name="矩形 10"/>
          <p:cNvSpPr/>
          <p:nvPr/>
        </p:nvSpPr>
        <p:spPr>
          <a:xfrm>
            <a:off x="5867400" y="2944888"/>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5867400" y="4011688"/>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6934200" y="2944888"/>
            <a:ext cx="609600" cy="1420888"/>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758278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wipe(down)">
                                      <p:cBhvr>
                                        <p:cTn id="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有向图的连通性</a:t>
            </a:r>
            <a:endParaRPr lang="en-US" dirty="0"/>
          </a:p>
        </p:txBody>
      </p:sp>
      <p:sp>
        <p:nvSpPr>
          <p:cNvPr id="3" name="Content Placeholder 2"/>
          <p:cNvSpPr>
            <a:spLocks noGrp="1"/>
          </p:cNvSpPr>
          <p:nvPr>
            <p:ph idx="1"/>
          </p:nvPr>
        </p:nvSpPr>
        <p:spPr/>
        <p:txBody>
          <a:bodyPr>
            <a:normAutofit/>
          </a:bodyPr>
          <a:lstStyle/>
          <a:p>
            <a:r>
              <a:rPr lang="zh-CN" altLang="en-US" dirty="0" smtClean="0"/>
              <a:t>例</a:t>
            </a:r>
            <a:r>
              <a:rPr lang="en-US" altLang="zh-CN" dirty="0" smtClean="0">
                <a:sym typeface="Wingdings" panose="05000000000000000000" pitchFamily="2" charset="2"/>
              </a:rPr>
              <a:t>: (</a:t>
            </a:r>
            <a:r>
              <a:rPr lang="zh-CN" altLang="en-US" dirty="0" smtClean="0"/>
              <a:t>网络图的强连通分支</a:t>
            </a:r>
            <a:r>
              <a:rPr lang="en-US" altLang="zh-CN" dirty="0" smtClean="0"/>
              <a:t>)</a:t>
            </a:r>
            <a:r>
              <a:rPr lang="zh-CN" altLang="en-US" dirty="0" smtClean="0"/>
              <a:t>在网络图中</a:t>
            </a:r>
            <a:r>
              <a:rPr lang="en-US" altLang="zh-CN" dirty="0" smtClean="0"/>
              <a:t>, </a:t>
            </a:r>
            <a:r>
              <a:rPr lang="zh-CN" altLang="en-US" dirty="0" smtClean="0"/>
              <a:t>顶点表示网页</a:t>
            </a:r>
            <a:r>
              <a:rPr lang="en-US" altLang="zh-CN" dirty="0" smtClean="0"/>
              <a:t>, </a:t>
            </a:r>
            <a:r>
              <a:rPr lang="zh-CN" altLang="en-US" dirty="0" smtClean="0"/>
              <a:t>有向边表示网页之间的链路</a:t>
            </a:r>
            <a:r>
              <a:rPr lang="en-US" altLang="zh-CN" dirty="0" smtClean="0"/>
              <a:t>. </a:t>
            </a:r>
            <a:r>
              <a:rPr lang="zh-CN" altLang="en-US" dirty="0" smtClean="0"/>
              <a:t>在</a:t>
            </a:r>
            <a:r>
              <a:rPr lang="en-US" altLang="zh-CN" dirty="0" smtClean="0"/>
              <a:t>1999</a:t>
            </a:r>
            <a:r>
              <a:rPr lang="zh-CN" altLang="en-US" dirty="0" smtClean="0"/>
              <a:t>年的快照就产生了</a:t>
            </a:r>
            <a:r>
              <a:rPr lang="en-US" altLang="zh-CN" dirty="0" smtClean="0"/>
              <a:t>2</a:t>
            </a:r>
            <a:r>
              <a:rPr lang="zh-CN" altLang="en-US" dirty="0" smtClean="0"/>
              <a:t>亿个顶点和</a:t>
            </a:r>
            <a:r>
              <a:rPr lang="en-US" altLang="zh-CN" dirty="0" smtClean="0"/>
              <a:t>15</a:t>
            </a:r>
            <a:r>
              <a:rPr lang="zh-CN" altLang="en-US" dirty="0" smtClean="0"/>
              <a:t>亿条边的网络图</a:t>
            </a:r>
            <a:r>
              <a:rPr lang="en-US" altLang="zh-CN" dirty="0" smtClean="0"/>
              <a:t>.</a:t>
            </a:r>
          </a:p>
          <a:p>
            <a:r>
              <a:rPr lang="zh-CN" altLang="en-US" dirty="0" smtClean="0"/>
              <a:t>该网络图的基本无向图不是连通的</a:t>
            </a:r>
            <a:r>
              <a:rPr lang="en-US" altLang="zh-CN" dirty="0" smtClean="0"/>
              <a:t>, </a:t>
            </a:r>
            <a:r>
              <a:rPr lang="zh-CN" altLang="en-US" dirty="0" smtClean="0"/>
              <a:t>但有一个包含了这个图中大约</a:t>
            </a:r>
            <a:r>
              <a:rPr lang="en-US" altLang="zh-CN" dirty="0" smtClean="0"/>
              <a:t>90%</a:t>
            </a:r>
            <a:r>
              <a:rPr lang="zh-CN" altLang="en-US" dirty="0" smtClean="0"/>
              <a:t>顶点的连通分支</a:t>
            </a:r>
            <a:r>
              <a:rPr lang="en-US" altLang="zh-CN" dirty="0" smtClean="0"/>
              <a:t>. </a:t>
            </a:r>
            <a:r>
              <a:rPr lang="zh-CN" altLang="en-US" dirty="0" smtClean="0"/>
              <a:t>这个连通分支对应的原来有向图的子图有一个非常大的强连通分支和许多小的强连通分支</a:t>
            </a:r>
            <a:r>
              <a:rPr lang="en-US" altLang="zh-CN" dirty="0" smtClean="0"/>
              <a:t>. </a:t>
            </a:r>
            <a:r>
              <a:rPr lang="zh-CN" altLang="en-US" dirty="0" smtClean="0"/>
              <a:t>这前者称为该有向图的巨型强连通分支</a:t>
            </a:r>
            <a:r>
              <a:rPr lang="en-US" altLang="zh-CN" dirty="0" smtClean="0"/>
              <a:t>(GSCC). </a:t>
            </a:r>
            <a:r>
              <a:rPr lang="zh-CN" altLang="en-US" dirty="0" smtClean="0"/>
              <a:t>从</a:t>
            </a:r>
            <a:r>
              <a:rPr lang="en-US" altLang="zh-CN" dirty="0" smtClean="0"/>
              <a:t>GSCC</a:t>
            </a:r>
            <a:r>
              <a:rPr lang="zh-CN" altLang="en-US" dirty="0" smtClean="0"/>
              <a:t>中任何网页开始的链路都可到达这个分支中的某个网页</a:t>
            </a:r>
            <a:r>
              <a:rPr lang="en-US" altLang="zh-CN" dirty="0" smtClean="0"/>
              <a:t>.</a:t>
            </a:r>
          </a:p>
          <a:p>
            <a:endParaRPr lang="en-US" dirty="0"/>
          </a:p>
        </p:txBody>
      </p:sp>
      <p:sp>
        <p:nvSpPr>
          <p:cNvPr id="6" name="日期占位符 5"/>
          <p:cNvSpPr>
            <a:spLocks noGrp="1"/>
          </p:cNvSpPr>
          <p:nvPr>
            <p:ph type="dt" sz="half" idx="10"/>
          </p:nvPr>
        </p:nvSpPr>
        <p:spPr/>
        <p:txBody>
          <a:bodyPr/>
          <a:lstStyle/>
          <a:p>
            <a:fld id="{C79B1682-94DE-46CC-B1A4-154348BABE5A}" type="datetime1">
              <a:rPr lang="zh-CN" altLang="en-US" smtClean="0"/>
              <a:t>2025/4/15</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140</a:t>
            </a:fld>
            <a:endParaRPr lang="zh-CN" altLang="en-US" dirty="0"/>
          </a:p>
        </p:txBody>
      </p:sp>
    </p:spTree>
    <p:extLst>
      <p:ext uri="{BB962C8B-B14F-4D97-AF65-F5344CB8AC3E}">
        <p14:creationId xmlns:p14="http://schemas.microsoft.com/office/powerpoint/2010/main" val="2765534478"/>
      </p:ext>
    </p:ext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通路和同构</a:t>
            </a:r>
            <a:endParaRPr lang="en-US" dirty="0">
              <a:solidFill>
                <a:srgbClr val="C00000"/>
              </a:solidFill>
            </a:endParaRPr>
          </a:p>
        </p:txBody>
      </p:sp>
      <p:sp>
        <p:nvSpPr>
          <p:cNvPr id="3" name="Content Placeholder 2"/>
          <p:cNvSpPr>
            <a:spLocks noGrp="1"/>
          </p:cNvSpPr>
          <p:nvPr>
            <p:ph idx="1"/>
          </p:nvPr>
        </p:nvSpPr>
        <p:spPr/>
        <p:txBody>
          <a:bodyPr>
            <a:normAutofit/>
          </a:bodyPr>
          <a:lstStyle/>
          <a:p>
            <a:r>
              <a:rPr lang="zh-CN" altLang="en-US" dirty="0" smtClean="0">
                <a:sym typeface="Wingdings" panose="05000000000000000000" pitchFamily="2" charset="2"/>
              </a:rPr>
              <a:t>可以利用通路和回路来帮助判定是否同构</a:t>
            </a:r>
            <a:r>
              <a:rPr lang="en-US" altLang="zh-CN" dirty="0" smtClean="0">
                <a:sym typeface="Wingdings" panose="05000000000000000000" pitchFamily="2" charset="2"/>
              </a:rPr>
              <a:t>. </a:t>
            </a:r>
          </a:p>
          <a:p>
            <a:pPr lvl="1">
              <a:lnSpc>
                <a:spcPct val="100000"/>
              </a:lnSpc>
            </a:pPr>
            <a:r>
              <a:rPr lang="zh-CN" altLang="en-US" dirty="0">
                <a:sym typeface="Wingdings" panose="05000000000000000000" pitchFamily="2" charset="2"/>
              </a:rPr>
              <a:t>例如</a:t>
            </a:r>
            <a:r>
              <a:rPr lang="en-US" altLang="zh-CN" dirty="0">
                <a:sym typeface="Wingdings" panose="05000000000000000000" pitchFamily="2" charset="2"/>
              </a:rPr>
              <a:t>, </a:t>
            </a:r>
            <a:r>
              <a:rPr lang="zh-CN" altLang="en-US" dirty="0">
                <a:sym typeface="Wingdings" panose="05000000000000000000" pitchFamily="2" charset="2"/>
              </a:rPr>
              <a:t>利用通路来</a:t>
            </a:r>
            <a:r>
              <a:rPr lang="zh-CN" altLang="en-US" b="1" dirty="0">
                <a:sym typeface="Wingdings" panose="05000000000000000000" pitchFamily="2" charset="2"/>
              </a:rPr>
              <a:t>构造可能的同构映射</a:t>
            </a:r>
            <a:r>
              <a:rPr lang="en-US" altLang="zh-CN" dirty="0">
                <a:sym typeface="Wingdings" panose="05000000000000000000" pitchFamily="2" charset="2"/>
              </a:rPr>
              <a:t>. </a:t>
            </a:r>
          </a:p>
          <a:p>
            <a:pPr lvl="1">
              <a:lnSpc>
                <a:spcPct val="100000"/>
              </a:lnSpc>
            </a:pPr>
            <a:r>
              <a:rPr lang="zh-CN" altLang="en-US" dirty="0">
                <a:sym typeface="Wingdings" panose="05000000000000000000" pitchFamily="2" charset="2"/>
              </a:rPr>
              <a:t>例如</a:t>
            </a:r>
            <a:r>
              <a:rPr lang="en-US" altLang="zh-CN" dirty="0">
                <a:sym typeface="Wingdings" panose="05000000000000000000" pitchFamily="2" charset="2"/>
              </a:rPr>
              <a:t>, </a:t>
            </a:r>
            <a:r>
              <a:rPr lang="zh-CN" altLang="en-US" dirty="0">
                <a:sym typeface="Wingdings" panose="05000000000000000000" pitchFamily="2" charset="2"/>
              </a:rPr>
              <a:t>简单图的一个有用的同构不变量就是</a:t>
            </a:r>
            <a:r>
              <a:rPr lang="zh-CN" altLang="en-US" b="1" dirty="0">
                <a:sym typeface="Wingdings" panose="05000000000000000000" pitchFamily="2" charset="2"/>
              </a:rPr>
              <a:t>长度为</a:t>
            </a:r>
            <a:r>
              <a:rPr lang="en-US" altLang="zh-CN" b="1" dirty="0">
                <a:sym typeface="Wingdings" panose="05000000000000000000" pitchFamily="2" charset="2"/>
              </a:rPr>
              <a:t>k</a:t>
            </a:r>
            <a:r>
              <a:rPr lang="zh-CN" altLang="en-US" b="1" dirty="0">
                <a:sym typeface="Wingdings" panose="05000000000000000000" pitchFamily="2" charset="2"/>
              </a:rPr>
              <a:t>的简单回路</a:t>
            </a:r>
            <a:r>
              <a:rPr lang="zh-CN" altLang="en-US" dirty="0">
                <a:sym typeface="Wingdings" panose="05000000000000000000" pitchFamily="2" charset="2"/>
              </a:rPr>
              <a:t>的存在性</a:t>
            </a:r>
            <a:r>
              <a:rPr lang="en-US" altLang="zh-CN" dirty="0">
                <a:sym typeface="Wingdings" panose="05000000000000000000" pitchFamily="2" charset="2"/>
              </a:rPr>
              <a:t>, </a:t>
            </a:r>
            <a:r>
              <a:rPr lang="zh-CN" altLang="en-US" dirty="0">
                <a:sym typeface="Wingdings" panose="05000000000000000000" pitchFamily="2" charset="2"/>
              </a:rPr>
              <a:t>其中</a:t>
            </a:r>
            <a:r>
              <a:rPr lang="en-US" altLang="zh-CN" dirty="0">
                <a:sym typeface="Wingdings" panose="05000000000000000000" pitchFamily="2" charset="2"/>
              </a:rPr>
              <a:t>k</a:t>
            </a:r>
            <a:r>
              <a:rPr lang="zh-CN" altLang="en-US" dirty="0">
                <a:sym typeface="Wingdings" panose="05000000000000000000" pitchFamily="2" charset="2"/>
              </a:rPr>
              <a:t>是大于</a:t>
            </a:r>
            <a:r>
              <a:rPr lang="en-US" altLang="zh-CN" dirty="0">
                <a:sym typeface="Wingdings" panose="05000000000000000000" pitchFamily="2" charset="2"/>
              </a:rPr>
              <a:t>2</a:t>
            </a:r>
            <a:r>
              <a:rPr lang="zh-CN" altLang="en-US" dirty="0">
                <a:sym typeface="Wingdings" panose="05000000000000000000" pitchFamily="2" charset="2"/>
              </a:rPr>
              <a:t>的正整数</a:t>
            </a:r>
            <a:r>
              <a:rPr lang="en-US" altLang="zh-CN" dirty="0" smtClean="0">
                <a:sym typeface="Wingdings" panose="05000000000000000000" pitchFamily="2" charset="2"/>
              </a:rPr>
              <a:t>. </a:t>
            </a:r>
            <a:r>
              <a:rPr lang="zh-CN" altLang="en-US" dirty="0" smtClean="0">
                <a:sym typeface="Wingdings" panose="05000000000000000000" pitchFamily="2" charset="2"/>
              </a:rPr>
              <a:t>可以</a:t>
            </a:r>
            <a:r>
              <a:rPr lang="zh-CN" altLang="en-US" dirty="0">
                <a:sym typeface="Wingdings" panose="05000000000000000000" pitchFamily="2" charset="2"/>
              </a:rPr>
              <a:t>用来证明两个图是不同构的有用</a:t>
            </a:r>
            <a:r>
              <a:rPr lang="zh-CN" altLang="en-US" dirty="0" smtClean="0">
                <a:sym typeface="Wingdings" panose="05000000000000000000" pitchFamily="2" charset="2"/>
              </a:rPr>
              <a:t>的同构不变量</a:t>
            </a:r>
            <a:r>
              <a:rPr lang="en-US" altLang="zh-CN" dirty="0">
                <a:sym typeface="Wingdings" panose="05000000000000000000" pitchFamily="2" charset="2"/>
              </a:rPr>
              <a:t>.</a:t>
            </a:r>
            <a:endParaRPr lang="en-US" dirty="0"/>
          </a:p>
        </p:txBody>
      </p:sp>
      <p:sp>
        <p:nvSpPr>
          <p:cNvPr id="6" name="日期占位符 5"/>
          <p:cNvSpPr>
            <a:spLocks noGrp="1"/>
          </p:cNvSpPr>
          <p:nvPr>
            <p:ph type="dt" sz="half" idx="10"/>
          </p:nvPr>
        </p:nvSpPr>
        <p:spPr/>
        <p:txBody>
          <a:bodyPr/>
          <a:lstStyle/>
          <a:p>
            <a:fld id="{694D2887-299C-49C5-93CE-833B52A4E708}" type="datetime1">
              <a:rPr lang="zh-CN" altLang="en-US" smtClean="0"/>
              <a:t>2025/4/15</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141</a:t>
            </a:fld>
            <a:endParaRPr lang="zh-CN" altLang="en-US" dirty="0"/>
          </a:p>
        </p:txBody>
      </p:sp>
    </p:spTree>
    <p:extLst>
      <p:ext uri="{BB962C8B-B14F-4D97-AF65-F5344CB8AC3E}">
        <p14:creationId xmlns:p14="http://schemas.microsoft.com/office/powerpoint/2010/main" val="2486647379"/>
      </p:ext>
    </p:extLst>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通路和同构</a:t>
            </a:r>
            <a:endParaRPr lang="en-US" dirty="0">
              <a:solidFill>
                <a:srgbClr val="C00000"/>
              </a:solidFill>
            </a:endParaRPr>
          </a:p>
        </p:txBody>
      </p:sp>
      <p:sp>
        <p:nvSpPr>
          <p:cNvPr id="3" name="Content Placeholder 2"/>
          <p:cNvSpPr>
            <a:spLocks noGrp="1"/>
          </p:cNvSpPr>
          <p:nvPr>
            <p:ph idx="1"/>
          </p:nvPr>
        </p:nvSpPr>
        <p:spPr/>
        <p:txBody>
          <a:bodyPr>
            <a:normAutofit/>
          </a:bodyPr>
          <a:lstStyle/>
          <a:p>
            <a:r>
              <a:rPr lang="zh-CN" altLang="en-US" dirty="0" smtClean="0">
                <a:sym typeface="Wingdings" panose="05000000000000000000" pitchFamily="2" charset="2"/>
              </a:rPr>
              <a:t>例</a:t>
            </a:r>
            <a:r>
              <a:rPr lang="en-US" altLang="zh-CN" dirty="0" smtClean="0">
                <a:sym typeface="Wingdings" panose="05000000000000000000" pitchFamily="2" charset="2"/>
              </a:rPr>
              <a:t>: </a:t>
            </a:r>
            <a:r>
              <a:rPr lang="zh-CN" altLang="en-US" dirty="0" smtClean="0">
                <a:sym typeface="Wingdings" panose="05000000000000000000" pitchFamily="2" charset="2"/>
              </a:rPr>
              <a:t>判定图中</a:t>
            </a:r>
            <a:r>
              <a:rPr lang="en-US" altLang="zh-CN" dirty="0" smtClean="0">
                <a:sym typeface="Wingdings" panose="05000000000000000000" pitchFamily="2" charset="2"/>
              </a:rPr>
              <a:t>G</a:t>
            </a:r>
            <a:r>
              <a:rPr lang="zh-CN" altLang="en-US" dirty="0" smtClean="0">
                <a:sym typeface="Wingdings" panose="05000000000000000000" pitchFamily="2" charset="2"/>
              </a:rPr>
              <a:t>和</a:t>
            </a:r>
            <a:r>
              <a:rPr lang="en-US" altLang="zh-CN" dirty="0" smtClean="0">
                <a:sym typeface="Wingdings" panose="05000000000000000000" pitchFamily="2" charset="2"/>
              </a:rPr>
              <a:t>H</a:t>
            </a:r>
            <a:r>
              <a:rPr lang="zh-CN" altLang="en-US" dirty="0" smtClean="0">
                <a:sym typeface="Wingdings" panose="05000000000000000000" pitchFamily="2" charset="2"/>
              </a:rPr>
              <a:t>是否同构？</a:t>
            </a:r>
            <a:endParaRPr lang="en-US" altLang="zh-CN" dirty="0" smtClean="0">
              <a:sym typeface="Wingdings" panose="05000000000000000000" pitchFamily="2" charset="2"/>
            </a:endParaRPr>
          </a:p>
          <a:p>
            <a:endParaRPr lang="en-US" altLang="zh-CN" dirty="0">
              <a:sym typeface="Wingdings" panose="05000000000000000000" pitchFamily="2" charset="2"/>
            </a:endParaRPr>
          </a:p>
          <a:p>
            <a:endParaRPr lang="en-US" altLang="zh-CN" dirty="0" smtClean="0">
              <a:sym typeface="Wingdings" panose="05000000000000000000" pitchFamily="2" charset="2"/>
            </a:endParaRPr>
          </a:p>
          <a:p>
            <a:endParaRPr lang="en-US" altLang="zh-CN" dirty="0">
              <a:sym typeface="Wingdings" panose="05000000000000000000" pitchFamily="2" charset="2"/>
            </a:endParaRPr>
          </a:p>
          <a:p>
            <a:endParaRPr lang="en-US" altLang="zh-CN" dirty="0" smtClean="0">
              <a:sym typeface="Wingdings" panose="05000000000000000000" pitchFamily="2" charset="2"/>
            </a:endParaRPr>
          </a:p>
          <a:p>
            <a:r>
              <a:rPr lang="zh-CN" altLang="en-US" dirty="0" smtClean="0">
                <a:sym typeface="Wingdings" panose="05000000000000000000" pitchFamily="2" charset="2"/>
              </a:rPr>
              <a:t>解</a:t>
            </a:r>
            <a:r>
              <a:rPr lang="en-US" altLang="zh-CN" dirty="0" smtClean="0">
                <a:sym typeface="Wingdings" panose="05000000000000000000" pitchFamily="2" charset="2"/>
              </a:rPr>
              <a:t>: G</a:t>
            </a:r>
            <a:r>
              <a:rPr lang="zh-CN" altLang="en-US" dirty="0" smtClean="0">
                <a:sym typeface="Wingdings" panose="05000000000000000000" pitchFamily="2" charset="2"/>
              </a:rPr>
              <a:t>和</a:t>
            </a:r>
            <a:r>
              <a:rPr lang="en-US" altLang="zh-CN" dirty="0" smtClean="0">
                <a:sym typeface="Wingdings" panose="05000000000000000000" pitchFamily="2" charset="2"/>
              </a:rPr>
              <a:t>H</a:t>
            </a:r>
            <a:r>
              <a:rPr lang="zh-CN" altLang="en-US" dirty="0" smtClean="0">
                <a:sym typeface="Wingdings" panose="05000000000000000000" pitchFamily="2" charset="2"/>
              </a:rPr>
              <a:t>都是</a:t>
            </a:r>
            <a:r>
              <a:rPr lang="en-US" altLang="zh-CN" dirty="0" smtClean="0">
                <a:sym typeface="Wingdings" panose="05000000000000000000" pitchFamily="2" charset="2"/>
              </a:rPr>
              <a:t>6</a:t>
            </a:r>
            <a:r>
              <a:rPr lang="zh-CN" altLang="en-US" dirty="0" smtClean="0">
                <a:sym typeface="Wingdings" panose="05000000000000000000" pitchFamily="2" charset="2"/>
              </a:rPr>
              <a:t>个顶点</a:t>
            </a:r>
            <a:r>
              <a:rPr lang="en-US" altLang="zh-CN" dirty="0" smtClean="0">
                <a:sym typeface="Wingdings" panose="05000000000000000000" pitchFamily="2" charset="2"/>
              </a:rPr>
              <a:t>, 8</a:t>
            </a:r>
            <a:r>
              <a:rPr lang="zh-CN" altLang="en-US" dirty="0" smtClean="0">
                <a:sym typeface="Wingdings" panose="05000000000000000000" pitchFamily="2" charset="2"/>
              </a:rPr>
              <a:t>条边</a:t>
            </a:r>
            <a:r>
              <a:rPr lang="en-US" altLang="zh-CN" dirty="0" smtClean="0">
                <a:sym typeface="Wingdings" panose="05000000000000000000" pitchFamily="2" charset="2"/>
              </a:rPr>
              <a:t>. </a:t>
            </a:r>
            <a:r>
              <a:rPr lang="zh-CN" altLang="en-US" dirty="0" smtClean="0">
                <a:sym typeface="Wingdings" panose="05000000000000000000" pitchFamily="2" charset="2"/>
              </a:rPr>
              <a:t>各自具有</a:t>
            </a:r>
            <a:r>
              <a:rPr lang="en-US" altLang="zh-CN" dirty="0" smtClean="0">
                <a:sym typeface="Wingdings" panose="05000000000000000000" pitchFamily="2" charset="2"/>
              </a:rPr>
              <a:t>4</a:t>
            </a:r>
            <a:r>
              <a:rPr lang="zh-CN" altLang="en-US" dirty="0" smtClean="0">
                <a:sym typeface="Wingdings" panose="05000000000000000000" pitchFamily="2" charset="2"/>
              </a:rPr>
              <a:t>个度为</a:t>
            </a:r>
            <a:r>
              <a:rPr lang="en-US" altLang="zh-CN" dirty="0" smtClean="0">
                <a:sym typeface="Wingdings" panose="05000000000000000000" pitchFamily="2" charset="2"/>
              </a:rPr>
              <a:t>3, 2</a:t>
            </a:r>
            <a:r>
              <a:rPr lang="zh-CN" altLang="en-US" dirty="0" smtClean="0">
                <a:sym typeface="Wingdings" panose="05000000000000000000" pitchFamily="2" charset="2"/>
              </a:rPr>
              <a:t>个度为</a:t>
            </a:r>
            <a:r>
              <a:rPr lang="en-US" altLang="zh-CN" dirty="0" smtClean="0">
                <a:sym typeface="Wingdings" panose="05000000000000000000" pitchFamily="2" charset="2"/>
              </a:rPr>
              <a:t>2</a:t>
            </a:r>
            <a:r>
              <a:rPr lang="zh-CN" altLang="en-US" dirty="0" smtClean="0">
                <a:sym typeface="Wingdings" panose="05000000000000000000" pitchFamily="2" charset="2"/>
              </a:rPr>
              <a:t>的顶点</a:t>
            </a:r>
            <a:r>
              <a:rPr lang="en-US" altLang="zh-CN" dirty="0" smtClean="0">
                <a:sym typeface="Wingdings" panose="05000000000000000000" pitchFamily="2" charset="2"/>
              </a:rPr>
              <a:t>. </a:t>
            </a:r>
            <a:r>
              <a:rPr lang="zh-CN" altLang="en-US" dirty="0" smtClean="0">
                <a:sym typeface="Wingdings" panose="05000000000000000000" pitchFamily="2" charset="2"/>
              </a:rPr>
              <a:t>但是</a:t>
            </a:r>
            <a:r>
              <a:rPr lang="en-US" altLang="zh-CN" dirty="0" smtClean="0">
                <a:sym typeface="Wingdings" panose="05000000000000000000" pitchFamily="2" charset="2"/>
              </a:rPr>
              <a:t>H</a:t>
            </a:r>
            <a:r>
              <a:rPr lang="zh-CN" altLang="en-US" dirty="0" smtClean="0">
                <a:sym typeface="Wingdings" panose="05000000000000000000" pitchFamily="2" charset="2"/>
              </a:rPr>
              <a:t>有长度为</a:t>
            </a:r>
            <a:r>
              <a:rPr lang="en-US" altLang="zh-CN" dirty="0" smtClean="0">
                <a:sym typeface="Wingdings" panose="05000000000000000000" pitchFamily="2" charset="2"/>
              </a:rPr>
              <a:t>3</a:t>
            </a:r>
            <a:r>
              <a:rPr lang="zh-CN" altLang="en-US" dirty="0" smtClean="0">
                <a:sym typeface="Wingdings" panose="05000000000000000000" pitchFamily="2" charset="2"/>
              </a:rPr>
              <a:t>的简单回路</a:t>
            </a:r>
            <a:r>
              <a:rPr lang="en-US" altLang="zh-CN" dirty="0" smtClean="0">
                <a:sym typeface="Wingdings" panose="05000000000000000000" pitchFamily="2" charset="2"/>
              </a:rPr>
              <a:t>, v1, v2, v6, v1. </a:t>
            </a:r>
            <a:r>
              <a:rPr lang="zh-CN" altLang="en-US" dirty="0" smtClean="0">
                <a:sym typeface="Wingdings" panose="05000000000000000000" pitchFamily="2" charset="2"/>
              </a:rPr>
              <a:t>但是</a:t>
            </a:r>
            <a:r>
              <a:rPr lang="en-US" altLang="zh-CN" dirty="0" smtClean="0">
                <a:sym typeface="Wingdings" panose="05000000000000000000" pitchFamily="2" charset="2"/>
              </a:rPr>
              <a:t>G</a:t>
            </a:r>
            <a:r>
              <a:rPr lang="zh-CN" altLang="en-US" dirty="0" smtClean="0">
                <a:sym typeface="Wingdings" panose="05000000000000000000" pitchFamily="2" charset="2"/>
              </a:rPr>
              <a:t>没有长度为</a:t>
            </a:r>
            <a:r>
              <a:rPr lang="en-US" altLang="zh-CN" dirty="0" smtClean="0">
                <a:sym typeface="Wingdings" panose="05000000000000000000" pitchFamily="2" charset="2"/>
              </a:rPr>
              <a:t>3</a:t>
            </a:r>
            <a:r>
              <a:rPr lang="zh-CN" altLang="en-US" dirty="0" smtClean="0">
                <a:sym typeface="Wingdings" panose="05000000000000000000" pitchFamily="2" charset="2"/>
              </a:rPr>
              <a:t>的简单回路</a:t>
            </a:r>
            <a:r>
              <a:rPr lang="en-US" altLang="zh-CN" dirty="0" smtClean="0">
                <a:sym typeface="Wingdings" panose="05000000000000000000" pitchFamily="2" charset="2"/>
              </a:rPr>
              <a:t>, </a:t>
            </a:r>
            <a:r>
              <a:rPr lang="zh-CN" altLang="en-US" dirty="0" smtClean="0">
                <a:sym typeface="Wingdings" panose="05000000000000000000" pitchFamily="2" charset="2"/>
              </a:rPr>
              <a:t>因为</a:t>
            </a:r>
            <a:r>
              <a:rPr lang="en-US" altLang="zh-CN" dirty="0" smtClean="0">
                <a:sym typeface="Wingdings" panose="05000000000000000000" pitchFamily="2" charset="2"/>
              </a:rPr>
              <a:t>G</a:t>
            </a:r>
            <a:r>
              <a:rPr lang="zh-CN" altLang="en-US" dirty="0" smtClean="0">
                <a:sym typeface="Wingdings" panose="05000000000000000000" pitchFamily="2" charset="2"/>
              </a:rPr>
              <a:t>中所有的简单回路的长度至少为</a:t>
            </a:r>
            <a:r>
              <a:rPr lang="en-US" altLang="zh-CN" dirty="0" smtClean="0">
                <a:sym typeface="Wingdings" panose="05000000000000000000" pitchFamily="2" charset="2"/>
              </a:rPr>
              <a:t>4. </a:t>
            </a:r>
            <a:r>
              <a:rPr lang="zh-CN" altLang="en-US" dirty="0" smtClean="0">
                <a:sym typeface="Wingdings" panose="05000000000000000000" pitchFamily="2" charset="2"/>
              </a:rPr>
              <a:t>所以</a:t>
            </a:r>
            <a:r>
              <a:rPr lang="en-US" altLang="zh-CN" dirty="0" smtClean="0">
                <a:sym typeface="Wingdings" panose="05000000000000000000" pitchFamily="2" charset="2"/>
              </a:rPr>
              <a:t>G</a:t>
            </a:r>
            <a:r>
              <a:rPr lang="zh-CN" altLang="en-US" dirty="0" smtClean="0">
                <a:sym typeface="Wingdings" panose="05000000000000000000" pitchFamily="2" charset="2"/>
              </a:rPr>
              <a:t>和</a:t>
            </a:r>
            <a:r>
              <a:rPr lang="en-US" altLang="zh-CN" dirty="0" smtClean="0">
                <a:sym typeface="Wingdings" panose="05000000000000000000" pitchFamily="2" charset="2"/>
              </a:rPr>
              <a:t>H</a:t>
            </a:r>
            <a:r>
              <a:rPr lang="zh-CN" altLang="en-US" dirty="0" smtClean="0">
                <a:sym typeface="Wingdings" panose="05000000000000000000" pitchFamily="2" charset="2"/>
              </a:rPr>
              <a:t>不是同构的</a:t>
            </a:r>
            <a:r>
              <a:rPr lang="en-US" altLang="zh-CN" dirty="0" smtClean="0">
                <a:sym typeface="Wingdings" panose="05000000000000000000" pitchFamily="2" charset="2"/>
              </a:rPr>
              <a:t>.</a:t>
            </a:r>
            <a:endParaRPr lang="en-US" dirty="0"/>
          </a:p>
        </p:txBody>
      </p:sp>
      <p:sp>
        <p:nvSpPr>
          <p:cNvPr id="6" name="日期占位符 5"/>
          <p:cNvSpPr>
            <a:spLocks noGrp="1"/>
          </p:cNvSpPr>
          <p:nvPr>
            <p:ph type="dt" sz="half" idx="10"/>
          </p:nvPr>
        </p:nvSpPr>
        <p:spPr/>
        <p:txBody>
          <a:bodyPr/>
          <a:lstStyle/>
          <a:p>
            <a:fld id="{35FA1DFE-9D88-474E-86F0-AE83CFF7721B}" type="datetime1">
              <a:rPr lang="zh-CN" altLang="en-US" smtClean="0"/>
              <a:t>2025/4/15</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142</a:t>
            </a:fld>
            <a:endParaRPr lang="zh-CN" altLang="en-US" dirty="0"/>
          </a:p>
        </p:txBody>
      </p:sp>
      <p:pic>
        <p:nvPicPr>
          <p:cNvPr id="4" name="图片 3"/>
          <p:cNvPicPr>
            <a:picLocks noChangeAspect="1"/>
          </p:cNvPicPr>
          <p:nvPr/>
        </p:nvPicPr>
        <p:blipFill>
          <a:blip r:embed="rId2"/>
          <a:stretch>
            <a:fillRect/>
          </a:stretch>
        </p:blipFill>
        <p:spPr>
          <a:xfrm>
            <a:off x="3886200" y="1524000"/>
            <a:ext cx="3810000" cy="2373500"/>
          </a:xfrm>
          <a:prstGeom prst="rect">
            <a:avLst/>
          </a:prstGeom>
        </p:spPr>
      </p:pic>
      <p:sp>
        <p:nvSpPr>
          <p:cNvPr id="9" name="矩形 8"/>
          <p:cNvSpPr/>
          <p:nvPr/>
        </p:nvSpPr>
        <p:spPr>
          <a:xfrm>
            <a:off x="6553200" y="1676400"/>
            <a:ext cx="685800" cy="8382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65303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wipe(down)">
                                      <p:cBhvr>
                                        <p:cTn id="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通路和同构</a:t>
            </a:r>
            <a:endParaRPr lang="en-US" dirty="0">
              <a:solidFill>
                <a:srgbClr val="C00000"/>
              </a:solidFill>
            </a:endParaRPr>
          </a:p>
        </p:txBody>
      </p:sp>
      <p:sp>
        <p:nvSpPr>
          <p:cNvPr id="3" name="Content Placeholder 2"/>
          <p:cNvSpPr>
            <a:spLocks noGrp="1"/>
          </p:cNvSpPr>
          <p:nvPr>
            <p:ph idx="1"/>
          </p:nvPr>
        </p:nvSpPr>
        <p:spPr/>
        <p:txBody>
          <a:bodyPr>
            <a:normAutofit lnSpcReduction="10000"/>
          </a:bodyPr>
          <a:lstStyle/>
          <a:p>
            <a:r>
              <a:rPr lang="zh-CN" altLang="en-US" dirty="0" smtClean="0">
                <a:sym typeface="Wingdings" panose="05000000000000000000" pitchFamily="2" charset="2"/>
              </a:rPr>
              <a:t>例</a:t>
            </a:r>
            <a:r>
              <a:rPr lang="en-US" altLang="zh-CN" dirty="0" smtClean="0">
                <a:sym typeface="Wingdings" panose="05000000000000000000" pitchFamily="2" charset="2"/>
              </a:rPr>
              <a:t>: </a:t>
            </a:r>
            <a:r>
              <a:rPr lang="zh-CN" altLang="en-US" dirty="0" smtClean="0">
                <a:sym typeface="Wingdings" panose="05000000000000000000" pitchFamily="2" charset="2"/>
              </a:rPr>
              <a:t>判定图中</a:t>
            </a:r>
            <a:r>
              <a:rPr lang="en-US" altLang="zh-CN" dirty="0" smtClean="0">
                <a:sym typeface="Wingdings" panose="05000000000000000000" pitchFamily="2" charset="2"/>
              </a:rPr>
              <a:t>G</a:t>
            </a:r>
            <a:r>
              <a:rPr lang="zh-CN" altLang="en-US" dirty="0" smtClean="0">
                <a:sym typeface="Wingdings" panose="05000000000000000000" pitchFamily="2" charset="2"/>
              </a:rPr>
              <a:t>和</a:t>
            </a:r>
            <a:r>
              <a:rPr lang="en-US" altLang="zh-CN" dirty="0" smtClean="0">
                <a:sym typeface="Wingdings" panose="05000000000000000000" pitchFamily="2" charset="2"/>
              </a:rPr>
              <a:t>H</a:t>
            </a:r>
            <a:r>
              <a:rPr lang="zh-CN" altLang="en-US" dirty="0" smtClean="0">
                <a:sym typeface="Wingdings" panose="05000000000000000000" pitchFamily="2" charset="2"/>
              </a:rPr>
              <a:t>是否同构？</a:t>
            </a:r>
            <a:endParaRPr lang="en-US" altLang="zh-CN" dirty="0" smtClean="0">
              <a:sym typeface="Wingdings" panose="05000000000000000000" pitchFamily="2" charset="2"/>
            </a:endParaRPr>
          </a:p>
          <a:p>
            <a:endParaRPr lang="en-US" altLang="zh-CN" dirty="0" smtClean="0">
              <a:sym typeface="Wingdings" panose="05000000000000000000" pitchFamily="2" charset="2"/>
            </a:endParaRPr>
          </a:p>
          <a:p>
            <a:endParaRPr lang="en-US" altLang="zh-CN" dirty="0" smtClean="0">
              <a:sym typeface="Wingdings" panose="05000000000000000000" pitchFamily="2" charset="2"/>
            </a:endParaRPr>
          </a:p>
          <a:p>
            <a:endParaRPr lang="en-US" altLang="zh-CN" dirty="0" smtClean="0">
              <a:sym typeface="Wingdings" panose="05000000000000000000" pitchFamily="2" charset="2"/>
            </a:endParaRPr>
          </a:p>
          <a:p>
            <a:r>
              <a:rPr lang="zh-CN" altLang="en-US" dirty="0" smtClean="0">
                <a:sym typeface="Wingdings" panose="05000000000000000000" pitchFamily="2" charset="2"/>
              </a:rPr>
              <a:t>解</a:t>
            </a:r>
            <a:r>
              <a:rPr lang="en-US" altLang="zh-CN" dirty="0" smtClean="0">
                <a:sym typeface="Wingdings" panose="05000000000000000000" pitchFamily="2" charset="2"/>
              </a:rPr>
              <a:t>: </a:t>
            </a:r>
          </a:p>
          <a:p>
            <a:pPr lvl="1">
              <a:lnSpc>
                <a:spcPct val="100000"/>
              </a:lnSpc>
            </a:pPr>
            <a:r>
              <a:rPr lang="en-US" altLang="zh-CN" dirty="0">
                <a:sym typeface="Wingdings" panose="05000000000000000000" pitchFamily="2" charset="2"/>
              </a:rPr>
              <a:t>G</a:t>
            </a:r>
            <a:r>
              <a:rPr lang="zh-CN" altLang="en-US" dirty="0">
                <a:sym typeface="Wingdings" panose="05000000000000000000" pitchFamily="2" charset="2"/>
              </a:rPr>
              <a:t>和</a:t>
            </a:r>
            <a:r>
              <a:rPr lang="en-US" altLang="zh-CN" dirty="0">
                <a:sym typeface="Wingdings" panose="05000000000000000000" pitchFamily="2" charset="2"/>
              </a:rPr>
              <a:t>H</a:t>
            </a:r>
            <a:r>
              <a:rPr lang="zh-CN" altLang="en-US" dirty="0">
                <a:sym typeface="Wingdings" panose="05000000000000000000" pitchFamily="2" charset="2"/>
              </a:rPr>
              <a:t>都是</a:t>
            </a:r>
            <a:r>
              <a:rPr lang="en-US" altLang="zh-CN" dirty="0">
                <a:sym typeface="Wingdings" panose="05000000000000000000" pitchFamily="2" charset="2"/>
              </a:rPr>
              <a:t>5</a:t>
            </a:r>
            <a:r>
              <a:rPr lang="zh-CN" altLang="en-US" dirty="0">
                <a:sym typeface="Wingdings" panose="05000000000000000000" pitchFamily="2" charset="2"/>
              </a:rPr>
              <a:t>个顶点</a:t>
            </a:r>
            <a:r>
              <a:rPr lang="en-US" altLang="zh-CN" dirty="0" smtClean="0">
                <a:sym typeface="Wingdings" panose="05000000000000000000" pitchFamily="2" charset="2"/>
              </a:rPr>
              <a:t>, 6</a:t>
            </a:r>
            <a:r>
              <a:rPr lang="zh-CN" altLang="en-US" dirty="0">
                <a:sym typeface="Wingdings" panose="05000000000000000000" pitchFamily="2" charset="2"/>
              </a:rPr>
              <a:t>条边</a:t>
            </a:r>
            <a:r>
              <a:rPr lang="en-US" altLang="zh-CN" dirty="0">
                <a:sym typeface="Wingdings" panose="05000000000000000000" pitchFamily="2" charset="2"/>
              </a:rPr>
              <a:t>. </a:t>
            </a:r>
            <a:r>
              <a:rPr lang="zh-CN" altLang="en-US" dirty="0">
                <a:sym typeface="Wingdings" panose="05000000000000000000" pitchFamily="2" charset="2"/>
              </a:rPr>
              <a:t>各自具有</a:t>
            </a:r>
            <a:r>
              <a:rPr lang="en-US" altLang="zh-CN" dirty="0">
                <a:sym typeface="Wingdings" panose="05000000000000000000" pitchFamily="2" charset="2"/>
              </a:rPr>
              <a:t>2</a:t>
            </a:r>
            <a:r>
              <a:rPr lang="zh-CN" altLang="en-US" dirty="0">
                <a:sym typeface="Wingdings" panose="05000000000000000000" pitchFamily="2" charset="2"/>
              </a:rPr>
              <a:t>个度为</a:t>
            </a:r>
            <a:r>
              <a:rPr lang="en-US" altLang="zh-CN" dirty="0">
                <a:sym typeface="Wingdings" panose="05000000000000000000" pitchFamily="2" charset="2"/>
              </a:rPr>
              <a:t>3</a:t>
            </a:r>
            <a:r>
              <a:rPr lang="en-US" altLang="zh-CN" dirty="0" smtClean="0">
                <a:sym typeface="Wingdings" panose="05000000000000000000" pitchFamily="2" charset="2"/>
              </a:rPr>
              <a:t>, 3</a:t>
            </a:r>
            <a:r>
              <a:rPr lang="zh-CN" altLang="en-US" dirty="0">
                <a:sym typeface="Wingdings" panose="05000000000000000000" pitchFamily="2" charset="2"/>
              </a:rPr>
              <a:t>个度为</a:t>
            </a:r>
            <a:r>
              <a:rPr lang="en-US" altLang="zh-CN" dirty="0">
                <a:sym typeface="Wingdings" panose="05000000000000000000" pitchFamily="2" charset="2"/>
              </a:rPr>
              <a:t>2</a:t>
            </a:r>
            <a:r>
              <a:rPr lang="zh-CN" altLang="en-US" dirty="0">
                <a:sym typeface="Wingdings" panose="05000000000000000000" pitchFamily="2" charset="2"/>
              </a:rPr>
              <a:t>的顶点</a:t>
            </a:r>
            <a:r>
              <a:rPr lang="en-US" altLang="zh-CN" dirty="0">
                <a:sym typeface="Wingdings" panose="05000000000000000000" pitchFamily="2" charset="2"/>
              </a:rPr>
              <a:t>. </a:t>
            </a:r>
            <a:r>
              <a:rPr lang="zh-CN" altLang="en-US" dirty="0">
                <a:sym typeface="Wingdings" panose="05000000000000000000" pitchFamily="2" charset="2"/>
              </a:rPr>
              <a:t>都有</a:t>
            </a:r>
            <a:r>
              <a:rPr lang="en-US" altLang="zh-CN" dirty="0">
                <a:sym typeface="Wingdings" panose="05000000000000000000" pitchFamily="2" charset="2"/>
              </a:rPr>
              <a:t>1</a:t>
            </a:r>
            <a:r>
              <a:rPr lang="zh-CN" altLang="en-US" dirty="0">
                <a:sym typeface="Wingdings" panose="05000000000000000000" pitchFamily="2" charset="2"/>
              </a:rPr>
              <a:t>个长度为</a:t>
            </a:r>
            <a:r>
              <a:rPr lang="en-US" altLang="zh-CN" dirty="0">
                <a:sym typeface="Wingdings" panose="05000000000000000000" pitchFamily="2" charset="2"/>
              </a:rPr>
              <a:t>3</a:t>
            </a:r>
            <a:r>
              <a:rPr lang="zh-CN" altLang="en-US" dirty="0">
                <a:sym typeface="Wingdings" panose="05000000000000000000" pitchFamily="2" charset="2"/>
              </a:rPr>
              <a:t>的简单回路</a:t>
            </a:r>
            <a:r>
              <a:rPr lang="en-US" altLang="zh-CN" dirty="0">
                <a:sym typeface="Wingdings" panose="05000000000000000000" pitchFamily="2" charset="2"/>
              </a:rPr>
              <a:t>, 1</a:t>
            </a:r>
            <a:r>
              <a:rPr lang="zh-CN" altLang="en-US" dirty="0">
                <a:sym typeface="Wingdings" panose="05000000000000000000" pitchFamily="2" charset="2"/>
              </a:rPr>
              <a:t>个长度为</a:t>
            </a:r>
            <a:r>
              <a:rPr lang="en-US" altLang="zh-CN" dirty="0">
                <a:sym typeface="Wingdings" panose="05000000000000000000" pitchFamily="2" charset="2"/>
              </a:rPr>
              <a:t>4</a:t>
            </a:r>
            <a:r>
              <a:rPr lang="zh-CN" altLang="en-US" dirty="0">
                <a:sym typeface="Wingdings" panose="05000000000000000000" pitchFamily="2" charset="2"/>
              </a:rPr>
              <a:t>的简单回路</a:t>
            </a:r>
            <a:r>
              <a:rPr lang="en-US" altLang="zh-CN" dirty="0">
                <a:sym typeface="Wingdings" panose="05000000000000000000" pitchFamily="2" charset="2"/>
              </a:rPr>
              <a:t>, 1</a:t>
            </a:r>
            <a:r>
              <a:rPr lang="zh-CN" altLang="en-US" dirty="0">
                <a:sym typeface="Wingdings" panose="05000000000000000000" pitchFamily="2" charset="2"/>
              </a:rPr>
              <a:t>个长度为</a:t>
            </a:r>
            <a:r>
              <a:rPr lang="en-US" altLang="zh-CN" dirty="0">
                <a:sym typeface="Wingdings" panose="05000000000000000000" pitchFamily="2" charset="2"/>
              </a:rPr>
              <a:t>5</a:t>
            </a:r>
            <a:r>
              <a:rPr lang="zh-CN" altLang="en-US" dirty="0">
                <a:sym typeface="Wingdings" panose="05000000000000000000" pitchFamily="2" charset="2"/>
              </a:rPr>
              <a:t>的简单回路</a:t>
            </a:r>
            <a:r>
              <a:rPr lang="en-US" altLang="zh-CN" dirty="0">
                <a:sym typeface="Wingdings" panose="05000000000000000000" pitchFamily="2" charset="2"/>
              </a:rPr>
              <a:t>. </a:t>
            </a:r>
            <a:r>
              <a:rPr lang="zh-CN" altLang="en-US" dirty="0">
                <a:sym typeface="Wingdings" panose="05000000000000000000" pitchFamily="2" charset="2"/>
              </a:rPr>
              <a:t>这些都相同，</a:t>
            </a:r>
            <a:r>
              <a:rPr lang="en-US" altLang="zh-CN" dirty="0">
                <a:sym typeface="Wingdings" panose="05000000000000000000" pitchFamily="2" charset="2"/>
              </a:rPr>
              <a:t>G</a:t>
            </a:r>
            <a:r>
              <a:rPr lang="zh-CN" altLang="en-US" dirty="0">
                <a:sym typeface="Wingdings" panose="05000000000000000000" pitchFamily="2" charset="2"/>
              </a:rPr>
              <a:t>和</a:t>
            </a:r>
            <a:r>
              <a:rPr lang="en-US" altLang="zh-CN" dirty="0">
                <a:sym typeface="Wingdings" panose="05000000000000000000" pitchFamily="2" charset="2"/>
              </a:rPr>
              <a:t>H</a:t>
            </a:r>
            <a:r>
              <a:rPr lang="zh-CN" altLang="en-US" dirty="0">
                <a:sym typeface="Wingdings" panose="05000000000000000000" pitchFamily="2" charset="2"/>
              </a:rPr>
              <a:t>可能是同构的</a:t>
            </a:r>
            <a:r>
              <a:rPr lang="en-US" altLang="zh-CN" dirty="0">
                <a:sym typeface="Wingdings" panose="05000000000000000000" pitchFamily="2" charset="2"/>
              </a:rPr>
              <a:t>.</a:t>
            </a:r>
          </a:p>
          <a:p>
            <a:pPr lvl="1">
              <a:lnSpc>
                <a:spcPct val="100000"/>
              </a:lnSpc>
            </a:pPr>
            <a:r>
              <a:rPr lang="zh-CN" altLang="en-US" dirty="0" smtClean="0">
                <a:sym typeface="Wingdings" panose="05000000000000000000" pitchFamily="2" charset="2"/>
              </a:rPr>
              <a:t>为了求出可能的同构</a:t>
            </a:r>
            <a:r>
              <a:rPr lang="en-US" altLang="zh-CN" dirty="0">
                <a:sym typeface="Wingdings" panose="05000000000000000000" pitchFamily="2" charset="2"/>
              </a:rPr>
              <a:t>, </a:t>
            </a:r>
            <a:r>
              <a:rPr lang="zh-CN" altLang="en-US" dirty="0">
                <a:sym typeface="Wingdings" panose="05000000000000000000" pitchFamily="2" charset="2"/>
              </a:rPr>
              <a:t>沿着经过所有顶点并且使得两个图中对应的顶点的度都相同的通路前进</a:t>
            </a:r>
            <a:r>
              <a:rPr lang="en-US" altLang="zh-CN" dirty="0">
                <a:sym typeface="Wingdings" panose="05000000000000000000" pitchFamily="2" charset="2"/>
              </a:rPr>
              <a:t>. G</a:t>
            </a:r>
            <a:r>
              <a:rPr lang="zh-CN" altLang="en-US" dirty="0">
                <a:sym typeface="Wingdings" panose="05000000000000000000" pitchFamily="2" charset="2"/>
              </a:rPr>
              <a:t>中的通路</a:t>
            </a:r>
            <a:r>
              <a:rPr lang="en-US" altLang="zh-CN" dirty="0" smtClean="0">
                <a:sym typeface="Wingdings" panose="05000000000000000000" pitchFamily="2" charset="2"/>
              </a:rPr>
              <a:t>u1,u4,u3,u2,u5; H</a:t>
            </a:r>
            <a:r>
              <a:rPr lang="zh-CN" altLang="en-US" dirty="0">
                <a:sym typeface="Wingdings" panose="05000000000000000000" pitchFamily="2" charset="2"/>
              </a:rPr>
              <a:t>中的通路</a:t>
            </a:r>
            <a:r>
              <a:rPr lang="en-US" altLang="zh-CN" dirty="0" smtClean="0">
                <a:sym typeface="Wingdings" panose="05000000000000000000" pitchFamily="2" charset="2"/>
              </a:rPr>
              <a:t>v3,v2,v1,v5,v4 </a:t>
            </a:r>
            <a:r>
              <a:rPr lang="zh-CN" altLang="en-US" dirty="0" smtClean="0">
                <a:sym typeface="Wingdings" panose="05000000000000000000" pitchFamily="2" charset="2"/>
              </a:rPr>
              <a:t>都</a:t>
            </a:r>
            <a:r>
              <a:rPr lang="zh-CN" altLang="en-US" dirty="0">
                <a:sym typeface="Wingdings" panose="05000000000000000000" pitchFamily="2" charset="2"/>
              </a:rPr>
              <a:t>经过图中的每个顶点</a:t>
            </a:r>
            <a:r>
              <a:rPr lang="en-US" altLang="zh-CN" dirty="0">
                <a:sym typeface="Wingdings" panose="05000000000000000000" pitchFamily="2" charset="2"/>
              </a:rPr>
              <a:t>, </a:t>
            </a:r>
            <a:r>
              <a:rPr lang="zh-CN" altLang="en-US" dirty="0">
                <a:sym typeface="Wingdings" panose="05000000000000000000" pitchFamily="2" charset="2"/>
              </a:rPr>
              <a:t>都从度为</a:t>
            </a:r>
            <a:r>
              <a:rPr lang="en-US" altLang="zh-CN" dirty="0">
                <a:sym typeface="Wingdings" panose="05000000000000000000" pitchFamily="2" charset="2"/>
              </a:rPr>
              <a:t>3</a:t>
            </a:r>
            <a:r>
              <a:rPr lang="zh-CN" altLang="en-US" dirty="0">
                <a:sym typeface="Wingdings" panose="05000000000000000000" pitchFamily="2" charset="2"/>
              </a:rPr>
              <a:t>的顶点开始</a:t>
            </a:r>
            <a:r>
              <a:rPr lang="en-US" altLang="zh-CN" dirty="0" smtClean="0">
                <a:sym typeface="Wingdings" panose="05000000000000000000" pitchFamily="2" charset="2"/>
              </a:rPr>
              <a:t>, </a:t>
            </a:r>
            <a:r>
              <a:rPr lang="zh-CN" altLang="en-US" dirty="0" smtClean="0">
                <a:sym typeface="Wingdings" panose="05000000000000000000" pitchFamily="2" charset="2"/>
              </a:rPr>
              <a:t>然后</a:t>
            </a:r>
            <a:r>
              <a:rPr lang="zh-CN" altLang="en-US" dirty="0">
                <a:sym typeface="Wingdings" panose="05000000000000000000" pitchFamily="2" charset="2"/>
              </a:rPr>
              <a:t>经过度为</a:t>
            </a:r>
            <a:r>
              <a:rPr lang="en-US" altLang="zh-CN" dirty="0">
                <a:sym typeface="Wingdings" panose="05000000000000000000" pitchFamily="2" charset="2"/>
              </a:rPr>
              <a:t>2</a:t>
            </a:r>
            <a:r>
              <a:rPr lang="zh-CN" altLang="en-US" dirty="0">
                <a:sym typeface="Wingdings" panose="05000000000000000000" pitchFamily="2" charset="2"/>
              </a:rPr>
              <a:t>的顶点</a:t>
            </a:r>
            <a:r>
              <a:rPr lang="en-US" altLang="zh-CN" dirty="0" smtClean="0">
                <a:sym typeface="Wingdings" panose="05000000000000000000" pitchFamily="2" charset="2"/>
              </a:rPr>
              <a:t>, </a:t>
            </a:r>
            <a:r>
              <a:rPr lang="zh-CN" altLang="en-US" dirty="0" smtClean="0">
                <a:sym typeface="Wingdings" panose="05000000000000000000" pitchFamily="2" charset="2"/>
              </a:rPr>
              <a:t>度</a:t>
            </a:r>
            <a:r>
              <a:rPr lang="zh-CN" altLang="en-US" dirty="0">
                <a:sym typeface="Wingdings" panose="05000000000000000000" pitchFamily="2" charset="2"/>
              </a:rPr>
              <a:t>为</a:t>
            </a:r>
            <a:r>
              <a:rPr lang="en-US" altLang="zh-CN" dirty="0">
                <a:sym typeface="Wingdings" panose="05000000000000000000" pitchFamily="2" charset="2"/>
              </a:rPr>
              <a:t>3</a:t>
            </a:r>
            <a:r>
              <a:rPr lang="zh-CN" altLang="en-US" dirty="0">
                <a:sym typeface="Wingdings" panose="05000000000000000000" pitchFamily="2" charset="2"/>
              </a:rPr>
              <a:t>的顶点</a:t>
            </a:r>
            <a:r>
              <a:rPr lang="en-US" altLang="zh-CN" dirty="0" smtClean="0">
                <a:sym typeface="Wingdings" panose="05000000000000000000" pitchFamily="2" charset="2"/>
              </a:rPr>
              <a:t>, </a:t>
            </a:r>
            <a:r>
              <a:rPr lang="zh-CN" altLang="en-US" dirty="0" smtClean="0">
                <a:sym typeface="Wingdings" panose="05000000000000000000" pitchFamily="2" charset="2"/>
              </a:rPr>
              <a:t>度</a:t>
            </a:r>
            <a:r>
              <a:rPr lang="zh-CN" altLang="en-US" dirty="0">
                <a:sym typeface="Wingdings" panose="05000000000000000000" pitchFamily="2" charset="2"/>
              </a:rPr>
              <a:t>为</a:t>
            </a:r>
            <a:r>
              <a:rPr lang="en-US" altLang="zh-CN" dirty="0">
                <a:sym typeface="Wingdings" panose="05000000000000000000" pitchFamily="2" charset="2"/>
              </a:rPr>
              <a:t>2</a:t>
            </a:r>
            <a:r>
              <a:rPr lang="zh-CN" altLang="en-US" dirty="0">
                <a:sym typeface="Wingdings" panose="05000000000000000000" pitchFamily="2" charset="2"/>
              </a:rPr>
              <a:t>的顶点</a:t>
            </a:r>
            <a:r>
              <a:rPr lang="en-US" altLang="zh-CN" dirty="0" smtClean="0">
                <a:sym typeface="Wingdings" panose="05000000000000000000" pitchFamily="2" charset="2"/>
              </a:rPr>
              <a:t>, </a:t>
            </a:r>
            <a:r>
              <a:rPr lang="zh-CN" altLang="en-US" dirty="0" smtClean="0">
                <a:sym typeface="Wingdings" panose="05000000000000000000" pitchFamily="2" charset="2"/>
              </a:rPr>
              <a:t>最后</a:t>
            </a:r>
            <a:r>
              <a:rPr lang="zh-CN" altLang="en-US" dirty="0">
                <a:sym typeface="Wingdings" panose="05000000000000000000" pitchFamily="2" charset="2"/>
              </a:rPr>
              <a:t>在度为</a:t>
            </a:r>
            <a:r>
              <a:rPr lang="en-US" altLang="zh-CN" dirty="0">
                <a:sym typeface="Wingdings" panose="05000000000000000000" pitchFamily="2" charset="2"/>
              </a:rPr>
              <a:t>2</a:t>
            </a:r>
            <a:r>
              <a:rPr lang="zh-CN" altLang="en-US" dirty="0">
                <a:sym typeface="Wingdings" panose="05000000000000000000" pitchFamily="2" charset="2"/>
              </a:rPr>
              <a:t>的顶点结束</a:t>
            </a:r>
            <a:r>
              <a:rPr lang="en-US" altLang="zh-CN" dirty="0" smtClean="0">
                <a:sym typeface="Wingdings" panose="05000000000000000000" pitchFamily="2" charset="2"/>
              </a:rPr>
              <a:t>.</a:t>
            </a:r>
            <a:endParaRPr lang="en-US" altLang="zh-CN" dirty="0"/>
          </a:p>
        </p:txBody>
      </p:sp>
      <p:sp>
        <p:nvSpPr>
          <p:cNvPr id="6" name="日期占位符 5"/>
          <p:cNvSpPr>
            <a:spLocks noGrp="1"/>
          </p:cNvSpPr>
          <p:nvPr>
            <p:ph type="dt" sz="half" idx="10"/>
          </p:nvPr>
        </p:nvSpPr>
        <p:spPr/>
        <p:txBody>
          <a:bodyPr/>
          <a:lstStyle/>
          <a:p>
            <a:fld id="{E5123DBB-C8E7-49EB-9805-DC21AB0167E3}" type="datetime1">
              <a:rPr lang="zh-CN" altLang="en-US" smtClean="0"/>
              <a:t>2025/4/15</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143</a:t>
            </a:fld>
            <a:endParaRPr lang="zh-CN" altLang="en-US" dirty="0"/>
          </a:p>
        </p:txBody>
      </p:sp>
      <p:pic>
        <p:nvPicPr>
          <p:cNvPr id="5" name="图片 4"/>
          <p:cNvPicPr>
            <a:picLocks noChangeAspect="1"/>
          </p:cNvPicPr>
          <p:nvPr/>
        </p:nvPicPr>
        <p:blipFill>
          <a:blip r:embed="rId2"/>
          <a:stretch>
            <a:fillRect/>
          </a:stretch>
        </p:blipFill>
        <p:spPr>
          <a:xfrm>
            <a:off x="3799650" y="1524000"/>
            <a:ext cx="4592700" cy="2057400"/>
          </a:xfrm>
          <a:prstGeom prst="rect">
            <a:avLst/>
          </a:prstGeom>
        </p:spPr>
      </p:pic>
      <p:sp>
        <p:nvSpPr>
          <p:cNvPr id="9" name="矩形 8"/>
          <p:cNvSpPr/>
          <p:nvPr/>
        </p:nvSpPr>
        <p:spPr>
          <a:xfrm>
            <a:off x="4114800" y="2247900"/>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7620000" y="2819400"/>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4876800" y="2819400"/>
            <a:ext cx="304800" cy="304800"/>
          </a:xfrm>
          <a:prstGeom prst="rect">
            <a:avLst/>
          </a:pr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7768981" y="2320033"/>
            <a:ext cx="304800" cy="304800"/>
          </a:xfrm>
          <a:prstGeom prst="rect">
            <a:avLst/>
          </a:pr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5029200" y="2297012"/>
            <a:ext cx="304800" cy="304800"/>
          </a:xfrm>
          <a:prstGeom prst="rect">
            <a:avLst/>
          </a:prstGeom>
          <a:noFill/>
          <a:ln w="254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7314627" y="1763757"/>
            <a:ext cx="304800" cy="304800"/>
          </a:xfrm>
          <a:prstGeom prst="rect">
            <a:avLst/>
          </a:prstGeom>
          <a:noFill/>
          <a:ln w="254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4572000" y="1763757"/>
            <a:ext cx="304800" cy="3048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6854581" y="2312607"/>
            <a:ext cx="304800" cy="3048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4256850" y="2835476"/>
            <a:ext cx="304800" cy="304800"/>
          </a:xfrm>
          <a:prstGeom prst="rect">
            <a:avLst/>
          </a:prstGeom>
          <a:noFill/>
          <a:ln w="254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6985727" y="2844196"/>
            <a:ext cx="304800" cy="304800"/>
          </a:xfrm>
          <a:prstGeom prst="rect">
            <a:avLst/>
          </a:prstGeom>
          <a:noFill/>
          <a:ln w="254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854101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wipe(down)">
                                      <p:cBhvr>
                                        <p:cTn id="7" dur="500"/>
                                        <p:tgtEl>
                                          <p:spTgt spid="3">
                                            <p:txEl>
                                              <p:pRg st="4" end="4"/>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wipe(down)">
                                      <p:cBhvr>
                                        <p:cTn id="10" dur="500"/>
                                        <p:tgtEl>
                                          <p:spTgt spid="3">
                                            <p:txEl>
                                              <p:pRg st="5" end="5"/>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wipe(down)">
                                      <p:cBhvr>
                                        <p:cTn id="13"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通路和同构</a:t>
            </a:r>
            <a:endParaRPr lang="en-US" dirty="0">
              <a:solidFill>
                <a:srgbClr val="C00000"/>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smtClean="0">
                    <a:sym typeface="Wingdings" panose="05000000000000000000" pitchFamily="2" charset="2"/>
                  </a:rPr>
                  <a:t>解</a:t>
                </a:r>
                <a:r>
                  <a:rPr lang="en-US" altLang="zh-CN" dirty="0" smtClean="0">
                    <a:sym typeface="Wingdings" panose="05000000000000000000" pitchFamily="2" charset="2"/>
                  </a:rPr>
                  <a:t>(</a:t>
                </a:r>
                <a:r>
                  <a:rPr lang="zh-CN" altLang="en-US" dirty="0" smtClean="0">
                    <a:sym typeface="Wingdings" panose="05000000000000000000" pitchFamily="2" charset="2"/>
                  </a:rPr>
                  <a:t>续</a:t>
                </a:r>
                <a:r>
                  <a:rPr lang="en-US" altLang="zh-CN" dirty="0" smtClean="0">
                    <a:sym typeface="Wingdings" panose="05000000000000000000" pitchFamily="2" charset="2"/>
                  </a:rPr>
                  <a:t>): </a:t>
                </a:r>
              </a:p>
              <a:p>
                <a:pPr lvl="1">
                  <a:lnSpc>
                    <a:spcPct val="100000"/>
                  </a:lnSpc>
                </a:pPr>
                <a:r>
                  <a:rPr lang="zh-CN" altLang="en-US" dirty="0" smtClean="0">
                    <a:sym typeface="Wingdings" panose="05000000000000000000" pitchFamily="2" charset="2"/>
                  </a:rPr>
                  <a:t>通过</a:t>
                </a:r>
                <a:r>
                  <a:rPr lang="zh-CN" altLang="en-US" dirty="0">
                    <a:sym typeface="Wingdings" panose="05000000000000000000" pitchFamily="2" charset="2"/>
                  </a:rPr>
                  <a:t>在图中沿着这些通路前进</a:t>
                </a:r>
                <a:r>
                  <a:rPr lang="en-US" altLang="zh-CN" dirty="0">
                    <a:sym typeface="Wingdings" panose="05000000000000000000" pitchFamily="2" charset="2"/>
                  </a:rPr>
                  <a:t>, </a:t>
                </a:r>
                <a:r>
                  <a:rPr lang="zh-CN" altLang="en-US" dirty="0" smtClean="0">
                    <a:sym typeface="Wingdings" panose="05000000000000000000" pitchFamily="2" charset="2"/>
                  </a:rPr>
                  <a:t>定义</a:t>
                </a:r>
                <a:r>
                  <a:rPr lang="zh-CN" altLang="en-US" dirty="0">
                    <a:sym typeface="Wingdings" panose="05000000000000000000" pitchFamily="2" charset="2"/>
                  </a:rPr>
                  <a:t>映射</a:t>
                </a:r>
                <a14:m>
                  <m:oMath xmlns:m="http://schemas.openxmlformats.org/officeDocument/2006/math">
                    <m:r>
                      <a:rPr lang="en-US" altLang="zh-CN" i="1">
                        <a:latin typeface="Cambria Math" panose="02040503050406030204" pitchFamily="18" charset="0"/>
                        <a:sym typeface="Wingdings" panose="05000000000000000000" pitchFamily="2" charset="2"/>
                      </a:rPr>
                      <m:t>𝑓</m:t>
                    </m:r>
                    <m:d>
                      <m:dPr>
                        <m:ctrlPr>
                          <a:rPr lang="en-US" altLang="zh-CN" i="1">
                            <a:latin typeface="Cambria Math" panose="02040503050406030204" pitchFamily="18" charset="0"/>
                            <a:sym typeface="Wingdings" panose="05000000000000000000" pitchFamily="2" charset="2"/>
                          </a:rPr>
                        </m:ctrlPr>
                      </m:dPr>
                      <m:e>
                        <m:r>
                          <a:rPr lang="en-US" altLang="zh-CN" i="1">
                            <a:latin typeface="Cambria Math" panose="02040503050406030204" pitchFamily="18" charset="0"/>
                            <a:sym typeface="Wingdings" panose="05000000000000000000" pitchFamily="2" charset="2"/>
                          </a:rPr>
                          <m:t>𝑢</m:t>
                        </m:r>
                        <m:r>
                          <a:rPr lang="en-US" altLang="zh-CN" i="1">
                            <a:latin typeface="Cambria Math" panose="02040503050406030204" pitchFamily="18" charset="0"/>
                            <a:sym typeface="Wingdings" panose="05000000000000000000" pitchFamily="2" charset="2"/>
                          </a:rPr>
                          <m:t>1</m:t>
                        </m:r>
                      </m:e>
                    </m:d>
                    <m:r>
                      <a:rPr lang="en-US" altLang="zh-CN" i="1">
                        <a:latin typeface="Cambria Math" panose="02040503050406030204" pitchFamily="18" charset="0"/>
                        <a:sym typeface="Wingdings" panose="05000000000000000000" pitchFamily="2" charset="2"/>
                      </a:rPr>
                      <m:t>=</m:t>
                    </m:r>
                    <m:r>
                      <a:rPr lang="en-US" altLang="zh-CN" i="1">
                        <a:latin typeface="Cambria Math" panose="02040503050406030204" pitchFamily="18" charset="0"/>
                        <a:sym typeface="Wingdings" panose="05000000000000000000" pitchFamily="2" charset="2"/>
                      </a:rPr>
                      <m:t>𝑣</m:t>
                    </m:r>
                    <m:r>
                      <a:rPr lang="en-US" altLang="zh-CN" i="1">
                        <a:latin typeface="Cambria Math" panose="02040503050406030204" pitchFamily="18" charset="0"/>
                        <a:sym typeface="Wingdings" panose="05000000000000000000" pitchFamily="2" charset="2"/>
                      </a:rPr>
                      <m:t>3</m:t>
                    </m:r>
                  </m:oMath>
                </a14:m>
                <a:r>
                  <a:rPr lang="en-US" altLang="zh-CN" dirty="0"/>
                  <a:t>,</a:t>
                </a:r>
                <a:r>
                  <a:rPr lang="en-US" altLang="zh-CN" dirty="0">
                    <a:sym typeface="Wingdings" panose="05000000000000000000" pitchFamily="2" charset="2"/>
                  </a:rPr>
                  <a:t> </a:t>
                </a:r>
                <a14:m>
                  <m:oMath xmlns:m="http://schemas.openxmlformats.org/officeDocument/2006/math">
                    <m:r>
                      <a:rPr lang="en-US" altLang="zh-CN" i="1">
                        <a:latin typeface="Cambria Math" panose="02040503050406030204" pitchFamily="18" charset="0"/>
                        <a:sym typeface="Wingdings" panose="05000000000000000000" pitchFamily="2" charset="2"/>
                      </a:rPr>
                      <m:t>𝑓</m:t>
                    </m:r>
                    <m:d>
                      <m:dPr>
                        <m:ctrlPr>
                          <a:rPr lang="en-US" altLang="zh-CN" i="1">
                            <a:latin typeface="Cambria Math" panose="02040503050406030204" pitchFamily="18" charset="0"/>
                            <a:sym typeface="Wingdings" panose="05000000000000000000" pitchFamily="2" charset="2"/>
                          </a:rPr>
                        </m:ctrlPr>
                      </m:dPr>
                      <m:e>
                        <m:r>
                          <a:rPr lang="en-US" altLang="zh-CN" i="1">
                            <a:latin typeface="Cambria Math" panose="02040503050406030204" pitchFamily="18" charset="0"/>
                            <a:sym typeface="Wingdings" panose="05000000000000000000" pitchFamily="2" charset="2"/>
                          </a:rPr>
                          <m:t>𝑢</m:t>
                        </m:r>
                        <m:r>
                          <a:rPr lang="en-US" altLang="zh-CN" i="1">
                            <a:latin typeface="Cambria Math" panose="02040503050406030204" pitchFamily="18" charset="0"/>
                            <a:sym typeface="Wingdings" panose="05000000000000000000" pitchFamily="2" charset="2"/>
                          </a:rPr>
                          <m:t>4</m:t>
                        </m:r>
                      </m:e>
                    </m:d>
                    <m:r>
                      <a:rPr lang="en-US" altLang="zh-CN" i="1">
                        <a:latin typeface="Cambria Math" panose="02040503050406030204" pitchFamily="18" charset="0"/>
                        <a:sym typeface="Wingdings" panose="05000000000000000000" pitchFamily="2" charset="2"/>
                      </a:rPr>
                      <m:t>=</m:t>
                    </m:r>
                    <m:r>
                      <a:rPr lang="en-US" altLang="zh-CN" i="1">
                        <a:latin typeface="Cambria Math" panose="02040503050406030204" pitchFamily="18" charset="0"/>
                        <a:sym typeface="Wingdings" panose="05000000000000000000" pitchFamily="2" charset="2"/>
                      </a:rPr>
                      <m:t>𝑣</m:t>
                    </m:r>
                    <m:r>
                      <a:rPr lang="en-US" altLang="zh-CN" i="1">
                        <a:latin typeface="Cambria Math" panose="02040503050406030204" pitchFamily="18" charset="0"/>
                        <a:sym typeface="Wingdings" panose="05000000000000000000" pitchFamily="2" charset="2"/>
                      </a:rPr>
                      <m:t>2</m:t>
                    </m:r>
                  </m:oMath>
                </a14:m>
                <a:r>
                  <a:rPr lang="en-US" altLang="zh-CN" dirty="0"/>
                  <a:t>,</a:t>
                </a:r>
                <a:r>
                  <a:rPr lang="en-US" altLang="zh-CN" dirty="0" smtClean="0"/>
                  <a:t> </a:t>
                </a:r>
                <a14:m>
                  <m:oMath xmlns:m="http://schemas.openxmlformats.org/officeDocument/2006/math">
                    <m:r>
                      <a:rPr lang="en-US" altLang="zh-CN" i="1">
                        <a:latin typeface="Cambria Math" panose="02040503050406030204" pitchFamily="18" charset="0"/>
                        <a:sym typeface="Wingdings" panose="05000000000000000000" pitchFamily="2" charset="2"/>
                      </a:rPr>
                      <m:t>𝑓</m:t>
                    </m:r>
                    <m:d>
                      <m:dPr>
                        <m:ctrlPr>
                          <a:rPr lang="en-US" altLang="zh-CN" i="1">
                            <a:latin typeface="Cambria Math" panose="02040503050406030204" pitchFamily="18" charset="0"/>
                            <a:sym typeface="Wingdings" panose="05000000000000000000" pitchFamily="2" charset="2"/>
                          </a:rPr>
                        </m:ctrlPr>
                      </m:dPr>
                      <m:e>
                        <m:r>
                          <a:rPr lang="en-US" altLang="zh-CN" i="1">
                            <a:latin typeface="Cambria Math" panose="02040503050406030204" pitchFamily="18" charset="0"/>
                            <a:sym typeface="Wingdings" panose="05000000000000000000" pitchFamily="2" charset="2"/>
                          </a:rPr>
                          <m:t>𝑢</m:t>
                        </m:r>
                        <m:r>
                          <a:rPr lang="en-US" altLang="zh-CN" i="1">
                            <a:latin typeface="Cambria Math" panose="02040503050406030204" pitchFamily="18" charset="0"/>
                            <a:sym typeface="Wingdings" panose="05000000000000000000" pitchFamily="2" charset="2"/>
                          </a:rPr>
                          <m:t>3</m:t>
                        </m:r>
                      </m:e>
                    </m:d>
                    <m:r>
                      <a:rPr lang="en-US" altLang="zh-CN" i="1">
                        <a:latin typeface="Cambria Math" panose="02040503050406030204" pitchFamily="18" charset="0"/>
                        <a:sym typeface="Wingdings" panose="05000000000000000000" pitchFamily="2" charset="2"/>
                      </a:rPr>
                      <m:t>=</m:t>
                    </m:r>
                    <m:r>
                      <a:rPr lang="en-US" altLang="zh-CN" i="1">
                        <a:latin typeface="Cambria Math" panose="02040503050406030204" pitchFamily="18" charset="0"/>
                        <a:sym typeface="Wingdings" panose="05000000000000000000" pitchFamily="2" charset="2"/>
                      </a:rPr>
                      <m:t>𝑣</m:t>
                    </m:r>
                    <m:r>
                      <a:rPr lang="en-US" altLang="zh-CN" i="1">
                        <a:latin typeface="Cambria Math" panose="02040503050406030204" pitchFamily="18" charset="0"/>
                        <a:sym typeface="Wingdings" panose="05000000000000000000" pitchFamily="2" charset="2"/>
                      </a:rPr>
                      <m:t>1</m:t>
                    </m:r>
                  </m:oMath>
                </a14:m>
                <a:r>
                  <a:rPr lang="en-US" altLang="zh-CN" dirty="0"/>
                  <a:t>,</a:t>
                </a:r>
                <a:r>
                  <a:rPr lang="en-US" altLang="zh-CN" dirty="0" smtClean="0"/>
                  <a:t> </a:t>
                </a:r>
                <a14:m>
                  <m:oMath xmlns:m="http://schemas.openxmlformats.org/officeDocument/2006/math">
                    <m:r>
                      <a:rPr lang="en-US" altLang="zh-CN" i="1">
                        <a:latin typeface="Cambria Math" panose="02040503050406030204" pitchFamily="18" charset="0"/>
                        <a:sym typeface="Wingdings" panose="05000000000000000000" pitchFamily="2" charset="2"/>
                      </a:rPr>
                      <m:t>𝑓</m:t>
                    </m:r>
                    <m:d>
                      <m:dPr>
                        <m:ctrlPr>
                          <a:rPr lang="en-US" altLang="zh-CN" i="1">
                            <a:latin typeface="Cambria Math" panose="02040503050406030204" pitchFamily="18" charset="0"/>
                            <a:sym typeface="Wingdings" panose="05000000000000000000" pitchFamily="2" charset="2"/>
                          </a:rPr>
                        </m:ctrlPr>
                      </m:dPr>
                      <m:e>
                        <m:r>
                          <a:rPr lang="en-US" altLang="zh-CN" i="1">
                            <a:latin typeface="Cambria Math" panose="02040503050406030204" pitchFamily="18" charset="0"/>
                            <a:sym typeface="Wingdings" panose="05000000000000000000" pitchFamily="2" charset="2"/>
                          </a:rPr>
                          <m:t>𝑢</m:t>
                        </m:r>
                        <m:r>
                          <a:rPr lang="en-US" altLang="zh-CN" i="1">
                            <a:latin typeface="Cambria Math" panose="02040503050406030204" pitchFamily="18" charset="0"/>
                            <a:sym typeface="Wingdings" panose="05000000000000000000" pitchFamily="2" charset="2"/>
                          </a:rPr>
                          <m:t>2</m:t>
                        </m:r>
                      </m:e>
                    </m:d>
                    <m:r>
                      <a:rPr lang="en-US" altLang="zh-CN" i="1">
                        <a:latin typeface="Cambria Math" panose="02040503050406030204" pitchFamily="18" charset="0"/>
                        <a:sym typeface="Wingdings" panose="05000000000000000000" pitchFamily="2" charset="2"/>
                      </a:rPr>
                      <m:t>=</m:t>
                    </m:r>
                    <m:r>
                      <a:rPr lang="en-US" altLang="zh-CN" i="1">
                        <a:latin typeface="Cambria Math" panose="02040503050406030204" pitchFamily="18" charset="0"/>
                        <a:sym typeface="Wingdings" panose="05000000000000000000" pitchFamily="2" charset="2"/>
                      </a:rPr>
                      <m:t>𝑣</m:t>
                    </m:r>
                    <m:r>
                      <a:rPr lang="en-US" altLang="zh-CN" i="1">
                        <a:latin typeface="Cambria Math" panose="02040503050406030204" pitchFamily="18" charset="0"/>
                        <a:sym typeface="Wingdings" panose="05000000000000000000" pitchFamily="2" charset="2"/>
                      </a:rPr>
                      <m:t>5</m:t>
                    </m:r>
                  </m:oMath>
                </a14:m>
                <a:r>
                  <a:rPr lang="en-US" altLang="zh-CN" dirty="0"/>
                  <a:t>,</a:t>
                </a:r>
                <a:r>
                  <a:rPr lang="en-US" altLang="zh-CN" dirty="0" smtClean="0"/>
                  <a:t> </a:t>
                </a:r>
                <a14:m>
                  <m:oMath xmlns:m="http://schemas.openxmlformats.org/officeDocument/2006/math">
                    <m:r>
                      <a:rPr lang="en-US" altLang="zh-CN" i="1">
                        <a:latin typeface="Cambria Math" panose="02040503050406030204" pitchFamily="18" charset="0"/>
                        <a:sym typeface="Wingdings" panose="05000000000000000000" pitchFamily="2" charset="2"/>
                      </a:rPr>
                      <m:t>𝑓</m:t>
                    </m:r>
                    <m:d>
                      <m:dPr>
                        <m:ctrlPr>
                          <a:rPr lang="en-US" altLang="zh-CN" i="1">
                            <a:latin typeface="Cambria Math" panose="02040503050406030204" pitchFamily="18" charset="0"/>
                            <a:sym typeface="Wingdings" panose="05000000000000000000" pitchFamily="2" charset="2"/>
                          </a:rPr>
                        </m:ctrlPr>
                      </m:dPr>
                      <m:e>
                        <m:r>
                          <a:rPr lang="en-US" altLang="zh-CN" i="1">
                            <a:latin typeface="Cambria Math" panose="02040503050406030204" pitchFamily="18" charset="0"/>
                            <a:sym typeface="Wingdings" panose="05000000000000000000" pitchFamily="2" charset="2"/>
                          </a:rPr>
                          <m:t>𝑢</m:t>
                        </m:r>
                        <m:r>
                          <a:rPr lang="en-US" altLang="zh-CN" i="1">
                            <a:latin typeface="Cambria Math" panose="02040503050406030204" pitchFamily="18" charset="0"/>
                            <a:sym typeface="Wingdings" panose="05000000000000000000" pitchFamily="2" charset="2"/>
                          </a:rPr>
                          <m:t>5</m:t>
                        </m:r>
                      </m:e>
                    </m:d>
                    <m:r>
                      <a:rPr lang="en-US" altLang="zh-CN" i="1">
                        <a:latin typeface="Cambria Math" panose="02040503050406030204" pitchFamily="18" charset="0"/>
                        <a:sym typeface="Wingdings" panose="05000000000000000000" pitchFamily="2" charset="2"/>
                      </a:rPr>
                      <m:t>=</m:t>
                    </m:r>
                    <m:r>
                      <a:rPr lang="en-US" altLang="zh-CN" i="1">
                        <a:latin typeface="Cambria Math" panose="02040503050406030204" pitchFamily="18" charset="0"/>
                        <a:sym typeface="Wingdings" panose="05000000000000000000" pitchFamily="2" charset="2"/>
                      </a:rPr>
                      <m:t>𝑣</m:t>
                    </m:r>
                    <m:r>
                      <a:rPr lang="en-US" altLang="zh-CN" i="1">
                        <a:latin typeface="Cambria Math" panose="02040503050406030204" pitchFamily="18" charset="0"/>
                        <a:sym typeface="Wingdings" panose="05000000000000000000" pitchFamily="2" charset="2"/>
                      </a:rPr>
                      <m:t>4.</m:t>
                    </m:r>
                  </m:oMath>
                </a14:m>
                <a:r>
                  <a:rPr lang="zh-CN" altLang="en-US" dirty="0"/>
                  <a:t> 为了查看𝑓是否保持边</a:t>
                </a:r>
                <a:r>
                  <a:rPr lang="en-US" altLang="zh-CN" dirty="0" smtClean="0"/>
                  <a:t>, </a:t>
                </a:r>
                <a:r>
                  <a:rPr lang="zh-CN" altLang="en-US" dirty="0"/>
                  <a:t>就检查</a:t>
                </a:r>
                <a:r>
                  <a:rPr lang="en-US" altLang="zh-CN" dirty="0"/>
                  <a:t>G</a:t>
                </a:r>
                <a:r>
                  <a:rPr lang="zh-CN" altLang="en-US" dirty="0"/>
                  <a:t>的</a:t>
                </a:r>
                <a:r>
                  <a:rPr lang="zh-CN" altLang="en-US" dirty="0" smtClean="0"/>
                  <a:t>邻接矩阵</a:t>
                </a:r>
                <a:r>
                  <a:rPr lang="en-US" altLang="zh-CN" dirty="0" smtClean="0"/>
                  <a:t>(</a:t>
                </a:r>
                <a:r>
                  <a:rPr lang="zh-CN" altLang="en-US" dirty="0" smtClean="0"/>
                  <a:t>顶点顺序为</a:t>
                </a:r>
                <a:r>
                  <a:rPr lang="en-US" altLang="zh-CN" dirty="0">
                    <a:sym typeface="Wingdings" panose="05000000000000000000" pitchFamily="2" charset="2"/>
                  </a:rPr>
                  <a:t>u1,u4,u3,u2,u5</a:t>
                </a:r>
                <a:r>
                  <a:rPr lang="en-US" altLang="zh-CN" dirty="0" smtClean="0"/>
                  <a:t>)</a:t>
                </a:r>
                <a:r>
                  <a:rPr lang="zh-CN" altLang="en-US" dirty="0" smtClean="0"/>
                  <a:t>和</a:t>
                </a:r>
                <a:r>
                  <a:rPr lang="en-US" altLang="zh-CN" dirty="0"/>
                  <a:t>H</a:t>
                </a:r>
                <a:r>
                  <a:rPr lang="zh-CN" altLang="en-US" dirty="0"/>
                  <a:t>的</a:t>
                </a:r>
                <a:r>
                  <a:rPr lang="zh-CN" altLang="en-US" dirty="0" smtClean="0"/>
                  <a:t>邻接矩阵</a:t>
                </a:r>
                <a:r>
                  <a:rPr lang="en-US" altLang="zh-CN" dirty="0" smtClean="0"/>
                  <a:t>(</a:t>
                </a:r>
                <a:r>
                  <a:rPr lang="zh-CN" altLang="en-US" dirty="0" smtClean="0"/>
                  <a:t>顶点顺序为</a:t>
                </a:r>
                <a:r>
                  <a:rPr lang="en-US" altLang="zh-CN" dirty="0" smtClean="0">
                    <a:sym typeface="Wingdings" panose="05000000000000000000" pitchFamily="2" charset="2"/>
                  </a:rPr>
                  <a:t>v3,v2,v1,v5,v4</a:t>
                </a:r>
                <a:r>
                  <a:rPr lang="en-US" altLang="zh-CN" dirty="0" smtClean="0"/>
                  <a:t>). </a:t>
                </a:r>
                <a:r>
                  <a:rPr lang="zh-CN" altLang="en-US" dirty="0"/>
                  <a:t>如下所示</a:t>
                </a:r>
                <a:r>
                  <a:rPr lang="en-US" altLang="zh-CN" dirty="0"/>
                  <a:t>: </a:t>
                </a:r>
                <a:endParaRPr lang="en-US" altLang="zh-CN" dirty="0" smtClean="0"/>
              </a:p>
              <a:p>
                <a:pPr marL="393192" lvl="1" indent="0" algn="ctr">
                  <a:lnSpc>
                    <a:spcPct val="100000"/>
                  </a:lnSpc>
                  <a:buNone/>
                </a:pPr>
                <a:r>
                  <a:rPr lang="en-US" altLang="zh-CN" dirty="0" smtClean="0"/>
                  <a:t>G</a:t>
                </a:r>
                <a:r>
                  <a:rPr lang="en-US" altLang="zh-CN" dirty="0"/>
                  <a:t>=</a:t>
                </a:r>
                <a14:m>
                  <m:oMath xmlns:m="http://schemas.openxmlformats.org/officeDocument/2006/math">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r>
                              <a:rPr lang="en-US" altLang="zh-CN" i="1">
                                <a:latin typeface="Cambria Math" panose="02040503050406030204" pitchFamily="18" charset="0"/>
                              </a:rPr>
                              <m:t>01101</m:t>
                            </m:r>
                          </m:e>
                          <m:e>
                            <m:r>
                              <a:rPr lang="en-US" altLang="zh-CN" i="1">
                                <a:latin typeface="Cambria Math" panose="02040503050406030204" pitchFamily="18" charset="0"/>
                              </a:rPr>
                              <m:t>10100</m:t>
                            </m:r>
                          </m:e>
                          <m:e>
                            <m:r>
                              <a:rPr lang="en-US" altLang="zh-CN" i="1">
                                <a:latin typeface="Cambria Math" panose="02040503050406030204" pitchFamily="18" charset="0"/>
                              </a:rPr>
                              <m:t>11010</m:t>
                            </m:r>
                          </m:e>
                          <m:e>
                            <m:r>
                              <a:rPr lang="en-US" altLang="zh-CN" i="1">
                                <a:latin typeface="Cambria Math" panose="02040503050406030204" pitchFamily="18" charset="0"/>
                              </a:rPr>
                              <m:t>00101</m:t>
                            </m:r>
                          </m:e>
                          <m:e>
                            <m:r>
                              <a:rPr lang="en-US" altLang="zh-CN" i="1">
                                <a:latin typeface="Cambria Math" panose="02040503050406030204" pitchFamily="18" charset="0"/>
                              </a:rPr>
                              <m:t>10010</m:t>
                            </m:r>
                          </m:e>
                        </m:eqArr>
                      </m:e>
                    </m:d>
                  </m:oMath>
                </a14:m>
                <a:r>
                  <a:rPr lang="en-US" altLang="zh-CN" dirty="0" smtClean="0"/>
                  <a:t>                                 H=</a:t>
                </a:r>
                <a14:m>
                  <m:oMath xmlns:m="http://schemas.openxmlformats.org/officeDocument/2006/math">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r>
                              <a:rPr lang="en-US" altLang="zh-CN" i="1">
                                <a:latin typeface="Cambria Math" panose="02040503050406030204" pitchFamily="18" charset="0"/>
                              </a:rPr>
                              <m:t>01101</m:t>
                            </m:r>
                          </m:e>
                          <m:e>
                            <m:r>
                              <a:rPr lang="en-US" altLang="zh-CN" i="1">
                                <a:latin typeface="Cambria Math" panose="02040503050406030204" pitchFamily="18" charset="0"/>
                              </a:rPr>
                              <m:t>10100</m:t>
                            </m:r>
                          </m:e>
                          <m:e>
                            <m:r>
                              <a:rPr lang="en-US" altLang="zh-CN" i="1">
                                <a:latin typeface="Cambria Math" panose="02040503050406030204" pitchFamily="18" charset="0"/>
                              </a:rPr>
                              <m:t>11010</m:t>
                            </m:r>
                          </m:e>
                          <m:e>
                            <m:r>
                              <a:rPr lang="en-US" altLang="zh-CN" i="1">
                                <a:latin typeface="Cambria Math" panose="02040503050406030204" pitchFamily="18" charset="0"/>
                              </a:rPr>
                              <m:t>00101</m:t>
                            </m:r>
                          </m:e>
                          <m:e>
                            <m:r>
                              <a:rPr lang="en-US" altLang="zh-CN" i="1">
                                <a:latin typeface="Cambria Math" panose="02040503050406030204" pitchFamily="18" charset="0"/>
                              </a:rPr>
                              <m:t>10010</m:t>
                            </m:r>
                          </m:e>
                        </m:eqArr>
                      </m:e>
                    </m:d>
                  </m:oMath>
                </a14:m>
                <a:endParaRPr lang="en-US" dirty="0" smtClean="0"/>
              </a:p>
              <a:p>
                <a:pPr lvl="1">
                  <a:lnSpc>
                    <a:spcPct val="100000"/>
                  </a:lnSpc>
                </a:pPr>
                <a:r>
                  <a:rPr lang="zh-CN" altLang="en-US" dirty="0" smtClean="0"/>
                  <a:t>如上所示</a:t>
                </a:r>
                <a:r>
                  <a:rPr lang="en-US" altLang="zh-CN" dirty="0" smtClean="0"/>
                  <a:t>, G</a:t>
                </a:r>
                <a:r>
                  <a:rPr lang="zh-CN" altLang="en-US" dirty="0" smtClean="0"/>
                  <a:t>和</a:t>
                </a:r>
                <a:r>
                  <a:rPr lang="en-US" altLang="zh-CN" dirty="0" smtClean="0"/>
                  <a:t>H</a:t>
                </a:r>
                <a:r>
                  <a:rPr lang="zh-CN" altLang="en-US" dirty="0" smtClean="0"/>
                  <a:t>的邻接矩阵相同说明</a:t>
                </a:r>
                <a14:m>
                  <m:oMath xmlns:m="http://schemas.openxmlformats.org/officeDocument/2006/math">
                    <m:r>
                      <a:rPr lang="en-US" altLang="zh-CN" i="1">
                        <a:latin typeface="Cambria Math" panose="02040503050406030204" pitchFamily="18" charset="0"/>
                        <a:sym typeface="Wingdings" panose="05000000000000000000" pitchFamily="2" charset="2"/>
                      </a:rPr>
                      <m:t>𝑓</m:t>
                    </m:r>
                  </m:oMath>
                </a14:m>
                <a:r>
                  <a:rPr lang="zh-CN" altLang="en-US" dirty="0" smtClean="0"/>
                  <a:t>是一个同构</a:t>
                </a:r>
                <a:r>
                  <a:rPr lang="en-US" altLang="zh-CN" dirty="0" smtClean="0"/>
                  <a:t>. </a:t>
                </a:r>
                <a:r>
                  <a:rPr lang="zh-CN" altLang="en-US" dirty="0" smtClean="0"/>
                  <a:t>所以</a:t>
                </a:r>
                <a:r>
                  <a:rPr lang="en-US" altLang="zh-CN" dirty="0" smtClean="0"/>
                  <a:t>G</a:t>
                </a:r>
                <a:r>
                  <a:rPr lang="zh-CN" altLang="en-US" dirty="0" smtClean="0"/>
                  <a:t>和</a:t>
                </a:r>
                <a:r>
                  <a:rPr lang="en-US" altLang="zh-CN" dirty="0" smtClean="0"/>
                  <a:t>H</a:t>
                </a:r>
                <a:r>
                  <a:rPr lang="zh-CN" altLang="en-US" dirty="0" smtClean="0"/>
                  <a:t>是同构的</a:t>
                </a:r>
                <a:r>
                  <a:rPr lang="en-US" altLang="zh-CN" dirty="0"/>
                  <a:t>.</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310"/>
                </a:stretch>
              </a:blipFill>
            </p:spPr>
            <p:txBody>
              <a:bodyPr/>
              <a:lstStyle/>
              <a:p>
                <a:r>
                  <a:rPr lang="zh-CN" altLang="en-US">
                    <a:noFill/>
                  </a:rPr>
                  <a:t> </a:t>
                </a:r>
              </a:p>
            </p:txBody>
          </p:sp>
        </mc:Fallback>
      </mc:AlternateContent>
      <p:sp>
        <p:nvSpPr>
          <p:cNvPr id="6" name="日期占位符 5"/>
          <p:cNvSpPr>
            <a:spLocks noGrp="1"/>
          </p:cNvSpPr>
          <p:nvPr>
            <p:ph type="dt" sz="half" idx="10"/>
          </p:nvPr>
        </p:nvSpPr>
        <p:spPr/>
        <p:txBody>
          <a:bodyPr/>
          <a:lstStyle/>
          <a:p>
            <a:fld id="{C5944BFD-253B-4C4F-B892-CF33C4852FF4}" type="datetime1">
              <a:rPr lang="zh-CN" altLang="en-US" smtClean="0"/>
              <a:t>2025/4/15</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144</a:t>
            </a:fld>
            <a:endParaRPr lang="zh-CN" altLang="en-US" dirty="0"/>
          </a:p>
        </p:txBody>
      </p:sp>
    </p:spTree>
    <p:extLst>
      <p:ext uri="{BB962C8B-B14F-4D97-AF65-F5344CB8AC3E}">
        <p14:creationId xmlns:p14="http://schemas.microsoft.com/office/powerpoint/2010/main" val="418110103"/>
      </p:ext>
    </p:extLst>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57200" y="2286000"/>
            <a:ext cx="11277599" cy="15240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计算顶点之间的通路</a:t>
            </a:r>
            <a:r>
              <a:rPr lang="zh-CN" altLang="en-US" dirty="0" smtClean="0"/>
              <a:t>数</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a:lnSpc>
                    <a:spcPct val="120000"/>
                  </a:lnSpc>
                </a:pPr>
                <a:r>
                  <a:rPr lang="zh-CN" altLang="en-US" dirty="0" smtClean="0"/>
                  <a:t>在一个图中有时我们不仅需要看两个顶点是否有通路</a:t>
                </a:r>
                <a:r>
                  <a:rPr lang="en-US" altLang="zh-CN" dirty="0" smtClean="0"/>
                  <a:t>, </a:t>
                </a:r>
                <a:r>
                  <a:rPr lang="zh-CN" altLang="en-US" dirty="0" smtClean="0"/>
                  <a:t>还需要确定两个顶点之间的通路数</a:t>
                </a:r>
                <a:r>
                  <a:rPr lang="en-US" altLang="zh-CN" dirty="0" smtClean="0"/>
                  <a:t>. </a:t>
                </a:r>
              </a:p>
              <a:p>
                <a:pPr>
                  <a:lnSpc>
                    <a:spcPct val="120000"/>
                  </a:lnSpc>
                </a:pPr>
                <a:r>
                  <a:rPr lang="zh-CN" altLang="en-US" dirty="0" smtClean="0"/>
                  <a:t>定理</a:t>
                </a:r>
                <a:r>
                  <a:rPr lang="en-US" altLang="zh-CN" dirty="0" smtClean="0"/>
                  <a:t>: </a:t>
                </a:r>
                <a:r>
                  <a:rPr lang="zh-CN" altLang="en-US" dirty="0" smtClean="0"/>
                  <a:t>设</a:t>
                </a:r>
                <a:r>
                  <a:rPr lang="en-US" altLang="zh-CN" dirty="0" smtClean="0"/>
                  <a:t>G</a:t>
                </a:r>
                <a:r>
                  <a:rPr lang="zh-CN" altLang="en-US" dirty="0" smtClean="0"/>
                  <a:t>是一个图</a:t>
                </a:r>
                <a:r>
                  <a:rPr lang="en-US" altLang="zh-CN" dirty="0" smtClean="0"/>
                  <a:t>, </a:t>
                </a:r>
                <a:r>
                  <a:rPr lang="zh-CN" altLang="en-US" dirty="0" smtClean="0"/>
                  <a:t>该图的邻接矩阵</a:t>
                </a:r>
                <a:r>
                  <a:rPr lang="en-US" altLang="zh-CN" dirty="0" smtClean="0"/>
                  <a:t>A</a:t>
                </a:r>
                <a:r>
                  <a:rPr lang="zh-CN" altLang="en-US" dirty="0" smtClean="0"/>
                  <a:t>相对于图中的顶点顺序</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1</m:t>
                        </m:r>
                      </m:sub>
                    </m:sSub>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b="0" i="1" smtClean="0">
                            <a:latin typeface="Cambria Math" panose="02040503050406030204" pitchFamily="18" charset="0"/>
                          </a:rPr>
                          <m:t>2</m:t>
                        </m:r>
                      </m:sub>
                    </m:sSub>
                  </m:oMath>
                </a14:m>
                <a:r>
                  <a:rPr lang="en-US" dirty="0" smtClean="0"/>
                  <a:t>, …,</a:t>
                </a:r>
                <a14:m>
                  <m:oMath xmlns:m="http://schemas.openxmlformats.org/officeDocument/2006/math">
                    <m:r>
                      <a:rPr lang="en-US" altLang="zh-CN" b="0" i="1" smtClean="0">
                        <a:latin typeface="Cambria Math" panose="02040503050406030204" pitchFamily="18" charset="0"/>
                      </a:rPr>
                      <m:t>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b="0" i="1" smtClean="0">
                            <a:latin typeface="Cambria Math" panose="02040503050406030204" pitchFamily="18" charset="0"/>
                          </a:rPr>
                          <m:t>𝑛</m:t>
                        </m:r>
                      </m:sub>
                    </m:sSub>
                  </m:oMath>
                </a14:m>
                <a:r>
                  <a:rPr lang="en-US" dirty="0" smtClean="0"/>
                  <a:t>(</a:t>
                </a:r>
                <a:r>
                  <a:rPr lang="zh-CN" altLang="en-US" dirty="0" smtClean="0"/>
                  <a:t>允许带有无向或有向</a:t>
                </a:r>
                <a:r>
                  <a:rPr lang="en-US" altLang="zh-CN" dirty="0" smtClean="0"/>
                  <a:t>, </a:t>
                </a:r>
                <a:r>
                  <a:rPr lang="zh-CN" altLang="en-US" dirty="0" smtClean="0"/>
                  <a:t>带有多重边和环</a:t>
                </a:r>
                <a:r>
                  <a:rPr lang="en-US" dirty="0" smtClean="0"/>
                  <a:t>). </a:t>
                </a:r>
                <a:r>
                  <a:rPr lang="zh-CN" altLang="en-US" dirty="0" smtClean="0"/>
                  <a:t>从</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b="0" i="1" smtClean="0">
                            <a:latin typeface="Cambria Math" panose="02040503050406030204" pitchFamily="18" charset="0"/>
                          </a:rPr>
                          <m:t>𝑖</m:t>
                        </m:r>
                      </m:sub>
                    </m:sSub>
                  </m:oMath>
                </a14:m>
                <a:r>
                  <a:rPr lang="zh-CN" altLang="en-US" dirty="0" smtClean="0"/>
                  <a:t>到</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b="0" i="1" smtClean="0">
                            <a:latin typeface="Cambria Math" panose="02040503050406030204" pitchFamily="18" charset="0"/>
                          </a:rPr>
                          <m:t>𝑗</m:t>
                        </m:r>
                      </m:sub>
                    </m:sSub>
                  </m:oMath>
                </a14:m>
                <a:r>
                  <a:rPr lang="zh-CN" altLang="en-US" dirty="0" smtClean="0"/>
                  <a:t>的长度为</a:t>
                </a:r>
                <a:r>
                  <a:rPr lang="en-US" altLang="zh-CN" dirty="0" smtClean="0"/>
                  <a:t>r</a:t>
                </a:r>
                <a:r>
                  <a:rPr lang="zh-CN" altLang="en-US" dirty="0" smtClean="0"/>
                  <a:t>的不同通路的数目等于</a:t>
                </a:r>
                <a14:m>
                  <m:oMath xmlns:m="http://schemas.openxmlformats.org/officeDocument/2006/math">
                    <m:sSup>
                      <m:sSupPr>
                        <m:ctrlPr>
                          <a:rPr lang="en-US" altLang="zh-CN" i="1" smtClean="0">
                            <a:latin typeface="Cambria Math" panose="02040503050406030204" pitchFamily="18" charset="0"/>
                          </a:rPr>
                        </m:ctrlPr>
                      </m:sSupPr>
                      <m:e>
                        <m:r>
                          <m:rPr>
                            <m:sty m:val="p"/>
                          </m:rPr>
                          <a:rPr lang="en-US" altLang="zh-CN" i="1">
                            <a:latin typeface="Cambria Math" panose="02040503050406030204" pitchFamily="18" charset="0"/>
                          </a:rPr>
                          <m:t>A</m:t>
                        </m:r>
                      </m:e>
                      <m:sup>
                        <m:r>
                          <a:rPr lang="en-US" altLang="zh-CN" b="0" i="1" smtClean="0">
                            <a:latin typeface="Cambria Math" panose="02040503050406030204" pitchFamily="18" charset="0"/>
                          </a:rPr>
                          <m:t>𝑟</m:t>
                        </m:r>
                      </m:sup>
                    </m:sSup>
                  </m:oMath>
                </a14:m>
                <a:r>
                  <a:rPr lang="en-US" dirty="0" smtClean="0"/>
                  <a:t> </a:t>
                </a:r>
                <a:r>
                  <a:rPr lang="zh-CN" altLang="en-US" dirty="0" smtClean="0"/>
                  <a:t>的第</a:t>
                </a:r>
                <a:r>
                  <a:rPr lang="en-US" dirty="0" smtClean="0"/>
                  <a:t>(</a:t>
                </a:r>
                <a14:m>
                  <m:oMath xmlns:m="http://schemas.openxmlformats.org/officeDocument/2006/math">
                    <m:r>
                      <a:rPr lang="en-US" altLang="zh-CN" i="1">
                        <a:latin typeface="Cambria Math" panose="02040503050406030204" pitchFamily="18" charset="0"/>
                      </a:rPr>
                      <m:t>𝑖</m:t>
                    </m:r>
                  </m:oMath>
                </a14:m>
                <a:r>
                  <a:rPr lang="en-US" dirty="0" smtClean="0"/>
                  <a:t>, </a:t>
                </a:r>
                <a14:m>
                  <m:oMath xmlns:m="http://schemas.openxmlformats.org/officeDocument/2006/math">
                    <m:r>
                      <a:rPr lang="en-US" altLang="zh-CN" i="1">
                        <a:latin typeface="Cambria Math" panose="02040503050406030204" pitchFamily="18" charset="0"/>
                      </a:rPr>
                      <m:t>𝑗</m:t>
                    </m:r>
                  </m:oMath>
                </a14:m>
                <a:r>
                  <a:rPr lang="en-US" dirty="0" smtClean="0"/>
                  <a:t>)</a:t>
                </a:r>
                <a:r>
                  <a:rPr lang="zh-CN" altLang="en-US" dirty="0" smtClean="0"/>
                  <a:t>项</a:t>
                </a:r>
                <a:r>
                  <a:rPr lang="en-US" altLang="zh-CN" dirty="0" smtClean="0"/>
                  <a:t>, </a:t>
                </a:r>
                <a:r>
                  <a:rPr lang="zh-CN" altLang="en-US" dirty="0" smtClean="0"/>
                  <a:t>其中</a:t>
                </a:r>
                <a14:m>
                  <m:oMath xmlns:m="http://schemas.openxmlformats.org/officeDocument/2006/math">
                    <m:r>
                      <a:rPr lang="en-US" altLang="zh-CN" i="1">
                        <a:latin typeface="Cambria Math" panose="02040503050406030204" pitchFamily="18" charset="0"/>
                      </a:rPr>
                      <m:t>𝑟</m:t>
                    </m:r>
                  </m:oMath>
                </a14:m>
                <a:r>
                  <a:rPr lang="zh-CN" altLang="en-US" dirty="0" smtClean="0"/>
                  <a:t>为正整数</a:t>
                </a:r>
                <a:r>
                  <a:rPr lang="en-US" dirty="0" smtClean="0"/>
                  <a:t>.</a:t>
                </a:r>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99" t="-476" r="-1387"/>
                </a:stretch>
              </a:blipFill>
            </p:spPr>
            <p:txBody>
              <a:bodyPr/>
              <a:lstStyle/>
              <a:p>
                <a:r>
                  <a:rPr lang="zh-CN" altLang="en-US">
                    <a:noFill/>
                  </a:rPr>
                  <a:t> </a:t>
                </a:r>
              </a:p>
            </p:txBody>
          </p:sp>
        </mc:Fallback>
      </mc:AlternateContent>
      <p:sp>
        <p:nvSpPr>
          <p:cNvPr id="7" name="日期占位符 6"/>
          <p:cNvSpPr>
            <a:spLocks noGrp="1"/>
          </p:cNvSpPr>
          <p:nvPr>
            <p:ph type="dt" sz="half" idx="10"/>
          </p:nvPr>
        </p:nvSpPr>
        <p:spPr/>
        <p:txBody>
          <a:bodyPr/>
          <a:lstStyle/>
          <a:p>
            <a:fld id="{14EA1C2D-785F-455F-9688-01D51AC3B507}"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145</a:t>
            </a:fld>
            <a:endParaRPr lang="zh-CN" altLang="en-US" dirty="0"/>
          </a:p>
        </p:txBody>
      </p:sp>
    </p:spTree>
    <p:extLst>
      <p:ext uri="{BB962C8B-B14F-4D97-AF65-F5344CB8AC3E}">
        <p14:creationId xmlns:p14="http://schemas.microsoft.com/office/powerpoint/2010/main" val="2342489063"/>
      </p:ext>
    </p:extLst>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57200" y="2286000"/>
            <a:ext cx="11277599" cy="15240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计算顶点之间的通路</a:t>
            </a:r>
            <a:r>
              <a:rPr lang="zh-CN" altLang="en-US" dirty="0" smtClean="0"/>
              <a:t>数</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zh-CN" altLang="en-US" b="1" dirty="0" smtClean="0"/>
              <a:t>证明：</a:t>
            </a:r>
            <a:r>
              <a:rPr lang="zh-CN" altLang="en-US" dirty="0" smtClean="0"/>
              <a:t>采用数学归纳法证明。设</a:t>
            </a:r>
            <a:r>
              <a:rPr lang="en-US" altLang="zh-CN" dirty="0" smtClean="0"/>
              <a:t>G</a:t>
            </a:r>
            <a:r>
              <a:rPr lang="zh-CN" altLang="en-US" dirty="0" smtClean="0"/>
              <a:t>是带有邻接矩阵</a:t>
            </a:r>
            <a:r>
              <a:rPr lang="en-US" altLang="zh-CN" dirty="0" smtClean="0"/>
              <a:t>A</a:t>
            </a:r>
            <a:r>
              <a:rPr lang="zh-CN" altLang="en-US" dirty="0" smtClean="0"/>
              <a:t>的图（假设</a:t>
            </a:r>
            <a:r>
              <a:rPr lang="en-US" altLang="zh-CN" dirty="0" smtClean="0"/>
              <a:t>G</a:t>
            </a:r>
            <a:r>
              <a:rPr lang="zh-CN" altLang="en-US" dirty="0" smtClean="0"/>
              <a:t>的顶点顺序为</a:t>
            </a:r>
            <a:r>
              <a:rPr lang="en-US" altLang="zh-CN" dirty="0" smtClean="0"/>
              <a:t>v</a:t>
            </a:r>
            <a:r>
              <a:rPr lang="en-US" altLang="zh-CN" baseline="-25000" dirty="0"/>
              <a:t>1</a:t>
            </a:r>
            <a:r>
              <a:rPr lang="en-US" altLang="zh-CN" dirty="0" smtClean="0"/>
              <a:t>,v</a:t>
            </a:r>
            <a:r>
              <a:rPr lang="en-US" altLang="zh-CN" baseline="-25000" dirty="0"/>
              <a:t>2</a:t>
            </a:r>
            <a:r>
              <a:rPr lang="en-US" altLang="zh-CN" dirty="0" smtClean="0"/>
              <a:t>,…,</a:t>
            </a:r>
            <a:r>
              <a:rPr lang="en-US" altLang="zh-CN" dirty="0" err="1" smtClean="0"/>
              <a:t>v</a:t>
            </a:r>
            <a:r>
              <a:rPr lang="en-US" altLang="zh-CN" baseline="-25000" dirty="0" err="1"/>
              <a:t>n</a:t>
            </a:r>
            <a:r>
              <a:rPr lang="zh-CN" altLang="en-US" dirty="0" smtClean="0"/>
              <a:t>）。从</a:t>
            </a:r>
            <a:r>
              <a:rPr lang="en-US" altLang="zh-CN" dirty="0" smtClean="0"/>
              <a:t>v</a:t>
            </a:r>
            <a:r>
              <a:rPr lang="en-US" altLang="zh-CN" baseline="-25000" dirty="0"/>
              <a:t>i</a:t>
            </a:r>
            <a:r>
              <a:rPr lang="zh-CN" altLang="en-US" dirty="0" smtClean="0"/>
              <a:t>到</a:t>
            </a:r>
            <a:r>
              <a:rPr lang="en-US" altLang="zh-CN" dirty="0" err="1" smtClean="0"/>
              <a:t>v</a:t>
            </a:r>
            <a:r>
              <a:rPr lang="en-US" altLang="zh-CN" baseline="-25000" dirty="0" err="1"/>
              <a:t>j</a:t>
            </a:r>
            <a:r>
              <a:rPr lang="zh-CN" altLang="en-US" dirty="0" smtClean="0"/>
              <a:t>长度为</a:t>
            </a:r>
            <a:r>
              <a:rPr lang="en-US" altLang="zh-CN" dirty="0" smtClean="0"/>
              <a:t>1</a:t>
            </a:r>
            <a:r>
              <a:rPr lang="zh-CN" altLang="en-US" dirty="0" smtClean="0"/>
              <a:t>的通路数是</a:t>
            </a:r>
            <a:r>
              <a:rPr lang="en-US" altLang="zh-CN" dirty="0" smtClean="0"/>
              <a:t>A</a:t>
            </a:r>
            <a:r>
              <a:rPr lang="zh-CN" altLang="en-US" dirty="0" smtClean="0"/>
              <a:t>的第（</a:t>
            </a:r>
            <a:r>
              <a:rPr lang="en-US" altLang="zh-CN" dirty="0" err="1" smtClean="0"/>
              <a:t>i,j</a:t>
            </a:r>
            <a:r>
              <a:rPr lang="zh-CN" altLang="en-US" dirty="0" smtClean="0"/>
              <a:t>）项，因为该项是从</a:t>
            </a:r>
            <a:r>
              <a:rPr lang="en-US" altLang="zh-CN" dirty="0" smtClean="0"/>
              <a:t>v</a:t>
            </a:r>
            <a:r>
              <a:rPr lang="en-US" altLang="zh-CN" baseline="-25000" dirty="0"/>
              <a:t>i</a:t>
            </a:r>
            <a:r>
              <a:rPr lang="zh-CN" altLang="en-US" dirty="0" smtClean="0"/>
              <a:t>到</a:t>
            </a:r>
            <a:r>
              <a:rPr lang="en-US" altLang="zh-CN" dirty="0" err="1" smtClean="0"/>
              <a:t>v</a:t>
            </a:r>
            <a:r>
              <a:rPr lang="en-US" altLang="zh-CN" baseline="-25000" dirty="0" err="1"/>
              <a:t>j</a:t>
            </a:r>
            <a:r>
              <a:rPr lang="zh-CN" altLang="en-US" dirty="0" smtClean="0"/>
              <a:t>的边数。</a:t>
            </a:r>
            <a:endParaRPr lang="en-US" altLang="zh-CN" dirty="0" smtClean="0"/>
          </a:p>
          <a:p>
            <a:pPr marL="0" indent="0">
              <a:buNone/>
            </a:pPr>
            <a:r>
              <a:rPr lang="en-US" dirty="0"/>
              <a:t> </a:t>
            </a:r>
            <a:r>
              <a:rPr lang="en-US" dirty="0" smtClean="0"/>
              <a:t>   </a:t>
            </a:r>
            <a:r>
              <a:rPr lang="zh-CN" altLang="en-US" dirty="0" smtClean="0"/>
              <a:t>假设</a:t>
            </a:r>
            <a:r>
              <a:rPr lang="en-US" altLang="zh-CN" dirty="0" err="1" smtClean="0"/>
              <a:t>A</a:t>
            </a:r>
            <a:r>
              <a:rPr lang="en-US" altLang="zh-CN" baseline="30000" dirty="0" err="1"/>
              <a:t>r</a:t>
            </a:r>
            <a:r>
              <a:rPr lang="zh-CN" altLang="en-US" dirty="0" smtClean="0"/>
              <a:t>的第（</a:t>
            </a:r>
            <a:r>
              <a:rPr lang="en-US" altLang="zh-CN" dirty="0" err="1" smtClean="0"/>
              <a:t>i,j</a:t>
            </a:r>
            <a:r>
              <a:rPr lang="zh-CN" altLang="en-US" dirty="0" smtClean="0"/>
              <a:t>）项是从</a:t>
            </a:r>
            <a:r>
              <a:rPr lang="en-US" altLang="zh-CN" dirty="0" smtClean="0"/>
              <a:t>v</a:t>
            </a:r>
            <a:r>
              <a:rPr lang="en-US" altLang="zh-CN" baseline="-25000" dirty="0"/>
              <a:t>i</a:t>
            </a:r>
            <a:r>
              <a:rPr lang="zh-CN" altLang="en-US" dirty="0" smtClean="0"/>
              <a:t>到</a:t>
            </a:r>
            <a:r>
              <a:rPr lang="en-US" altLang="zh-CN" dirty="0" err="1" smtClean="0"/>
              <a:t>v</a:t>
            </a:r>
            <a:r>
              <a:rPr lang="en-US" altLang="zh-CN" baseline="-25000" dirty="0" err="1"/>
              <a:t>j</a:t>
            </a:r>
            <a:r>
              <a:rPr lang="zh-CN" altLang="en-US" dirty="0" smtClean="0"/>
              <a:t>长度为</a:t>
            </a:r>
            <a:r>
              <a:rPr lang="en-US" altLang="zh-CN" dirty="0" smtClean="0"/>
              <a:t>r</a:t>
            </a:r>
            <a:r>
              <a:rPr lang="zh-CN" altLang="en-US" dirty="0" smtClean="0"/>
              <a:t>的不同通路的个数。这是归纳假设，因为</a:t>
            </a:r>
            <a:r>
              <a:rPr lang="en-US" altLang="zh-CN" dirty="0" smtClean="0"/>
              <a:t>A</a:t>
            </a:r>
            <a:r>
              <a:rPr lang="en-US" altLang="zh-CN" baseline="30000" dirty="0" smtClean="0"/>
              <a:t>r+1</a:t>
            </a:r>
            <a:r>
              <a:rPr lang="en-US" altLang="zh-CN" dirty="0" smtClean="0"/>
              <a:t>=</a:t>
            </a:r>
            <a:r>
              <a:rPr lang="en-US" altLang="zh-CN" dirty="0" err="1" smtClean="0"/>
              <a:t>A</a:t>
            </a:r>
            <a:r>
              <a:rPr lang="en-US" altLang="zh-CN" baseline="30000" dirty="0" err="1"/>
              <a:t>r</a:t>
            </a:r>
            <a:r>
              <a:rPr lang="en-US" altLang="zh-CN" dirty="0" err="1" smtClean="0"/>
              <a:t>A</a:t>
            </a:r>
            <a:r>
              <a:rPr lang="en-US" altLang="zh-CN" dirty="0" smtClean="0"/>
              <a:t>, </a:t>
            </a:r>
            <a:r>
              <a:rPr lang="zh-CN" altLang="en-US" dirty="0" smtClean="0"/>
              <a:t>所以</a:t>
            </a:r>
            <a:r>
              <a:rPr lang="en-US" altLang="zh-CN" dirty="0" smtClean="0"/>
              <a:t>A</a:t>
            </a:r>
            <a:r>
              <a:rPr lang="en-US" altLang="zh-CN" baseline="30000" dirty="0"/>
              <a:t>r+1</a:t>
            </a:r>
            <a:r>
              <a:rPr lang="zh-CN" altLang="en-US" dirty="0" smtClean="0"/>
              <a:t>的第（</a:t>
            </a:r>
            <a:r>
              <a:rPr lang="en-US" altLang="zh-CN" dirty="0" err="1" smtClean="0"/>
              <a:t>i,j</a:t>
            </a:r>
            <a:r>
              <a:rPr lang="zh-CN" altLang="en-US" dirty="0" smtClean="0"/>
              <a:t>）项等于</a:t>
            </a:r>
            <a:endParaRPr lang="en-US" altLang="zh-CN" dirty="0" smtClean="0"/>
          </a:p>
          <a:p>
            <a:pPr marL="0" indent="0">
              <a:buNone/>
            </a:pPr>
            <a:r>
              <a:rPr lang="en-US" dirty="0"/>
              <a:t> </a:t>
            </a:r>
            <a:r>
              <a:rPr lang="en-US" dirty="0" smtClean="0"/>
              <a:t>     </a:t>
            </a:r>
            <a:r>
              <a:rPr lang="en-US" altLang="zh-CN" dirty="0" smtClean="0"/>
              <a:t>b</a:t>
            </a:r>
            <a:r>
              <a:rPr lang="en-US" altLang="zh-CN" baseline="-25000" dirty="0" smtClean="0"/>
              <a:t>i1</a:t>
            </a:r>
            <a:r>
              <a:rPr lang="en-US" altLang="zh-CN" dirty="0" smtClean="0"/>
              <a:t>a</a:t>
            </a:r>
            <a:r>
              <a:rPr lang="en-US" altLang="zh-CN" baseline="-25000" dirty="0"/>
              <a:t>1j</a:t>
            </a:r>
            <a:r>
              <a:rPr lang="en-US" altLang="zh-CN" dirty="0" smtClean="0"/>
              <a:t>+b</a:t>
            </a:r>
            <a:r>
              <a:rPr lang="en-US" altLang="zh-CN" baseline="-25000" dirty="0"/>
              <a:t>i2</a:t>
            </a:r>
            <a:r>
              <a:rPr lang="en-US" altLang="zh-CN" dirty="0" smtClean="0"/>
              <a:t>a</a:t>
            </a:r>
            <a:r>
              <a:rPr lang="en-US" altLang="zh-CN" baseline="-25000" dirty="0"/>
              <a:t>2j</a:t>
            </a:r>
            <a:r>
              <a:rPr lang="en-US" altLang="zh-CN" dirty="0" smtClean="0"/>
              <a:t>+…+</a:t>
            </a:r>
            <a:r>
              <a:rPr lang="en-US" altLang="zh-CN" dirty="0" err="1" smtClean="0"/>
              <a:t>b</a:t>
            </a:r>
            <a:r>
              <a:rPr lang="en-US" altLang="zh-CN" baseline="-25000" dirty="0" err="1"/>
              <a:t>in</a:t>
            </a:r>
            <a:r>
              <a:rPr lang="en-US" altLang="zh-CN" dirty="0" err="1" smtClean="0"/>
              <a:t>a</a:t>
            </a:r>
            <a:r>
              <a:rPr lang="en-US" altLang="zh-CN" baseline="-25000" dirty="0" err="1"/>
              <a:t>nj</a:t>
            </a:r>
            <a:r>
              <a:rPr lang="en-US" altLang="zh-CN" dirty="0" smtClean="0"/>
              <a:t>, </a:t>
            </a:r>
            <a:r>
              <a:rPr lang="zh-CN" altLang="en-US" dirty="0" smtClean="0"/>
              <a:t>期中</a:t>
            </a:r>
            <a:r>
              <a:rPr lang="en-US" altLang="zh-CN" dirty="0" err="1" smtClean="0"/>
              <a:t>b</a:t>
            </a:r>
            <a:r>
              <a:rPr lang="en-US" altLang="zh-CN" baseline="-25000" dirty="0" err="1"/>
              <a:t>ik</a:t>
            </a:r>
            <a:r>
              <a:rPr lang="en-US" altLang="zh-CN" dirty="0" smtClean="0"/>
              <a:t> </a:t>
            </a:r>
            <a:r>
              <a:rPr lang="zh-CN" altLang="en-US" dirty="0" smtClean="0"/>
              <a:t>是</a:t>
            </a:r>
            <a:r>
              <a:rPr lang="en-US" altLang="zh-CN" dirty="0" err="1" smtClean="0"/>
              <a:t>A</a:t>
            </a:r>
            <a:r>
              <a:rPr lang="en-US" altLang="zh-CN" baseline="30000" dirty="0" err="1"/>
              <a:t>r</a:t>
            </a:r>
            <a:r>
              <a:rPr lang="zh-CN" altLang="en-US" dirty="0" smtClean="0"/>
              <a:t>的第</a:t>
            </a:r>
            <a:r>
              <a:rPr lang="zh-CN" altLang="en-US" dirty="0"/>
              <a:t>（</a:t>
            </a:r>
            <a:r>
              <a:rPr lang="en-US" altLang="zh-CN" dirty="0" err="1" smtClean="0"/>
              <a:t>i,k</a:t>
            </a:r>
            <a:r>
              <a:rPr lang="zh-CN" altLang="en-US" dirty="0" smtClean="0"/>
              <a:t>）项。根据归纳假设，</a:t>
            </a:r>
            <a:r>
              <a:rPr lang="en-US" altLang="zh-CN" dirty="0" err="1" smtClean="0"/>
              <a:t>b</a:t>
            </a:r>
            <a:r>
              <a:rPr lang="en-US" altLang="zh-CN" baseline="-25000" dirty="0" err="1"/>
              <a:t>ik</a:t>
            </a:r>
            <a:r>
              <a:rPr lang="zh-CN" altLang="en-US" dirty="0" smtClean="0"/>
              <a:t>是从</a:t>
            </a:r>
            <a:r>
              <a:rPr lang="en-US" altLang="zh-CN" dirty="0" smtClean="0"/>
              <a:t>v</a:t>
            </a:r>
            <a:r>
              <a:rPr lang="en-US" altLang="zh-CN" baseline="-25000" dirty="0"/>
              <a:t>i</a:t>
            </a:r>
            <a:r>
              <a:rPr lang="zh-CN" altLang="en-US" dirty="0" smtClean="0"/>
              <a:t>到</a:t>
            </a:r>
            <a:r>
              <a:rPr lang="en-US" altLang="zh-CN" dirty="0" err="1" smtClean="0"/>
              <a:t>v</a:t>
            </a:r>
            <a:r>
              <a:rPr lang="en-US" altLang="zh-CN" baseline="-25000" dirty="0" err="1"/>
              <a:t>k</a:t>
            </a:r>
            <a:r>
              <a:rPr lang="zh-CN" altLang="en-US" dirty="0" smtClean="0"/>
              <a:t>长度为</a:t>
            </a:r>
            <a:r>
              <a:rPr lang="en-US" altLang="zh-CN" dirty="0" smtClean="0"/>
              <a:t>r</a:t>
            </a:r>
            <a:r>
              <a:rPr lang="zh-CN" altLang="en-US" dirty="0" smtClean="0"/>
              <a:t>的通路数。</a:t>
            </a:r>
            <a:endParaRPr lang="en-US" altLang="zh-CN" dirty="0" smtClean="0"/>
          </a:p>
          <a:p>
            <a:pPr marL="0" indent="0">
              <a:buNone/>
            </a:pPr>
            <a:r>
              <a:rPr lang="en-US" dirty="0"/>
              <a:t> </a:t>
            </a:r>
            <a:r>
              <a:rPr lang="en-US" dirty="0" smtClean="0"/>
              <a:t>   </a:t>
            </a:r>
            <a:r>
              <a:rPr lang="zh-CN" altLang="en-US" dirty="0" smtClean="0"/>
              <a:t>从</a:t>
            </a:r>
            <a:r>
              <a:rPr lang="en-US" altLang="zh-CN" dirty="0" smtClean="0"/>
              <a:t>v</a:t>
            </a:r>
            <a:r>
              <a:rPr lang="en-US" altLang="zh-CN" baseline="-25000" dirty="0"/>
              <a:t>i</a:t>
            </a:r>
            <a:r>
              <a:rPr lang="zh-CN" altLang="en-US" dirty="0" smtClean="0"/>
              <a:t>到</a:t>
            </a:r>
            <a:r>
              <a:rPr lang="en-US" altLang="zh-CN" dirty="0" err="1" smtClean="0"/>
              <a:t>v</a:t>
            </a:r>
            <a:r>
              <a:rPr lang="en-US" altLang="zh-CN" baseline="-25000" dirty="0" err="1"/>
              <a:t>j</a:t>
            </a:r>
            <a:r>
              <a:rPr lang="zh-CN" altLang="en-US" dirty="0" smtClean="0"/>
              <a:t>长度为</a:t>
            </a:r>
            <a:r>
              <a:rPr lang="en-US" altLang="zh-CN" dirty="0" smtClean="0"/>
              <a:t>r+1</a:t>
            </a:r>
            <a:r>
              <a:rPr lang="zh-CN" altLang="en-US" dirty="0" smtClean="0"/>
              <a:t>的通路，包括</a:t>
            </a:r>
            <a:r>
              <a:rPr lang="en-US" altLang="zh-CN" dirty="0" smtClean="0"/>
              <a:t>v</a:t>
            </a:r>
            <a:r>
              <a:rPr lang="en-US" altLang="zh-CN" baseline="-25000" dirty="0"/>
              <a:t>i</a:t>
            </a:r>
            <a:r>
              <a:rPr lang="zh-CN" altLang="en-US" dirty="0" smtClean="0"/>
              <a:t>到某个中间顶点</a:t>
            </a:r>
            <a:r>
              <a:rPr lang="en-US" altLang="zh-CN" dirty="0" err="1" smtClean="0"/>
              <a:t>v</a:t>
            </a:r>
            <a:r>
              <a:rPr lang="en-US" altLang="zh-CN" baseline="-25000" dirty="0" err="1"/>
              <a:t>k</a:t>
            </a:r>
            <a:r>
              <a:rPr lang="zh-CN" altLang="en-US" dirty="0" smtClean="0"/>
              <a:t>长度为</a:t>
            </a:r>
            <a:r>
              <a:rPr lang="en-US" altLang="zh-CN" dirty="0" smtClean="0"/>
              <a:t>r</a:t>
            </a:r>
            <a:r>
              <a:rPr lang="zh-CN" altLang="en-US" dirty="0" smtClean="0"/>
              <a:t>的通路以及从</a:t>
            </a:r>
            <a:r>
              <a:rPr lang="en-US" altLang="zh-CN" dirty="0" err="1" smtClean="0"/>
              <a:t>v</a:t>
            </a:r>
            <a:r>
              <a:rPr lang="en-US" altLang="zh-CN" baseline="-25000" dirty="0" err="1"/>
              <a:t>k</a:t>
            </a:r>
            <a:r>
              <a:rPr lang="zh-CN" altLang="en-US" dirty="0" smtClean="0"/>
              <a:t>到</a:t>
            </a:r>
            <a:r>
              <a:rPr lang="en-US" altLang="zh-CN" dirty="0" err="1" smtClean="0"/>
              <a:t>v</a:t>
            </a:r>
            <a:r>
              <a:rPr lang="en-US" altLang="zh-CN" baseline="-25000" dirty="0" err="1"/>
              <a:t>j</a:t>
            </a:r>
            <a:r>
              <a:rPr lang="zh-CN" altLang="en-US" dirty="0" smtClean="0"/>
              <a:t>的边。根据计数的乘积法则，这样的通路个数是从</a:t>
            </a:r>
            <a:r>
              <a:rPr lang="en-US" altLang="zh-CN" dirty="0" smtClean="0"/>
              <a:t>v</a:t>
            </a:r>
            <a:r>
              <a:rPr lang="en-US" altLang="zh-CN" baseline="-25000" dirty="0"/>
              <a:t>i</a:t>
            </a:r>
            <a:r>
              <a:rPr lang="zh-CN" altLang="en-US" dirty="0" smtClean="0"/>
              <a:t>到</a:t>
            </a:r>
            <a:r>
              <a:rPr lang="en-US" altLang="zh-CN" dirty="0" err="1" smtClean="0"/>
              <a:t>v</a:t>
            </a:r>
            <a:r>
              <a:rPr lang="en-US" altLang="zh-CN" baseline="-25000" dirty="0" err="1"/>
              <a:t>k</a:t>
            </a:r>
            <a:r>
              <a:rPr lang="zh-CN" altLang="en-US" dirty="0" smtClean="0"/>
              <a:t>长度为</a:t>
            </a:r>
            <a:r>
              <a:rPr lang="en-US" altLang="zh-CN" dirty="0" smtClean="0"/>
              <a:t>r</a:t>
            </a:r>
            <a:r>
              <a:rPr lang="zh-CN" altLang="en-US" dirty="0" smtClean="0"/>
              <a:t>的通路数（即</a:t>
            </a:r>
            <a:r>
              <a:rPr lang="en-US" altLang="zh-CN" dirty="0" err="1" smtClean="0"/>
              <a:t>b</a:t>
            </a:r>
            <a:r>
              <a:rPr lang="en-US" altLang="zh-CN" baseline="-25000" dirty="0" err="1"/>
              <a:t>ik</a:t>
            </a:r>
            <a:r>
              <a:rPr lang="zh-CN" altLang="en-US" dirty="0" smtClean="0"/>
              <a:t>）与从</a:t>
            </a:r>
            <a:r>
              <a:rPr lang="en-US" altLang="zh-CN" dirty="0" err="1" smtClean="0"/>
              <a:t>v</a:t>
            </a:r>
            <a:r>
              <a:rPr lang="en-US" altLang="zh-CN" baseline="-25000" dirty="0" err="1"/>
              <a:t>k</a:t>
            </a:r>
            <a:r>
              <a:rPr lang="zh-CN" altLang="en-US" dirty="0" smtClean="0"/>
              <a:t>到</a:t>
            </a:r>
            <a:r>
              <a:rPr lang="en-US" altLang="zh-CN" dirty="0" err="1" smtClean="0"/>
              <a:t>v</a:t>
            </a:r>
            <a:r>
              <a:rPr lang="en-US" altLang="zh-CN" baseline="-25000" dirty="0" err="1"/>
              <a:t>j</a:t>
            </a:r>
            <a:r>
              <a:rPr lang="zh-CN" altLang="en-US" dirty="0" smtClean="0"/>
              <a:t>的边数（即</a:t>
            </a:r>
            <a:r>
              <a:rPr lang="en-US" altLang="zh-CN" dirty="0" err="1" smtClean="0"/>
              <a:t>a</a:t>
            </a:r>
            <a:r>
              <a:rPr lang="en-US" altLang="zh-CN" baseline="-25000" dirty="0" err="1"/>
              <a:t>kj</a:t>
            </a:r>
            <a:r>
              <a:rPr lang="zh-CN" altLang="en-US" dirty="0" smtClean="0"/>
              <a:t>）积。当对所有可能得中间顶点</a:t>
            </a:r>
            <a:r>
              <a:rPr lang="en-US" altLang="zh-CN" dirty="0" err="1" smtClean="0"/>
              <a:t>v</a:t>
            </a:r>
            <a:r>
              <a:rPr lang="en-US" altLang="zh-CN" baseline="-25000" dirty="0" err="1"/>
              <a:t>k</a:t>
            </a:r>
            <a:r>
              <a:rPr lang="zh-CN" altLang="en-US" dirty="0" smtClean="0"/>
              <a:t>求这些乘积和时，根据求和法则，就可以得出所需要的结果。</a:t>
            </a:r>
            <a:endParaRPr lang="en-US" dirty="0"/>
          </a:p>
        </p:txBody>
      </p:sp>
      <p:sp>
        <p:nvSpPr>
          <p:cNvPr id="7" name="日期占位符 6"/>
          <p:cNvSpPr>
            <a:spLocks noGrp="1"/>
          </p:cNvSpPr>
          <p:nvPr>
            <p:ph type="dt" sz="half" idx="10"/>
          </p:nvPr>
        </p:nvSpPr>
        <p:spPr/>
        <p:txBody>
          <a:bodyPr/>
          <a:lstStyle/>
          <a:p>
            <a:fld id="{14EA1C2D-785F-455F-9688-01D51AC3B507}"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146</a:t>
            </a:fld>
            <a:endParaRPr lang="zh-CN" altLang="en-US" dirty="0"/>
          </a:p>
        </p:txBody>
      </p:sp>
    </p:spTree>
    <p:extLst>
      <p:ext uri="{BB962C8B-B14F-4D97-AF65-F5344CB8AC3E}">
        <p14:creationId xmlns:p14="http://schemas.microsoft.com/office/powerpoint/2010/main" val="965089465"/>
      </p:ext>
    </p:extLst>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计算顶点之间的通路</a:t>
            </a:r>
            <a:r>
              <a:rPr lang="zh-CN" altLang="en-US" dirty="0" smtClean="0"/>
              <a:t>数</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a:lnSpc>
                    <a:spcPct val="120000"/>
                  </a:lnSpc>
                </a:pPr>
                <a:r>
                  <a:rPr lang="zh-CN" altLang="en-US" dirty="0" smtClean="0"/>
                  <a:t>例</a:t>
                </a:r>
                <a:r>
                  <a:rPr lang="en-US" altLang="zh-CN" dirty="0" smtClean="0"/>
                  <a:t>: </a:t>
                </a:r>
                <a:r>
                  <a:rPr lang="zh-CN" altLang="en-US" dirty="0" smtClean="0"/>
                  <a:t>下图</a:t>
                </a:r>
                <a:r>
                  <a:rPr lang="en-US" altLang="zh-CN" dirty="0" smtClean="0"/>
                  <a:t>G</a:t>
                </a:r>
                <a:r>
                  <a:rPr lang="zh-CN" altLang="en-US" dirty="0" smtClean="0"/>
                  <a:t>中</a:t>
                </a:r>
                <a:r>
                  <a:rPr lang="en-US" altLang="zh-CN" dirty="0" smtClean="0"/>
                  <a:t>, </a:t>
                </a:r>
                <a:r>
                  <a:rPr lang="zh-CN" altLang="en-US" dirty="0" smtClean="0"/>
                  <a:t>从</a:t>
                </a:r>
                <a:r>
                  <a:rPr lang="en-US" altLang="zh-CN" dirty="0" smtClean="0"/>
                  <a:t>a</a:t>
                </a:r>
                <a:r>
                  <a:rPr lang="zh-CN" altLang="en-US" dirty="0" smtClean="0"/>
                  <a:t>到</a:t>
                </a:r>
                <a:r>
                  <a:rPr lang="en-US" altLang="zh-CN" dirty="0" smtClean="0"/>
                  <a:t>d</a:t>
                </a:r>
                <a:r>
                  <a:rPr lang="zh-CN" altLang="en-US" dirty="0" smtClean="0"/>
                  <a:t>长度为</a:t>
                </a:r>
                <a:r>
                  <a:rPr lang="en-US" altLang="zh-CN" dirty="0" smtClean="0"/>
                  <a:t>4</a:t>
                </a:r>
                <a:r>
                  <a:rPr lang="zh-CN" altLang="en-US" dirty="0" smtClean="0"/>
                  <a:t>的通路有多少条？</a:t>
                </a:r>
                <a:endParaRPr lang="en-US" altLang="zh-CN" dirty="0" smtClean="0"/>
              </a:p>
              <a:p>
                <a:pPr>
                  <a:lnSpc>
                    <a:spcPct val="120000"/>
                  </a:lnSpc>
                </a:pPr>
                <a:endParaRPr lang="en-US" altLang="zh-CN" dirty="0"/>
              </a:p>
              <a:p>
                <a:pPr>
                  <a:lnSpc>
                    <a:spcPct val="120000"/>
                  </a:lnSpc>
                </a:pPr>
                <a:endParaRPr lang="en-US" altLang="zh-CN" dirty="0" smtClean="0"/>
              </a:p>
              <a:p>
                <a:pPr>
                  <a:lnSpc>
                    <a:spcPct val="120000"/>
                  </a:lnSpc>
                </a:pPr>
                <a:r>
                  <a:rPr lang="zh-CN" altLang="en-US" dirty="0" smtClean="0"/>
                  <a:t>解</a:t>
                </a:r>
                <a:r>
                  <a:rPr lang="en-US" altLang="zh-CN" dirty="0" smtClean="0"/>
                  <a:t>: </a:t>
                </a:r>
                <a:r>
                  <a:rPr lang="zh-CN" altLang="en-US" dirty="0" smtClean="0"/>
                  <a:t>图</a:t>
                </a:r>
                <a:r>
                  <a:rPr lang="en-US" altLang="zh-CN" dirty="0" smtClean="0"/>
                  <a:t>G</a:t>
                </a:r>
                <a:r>
                  <a:rPr lang="zh-CN" altLang="en-US" dirty="0" smtClean="0"/>
                  <a:t>的邻接矩阵</a:t>
                </a:r>
                <a:r>
                  <a:rPr lang="en-US" altLang="zh-CN" dirty="0" smtClean="0"/>
                  <a:t>(</a:t>
                </a:r>
                <a:r>
                  <a:rPr lang="zh-CN" altLang="en-US" dirty="0" smtClean="0"/>
                  <a:t>顶点顺序为</a:t>
                </a:r>
                <a:r>
                  <a:rPr lang="en-US" altLang="zh-CN" dirty="0" smtClean="0"/>
                  <a:t>a, b, c, d)</a:t>
                </a:r>
                <a:r>
                  <a:rPr lang="zh-CN" altLang="en-US" dirty="0" smtClean="0"/>
                  <a:t>为</a:t>
                </a:r>
                <a:endParaRPr lang="en-US" altLang="zh-CN" dirty="0"/>
              </a:p>
              <a:p>
                <a:pPr>
                  <a:lnSpc>
                    <a:spcPct val="120000"/>
                  </a:lnSpc>
                </a:pPr>
                <a:endParaRPr lang="en-US" dirty="0" smtClean="0"/>
              </a:p>
              <a:p>
                <a:pPr>
                  <a:lnSpc>
                    <a:spcPct val="120000"/>
                  </a:lnSpc>
                </a:pPr>
                <a:endParaRPr lang="en-US" dirty="0"/>
              </a:p>
              <a:p>
                <a:pPr marL="0" indent="0">
                  <a:lnSpc>
                    <a:spcPct val="120000"/>
                  </a:lnSpc>
                  <a:buNone/>
                </a:pPr>
                <a:r>
                  <a:rPr lang="zh-CN" altLang="en-US" dirty="0" smtClean="0"/>
                  <a:t>         因此从</a:t>
                </a:r>
                <a:r>
                  <a:rPr lang="en-US" altLang="zh-CN" dirty="0" smtClean="0"/>
                  <a:t>a</a:t>
                </a:r>
                <a:r>
                  <a:rPr lang="zh-CN" altLang="en-US" dirty="0" smtClean="0"/>
                  <a:t>到</a:t>
                </a:r>
                <a:r>
                  <a:rPr lang="en-US" altLang="zh-CN" dirty="0" smtClean="0"/>
                  <a:t>d</a:t>
                </a:r>
                <a:r>
                  <a:rPr lang="zh-CN" altLang="en-US" dirty="0" smtClean="0"/>
                  <a:t>长度为</a:t>
                </a:r>
                <a:r>
                  <a:rPr lang="en-US" altLang="zh-CN" dirty="0" smtClean="0"/>
                  <a:t>4</a:t>
                </a:r>
                <a:r>
                  <a:rPr lang="zh-CN" altLang="en-US" dirty="0" smtClean="0"/>
                  <a:t>的通路数是</a:t>
                </a:r>
                <a14:m>
                  <m:oMath xmlns:m="http://schemas.openxmlformats.org/officeDocument/2006/math">
                    <m:sSup>
                      <m:sSupPr>
                        <m:ctrlPr>
                          <a:rPr lang="en-US" altLang="zh-CN" i="1">
                            <a:latin typeface="Cambria Math" panose="02040503050406030204" pitchFamily="18" charset="0"/>
                          </a:rPr>
                        </m:ctrlPr>
                      </m:sSupPr>
                      <m:e>
                        <m:r>
                          <m:rPr>
                            <m:sty m:val="p"/>
                          </m:rPr>
                          <a:rPr lang="en-US" altLang="zh-CN" i="1">
                            <a:latin typeface="Cambria Math" panose="02040503050406030204" pitchFamily="18" charset="0"/>
                          </a:rPr>
                          <m:t>A</m:t>
                        </m:r>
                      </m:e>
                      <m:sup>
                        <m:r>
                          <a:rPr lang="en-US" altLang="zh-CN" b="0" i="1" smtClean="0">
                            <a:latin typeface="Cambria Math" panose="02040503050406030204" pitchFamily="18" charset="0"/>
                          </a:rPr>
                          <m:t>4</m:t>
                        </m:r>
                      </m:sup>
                    </m:sSup>
                  </m:oMath>
                </a14:m>
                <a:r>
                  <a:rPr lang="zh-CN" altLang="en-US" dirty="0" smtClean="0"/>
                  <a:t>的第</a:t>
                </a:r>
                <a:r>
                  <a:rPr lang="en-US" altLang="zh-CN" dirty="0" smtClean="0"/>
                  <a:t>(1, 4)</a:t>
                </a:r>
                <a:r>
                  <a:rPr lang="zh-CN" altLang="en-US" dirty="0" smtClean="0"/>
                  <a:t>项</a:t>
                </a:r>
                <a:r>
                  <a:rPr lang="en-US" altLang="zh-CN" dirty="0" smtClean="0"/>
                  <a:t>. </a:t>
                </a:r>
                <a14:m>
                  <m:oMath xmlns:m="http://schemas.openxmlformats.org/officeDocument/2006/math">
                    <m:sSup>
                      <m:sSupPr>
                        <m:ctrlPr>
                          <a:rPr lang="en-US" altLang="zh-CN" i="1">
                            <a:latin typeface="Cambria Math" panose="02040503050406030204" pitchFamily="18" charset="0"/>
                          </a:rPr>
                        </m:ctrlPr>
                      </m:sSupPr>
                      <m:e>
                        <m:r>
                          <m:rPr>
                            <m:sty m:val="p"/>
                          </m:rPr>
                          <a:rPr lang="en-US" altLang="zh-CN" i="1">
                            <a:latin typeface="Cambria Math" panose="02040503050406030204" pitchFamily="18" charset="0"/>
                          </a:rPr>
                          <m:t>A</m:t>
                        </m:r>
                      </m:e>
                      <m:sup>
                        <m:r>
                          <a:rPr lang="en-US" altLang="zh-CN" i="1">
                            <a:latin typeface="Cambria Math" panose="02040503050406030204" pitchFamily="18" charset="0"/>
                          </a:rPr>
                          <m:t>4</m:t>
                        </m:r>
                      </m:sup>
                    </m:sSup>
                  </m:oMath>
                </a14:m>
                <a:r>
                  <a:rPr lang="zh-CN" altLang="en-US" dirty="0" smtClean="0"/>
                  <a:t>为</a:t>
                </a:r>
                <a:endParaRPr lang="en-US" dirty="0" smtClean="0"/>
              </a:p>
              <a:p>
                <a:pPr lvl="1"/>
                <a:endParaRPr lang="en-US" dirty="0" smtClean="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999" t="-476"/>
                </a:stretch>
              </a:blipFill>
            </p:spPr>
            <p:txBody>
              <a:bodyPr/>
              <a:lstStyle/>
              <a:p>
                <a:r>
                  <a:rPr lang="zh-CN" altLang="en-US">
                    <a:noFill/>
                  </a:rPr>
                  <a:t> </a:t>
                </a:r>
              </a:p>
            </p:txBody>
          </p:sp>
        </mc:Fallback>
      </mc:AlternateContent>
      <p:sp>
        <p:nvSpPr>
          <p:cNvPr id="7" name="日期占位符 6"/>
          <p:cNvSpPr>
            <a:spLocks noGrp="1"/>
          </p:cNvSpPr>
          <p:nvPr>
            <p:ph type="dt" sz="half" idx="10"/>
          </p:nvPr>
        </p:nvSpPr>
        <p:spPr/>
        <p:txBody>
          <a:bodyPr/>
          <a:lstStyle/>
          <a:p>
            <a:fld id="{112003D2-874C-410D-98B5-66D33C913883}"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147</a:t>
            </a:fld>
            <a:endParaRPr lang="zh-CN" altLang="en-US" dirty="0"/>
          </a:p>
        </p:txBody>
      </p:sp>
      <p:pic>
        <p:nvPicPr>
          <p:cNvPr id="10" name="Picture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429000" y="1600200"/>
            <a:ext cx="1015652" cy="1364931"/>
          </a:xfrm>
          <a:prstGeom prst="rect">
            <a:avLst/>
          </a:prstGeom>
        </p:spPr>
      </p:pic>
      <p:sp>
        <p:nvSpPr>
          <p:cNvPr id="11" name="TextBox 6"/>
          <p:cNvSpPr txBox="1"/>
          <p:nvPr/>
        </p:nvSpPr>
        <p:spPr>
          <a:xfrm>
            <a:off x="3758852" y="2691046"/>
            <a:ext cx="685800" cy="369332"/>
          </a:xfrm>
          <a:prstGeom prst="rect">
            <a:avLst/>
          </a:prstGeom>
          <a:noFill/>
        </p:spPr>
        <p:txBody>
          <a:bodyPr wrap="square" rtlCol="0">
            <a:spAutoFit/>
          </a:bodyPr>
          <a:lstStyle/>
          <a:p>
            <a:r>
              <a:rPr lang="en-US" i="1" dirty="0"/>
              <a:t>G</a:t>
            </a:r>
          </a:p>
        </p:txBody>
      </p:sp>
      <p:pic>
        <p:nvPicPr>
          <p:cNvPr id="12" name="Picture 5"/>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3429000" y="4055977"/>
            <a:ext cx="1270159" cy="911543"/>
          </a:xfrm>
          <a:prstGeom prst="rect">
            <a:avLst/>
          </a:prstGeom>
        </p:spPr>
      </p:pic>
      <p:sp>
        <p:nvSpPr>
          <p:cNvPr id="13" name="TextBox 12"/>
          <p:cNvSpPr txBox="1"/>
          <p:nvPr/>
        </p:nvSpPr>
        <p:spPr>
          <a:xfrm>
            <a:off x="2521888" y="4327082"/>
            <a:ext cx="685800" cy="369332"/>
          </a:xfrm>
          <a:prstGeom prst="rect">
            <a:avLst/>
          </a:prstGeom>
          <a:noFill/>
        </p:spPr>
        <p:txBody>
          <a:bodyPr wrap="square" rtlCol="0">
            <a:spAutoFit/>
          </a:bodyPr>
          <a:lstStyle/>
          <a:p>
            <a:r>
              <a:rPr lang="en-US" i="1" dirty="0"/>
              <a:t>A </a:t>
            </a:r>
            <a:r>
              <a:rPr lang="en-US" dirty="0"/>
              <a:t>=</a:t>
            </a:r>
          </a:p>
        </p:txBody>
      </p:sp>
    </p:spTree>
    <p:extLst>
      <p:ext uri="{BB962C8B-B14F-4D97-AF65-F5344CB8AC3E}">
        <p14:creationId xmlns:p14="http://schemas.microsoft.com/office/powerpoint/2010/main" val="2472426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wipe(down)">
                                      <p:cBhvr>
                                        <p:cTn id="7" dur="500"/>
                                        <p:tgtEl>
                                          <p:spTgt spid="3">
                                            <p:txEl>
                                              <p:pRg st="3" end="3"/>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wipe(down)">
                                      <p:cBhvr>
                                        <p:cTn id="10" dur="500"/>
                                        <p:tgtEl>
                                          <p:spTgt spid="3">
                                            <p:txEl>
                                              <p:pRg st="6" end="6"/>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13">
                                            <p:txEl>
                                              <p:pRg st="0" end="0"/>
                                            </p:txEl>
                                          </p:spTgt>
                                        </p:tgtEl>
                                        <p:attrNameLst>
                                          <p:attrName>style.visibility</p:attrName>
                                        </p:attrNameLst>
                                      </p:cBhvr>
                                      <p:to>
                                        <p:strVal val="visible"/>
                                      </p:to>
                                    </p:set>
                                    <p:animEffect transition="in" filter="wipe(down)">
                                      <p:cBhvr>
                                        <p:cTn id="13" dur="500"/>
                                        <p:tgtEl>
                                          <p:spTgt spid="13">
                                            <p:txEl>
                                              <p:pRg st="0" end="0"/>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down)">
                                      <p:cBhvr>
                                        <p:cTn id="1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计算顶点之间的通路</a:t>
            </a:r>
            <a:r>
              <a:rPr lang="zh-CN" altLang="en-US" dirty="0" smtClean="0"/>
              <a:t>数</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a:lnSpc>
                    <a:spcPct val="120000"/>
                  </a:lnSpc>
                </a:pPr>
                <a:r>
                  <a:rPr lang="zh-CN" altLang="en-US" dirty="0" smtClean="0"/>
                  <a:t>解</a:t>
                </a:r>
                <a:r>
                  <a:rPr lang="en-US" altLang="zh-CN" dirty="0" smtClean="0"/>
                  <a:t>(</a:t>
                </a:r>
                <a:r>
                  <a:rPr lang="zh-CN" altLang="en-US" dirty="0" smtClean="0"/>
                  <a:t>续</a:t>
                </a:r>
                <a:r>
                  <a:rPr lang="en-US" altLang="zh-CN" dirty="0" smtClean="0"/>
                  <a:t>):</a:t>
                </a:r>
              </a:p>
              <a:p>
                <a:pPr>
                  <a:lnSpc>
                    <a:spcPct val="120000"/>
                  </a:lnSpc>
                </a:pPr>
                <a:endParaRPr lang="en-US" altLang="zh-CN" dirty="0"/>
              </a:p>
              <a:p>
                <a:pPr marL="0" indent="0">
                  <a:lnSpc>
                    <a:spcPct val="120000"/>
                  </a:lnSpc>
                  <a:buNone/>
                </a:pPr>
                <a:r>
                  <a:rPr lang="zh-CN" altLang="en-US" dirty="0" smtClean="0"/>
                  <a:t>      </a:t>
                </a:r>
                <a14:m>
                  <m:oMath xmlns:m="http://schemas.openxmlformats.org/officeDocument/2006/math">
                    <m:sSup>
                      <m:sSupPr>
                        <m:ctrlPr>
                          <a:rPr lang="en-US" altLang="zh-CN" i="1">
                            <a:latin typeface="Cambria Math" panose="02040503050406030204" pitchFamily="18" charset="0"/>
                          </a:rPr>
                        </m:ctrlPr>
                      </m:sSupPr>
                      <m:e>
                        <m:r>
                          <m:rPr>
                            <m:sty m:val="p"/>
                          </m:rPr>
                          <a:rPr lang="en-US" altLang="zh-CN" i="1">
                            <a:latin typeface="Cambria Math" panose="02040503050406030204" pitchFamily="18" charset="0"/>
                          </a:rPr>
                          <m:t>A</m:t>
                        </m:r>
                      </m:e>
                      <m:sup>
                        <m:r>
                          <a:rPr lang="en-US" altLang="zh-CN" i="1">
                            <a:latin typeface="Cambria Math" panose="02040503050406030204" pitchFamily="18" charset="0"/>
                          </a:rPr>
                          <m:t>4</m:t>
                        </m:r>
                      </m:sup>
                    </m:sSup>
                  </m:oMath>
                </a14:m>
                <a:r>
                  <a:rPr lang="zh-CN" altLang="en-US" dirty="0"/>
                  <a:t>的</a:t>
                </a:r>
                <a:r>
                  <a:rPr lang="zh-CN" altLang="en-US" dirty="0" smtClean="0"/>
                  <a:t>第</a:t>
                </a:r>
                <a:r>
                  <a:rPr lang="en-US" altLang="zh-CN" dirty="0" smtClean="0"/>
                  <a:t>(1, 4)</a:t>
                </a:r>
                <a:r>
                  <a:rPr lang="zh-CN" altLang="en-US" dirty="0" smtClean="0"/>
                  <a:t>项为</a:t>
                </a:r>
                <a:r>
                  <a:rPr lang="en-US" altLang="zh-CN" dirty="0" smtClean="0"/>
                  <a:t>8, </a:t>
                </a:r>
                <a:r>
                  <a:rPr lang="zh-CN" altLang="en-US" dirty="0" smtClean="0"/>
                  <a:t>所以恰好有</a:t>
                </a:r>
                <a:r>
                  <a:rPr lang="en-US" altLang="zh-CN" dirty="0" smtClean="0"/>
                  <a:t>8</a:t>
                </a:r>
                <a:r>
                  <a:rPr lang="zh-CN" altLang="en-US" dirty="0" smtClean="0"/>
                  <a:t>条从</a:t>
                </a:r>
                <a:r>
                  <a:rPr lang="en-US" altLang="zh-CN" dirty="0" smtClean="0"/>
                  <a:t>a</a:t>
                </a:r>
                <a:r>
                  <a:rPr lang="zh-CN" altLang="en-US" dirty="0" smtClean="0"/>
                  <a:t>到</a:t>
                </a:r>
                <a:r>
                  <a:rPr lang="en-US" altLang="zh-CN" dirty="0" smtClean="0"/>
                  <a:t>d</a:t>
                </a:r>
                <a:r>
                  <a:rPr lang="zh-CN" altLang="en-US" dirty="0" smtClean="0"/>
                  <a:t>的长度为</a:t>
                </a:r>
                <a:r>
                  <a:rPr lang="en-US" altLang="zh-CN" dirty="0" smtClean="0"/>
                  <a:t>4</a:t>
                </a:r>
                <a:r>
                  <a:rPr lang="zh-CN" altLang="en-US" dirty="0" smtClean="0"/>
                  <a:t>的通路</a:t>
                </a:r>
                <a:r>
                  <a:rPr lang="en-US" altLang="zh-CN" dirty="0" smtClean="0"/>
                  <a:t>. </a:t>
                </a:r>
                <a:r>
                  <a:rPr lang="zh-CN" altLang="en-US" dirty="0" smtClean="0"/>
                  <a:t>分别为</a:t>
                </a:r>
                <a:r>
                  <a:rPr lang="en-US" altLang="zh-CN" dirty="0" smtClean="0"/>
                  <a:t>: </a:t>
                </a:r>
                <a:endParaRPr lang="en-US" altLang="zh-CN" dirty="0"/>
              </a:p>
              <a:p>
                <a:pPr>
                  <a:lnSpc>
                    <a:spcPct val="120000"/>
                  </a:lnSpc>
                </a:pPr>
                <a:endParaRPr lang="en-US" altLang="zh-CN" dirty="0" smtClean="0"/>
              </a:p>
              <a:p>
                <a:pPr lvl="1"/>
                <a:endParaRPr lang="en-US" dirty="0" smtClean="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165" t="-476" r="-499"/>
                </a:stretch>
              </a:blipFill>
            </p:spPr>
            <p:txBody>
              <a:bodyPr/>
              <a:lstStyle/>
              <a:p>
                <a:r>
                  <a:rPr lang="zh-CN" altLang="en-US">
                    <a:noFill/>
                  </a:rPr>
                  <a:t> </a:t>
                </a:r>
              </a:p>
            </p:txBody>
          </p:sp>
        </mc:Fallback>
      </mc:AlternateContent>
      <p:sp>
        <p:nvSpPr>
          <p:cNvPr id="7" name="日期占位符 6"/>
          <p:cNvSpPr>
            <a:spLocks noGrp="1"/>
          </p:cNvSpPr>
          <p:nvPr>
            <p:ph type="dt" sz="half" idx="10"/>
          </p:nvPr>
        </p:nvSpPr>
        <p:spPr/>
        <p:txBody>
          <a:bodyPr/>
          <a:lstStyle/>
          <a:p>
            <a:fld id="{678F1357-DAE2-4485-A944-3B3400232C4E}"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148</a:t>
            </a:fld>
            <a:endParaRPr lang="zh-CN" altLang="en-US" dirty="0"/>
          </a:p>
        </p:txBody>
      </p:sp>
      <p:pic>
        <p:nvPicPr>
          <p:cNvPr id="14" name="Picture 9"/>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3543759" y="1484448"/>
            <a:ext cx="1270159" cy="911543"/>
          </a:xfrm>
          <a:prstGeom prst="rect">
            <a:avLst/>
          </a:prstGeom>
        </p:spPr>
      </p:pic>
      <p:sp>
        <p:nvSpPr>
          <p:cNvPr id="15" name="TextBox 10"/>
          <p:cNvSpPr txBox="1"/>
          <p:nvPr/>
        </p:nvSpPr>
        <p:spPr>
          <a:xfrm>
            <a:off x="2769870" y="1783079"/>
            <a:ext cx="708660" cy="369332"/>
          </a:xfrm>
          <a:prstGeom prst="rect">
            <a:avLst/>
          </a:prstGeom>
          <a:noFill/>
        </p:spPr>
        <p:txBody>
          <a:bodyPr wrap="square" rtlCol="0">
            <a:spAutoFit/>
          </a:bodyPr>
          <a:lstStyle/>
          <a:p>
            <a:r>
              <a:rPr lang="en-US" b="1" dirty="0"/>
              <a:t>A</a:t>
            </a:r>
            <a:r>
              <a:rPr lang="en-US" baseline="30000" dirty="0">
                <a:latin typeface="Cambria Math" pitchFamily="18" charset="0"/>
                <a:ea typeface="Cambria Math" pitchFamily="18" charset="0"/>
              </a:rPr>
              <a:t>4</a:t>
            </a:r>
            <a:r>
              <a:rPr lang="en-US" dirty="0"/>
              <a:t> =</a:t>
            </a:r>
          </a:p>
        </p:txBody>
      </p:sp>
      <p:sp>
        <p:nvSpPr>
          <p:cNvPr id="18" name="TextBox 11"/>
          <p:cNvSpPr txBox="1"/>
          <p:nvPr/>
        </p:nvSpPr>
        <p:spPr>
          <a:xfrm>
            <a:off x="1295400" y="3566279"/>
            <a:ext cx="3657600" cy="3385542"/>
          </a:xfrm>
          <a:prstGeom prst="rect">
            <a:avLst/>
          </a:prstGeom>
          <a:noFill/>
        </p:spPr>
        <p:txBody>
          <a:bodyPr wrap="square" rtlCol="0">
            <a:spAutoFit/>
          </a:bodyPr>
          <a:lstStyle/>
          <a:p>
            <a:r>
              <a:rPr lang="en-US" sz="2000" i="1" dirty="0" smtClean="0">
                <a:latin typeface="微软雅黑" panose="020B0503020204020204" pitchFamily="34" charset="-122"/>
                <a:ea typeface="微软雅黑" panose="020B0503020204020204" pitchFamily="34" charset="-122"/>
              </a:rPr>
              <a:t>a</a:t>
            </a:r>
            <a:r>
              <a:rPr lang="en-US" sz="2000" dirty="0" smtClean="0">
                <a:latin typeface="微软雅黑" panose="020B0503020204020204" pitchFamily="34" charset="-122"/>
                <a:ea typeface="微软雅黑" panose="020B0503020204020204" pitchFamily="34" charset="-122"/>
              </a:rPr>
              <a:t>, </a:t>
            </a:r>
            <a:r>
              <a:rPr lang="en-US" sz="2000" i="1" dirty="0" smtClean="0">
                <a:latin typeface="微软雅黑" panose="020B0503020204020204" pitchFamily="34" charset="-122"/>
                <a:ea typeface="微软雅黑" panose="020B0503020204020204" pitchFamily="34" charset="-122"/>
              </a:rPr>
              <a:t>b</a:t>
            </a:r>
            <a:r>
              <a:rPr lang="en-US" sz="2000" dirty="0" smtClean="0">
                <a:latin typeface="微软雅黑" panose="020B0503020204020204" pitchFamily="34" charset="-122"/>
                <a:ea typeface="微软雅黑" panose="020B0503020204020204" pitchFamily="34" charset="-122"/>
              </a:rPr>
              <a:t>, </a:t>
            </a:r>
            <a:r>
              <a:rPr lang="en-US" sz="2000" i="1" dirty="0" smtClean="0">
                <a:latin typeface="微软雅黑" panose="020B0503020204020204" pitchFamily="34" charset="-122"/>
                <a:ea typeface="微软雅黑" panose="020B0503020204020204" pitchFamily="34" charset="-122"/>
              </a:rPr>
              <a:t>a</a:t>
            </a:r>
            <a:r>
              <a:rPr lang="en-US" sz="2000" dirty="0" smtClean="0">
                <a:latin typeface="微软雅黑" panose="020B0503020204020204" pitchFamily="34" charset="-122"/>
                <a:ea typeface="微软雅黑" panose="020B0503020204020204" pitchFamily="34" charset="-122"/>
              </a:rPr>
              <a:t>, </a:t>
            </a:r>
            <a:r>
              <a:rPr lang="en-US" sz="2000" i="1" dirty="0" smtClean="0">
                <a:latin typeface="微软雅黑" panose="020B0503020204020204" pitchFamily="34" charset="-122"/>
                <a:ea typeface="微软雅黑" panose="020B0503020204020204" pitchFamily="34" charset="-122"/>
              </a:rPr>
              <a:t>b</a:t>
            </a:r>
            <a:r>
              <a:rPr lang="en-US" sz="2000" dirty="0" smtClean="0">
                <a:latin typeface="微软雅黑" panose="020B0503020204020204" pitchFamily="34" charset="-122"/>
                <a:ea typeface="微软雅黑" panose="020B0503020204020204" pitchFamily="34" charset="-122"/>
              </a:rPr>
              <a:t>, </a:t>
            </a:r>
            <a:r>
              <a:rPr lang="en-US" sz="2000" i="1" dirty="0" smtClean="0">
                <a:latin typeface="微软雅黑" panose="020B0503020204020204" pitchFamily="34" charset="-122"/>
                <a:ea typeface="微软雅黑" panose="020B0503020204020204" pitchFamily="34" charset="-122"/>
              </a:rPr>
              <a:t>d </a:t>
            </a:r>
          </a:p>
          <a:p>
            <a:r>
              <a:rPr lang="en-US" sz="2000" i="1" dirty="0" smtClean="0">
                <a:latin typeface="微软雅黑" panose="020B0503020204020204" pitchFamily="34" charset="-122"/>
                <a:ea typeface="微软雅黑" panose="020B0503020204020204" pitchFamily="34" charset="-122"/>
              </a:rPr>
              <a:t>a</a:t>
            </a:r>
            <a:r>
              <a:rPr lang="en-US" sz="2000" dirty="0" smtClean="0">
                <a:latin typeface="微软雅黑" panose="020B0503020204020204" pitchFamily="34" charset="-122"/>
                <a:ea typeface="微软雅黑" panose="020B0503020204020204" pitchFamily="34" charset="-122"/>
              </a:rPr>
              <a:t>, </a:t>
            </a:r>
            <a:r>
              <a:rPr lang="en-US" sz="2000" i="1" dirty="0" smtClean="0">
                <a:latin typeface="微软雅黑" panose="020B0503020204020204" pitchFamily="34" charset="-122"/>
                <a:ea typeface="微软雅黑" panose="020B0503020204020204" pitchFamily="34" charset="-122"/>
              </a:rPr>
              <a:t>b</a:t>
            </a:r>
            <a:r>
              <a:rPr lang="en-US" sz="2000" dirty="0" smtClean="0">
                <a:latin typeface="微软雅黑" panose="020B0503020204020204" pitchFamily="34" charset="-122"/>
                <a:ea typeface="微软雅黑" panose="020B0503020204020204" pitchFamily="34" charset="-122"/>
              </a:rPr>
              <a:t>, </a:t>
            </a:r>
            <a:r>
              <a:rPr lang="en-US" sz="2000" i="1" dirty="0" smtClean="0">
                <a:latin typeface="微软雅黑" panose="020B0503020204020204" pitchFamily="34" charset="-122"/>
                <a:ea typeface="微软雅黑" panose="020B0503020204020204" pitchFamily="34" charset="-122"/>
              </a:rPr>
              <a:t>a</a:t>
            </a:r>
            <a:r>
              <a:rPr lang="en-US" sz="2000" dirty="0" smtClean="0">
                <a:latin typeface="微软雅黑" panose="020B0503020204020204" pitchFamily="34" charset="-122"/>
                <a:ea typeface="微软雅黑" panose="020B0503020204020204" pitchFamily="34" charset="-122"/>
              </a:rPr>
              <a:t>, </a:t>
            </a:r>
            <a:r>
              <a:rPr lang="en-US" sz="2000" i="1" dirty="0" smtClean="0">
                <a:latin typeface="微软雅黑" panose="020B0503020204020204" pitchFamily="34" charset="-122"/>
                <a:ea typeface="微软雅黑" panose="020B0503020204020204" pitchFamily="34" charset="-122"/>
              </a:rPr>
              <a:t>c</a:t>
            </a:r>
            <a:r>
              <a:rPr lang="en-US" sz="2000" dirty="0" smtClean="0">
                <a:latin typeface="微软雅黑" panose="020B0503020204020204" pitchFamily="34" charset="-122"/>
                <a:ea typeface="微软雅黑" panose="020B0503020204020204" pitchFamily="34" charset="-122"/>
              </a:rPr>
              <a:t>, </a:t>
            </a:r>
            <a:r>
              <a:rPr lang="en-US" sz="2000" i="1" dirty="0" smtClean="0">
                <a:latin typeface="微软雅黑" panose="020B0503020204020204" pitchFamily="34" charset="-122"/>
                <a:ea typeface="微软雅黑" panose="020B0503020204020204" pitchFamily="34" charset="-122"/>
              </a:rPr>
              <a:t>d</a:t>
            </a:r>
            <a:endParaRPr lang="en-US" sz="2000" i="1" dirty="0">
              <a:latin typeface="微软雅黑" panose="020B0503020204020204" pitchFamily="34" charset="-122"/>
              <a:ea typeface="微软雅黑" panose="020B0503020204020204" pitchFamily="34" charset="-122"/>
            </a:endParaRPr>
          </a:p>
          <a:p>
            <a:r>
              <a:rPr lang="en-US" sz="2000" i="1" dirty="0" smtClean="0">
                <a:latin typeface="微软雅黑" panose="020B0503020204020204" pitchFamily="34" charset="-122"/>
                <a:ea typeface="微软雅黑" panose="020B0503020204020204" pitchFamily="34" charset="-122"/>
              </a:rPr>
              <a:t>a</a:t>
            </a:r>
            <a:r>
              <a:rPr lang="en-US" sz="2000" dirty="0" smtClean="0">
                <a:latin typeface="微软雅黑" panose="020B0503020204020204" pitchFamily="34" charset="-122"/>
                <a:ea typeface="微软雅黑" panose="020B0503020204020204" pitchFamily="34" charset="-122"/>
              </a:rPr>
              <a:t>, </a:t>
            </a:r>
            <a:r>
              <a:rPr lang="en-US" sz="2000" i="1" dirty="0" smtClean="0">
                <a:latin typeface="微软雅黑" panose="020B0503020204020204" pitchFamily="34" charset="-122"/>
                <a:ea typeface="微软雅黑" panose="020B0503020204020204" pitchFamily="34" charset="-122"/>
              </a:rPr>
              <a:t>b</a:t>
            </a:r>
            <a:r>
              <a:rPr lang="en-US" sz="2000" dirty="0" smtClean="0">
                <a:latin typeface="微软雅黑" panose="020B0503020204020204" pitchFamily="34" charset="-122"/>
                <a:ea typeface="微软雅黑" panose="020B0503020204020204" pitchFamily="34" charset="-122"/>
              </a:rPr>
              <a:t>, </a:t>
            </a:r>
            <a:r>
              <a:rPr lang="en-US" sz="2000" i="1" dirty="0" smtClean="0">
                <a:latin typeface="微软雅黑" panose="020B0503020204020204" pitchFamily="34" charset="-122"/>
                <a:ea typeface="微软雅黑" panose="020B0503020204020204" pitchFamily="34" charset="-122"/>
              </a:rPr>
              <a:t>d</a:t>
            </a:r>
            <a:r>
              <a:rPr lang="en-US" sz="2000" dirty="0" smtClean="0">
                <a:latin typeface="微软雅黑" panose="020B0503020204020204" pitchFamily="34" charset="-122"/>
                <a:ea typeface="微软雅黑" panose="020B0503020204020204" pitchFamily="34" charset="-122"/>
              </a:rPr>
              <a:t>, </a:t>
            </a:r>
            <a:r>
              <a:rPr lang="en-US" sz="2000" i="1" dirty="0" smtClean="0">
                <a:latin typeface="微软雅黑" panose="020B0503020204020204" pitchFamily="34" charset="-122"/>
                <a:ea typeface="微软雅黑" panose="020B0503020204020204" pitchFamily="34" charset="-122"/>
              </a:rPr>
              <a:t>b</a:t>
            </a:r>
            <a:r>
              <a:rPr lang="en-US" sz="2000" dirty="0" smtClean="0">
                <a:latin typeface="微软雅黑" panose="020B0503020204020204" pitchFamily="34" charset="-122"/>
                <a:ea typeface="微软雅黑" panose="020B0503020204020204" pitchFamily="34" charset="-122"/>
              </a:rPr>
              <a:t>, </a:t>
            </a:r>
            <a:r>
              <a:rPr lang="en-US" sz="2000" i="1" dirty="0" smtClean="0">
                <a:latin typeface="微软雅黑" panose="020B0503020204020204" pitchFamily="34" charset="-122"/>
                <a:ea typeface="微软雅黑" panose="020B0503020204020204" pitchFamily="34" charset="-122"/>
              </a:rPr>
              <a:t>d </a:t>
            </a:r>
          </a:p>
          <a:p>
            <a:r>
              <a:rPr lang="en-US" sz="2000" i="1" dirty="0" smtClean="0">
                <a:latin typeface="微软雅黑" panose="020B0503020204020204" pitchFamily="34" charset="-122"/>
                <a:ea typeface="微软雅黑" panose="020B0503020204020204" pitchFamily="34" charset="-122"/>
              </a:rPr>
              <a:t>a</a:t>
            </a:r>
            <a:r>
              <a:rPr lang="en-US" sz="2000" dirty="0" smtClean="0">
                <a:latin typeface="微软雅黑" panose="020B0503020204020204" pitchFamily="34" charset="-122"/>
                <a:ea typeface="微软雅黑" panose="020B0503020204020204" pitchFamily="34" charset="-122"/>
              </a:rPr>
              <a:t>, </a:t>
            </a:r>
            <a:r>
              <a:rPr lang="en-US" sz="2000" i="1" dirty="0" smtClean="0">
                <a:latin typeface="微软雅黑" panose="020B0503020204020204" pitchFamily="34" charset="-122"/>
                <a:ea typeface="微软雅黑" panose="020B0503020204020204" pitchFamily="34" charset="-122"/>
              </a:rPr>
              <a:t>b</a:t>
            </a:r>
            <a:r>
              <a:rPr lang="en-US" sz="2000" dirty="0" smtClean="0">
                <a:latin typeface="微软雅黑" panose="020B0503020204020204" pitchFamily="34" charset="-122"/>
                <a:ea typeface="微软雅黑" panose="020B0503020204020204" pitchFamily="34" charset="-122"/>
              </a:rPr>
              <a:t>, </a:t>
            </a:r>
            <a:r>
              <a:rPr lang="en-US" sz="2000" i="1" dirty="0" smtClean="0">
                <a:latin typeface="微软雅黑" panose="020B0503020204020204" pitchFamily="34" charset="-122"/>
                <a:ea typeface="微软雅黑" panose="020B0503020204020204" pitchFamily="34" charset="-122"/>
              </a:rPr>
              <a:t>d</a:t>
            </a:r>
            <a:r>
              <a:rPr lang="en-US" sz="2000" dirty="0" smtClean="0">
                <a:latin typeface="微软雅黑" panose="020B0503020204020204" pitchFamily="34" charset="-122"/>
                <a:ea typeface="微软雅黑" panose="020B0503020204020204" pitchFamily="34" charset="-122"/>
              </a:rPr>
              <a:t>, </a:t>
            </a:r>
            <a:r>
              <a:rPr lang="en-US" sz="2000" i="1" dirty="0" smtClean="0">
                <a:latin typeface="微软雅黑" panose="020B0503020204020204" pitchFamily="34" charset="-122"/>
                <a:ea typeface="微软雅黑" panose="020B0503020204020204" pitchFamily="34" charset="-122"/>
              </a:rPr>
              <a:t>c</a:t>
            </a:r>
            <a:r>
              <a:rPr lang="en-US" sz="2000" dirty="0" smtClean="0">
                <a:latin typeface="微软雅黑" panose="020B0503020204020204" pitchFamily="34" charset="-122"/>
                <a:ea typeface="微软雅黑" panose="020B0503020204020204" pitchFamily="34" charset="-122"/>
              </a:rPr>
              <a:t>, </a:t>
            </a:r>
            <a:r>
              <a:rPr lang="en-US" sz="2000" i="1" dirty="0" smtClean="0">
                <a:latin typeface="微软雅黑" panose="020B0503020204020204" pitchFamily="34" charset="-122"/>
                <a:ea typeface="微软雅黑" panose="020B0503020204020204" pitchFamily="34" charset="-122"/>
              </a:rPr>
              <a:t>d</a:t>
            </a:r>
            <a:endParaRPr lang="en-US" sz="2000" dirty="0">
              <a:latin typeface="微软雅黑" panose="020B0503020204020204" pitchFamily="34" charset="-122"/>
              <a:ea typeface="微软雅黑" panose="020B0503020204020204" pitchFamily="34" charset="-122"/>
            </a:endParaRPr>
          </a:p>
          <a:p>
            <a:r>
              <a:rPr lang="en-US" sz="2000" i="1" dirty="0" smtClean="0">
                <a:latin typeface="微软雅黑" panose="020B0503020204020204" pitchFamily="34" charset="-122"/>
                <a:ea typeface="微软雅黑" panose="020B0503020204020204" pitchFamily="34" charset="-122"/>
              </a:rPr>
              <a:t>a</a:t>
            </a:r>
            <a:r>
              <a:rPr lang="en-US" sz="2000" dirty="0" smtClean="0">
                <a:latin typeface="微软雅黑" panose="020B0503020204020204" pitchFamily="34" charset="-122"/>
                <a:ea typeface="微软雅黑" panose="020B0503020204020204" pitchFamily="34" charset="-122"/>
              </a:rPr>
              <a:t>, </a:t>
            </a:r>
            <a:r>
              <a:rPr lang="en-US" sz="2000" i="1" dirty="0" smtClean="0">
                <a:latin typeface="微软雅黑" panose="020B0503020204020204" pitchFamily="34" charset="-122"/>
                <a:ea typeface="微软雅黑" panose="020B0503020204020204" pitchFamily="34" charset="-122"/>
              </a:rPr>
              <a:t>c</a:t>
            </a:r>
            <a:r>
              <a:rPr lang="en-US" sz="2000" dirty="0" smtClean="0">
                <a:latin typeface="微软雅黑" panose="020B0503020204020204" pitchFamily="34" charset="-122"/>
                <a:ea typeface="微软雅黑" panose="020B0503020204020204" pitchFamily="34" charset="-122"/>
              </a:rPr>
              <a:t>, </a:t>
            </a:r>
            <a:r>
              <a:rPr lang="en-US" sz="2000" i="1" dirty="0" smtClean="0">
                <a:latin typeface="微软雅黑" panose="020B0503020204020204" pitchFamily="34" charset="-122"/>
                <a:ea typeface="微软雅黑" panose="020B0503020204020204" pitchFamily="34" charset="-122"/>
              </a:rPr>
              <a:t>a</a:t>
            </a:r>
            <a:r>
              <a:rPr lang="en-US" sz="2000" dirty="0" smtClean="0">
                <a:latin typeface="微软雅黑" panose="020B0503020204020204" pitchFamily="34" charset="-122"/>
                <a:ea typeface="微软雅黑" panose="020B0503020204020204" pitchFamily="34" charset="-122"/>
              </a:rPr>
              <a:t>, </a:t>
            </a:r>
            <a:r>
              <a:rPr lang="en-US" sz="2000" i="1" dirty="0" smtClean="0">
                <a:latin typeface="微软雅黑" panose="020B0503020204020204" pitchFamily="34" charset="-122"/>
                <a:ea typeface="微软雅黑" panose="020B0503020204020204" pitchFamily="34" charset="-122"/>
              </a:rPr>
              <a:t>b</a:t>
            </a:r>
            <a:r>
              <a:rPr lang="en-US" sz="2000" dirty="0" smtClean="0">
                <a:latin typeface="微软雅黑" panose="020B0503020204020204" pitchFamily="34" charset="-122"/>
                <a:ea typeface="微软雅黑" panose="020B0503020204020204" pitchFamily="34" charset="-122"/>
              </a:rPr>
              <a:t>, </a:t>
            </a:r>
            <a:r>
              <a:rPr lang="en-US" sz="2000" i="1" dirty="0" smtClean="0">
                <a:latin typeface="微软雅黑" panose="020B0503020204020204" pitchFamily="34" charset="-122"/>
                <a:ea typeface="微软雅黑" panose="020B0503020204020204" pitchFamily="34" charset="-122"/>
              </a:rPr>
              <a:t>d </a:t>
            </a:r>
          </a:p>
          <a:p>
            <a:r>
              <a:rPr lang="en-US" sz="2000" i="1" dirty="0" smtClean="0">
                <a:latin typeface="微软雅黑" panose="020B0503020204020204" pitchFamily="34" charset="-122"/>
                <a:ea typeface="微软雅黑" panose="020B0503020204020204" pitchFamily="34" charset="-122"/>
              </a:rPr>
              <a:t>a</a:t>
            </a:r>
            <a:r>
              <a:rPr lang="en-US" sz="2000" dirty="0" smtClean="0">
                <a:latin typeface="微软雅黑" panose="020B0503020204020204" pitchFamily="34" charset="-122"/>
                <a:ea typeface="微软雅黑" panose="020B0503020204020204" pitchFamily="34" charset="-122"/>
              </a:rPr>
              <a:t>, </a:t>
            </a:r>
            <a:r>
              <a:rPr lang="en-US" sz="2000" i="1" dirty="0" smtClean="0">
                <a:latin typeface="微软雅黑" panose="020B0503020204020204" pitchFamily="34" charset="-122"/>
                <a:ea typeface="微软雅黑" panose="020B0503020204020204" pitchFamily="34" charset="-122"/>
              </a:rPr>
              <a:t>c</a:t>
            </a:r>
            <a:r>
              <a:rPr lang="en-US" sz="2000" dirty="0" smtClean="0">
                <a:latin typeface="微软雅黑" panose="020B0503020204020204" pitchFamily="34" charset="-122"/>
                <a:ea typeface="微软雅黑" panose="020B0503020204020204" pitchFamily="34" charset="-122"/>
              </a:rPr>
              <a:t>, </a:t>
            </a:r>
            <a:r>
              <a:rPr lang="en-US" sz="2000" i="1" dirty="0" smtClean="0">
                <a:latin typeface="微软雅黑" panose="020B0503020204020204" pitchFamily="34" charset="-122"/>
                <a:ea typeface="微软雅黑" panose="020B0503020204020204" pitchFamily="34" charset="-122"/>
              </a:rPr>
              <a:t>a</a:t>
            </a:r>
            <a:r>
              <a:rPr lang="en-US" sz="2000" dirty="0" smtClean="0">
                <a:latin typeface="微软雅黑" panose="020B0503020204020204" pitchFamily="34" charset="-122"/>
                <a:ea typeface="微软雅黑" panose="020B0503020204020204" pitchFamily="34" charset="-122"/>
              </a:rPr>
              <a:t>, </a:t>
            </a:r>
            <a:r>
              <a:rPr lang="en-US" sz="2000" i="1" dirty="0" smtClean="0">
                <a:latin typeface="微软雅黑" panose="020B0503020204020204" pitchFamily="34" charset="-122"/>
                <a:ea typeface="微软雅黑" panose="020B0503020204020204" pitchFamily="34" charset="-122"/>
              </a:rPr>
              <a:t>c</a:t>
            </a:r>
            <a:r>
              <a:rPr lang="en-US" sz="2000" dirty="0" smtClean="0">
                <a:latin typeface="微软雅黑" panose="020B0503020204020204" pitchFamily="34" charset="-122"/>
                <a:ea typeface="微软雅黑" panose="020B0503020204020204" pitchFamily="34" charset="-122"/>
              </a:rPr>
              <a:t>, </a:t>
            </a:r>
            <a:r>
              <a:rPr lang="en-US" sz="2000" i="1" dirty="0" smtClean="0">
                <a:latin typeface="微软雅黑" panose="020B0503020204020204" pitchFamily="34" charset="-122"/>
                <a:ea typeface="微软雅黑" panose="020B0503020204020204" pitchFamily="34" charset="-122"/>
              </a:rPr>
              <a:t>d</a:t>
            </a:r>
            <a:endParaRPr lang="en-US" sz="2000" dirty="0">
              <a:latin typeface="微软雅黑" panose="020B0503020204020204" pitchFamily="34" charset="-122"/>
              <a:ea typeface="微软雅黑" panose="020B0503020204020204" pitchFamily="34" charset="-122"/>
            </a:endParaRPr>
          </a:p>
          <a:p>
            <a:r>
              <a:rPr lang="en-US" sz="2000" i="1" dirty="0" smtClean="0">
                <a:latin typeface="微软雅黑" panose="020B0503020204020204" pitchFamily="34" charset="-122"/>
                <a:ea typeface="微软雅黑" panose="020B0503020204020204" pitchFamily="34" charset="-122"/>
              </a:rPr>
              <a:t>a</a:t>
            </a:r>
            <a:r>
              <a:rPr lang="en-US" sz="2000" dirty="0" smtClean="0">
                <a:latin typeface="微软雅黑" panose="020B0503020204020204" pitchFamily="34" charset="-122"/>
                <a:ea typeface="微软雅黑" panose="020B0503020204020204" pitchFamily="34" charset="-122"/>
              </a:rPr>
              <a:t>, </a:t>
            </a:r>
            <a:r>
              <a:rPr lang="en-US" sz="2000" i="1" dirty="0" smtClean="0">
                <a:latin typeface="微软雅黑" panose="020B0503020204020204" pitchFamily="34" charset="-122"/>
                <a:ea typeface="微软雅黑" panose="020B0503020204020204" pitchFamily="34" charset="-122"/>
              </a:rPr>
              <a:t>c</a:t>
            </a:r>
            <a:r>
              <a:rPr lang="en-US" sz="2000" dirty="0" smtClean="0">
                <a:latin typeface="微软雅黑" panose="020B0503020204020204" pitchFamily="34" charset="-122"/>
                <a:ea typeface="微软雅黑" panose="020B0503020204020204" pitchFamily="34" charset="-122"/>
              </a:rPr>
              <a:t>, </a:t>
            </a:r>
            <a:r>
              <a:rPr lang="en-US" sz="2000" i="1" dirty="0" smtClean="0">
                <a:latin typeface="微软雅黑" panose="020B0503020204020204" pitchFamily="34" charset="-122"/>
                <a:ea typeface="微软雅黑" panose="020B0503020204020204" pitchFamily="34" charset="-122"/>
              </a:rPr>
              <a:t>d</a:t>
            </a:r>
            <a:r>
              <a:rPr lang="en-US" sz="2000" dirty="0" smtClean="0">
                <a:latin typeface="微软雅黑" panose="020B0503020204020204" pitchFamily="34" charset="-122"/>
                <a:ea typeface="微软雅黑" panose="020B0503020204020204" pitchFamily="34" charset="-122"/>
              </a:rPr>
              <a:t>, </a:t>
            </a:r>
            <a:r>
              <a:rPr lang="en-US" sz="2000" i="1" dirty="0" smtClean="0">
                <a:latin typeface="微软雅黑" panose="020B0503020204020204" pitchFamily="34" charset="-122"/>
                <a:ea typeface="微软雅黑" panose="020B0503020204020204" pitchFamily="34" charset="-122"/>
              </a:rPr>
              <a:t>b</a:t>
            </a:r>
            <a:r>
              <a:rPr lang="en-US" sz="2000" dirty="0" smtClean="0">
                <a:latin typeface="微软雅黑" panose="020B0503020204020204" pitchFamily="34" charset="-122"/>
                <a:ea typeface="微软雅黑" panose="020B0503020204020204" pitchFamily="34" charset="-122"/>
              </a:rPr>
              <a:t>, </a:t>
            </a:r>
            <a:r>
              <a:rPr lang="en-US" sz="2000" i="1" dirty="0" smtClean="0">
                <a:latin typeface="微软雅黑" panose="020B0503020204020204" pitchFamily="34" charset="-122"/>
                <a:ea typeface="微软雅黑" panose="020B0503020204020204" pitchFamily="34" charset="-122"/>
              </a:rPr>
              <a:t>d </a:t>
            </a:r>
          </a:p>
          <a:p>
            <a:r>
              <a:rPr lang="en-US" sz="2000" i="1" dirty="0" smtClean="0">
                <a:latin typeface="微软雅黑" panose="020B0503020204020204" pitchFamily="34" charset="-122"/>
                <a:ea typeface="微软雅黑" panose="020B0503020204020204" pitchFamily="34" charset="-122"/>
              </a:rPr>
              <a:t>a</a:t>
            </a:r>
            <a:r>
              <a:rPr lang="en-US" sz="2000" dirty="0" smtClean="0">
                <a:latin typeface="微软雅黑" panose="020B0503020204020204" pitchFamily="34" charset="-122"/>
                <a:ea typeface="微软雅黑" panose="020B0503020204020204" pitchFamily="34" charset="-122"/>
              </a:rPr>
              <a:t>, </a:t>
            </a:r>
            <a:r>
              <a:rPr lang="en-US" sz="2000" i="1" dirty="0" smtClean="0">
                <a:latin typeface="微软雅黑" panose="020B0503020204020204" pitchFamily="34" charset="-122"/>
                <a:ea typeface="微软雅黑" panose="020B0503020204020204" pitchFamily="34" charset="-122"/>
              </a:rPr>
              <a:t>c</a:t>
            </a:r>
            <a:r>
              <a:rPr lang="en-US" sz="2000" dirty="0" smtClean="0">
                <a:latin typeface="微软雅黑" panose="020B0503020204020204" pitchFamily="34" charset="-122"/>
                <a:ea typeface="微软雅黑" panose="020B0503020204020204" pitchFamily="34" charset="-122"/>
              </a:rPr>
              <a:t>, </a:t>
            </a:r>
            <a:r>
              <a:rPr lang="en-US" sz="2000" i="1" dirty="0" smtClean="0">
                <a:latin typeface="微软雅黑" panose="020B0503020204020204" pitchFamily="34" charset="-122"/>
                <a:ea typeface="微软雅黑" panose="020B0503020204020204" pitchFamily="34" charset="-122"/>
              </a:rPr>
              <a:t>d</a:t>
            </a:r>
            <a:r>
              <a:rPr lang="en-US" sz="2000" dirty="0" smtClean="0">
                <a:latin typeface="微软雅黑" panose="020B0503020204020204" pitchFamily="34" charset="-122"/>
                <a:ea typeface="微软雅黑" panose="020B0503020204020204" pitchFamily="34" charset="-122"/>
              </a:rPr>
              <a:t>, </a:t>
            </a:r>
            <a:r>
              <a:rPr lang="en-US" sz="2000" i="1" dirty="0" smtClean="0">
                <a:latin typeface="微软雅黑" panose="020B0503020204020204" pitchFamily="34" charset="-122"/>
                <a:ea typeface="微软雅黑" panose="020B0503020204020204" pitchFamily="34" charset="-122"/>
              </a:rPr>
              <a:t>c</a:t>
            </a:r>
            <a:r>
              <a:rPr lang="en-US" sz="2000" dirty="0" smtClean="0">
                <a:latin typeface="微软雅黑" panose="020B0503020204020204" pitchFamily="34" charset="-122"/>
                <a:ea typeface="微软雅黑" panose="020B0503020204020204" pitchFamily="34" charset="-122"/>
              </a:rPr>
              <a:t>, </a:t>
            </a:r>
            <a:r>
              <a:rPr lang="en-US" sz="2000" i="1" dirty="0" smtClean="0">
                <a:latin typeface="微软雅黑" panose="020B0503020204020204" pitchFamily="34" charset="-122"/>
                <a:ea typeface="微软雅黑" panose="020B0503020204020204" pitchFamily="34" charset="-122"/>
              </a:rPr>
              <a:t>d</a:t>
            </a:r>
            <a:endParaRPr lang="en-US" sz="2000" dirty="0">
              <a:latin typeface="微软雅黑" panose="020B0503020204020204" pitchFamily="34" charset="-122"/>
              <a:ea typeface="微软雅黑" panose="020B0503020204020204" pitchFamily="34" charset="-122"/>
            </a:endParaRPr>
          </a:p>
          <a:p>
            <a:endParaRPr lang="en-US" dirty="0"/>
          </a:p>
          <a:p>
            <a:endParaRPr lang="en-US" dirty="0"/>
          </a:p>
          <a:p>
            <a:endParaRPr lang="en-US" dirty="0"/>
          </a:p>
        </p:txBody>
      </p:sp>
      <p:pic>
        <p:nvPicPr>
          <p:cNvPr id="10" name="Picture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906000" y="1031060"/>
            <a:ext cx="1015652" cy="1364931"/>
          </a:xfrm>
          <a:prstGeom prst="rect">
            <a:avLst/>
          </a:prstGeom>
        </p:spPr>
      </p:pic>
    </p:spTree>
    <p:extLst>
      <p:ext uri="{BB962C8B-B14F-4D97-AF65-F5344CB8AC3E}">
        <p14:creationId xmlns:p14="http://schemas.microsoft.com/office/powerpoint/2010/main" val="2925280923"/>
      </p:ext>
    </p:extLst>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第</a:t>
            </a:r>
            <a:r>
              <a:rPr lang="en-US" altLang="zh-CN" dirty="0"/>
              <a:t>3.5</a:t>
            </a:r>
            <a:r>
              <a:rPr lang="zh-CN" altLang="en-US" dirty="0" smtClean="0"/>
              <a:t>节 欧拉</a:t>
            </a:r>
            <a:r>
              <a:rPr lang="zh-CN" altLang="en-US" dirty="0"/>
              <a:t>通路和哈密顿通路</a:t>
            </a:r>
            <a:endParaRPr lang="en-US" dirty="0"/>
          </a:p>
        </p:txBody>
      </p:sp>
      <p:sp>
        <p:nvSpPr>
          <p:cNvPr id="3" name="Content Placeholder 2"/>
          <p:cNvSpPr>
            <a:spLocks noGrp="1"/>
          </p:cNvSpPr>
          <p:nvPr>
            <p:ph idx="1"/>
          </p:nvPr>
        </p:nvSpPr>
        <p:spPr/>
        <p:txBody>
          <a:bodyPr/>
          <a:lstStyle/>
          <a:p>
            <a:r>
              <a:rPr lang="zh-CN" altLang="en-US" dirty="0" smtClean="0"/>
              <a:t>欧拉通路和欧拉回路</a:t>
            </a:r>
            <a:endParaRPr lang="en-US" altLang="zh-CN" dirty="0" smtClean="0"/>
          </a:p>
          <a:p>
            <a:r>
              <a:rPr lang="zh-CN" altLang="en-US" dirty="0" smtClean="0"/>
              <a:t>哈密顿通路和哈密顿回路</a:t>
            </a:r>
            <a:endParaRPr lang="en-US" altLang="zh-CN" dirty="0" smtClean="0"/>
          </a:p>
          <a:p>
            <a:r>
              <a:rPr lang="zh-CN" altLang="en-US" dirty="0" smtClean="0"/>
              <a:t>哈密顿回路的应用</a:t>
            </a:r>
            <a:endParaRPr lang="en-US" dirty="0" smtClean="0"/>
          </a:p>
        </p:txBody>
      </p:sp>
      <p:sp>
        <p:nvSpPr>
          <p:cNvPr id="6" name="日期占位符 5"/>
          <p:cNvSpPr>
            <a:spLocks noGrp="1"/>
          </p:cNvSpPr>
          <p:nvPr>
            <p:ph type="dt" sz="half" idx="10"/>
          </p:nvPr>
        </p:nvSpPr>
        <p:spPr/>
        <p:txBody>
          <a:bodyPr/>
          <a:lstStyle/>
          <a:p>
            <a:fld id="{8F9FFDDE-724C-454D-BE9A-E0DEBA3FD51D}" type="datetime1">
              <a:rPr lang="zh-CN" altLang="en-US" smtClean="0"/>
              <a:t>2025/4/15</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149</a:t>
            </a:fld>
            <a:endParaRPr lang="zh-CN" altLang="en-US" dirty="0"/>
          </a:p>
        </p:txBody>
      </p:sp>
    </p:spTree>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引言</a:t>
            </a:r>
            <a:endParaRPr lang="zh-CN" altLang="en-US" dirty="0"/>
          </a:p>
        </p:txBody>
      </p:sp>
      <p:sp>
        <p:nvSpPr>
          <p:cNvPr id="3" name="内容占位符 2"/>
          <p:cNvSpPr>
            <a:spLocks noGrp="1"/>
          </p:cNvSpPr>
          <p:nvPr>
            <p:ph idx="1"/>
          </p:nvPr>
        </p:nvSpPr>
        <p:spPr/>
        <p:txBody>
          <a:bodyPr/>
          <a:lstStyle/>
          <a:p>
            <a:r>
              <a:rPr lang="zh-CN" altLang="en-US" dirty="0" smtClean="0"/>
              <a:t>古老的智力题</a:t>
            </a:r>
            <a:r>
              <a:rPr lang="en-US" altLang="zh-CN" dirty="0" smtClean="0"/>
              <a:t>:</a:t>
            </a:r>
          </a:p>
          <a:p>
            <a:pPr lvl="1">
              <a:lnSpc>
                <a:spcPct val="100000"/>
              </a:lnSpc>
            </a:pPr>
            <a:r>
              <a:rPr lang="zh-CN" altLang="en-US" dirty="0"/>
              <a:t>给定图中</a:t>
            </a:r>
            <a:r>
              <a:rPr lang="en-US" altLang="zh-CN" dirty="0"/>
              <a:t>, </a:t>
            </a:r>
            <a:r>
              <a:rPr lang="zh-CN" altLang="en-US" dirty="0"/>
              <a:t>能否从一个顶点出发沿着图的边前进</a:t>
            </a:r>
            <a:r>
              <a:rPr lang="en-US" altLang="zh-CN" dirty="0"/>
              <a:t>, </a:t>
            </a:r>
            <a:r>
              <a:rPr lang="zh-CN" altLang="en-US" dirty="0"/>
              <a:t>恰好经过图的每一条边一次并回到这个顶点？</a:t>
            </a:r>
            <a:endParaRPr lang="en-US" altLang="zh-CN" dirty="0"/>
          </a:p>
          <a:p>
            <a:pPr lvl="1">
              <a:lnSpc>
                <a:spcPct val="100000"/>
              </a:lnSpc>
            </a:pPr>
            <a:r>
              <a:rPr lang="zh-CN" altLang="en-US" dirty="0"/>
              <a:t>给定图中</a:t>
            </a:r>
            <a:r>
              <a:rPr lang="en-US" altLang="zh-CN" dirty="0"/>
              <a:t>, </a:t>
            </a:r>
            <a:r>
              <a:rPr lang="zh-CN" altLang="en-US" dirty="0"/>
              <a:t>能否从一个顶点出发沿着图的边前进</a:t>
            </a:r>
            <a:r>
              <a:rPr lang="en-US" altLang="zh-CN" dirty="0"/>
              <a:t>, </a:t>
            </a:r>
            <a:r>
              <a:rPr lang="zh-CN" altLang="en-US" dirty="0"/>
              <a:t>恰好经过图的每一顶点一次并回到这个顶点？</a:t>
            </a:r>
            <a:endParaRPr lang="en-US" altLang="zh-CN" dirty="0"/>
          </a:p>
          <a:p>
            <a:pPr lvl="1">
              <a:lnSpc>
                <a:spcPct val="100000"/>
              </a:lnSpc>
            </a:pPr>
            <a:r>
              <a:rPr lang="zh-CN" altLang="en-US" dirty="0"/>
              <a:t>前者检查是否有欧拉回路</a:t>
            </a:r>
            <a:r>
              <a:rPr lang="en-US" altLang="zh-CN" dirty="0"/>
              <a:t>, </a:t>
            </a:r>
            <a:r>
              <a:rPr lang="zh-CN" altLang="en-US" dirty="0"/>
              <a:t>后者检查是否有哈密顿回路</a:t>
            </a:r>
            <a:r>
              <a:rPr lang="en-US" altLang="zh-CN" dirty="0" smtClean="0"/>
              <a:t>. </a:t>
            </a:r>
            <a:r>
              <a:rPr lang="zh-CN" altLang="en-US" dirty="0" smtClean="0"/>
              <a:t>这两个问题都有实际应用</a:t>
            </a:r>
            <a:r>
              <a:rPr lang="en-US" altLang="zh-CN" dirty="0" smtClean="0"/>
              <a:t>.</a:t>
            </a:r>
            <a:endParaRPr lang="en-US" altLang="zh-CN" dirty="0"/>
          </a:p>
        </p:txBody>
      </p:sp>
      <p:sp>
        <p:nvSpPr>
          <p:cNvPr id="4" name="日期占位符 3"/>
          <p:cNvSpPr>
            <a:spLocks noGrp="1"/>
          </p:cNvSpPr>
          <p:nvPr>
            <p:ph type="dt" sz="half" idx="10"/>
          </p:nvPr>
        </p:nvSpPr>
        <p:spPr/>
        <p:txBody>
          <a:bodyPr/>
          <a:lstStyle/>
          <a:p>
            <a:fld id="{7534CF23-67F4-4D65-B396-71AD5BFB3214}"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150</a:t>
            </a:fld>
            <a:endParaRPr lang="zh-CN" altLang="en-US" dirty="0"/>
          </a:p>
        </p:txBody>
      </p:sp>
    </p:spTree>
    <p:extLst>
      <p:ext uri="{BB962C8B-B14F-4D97-AF65-F5344CB8AC3E}">
        <p14:creationId xmlns:p14="http://schemas.microsoft.com/office/powerpoint/2010/main" val="4031977773"/>
      </p:ext>
    </p:extLst>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欧拉通路和欧拉回路</a:t>
            </a:r>
            <a:endParaRPr lang="en-US" dirty="0"/>
          </a:p>
        </p:txBody>
      </p:sp>
      <p:sp>
        <p:nvSpPr>
          <p:cNvPr id="3" name="Content Placeholder 2"/>
          <p:cNvSpPr>
            <a:spLocks noGrp="1"/>
          </p:cNvSpPr>
          <p:nvPr>
            <p:ph idx="1"/>
          </p:nvPr>
        </p:nvSpPr>
        <p:spPr/>
        <p:txBody>
          <a:bodyPr>
            <a:normAutofit/>
          </a:bodyPr>
          <a:lstStyle/>
          <a:p>
            <a:r>
              <a:rPr lang="zh-CN" altLang="en-US" dirty="0" smtClean="0"/>
              <a:t>如图所示</a:t>
            </a:r>
            <a:r>
              <a:rPr lang="en-US" altLang="zh-CN" dirty="0" smtClean="0"/>
              <a:t>, </a:t>
            </a:r>
            <a:r>
              <a:rPr lang="zh-CN" altLang="en-US" dirty="0" smtClean="0"/>
              <a:t>普鲁士的哥尼斯堡被普雷格尔河支流分为</a:t>
            </a:r>
            <a:r>
              <a:rPr lang="en-US" altLang="zh-CN" dirty="0" smtClean="0"/>
              <a:t>A, B, C, D</a:t>
            </a:r>
            <a:r>
              <a:rPr lang="zh-CN" altLang="en-US" dirty="0" smtClean="0"/>
              <a:t>四部分</a:t>
            </a:r>
            <a:r>
              <a:rPr lang="en-US" altLang="zh-CN" dirty="0" smtClean="0"/>
              <a:t>. </a:t>
            </a:r>
            <a:r>
              <a:rPr lang="zh-CN" altLang="en-US" dirty="0" smtClean="0"/>
              <a:t>他们之间有</a:t>
            </a:r>
            <a:r>
              <a:rPr lang="en-US" altLang="zh-CN" dirty="0" smtClean="0"/>
              <a:t>7</a:t>
            </a:r>
            <a:r>
              <a:rPr lang="zh-CN" altLang="en-US" dirty="0" smtClean="0"/>
              <a:t>座桥连接起来</a:t>
            </a:r>
            <a:r>
              <a:rPr lang="en-US" altLang="zh-CN" dirty="0" smtClean="0"/>
              <a:t>. </a:t>
            </a:r>
            <a:r>
              <a:rPr lang="zh-CN" altLang="en-US" dirty="0" smtClean="0"/>
              <a:t>人们想弄明白是否有可能从镇上的某个位置出发不重复地经过所有桥并返回出发点</a:t>
            </a:r>
            <a:r>
              <a:rPr lang="en-US" altLang="zh-CN" dirty="0" smtClean="0"/>
              <a:t>. </a:t>
            </a:r>
            <a:r>
              <a:rPr lang="zh-CN" altLang="en-US" dirty="0" smtClean="0"/>
              <a:t>瑞士的数学家列昂哈德</a:t>
            </a:r>
            <a:r>
              <a:rPr lang="en-US" altLang="zh-CN" dirty="0" smtClean="0"/>
              <a:t>.</a:t>
            </a:r>
            <a:r>
              <a:rPr lang="zh-CN" altLang="en-US" dirty="0" smtClean="0"/>
              <a:t>欧拉证明了不存在这样的可能</a:t>
            </a:r>
            <a:r>
              <a:rPr lang="en-US" altLang="zh-CN" dirty="0" smtClean="0"/>
              <a:t>.</a:t>
            </a:r>
          </a:p>
        </p:txBody>
      </p:sp>
      <p:pic>
        <p:nvPicPr>
          <p:cNvPr id="4"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09800" y="3429000"/>
            <a:ext cx="3768090" cy="1686306"/>
          </a:xfrm>
          <a:prstGeom prst="rect">
            <a:avLst/>
          </a:prstGeo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869700" y="3050"/>
            <a:ext cx="883158" cy="1021080"/>
          </a:xfrm>
          <a:prstGeom prst="rect">
            <a:avLst/>
          </a:prstGeom>
        </p:spPr>
      </p:pic>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06372" y="2895600"/>
            <a:ext cx="1182880" cy="2031961"/>
          </a:xfrm>
          <a:prstGeom prst="rect">
            <a:avLst/>
          </a:prstGeom>
        </p:spPr>
      </p:pic>
      <p:sp>
        <p:nvSpPr>
          <p:cNvPr id="7" name="TextBox 6"/>
          <p:cNvSpPr txBox="1"/>
          <p:nvPr/>
        </p:nvSpPr>
        <p:spPr>
          <a:xfrm>
            <a:off x="9316340" y="377799"/>
            <a:ext cx="1676400" cy="646331"/>
          </a:xfrm>
          <a:prstGeom prst="rect">
            <a:avLst/>
          </a:prstGeom>
          <a:noFill/>
        </p:spPr>
        <p:txBody>
          <a:bodyPr wrap="square" rtlCol="0">
            <a:spAutoFit/>
          </a:bodyPr>
          <a:lstStyle/>
          <a:p>
            <a:r>
              <a:rPr lang="en-US" dirty="0"/>
              <a:t>Leonard Euler </a:t>
            </a:r>
            <a:r>
              <a:rPr lang="en-US" dirty="0" smtClean="0"/>
              <a:t>(</a:t>
            </a:r>
            <a:r>
              <a:rPr lang="en-US" dirty="0" smtClean="0">
                <a:latin typeface="Cambria Math" pitchFamily="18" charset="0"/>
                <a:ea typeface="Cambria Math" pitchFamily="18" charset="0"/>
              </a:rPr>
              <a:t>1707-1783)</a:t>
            </a:r>
            <a:endParaRPr lang="en-US" dirty="0"/>
          </a:p>
        </p:txBody>
      </p:sp>
      <p:sp>
        <p:nvSpPr>
          <p:cNvPr id="8" name="TextBox 7"/>
          <p:cNvSpPr txBox="1"/>
          <p:nvPr/>
        </p:nvSpPr>
        <p:spPr>
          <a:xfrm>
            <a:off x="3252771" y="5478139"/>
            <a:ext cx="3489960" cy="400110"/>
          </a:xfrm>
          <a:prstGeom prst="rect">
            <a:avLst/>
          </a:prstGeom>
          <a:noFill/>
        </p:spPr>
        <p:txBody>
          <a:bodyPr wrap="square" rtlCol="0">
            <a:spAutoFit/>
          </a:bodyPr>
          <a:lstStyle/>
          <a:p>
            <a:r>
              <a:rPr lang="zh-CN" altLang="en-US" sz="2000" dirty="0" smtClean="0">
                <a:latin typeface="微软雅黑" panose="020B0503020204020204" pitchFamily="34" charset="-122"/>
                <a:ea typeface="微软雅黑" panose="020B0503020204020204" pitchFamily="34" charset="-122"/>
              </a:rPr>
              <a:t>哥尼斯堡的</a:t>
            </a:r>
            <a:r>
              <a:rPr lang="en-US" altLang="zh-CN" sz="2000" dirty="0" smtClean="0">
                <a:latin typeface="微软雅黑" panose="020B0503020204020204" pitchFamily="34" charset="-122"/>
                <a:ea typeface="微软雅黑" panose="020B0503020204020204" pitchFamily="34" charset="-122"/>
              </a:rPr>
              <a:t>7</a:t>
            </a:r>
            <a:r>
              <a:rPr lang="zh-CN" altLang="en-US" sz="2000" dirty="0" smtClean="0">
                <a:latin typeface="微软雅黑" panose="020B0503020204020204" pitchFamily="34" charset="-122"/>
                <a:ea typeface="微软雅黑" panose="020B0503020204020204" pitchFamily="34" charset="-122"/>
              </a:rPr>
              <a:t>座桥</a:t>
            </a:r>
            <a:endParaRPr lang="en-US" sz="2000" dirty="0">
              <a:latin typeface="微软雅黑" panose="020B0503020204020204" pitchFamily="34" charset="-122"/>
              <a:ea typeface="微软雅黑" panose="020B0503020204020204" pitchFamily="34" charset="-122"/>
            </a:endParaRPr>
          </a:p>
        </p:txBody>
      </p:sp>
      <p:sp>
        <p:nvSpPr>
          <p:cNvPr id="9" name="TextBox 8"/>
          <p:cNvSpPr txBox="1"/>
          <p:nvPr/>
        </p:nvSpPr>
        <p:spPr>
          <a:xfrm>
            <a:off x="8534400" y="5061101"/>
            <a:ext cx="2530421" cy="1015663"/>
          </a:xfrm>
          <a:prstGeom prst="rect">
            <a:avLst/>
          </a:prstGeom>
          <a:noFill/>
        </p:spPr>
        <p:txBody>
          <a:bodyPr wrap="square" rtlCol="0">
            <a:spAutoFit/>
          </a:bodyPr>
          <a:lstStyle/>
          <a:p>
            <a:r>
              <a:rPr lang="zh-CN" altLang="en-US" sz="2000" dirty="0" smtClean="0">
                <a:latin typeface="微软雅黑" panose="020B0503020204020204" pitchFamily="34" charset="-122"/>
                <a:ea typeface="微软雅黑" panose="020B0503020204020204" pitchFamily="34" charset="-122"/>
              </a:rPr>
              <a:t>对应的多重图模型</a:t>
            </a:r>
            <a:r>
              <a:rPr lang="en-US" altLang="zh-CN" sz="2000" dirty="0" smtClean="0">
                <a:latin typeface="微软雅黑" panose="020B0503020204020204" pitchFamily="34" charset="-122"/>
                <a:ea typeface="微软雅黑" panose="020B0503020204020204" pitchFamily="34" charset="-122"/>
              </a:rPr>
              <a:t>, </a:t>
            </a:r>
            <a:r>
              <a:rPr lang="zh-CN" altLang="en-US" sz="2000" dirty="0" smtClean="0">
                <a:latin typeface="微软雅黑" panose="020B0503020204020204" pitchFamily="34" charset="-122"/>
                <a:ea typeface="微软雅黑" panose="020B0503020204020204" pitchFamily="34" charset="-122"/>
              </a:rPr>
              <a:t>顶点为这四个部分</a:t>
            </a:r>
            <a:r>
              <a:rPr lang="en-US" altLang="zh-CN" sz="2000" dirty="0" smtClean="0">
                <a:latin typeface="微软雅黑" panose="020B0503020204020204" pitchFamily="34" charset="-122"/>
                <a:ea typeface="微软雅黑" panose="020B0503020204020204" pitchFamily="34" charset="-122"/>
              </a:rPr>
              <a:t>, </a:t>
            </a:r>
            <a:r>
              <a:rPr lang="zh-CN" altLang="en-US" sz="2000" dirty="0" smtClean="0">
                <a:latin typeface="微软雅黑" panose="020B0503020204020204" pitchFamily="34" charset="-122"/>
                <a:ea typeface="微软雅黑" panose="020B0503020204020204" pitchFamily="34" charset="-122"/>
              </a:rPr>
              <a:t>边表示桥</a:t>
            </a:r>
            <a:endParaRPr lang="en-US" sz="2000" dirty="0">
              <a:latin typeface="微软雅黑" panose="020B0503020204020204" pitchFamily="34" charset="-122"/>
              <a:ea typeface="微软雅黑" panose="020B0503020204020204" pitchFamily="34" charset="-122"/>
            </a:endParaRPr>
          </a:p>
        </p:txBody>
      </p:sp>
      <p:sp>
        <p:nvSpPr>
          <p:cNvPr id="12" name="日期占位符 11"/>
          <p:cNvSpPr>
            <a:spLocks noGrp="1"/>
          </p:cNvSpPr>
          <p:nvPr>
            <p:ph type="dt" sz="half" idx="10"/>
          </p:nvPr>
        </p:nvSpPr>
        <p:spPr/>
        <p:txBody>
          <a:bodyPr/>
          <a:lstStyle/>
          <a:p>
            <a:fld id="{45BB37AB-BB26-4C57-B700-741373E7EF9E}" type="datetime1">
              <a:rPr lang="zh-CN" altLang="en-US" smtClean="0"/>
              <a:t>2025/4/15</a:t>
            </a:fld>
            <a:endParaRPr lang="zh-CN" altLang="en-US" dirty="0"/>
          </a:p>
        </p:txBody>
      </p:sp>
      <p:sp>
        <p:nvSpPr>
          <p:cNvPr id="13" name="页脚占位符 12"/>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14" name="灯片编号占位符 13"/>
          <p:cNvSpPr>
            <a:spLocks noGrp="1"/>
          </p:cNvSpPr>
          <p:nvPr>
            <p:ph type="sldNum" sz="quarter" idx="12"/>
          </p:nvPr>
        </p:nvSpPr>
        <p:spPr/>
        <p:txBody>
          <a:bodyPr/>
          <a:lstStyle/>
          <a:p>
            <a:fld id="{67913A8A-9EFB-4B5F-9CCB-3D21173FAA85}" type="slidenum">
              <a:rPr lang="zh-CN" altLang="en-US" smtClean="0"/>
              <a:pPr/>
              <a:t>151</a:t>
            </a:fld>
            <a:endParaRPr lang="zh-CN" altLang="en-US" dirty="0"/>
          </a:p>
        </p:txBody>
      </p:sp>
    </p:spTree>
    <p:extLst>
      <p:ext uri="{BB962C8B-B14F-4D97-AF65-F5344CB8AC3E}">
        <p14:creationId xmlns:p14="http://schemas.microsoft.com/office/powerpoint/2010/main" val="3786188589"/>
      </p:ext>
    </p:extLst>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57200" y="2133600"/>
            <a:ext cx="11277599" cy="9144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欧拉通路和欧拉回路</a:t>
            </a:r>
            <a:endParaRPr lang="en-US" dirty="0"/>
          </a:p>
        </p:txBody>
      </p:sp>
      <p:sp>
        <p:nvSpPr>
          <p:cNvPr id="3" name="Content Placeholder 2"/>
          <p:cNvSpPr>
            <a:spLocks noGrp="1"/>
          </p:cNvSpPr>
          <p:nvPr>
            <p:ph idx="1"/>
          </p:nvPr>
        </p:nvSpPr>
        <p:spPr/>
        <p:txBody>
          <a:bodyPr>
            <a:normAutofit/>
          </a:bodyPr>
          <a:lstStyle/>
          <a:p>
            <a:r>
              <a:rPr lang="zh-CN" altLang="en-US" dirty="0"/>
              <a:t>哥尼斯堡的</a:t>
            </a:r>
            <a:r>
              <a:rPr lang="en-US" altLang="zh-CN" dirty="0"/>
              <a:t>7</a:t>
            </a:r>
            <a:r>
              <a:rPr lang="zh-CN" altLang="en-US" dirty="0"/>
              <a:t>座</a:t>
            </a:r>
            <a:r>
              <a:rPr lang="zh-CN" altLang="en-US" dirty="0" smtClean="0"/>
              <a:t>桥问题可以利用多重图模型来重新叙述</a:t>
            </a:r>
            <a:r>
              <a:rPr lang="en-US" altLang="zh-CN" dirty="0" smtClean="0"/>
              <a:t>, </a:t>
            </a:r>
            <a:r>
              <a:rPr lang="zh-CN" altLang="en-US" dirty="0" smtClean="0"/>
              <a:t>变为在多重图中是否存在包含每一条边的简单回路？</a:t>
            </a:r>
            <a:endParaRPr lang="en-US" altLang="zh-CN" dirty="0" smtClean="0"/>
          </a:p>
          <a:p>
            <a:r>
              <a:rPr lang="zh-CN" altLang="en-US" dirty="0" smtClean="0"/>
              <a:t>定义</a:t>
            </a:r>
            <a:r>
              <a:rPr lang="en-US" dirty="0" smtClean="0"/>
              <a:t>: </a:t>
            </a:r>
            <a:r>
              <a:rPr lang="zh-CN" altLang="en-US" dirty="0" smtClean="0"/>
              <a:t>图</a:t>
            </a:r>
            <a:r>
              <a:rPr lang="en-US" altLang="zh-CN" dirty="0" smtClean="0"/>
              <a:t>G</a:t>
            </a:r>
            <a:r>
              <a:rPr lang="zh-CN" altLang="en-US" dirty="0" smtClean="0"/>
              <a:t>中的</a:t>
            </a:r>
            <a:r>
              <a:rPr lang="zh-CN" altLang="en-US" b="1" dirty="0" smtClean="0">
                <a:solidFill>
                  <a:srgbClr val="C00000"/>
                </a:solidFill>
              </a:rPr>
              <a:t>欧拉回路</a:t>
            </a:r>
            <a:r>
              <a:rPr lang="zh-CN" altLang="en-US" dirty="0" smtClean="0"/>
              <a:t>是包含</a:t>
            </a:r>
            <a:r>
              <a:rPr lang="en-US" altLang="zh-CN" dirty="0" smtClean="0"/>
              <a:t>G</a:t>
            </a:r>
            <a:r>
              <a:rPr lang="zh-CN" altLang="en-US" dirty="0" smtClean="0"/>
              <a:t>的每一条边的简单回路</a:t>
            </a:r>
            <a:r>
              <a:rPr lang="en-US" altLang="zh-CN" dirty="0" smtClean="0"/>
              <a:t>. </a:t>
            </a:r>
            <a:r>
              <a:rPr lang="zh-CN" altLang="en-US" dirty="0" smtClean="0"/>
              <a:t>图</a:t>
            </a:r>
            <a:r>
              <a:rPr lang="en-US" altLang="zh-CN" dirty="0" smtClean="0"/>
              <a:t>G</a:t>
            </a:r>
            <a:r>
              <a:rPr lang="zh-CN" altLang="en-US" dirty="0" smtClean="0"/>
              <a:t>中的</a:t>
            </a:r>
            <a:r>
              <a:rPr lang="zh-CN" altLang="en-US" b="1" dirty="0" smtClean="0">
                <a:solidFill>
                  <a:srgbClr val="C00000"/>
                </a:solidFill>
              </a:rPr>
              <a:t>欧拉通路</a:t>
            </a:r>
            <a:r>
              <a:rPr lang="zh-CN" altLang="en-US" dirty="0" smtClean="0"/>
              <a:t>是包含</a:t>
            </a:r>
            <a:r>
              <a:rPr lang="en-US" altLang="zh-CN" dirty="0" smtClean="0"/>
              <a:t>G</a:t>
            </a:r>
            <a:r>
              <a:rPr lang="zh-CN" altLang="en-US" dirty="0" smtClean="0"/>
              <a:t>的每一条边的简单通路</a:t>
            </a:r>
            <a:r>
              <a:rPr lang="en-US" dirty="0" smtClean="0"/>
              <a:t>. </a:t>
            </a:r>
          </a:p>
          <a:p>
            <a:r>
              <a:rPr lang="zh-CN" altLang="en-US" b="1" dirty="0" smtClean="0"/>
              <a:t>含有欧拉回路</a:t>
            </a:r>
            <a:r>
              <a:rPr lang="zh-CN" altLang="en-US" b="1" dirty="0"/>
              <a:t>的图</a:t>
            </a:r>
            <a:r>
              <a:rPr lang="zh-CN" altLang="en-US" b="1" dirty="0" smtClean="0"/>
              <a:t>称为</a:t>
            </a:r>
            <a:r>
              <a:rPr lang="zh-CN" altLang="en-US" b="1" dirty="0"/>
              <a:t>欧拉</a:t>
            </a:r>
            <a:r>
              <a:rPr lang="zh-CN" altLang="en-US" b="1" dirty="0" smtClean="0"/>
              <a:t>图</a:t>
            </a:r>
            <a:endParaRPr lang="en-US" dirty="0" smtClean="0"/>
          </a:p>
        </p:txBody>
      </p:sp>
      <p:sp>
        <p:nvSpPr>
          <p:cNvPr id="7" name="日期占位符 6"/>
          <p:cNvSpPr>
            <a:spLocks noGrp="1"/>
          </p:cNvSpPr>
          <p:nvPr>
            <p:ph type="dt" sz="half" idx="10"/>
          </p:nvPr>
        </p:nvSpPr>
        <p:spPr/>
        <p:txBody>
          <a:bodyPr/>
          <a:lstStyle/>
          <a:p>
            <a:fld id="{67718A30-C3A3-4A4E-BBB8-C1BC723A1234}"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152</a:t>
            </a:fld>
            <a:endParaRPr lang="zh-CN" altLang="en-US" dirty="0"/>
          </a:p>
        </p:txBody>
      </p:sp>
    </p:spTree>
    <p:extLst>
      <p:ext uri="{BB962C8B-B14F-4D97-AF65-F5344CB8AC3E}">
        <p14:creationId xmlns:p14="http://schemas.microsoft.com/office/powerpoint/2010/main" val="1303016944"/>
      </p:ext>
    </p:extLst>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欧拉通路和欧拉回路</a:t>
            </a:r>
            <a:endParaRPr lang="en-US" dirty="0"/>
          </a:p>
        </p:txBody>
      </p:sp>
      <p:sp>
        <p:nvSpPr>
          <p:cNvPr id="3" name="Content Placeholder 2"/>
          <p:cNvSpPr>
            <a:spLocks noGrp="1"/>
          </p:cNvSpPr>
          <p:nvPr>
            <p:ph idx="1"/>
          </p:nvPr>
        </p:nvSpPr>
        <p:spPr/>
        <p:txBody>
          <a:bodyPr>
            <a:normAutofit/>
          </a:bodyPr>
          <a:lstStyle/>
          <a:p>
            <a:r>
              <a:rPr lang="zh-CN" altLang="en-US" dirty="0" smtClean="0"/>
              <a:t>例</a:t>
            </a:r>
            <a:r>
              <a:rPr lang="en-US" altLang="zh-CN" dirty="0" smtClean="0"/>
              <a:t>: </a:t>
            </a:r>
            <a:r>
              <a:rPr lang="zh-CN" altLang="en-US" dirty="0" smtClean="0"/>
              <a:t>以下</a:t>
            </a:r>
            <a:r>
              <a:rPr lang="zh-CN" altLang="en-US" dirty="0"/>
              <a:t>三个图中哪些无向图有欧拉回路？在没有欧拉回路的那些图</a:t>
            </a:r>
            <a:r>
              <a:rPr lang="zh-CN" altLang="en-US" dirty="0" smtClean="0"/>
              <a:t>中</a:t>
            </a:r>
            <a:r>
              <a:rPr lang="en-US" altLang="zh-CN" dirty="0" smtClean="0"/>
              <a:t>, </a:t>
            </a:r>
            <a:r>
              <a:rPr lang="zh-CN" altLang="en-US" dirty="0" smtClean="0"/>
              <a:t>哪些</a:t>
            </a:r>
            <a:r>
              <a:rPr lang="zh-CN" altLang="en-US" dirty="0"/>
              <a:t>具有欧拉通路</a:t>
            </a:r>
            <a:r>
              <a:rPr lang="en-US" altLang="zh-CN" dirty="0"/>
              <a:t>?</a:t>
            </a:r>
          </a:p>
          <a:p>
            <a:endParaRPr lang="en-US" dirty="0" smtClean="0"/>
          </a:p>
          <a:p>
            <a:pPr marL="0" indent="0">
              <a:buNone/>
            </a:pPr>
            <a:endParaRPr lang="en-US" dirty="0"/>
          </a:p>
          <a:p>
            <a:pPr marL="0" indent="0">
              <a:buNone/>
            </a:pPr>
            <a:endParaRPr lang="en-US" dirty="0" smtClean="0"/>
          </a:p>
          <a:p>
            <a:endParaRPr lang="en-US" dirty="0" smtClean="0"/>
          </a:p>
          <a:p>
            <a:r>
              <a:rPr lang="zh-CN" altLang="en-US" dirty="0" smtClean="0"/>
              <a:t>解</a:t>
            </a:r>
            <a:r>
              <a:rPr lang="en-US" altLang="zh-CN" dirty="0" smtClean="0"/>
              <a:t>: </a:t>
            </a:r>
          </a:p>
          <a:p>
            <a:pPr lvl="1">
              <a:lnSpc>
                <a:spcPct val="110000"/>
              </a:lnSpc>
            </a:pPr>
            <a:r>
              <a:rPr lang="en-US" altLang="zh-CN" dirty="0"/>
              <a:t>G1</a:t>
            </a:r>
            <a:r>
              <a:rPr lang="zh-CN" altLang="en-US" dirty="0"/>
              <a:t>具有欧拉回路</a:t>
            </a:r>
            <a:r>
              <a:rPr lang="en-US" altLang="zh-CN" dirty="0" smtClean="0"/>
              <a:t>, </a:t>
            </a:r>
            <a:r>
              <a:rPr lang="zh-CN" altLang="en-US" dirty="0" smtClean="0"/>
              <a:t>例如</a:t>
            </a:r>
            <a:r>
              <a:rPr lang="en-US" dirty="0" smtClean="0"/>
              <a:t> </a:t>
            </a:r>
            <a:r>
              <a:rPr lang="en-US" dirty="0"/>
              <a:t>a</a:t>
            </a:r>
            <a:r>
              <a:rPr lang="en-US" dirty="0" smtClean="0"/>
              <a:t>, e, c, d, e, b, a</a:t>
            </a:r>
            <a:r>
              <a:rPr lang="en-US" dirty="0"/>
              <a:t>. </a:t>
            </a:r>
          </a:p>
          <a:p>
            <a:pPr lvl="1">
              <a:lnSpc>
                <a:spcPct val="110000"/>
              </a:lnSpc>
            </a:pPr>
            <a:r>
              <a:rPr lang="en-US" altLang="zh-CN" dirty="0" smtClean="0"/>
              <a:t>G2</a:t>
            </a:r>
            <a:r>
              <a:rPr lang="zh-CN" altLang="en-US" dirty="0" smtClean="0"/>
              <a:t>没有</a:t>
            </a:r>
            <a:r>
              <a:rPr lang="zh-CN" altLang="en-US" dirty="0"/>
              <a:t>欧拉回路</a:t>
            </a:r>
            <a:r>
              <a:rPr lang="en-US" altLang="zh-CN" dirty="0"/>
              <a:t>. G2</a:t>
            </a:r>
            <a:r>
              <a:rPr lang="zh-CN" altLang="en-US" dirty="0"/>
              <a:t>没有欧拉通路</a:t>
            </a:r>
            <a:r>
              <a:rPr lang="en-US" altLang="zh-CN" dirty="0"/>
              <a:t>.</a:t>
            </a:r>
          </a:p>
          <a:p>
            <a:pPr lvl="1">
              <a:lnSpc>
                <a:spcPct val="110000"/>
              </a:lnSpc>
            </a:pPr>
            <a:r>
              <a:rPr lang="en-US" altLang="zh-CN" dirty="0" smtClean="0"/>
              <a:t>G3</a:t>
            </a:r>
            <a:r>
              <a:rPr lang="zh-CN" altLang="en-US" dirty="0" smtClean="0"/>
              <a:t>没有</a:t>
            </a:r>
            <a:r>
              <a:rPr lang="zh-CN" altLang="en-US" dirty="0"/>
              <a:t>欧拉回</a:t>
            </a:r>
            <a:r>
              <a:rPr lang="zh-CN" altLang="en-US" dirty="0" smtClean="0"/>
              <a:t>路</a:t>
            </a:r>
            <a:r>
              <a:rPr lang="en-US" altLang="zh-CN" dirty="0" smtClean="0"/>
              <a:t>. G3</a:t>
            </a:r>
            <a:r>
              <a:rPr lang="zh-CN" altLang="en-US" dirty="0"/>
              <a:t>具有欧拉通路</a:t>
            </a:r>
            <a:r>
              <a:rPr lang="en-US" altLang="zh-CN" dirty="0" smtClean="0"/>
              <a:t>, </a:t>
            </a:r>
            <a:r>
              <a:rPr lang="zh-CN" altLang="en-US" dirty="0" smtClean="0"/>
              <a:t>即</a:t>
            </a:r>
            <a:r>
              <a:rPr lang="en-US" dirty="0"/>
              <a:t>a</a:t>
            </a:r>
            <a:r>
              <a:rPr lang="en-US" dirty="0" smtClean="0"/>
              <a:t>, c, d, e, b, d, a, b</a:t>
            </a:r>
            <a:r>
              <a:rPr lang="en-US" altLang="zh-CN" dirty="0"/>
              <a:t>. </a:t>
            </a:r>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633754" y="2286000"/>
            <a:ext cx="4909979" cy="1828800"/>
          </a:xfrm>
          <a:prstGeom prst="rect">
            <a:avLst/>
          </a:prstGeom>
        </p:spPr>
      </p:pic>
      <p:sp>
        <p:nvSpPr>
          <p:cNvPr id="7" name="日期占位符 6"/>
          <p:cNvSpPr>
            <a:spLocks noGrp="1"/>
          </p:cNvSpPr>
          <p:nvPr>
            <p:ph type="dt" sz="half" idx="10"/>
          </p:nvPr>
        </p:nvSpPr>
        <p:spPr/>
        <p:txBody>
          <a:bodyPr/>
          <a:lstStyle/>
          <a:p>
            <a:fld id="{0BCB05A5-0092-43B1-9F07-B66A35BE6D5F}"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153</a:t>
            </a:fld>
            <a:endParaRPr lang="zh-CN" altLang="en-US" dirty="0"/>
          </a:p>
        </p:txBody>
      </p:sp>
    </p:spTree>
    <p:extLst>
      <p:ext uri="{BB962C8B-B14F-4D97-AF65-F5344CB8AC3E}">
        <p14:creationId xmlns:p14="http://schemas.microsoft.com/office/powerpoint/2010/main" val="748767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wipe(down)">
                                      <p:cBhvr>
                                        <p:cTn id="7" dur="500"/>
                                        <p:tgtEl>
                                          <p:spTgt spid="3">
                                            <p:txEl>
                                              <p:pRg st="5" end="5"/>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wipe(down)">
                                      <p:cBhvr>
                                        <p:cTn id="10" dur="500"/>
                                        <p:tgtEl>
                                          <p:spTgt spid="3">
                                            <p:txEl>
                                              <p:pRg st="6" end="6"/>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animEffect transition="in" filter="wipe(down)">
                                      <p:cBhvr>
                                        <p:cTn id="13" dur="500"/>
                                        <p:tgtEl>
                                          <p:spTgt spid="3">
                                            <p:txEl>
                                              <p:pRg st="7" end="7"/>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8" end="8"/>
                                            </p:txEl>
                                          </p:spTgt>
                                        </p:tgtEl>
                                        <p:attrNameLst>
                                          <p:attrName>style.visibility</p:attrName>
                                        </p:attrNameLst>
                                      </p:cBhvr>
                                      <p:to>
                                        <p:strVal val="visible"/>
                                      </p:to>
                                    </p:set>
                                    <p:animEffect transition="in" filter="wipe(down)">
                                      <p:cBhvr>
                                        <p:cTn id="16"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欧拉通路和欧拉回路</a:t>
            </a:r>
            <a:endParaRPr lang="en-US" dirty="0"/>
          </a:p>
        </p:txBody>
      </p:sp>
      <p:sp>
        <p:nvSpPr>
          <p:cNvPr id="3" name="Content Placeholder 2"/>
          <p:cNvSpPr>
            <a:spLocks noGrp="1"/>
          </p:cNvSpPr>
          <p:nvPr>
            <p:ph idx="1"/>
          </p:nvPr>
        </p:nvSpPr>
        <p:spPr/>
        <p:txBody>
          <a:bodyPr>
            <a:normAutofit/>
          </a:bodyPr>
          <a:lstStyle/>
          <a:p>
            <a:r>
              <a:rPr lang="zh-CN" altLang="en-US" dirty="0" smtClean="0"/>
              <a:t>欧</a:t>
            </a:r>
            <a:r>
              <a:rPr lang="zh-CN" altLang="en-US" dirty="0"/>
              <a:t>拉回</a:t>
            </a:r>
            <a:r>
              <a:rPr lang="zh-CN" altLang="en-US" dirty="0" smtClean="0"/>
              <a:t>路的充要条件之</a:t>
            </a:r>
            <a:r>
              <a:rPr lang="zh-CN" altLang="en-US" u="sng" dirty="0" smtClean="0"/>
              <a:t>充分条件</a:t>
            </a:r>
            <a:r>
              <a:rPr lang="en-US" altLang="zh-CN" dirty="0" smtClean="0"/>
              <a:t>: </a:t>
            </a:r>
          </a:p>
          <a:p>
            <a:pPr lvl="1"/>
            <a:r>
              <a:rPr lang="zh-CN" altLang="en-US" dirty="0"/>
              <a:t>一条欧拉回路从顶点</a:t>
            </a:r>
            <a:r>
              <a:rPr lang="en-US" altLang="zh-CN" dirty="0"/>
              <a:t>a</a:t>
            </a:r>
            <a:r>
              <a:rPr lang="zh-CN" altLang="en-US" dirty="0" smtClean="0"/>
              <a:t>开始</a:t>
            </a:r>
            <a:r>
              <a:rPr lang="en-US" altLang="zh-CN" dirty="0" smtClean="0"/>
              <a:t>, </a:t>
            </a:r>
            <a:r>
              <a:rPr lang="zh-CN" altLang="en-US" dirty="0" smtClean="0"/>
              <a:t>接着</a:t>
            </a:r>
            <a:r>
              <a:rPr lang="zh-CN" altLang="en-US" dirty="0"/>
              <a:t>是</a:t>
            </a:r>
            <a:r>
              <a:rPr lang="en-US" altLang="zh-CN" dirty="0"/>
              <a:t>a</a:t>
            </a:r>
            <a:r>
              <a:rPr lang="zh-CN" altLang="en-US" dirty="0"/>
              <a:t>关联的一条</a:t>
            </a:r>
            <a:r>
              <a:rPr lang="zh-CN" altLang="en-US" dirty="0" smtClean="0"/>
              <a:t>边</a:t>
            </a:r>
            <a:r>
              <a:rPr lang="en-US" altLang="zh-CN" dirty="0" smtClean="0"/>
              <a:t>, </a:t>
            </a:r>
            <a:r>
              <a:rPr lang="zh-CN" altLang="en-US" dirty="0" smtClean="0"/>
              <a:t>比如</a:t>
            </a:r>
            <a:r>
              <a:rPr lang="en-US" altLang="zh-CN" dirty="0"/>
              <a:t>{</a:t>
            </a:r>
            <a:r>
              <a:rPr lang="en-US" altLang="zh-CN" dirty="0" smtClean="0"/>
              <a:t>a, b}, </a:t>
            </a:r>
            <a:r>
              <a:rPr lang="zh-CN" altLang="en-US" dirty="0" smtClean="0"/>
              <a:t>边</a:t>
            </a:r>
            <a:r>
              <a:rPr lang="en-US" altLang="zh-CN" dirty="0"/>
              <a:t>{</a:t>
            </a:r>
            <a:r>
              <a:rPr lang="en-US" altLang="zh-CN" dirty="0" smtClean="0"/>
              <a:t>a, b</a:t>
            </a:r>
            <a:r>
              <a:rPr lang="en-US" altLang="zh-CN" dirty="0"/>
              <a:t>}</a:t>
            </a:r>
            <a:r>
              <a:rPr lang="zh-CN" altLang="en-US" dirty="0"/>
              <a:t> </a:t>
            </a:r>
            <a:r>
              <a:rPr lang="en-US" dirty="0" err="1" smtClean="0"/>
              <a:t>deg</a:t>
            </a:r>
            <a:r>
              <a:rPr lang="en-US" dirty="0" smtClean="0"/>
              <a:t>(a)</a:t>
            </a:r>
            <a:r>
              <a:rPr lang="zh-CN" altLang="en-US" dirty="0" smtClean="0"/>
              <a:t>的</a:t>
            </a:r>
            <a:r>
              <a:rPr lang="zh-CN" altLang="en-US" dirty="0"/>
              <a:t>贡献度为</a:t>
            </a:r>
            <a:r>
              <a:rPr lang="en-US" altLang="zh-CN" dirty="0"/>
              <a:t>1</a:t>
            </a:r>
            <a:r>
              <a:rPr lang="en-US" dirty="0"/>
              <a:t>. </a:t>
            </a:r>
          </a:p>
          <a:p>
            <a:pPr lvl="1"/>
            <a:r>
              <a:rPr lang="zh-CN" altLang="en-US" dirty="0"/>
              <a:t>这条欧拉回路每经过一个顶点就为该顶点的度贡献</a:t>
            </a:r>
            <a:r>
              <a:rPr lang="en-US" altLang="zh-CN" dirty="0"/>
              <a:t>2</a:t>
            </a:r>
            <a:r>
              <a:rPr lang="zh-CN" altLang="en-US" dirty="0"/>
              <a:t>度</a:t>
            </a:r>
            <a:r>
              <a:rPr lang="en-US" dirty="0"/>
              <a:t>. </a:t>
            </a:r>
          </a:p>
          <a:p>
            <a:pPr lvl="1"/>
            <a:r>
              <a:rPr lang="zh-CN" altLang="en-US" dirty="0"/>
              <a:t>这条回路从顶点</a:t>
            </a:r>
            <a:r>
              <a:rPr lang="en-US" altLang="zh-CN" dirty="0"/>
              <a:t>a</a:t>
            </a:r>
            <a:r>
              <a:rPr lang="zh-CN" altLang="en-US" dirty="0" smtClean="0"/>
              <a:t>出发</a:t>
            </a:r>
            <a:r>
              <a:rPr lang="en-US" altLang="zh-CN" dirty="0" smtClean="0"/>
              <a:t>, </a:t>
            </a:r>
            <a:r>
              <a:rPr lang="zh-CN" altLang="en-US" dirty="0" smtClean="0"/>
              <a:t>经过</a:t>
            </a:r>
            <a:r>
              <a:rPr lang="zh-CN" altLang="en-US" dirty="0"/>
              <a:t>其他边最后回到这个顶点</a:t>
            </a:r>
            <a:r>
              <a:rPr lang="en-US" altLang="zh-CN" dirty="0" smtClean="0"/>
              <a:t>a, </a:t>
            </a:r>
            <a:r>
              <a:rPr lang="zh-CN" altLang="en-US" dirty="0" smtClean="0"/>
              <a:t>所以</a:t>
            </a:r>
            <a:r>
              <a:rPr lang="en-US" altLang="zh-CN" dirty="0" smtClean="0"/>
              <a:t>, </a:t>
            </a:r>
            <a:r>
              <a:rPr lang="en-US" dirty="0" err="1" smtClean="0"/>
              <a:t>deg</a:t>
            </a:r>
            <a:r>
              <a:rPr lang="en-US" dirty="0" smtClean="0"/>
              <a:t>(a)</a:t>
            </a:r>
            <a:r>
              <a:rPr lang="zh-CN" altLang="en-US" dirty="0" smtClean="0"/>
              <a:t>一定</a:t>
            </a:r>
            <a:r>
              <a:rPr lang="zh-CN" altLang="en-US" dirty="0"/>
              <a:t>是偶数</a:t>
            </a:r>
            <a:r>
              <a:rPr lang="en-US" dirty="0"/>
              <a:t>.</a:t>
            </a:r>
          </a:p>
          <a:p>
            <a:pPr lvl="1"/>
            <a:r>
              <a:rPr lang="zh-CN" altLang="en-US" dirty="0" smtClean="0"/>
              <a:t>所以</a:t>
            </a:r>
            <a:r>
              <a:rPr lang="en-US" altLang="zh-CN" dirty="0" smtClean="0"/>
              <a:t>, </a:t>
            </a:r>
            <a:r>
              <a:rPr lang="zh-CN" altLang="en-US" dirty="0" smtClean="0"/>
              <a:t>其他</a:t>
            </a:r>
            <a:r>
              <a:rPr lang="zh-CN" altLang="en-US" dirty="0"/>
              <a:t>的每个顶点的度也是偶数</a:t>
            </a:r>
            <a:r>
              <a:rPr lang="en-US" dirty="0"/>
              <a:t>.</a:t>
            </a:r>
          </a:p>
          <a:p>
            <a:pPr lvl="1"/>
            <a:r>
              <a:rPr lang="zh-CN" altLang="en-US" dirty="0"/>
              <a:t>由此得出</a:t>
            </a:r>
            <a:r>
              <a:rPr lang="zh-CN" altLang="en-US" dirty="0" smtClean="0"/>
              <a:t>结论</a:t>
            </a:r>
            <a:r>
              <a:rPr lang="en-US" altLang="zh-CN" dirty="0" smtClean="0"/>
              <a:t>: </a:t>
            </a:r>
            <a:r>
              <a:rPr lang="zh-CN" altLang="en-US" b="1" dirty="0" smtClean="0"/>
              <a:t>若</a:t>
            </a:r>
            <a:r>
              <a:rPr lang="zh-CN" altLang="en-US" b="1" dirty="0"/>
              <a:t>连通图有欧拉回</a:t>
            </a:r>
            <a:r>
              <a:rPr lang="zh-CN" altLang="en-US" b="1" dirty="0" smtClean="0"/>
              <a:t>路</a:t>
            </a:r>
            <a:r>
              <a:rPr lang="en-US" altLang="zh-CN" b="1" dirty="0" smtClean="0"/>
              <a:t>, </a:t>
            </a:r>
            <a:r>
              <a:rPr lang="zh-CN" altLang="en-US" b="1" dirty="0" smtClean="0"/>
              <a:t>则</a:t>
            </a:r>
            <a:r>
              <a:rPr lang="zh-CN" altLang="en-US" b="1" dirty="0"/>
              <a:t>每个顶点必有偶数的度</a:t>
            </a:r>
            <a:r>
              <a:rPr lang="en-US" dirty="0"/>
              <a:t>.</a:t>
            </a:r>
          </a:p>
        </p:txBody>
      </p:sp>
      <p:sp>
        <p:nvSpPr>
          <p:cNvPr id="6" name="日期占位符 5"/>
          <p:cNvSpPr>
            <a:spLocks noGrp="1"/>
          </p:cNvSpPr>
          <p:nvPr>
            <p:ph type="dt" sz="half" idx="10"/>
          </p:nvPr>
        </p:nvSpPr>
        <p:spPr/>
        <p:txBody>
          <a:bodyPr/>
          <a:lstStyle/>
          <a:p>
            <a:fld id="{1A7D94F9-05F7-4A3C-8227-AA7F09722D41}" type="datetime1">
              <a:rPr lang="zh-CN" altLang="en-US" smtClean="0"/>
              <a:t>2025/4/15</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154</a:t>
            </a:fld>
            <a:endParaRPr lang="zh-CN" altLang="en-US" dirty="0"/>
          </a:p>
        </p:txBody>
      </p:sp>
      <p:sp>
        <p:nvSpPr>
          <p:cNvPr id="4" name="椭圆 3"/>
          <p:cNvSpPr/>
          <p:nvPr/>
        </p:nvSpPr>
        <p:spPr>
          <a:xfrm>
            <a:off x="2819400" y="4953000"/>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4336701" y="4876800"/>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5181600" y="5486400"/>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3505200" y="5705387"/>
            <a:ext cx="364202" cy="400110"/>
          </a:xfrm>
          <a:prstGeom prst="rect">
            <a:avLst/>
          </a:prstGeom>
          <a:noFill/>
        </p:spPr>
        <p:txBody>
          <a:bodyPr wrap="none" rtlCol="0">
            <a:spAutoFit/>
          </a:bodyPr>
          <a:lstStyle/>
          <a:p>
            <a:r>
              <a:rPr lang="en-US" altLang="zh-CN" sz="2000" dirty="0" smtClean="0"/>
              <a:t>…</a:t>
            </a:r>
            <a:endParaRPr lang="zh-CN" altLang="en-US" sz="2000" dirty="0"/>
          </a:p>
        </p:txBody>
      </p:sp>
      <p:cxnSp>
        <p:nvCxnSpPr>
          <p:cNvPr id="12" name="直接连接符 11"/>
          <p:cNvCxnSpPr>
            <a:stCxn id="4" idx="2"/>
            <a:endCxn id="9" idx="6"/>
          </p:cNvCxnSpPr>
          <p:nvPr/>
        </p:nvCxnSpPr>
        <p:spPr>
          <a:xfrm flipV="1">
            <a:off x="2819400" y="4953000"/>
            <a:ext cx="1669701"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10" idx="1"/>
            <a:endCxn id="9" idx="6"/>
          </p:cNvCxnSpPr>
          <p:nvPr/>
        </p:nvCxnSpPr>
        <p:spPr>
          <a:xfrm flipH="1" flipV="1">
            <a:off x="4489101" y="4953000"/>
            <a:ext cx="714817" cy="555718"/>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直接连接符 18"/>
          <p:cNvCxnSpPr>
            <a:stCxn id="10" idx="2"/>
            <a:endCxn id="5" idx="3"/>
          </p:cNvCxnSpPr>
          <p:nvPr/>
        </p:nvCxnSpPr>
        <p:spPr>
          <a:xfrm flipH="1">
            <a:off x="3869402" y="5562600"/>
            <a:ext cx="1312198" cy="342842"/>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直接连接符 21"/>
          <p:cNvCxnSpPr>
            <a:stCxn id="4" idx="5"/>
            <a:endCxn id="5" idx="1"/>
          </p:cNvCxnSpPr>
          <p:nvPr/>
        </p:nvCxnSpPr>
        <p:spPr>
          <a:xfrm>
            <a:off x="2949482" y="5083082"/>
            <a:ext cx="555718" cy="822360"/>
          </a:xfrm>
          <a:prstGeom prst="line">
            <a:avLst/>
          </a:prstGeom>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a:xfrm>
            <a:off x="2598930" y="4673087"/>
            <a:ext cx="312906" cy="369332"/>
          </a:xfrm>
          <a:prstGeom prst="rect">
            <a:avLst/>
          </a:prstGeom>
          <a:noFill/>
        </p:spPr>
        <p:txBody>
          <a:bodyPr wrap="none" rtlCol="0">
            <a:spAutoFit/>
          </a:bodyPr>
          <a:lstStyle/>
          <a:p>
            <a:r>
              <a:rPr lang="en-US" altLang="zh-CN" dirty="0" smtClean="0">
                <a:latin typeface="微软雅黑" panose="020B0503020204020204" pitchFamily="34" charset="-122"/>
                <a:ea typeface="微软雅黑" panose="020B0503020204020204" pitchFamily="34" charset="-122"/>
              </a:rPr>
              <a:t>a</a:t>
            </a:r>
            <a:endParaRPr lang="zh-CN" altLang="en-US" dirty="0">
              <a:latin typeface="微软雅黑" panose="020B0503020204020204" pitchFamily="34" charset="-122"/>
              <a:ea typeface="微软雅黑" panose="020B0503020204020204" pitchFamily="34" charset="-122"/>
            </a:endParaRPr>
          </a:p>
        </p:txBody>
      </p:sp>
      <p:sp>
        <p:nvSpPr>
          <p:cNvPr id="26" name="文本框 25"/>
          <p:cNvSpPr txBox="1"/>
          <p:nvPr/>
        </p:nvSpPr>
        <p:spPr>
          <a:xfrm>
            <a:off x="4332648" y="4545568"/>
            <a:ext cx="332142" cy="369332"/>
          </a:xfrm>
          <a:prstGeom prst="rect">
            <a:avLst/>
          </a:prstGeom>
          <a:noFill/>
        </p:spPr>
        <p:txBody>
          <a:bodyPr wrap="none" rtlCol="0">
            <a:spAutoFit/>
          </a:bodyPr>
          <a:lstStyle/>
          <a:p>
            <a:r>
              <a:rPr lang="en-US" altLang="zh-CN" dirty="0" smtClean="0">
                <a:latin typeface="微软雅黑" panose="020B0503020204020204" pitchFamily="34" charset="-122"/>
                <a:ea typeface="微软雅黑" panose="020B0503020204020204" pitchFamily="34" charset="-122"/>
              </a:rPr>
              <a:t>b</a:t>
            </a:r>
            <a:endParaRPr lang="zh-CN" altLang="en-US" dirty="0">
              <a:latin typeface="微软雅黑" panose="020B0503020204020204" pitchFamily="34" charset="-122"/>
              <a:ea typeface="微软雅黑" panose="020B0503020204020204" pitchFamily="34" charset="-122"/>
            </a:endParaRPr>
          </a:p>
        </p:txBody>
      </p:sp>
      <p:sp>
        <p:nvSpPr>
          <p:cNvPr id="27" name="文本框 26"/>
          <p:cNvSpPr txBox="1"/>
          <p:nvPr/>
        </p:nvSpPr>
        <p:spPr>
          <a:xfrm>
            <a:off x="5294150" y="5377934"/>
            <a:ext cx="300082" cy="369332"/>
          </a:xfrm>
          <a:prstGeom prst="rect">
            <a:avLst/>
          </a:prstGeom>
          <a:noFill/>
        </p:spPr>
        <p:txBody>
          <a:bodyPr wrap="none" rtlCol="0">
            <a:spAutoFit/>
          </a:bodyPr>
          <a:lstStyle/>
          <a:p>
            <a:r>
              <a:rPr lang="en-US" altLang="zh-CN" dirty="0" smtClean="0">
                <a:latin typeface="微软雅黑" panose="020B0503020204020204" pitchFamily="34" charset="-122"/>
                <a:ea typeface="微软雅黑" panose="020B0503020204020204" pitchFamily="34" charset="-122"/>
              </a:rPr>
              <a:t>c</a:t>
            </a:r>
            <a:endParaRPr lang="zh-CN" altLang="en-US" dirty="0">
              <a:latin typeface="微软雅黑" panose="020B0503020204020204" pitchFamily="34" charset="-122"/>
              <a:ea typeface="微软雅黑" panose="020B0503020204020204" pitchFamily="34" charset="-122"/>
            </a:endParaRPr>
          </a:p>
        </p:txBody>
      </p:sp>
      <p:sp>
        <p:nvSpPr>
          <p:cNvPr id="28" name="文本框 27"/>
          <p:cNvSpPr txBox="1"/>
          <p:nvPr/>
        </p:nvSpPr>
        <p:spPr>
          <a:xfrm>
            <a:off x="2925594" y="4628378"/>
            <a:ext cx="1228221" cy="369332"/>
          </a:xfrm>
          <a:prstGeom prst="rect">
            <a:avLst/>
          </a:prstGeom>
          <a:noFill/>
        </p:spPr>
        <p:txBody>
          <a:bodyPr wrap="none" rtlCol="0">
            <a:spAutoFit/>
          </a:bodyPr>
          <a:lstStyle/>
          <a:p>
            <a:r>
              <a:rPr lang="en-US" altLang="zh-CN" dirty="0" err="1" smtClean="0">
                <a:latin typeface="微软雅黑" panose="020B0503020204020204" pitchFamily="34" charset="-122"/>
                <a:ea typeface="微软雅黑" panose="020B0503020204020204" pitchFamily="34" charset="-122"/>
              </a:rPr>
              <a:t>deg</a:t>
            </a:r>
            <a:r>
              <a:rPr lang="en-US" altLang="zh-CN" dirty="0" smtClean="0">
                <a:latin typeface="微软雅黑" panose="020B0503020204020204" pitchFamily="34" charset="-122"/>
                <a:ea typeface="微软雅黑" panose="020B0503020204020204" pitchFamily="34" charset="-122"/>
              </a:rPr>
              <a:t>(a)+1</a:t>
            </a:r>
            <a:endParaRPr lang="zh-CN" altLang="en-US" dirty="0">
              <a:latin typeface="微软雅黑" panose="020B0503020204020204" pitchFamily="34" charset="-122"/>
              <a:ea typeface="微软雅黑" panose="020B0503020204020204" pitchFamily="34" charset="-122"/>
            </a:endParaRPr>
          </a:p>
        </p:txBody>
      </p:sp>
      <p:sp>
        <p:nvSpPr>
          <p:cNvPr id="29" name="文本框 28"/>
          <p:cNvSpPr txBox="1"/>
          <p:nvPr/>
        </p:nvSpPr>
        <p:spPr>
          <a:xfrm>
            <a:off x="1961111" y="5159282"/>
            <a:ext cx="1228221" cy="369332"/>
          </a:xfrm>
          <a:prstGeom prst="rect">
            <a:avLst/>
          </a:prstGeom>
          <a:noFill/>
        </p:spPr>
        <p:txBody>
          <a:bodyPr wrap="none" rtlCol="0">
            <a:spAutoFit/>
          </a:bodyPr>
          <a:lstStyle/>
          <a:p>
            <a:r>
              <a:rPr lang="en-US" altLang="zh-CN" dirty="0" err="1" smtClean="0">
                <a:latin typeface="微软雅黑" panose="020B0503020204020204" pitchFamily="34" charset="-122"/>
                <a:ea typeface="微软雅黑" panose="020B0503020204020204" pitchFamily="34" charset="-122"/>
              </a:rPr>
              <a:t>deg</a:t>
            </a:r>
            <a:r>
              <a:rPr lang="en-US" altLang="zh-CN" dirty="0" smtClean="0">
                <a:latin typeface="微软雅黑" panose="020B0503020204020204" pitchFamily="34" charset="-122"/>
                <a:ea typeface="微软雅黑" panose="020B0503020204020204" pitchFamily="34" charset="-122"/>
              </a:rPr>
              <a:t>(a)+1</a:t>
            </a:r>
            <a:endParaRPr lang="zh-CN" altLang="en-US" dirty="0">
              <a:latin typeface="微软雅黑" panose="020B0503020204020204" pitchFamily="34" charset="-122"/>
              <a:ea typeface="微软雅黑" panose="020B0503020204020204" pitchFamily="34" charset="-122"/>
            </a:endParaRPr>
          </a:p>
        </p:txBody>
      </p:sp>
      <p:sp>
        <p:nvSpPr>
          <p:cNvPr id="30" name="文本框 29"/>
          <p:cNvSpPr txBox="1"/>
          <p:nvPr/>
        </p:nvSpPr>
        <p:spPr>
          <a:xfrm>
            <a:off x="4637031" y="4806434"/>
            <a:ext cx="1228221" cy="369332"/>
          </a:xfrm>
          <a:prstGeom prst="rect">
            <a:avLst/>
          </a:prstGeom>
          <a:noFill/>
        </p:spPr>
        <p:txBody>
          <a:bodyPr wrap="none" rtlCol="0">
            <a:spAutoFit/>
          </a:bodyPr>
          <a:lstStyle/>
          <a:p>
            <a:r>
              <a:rPr lang="en-US" altLang="zh-CN" dirty="0" err="1" smtClean="0">
                <a:latin typeface="微软雅黑" panose="020B0503020204020204" pitchFamily="34" charset="-122"/>
                <a:ea typeface="微软雅黑" panose="020B0503020204020204" pitchFamily="34" charset="-122"/>
              </a:rPr>
              <a:t>deg</a:t>
            </a:r>
            <a:r>
              <a:rPr lang="en-US" altLang="zh-CN" dirty="0" smtClean="0">
                <a:latin typeface="微软雅黑" panose="020B0503020204020204" pitchFamily="34" charset="-122"/>
                <a:ea typeface="微软雅黑" panose="020B0503020204020204" pitchFamily="34" charset="-122"/>
              </a:rPr>
              <a:t>(b)+2</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3559925"/>
      </p:ext>
    </p:extLst>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欧拉通路和欧拉回路</a:t>
            </a:r>
            <a:endParaRPr lang="en-US" dirty="0"/>
          </a:p>
        </p:txBody>
      </p:sp>
      <mc:AlternateContent xmlns:mc="http://schemas.openxmlformats.org/markup-compatibility/2006" xmlns:a14="http://schemas.microsoft.com/office/drawing/2010/main">
        <mc:Choice Requires="a14">
          <p:sp>
            <p:nvSpPr>
              <p:cNvPr id="6" name="Content Placeholder 5"/>
              <p:cNvSpPr>
                <a:spLocks noGrp="1"/>
              </p:cNvSpPr>
              <p:nvPr>
                <p:ph idx="1"/>
              </p:nvPr>
            </p:nvSpPr>
            <p:spPr/>
            <p:txBody>
              <a:bodyPr>
                <a:normAutofit/>
              </a:bodyPr>
              <a:lstStyle/>
              <a:p>
                <a:r>
                  <a:rPr lang="zh-CN" altLang="en-US" dirty="0" smtClean="0"/>
                  <a:t>欧拉回路的充要条件之</a:t>
                </a:r>
                <a:r>
                  <a:rPr lang="zh-CN" altLang="en-US" u="sng" dirty="0" smtClean="0"/>
                  <a:t>必要条件</a:t>
                </a:r>
                <a:r>
                  <a:rPr lang="en-US" altLang="zh-CN" dirty="0" smtClean="0"/>
                  <a:t>: </a:t>
                </a:r>
                <a:endParaRPr lang="en-US" altLang="zh-CN" dirty="0"/>
              </a:p>
              <a:p>
                <a:pPr lvl="1"/>
                <a:r>
                  <a:rPr lang="zh-CN" altLang="en-US" dirty="0"/>
                  <a:t>令</a:t>
                </a:r>
                <a:r>
                  <a:rPr lang="en-US" altLang="zh-CN" dirty="0"/>
                  <a:t>G</a:t>
                </a:r>
                <a:r>
                  <a:rPr lang="zh-CN" altLang="en-US" dirty="0"/>
                  <a:t>是连通</a:t>
                </a:r>
                <a:r>
                  <a:rPr lang="zh-CN" altLang="en-US" dirty="0" smtClean="0"/>
                  <a:t>多重图</a:t>
                </a:r>
                <a:r>
                  <a:rPr lang="en-US" altLang="zh-CN" dirty="0" smtClean="0"/>
                  <a:t>, </a:t>
                </a:r>
                <a:r>
                  <a:rPr lang="zh-CN" altLang="en-US" dirty="0" smtClean="0"/>
                  <a:t>且</a:t>
                </a:r>
                <a:r>
                  <a:rPr lang="en-US" altLang="zh-CN" dirty="0"/>
                  <a:t>G</a:t>
                </a:r>
                <a:r>
                  <a:rPr lang="zh-CN" altLang="en-US" dirty="0"/>
                  <a:t>的每个顶点的度都是偶数</a:t>
                </a:r>
                <a:r>
                  <a:rPr lang="en-US" altLang="zh-CN" dirty="0" smtClean="0"/>
                  <a:t>. </a:t>
                </a:r>
                <a:r>
                  <a:rPr lang="zh-CN" altLang="en-US" dirty="0" smtClean="0"/>
                  <a:t>我们</a:t>
                </a:r>
                <a:r>
                  <a:rPr lang="zh-CN" altLang="en-US" dirty="0"/>
                  <a:t>一</a:t>
                </a:r>
                <a:r>
                  <a:rPr lang="zh-CN" altLang="en-US" dirty="0" smtClean="0"/>
                  <a:t>条边一</a:t>
                </a:r>
                <a:r>
                  <a:rPr lang="zh-CN" altLang="en-US" dirty="0"/>
                  <a:t>条边地构造从</a:t>
                </a:r>
                <a:r>
                  <a:rPr lang="en-US" altLang="zh-CN" dirty="0"/>
                  <a:t>G</a:t>
                </a:r>
                <a:r>
                  <a:rPr lang="zh-CN" altLang="en-US" dirty="0"/>
                  <a:t>的任意顶点</a:t>
                </a:r>
                <a:r>
                  <a:rPr lang="en-US" altLang="zh-CN" dirty="0"/>
                  <a:t>a</a:t>
                </a:r>
                <a:r>
                  <a:rPr lang="zh-CN" altLang="en-US" dirty="0"/>
                  <a:t>开始的简单回路</a:t>
                </a:r>
                <a:r>
                  <a:rPr lang="en-US" altLang="zh-CN" dirty="0"/>
                  <a:t>.</a:t>
                </a:r>
              </a:p>
              <a:p>
                <a:pPr lvl="1"/>
                <a:r>
                  <a:rPr lang="zh-CN" altLang="en-US" dirty="0"/>
                  <a:t>设</a:t>
                </a:r>
                <a14:m>
                  <m:oMath xmlns:m="http://schemas.openxmlformats.org/officeDocument/2006/math">
                    <m:sSub>
                      <m:sSubPr>
                        <m:ctrlPr>
                          <a:rPr lang="en-US" altLang="zh-CN" i="1" dirty="0" smtClean="0">
                            <a:latin typeface="Cambria Math" panose="02040503050406030204" pitchFamily="18" charset="0"/>
                          </a:rPr>
                        </m:ctrlPr>
                      </m:sSubPr>
                      <m:e>
                        <m:r>
                          <a:rPr lang="en-US" altLang="zh-CN" b="0" i="1" dirty="0" smtClean="0">
                            <a:latin typeface="Cambria Math" panose="02040503050406030204" pitchFamily="18" charset="0"/>
                          </a:rPr>
                          <m:t>𝑥</m:t>
                        </m:r>
                      </m:e>
                      <m:sub>
                        <m:r>
                          <a:rPr lang="en-US" altLang="zh-CN" b="0" i="1" dirty="0" smtClean="0">
                            <a:latin typeface="Cambria Math" panose="02040503050406030204" pitchFamily="18" charset="0"/>
                          </a:rPr>
                          <m:t>0</m:t>
                        </m:r>
                      </m:sub>
                    </m:sSub>
                  </m:oMath>
                </a14:m>
                <a:r>
                  <a:rPr lang="en-US" dirty="0" smtClean="0"/>
                  <a:t>=a</a:t>
                </a:r>
                <a:r>
                  <a:rPr lang="en-US" altLang="zh-CN" dirty="0" smtClean="0"/>
                  <a:t>, </a:t>
                </a:r>
                <a:r>
                  <a:rPr lang="zh-CN" altLang="en-US" dirty="0" smtClean="0"/>
                  <a:t>首先</a:t>
                </a:r>
                <a:r>
                  <a:rPr lang="zh-CN" altLang="en-US" dirty="0"/>
                  <a:t>任意选择一条关联</a:t>
                </a:r>
                <a:r>
                  <a:rPr lang="en-US" altLang="zh-CN" dirty="0"/>
                  <a:t>a</a:t>
                </a:r>
                <a:r>
                  <a:rPr lang="zh-CN" altLang="en-US" dirty="0"/>
                  <a:t>的边</a:t>
                </a:r>
                <a:r>
                  <a:rPr lang="en-US" dirty="0"/>
                  <a:t> {</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𝑥</m:t>
                        </m:r>
                      </m:e>
                      <m:sub>
                        <m:r>
                          <a:rPr lang="en-US" altLang="zh-CN" i="1" dirty="0">
                            <a:latin typeface="Cambria Math" panose="02040503050406030204" pitchFamily="18" charset="0"/>
                          </a:rPr>
                          <m:t>0</m:t>
                        </m:r>
                      </m:sub>
                    </m:sSub>
                  </m:oMath>
                </a14:m>
                <a:r>
                  <a:rPr lang="en-US" dirty="0" smtClean="0"/>
                  <a:t>, </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𝑥</m:t>
                        </m:r>
                      </m:e>
                      <m:sub>
                        <m:r>
                          <a:rPr lang="en-US" altLang="zh-CN" b="0" i="1" dirty="0" smtClean="0">
                            <a:latin typeface="Cambria Math" panose="02040503050406030204" pitchFamily="18" charset="0"/>
                          </a:rPr>
                          <m:t>1</m:t>
                        </m:r>
                      </m:sub>
                    </m:sSub>
                  </m:oMath>
                </a14:m>
                <a:r>
                  <a:rPr lang="en-US" dirty="0" smtClean="0"/>
                  <a:t>}</a:t>
                </a:r>
                <a:r>
                  <a:rPr lang="en-US" altLang="zh-CN" dirty="0" smtClean="0"/>
                  <a:t>, </a:t>
                </a:r>
                <a:r>
                  <a:rPr lang="zh-CN" altLang="en-US" dirty="0" smtClean="0"/>
                  <a:t>因为</a:t>
                </a:r>
                <a:r>
                  <a:rPr lang="en-US" altLang="zh-CN" dirty="0"/>
                  <a:t>G</a:t>
                </a:r>
                <a:r>
                  <a:rPr lang="zh-CN" altLang="en-US" dirty="0"/>
                  <a:t>是连通</a:t>
                </a:r>
                <a:r>
                  <a:rPr lang="zh-CN" altLang="en-US" dirty="0" smtClean="0"/>
                  <a:t>的</a:t>
                </a:r>
                <a:r>
                  <a:rPr lang="en-US" altLang="zh-CN" dirty="0" smtClean="0"/>
                  <a:t>, </a:t>
                </a:r>
                <a:r>
                  <a:rPr lang="zh-CN" altLang="en-US" dirty="0" smtClean="0"/>
                  <a:t>所以</a:t>
                </a:r>
                <a:r>
                  <a:rPr lang="zh-CN" altLang="en-US" dirty="0"/>
                  <a:t>一条一条地增加边建立尽量长的简单通路</a:t>
                </a:r>
                <a:r>
                  <a:rPr lang="en-US" dirty="0"/>
                  <a:t> {</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𝑥</m:t>
                        </m:r>
                      </m:e>
                      <m:sub>
                        <m:r>
                          <a:rPr lang="en-US" altLang="zh-CN" i="1" dirty="0">
                            <a:latin typeface="Cambria Math" panose="02040503050406030204" pitchFamily="18" charset="0"/>
                          </a:rPr>
                          <m:t>0</m:t>
                        </m:r>
                      </m:sub>
                    </m:sSub>
                  </m:oMath>
                </a14:m>
                <a:r>
                  <a:rPr lang="en-US" altLang="zh-CN" dirty="0"/>
                  <a:t>, </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𝑥</m:t>
                        </m:r>
                      </m:e>
                      <m:sub>
                        <m:r>
                          <a:rPr lang="en-US" altLang="zh-CN" i="1" dirty="0">
                            <a:latin typeface="Cambria Math" panose="02040503050406030204" pitchFamily="18" charset="0"/>
                          </a:rPr>
                          <m:t>1</m:t>
                        </m:r>
                      </m:sub>
                    </m:sSub>
                  </m:oMath>
                </a14:m>
                <a:r>
                  <a:rPr lang="en-US" dirty="0" smtClean="0"/>
                  <a:t>}, {</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𝑥</m:t>
                        </m:r>
                      </m:e>
                      <m:sub>
                        <m:r>
                          <a:rPr lang="en-US" altLang="zh-CN" b="0" i="1" dirty="0" smtClean="0">
                            <a:latin typeface="Cambria Math" panose="02040503050406030204" pitchFamily="18" charset="0"/>
                          </a:rPr>
                          <m:t>1</m:t>
                        </m:r>
                      </m:sub>
                    </m:sSub>
                  </m:oMath>
                </a14:m>
                <a:r>
                  <a:rPr lang="en-US" altLang="zh-CN" dirty="0"/>
                  <a:t>, </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𝑥</m:t>
                        </m:r>
                      </m:e>
                      <m:sub>
                        <m:r>
                          <a:rPr lang="en-US" altLang="zh-CN" b="0" i="1" dirty="0" smtClean="0">
                            <a:latin typeface="Cambria Math" panose="02040503050406030204" pitchFamily="18" charset="0"/>
                          </a:rPr>
                          <m:t>2</m:t>
                        </m:r>
                      </m:sub>
                    </m:sSub>
                  </m:oMath>
                </a14:m>
                <a:r>
                  <a:rPr lang="en-US" dirty="0" smtClean="0"/>
                  <a:t>}, …, {</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𝑥</m:t>
                        </m:r>
                      </m:e>
                      <m:sub>
                        <m:r>
                          <a:rPr lang="en-US" altLang="zh-CN" b="0" i="1" dirty="0" smtClean="0">
                            <a:latin typeface="Cambria Math" panose="02040503050406030204" pitchFamily="18" charset="0"/>
                          </a:rPr>
                          <m:t>𝑛</m:t>
                        </m:r>
                        <m:r>
                          <a:rPr lang="en-US" altLang="zh-CN" b="0" i="1" dirty="0" smtClean="0">
                            <a:latin typeface="Cambria Math" panose="02040503050406030204" pitchFamily="18" charset="0"/>
                          </a:rPr>
                          <m:t>−1</m:t>
                        </m:r>
                      </m:sub>
                    </m:sSub>
                  </m:oMath>
                </a14:m>
                <a:r>
                  <a:rPr lang="en-US" altLang="zh-CN" dirty="0"/>
                  <a:t>, </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𝑥</m:t>
                        </m:r>
                      </m:e>
                      <m:sub>
                        <m:r>
                          <a:rPr lang="en-US" altLang="zh-CN" b="0" i="1" dirty="0" smtClean="0">
                            <a:latin typeface="Cambria Math" panose="02040503050406030204" pitchFamily="18" charset="0"/>
                          </a:rPr>
                          <m:t>𝑛</m:t>
                        </m:r>
                      </m:sub>
                    </m:sSub>
                  </m:oMath>
                </a14:m>
                <a:r>
                  <a:rPr lang="en-US" dirty="0"/>
                  <a:t>} </a:t>
                </a:r>
                <a:r>
                  <a:rPr lang="en-US" altLang="zh-CN" dirty="0" smtClean="0"/>
                  <a:t>, </a:t>
                </a:r>
                <a:r>
                  <a:rPr lang="zh-CN" altLang="en-US" dirty="0" smtClean="0"/>
                  <a:t>直到</a:t>
                </a:r>
                <a:r>
                  <a:rPr lang="zh-CN" altLang="en-US" dirty="0"/>
                  <a:t>不能再向这条通路中增加</a:t>
                </a:r>
                <a:r>
                  <a:rPr lang="zh-CN" altLang="en-US" dirty="0" smtClean="0"/>
                  <a:t>边</a:t>
                </a:r>
                <a:r>
                  <a:rPr lang="en-US" altLang="zh-CN" dirty="0" smtClean="0"/>
                  <a:t>, </a:t>
                </a:r>
                <a:r>
                  <a:rPr lang="zh-CN" altLang="en-US" dirty="0" smtClean="0"/>
                  <a:t>并且</a:t>
                </a:r>
                <a:r>
                  <a:rPr lang="zh-CN" altLang="en-US" dirty="0"/>
                  <a:t>该通路中已包含所有与该顶点相关联的边</a:t>
                </a:r>
                <a:r>
                  <a:rPr lang="en-US" altLang="zh-CN" dirty="0" smtClean="0"/>
                  <a:t>. </a:t>
                </a:r>
                <a:r>
                  <a:rPr lang="zh-CN" altLang="en-US" dirty="0" smtClean="0"/>
                  <a:t>例如</a:t>
                </a:r>
                <a:r>
                  <a:rPr lang="zh-CN" altLang="en-US" dirty="0"/>
                  <a:t>图</a:t>
                </a:r>
                <a:r>
                  <a:rPr lang="en-US" altLang="zh-CN" dirty="0"/>
                  <a:t>G</a:t>
                </a:r>
                <a:r>
                  <a:rPr lang="zh-CN" altLang="en-US" dirty="0" smtClean="0"/>
                  <a:t>中</a:t>
                </a:r>
                <a:r>
                  <a:rPr lang="en-US" altLang="zh-CN" dirty="0" smtClean="0"/>
                  <a:t>, </a:t>
                </a:r>
                <a:r>
                  <a:rPr lang="zh-CN" altLang="en-US" dirty="0" smtClean="0"/>
                  <a:t>从</a:t>
                </a:r>
                <a:r>
                  <a:rPr lang="en-US" altLang="zh-CN" dirty="0"/>
                  <a:t>a</a:t>
                </a:r>
                <a:r>
                  <a:rPr lang="zh-CN" altLang="en-US" dirty="0"/>
                  <a:t>开始连续选择</a:t>
                </a:r>
                <a:r>
                  <a:rPr lang="en-US" altLang="zh-CN" dirty="0"/>
                  <a:t>{</a:t>
                </a:r>
                <a:r>
                  <a:rPr lang="en-US" altLang="zh-CN" dirty="0" smtClean="0"/>
                  <a:t>a, f}, {f, c}, {c, b}, {b, a</a:t>
                </a:r>
                <a:r>
                  <a:rPr lang="en-US" altLang="zh-CN" dirty="0"/>
                  <a:t>}</a:t>
                </a:r>
                <a:r>
                  <a:rPr lang="en-US" dirty="0"/>
                  <a:t>. </a:t>
                </a:r>
                <a:endParaRPr lang="en-US" dirty="0" smtClean="0"/>
              </a:p>
              <a:p>
                <a:endParaRPr lang="en-US" dirty="0" smtClean="0"/>
              </a:p>
            </p:txBody>
          </p:sp>
        </mc:Choice>
        <mc:Fallback xmlns="">
          <p:sp>
            <p:nvSpPr>
              <p:cNvPr id="6" name="Content Placeholder 5"/>
              <p:cNvSpPr>
                <a:spLocks noGrp="1" noRot="1" noChangeAspect="1" noMove="1" noResize="1" noEditPoints="1" noAdjustHandles="1" noChangeArrowheads="1" noChangeShapeType="1" noTextEdit="1"/>
              </p:cNvSpPr>
              <p:nvPr>
                <p:ph idx="1"/>
              </p:nvPr>
            </p:nvSpPr>
            <p:spPr>
              <a:blipFill rotWithShape="0">
                <a:blip r:embed="rId2"/>
                <a:stretch>
                  <a:fillRect l="-999" t="-1310" r="-111"/>
                </a:stretch>
              </a:blipFill>
            </p:spPr>
            <p:txBody>
              <a:bodyPr/>
              <a:lstStyle/>
              <a:p>
                <a:r>
                  <a:rPr lang="zh-CN" altLang="en-US">
                    <a:noFill/>
                  </a:rPr>
                  <a:t> </a:t>
                </a:r>
              </a:p>
            </p:txBody>
          </p:sp>
        </mc:Fallback>
      </mc:AlternateContent>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71913" y="4038600"/>
            <a:ext cx="3429000" cy="2056520"/>
          </a:xfrm>
          <a:prstGeom prst="rect">
            <a:avLst/>
          </a:prstGeom>
        </p:spPr>
      </p:pic>
      <p:sp>
        <p:nvSpPr>
          <p:cNvPr id="9" name="日期占位符 8"/>
          <p:cNvSpPr>
            <a:spLocks noGrp="1"/>
          </p:cNvSpPr>
          <p:nvPr>
            <p:ph type="dt" sz="half" idx="10"/>
          </p:nvPr>
        </p:nvSpPr>
        <p:spPr/>
        <p:txBody>
          <a:bodyPr/>
          <a:lstStyle/>
          <a:p>
            <a:fld id="{807B5E3C-B3F4-430A-A131-2A4645B831AB}" type="datetime1">
              <a:rPr lang="zh-CN" altLang="en-US" smtClean="0"/>
              <a:t>2025/4/15</a:t>
            </a:fld>
            <a:endParaRPr lang="zh-CN" altLang="en-US" dirty="0"/>
          </a:p>
        </p:txBody>
      </p:sp>
      <p:sp>
        <p:nvSpPr>
          <p:cNvPr id="10" name="页脚占位符 9"/>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11" name="灯片编号占位符 10"/>
          <p:cNvSpPr>
            <a:spLocks noGrp="1"/>
          </p:cNvSpPr>
          <p:nvPr>
            <p:ph type="sldNum" sz="quarter" idx="12"/>
          </p:nvPr>
        </p:nvSpPr>
        <p:spPr/>
        <p:txBody>
          <a:bodyPr/>
          <a:lstStyle/>
          <a:p>
            <a:fld id="{67913A8A-9EFB-4B5F-9CCB-3D21173FAA85}" type="slidenum">
              <a:rPr lang="zh-CN" altLang="en-US" smtClean="0"/>
              <a:pPr/>
              <a:t>155</a:t>
            </a:fld>
            <a:endParaRPr lang="zh-CN" altLang="en-US" dirty="0"/>
          </a:p>
        </p:txBody>
      </p:sp>
    </p:spTree>
    <p:extLst>
      <p:ext uri="{BB962C8B-B14F-4D97-AF65-F5344CB8AC3E}">
        <p14:creationId xmlns:p14="http://schemas.microsoft.com/office/powerpoint/2010/main" val="1750943905"/>
      </p:ext>
    </p:extLst>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欧拉通路和欧拉回路</a:t>
            </a:r>
            <a:endParaRPr lang="en-US" dirty="0"/>
          </a:p>
        </p:txBody>
      </p:sp>
      <p:sp>
        <p:nvSpPr>
          <p:cNvPr id="6" name="Content Placeholder 5"/>
          <p:cNvSpPr>
            <a:spLocks noGrp="1"/>
          </p:cNvSpPr>
          <p:nvPr>
            <p:ph idx="1"/>
          </p:nvPr>
        </p:nvSpPr>
        <p:spPr/>
        <p:txBody>
          <a:bodyPr>
            <a:normAutofit/>
          </a:bodyPr>
          <a:lstStyle/>
          <a:p>
            <a:pPr marL="274320" lvl="1" indent="-274320">
              <a:lnSpc>
                <a:spcPct val="100000"/>
              </a:lnSpc>
              <a:spcBef>
                <a:spcPts val="1000"/>
              </a:spcBef>
              <a:buClr>
                <a:srgbClr val="CEA524"/>
              </a:buClr>
              <a:buSzPct val="100000"/>
              <a:buFont typeface="Wingdings" panose="05000000000000000000" pitchFamily="2" charset="2"/>
              <a:buChar char="q"/>
            </a:pPr>
            <a:r>
              <a:rPr lang="zh-CN" altLang="en-US" sz="2800" dirty="0" smtClean="0"/>
              <a:t>欧</a:t>
            </a:r>
            <a:r>
              <a:rPr lang="zh-CN" altLang="en-US" sz="2800" dirty="0"/>
              <a:t>拉回路的充要条件之必要条件</a:t>
            </a:r>
            <a:r>
              <a:rPr lang="en-US" altLang="zh-CN" sz="2800" dirty="0"/>
              <a:t>(</a:t>
            </a:r>
            <a:r>
              <a:rPr lang="zh-CN" altLang="en-US" sz="2800" dirty="0"/>
              <a:t>续</a:t>
            </a:r>
            <a:r>
              <a:rPr lang="en-US" altLang="zh-CN" sz="2800" dirty="0"/>
              <a:t>): </a:t>
            </a:r>
            <a:endParaRPr lang="en-US" altLang="zh-CN" dirty="0" smtClean="0"/>
          </a:p>
          <a:p>
            <a:pPr lvl="1"/>
            <a:r>
              <a:rPr lang="zh-CN" altLang="en-US" dirty="0" smtClean="0"/>
              <a:t>该</a:t>
            </a:r>
            <a:r>
              <a:rPr lang="zh-CN" altLang="en-US" dirty="0"/>
              <a:t>通路在</a:t>
            </a:r>
            <a:r>
              <a:rPr lang="en-US" altLang="zh-CN" dirty="0"/>
              <a:t>a</a:t>
            </a:r>
            <a:r>
              <a:rPr lang="zh-CN" altLang="en-US" dirty="0"/>
              <a:t>上以形</a:t>
            </a:r>
            <a:r>
              <a:rPr lang="zh-CN" altLang="en-US" dirty="0" smtClean="0"/>
              <a:t>如</a:t>
            </a:r>
            <a:r>
              <a:rPr lang="en-US" dirty="0" smtClean="0"/>
              <a:t>{a, x</a:t>
            </a:r>
            <a:r>
              <a:rPr lang="en-US" dirty="0"/>
              <a:t>}</a:t>
            </a:r>
            <a:r>
              <a:rPr lang="zh-CN" altLang="en-US" dirty="0"/>
              <a:t>的边</a:t>
            </a:r>
            <a:r>
              <a:rPr lang="zh-CN" altLang="en-US" dirty="0" smtClean="0"/>
              <a:t>开始</a:t>
            </a:r>
            <a:r>
              <a:rPr lang="en-US" altLang="zh-CN" dirty="0" smtClean="0"/>
              <a:t>, </a:t>
            </a:r>
            <a:r>
              <a:rPr lang="zh-CN" altLang="en-US" dirty="0" smtClean="0"/>
              <a:t>现在</a:t>
            </a:r>
            <a:r>
              <a:rPr lang="zh-CN" altLang="en-US" dirty="0"/>
              <a:t>再来证明它必然在</a:t>
            </a:r>
            <a:r>
              <a:rPr lang="en-US" altLang="zh-CN" dirty="0"/>
              <a:t>a</a:t>
            </a:r>
            <a:r>
              <a:rPr lang="zh-CN" altLang="en-US" dirty="0"/>
              <a:t>上以形如</a:t>
            </a:r>
            <a:r>
              <a:rPr lang="en-US" dirty="0"/>
              <a:t> {</a:t>
            </a:r>
            <a:r>
              <a:rPr lang="en-US" dirty="0" smtClean="0"/>
              <a:t>y, a</a:t>
            </a:r>
            <a:r>
              <a:rPr lang="en-US" dirty="0"/>
              <a:t>}</a:t>
            </a:r>
            <a:r>
              <a:rPr lang="zh-CN" altLang="en-US" dirty="0"/>
              <a:t>的边结束</a:t>
            </a:r>
            <a:r>
              <a:rPr lang="en-US" dirty="0"/>
              <a:t>. </a:t>
            </a:r>
            <a:r>
              <a:rPr lang="zh-CN" altLang="en-US" dirty="0"/>
              <a:t>通路每经过一个度为偶数的</a:t>
            </a:r>
            <a:r>
              <a:rPr lang="zh-CN" altLang="en-US" dirty="0" smtClean="0"/>
              <a:t>顶点时</a:t>
            </a:r>
            <a:r>
              <a:rPr lang="en-US" altLang="zh-CN" dirty="0" smtClean="0"/>
              <a:t>, </a:t>
            </a:r>
            <a:r>
              <a:rPr lang="zh-CN" altLang="en-US" dirty="0" smtClean="0"/>
              <a:t>它</a:t>
            </a:r>
            <a:r>
              <a:rPr lang="zh-CN" altLang="en-US" dirty="0"/>
              <a:t>只用</a:t>
            </a:r>
            <a:r>
              <a:rPr lang="en-US" altLang="zh-CN" dirty="0"/>
              <a:t>1</a:t>
            </a:r>
            <a:r>
              <a:rPr lang="zh-CN" altLang="en-US" dirty="0"/>
              <a:t>条边进入这个</a:t>
            </a:r>
            <a:r>
              <a:rPr lang="zh-CN" altLang="en-US" dirty="0" smtClean="0"/>
              <a:t>顶点</a:t>
            </a:r>
            <a:r>
              <a:rPr lang="en-US" altLang="zh-CN" dirty="0" smtClean="0"/>
              <a:t>, </a:t>
            </a:r>
            <a:r>
              <a:rPr lang="zh-CN" altLang="en-US" dirty="0" smtClean="0"/>
              <a:t>因为</a:t>
            </a:r>
            <a:r>
              <a:rPr lang="zh-CN" altLang="en-US" dirty="0"/>
              <a:t>度数至少为</a:t>
            </a:r>
            <a:r>
              <a:rPr lang="en-US" altLang="zh-CN" dirty="0" smtClean="0"/>
              <a:t>2, </a:t>
            </a:r>
            <a:r>
              <a:rPr lang="zh-CN" altLang="en-US" dirty="0" smtClean="0"/>
              <a:t>所以</a:t>
            </a:r>
            <a:r>
              <a:rPr lang="zh-CN" altLang="en-US" dirty="0"/>
              <a:t>通路中至少还剩下</a:t>
            </a:r>
            <a:r>
              <a:rPr lang="en-US" altLang="zh-CN" dirty="0"/>
              <a:t>1</a:t>
            </a:r>
            <a:r>
              <a:rPr lang="zh-CN" altLang="en-US" dirty="0"/>
              <a:t>条边离开这个顶点</a:t>
            </a:r>
            <a:r>
              <a:rPr lang="en-US" altLang="zh-CN" dirty="0" smtClean="0"/>
              <a:t>. </a:t>
            </a:r>
            <a:r>
              <a:rPr lang="zh-CN" altLang="en-US" dirty="0" smtClean="0"/>
              <a:t>而且</a:t>
            </a:r>
            <a:r>
              <a:rPr lang="en-US" altLang="zh-CN" dirty="0" smtClean="0"/>
              <a:t>, </a:t>
            </a:r>
            <a:r>
              <a:rPr lang="zh-CN" altLang="en-US" dirty="0" smtClean="0"/>
              <a:t>每次</a:t>
            </a:r>
            <a:r>
              <a:rPr lang="zh-CN" altLang="en-US" dirty="0"/>
              <a:t>进入和离开一个度数为偶数的</a:t>
            </a:r>
            <a:r>
              <a:rPr lang="zh-CN" altLang="en-US" dirty="0" smtClean="0"/>
              <a:t>顶点时</a:t>
            </a:r>
            <a:r>
              <a:rPr lang="en-US" altLang="zh-CN" dirty="0" smtClean="0"/>
              <a:t>, </a:t>
            </a:r>
            <a:r>
              <a:rPr lang="zh-CN" altLang="en-US" dirty="0" smtClean="0"/>
              <a:t>还有</a:t>
            </a:r>
            <a:r>
              <a:rPr lang="zh-CN" altLang="en-US" dirty="0"/>
              <a:t>偶数条没在通路中的</a:t>
            </a:r>
            <a:r>
              <a:rPr lang="zh-CN" altLang="en-US" dirty="0" smtClean="0"/>
              <a:t>边</a:t>
            </a:r>
            <a:r>
              <a:rPr lang="en-US" altLang="zh-CN" dirty="0" smtClean="0"/>
              <a:t>. </a:t>
            </a:r>
            <a:r>
              <a:rPr lang="zh-CN" altLang="en-US" dirty="0" smtClean="0"/>
              <a:t>同时</a:t>
            </a:r>
            <a:r>
              <a:rPr lang="en-US" altLang="zh-CN" dirty="0" smtClean="0"/>
              <a:t>, </a:t>
            </a:r>
            <a:r>
              <a:rPr lang="zh-CN" altLang="en-US" dirty="0" smtClean="0"/>
              <a:t>构造</a:t>
            </a:r>
            <a:r>
              <a:rPr lang="zh-CN" altLang="en-US" dirty="0"/>
              <a:t>的通路每次进入一个不同于</a:t>
            </a:r>
            <a:r>
              <a:rPr lang="en-US" altLang="zh-CN" dirty="0"/>
              <a:t>a</a:t>
            </a:r>
            <a:r>
              <a:rPr lang="zh-CN" altLang="en-US" dirty="0"/>
              <a:t>的顶点</a:t>
            </a:r>
            <a:r>
              <a:rPr lang="zh-CN" altLang="en-US" dirty="0" smtClean="0"/>
              <a:t>时</a:t>
            </a:r>
            <a:r>
              <a:rPr lang="en-US" altLang="zh-CN" dirty="0" smtClean="0"/>
              <a:t>, </a:t>
            </a:r>
            <a:r>
              <a:rPr lang="zh-CN" altLang="en-US" dirty="0" smtClean="0"/>
              <a:t>都</a:t>
            </a:r>
            <a:r>
              <a:rPr lang="zh-CN" altLang="en-US" dirty="0"/>
              <a:t>可以从该点离开</a:t>
            </a:r>
            <a:r>
              <a:rPr lang="en-US" altLang="zh-CN" dirty="0" smtClean="0"/>
              <a:t>. </a:t>
            </a:r>
            <a:r>
              <a:rPr lang="zh-CN" altLang="en-US" dirty="0" smtClean="0"/>
              <a:t>意味着</a:t>
            </a:r>
            <a:r>
              <a:rPr lang="en-US" altLang="zh-CN" dirty="0" smtClean="0"/>
              <a:t>, </a:t>
            </a:r>
            <a:r>
              <a:rPr lang="zh-CN" altLang="en-US" dirty="0" smtClean="0"/>
              <a:t>该</a:t>
            </a:r>
            <a:r>
              <a:rPr lang="zh-CN" altLang="en-US" dirty="0"/>
              <a:t>通路只能结束于</a:t>
            </a:r>
            <a:r>
              <a:rPr lang="en-US" altLang="zh-CN" dirty="0"/>
              <a:t>a</a:t>
            </a:r>
            <a:r>
              <a:rPr lang="en-US" dirty="0"/>
              <a:t>.</a:t>
            </a:r>
          </a:p>
          <a:p>
            <a:pPr lvl="1"/>
            <a:r>
              <a:rPr lang="zh-CN" altLang="en-US" dirty="0"/>
              <a:t>如果图</a:t>
            </a:r>
            <a:r>
              <a:rPr lang="en-US" altLang="zh-CN" dirty="0"/>
              <a:t>G</a:t>
            </a:r>
            <a:r>
              <a:rPr lang="zh-CN" altLang="en-US" dirty="0"/>
              <a:t>中所有的边都已经</a:t>
            </a:r>
            <a:r>
              <a:rPr lang="zh-CN" altLang="en-US" dirty="0" smtClean="0"/>
              <a:t>用完</a:t>
            </a:r>
            <a:r>
              <a:rPr lang="en-US" altLang="zh-CN" dirty="0" smtClean="0"/>
              <a:t>, </a:t>
            </a:r>
            <a:r>
              <a:rPr lang="zh-CN" altLang="en-US" dirty="0" smtClean="0"/>
              <a:t>则</a:t>
            </a:r>
            <a:r>
              <a:rPr lang="zh-CN" altLang="en-US" dirty="0"/>
              <a:t>欧拉回路构造好了</a:t>
            </a:r>
            <a:r>
              <a:rPr lang="en-US" altLang="zh-CN" dirty="0" smtClean="0"/>
              <a:t>. </a:t>
            </a:r>
            <a:r>
              <a:rPr lang="zh-CN" altLang="en-US" dirty="0" smtClean="0"/>
              <a:t>否则</a:t>
            </a:r>
            <a:r>
              <a:rPr lang="zh-CN" altLang="en-US" dirty="0"/>
              <a:t>从</a:t>
            </a:r>
            <a:r>
              <a:rPr lang="en-US" altLang="zh-CN" dirty="0"/>
              <a:t>G</a:t>
            </a:r>
            <a:r>
              <a:rPr lang="zh-CN" altLang="en-US" dirty="0"/>
              <a:t>中删除已经用过的边和不关联任何剩余边的顶点所得到的子图</a:t>
            </a:r>
            <a:r>
              <a:rPr lang="en-US" altLang="zh-CN" dirty="0"/>
              <a:t>H</a:t>
            </a:r>
            <a:r>
              <a:rPr lang="en-US" dirty="0"/>
              <a:t>. </a:t>
            </a:r>
          </a:p>
          <a:p>
            <a:endParaRPr lang="en-US" dirty="0" smtClean="0"/>
          </a:p>
          <a:p>
            <a:endParaRPr lang="en-US" dirty="0" smtClean="0"/>
          </a:p>
          <a:p>
            <a:endParaRPr lang="en-US" dirty="0" smtClean="0"/>
          </a:p>
          <a:p>
            <a:endParaRPr lang="en-US" dirty="0" smtClean="0"/>
          </a:p>
          <a:p>
            <a:endParaRPr lang="en-US" dirty="0" smtClean="0"/>
          </a:p>
          <a:p>
            <a:endParaRPr lang="en-US" dirty="0" smtClean="0"/>
          </a:p>
        </p:txBody>
      </p:sp>
      <p:sp>
        <p:nvSpPr>
          <p:cNvPr id="9" name="日期占位符 8"/>
          <p:cNvSpPr>
            <a:spLocks noGrp="1"/>
          </p:cNvSpPr>
          <p:nvPr>
            <p:ph type="dt" sz="half" idx="10"/>
          </p:nvPr>
        </p:nvSpPr>
        <p:spPr/>
        <p:txBody>
          <a:bodyPr/>
          <a:lstStyle/>
          <a:p>
            <a:fld id="{3AFEFBDE-9A04-4FE8-8DDA-C6E7C1D109F7}" type="datetime1">
              <a:rPr lang="zh-CN" altLang="en-US" smtClean="0"/>
              <a:t>2025/4/15</a:t>
            </a:fld>
            <a:endParaRPr lang="zh-CN" altLang="en-US" dirty="0"/>
          </a:p>
        </p:txBody>
      </p:sp>
      <p:sp>
        <p:nvSpPr>
          <p:cNvPr id="10" name="页脚占位符 9"/>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11" name="灯片编号占位符 10"/>
          <p:cNvSpPr>
            <a:spLocks noGrp="1"/>
          </p:cNvSpPr>
          <p:nvPr>
            <p:ph type="sldNum" sz="quarter" idx="12"/>
          </p:nvPr>
        </p:nvSpPr>
        <p:spPr/>
        <p:txBody>
          <a:bodyPr/>
          <a:lstStyle/>
          <a:p>
            <a:fld id="{67913A8A-9EFB-4B5F-9CCB-3D21173FAA85}" type="slidenum">
              <a:rPr lang="zh-CN" altLang="en-US" smtClean="0"/>
              <a:pPr/>
              <a:t>156</a:t>
            </a:fld>
            <a:endParaRPr lang="zh-CN" altLang="en-US" dirty="0"/>
          </a:p>
        </p:txBody>
      </p:sp>
      <p:pic>
        <p:nvPicPr>
          <p:cNvPr id="12"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45744" y="4572000"/>
            <a:ext cx="2286000" cy="1371013"/>
          </a:xfrm>
          <a:prstGeom prst="rect">
            <a:avLst/>
          </a:prstGeom>
        </p:spPr>
      </p:pic>
    </p:spTree>
    <p:extLst>
      <p:ext uri="{BB962C8B-B14F-4D97-AF65-F5344CB8AC3E}">
        <p14:creationId xmlns:p14="http://schemas.microsoft.com/office/powerpoint/2010/main" val="1395007025"/>
      </p:ext>
    </p:extLst>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欧拉通路和欧拉回路</a:t>
            </a:r>
            <a:endParaRPr lang="en-US" dirty="0"/>
          </a:p>
        </p:txBody>
      </p:sp>
      <p:sp>
        <p:nvSpPr>
          <p:cNvPr id="6" name="Content Placeholder 5"/>
          <p:cNvSpPr>
            <a:spLocks noGrp="1"/>
          </p:cNvSpPr>
          <p:nvPr>
            <p:ph idx="1"/>
          </p:nvPr>
        </p:nvSpPr>
        <p:spPr/>
        <p:txBody>
          <a:bodyPr>
            <a:normAutofit/>
          </a:bodyPr>
          <a:lstStyle/>
          <a:p>
            <a:pPr marL="274320" lvl="1" indent="-274320">
              <a:lnSpc>
                <a:spcPct val="100000"/>
              </a:lnSpc>
              <a:spcBef>
                <a:spcPts val="1000"/>
              </a:spcBef>
              <a:buClr>
                <a:srgbClr val="CEA524"/>
              </a:buClr>
              <a:buSzPct val="100000"/>
              <a:buFont typeface="Wingdings" panose="05000000000000000000" pitchFamily="2" charset="2"/>
              <a:buChar char="q"/>
            </a:pPr>
            <a:r>
              <a:rPr lang="zh-CN" altLang="en-US" sz="2800" dirty="0" smtClean="0"/>
              <a:t>欧</a:t>
            </a:r>
            <a:r>
              <a:rPr lang="zh-CN" altLang="en-US" sz="2800" dirty="0"/>
              <a:t>拉回路的充要条件之必要条件</a:t>
            </a:r>
            <a:r>
              <a:rPr lang="en-US" altLang="zh-CN" sz="2800" dirty="0"/>
              <a:t>(</a:t>
            </a:r>
            <a:r>
              <a:rPr lang="zh-CN" altLang="en-US" sz="2800" dirty="0"/>
              <a:t>续</a:t>
            </a:r>
            <a:r>
              <a:rPr lang="en-US" altLang="zh-CN" sz="2800" dirty="0"/>
              <a:t>): </a:t>
            </a:r>
            <a:endParaRPr lang="en-US" altLang="zh-CN" dirty="0" smtClean="0"/>
          </a:p>
          <a:p>
            <a:pPr lvl="1"/>
            <a:r>
              <a:rPr lang="zh-CN" altLang="en-US" dirty="0" smtClean="0"/>
              <a:t>因为</a:t>
            </a:r>
            <a:r>
              <a:rPr lang="en-US" altLang="zh-CN" dirty="0"/>
              <a:t>G</a:t>
            </a:r>
            <a:r>
              <a:rPr lang="zh-CN" altLang="en-US" dirty="0"/>
              <a:t>是连通</a:t>
            </a:r>
            <a:r>
              <a:rPr lang="zh-CN" altLang="en-US" dirty="0" smtClean="0"/>
              <a:t>的</a:t>
            </a:r>
            <a:r>
              <a:rPr lang="en-US" altLang="zh-CN" dirty="0" smtClean="0"/>
              <a:t>, </a:t>
            </a:r>
            <a:r>
              <a:rPr lang="zh-CN" altLang="en-US" dirty="0" smtClean="0"/>
              <a:t>所以</a:t>
            </a:r>
            <a:r>
              <a:rPr lang="en-US" altLang="zh-CN" dirty="0"/>
              <a:t>H</a:t>
            </a:r>
            <a:r>
              <a:rPr lang="zh-CN" altLang="en-US" dirty="0"/>
              <a:t>与已删除的回路至少有一个公共</a:t>
            </a:r>
            <a:r>
              <a:rPr lang="zh-CN" altLang="en-US" dirty="0" smtClean="0"/>
              <a:t>顶点</a:t>
            </a:r>
            <a:r>
              <a:rPr lang="en-US" altLang="zh-CN" dirty="0" smtClean="0"/>
              <a:t>, </a:t>
            </a:r>
            <a:r>
              <a:rPr lang="zh-CN" altLang="en-US" dirty="0" smtClean="0"/>
              <a:t>设</a:t>
            </a:r>
            <a:r>
              <a:rPr lang="en-US" altLang="zh-CN" dirty="0"/>
              <a:t>w</a:t>
            </a:r>
            <a:r>
              <a:rPr lang="zh-CN" altLang="en-US" dirty="0"/>
              <a:t>是这样的</a:t>
            </a:r>
            <a:r>
              <a:rPr lang="zh-CN" altLang="en-US" dirty="0" smtClean="0"/>
              <a:t>顶点</a:t>
            </a:r>
            <a:r>
              <a:rPr lang="en-US" altLang="zh-CN" dirty="0" smtClean="0"/>
              <a:t>(</a:t>
            </a:r>
            <a:r>
              <a:rPr lang="zh-CN" altLang="en-US" dirty="0" smtClean="0"/>
              <a:t>如</a:t>
            </a:r>
            <a:r>
              <a:rPr lang="zh-CN" altLang="en-US" dirty="0"/>
              <a:t>图中则</a:t>
            </a:r>
            <a:r>
              <a:rPr lang="en-US" altLang="zh-CN" dirty="0"/>
              <a:t>c</a:t>
            </a:r>
            <a:r>
              <a:rPr lang="zh-CN" altLang="en-US" dirty="0"/>
              <a:t>为这样的</a:t>
            </a:r>
            <a:r>
              <a:rPr lang="zh-CN" altLang="en-US" dirty="0" smtClean="0"/>
              <a:t>顶点</a:t>
            </a:r>
            <a:r>
              <a:rPr lang="en-US" altLang="zh-CN" dirty="0" smtClean="0"/>
              <a:t>)</a:t>
            </a:r>
            <a:r>
              <a:rPr lang="en-US" dirty="0" smtClean="0"/>
              <a:t>. </a:t>
            </a:r>
            <a:endParaRPr lang="en-US" dirty="0"/>
          </a:p>
          <a:p>
            <a:pPr lvl="1"/>
            <a:r>
              <a:rPr lang="en-US" altLang="zh-CN" dirty="0"/>
              <a:t>H</a:t>
            </a:r>
            <a:r>
              <a:rPr lang="zh-CN" altLang="en-US" dirty="0"/>
              <a:t>中每一个顶点的度都是</a:t>
            </a:r>
            <a:r>
              <a:rPr lang="zh-CN" altLang="en-US" dirty="0" smtClean="0"/>
              <a:t>偶数</a:t>
            </a:r>
            <a:r>
              <a:rPr lang="en-US" altLang="zh-CN" dirty="0" smtClean="0"/>
              <a:t>(</a:t>
            </a:r>
            <a:r>
              <a:rPr lang="zh-CN" altLang="en-US" dirty="0" smtClean="0"/>
              <a:t>因为</a:t>
            </a:r>
            <a:r>
              <a:rPr lang="en-US" altLang="zh-CN" dirty="0"/>
              <a:t>G</a:t>
            </a:r>
            <a:r>
              <a:rPr lang="zh-CN" altLang="en-US" dirty="0"/>
              <a:t>中所有顶点的度都是</a:t>
            </a:r>
            <a:r>
              <a:rPr lang="zh-CN" altLang="en-US" dirty="0" smtClean="0"/>
              <a:t>偶数</a:t>
            </a:r>
            <a:r>
              <a:rPr lang="en-US" altLang="zh-CN" dirty="0" smtClean="0"/>
              <a:t>).</a:t>
            </a:r>
            <a:endParaRPr lang="en-US" altLang="zh-CN" dirty="0"/>
          </a:p>
          <a:p>
            <a:pPr lvl="1"/>
            <a:r>
              <a:rPr lang="zh-CN" altLang="en-US" dirty="0"/>
              <a:t>类似在</a:t>
            </a:r>
            <a:r>
              <a:rPr lang="en-US" altLang="zh-CN" dirty="0"/>
              <a:t>G</a:t>
            </a:r>
            <a:r>
              <a:rPr lang="zh-CN" altLang="en-US" dirty="0"/>
              <a:t>中做过</a:t>
            </a:r>
            <a:r>
              <a:rPr lang="zh-CN" altLang="en-US" dirty="0" smtClean="0"/>
              <a:t>一样</a:t>
            </a:r>
            <a:r>
              <a:rPr lang="en-US" altLang="zh-CN" dirty="0" smtClean="0"/>
              <a:t>, </a:t>
            </a:r>
            <a:r>
              <a:rPr lang="zh-CN" altLang="en-US" dirty="0" smtClean="0"/>
              <a:t>从</a:t>
            </a:r>
            <a:r>
              <a:rPr lang="en-US" altLang="zh-CN" dirty="0"/>
              <a:t>w</a:t>
            </a:r>
            <a:r>
              <a:rPr lang="zh-CN" altLang="en-US" dirty="0"/>
              <a:t>开始</a:t>
            </a:r>
            <a:r>
              <a:rPr lang="zh-CN" altLang="en-US" dirty="0" smtClean="0"/>
              <a:t>尽可能地选择</a:t>
            </a:r>
            <a:r>
              <a:rPr lang="zh-CN" altLang="en-US" dirty="0"/>
              <a:t>边来构造</a:t>
            </a:r>
            <a:r>
              <a:rPr lang="en-US" altLang="zh-CN" dirty="0"/>
              <a:t>H</a:t>
            </a:r>
            <a:r>
              <a:rPr lang="zh-CN" altLang="en-US" dirty="0"/>
              <a:t>的简单</a:t>
            </a:r>
            <a:r>
              <a:rPr lang="zh-CN" altLang="en-US" dirty="0" smtClean="0"/>
              <a:t>通路</a:t>
            </a:r>
            <a:r>
              <a:rPr lang="en-US" altLang="zh-CN" dirty="0" smtClean="0"/>
              <a:t>, </a:t>
            </a:r>
            <a:r>
              <a:rPr lang="zh-CN" altLang="en-US" dirty="0" smtClean="0"/>
              <a:t>例如</a:t>
            </a:r>
            <a:r>
              <a:rPr lang="zh-CN" altLang="en-US" dirty="0"/>
              <a:t>例图中</a:t>
            </a:r>
            <a:r>
              <a:rPr lang="en-US" altLang="zh-CN" dirty="0" smtClean="0"/>
              <a:t>c, d, e, c</a:t>
            </a:r>
            <a:r>
              <a:rPr lang="zh-CN" altLang="en-US" dirty="0"/>
              <a:t>是</a:t>
            </a:r>
            <a:r>
              <a:rPr lang="en-US" altLang="zh-CN" dirty="0"/>
              <a:t>H</a:t>
            </a:r>
            <a:r>
              <a:rPr lang="zh-CN" altLang="en-US" dirty="0"/>
              <a:t>的通路</a:t>
            </a:r>
            <a:r>
              <a:rPr lang="en-US" altLang="zh-CN" dirty="0"/>
              <a:t>.</a:t>
            </a:r>
          </a:p>
          <a:p>
            <a:pPr lvl="1"/>
            <a:r>
              <a:rPr lang="zh-CN" altLang="en-US" dirty="0" smtClean="0"/>
              <a:t>下一步</a:t>
            </a:r>
            <a:r>
              <a:rPr lang="en-US" altLang="zh-CN" dirty="0" smtClean="0"/>
              <a:t>, </a:t>
            </a:r>
            <a:r>
              <a:rPr lang="zh-CN" altLang="en-US" dirty="0" smtClean="0"/>
              <a:t>把</a:t>
            </a:r>
            <a:r>
              <a:rPr lang="en-US" altLang="zh-CN" dirty="0"/>
              <a:t>H</a:t>
            </a:r>
            <a:r>
              <a:rPr lang="zh-CN" altLang="en-US" dirty="0"/>
              <a:t>的回路和</a:t>
            </a:r>
            <a:r>
              <a:rPr lang="en-US" altLang="zh-CN" dirty="0"/>
              <a:t>G</a:t>
            </a:r>
            <a:r>
              <a:rPr lang="zh-CN" altLang="en-US" dirty="0"/>
              <a:t>中原来的回路拼接起来形成</a:t>
            </a:r>
            <a:r>
              <a:rPr lang="en-US" altLang="zh-CN" dirty="0"/>
              <a:t>G</a:t>
            </a:r>
            <a:r>
              <a:rPr lang="zh-CN" altLang="en-US" dirty="0"/>
              <a:t>的</a:t>
            </a:r>
            <a:r>
              <a:rPr lang="zh-CN" altLang="en-US" dirty="0" smtClean="0"/>
              <a:t>回路</a:t>
            </a:r>
            <a:r>
              <a:rPr lang="en-US" altLang="zh-CN" dirty="0" smtClean="0"/>
              <a:t>, </a:t>
            </a:r>
            <a:r>
              <a:rPr lang="zh-CN" altLang="en-US" dirty="0" smtClean="0"/>
              <a:t>如</a:t>
            </a:r>
            <a:r>
              <a:rPr lang="zh-CN" altLang="en-US" dirty="0"/>
              <a:t>例图中的</a:t>
            </a:r>
            <a:r>
              <a:rPr lang="en-US" altLang="zh-CN" dirty="0" smtClean="0"/>
              <a:t>a, f, c, d, e, c, b, a</a:t>
            </a:r>
            <a:r>
              <a:rPr lang="zh-CN" altLang="en-US" dirty="0"/>
              <a:t>回路</a:t>
            </a:r>
            <a:r>
              <a:rPr lang="en-US" altLang="zh-CN" dirty="0"/>
              <a:t>. </a:t>
            </a:r>
            <a:endParaRPr lang="en-US" dirty="0"/>
          </a:p>
          <a:p>
            <a:pPr lvl="1"/>
            <a:r>
              <a:rPr lang="zh-CN" altLang="en-US" dirty="0"/>
              <a:t>继续这个</a:t>
            </a:r>
            <a:r>
              <a:rPr lang="zh-CN" altLang="en-US" dirty="0" smtClean="0"/>
              <a:t>过程</a:t>
            </a:r>
            <a:r>
              <a:rPr lang="en-US" altLang="zh-CN" dirty="0" smtClean="0"/>
              <a:t>, </a:t>
            </a:r>
            <a:r>
              <a:rPr lang="zh-CN" altLang="en-US" dirty="0" smtClean="0"/>
              <a:t>直到用完</a:t>
            </a:r>
            <a:r>
              <a:rPr lang="zh-CN" altLang="en-US" dirty="0"/>
              <a:t>所有的边</a:t>
            </a:r>
            <a:r>
              <a:rPr lang="zh-CN" altLang="en-US" dirty="0" smtClean="0"/>
              <a:t>位置</a:t>
            </a:r>
            <a:r>
              <a:rPr lang="en-US" altLang="zh-CN" dirty="0" smtClean="0"/>
              <a:t>, </a:t>
            </a:r>
            <a:r>
              <a:rPr lang="zh-CN" altLang="en-US" dirty="0" smtClean="0"/>
              <a:t>这样</a:t>
            </a:r>
            <a:r>
              <a:rPr lang="zh-CN" altLang="en-US" dirty="0"/>
              <a:t>就产生了欧拉回路</a:t>
            </a:r>
            <a:r>
              <a:rPr lang="en-US" altLang="zh-CN" dirty="0"/>
              <a:t>.</a:t>
            </a:r>
          </a:p>
          <a:p>
            <a:pPr lvl="1"/>
            <a:r>
              <a:rPr lang="zh-CN" altLang="en-US" dirty="0" smtClean="0"/>
              <a:t>综上所述</a:t>
            </a:r>
            <a:r>
              <a:rPr lang="en-US" altLang="zh-CN" dirty="0" smtClean="0"/>
              <a:t>, </a:t>
            </a:r>
            <a:r>
              <a:rPr lang="zh-CN" altLang="en-US" dirty="0" smtClean="0"/>
              <a:t>若</a:t>
            </a:r>
            <a:r>
              <a:rPr lang="zh-CN" altLang="en-US" dirty="0"/>
              <a:t>连通多重图的顶点的度都为</a:t>
            </a:r>
            <a:r>
              <a:rPr lang="zh-CN" altLang="en-US" dirty="0" smtClean="0"/>
              <a:t>偶数</a:t>
            </a:r>
            <a:r>
              <a:rPr lang="en-US" altLang="zh-CN" dirty="0" smtClean="0"/>
              <a:t>, </a:t>
            </a:r>
            <a:r>
              <a:rPr lang="zh-CN" altLang="en-US" dirty="0" smtClean="0"/>
              <a:t>则</a:t>
            </a:r>
            <a:r>
              <a:rPr lang="zh-CN" altLang="en-US" dirty="0"/>
              <a:t>该图具有欧拉回路</a:t>
            </a:r>
            <a:r>
              <a:rPr lang="en-US" altLang="zh-CN" dirty="0"/>
              <a:t>.</a:t>
            </a:r>
            <a:endParaRPr lang="en-US" dirty="0"/>
          </a:p>
        </p:txBody>
      </p:sp>
      <p:sp>
        <p:nvSpPr>
          <p:cNvPr id="9" name="日期占位符 8"/>
          <p:cNvSpPr>
            <a:spLocks noGrp="1"/>
          </p:cNvSpPr>
          <p:nvPr>
            <p:ph type="dt" sz="half" idx="10"/>
          </p:nvPr>
        </p:nvSpPr>
        <p:spPr/>
        <p:txBody>
          <a:bodyPr/>
          <a:lstStyle/>
          <a:p>
            <a:fld id="{99B7A230-9A97-4AFA-8B4B-FD749D84F46F}" type="datetime1">
              <a:rPr lang="zh-CN" altLang="en-US" smtClean="0"/>
              <a:t>2025/4/15</a:t>
            </a:fld>
            <a:endParaRPr lang="zh-CN" altLang="en-US" dirty="0"/>
          </a:p>
        </p:txBody>
      </p:sp>
      <p:sp>
        <p:nvSpPr>
          <p:cNvPr id="10" name="页脚占位符 9"/>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11" name="灯片编号占位符 10"/>
          <p:cNvSpPr>
            <a:spLocks noGrp="1"/>
          </p:cNvSpPr>
          <p:nvPr>
            <p:ph type="sldNum" sz="quarter" idx="12"/>
          </p:nvPr>
        </p:nvSpPr>
        <p:spPr/>
        <p:txBody>
          <a:bodyPr/>
          <a:lstStyle/>
          <a:p>
            <a:fld id="{67913A8A-9EFB-4B5F-9CCB-3D21173FAA85}" type="slidenum">
              <a:rPr lang="zh-CN" altLang="en-US" smtClean="0"/>
              <a:pPr/>
              <a:t>157</a:t>
            </a:fld>
            <a:endParaRPr lang="zh-CN" altLang="en-US" dirty="0"/>
          </a:p>
        </p:txBody>
      </p:sp>
      <p:pic>
        <p:nvPicPr>
          <p:cNvPr id="7"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44159" y="4934539"/>
            <a:ext cx="2286000" cy="1371013"/>
          </a:xfrm>
          <a:prstGeom prst="rect">
            <a:avLst/>
          </a:prstGeom>
        </p:spPr>
      </p:pic>
    </p:spTree>
    <p:extLst>
      <p:ext uri="{BB962C8B-B14F-4D97-AF65-F5344CB8AC3E}">
        <p14:creationId xmlns:p14="http://schemas.microsoft.com/office/powerpoint/2010/main" val="591940029"/>
      </p:ext>
    </p:extLst>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57200" y="1143000"/>
            <a:ext cx="11277599" cy="8382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欧拉通路和欧拉回路</a:t>
            </a:r>
            <a:endParaRPr lang="en-US" dirty="0"/>
          </a:p>
        </p:txBody>
      </p:sp>
      <p:sp>
        <p:nvSpPr>
          <p:cNvPr id="3" name="Content Placeholder 2"/>
          <p:cNvSpPr>
            <a:spLocks noGrp="1"/>
          </p:cNvSpPr>
          <p:nvPr>
            <p:ph idx="1"/>
          </p:nvPr>
        </p:nvSpPr>
        <p:spPr/>
        <p:txBody>
          <a:bodyPr>
            <a:normAutofit/>
          </a:bodyPr>
          <a:lstStyle/>
          <a:p>
            <a:r>
              <a:rPr lang="zh-CN" altLang="en-US" dirty="0" smtClean="0"/>
              <a:t>定理</a:t>
            </a:r>
            <a:r>
              <a:rPr lang="en-US" altLang="zh-CN" dirty="0" smtClean="0"/>
              <a:t>: </a:t>
            </a:r>
            <a:r>
              <a:rPr lang="zh-CN" altLang="en-US" dirty="0" smtClean="0"/>
              <a:t>含有至少</a:t>
            </a:r>
            <a:r>
              <a:rPr lang="en-US" altLang="zh-CN" dirty="0" smtClean="0"/>
              <a:t>2</a:t>
            </a:r>
            <a:r>
              <a:rPr lang="zh-CN" altLang="en-US" dirty="0" smtClean="0"/>
              <a:t>个顶点的连通多重图具有欧拉回路当且仅当它的每个顶点的度都为偶数</a:t>
            </a:r>
            <a:r>
              <a:rPr lang="en-US" altLang="zh-CN" dirty="0" smtClean="0"/>
              <a:t>.</a:t>
            </a:r>
          </a:p>
          <a:p>
            <a:r>
              <a:rPr lang="zh-CN" altLang="en-US" dirty="0"/>
              <a:t>例</a:t>
            </a:r>
            <a:r>
              <a:rPr lang="en-US" altLang="zh-CN" dirty="0"/>
              <a:t>: </a:t>
            </a:r>
            <a:r>
              <a:rPr lang="zh-CN" altLang="en-US" dirty="0" smtClean="0"/>
              <a:t>回到</a:t>
            </a:r>
            <a:r>
              <a:rPr lang="zh-CN" altLang="en-US" dirty="0"/>
              <a:t>之前的七座桥问题</a:t>
            </a:r>
            <a:r>
              <a:rPr lang="en-US" altLang="zh-CN" dirty="0"/>
              <a:t>, </a:t>
            </a:r>
            <a:r>
              <a:rPr lang="zh-CN" altLang="en-US" dirty="0"/>
              <a:t>是否有可能在镇上的某个点开始</a:t>
            </a:r>
            <a:r>
              <a:rPr lang="en-US" altLang="zh-CN" dirty="0"/>
              <a:t>, </a:t>
            </a:r>
            <a:r>
              <a:rPr lang="zh-CN" altLang="en-US" dirty="0"/>
              <a:t>经过所有的桥</a:t>
            </a:r>
            <a:r>
              <a:rPr lang="en-US" altLang="zh-CN" dirty="0"/>
              <a:t>, </a:t>
            </a:r>
            <a:r>
              <a:rPr lang="zh-CN" altLang="en-US" dirty="0"/>
              <a:t>在镇上</a:t>
            </a:r>
            <a:r>
              <a:rPr lang="zh-CN" altLang="en-US" dirty="0" smtClean="0"/>
              <a:t>的该点结束</a:t>
            </a:r>
            <a:r>
              <a:rPr lang="zh-CN" altLang="en-US" dirty="0"/>
              <a:t>？</a:t>
            </a:r>
            <a:endParaRPr lang="en-US" altLang="zh-CN" dirty="0"/>
          </a:p>
          <a:p>
            <a:endParaRPr lang="en-US" altLang="zh-CN" dirty="0"/>
          </a:p>
          <a:p>
            <a:endParaRPr lang="en-US" altLang="zh-CN" dirty="0"/>
          </a:p>
          <a:p>
            <a:endParaRPr lang="en-US" altLang="zh-CN" dirty="0"/>
          </a:p>
          <a:p>
            <a:r>
              <a:rPr lang="zh-CN" altLang="en-US" dirty="0"/>
              <a:t>解</a:t>
            </a:r>
            <a:r>
              <a:rPr lang="en-US" altLang="zh-CN" dirty="0"/>
              <a:t>: </a:t>
            </a:r>
            <a:r>
              <a:rPr lang="zh-CN" altLang="en-US" dirty="0"/>
              <a:t>判定对应的多重图是否具有欧</a:t>
            </a:r>
            <a:r>
              <a:rPr lang="zh-CN" altLang="en-US" dirty="0" smtClean="0"/>
              <a:t>拉回路</a:t>
            </a:r>
            <a:r>
              <a:rPr lang="en-US" altLang="zh-CN" dirty="0" smtClean="0"/>
              <a:t>. </a:t>
            </a:r>
            <a:r>
              <a:rPr lang="zh-CN" altLang="en-US" dirty="0"/>
              <a:t>因为这个多重图有</a:t>
            </a:r>
            <a:r>
              <a:rPr lang="en-US" altLang="zh-CN" dirty="0"/>
              <a:t>4</a:t>
            </a:r>
            <a:r>
              <a:rPr lang="zh-CN" altLang="en-US" dirty="0"/>
              <a:t>个度为奇数的顶点</a:t>
            </a:r>
            <a:r>
              <a:rPr lang="en-US" altLang="zh-CN" dirty="0"/>
              <a:t>, </a:t>
            </a:r>
            <a:r>
              <a:rPr lang="zh-CN" altLang="en-US" dirty="0"/>
              <a:t>没有欧</a:t>
            </a:r>
            <a:r>
              <a:rPr lang="zh-CN" altLang="en-US" dirty="0" smtClean="0"/>
              <a:t>拉回路</a:t>
            </a:r>
            <a:r>
              <a:rPr lang="en-US" altLang="zh-CN" dirty="0" smtClean="0"/>
              <a:t>, </a:t>
            </a:r>
            <a:r>
              <a:rPr lang="zh-CN" altLang="en-US" dirty="0" smtClean="0"/>
              <a:t>所以不可能</a:t>
            </a:r>
            <a:r>
              <a:rPr lang="en-US" altLang="zh-CN" dirty="0" smtClean="0"/>
              <a:t>.</a:t>
            </a:r>
            <a:endParaRPr lang="en-US" dirty="0"/>
          </a:p>
        </p:txBody>
      </p:sp>
      <p:sp>
        <p:nvSpPr>
          <p:cNvPr id="7" name="日期占位符 6"/>
          <p:cNvSpPr>
            <a:spLocks noGrp="1"/>
          </p:cNvSpPr>
          <p:nvPr>
            <p:ph type="dt" sz="half" idx="10"/>
          </p:nvPr>
        </p:nvSpPr>
        <p:spPr/>
        <p:txBody>
          <a:bodyPr/>
          <a:lstStyle/>
          <a:p>
            <a:fld id="{880BC42F-E77F-4C5C-81A7-462B507404E8}"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158</a:t>
            </a:fld>
            <a:endParaRPr lang="zh-CN" altLang="en-US" dirty="0"/>
          </a:p>
        </p:txBody>
      </p:sp>
      <p:pic>
        <p:nvPicPr>
          <p:cNvPr id="11"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53200" y="2735164"/>
            <a:ext cx="1064612" cy="1828800"/>
          </a:xfrm>
          <a:prstGeom prst="rect">
            <a:avLst/>
          </a:prstGeom>
        </p:spPr>
      </p:pic>
    </p:spTree>
    <p:extLst>
      <p:ext uri="{BB962C8B-B14F-4D97-AF65-F5344CB8AC3E}">
        <p14:creationId xmlns:p14="http://schemas.microsoft.com/office/powerpoint/2010/main" val="2585331853"/>
      </p:ext>
    </p:extLst>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欧拉通路和欧拉回路</a:t>
            </a:r>
            <a:endParaRPr lang="en-US" dirty="0"/>
          </a:p>
        </p:txBody>
      </p:sp>
      <p:sp>
        <p:nvSpPr>
          <p:cNvPr id="3" name="Content Placeholder 2"/>
          <p:cNvSpPr>
            <a:spLocks noGrp="1"/>
          </p:cNvSpPr>
          <p:nvPr>
            <p:ph idx="1"/>
          </p:nvPr>
        </p:nvSpPr>
        <p:spPr/>
        <p:txBody>
          <a:bodyPr>
            <a:normAutofit/>
          </a:bodyPr>
          <a:lstStyle/>
          <a:p>
            <a:r>
              <a:rPr lang="zh-CN" altLang="en-US" dirty="0" smtClean="0"/>
              <a:t>构造欧拉回路的方法</a:t>
            </a:r>
            <a:r>
              <a:rPr lang="en-US" altLang="zh-CN" dirty="0" smtClean="0"/>
              <a:t>:</a:t>
            </a:r>
          </a:p>
          <a:p>
            <a:pPr marL="0" indent="0">
              <a:buNone/>
            </a:pPr>
            <a:r>
              <a:rPr lang="en-US" altLang="zh-CN" dirty="0" smtClean="0"/>
              <a:t> (</a:t>
            </a:r>
            <a:r>
              <a:rPr lang="zh-CN" altLang="en-US" dirty="0" smtClean="0"/>
              <a:t>前提</a:t>
            </a:r>
            <a:r>
              <a:rPr lang="en-US" altLang="zh-CN" dirty="0" smtClean="0"/>
              <a:t>:</a:t>
            </a:r>
            <a:r>
              <a:rPr lang="zh-CN" altLang="en-US" dirty="0" smtClean="0"/>
              <a:t>图</a:t>
            </a:r>
            <a:r>
              <a:rPr lang="en-US" altLang="zh-CN" dirty="0" smtClean="0"/>
              <a:t>G</a:t>
            </a:r>
            <a:r>
              <a:rPr lang="zh-CN" altLang="en-US" dirty="0" smtClean="0"/>
              <a:t>中每个顶点的度都为偶数</a:t>
            </a:r>
            <a:r>
              <a:rPr lang="en-US" altLang="zh-CN" dirty="0" smtClean="0"/>
              <a:t>, </a:t>
            </a:r>
            <a:r>
              <a:rPr lang="zh-CN" altLang="en-US" dirty="0" smtClean="0"/>
              <a:t>表明存在欧拉回路</a:t>
            </a:r>
            <a:r>
              <a:rPr lang="en-US" altLang="zh-CN" dirty="0" smtClean="0"/>
              <a:t>)</a:t>
            </a:r>
          </a:p>
          <a:p>
            <a:pPr marL="0" indent="0">
              <a:buNone/>
            </a:pPr>
            <a:r>
              <a:rPr lang="en-US" altLang="zh-CN" dirty="0" smtClean="0"/>
              <a:t> circuit:=</a:t>
            </a:r>
            <a:r>
              <a:rPr lang="zh-CN" altLang="en-US" dirty="0" smtClean="0"/>
              <a:t>从</a:t>
            </a:r>
            <a:r>
              <a:rPr lang="en-US" altLang="zh-CN" dirty="0" smtClean="0"/>
              <a:t>G</a:t>
            </a:r>
            <a:r>
              <a:rPr lang="zh-CN" altLang="en-US" dirty="0" smtClean="0"/>
              <a:t>中任选顶点开始</a:t>
            </a:r>
            <a:r>
              <a:rPr lang="en-US" altLang="zh-CN" dirty="0" smtClean="0"/>
              <a:t>, </a:t>
            </a:r>
            <a:r>
              <a:rPr lang="zh-CN" altLang="en-US" dirty="0" smtClean="0"/>
              <a:t>连续地加入边形成回到该顶点的回路</a:t>
            </a:r>
            <a:r>
              <a:rPr lang="en-US" altLang="zh-CN" dirty="0" smtClean="0"/>
              <a:t>.</a:t>
            </a:r>
          </a:p>
          <a:p>
            <a:pPr marL="0" indent="0">
              <a:buNone/>
            </a:pPr>
            <a:r>
              <a:rPr lang="en-US" altLang="zh-CN" dirty="0" smtClean="0"/>
              <a:t> H:=</a:t>
            </a:r>
            <a:r>
              <a:rPr lang="zh-CN" altLang="en-US" dirty="0" smtClean="0"/>
              <a:t>删除这条回路的边后的</a:t>
            </a:r>
            <a:r>
              <a:rPr lang="en-US" altLang="zh-CN" dirty="0" smtClean="0"/>
              <a:t>G</a:t>
            </a:r>
          </a:p>
          <a:p>
            <a:pPr marL="0" indent="0">
              <a:buNone/>
            </a:pPr>
            <a:r>
              <a:rPr lang="en-US" altLang="zh-CN" b="1" dirty="0" smtClean="0"/>
              <a:t> while</a:t>
            </a:r>
            <a:r>
              <a:rPr lang="en-US" altLang="zh-CN" dirty="0" smtClean="0"/>
              <a:t> H </a:t>
            </a:r>
            <a:r>
              <a:rPr lang="zh-CN" altLang="en-US" dirty="0" smtClean="0"/>
              <a:t>还有边</a:t>
            </a:r>
            <a:endParaRPr lang="en-US" altLang="zh-CN" dirty="0" smtClean="0"/>
          </a:p>
          <a:p>
            <a:pPr marL="393192" lvl="1" indent="0">
              <a:buNone/>
            </a:pPr>
            <a:r>
              <a:rPr lang="en-US" altLang="zh-CN" dirty="0" smtClean="0"/>
              <a:t> </a:t>
            </a:r>
            <a:r>
              <a:rPr lang="en-US" altLang="zh-CN" dirty="0" err="1" smtClean="0"/>
              <a:t>subcircuit</a:t>
            </a:r>
            <a:r>
              <a:rPr lang="en-US" altLang="zh-CN" dirty="0" smtClean="0"/>
              <a:t>:=</a:t>
            </a:r>
            <a:r>
              <a:rPr lang="zh-CN" altLang="en-US" dirty="0" smtClean="0"/>
              <a:t>在即是</a:t>
            </a:r>
            <a:r>
              <a:rPr lang="en-US" altLang="zh-CN" dirty="0" smtClean="0"/>
              <a:t>H</a:t>
            </a:r>
            <a:r>
              <a:rPr lang="zh-CN" altLang="en-US" dirty="0" smtClean="0"/>
              <a:t>的顶点</a:t>
            </a:r>
            <a:r>
              <a:rPr lang="en-US" altLang="zh-CN" dirty="0" smtClean="0"/>
              <a:t>, </a:t>
            </a:r>
            <a:r>
              <a:rPr lang="zh-CN" altLang="en-US" dirty="0" smtClean="0"/>
              <a:t>也是</a:t>
            </a:r>
            <a:r>
              <a:rPr lang="en-US" altLang="zh-CN" dirty="0" smtClean="0"/>
              <a:t>circuit</a:t>
            </a:r>
            <a:r>
              <a:rPr lang="zh-CN" altLang="en-US" dirty="0" smtClean="0"/>
              <a:t>的边的端点处开始的</a:t>
            </a:r>
            <a:r>
              <a:rPr lang="en-US" altLang="zh-CN" dirty="0" smtClean="0"/>
              <a:t>H</a:t>
            </a:r>
            <a:r>
              <a:rPr lang="zh-CN" altLang="en-US" dirty="0" smtClean="0"/>
              <a:t>的一条回路</a:t>
            </a:r>
            <a:r>
              <a:rPr lang="en-US" altLang="zh-CN" dirty="0" smtClean="0"/>
              <a:t>.</a:t>
            </a:r>
          </a:p>
          <a:p>
            <a:pPr marL="393192" lvl="1" indent="0">
              <a:buNone/>
            </a:pPr>
            <a:r>
              <a:rPr lang="en-US" altLang="zh-CN" dirty="0" smtClean="0"/>
              <a:t> H</a:t>
            </a:r>
            <a:r>
              <a:rPr lang="en-US" altLang="zh-CN" dirty="0"/>
              <a:t>:=</a:t>
            </a:r>
            <a:r>
              <a:rPr lang="zh-CN" altLang="en-US" dirty="0" smtClean="0"/>
              <a:t>删除</a:t>
            </a:r>
            <a:r>
              <a:rPr lang="en-US" altLang="zh-CN" dirty="0" err="1" smtClean="0"/>
              <a:t>subcircuit</a:t>
            </a:r>
            <a:r>
              <a:rPr lang="zh-CN" altLang="en-US" dirty="0" smtClean="0"/>
              <a:t>的边和所有孤立点之后的</a:t>
            </a:r>
            <a:r>
              <a:rPr lang="en-US" altLang="zh-CN" dirty="0" smtClean="0"/>
              <a:t>H</a:t>
            </a:r>
          </a:p>
          <a:p>
            <a:pPr marL="393192" lvl="1" indent="0">
              <a:buNone/>
            </a:pPr>
            <a:r>
              <a:rPr lang="en-US" altLang="zh-CN" dirty="0" smtClean="0"/>
              <a:t> circuit:=</a:t>
            </a:r>
            <a:r>
              <a:rPr lang="zh-CN" altLang="en-US" dirty="0" smtClean="0"/>
              <a:t>在适当顶点插入</a:t>
            </a:r>
            <a:r>
              <a:rPr lang="en-US" altLang="zh-CN" dirty="0" err="1" smtClean="0"/>
              <a:t>subcircuit</a:t>
            </a:r>
            <a:r>
              <a:rPr lang="zh-CN" altLang="en-US" dirty="0" smtClean="0"/>
              <a:t>之后的</a:t>
            </a:r>
            <a:r>
              <a:rPr lang="en-US" altLang="zh-CN" dirty="0" smtClean="0"/>
              <a:t>circuit</a:t>
            </a:r>
          </a:p>
          <a:p>
            <a:pPr marL="0" indent="0">
              <a:buNone/>
            </a:pPr>
            <a:r>
              <a:rPr lang="en-US" altLang="zh-CN" b="1" dirty="0" smtClean="0"/>
              <a:t> return</a:t>
            </a:r>
            <a:r>
              <a:rPr lang="en-US" altLang="zh-CN" dirty="0" smtClean="0"/>
              <a:t> circuit{circuit</a:t>
            </a:r>
            <a:r>
              <a:rPr lang="zh-CN" altLang="en-US" dirty="0" smtClean="0"/>
              <a:t>是欧拉回路</a:t>
            </a:r>
            <a:r>
              <a:rPr lang="en-US" altLang="zh-CN" dirty="0" smtClean="0"/>
              <a:t>}</a:t>
            </a:r>
          </a:p>
          <a:p>
            <a:endParaRPr lang="en-US" altLang="zh-CN" dirty="0" smtClean="0"/>
          </a:p>
        </p:txBody>
      </p:sp>
      <p:sp>
        <p:nvSpPr>
          <p:cNvPr id="7" name="日期占位符 6"/>
          <p:cNvSpPr>
            <a:spLocks noGrp="1"/>
          </p:cNvSpPr>
          <p:nvPr>
            <p:ph type="dt" sz="half" idx="10"/>
          </p:nvPr>
        </p:nvSpPr>
        <p:spPr/>
        <p:txBody>
          <a:bodyPr/>
          <a:lstStyle/>
          <a:p>
            <a:fld id="{5D707644-29E6-42B8-9203-CAF1C42D315D}"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159</a:t>
            </a:fld>
            <a:endParaRPr lang="zh-CN" altLang="en-US" dirty="0"/>
          </a:p>
        </p:txBody>
      </p:sp>
    </p:spTree>
    <p:extLst>
      <p:ext uri="{BB962C8B-B14F-4D97-AF65-F5344CB8AC3E}">
        <p14:creationId xmlns:p14="http://schemas.microsoft.com/office/powerpoint/2010/main" val="2800956310"/>
      </p:ext>
    </p:extLst>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欧拉通路和欧拉回路</a:t>
            </a:r>
          </a:p>
        </p:txBody>
      </p:sp>
      <p:sp>
        <p:nvSpPr>
          <p:cNvPr id="3" name="内容占位符 2"/>
          <p:cNvSpPr>
            <a:spLocks noGrp="1"/>
          </p:cNvSpPr>
          <p:nvPr>
            <p:ph idx="1"/>
          </p:nvPr>
        </p:nvSpPr>
        <p:spPr/>
        <p:txBody>
          <a:bodyPr>
            <a:normAutofit/>
          </a:bodyPr>
          <a:lstStyle/>
          <a:p>
            <a:r>
              <a:rPr lang="zh-CN" altLang="en-US" dirty="0" smtClean="0"/>
              <a:t>例</a:t>
            </a:r>
            <a:r>
              <a:rPr lang="en-US" altLang="zh-CN" dirty="0" smtClean="0"/>
              <a:t>: </a:t>
            </a:r>
            <a:r>
              <a:rPr lang="zh-CN" altLang="en-US" dirty="0" smtClean="0"/>
              <a:t>图</a:t>
            </a:r>
            <a:r>
              <a:rPr lang="en-US" altLang="zh-CN" dirty="0" smtClean="0"/>
              <a:t>G</a:t>
            </a:r>
            <a:r>
              <a:rPr lang="zh-CN" altLang="en-US" dirty="0" smtClean="0"/>
              <a:t>中从同一个顶点开始</a:t>
            </a:r>
            <a:r>
              <a:rPr lang="zh-CN" altLang="en-US" dirty="0"/>
              <a:t>从同一个顶点</a:t>
            </a:r>
            <a:r>
              <a:rPr lang="zh-CN" altLang="en-US" dirty="0" smtClean="0"/>
              <a:t>结束</a:t>
            </a:r>
            <a:r>
              <a:rPr lang="en-US" altLang="zh-CN" dirty="0" smtClean="0"/>
              <a:t>, </a:t>
            </a:r>
            <a:r>
              <a:rPr lang="zh-CN" altLang="en-US" dirty="0" smtClean="0"/>
              <a:t>用铅笔连续移动不离开纸面并且不重复地画出图形</a:t>
            </a:r>
            <a:r>
              <a:rPr lang="en-US" altLang="zh-CN" dirty="0" smtClean="0"/>
              <a:t>.</a:t>
            </a:r>
          </a:p>
          <a:p>
            <a:endParaRPr lang="en-US" altLang="zh-CN" dirty="0" smtClean="0"/>
          </a:p>
          <a:p>
            <a:endParaRPr lang="en-US" altLang="zh-CN" dirty="0"/>
          </a:p>
          <a:p>
            <a:endParaRPr lang="en-US" altLang="zh-CN" dirty="0" smtClean="0"/>
          </a:p>
          <a:p>
            <a:r>
              <a:rPr lang="zh-CN" altLang="en-US" dirty="0" smtClean="0"/>
              <a:t>解</a:t>
            </a:r>
            <a:r>
              <a:rPr lang="en-US" altLang="zh-CN" dirty="0" smtClean="0"/>
              <a:t>: </a:t>
            </a:r>
          </a:p>
          <a:p>
            <a:pPr lvl="1"/>
            <a:r>
              <a:rPr lang="zh-CN" altLang="en-US" dirty="0"/>
              <a:t>根据题意找出一条欧拉回路</a:t>
            </a:r>
            <a:r>
              <a:rPr lang="en-US" altLang="zh-CN" dirty="0"/>
              <a:t>. </a:t>
            </a:r>
            <a:r>
              <a:rPr lang="zh-CN" altLang="en-US" dirty="0"/>
              <a:t>我们随机从顶点</a:t>
            </a:r>
            <a:r>
              <a:rPr lang="en-US" altLang="zh-CN" dirty="0"/>
              <a:t>a</a:t>
            </a:r>
            <a:r>
              <a:rPr lang="zh-CN" altLang="en-US" dirty="0"/>
              <a:t>开始形成回路</a:t>
            </a:r>
            <a:r>
              <a:rPr lang="en-US" altLang="zh-CN" dirty="0" smtClean="0"/>
              <a:t>a, b, d, c, b, e, </a:t>
            </a:r>
            <a:r>
              <a:rPr lang="en-US" altLang="zh-CN" dirty="0" err="1" smtClean="0"/>
              <a:t>i</a:t>
            </a:r>
            <a:r>
              <a:rPr lang="en-US" altLang="zh-CN" dirty="0" smtClean="0"/>
              <a:t>, f, e, a</a:t>
            </a:r>
            <a:r>
              <a:rPr lang="en-US" altLang="zh-CN" dirty="0"/>
              <a:t>.</a:t>
            </a:r>
          </a:p>
          <a:p>
            <a:pPr lvl="1"/>
            <a:r>
              <a:rPr lang="zh-CN" altLang="en-US" dirty="0"/>
              <a:t>删除这回路上的边以及删除因此产生的孤立点得到子图</a:t>
            </a:r>
            <a:r>
              <a:rPr lang="en-US" altLang="zh-CN" dirty="0"/>
              <a:t>H. </a:t>
            </a:r>
          </a:p>
          <a:p>
            <a:endParaRPr lang="zh-CN" altLang="en-US" dirty="0"/>
          </a:p>
        </p:txBody>
      </p:sp>
      <p:sp>
        <p:nvSpPr>
          <p:cNvPr id="4" name="日期占位符 3"/>
          <p:cNvSpPr>
            <a:spLocks noGrp="1"/>
          </p:cNvSpPr>
          <p:nvPr>
            <p:ph type="dt" sz="half" idx="10"/>
          </p:nvPr>
        </p:nvSpPr>
        <p:spPr/>
        <p:txBody>
          <a:bodyPr/>
          <a:lstStyle/>
          <a:p>
            <a:fld id="{866E6989-8BDA-4716-8571-957BA601B6CB}"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160</a:t>
            </a:fld>
            <a:endParaRPr lang="zh-CN" altLang="en-US" dirty="0"/>
          </a:p>
        </p:txBody>
      </p:sp>
      <p:pic>
        <p:nvPicPr>
          <p:cNvPr id="7" name="图片 6"/>
          <p:cNvPicPr>
            <a:picLocks noChangeAspect="1"/>
          </p:cNvPicPr>
          <p:nvPr/>
        </p:nvPicPr>
        <p:blipFill>
          <a:blip r:embed="rId2"/>
          <a:stretch>
            <a:fillRect/>
          </a:stretch>
        </p:blipFill>
        <p:spPr>
          <a:xfrm>
            <a:off x="4114800" y="1981200"/>
            <a:ext cx="3523874" cy="1981200"/>
          </a:xfrm>
          <a:prstGeom prst="rect">
            <a:avLst/>
          </a:prstGeom>
        </p:spPr>
      </p:pic>
      <p:pic>
        <p:nvPicPr>
          <p:cNvPr id="9" name="图片 8"/>
          <p:cNvPicPr>
            <a:picLocks noChangeAspect="1"/>
          </p:cNvPicPr>
          <p:nvPr/>
        </p:nvPicPr>
        <p:blipFill>
          <a:blip r:embed="rId3"/>
          <a:stretch>
            <a:fillRect/>
          </a:stretch>
        </p:blipFill>
        <p:spPr>
          <a:xfrm>
            <a:off x="4419600" y="2036379"/>
            <a:ext cx="2270760" cy="1211580"/>
          </a:xfrm>
          <a:prstGeom prst="rect">
            <a:avLst/>
          </a:prstGeom>
        </p:spPr>
      </p:pic>
      <p:pic>
        <p:nvPicPr>
          <p:cNvPr id="11" name="图片 10"/>
          <p:cNvPicPr>
            <a:picLocks noChangeAspect="1"/>
          </p:cNvPicPr>
          <p:nvPr/>
        </p:nvPicPr>
        <p:blipFill>
          <a:blip r:embed="rId4"/>
          <a:stretch>
            <a:fillRect/>
          </a:stretch>
        </p:blipFill>
        <p:spPr>
          <a:xfrm>
            <a:off x="8628548" y="2133600"/>
            <a:ext cx="2529840" cy="1927860"/>
          </a:xfrm>
          <a:prstGeom prst="rect">
            <a:avLst/>
          </a:prstGeom>
        </p:spPr>
      </p:pic>
    </p:spTree>
    <p:extLst>
      <p:ext uri="{BB962C8B-B14F-4D97-AF65-F5344CB8AC3E}">
        <p14:creationId xmlns:p14="http://schemas.microsoft.com/office/powerpoint/2010/main" val="397555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wipe(down)">
                                      <p:cBhvr>
                                        <p:cTn id="7" dur="500"/>
                                        <p:tgtEl>
                                          <p:spTgt spid="3">
                                            <p:txEl>
                                              <p:pRg st="4" end="4"/>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wipe(down)">
                                      <p:cBhvr>
                                        <p:cTn id="10" dur="500"/>
                                        <p:tgtEl>
                                          <p:spTgt spid="3">
                                            <p:txEl>
                                              <p:pRg st="5" end="5"/>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down)">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3">
                                            <p:txEl>
                                              <p:pRg st="6" end="6"/>
                                            </p:txEl>
                                          </p:spTgt>
                                        </p:tgtEl>
                                        <p:attrNameLst>
                                          <p:attrName>style.visibility</p:attrName>
                                        </p:attrNameLst>
                                      </p:cBhvr>
                                      <p:to>
                                        <p:strVal val="visible"/>
                                      </p:to>
                                    </p:set>
                                    <p:animEffect transition="in" filter="wipe(down)">
                                      <p:cBhvr>
                                        <p:cTn id="18" dur="500"/>
                                        <p:tgtEl>
                                          <p:spTgt spid="3">
                                            <p:txEl>
                                              <p:pRg st="6" end="6"/>
                                            </p:txEl>
                                          </p:spTgt>
                                        </p:tgtEl>
                                      </p:cBhvr>
                                    </p:animEffect>
                                  </p:childTnLst>
                                </p:cTn>
                              </p:par>
                              <p:par>
                                <p:cTn id="19" presetID="22" presetClass="entr" presetSubtype="4"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ipe(down)">
                                      <p:cBhvr>
                                        <p:cTn id="2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欧拉通路和欧拉回路</a:t>
            </a:r>
          </a:p>
        </p:txBody>
      </p:sp>
      <p:sp>
        <p:nvSpPr>
          <p:cNvPr id="3" name="内容占位符 2"/>
          <p:cNvSpPr>
            <a:spLocks noGrp="1"/>
          </p:cNvSpPr>
          <p:nvPr>
            <p:ph idx="1"/>
          </p:nvPr>
        </p:nvSpPr>
        <p:spPr/>
        <p:txBody>
          <a:bodyPr>
            <a:normAutofit/>
          </a:bodyPr>
          <a:lstStyle/>
          <a:p>
            <a:endParaRPr lang="en-US" altLang="zh-CN" dirty="0" smtClean="0"/>
          </a:p>
          <a:p>
            <a:endParaRPr lang="en-US" altLang="zh-CN" dirty="0" smtClean="0"/>
          </a:p>
          <a:p>
            <a:endParaRPr lang="en-US" altLang="zh-CN" dirty="0"/>
          </a:p>
          <a:p>
            <a:endParaRPr lang="en-US" altLang="zh-CN" dirty="0" smtClean="0"/>
          </a:p>
          <a:p>
            <a:r>
              <a:rPr lang="zh-CN" altLang="en-US" dirty="0" smtClean="0"/>
              <a:t>解</a:t>
            </a:r>
            <a:r>
              <a:rPr lang="en-US" altLang="zh-CN" dirty="0" smtClean="0"/>
              <a:t>(</a:t>
            </a:r>
            <a:r>
              <a:rPr lang="zh-CN" altLang="en-US" dirty="0" smtClean="0"/>
              <a:t>续</a:t>
            </a:r>
            <a:r>
              <a:rPr lang="en-US" altLang="zh-CN" dirty="0" smtClean="0"/>
              <a:t>): </a:t>
            </a:r>
          </a:p>
          <a:p>
            <a:pPr lvl="1"/>
            <a:r>
              <a:rPr lang="zh-CN" altLang="en-US" dirty="0"/>
              <a:t>在子图</a:t>
            </a:r>
            <a:r>
              <a:rPr lang="en-US" altLang="zh-CN" dirty="0"/>
              <a:t>H</a:t>
            </a:r>
            <a:r>
              <a:rPr lang="zh-CN" altLang="en-US" dirty="0"/>
              <a:t>中形成回路</a:t>
            </a:r>
            <a:r>
              <a:rPr lang="en-US" altLang="zh-CN" dirty="0" smtClean="0"/>
              <a:t>d, g, h, j, </a:t>
            </a:r>
            <a:r>
              <a:rPr lang="en-US" altLang="zh-CN" dirty="0" err="1" smtClean="0"/>
              <a:t>i</a:t>
            </a:r>
            <a:r>
              <a:rPr lang="en-US" altLang="zh-CN" dirty="0" smtClean="0"/>
              <a:t>, h, k, g, f, d. </a:t>
            </a:r>
            <a:r>
              <a:rPr lang="zh-CN" altLang="en-US" dirty="0" smtClean="0"/>
              <a:t>形成</a:t>
            </a:r>
            <a:r>
              <a:rPr lang="zh-CN" altLang="en-US" dirty="0"/>
              <a:t>这条回路用完了</a:t>
            </a:r>
            <a:r>
              <a:rPr lang="en-US" altLang="zh-CN" dirty="0"/>
              <a:t>G</a:t>
            </a:r>
            <a:r>
              <a:rPr lang="zh-CN" altLang="en-US" dirty="0"/>
              <a:t>中的所有边</a:t>
            </a:r>
            <a:r>
              <a:rPr lang="en-US" altLang="zh-CN" dirty="0"/>
              <a:t>. </a:t>
            </a:r>
            <a:endParaRPr lang="en-US" altLang="zh-CN" dirty="0" smtClean="0"/>
          </a:p>
          <a:p>
            <a:pPr lvl="1"/>
            <a:r>
              <a:rPr lang="zh-CN" altLang="en-US" dirty="0" smtClean="0"/>
              <a:t>将</a:t>
            </a:r>
            <a:r>
              <a:rPr lang="zh-CN" altLang="en-US" dirty="0"/>
              <a:t>这条回路放入第一条</a:t>
            </a:r>
            <a:r>
              <a:rPr lang="zh-CN" altLang="en-US" dirty="0" smtClean="0"/>
              <a:t>回路</a:t>
            </a:r>
            <a:r>
              <a:rPr lang="en-US" altLang="zh-CN" dirty="0"/>
              <a:t>a</a:t>
            </a:r>
            <a:r>
              <a:rPr lang="en-US" altLang="zh-CN" dirty="0" smtClean="0"/>
              <a:t>, b, d, c, b, e, </a:t>
            </a:r>
            <a:r>
              <a:rPr lang="en-US" altLang="zh-CN" dirty="0" err="1" smtClean="0"/>
              <a:t>i</a:t>
            </a:r>
            <a:r>
              <a:rPr lang="en-US" altLang="zh-CN" dirty="0" smtClean="0"/>
              <a:t>, f, e, a</a:t>
            </a:r>
            <a:r>
              <a:rPr lang="zh-CN" altLang="en-US" dirty="0" smtClean="0"/>
              <a:t>中</a:t>
            </a:r>
            <a:r>
              <a:rPr lang="zh-CN" altLang="en-US" dirty="0"/>
              <a:t>合适的位置</a:t>
            </a:r>
            <a:r>
              <a:rPr lang="en-US" altLang="zh-CN" dirty="0"/>
              <a:t>, </a:t>
            </a:r>
            <a:r>
              <a:rPr lang="zh-CN" altLang="en-US" dirty="0"/>
              <a:t>就产生了回路</a:t>
            </a:r>
            <a:r>
              <a:rPr lang="en-US" altLang="zh-CN" dirty="0" smtClean="0"/>
              <a:t>a, b, d, g, h, j, </a:t>
            </a:r>
            <a:r>
              <a:rPr lang="en-US" altLang="zh-CN" dirty="0" err="1" smtClean="0"/>
              <a:t>i</a:t>
            </a:r>
            <a:r>
              <a:rPr lang="en-US" altLang="zh-CN" dirty="0" smtClean="0"/>
              <a:t>, h, k, g, f, d, c, b, e, </a:t>
            </a:r>
            <a:r>
              <a:rPr lang="en-US" altLang="zh-CN" dirty="0" err="1" smtClean="0"/>
              <a:t>i</a:t>
            </a:r>
            <a:r>
              <a:rPr lang="en-US" altLang="zh-CN" dirty="0" smtClean="0"/>
              <a:t>, f, e, a</a:t>
            </a:r>
            <a:r>
              <a:rPr lang="en-US" altLang="zh-CN" dirty="0"/>
              <a:t>.</a:t>
            </a:r>
          </a:p>
          <a:p>
            <a:endParaRPr lang="zh-CN" altLang="en-US" dirty="0"/>
          </a:p>
        </p:txBody>
      </p:sp>
      <p:sp>
        <p:nvSpPr>
          <p:cNvPr id="4" name="日期占位符 3"/>
          <p:cNvSpPr>
            <a:spLocks noGrp="1"/>
          </p:cNvSpPr>
          <p:nvPr>
            <p:ph type="dt" sz="half" idx="10"/>
          </p:nvPr>
        </p:nvSpPr>
        <p:spPr/>
        <p:txBody>
          <a:bodyPr/>
          <a:lstStyle/>
          <a:p>
            <a:fld id="{8268CD5C-84AC-46AD-9336-8C6063EDD031}"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161</a:t>
            </a:fld>
            <a:endParaRPr lang="zh-CN" altLang="en-US" dirty="0"/>
          </a:p>
        </p:txBody>
      </p:sp>
      <p:pic>
        <p:nvPicPr>
          <p:cNvPr id="7" name="图片 6"/>
          <p:cNvPicPr>
            <a:picLocks noChangeAspect="1"/>
          </p:cNvPicPr>
          <p:nvPr/>
        </p:nvPicPr>
        <p:blipFill>
          <a:blip r:embed="rId2"/>
          <a:stretch>
            <a:fillRect/>
          </a:stretch>
        </p:blipFill>
        <p:spPr>
          <a:xfrm>
            <a:off x="2209800" y="1295400"/>
            <a:ext cx="3523874" cy="1981200"/>
          </a:xfrm>
          <a:prstGeom prst="rect">
            <a:avLst/>
          </a:prstGeom>
        </p:spPr>
      </p:pic>
      <p:pic>
        <p:nvPicPr>
          <p:cNvPr id="8" name="图片 7"/>
          <p:cNvPicPr>
            <a:picLocks noChangeAspect="1"/>
          </p:cNvPicPr>
          <p:nvPr/>
        </p:nvPicPr>
        <p:blipFill>
          <a:blip r:embed="rId3"/>
          <a:stretch>
            <a:fillRect/>
          </a:stretch>
        </p:blipFill>
        <p:spPr>
          <a:xfrm>
            <a:off x="6781800" y="1116734"/>
            <a:ext cx="2529840" cy="1927860"/>
          </a:xfrm>
          <a:prstGeom prst="rect">
            <a:avLst/>
          </a:prstGeom>
        </p:spPr>
      </p:pic>
      <p:pic>
        <p:nvPicPr>
          <p:cNvPr id="9" name="图片 8"/>
          <p:cNvPicPr>
            <a:picLocks noChangeAspect="1"/>
          </p:cNvPicPr>
          <p:nvPr/>
        </p:nvPicPr>
        <p:blipFill>
          <a:blip r:embed="rId4"/>
          <a:stretch>
            <a:fillRect/>
          </a:stretch>
        </p:blipFill>
        <p:spPr>
          <a:xfrm>
            <a:off x="2514600" y="1369780"/>
            <a:ext cx="2270760" cy="1211580"/>
          </a:xfrm>
          <a:prstGeom prst="rect">
            <a:avLst/>
          </a:prstGeom>
        </p:spPr>
      </p:pic>
      <p:pic>
        <p:nvPicPr>
          <p:cNvPr id="10" name="图片 9"/>
          <p:cNvPicPr>
            <a:picLocks noChangeAspect="1"/>
          </p:cNvPicPr>
          <p:nvPr/>
        </p:nvPicPr>
        <p:blipFill>
          <a:blip r:embed="rId5"/>
          <a:stretch>
            <a:fillRect/>
          </a:stretch>
        </p:blipFill>
        <p:spPr>
          <a:xfrm>
            <a:off x="6934200" y="1366824"/>
            <a:ext cx="2087880" cy="1066800"/>
          </a:xfrm>
          <a:prstGeom prst="rect">
            <a:avLst/>
          </a:prstGeom>
        </p:spPr>
      </p:pic>
    </p:spTree>
    <p:extLst>
      <p:ext uri="{BB962C8B-B14F-4D97-AF65-F5344CB8AC3E}">
        <p14:creationId xmlns:p14="http://schemas.microsoft.com/office/powerpoint/2010/main" val="1429237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wipe(down)">
                                      <p:cBhvr>
                                        <p:cTn id="7" dur="500"/>
                                        <p:tgtEl>
                                          <p:spTgt spid="3">
                                            <p:txEl>
                                              <p:pRg st="4" end="4"/>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wipe(down)">
                                      <p:cBhvr>
                                        <p:cTn id="10" dur="500"/>
                                        <p:tgtEl>
                                          <p:spTgt spid="3">
                                            <p:txEl>
                                              <p:pRg st="5" end="5"/>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down)">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3">
                                            <p:txEl>
                                              <p:pRg st="6" end="6"/>
                                            </p:txEl>
                                          </p:spTgt>
                                        </p:tgtEl>
                                        <p:attrNameLst>
                                          <p:attrName>style.visibility</p:attrName>
                                        </p:attrNameLst>
                                      </p:cBhvr>
                                      <p:to>
                                        <p:strVal val="visible"/>
                                      </p:to>
                                    </p:set>
                                    <p:animEffect transition="in" filter="wipe(down)">
                                      <p:cBhvr>
                                        <p:cTn id="18"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57200" y="1143000"/>
            <a:ext cx="11277599" cy="8382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欧拉通路和欧拉回路</a:t>
            </a:r>
            <a:endParaRPr lang="en-US" dirty="0"/>
          </a:p>
        </p:txBody>
      </p:sp>
      <p:sp>
        <p:nvSpPr>
          <p:cNvPr id="3" name="Content Placeholder 2"/>
          <p:cNvSpPr>
            <a:spLocks noGrp="1"/>
          </p:cNvSpPr>
          <p:nvPr>
            <p:ph idx="1"/>
          </p:nvPr>
        </p:nvSpPr>
        <p:spPr/>
        <p:txBody>
          <a:bodyPr>
            <a:normAutofit/>
          </a:bodyPr>
          <a:lstStyle/>
          <a:p>
            <a:r>
              <a:rPr lang="zh-CN" altLang="en-US" dirty="0" smtClean="0"/>
              <a:t>定理</a:t>
            </a:r>
            <a:r>
              <a:rPr lang="en-US" altLang="zh-CN" dirty="0" smtClean="0"/>
              <a:t>: </a:t>
            </a:r>
            <a:r>
              <a:rPr lang="zh-CN" altLang="en-US" dirty="0" smtClean="0"/>
              <a:t>连通多重图具有欧拉通路但无欧拉回路当且仅当它恰有</a:t>
            </a:r>
            <a:r>
              <a:rPr lang="en-US" altLang="zh-CN" dirty="0" smtClean="0"/>
              <a:t>2</a:t>
            </a:r>
            <a:r>
              <a:rPr lang="zh-CN" altLang="en-US" dirty="0" smtClean="0"/>
              <a:t>个度为奇数的顶点</a:t>
            </a:r>
            <a:r>
              <a:rPr lang="en-US" dirty="0" smtClean="0"/>
              <a:t>.</a:t>
            </a:r>
          </a:p>
          <a:p>
            <a:r>
              <a:rPr lang="zh-CN" altLang="en-US" dirty="0" smtClean="0"/>
              <a:t>例</a:t>
            </a:r>
            <a:r>
              <a:rPr lang="en-US" dirty="0" smtClean="0"/>
              <a:t>: </a:t>
            </a:r>
            <a:r>
              <a:rPr lang="zh-CN" altLang="en-US" dirty="0" smtClean="0"/>
              <a:t>回到之前的七座桥问题</a:t>
            </a:r>
            <a:r>
              <a:rPr lang="en-US" altLang="zh-CN" dirty="0" smtClean="0"/>
              <a:t>, </a:t>
            </a:r>
            <a:r>
              <a:rPr lang="zh-CN" altLang="en-US" dirty="0" smtClean="0"/>
              <a:t>是否有可能在镇上的某个点开始</a:t>
            </a:r>
            <a:r>
              <a:rPr lang="en-US" altLang="zh-CN" dirty="0" smtClean="0"/>
              <a:t>, </a:t>
            </a:r>
            <a:r>
              <a:rPr lang="zh-CN" altLang="en-US" dirty="0" smtClean="0"/>
              <a:t>经过所有的桥</a:t>
            </a:r>
            <a:r>
              <a:rPr lang="en-US" altLang="zh-CN" dirty="0" smtClean="0"/>
              <a:t>, </a:t>
            </a:r>
            <a:r>
              <a:rPr lang="zh-CN" altLang="en-US" dirty="0" smtClean="0"/>
              <a:t>在镇上的其他点结束？</a:t>
            </a:r>
            <a:endParaRPr lang="en-US" altLang="zh-CN" dirty="0" smtClean="0"/>
          </a:p>
          <a:p>
            <a:endParaRPr lang="en-US" altLang="zh-CN" dirty="0"/>
          </a:p>
          <a:p>
            <a:endParaRPr lang="en-US" altLang="zh-CN" dirty="0" smtClean="0"/>
          </a:p>
          <a:p>
            <a:endParaRPr lang="en-US" altLang="zh-CN" dirty="0" smtClean="0"/>
          </a:p>
          <a:p>
            <a:r>
              <a:rPr lang="zh-CN" altLang="en-US" dirty="0" smtClean="0"/>
              <a:t>解</a:t>
            </a:r>
            <a:r>
              <a:rPr lang="en-US" altLang="zh-CN" dirty="0" smtClean="0"/>
              <a:t>: </a:t>
            </a:r>
            <a:r>
              <a:rPr lang="zh-CN" altLang="en-US" dirty="0" smtClean="0"/>
              <a:t>判定对应的多重图是否具有欧拉通路</a:t>
            </a:r>
            <a:r>
              <a:rPr lang="en-US" altLang="zh-CN" dirty="0" smtClean="0"/>
              <a:t>. </a:t>
            </a:r>
            <a:r>
              <a:rPr lang="zh-CN" altLang="en-US" dirty="0" smtClean="0"/>
              <a:t>因为这个多重图有</a:t>
            </a:r>
            <a:r>
              <a:rPr lang="en-US" altLang="zh-CN" dirty="0" smtClean="0"/>
              <a:t>4</a:t>
            </a:r>
            <a:r>
              <a:rPr lang="zh-CN" altLang="en-US" dirty="0" smtClean="0"/>
              <a:t>个度为奇数的顶点</a:t>
            </a:r>
            <a:r>
              <a:rPr lang="en-US" altLang="zh-CN" dirty="0" smtClean="0"/>
              <a:t>, </a:t>
            </a:r>
            <a:r>
              <a:rPr lang="zh-CN" altLang="en-US" dirty="0" smtClean="0"/>
              <a:t>没有欧拉通路</a:t>
            </a:r>
            <a:r>
              <a:rPr lang="en-US" altLang="zh-CN" dirty="0" smtClean="0"/>
              <a:t>, </a:t>
            </a:r>
            <a:r>
              <a:rPr lang="zh-CN" altLang="en-US" dirty="0" smtClean="0"/>
              <a:t>所以这样的旅行是不可能的</a:t>
            </a:r>
            <a:r>
              <a:rPr lang="en-US" altLang="zh-CN" dirty="0" smtClean="0"/>
              <a:t>.</a:t>
            </a:r>
          </a:p>
          <a:p>
            <a:pPr marL="0" indent="0">
              <a:buNone/>
            </a:pPr>
            <a:endParaRPr lang="en-US" dirty="0" smtClean="0"/>
          </a:p>
          <a:p>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31588" y="2895600"/>
            <a:ext cx="1064612" cy="1828800"/>
          </a:xfrm>
          <a:prstGeom prst="rect">
            <a:avLst/>
          </a:prstGeom>
        </p:spPr>
      </p:pic>
      <p:sp>
        <p:nvSpPr>
          <p:cNvPr id="7" name="日期占位符 6"/>
          <p:cNvSpPr>
            <a:spLocks noGrp="1"/>
          </p:cNvSpPr>
          <p:nvPr>
            <p:ph type="dt" sz="half" idx="10"/>
          </p:nvPr>
        </p:nvSpPr>
        <p:spPr/>
        <p:txBody>
          <a:bodyPr/>
          <a:lstStyle/>
          <a:p>
            <a:fld id="{C52FB137-DF75-442F-8C44-02833CF0D1AA}"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162</a:t>
            </a:fld>
            <a:endParaRPr lang="zh-CN" altLang="en-US" dirty="0"/>
          </a:p>
        </p:txBody>
      </p:sp>
    </p:spTree>
    <p:extLst>
      <p:ext uri="{BB962C8B-B14F-4D97-AF65-F5344CB8AC3E}">
        <p14:creationId xmlns:p14="http://schemas.microsoft.com/office/powerpoint/2010/main" val="1282661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wipe(down)">
                                      <p:cBhvr>
                                        <p:cTn id="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欧拉通路和欧拉回路</a:t>
            </a:r>
            <a:endParaRPr lang="en-US" dirty="0"/>
          </a:p>
        </p:txBody>
      </p:sp>
      <p:sp>
        <p:nvSpPr>
          <p:cNvPr id="3" name="Content Placeholder 2"/>
          <p:cNvSpPr>
            <a:spLocks noGrp="1"/>
          </p:cNvSpPr>
          <p:nvPr>
            <p:ph idx="1"/>
          </p:nvPr>
        </p:nvSpPr>
        <p:spPr/>
        <p:txBody>
          <a:bodyPr>
            <a:normAutofit/>
          </a:bodyPr>
          <a:lstStyle/>
          <a:p>
            <a:r>
              <a:rPr lang="zh-CN" altLang="en-US" dirty="0" smtClean="0"/>
              <a:t>例</a:t>
            </a:r>
            <a:r>
              <a:rPr lang="en-US" dirty="0" smtClean="0"/>
              <a:t>: </a:t>
            </a:r>
            <a:r>
              <a:rPr lang="zh-CN" altLang="en-US" dirty="0" smtClean="0"/>
              <a:t>以下哪些图具有欧拉通路？</a:t>
            </a:r>
            <a:endParaRPr lang="en-US" dirty="0" smtClean="0"/>
          </a:p>
          <a:p>
            <a:endParaRPr lang="en-US" dirty="0" smtClean="0"/>
          </a:p>
          <a:p>
            <a:endParaRPr lang="en-US" dirty="0" smtClean="0"/>
          </a:p>
          <a:p>
            <a:r>
              <a:rPr lang="zh-CN" altLang="en-US" dirty="0" smtClean="0"/>
              <a:t>解</a:t>
            </a:r>
            <a:r>
              <a:rPr lang="en-US" altLang="zh-CN" dirty="0" smtClean="0"/>
              <a:t>: </a:t>
            </a:r>
            <a:endParaRPr lang="en-US" dirty="0" smtClean="0"/>
          </a:p>
          <a:p>
            <a:pPr lvl="1"/>
            <a:r>
              <a:rPr lang="en-US" dirty="0" smtClean="0"/>
              <a:t>G1</a:t>
            </a:r>
            <a:r>
              <a:rPr lang="zh-CN" altLang="en-US" dirty="0" smtClean="0"/>
              <a:t>恰有</a:t>
            </a:r>
            <a:r>
              <a:rPr lang="en-US" altLang="zh-CN" dirty="0" smtClean="0"/>
              <a:t>2</a:t>
            </a:r>
            <a:r>
              <a:rPr lang="zh-CN" altLang="en-US" dirty="0" smtClean="0"/>
              <a:t>个度为奇数的顶点</a:t>
            </a:r>
            <a:r>
              <a:rPr lang="en-US" altLang="zh-CN" dirty="0" smtClean="0"/>
              <a:t>, b</a:t>
            </a:r>
            <a:r>
              <a:rPr lang="zh-CN" altLang="en-US" dirty="0" smtClean="0"/>
              <a:t>和</a:t>
            </a:r>
            <a:r>
              <a:rPr lang="en-US" altLang="zh-CN" dirty="0" smtClean="0"/>
              <a:t>d. </a:t>
            </a:r>
            <a:r>
              <a:rPr lang="zh-CN" altLang="en-US" dirty="0" smtClean="0"/>
              <a:t>因此它具有必须用</a:t>
            </a:r>
            <a:r>
              <a:rPr lang="en-US" altLang="zh-CN" dirty="0" smtClean="0"/>
              <a:t>b</a:t>
            </a:r>
            <a:r>
              <a:rPr lang="zh-CN" altLang="en-US" dirty="0" smtClean="0"/>
              <a:t>和</a:t>
            </a:r>
            <a:r>
              <a:rPr lang="en-US" altLang="zh-CN" dirty="0" smtClean="0"/>
              <a:t>d</a:t>
            </a:r>
            <a:r>
              <a:rPr lang="zh-CN" altLang="en-US" dirty="0" smtClean="0"/>
              <a:t>作为端点的欧拉通路</a:t>
            </a:r>
            <a:r>
              <a:rPr lang="en-US" altLang="zh-CN" dirty="0" smtClean="0"/>
              <a:t>, </a:t>
            </a:r>
            <a:r>
              <a:rPr lang="zh-CN" altLang="en-US" dirty="0" smtClean="0"/>
              <a:t>如</a:t>
            </a:r>
            <a:r>
              <a:rPr lang="en-US" dirty="0" smtClean="0"/>
              <a:t> d, a, b, c, d, b</a:t>
            </a:r>
            <a:r>
              <a:rPr lang="en-US" dirty="0"/>
              <a:t>. </a:t>
            </a:r>
          </a:p>
          <a:p>
            <a:pPr lvl="1"/>
            <a:r>
              <a:rPr lang="en-US" dirty="0" smtClean="0"/>
              <a:t>G2</a:t>
            </a:r>
            <a:r>
              <a:rPr lang="zh-CN" altLang="en-US" dirty="0"/>
              <a:t>恰有</a:t>
            </a:r>
            <a:r>
              <a:rPr lang="en-US" altLang="zh-CN" dirty="0"/>
              <a:t>2</a:t>
            </a:r>
            <a:r>
              <a:rPr lang="zh-CN" altLang="en-US" dirty="0"/>
              <a:t>个度为奇数的</a:t>
            </a:r>
            <a:r>
              <a:rPr lang="zh-CN" altLang="en-US" dirty="0" smtClean="0"/>
              <a:t>顶点</a:t>
            </a:r>
            <a:r>
              <a:rPr lang="en-US" altLang="zh-CN" dirty="0" smtClean="0"/>
              <a:t>, b</a:t>
            </a:r>
            <a:r>
              <a:rPr lang="zh-CN" altLang="en-US" dirty="0"/>
              <a:t>和</a:t>
            </a:r>
            <a:r>
              <a:rPr lang="en-US" altLang="zh-CN" dirty="0" smtClean="0"/>
              <a:t>d. </a:t>
            </a:r>
            <a:r>
              <a:rPr lang="zh-CN" altLang="en-US" dirty="0" smtClean="0"/>
              <a:t>因此</a:t>
            </a:r>
            <a:r>
              <a:rPr lang="zh-CN" altLang="en-US" dirty="0"/>
              <a:t>它具有必须用</a:t>
            </a:r>
            <a:r>
              <a:rPr lang="en-US" altLang="zh-CN" dirty="0"/>
              <a:t>b</a:t>
            </a:r>
            <a:r>
              <a:rPr lang="zh-CN" altLang="en-US" dirty="0"/>
              <a:t>和</a:t>
            </a:r>
            <a:r>
              <a:rPr lang="en-US" altLang="zh-CN" dirty="0"/>
              <a:t>d</a:t>
            </a:r>
            <a:r>
              <a:rPr lang="zh-CN" altLang="en-US" dirty="0"/>
              <a:t>作为端点的欧拉</a:t>
            </a:r>
            <a:r>
              <a:rPr lang="zh-CN" altLang="en-US" dirty="0" smtClean="0"/>
              <a:t>通路</a:t>
            </a:r>
            <a:r>
              <a:rPr lang="en-US" altLang="zh-CN" dirty="0" smtClean="0"/>
              <a:t>, </a:t>
            </a:r>
            <a:r>
              <a:rPr lang="zh-CN" altLang="en-US" dirty="0" smtClean="0"/>
              <a:t>如</a:t>
            </a:r>
            <a:r>
              <a:rPr lang="en-US" dirty="0" smtClean="0"/>
              <a:t>b, a, g, f, e, d, c, g, b, c, f, d</a:t>
            </a:r>
            <a:r>
              <a:rPr lang="en-US" dirty="0"/>
              <a:t>. </a:t>
            </a:r>
          </a:p>
          <a:p>
            <a:pPr lvl="1"/>
            <a:r>
              <a:rPr lang="en-US" dirty="0"/>
              <a:t>G3 </a:t>
            </a:r>
            <a:r>
              <a:rPr lang="zh-CN" altLang="en-US" dirty="0" smtClean="0"/>
              <a:t>没有欧拉通路</a:t>
            </a:r>
            <a:r>
              <a:rPr lang="en-US" altLang="zh-CN" dirty="0" smtClean="0"/>
              <a:t>, </a:t>
            </a:r>
            <a:r>
              <a:rPr lang="zh-CN" altLang="en-US" dirty="0" smtClean="0"/>
              <a:t>因为它具有</a:t>
            </a:r>
            <a:r>
              <a:rPr lang="en-US" altLang="zh-CN" dirty="0" smtClean="0"/>
              <a:t>6</a:t>
            </a:r>
            <a:r>
              <a:rPr lang="zh-CN" altLang="en-US" dirty="0" smtClean="0"/>
              <a:t>个度为奇数的顶点</a:t>
            </a:r>
            <a:r>
              <a:rPr lang="en-US" dirty="0" smtClean="0"/>
              <a:t>.</a:t>
            </a:r>
            <a:endParaRPr lang="en-US" dirty="0"/>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51543" y="1762178"/>
            <a:ext cx="5270135" cy="1362022"/>
          </a:xfrm>
          <a:prstGeom prst="rect">
            <a:avLst/>
          </a:prstGeom>
        </p:spPr>
      </p:pic>
      <p:sp>
        <p:nvSpPr>
          <p:cNvPr id="7" name="日期占位符 6"/>
          <p:cNvSpPr>
            <a:spLocks noGrp="1"/>
          </p:cNvSpPr>
          <p:nvPr>
            <p:ph type="dt" sz="half" idx="10"/>
          </p:nvPr>
        </p:nvSpPr>
        <p:spPr/>
        <p:txBody>
          <a:bodyPr/>
          <a:lstStyle/>
          <a:p>
            <a:fld id="{84CD7ADA-67A0-4EAA-ADC6-E0EAC25A20CC}"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163</a:t>
            </a:fld>
            <a:endParaRPr lang="zh-CN" altLang="en-US" dirty="0"/>
          </a:p>
        </p:txBody>
      </p:sp>
      <p:sp>
        <p:nvSpPr>
          <p:cNvPr id="10" name="矩形 9"/>
          <p:cNvSpPr/>
          <p:nvPr/>
        </p:nvSpPr>
        <p:spPr>
          <a:xfrm>
            <a:off x="3733800" y="1762178"/>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2899143" y="2590800"/>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4251960" y="2590800"/>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5817472" y="2557272"/>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015379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wipe(down)">
                                      <p:cBhvr>
                                        <p:cTn id="7" dur="500"/>
                                        <p:tgtEl>
                                          <p:spTgt spid="3">
                                            <p:txEl>
                                              <p:pRg st="3" end="3"/>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wipe(down)">
                                      <p:cBhvr>
                                        <p:cTn id="10" dur="500"/>
                                        <p:tgtEl>
                                          <p:spTgt spid="3">
                                            <p:txEl>
                                              <p:pRg st="4" end="4"/>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wipe(down)">
                                      <p:cBhvr>
                                        <p:cTn id="13" dur="500"/>
                                        <p:tgtEl>
                                          <p:spTgt spid="3">
                                            <p:txEl>
                                              <p:pRg st="5" end="5"/>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wipe(down)">
                                      <p:cBhvr>
                                        <p:cTn id="16"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欧拉通路和欧拉回路</a:t>
            </a:r>
            <a:endParaRPr lang="en-US" dirty="0"/>
          </a:p>
        </p:txBody>
      </p:sp>
      <p:sp>
        <p:nvSpPr>
          <p:cNvPr id="3" name="Content Placeholder 2"/>
          <p:cNvSpPr>
            <a:spLocks noGrp="1"/>
          </p:cNvSpPr>
          <p:nvPr>
            <p:ph idx="1"/>
          </p:nvPr>
        </p:nvSpPr>
        <p:spPr/>
        <p:txBody>
          <a:bodyPr>
            <a:normAutofit/>
          </a:bodyPr>
          <a:lstStyle/>
          <a:p>
            <a:r>
              <a:rPr lang="zh-CN" altLang="en-US" dirty="0"/>
              <a:t>欧拉通路和欧拉回</a:t>
            </a:r>
            <a:r>
              <a:rPr lang="zh-CN" altLang="en-US" dirty="0" smtClean="0"/>
              <a:t>路的应用</a:t>
            </a:r>
            <a:r>
              <a:rPr lang="en-US" altLang="zh-CN" dirty="0" smtClean="0"/>
              <a:t>: </a:t>
            </a:r>
            <a:r>
              <a:rPr lang="zh-CN" altLang="en-US" dirty="0" smtClean="0"/>
              <a:t>可以用来解决许多实际的问题</a:t>
            </a:r>
            <a:endParaRPr lang="en-US" dirty="0" smtClean="0"/>
          </a:p>
          <a:p>
            <a:pPr lvl="1"/>
            <a:r>
              <a:rPr lang="zh-CN" altLang="en-US" dirty="0"/>
              <a:t>一些</a:t>
            </a:r>
            <a:r>
              <a:rPr lang="zh-CN" altLang="en-US" dirty="0" smtClean="0"/>
              <a:t>应用要求一条通路或回路</a:t>
            </a:r>
            <a:r>
              <a:rPr lang="en-US" altLang="zh-CN" dirty="0" smtClean="0"/>
              <a:t>, </a:t>
            </a:r>
            <a:r>
              <a:rPr lang="zh-CN" altLang="en-US" dirty="0" smtClean="0"/>
              <a:t>它恰好一次经过一个街区的每条街道</a:t>
            </a:r>
            <a:endParaRPr lang="en-US" altLang="zh-CN" dirty="0" smtClean="0"/>
          </a:p>
          <a:p>
            <a:pPr lvl="1"/>
            <a:r>
              <a:rPr lang="zh-CN" altLang="en-US" dirty="0"/>
              <a:t>一些应用要求一条通路或</a:t>
            </a:r>
            <a:r>
              <a:rPr lang="zh-CN" altLang="en-US" dirty="0" smtClean="0"/>
              <a:t>回路</a:t>
            </a:r>
            <a:r>
              <a:rPr lang="en-US" altLang="zh-CN" dirty="0" smtClean="0"/>
              <a:t>, </a:t>
            </a:r>
            <a:r>
              <a:rPr lang="zh-CN" altLang="en-US" dirty="0" smtClean="0"/>
              <a:t>它</a:t>
            </a:r>
            <a:r>
              <a:rPr lang="zh-CN" altLang="en-US" dirty="0"/>
              <a:t>恰好一</a:t>
            </a:r>
            <a:r>
              <a:rPr lang="zh-CN" altLang="en-US" dirty="0" smtClean="0"/>
              <a:t>次经过一个交通网中的每条道</a:t>
            </a:r>
            <a:endParaRPr lang="en-US" altLang="zh-CN" dirty="0" smtClean="0"/>
          </a:p>
          <a:p>
            <a:pPr lvl="1"/>
            <a:r>
              <a:rPr lang="zh-CN" altLang="en-US" dirty="0"/>
              <a:t>一些应用要求一条通路或</a:t>
            </a:r>
            <a:r>
              <a:rPr lang="zh-CN" altLang="en-US" dirty="0" smtClean="0"/>
              <a:t>回路</a:t>
            </a:r>
            <a:r>
              <a:rPr lang="en-US" altLang="zh-CN" dirty="0" smtClean="0"/>
              <a:t>, </a:t>
            </a:r>
            <a:r>
              <a:rPr lang="zh-CN" altLang="en-US" dirty="0" smtClean="0"/>
              <a:t>它</a:t>
            </a:r>
            <a:r>
              <a:rPr lang="zh-CN" altLang="en-US" dirty="0"/>
              <a:t>恰好一次经过一</a:t>
            </a:r>
            <a:r>
              <a:rPr lang="zh-CN" altLang="en-US" dirty="0" smtClean="0"/>
              <a:t>个高压输电网里的每个连接</a:t>
            </a:r>
            <a:endParaRPr lang="en-US" altLang="zh-CN" dirty="0" smtClean="0"/>
          </a:p>
          <a:p>
            <a:pPr lvl="1"/>
            <a:r>
              <a:rPr lang="zh-CN" altLang="en-US" dirty="0"/>
              <a:t>一些应用要求一条通路或</a:t>
            </a:r>
            <a:r>
              <a:rPr lang="zh-CN" altLang="en-US" dirty="0" smtClean="0"/>
              <a:t>回路</a:t>
            </a:r>
            <a:r>
              <a:rPr lang="en-US" altLang="zh-CN" dirty="0" smtClean="0"/>
              <a:t>, </a:t>
            </a:r>
            <a:r>
              <a:rPr lang="zh-CN" altLang="en-US" dirty="0" smtClean="0"/>
              <a:t>它</a:t>
            </a:r>
            <a:r>
              <a:rPr lang="zh-CN" altLang="en-US" dirty="0"/>
              <a:t>恰好一次经过一</a:t>
            </a:r>
            <a:r>
              <a:rPr lang="zh-CN" altLang="en-US" dirty="0" smtClean="0"/>
              <a:t>个通信网络中的每条链路</a:t>
            </a:r>
            <a:endParaRPr lang="en-US" altLang="zh-CN" dirty="0" smtClean="0"/>
          </a:p>
          <a:p>
            <a:pPr lvl="1"/>
            <a:r>
              <a:rPr lang="zh-CN" altLang="en-US" dirty="0" smtClean="0"/>
              <a:t>电路布线</a:t>
            </a:r>
            <a:endParaRPr lang="en-US" altLang="zh-CN" dirty="0" smtClean="0"/>
          </a:p>
          <a:p>
            <a:pPr lvl="1"/>
            <a:r>
              <a:rPr lang="zh-CN" altLang="en-US" dirty="0" smtClean="0"/>
              <a:t>网路组播</a:t>
            </a:r>
            <a:endParaRPr lang="en-US" altLang="zh-CN" dirty="0" smtClean="0"/>
          </a:p>
          <a:p>
            <a:pPr lvl="1"/>
            <a:r>
              <a:rPr lang="zh-CN" altLang="en-US" dirty="0" smtClean="0"/>
              <a:t>分子生物学</a:t>
            </a:r>
            <a:r>
              <a:rPr lang="en-US" altLang="zh-CN" dirty="0" smtClean="0"/>
              <a:t>, </a:t>
            </a:r>
            <a:r>
              <a:rPr lang="zh-CN" altLang="en-US" dirty="0" smtClean="0"/>
              <a:t>用欧拉通路用于</a:t>
            </a:r>
            <a:r>
              <a:rPr lang="en-US" altLang="zh-CN" dirty="0" smtClean="0"/>
              <a:t>DNA</a:t>
            </a:r>
            <a:r>
              <a:rPr lang="zh-CN" altLang="en-US" dirty="0" smtClean="0"/>
              <a:t>测序</a:t>
            </a:r>
            <a:endParaRPr lang="en-US" altLang="zh-CN" dirty="0" smtClean="0"/>
          </a:p>
          <a:p>
            <a:pPr lvl="1"/>
            <a:r>
              <a:rPr lang="en-US" dirty="0" smtClean="0"/>
              <a:t>……</a:t>
            </a:r>
            <a:endParaRPr lang="en-US" dirty="0"/>
          </a:p>
        </p:txBody>
      </p:sp>
      <p:sp>
        <p:nvSpPr>
          <p:cNvPr id="6" name="日期占位符 5"/>
          <p:cNvSpPr>
            <a:spLocks noGrp="1"/>
          </p:cNvSpPr>
          <p:nvPr>
            <p:ph type="dt" sz="half" idx="10"/>
          </p:nvPr>
        </p:nvSpPr>
        <p:spPr/>
        <p:txBody>
          <a:bodyPr/>
          <a:lstStyle/>
          <a:p>
            <a:fld id="{7F8EA64C-41CA-4B5C-BD55-98DCC2651C5F}" type="datetime1">
              <a:rPr lang="zh-CN" altLang="en-US" smtClean="0"/>
              <a:t>2025/4/15</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164</a:t>
            </a:fld>
            <a:endParaRPr lang="zh-CN" altLang="en-US" dirty="0"/>
          </a:p>
        </p:txBody>
      </p:sp>
    </p:spTree>
    <p:extLst>
      <p:ext uri="{BB962C8B-B14F-4D97-AF65-F5344CB8AC3E}">
        <p14:creationId xmlns:p14="http://schemas.microsoft.com/office/powerpoint/2010/main" val="3810977173"/>
      </p:ext>
    </p:extLst>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哈密顿通路与哈密顿回路</a:t>
            </a:r>
            <a:endParaRPr lang="en-US" dirty="0"/>
          </a:p>
        </p:txBody>
      </p:sp>
      <p:sp>
        <p:nvSpPr>
          <p:cNvPr id="3" name="Content Placeholder 2"/>
          <p:cNvSpPr>
            <a:spLocks noGrp="1"/>
          </p:cNvSpPr>
          <p:nvPr>
            <p:ph idx="1"/>
          </p:nvPr>
        </p:nvSpPr>
        <p:spPr/>
        <p:txBody>
          <a:bodyPr>
            <a:normAutofit/>
          </a:bodyPr>
          <a:lstStyle/>
          <a:p>
            <a:r>
              <a:rPr lang="zh-CN" altLang="en-US" dirty="0" smtClean="0"/>
              <a:t>欧拉通路和回路解决了多重图中每一条边恰好经过一次的通路和回路</a:t>
            </a:r>
            <a:r>
              <a:rPr lang="en-US" altLang="zh-CN" dirty="0" smtClean="0"/>
              <a:t>. </a:t>
            </a:r>
            <a:r>
              <a:rPr lang="zh-CN" altLang="en-US" dirty="0" smtClean="0"/>
              <a:t>那图中每个顶点恰好一次的简单通路和回路的问题如何解决呢</a:t>
            </a:r>
            <a:r>
              <a:rPr lang="en-US" altLang="zh-CN" dirty="0" smtClean="0"/>
              <a:t>?</a:t>
            </a:r>
          </a:p>
          <a:p>
            <a:r>
              <a:rPr lang="en-US" dirty="0" smtClean="0"/>
              <a:t>1857</a:t>
            </a:r>
            <a:r>
              <a:rPr lang="zh-CN" altLang="en-US" dirty="0" smtClean="0"/>
              <a:t>年</a:t>
            </a:r>
            <a:r>
              <a:rPr lang="en-US" altLang="zh-CN" dirty="0" smtClean="0"/>
              <a:t>, </a:t>
            </a:r>
            <a:r>
              <a:rPr lang="zh-CN" altLang="en-US" dirty="0" smtClean="0"/>
              <a:t>威廉</a:t>
            </a:r>
            <a:r>
              <a:rPr lang="en-US" altLang="zh-CN" dirty="0" smtClean="0"/>
              <a:t>.</a:t>
            </a:r>
            <a:r>
              <a:rPr lang="zh-CN" altLang="en-US" dirty="0" smtClean="0"/>
              <a:t>罗万</a:t>
            </a:r>
            <a:r>
              <a:rPr lang="en-US" altLang="zh-CN" dirty="0" smtClean="0"/>
              <a:t>.</a:t>
            </a:r>
            <a:r>
              <a:rPr lang="zh-CN" altLang="en-US" dirty="0" smtClean="0"/>
              <a:t>哈密顿发明了一道智力题</a:t>
            </a:r>
            <a:r>
              <a:rPr lang="en-US" altLang="zh-CN" dirty="0" smtClean="0"/>
              <a:t>. </a:t>
            </a:r>
            <a:r>
              <a:rPr lang="zh-CN" altLang="en-US" dirty="0" smtClean="0"/>
              <a:t>木质十二面体如图</a:t>
            </a:r>
            <a:r>
              <a:rPr lang="en-US" altLang="zh-CN" dirty="0" smtClean="0"/>
              <a:t>(a) </a:t>
            </a:r>
            <a:r>
              <a:rPr lang="zh-CN" altLang="en-US" dirty="0" smtClean="0"/>
              <a:t>所示</a:t>
            </a:r>
            <a:r>
              <a:rPr lang="en-US" altLang="zh-CN" dirty="0" smtClean="0"/>
              <a:t>, </a:t>
            </a:r>
            <a:r>
              <a:rPr lang="zh-CN" altLang="en-US" dirty="0" smtClean="0"/>
              <a:t>它的</a:t>
            </a:r>
            <a:r>
              <a:rPr lang="en-US" altLang="zh-CN" dirty="0" smtClean="0"/>
              <a:t>20</a:t>
            </a:r>
            <a:r>
              <a:rPr lang="zh-CN" altLang="en-US" dirty="0" smtClean="0"/>
              <a:t>个顶点代表世界上的不同城市</a:t>
            </a:r>
            <a:r>
              <a:rPr lang="en-US" altLang="zh-CN" dirty="0" smtClean="0"/>
              <a:t>. </a:t>
            </a:r>
            <a:r>
              <a:rPr lang="zh-CN" altLang="en-US" dirty="0" smtClean="0"/>
              <a:t>要求从一个城市开始</a:t>
            </a:r>
            <a:r>
              <a:rPr lang="en-US" altLang="zh-CN" dirty="0" smtClean="0"/>
              <a:t>, </a:t>
            </a:r>
            <a:r>
              <a:rPr lang="zh-CN" altLang="en-US" dirty="0" smtClean="0"/>
              <a:t>沿着十二面体的边旅行</a:t>
            </a:r>
            <a:r>
              <a:rPr lang="en-US" altLang="zh-CN" dirty="0" smtClean="0"/>
              <a:t>, </a:t>
            </a:r>
            <a:r>
              <a:rPr lang="zh-CN" altLang="en-US" dirty="0" smtClean="0"/>
              <a:t>访问其他</a:t>
            </a:r>
            <a:r>
              <a:rPr lang="en-US" altLang="zh-CN" dirty="0" smtClean="0"/>
              <a:t>19</a:t>
            </a:r>
            <a:r>
              <a:rPr lang="zh-CN" altLang="en-US" dirty="0" smtClean="0"/>
              <a:t>个城市</a:t>
            </a:r>
            <a:r>
              <a:rPr lang="en-US" altLang="zh-CN" dirty="0" smtClean="0"/>
              <a:t>, </a:t>
            </a:r>
            <a:r>
              <a:rPr lang="zh-CN" altLang="en-US" dirty="0" smtClean="0"/>
              <a:t>每个城市恰好访问一次</a:t>
            </a:r>
            <a:r>
              <a:rPr lang="en-US" altLang="zh-CN" dirty="0" smtClean="0"/>
              <a:t>, </a:t>
            </a:r>
            <a:r>
              <a:rPr lang="zh-CN" altLang="en-US" dirty="0" smtClean="0"/>
              <a:t>回到第一个城市结束</a:t>
            </a:r>
            <a:r>
              <a:rPr lang="en-US" altLang="zh-CN" dirty="0" smtClean="0"/>
              <a:t>. </a:t>
            </a:r>
            <a:r>
              <a:rPr lang="zh-CN" altLang="en-US" dirty="0" smtClean="0"/>
              <a:t>图</a:t>
            </a:r>
            <a:r>
              <a:rPr lang="en-US" altLang="zh-CN" dirty="0" smtClean="0"/>
              <a:t>(a)</a:t>
            </a:r>
            <a:r>
              <a:rPr lang="zh-CN" altLang="en-US" dirty="0" smtClean="0"/>
              <a:t>的等价图为图</a:t>
            </a:r>
            <a:r>
              <a:rPr lang="en-US" altLang="zh-CN" dirty="0" smtClean="0"/>
              <a:t>(b). </a:t>
            </a:r>
            <a:r>
              <a:rPr lang="zh-CN" altLang="en-US" dirty="0" smtClean="0"/>
              <a:t>这儿给出了该智力题的一个解</a:t>
            </a:r>
            <a:r>
              <a:rPr lang="en-US" altLang="zh-CN" dirty="0" smtClean="0"/>
              <a:t>, </a:t>
            </a:r>
            <a:r>
              <a:rPr lang="zh-CN" altLang="en-US" dirty="0" smtClean="0"/>
              <a:t>如右图所示</a:t>
            </a:r>
            <a:r>
              <a:rPr lang="en-US" dirty="0" smtClean="0"/>
              <a:t>.</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41178" y="24664"/>
            <a:ext cx="884682" cy="1034034"/>
          </a:xfrm>
          <a:prstGeom prst="rect">
            <a:avLst/>
          </a:prstGeom>
        </p:spPr>
      </p:pic>
      <p:sp>
        <p:nvSpPr>
          <p:cNvPr id="7" name="TextBox 6"/>
          <p:cNvSpPr txBox="1"/>
          <p:nvPr/>
        </p:nvSpPr>
        <p:spPr>
          <a:xfrm>
            <a:off x="8380504" y="344693"/>
            <a:ext cx="2590800" cy="646331"/>
          </a:xfrm>
          <a:prstGeom prst="rect">
            <a:avLst/>
          </a:prstGeom>
          <a:noFill/>
        </p:spPr>
        <p:txBody>
          <a:bodyPr wrap="square" rtlCol="0">
            <a:spAutoFit/>
          </a:bodyPr>
          <a:lstStyle/>
          <a:p>
            <a:r>
              <a:rPr lang="en-US" dirty="0"/>
              <a:t>William Rowan Hamilton </a:t>
            </a:r>
            <a:r>
              <a:rPr lang="en-US" dirty="0" smtClean="0"/>
              <a:t>(</a:t>
            </a:r>
            <a:r>
              <a:rPr lang="en-US" dirty="0" smtClean="0">
                <a:latin typeface="Cambria Math" pitchFamily="18" charset="0"/>
                <a:ea typeface="Cambria Math" pitchFamily="18" charset="0"/>
              </a:rPr>
              <a:t>1805- 1865</a:t>
            </a:r>
            <a:r>
              <a:rPr lang="en-US" dirty="0" smtClean="0"/>
              <a:t>. </a:t>
            </a:r>
            <a:endParaRPr lang="en-US" dirty="0"/>
          </a:p>
        </p:txBody>
      </p:sp>
      <p:pic>
        <p:nvPicPr>
          <p:cNvPr id="8" name="Content Placeholder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00200" y="4322656"/>
            <a:ext cx="3886200" cy="1812343"/>
          </a:xfrm>
          <a:prstGeom prst="rect">
            <a:avLst/>
          </a:prstGeom>
        </p:spPr>
      </p:pic>
      <p:pic>
        <p:nvPicPr>
          <p:cNvPr id="10" name="Picture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067800" y="4268439"/>
            <a:ext cx="2077779" cy="1981649"/>
          </a:xfrm>
          <a:prstGeom prst="rect">
            <a:avLst/>
          </a:prstGeom>
        </p:spPr>
      </p:pic>
      <p:sp>
        <p:nvSpPr>
          <p:cNvPr id="9" name="日期占位符 8"/>
          <p:cNvSpPr>
            <a:spLocks noGrp="1"/>
          </p:cNvSpPr>
          <p:nvPr>
            <p:ph type="dt" sz="half" idx="10"/>
          </p:nvPr>
        </p:nvSpPr>
        <p:spPr/>
        <p:txBody>
          <a:bodyPr/>
          <a:lstStyle/>
          <a:p>
            <a:fld id="{C6C28CB9-1711-493B-8632-4863A5E3B86C}" type="datetime1">
              <a:rPr lang="zh-CN" altLang="en-US" smtClean="0"/>
              <a:t>2025/4/15</a:t>
            </a:fld>
            <a:endParaRPr lang="zh-CN" altLang="en-US" dirty="0"/>
          </a:p>
        </p:txBody>
      </p:sp>
      <p:sp>
        <p:nvSpPr>
          <p:cNvPr id="11" name="页脚占位符 10"/>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12" name="灯片编号占位符 11"/>
          <p:cNvSpPr>
            <a:spLocks noGrp="1"/>
          </p:cNvSpPr>
          <p:nvPr>
            <p:ph type="sldNum" sz="quarter" idx="12"/>
          </p:nvPr>
        </p:nvSpPr>
        <p:spPr/>
        <p:txBody>
          <a:bodyPr/>
          <a:lstStyle/>
          <a:p>
            <a:fld id="{67913A8A-9EFB-4B5F-9CCB-3D21173FAA85}" type="slidenum">
              <a:rPr lang="zh-CN" altLang="en-US" smtClean="0"/>
              <a:pPr/>
              <a:t>165</a:t>
            </a:fld>
            <a:endParaRPr lang="zh-CN" altLang="en-US" dirty="0"/>
          </a:p>
        </p:txBody>
      </p:sp>
    </p:spTree>
    <p:extLst>
      <p:ext uri="{BB962C8B-B14F-4D97-AF65-F5344CB8AC3E}">
        <p14:creationId xmlns:p14="http://schemas.microsoft.com/office/powerpoint/2010/main" val="1228129452"/>
      </p:ext>
    </p:extLst>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457200" y="1143000"/>
            <a:ext cx="11277599" cy="9144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哈密顿通路与哈密顿回路</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smtClean="0"/>
                  <a:t>定义</a:t>
                </a:r>
                <a:r>
                  <a:rPr lang="en-US" dirty="0" smtClean="0"/>
                  <a:t>: </a:t>
                </a:r>
                <a:r>
                  <a:rPr lang="zh-CN" altLang="en-US" dirty="0" smtClean="0"/>
                  <a:t>经过图</a:t>
                </a:r>
                <a:r>
                  <a:rPr lang="en-US" altLang="zh-CN" dirty="0" smtClean="0"/>
                  <a:t>G</a:t>
                </a:r>
                <a:r>
                  <a:rPr lang="zh-CN" altLang="en-US" dirty="0" smtClean="0"/>
                  <a:t>的每一个顶点恰好一次的简单通路称为</a:t>
                </a:r>
                <a:r>
                  <a:rPr lang="zh-CN" altLang="en-US" b="1" dirty="0" smtClean="0">
                    <a:solidFill>
                      <a:srgbClr val="C00000"/>
                    </a:solidFill>
                  </a:rPr>
                  <a:t>哈密顿通路</a:t>
                </a:r>
                <a:r>
                  <a:rPr lang="en-US" altLang="zh-CN" dirty="0" smtClean="0"/>
                  <a:t>, </a:t>
                </a:r>
                <a:r>
                  <a:rPr lang="zh-CN" altLang="en-US" dirty="0" smtClean="0"/>
                  <a:t>经过图</a:t>
                </a:r>
                <a:r>
                  <a:rPr lang="en-US" altLang="zh-CN" dirty="0" smtClean="0"/>
                  <a:t>G</a:t>
                </a:r>
                <a:r>
                  <a:rPr lang="zh-CN" altLang="en-US" dirty="0" smtClean="0"/>
                  <a:t>中每一个顶点恰好一次的简单回路称为</a:t>
                </a:r>
                <a:r>
                  <a:rPr lang="zh-CN" altLang="en-US" b="1" dirty="0" smtClean="0">
                    <a:solidFill>
                      <a:srgbClr val="C00000"/>
                    </a:solidFill>
                  </a:rPr>
                  <a:t>哈密顿回路</a:t>
                </a:r>
                <a:r>
                  <a:rPr lang="en-US" dirty="0" smtClean="0"/>
                  <a:t>. </a:t>
                </a:r>
              </a:p>
              <a:p>
                <a:r>
                  <a:rPr lang="zh-CN" altLang="en-US" dirty="0" smtClean="0"/>
                  <a:t>即</a:t>
                </a:r>
                <a:r>
                  <a:rPr lang="en-US" altLang="zh-CN" dirty="0" smtClean="0"/>
                  <a:t>, </a:t>
                </a:r>
                <a:r>
                  <a:rPr lang="zh-CN" altLang="en-US" dirty="0" smtClean="0"/>
                  <a:t>在图</a:t>
                </a:r>
                <a:r>
                  <a:rPr lang="en-US" altLang="zh-CN" dirty="0" smtClean="0"/>
                  <a:t>G=(V, E)</a:t>
                </a:r>
                <a:r>
                  <a:rPr lang="zh-CN" altLang="en-US" dirty="0" smtClean="0"/>
                  <a:t>中</a:t>
                </a:r>
                <a:r>
                  <a:rPr lang="en-US" altLang="zh-CN" dirty="0" smtClean="0"/>
                  <a:t>, </a:t>
                </a:r>
                <a:r>
                  <a:rPr lang="zh-CN" altLang="en-US" dirty="0" smtClean="0"/>
                  <a:t>若</a:t>
                </a:r>
                <a:r>
                  <a:rPr lang="en-US" altLang="zh-CN" dirty="0" smtClean="0"/>
                  <a:t>V={</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0</m:t>
                        </m:r>
                      </m:sub>
                    </m:sSub>
                  </m:oMath>
                </a14:m>
                <a:r>
                  <a:rPr lang="en-US" altLang="zh-CN"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1</m:t>
                        </m:r>
                      </m:sub>
                    </m:sSub>
                  </m:oMath>
                </a14:m>
                <a:r>
                  <a:rPr lang="en-US" altLang="zh-CN" dirty="0" smtClean="0"/>
                  <a:t>, …,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𝑛</m:t>
                        </m:r>
                      </m:sub>
                    </m:sSub>
                  </m:oMath>
                </a14:m>
                <a:r>
                  <a:rPr lang="en-US" altLang="zh-CN" dirty="0" smtClean="0"/>
                  <a:t>} , </a:t>
                </a:r>
                <a:r>
                  <a:rPr lang="zh-CN" altLang="en-US" dirty="0" smtClean="0"/>
                  <a:t>并且</a:t>
                </a:r>
                <a:r>
                  <a:rPr lang="en-US" altLang="zh-CN" dirty="0" smtClean="0"/>
                  <a:t>0≤i&lt;</a:t>
                </a:r>
                <a:r>
                  <a:rPr lang="en-US" altLang="zh-CN" dirty="0" err="1" smtClean="0"/>
                  <a:t>j≤n</a:t>
                </a:r>
                <a:r>
                  <a:rPr lang="zh-CN" altLang="en-US" dirty="0" smtClean="0"/>
                  <a:t>来说有</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𝑖</m:t>
                        </m:r>
                      </m:sub>
                    </m:sSub>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𝑗</m:t>
                        </m:r>
                      </m:sub>
                    </m:sSub>
                  </m:oMath>
                </a14:m>
                <a:r>
                  <a:rPr lang="en-US" altLang="zh-CN" dirty="0" smtClean="0"/>
                  <a:t>, </a:t>
                </a:r>
                <a:r>
                  <a:rPr lang="zh-CN" altLang="en-US" dirty="0" smtClean="0"/>
                  <a:t>则图</a:t>
                </a:r>
                <a:r>
                  <a:rPr lang="en-US" altLang="zh-CN" dirty="0" smtClean="0"/>
                  <a:t>G</a:t>
                </a:r>
                <a:r>
                  <a:rPr lang="zh-CN" altLang="en-US" dirty="0" smtClean="0"/>
                  <a:t>的简单通路</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0</m:t>
                        </m:r>
                      </m:sub>
                    </m:sSub>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1</m:t>
                        </m:r>
                      </m:sub>
                    </m:sSub>
                  </m:oMath>
                </a14:m>
                <a:r>
                  <a:rPr lang="en-US" altLang="zh-CN" dirty="0" smtClean="0"/>
                  <a:t>, …,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𝑛</m:t>
                        </m:r>
                      </m:sub>
                    </m:sSub>
                  </m:oMath>
                </a14:m>
                <a:r>
                  <a:rPr lang="zh-CN" altLang="en-US" dirty="0" smtClean="0"/>
                  <a:t>称为哈密顿通路</a:t>
                </a:r>
                <a:r>
                  <a:rPr lang="en-US" altLang="zh-CN" dirty="0" smtClean="0"/>
                  <a:t>.</a:t>
                </a:r>
              </a:p>
              <a:p>
                <a:r>
                  <a:rPr lang="zh-CN" altLang="en-US" dirty="0" smtClean="0"/>
                  <a:t>在图</a:t>
                </a:r>
                <a:r>
                  <a:rPr lang="en-US" altLang="zh-CN" dirty="0" smtClean="0"/>
                  <a:t>G=(V, E)</a:t>
                </a:r>
                <a:r>
                  <a:rPr lang="zh-CN" altLang="en-US" dirty="0" smtClean="0"/>
                  <a:t>中</a:t>
                </a:r>
                <a:r>
                  <a:rPr lang="en-US" altLang="zh-CN" dirty="0" smtClean="0"/>
                  <a:t>, </a:t>
                </a:r>
                <a:r>
                  <a:rPr lang="zh-CN" altLang="en-US" dirty="0" smtClean="0"/>
                  <a:t>若</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0</m:t>
                        </m:r>
                      </m:sub>
                    </m:sSub>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1</m:t>
                        </m:r>
                      </m:sub>
                    </m:sSub>
                  </m:oMath>
                </a14:m>
                <a:r>
                  <a:rPr lang="en-US" altLang="zh-CN" dirty="0" smtClean="0"/>
                  <a:t>, …,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𝑛</m:t>
                        </m:r>
                      </m:sub>
                    </m:sSub>
                  </m:oMath>
                </a14:m>
                <a:r>
                  <a:rPr lang="zh-CN" altLang="en-US" dirty="0" smtClean="0"/>
                  <a:t>是哈密顿通路</a:t>
                </a:r>
                <a:r>
                  <a:rPr lang="en-US" altLang="zh-CN" dirty="0" smtClean="0"/>
                  <a:t>, </a:t>
                </a:r>
                <a:r>
                  <a:rPr lang="zh-CN" altLang="en-US" dirty="0" smtClean="0"/>
                  <a:t>则</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0</m:t>
                        </m:r>
                      </m:sub>
                    </m:sSub>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1</m:t>
                        </m:r>
                      </m:sub>
                    </m:sSub>
                  </m:oMath>
                </a14:m>
                <a:r>
                  <a:rPr lang="en-US" altLang="zh-CN" dirty="0" smtClean="0"/>
                  <a:t>, …,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𝑛</m:t>
                        </m:r>
                      </m:sub>
                    </m:sSub>
                  </m:oMath>
                </a14:m>
                <a:r>
                  <a:rPr lang="en-US" altLang="zh-CN" dirty="0" smtClean="0"/>
                  <a:t>,</a:t>
                </a:r>
                <a14:m>
                  <m:oMath xmlns:m="http://schemas.openxmlformats.org/officeDocument/2006/math">
                    <m:r>
                      <a:rPr lang="en-US" altLang="zh-CN" b="0" i="1" smtClean="0">
                        <a:latin typeface="Cambria Math" panose="02040503050406030204" pitchFamily="18" charset="0"/>
                      </a:rPr>
                      <m:t>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0</m:t>
                        </m:r>
                      </m:sub>
                    </m:sSub>
                  </m:oMath>
                </a14:m>
                <a:r>
                  <a:rPr lang="zh-CN" altLang="en-US" dirty="0" smtClean="0"/>
                  <a:t>称为哈密顿回路</a:t>
                </a:r>
                <a:r>
                  <a:rPr lang="en-US" altLang="zh-CN" dirty="0" smtClean="0"/>
                  <a:t>.</a:t>
                </a:r>
              </a:p>
              <a:p>
                <a:r>
                  <a:rPr lang="zh-CN" altLang="en-US" b="1" dirty="0" smtClean="0"/>
                  <a:t>含有哈密顿回路的图称为哈密顿图</a:t>
                </a:r>
                <a:r>
                  <a:rPr lang="en-US" altLang="zh-CN" dirty="0" smtClean="0"/>
                  <a:t>.</a:t>
                </a:r>
                <a:endParaRPr lang="en-US" dirty="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99" t="-1310"/>
                </a:stretch>
              </a:blipFill>
            </p:spPr>
            <p:txBody>
              <a:bodyPr/>
              <a:lstStyle/>
              <a:p>
                <a:r>
                  <a:rPr lang="zh-CN" altLang="en-US">
                    <a:noFill/>
                  </a:rPr>
                  <a:t> </a:t>
                </a:r>
              </a:p>
            </p:txBody>
          </p:sp>
        </mc:Fallback>
      </mc:AlternateContent>
      <p:sp>
        <p:nvSpPr>
          <p:cNvPr id="6" name="日期占位符 5"/>
          <p:cNvSpPr>
            <a:spLocks noGrp="1"/>
          </p:cNvSpPr>
          <p:nvPr>
            <p:ph type="dt" sz="half" idx="10"/>
          </p:nvPr>
        </p:nvSpPr>
        <p:spPr/>
        <p:txBody>
          <a:bodyPr/>
          <a:lstStyle/>
          <a:p>
            <a:fld id="{CF0D1653-CAC0-4EB0-901C-FC87D1A62695}" type="datetime1">
              <a:rPr lang="zh-CN" altLang="en-US" smtClean="0"/>
              <a:t>2025/4/15</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166</a:t>
            </a:fld>
            <a:endParaRPr lang="zh-CN" altLang="en-US" dirty="0"/>
          </a:p>
        </p:txBody>
      </p:sp>
    </p:spTree>
    <p:extLst>
      <p:ext uri="{BB962C8B-B14F-4D97-AF65-F5344CB8AC3E}">
        <p14:creationId xmlns:p14="http://schemas.microsoft.com/office/powerpoint/2010/main" val="2912161302"/>
      </p:ext>
    </p:extLst>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哈密顿通路与哈密顿回路</a:t>
            </a:r>
            <a:endParaRPr lang="en-US" dirty="0"/>
          </a:p>
        </p:txBody>
      </p:sp>
      <p:sp>
        <p:nvSpPr>
          <p:cNvPr id="3" name="Content Placeholder 2"/>
          <p:cNvSpPr>
            <a:spLocks noGrp="1"/>
          </p:cNvSpPr>
          <p:nvPr>
            <p:ph idx="1"/>
          </p:nvPr>
        </p:nvSpPr>
        <p:spPr/>
        <p:txBody>
          <a:bodyPr>
            <a:normAutofit/>
          </a:bodyPr>
          <a:lstStyle/>
          <a:p>
            <a:r>
              <a:rPr lang="zh-CN" altLang="en-US" dirty="0" smtClean="0"/>
              <a:t>例</a:t>
            </a:r>
            <a:r>
              <a:rPr lang="en-US" altLang="zh-CN" dirty="0" smtClean="0"/>
              <a:t>: </a:t>
            </a:r>
            <a:r>
              <a:rPr lang="zh-CN" altLang="en-US" dirty="0" smtClean="0"/>
              <a:t>以下三个图中哪些具有哈密顿回路</a:t>
            </a:r>
            <a:r>
              <a:rPr lang="en-US" altLang="zh-CN" dirty="0" smtClean="0"/>
              <a:t>? </a:t>
            </a:r>
            <a:r>
              <a:rPr lang="zh-CN" altLang="en-US" dirty="0" smtClean="0"/>
              <a:t>或者没有哈密顿回路但有哈密顿通路</a:t>
            </a:r>
            <a:r>
              <a:rPr lang="en-US" dirty="0" smtClean="0"/>
              <a:t>?</a:t>
            </a:r>
          </a:p>
          <a:p>
            <a:endParaRPr lang="en-US" dirty="0" smtClean="0"/>
          </a:p>
          <a:p>
            <a:endParaRPr lang="en-US" dirty="0" smtClean="0"/>
          </a:p>
          <a:p>
            <a:endParaRPr lang="en-US" dirty="0" smtClean="0"/>
          </a:p>
          <a:p>
            <a:r>
              <a:rPr lang="zh-CN" altLang="en-US" dirty="0" smtClean="0"/>
              <a:t>解</a:t>
            </a:r>
            <a:r>
              <a:rPr lang="en-US" dirty="0" smtClean="0"/>
              <a:t>: </a:t>
            </a:r>
          </a:p>
          <a:p>
            <a:pPr lvl="1"/>
            <a:r>
              <a:rPr lang="en-US" dirty="0" smtClean="0"/>
              <a:t>G1</a:t>
            </a:r>
            <a:r>
              <a:rPr lang="zh-CN" altLang="en-US" dirty="0" smtClean="0"/>
              <a:t>有哈密顿回路</a:t>
            </a:r>
            <a:r>
              <a:rPr lang="en-US" dirty="0" smtClean="0"/>
              <a:t>a, b, c, d, e, a</a:t>
            </a:r>
            <a:r>
              <a:rPr lang="en-US" dirty="0"/>
              <a:t>. </a:t>
            </a:r>
          </a:p>
          <a:p>
            <a:pPr lvl="1"/>
            <a:r>
              <a:rPr lang="en-US" dirty="0" smtClean="0"/>
              <a:t>G2</a:t>
            </a:r>
            <a:r>
              <a:rPr lang="zh-CN" altLang="en-US" dirty="0" smtClean="0"/>
              <a:t>没有哈密顿回路</a:t>
            </a:r>
            <a:r>
              <a:rPr lang="en-US" altLang="zh-CN" dirty="0" smtClean="0"/>
              <a:t>, </a:t>
            </a:r>
            <a:r>
              <a:rPr lang="zh-CN" altLang="en-US" dirty="0"/>
              <a:t>但有哈密顿</a:t>
            </a:r>
            <a:r>
              <a:rPr lang="zh-CN" altLang="en-US" dirty="0" smtClean="0"/>
              <a:t>通路</a:t>
            </a:r>
            <a:r>
              <a:rPr lang="en-US" dirty="0" smtClean="0"/>
              <a:t>a, b, c, d</a:t>
            </a:r>
            <a:r>
              <a:rPr lang="en-US" dirty="0"/>
              <a:t>.</a:t>
            </a:r>
          </a:p>
          <a:p>
            <a:pPr lvl="1"/>
            <a:r>
              <a:rPr lang="en-US" dirty="0" smtClean="0"/>
              <a:t>G3</a:t>
            </a:r>
            <a:r>
              <a:rPr lang="zh-CN" altLang="en-US" dirty="0" smtClean="0"/>
              <a:t>没有哈密顿回路</a:t>
            </a:r>
            <a:r>
              <a:rPr lang="en-US" altLang="zh-CN" dirty="0" smtClean="0"/>
              <a:t>, </a:t>
            </a:r>
            <a:r>
              <a:rPr lang="zh-CN" altLang="en-US" dirty="0" smtClean="0"/>
              <a:t>也没有哈密顿通路</a:t>
            </a:r>
            <a:r>
              <a:rPr lang="en-US" altLang="zh-CN" dirty="0" smtClean="0"/>
              <a:t>.</a:t>
            </a:r>
            <a:endParaRPr lang="en-US" dirty="0"/>
          </a:p>
        </p:txBody>
      </p:sp>
      <p:sp>
        <p:nvSpPr>
          <p:cNvPr id="7" name="日期占位符 6"/>
          <p:cNvSpPr>
            <a:spLocks noGrp="1"/>
          </p:cNvSpPr>
          <p:nvPr>
            <p:ph type="dt" sz="half" idx="10"/>
          </p:nvPr>
        </p:nvSpPr>
        <p:spPr/>
        <p:txBody>
          <a:bodyPr/>
          <a:lstStyle/>
          <a:p>
            <a:fld id="{08CFCB83-EF64-44CE-8E19-EDB7B21C4A98}"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167</a:t>
            </a:fld>
            <a:endParaRPr lang="zh-CN" altLang="en-US" dirty="0"/>
          </a:p>
        </p:txBody>
      </p:sp>
      <p:pic>
        <p:nvPicPr>
          <p:cNvPr id="6" name="图片 5"/>
          <p:cNvPicPr>
            <a:picLocks noChangeAspect="1"/>
          </p:cNvPicPr>
          <p:nvPr/>
        </p:nvPicPr>
        <p:blipFill>
          <a:blip r:embed="rId2"/>
          <a:stretch>
            <a:fillRect/>
          </a:stretch>
        </p:blipFill>
        <p:spPr>
          <a:xfrm>
            <a:off x="2286000" y="2133600"/>
            <a:ext cx="1703070" cy="1904827"/>
          </a:xfrm>
          <a:prstGeom prst="rect">
            <a:avLst/>
          </a:prstGeom>
        </p:spPr>
      </p:pic>
      <p:pic>
        <p:nvPicPr>
          <p:cNvPr id="10" name="图片 9"/>
          <p:cNvPicPr>
            <a:picLocks noChangeAspect="1"/>
          </p:cNvPicPr>
          <p:nvPr/>
        </p:nvPicPr>
        <p:blipFill>
          <a:blip r:embed="rId3"/>
          <a:stretch>
            <a:fillRect/>
          </a:stretch>
        </p:blipFill>
        <p:spPr>
          <a:xfrm>
            <a:off x="4425316" y="2057400"/>
            <a:ext cx="2240280" cy="1905000"/>
          </a:xfrm>
          <a:prstGeom prst="rect">
            <a:avLst/>
          </a:prstGeom>
        </p:spPr>
      </p:pic>
      <p:pic>
        <p:nvPicPr>
          <p:cNvPr id="11" name="图片 10"/>
          <p:cNvPicPr>
            <a:picLocks noChangeAspect="1"/>
          </p:cNvPicPr>
          <p:nvPr/>
        </p:nvPicPr>
        <p:blipFill>
          <a:blip r:embed="rId4"/>
          <a:stretch>
            <a:fillRect/>
          </a:stretch>
        </p:blipFill>
        <p:spPr>
          <a:xfrm>
            <a:off x="7239000" y="2057400"/>
            <a:ext cx="4175760" cy="1851660"/>
          </a:xfrm>
          <a:prstGeom prst="rect">
            <a:avLst/>
          </a:prstGeom>
        </p:spPr>
      </p:pic>
    </p:spTree>
    <p:extLst>
      <p:ext uri="{BB962C8B-B14F-4D97-AF65-F5344CB8AC3E}">
        <p14:creationId xmlns:p14="http://schemas.microsoft.com/office/powerpoint/2010/main" val="2525908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wipe(down)">
                                      <p:cBhvr>
                                        <p:cTn id="7" dur="500"/>
                                        <p:tgtEl>
                                          <p:spTgt spid="3">
                                            <p:txEl>
                                              <p:pRg st="4" end="4"/>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wipe(down)">
                                      <p:cBhvr>
                                        <p:cTn id="10" dur="500"/>
                                        <p:tgtEl>
                                          <p:spTgt spid="3">
                                            <p:txEl>
                                              <p:pRg st="5" end="5"/>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wipe(down)">
                                      <p:cBhvr>
                                        <p:cTn id="13" dur="500"/>
                                        <p:tgtEl>
                                          <p:spTgt spid="3">
                                            <p:txEl>
                                              <p:pRg st="6" end="6"/>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7" end="7"/>
                                            </p:txEl>
                                          </p:spTgt>
                                        </p:tgtEl>
                                        <p:attrNameLst>
                                          <p:attrName>style.visibility</p:attrName>
                                        </p:attrNameLst>
                                      </p:cBhvr>
                                      <p:to>
                                        <p:strVal val="visible"/>
                                      </p:to>
                                    </p:set>
                                    <p:animEffect transition="in" filter="wipe(down)">
                                      <p:cBhvr>
                                        <p:cTn id="16"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哈密顿通路与哈密顿回路</a:t>
            </a:r>
            <a:endParaRPr lang="en-US" dirty="0"/>
          </a:p>
        </p:txBody>
      </p:sp>
      <p:sp>
        <p:nvSpPr>
          <p:cNvPr id="3" name="Content Placeholder 2"/>
          <p:cNvSpPr>
            <a:spLocks noGrp="1"/>
          </p:cNvSpPr>
          <p:nvPr>
            <p:ph idx="1"/>
          </p:nvPr>
        </p:nvSpPr>
        <p:spPr/>
        <p:txBody>
          <a:bodyPr>
            <a:normAutofit/>
          </a:bodyPr>
          <a:lstStyle/>
          <a:p>
            <a:r>
              <a:rPr lang="zh-CN" altLang="en-US" dirty="0" smtClean="0"/>
              <a:t>例</a:t>
            </a:r>
            <a:r>
              <a:rPr lang="en-US" altLang="zh-CN" dirty="0" smtClean="0"/>
              <a:t>: </a:t>
            </a:r>
            <a:r>
              <a:rPr lang="zh-CN" altLang="en-US" dirty="0" smtClean="0"/>
              <a:t>以下三个图中哪些具有哈密顿回路</a:t>
            </a:r>
            <a:r>
              <a:rPr lang="en-US" altLang="zh-CN" dirty="0" smtClean="0"/>
              <a:t>? </a:t>
            </a:r>
            <a:r>
              <a:rPr lang="zh-CN" altLang="en-US" dirty="0" smtClean="0"/>
              <a:t>或者没有哈密顿回路但有哈密顿通路</a:t>
            </a:r>
            <a:r>
              <a:rPr lang="en-US" dirty="0" smtClean="0"/>
              <a:t>?</a:t>
            </a:r>
          </a:p>
          <a:p>
            <a:endParaRPr lang="en-US" dirty="0" smtClean="0"/>
          </a:p>
          <a:p>
            <a:endParaRPr lang="en-US" dirty="0" smtClean="0"/>
          </a:p>
          <a:p>
            <a:endParaRPr lang="en-US" dirty="0" smtClean="0"/>
          </a:p>
          <a:p>
            <a:r>
              <a:rPr lang="zh-CN" altLang="en-US" dirty="0" smtClean="0"/>
              <a:t>解</a:t>
            </a:r>
            <a:r>
              <a:rPr lang="en-US" dirty="0" smtClean="0"/>
              <a:t>: </a:t>
            </a:r>
          </a:p>
          <a:p>
            <a:pPr lvl="1"/>
            <a:r>
              <a:rPr lang="en-US" dirty="0" smtClean="0"/>
              <a:t>G1</a:t>
            </a:r>
            <a:r>
              <a:rPr lang="zh-CN" altLang="en-US" dirty="0" smtClean="0"/>
              <a:t>没有哈密顿回路</a:t>
            </a:r>
            <a:r>
              <a:rPr lang="en-US" altLang="zh-CN" dirty="0" smtClean="0"/>
              <a:t>, </a:t>
            </a:r>
            <a:r>
              <a:rPr lang="zh-CN" altLang="en-US" dirty="0" smtClean="0"/>
              <a:t>有哈密顿通路</a:t>
            </a:r>
            <a:r>
              <a:rPr lang="en-US" dirty="0" smtClean="0"/>
              <a:t>a, b, </a:t>
            </a:r>
            <a:r>
              <a:rPr lang="en-US" altLang="zh-CN" dirty="0" smtClean="0"/>
              <a:t>e</a:t>
            </a:r>
            <a:r>
              <a:rPr lang="en-US" dirty="0" smtClean="0"/>
              <a:t>, d, c. </a:t>
            </a:r>
            <a:endParaRPr lang="en-US" dirty="0"/>
          </a:p>
          <a:p>
            <a:pPr lvl="1"/>
            <a:r>
              <a:rPr lang="en-US" dirty="0" smtClean="0"/>
              <a:t>G2</a:t>
            </a:r>
            <a:r>
              <a:rPr lang="zh-CN" altLang="en-US" dirty="0" smtClean="0"/>
              <a:t>有哈密顿回路</a:t>
            </a:r>
            <a:r>
              <a:rPr lang="en-US" altLang="zh-CN" dirty="0" smtClean="0"/>
              <a:t>, </a:t>
            </a:r>
            <a:r>
              <a:rPr lang="en-US" dirty="0" smtClean="0"/>
              <a:t>a, b, e, c, d, a.</a:t>
            </a:r>
            <a:endParaRPr lang="en-US" dirty="0"/>
          </a:p>
          <a:p>
            <a:pPr lvl="1"/>
            <a:r>
              <a:rPr lang="en-US" dirty="0" smtClean="0"/>
              <a:t>G3</a:t>
            </a:r>
            <a:r>
              <a:rPr lang="zh-CN" altLang="en-US" dirty="0" smtClean="0"/>
              <a:t>有哈密顿回路</a:t>
            </a:r>
            <a:r>
              <a:rPr lang="en-US" altLang="zh-CN" dirty="0" smtClean="0"/>
              <a:t>, a, b, e, d, c, a.</a:t>
            </a:r>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71800" y="1981200"/>
            <a:ext cx="5667703" cy="2111026"/>
          </a:xfrm>
          <a:prstGeom prst="rect">
            <a:avLst/>
          </a:prstGeom>
        </p:spPr>
      </p:pic>
      <p:sp>
        <p:nvSpPr>
          <p:cNvPr id="7" name="日期占位符 6"/>
          <p:cNvSpPr>
            <a:spLocks noGrp="1"/>
          </p:cNvSpPr>
          <p:nvPr>
            <p:ph type="dt" sz="half" idx="10"/>
          </p:nvPr>
        </p:nvSpPr>
        <p:spPr/>
        <p:txBody>
          <a:bodyPr/>
          <a:lstStyle/>
          <a:p>
            <a:fld id="{296A5650-7165-4724-8C41-8E8C82010893}" type="datetime1">
              <a:rPr lang="zh-CN" altLang="en-US" smtClean="0"/>
              <a:t>2025/4/15</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168</a:t>
            </a:fld>
            <a:endParaRPr lang="zh-CN" altLang="en-US" dirty="0"/>
          </a:p>
        </p:txBody>
      </p:sp>
      <p:sp>
        <p:nvSpPr>
          <p:cNvPr id="10" name="矩形 9"/>
          <p:cNvSpPr/>
          <p:nvPr/>
        </p:nvSpPr>
        <p:spPr>
          <a:xfrm>
            <a:off x="2895600" y="2057400"/>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3962400" y="3124200"/>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54157094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wipe(down)">
                                      <p:cBhvr>
                                        <p:cTn id="7" dur="500"/>
                                        <p:tgtEl>
                                          <p:spTgt spid="3">
                                            <p:txEl>
                                              <p:pRg st="4" end="4"/>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wipe(down)">
                                      <p:cBhvr>
                                        <p:cTn id="10" dur="500"/>
                                        <p:tgtEl>
                                          <p:spTgt spid="3">
                                            <p:txEl>
                                              <p:pRg st="5" end="5"/>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wipe(down)">
                                      <p:cBhvr>
                                        <p:cTn id="13" dur="500"/>
                                        <p:tgtEl>
                                          <p:spTgt spid="3">
                                            <p:txEl>
                                              <p:pRg st="6" end="6"/>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7" end="7"/>
                                            </p:txEl>
                                          </p:spTgt>
                                        </p:tgtEl>
                                        <p:attrNameLst>
                                          <p:attrName>style.visibility</p:attrName>
                                        </p:attrNameLst>
                                      </p:cBhvr>
                                      <p:to>
                                        <p:strVal val="visible"/>
                                      </p:to>
                                    </p:set>
                                    <p:animEffect transition="in" filter="wipe(down)">
                                      <p:cBhvr>
                                        <p:cTn id="16"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哈密顿通路与哈密顿回路</a:t>
            </a:r>
            <a:endParaRPr lang="en-US" dirty="0"/>
          </a:p>
        </p:txBody>
      </p:sp>
      <p:sp>
        <p:nvSpPr>
          <p:cNvPr id="18" name="Content Placeholder 2"/>
          <p:cNvSpPr>
            <a:spLocks noGrp="1"/>
          </p:cNvSpPr>
          <p:nvPr>
            <p:ph idx="1"/>
          </p:nvPr>
        </p:nvSpPr>
        <p:spPr/>
        <p:txBody>
          <a:bodyPr>
            <a:normAutofit/>
          </a:bodyPr>
          <a:lstStyle/>
          <a:p>
            <a:r>
              <a:rPr lang="zh-CN" altLang="en-US" dirty="0" smtClean="0"/>
              <a:t>哈密顿回路存在的条件</a:t>
            </a:r>
            <a:r>
              <a:rPr lang="en-US" altLang="zh-CN" dirty="0" smtClean="0"/>
              <a:t>: </a:t>
            </a:r>
            <a:r>
              <a:rPr lang="zh-CN" altLang="en-US" dirty="0" smtClean="0"/>
              <a:t>是否类似于欧拉通路</a:t>
            </a:r>
            <a:r>
              <a:rPr lang="en-US" altLang="zh-CN" dirty="0" smtClean="0"/>
              <a:t>, </a:t>
            </a:r>
            <a:r>
              <a:rPr lang="zh-CN" altLang="en-US" dirty="0" smtClean="0"/>
              <a:t>有简单的方式来判定一个图有无哈密顿回路或通路</a:t>
            </a:r>
            <a:r>
              <a:rPr lang="en-US" altLang="zh-CN" dirty="0" smtClean="0"/>
              <a:t>. </a:t>
            </a:r>
            <a:r>
              <a:rPr lang="zh-CN" altLang="en-US" dirty="0" smtClean="0"/>
              <a:t>目前没有已知简单的充要条件</a:t>
            </a:r>
            <a:r>
              <a:rPr lang="en-US" altLang="zh-CN" dirty="0" smtClean="0"/>
              <a:t>.</a:t>
            </a:r>
          </a:p>
          <a:p>
            <a:r>
              <a:rPr lang="zh-CN" altLang="en-US" dirty="0" smtClean="0"/>
              <a:t>有些性质可以用来证明一个图没有哈密顿回路：</a:t>
            </a:r>
            <a:endParaRPr lang="en-US" altLang="zh-CN" dirty="0" smtClean="0"/>
          </a:p>
          <a:p>
            <a:pPr lvl="1"/>
            <a:r>
              <a:rPr lang="zh-CN" altLang="en-US" b="1" dirty="0" smtClean="0"/>
              <a:t>带有度为</a:t>
            </a:r>
            <a:r>
              <a:rPr lang="en-US" altLang="zh-CN" b="1" dirty="0" smtClean="0"/>
              <a:t>1</a:t>
            </a:r>
            <a:r>
              <a:rPr lang="zh-CN" altLang="en-US" b="1" dirty="0" smtClean="0"/>
              <a:t>的图没有哈密顿回路</a:t>
            </a:r>
            <a:r>
              <a:rPr lang="en-US" altLang="zh-CN" dirty="0" smtClean="0"/>
              <a:t>. </a:t>
            </a:r>
            <a:r>
              <a:rPr lang="zh-CN" altLang="en-US" dirty="0" smtClean="0"/>
              <a:t>因为在哈密顿回路中每个顶点都关联回路中的两条边</a:t>
            </a:r>
            <a:r>
              <a:rPr lang="en-US" altLang="zh-CN" dirty="0" smtClean="0"/>
              <a:t>.</a:t>
            </a:r>
          </a:p>
          <a:p>
            <a:pPr lvl="1"/>
            <a:r>
              <a:rPr lang="zh-CN" altLang="en-US" b="1" dirty="0" smtClean="0"/>
              <a:t>图中若有度为</a:t>
            </a:r>
            <a:r>
              <a:rPr lang="en-US" altLang="zh-CN" b="1" dirty="0" smtClean="0"/>
              <a:t>2</a:t>
            </a:r>
            <a:r>
              <a:rPr lang="zh-CN" altLang="en-US" b="1" dirty="0" smtClean="0"/>
              <a:t>的顶点</a:t>
            </a:r>
            <a:r>
              <a:rPr lang="en-US" altLang="zh-CN" b="1" dirty="0" smtClean="0"/>
              <a:t>, </a:t>
            </a:r>
            <a:r>
              <a:rPr lang="zh-CN" altLang="en-US" b="1" dirty="0" smtClean="0"/>
              <a:t>则关联这个顶点的两条边会属于</a:t>
            </a:r>
            <a:r>
              <a:rPr lang="zh-CN" altLang="en-US" b="1" dirty="0"/>
              <a:t>任意一条</a:t>
            </a:r>
            <a:r>
              <a:rPr lang="zh-CN" altLang="en-US" b="1" dirty="0" smtClean="0"/>
              <a:t>哈密顿回路</a:t>
            </a:r>
            <a:r>
              <a:rPr lang="en-US" altLang="zh-CN" dirty="0" smtClean="0"/>
              <a:t>.</a:t>
            </a:r>
          </a:p>
          <a:p>
            <a:pPr lvl="1"/>
            <a:r>
              <a:rPr lang="zh-CN" altLang="en-US" dirty="0" smtClean="0"/>
              <a:t>此外注意</a:t>
            </a:r>
            <a:r>
              <a:rPr lang="en-US" altLang="zh-CN" dirty="0" smtClean="0"/>
              <a:t>, </a:t>
            </a:r>
            <a:r>
              <a:rPr lang="zh-CN" altLang="en-US" dirty="0" smtClean="0"/>
              <a:t>当构造哈密顿回路且回路经过某个顶点时</a:t>
            </a:r>
            <a:r>
              <a:rPr lang="en-US" altLang="zh-CN" dirty="0" smtClean="0"/>
              <a:t>, </a:t>
            </a:r>
            <a:r>
              <a:rPr lang="zh-CN" altLang="en-US" dirty="0" smtClean="0"/>
              <a:t>除了回路用到的两条边以外</a:t>
            </a:r>
            <a:r>
              <a:rPr lang="en-US" altLang="zh-CN" dirty="0" smtClean="0"/>
              <a:t>, </a:t>
            </a:r>
            <a:r>
              <a:rPr lang="zh-CN" altLang="en-US" dirty="0" smtClean="0"/>
              <a:t>其他该顶点关联的边都不用再考虑在哈密顿回路中</a:t>
            </a:r>
            <a:r>
              <a:rPr lang="en-US" altLang="zh-CN" dirty="0" smtClean="0"/>
              <a:t>.</a:t>
            </a:r>
          </a:p>
        </p:txBody>
      </p:sp>
      <p:sp>
        <p:nvSpPr>
          <p:cNvPr id="5" name="日期占位符 4"/>
          <p:cNvSpPr>
            <a:spLocks noGrp="1"/>
          </p:cNvSpPr>
          <p:nvPr>
            <p:ph type="dt" sz="half" idx="10"/>
          </p:nvPr>
        </p:nvSpPr>
        <p:spPr/>
        <p:txBody>
          <a:bodyPr/>
          <a:lstStyle/>
          <a:p>
            <a:fld id="{B8FD273B-159E-4DEF-94B2-AEF8E96405A8}" type="datetime1">
              <a:rPr lang="zh-CN" altLang="en-US" smtClean="0"/>
              <a:t>2025/4/15</a:t>
            </a:fld>
            <a:endParaRPr lang="zh-CN" altLang="en-US" dirty="0"/>
          </a:p>
        </p:txBody>
      </p:sp>
      <p:sp>
        <p:nvSpPr>
          <p:cNvPr id="6" name="页脚占位符 5"/>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7" name="灯片编号占位符 6"/>
          <p:cNvSpPr>
            <a:spLocks noGrp="1"/>
          </p:cNvSpPr>
          <p:nvPr>
            <p:ph type="sldNum" sz="quarter" idx="12"/>
          </p:nvPr>
        </p:nvSpPr>
        <p:spPr/>
        <p:txBody>
          <a:bodyPr/>
          <a:lstStyle/>
          <a:p>
            <a:fld id="{67913A8A-9EFB-4B5F-9CCB-3D21173FAA85}" type="slidenum">
              <a:rPr lang="zh-CN" altLang="en-US" smtClean="0"/>
              <a:pPr/>
              <a:t>169</a:t>
            </a:fld>
            <a:endParaRPr lang="zh-CN" altLang="en-US" dirty="0"/>
          </a:p>
        </p:txBody>
      </p:sp>
    </p:spTree>
    <p:extLst>
      <p:ext uri="{BB962C8B-B14F-4D97-AF65-F5344CB8AC3E}">
        <p14:creationId xmlns:p14="http://schemas.microsoft.com/office/powerpoint/2010/main" val="3537858309"/>
      </p:ext>
    </p:extLst>
  </p:cSld>
  <p:clrMapOvr>
    <a:masterClrMapping/>
  </p:clrMapOvr>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哈密顿通路与哈密顿回路</a:t>
            </a:r>
          </a:p>
        </p:txBody>
      </p:sp>
      <p:sp>
        <p:nvSpPr>
          <p:cNvPr id="3" name="内容占位符 2"/>
          <p:cNvSpPr>
            <a:spLocks noGrp="1"/>
          </p:cNvSpPr>
          <p:nvPr>
            <p:ph idx="1"/>
          </p:nvPr>
        </p:nvSpPr>
        <p:spPr/>
        <p:txBody>
          <a:bodyPr/>
          <a:lstStyle/>
          <a:p>
            <a:r>
              <a:rPr lang="zh-CN" altLang="en-US" dirty="0" smtClean="0"/>
              <a:t>例</a:t>
            </a:r>
            <a:r>
              <a:rPr lang="en-US" altLang="zh-CN" dirty="0" smtClean="0"/>
              <a:t>:</a:t>
            </a:r>
            <a:r>
              <a:rPr lang="zh-CN" altLang="en-US" dirty="0" smtClean="0"/>
              <a:t>证明下面两个图没有哈密顿回路</a:t>
            </a:r>
            <a:r>
              <a:rPr lang="en-US" altLang="zh-CN" dirty="0" smtClean="0"/>
              <a:t>.</a:t>
            </a:r>
          </a:p>
          <a:p>
            <a:endParaRPr lang="en-US" altLang="zh-CN" dirty="0" smtClean="0"/>
          </a:p>
          <a:p>
            <a:endParaRPr lang="en-US" altLang="zh-CN" dirty="0" smtClean="0"/>
          </a:p>
          <a:p>
            <a:endParaRPr lang="en-US" altLang="zh-CN" dirty="0" smtClean="0"/>
          </a:p>
          <a:p>
            <a:r>
              <a:rPr lang="zh-CN" altLang="en-US" dirty="0" smtClean="0"/>
              <a:t>解</a:t>
            </a:r>
            <a:r>
              <a:rPr lang="en-US" altLang="zh-CN" dirty="0" smtClean="0"/>
              <a:t>:</a:t>
            </a:r>
          </a:p>
          <a:p>
            <a:pPr lvl="1"/>
            <a:r>
              <a:rPr lang="en-US" altLang="zh-CN" dirty="0" smtClean="0"/>
              <a:t>G</a:t>
            </a:r>
            <a:r>
              <a:rPr lang="zh-CN" altLang="en-US" dirty="0"/>
              <a:t>没有哈密顿回路</a:t>
            </a:r>
            <a:r>
              <a:rPr lang="en-US" altLang="zh-CN" dirty="0"/>
              <a:t>, </a:t>
            </a:r>
            <a:r>
              <a:rPr lang="zh-CN" altLang="en-US" dirty="0"/>
              <a:t>因为</a:t>
            </a:r>
            <a:r>
              <a:rPr lang="en-US" altLang="zh-CN" dirty="0"/>
              <a:t>G</a:t>
            </a:r>
            <a:r>
              <a:rPr lang="zh-CN" altLang="en-US" dirty="0"/>
              <a:t>有度为</a:t>
            </a:r>
            <a:r>
              <a:rPr lang="en-US" altLang="zh-CN" dirty="0"/>
              <a:t>1</a:t>
            </a:r>
            <a:r>
              <a:rPr lang="zh-CN" altLang="en-US" dirty="0"/>
              <a:t>的顶点</a:t>
            </a:r>
            <a:r>
              <a:rPr lang="en-US" altLang="zh-CN" dirty="0"/>
              <a:t>.</a:t>
            </a:r>
          </a:p>
          <a:p>
            <a:pPr lvl="1"/>
            <a:r>
              <a:rPr lang="en-US" altLang="zh-CN" dirty="0"/>
              <a:t>H</a:t>
            </a:r>
            <a:r>
              <a:rPr lang="zh-CN" altLang="en-US" dirty="0"/>
              <a:t>没有哈密顿回路</a:t>
            </a:r>
            <a:r>
              <a:rPr lang="en-US" altLang="zh-CN" dirty="0"/>
              <a:t>. H</a:t>
            </a:r>
            <a:r>
              <a:rPr lang="zh-CN" altLang="en-US" dirty="0"/>
              <a:t>中顶点</a:t>
            </a:r>
            <a:r>
              <a:rPr lang="en-US" altLang="zh-CN" dirty="0" err="1"/>
              <a:t>a,b,d,e</a:t>
            </a:r>
            <a:r>
              <a:rPr lang="zh-CN" altLang="en-US" dirty="0"/>
              <a:t>的度都为</a:t>
            </a:r>
            <a:r>
              <a:rPr lang="en-US" altLang="zh-CN" dirty="0"/>
              <a:t>2. </a:t>
            </a:r>
            <a:r>
              <a:rPr lang="zh-CN" altLang="en-US" dirty="0"/>
              <a:t>所以与这些顶点关联的每一条边都属于任意一条哈密顿回路</a:t>
            </a:r>
            <a:r>
              <a:rPr lang="en-US" altLang="zh-CN" dirty="0"/>
              <a:t>. </a:t>
            </a:r>
            <a:r>
              <a:rPr lang="zh-CN" altLang="en-US" dirty="0"/>
              <a:t>但是</a:t>
            </a:r>
            <a:r>
              <a:rPr lang="en-US" altLang="zh-CN" dirty="0"/>
              <a:t>H</a:t>
            </a:r>
            <a:r>
              <a:rPr lang="zh-CN" altLang="en-US" dirty="0"/>
              <a:t>不存在哈密顿回路</a:t>
            </a:r>
            <a:r>
              <a:rPr lang="en-US" altLang="zh-CN" dirty="0"/>
              <a:t>, </a:t>
            </a:r>
            <a:r>
              <a:rPr lang="zh-CN" altLang="en-US" dirty="0"/>
              <a:t>因为这样的哈密顿回路不得不包含</a:t>
            </a:r>
            <a:r>
              <a:rPr lang="en-US" altLang="zh-CN" dirty="0"/>
              <a:t>4</a:t>
            </a:r>
            <a:r>
              <a:rPr lang="zh-CN" altLang="en-US" dirty="0"/>
              <a:t>条关联</a:t>
            </a:r>
            <a:r>
              <a:rPr lang="en-US" altLang="zh-CN" dirty="0"/>
              <a:t>c</a:t>
            </a:r>
            <a:r>
              <a:rPr lang="zh-CN" altLang="en-US" dirty="0"/>
              <a:t>的边</a:t>
            </a:r>
            <a:r>
              <a:rPr lang="en-US" altLang="zh-CN" dirty="0"/>
              <a:t>, </a:t>
            </a:r>
            <a:r>
              <a:rPr lang="zh-CN" altLang="en-US" dirty="0"/>
              <a:t>这是不可能的</a:t>
            </a:r>
            <a:r>
              <a:rPr lang="en-US" altLang="zh-CN" dirty="0"/>
              <a:t>.</a:t>
            </a:r>
          </a:p>
        </p:txBody>
      </p:sp>
      <p:sp>
        <p:nvSpPr>
          <p:cNvPr id="4" name="日期占位符 3"/>
          <p:cNvSpPr>
            <a:spLocks noGrp="1"/>
          </p:cNvSpPr>
          <p:nvPr>
            <p:ph type="dt" sz="half" idx="10"/>
          </p:nvPr>
        </p:nvSpPr>
        <p:spPr/>
        <p:txBody>
          <a:bodyPr/>
          <a:lstStyle/>
          <a:p>
            <a:fld id="{587C0B1A-D37C-4A9C-A3A8-5A2F0282CC62}"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170</a:t>
            </a:fld>
            <a:endParaRPr lang="zh-CN" altLang="en-US" dirty="0"/>
          </a:p>
        </p:txBody>
      </p:sp>
      <p:pic>
        <p:nvPicPr>
          <p:cNvPr id="7" name="图片 6"/>
          <p:cNvPicPr>
            <a:picLocks noChangeAspect="1"/>
          </p:cNvPicPr>
          <p:nvPr/>
        </p:nvPicPr>
        <p:blipFill>
          <a:blip r:embed="rId2"/>
          <a:stretch>
            <a:fillRect/>
          </a:stretch>
        </p:blipFill>
        <p:spPr>
          <a:xfrm>
            <a:off x="2895600" y="1432560"/>
            <a:ext cx="2529840" cy="1996440"/>
          </a:xfrm>
          <a:prstGeom prst="rect">
            <a:avLst/>
          </a:prstGeom>
        </p:spPr>
      </p:pic>
      <p:pic>
        <p:nvPicPr>
          <p:cNvPr id="8" name="图片 7"/>
          <p:cNvPicPr>
            <a:picLocks noChangeAspect="1"/>
          </p:cNvPicPr>
          <p:nvPr/>
        </p:nvPicPr>
        <p:blipFill>
          <a:blip r:embed="rId3"/>
          <a:stretch>
            <a:fillRect/>
          </a:stretch>
        </p:blipFill>
        <p:spPr>
          <a:xfrm>
            <a:off x="7315200" y="1432560"/>
            <a:ext cx="2103120" cy="1866900"/>
          </a:xfrm>
          <a:prstGeom prst="rect">
            <a:avLst/>
          </a:prstGeom>
        </p:spPr>
      </p:pic>
      <p:sp>
        <p:nvSpPr>
          <p:cNvPr id="9" name="矩形 8"/>
          <p:cNvSpPr/>
          <p:nvPr/>
        </p:nvSpPr>
        <p:spPr>
          <a:xfrm>
            <a:off x="5029200" y="1676400"/>
            <a:ext cx="304800" cy="30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932345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wipe(down)">
                                      <p:cBhvr>
                                        <p:cTn id="7" dur="500"/>
                                        <p:tgtEl>
                                          <p:spTgt spid="3">
                                            <p:txEl>
                                              <p:pRg st="4" end="4"/>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wipe(down)">
                                      <p:cBhvr>
                                        <p:cTn id="10" dur="500"/>
                                        <p:tgtEl>
                                          <p:spTgt spid="3">
                                            <p:txEl>
                                              <p:pRg st="5" end="5"/>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wipe(down)">
                                      <p:cBhvr>
                                        <p:cTn id="13"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304802" y="1600200"/>
            <a:ext cx="11277599" cy="14478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哈密顿通路与哈密顿回路</a:t>
            </a:r>
            <a:endParaRPr lang="en-US" dirty="0"/>
          </a:p>
        </p:txBody>
      </p:sp>
      <p:sp>
        <p:nvSpPr>
          <p:cNvPr id="18" name="Content Placeholder 2"/>
          <p:cNvSpPr>
            <a:spLocks noGrp="1"/>
          </p:cNvSpPr>
          <p:nvPr>
            <p:ph idx="1"/>
          </p:nvPr>
        </p:nvSpPr>
        <p:spPr/>
        <p:txBody>
          <a:bodyPr>
            <a:normAutofit/>
          </a:bodyPr>
          <a:lstStyle/>
          <a:p>
            <a:r>
              <a:rPr lang="zh-CN" altLang="en-US" dirty="0" smtClean="0"/>
              <a:t>但许多定理给出了哈密顿回路的存在性的充分条件</a:t>
            </a:r>
            <a:r>
              <a:rPr lang="en-US" altLang="zh-CN" dirty="0" smtClean="0"/>
              <a:t>: </a:t>
            </a:r>
            <a:endParaRPr lang="en-US" dirty="0" smtClean="0"/>
          </a:p>
          <a:p>
            <a:pPr lvl="1"/>
            <a:r>
              <a:rPr lang="zh-CN" altLang="en-US" b="1" dirty="0">
                <a:solidFill>
                  <a:srgbClr val="C00000"/>
                </a:solidFill>
              </a:rPr>
              <a:t>狄拉克</a:t>
            </a:r>
            <a:r>
              <a:rPr lang="zh-CN" altLang="en-US" b="1" dirty="0" smtClean="0">
                <a:solidFill>
                  <a:srgbClr val="C00000"/>
                </a:solidFill>
              </a:rPr>
              <a:t>定理</a:t>
            </a:r>
            <a:r>
              <a:rPr lang="en-US" dirty="0" smtClean="0"/>
              <a:t>: </a:t>
            </a:r>
            <a:r>
              <a:rPr lang="zh-CN" altLang="en-US" dirty="0" smtClean="0"/>
              <a:t>如果</a:t>
            </a:r>
            <a:r>
              <a:rPr lang="en-US" altLang="zh-CN" dirty="0"/>
              <a:t>G</a:t>
            </a:r>
            <a:r>
              <a:rPr lang="zh-CN" altLang="en-US" dirty="0"/>
              <a:t>是有</a:t>
            </a:r>
            <a:r>
              <a:rPr lang="en-US" altLang="zh-CN" dirty="0"/>
              <a:t>n</a:t>
            </a:r>
            <a:r>
              <a:rPr lang="zh-CN" altLang="en-US" dirty="0"/>
              <a:t>个顶点的简单</a:t>
            </a:r>
            <a:r>
              <a:rPr lang="zh-CN" altLang="en-US" dirty="0" smtClean="0"/>
              <a:t>图</a:t>
            </a:r>
            <a:r>
              <a:rPr lang="en-US" altLang="zh-CN" dirty="0" smtClean="0"/>
              <a:t>, </a:t>
            </a:r>
            <a:r>
              <a:rPr lang="zh-CN" altLang="en-US" dirty="0" smtClean="0"/>
              <a:t>其中</a:t>
            </a:r>
            <a:r>
              <a:rPr lang="en-US" dirty="0" smtClean="0"/>
              <a:t>n≥3</a:t>
            </a:r>
            <a:r>
              <a:rPr lang="en-US" altLang="zh-CN" dirty="0" smtClean="0"/>
              <a:t>, </a:t>
            </a:r>
            <a:r>
              <a:rPr lang="zh-CN" altLang="en-US" dirty="0" smtClean="0"/>
              <a:t>并且</a:t>
            </a:r>
            <a:r>
              <a:rPr lang="en-US" altLang="zh-CN" dirty="0"/>
              <a:t>G</a:t>
            </a:r>
            <a:r>
              <a:rPr lang="zh-CN" altLang="en-US" dirty="0"/>
              <a:t>中每个顶点的度都至少</a:t>
            </a:r>
            <a:r>
              <a:rPr lang="zh-CN" altLang="en-US" dirty="0" smtClean="0"/>
              <a:t>为</a:t>
            </a:r>
            <a:r>
              <a:rPr lang="en-US" dirty="0" smtClean="0"/>
              <a:t>n/2, </a:t>
            </a:r>
            <a:r>
              <a:rPr lang="zh-CN" altLang="en-US" dirty="0" smtClean="0"/>
              <a:t>则</a:t>
            </a:r>
            <a:r>
              <a:rPr lang="en-US" altLang="zh-CN" dirty="0"/>
              <a:t>G</a:t>
            </a:r>
            <a:r>
              <a:rPr lang="zh-CN" altLang="en-US" dirty="0"/>
              <a:t>有哈密顿回路</a:t>
            </a:r>
            <a:r>
              <a:rPr lang="en-US" dirty="0"/>
              <a:t>. </a:t>
            </a:r>
          </a:p>
          <a:p>
            <a:pPr lvl="1"/>
            <a:r>
              <a:rPr lang="zh-CN" altLang="en-US" b="1" dirty="0">
                <a:solidFill>
                  <a:srgbClr val="C00000"/>
                </a:solidFill>
              </a:rPr>
              <a:t>欧尔</a:t>
            </a:r>
            <a:r>
              <a:rPr lang="zh-CN" altLang="en-US" b="1" dirty="0" smtClean="0">
                <a:solidFill>
                  <a:srgbClr val="C00000"/>
                </a:solidFill>
              </a:rPr>
              <a:t>定理</a:t>
            </a:r>
            <a:r>
              <a:rPr lang="en-US" altLang="zh-CN" dirty="0" smtClean="0"/>
              <a:t>: </a:t>
            </a:r>
            <a:r>
              <a:rPr lang="zh-CN" altLang="en-US" dirty="0" smtClean="0"/>
              <a:t>如果</a:t>
            </a:r>
            <a:r>
              <a:rPr lang="en-US" altLang="zh-CN" dirty="0"/>
              <a:t>G</a:t>
            </a:r>
            <a:r>
              <a:rPr lang="zh-CN" altLang="en-US" dirty="0"/>
              <a:t>是有</a:t>
            </a:r>
            <a:r>
              <a:rPr lang="en-US" altLang="zh-CN" dirty="0"/>
              <a:t>n</a:t>
            </a:r>
            <a:r>
              <a:rPr lang="zh-CN" altLang="en-US" dirty="0"/>
              <a:t>个顶点的简单</a:t>
            </a:r>
            <a:r>
              <a:rPr lang="zh-CN" altLang="en-US" dirty="0" smtClean="0"/>
              <a:t>图</a:t>
            </a:r>
            <a:r>
              <a:rPr lang="en-US" altLang="zh-CN" dirty="0" smtClean="0"/>
              <a:t>, </a:t>
            </a:r>
            <a:r>
              <a:rPr lang="zh-CN" altLang="en-US" dirty="0" smtClean="0"/>
              <a:t>其中</a:t>
            </a:r>
            <a:r>
              <a:rPr lang="en-US" altLang="zh-CN" dirty="0" smtClean="0"/>
              <a:t>n≥3, </a:t>
            </a:r>
            <a:r>
              <a:rPr lang="zh-CN" altLang="en-US" dirty="0" smtClean="0"/>
              <a:t>并且</a:t>
            </a:r>
            <a:r>
              <a:rPr lang="en-US" altLang="zh-CN" dirty="0"/>
              <a:t>G</a:t>
            </a:r>
            <a:r>
              <a:rPr lang="zh-CN" altLang="en-US" dirty="0"/>
              <a:t>中每一对不相邻的顶点</a:t>
            </a:r>
            <a:r>
              <a:rPr lang="en-US" altLang="zh-CN" dirty="0"/>
              <a:t>u</a:t>
            </a:r>
            <a:r>
              <a:rPr lang="zh-CN" altLang="en-US" dirty="0"/>
              <a:t>和</a:t>
            </a:r>
            <a:r>
              <a:rPr lang="en-US" altLang="zh-CN" dirty="0"/>
              <a:t>v</a:t>
            </a:r>
            <a:r>
              <a:rPr lang="zh-CN" altLang="en-US" dirty="0" smtClean="0"/>
              <a:t>来说</a:t>
            </a:r>
            <a:r>
              <a:rPr lang="en-US" altLang="zh-CN" dirty="0" smtClean="0"/>
              <a:t>, </a:t>
            </a:r>
            <a:r>
              <a:rPr lang="zh-CN" altLang="en-US" dirty="0" smtClean="0"/>
              <a:t>都</a:t>
            </a:r>
            <a:r>
              <a:rPr lang="zh-CN" altLang="en-US" dirty="0"/>
              <a:t>有</a:t>
            </a:r>
            <a:r>
              <a:rPr lang="en-US" altLang="zh-CN" dirty="0" err="1" smtClean="0"/>
              <a:t>deg</a:t>
            </a:r>
            <a:r>
              <a:rPr lang="en-US" altLang="zh-CN" dirty="0" smtClean="0"/>
              <a:t>(u)+ </a:t>
            </a:r>
            <a:r>
              <a:rPr lang="en-US" altLang="zh-CN" dirty="0" err="1" smtClean="0"/>
              <a:t>deg</a:t>
            </a:r>
            <a:r>
              <a:rPr lang="en-US" altLang="zh-CN" dirty="0" smtClean="0"/>
              <a:t>(v)≥n, </a:t>
            </a:r>
            <a:r>
              <a:rPr lang="zh-CN" altLang="en-US" dirty="0" smtClean="0"/>
              <a:t>则</a:t>
            </a:r>
            <a:r>
              <a:rPr lang="en-US" altLang="zh-CN" dirty="0"/>
              <a:t>G</a:t>
            </a:r>
            <a:r>
              <a:rPr lang="zh-CN" altLang="en-US" dirty="0"/>
              <a:t>有哈密顿回路</a:t>
            </a:r>
            <a:r>
              <a:rPr lang="en-US" altLang="zh-CN" dirty="0"/>
              <a:t>. </a:t>
            </a:r>
          </a:p>
          <a:p>
            <a:endParaRPr lang="en-US" dirty="0"/>
          </a:p>
        </p:txBody>
      </p:sp>
      <p:pic>
        <p:nvPicPr>
          <p:cNvPr id="16" name="Picture 1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19600" y="4800600"/>
            <a:ext cx="906018" cy="1176528"/>
          </a:xfrm>
          <a:prstGeom prst="rect">
            <a:avLst/>
          </a:prstGeom>
        </p:spPr>
      </p:pic>
      <p:pic>
        <p:nvPicPr>
          <p:cNvPr id="17" name="Picture 1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000" y="4817329"/>
            <a:ext cx="906018" cy="1170432"/>
          </a:xfrm>
          <a:prstGeom prst="rect">
            <a:avLst/>
          </a:prstGeom>
        </p:spPr>
      </p:pic>
      <p:sp>
        <p:nvSpPr>
          <p:cNvPr id="19" name="TextBox 18"/>
          <p:cNvSpPr txBox="1"/>
          <p:nvPr/>
        </p:nvSpPr>
        <p:spPr>
          <a:xfrm>
            <a:off x="2072713" y="5285474"/>
            <a:ext cx="2514600" cy="646331"/>
          </a:xfrm>
          <a:prstGeom prst="rect">
            <a:avLst/>
          </a:prstGeom>
          <a:noFill/>
        </p:spPr>
        <p:txBody>
          <a:bodyPr wrap="square" rtlCol="0">
            <a:spAutoFit/>
          </a:bodyPr>
          <a:lstStyle/>
          <a:p>
            <a:r>
              <a:rPr lang="en-US" dirty="0"/>
              <a:t>Gabriel Andrew Dirac</a:t>
            </a:r>
          </a:p>
          <a:p>
            <a:r>
              <a:rPr lang="en-US" dirty="0" smtClean="0"/>
              <a:t>(</a:t>
            </a:r>
            <a:r>
              <a:rPr lang="en-US" dirty="0" smtClean="0">
                <a:latin typeface="Cambria Math" pitchFamily="18" charset="0"/>
                <a:ea typeface="Cambria Math" pitchFamily="18" charset="0"/>
              </a:rPr>
              <a:t>1925-1984)</a:t>
            </a:r>
            <a:r>
              <a:rPr lang="en-US" dirty="0" smtClean="0"/>
              <a:t> </a:t>
            </a:r>
            <a:endParaRPr lang="en-US" dirty="0"/>
          </a:p>
        </p:txBody>
      </p:sp>
      <p:sp>
        <p:nvSpPr>
          <p:cNvPr id="20" name="TextBox 19"/>
          <p:cNvSpPr txBox="1"/>
          <p:nvPr/>
        </p:nvSpPr>
        <p:spPr>
          <a:xfrm>
            <a:off x="7791895" y="5320768"/>
            <a:ext cx="1524000" cy="646331"/>
          </a:xfrm>
          <a:prstGeom prst="rect">
            <a:avLst/>
          </a:prstGeom>
          <a:noFill/>
        </p:spPr>
        <p:txBody>
          <a:bodyPr wrap="square" rtlCol="0">
            <a:spAutoFit/>
          </a:bodyPr>
          <a:lstStyle/>
          <a:p>
            <a:r>
              <a:rPr lang="en-US" dirty="0" err="1"/>
              <a:t>Øysten</a:t>
            </a:r>
            <a:r>
              <a:rPr lang="en-US" dirty="0"/>
              <a:t> Ore</a:t>
            </a:r>
          </a:p>
          <a:p>
            <a:r>
              <a:rPr lang="en-US" dirty="0" smtClean="0"/>
              <a:t>(</a:t>
            </a:r>
            <a:r>
              <a:rPr lang="en-US" dirty="0" smtClean="0">
                <a:latin typeface="Cambria Math" pitchFamily="18" charset="0"/>
                <a:ea typeface="Cambria Math" pitchFamily="18" charset="0"/>
              </a:rPr>
              <a:t>1899-1968)</a:t>
            </a:r>
            <a:r>
              <a:rPr lang="en-US" dirty="0" smtClean="0"/>
              <a:t> </a:t>
            </a:r>
            <a:endParaRPr lang="en-US" dirty="0"/>
          </a:p>
        </p:txBody>
      </p:sp>
      <p:sp>
        <p:nvSpPr>
          <p:cNvPr id="5" name="日期占位符 4"/>
          <p:cNvSpPr>
            <a:spLocks noGrp="1"/>
          </p:cNvSpPr>
          <p:nvPr>
            <p:ph type="dt" sz="half" idx="10"/>
          </p:nvPr>
        </p:nvSpPr>
        <p:spPr/>
        <p:txBody>
          <a:bodyPr/>
          <a:lstStyle/>
          <a:p>
            <a:fld id="{4AC5B418-854D-4E79-ACC6-5606BA407629}" type="datetime1">
              <a:rPr lang="zh-CN" altLang="en-US" smtClean="0"/>
              <a:t>2025/4/15</a:t>
            </a:fld>
            <a:endParaRPr lang="zh-CN" altLang="en-US" dirty="0"/>
          </a:p>
        </p:txBody>
      </p:sp>
      <p:sp>
        <p:nvSpPr>
          <p:cNvPr id="6" name="页脚占位符 5"/>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7" name="灯片编号占位符 6"/>
          <p:cNvSpPr>
            <a:spLocks noGrp="1"/>
          </p:cNvSpPr>
          <p:nvPr>
            <p:ph type="sldNum" sz="quarter" idx="12"/>
          </p:nvPr>
        </p:nvSpPr>
        <p:spPr/>
        <p:txBody>
          <a:bodyPr/>
          <a:lstStyle/>
          <a:p>
            <a:fld id="{67913A8A-9EFB-4B5F-9CCB-3D21173FAA85}" type="slidenum">
              <a:rPr lang="zh-CN" altLang="en-US" smtClean="0"/>
              <a:pPr/>
              <a:t>171</a:t>
            </a:fld>
            <a:endParaRPr lang="zh-CN" altLang="en-US" dirty="0"/>
          </a:p>
        </p:txBody>
      </p:sp>
    </p:spTree>
    <p:extLst>
      <p:ext uri="{BB962C8B-B14F-4D97-AF65-F5344CB8AC3E}">
        <p14:creationId xmlns:p14="http://schemas.microsoft.com/office/powerpoint/2010/main" val="600645639"/>
      </p:ext>
    </p:extLst>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哈密顿回路的应用</a:t>
            </a:r>
            <a:endParaRPr lang="en-US" dirty="0"/>
          </a:p>
        </p:txBody>
      </p:sp>
      <p:sp>
        <p:nvSpPr>
          <p:cNvPr id="3" name="Content Placeholder 2"/>
          <p:cNvSpPr>
            <a:spLocks noGrp="1"/>
          </p:cNvSpPr>
          <p:nvPr>
            <p:ph idx="1"/>
          </p:nvPr>
        </p:nvSpPr>
        <p:spPr/>
        <p:txBody>
          <a:bodyPr>
            <a:normAutofit/>
          </a:bodyPr>
          <a:lstStyle/>
          <a:p>
            <a:r>
              <a:rPr lang="zh-CN" altLang="en-US" dirty="0"/>
              <a:t>哈密顿</a:t>
            </a:r>
            <a:r>
              <a:rPr lang="zh-CN" altLang="en-US" dirty="0" smtClean="0"/>
              <a:t>回路的应用</a:t>
            </a:r>
            <a:r>
              <a:rPr lang="en-US" altLang="zh-CN" dirty="0" smtClean="0"/>
              <a:t>: </a:t>
            </a:r>
            <a:r>
              <a:rPr lang="zh-CN" altLang="en-US" dirty="0" smtClean="0"/>
              <a:t>我们可以用哈密顿回路解决实际问题</a:t>
            </a:r>
            <a:r>
              <a:rPr lang="en-US" altLang="zh-CN" dirty="0" smtClean="0"/>
              <a:t>, </a:t>
            </a:r>
            <a:r>
              <a:rPr lang="zh-CN" altLang="en-US" dirty="0" smtClean="0"/>
              <a:t>例如</a:t>
            </a:r>
            <a:endParaRPr lang="en-US" altLang="zh-CN" dirty="0" smtClean="0"/>
          </a:p>
          <a:p>
            <a:pPr lvl="1"/>
            <a:r>
              <a:rPr lang="zh-CN" altLang="en-US" b="1" dirty="0"/>
              <a:t>旅行商</a:t>
            </a:r>
            <a:r>
              <a:rPr lang="zh-CN" altLang="en-US" b="1" dirty="0" smtClean="0"/>
              <a:t>问题</a:t>
            </a:r>
            <a:r>
              <a:rPr lang="en-US" altLang="zh-CN" b="1" dirty="0" smtClean="0"/>
              <a:t>(TSP). </a:t>
            </a:r>
            <a:r>
              <a:rPr lang="zh-CN" altLang="en-US" b="1" dirty="0" smtClean="0"/>
              <a:t>要求</a:t>
            </a:r>
            <a:r>
              <a:rPr lang="zh-CN" altLang="en-US" b="1" dirty="0"/>
              <a:t>一个旅行商为了访问一组城市所映选取的最</a:t>
            </a:r>
            <a:r>
              <a:rPr lang="zh-CN" altLang="en-US" b="1" dirty="0" smtClean="0"/>
              <a:t>短路线</a:t>
            </a:r>
            <a:r>
              <a:rPr lang="en-US" altLang="zh-CN" dirty="0" smtClean="0"/>
              <a:t>. </a:t>
            </a:r>
            <a:r>
              <a:rPr lang="zh-CN" altLang="en-US" dirty="0" smtClean="0"/>
              <a:t>可</a:t>
            </a:r>
            <a:r>
              <a:rPr lang="zh-CN" altLang="en-US" dirty="0"/>
              <a:t>归结为求完全图的哈密顿</a:t>
            </a:r>
            <a:r>
              <a:rPr lang="zh-CN" altLang="en-US" dirty="0" smtClean="0"/>
              <a:t>回路</a:t>
            </a:r>
            <a:r>
              <a:rPr lang="en-US" altLang="zh-CN" dirty="0" smtClean="0"/>
              <a:t>, </a:t>
            </a:r>
            <a:r>
              <a:rPr lang="zh-CN" altLang="en-US" dirty="0" smtClean="0"/>
              <a:t>使得</a:t>
            </a:r>
            <a:r>
              <a:rPr lang="zh-CN" altLang="en-US" dirty="0"/>
              <a:t>这个回路的边的权的综合尽可能的</a:t>
            </a:r>
            <a:r>
              <a:rPr lang="zh-CN" altLang="en-US" dirty="0" smtClean="0"/>
              <a:t>小</a:t>
            </a:r>
            <a:r>
              <a:rPr lang="en-US" altLang="zh-CN" dirty="0" smtClean="0"/>
              <a:t>(</a:t>
            </a:r>
            <a:r>
              <a:rPr lang="zh-CN" altLang="en-US" dirty="0" smtClean="0"/>
              <a:t>下个小节会再详细讲</a:t>
            </a:r>
            <a:r>
              <a:rPr lang="en-US" altLang="zh-CN" dirty="0" smtClean="0"/>
              <a:t>)</a:t>
            </a:r>
            <a:r>
              <a:rPr lang="en-US" altLang="zh-CN" dirty="0"/>
              <a:t>.</a:t>
            </a:r>
          </a:p>
          <a:p>
            <a:pPr lvl="1"/>
            <a:r>
              <a:rPr lang="zh-CN" altLang="en-US" dirty="0"/>
              <a:t>格雷</a:t>
            </a:r>
            <a:r>
              <a:rPr lang="zh-CN" altLang="en-US" dirty="0" smtClean="0"/>
              <a:t>码</a:t>
            </a:r>
            <a:r>
              <a:rPr lang="en-US" altLang="zh-CN" dirty="0" smtClean="0"/>
              <a:t>. </a:t>
            </a:r>
            <a:r>
              <a:rPr lang="zh-CN" altLang="en-US" dirty="0" smtClean="0"/>
              <a:t>哈密顿回路在编码上的一种不大显著的应用</a:t>
            </a:r>
            <a:r>
              <a:rPr lang="en-US" altLang="zh-CN" dirty="0" smtClean="0"/>
              <a:t>, </a:t>
            </a:r>
            <a:r>
              <a:rPr lang="zh-CN" altLang="en-US" dirty="0" smtClean="0"/>
              <a:t>用来</a:t>
            </a:r>
            <a:r>
              <a:rPr lang="zh-CN" altLang="en-US" dirty="0"/>
              <a:t>将数字信号传送过程中错误的影响降到最低</a:t>
            </a:r>
            <a:r>
              <a:rPr lang="en-US" dirty="0" smtClean="0"/>
              <a:t>. </a:t>
            </a:r>
            <a:endParaRPr lang="en-US" dirty="0"/>
          </a:p>
        </p:txBody>
      </p:sp>
      <p:sp>
        <p:nvSpPr>
          <p:cNvPr id="6" name="日期占位符 5"/>
          <p:cNvSpPr>
            <a:spLocks noGrp="1"/>
          </p:cNvSpPr>
          <p:nvPr>
            <p:ph type="dt" sz="half" idx="10"/>
          </p:nvPr>
        </p:nvSpPr>
        <p:spPr/>
        <p:txBody>
          <a:bodyPr/>
          <a:lstStyle/>
          <a:p>
            <a:fld id="{068FC072-2ECF-4EE7-BADE-2855B5973B6B}" type="datetime1">
              <a:rPr lang="zh-CN" altLang="en-US" smtClean="0"/>
              <a:t>2025/4/15</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172</a:t>
            </a:fld>
            <a:endParaRPr lang="zh-CN" altLang="en-US" dirty="0"/>
          </a:p>
        </p:txBody>
      </p:sp>
    </p:spTree>
    <p:extLst>
      <p:ext uri="{BB962C8B-B14F-4D97-AF65-F5344CB8AC3E}">
        <p14:creationId xmlns:p14="http://schemas.microsoft.com/office/powerpoint/2010/main" val="3991648520"/>
      </p:ext>
    </p:extLst>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哈密顿回路的应用</a:t>
            </a:r>
            <a:endParaRPr lang="en-US" dirty="0">
              <a:solidFill>
                <a:srgbClr val="C00000"/>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smtClean="0"/>
                  <a:t>格雷码使得相邻弧具有恰好相差一位的位串标记</a:t>
                </a:r>
                <a:r>
                  <a:rPr lang="en-US" altLang="zh-CN" dirty="0" smtClean="0"/>
                  <a:t>. </a:t>
                </a:r>
                <a:r>
                  <a:rPr lang="zh-CN" altLang="en-US" dirty="0" smtClean="0"/>
                  <a:t>例如上述中的</a:t>
                </a:r>
                <a:r>
                  <a:rPr lang="en-US" altLang="zh-CN" dirty="0" smtClean="0"/>
                  <a:t>b</a:t>
                </a:r>
                <a:r>
                  <a:rPr lang="zh-CN" altLang="en-US" dirty="0" smtClean="0"/>
                  <a:t>编码方案</a:t>
                </a:r>
                <a:r>
                  <a:rPr lang="en-US" altLang="zh-CN" dirty="0" smtClean="0"/>
                  <a:t>. </a:t>
                </a:r>
                <a:r>
                  <a:rPr lang="zh-CN" altLang="en-US" dirty="0" smtClean="0"/>
                  <a:t>可以如下找出格雷码</a:t>
                </a:r>
                <a:r>
                  <a:rPr lang="en-US" altLang="zh-CN" dirty="0" smtClean="0"/>
                  <a:t>: </a:t>
                </a:r>
                <a:r>
                  <a:rPr lang="zh-CN" altLang="en-US" dirty="0" smtClean="0"/>
                  <a:t>列出所有长度为</a:t>
                </a:r>
                <a:r>
                  <a:rPr lang="en-US" altLang="zh-CN" dirty="0" smtClean="0"/>
                  <a:t>n</a:t>
                </a:r>
                <a:r>
                  <a:rPr lang="zh-CN" altLang="en-US" dirty="0" smtClean="0"/>
                  <a:t>的位串</a:t>
                </a:r>
                <a:r>
                  <a:rPr lang="en-US" altLang="zh-CN" dirty="0" smtClean="0"/>
                  <a:t>, </a:t>
                </a:r>
                <a:r>
                  <a:rPr lang="zh-CN" altLang="en-US" dirty="0" smtClean="0"/>
                  <a:t>使得每个位串与前一个位串恰好相差一位</a:t>
                </a:r>
                <a:r>
                  <a:rPr lang="en-US" altLang="zh-CN" dirty="0" smtClean="0"/>
                  <a:t>, </a:t>
                </a:r>
                <a:r>
                  <a:rPr lang="zh-CN" altLang="en-US" dirty="0" smtClean="0"/>
                  <a:t>而且最后一个位串与第一个位串也恰好相差一位</a:t>
                </a:r>
                <a:r>
                  <a:rPr lang="en-US" altLang="zh-CN" dirty="0" smtClean="0"/>
                  <a:t>.</a:t>
                </a:r>
              </a:p>
              <a:p>
                <a:r>
                  <a:rPr lang="zh-CN" altLang="en-US" dirty="0" smtClean="0"/>
                  <a:t>可以用</a:t>
                </a:r>
                <a:r>
                  <a:rPr lang="en-US" altLang="zh-CN" dirty="0" smtClean="0"/>
                  <a:t>n</a:t>
                </a:r>
                <a:r>
                  <a:rPr lang="zh-CN" altLang="en-US" dirty="0" smtClean="0"/>
                  <a:t>立方体</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𝑄</m:t>
                        </m:r>
                      </m:e>
                      <m:sub>
                        <m:r>
                          <a:rPr lang="en-US" altLang="zh-CN" b="0" i="1" smtClean="0">
                            <a:latin typeface="Cambria Math" panose="02040503050406030204" pitchFamily="18" charset="0"/>
                          </a:rPr>
                          <m:t>𝑛</m:t>
                        </m:r>
                      </m:sub>
                    </m:sSub>
                  </m:oMath>
                </a14:m>
                <a:r>
                  <a:rPr lang="zh-CN" altLang="en-US" dirty="0" smtClean="0"/>
                  <a:t>来建模</a:t>
                </a:r>
                <a:r>
                  <a:rPr lang="en-US" altLang="zh-CN" dirty="0" smtClean="0"/>
                  <a:t>. </a:t>
                </a:r>
                <a:r>
                  <a:rPr lang="zh-CN" altLang="en-US" dirty="0" smtClean="0"/>
                  <a:t>寻找</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𝑄</m:t>
                        </m:r>
                      </m:e>
                      <m:sub>
                        <m:r>
                          <a:rPr lang="en-US" altLang="zh-CN" i="1">
                            <a:latin typeface="Cambria Math" panose="02040503050406030204" pitchFamily="18" charset="0"/>
                          </a:rPr>
                          <m:t>𝑛</m:t>
                        </m:r>
                      </m:sub>
                    </m:sSub>
                  </m:oMath>
                </a14:m>
                <a:r>
                  <a:rPr lang="zh-CN" altLang="en-US" dirty="0" smtClean="0"/>
                  <a:t>中的一条哈密顿回路</a:t>
                </a:r>
                <a:r>
                  <a:rPr lang="en-US" altLang="zh-CN" dirty="0" smtClean="0"/>
                  <a:t>. </a:t>
                </a:r>
                <a:r>
                  <a:rPr lang="zh-CN" altLang="en-US" dirty="0" smtClean="0"/>
                  <a:t>例如下图中这条哈密顿回路所产生的前后恰好相差一位的位串序列是</a:t>
                </a:r>
                <a:r>
                  <a:rPr lang="en-US" altLang="zh-CN" dirty="0" smtClean="0"/>
                  <a:t>000, 001, 011, 010, 110, 111, 101, 100.</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310" r="-1054"/>
                </a:stretch>
              </a:blipFill>
            </p:spPr>
            <p:txBody>
              <a:bodyPr/>
              <a:lstStyle/>
              <a:p>
                <a:r>
                  <a:rPr lang="zh-CN" altLang="en-US">
                    <a:noFill/>
                  </a:rPr>
                  <a:t> </a:t>
                </a:r>
              </a:p>
            </p:txBody>
          </p:sp>
        </mc:Fallback>
      </mc:AlternateContent>
      <p:sp>
        <p:nvSpPr>
          <p:cNvPr id="6" name="日期占位符 5"/>
          <p:cNvSpPr>
            <a:spLocks noGrp="1"/>
          </p:cNvSpPr>
          <p:nvPr>
            <p:ph type="dt" sz="half" idx="10"/>
          </p:nvPr>
        </p:nvSpPr>
        <p:spPr/>
        <p:txBody>
          <a:bodyPr/>
          <a:lstStyle/>
          <a:p>
            <a:fld id="{CDA13735-1DB0-42A9-957A-91F2A105A9BC}" type="datetime1">
              <a:rPr lang="zh-CN" altLang="en-US" smtClean="0"/>
              <a:t>2025/4/15</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173</a:t>
            </a:fld>
            <a:endParaRPr lang="zh-CN" altLang="en-US" dirty="0"/>
          </a:p>
        </p:txBody>
      </p:sp>
      <p:pic>
        <p:nvPicPr>
          <p:cNvPr id="4" name="图片 3"/>
          <p:cNvPicPr>
            <a:picLocks noChangeAspect="1"/>
          </p:cNvPicPr>
          <p:nvPr/>
        </p:nvPicPr>
        <p:blipFill>
          <a:blip r:embed="rId3"/>
          <a:stretch>
            <a:fillRect/>
          </a:stretch>
        </p:blipFill>
        <p:spPr>
          <a:xfrm>
            <a:off x="6629400" y="4080656"/>
            <a:ext cx="2988600" cy="2222000"/>
          </a:xfrm>
          <a:prstGeom prst="rect">
            <a:avLst/>
          </a:prstGeom>
        </p:spPr>
      </p:pic>
    </p:spTree>
    <p:extLst>
      <p:ext uri="{BB962C8B-B14F-4D97-AF65-F5344CB8AC3E}">
        <p14:creationId xmlns:p14="http://schemas.microsoft.com/office/powerpoint/2010/main" val="3552747311"/>
      </p:ext>
    </p:extLst>
  </p:cSld>
  <p:clrMapOvr>
    <a:masterClrMapping/>
  </p:clrMapOvr>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第</a:t>
            </a:r>
            <a:r>
              <a:rPr lang="en-US" altLang="zh-CN" dirty="0"/>
              <a:t>4</a:t>
            </a:r>
            <a:r>
              <a:rPr lang="en-US" altLang="zh-CN" dirty="0" smtClean="0"/>
              <a:t>.6</a:t>
            </a:r>
            <a:r>
              <a:rPr lang="zh-CN" altLang="en-US" dirty="0" smtClean="0"/>
              <a:t>节 最</a:t>
            </a:r>
            <a:r>
              <a:rPr lang="zh-CN" altLang="en-US" dirty="0"/>
              <a:t>短通路问题</a:t>
            </a:r>
            <a:endParaRPr lang="en-US" dirty="0"/>
          </a:p>
        </p:txBody>
      </p:sp>
      <p:sp>
        <p:nvSpPr>
          <p:cNvPr id="3" name="Content Placeholder 2"/>
          <p:cNvSpPr>
            <a:spLocks noGrp="1"/>
          </p:cNvSpPr>
          <p:nvPr>
            <p:ph idx="1"/>
          </p:nvPr>
        </p:nvSpPr>
        <p:spPr/>
        <p:txBody>
          <a:bodyPr/>
          <a:lstStyle/>
          <a:p>
            <a:r>
              <a:rPr lang="zh-CN" altLang="en-US" dirty="0"/>
              <a:t>最</a:t>
            </a:r>
            <a:r>
              <a:rPr lang="zh-CN" altLang="en-US" dirty="0" smtClean="0"/>
              <a:t>短通路算法</a:t>
            </a:r>
            <a:endParaRPr lang="en-US" altLang="zh-CN" dirty="0" smtClean="0"/>
          </a:p>
          <a:p>
            <a:r>
              <a:rPr lang="zh-CN" altLang="en-US" dirty="0"/>
              <a:t>旅行</a:t>
            </a:r>
            <a:r>
              <a:rPr lang="zh-CN" altLang="en-US" dirty="0" smtClean="0"/>
              <a:t>商问题</a:t>
            </a:r>
            <a:endParaRPr lang="en-US" dirty="0" smtClean="0"/>
          </a:p>
        </p:txBody>
      </p:sp>
      <p:sp>
        <p:nvSpPr>
          <p:cNvPr id="4" name="日期占位符 3"/>
          <p:cNvSpPr>
            <a:spLocks noGrp="1"/>
          </p:cNvSpPr>
          <p:nvPr>
            <p:ph type="dt" sz="half" idx="10"/>
          </p:nvPr>
        </p:nvSpPr>
        <p:spPr/>
        <p:txBody>
          <a:bodyPr/>
          <a:lstStyle/>
          <a:p>
            <a:fld id="{E61C474B-51A7-4A5E-B90C-9DE1309ACF9D}"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174</a:t>
            </a:fld>
            <a:endParaRPr lang="zh-CN" altLang="en-US" dirty="0"/>
          </a:p>
        </p:txBody>
      </p:sp>
    </p:spTree>
    <p:extLst>
      <p:ext uri="{BB962C8B-B14F-4D97-AF65-F5344CB8AC3E}">
        <p14:creationId xmlns:p14="http://schemas.microsoft.com/office/powerpoint/2010/main" val="940535538"/>
      </p:ext>
    </p:extLst>
  </p:cSld>
  <p:clrMapOvr>
    <a:masterClrMapping/>
  </p:clrMapOvr>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引言</a:t>
            </a:r>
            <a:endParaRPr lang="zh-CN" altLang="en-US" dirty="0"/>
          </a:p>
        </p:txBody>
      </p:sp>
      <p:sp>
        <p:nvSpPr>
          <p:cNvPr id="3" name="内容占位符 2"/>
          <p:cNvSpPr>
            <a:spLocks noGrp="1"/>
          </p:cNvSpPr>
          <p:nvPr>
            <p:ph idx="1"/>
          </p:nvPr>
        </p:nvSpPr>
        <p:spPr/>
        <p:txBody>
          <a:bodyPr/>
          <a:lstStyle/>
          <a:p>
            <a:r>
              <a:rPr lang="zh-CN" altLang="en-US" dirty="0" smtClean="0"/>
              <a:t>为每条边赋上一个数的图称为</a:t>
            </a:r>
            <a:r>
              <a:rPr lang="zh-CN" altLang="en-US" b="1" dirty="0" smtClean="0">
                <a:solidFill>
                  <a:srgbClr val="C00000"/>
                </a:solidFill>
              </a:rPr>
              <a:t>加权图</a:t>
            </a:r>
            <a:r>
              <a:rPr lang="en-US" altLang="zh-CN" dirty="0" smtClean="0"/>
              <a:t>. </a:t>
            </a:r>
            <a:r>
              <a:rPr lang="zh-CN" altLang="en-US" dirty="0" smtClean="0"/>
              <a:t>例如</a:t>
            </a:r>
            <a:endParaRPr lang="en-US" altLang="zh-CN" dirty="0" smtClean="0"/>
          </a:p>
          <a:p>
            <a:endParaRPr lang="en-US" altLang="zh-CN" dirty="0" smtClean="0"/>
          </a:p>
          <a:p>
            <a:endParaRPr lang="en-US" altLang="zh-CN" dirty="0" smtClean="0"/>
          </a:p>
          <a:p>
            <a:pPr marL="0" indent="0">
              <a:buNone/>
            </a:pPr>
            <a:endParaRPr lang="en-US" altLang="zh-CN" dirty="0" smtClean="0"/>
          </a:p>
          <a:p>
            <a:endParaRPr lang="en-US" altLang="zh-CN" dirty="0" smtClean="0"/>
          </a:p>
          <a:p>
            <a:r>
              <a:rPr lang="zh-CN" altLang="en-US" dirty="0" smtClean="0"/>
              <a:t>与加权图有关的几类常见问题</a:t>
            </a:r>
            <a:r>
              <a:rPr lang="en-US" altLang="zh-CN" dirty="0" smtClean="0"/>
              <a:t>: </a:t>
            </a:r>
          </a:p>
          <a:p>
            <a:pPr lvl="1">
              <a:lnSpc>
                <a:spcPct val="100000"/>
              </a:lnSpc>
            </a:pPr>
            <a:r>
              <a:rPr lang="zh-CN" altLang="en-US" b="1" dirty="0" smtClean="0"/>
              <a:t>图中两个顶点之间最短的通路</a:t>
            </a:r>
            <a:r>
              <a:rPr lang="en-US" altLang="zh-CN" b="1" dirty="0" smtClean="0"/>
              <a:t>. </a:t>
            </a:r>
            <a:r>
              <a:rPr lang="zh-CN" altLang="en-US" b="1" dirty="0" smtClean="0"/>
              <a:t>加权图中一条通路的</a:t>
            </a:r>
            <a:r>
              <a:rPr lang="zh-CN" altLang="en-US" b="1" dirty="0" smtClean="0">
                <a:solidFill>
                  <a:srgbClr val="C00000"/>
                </a:solidFill>
              </a:rPr>
              <a:t>长度</a:t>
            </a:r>
            <a:r>
              <a:rPr lang="zh-CN" altLang="en-US" b="1" dirty="0" smtClean="0"/>
              <a:t>表示这条通路上各条边的权的总和</a:t>
            </a:r>
            <a:r>
              <a:rPr lang="en-US" altLang="zh-CN" dirty="0" smtClean="0"/>
              <a:t>.</a:t>
            </a:r>
          </a:p>
          <a:p>
            <a:pPr lvl="1"/>
            <a:r>
              <a:rPr lang="zh-CN" altLang="en-US" dirty="0" smtClean="0"/>
              <a:t>访问完全图每个顶点恰好一次</a:t>
            </a:r>
            <a:r>
              <a:rPr lang="en-US" altLang="zh-CN" dirty="0" smtClean="0"/>
              <a:t>, </a:t>
            </a:r>
            <a:r>
              <a:rPr lang="zh-CN" altLang="en-US" dirty="0" smtClean="0"/>
              <a:t>总长度最短的回路是著名的旅行商问题</a:t>
            </a:r>
            <a:r>
              <a:rPr lang="en-US" altLang="zh-CN" dirty="0"/>
              <a:t>.</a:t>
            </a:r>
            <a:endParaRPr lang="en-US" altLang="zh-CN" dirty="0" smtClean="0"/>
          </a:p>
          <a:p>
            <a:endParaRPr lang="en-US" altLang="zh-CN" dirty="0" smtClean="0"/>
          </a:p>
          <a:p>
            <a:endParaRPr lang="en-US" altLang="zh-CN" dirty="0" smtClean="0"/>
          </a:p>
          <a:p>
            <a:endParaRPr lang="zh-CN" altLang="en-US" dirty="0"/>
          </a:p>
        </p:txBody>
      </p:sp>
      <p:sp>
        <p:nvSpPr>
          <p:cNvPr id="4" name="日期占位符 3"/>
          <p:cNvSpPr>
            <a:spLocks noGrp="1"/>
          </p:cNvSpPr>
          <p:nvPr>
            <p:ph type="dt" sz="half" idx="10"/>
          </p:nvPr>
        </p:nvSpPr>
        <p:spPr/>
        <p:txBody>
          <a:bodyPr/>
          <a:lstStyle/>
          <a:p>
            <a:fld id="{548C4073-F111-4629-A915-B066C25230EA}"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175</a:t>
            </a:fld>
            <a:endParaRPr lang="zh-CN" altLang="en-US" dirty="0"/>
          </a:p>
        </p:txBody>
      </p:sp>
      <p:pic>
        <p:nvPicPr>
          <p:cNvPr id="7" name="图片 6"/>
          <p:cNvPicPr>
            <a:picLocks noChangeAspect="1"/>
          </p:cNvPicPr>
          <p:nvPr/>
        </p:nvPicPr>
        <p:blipFill>
          <a:blip r:embed="rId2"/>
          <a:stretch>
            <a:fillRect/>
          </a:stretch>
        </p:blipFill>
        <p:spPr>
          <a:xfrm>
            <a:off x="4038600" y="1600200"/>
            <a:ext cx="3429000" cy="2474843"/>
          </a:xfrm>
          <a:prstGeom prst="rect">
            <a:avLst/>
          </a:prstGeom>
        </p:spPr>
      </p:pic>
    </p:spTree>
    <p:extLst>
      <p:ext uri="{BB962C8B-B14F-4D97-AF65-F5344CB8AC3E}">
        <p14:creationId xmlns:p14="http://schemas.microsoft.com/office/powerpoint/2010/main" val="2795573017"/>
      </p:ext>
    </p:extLst>
  </p:cSld>
  <p:clrMapOvr>
    <a:masterClrMapping/>
  </p:clrMapOvr>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a:t>
            </a:r>
            <a:r>
              <a:rPr lang="zh-CN" altLang="en-US" dirty="0" smtClean="0"/>
              <a:t>短通路算法</a:t>
            </a:r>
            <a:endParaRPr lang="zh-CN" altLang="en-US" dirty="0"/>
          </a:p>
        </p:txBody>
      </p:sp>
      <p:sp>
        <p:nvSpPr>
          <p:cNvPr id="3" name="内容占位符 2"/>
          <p:cNvSpPr>
            <a:spLocks noGrp="1"/>
          </p:cNvSpPr>
          <p:nvPr>
            <p:ph idx="1"/>
          </p:nvPr>
        </p:nvSpPr>
        <p:spPr/>
        <p:txBody>
          <a:bodyPr>
            <a:normAutofit/>
          </a:bodyPr>
          <a:lstStyle/>
          <a:p>
            <a:r>
              <a:rPr lang="zh-CN" altLang="en-US" dirty="0" smtClean="0"/>
              <a:t>例</a:t>
            </a:r>
            <a:r>
              <a:rPr lang="en-US" altLang="zh-CN" dirty="0" smtClean="0"/>
              <a:t>: </a:t>
            </a:r>
            <a:r>
              <a:rPr lang="zh-CN" altLang="en-US" dirty="0" smtClean="0"/>
              <a:t>如图所示的加权图中</a:t>
            </a:r>
            <a:r>
              <a:rPr lang="en-US" altLang="zh-CN" dirty="0" smtClean="0"/>
              <a:t>, a</a:t>
            </a:r>
            <a:r>
              <a:rPr lang="zh-CN" altLang="en-US" dirty="0" smtClean="0"/>
              <a:t>和</a:t>
            </a:r>
            <a:r>
              <a:rPr lang="en-US" altLang="zh-CN" dirty="0" smtClean="0"/>
              <a:t>z</a:t>
            </a:r>
            <a:r>
              <a:rPr lang="zh-CN" altLang="en-US" dirty="0" smtClean="0"/>
              <a:t>之间的最短通路的长度是多少？</a:t>
            </a:r>
            <a:endParaRPr lang="en-US" altLang="zh-CN" dirty="0" smtClean="0"/>
          </a:p>
          <a:p>
            <a:endParaRPr lang="en-US" altLang="zh-CN" dirty="0"/>
          </a:p>
          <a:p>
            <a:endParaRPr lang="en-US" altLang="zh-CN" dirty="0" smtClean="0"/>
          </a:p>
          <a:p>
            <a:endParaRPr lang="en-US" altLang="zh-CN" dirty="0"/>
          </a:p>
          <a:p>
            <a:r>
              <a:rPr lang="zh-CN" altLang="en-US" dirty="0" smtClean="0"/>
              <a:t>解</a:t>
            </a:r>
            <a:r>
              <a:rPr lang="en-US" altLang="zh-CN" dirty="0" smtClean="0"/>
              <a:t>: </a:t>
            </a:r>
            <a:r>
              <a:rPr lang="zh-CN" altLang="en-US" dirty="0" smtClean="0"/>
              <a:t>通过观察图可以容易求出为</a:t>
            </a:r>
            <a:r>
              <a:rPr lang="en-US" altLang="zh-CN" dirty="0" smtClean="0"/>
              <a:t>a, d, e, z</a:t>
            </a:r>
            <a:r>
              <a:rPr lang="zh-CN" altLang="en-US" dirty="0" smtClean="0"/>
              <a:t>这条通路</a:t>
            </a:r>
            <a:r>
              <a:rPr lang="en-US" altLang="zh-CN" dirty="0" smtClean="0"/>
              <a:t>, </a:t>
            </a:r>
            <a:r>
              <a:rPr lang="zh-CN" altLang="en-US" dirty="0" smtClean="0"/>
              <a:t>长度为</a:t>
            </a:r>
            <a:r>
              <a:rPr lang="en-US" altLang="zh-CN" dirty="0" smtClean="0"/>
              <a:t>6. </a:t>
            </a:r>
            <a:r>
              <a:rPr lang="zh-CN" altLang="en-US" dirty="0" smtClean="0"/>
              <a:t>这儿侧重讲有助于理解</a:t>
            </a:r>
            <a:r>
              <a:rPr lang="zh-CN" altLang="en-US" b="1" dirty="0" smtClean="0">
                <a:solidFill>
                  <a:srgbClr val="C00000"/>
                </a:solidFill>
              </a:rPr>
              <a:t>迪克斯特拉算法</a:t>
            </a:r>
            <a:r>
              <a:rPr lang="zh-CN" altLang="en-US" b="1" dirty="0">
                <a:solidFill>
                  <a:srgbClr val="C00000"/>
                </a:solidFill>
              </a:rPr>
              <a:t>（</a:t>
            </a:r>
            <a:r>
              <a:rPr lang="en-US" altLang="zh-CN" b="1" dirty="0" err="1">
                <a:solidFill>
                  <a:srgbClr val="C00000"/>
                </a:solidFill>
              </a:rPr>
              <a:t>Dijkstra</a:t>
            </a:r>
            <a:r>
              <a:rPr lang="zh-CN" altLang="en-US" b="1" dirty="0">
                <a:solidFill>
                  <a:srgbClr val="C00000"/>
                </a:solidFill>
              </a:rPr>
              <a:t>）</a:t>
            </a:r>
            <a:r>
              <a:rPr lang="zh-CN" altLang="en-US" dirty="0" smtClean="0"/>
              <a:t>的办法</a:t>
            </a:r>
            <a:r>
              <a:rPr lang="en-US" altLang="zh-CN" dirty="0" smtClean="0"/>
              <a:t>. </a:t>
            </a:r>
            <a:r>
              <a:rPr lang="zh-CN" altLang="en-US" dirty="0" smtClean="0"/>
              <a:t>该问题是求出从</a:t>
            </a:r>
            <a:r>
              <a:rPr lang="en-US" altLang="zh-CN" dirty="0" smtClean="0"/>
              <a:t>a</a:t>
            </a:r>
            <a:r>
              <a:rPr lang="zh-CN" altLang="en-US" dirty="0" smtClean="0"/>
              <a:t>到各个后继顶点的最短通路</a:t>
            </a:r>
            <a:r>
              <a:rPr lang="en-US" altLang="zh-CN" dirty="0" smtClean="0"/>
              <a:t>, </a:t>
            </a:r>
            <a:r>
              <a:rPr lang="zh-CN" altLang="en-US" dirty="0" smtClean="0"/>
              <a:t>直到到达</a:t>
            </a:r>
            <a:r>
              <a:rPr lang="en-US" altLang="zh-CN" dirty="0" smtClean="0"/>
              <a:t>z</a:t>
            </a:r>
            <a:r>
              <a:rPr lang="zh-CN" altLang="en-US" dirty="0" smtClean="0"/>
              <a:t>为止</a:t>
            </a:r>
            <a:r>
              <a:rPr lang="en-US" altLang="zh-CN" dirty="0" smtClean="0"/>
              <a:t>.</a:t>
            </a:r>
          </a:p>
          <a:p>
            <a:pPr lvl="1">
              <a:lnSpc>
                <a:spcPct val="100000"/>
              </a:lnSpc>
            </a:pPr>
            <a:r>
              <a:rPr lang="zh-CN" altLang="en-US" dirty="0" smtClean="0"/>
              <a:t>从</a:t>
            </a:r>
            <a:r>
              <a:rPr lang="en-US" altLang="zh-CN" dirty="0" smtClean="0"/>
              <a:t>a</a:t>
            </a:r>
            <a:r>
              <a:rPr lang="zh-CN" altLang="en-US" dirty="0" smtClean="0"/>
              <a:t>开始</a:t>
            </a:r>
            <a:r>
              <a:rPr lang="en-US" altLang="zh-CN" dirty="0" smtClean="0"/>
              <a:t>, </a:t>
            </a:r>
            <a:r>
              <a:rPr lang="zh-CN" altLang="en-US" dirty="0" smtClean="0"/>
              <a:t>不包含除</a:t>
            </a:r>
            <a:r>
              <a:rPr lang="en-US" altLang="zh-CN" dirty="0" smtClean="0"/>
              <a:t>a</a:t>
            </a:r>
            <a:r>
              <a:rPr lang="zh-CN" altLang="en-US" dirty="0" smtClean="0"/>
              <a:t>以外的</a:t>
            </a:r>
            <a:r>
              <a:rPr lang="zh-CN" altLang="en-US" dirty="0"/>
              <a:t>内部</a:t>
            </a:r>
            <a:r>
              <a:rPr lang="zh-CN" altLang="en-US" dirty="0" smtClean="0"/>
              <a:t>顶点的唯一通路是增加一条以</a:t>
            </a:r>
            <a:r>
              <a:rPr lang="en-US" altLang="zh-CN" dirty="0" smtClean="0"/>
              <a:t>a</a:t>
            </a:r>
            <a:r>
              <a:rPr lang="zh-CN" altLang="en-US" dirty="0" smtClean="0"/>
              <a:t>为端点的边</a:t>
            </a:r>
            <a:r>
              <a:rPr lang="en-US" altLang="zh-CN" dirty="0" smtClean="0"/>
              <a:t>. </a:t>
            </a:r>
            <a:r>
              <a:rPr lang="zh-CN" altLang="en-US" dirty="0" smtClean="0"/>
              <a:t>长度为</a:t>
            </a:r>
            <a:r>
              <a:rPr lang="en-US" altLang="zh-CN" dirty="0" smtClean="0"/>
              <a:t>4</a:t>
            </a:r>
            <a:r>
              <a:rPr lang="zh-CN" altLang="en-US" dirty="0" smtClean="0"/>
              <a:t>的通路</a:t>
            </a:r>
            <a:r>
              <a:rPr lang="en-US" altLang="zh-CN" dirty="0" smtClean="0"/>
              <a:t>a, b; </a:t>
            </a:r>
            <a:r>
              <a:rPr lang="zh-CN" altLang="en-US" dirty="0" smtClean="0"/>
              <a:t>长度为</a:t>
            </a:r>
            <a:r>
              <a:rPr lang="en-US" altLang="zh-CN" dirty="0" smtClean="0"/>
              <a:t>2</a:t>
            </a:r>
            <a:r>
              <a:rPr lang="zh-CN" altLang="en-US" dirty="0" smtClean="0"/>
              <a:t>的通路</a:t>
            </a:r>
            <a:r>
              <a:rPr lang="en-US" altLang="zh-CN" dirty="0" smtClean="0"/>
              <a:t>a, d. </a:t>
            </a:r>
            <a:r>
              <a:rPr lang="zh-CN" altLang="en-US" dirty="0" smtClean="0"/>
              <a:t>所以选择与</a:t>
            </a:r>
            <a:r>
              <a:rPr lang="en-US" altLang="zh-CN" dirty="0" smtClean="0"/>
              <a:t>a</a:t>
            </a:r>
            <a:r>
              <a:rPr lang="zh-CN" altLang="en-US" dirty="0" smtClean="0"/>
              <a:t>最靠近的</a:t>
            </a:r>
            <a:r>
              <a:rPr lang="en-US" altLang="zh-CN" dirty="0" smtClean="0"/>
              <a:t>d</a:t>
            </a:r>
            <a:r>
              <a:rPr lang="zh-CN" altLang="en-US" dirty="0" smtClean="0"/>
              <a:t>顶点</a:t>
            </a:r>
            <a:r>
              <a:rPr lang="en-US" altLang="zh-CN" dirty="0" smtClean="0"/>
              <a:t>. {a, d}</a:t>
            </a:r>
          </a:p>
          <a:p>
            <a:pPr lvl="1">
              <a:lnSpc>
                <a:spcPct val="100000"/>
              </a:lnSpc>
            </a:pPr>
            <a:r>
              <a:rPr lang="zh-CN" altLang="en-US" dirty="0" smtClean="0"/>
              <a:t>接着找到</a:t>
            </a:r>
            <a:r>
              <a:rPr lang="zh-CN" altLang="en-US" dirty="0"/>
              <a:t>第二个最近的</a:t>
            </a:r>
            <a:r>
              <a:rPr lang="zh-CN" altLang="en-US" dirty="0" smtClean="0"/>
              <a:t>顶点</a:t>
            </a:r>
            <a:r>
              <a:rPr lang="en-US" altLang="zh-CN" dirty="0" smtClean="0"/>
              <a:t>. </a:t>
            </a:r>
            <a:r>
              <a:rPr lang="zh-CN" altLang="en-US" dirty="0" smtClean="0"/>
              <a:t>从</a:t>
            </a:r>
            <a:r>
              <a:rPr lang="en-US" altLang="zh-CN" dirty="0" smtClean="0"/>
              <a:t>a</a:t>
            </a:r>
            <a:r>
              <a:rPr lang="zh-CN" altLang="en-US" dirty="0" smtClean="0"/>
              <a:t>到该点的最短通路是以</a:t>
            </a:r>
            <a:r>
              <a:rPr lang="en-US" altLang="zh-CN" dirty="0" smtClean="0"/>
              <a:t>a</a:t>
            </a:r>
            <a:r>
              <a:rPr lang="zh-CN" altLang="en-US" dirty="0" smtClean="0"/>
              <a:t>为起点到集合</a:t>
            </a:r>
            <a:r>
              <a:rPr lang="en-US" altLang="zh-CN" dirty="0" smtClean="0"/>
              <a:t>{a, d}</a:t>
            </a:r>
            <a:endParaRPr lang="zh-CN" altLang="en-US" dirty="0"/>
          </a:p>
        </p:txBody>
      </p:sp>
      <p:sp>
        <p:nvSpPr>
          <p:cNvPr id="4" name="日期占位符 3"/>
          <p:cNvSpPr>
            <a:spLocks noGrp="1"/>
          </p:cNvSpPr>
          <p:nvPr>
            <p:ph type="dt" sz="half" idx="10"/>
          </p:nvPr>
        </p:nvSpPr>
        <p:spPr/>
        <p:txBody>
          <a:bodyPr/>
          <a:lstStyle/>
          <a:p>
            <a:fld id="{CFB9134C-C2A6-4B9E-BC5A-8A4119C7CE7D}"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176</a:t>
            </a:fld>
            <a:endParaRPr lang="zh-CN" altLang="en-US" dirty="0"/>
          </a:p>
        </p:txBody>
      </p:sp>
      <p:pic>
        <p:nvPicPr>
          <p:cNvPr id="7" name="图片 6"/>
          <p:cNvPicPr>
            <a:picLocks noChangeAspect="1"/>
          </p:cNvPicPr>
          <p:nvPr/>
        </p:nvPicPr>
        <p:blipFill>
          <a:blip r:embed="rId2"/>
          <a:stretch>
            <a:fillRect/>
          </a:stretch>
        </p:blipFill>
        <p:spPr>
          <a:xfrm>
            <a:off x="3810000" y="1524000"/>
            <a:ext cx="3200400" cy="2021913"/>
          </a:xfrm>
          <a:prstGeom prst="rect">
            <a:avLst/>
          </a:prstGeom>
        </p:spPr>
      </p:pic>
    </p:spTree>
    <p:extLst>
      <p:ext uri="{BB962C8B-B14F-4D97-AF65-F5344CB8AC3E}">
        <p14:creationId xmlns:p14="http://schemas.microsoft.com/office/powerpoint/2010/main" val="54084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wipe(down)">
                                      <p:cBhvr>
                                        <p:cTn id="7" dur="500"/>
                                        <p:tgtEl>
                                          <p:spTgt spid="3">
                                            <p:txEl>
                                              <p:pRg st="4" end="4"/>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wipe(down)">
                                      <p:cBhvr>
                                        <p:cTn id="10" dur="500"/>
                                        <p:tgtEl>
                                          <p:spTgt spid="3">
                                            <p:txEl>
                                              <p:pRg st="5" end="5"/>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wipe(down)">
                                      <p:cBhvr>
                                        <p:cTn id="13"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a:t>
            </a:r>
            <a:r>
              <a:rPr lang="zh-CN" altLang="en-US" dirty="0" smtClean="0"/>
              <a:t>短通路算法</a:t>
            </a:r>
            <a:endParaRPr lang="zh-CN" altLang="en-US" dirty="0"/>
          </a:p>
        </p:txBody>
      </p:sp>
      <p:sp>
        <p:nvSpPr>
          <p:cNvPr id="3" name="内容占位符 2"/>
          <p:cNvSpPr>
            <a:spLocks noGrp="1"/>
          </p:cNvSpPr>
          <p:nvPr>
            <p:ph idx="1"/>
          </p:nvPr>
        </p:nvSpPr>
        <p:spPr/>
        <p:txBody>
          <a:bodyPr>
            <a:normAutofit/>
          </a:bodyPr>
          <a:lstStyle/>
          <a:p>
            <a:pPr lvl="1">
              <a:lnSpc>
                <a:spcPct val="100000"/>
              </a:lnSpc>
            </a:pPr>
            <a:endParaRPr lang="en-US" altLang="zh-CN" dirty="0" smtClean="0"/>
          </a:p>
          <a:p>
            <a:pPr lvl="1">
              <a:lnSpc>
                <a:spcPct val="100000"/>
              </a:lnSpc>
            </a:pPr>
            <a:r>
              <a:rPr lang="en-US" altLang="zh-CN" dirty="0" smtClean="0"/>
              <a:t>(</a:t>
            </a:r>
            <a:r>
              <a:rPr lang="zh-CN" altLang="en-US" dirty="0" smtClean="0"/>
              <a:t>续</a:t>
            </a:r>
            <a:r>
              <a:rPr lang="en-US" altLang="zh-CN" dirty="0" smtClean="0"/>
              <a:t>)</a:t>
            </a:r>
            <a:r>
              <a:rPr lang="zh-CN" altLang="en-US" dirty="0"/>
              <a:t>中顶点</a:t>
            </a:r>
            <a:r>
              <a:rPr lang="zh-CN" altLang="en-US" dirty="0" smtClean="0"/>
              <a:t>的边</a:t>
            </a:r>
            <a:r>
              <a:rPr lang="en-US" altLang="zh-CN" dirty="0" smtClean="0"/>
              <a:t>, </a:t>
            </a:r>
            <a:r>
              <a:rPr lang="zh-CN" altLang="en-US" dirty="0" smtClean="0"/>
              <a:t>接着的边以</a:t>
            </a:r>
            <a:r>
              <a:rPr lang="en-US" altLang="zh-CN" dirty="0" smtClean="0"/>
              <a:t>{a, d}</a:t>
            </a:r>
            <a:r>
              <a:rPr lang="zh-CN" altLang="en-US" dirty="0" smtClean="0"/>
              <a:t>中的一个顶点为端点</a:t>
            </a:r>
            <a:r>
              <a:rPr lang="en-US" altLang="zh-CN" dirty="0" smtClean="0"/>
              <a:t>, </a:t>
            </a:r>
            <a:r>
              <a:rPr lang="zh-CN" altLang="en-US" dirty="0" smtClean="0"/>
              <a:t>另一个顶点不在集合中</a:t>
            </a:r>
            <a:r>
              <a:rPr lang="en-US" altLang="zh-CN" dirty="0" smtClean="0"/>
              <a:t>. </a:t>
            </a:r>
            <a:r>
              <a:rPr lang="zh-CN" altLang="en-US" dirty="0" smtClean="0"/>
              <a:t>长度为</a:t>
            </a:r>
            <a:r>
              <a:rPr lang="en-US" altLang="zh-CN" dirty="0"/>
              <a:t>5</a:t>
            </a:r>
            <a:r>
              <a:rPr lang="zh-CN" altLang="en-US" dirty="0" smtClean="0"/>
              <a:t>的</a:t>
            </a:r>
            <a:r>
              <a:rPr lang="en-US" altLang="zh-CN" dirty="0" smtClean="0"/>
              <a:t>a, d, e</a:t>
            </a:r>
            <a:r>
              <a:rPr lang="zh-CN" altLang="en-US" dirty="0" smtClean="0"/>
              <a:t>通路</a:t>
            </a:r>
            <a:r>
              <a:rPr lang="en-US" altLang="zh-CN" dirty="0" smtClean="0"/>
              <a:t>; </a:t>
            </a:r>
            <a:r>
              <a:rPr lang="zh-CN" altLang="en-US" dirty="0" smtClean="0"/>
              <a:t>长度为</a:t>
            </a:r>
            <a:r>
              <a:rPr lang="en-US" altLang="zh-CN" dirty="0" smtClean="0"/>
              <a:t>4</a:t>
            </a:r>
            <a:r>
              <a:rPr lang="zh-CN" altLang="en-US" dirty="0" smtClean="0"/>
              <a:t>的</a:t>
            </a:r>
            <a:r>
              <a:rPr lang="en-US" altLang="zh-CN" dirty="0" smtClean="0"/>
              <a:t>a, </a:t>
            </a:r>
            <a:r>
              <a:rPr lang="en-US" altLang="zh-CN" dirty="0"/>
              <a:t>b</a:t>
            </a:r>
            <a:r>
              <a:rPr lang="zh-CN" altLang="en-US" dirty="0" smtClean="0"/>
              <a:t>通路</a:t>
            </a:r>
            <a:r>
              <a:rPr lang="en-US" altLang="zh-CN" dirty="0" smtClean="0"/>
              <a:t>. </a:t>
            </a:r>
            <a:r>
              <a:rPr lang="zh-CN" altLang="en-US" dirty="0" smtClean="0"/>
              <a:t>所以选择与</a:t>
            </a:r>
            <a:r>
              <a:rPr lang="en-US" altLang="zh-CN" dirty="0" smtClean="0"/>
              <a:t>a</a:t>
            </a:r>
            <a:r>
              <a:rPr lang="zh-CN" altLang="en-US" dirty="0" smtClean="0"/>
              <a:t>最靠近的顶点</a:t>
            </a:r>
            <a:r>
              <a:rPr lang="en-US" altLang="zh-CN" dirty="0" smtClean="0"/>
              <a:t>b. {a, d, b}</a:t>
            </a:r>
          </a:p>
          <a:p>
            <a:pPr lvl="1">
              <a:lnSpc>
                <a:spcPct val="100000"/>
              </a:lnSpc>
            </a:pPr>
            <a:r>
              <a:rPr lang="zh-CN" altLang="en-US" dirty="0" smtClean="0"/>
              <a:t>接着再找出第三个与</a:t>
            </a:r>
            <a:r>
              <a:rPr lang="en-US" altLang="zh-CN" dirty="0" smtClean="0"/>
              <a:t>a</a:t>
            </a:r>
            <a:r>
              <a:rPr lang="zh-CN" altLang="en-US" dirty="0" smtClean="0"/>
              <a:t>最靠近的顶点</a:t>
            </a:r>
            <a:r>
              <a:rPr lang="en-US" altLang="zh-CN" dirty="0" smtClean="0"/>
              <a:t>, </a:t>
            </a:r>
            <a:r>
              <a:rPr lang="zh-CN" altLang="en-US" dirty="0" smtClean="0"/>
              <a:t>只需要检查那些以</a:t>
            </a:r>
            <a:r>
              <a:rPr lang="en-US" altLang="zh-CN" dirty="0" smtClean="0"/>
              <a:t>a</a:t>
            </a:r>
            <a:r>
              <a:rPr lang="zh-CN" altLang="en-US" dirty="0" smtClean="0"/>
              <a:t>为起点到集合</a:t>
            </a:r>
            <a:r>
              <a:rPr lang="en-US" altLang="zh-CN" dirty="0" smtClean="0"/>
              <a:t>{a, d, b}</a:t>
            </a:r>
            <a:r>
              <a:rPr lang="zh-CN" altLang="en-US" dirty="0" smtClean="0"/>
              <a:t>中顶点的边</a:t>
            </a:r>
            <a:r>
              <a:rPr lang="en-US" altLang="zh-CN" dirty="0" smtClean="0"/>
              <a:t>, </a:t>
            </a:r>
            <a:r>
              <a:rPr lang="zh-CN" altLang="en-US" dirty="0" smtClean="0"/>
              <a:t>接着</a:t>
            </a:r>
            <a:r>
              <a:rPr lang="zh-CN" altLang="en-US" dirty="0"/>
              <a:t>的边以</a:t>
            </a:r>
            <a:r>
              <a:rPr lang="en-US" altLang="zh-CN" dirty="0" smtClean="0"/>
              <a:t>{a, d, b}</a:t>
            </a:r>
            <a:r>
              <a:rPr lang="zh-CN" altLang="en-US" dirty="0"/>
              <a:t>中的一个顶点为</a:t>
            </a:r>
            <a:r>
              <a:rPr lang="zh-CN" altLang="en-US" dirty="0" smtClean="0"/>
              <a:t>端点</a:t>
            </a:r>
            <a:r>
              <a:rPr lang="en-US" altLang="zh-CN" dirty="0" smtClean="0"/>
              <a:t>, </a:t>
            </a:r>
            <a:r>
              <a:rPr lang="zh-CN" altLang="en-US" dirty="0" smtClean="0"/>
              <a:t>另</a:t>
            </a:r>
            <a:r>
              <a:rPr lang="zh-CN" altLang="en-US" dirty="0"/>
              <a:t>一个顶点不在集合中</a:t>
            </a:r>
            <a:r>
              <a:rPr lang="en-US" altLang="zh-CN" dirty="0"/>
              <a:t>. </a:t>
            </a:r>
            <a:r>
              <a:rPr lang="zh-CN" altLang="en-US" dirty="0"/>
              <a:t>长度为</a:t>
            </a:r>
            <a:r>
              <a:rPr lang="en-US" altLang="zh-CN" dirty="0"/>
              <a:t>7</a:t>
            </a:r>
            <a:r>
              <a:rPr lang="zh-CN" altLang="en-US" dirty="0"/>
              <a:t>的</a:t>
            </a:r>
            <a:r>
              <a:rPr lang="en-US" altLang="zh-CN" dirty="0" smtClean="0"/>
              <a:t>a, b, c</a:t>
            </a:r>
            <a:r>
              <a:rPr lang="zh-CN" altLang="en-US" dirty="0" smtClean="0"/>
              <a:t>通路</a:t>
            </a:r>
            <a:r>
              <a:rPr lang="en-US" altLang="zh-CN" dirty="0"/>
              <a:t>; </a:t>
            </a:r>
            <a:r>
              <a:rPr lang="zh-CN" altLang="en-US" dirty="0"/>
              <a:t>长度</a:t>
            </a:r>
            <a:r>
              <a:rPr lang="zh-CN" altLang="en-US" dirty="0" smtClean="0"/>
              <a:t>为</a:t>
            </a:r>
            <a:r>
              <a:rPr lang="en-US" altLang="zh-CN" dirty="0" smtClean="0"/>
              <a:t>7</a:t>
            </a:r>
            <a:r>
              <a:rPr lang="zh-CN" altLang="en-US" dirty="0" smtClean="0"/>
              <a:t>的</a:t>
            </a:r>
            <a:r>
              <a:rPr lang="en-US" altLang="zh-CN" dirty="0" smtClean="0"/>
              <a:t>a, b, e</a:t>
            </a:r>
            <a:r>
              <a:rPr lang="zh-CN" altLang="en-US" dirty="0" smtClean="0"/>
              <a:t>通路</a:t>
            </a:r>
            <a:r>
              <a:rPr lang="en-US" altLang="zh-CN" dirty="0" smtClean="0"/>
              <a:t>; </a:t>
            </a:r>
            <a:r>
              <a:rPr lang="zh-CN" altLang="en-US" dirty="0" smtClean="0"/>
              <a:t>长度为</a:t>
            </a:r>
            <a:r>
              <a:rPr lang="en-US" altLang="zh-CN" dirty="0" smtClean="0"/>
              <a:t>5</a:t>
            </a:r>
            <a:r>
              <a:rPr lang="zh-CN" altLang="en-US" dirty="0" smtClean="0"/>
              <a:t>的</a:t>
            </a:r>
            <a:r>
              <a:rPr lang="en-US" altLang="zh-CN" dirty="0" smtClean="0"/>
              <a:t>a, d, e</a:t>
            </a:r>
            <a:r>
              <a:rPr lang="zh-CN" altLang="en-US" dirty="0"/>
              <a:t>通路</a:t>
            </a:r>
            <a:r>
              <a:rPr lang="en-US" altLang="zh-CN" dirty="0" smtClean="0"/>
              <a:t>. </a:t>
            </a:r>
            <a:r>
              <a:rPr lang="zh-CN" altLang="en-US" dirty="0" smtClean="0"/>
              <a:t>所以</a:t>
            </a:r>
            <a:r>
              <a:rPr lang="zh-CN" altLang="en-US" dirty="0"/>
              <a:t>选择与</a:t>
            </a:r>
            <a:r>
              <a:rPr lang="en-US" altLang="zh-CN" dirty="0"/>
              <a:t>a</a:t>
            </a:r>
            <a:r>
              <a:rPr lang="zh-CN" altLang="en-US" dirty="0"/>
              <a:t>最靠近的</a:t>
            </a:r>
            <a:r>
              <a:rPr lang="zh-CN" altLang="en-US" dirty="0" smtClean="0"/>
              <a:t>顶点</a:t>
            </a:r>
            <a:r>
              <a:rPr lang="en-US" altLang="zh-CN" dirty="0" smtClean="0"/>
              <a:t>e. {a, d, b, e}</a:t>
            </a:r>
          </a:p>
          <a:p>
            <a:pPr lvl="1">
              <a:lnSpc>
                <a:spcPct val="100000"/>
              </a:lnSpc>
            </a:pPr>
            <a:r>
              <a:rPr lang="zh-CN" altLang="en-US" dirty="0"/>
              <a:t>接着再找出</a:t>
            </a:r>
            <a:r>
              <a:rPr lang="zh-CN" altLang="en-US" dirty="0" smtClean="0"/>
              <a:t>第</a:t>
            </a:r>
            <a:r>
              <a:rPr lang="zh-CN" altLang="en-US" dirty="0"/>
              <a:t>四</a:t>
            </a:r>
            <a:r>
              <a:rPr lang="zh-CN" altLang="en-US" dirty="0" smtClean="0"/>
              <a:t>个</a:t>
            </a:r>
            <a:r>
              <a:rPr lang="zh-CN" altLang="en-US" dirty="0"/>
              <a:t>与</a:t>
            </a:r>
            <a:r>
              <a:rPr lang="en-US" altLang="zh-CN" dirty="0"/>
              <a:t>a</a:t>
            </a:r>
            <a:r>
              <a:rPr lang="zh-CN" altLang="en-US" dirty="0"/>
              <a:t>最靠近的</a:t>
            </a:r>
            <a:r>
              <a:rPr lang="zh-CN" altLang="en-US" dirty="0" smtClean="0"/>
              <a:t>顶点</a:t>
            </a:r>
            <a:r>
              <a:rPr lang="en-US" altLang="zh-CN" dirty="0" smtClean="0"/>
              <a:t>, </a:t>
            </a:r>
            <a:r>
              <a:rPr lang="zh-CN" altLang="en-US" dirty="0" smtClean="0"/>
              <a:t>只需</a:t>
            </a:r>
            <a:r>
              <a:rPr lang="zh-CN" altLang="en-US" dirty="0"/>
              <a:t>要检查那些以</a:t>
            </a:r>
            <a:r>
              <a:rPr lang="en-US" altLang="zh-CN" dirty="0"/>
              <a:t>a</a:t>
            </a:r>
            <a:r>
              <a:rPr lang="zh-CN" altLang="en-US" dirty="0"/>
              <a:t>为起点到集合</a:t>
            </a:r>
            <a:r>
              <a:rPr lang="en-US" altLang="zh-CN" dirty="0" smtClean="0"/>
              <a:t>{a, d, b, e}</a:t>
            </a:r>
            <a:r>
              <a:rPr lang="zh-CN" altLang="en-US" dirty="0"/>
              <a:t>中顶点</a:t>
            </a:r>
            <a:r>
              <a:rPr lang="zh-CN" altLang="en-US" dirty="0" smtClean="0"/>
              <a:t>的边</a:t>
            </a:r>
            <a:r>
              <a:rPr lang="en-US" altLang="zh-CN" dirty="0" smtClean="0"/>
              <a:t>, </a:t>
            </a:r>
            <a:r>
              <a:rPr lang="zh-CN" altLang="en-US" dirty="0" smtClean="0"/>
              <a:t>接着</a:t>
            </a:r>
            <a:r>
              <a:rPr lang="zh-CN" altLang="en-US" dirty="0"/>
              <a:t>的边以</a:t>
            </a:r>
            <a:r>
              <a:rPr lang="en-US" altLang="zh-CN" dirty="0" smtClean="0"/>
              <a:t>{a, d, b, e}</a:t>
            </a:r>
            <a:r>
              <a:rPr lang="zh-CN" altLang="en-US" dirty="0"/>
              <a:t>中的一个顶点为</a:t>
            </a:r>
            <a:r>
              <a:rPr lang="zh-CN" altLang="en-US" dirty="0" smtClean="0"/>
              <a:t>端点</a:t>
            </a:r>
            <a:r>
              <a:rPr lang="en-US" altLang="zh-CN" dirty="0" smtClean="0"/>
              <a:t>, </a:t>
            </a:r>
            <a:r>
              <a:rPr lang="zh-CN" altLang="en-US" dirty="0" smtClean="0"/>
              <a:t>另</a:t>
            </a:r>
            <a:r>
              <a:rPr lang="zh-CN" altLang="en-US" dirty="0"/>
              <a:t>一个顶点不在集合中</a:t>
            </a:r>
            <a:r>
              <a:rPr lang="en-US" altLang="zh-CN" dirty="0"/>
              <a:t>. </a:t>
            </a:r>
            <a:r>
              <a:rPr lang="zh-CN" altLang="en-US" dirty="0"/>
              <a:t>长度为</a:t>
            </a:r>
            <a:r>
              <a:rPr lang="en-US" altLang="zh-CN" dirty="0"/>
              <a:t>7</a:t>
            </a:r>
            <a:r>
              <a:rPr lang="zh-CN" altLang="en-US" dirty="0"/>
              <a:t>的</a:t>
            </a:r>
            <a:r>
              <a:rPr lang="en-US" altLang="zh-CN" dirty="0" smtClean="0"/>
              <a:t>a, b, c</a:t>
            </a:r>
            <a:r>
              <a:rPr lang="zh-CN" altLang="en-US" dirty="0"/>
              <a:t>通路</a:t>
            </a:r>
            <a:r>
              <a:rPr lang="en-US" altLang="zh-CN" dirty="0"/>
              <a:t>; </a:t>
            </a:r>
            <a:r>
              <a:rPr lang="zh-CN" altLang="en-US" dirty="0"/>
              <a:t>长度</a:t>
            </a:r>
            <a:r>
              <a:rPr lang="zh-CN" altLang="en-US" dirty="0" smtClean="0"/>
              <a:t>为</a:t>
            </a:r>
            <a:r>
              <a:rPr lang="en-US" altLang="zh-CN" dirty="0" smtClean="0"/>
              <a:t>6</a:t>
            </a:r>
            <a:r>
              <a:rPr lang="zh-CN" altLang="en-US" dirty="0" smtClean="0"/>
              <a:t>的</a:t>
            </a:r>
            <a:r>
              <a:rPr lang="en-US" altLang="zh-CN" dirty="0" smtClean="0"/>
              <a:t>a, d, e, z</a:t>
            </a:r>
            <a:r>
              <a:rPr lang="zh-CN" altLang="en-US" dirty="0" smtClean="0"/>
              <a:t>通路</a:t>
            </a:r>
            <a:r>
              <a:rPr lang="en-US" altLang="zh-CN" dirty="0" smtClean="0"/>
              <a:t>. </a:t>
            </a:r>
            <a:r>
              <a:rPr lang="zh-CN" altLang="en-US" dirty="0" smtClean="0"/>
              <a:t>所以</a:t>
            </a:r>
            <a:r>
              <a:rPr lang="en-US" altLang="zh-CN" dirty="0" smtClean="0"/>
              <a:t>z</a:t>
            </a:r>
            <a:r>
              <a:rPr lang="zh-CN" altLang="en-US" dirty="0" smtClean="0"/>
              <a:t>是第四个最靠近</a:t>
            </a:r>
            <a:r>
              <a:rPr lang="en-US" altLang="zh-CN" dirty="0" smtClean="0"/>
              <a:t>a</a:t>
            </a:r>
            <a:r>
              <a:rPr lang="zh-CN" altLang="en-US" dirty="0" smtClean="0"/>
              <a:t>的顶点，最短的通路是</a:t>
            </a:r>
            <a:r>
              <a:rPr lang="en-US" altLang="zh-CN" dirty="0"/>
              <a:t>a, d, e, </a:t>
            </a:r>
            <a:r>
              <a:rPr lang="en-US" altLang="zh-CN" dirty="0" smtClean="0"/>
              <a:t>z</a:t>
            </a:r>
            <a:r>
              <a:rPr lang="zh-CN" altLang="en-US" dirty="0" smtClean="0"/>
              <a:t>，长度为</a:t>
            </a:r>
            <a:r>
              <a:rPr lang="en-US" altLang="zh-CN" dirty="0" smtClean="0"/>
              <a:t>6</a:t>
            </a:r>
            <a:r>
              <a:rPr lang="zh-CN" altLang="en-US" dirty="0" smtClean="0"/>
              <a:t>。</a:t>
            </a:r>
          </a:p>
        </p:txBody>
      </p:sp>
      <p:sp>
        <p:nvSpPr>
          <p:cNvPr id="4" name="日期占位符 3"/>
          <p:cNvSpPr>
            <a:spLocks noGrp="1"/>
          </p:cNvSpPr>
          <p:nvPr>
            <p:ph type="dt" sz="half" idx="10"/>
          </p:nvPr>
        </p:nvSpPr>
        <p:spPr/>
        <p:txBody>
          <a:bodyPr/>
          <a:lstStyle/>
          <a:p>
            <a:fld id="{B4568B84-31F7-4B8B-AED5-92F394E66DD7}"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177</a:t>
            </a:fld>
            <a:endParaRPr lang="zh-CN" altLang="en-US" dirty="0"/>
          </a:p>
        </p:txBody>
      </p:sp>
      <p:pic>
        <p:nvPicPr>
          <p:cNvPr id="9" name="图片 8"/>
          <p:cNvPicPr>
            <a:picLocks noChangeAspect="1"/>
          </p:cNvPicPr>
          <p:nvPr/>
        </p:nvPicPr>
        <p:blipFill>
          <a:blip r:embed="rId2"/>
          <a:stretch>
            <a:fillRect/>
          </a:stretch>
        </p:blipFill>
        <p:spPr>
          <a:xfrm>
            <a:off x="8839200" y="62109"/>
            <a:ext cx="2628900" cy="1660857"/>
          </a:xfrm>
          <a:prstGeom prst="rect">
            <a:avLst/>
          </a:prstGeom>
        </p:spPr>
      </p:pic>
    </p:spTree>
    <p:extLst>
      <p:ext uri="{BB962C8B-B14F-4D97-AF65-F5344CB8AC3E}">
        <p14:creationId xmlns:p14="http://schemas.microsoft.com/office/powerpoint/2010/main" val="2717920227"/>
      </p:ext>
    </p:extLst>
  </p:cSld>
  <p:clrMapOvr>
    <a:masterClrMapping/>
  </p:clrMapOvr>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a:t>
            </a:r>
            <a:r>
              <a:rPr lang="zh-CN" altLang="en-US" dirty="0" smtClean="0"/>
              <a:t>短通路算法</a:t>
            </a:r>
            <a:endParaRPr lang="zh-CN" altLang="en-US" dirty="0"/>
          </a:p>
        </p:txBody>
      </p:sp>
      <p:sp>
        <p:nvSpPr>
          <p:cNvPr id="3" name="内容占位符 2"/>
          <p:cNvSpPr>
            <a:spLocks noGrp="1"/>
          </p:cNvSpPr>
          <p:nvPr>
            <p:ph idx="1"/>
          </p:nvPr>
        </p:nvSpPr>
        <p:spPr/>
        <p:txBody>
          <a:bodyPr>
            <a:normAutofit/>
          </a:bodyPr>
          <a:lstStyle/>
          <a:p>
            <a:r>
              <a:rPr lang="zh-CN" altLang="en-US" dirty="0" smtClean="0"/>
              <a:t>上述例子中</a:t>
            </a:r>
            <a:r>
              <a:rPr lang="zh-CN" altLang="en-US" dirty="0"/>
              <a:t>展示了迪克斯特拉</a:t>
            </a:r>
            <a:r>
              <a:rPr lang="zh-CN" altLang="en-US" dirty="0" smtClean="0"/>
              <a:t>算法的一般原理</a:t>
            </a:r>
            <a:r>
              <a:rPr lang="en-US" altLang="zh-CN" dirty="0" smtClean="0"/>
              <a:t>, </a:t>
            </a:r>
            <a:r>
              <a:rPr lang="zh-CN" altLang="en-US" dirty="0" smtClean="0"/>
              <a:t>但是当图中的边数很多时</a:t>
            </a:r>
            <a:r>
              <a:rPr lang="en-US" altLang="zh-CN" dirty="0" smtClean="0"/>
              <a:t>, </a:t>
            </a:r>
            <a:r>
              <a:rPr lang="zh-CN" altLang="en-US" dirty="0" smtClean="0"/>
              <a:t>这种一一检查的方法就不切实际了</a:t>
            </a:r>
            <a:r>
              <a:rPr lang="en-US" altLang="zh-CN" dirty="0" smtClean="0"/>
              <a:t>.</a:t>
            </a:r>
          </a:p>
          <a:p>
            <a:endParaRPr lang="en-US" altLang="zh-CN" dirty="0" smtClean="0"/>
          </a:p>
          <a:p>
            <a:r>
              <a:rPr lang="zh-CN" altLang="en-US" dirty="0" smtClean="0"/>
              <a:t>一般问题</a:t>
            </a:r>
            <a:r>
              <a:rPr lang="en-US" altLang="zh-CN" dirty="0" smtClean="0"/>
              <a:t>: </a:t>
            </a:r>
            <a:r>
              <a:rPr lang="zh-CN" altLang="en-US" dirty="0" smtClean="0"/>
              <a:t>无向连通简单加权图中</a:t>
            </a:r>
            <a:r>
              <a:rPr lang="en-US" altLang="zh-CN" dirty="0" smtClean="0"/>
              <a:t>, </a:t>
            </a:r>
            <a:r>
              <a:rPr lang="zh-CN" altLang="en-US" dirty="0" smtClean="0"/>
              <a:t>求</a:t>
            </a:r>
            <a:r>
              <a:rPr lang="en-US" altLang="zh-CN" dirty="0" smtClean="0"/>
              <a:t>a</a:t>
            </a:r>
            <a:r>
              <a:rPr lang="zh-CN" altLang="en-US" dirty="0" smtClean="0"/>
              <a:t>与</a:t>
            </a:r>
            <a:r>
              <a:rPr lang="en-US" altLang="zh-CN" dirty="0" smtClean="0"/>
              <a:t>z</a:t>
            </a:r>
            <a:r>
              <a:rPr lang="zh-CN" altLang="en-US" dirty="0" smtClean="0"/>
              <a:t>之间的最短通路的长度</a:t>
            </a:r>
            <a:r>
              <a:rPr lang="en-US" altLang="zh-CN" dirty="0" smtClean="0"/>
              <a:t>.</a:t>
            </a:r>
          </a:p>
          <a:p>
            <a:r>
              <a:rPr lang="zh-CN" altLang="en-US" dirty="0"/>
              <a:t>迪克斯特拉</a:t>
            </a:r>
            <a:r>
              <a:rPr lang="zh-CN" altLang="en-US" dirty="0" smtClean="0"/>
              <a:t>算法</a:t>
            </a:r>
            <a:r>
              <a:rPr lang="en-US" altLang="zh-CN" dirty="0" smtClean="0"/>
              <a:t>: </a:t>
            </a:r>
            <a:r>
              <a:rPr lang="zh-CN" altLang="en-US" dirty="0" smtClean="0"/>
              <a:t>求出从</a:t>
            </a:r>
            <a:r>
              <a:rPr lang="en-US" altLang="zh-CN" dirty="0" smtClean="0"/>
              <a:t>a</a:t>
            </a:r>
            <a:r>
              <a:rPr lang="zh-CN" altLang="en-US" dirty="0" smtClean="0"/>
              <a:t>到第一个顶点的最短通路的长度</a:t>
            </a:r>
            <a:r>
              <a:rPr lang="en-US" altLang="zh-CN" dirty="0" smtClean="0"/>
              <a:t>. </a:t>
            </a:r>
            <a:r>
              <a:rPr lang="zh-CN" altLang="en-US" dirty="0" smtClean="0"/>
              <a:t>从</a:t>
            </a:r>
            <a:r>
              <a:rPr lang="en-US" altLang="zh-CN" dirty="0" smtClean="0"/>
              <a:t>a</a:t>
            </a:r>
            <a:r>
              <a:rPr lang="zh-CN" altLang="en-US" dirty="0" smtClean="0"/>
              <a:t>到第二个顶点的最短</a:t>
            </a:r>
            <a:r>
              <a:rPr lang="zh-CN" altLang="en-US" dirty="0"/>
              <a:t>通路的</a:t>
            </a:r>
            <a:r>
              <a:rPr lang="zh-CN" altLang="en-US" dirty="0" smtClean="0"/>
              <a:t>长度</a:t>
            </a:r>
            <a:r>
              <a:rPr lang="en-US" altLang="zh-CN" dirty="0" smtClean="0"/>
              <a:t>. </a:t>
            </a:r>
            <a:r>
              <a:rPr lang="zh-CN" altLang="en-US" dirty="0" smtClean="0"/>
              <a:t>以此类推</a:t>
            </a:r>
            <a:r>
              <a:rPr lang="en-US" altLang="zh-CN" dirty="0" smtClean="0"/>
              <a:t>, </a:t>
            </a:r>
            <a:r>
              <a:rPr lang="zh-CN" altLang="en-US" dirty="0" smtClean="0"/>
              <a:t>直到求出从</a:t>
            </a:r>
            <a:r>
              <a:rPr lang="en-US" altLang="zh-CN" dirty="0" smtClean="0"/>
              <a:t>a</a:t>
            </a:r>
            <a:r>
              <a:rPr lang="zh-CN" altLang="en-US" dirty="0" smtClean="0"/>
              <a:t>到</a:t>
            </a:r>
            <a:r>
              <a:rPr lang="en-US" altLang="zh-CN" dirty="0" smtClean="0"/>
              <a:t>z</a:t>
            </a:r>
            <a:r>
              <a:rPr lang="zh-CN" altLang="en-US" dirty="0" smtClean="0"/>
              <a:t>的最短通路的长度</a:t>
            </a:r>
            <a:r>
              <a:rPr lang="en-US" altLang="zh-CN" dirty="0" smtClean="0"/>
              <a:t>.</a:t>
            </a:r>
            <a:endParaRPr lang="zh-CN" altLang="en-US" dirty="0"/>
          </a:p>
        </p:txBody>
      </p:sp>
      <p:sp>
        <p:nvSpPr>
          <p:cNvPr id="4" name="日期占位符 3"/>
          <p:cNvSpPr>
            <a:spLocks noGrp="1"/>
          </p:cNvSpPr>
          <p:nvPr>
            <p:ph type="dt" sz="half" idx="10"/>
          </p:nvPr>
        </p:nvSpPr>
        <p:spPr/>
        <p:txBody>
          <a:bodyPr/>
          <a:lstStyle/>
          <a:p>
            <a:fld id="{F82FA6E6-A8DB-4355-B6E8-A9A5AC561251}"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178</a:t>
            </a:fld>
            <a:endParaRPr lang="zh-CN" altLang="en-US" dirty="0"/>
          </a:p>
        </p:txBody>
      </p:sp>
    </p:spTree>
    <p:extLst>
      <p:ext uri="{BB962C8B-B14F-4D97-AF65-F5344CB8AC3E}">
        <p14:creationId xmlns:p14="http://schemas.microsoft.com/office/powerpoint/2010/main" val="1204565846"/>
      </p:ext>
    </p:extLst>
  </p:cSld>
  <p:clrMapOvr>
    <a:masterClrMapping/>
  </p:clrMapOvr>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最短通路算法</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smtClean="0"/>
                  <a:t>迪克斯特拉算法的细节</a:t>
                </a:r>
                <a:r>
                  <a:rPr lang="en-US" altLang="zh-CN" dirty="0" smtClean="0"/>
                  <a:t>, </a:t>
                </a:r>
                <a:r>
                  <a:rPr lang="zh-CN" altLang="en-US" dirty="0" smtClean="0"/>
                  <a:t>我们用以下例子来展示</a:t>
                </a:r>
                <a:r>
                  <a:rPr lang="en-US" altLang="zh-CN" dirty="0" smtClean="0"/>
                  <a:t>.</a:t>
                </a:r>
              </a:p>
              <a:p>
                <a:r>
                  <a:rPr lang="zh-CN" altLang="en-US" dirty="0" smtClean="0"/>
                  <a:t>例</a:t>
                </a:r>
                <a:r>
                  <a:rPr lang="en-US" altLang="zh-CN" dirty="0" smtClean="0"/>
                  <a:t>: </a:t>
                </a:r>
                <a:r>
                  <a:rPr lang="zh-CN" altLang="en-US" dirty="0" smtClean="0"/>
                  <a:t>如</a:t>
                </a:r>
                <a:r>
                  <a:rPr lang="zh-CN" altLang="en-US" dirty="0"/>
                  <a:t>图所示的加权图</a:t>
                </a:r>
                <a:r>
                  <a:rPr lang="zh-CN" altLang="en-US" dirty="0" smtClean="0"/>
                  <a:t>中</a:t>
                </a:r>
                <a:r>
                  <a:rPr lang="en-US" altLang="zh-CN" dirty="0" smtClean="0"/>
                  <a:t>, a</a:t>
                </a:r>
                <a:r>
                  <a:rPr lang="zh-CN" altLang="en-US" dirty="0"/>
                  <a:t>和</a:t>
                </a:r>
                <a:r>
                  <a:rPr lang="en-US" altLang="zh-CN" dirty="0"/>
                  <a:t>z</a:t>
                </a:r>
                <a:r>
                  <a:rPr lang="zh-CN" altLang="en-US" dirty="0"/>
                  <a:t>之间的最短通路的长度是多少？</a:t>
                </a:r>
                <a:endParaRPr lang="en-US" altLang="zh-CN" dirty="0"/>
              </a:p>
              <a:p>
                <a:endParaRPr lang="en-US" altLang="zh-CN" dirty="0" smtClean="0"/>
              </a:p>
              <a:p>
                <a:endParaRPr lang="en-US" altLang="zh-CN" dirty="0"/>
              </a:p>
              <a:p>
                <a:endParaRPr lang="en-US" altLang="zh-CN" dirty="0"/>
              </a:p>
              <a:p>
                <a:r>
                  <a:rPr lang="zh-CN" altLang="en-US" dirty="0" smtClean="0"/>
                  <a:t>解</a:t>
                </a:r>
                <a:r>
                  <a:rPr lang="en-US" altLang="zh-CN" dirty="0" smtClean="0"/>
                  <a:t>: </a:t>
                </a:r>
              </a:p>
              <a:p>
                <a:pPr marL="850392" lvl="1" indent="-457200">
                  <a:lnSpc>
                    <a:spcPct val="100000"/>
                  </a:lnSpc>
                  <a:buClrTx/>
                  <a:buFont typeface="+mj-ea"/>
                  <a:buAutoNum type="circleNumDbPlain"/>
                </a:pPr>
                <a:r>
                  <a:rPr lang="zh-CN" altLang="en-US" dirty="0"/>
                  <a:t>首先用</a:t>
                </a:r>
                <a:r>
                  <a:rPr lang="en-US" altLang="zh-CN" dirty="0"/>
                  <a:t>0</a:t>
                </a:r>
                <a:r>
                  <a:rPr lang="zh-CN" altLang="en-US" dirty="0"/>
                  <a:t>标记</a:t>
                </a:r>
                <a:r>
                  <a:rPr lang="en-US" altLang="zh-CN" dirty="0" smtClean="0"/>
                  <a:t>a, </a:t>
                </a:r>
                <a:r>
                  <a:rPr lang="zh-CN" altLang="en-US" dirty="0" smtClean="0"/>
                  <a:t>其他</a:t>
                </a:r>
                <a:r>
                  <a:rPr lang="zh-CN" altLang="en-US" dirty="0"/>
                  <a:t>都用</a:t>
                </a:r>
                <a14:m>
                  <m:oMath xmlns:m="http://schemas.openxmlformats.org/officeDocument/2006/math">
                    <m:r>
                      <a:rPr lang="zh-CN" altLang="en-US">
                        <a:latin typeface="Cambria Math" panose="02040503050406030204" pitchFamily="18" charset="0"/>
                      </a:rPr>
                      <m:t>∞</m:t>
                    </m:r>
                    <m:r>
                      <a:rPr lang="zh-CN" altLang="en-US">
                        <a:latin typeface="Cambria Math" panose="02040503050406030204" pitchFamily="18" charset="0"/>
                      </a:rPr>
                      <m:t>来</m:t>
                    </m:r>
                  </m:oMath>
                </a14:m>
                <a:r>
                  <a:rPr lang="zh-CN" altLang="en-US" dirty="0"/>
                  <a:t>标记</a:t>
                </a:r>
                <a:r>
                  <a:rPr lang="en-US" altLang="zh-CN" dirty="0" smtClean="0"/>
                  <a:t>. </a:t>
                </a:r>
                <a:r>
                  <a:rPr lang="zh-CN" altLang="en-US" dirty="0" smtClean="0"/>
                  <a:t>设</a:t>
                </a:r>
                <a14:m>
                  <m:oMath xmlns:m="http://schemas.openxmlformats.org/officeDocument/2006/math">
                    <m:sSub>
                      <m:sSubPr>
                        <m:ctrlPr>
                          <a:rPr lang="en-US" altLang="zh-CN" i="1" smtClean="0">
                            <a:latin typeface="Cambria Math" panose="02040503050406030204" pitchFamily="18" charset="0"/>
                          </a:rPr>
                        </m:ctrlPr>
                      </m:sSubPr>
                      <m:e>
                        <m:r>
                          <m:rPr>
                            <m:sty m:val="p"/>
                          </m:rPr>
                          <a:rPr lang="en-US" altLang="zh-CN" i="1">
                            <a:latin typeface="Cambria Math" panose="02040503050406030204" pitchFamily="18" charset="0"/>
                          </a:rPr>
                          <m:t>S</m:t>
                        </m:r>
                      </m:e>
                      <m:sub>
                        <m:r>
                          <a:rPr lang="en-US" altLang="zh-CN" b="0" i="1" smtClean="0">
                            <a:latin typeface="Cambria Math" panose="02040503050406030204" pitchFamily="18" charset="0"/>
                          </a:rPr>
                          <m:t>𝑘</m:t>
                        </m:r>
                      </m:sub>
                    </m:sSub>
                  </m:oMath>
                </a14:m>
                <a:r>
                  <a:rPr lang="zh-CN" altLang="en-US" dirty="0" smtClean="0"/>
                  <a:t>表示在标记过程</a:t>
                </a:r>
                <a14:m>
                  <m:oMath xmlns:m="http://schemas.openxmlformats.org/officeDocument/2006/math">
                    <m:r>
                      <a:rPr lang="en-US" altLang="zh-CN" i="1">
                        <a:latin typeface="Cambria Math" panose="02040503050406030204" pitchFamily="18" charset="0"/>
                      </a:rPr>
                      <m:t>𝑘</m:t>
                    </m:r>
                  </m:oMath>
                </a14:m>
                <a:r>
                  <a:rPr lang="zh-CN" altLang="en-US" dirty="0" smtClean="0"/>
                  <a:t>次迭代之后的特殊顶点的集合</a:t>
                </a:r>
                <a:r>
                  <a:rPr lang="en-US" altLang="zh-CN" dirty="0" smtClean="0"/>
                  <a:t>. </a:t>
                </a:r>
                <a:r>
                  <a:rPr lang="zh-CN" altLang="en-US" dirty="0" smtClean="0"/>
                  <a:t>令</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S</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rPr>
                      <m:t>=</m:t>
                    </m:r>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m:t>
                    </m:r>
                  </m:oMath>
                </a14:m>
                <a:r>
                  <a:rPr lang="en-US" altLang="zh-CN" dirty="0" smtClean="0"/>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S</m:t>
                        </m:r>
                      </m:e>
                      <m:sub>
                        <m:r>
                          <a:rPr lang="en-US" altLang="zh-CN" i="1">
                            <a:latin typeface="Cambria Math" panose="02040503050406030204" pitchFamily="18" charset="0"/>
                          </a:rPr>
                          <m:t>𝑘</m:t>
                        </m:r>
                      </m:sub>
                    </m:sSub>
                    <m:r>
                      <a:rPr lang="zh-CN" altLang="en-US" i="1" smtClean="0">
                        <a:latin typeface="Cambria Math" panose="02040503050406030204" pitchFamily="18" charset="0"/>
                      </a:rPr>
                      <m:t>通过</m:t>
                    </m:r>
                  </m:oMath>
                </a14:m>
                <a:r>
                  <a:rPr lang="zh-CN" altLang="en-US" dirty="0" smtClean="0"/>
                  <a:t>把不属于</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S</m:t>
                        </m:r>
                      </m:e>
                      <m:sub>
                        <m:r>
                          <a:rPr lang="en-US" altLang="zh-CN" i="1">
                            <a:latin typeface="Cambria Math" panose="02040503050406030204" pitchFamily="18" charset="0"/>
                          </a:rPr>
                          <m:t>𝑘</m:t>
                        </m:r>
                        <m:r>
                          <a:rPr lang="en-US" altLang="zh-CN" i="1" smtClean="0">
                            <a:latin typeface="Cambria Math" panose="02040503050406030204" pitchFamily="18" charset="0"/>
                          </a:rPr>
                          <m:t>−</m:t>
                        </m:r>
                        <m:r>
                          <a:rPr lang="en-US" altLang="zh-CN" b="0" i="1" smtClean="0">
                            <a:latin typeface="Cambria Math" panose="02040503050406030204" pitchFamily="18" charset="0"/>
                          </a:rPr>
                          <m:t>1</m:t>
                        </m:r>
                      </m:sub>
                    </m:sSub>
                  </m:oMath>
                </a14:m>
                <a:r>
                  <a:rPr lang="zh-CN" altLang="en-US" dirty="0" smtClean="0"/>
                  <a:t>的带最小标记的顶点添加到</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S</m:t>
                        </m:r>
                      </m:e>
                      <m:sub>
                        <m:r>
                          <a:rPr lang="en-US" altLang="zh-CN" i="1">
                            <a:latin typeface="Cambria Math" panose="02040503050406030204" pitchFamily="18" charset="0"/>
                          </a:rPr>
                          <m:t>𝑘</m:t>
                        </m:r>
                        <m:r>
                          <a:rPr lang="en-US" altLang="zh-CN" i="1">
                            <a:latin typeface="Cambria Math" panose="02040503050406030204" pitchFamily="18" charset="0"/>
                          </a:rPr>
                          <m:t>−1</m:t>
                        </m:r>
                      </m:sub>
                    </m:sSub>
                  </m:oMath>
                </a14:m>
                <a:r>
                  <a:rPr lang="zh-CN" altLang="en-US" dirty="0" smtClean="0"/>
                  <a:t>形成</a:t>
                </a:r>
                <a:r>
                  <a:rPr lang="en-US" altLang="zh-CN" dirty="0" smtClean="0"/>
                  <a:t>, </a:t>
                </a:r>
                <a:r>
                  <a:rPr lang="zh-CN" altLang="en-US" dirty="0" smtClean="0"/>
                  <a:t>所以选择</a:t>
                </a:r>
                <a:r>
                  <a:rPr lang="en-US" altLang="zh-CN" dirty="0" smtClean="0"/>
                  <a:t>a</a:t>
                </a:r>
                <a:r>
                  <a:rPr lang="zh-CN" altLang="en-US" dirty="0" smtClean="0"/>
                  <a:t>顶点加入形成</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S</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oMath>
                </a14:m>
                <a:r>
                  <a:rPr lang="zh-CN" altLang="en-US" dirty="0" smtClean="0">
                    <a:solidFill>
                      <a:prstClr val="black"/>
                    </a:solidFill>
                  </a:rPr>
                  <a:t> </a:t>
                </a:r>
                <a:r>
                  <a:rPr lang="zh-CN" altLang="en-US" dirty="0">
                    <a:solidFill>
                      <a:prstClr val="black"/>
                    </a:solidFill>
                  </a:rPr>
                  <a:t>每次迭代都表明了从</a:t>
                </a:r>
                <a:r>
                  <a:rPr lang="en-US" altLang="zh-CN" dirty="0">
                    <a:solidFill>
                      <a:prstClr val="black"/>
                    </a:solidFill>
                  </a:rPr>
                  <a:t>a</a:t>
                </a:r>
                <a:r>
                  <a:rPr lang="zh-CN" altLang="en-US" dirty="0">
                    <a:solidFill>
                      <a:prstClr val="black"/>
                    </a:solidFill>
                  </a:rPr>
                  <a:t>到</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S</m:t>
                        </m:r>
                      </m:e>
                      <m:sub>
                        <m:r>
                          <a:rPr lang="en-US" altLang="zh-CN" i="1">
                            <a:latin typeface="Cambria Math" panose="02040503050406030204" pitchFamily="18" charset="0"/>
                          </a:rPr>
                          <m:t>𝑘</m:t>
                        </m:r>
                      </m:sub>
                    </m:sSub>
                  </m:oMath>
                </a14:m>
                <a:r>
                  <a:rPr lang="zh-CN" altLang="en-US" dirty="0">
                    <a:solidFill>
                      <a:prstClr val="black"/>
                    </a:solidFill>
                  </a:rPr>
                  <a:t>中的每个顶点的最短通路</a:t>
                </a:r>
                <a:r>
                  <a:rPr lang="en-US" altLang="zh-CN" dirty="0">
                    <a:solidFill>
                      <a:prstClr val="black"/>
                    </a:solidFill>
                  </a:rPr>
                  <a:t>.</a:t>
                </a:r>
                <a:endParaRPr lang="en-US" altLang="zh-CN"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999" t="-1310"/>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38C024DD-3866-4111-9909-7065C4C89378}"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179</a:t>
            </a:fld>
            <a:endParaRPr lang="zh-CN" altLang="en-US" dirty="0"/>
          </a:p>
        </p:txBody>
      </p:sp>
      <p:pic>
        <p:nvPicPr>
          <p:cNvPr id="7" name="图片 6"/>
          <p:cNvPicPr>
            <a:picLocks noChangeAspect="1"/>
          </p:cNvPicPr>
          <p:nvPr/>
        </p:nvPicPr>
        <p:blipFill>
          <a:blip r:embed="rId3"/>
          <a:stretch>
            <a:fillRect/>
          </a:stretch>
        </p:blipFill>
        <p:spPr>
          <a:xfrm>
            <a:off x="1219200" y="2133600"/>
            <a:ext cx="2884170" cy="1822129"/>
          </a:xfrm>
          <a:prstGeom prst="rect">
            <a:avLst/>
          </a:prstGeom>
        </p:spPr>
      </p:pic>
      <p:pic>
        <p:nvPicPr>
          <p:cNvPr id="11" name="图片 10"/>
          <p:cNvPicPr>
            <a:picLocks noChangeAspect="1"/>
          </p:cNvPicPr>
          <p:nvPr/>
        </p:nvPicPr>
        <p:blipFill>
          <a:blip r:embed="rId4"/>
          <a:stretch>
            <a:fillRect/>
          </a:stretch>
        </p:blipFill>
        <p:spPr>
          <a:xfrm>
            <a:off x="8305800" y="2133600"/>
            <a:ext cx="2819400" cy="2050473"/>
          </a:xfrm>
          <a:prstGeom prst="rect">
            <a:avLst/>
          </a:prstGeom>
        </p:spPr>
      </p:pic>
    </p:spTree>
    <p:extLst>
      <p:ext uri="{BB962C8B-B14F-4D97-AF65-F5344CB8AC3E}">
        <p14:creationId xmlns:p14="http://schemas.microsoft.com/office/powerpoint/2010/main" val="2187168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wipe(down)">
                                      <p:cBhvr>
                                        <p:cTn id="7" dur="500"/>
                                        <p:tgtEl>
                                          <p:spTgt spid="3">
                                            <p:txEl>
                                              <p:pRg st="5" end="5"/>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wipe(down)">
                                      <p:cBhvr>
                                        <p:cTn id="10" dur="500"/>
                                        <p:tgtEl>
                                          <p:spTgt spid="3">
                                            <p:txEl>
                                              <p:pRg st="6" end="6"/>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down)">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最短通路算法</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pPr marL="850392" lvl="1" indent="-457200">
                  <a:lnSpc>
                    <a:spcPct val="100000"/>
                  </a:lnSpc>
                  <a:buClrTx/>
                  <a:buFont typeface="+mj-ea"/>
                  <a:buAutoNum type="circleNumDbPlain" startAt="2"/>
                </a:pPr>
                <a:r>
                  <a:rPr lang="zh-CN" altLang="en-US" dirty="0" smtClean="0">
                    <a:solidFill>
                      <a:prstClr val="black"/>
                    </a:solidFill>
                  </a:rPr>
                  <a:t>用</a:t>
                </a:r>
                <a:r>
                  <a:rPr lang="zh-CN" altLang="en-US" dirty="0">
                    <a:solidFill>
                      <a:prstClr val="black"/>
                    </a:solidFill>
                  </a:rPr>
                  <a:t>圆</a:t>
                </a:r>
                <a:r>
                  <a:rPr lang="zh-CN" altLang="en-US" dirty="0" smtClean="0">
                    <a:solidFill>
                      <a:prstClr val="black"/>
                    </a:solidFill>
                  </a:rPr>
                  <a:t>圈圈出集合</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S</m:t>
                        </m:r>
                      </m:e>
                      <m:sub>
                        <m:r>
                          <a:rPr lang="en-US" altLang="zh-CN" b="0" i="1" smtClean="0">
                            <a:latin typeface="Cambria Math" panose="02040503050406030204" pitchFamily="18" charset="0"/>
                          </a:rPr>
                          <m:t>1</m:t>
                        </m:r>
                      </m:sub>
                    </m:sSub>
                  </m:oMath>
                </a14:m>
                <a:r>
                  <a:rPr lang="zh-CN" altLang="en-US" dirty="0" smtClean="0">
                    <a:solidFill>
                      <a:prstClr val="black"/>
                    </a:solidFill>
                  </a:rPr>
                  <a:t>中的顶点</a:t>
                </a:r>
                <a:r>
                  <a:rPr lang="en-US" altLang="zh-CN" dirty="0" smtClean="0">
                    <a:solidFill>
                      <a:prstClr val="black"/>
                    </a:solidFill>
                  </a:rPr>
                  <a:t>. </a:t>
                </a:r>
                <a:r>
                  <a:rPr lang="zh-CN" altLang="en-US" dirty="0" smtClean="0">
                    <a:solidFill>
                      <a:prstClr val="black"/>
                    </a:solidFill>
                  </a:rPr>
                  <a:t>更新不属于</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S</m:t>
                        </m:r>
                      </m:e>
                      <m:sub>
                        <m:r>
                          <a:rPr lang="en-US" altLang="zh-CN" i="1">
                            <a:latin typeface="Cambria Math" panose="02040503050406030204" pitchFamily="18" charset="0"/>
                          </a:rPr>
                          <m:t>1</m:t>
                        </m:r>
                      </m:sub>
                    </m:sSub>
                  </m:oMath>
                </a14:m>
                <a:r>
                  <a:rPr lang="zh-CN" altLang="en-US" dirty="0" smtClean="0">
                    <a:solidFill>
                      <a:prstClr val="black"/>
                    </a:solidFill>
                  </a:rPr>
                  <a:t>的其他顶点的标记</a:t>
                </a:r>
                <a:r>
                  <a:rPr lang="en-US" altLang="zh-CN" dirty="0" smtClean="0">
                    <a:solidFill>
                      <a:prstClr val="black"/>
                    </a:solidFill>
                  </a:rPr>
                  <a:t>. </a:t>
                </a:r>
                <a:r>
                  <a:rPr lang="zh-CN" altLang="en-US" dirty="0" smtClean="0">
                    <a:solidFill>
                      <a:prstClr val="black"/>
                    </a:solidFill>
                  </a:rPr>
                  <a:t>该标记值为只包含</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S</m:t>
                        </m:r>
                      </m:e>
                      <m:sub>
                        <m:r>
                          <a:rPr lang="en-US" altLang="zh-CN" i="1">
                            <a:latin typeface="Cambria Math" panose="02040503050406030204" pitchFamily="18" charset="0"/>
                          </a:rPr>
                          <m:t>1</m:t>
                        </m:r>
                      </m:sub>
                    </m:sSub>
                  </m:oMath>
                </a14:m>
                <a:r>
                  <a:rPr lang="zh-CN" altLang="en-US" dirty="0" smtClean="0">
                    <a:solidFill>
                      <a:prstClr val="black"/>
                    </a:solidFill>
                  </a:rPr>
                  <a:t>中的顶点的从</a:t>
                </a:r>
                <a:r>
                  <a:rPr lang="en-US" altLang="zh-CN" dirty="0" smtClean="0">
                    <a:solidFill>
                      <a:prstClr val="black"/>
                    </a:solidFill>
                  </a:rPr>
                  <a:t>a</a:t>
                </a:r>
                <a:r>
                  <a:rPr lang="zh-CN" altLang="en-US" dirty="0" smtClean="0">
                    <a:solidFill>
                      <a:prstClr val="black"/>
                    </a:solidFill>
                  </a:rPr>
                  <a:t>到这些顶点的最短通路的长度</a:t>
                </a:r>
                <a:r>
                  <a:rPr lang="en-US" altLang="zh-CN" dirty="0" smtClean="0">
                    <a:solidFill>
                      <a:prstClr val="black"/>
                    </a:solidFill>
                  </a:rPr>
                  <a:t>.</a:t>
                </a:r>
                <a:r>
                  <a:rPr lang="en-US" altLang="zh-CN" dirty="0"/>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S</m:t>
                        </m:r>
                      </m:e>
                      <m:sub>
                        <m:r>
                          <a:rPr lang="en-US" altLang="zh-CN" b="0" i="1" smtClean="0">
                            <a:latin typeface="Cambria Math" panose="02040503050406030204" pitchFamily="18" charset="0"/>
                          </a:rPr>
                          <m:t>2</m:t>
                        </m:r>
                      </m:sub>
                    </m:sSub>
                    <m:r>
                      <a:rPr lang="zh-CN" altLang="en-US" i="1">
                        <a:latin typeface="Cambria Math" panose="02040503050406030204" pitchFamily="18" charset="0"/>
                      </a:rPr>
                      <m:t>通过</m:t>
                    </m:r>
                  </m:oMath>
                </a14:m>
                <a:r>
                  <a:rPr lang="zh-CN" altLang="en-US" dirty="0"/>
                  <a:t>把不属于</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S</m:t>
                        </m:r>
                      </m:e>
                      <m:sub>
                        <m:r>
                          <a:rPr lang="en-US" altLang="zh-CN" i="1">
                            <a:latin typeface="Cambria Math" panose="02040503050406030204" pitchFamily="18" charset="0"/>
                          </a:rPr>
                          <m:t>1</m:t>
                        </m:r>
                      </m:sub>
                    </m:sSub>
                  </m:oMath>
                </a14:m>
                <a:r>
                  <a:rPr lang="zh-CN" altLang="en-US" dirty="0"/>
                  <a:t>的带最小标记的顶点添加到</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S</m:t>
                        </m:r>
                      </m:e>
                      <m:sub>
                        <m:r>
                          <a:rPr lang="en-US" altLang="zh-CN" i="1">
                            <a:latin typeface="Cambria Math" panose="02040503050406030204" pitchFamily="18" charset="0"/>
                          </a:rPr>
                          <m:t>1</m:t>
                        </m:r>
                      </m:sub>
                    </m:sSub>
                  </m:oMath>
                </a14:m>
                <a:r>
                  <a:rPr lang="zh-CN" altLang="en-US" dirty="0" smtClean="0"/>
                  <a:t>形成</a:t>
                </a:r>
                <a:r>
                  <a:rPr lang="en-US" altLang="zh-CN" dirty="0" smtClean="0"/>
                  <a:t>, </a:t>
                </a:r>
                <a:r>
                  <a:rPr lang="zh-CN" altLang="en-US" dirty="0" smtClean="0"/>
                  <a:t>所以选择</a:t>
                </a:r>
                <a:r>
                  <a:rPr lang="en-US" altLang="zh-CN" dirty="0" smtClean="0"/>
                  <a:t>c</a:t>
                </a:r>
                <a:r>
                  <a:rPr lang="zh-CN" altLang="en-US" dirty="0" smtClean="0"/>
                  <a:t>顶点</a:t>
                </a:r>
                <a:r>
                  <a:rPr lang="zh-CN" altLang="en-US" dirty="0"/>
                  <a:t>加入</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S</m:t>
                        </m:r>
                      </m:e>
                      <m:sub>
                        <m:r>
                          <a:rPr lang="en-US" altLang="zh-CN" b="0" i="1" smtClean="0">
                            <a:latin typeface="Cambria Math" panose="02040503050406030204" pitchFamily="18" charset="0"/>
                          </a:rPr>
                          <m:t>2</m:t>
                        </m:r>
                      </m:sub>
                    </m:sSub>
                    <m:r>
                      <a:rPr lang="en-US" altLang="zh-CN" i="1">
                        <a:latin typeface="Cambria Math" panose="02040503050406030204" pitchFamily="18" charset="0"/>
                      </a:rPr>
                      <m:t>.</m:t>
                    </m:r>
                  </m:oMath>
                </a14:m>
                <a:r>
                  <a:rPr lang="en-US" altLang="zh-CN" dirty="0" smtClean="0">
                    <a:solidFill>
                      <a:prstClr val="black"/>
                    </a:solidFill>
                  </a:rPr>
                  <a:t> </a:t>
                </a:r>
                <a:endParaRPr lang="en-US" altLang="zh-CN" dirty="0">
                  <a:solidFill>
                    <a:prstClr val="black"/>
                  </a:solidFill>
                </a:endParaRPr>
              </a:p>
              <a:p>
                <a:pPr marL="850392" lvl="1" indent="-457200">
                  <a:lnSpc>
                    <a:spcPct val="100000"/>
                  </a:lnSpc>
                  <a:buClrTx/>
                  <a:buFont typeface="+mj-ea"/>
                  <a:buAutoNum type="circleNumDbPlain" startAt="2"/>
                </a:pPr>
                <a:endParaRPr lang="en-US" altLang="zh-CN" dirty="0">
                  <a:solidFill>
                    <a:prstClr val="black"/>
                  </a:solidFill>
                </a:endParaRPr>
              </a:p>
              <a:p>
                <a:pPr marL="850392" lvl="1" indent="-457200">
                  <a:lnSpc>
                    <a:spcPct val="100000"/>
                  </a:lnSpc>
                  <a:buClrTx/>
                  <a:buFont typeface="+mj-ea"/>
                  <a:buAutoNum type="circleNumDbPlain" startAt="2"/>
                </a:pPr>
                <a:endParaRPr lang="en-US" altLang="zh-CN" dirty="0">
                  <a:solidFill>
                    <a:prstClr val="black"/>
                  </a:solidFill>
                </a:endParaRPr>
              </a:p>
              <a:p>
                <a:pPr marL="850392" lvl="1" indent="-457200">
                  <a:lnSpc>
                    <a:spcPct val="100000"/>
                  </a:lnSpc>
                  <a:buClrTx/>
                  <a:buFont typeface="+mj-ea"/>
                  <a:buAutoNum type="circleNumDbPlain" startAt="2"/>
                </a:pPr>
                <a:endParaRPr lang="en-US" altLang="zh-CN" dirty="0">
                  <a:solidFill>
                    <a:prstClr val="black"/>
                  </a:solidFill>
                </a:endParaRPr>
              </a:p>
              <a:p>
                <a:pPr marL="850392" lvl="1" indent="-457200">
                  <a:lnSpc>
                    <a:spcPct val="100000"/>
                  </a:lnSpc>
                  <a:buClrTx/>
                  <a:buFont typeface="+mj-ea"/>
                  <a:buAutoNum type="circleNumDbPlain" startAt="2"/>
                </a:pPr>
                <a:endParaRPr lang="en-US" altLang="zh-CN" dirty="0" smtClean="0">
                  <a:solidFill>
                    <a:prstClr val="black"/>
                  </a:solidFill>
                </a:endParaRPr>
              </a:p>
              <a:p>
                <a:pPr marL="850392" lvl="1" indent="-457200">
                  <a:lnSpc>
                    <a:spcPct val="100000"/>
                  </a:lnSpc>
                  <a:buClrTx/>
                  <a:buFont typeface="+mj-ea"/>
                  <a:buAutoNum type="circleNumDbPlain" startAt="2"/>
                </a:pPr>
                <a:r>
                  <a:rPr lang="zh-CN" altLang="en-US" dirty="0">
                    <a:solidFill>
                      <a:prstClr val="black"/>
                    </a:solidFill>
                  </a:rPr>
                  <a:t>用圆圈圈出集合</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S</m:t>
                        </m:r>
                      </m:e>
                      <m:sub>
                        <m:r>
                          <a:rPr lang="en-US" altLang="zh-CN" b="0" i="1" smtClean="0">
                            <a:latin typeface="Cambria Math" panose="02040503050406030204" pitchFamily="18" charset="0"/>
                          </a:rPr>
                          <m:t>2</m:t>
                        </m:r>
                      </m:sub>
                    </m:sSub>
                  </m:oMath>
                </a14:m>
                <a:r>
                  <a:rPr lang="zh-CN" altLang="en-US" dirty="0">
                    <a:solidFill>
                      <a:prstClr val="black"/>
                    </a:solidFill>
                  </a:rPr>
                  <a:t>中的顶点</a:t>
                </a:r>
                <a:r>
                  <a:rPr lang="en-US" altLang="zh-CN" dirty="0" smtClean="0">
                    <a:solidFill>
                      <a:prstClr val="black"/>
                    </a:solidFill>
                  </a:rPr>
                  <a:t>. </a:t>
                </a:r>
                <a:r>
                  <a:rPr lang="zh-CN" altLang="en-US" dirty="0" smtClean="0">
                    <a:solidFill>
                      <a:prstClr val="black"/>
                    </a:solidFill>
                  </a:rPr>
                  <a:t>更新</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S</m:t>
                        </m:r>
                      </m:e>
                      <m:sub>
                        <m:r>
                          <a:rPr lang="en-US" altLang="zh-CN" i="1">
                            <a:latin typeface="Cambria Math" panose="02040503050406030204" pitchFamily="18" charset="0"/>
                          </a:rPr>
                          <m:t>2</m:t>
                        </m:r>
                      </m:sub>
                    </m:sSub>
                  </m:oMath>
                </a14:m>
                <a:r>
                  <a:rPr lang="zh-CN" altLang="en-US" dirty="0" smtClean="0">
                    <a:solidFill>
                      <a:prstClr val="black"/>
                    </a:solidFill>
                  </a:rPr>
                  <a:t>以外其他顶点的标记</a:t>
                </a:r>
                <a:r>
                  <a:rPr lang="en-US" altLang="zh-CN" dirty="0" smtClean="0">
                    <a:solidFill>
                      <a:prstClr val="black"/>
                    </a:solidFill>
                  </a:rPr>
                  <a:t>. </a:t>
                </a:r>
                <a:r>
                  <a:rPr lang="zh-CN" altLang="en-US" dirty="0" smtClean="0">
                    <a:solidFill>
                      <a:prstClr val="black"/>
                    </a:solidFill>
                  </a:rPr>
                  <a:t>然后选择带最小标记的顶点</a:t>
                </a:r>
                <a:r>
                  <a:rPr lang="en-US" altLang="zh-CN" dirty="0" smtClean="0">
                    <a:solidFill>
                      <a:prstClr val="black"/>
                    </a:solidFill>
                  </a:rPr>
                  <a:t>b</a:t>
                </a:r>
                <a:r>
                  <a:rPr lang="zh-CN" altLang="en-US" dirty="0" smtClean="0">
                    <a:solidFill>
                      <a:prstClr val="black"/>
                    </a:solidFill>
                  </a:rPr>
                  <a:t>加入形成</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S</m:t>
                        </m:r>
                      </m:e>
                      <m:sub>
                        <m:r>
                          <a:rPr lang="en-US" altLang="zh-CN" b="0" i="1" smtClean="0">
                            <a:latin typeface="Cambria Math" panose="02040503050406030204" pitchFamily="18" charset="0"/>
                          </a:rPr>
                          <m:t>3</m:t>
                        </m:r>
                      </m:sub>
                    </m:sSub>
                    <m:r>
                      <a:rPr lang="en-US" altLang="zh-CN" b="0" i="0" smtClean="0">
                        <a:latin typeface="Cambria Math" panose="02040503050406030204" pitchFamily="18" charset="0"/>
                      </a:rPr>
                      <m:t>.</m:t>
                    </m:r>
                  </m:oMath>
                </a14:m>
                <a:r>
                  <a:rPr lang="en-US" altLang="zh-CN" dirty="0" smtClean="0">
                    <a:solidFill>
                      <a:prstClr val="black"/>
                    </a:solidFill>
                  </a:rPr>
                  <a:t> </a:t>
                </a: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t="-1667"/>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49BC327E-15A7-4A45-8942-4D575168DC11}"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smtClean="0"/>
              <a:t>华中科技大学人机物系统与安全实验室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180</a:t>
            </a:fld>
            <a:endParaRPr lang="zh-CN" altLang="en-US" dirty="0"/>
          </a:p>
        </p:txBody>
      </p:sp>
      <p:grpSp>
        <p:nvGrpSpPr>
          <p:cNvPr id="15" name="组合 14"/>
          <p:cNvGrpSpPr/>
          <p:nvPr/>
        </p:nvGrpSpPr>
        <p:grpSpPr>
          <a:xfrm>
            <a:off x="5175808" y="4248403"/>
            <a:ext cx="3019200" cy="2161400"/>
            <a:chOff x="3505200" y="4082433"/>
            <a:chExt cx="3019200" cy="2161400"/>
          </a:xfrm>
        </p:grpSpPr>
        <p:pic>
          <p:nvPicPr>
            <p:cNvPr id="10" name="图片 9"/>
            <p:cNvPicPr>
              <a:picLocks noChangeAspect="1"/>
            </p:cNvPicPr>
            <p:nvPr/>
          </p:nvPicPr>
          <p:blipFill>
            <a:blip r:embed="rId3"/>
            <a:stretch>
              <a:fillRect/>
            </a:stretch>
          </p:blipFill>
          <p:spPr>
            <a:xfrm>
              <a:off x="3505200" y="4082433"/>
              <a:ext cx="3019200" cy="2161400"/>
            </a:xfrm>
            <a:prstGeom prst="rect">
              <a:avLst/>
            </a:prstGeom>
          </p:spPr>
        </p:pic>
        <p:sp>
          <p:nvSpPr>
            <p:cNvPr id="12" name="椭圆 11"/>
            <p:cNvSpPr/>
            <p:nvPr/>
          </p:nvSpPr>
          <p:spPr>
            <a:xfrm>
              <a:off x="3810000" y="4724400"/>
              <a:ext cx="457200" cy="381000"/>
            </a:xfrm>
            <a:prstGeom prst="ellipse">
              <a:avLst/>
            </a:prstGeom>
            <a:no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4366416" y="5105400"/>
              <a:ext cx="457200" cy="381000"/>
            </a:xfrm>
            <a:prstGeom prst="ellipse">
              <a:avLst/>
            </a:prstGeom>
            <a:no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7" name="图片 6"/>
          <p:cNvPicPr>
            <a:picLocks noChangeAspect="1"/>
          </p:cNvPicPr>
          <p:nvPr/>
        </p:nvPicPr>
        <p:blipFill>
          <a:blip r:embed="rId4"/>
          <a:stretch>
            <a:fillRect/>
          </a:stretch>
        </p:blipFill>
        <p:spPr>
          <a:xfrm>
            <a:off x="4941687" y="2057400"/>
            <a:ext cx="3105074" cy="2114771"/>
          </a:xfrm>
          <a:prstGeom prst="rect">
            <a:avLst/>
          </a:prstGeom>
        </p:spPr>
      </p:pic>
    </p:spTree>
    <p:extLst>
      <p:ext uri="{BB962C8B-B14F-4D97-AF65-F5344CB8AC3E}">
        <p14:creationId xmlns:p14="http://schemas.microsoft.com/office/powerpoint/2010/main" val="3202111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wipe(down)">
                                      <p:cBhvr>
                                        <p:cTn id="7" dur="500"/>
                                        <p:tgtEl>
                                          <p:spTgt spid="3">
                                            <p:txEl>
                                              <p:pRg st="5" end="5"/>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down)">
                                      <p:cBhvr>
                                        <p:cTn id="1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最短通路算法</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pPr marL="850392" lvl="1" indent="-457200">
                  <a:lnSpc>
                    <a:spcPct val="100000"/>
                  </a:lnSpc>
                  <a:buClrTx/>
                  <a:buFont typeface="+mj-ea"/>
                  <a:buAutoNum type="circleNumDbPlain" startAt="4"/>
                </a:pPr>
                <a:r>
                  <a:rPr lang="zh-CN" altLang="en-US" dirty="0" smtClean="0">
                    <a:solidFill>
                      <a:prstClr val="black"/>
                    </a:solidFill>
                  </a:rPr>
                  <a:t>用圆圈圈出集合</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S</m:t>
                        </m:r>
                      </m:e>
                      <m:sub>
                        <m:r>
                          <a:rPr lang="en-US" altLang="zh-CN" b="0" i="1" smtClean="0">
                            <a:latin typeface="Cambria Math" panose="02040503050406030204" pitchFamily="18" charset="0"/>
                          </a:rPr>
                          <m:t>3</m:t>
                        </m:r>
                      </m:sub>
                    </m:sSub>
                  </m:oMath>
                </a14:m>
                <a:r>
                  <a:rPr lang="zh-CN" altLang="en-US" dirty="0">
                    <a:solidFill>
                      <a:prstClr val="black"/>
                    </a:solidFill>
                  </a:rPr>
                  <a:t>中的顶点</a:t>
                </a:r>
                <a:r>
                  <a:rPr lang="en-US" altLang="zh-CN" dirty="0">
                    <a:solidFill>
                      <a:prstClr val="black"/>
                    </a:solidFill>
                  </a:rPr>
                  <a:t>. </a:t>
                </a:r>
                <a:r>
                  <a:rPr lang="zh-CN" altLang="en-US" dirty="0">
                    <a:solidFill>
                      <a:prstClr val="black"/>
                    </a:solidFill>
                  </a:rPr>
                  <a:t>更新</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S</m:t>
                        </m:r>
                      </m:e>
                      <m:sub>
                        <m:r>
                          <a:rPr lang="en-US" altLang="zh-CN" i="1">
                            <a:latin typeface="Cambria Math" panose="02040503050406030204" pitchFamily="18" charset="0"/>
                          </a:rPr>
                          <m:t>3</m:t>
                        </m:r>
                      </m:sub>
                    </m:sSub>
                  </m:oMath>
                </a14:m>
                <a:r>
                  <a:rPr lang="zh-CN" altLang="en-US" dirty="0">
                    <a:solidFill>
                      <a:prstClr val="black"/>
                    </a:solidFill>
                  </a:rPr>
                  <a:t>以外其他顶点的标记</a:t>
                </a:r>
                <a:r>
                  <a:rPr lang="en-US" altLang="zh-CN" dirty="0">
                    <a:solidFill>
                      <a:prstClr val="black"/>
                    </a:solidFill>
                  </a:rPr>
                  <a:t>. </a:t>
                </a:r>
                <a:r>
                  <a:rPr lang="zh-CN" altLang="en-US" dirty="0">
                    <a:solidFill>
                      <a:prstClr val="black"/>
                    </a:solidFill>
                  </a:rPr>
                  <a:t>然后选择带最小标记的</a:t>
                </a:r>
                <a:r>
                  <a:rPr lang="zh-CN" altLang="en-US" dirty="0" smtClean="0">
                    <a:solidFill>
                      <a:prstClr val="black"/>
                    </a:solidFill>
                  </a:rPr>
                  <a:t>顶点</a:t>
                </a:r>
                <a:r>
                  <a:rPr lang="en-US" altLang="zh-CN" dirty="0" smtClean="0">
                    <a:solidFill>
                      <a:prstClr val="black"/>
                    </a:solidFill>
                  </a:rPr>
                  <a:t>d</a:t>
                </a:r>
                <a:r>
                  <a:rPr lang="zh-CN" altLang="en-US" dirty="0" smtClean="0">
                    <a:solidFill>
                      <a:prstClr val="black"/>
                    </a:solidFill>
                  </a:rPr>
                  <a:t>加入</a:t>
                </a:r>
                <a:r>
                  <a:rPr lang="zh-CN" altLang="en-US" dirty="0">
                    <a:solidFill>
                      <a:prstClr val="black"/>
                    </a:solidFill>
                  </a:rPr>
                  <a:t>形成</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S</m:t>
                        </m:r>
                      </m:e>
                      <m:sub>
                        <m:r>
                          <a:rPr lang="en-US" altLang="zh-CN" b="0" i="1" smtClean="0">
                            <a:latin typeface="Cambria Math" panose="02040503050406030204" pitchFamily="18" charset="0"/>
                          </a:rPr>
                          <m:t>4</m:t>
                        </m:r>
                      </m:sub>
                    </m:sSub>
                  </m:oMath>
                </a14:m>
                <a:r>
                  <a:rPr lang="en-US" altLang="zh-CN" dirty="0">
                    <a:solidFill>
                      <a:prstClr val="black"/>
                    </a:solidFill>
                  </a:rPr>
                  <a:t>. </a:t>
                </a:r>
              </a:p>
              <a:p>
                <a:pPr marL="850392" lvl="1" indent="-457200">
                  <a:lnSpc>
                    <a:spcPct val="100000"/>
                  </a:lnSpc>
                  <a:buClrTx/>
                  <a:buFont typeface="+mj-ea"/>
                  <a:buAutoNum type="circleNumDbPlain" startAt="4"/>
                </a:pPr>
                <a:endParaRPr lang="en-US" altLang="zh-CN" dirty="0">
                  <a:solidFill>
                    <a:prstClr val="black"/>
                  </a:solidFill>
                </a:endParaRPr>
              </a:p>
              <a:p>
                <a:pPr marL="850392" lvl="1" indent="-457200">
                  <a:lnSpc>
                    <a:spcPct val="100000"/>
                  </a:lnSpc>
                  <a:buClrTx/>
                  <a:buFont typeface="+mj-ea"/>
                  <a:buAutoNum type="circleNumDbPlain" startAt="4"/>
                </a:pPr>
                <a:endParaRPr lang="en-US" altLang="zh-CN" dirty="0" smtClean="0">
                  <a:solidFill>
                    <a:prstClr val="black"/>
                  </a:solidFill>
                </a:endParaRPr>
              </a:p>
              <a:p>
                <a:pPr marL="850392" lvl="1" indent="-457200">
                  <a:lnSpc>
                    <a:spcPct val="100000"/>
                  </a:lnSpc>
                  <a:buClrTx/>
                  <a:buFont typeface="+mj-ea"/>
                  <a:buAutoNum type="circleNumDbPlain" startAt="4"/>
                </a:pPr>
                <a:endParaRPr lang="en-US" altLang="zh-CN" dirty="0">
                  <a:solidFill>
                    <a:prstClr val="black"/>
                  </a:solidFill>
                </a:endParaRPr>
              </a:p>
              <a:p>
                <a:pPr marL="850392" lvl="1" indent="-457200">
                  <a:lnSpc>
                    <a:spcPct val="100000"/>
                  </a:lnSpc>
                  <a:buClrTx/>
                  <a:buFont typeface="+mj-ea"/>
                  <a:buAutoNum type="circleNumDbPlain" startAt="4"/>
                </a:pPr>
                <a:endParaRPr lang="en-US" altLang="zh-CN" dirty="0" smtClean="0">
                  <a:solidFill>
                    <a:prstClr val="black"/>
                  </a:solidFill>
                </a:endParaRPr>
              </a:p>
              <a:p>
                <a:pPr marL="850392" lvl="1" indent="-457200">
                  <a:lnSpc>
                    <a:spcPct val="100000"/>
                  </a:lnSpc>
                  <a:buClrTx/>
                  <a:buFont typeface="+mj-ea"/>
                  <a:buAutoNum type="circleNumDbPlain" startAt="4"/>
                </a:pPr>
                <a:r>
                  <a:rPr lang="zh-CN" altLang="en-US" dirty="0">
                    <a:solidFill>
                      <a:prstClr val="black"/>
                    </a:solidFill>
                  </a:rPr>
                  <a:t>用圆圈圈出集合</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S</m:t>
                        </m:r>
                      </m:e>
                      <m:sub>
                        <m:r>
                          <a:rPr lang="en-US" altLang="zh-CN" b="0" i="1" smtClean="0">
                            <a:latin typeface="Cambria Math" panose="02040503050406030204" pitchFamily="18" charset="0"/>
                          </a:rPr>
                          <m:t>4</m:t>
                        </m:r>
                      </m:sub>
                    </m:sSub>
                  </m:oMath>
                </a14:m>
                <a:r>
                  <a:rPr lang="zh-CN" altLang="en-US" dirty="0">
                    <a:solidFill>
                      <a:prstClr val="black"/>
                    </a:solidFill>
                  </a:rPr>
                  <a:t>中的顶点</a:t>
                </a:r>
                <a:r>
                  <a:rPr lang="en-US" altLang="zh-CN" dirty="0">
                    <a:solidFill>
                      <a:prstClr val="black"/>
                    </a:solidFill>
                  </a:rPr>
                  <a:t>. </a:t>
                </a:r>
                <a:r>
                  <a:rPr lang="zh-CN" altLang="en-US" dirty="0">
                    <a:solidFill>
                      <a:prstClr val="black"/>
                    </a:solidFill>
                  </a:rPr>
                  <a:t>更新</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S</m:t>
                        </m:r>
                      </m:e>
                      <m:sub>
                        <m:r>
                          <a:rPr lang="en-US" altLang="zh-CN" b="0" i="1" smtClean="0">
                            <a:latin typeface="Cambria Math" panose="02040503050406030204" pitchFamily="18" charset="0"/>
                          </a:rPr>
                          <m:t>4</m:t>
                        </m:r>
                      </m:sub>
                    </m:sSub>
                  </m:oMath>
                </a14:m>
                <a:r>
                  <a:rPr lang="zh-CN" altLang="en-US" dirty="0">
                    <a:solidFill>
                      <a:prstClr val="black"/>
                    </a:solidFill>
                  </a:rPr>
                  <a:t>以外其他顶点的标记</a:t>
                </a:r>
                <a:r>
                  <a:rPr lang="en-US" altLang="zh-CN" dirty="0">
                    <a:solidFill>
                      <a:prstClr val="black"/>
                    </a:solidFill>
                  </a:rPr>
                  <a:t>. </a:t>
                </a:r>
                <a:r>
                  <a:rPr lang="zh-CN" altLang="en-US" dirty="0">
                    <a:solidFill>
                      <a:prstClr val="black"/>
                    </a:solidFill>
                  </a:rPr>
                  <a:t>然后选择带最小标记的</a:t>
                </a:r>
                <a:r>
                  <a:rPr lang="zh-CN" altLang="en-US" dirty="0" smtClean="0">
                    <a:solidFill>
                      <a:prstClr val="black"/>
                    </a:solidFill>
                  </a:rPr>
                  <a:t>顶点</a:t>
                </a:r>
                <a:r>
                  <a:rPr lang="en-US" altLang="zh-CN" dirty="0" smtClean="0">
                    <a:solidFill>
                      <a:prstClr val="black"/>
                    </a:solidFill>
                  </a:rPr>
                  <a:t>e</a:t>
                </a:r>
                <a:r>
                  <a:rPr lang="zh-CN" altLang="en-US" dirty="0" smtClean="0">
                    <a:solidFill>
                      <a:prstClr val="black"/>
                    </a:solidFill>
                  </a:rPr>
                  <a:t>加入</a:t>
                </a:r>
                <a:r>
                  <a:rPr lang="zh-CN" altLang="en-US" dirty="0">
                    <a:solidFill>
                      <a:prstClr val="black"/>
                    </a:solidFill>
                  </a:rPr>
                  <a:t>形成</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S</m:t>
                        </m:r>
                      </m:e>
                      <m:sub>
                        <m:r>
                          <a:rPr lang="en-US" altLang="zh-CN" b="0" i="1" smtClean="0">
                            <a:latin typeface="Cambria Math" panose="02040503050406030204" pitchFamily="18" charset="0"/>
                          </a:rPr>
                          <m:t>5</m:t>
                        </m:r>
                      </m:sub>
                    </m:sSub>
                  </m:oMath>
                </a14:m>
                <a:r>
                  <a:rPr lang="en-US" altLang="zh-CN" dirty="0" smtClean="0">
                    <a:solidFill>
                      <a:prstClr val="black"/>
                    </a:solidFill>
                  </a:rPr>
                  <a:t>.</a:t>
                </a: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t="-1667"/>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B60D2ADE-719C-441B-9E53-DF825B06988C}"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smtClean="0"/>
              <a:t>华中科技大学人机物系统与安全实验室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181</a:t>
            </a:fld>
            <a:endParaRPr lang="zh-CN" altLang="en-US" dirty="0"/>
          </a:p>
        </p:txBody>
      </p:sp>
      <p:grpSp>
        <p:nvGrpSpPr>
          <p:cNvPr id="8" name="组合 7"/>
          <p:cNvGrpSpPr/>
          <p:nvPr/>
        </p:nvGrpSpPr>
        <p:grpSpPr>
          <a:xfrm>
            <a:off x="4648200" y="4222575"/>
            <a:ext cx="4049400" cy="2161400"/>
            <a:chOff x="2007714" y="4040279"/>
            <a:chExt cx="4049400" cy="2161400"/>
          </a:xfrm>
        </p:grpSpPr>
        <p:pic>
          <p:nvPicPr>
            <p:cNvPr id="20" name="图片 19"/>
            <p:cNvPicPr>
              <a:picLocks noChangeAspect="1"/>
            </p:cNvPicPr>
            <p:nvPr/>
          </p:nvPicPr>
          <p:blipFill>
            <a:blip r:embed="rId3"/>
            <a:stretch>
              <a:fillRect/>
            </a:stretch>
          </p:blipFill>
          <p:spPr>
            <a:xfrm>
              <a:off x="2007714" y="4040279"/>
              <a:ext cx="4049400" cy="2161400"/>
            </a:xfrm>
            <a:prstGeom prst="rect">
              <a:avLst/>
            </a:prstGeom>
          </p:spPr>
        </p:pic>
        <p:sp>
          <p:nvSpPr>
            <p:cNvPr id="21" name="椭圆 20"/>
            <p:cNvSpPr/>
            <p:nvPr/>
          </p:nvSpPr>
          <p:spPr>
            <a:xfrm>
              <a:off x="2286000" y="4648200"/>
              <a:ext cx="457200" cy="381000"/>
            </a:xfrm>
            <a:prstGeom prst="ellipse">
              <a:avLst/>
            </a:prstGeom>
            <a:no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p:nvPr/>
          </p:nvSpPr>
          <p:spPr>
            <a:xfrm>
              <a:off x="2876909" y="5120979"/>
              <a:ext cx="457200" cy="381000"/>
            </a:xfrm>
            <a:prstGeom prst="ellipse">
              <a:avLst/>
            </a:prstGeom>
            <a:no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nvSpPr>
          <p:spPr>
            <a:xfrm>
              <a:off x="2792886" y="4267200"/>
              <a:ext cx="457200" cy="381000"/>
            </a:xfrm>
            <a:prstGeom prst="ellipse">
              <a:avLst/>
            </a:prstGeom>
            <a:no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nvSpPr>
          <p:spPr>
            <a:xfrm>
              <a:off x="3701586" y="4267200"/>
              <a:ext cx="457200" cy="381000"/>
            </a:xfrm>
            <a:prstGeom prst="ellipse">
              <a:avLst/>
            </a:prstGeom>
            <a:no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p:cNvGrpSpPr/>
          <p:nvPr/>
        </p:nvGrpSpPr>
        <p:grpSpPr>
          <a:xfrm>
            <a:off x="4673084" y="1535145"/>
            <a:ext cx="3019200" cy="2161400"/>
            <a:chOff x="4673084" y="1535145"/>
            <a:chExt cx="3019200" cy="2161400"/>
          </a:xfrm>
        </p:grpSpPr>
        <p:grpSp>
          <p:nvGrpSpPr>
            <p:cNvPr id="7" name="组合 6"/>
            <p:cNvGrpSpPr/>
            <p:nvPr/>
          </p:nvGrpSpPr>
          <p:grpSpPr>
            <a:xfrm>
              <a:off x="4673084" y="1535145"/>
              <a:ext cx="3019200" cy="2161400"/>
              <a:chOff x="1920815" y="1524000"/>
              <a:chExt cx="3019200" cy="2161400"/>
            </a:xfrm>
          </p:grpSpPr>
          <p:pic>
            <p:nvPicPr>
              <p:cNvPr id="16" name="图片 15"/>
              <p:cNvPicPr>
                <a:picLocks noChangeAspect="1"/>
              </p:cNvPicPr>
              <p:nvPr/>
            </p:nvPicPr>
            <p:blipFill>
              <a:blip r:embed="rId4"/>
              <a:stretch>
                <a:fillRect/>
              </a:stretch>
            </p:blipFill>
            <p:spPr>
              <a:xfrm>
                <a:off x="1920815" y="1524000"/>
                <a:ext cx="3019200" cy="2161400"/>
              </a:xfrm>
              <a:prstGeom prst="rect">
                <a:avLst/>
              </a:prstGeom>
            </p:spPr>
          </p:pic>
          <p:sp>
            <p:nvSpPr>
              <p:cNvPr id="17" name="椭圆 16"/>
              <p:cNvSpPr/>
              <p:nvPr/>
            </p:nvSpPr>
            <p:spPr>
              <a:xfrm>
                <a:off x="2209800" y="2203572"/>
                <a:ext cx="457200" cy="381000"/>
              </a:xfrm>
              <a:prstGeom prst="ellipse">
                <a:avLst/>
              </a:prstGeom>
              <a:no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2727385" y="2584572"/>
                <a:ext cx="457200" cy="381000"/>
              </a:xfrm>
              <a:prstGeom prst="ellipse">
                <a:avLst/>
              </a:prstGeom>
              <a:no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2727385" y="1774732"/>
                <a:ext cx="457200" cy="381000"/>
              </a:xfrm>
              <a:prstGeom prst="ellipse">
                <a:avLst/>
              </a:prstGeom>
              <a:no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0" name="图片 9"/>
            <p:cNvPicPr>
              <a:picLocks noChangeAspect="1"/>
            </p:cNvPicPr>
            <p:nvPr/>
          </p:nvPicPr>
          <p:blipFill>
            <a:blip r:embed="rId5"/>
            <a:stretch>
              <a:fillRect/>
            </a:stretch>
          </p:blipFill>
          <p:spPr>
            <a:xfrm>
              <a:off x="7053760" y="2058458"/>
              <a:ext cx="539402" cy="693517"/>
            </a:xfrm>
            <a:prstGeom prst="rect">
              <a:avLst/>
            </a:prstGeom>
          </p:spPr>
        </p:pic>
      </p:grpSp>
    </p:spTree>
    <p:extLst>
      <p:ext uri="{BB962C8B-B14F-4D97-AF65-F5344CB8AC3E}">
        <p14:creationId xmlns:p14="http://schemas.microsoft.com/office/powerpoint/2010/main" val="2377828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wipe(down)">
                                      <p:cBhvr>
                                        <p:cTn id="7" dur="500"/>
                                        <p:tgtEl>
                                          <p:spTgt spid="3">
                                            <p:txEl>
                                              <p:pRg st="5" end="5"/>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down)">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最短通路算法</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pPr marL="850392" lvl="1" indent="-457200">
                  <a:lnSpc>
                    <a:spcPct val="100000"/>
                  </a:lnSpc>
                  <a:buClrTx/>
                  <a:buFont typeface="+mj-ea"/>
                  <a:buAutoNum type="circleNumDbPlain" startAt="6"/>
                </a:pPr>
                <a:r>
                  <a:rPr lang="zh-CN" altLang="en-US" dirty="0" smtClean="0">
                    <a:solidFill>
                      <a:prstClr val="black"/>
                    </a:solidFill>
                  </a:rPr>
                  <a:t>用圆圈圈出集合</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S</m:t>
                        </m:r>
                      </m:e>
                      <m:sub>
                        <m:r>
                          <a:rPr lang="en-US" altLang="zh-CN" b="0" i="1" smtClean="0">
                            <a:latin typeface="Cambria Math" panose="02040503050406030204" pitchFamily="18" charset="0"/>
                          </a:rPr>
                          <m:t>5</m:t>
                        </m:r>
                      </m:sub>
                    </m:sSub>
                  </m:oMath>
                </a14:m>
                <a:r>
                  <a:rPr lang="zh-CN" altLang="en-US" dirty="0">
                    <a:solidFill>
                      <a:prstClr val="black"/>
                    </a:solidFill>
                  </a:rPr>
                  <a:t>中的顶点</a:t>
                </a:r>
                <a:r>
                  <a:rPr lang="en-US" altLang="zh-CN" dirty="0">
                    <a:solidFill>
                      <a:prstClr val="black"/>
                    </a:solidFill>
                  </a:rPr>
                  <a:t>. </a:t>
                </a:r>
                <a:r>
                  <a:rPr lang="zh-CN" altLang="en-US" dirty="0">
                    <a:solidFill>
                      <a:prstClr val="black"/>
                    </a:solidFill>
                  </a:rPr>
                  <a:t>更新</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S</m:t>
                        </m:r>
                      </m:e>
                      <m:sub>
                        <m:r>
                          <a:rPr lang="en-US" altLang="zh-CN" b="0" i="1" smtClean="0">
                            <a:latin typeface="Cambria Math" panose="02040503050406030204" pitchFamily="18" charset="0"/>
                          </a:rPr>
                          <m:t>5</m:t>
                        </m:r>
                      </m:sub>
                    </m:sSub>
                  </m:oMath>
                </a14:m>
                <a:r>
                  <a:rPr lang="zh-CN" altLang="en-US" dirty="0">
                    <a:solidFill>
                      <a:prstClr val="black"/>
                    </a:solidFill>
                  </a:rPr>
                  <a:t>以外其他顶点的标记</a:t>
                </a:r>
                <a:r>
                  <a:rPr lang="en-US" altLang="zh-CN" dirty="0">
                    <a:solidFill>
                      <a:prstClr val="black"/>
                    </a:solidFill>
                  </a:rPr>
                  <a:t>. </a:t>
                </a:r>
                <a:r>
                  <a:rPr lang="zh-CN" altLang="en-US" dirty="0">
                    <a:solidFill>
                      <a:prstClr val="black"/>
                    </a:solidFill>
                  </a:rPr>
                  <a:t>然后选择带最小标记的</a:t>
                </a:r>
                <a:r>
                  <a:rPr lang="zh-CN" altLang="en-US" dirty="0" smtClean="0">
                    <a:solidFill>
                      <a:prstClr val="black"/>
                    </a:solidFill>
                  </a:rPr>
                  <a:t>顶点</a:t>
                </a:r>
                <a:r>
                  <a:rPr lang="en-US" altLang="zh-CN" dirty="0" smtClean="0">
                    <a:solidFill>
                      <a:prstClr val="black"/>
                    </a:solidFill>
                  </a:rPr>
                  <a:t>z</a:t>
                </a:r>
                <a:r>
                  <a:rPr lang="zh-CN" altLang="en-US" dirty="0" smtClean="0">
                    <a:solidFill>
                      <a:prstClr val="black"/>
                    </a:solidFill>
                  </a:rPr>
                  <a:t>加入形成</a:t>
                </a:r>
                <a14:m>
                  <m:oMath xmlns:m="http://schemas.openxmlformats.org/officeDocument/2006/math">
                    <m:sSub>
                      <m:sSubPr>
                        <m:ctrlPr>
                          <a:rPr lang="en-US" altLang="zh-CN" i="1" smtClean="0">
                            <a:latin typeface="Cambria Math" panose="02040503050406030204" pitchFamily="18" charset="0"/>
                          </a:rPr>
                        </m:ctrlPr>
                      </m:sSubPr>
                      <m:e>
                        <m:r>
                          <m:rPr>
                            <m:sty m:val="p"/>
                          </m:rPr>
                          <a:rPr lang="en-US" altLang="zh-CN" i="1">
                            <a:latin typeface="Cambria Math" panose="02040503050406030204" pitchFamily="18" charset="0"/>
                          </a:rPr>
                          <m:t>S</m:t>
                        </m:r>
                      </m:e>
                      <m:sub>
                        <m:r>
                          <a:rPr lang="en-US" altLang="zh-CN" b="0" i="1" smtClean="0">
                            <a:latin typeface="Cambria Math" panose="02040503050406030204" pitchFamily="18" charset="0"/>
                          </a:rPr>
                          <m:t>6</m:t>
                        </m:r>
                      </m:sub>
                    </m:sSub>
                  </m:oMath>
                </a14:m>
                <a:r>
                  <a:rPr lang="en-US" altLang="zh-CN" dirty="0" smtClean="0">
                    <a:solidFill>
                      <a:prstClr val="black"/>
                    </a:solidFill>
                  </a:rPr>
                  <a:t>.</a:t>
                </a:r>
                <a:endParaRPr lang="en-US" altLang="zh-CN" dirty="0">
                  <a:solidFill>
                    <a:prstClr val="black"/>
                  </a:solidFill>
                </a:endParaRPr>
              </a:p>
              <a:p>
                <a:pPr marL="850392" lvl="1" indent="-457200">
                  <a:lnSpc>
                    <a:spcPct val="100000"/>
                  </a:lnSpc>
                  <a:buClrTx/>
                  <a:buFont typeface="+mj-ea"/>
                  <a:buAutoNum type="circleNumDbPlain" startAt="6"/>
                </a:pPr>
                <a:endParaRPr lang="en-US" altLang="zh-CN" dirty="0">
                  <a:solidFill>
                    <a:prstClr val="black"/>
                  </a:solidFill>
                </a:endParaRPr>
              </a:p>
              <a:p>
                <a:pPr marL="850392" lvl="1" indent="-457200">
                  <a:lnSpc>
                    <a:spcPct val="100000"/>
                  </a:lnSpc>
                  <a:buClrTx/>
                  <a:buFont typeface="+mj-ea"/>
                  <a:buAutoNum type="circleNumDbPlain" startAt="6"/>
                </a:pPr>
                <a:endParaRPr lang="en-US" altLang="zh-CN" dirty="0">
                  <a:solidFill>
                    <a:prstClr val="black"/>
                  </a:solidFill>
                </a:endParaRPr>
              </a:p>
              <a:p>
                <a:pPr marL="850392" lvl="1" indent="-457200">
                  <a:lnSpc>
                    <a:spcPct val="100000"/>
                  </a:lnSpc>
                  <a:buClrTx/>
                  <a:buFont typeface="+mj-ea"/>
                  <a:buAutoNum type="circleNumDbPlain" startAt="6"/>
                </a:pPr>
                <a:endParaRPr lang="en-US" altLang="zh-CN" dirty="0">
                  <a:solidFill>
                    <a:prstClr val="black"/>
                  </a:solidFill>
                </a:endParaRPr>
              </a:p>
              <a:p>
                <a:pPr marL="850392" lvl="1" indent="-457200">
                  <a:lnSpc>
                    <a:spcPct val="100000"/>
                  </a:lnSpc>
                  <a:buClrTx/>
                  <a:buFont typeface="+mj-ea"/>
                  <a:buAutoNum type="circleNumDbPlain" startAt="6"/>
                </a:pPr>
                <a:endParaRPr lang="en-US" altLang="zh-CN" dirty="0">
                  <a:solidFill>
                    <a:prstClr val="black"/>
                  </a:solidFill>
                </a:endParaRPr>
              </a:p>
              <a:p>
                <a:pPr marL="850392" lvl="1" indent="-457200">
                  <a:lnSpc>
                    <a:spcPct val="100000"/>
                  </a:lnSpc>
                  <a:buClrTx/>
                  <a:buFont typeface="+mj-ea"/>
                  <a:buAutoNum type="circleNumDbPlain" startAt="6"/>
                </a:pPr>
                <a:r>
                  <a:rPr lang="zh-CN" altLang="en-US" dirty="0">
                    <a:solidFill>
                      <a:prstClr val="black"/>
                    </a:solidFill>
                  </a:rPr>
                  <a:t>用圆圈圈出集合</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S</m:t>
                        </m:r>
                      </m:e>
                      <m:sub>
                        <m:r>
                          <a:rPr lang="en-US" altLang="zh-CN" b="0" i="1" smtClean="0">
                            <a:latin typeface="Cambria Math" panose="02040503050406030204" pitchFamily="18" charset="0"/>
                          </a:rPr>
                          <m:t>6</m:t>
                        </m:r>
                      </m:sub>
                    </m:sSub>
                  </m:oMath>
                </a14:m>
                <a:r>
                  <a:rPr lang="zh-CN" altLang="en-US" dirty="0">
                    <a:solidFill>
                      <a:prstClr val="black"/>
                    </a:solidFill>
                  </a:rPr>
                  <a:t>中的顶点</a:t>
                </a:r>
                <a:r>
                  <a:rPr lang="en-US" altLang="zh-CN" dirty="0">
                    <a:solidFill>
                      <a:prstClr val="black"/>
                    </a:solidFill>
                  </a:rPr>
                  <a:t>. </a:t>
                </a:r>
              </a:p>
              <a:p>
                <a:pPr marL="0" indent="0">
                  <a:buNone/>
                </a:pP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t="-1667"/>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800A86C7-93E7-49FD-8AEE-471FE12AECC8}"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smtClean="0"/>
              <a:t>华中科技大学人机物系统与安全实验室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182</a:t>
            </a:fld>
            <a:endParaRPr lang="zh-CN" altLang="en-US" dirty="0"/>
          </a:p>
        </p:txBody>
      </p:sp>
      <p:grpSp>
        <p:nvGrpSpPr>
          <p:cNvPr id="17" name="组合 16"/>
          <p:cNvGrpSpPr/>
          <p:nvPr/>
        </p:nvGrpSpPr>
        <p:grpSpPr>
          <a:xfrm>
            <a:off x="4683492" y="1559396"/>
            <a:ext cx="4243200" cy="2161400"/>
            <a:chOff x="3195284" y="1369414"/>
            <a:chExt cx="4243200" cy="2161400"/>
          </a:xfrm>
        </p:grpSpPr>
        <p:pic>
          <p:nvPicPr>
            <p:cNvPr id="9" name="图片 8"/>
            <p:cNvPicPr>
              <a:picLocks noChangeAspect="1"/>
            </p:cNvPicPr>
            <p:nvPr/>
          </p:nvPicPr>
          <p:blipFill>
            <a:blip r:embed="rId3"/>
            <a:stretch>
              <a:fillRect/>
            </a:stretch>
          </p:blipFill>
          <p:spPr>
            <a:xfrm>
              <a:off x="3195284" y="1369414"/>
              <a:ext cx="4243200" cy="2161400"/>
            </a:xfrm>
            <a:prstGeom prst="rect">
              <a:avLst/>
            </a:prstGeom>
          </p:spPr>
        </p:pic>
        <p:sp>
          <p:nvSpPr>
            <p:cNvPr id="12" name="椭圆 11"/>
            <p:cNvSpPr/>
            <p:nvPr/>
          </p:nvSpPr>
          <p:spPr>
            <a:xfrm>
              <a:off x="3505200" y="1965232"/>
              <a:ext cx="457200" cy="381000"/>
            </a:xfrm>
            <a:prstGeom prst="ellipse">
              <a:avLst/>
            </a:prstGeom>
            <a:no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3955211" y="2367023"/>
              <a:ext cx="457200" cy="381000"/>
            </a:xfrm>
            <a:prstGeom prst="ellipse">
              <a:avLst/>
            </a:prstGeom>
            <a:no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4038600" y="1684231"/>
              <a:ext cx="457200" cy="381000"/>
            </a:xfrm>
            <a:prstGeom prst="ellipse">
              <a:avLst/>
            </a:prstGeom>
            <a:no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4876800" y="1676400"/>
              <a:ext cx="457200" cy="381000"/>
            </a:xfrm>
            <a:prstGeom prst="ellipse">
              <a:avLst/>
            </a:prstGeom>
            <a:no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4876800" y="2367023"/>
              <a:ext cx="457200" cy="381000"/>
            </a:xfrm>
            <a:prstGeom prst="ellipse">
              <a:avLst/>
            </a:prstGeom>
            <a:no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3" name="组合 22"/>
          <p:cNvGrpSpPr/>
          <p:nvPr/>
        </p:nvGrpSpPr>
        <p:grpSpPr>
          <a:xfrm>
            <a:off x="4406784" y="4141256"/>
            <a:ext cx="4294200" cy="2161400"/>
            <a:chOff x="1205700" y="3753434"/>
            <a:chExt cx="4294200" cy="2161400"/>
          </a:xfrm>
        </p:grpSpPr>
        <p:pic>
          <p:nvPicPr>
            <p:cNvPr id="10" name="图片 9"/>
            <p:cNvPicPr>
              <a:picLocks noChangeAspect="1"/>
            </p:cNvPicPr>
            <p:nvPr/>
          </p:nvPicPr>
          <p:blipFill>
            <a:blip r:embed="rId4"/>
            <a:stretch>
              <a:fillRect/>
            </a:stretch>
          </p:blipFill>
          <p:spPr>
            <a:xfrm>
              <a:off x="1205700" y="3753434"/>
              <a:ext cx="4294200" cy="2161400"/>
            </a:xfrm>
            <a:prstGeom prst="rect">
              <a:avLst/>
            </a:prstGeom>
          </p:spPr>
        </p:pic>
        <p:sp>
          <p:nvSpPr>
            <p:cNvPr id="11" name="椭圆 10"/>
            <p:cNvSpPr/>
            <p:nvPr/>
          </p:nvSpPr>
          <p:spPr>
            <a:xfrm>
              <a:off x="1480868" y="4419600"/>
              <a:ext cx="457200" cy="381000"/>
            </a:xfrm>
            <a:prstGeom prst="ellipse">
              <a:avLst/>
            </a:prstGeom>
            <a:no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2062727" y="4091796"/>
              <a:ext cx="457200" cy="327804"/>
            </a:xfrm>
            <a:prstGeom prst="ellipse">
              <a:avLst/>
            </a:prstGeom>
            <a:no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2062727" y="4760837"/>
              <a:ext cx="457200" cy="327804"/>
            </a:xfrm>
            <a:prstGeom prst="ellipse">
              <a:avLst/>
            </a:prstGeom>
            <a:no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2862108" y="4073599"/>
              <a:ext cx="457200" cy="327804"/>
            </a:xfrm>
            <a:prstGeom prst="ellipse">
              <a:avLst/>
            </a:prstGeom>
            <a:no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2862108" y="4746460"/>
              <a:ext cx="457200" cy="327804"/>
            </a:xfrm>
            <a:prstGeom prst="ellipse">
              <a:avLst/>
            </a:prstGeom>
            <a:no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p:nvPr/>
          </p:nvSpPr>
          <p:spPr>
            <a:xfrm>
              <a:off x="3558562" y="4450736"/>
              <a:ext cx="490692" cy="349864"/>
            </a:xfrm>
            <a:prstGeom prst="ellipse">
              <a:avLst/>
            </a:prstGeom>
            <a:no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566841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wipe(down)">
                                      <p:cBhvr>
                                        <p:cTn id="7" dur="500"/>
                                        <p:tgtEl>
                                          <p:spTgt spid="3">
                                            <p:txEl>
                                              <p:pRg st="5" end="5"/>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wipe(down)">
                                      <p:cBhvr>
                                        <p:cTn id="10"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457200" y="1143000"/>
            <a:ext cx="11277599" cy="8382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425570" y="2695359"/>
            <a:ext cx="11277599" cy="8382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最短通路算法</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smtClean="0"/>
                  <a:t>定理</a:t>
                </a:r>
                <a:r>
                  <a:rPr lang="en-US" altLang="zh-CN" dirty="0" smtClean="0"/>
                  <a:t>: </a:t>
                </a:r>
                <a:r>
                  <a:rPr lang="zh-CN" altLang="en-US" dirty="0" smtClean="0"/>
                  <a:t>迪克斯特拉算法</a:t>
                </a:r>
                <a:r>
                  <a:rPr lang="zh-CN" altLang="en-US" dirty="0"/>
                  <a:t>求</a:t>
                </a:r>
                <a:r>
                  <a:rPr lang="zh-CN" altLang="en-US" dirty="0" smtClean="0"/>
                  <a:t>出连通无向加权图中两个顶点之间的最短通路的长度</a:t>
                </a:r>
                <a:r>
                  <a:rPr lang="en-US" altLang="zh-CN" dirty="0" smtClean="0"/>
                  <a:t>.</a:t>
                </a:r>
              </a:p>
              <a:p>
                <a:endParaRPr lang="en-US" altLang="zh-CN" dirty="0" smtClean="0"/>
              </a:p>
              <a:p>
                <a:r>
                  <a:rPr lang="zh-CN" altLang="en-US" dirty="0" smtClean="0"/>
                  <a:t>定理</a:t>
                </a:r>
                <a:r>
                  <a:rPr lang="en-US" altLang="zh-CN" dirty="0" smtClean="0"/>
                  <a:t>: </a:t>
                </a:r>
                <a:r>
                  <a:rPr lang="zh-CN" altLang="en-US" dirty="0" smtClean="0"/>
                  <a:t>迪克斯特拉算法使用</a:t>
                </a:r>
                <a14:m>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𝑜</m:t>
                        </m:r>
                        <m:r>
                          <a:rPr lang="en-US" altLang="zh-CN" b="0" i="1" smtClean="0">
                            <a:latin typeface="Cambria Math" panose="02040503050406030204" pitchFamily="18" charset="0"/>
                          </a:rPr>
                          <m:t>(</m:t>
                        </m:r>
                        <m:r>
                          <a:rPr lang="en-US" altLang="zh-CN" b="0" i="1" smtClean="0">
                            <a:latin typeface="Cambria Math" panose="02040503050406030204" pitchFamily="18" charset="0"/>
                          </a:rPr>
                          <m:t>𝑛</m:t>
                        </m:r>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rPr>
                      <m:t>)</m:t>
                    </m:r>
                  </m:oMath>
                </a14:m>
                <a:r>
                  <a:rPr lang="zh-CN" altLang="en-US" dirty="0" smtClean="0"/>
                  <a:t>次运算</a:t>
                </a:r>
                <a:r>
                  <a:rPr lang="en-US" altLang="zh-CN" dirty="0" smtClean="0"/>
                  <a:t>(</a:t>
                </a:r>
                <a:r>
                  <a:rPr lang="zh-CN" altLang="en-US" dirty="0" smtClean="0"/>
                  <a:t>加法和比较</a:t>
                </a:r>
                <a:r>
                  <a:rPr lang="en-US" altLang="zh-CN" dirty="0" smtClean="0"/>
                  <a:t>)</a:t>
                </a:r>
                <a:r>
                  <a:rPr lang="zh-CN" altLang="en-US" dirty="0" smtClean="0"/>
                  <a:t>求出含有</a:t>
                </a:r>
                <a:r>
                  <a:rPr lang="en-US" altLang="zh-CN" dirty="0" smtClean="0"/>
                  <a:t>n</a:t>
                </a:r>
                <a:r>
                  <a:rPr lang="zh-CN" altLang="en-US" dirty="0" smtClean="0"/>
                  <a:t>个顶点的连通简单无向加权图中两个顶点之间最短通路的长度</a:t>
                </a:r>
                <a:r>
                  <a:rPr lang="en-US" altLang="zh-CN" dirty="0"/>
                  <a:t>.</a:t>
                </a: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999" t="-1310" r="-111"/>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98E11D53-076A-4036-A902-DBB501F2066B}"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183</a:t>
            </a:fld>
            <a:endParaRPr lang="zh-CN" altLang="en-US" dirty="0"/>
          </a:p>
        </p:txBody>
      </p:sp>
    </p:spTree>
    <p:extLst>
      <p:ext uri="{BB962C8B-B14F-4D97-AF65-F5344CB8AC3E}">
        <p14:creationId xmlns:p14="http://schemas.microsoft.com/office/powerpoint/2010/main" val="504299898"/>
      </p:ext>
    </p:extLst>
  </p:cSld>
  <p:clrMapOvr>
    <a:masterClrMapping/>
  </p:clrMapOvr>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旅行</a:t>
            </a:r>
            <a:r>
              <a:rPr lang="zh-CN" altLang="en-US" dirty="0" smtClean="0"/>
              <a:t>商问题</a:t>
            </a:r>
            <a:endParaRPr lang="zh-CN" altLang="en-US" dirty="0"/>
          </a:p>
        </p:txBody>
      </p:sp>
      <p:sp>
        <p:nvSpPr>
          <p:cNvPr id="3" name="内容占位符 2"/>
          <p:cNvSpPr>
            <a:spLocks noGrp="1"/>
          </p:cNvSpPr>
          <p:nvPr>
            <p:ph idx="1"/>
          </p:nvPr>
        </p:nvSpPr>
        <p:spPr/>
        <p:txBody>
          <a:bodyPr/>
          <a:lstStyle/>
          <a:p>
            <a:r>
              <a:rPr lang="zh-CN" altLang="en-US" dirty="0"/>
              <a:t>一</a:t>
            </a:r>
            <a:r>
              <a:rPr lang="zh-CN" altLang="en-US" dirty="0" smtClean="0"/>
              <a:t>位旅行商想要访问</a:t>
            </a:r>
            <a:r>
              <a:rPr lang="en-US" altLang="zh-CN" dirty="0" smtClean="0"/>
              <a:t>n</a:t>
            </a:r>
            <a:r>
              <a:rPr lang="zh-CN" altLang="en-US" dirty="0" smtClean="0"/>
              <a:t>个城市中的每个城市恰好一次</a:t>
            </a:r>
            <a:r>
              <a:rPr lang="en-US" altLang="zh-CN" dirty="0" smtClean="0"/>
              <a:t>, </a:t>
            </a:r>
            <a:r>
              <a:rPr lang="zh-CN" altLang="en-US" dirty="0" smtClean="0"/>
              <a:t>并返回出发点</a:t>
            </a:r>
            <a:r>
              <a:rPr lang="en-US" altLang="zh-CN" dirty="0" smtClean="0"/>
              <a:t>. </a:t>
            </a:r>
            <a:r>
              <a:rPr lang="zh-CN" altLang="en-US" dirty="0" smtClean="0"/>
              <a:t>他应当以什么顺序访问这些城市以使得旅行总距离最短</a:t>
            </a:r>
            <a:r>
              <a:rPr lang="en-US" altLang="zh-CN" dirty="0" smtClean="0"/>
              <a:t>?</a:t>
            </a:r>
            <a:endParaRPr lang="zh-CN" altLang="en-US" dirty="0"/>
          </a:p>
        </p:txBody>
      </p:sp>
      <p:sp>
        <p:nvSpPr>
          <p:cNvPr id="4" name="日期占位符 3"/>
          <p:cNvSpPr>
            <a:spLocks noGrp="1"/>
          </p:cNvSpPr>
          <p:nvPr>
            <p:ph type="dt" sz="half" idx="10"/>
          </p:nvPr>
        </p:nvSpPr>
        <p:spPr/>
        <p:txBody>
          <a:bodyPr/>
          <a:lstStyle/>
          <a:p>
            <a:fld id="{22E44F66-D18D-4CA7-B3FC-D9C78FA7349F}"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184</a:t>
            </a:fld>
            <a:endParaRPr lang="zh-CN" altLang="en-US" dirty="0"/>
          </a:p>
        </p:txBody>
      </p:sp>
      <p:pic>
        <p:nvPicPr>
          <p:cNvPr id="7" name="图片 6"/>
          <p:cNvPicPr>
            <a:picLocks noChangeAspect="1"/>
          </p:cNvPicPr>
          <p:nvPr/>
        </p:nvPicPr>
        <p:blipFill>
          <a:blip r:embed="rId2"/>
          <a:stretch>
            <a:fillRect/>
          </a:stretch>
        </p:blipFill>
        <p:spPr>
          <a:xfrm>
            <a:off x="4038600" y="2286000"/>
            <a:ext cx="3763800" cy="2908800"/>
          </a:xfrm>
          <a:prstGeom prst="rect">
            <a:avLst/>
          </a:prstGeom>
        </p:spPr>
      </p:pic>
    </p:spTree>
    <p:extLst>
      <p:ext uri="{BB962C8B-B14F-4D97-AF65-F5344CB8AC3E}">
        <p14:creationId xmlns:p14="http://schemas.microsoft.com/office/powerpoint/2010/main" val="2564391246"/>
      </p:ext>
    </p:extLst>
  </p:cSld>
  <p:clrMapOvr>
    <a:masterClrMapping/>
  </p:clrMapOvr>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旅行</a:t>
            </a:r>
            <a:r>
              <a:rPr lang="zh-CN" altLang="en-US" dirty="0" smtClean="0"/>
              <a:t>商问题</a:t>
            </a:r>
            <a:endParaRPr lang="zh-CN" altLang="en-US" dirty="0"/>
          </a:p>
        </p:txBody>
      </p:sp>
      <p:sp>
        <p:nvSpPr>
          <p:cNvPr id="3" name="内容占位符 2"/>
          <p:cNvSpPr>
            <a:spLocks noGrp="1"/>
          </p:cNvSpPr>
          <p:nvPr>
            <p:ph idx="1"/>
          </p:nvPr>
        </p:nvSpPr>
        <p:spPr/>
        <p:txBody>
          <a:bodyPr/>
          <a:lstStyle/>
          <a:p>
            <a:r>
              <a:rPr lang="zh-CN" altLang="en-US" dirty="0" smtClean="0"/>
              <a:t>假设他从北京出发</a:t>
            </a:r>
            <a:r>
              <a:rPr lang="en-US" altLang="zh-CN" dirty="0" smtClean="0"/>
              <a:t>(</a:t>
            </a:r>
            <a:r>
              <a:rPr lang="zh-CN" altLang="en-US" dirty="0" smtClean="0"/>
              <a:t>因为这城市必须是回路的一部分</a:t>
            </a:r>
            <a:r>
              <a:rPr lang="en-US" altLang="zh-CN" dirty="0" smtClean="0"/>
              <a:t>) , </a:t>
            </a:r>
            <a:r>
              <a:rPr lang="zh-CN" altLang="en-US" dirty="0" smtClean="0"/>
              <a:t>然后检查他访问其他</a:t>
            </a:r>
            <a:r>
              <a:rPr lang="en-US" altLang="zh-CN" dirty="0" smtClean="0"/>
              <a:t>4</a:t>
            </a:r>
            <a:r>
              <a:rPr lang="zh-CN" altLang="en-US" dirty="0" smtClean="0"/>
              <a:t>个城市然后返回北京的所有的可能方式</a:t>
            </a:r>
            <a:r>
              <a:rPr lang="en-US" altLang="zh-CN" dirty="0" smtClean="0"/>
              <a:t>(</a:t>
            </a:r>
            <a:r>
              <a:rPr lang="zh-CN" altLang="en-US" dirty="0" smtClean="0"/>
              <a:t>从别处出发将产生相同的回路</a:t>
            </a:r>
            <a:r>
              <a:rPr lang="en-US" altLang="zh-CN" dirty="0" smtClean="0"/>
              <a:t>), </a:t>
            </a:r>
            <a:r>
              <a:rPr lang="zh-CN" altLang="en-US" dirty="0" smtClean="0"/>
              <a:t>该回路共有</a:t>
            </a:r>
            <a:r>
              <a:rPr lang="en-US" altLang="zh-CN" dirty="0" smtClean="0"/>
              <a:t>24</a:t>
            </a:r>
            <a:r>
              <a:rPr lang="zh-CN" altLang="en-US" dirty="0" smtClean="0"/>
              <a:t>条</a:t>
            </a:r>
            <a:r>
              <a:rPr lang="en-US" altLang="zh-CN" dirty="0" smtClean="0"/>
              <a:t>. </a:t>
            </a:r>
            <a:r>
              <a:rPr lang="zh-CN" altLang="en-US" dirty="0" smtClean="0"/>
              <a:t>因为往返路程距离相同</a:t>
            </a:r>
            <a:r>
              <a:rPr lang="en-US" altLang="zh-CN" dirty="0" smtClean="0"/>
              <a:t>, </a:t>
            </a:r>
            <a:r>
              <a:rPr lang="zh-CN" altLang="en-US" dirty="0" smtClean="0"/>
              <a:t>所以求最短总距离时</a:t>
            </a:r>
            <a:r>
              <a:rPr lang="en-US" altLang="zh-CN" dirty="0" smtClean="0"/>
              <a:t>, </a:t>
            </a:r>
            <a:r>
              <a:rPr lang="zh-CN" altLang="en-US" dirty="0" smtClean="0"/>
              <a:t>只需要考虑</a:t>
            </a:r>
            <a:r>
              <a:rPr lang="en-US" altLang="zh-CN" dirty="0" smtClean="0"/>
              <a:t>12</a:t>
            </a:r>
            <a:r>
              <a:rPr lang="zh-CN" altLang="en-US" dirty="0" smtClean="0"/>
              <a:t>条不同的回路即可</a:t>
            </a:r>
            <a:r>
              <a:rPr lang="en-US" altLang="zh-CN" dirty="0" smtClean="0"/>
              <a:t>. </a:t>
            </a:r>
            <a:r>
              <a:rPr lang="zh-CN" altLang="en-US" dirty="0" smtClean="0"/>
              <a:t>罗列出所有的回路以及它的距离</a:t>
            </a:r>
            <a:r>
              <a:rPr lang="en-US" altLang="zh-CN" dirty="0" smtClean="0"/>
              <a:t>, </a:t>
            </a:r>
            <a:r>
              <a:rPr lang="zh-CN" altLang="en-US" dirty="0" smtClean="0"/>
              <a:t>如下表所示</a:t>
            </a:r>
            <a:r>
              <a:rPr lang="en-US" altLang="zh-CN" dirty="0" smtClean="0"/>
              <a:t>: </a:t>
            </a:r>
          </a:p>
          <a:p>
            <a:endParaRPr lang="zh-CN" altLang="en-US" dirty="0"/>
          </a:p>
        </p:txBody>
      </p:sp>
      <p:sp>
        <p:nvSpPr>
          <p:cNvPr id="4" name="日期占位符 3"/>
          <p:cNvSpPr>
            <a:spLocks noGrp="1"/>
          </p:cNvSpPr>
          <p:nvPr>
            <p:ph type="dt" sz="half" idx="10"/>
          </p:nvPr>
        </p:nvSpPr>
        <p:spPr/>
        <p:txBody>
          <a:bodyPr/>
          <a:lstStyle/>
          <a:p>
            <a:fld id="{68DE0305-1B5A-4A19-9B00-51F28B004AA8}"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185</a:t>
            </a:fld>
            <a:endParaRPr lang="zh-CN" altLang="en-US" dirty="0"/>
          </a:p>
        </p:txBody>
      </p:sp>
      <p:pic>
        <p:nvPicPr>
          <p:cNvPr id="7" name="图片 6"/>
          <p:cNvPicPr>
            <a:picLocks noChangeAspect="1"/>
          </p:cNvPicPr>
          <p:nvPr/>
        </p:nvPicPr>
        <p:blipFill>
          <a:blip r:embed="rId2"/>
          <a:stretch>
            <a:fillRect/>
          </a:stretch>
        </p:blipFill>
        <p:spPr>
          <a:xfrm>
            <a:off x="4206844" y="3200400"/>
            <a:ext cx="3763800" cy="2908800"/>
          </a:xfrm>
          <a:prstGeom prst="rect">
            <a:avLst/>
          </a:prstGeom>
        </p:spPr>
      </p:pic>
    </p:spTree>
    <p:extLst>
      <p:ext uri="{BB962C8B-B14F-4D97-AF65-F5344CB8AC3E}">
        <p14:creationId xmlns:p14="http://schemas.microsoft.com/office/powerpoint/2010/main" val="3881452281"/>
      </p:ext>
    </p:extLst>
  </p:cSld>
  <p:clrMapOvr>
    <a:masterClrMapping/>
  </p:clrMapOvr>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旅行</a:t>
            </a:r>
            <a:r>
              <a:rPr lang="zh-CN" altLang="en-US" dirty="0" smtClean="0"/>
              <a:t>商问题</a:t>
            </a:r>
            <a:endParaRPr lang="zh-CN" altLang="en-US" dirty="0"/>
          </a:p>
        </p:txBody>
      </p:sp>
      <p:sp>
        <p:nvSpPr>
          <p:cNvPr id="3" name="内容占位符 2"/>
          <p:cNvSpPr>
            <a:spLocks noGrp="1"/>
          </p:cNvSpPr>
          <p:nvPr>
            <p:ph idx="1"/>
          </p:nvPr>
        </p:nvSpPr>
        <p:spPr/>
        <p:txBody>
          <a:bodyPr>
            <a:normAutofit/>
          </a:bodyPr>
          <a:lstStyle/>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smtClean="0"/>
          </a:p>
          <a:p>
            <a:pPr marL="0" indent="0">
              <a:buNone/>
            </a:pPr>
            <a:endParaRPr lang="en-US" altLang="zh-CN" dirty="0"/>
          </a:p>
          <a:p>
            <a:r>
              <a:rPr lang="zh-CN" altLang="en-US" dirty="0" smtClean="0"/>
              <a:t>从表中可以看到使用北京</a:t>
            </a:r>
            <a:r>
              <a:rPr lang="en-US" altLang="zh-CN" dirty="0" smtClean="0"/>
              <a:t>-</a:t>
            </a:r>
            <a:r>
              <a:rPr lang="zh-CN" altLang="en-US" dirty="0" smtClean="0"/>
              <a:t>西安</a:t>
            </a:r>
            <a:r>
              <a:rPr lang="en-US" altLang="zh-CN" dirty="0" smtClean="0"/>
              <a:t>-</a:t>
            </a:r>
            <a:r>
              <a:rPr lang="zh-CN" altLang="en-US" dirty="0" smtClean="0"/>
              <a:t>深圳</a:t>
            </a:r>
            <a:r>
              <a:rPr lang="en-US" altLang="zh-CN" dirty="0" smtClean="0"/>
              <a:t>-</a:t>
            </a:r>
            <a:r>
              <a:rPr lang="zh-CN" altLang="en-US" dirty="0" smtClean="0"/>
              <a:t>武汉</a:t>
            </a:r>
            <a:r>
              <a:rPr lang="en-US" altLang="zh-CN" dirty="0" smtClean="0"/>
              <a:t>-</a:t>
            </a:r>
            <a:r>
              <a:rPr lang="zh-CN" altLang="en-US" dirty="0" smtClean="0"/>
              <a:t>成都</a:t>
            </a:r>
            <a:r>
              <a:rPr lang="en-US" altLang="zh-CN" dirty="0" smtClean="0"/>
              <a:t>-</a:t>
            </a:r>
            <a:r>
              <a:rPr lang="zh-CN" altLang="en-US" dirty="0" smtClean="0"/>
              <a:t>北京这条回路是最优的</a:t>
            </a:r>
            <a:r>
              <a:rPr lang="en-US" altLang="zh-CN" dirty="0" smtClean="0"/>
              <a:t>, </a:t>
            </a:r>
            <a:r>
              <a:rPr lang="zh-CN" altLang="en-US" dirty="0" smtClean="0"/>
              <a:t>具有</a:t>
            </a:r>
            <a:r>
              <a:rPr lang="en-US" altLang="zh-CN" dirty="0" smtClean="0"/>
              <a:t>458</a:t>
            </a:r>
            <a:r>
              <a:rPr lang="zh-CN" altLang="en-US" dirty="0" smtClean="0"/>
              <a:t>的距离</a:t>
            </a:r>
            <a:r>
              <a:rPr lang="en-US" altLang="zh-CN" dirty="0" smtClean="0"/>
              <a:t>.</a:t>
            </a:r>
            <a:endParaRPr lang="zh-CN" altLang="en-US" dirty="0"/>
          </a:p>
        </p:txBody>
      </p:sp>
      <p:sp>
        <p:nvSpPr>
          <p:cNvPr id="4" name="日期占位符 3"/>
          <p:cNvSpPr>
            <a:spLocks noGrp="1"/>
          </p:cNvSpPr>
          <p:nvPr>
            <p:ph type="dt" sz="half" idx="10"/>
          </p:nvPr>
        </p:nvSpPr>
        <p:spPr/>
        <p:txBody>
          <a:bodyPr/>
          <a:lstStyle/>
          <a:p>
            <a:fld id="{6EA163DF-8A13-46B9-A53A-F9ED337ED832}"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smtClean="0"/>
              <a:t>华中科技大学人机物系统与安全实验室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186</a:t>
            </a:fld>
            <a:endParaRPr lang="zh-CN" altLang="en-US" dirty="0"/>
          </a:p>
        </p:txBody>
      </p:sp>
      <p:graphicFrame>
        <p:nvGraphicFramePr>
          <p:cNvPr id="8" name="表格 7"/>
          <p:cNvGraphicFramePr>
            <a:graphicFrameLocks noGrp="1"/>
          </p:cNvGraphicFramePr>
          <p:nvPr>
            <p:extLst>
              <p:ext uri="{D42A27DB-BD31-4B8C-83A1-F6EECF244321}">
                <p14:modId xmlns:p14="http://schemas.microsoft.com/office/powerpoint/2010/main" val="1280010841"/>
              </p:ext>
            </p:extLst>
          </p:nvPr>
        </p:nvGraphicFramePr>
        <p:xfrm>
          <a:off x="3276600" y="904660"/>
          <a:ext cx="6350000" cy="3962400"/>
        </p:xfrm>
        <a:graphic>
          <a:graphicData uri="http://schemas.openxmlformats.org/drawingml/2006/table">
            <a:tbl>
              <a:tblPr firstRow="1" bandRow="1">
                <a:tableStyleId>{5C22544A-7EE6-4342-B048-85BDC9FD1C3A}</a:tableStyleId>
              </a:tblPr>
              <a:tblGrid>
                <a:gridCol w="2758281">
                  <a:extLst>
                    <a:ext uri="{9D8B030D-6E8A-4147-A177-3AD203B41FA5}">
                      <a16:colId xmlns:a16="http://schemas.microsoft.com/office/drawing/2014/main" xmlns="" val="3066425083"/>
                    </a:ext>
                  </a:extLst>
                </a:gridCol>
                <a:gridCol w="3591719">
                  <a:extLst>
                    <a:ext uri="{9D8B030D-6E8A-4147-A177-3AD203B41FA5}">
                      <a16:colId xmlns:a16="http://schemas.microsoft.com/office/drawing/2014/main" xmlns="" val="4224456861"/>
                    </a:ext>
                  </a:extLst>
                </a:gridCol>
              </a:tblGrid>
              <a:tr h="290472">
                <a:tc>
                  <a:txBody>
                    <a:bodyPr/>
                    <a:lstStyle/>
                    <a:p>
                      <a:r>
                        <a:rPr lang="zh-CN" altLang="en-US" sz="1400" dirty="0" smtClean="0">
                          <a:latin typeface="微软雅黑" panose="020B0503020204020204" pitchFamily="34" charset="-122"/>
                          <a:ea typeface="微软雅黑" panose="020B0503020204020204" pitchFamily="34" charset="-122"/>
                        </a:rPr>
                        <a:t>路线</a:t>
                      </a:r>
                      <a:endParaRPr lang="zh-CN" altLang="en-US" sz="1400" dirty="0">
                        <a:latin typeface="微软雅黑" panose="020B0503020204020204" pitchFamily="34" charset="-122"/>
                        <a:ea typeface="微软雅黑" panose="020B0503020204020204" pitchFamily="34" charset="-122"/>
                      </a:endParaRPr>
                    </a:p>
                  </a:txBody>
                  <a:tcPr/>
                </a:tc>
                <a:tc>
                  <a:txBody>
                    <a:bodyPr/>
                    <a:lstStyle/>
                    <a:p>
                      <a:r>
                        <a:rPr lang="zh-CN" altLang="en-US" sz="1400" dirty="0" smtClean="0">
                          <a:latin typeface="微软雅黑" panose="020B0503020204020204" pitchFamily="34" charset="-122"/>
                          <a:ea typeface="微软雅黑" panose="020B0503020204020204" pitchFamily="34" charset="-122"/>
                        </a:rPr>
                        <a:t>总距离</a:t>
                      </a:r>
                      <a:endParaRPr lang="zh-CN" altLang="en-US" sz="14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xmlns="" val="2708711426"/>
                  </a:ext>
                </a:extLst>
              </a:tr>
              <a:tr h="290472">
                <a:tc>
                  <a:txBody>
                    <a:bodyPr/>
                    <a:lstStyle/>
                    <a:p>
                      <a:r>
                        <a:rPr lang="zh-CN" altLang="en-US" sz="1400" dirty="0" smtClean="0">
                          <a:latin typeface="微软雅黑" panose="020B0503020204020204" pitchFamily="34" charset="-122"/>
                          <a:ea typeface="微软雅黑" panose="020B0503020204020204" pitchFamily="34" charset="-122"/>
                        </a:rPr>
                        <a:t>北京</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西安</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武汉</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成都</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深圳</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北京</a:t>
                      </a:r>
                      <a:endParaRPr lang="zh-CN" altLang="en-US" sz="1400" dirty="0">
                        <a:latin typeface="微软雅黑" panose="020B0503020204020204" pitchFamily="34" charset="-122"/>
                        <a:ea typeface="微软雅黑" panose="020B0503020204020204" pitchFamily="34" charset="-122"/>
                      </a:endParaRPr>
                    </a:p>
                  </a:txBody>
                  <a:tcPr/>
                </a:tc>
                <a:tc>
                  <a:txBody>
                    <a:bodyPr/>
                    <a:lstStyle/>
                    <a:p>
                      <a:r>
                        <a:rPr lang="en-US" altLang="zh-CN" sz="1400" dirty="0" smtClean="0">
                          <a:latin typeface="微软雅黑" panose="020B0503020204020204" pitchFamily="34" charset="-122"/>
                          <a:ea typeface="微软雅黑" panose="020B0503020204020204" pitchFamily="34" charset="-122"/>
                        </a:rPr>
                        <a:t>610</a:t>
                      </a:r>
                      <a:endParaRPr lang="zh-CN" altLang="en-US" sz="14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xmlns="" val="3533474483"/>
                  </a:ext>
                </a:extLst>
              </a:tr>
              <a:tr h="2904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dirty="0" smtClean="0">
                          <a:latin typeface="微软雅黑" panose="020B0503020204020204" pitchFamily="34" charset="-122"/>
                          <a:ea typeface="微软雅黑" panose="020B0503020204020204" pitchFamily="34" charset="-122"/>
                        </a:rPr>
                        <a:t>北京</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西安</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武汉</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深圳</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成都</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北京</a:t>
                      </a:r>
                      <a:endParaRPr lang="zh-CN" altLang="en-US" sz="1400" dirty="0">
                        <a:latin typeface="微软雅黑" panose="020B0503020204020204" pitchFamily="34" charset="-122"/>
                        <a:ea typeface="微软雅黑" panose="020B0503020204020204" pitchFamily="34" charset="-122"/>
                      </a:endParaRPr>
                    </a:p>
                  </a:txBody>
                  <a:tcPr/>
                </a:tc>
                <a:tc>
                  <a:txBody>
                    <a:bodyPr/>
                    <a:lstStyle/>
                    <a:p>
                      <a:r>
                        <a:rPr lang="en-US" altLang="zh-CN" sz="1400" dirty="0" smtClean="0">
                          <a:latin typeface="微软雅黑" panose="020B0503020204020204" pitchFamily="34" charset="-122"/>
                          <a:ea typeface="微软雅黑" panose="020B0503020204020204" pitchFamily="34" charset="-122"/>
                        </a:rPr>
                        <a:t>516</a:t>
                      </a:r>
                      <a:endParaRPr lang="zh-CN" altLang="en-US" sz="14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xmlns="" val="3836346419"/>
                  </a:ext>
                </a:extLst>
              </a:tr>
              <a:tr h="2904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dirty="0" smtClean="0">
                          <a:latin typeface="微软雅黑" panose="020B0503020204020204" pitchFamily="34" charset="-122"/>
                          <a:ea typeface="微软雅黑" panose="020B0503020204020204" pitchFamily="34" charset="-122"/>
                        </a:rPr>
                        <a:t>北京</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西安</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深圳</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成都</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武汉</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北京</a:t>
                      </a:r>
                      <a:endParaRPr lang="zh-CN" altLang="en-US" sz="1400" dirty="0">
                        <a:latin typeface="微软雅黑" panose="020B0503020204020204" pitchFamily="34" charset="-122"/>
                        <a:ea typeface="微软雅黑" panose="020B0503020204020204" pitchFamily="34" charset="-122"/>
                      </a:endParaRPr>
                    </a:p>
                  </a:txBody>
                  <a:tcPr/>
                </a:tc>
                <a:tc>
                  <a:txBody>
                    <a:bodyPr/>
                    <a:lstStyle/>
                    <a:p>
                      <a:r>
                        <a:rPr lang="en-US" altLang="zh-CN" sz="1400" dirty="0" smtClean="0">
                          <a:latin typeface="微软雅黑" panose="020B0503020204020204" pitchFamily="34" charset="-122"/>
                          <a:ea typeface="微软雅黑" panose="020B0503020204020204" pitchFamily="34" charset="-122"/>
                        </a:rPr>
                        <a:t>588</a:t>
                      </a:r>
                      <a:endParaRPr lang="zh-CN" altLang="en-US" sz="14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xmlns="" val="1226051692"/>
                  </a:ext>
                </a:extLst>
              </a:tr>
              <a:tr h="2904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dirty="0" smtClean="0">
                          <a:latin typeface="微软雅黑" panose="020B0503020204020204" pitchFamily="34" charset="-122"/>
                          <a:ea typeface="微软雅黑" panose="020B0503020204020204" pitchFamily="34" charset="-122"/>
                        </a:rPr>
                        <a:t>北京</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西安</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深圳</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武汉</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成都</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北京</a:t>
                      </a:r>
                      <a:endParaRPr lang="zh-CN" altLang="en-US" sz="1400" dirty="0">
                        <a:latin typeface="微软雅黑" panose="020B0503020204020204" pitchFamily="34" charset="-122"/>
                        <a:ea typeface="微软雅黑" panose="020B0503020204020204" pitchFamily="34" charset="-122"/>
                      </a:endParaRPr>
                    </a:p>
                  </a:txBody>
                  <a:tcPr/>
                </a:tc>
                <a:tc>
                  <a:txBody>
                    <a:bodyPr/>
                    <a:lstStyle/>
                    <a:p>
                      <a:r>
                        <a:rPr lang="en-US" altLang="zh-CN" sz="1400" dirty="0" smtClean="0">
                          <a:latin typeface="微软雅黑" panose="020B0503020204020204" pitchFamily="34" charset="-122"/>
                          <a:ea typeface="微软雅黑" panose="020B0503020204020204" pitchFamily="34" charset="-122"/>
                        </a:rPr>
                        <a:t>458</a:t>
                      </a:r>
                      <a:endParaRPr lang="zh-CN" altLang="en-US" sz="14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xmlns="" val="3305648621"/>
                  </a:ext>
                </a:extLst>
              </a:tr>
              <a:tr h="2904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dirty="0" smtClean="0">
                          <a:latin typeface="微软雅黑" panose="020B0503020204020204" pitchFamily="34" charset="-122"/>
                          <a:ea typeface="微软雅黑" panose="020B0503020204020204" pitchFamily="34" charset="-122"/>
                        </a:rPr>
                        <a:t>北京</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西安</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成都</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深圳</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武汉</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北京</a:t>
                      </a:r>
                      <a:endParaRPr lang="zh-CN" altLang="en-US" sz="1400" dirty="0">
                        <a:latin typeface="微软雅黑" panose="020B0503020204020204" pitchFamily="34" charset="-122"/>
                        <a:ea typeface="微软雅黑" panose="020B0503020204020204" pitchFamily="34" charset="-122"/>
                      </a:endParaRPr>
                    </a:p>
                  </a:txBody>
                  <a:tcPr/>
                </a:tc>
                <a:tc>
                  <a:txBody>
                    <a:bodyPr/>
                    <a:lstStyle/>
                    <a:p>
                      <a:r>
                        <a:rPr lang="en-US" altLang="zh-CN" sz="1400" dirty="0" smtClean="0">
                          <a:latin typeface="微软雅黑" panose="020B0503020204020204" pitchFamily="34" charset="-122"/>
                          <a:ea typeface="微软雅黑" panose="020B0503020204020204" pitchFamily="34" charset="-122"/>
                        </a:rPr>
                        <a:t>540</a:t>
                      </a:r>
                      <a:endParaRPr lang="zh-CN" altLang="en-US" sz="14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xmlns="" val="273146296"/>
                  </a:ext>
                </a:extLst>
              </a:tr>
              <a:tr h="2904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dirty="0" smtClean="0">
                          <a:latin typeface="微软雅黑" panose="020B0503020204020204" pitchFamily="34" charset="-122"/>
                          <a:ea typeface="微软雅黑" panose="020B0503020204020204" pitchFamily="34" charset="-122"/>
                        </a:rPr>
                        <a:t>北京</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西安</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成都</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武汉</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深圳</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北京</a:t>
                      </a:r>
                      <a:endParaRPr lang="zh-CN" altLang="en-US" sz="1400" dirty="0">
                        <a:latin typeface="微软雅黑" panose="020B0503020204020204" pitchFamily="34" charset="-122"/>
                        <a:ea typeface="微软雅黑" panose="020B0503020204020204" pitchFamily="34" charset="-122"/>
                      </a:endParaRPr>
                    </a:p>
                  </a:txBody>
                  <a:tcPr/>
                </a:tc>
                <a:tc>
                  <a:txBody>
                    <a:bodyPr/>
                    <a:lstStyle/>
                    <a:p>
                      <a:r>
                        <a:rPr lang="en-US" altLang="zh-CN" sz="1400" dirty="0" smtClean="0">
                          <a:latin typeface="微软雅黑" panose="020B0503020204020204" pitchFamily="34" charset="-122"/>
                          <a:ea typeface="微软雅黑" panose="020B0503020204020204" pitchFamily="34" charset="-122"/>
                        </a:rPr>
                        <a:t>504</a:t>
                      </a:r>
                      <a:endParaRPr lang="zh-CN" altLang="en-US" sz="14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xmlns="" val="639837022"/>
                  </a:ext>
                </a:extLst>
              </a:tr>
              <a:tr h="2904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dirty="0" smtClean="0">
                          <a:latin typeface="微软雅黑" panose="020B0503020204020204" pitchFamily="34" charset="-122"/>
                          <a:ea typeface="微软雅黑" panose="020B0503020204020204" pitchFamily="34" charset="-122"/>
                        </a:rPr>
                        <a:t>北京</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成都</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西安</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武汉</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深圳</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北京</a:t>
                      </a:r>
                      <a:endParaRPr lang="zh-CN" altLang="en-US" sz="1400" b="1" dirty="0">
                        <a:latin typeface="微软雅黑" panose="020B0503020204020204" pitchFamily="34" charset="-122"/>
                        <a:ea typeface="微软雅黑" panose="020B0503020204020204" pitchFamily="34" charset="-122"/>
                      </a:endParaRPr>
                    </a:p>
                  </a:txBody>
                  <a:tcPr/>
                </a:tc>
                <a:tc>
                  <a:txBody>
                    <a:bodyPr/>
                    <a:lstStyle/>
                    <a:p>
                      <a:r>
                        <a:rPr lang="en-US" altLang="zh-CN" sz="1400" dirty="0" smtClean="0">
                          <a:latin typeface="微软雅黑" panose="020B0503020204020204" pitchFamily="34" charset="-122"/>
                          <a:ea typeface="微软雅黑" panose="020B0503020204020204" pitchFamily="34" charset="-122"/>
                        </a:rPr>
                        <a:t>598</a:t>
                      </a:r>
                      <a:endParaRPr lang="zh-CN" altLang="en-US" sz="14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xmlns="" val="4099457691"/>
                  </a:ext>
                </a:extLst>
              </a:tr>
              <a:tr h="2904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dirty="0" smtClean="0">
                          <a:latin typeface="微软雅黑" panose="020B0503020204020204" pitchFamily="34" charset="-122"/>
                          <a:ea typeface="微软雅黑" panose="020B0503020204020204" pitchFamily="34" charset="-122"/>
                        </a:rPr>
                        <a:t>北京</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成都</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西安</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深圳</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武汉</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北京</a:t>
                      </a:r>
                      <a:endParaRPr lang="zh-CN" altLang="en-US" sz="1400" dirty="0">
                        <a:latin typeface="微软雅黑" panose="020B0503020204020204" pitchFamily="34" charset="-122"/>
                        <a:ea typeface="微软雅黑" panose="020B0503020204020204" pitchFamily="34" charset="-122"/>
                      </a:endParaRPr>
                    </a:p>
                  </a:txBody>
                  <a:tcPr/>
                </a:tc>
                <a:tc>
                  <a:txBody>
                    <a:bodyPr/>
                    <a:lstStyle/>
                    <a:p>
                      <a:r>
                        <a:rPr lang="en-US" altLang="zh-CN" sz="1400" dirty="0" smtClean="0">
                          <a:latin typeface="微软雅黑" panose="020B0503020204020204" pitchFamily="34" charset="-122"/>
                          <a:ea typeface="微软雅黑" panose="020B0503020204020204" pitchFamily="34" charset="-122"/>
                        </a:rPr>
                        <a:t>576</a:t>
                      </a:r>
                      <a:endParaRPr lang="zh-CN" altLang="en-US" sz="14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xmlns="" val="540828932"/>
                  </a:ext>
                </a:extLst>
              </a:tr>
              <a:tr h="2904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dirty="0" smtClean="0">
                          <a:latin typeface="微软雅黑" panose="020B0503020204020204" pitchFamily="34" charset="-122"/>
                          <a:ea typeface="微软雅黑" panose="020B0503020204020204" pitchFamily="34" charset="-122"/>
                        </a:rPr>
                        <a:t>北京</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成都</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深圳</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西安</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武汉</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北京</a:t>
                      </a:r>
                      <a:endParaRPr lang="zh-CN" altLang="en-US" sz="1400" dirty="0">
                        <a:latin typeface="微软雅黑" panose="020B0503020204020204" pitchFamily="34" charset="-122"/>
                        <a:ea typeface="微软雅黑" panose="020B0503020204020204" pitchFamily="34" charset="-122"/>
                      </a:endParaRPr>
                    </a:p>
                  </a:txBody>
                  <a:tcPr/>
                </a:tc>
                <a:tc>
                  <a:txBody>
                    <a:bodyPr/>
                    <a:lstStyle/>
                    <a:p>
                      <a:r>
                        <a:rPr lang="en-US" altLang="zh-CN" sz="1400" dirty="0" smtClean="0">
                          <a:latin typeface="微软雅黑" panose="020B0503020204020204" pitchFamily="34" charset="-122"/>
                          <a:ea typeface="微软雅黑" panose="020B0503020204020204" pitchFamily="34" charset="-122"/>
                        </a:rPr>
                        <a:t>682</a:t>
                      </a:r>
                      <a:endParaRPr lang="zh-CN" altLang="en-US" sz="14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xmlns="" val="148662623"/>
                  </a:ext>
                </a:extLst>
              </a:tr>
              <a:tr h="2904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dirty="0" smtClean="0">
                          <a:latin typeface="微软雅黑" panose="020B0503020204020204" pitchFamily="34" charset="-122"/>
                          <a:ea typeface="微软雅黑" panose="020B0503020204020204" pitchFamily="34" charset="-122"/>
                        </a:rPr>
                        <a:t>北京</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成都</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武汉</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西安</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深圳</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北京</a:t>
                      </a:r>
                      <a:endParaRPr lang="zh-CN" altLang="en-US" sz="1400" dirty="0">
                        <a:latin typeface="微软雅黑" panose="020B0503020204020204" pitchFamily="34" charset="-122"/>
                        <a:ea typeface="微软雅黑" panose="020B0503020204020204" pitchFamily="34" charset="-122"/>
                      </a:endParaRPr>
                    </a:p>
                  </a:txBody>
                  <a:tcPr/>
                </a:tc>
                <a:tc>
                  <a:txBody>
                    <a:bodyPr/>
                    <a:lstStyle/>
                    <a:p>
                      <a:r>
                        <a:rPr lang="en-US" altLang="zh-CN" sz="1400" dirty="0" smtClean="0">
                          <a:latin typeface="微软雅黑" panose="020B0503020204020204" pitchFamily="34" charset="-122"/>
                          <a:ea typeface="微软雅黑" panose="020B0503020204020204" pitchFamily="34" charset="-122"/>
                        </a:rPr>
                        <a:t>646</a:t>
                      </a:r>
                      <a:endParaRPr lang="zh-CN" altLang="en-US" sz="14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xmlns="" val="380986482"/>
                  </a:ext>
                </a:extLst>
              </a:tr>
              <a:tr h="2904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dirty="0" smtClean="0">
                          <a:latin typeface="微软雅黑" panose="020B0503020204020204" pitchFamily="34" charset="-122"/>
                          <a:ea typeface="微软雅黑" panose="020B0503020204020204" pitchFamily="34" charset="-122"/>
                        </a:rPr>
                        <a:t>北京</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武汉</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成都</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深圳</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西安</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北京</a:t>
                      </a:r>
                      <a:endParaRPr lang="zh-CN" altLang="en-US" sz="1400" dirty="0">
                        <a:latin typeface="微软雅黑" panose="020B0503020204020204" pitchFamily="34" charset="-122"/>
                        <a:ea typeface="微软雅黑" panose="020B0503020204020204" pitchFamily="34" charset="-122"/>
                      </a:endParaRPr>
                    </a:p>
                  </a:txBody>
                  <a:tcPr/>
                </a:tc>
                <a:tc>
                  <a:txBody>
                    <a:bodyPr/>
                    <a:lstStyle/>
                    <a:p>
                      <a:r>
                        <a:rPr lang="en-US" altLang="zh-CN" sz="1400" dirty="0" smtClean="0">
                          <a:latin typeface="微软雅黑" panose="020B0503020204020204" pitchFamily="34" charset="-122"/>
                          <a:ea typeface="微软雅黑" panose="020B0503020204020204" pitchFamily="34" charset="-122"/>
                        </a:rPr>
                        <a:t>670</a:t>
                      </a:r>
                      <a:endParaRPr lang="zh-CN" altLang="en-US" sz="14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xmlns="" val="88847106"/>
                  </a:ext>
                </a:extLst>
              </a:tr>
              <a:tr h="2904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dirty="0" smtClean="0">
                          <a:latin typeface="微软雅黑" panose="020B0503020204020204" pitchFamily="34" charset="-122"/>
                          <a:ea typeface="微软雅黑" panose="020B0503020204020204" pitchFamily="34" charset="-122"/>
                        </a:rPr>
                        <a:t>北京</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武汉</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成都</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西安</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深圳</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北京</a:t>
                      </a:r>
                      <a:endParaRPr lang="zh-CN" altLang="en-US" sz="1400" dirty="0">
                        <a:latin typeface="微软雅黑" panose="020B0503020204020204" pitchFamily="34" charset="-122"/>
                        <a:ea typeface="微软雅黑" panose="020B0503020204020204" pitchFamily="34" charset="-122"/>
                      </a:endParaRPr>
                    </a:p>
                  </a:txBody>
                  <a:tcPr/>
                </a:tc>
                <a:tc>
                  <a:txBody>
                    <a:bodyPr/>
                    <a:lstStyle/>
                    <a:p>
                      <a:r>
                        <a:rPr lang="en-US" altLang="zh-CN" sz="1400" dirty="0" smtClean="0">
                          <a:latin typeface="微软雅黑" panose="020B0503020204020204" pitchFamily="34" charset="-122"/>
                          <a:ea typeface="微软雅黑" panose="020B0503020204020204" pitchFamily="34" charset="-122"/>
                        </a:rPr>
                        <a:t>728</a:t>
                      </a:r>
                      <a:endParaRPr lang="zh-CN" altLang="en-US" sz="14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xmlns="" val="2790698305"/>
                  </a:ext>
                </a:extLst>
              </a:tr>
            </a:tbl>
          </a:graphicData>
        </a:graphic>
      </p:graphicFrame>
    </p:spTree>
    <p:extLst>
      <p:ext uri="{BB962C8B-B14F-4D97-AF65-F5344CB8AC3E}">
        <p14:creationId xmlns:p14="http://schemas.microsoft.com/office/powerpoint/2010/main" val="2173626034"/>
      </p:ext>
    </p:extLst>
  </p:cSld>
  <p:clrMapOvr>
    <a:masterClrMapping/>
  </p:clrMapOvr>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旅行</a:t>
            </a:r>
            <a:r>
              <a:rPr lang="zh-CN" altLang="en-US" dirty="0" smtClean="0"/>
              <a:t>商问题</a:t>
            </a:r>
            <a:endParaRPr lang="zh-CN" altLang="en-US" dirty="0"/>
          </a:p>
        </p:txBody>
      </p:sp>
      <p:sp>
        <p:nvSpPr>
          <p:cNvPr id="3" name="内容占位符 2"/>
          <p:cNvSpPr>
            <a:spLocks noGrp="1"/>
          </p:cNvSpPr>
          <p:nvPr>
            <p:ph idx="1"/>
          </p:nvPr>
        </p:nvSpPr>
        <p:spPr/>
        <p:txBody>
          <a:bodyPr>
            <a:normAutofit/>
          </a:bodyPr>
          <a:lstStyle/>
          <a:p>
            <a:r>
              <a:rPr lang="zh-CN" altLang="en-US" dirty="0" smtClean="0"/>
              <a:t>旅行商问题是求加权完全无向图中访问每个顶点恰好一次并且返回出发点的总权值最小的回路</a:t>
            </a:r>
            <a:r>
              <a:rPr lang="en-US" altLang="zh-CN" dirty="0" smtClean="0"/>
              <a:t>. </a:t>
            </a:r>
            <a:r>
              <a:rPr lang="zh-CN" altLang="en-US" dirty="0" smtClean="0"/>
              <a:t>等价于求完全图中总权值最小的哈密顿回路</a:t>
            </a:r>
            <a:r>
              <a:rPr lang="en-US" altLang="zh-CN" dirty="0" smtClean="0"/>
              <a:t>, </a:t>
            </a:r>
            <a:r>
              <a:rPr lang="zh-CN" altLang="en-US" dirty="0" smtClean="0"/>
              <a:t>因为在回路中访问每个顶点恰好一次</a:t>
            </a:r>
            <a:r>
              <a:rPr lang="en-US" altLang="zh-CN" dirty="0" smtClean="0"/>
              <a:t>.</a:t>
            </a:r>
          </a:p>
          <a:p>
            <a:endParaRPr lang="en-US" altLang="zh-CN" dirty="0"/>
          </a:p>
          <a:p>
            <a:r>
              <a:rPr lang="zh-CN" altLang="en-US" dirty="0" smtClean="0"/>
              <a:t>求解该类问题最直接的方法就是检查所有的哈密顿回路</a:t>
            </a:r>
            <a:r>
              <a:rPr lang="en-US" altLang="zh-CN" dirty="0" smtClean="0"/>
              <a:t>, </a:t>
            </a:r>
            <a:r>
              <a:rPr lang="zh-CN" altLang="en-US" dirty="0" smtClean="0"/>
              <a:t>并选择总权值最小的一条回路</a:t>
            </a:r>
            <a:r>
              <a:rPr lang="en-US" altLang="zh-CN" dirty="0" smtClean="0"/>
              <a:t>.</a:t>
            </a:r>
          </a:p>
          <a:p>
            <a:endParaRPr lang="en-US" altLang="zh-CN" dirty="0"/>
          </a:p>
          <a:p>
            <a:r>
              <a:rPr lang="zh-CN" altLang="en-US" dirty="0" smtClean="0"/>
              <a:t>但</a:t>
            </a:r>
            <a:r>
              <a:rPr lang="en-US" altLang="zh-CN" dirty="0" smtClean="0"/>
              <a:t>, </a:t>
            </a:r>
            <a:r>
              <a:rPr lang="zh-CN" altLang="en-US" dirty="0" smtClean="0"/>
              <a:t>在城市太多的情况下</a:t>
            </a:r>
            <a:r>
              <a:rPr lang="en-US" altLang="zh-CN" dirty="0" smtClean="0"/>
              <a:t>, </a:t>
            </a:r>
            <a:r>
              <a:rPr lang="zh-CN" altLang="en-US" dirty="0" smtClean="0"/>
              <a:t>该问题就变得不切实际</a:t>
            </a:r>
            <a:r>
              <a:rPr lang="en-US" altLang="zh-CN" dirty="0" smtClean="0"/>
              <a:t>. </a:t>
            </a:r>
            <a:r>
              <a:rPr lang="zh-CN" altLang="en-US" dirty="0" smtClean="0"/>
              <a:t>解决旅行商问题的实际方法是使用近似算法</a:t>
            </a:r>
            <a:r>
              <a:rPr lang="en-US" altLang="zh-CN" dirty="0" smtClean="0"/>
              <a:t>. </a:t>
            </a:r>
            <a:r>
              <a:rPr lang="zh-CN" altLang="en-US" dirty="0" smtClean="0"/>
              <a:t>我们不再展开</a:t>
            </a:r>
            <a:r>
              <a:rPr lang="en-US" altLang="zh-CN" dirty="0" smtClean="0"/>
              <a:t>, </a:t>
            </a:r>
            <a:r>
              <a:rPr lang="zh-CN" altLang="en-US" dirty="0" smtClean="0"/>
              <a:t>有兴趣的同学可以课外阅读更多文献</a:t>
            </a:r>
            <a:r>
              <a:rPr lang="en-US" altLang="zh-CN" dirty="0" smtClean="0"/>
              <a:t>.</a:t>
            </a:r>
          </a:p>
          <a:p>
            <a:endParaRPr lang="en-US" altLang="zh-CN" dirty="0"/>
          </a:p>
          <a:p>
            <a:endParaRPr lang="en-US" altLang="zh-CN" dirty="0" smtClean="0"/>
          </a:p>
        </p:txBody>
      </p:sp>
      <p:sp>
        <p:nvSpPr>
          <p:cNvPr id="4" name="日期占位符 3"/>
          <p:cNvSpPr>
            <a:spLocks noGrp="1"/>
          </p:cNvSpPr>
          <p:nvPr>
            <p:ph type="dt" sz="half" idx="10"/>
          </p:nvPr>
        </p:nvSpPr>
        <p:spPr/>
        <p:txBody>
          <a:bodyPr/>
          <a:lstStyle/>
          <a:p>
            <a:fld id="{788B3D8D-DBF2-491B-A9F4-1C67BD2584AA}"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187</a:t>
            </a:fld>
            <a:endParaRPr lang="zh-CN" altLang="en-US" dirty="0"/>
          </a:p>
        </p:txBody>
      </p:sp>
    </p:spTree>
    <p:extLst>
      <p:ext uri="{BB962C8B-B14F-4D97-AF65-F5344CB8AC3E}">
        <p14:creationId xmlns:p14="http://schemas.microsoft.com/office/powerpoint/2010/main" val="1953369342"/>
      </p:ext>
    </p:extLst>
  </p:cSld>
  <p:clrMapOvr>
    <a:masterClrMapping/>
  </p:clrMapOvr>
  <p:timing>
    <p:tnLst>
      <p:par>
        <p:cT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第</a:t>
            </a:r>
            <a:r>
              <a:rPr lang="en-US" altLang="zh-CN" dirty="0"/>
              <a:t>3.7</a:t>
            </a:r>
            <a:r>
              <a:rPr lang="zh-CN" altLang="en-US" dirty="0" smtClean="0"/>
              <a:t>节 平面图</a:t>
            </a:r>
            <a:endParaRPr lang="en-US" dirty="0"/>
          </a:p>
        </p:txBody>
      </p:sp>
      <p:sp>
        <p:nvSpPr>
          <p:cNvPr id="3" name="Content Placeholder 2"/>
          <p:cNvSpPr>
            <a:spLocks noGrp="1"/>
          </p:cNvSpPr>
          <p:nvPr>
            <p:ph idx="1"/>
          </p:nvPr>
        </p:nvSpPr>
        <p:spPr/>
        <p:txBody>
          <a:bodyPr/>
          <a:lstStyle/>
          <a:p>
            <a:r>
              <a:rPr lang="zh-CN" altLang="en-US" dirty="0" smtClean="0"/>
              <a:t>欧拉公式</a:t>
            </a:r>
            <a:endParaRPr lang="en-US" altLang="zh-CN" dirty="0" smtClean="0"/>
          </a:p>
          <a:p>
            <a:r>
              <a:rPr lang="zh-CN" altLang="en-US" dirty="0" smtClean="0"/>
              <a:t>库拉图斯基定理</a:t>
            </a:r>
            <a:endParaRPr lang="en-US" dirty="0" smtClean="0"/>
          </a:p>
        </p:txBody>
      </p:sp>
      <p:sp>
        <p:nvSpPr>
          <p:cNvPr id="4" name="日期占位符 3"/>
          <p:cNvSpPr>
            <a:spLocks noGrp="1"/>
          </p:cNvSpPr>
          <p:nvPr>
            <p:ph type="dt" sz="half" idx="10"/>
          </p:nvPr>
        </p:nvSpPr>
        <p:spPr/>
        <p:txBody>
          <a:bodyPr/>
          <a:lstStyle/>
          <a:p>
            <a:fld id="{4B3E4A70-A309-48C5-ACBA-9E711A20ED6E}"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188</a:t>
            </a:fld>
            <a:endParaRPr lang="zh-CN" altLang="en-US" dirty="0"/>
          </a:p>
        </p:txBody>
      </p:sp>
    </p:spTree>
    <p:extLst>
      <p:ext uri="{BB962C8B-B14F-4D97-AF65-F5344CB8AC3E}">
        <p14:creationId xmlns:p14="http://schemas.microsoft.com/office/powerpoint/2010/main" val="1313275717"/>
      </p:ext>
    </p:extLst>
  </p:cSld>
  <p:clrMapOvr>
    <a:masterClrMapping/>
  </p:clrMapOvr>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引言</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smtClean="0"/>
                  <a:t>将三座房屋与三种设施的每一种都连接起来</a:t>
                </a:r>
                <a:r>
                  <a:rPr lang="en-US" altLang="zh-CN" dirty="0" smtClean="0"/>
                  <a:t>, </a:t>
                </a:r>
                <a:r>
                  <a:rPr lang="zh-CN" altLang="en-US" dirty="0" smtClean="0"/>
                  <a:t>使得这样的连接中不交叉</a:t>
                </a:r>
                <a:r>
                  <a:rPr lang="en-US" altLang="zh-CN" dirty="0" smtClean="0"/>
                  <a:t>? </a:t>
                </a:r>
                <a:r>
                  <a:rPr lang="zh-CN" altLang="en-US" dirty="0" smtClean="0"/>
                  <a:t>换言之</a:t>
                </a:r>
                <a:r>
                  <a:rPr lang="en-US" altLang="zh-CN" dirty="0" smtClean="0"/>
                  <a:t>, </a:t>
                </a:r>
                <a:r>
                  <a:rPr lang="zh-CN" altLang="en-US" dirty="0" smtClean="0"/>
                  <a:t>能否在平面上画出完全</a:t>
                </a:r>
                <a14:m>
                  <m:oMath xmlns:m="http://schemas.openxmlformats.org/officeDocument/2006/math">
                    <m:r>
                      <a:rPr lang="zh-CN" altLang="en-US" i="1">
                        <a:latin typeface="Cambria Math" panose="02040503050406030204" pitchFamily="18" charset="0"/>
                      </a:rPr>
                      <m:t>二分图</m:t>
                    </m:r>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𝐾</m:t>
                        </m:r>
                      </m:e>
                      <m:sub>
                        <m:r>
                          <a:rPr lang="en-US" altLang="zh-CN" b="0" i="1" smtClean="0">
                            <a:latin typeface="Cambria Math" panose="02040503050406030204" pitchFamily="18" charset="0"/>
                          </a:rPr>
                          <m:t>3, 3</m:t>
                        </m:r>
                      </m:sub>
                    </m:sSub>
                  </m:oMath>
                </a14:m>
                <a:r>
                  <a:rPr lang="en-US" altLang="zh-CN" dirty="0" smtClean="0"/>
                  <a:t>, </a:t>
                </a:r>
                <a:r>
                  <a:rPr lang="zh-CN" altLang="en-US" dirty="0" smtClean="0"/>
                  <a:t>使得两条边没有交叉？</a:t>
                </a: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999" t="-1310" r="-666"/>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31B02139-8614-4A83-92E4-D947D838C9AE}"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189</a:t>
            </a:fld>
            <a:endParaRPr lang="zh-CN" altLang="en-US" dirty="0"/>
          </a:p>
        </p:txBody>
      </p:sp>
      <p:pic>
        <p:nvPicPr>
          <p:cNvPr id="7" name="图片 6"/>
          <p:cNvPicPr>
            <a:picLocks noChangeAspect="1"/>
          </p:cNvPicPr>
          <p:nvPr/>
        </p:nvPicPr>
        <p:blipFill>
          <a:blip r:embed="rId3"/>
          <a:stretch>
            <a:fillRect/>
          </a:stretch>
        </p:blipFill>
        <p:spPr>
          <a:xfrm>
            <a:off x="1445063" y="2620892"/>
            <a:ext cx="2059681" cy="1285953"/>
          </a:xfrm>
          <a:prstGeom prst="rect">
            <a:avLst/>
          </a:prstGeom>
        </p:spPr>
      </p:pic>
      <p:pic>
        <p:nvPicPr>
          <p:cNvPr id="8" name="图片 7"/>
          <p:cNvPicPr>
            <a:picLocks noChangeAspect="1"/>
          </p:cNvPicPr>
          <p:nvPr/>
        </p:nvPicPr>
        <p:blipFill>
          <a:blip r:embed="rId4"/>
          <a:stretch>
            <a:fillRect/>
          </a:stretch>
        </p:blipFill>
        <p:spPr>
          <a:xfrm>
            <a:off x="5128524" y="2514754"/>
            <a:ext cx="1600200" cy="1498227"/>
          </a:xfrm>
          <a:prstGeom prst="rect">
            <a:avLst/>
          </a:prstGeom>
        </p:spPr>
      </p:pic>
      <p:pic>
        <p:nvPicPr>
          <p:cNvPr id="9" name="图片 8"/>
          <p:cNvPicPr>
            <a:picLocks noChangeAspect="1"/>
          </p:cNvPicPr>
          <p:nvPr/>
        </p:nvPicPr>
        <p:blipFill>
          <a:blip r:embed="rId5"/>
          <a:stretch>
            <a:fillRect/>
          </a:stretch>
        </p:blipFill>
        <p:spPr>
          <a:xfrm>
            <a:off x="8614770" y="2688394"/>
            <a:ext cx="1515659" cy="1481212"/>
          </a:xfrm>
          <a:prstGeom prst="rect">
            <a:avLst/>
          </a:prstGeom>
        </p:spPr>
      </p:pic>
      <p:pic>
        <p:nvPicPr>
          <p:cNvPr id="10" name="图片 9"/>
          <p:cNvPicPr>
            <a:picLocks noChangeAspect="1"/>
          </p:cNvPicPr>
          <p:nvPr/>
        </p:nvPicPr>
        <p:blipFill>
          <a:blip r:embed="rId6"/>
          <a:stretch>
            <a:fillRect/>
          </a:stretch>
        </p:blipFill>
        <p:spPr>
          <a:xfrm>
            <a:off x="2078565" y="5105400"/>
            <a:ext cx="792678" cy="685800"/>
          </a:xfrm>
          <a:prstGeom prst="rect">
            <a:avLst/>
          </a:prstGeom>
        </p:spPr>
      </p:pic>
      <p:pic>
        <p:nvPicPr>
          <p:cNvPr id="11" name="图片 10"/>
          <p:cNvPicPr>
            <a:picLocks noChangeAspect="1"/>
          </p:cNvPicPr>
          <p:nvPr/>
        </p:nvPicPr>
        <p:blipFill>
          <a:blip r:embed="rId7"/>
          <a:stretch>
            <a:fillRect/>
          </a:stretch>
        </p:blipFill>
        <p:spPr>
          <a:xfrm>
            <a:off x="4880487" y="5333977"/>
            <a:ext cx="1301817" cy="457223"/>
          </a:xfrm>
          <a:prstGeom prst="rect">
            <a:avLst/>
          </a:prstGeom>
        </p:spPr>
      </p:pic>
      <p:pic>
        <p:nvPicPr>
          <p:cNvPr id="12" name="图片 11"/>
          <p:cNvPicPr>
            <a:picLocks noChangeAspect="1"/>
          </p:cNvPicPr>
          <p:nvPr/>
        </p:nvPicPr>
        <p:blipFill>
          <a:blip r:embed="rId8"/>
          <a:stretch>
            <a:fillRect/>
          </a:stretch>
        </p:blipFill>
        <p:spPr>
          <a:xfrm>
            <a:off x="8991600" y="5366474"/>
            <a:ext cx="762000" cy="703944"/>
          </a:xfrm>
          <a:prstGeom prst="rect">
            <a:avLst/>
          </a:prstGeom>
        </p:spPr>
      </p:pic>
      <p:cxnSp>
        <p:nvCxnSpPr>
          <p:cNvPr id="14" name="直接连接符 13"/>
          <p:cNvCxnSpPr>
            <a:endCxn id="11" idx="0"/>
          </p:cNvCxnSpPr>
          <p:nvPr/>
        </p:nvCxnSpPr>
        <p:spPr>
          <a:xfrm>
            <a:off x="2598299" y="3884639"/>
            <a:ext cx="2933097" cy="1449338"/>
          </a:xfrm>
          <a:prstGeom prst="line">
            <a:avLst/>
          </a:prstGeom>
        </p:spPr>
        <p:style>
          <a:lnRef idx="1">
            <a:schemeClr val="dk1"/>
          </a:lnRef>
          <a:fillRef idx="0">
            <a:schemeClr val="dk1"/>
          </a:fillRef>
          <a:effectRef idx="0">
            <a:schemeClr val="dk1"/>
          </a:effectRef>
          <a:fontRef idx="minor">
            <a:schemeClr val="tx1"/>
          </a:fontRef>
        </p:style>
      </p:cxnSp>
      <p:cxnSp>
        <p:nvCxnSpPr>
          <p:cNvPr id="16" name="直接连接符 15"/>
          <p:cNvCxnSpPr>
            <a:endCxn id="12" idx="0"/>
          </p:cNvCxnSpPr>
          <p:nvPr/>
        </p:nvCxnSpPr>
        <p:spPr>
          <a:xfrm>
            <a:off x="2590800" y="3875278"/>
            <a:ext cx="6781800" cy="1491196"/>
          </a:xfrm>
          <a:prstGeom prst="line">
            <a:avLst/>
          </a:prstGeom>
        </p:spPr>
        <p:style>
          <a:lnRef idx="1">
            <a:schemeClr val="dk1"/>
          </a:lnRef>
          <a:fillRef idx="0">
            <a:schemeClr val="dk1"/>
          </a:fillRef>
          <a:effectRef idx="0">
            <a:schemeClr val="dk1"/>
          </a:effectRef>
          <a:fontRef idx="minor">
            <a:schemeClr val="tx1"/>
          </a:fontRef>
        </p:style>
      </p:cxnSp>
      <p:cxnSp>
        <p:nvCxnSpPr>
          <p:cNvPr id="19" name="直接连接符 18"/>
          <p:cNvCxnSpPr>
            <a:endCxn id="10" idx="0"/>
          </p:cNvCxnSpPr>
          <p:nvPr/>
        </p:nvCxnSpPr>
        <p:spPr>
          <a:xfrm flipH="1">
            <a:off x="2474904" y="3880423"/>
            <a:ext cx="115896" cy="1224977"/>
          </a:xfrm>
          <a:prstGeom prst="line">
            <a:avLst/>
          </a:prstGeom>
        </p:spPr>
        <p:style>
          <a:lnRef idx="1">
            <a:schemeClr val="dk1"/>
          </a:lnRef>
          <a:fillRef idx="0">
            <a:schemeClr val="dk1"/>
          </a:fillRef>
          <a:effectRef idx="0">
            <a:schemeClr val="dk1"/>
          </a:effectRef>
          <a:fontRef idx="minor">
            <a:schemeClr val="tx1"/>
          </a:fontRef>
        </p:style>
      </p:cxnSp>
      <p:cxnSp>
        <p:nvCxnSpPr>
          <p:cNvPr id="21" name="直接连接符 20"/>
          <p:cNvCxnSpPr>
            <a:endCxn id="10" idx="0"/>
          </p:cNvCxnSpPr>
          <p:nvPr/>
        </p:nvCxnSpPr>
        <p:spPr>
          <a:xfrm flipH="1">
            <a:off x="2474904" y="4091009"/>
            <a:ext cx="3506796" cy="1014391"/>
          </a:xfrm>
          <a:prstGeom prst="line">
            <a:avLst/>
          </a:prstGeom>
        </p:spPr>
        <p:style>
          <a:lnRef idx="1">
            <a:schemeClr val="dk1"/>
          </a:lnRef>
          <a:fillRef idx="0">
            <a:schemeClr val="dk1"/>
          </a:fillRef>
          <a:effectRef idx="0">
            <a:schemeClr val="dk1"/>
          </a:effectRef>
          <a:fontRef idx="minor">
            <a:schemeClr val="tx1"/>
          </a:fontRef>
        </p:style>
      </p:cxnSp>
      <p:cxnSp>
        <p:nvCxnSpPr>
          <p:cNvPr id="23" name="直接连接符 22"/>
          <p:cNvCxnSpPr>
            <a:endCxn id="11" idx="0"/>
          </p:cNvCxnSpPr>
          <p:nvPr/>
        </p:nvCxnSpPr>
        <p:spPr>
          <a:xfrm flipH="1">
            <a:off x="5531396" y="4091009"/>
            <a:ext cx="450303" cy="1242968"/>
          </a:xfrm>
          <a:prstGeom prst="line">
            <a:avLst/>
          </a:prstGeom>
        </p:spPr>
        <p:style>
          <a:lnRef idx="1">
            <a:schemeClr val="dk1"/>
          </a:lnRef>
          <a:fillRef idx="0">
            <a:schemeClr val="dk1"/>
          </a:fillRef>
          <a:effectRef idx="0">
            <a:schemeClr val="dk1"/>
          </a:effectRef>
          <a:fontRef idx="minor">
            <a:schemeClr val="tx1"/>
          </a:fontRef>
        </p:style>
      </p:cxnSp>
      <p:cxnSp>
        <p:nvCxnSpPr>
          <p:cNvPr id="25" name="直接连接符 24"/>
          <p:cNvCxnSpPr>
            <a:stCxn id="9" idx="2"/>
            <a:endCxn id="11" idx="0"/>
          </p:cNvCxnSpPr>
          <p:nvPr/>
        </p:nvCxnSpPr>
        <p:spPr>
          <a:xfrm flipH="1">
            <a:off x="5531396" y="4169606"/>
            <a:ext cx="3841204" cy="1164371"/>
          </a:xfrm>
          <a:prstGeom prst="line">
            <a:avLst/>
          </a:prstGeom>
        </p:spPr>
        <p:style>
          <a:lnRef idx="1">
            <a:schemeClr val="dk1"/>
          </a:lnRef>
          <a:fillRef idx="0">
            <a:schemeClr val="dk1"/>
          </a:fillRef>
          <a:effectRef idx="0">
            <a:schemeClr val="dk1"/>
          </a:effectRef>
          <a:fontRef idx="minor">
            <a:schemeClr val="tx1"/>
          </a:fontRef>
        </p:style>
      </p:cxnSp>
      <p:cxnSp>
        <p:nvCxnSpPr>
          <p:cNvPr id="27" name="直接连接符 26"/>
          <p:cNvCxnSpPr/>
          <p:nvPr/>
        </p:nvCxnSpPr>
        <p:spPr>
          <a:xfrm>
            <a:off x="5976298" y="4091009"/>
            <a:ext cx="3396301" cy="1265174"/>
          </a:xfrm>
          <a:prstGeom prst="line">
            <a:avLst/>
          </a:prstGeom>
        </p:spPr>
        <p:style>
          <a:lnRef idx="1">
            <a:schemeClr val="dk1"/>
          </a:lnRef>
          <a:fillRef idx="0">
            <a:schemeClr val="dk1"/>
          </a:fillRef>
          <a:effectRef idx="0">
            <a:schemeClr val="dk1"/>
          </a:effectRef>
          <a:fontRef idx="minor">
            <a:schemeClr val="tx1"/>
          </a:fontRef>
        </p:style>
      </p:cxnSp>
      <p:cxnSp>
        <p:nvCxnSpPr>
          <p:cNvPr id="29" name="直接连接符 28"/>
          <p:cNvCxnSpPr/>
          <p:nvPr/>
        </p:nvCxnSpPr>
        <p:spPr>
          <a:xfrm>
            <a:off x="9372599" y="4169606"/>
            <a:ext cx="0" cy="1186577"/>
          </a:xfrm>
          <a:prstGeom prst="line">
            <a:avLst/>
          </a:prstGeom>
        </p:spPr>
        <p:style>
          <a:lnRef idx="1">
            <a:schemeClr val="dk1"/>
          </a:lnRef>
          <a:fillRef idx="0">
            <a:schemeClr val="dk1"/>
          </a:fillRef>
          <a:effectRef idx="0">
            <a:schemeClr val="dk1"/>
          </a:effectRef>
          <a:fontRef idx="minor">
            <a:schemeClr val="tx1"/>
          </a:fontRef>
        </p:style>
      </p:cxnSp>
      <p:cxnSp>
        <p:nvCxnSpPr>
          <p:cNvPr id="31" name="直接连接符 30"/>
          <p:cNvCxnSpPr>
            <a:endCxn id="10" idx="0"/>
          </p:cNvCxnSpPr>
          <p:nvPr/>
        </p:nvCxnSpPr>
        <p:spPr>
          <a:xfrm flipH="1">
            <a:off x="2474904" y="4169606"/>
            <a:ext cx="6897695" cy="935794"/>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922700738"/>
      </p:ext>
    </p:extLst>
  </p:cSld>
  <p:clrMapOvr>
    <a:masterClrMapping/>
  </p:clrMapOvr>
  <p:timing>
    <p:tnLst>
      <p:par>
        <p:cTn id="1" dur="indefinite" restart="never" nodeType="tmRoot"/>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457200" y="1143000"/>
            <a:ext cx="11277599" cy="12954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smtClean="0"/>
              <a:t>引言</a:t>
            </a:r>
            <a:endParaRPr lang="zh-CN" altLang="en-US" dirty="0"/>
          </a:p>
        </p:txBody>
      </p:sp>
      <p:sp>
        <p:nvSpPr>
          <p:cNvPr id="3" name="内容占位符 2"/>
          <p:cNvSpPr>
            <a:spLocks noGrp="1"/>
          </p:cNvSpPr>
          <p:nvPr>
            <p:ph idx="1"/>
          </p:nvPr>
        </p:nvSpPr>
        <p:spPr/>
        <p:txBody>
          <a:bodyPr/>
          <a:lstStyle/>
          <a:p>
            <a:r>
              <a:rPr lang="zh-CN" altLang="en-US" dirty="0" smtClean="0"/>
              <a:t>定义</a:t>
            </a:r>
            <a:r>
              <a:rPr lang="en-US" altLang="zh-CN" dirty="0" smtClean="0"/>
              <a:t>: </a:t>
            </a:r>
            <a:r>
              <a:rPr lang="zh-CN" altLang="en-US" dirty="0" smtClean="0"/>
              <a:t>若可以在平面中画出一个图而边没有任何交叉</a:t>
            </a:r>
            <a:r>
              <a:rPr lang="en-US" altLang="zh-CN" dirty="0" smtClean="0"/>
              <a:t>(</a:t>
            </a:r>
            <a:r>
              <a:rPr lang="zh-CN" altLang="en-US" dirty="0" smtClean="0"/>
              <a:t>其中边的交叉表示边的直线或弧线在他们的公共端点以外的地方相交</a:t>
            </a:r>
            <a:r>
              <a:rPr lang="en-US" altLang="zh-CN" dirty="0" smtClean="0"/>
              <a:t>), </a:t>
            </a:r>
            <a:r>
              <a:rPr lang="zh-CN" altLang="en-US" dirty="0" smtClean="0"/>
              <a:t>则这个图是</a:t>
            </a:r>
            <a:r>
              <a:rPr lang="zh-CN" altLang="en-US" b="1" dirty="0" smtClean="0">
                <a:solidFill>
                  <a:srgbClr val="C00000"/>
                </a:solidFill>
              </a:rPr>
              <a:t>平面图</a:t>
            </a:r>
            <a:r>
              <a:rPr lang="en-US" altLang="zh-CN" dirty="0" smtClean="0"/>
              <a:t>. </a:t>
            </a:r>
            <a:r>
              <a:rPr lang="zh-CN" altLang="en-US" dirty="0" smtClean="0"/>
              <a:t>这种画法称为这个图的平面表示</a:t>
            </a:r>
            <a:r>
              <a:rPr lang="en-US" altLang="zh-CN" dirty="0" smtClean="0"/>
              <a:t>.</a:t>
            </a:r>
            <a:endParaRPr lang="zh-CN" altLang="en-US" dirty="0"/>
          </a:p>
        </p:txBody>
      </p:sp>
      <p:sp>
        <p:nvSpPr>
          <p:cNvPr id="4" name="日期占位符 3"/>
          <p:cNvSpPr>
            <a:spLocks noGrp="1"/>
          </p:cNvSpPr>
          <p:nvPr>
            <p:ph type="dt" sz="half" idx="10"/>
          </p:nvPr>
        </p:nvSpPr>
        <p:spPr/>
        <p:txBody>
          <a:bodyPr/>
          <a:lstStyle/>
          <a:p>
            <a:fld id="{49F12FB5-47F2-4F0A-A73A-A60AA4F6AD41}"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190</a:t>
            </a:fld>
            <a:endParaRPr lang="zh-CN" altLang="en-US" dirty="0"/>
          </a:p>
        </p:txBody>
      </p:sp>
    </p:spTree>
    <p:extLst>
      <p:ext uri="{BB962C8B-B14F-4D97-AF65-F5344CB8AC3E}">
        <p14:creationId xmlns:p14="http://schemas.microsoft.com/office/powerpoint/2010/main" val="3471396372"/>
      </p:ext>
    </p:extLst>
  </p:cSld>
  <p:clrMapOvr>
    <a:masterClrMapping/>
  </p:clrMapOvr>
  <p:timing>
    <p:tnLst>
      <p:par>
        <p:cTn id="1" dur="indefinite" restart="never" nodeType="tmRoot"/>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引言</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smtClean="0"/>
                  <a:t>例</a:t>
                </a:r>
                <a:r>
                  <a:rPr lang="en-US" altLang="zh-CN" dirty="0" smtClean="0"/>
                  <a:t>: </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𝐾</m:t>
                        </m:r>
                      </m:e>
                      <m:sub>
                        <m:r>
                          <a:rPr lang="en-US" altLang="zh-CN" b="0" i="1" smtClean="0">
                            <a:latin typeface="Cambria Math" panose="02040503050406030204" pitchFamily="18" charset="0"/>
                          </a:rPr>
                          <m:t>4</m:t>
                        </m:r>
                      </m:sub>
                    </m:sSub>
                    <m:r>
                      <a:rPr lang="zh-CN" altLang="en-US" i="1">
                        <a:latin typeface="Cambria Math" panose="02040503050406030204" pitchFamily="18" charset="0"/>
                      </a:rPr>
                      <m:t>是</m:t>
                    </m:r>
                  </m:oMath>
                </a14:m>
                <a:r>
                  <a:rPr lang="zh-CN" altLang="en-US" dirty="0" smtClean="0"/>
                  <a:t>平面图么</a:t>
                </a:r>
                <a:r>
                  <a:rPr lang="en-US" altLang="zh-CN" dirty="0" smtClean="0"/>
                  <a:t>?</a:t>
                </a:r>
              </a:p>
              <a:p>
                <a:endParaRPr lang="en-US" altLang="zh-CN" dirty="0"/>
              </a:p>
              <a:p>
                <a:endParaRPr lang="en-US" altLang="zh-CN" dirty="0" smtClean="0"/>
              </a:p>
              <a:p>
                <a:endParaRPr lang="en-US" altLang="zh-CN" dirty="0"/>
              </a:p>
              <a:p>
                <a:r>
                  <a:rPr lang="zh-CN" altLang="en-US" dirty="0" smtClean="0"/>
                  <a:t>解</a:t>
                </a:r>
                <a:r>
                  <a:rPr lang="en-US" altLang="zh-CN"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𝐾</m:t>
                        </m:r>
                      </m:e>
                      <m:sub>
                        <m:r>
                          <a:rPr lang="en-US" altLang="zh-CN" i="1">
                            <a:latin typeface="Cambria Math" panose="02040503050406030204" pitchFamily="18" charset="0"/>
                          </a:rPr>
                          <m:t>4</m:t>
                        </m:r>
                      </m:sub>
                    </m:sSub>
                    <m:r>
                      <a:rPr lang="zh-CN" altLang="en-US" i="1">
                        <a:latin typeface="Cambria Math" panose="02040503050406030204" pitchFamily="18" charset="0"/>
                      </a:rPr>
                      <m:t>是</m:t>
                    </m:r>
                  </m:oMath>
                </a14:m>
                <a:r>
                  <a:rPr lang="zh-CN" altLang="en-US" dirty="0" smtClean="0"/>
                  <a:t>平面图</a:t>
                </a:r>
                <a:r>
                  <a:rPr lang="en-US" altLang="zh-CN" dirty="0" smtClean="0"/>
                  <a:t>. </a:t>
                </a:r>
                <a:r>
                  <a:rPr lang="zh-CN" altLang="en-US" dirty="0" smtClean="0"/>
                  <a:t>因为可以不带交叉的画出它</a:t>
                </a:r>
                <a:r>
                  <a:rPr lang="en-US" altLang="zh-CN" dirty="0" smtClean="0"/>
                  <a:t>, </a:t>
                </a:r>
                <a:r>
                  <a:rPr lang="zh-CN" altLang="en-US" dirty="0" smtClean="0"/>
                  <a:t>如下所示</a:t>
                </a:r>
                <a:r>
                  <a:rPr lang="en-US" altLang="zh-CN" dirty="0" smtClean="0"/>
                  <a:t>: </a:t>
                </a: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999" t="-1310"/>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6DDE7C8C-7D4C-47A5-A325-0DB879A37429}"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191</a:t>
            </a:fld>
            <a:endParaRPr lang="zh-CN" altLang="en-US" dirty="0"/>
          </a:p>
        </p:txBody>
      </p:sp>
      <p:pic>
        <p:nvPicPr>
          <p:cNvPr id="7" name="图片 6"/>
          <p:cNvPicPr>
            <a:picLocks noChangeAspect="1"/>
          </p:cNvPicPr>
          <p:nvPr/>
        </p:nvPicPr>
        <p:blipFill>
          <a:blip r:embed="rId3"/>
          <a:stretch>
            <a:fillRect/>
          </a:stretch>
        </p:blipFill>
        <p:spPr>
          <a:xfrm>
            <a:off x="1930888" y="1942075"/>
            <a:ext cx="1509600" cy="1131200"/>
          </a:xfrm>
          <a:prstGeom prst="rect">
            <a:avLst/>
          </a:prstGeom>
        </p:spPr>
      </p:pic>
      <p:pic>
        <p:nvPicPr>
          <p:cNvPr id="8" name="图片 7"/>
          <p:cNvPicPr>
            <a:picLocks noChangeAspect="1"/>
          </p:cNvPicPr>
          <p:nvPr/>
        </p:nvPicPr>
        <p:blipFill>
          <a:blip r:embed="rId4"/>
          <a:stretch>
            <a:fillRect/>
          </a:stretch>
        </p:blipFill>
        <p:spPr>
          <a:xfrm>
            <a:off x="1930888" y="4166811"/>
            <a:ext cx="1703400" cy="1444300"/>
          </a:xfrm>
          <a:prstGeom prst="rect">
            <a:avLst/>
          </a:prstGeom>
        </p:spPr>
      </p:pic>
    </p:spTree>
    <p:extLst>
      <p:ext uri="{BB962C8B-B14F-4D97-AF65-F5344CB8AC3E}">
        <p14:creationId xmlns:p14="http://schemas.microsoft.com/office/powerpoint/2010/main" val="3235992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wipe(down)">
                                      <p:cBhvr>
                                        <p:cTn id="7" dur="500"/>
                                        <p:tgtEl>
                                          <p:spTgt spid="3">
                                            <p:txEl>
                                              <p:pRg st="4" end="4"/>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down)">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引言</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smtClean="0"/>
                  <a:t>例</a:t>
                </a:r>
                <a:r>
                  <a:rPr lang="en-US" altLang="zh-CN" dirty="0" smtClean="0"/>
                  <a:t>: </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𝑄</m:t>
                        </m:r>
                      </m:e>
                      <m:sub>
                        <m:r>
                          <a:rPr lang="en-US" altLang="zh-CN" b="0" i="1" smtClean="0">
                            <a:latin typeface="Cambria Math" panose="02040503050406030204" pitchFamily="18" charset="0"/>
                          </a:rPr>
                          <m:t>3</m:t>
                        </m:r>
                      </m:sub>
                    </m:sSub>
                    <m:r>
                      <a:rPr lang="zh-CN" altLang="en-US" i="1">
                        <a:latin typeface="Cambria Math" panose="02040503050406030204" pitchFamily="18" charset="0"/>
                      </a:rPr>
                      <m:t>是</m:t>
                    </m:r>
                  </m:oMath>
                </a14:m>
                <a:r>
                  <a:rPr lang="zh-CN" altLang="en-US" dirty="0"/>
                  <a:t>平面图么</a:t>
                </a:r>
                <a:r>
                  <a:rPr lang="en-US" altLang="zh-CN" dirty="0"/>
                  <a:t>?</a:t>
                </a:r>
              </a:p>
              <a:p>
                <a:endParaRPr lang="en-US" altLang="zh-CN" dirty="0"/>
              </a:p>
              <a:p>
                <a:endParaRPr lang="en-US" altLang="zh-CN" dirty="0"/>
              </a:p>
              <a:p>
                <a:endParaRPr lang="en-US" altLang="zh-CN" dirty="0"/>
              </a:p>
              <a:p>
                <a:r>
                  <a:rPr lang="zh-CN" altLang="en-US" dirty="0" smtClean="0"/>
                  <a:t>解</a:t>
                </a:r>
                <a:r>
                  <a:rPr lang="en-US" altLang="zh-CN"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𝑄</m:t>
                        </m:r>
                      </m:e>
                      <m:sub>
                        <m:r>
                          <a:rPr lang="en-US" altLang="zh-CN" i="1">
                            <a:latin typeface="Cambria Math" panose="02040503050406030204" pitchFamily="18" charset="0"/>
                          </a:rPr>
                          <m:t>3</m:t>
                        </m:r>
                      </m:sub>
                    </m:sSub>
                    <m:r>
                      <a:rPr lang="zh-CN" altLang="en-US" i="1">
                        <a:latin typeface="Cambria Math" panose="02040503050406030204" pitchFamily="18" charset="0"/>
                      </a:rPr>
                      <m:t>是</m:t>
                    </m:r>
                  </m:oMath>
                </a14:m>
                <a:r>
                  <a:rPr lang="zh-CN" altLang="en-US" dirty="0"/>
                  <a:t>平面图</a:t>
                </a:r>
                <a:r>
                  <a:rPr lang="en-US" altLang="zh-CN" dirty="0"/>
                  <a:t>. </a:t>
                </a:r>
                <a:r>
                  <a:rPr lang="zh-CN" altLang="en-US" dirty="0"/>
                  <a:t>因为可以不带交叉的画出</a:t>
                </a:r>
                <a:r>
                  <a:rPr lang="zh-CN" altLang="en-US" dirty="0" smtClean="0"/>
                  <a:t>它</a:t>
                </a:r>
                <a:r>
                  <a:rPr lang="en-US" altLang="zh-CN" dirty="0" smtClean="0"/>
                  <a:t>, </a:t>
                </a:r>
                <a:r>
                  <a:rPr lang="zh-CN" altLang="en-US" dirty="0" smtClean="0"/>
                  <a:t>如下</a:t>
                </a:r>
                <a:r>
                  <a:rPr lang="zh-CN" altLang="en-US" dirty="0"/>
                  <a:t>所</a:t>
                </a:r>
                <a:r>
                  <a:rPr lang="zh-CN" altLang="en-US" dirty="0" smtClean="0"/>
                  <a:t>示</a:t>
                </a:r>
                <a:r>
                  <a:rPr lang="en-US" altLang="zh-CN" dirty="0" smtClean="0"/>
                  <a:t>: </a:t>
                </a:r>
                <a:endParaRPr lang="zh-CN" altLang="en-US"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999" t="-1310"/>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F13704EC-77A6-42AD-A7E5-98D7275511CD}"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192</a:t>
            </a:fld>
            <a:endParaRPr lang="zh-CN" altLang="en-US" dirty="0"/>
          </a:p>
        </p:txBody>
      </p:sp>
      <p:pic>
        <p:nvPicPr>
          <p:cNvPr id="7" name="图片 6"/>
          <p:cNvPicPr>
            <a:picLocks noChangeAspect="1"/>
          </p:cNvPicPr>
          <p:nvPr/>
        </p:nvPicPr>
        <p:blipFill>
          <a:blip r:embed="rId3"/>
          <a:stretch>
            <a:fillRect/>
          </a:stretch>
        </p:blipFill>
        <p:spPr>
          <a:xfrm>
            <a:off x="3789543" y="1600200"/>
            <a:ext cx="1550400" cy="1696800"/>
          </a:xfrm>
          <a:prstGeom prst="rect">
            <a:avLst/>
          </a:prstGeom>
        </p:spPr>
      </p:pic>
      <p:pic>
        <p:nvPicPr>
          <p:cNvPr id="8" name="图片 7"/>
          <p:cNvPicPr>
            <a:picLocks noChangeAspect="1"/>
          </p:cNvPicPr>
          <p:nvPr/>
        </p:nvPicPr>
        <p:blipFill>
          <a:blip r:embed="rId4"/>
          <a:stretch>
            <a:fillRect/>
          </a:stretch>
        </p:blipFill>
        <p:spPr>
          <a:xfrm>
            <a:off x="2958243" y="4179347"/>
            <a:ext cx="1662600" cy="1414000"/>
          </a:xfrm>
          <a:prstGeom prst="rect">
            <a:avLst/>
          </a:prstGeom>
        </p:spPr>
      </p:pic>
    </p:spTree>
    <p:extLst>
      <p:ext uri="{BB962C8B-B14F-4D97-AF65-F5344CB8AC3E}">
        <p14:creationId xmlns:p14="http://schemas.microsoft.com/office/powerpoint/2010/main" val="612883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wipe(down)">
                                      <p:cBhvr>
                                        <p:cTn id="7" dur="500"/>
                                        <p:tgtEl>
                                          <p:spTgt spid="3">
                                            <p:txEl>
                                              <p:pRg st="4" end="4"/>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down)">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引言</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dirty="0" smtClean="0"/>
                  <a:t>例</a:t>
                </a:r>
                <a:r>
                  <a:rPr lang="en-US" altLang="zh-CN" dirty="0" smtClean="0"/>
                  <a:t>: </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𝐾</m:t>
                        </m:r>
                      </m:e>
                      <m:sub>
                        <m:r>
                          <a:rPr lang="en-US" altLang="zh-CN" i="1">
                            <a:latin typeface="Cambria Math" panose="02040503050406030204" pitchFamily="18" charset="0"/>
                          </a:rPr>
                          <m:t>3</m:t>
                        </m:r>
                        <m:r>
                          <a:rPr lang="en-US" altLang="zh-CN" b="0" i="1" smtClean="0">
                            <a:latin typeface="Cambria Math" panose="02040503050406030204" pitchFamily="18" charset="0"/>
                          </a:rPr>
                          <m:t>, 3</m:t>
                        </m:r>
                      </m:sub>
                    </m:sSub>
                    <m:r>
                      <a:rPr lang="zh-CN" altLang="en-US" i="1">
                        <a:latin typeface="Cambria Math" panose="02040503050406030204" pitchFamily="18" charset="0"/>
                      </a:rPr>
                      <m:t>是</m:t>
                    </m:r>
                  </m:oMath>
                </a14:m>
                <a:r>
                  <a:rPr lang="zh-CN" altLang="en-US" dirty="0"/>
                  <a:t>平面图么</a:t>
                </a:r>
                <a:r>
                  <a:rPr lang="en-US" altLang="zh-CN" dirty="0" smtClean="0"/>
                  <a:t>?</a:t>
                </a:r>
              </a:p>
              <a:p>
                <a:endParaRPr lang="en-US" altLang="zh-CN" dirty="0"/>
              </a:p>
              <a:p>
                <a:endParaRPr lang="en-US" altLang="zh-CN" dirty="0"/>
              </a:p>
              <a:p>
                <a:endParaRPr lang="en-US" altLang="zh-CN" dirty="0" smtClean="0"/>
              </a:p>
              <a:p>
                <a:endParaRPr lang="en-US" altLang="zh-CN" dirty="0"/>
              </a:p>
              <a:p>
                <a:r>
                  <a:rPr lang="zh-CN" altLang="en-US" dirty="0" smtClean="0"/>
                  <a:t>解</a:t>
                </a:r>
                <a:r>
                  <a:rPr lang="en-US" altLang="zh-CN" dirty="0" smtClean="0"/>
                  <a:t>: </a:t>
                </a:r>
                <a:endParaRPr lang="en-US" altLang="zh-CN" i="1" dirty="0" smtClean="0">
                  <a:latin typeface="Cambria Math" panose="02040503050406030204" pitchFamily="18" charset="0"/>
                </a:endParaRPr>
              </a:p>
              <a:p>
                <a:pPr lvl="1">
                  <a:lnSpc>
                    <a:spcPct val="110000"/>
                  </a:lnSpc>
                </a:pPr>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panose="02040503050406030204" pitchFamily="18" charset="0"/>
                          </a:rPr>
                          <m:t>𝐾</m:t>
                        </m:r>
                      </m:e>
                      <m:sub>
                        <m:r>
                          <a:rPr lang="en-US" altLang="zh-CN">
                            <a:latin typeface="Cambria Math" panose="02040503050406030204" pitchFamily="18" charset="0"/>
                          </a:rPr>
                          <m:t>3, 3</m:t>
                        </m:r>
                      </m:sub>
                    </m:sSub>
                    <m:r>
                      <a:rPr lang="zh-CN" altLang="en-US">
                        <a:latin typeface="Cambria Math" panose="02040503050406030204" pitchFamily="18" charset="0"/>
                      </a:rPr>
                      <m:t>不是</m:t>
                    </m:r>
                  </m:oMath>
                </a14:m>
                <a:r>
                  <a:rPr lang="zh-CN" altLang="en-US" dirty="0"/>
                  <a:t>平面图</a:t>
                </a:r>
                <a:r>
                  <a:rPr lang="en-US" altLang="zh-CN" dirty="0"/>
                  <a:t>. </a:t>
                </a:r>
                <a:r>
                  <a:rPr lang="zh-CN" altLang="en-US" dirty="0"/>
                  <a:t>任何尝试都无法在平面上画出它</a:t>
                </a:r>
                <a:r>
                  <a:rPr lang="en-US" altLang="zh-CN" dirty="0"/>
                  <a:t>. </a:t>
                </a:r>
                <a:r>
                  <a:rPr lang="zh-CN" altLang="en-US" dirty="0"/>
                  <a:t>顶点</a:t>
                </a:r>
                <a:r>
                  <a:rPr lang="en-US" altLang="zh-CN" dirty="0"/>
                  <a:t>v1</a:t>
                </a:r>
                <a:r>
                  <a:rPr lang="zh-CN" altLang="en-US" dirty="0"/>
                  <a:t>和</a:t>
                </a:r>
                <a:r>
                  <a:rPr lang="en-US" altLang="zh-CN" dirty="0"/>
                  <a:t>v2</a:t>
                </a:r>
                <a:r>
                  <a:rPr lang="zh-CN" altLang="en-US" dirty="0"/>
                  <a:t>都必须同时与</a:t>
                </a:r>
                <a:r>
                  <a:rPr lang="en-US" altLang="zh-CN" dirty="0"/>
                  <a:t>v4</a:t>
                </a:r>
                <a:r>
                  <a:rPr lang="zh-CN" altLang="en-US" dirty="0"/>
                  <a:t>和</a:t>
                </a:r>
                <a:r>
                  <a:rPr lang="en-US" altLang="zh-CN" dirty="0"/>
                  <a:t>v5</a:t>
                </a:r>
                <a:r>
                  <a:rPr lang="zh-CN" altLang="en-US" dirty="0"/>
                  <a:t>连接</a:t>
                </a:r>
                <a:r>
                  <a:rPr lang="en-US" altLang="zh-CN" dirty="0"/>
                  <a:t>. </a:t>
                </a:r>
                <a:r>
                  <a:rPr lang="zh-CN" altLang="en-US" dirty="0"/>
                  <a:t>这四条形成的封闭曲线将平面分为</a:t>
                </a:r>
                <a:r>
                  <a:rPr lang="en-US" altLang="zh-CN" dirty="0"/>
                  <a:t>R2</a:t>
                </a:r>
                <a:r>
                  <a:rPr lang="zh-CN" altLang="en-US" dirty="0"/>
                  <a:t>和</a:t>
                </a:r>
                <a:r>
                  <a:rPr lang="en-US" altLang="zh-CN" dirty="0"/>
                  <a:t>R1</a:t>
                </a:r>
                <a:r>
                  <a:rPr lang="zh-CN" altLang="en-US" dirty="0"/>
                  <a:t>两个区域</a:t>
                </a:r>
                <a:r>
                  <a:rPr lang="en-US" altLang="zh-CN" dirty="0"/>
                  <a:t>. </a:t>
                </a:r>
                <a:r>
                  <a:rPr lang="zh-CN" altLang="en-US" dirty="0"/>
                  <a:t>顶点</a:t>
                </a:r>
                <a:r>
                  <a:rPr lang="en-US" altLang="zh-CN" dirty="0"/>
                  <a:t>v3</a:t>
                </a:r>
                <a:r>
                  <a:rPr lang="zh-CN" altLang="en-US" dirty="0"/>
                  <a:t>属于</a:t>
                </a:r>
                <a:r>
                  <a:rPr lang="en-US" altLang="zh-CN" dirty="0"/>
                  <a:t>R1</a:t>
                </a:r>
                <a:r>
                  <a:rPr lang="zh-CN" altLang="en-US" dirty="0"/>
                  <a:t>或</a:t>
                </a:r>
                <a:r>
                  <a:rPr lang="en-US" altLang="zh-CN" dirty="0"/>
                  <a:t>R2. </a:t>
                </a:r>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999" t="-1310"/>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F52006C4-B937-4162-9B8A-7D39D27356AC}"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193</a:t>
            </a:fld>
            <a:endParaRPr lang="zh-CN" altLang="en-US" dirty="0"/>
          </a:p>
        </p:txBody>
      </p:sp>
      <p:pic>
        <p:nvPicPr>
          <p:cNvPr id="7" name="图片 6"/>
          <p:cNvPicPr>
            <a:picLocks noChangeAspect="1"/>
          </p:cNvPicPr>
          <p:nvPr/>
        </p:nvPicPr>
        <p:blipFill>
          <a:blip r:embed="rId3"/>
          <a:stretch>
            <a:fillRect/>
          </a:stretch>
        </p:blipFill>
        <p:spPr>
          <a:xfrm>
            <a:off x="4273062" y="1600200"/>
            <a:ext cx="2111400" cy="2292700"/>
          </a:xfrm>
          <a:prstGeom prst="rect">
            <a:avLst/>
          </a:prstGeom>
        </p:spPr>
      </p:pic>
      <p:pic>
        <p:nvPicPr>
          <p:cNvPr id="8" name="图片 7"/>
          <p:cNvPicPr>
            <a:picLocks noChangeAspect="1"/>
          </p:cNvPicPr>
          <p:nvPr/>
        </p:nvPicPr>
        <p:blipFill>
          <a:blip r:embed="rId4"/>
          <a:stretch>
            <a:fillRect/>
          </a:stretch>
        </p:blipFill>
        <p:spPr>
          <a:xfrm>
            <a:off x="8259232" y="2133600"/>
            <a:ext cx="1448400" cy="2030100"/>
          </a:xfrm>
          <a:prstGeom prst="rect">
            <a:avLst/>
          </a:prstGeom>
        </p:spPr>
      </p:pic>
    </p:spTree>
    <p:extLst>
      <p:ext uri="{BB962C8B-B14F-4D97-AF65-F5344CB8AC3E}">
        <p14:creationId xmlns:p14="http://schemas.microsoft.com/office/powerpoint/2010/main" val="3378890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wipe(down)">
                                      <p:cBhvr>
                                        <p:cTn id="7" dur="500"/>
                                        <p:tgtEl>
                                          <p:spTgt spid="3">
                                            <p:txEl>
                                              <p:pRg st="5" end="5"/>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wipe(down)">
                                      <p:cBhvr>
                                        <p:cTn id="10" dur="500"/>
                                        <p:tgtEl>
                                          <p:spTgt spid="3">
                                            <p:txEl>
                                              <p:pRg st="6" end="6"/>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down)">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引言</a:t>
            </a:r>
          </a:p>
        </p:txBody>
      </p:sp>
      <p:sp>
        <p:nvSpPr>
          <p:cNvPr id="3" name="内容占位符 2"/>
          <p:cNvSpPr>
            <a:spLocks noGrp="1"/>
          </p:cNvSpPr>
          <p:nvPr>
            <p:ph idx="1"/>
          </p:nvPr>
        </p:nvSpPr>
        <p:spPr/>
        <p:txBody>
          <a:bodyPr>
            <a:normAutofit/>
          </a:bodyPr>
          <a:lstStyle/>
          <a:p>
            <a:pPr lvl="0"/>
            <a:r>
              <a:rPr lang="zh-CN" altLang="en-US" dirty="0" smtClean="0">
                <a:solidFill>
                  <a:prstClr val="black"/>
                </a:solidFill>
              </a:rPr>
              <a:t>解</a:t>
            </a:r>
            <a:r>
              <a:rPr lang="en-US" altLang="zh-CN" dirty="0" smtClean="0">
                <a:solidFill>
                  <a:prstClr val="black"/>
                </a:solidFill>
              </a:rPr>
              <a:t>(</a:t>
            </a:r>
            <a:r>
              <a:rPr lang="zh-CN" altLang="en-US" dirty="0" smtClean="0">
                <a:solidFill>
                  <a:prstClr val="black"/>
                </a:solidFill>
              </a:rPr>
              <a:t>续</a:t>
            </a:r>
            <a:r>
              <a:rPr lang="en-US" altLang="zh-CN" dirty="0" smtClean="0">
                <a:solidFill>
                  <a:prstClr val="black"/>
                </a:solidFill>
              </a:rPr>
              <a:t>):</a:t>
            </a:r>
            <a:endParaRPr lang="en-US" altLang="zh-CN" sz="2600" dirty="0" smtClean="0"/>
          </a:p>
          <a:p>
            <a:pPr lvl="1">
              <a:lnSpc>
                <a:spcPct val="110000"/>
              </a:lnSpc>
            </a:pPr>
            <a:r>
              <a:rPr lang="zh-CN" altLang="en-US" dirty="0" smtClean="0"/>
              <a:t>如果</a:t>
            </a:r>
            <a:r>
              <a:rPr lang="en-US" altLang="zh-CN" dirty="0"/>
              <a:t>v3</a:t>
            </a:r>
            <a:r>
              <a:rPr lang="zh-CN" altLang="en-US" dirty="0" smtClean="0"/>
              <a:t>属于</a:t>
            </a:r>
            <a:r>
              <a:rPr lang="en-US" altLang="zh-CN" dirty="0" smtClean="0"/>
              <a:t>R2</a:t>
            </a:r>
            <a:r>
              <a:rPr lang="zh-CN" altLang="en-US" dirty="0" smtClean="0"/>
              <a:t>时</a:t>
            </a:r>
            <a:r>
              <a:rPr lang="en-US" altLang="zh-CN" dirty="0" smtClean="0"/>
              <a:t>, </a:t>
            </a:r>
            <a:r>
              <a:rPr lang="zh-CN" altLang="en-US" dirty="0" smtClean="0"/>
              <a:t>在</a:t>
            </a:r>
            <a:r>
              <a:rPr lang="en-US" altLang="zh-CN" dirty="0"/>
              <a:t>v3</a:t>
            </a:r>
            <a:r>
              <a:rPr lang="zh-CN" altLang="en-US" dirty="0"/>
              <a:t>和</a:t>
            </a:r>
            <a:r>
              <a:rPr lang="en-US" altLang="zh-CN" dirty="0"/>
              <a:t>v4</a:t>
            </a:r>
            <a:r>
              <a:rPr lang="zh-CN" altLang="en-US" dirty="0"/>
              <a:t>之间以及在</a:t>
            </a:r>
            <a:r>
              <a:rPr lang="en-US" altLang="zh-CN" dirty="0"/>
              <a:t>v3</a:t>
            </a:r>
            <a:r>
              <a:rPr lang="zh-CN" altLang="en-US" dirty="0"/>
              <a:t>和</a:t>
            </a:r>
            <a:r>
              <a:rPr lang="en-US" altLang="zh-CN" dirty="0"/>
              <a:t>v5</a:t>
            </a:r>
            <a:r>
              <a:rPr lang="zh-CN" altLang="en-US" dirty="0"/>
              <a:t>之间的</a:t>
            </a:r>
            <a:r>
              <a:rPr lang="zh-CN" altLang="en-US" dirty="0" smtClean="0"/>
              <a:t>边</a:t>
            </a:r>
            <a:r>
              <a:rPr lang="en-US" altLang="zh-CN" dirty="0" smtClean="0"/>
              <a:t>, </a:t>
            </a:r>
            <a:r>
              <a:rPr lang="zh-CN" altLang="en-US" dirty="0" smtClean="0"/>
              <a:t>把</a:t>
            </a:r>
            <a:r>
              <a:rPr lang="en-US" altLang="zh-CN" dirty="0"/>
              <a:t>R2</a:t>
            </a:r>
            <a:r>
              <a:rPr lang="zh-CN" altLang="en-US" dirty="0"/>
              <a:t>分割成两个子区域</a:t>
            </a:r>
            <a:r>
              <a:rPr lang="en-US" altLang="zh-CN" dirty="0"/>
              <a:t>R21</a:t>
            </a:r>
            <a:r>
              <a:rPr lang="zh-CN" altLang="en-US" dirty="0"/>
              <a:t>和</a:t>
            </a:r>
            <a:r>
              <a:rPr lang="en-US" altLang="zh-CN" dirty="0"/>
              <a:t>R22. </a:t>
            </a:r>
            <a:r>
              <a:rPr lang="zh-CN" altLang="en-US" dirty="0"/>
              <a:t>那么下一步没有办法放置最后一个顶点</a:t>
            </a:r>
            <a:r>
              <a:rPr lang="en-US" altLang="zh-CN" dirty="0"/>
              <a:t>v6. </a:t>
            </a:r>
            <a:r>
              <a:rPr lang="zh-CN" altLang="en-US" dirty="0"/>
              <a:t>若</a:t>
            </a:r>
            <a:r>
              <a:rPr lang="en-US" altLang="zh-CN" dirty="0"/>
              <a:t>v6</a:t>
            </a:r>
            <a:r>
              <a:rPr lang="zh-CN" altLang="en-US" dirty="0"/>
              <a:t>属于</a:t>
            </a:r>
            <a:r>
              <a:rPr lang="en-US" altLang="zh-CN" dirty="0" smtClean="0"/>
              <a:t>R1, </a:t>
            </a:r>
            <a:r>
              <a:rPr lang="zh-CN" altLang="en-US" dirty="0" smtClean="0"/>
              <a:t>则只能交叉</a:t>
            </a:r>
            <a:r>
              <a:rPr lang="zh-CN" altLang="en-US" dirty="0"/>
              <a:t>地画出</a:t>
            </a:r>
            <a:r>
              <a:rPr lang="en-US" altLang="zh-CN" dirty="0"/>
              <a:t>V6</a:t>
            </a:r>
            <a:r>
              <a:rPr lang="zh-CN" altLang="en-US" dirty="0"/>
              <a:t>和</a:t>
            </a:r>
            <a:r>
              <a:rPr lang="en-US" altLang="zh-CN" dirty="0"/>
              <a:t>v3</a:t>
            </a:r>
            <a:r>
              <a:rPr lang="zh-CN" altLang="en-US" dirty="0"/>
              <a:t>之间的边</a:t>
            </a:r>
            <a:r>
              <a:rPr lang="en-US" altLang="zh-CN" dirty="0"/>
              <a:t>. </a:t>
            </a:r>
            <a:r>
              <a:rPr lang="zh-CN" altLang="en-US" dirty="0"/>
              <a:t>若</a:t>
            </a:r>
            <a:r>
              <a:rPr lang="en-US" altLang="zh-CN" dirty="0"/>
              <a:t>V6</a:t>
            </a:r>
            <a:r>
              <a:rPr lang="zh-CN" altLang="en-US" dirty="0"/>
              <a:t>属于</a:t>
            </a:r>
            <a:r>
              <a:rPr lang="en-US" altLang="zh-CN" dirty="0" smtClean="0"/>
              <a:t>R21, </a:t>
            </a:r>
            <a:r>
              <a:rPr lang="zh-CN" altLang="en-US" dirty="0" smtClean="0"/>
              <a:t>则只能交叉</a:t>
            </a:r>
            <a:r>
              <a:rPr lang="zh-CN" altLang="en-US" dirty="0"/>
              <a:t>地画出</a:t>
            </a:r>
            <a:r>
              <a:rPr lang="en-US" altLang="zh-CN" dirty="0"/>
              <a:t>v2</a:t>
            </a:r>
            <a:r>
              <a:rPr lang="zh-CN" altLang="en-US" dirty="0"/>
              <a:t>和</a:t>
            </a:r>
            <a:r>
              <a:rPr lang="en-US" altLang="zh-CN" dirty="0"/>
              <a:t>v6</a:t>
            </a:r>
            <a:r>
              <a:rPr lang="zh-CN" altLang="en-US" dirty="0"/>
              <a:t>之间的边</a:t>
            </a:r>
            <a:r>
              <a:rPr lang="en-US" altLang="zh-CN" dirty="0"/>
              <a:t>. </a:t>
            </a:r>
            <a:r>
              <a:rPr lang="zh-CN" altLang="en-US" dirty="0"/>
              <a:t>若</a:t>
            </a:r>
            <a:r>
              <a:rPr lang="en-US" altLang="zh-CN" dirty="0"/>
              <a:t>v6</a:t>
            </a:r>
            <a:r>
              <a:rPr lang="zh-CN" altLang="en-US" dirty="0"/>
              <a:t>属于</a:t>
            </a:r>
            <a:r>
              <a:rPr lang="en-US" altLang="zh-CN" dirty="0" smtClean="0"/>
              <a:t>R22, </a:t>
            </a:r>
            <a:r>
              <a:rPr lang="zh-CN" altLang="en-US" dirty="0" smtClean="0"/>
              <a:t>则只能交叉</a:t>
            </a:r>
            <a:r>
              <a:rPr lang="zh-CN" altLang="en-US" dirty="0"/>
              <a:t>画出</a:t>
            </a:r>
            <a:r>
              <a:rPr lang="en-US" altLang="zh-CN" dirty="0"/>
              <a:t>v1</a:t>
            </a:r>
            <a:r>
              <a:rPr lang="zh-CN" altLang="en-US" dirty="0"/>
              <a:t>和</a:t>
            </a:r>
            <a:r>
              <a:rPr lang="en-US" altLang="zh-CN" dirty="0"/>
              <a:t>v6</a:t>
            </a:r>
            <a:r>
              <a:rPr lang="zh-CN" altLang="en-US" dirty="0"/>
              <a:t>之间的边</a:t>
            </a:r>
            <a:r>
              <a:rPr lang="en-US" altLang="zh-CN" dirty="0"/>
              <a:t>.</a:t>
            </a:r>
          </a:p>
          <a:p>
            <a:pPr lvl="1">
              <a:lnSpc>
                <a:spcPct val="110000"/>
              </a:lnSpc>
            </a:pPr>
            <a:r>
              <a:rPr lang="en-US" altLang="zh-CN" dirty="0"/>
              <a:t>V3</a:t>
            </a:r>
            <a:r>
              <a:rPr lang="zh-CN" altLang="en-US" dirty="0" smtClean="0"/>
              <a:t>属于</a:t>
            </a:r>
            <a:r>
              <a:rPr lang="en-US" altLang="zh-CN" dirty="0" smtClean="0"/>
              <a:t>R1</a:t>
            </a:r>
            <a:r>
              <a:rPr lang="zh-CN" altLang="en-US" dirty="0" smtClean="0"/>
              <a:t>时</a:t>
            </a:r>
            <a:r>
              <a:rPr lang="en-US" altLang="zh-CN" dirty="0" smtClean="0"/>
              <a:t>, </a:t>
            </a:r>
            <a:r>
              <a:rPr lang="zh-CN" altLang="en-US" dirty="0" smtClean="0"/>
              <a:t>也</a:t>
            </a:r>
            <a:r>
              <a:rPr lang="zh-CN" altLang="en-US" dirty="0"/>
              <a:t>有类似的</a:t>
            </a:r>
            <a:r>
              <a:rPr lang="zh-CN" altLang="en-US" dirty="0" smtClean="0"/>
              <a:t>论证</a:t>
            </a:r>
            <a:r>
              <a:rPr lang="en-US" altLang="zh-CN" dirty="0" smtClean="0"/>
              <a:t>(</a:t>
            </a:r>
            <a:r>
              <a:rPr lang="zh-CN" altLang="en-US" dirty="0" smtClean="0"/>
              <a:t>同学们自行论证</a:t>
            </a:r>
            <a:r>
              <a:rPr lang="en-US" altLang="zh-CN" dirty="0" smtClean="0"/>
              <a:t>).</a:t>
            </a:r>
            <a:endParaRPr lang="zh-CN" altLang="en-US" dirty="0"/>
          </a:p>
          <a:p>
            <a:endParaRPr lang="zh-CN" altLang="en-US" dirty="0"/>
          </a:p>
        </p:txBody>
      </p:sp>
      <p:sp>
        <p:nvSpPr>
          <p:cNvPr id="4" name="日期占位符 3"/>
          <p:cNvSpPr>
            <a:spLocks noGrp="1"/>
          </p:cNvSpPr>
          <p:nvPr>
            <p:ph type="dt" sz="half" idx="10"/>
          </p:nvPr>
        </p:nvSpPr>
        <p:spPr/>
        <p:txBody>
          <a:bodyPr/>
          <a:lstStyle/>
          <a:p>
            <a:fld id="{EA91378F-A097-42E9-8E77-60A6B98F9A90}"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194</a:t>
            </a:fld>
            <a:endParaRPr lang="zh-CN" altLang="en-US" dirty="0"/>
          </a:p>
        </p:txBody>
      </p:sp>
      <p:pic>
        <p:nvPicPr>
          <p:cNvPr id="7" name="图片 6"/>
          <p:cNvPicPr>
            <a:picLocks noChangeAspect="1"/>
          </p:cNvPicPr>
          <p:nvPr/>
        </p:nvPicPr>
        <p:blipFill>
          <a:blip r:embed="rId2"/>
          <a:stretch>
            <a:fillRect/>
          </a:stretch>
        </p:blipFill>
        <p:spPr>
          <a:xfrm>
            <a:off x="1448398" y="3901080"/>
            <a:ext cx="2111400" cy="2292700"/>
          </a:xfrm>
          <a:prstGeom prst="rect">
            <a:avLst/>
          </a:prstGeom>
        </p:spPr>
      </p:pic>
      <p:pic>
        <p:nvPicPr>
          <p:cNvPr id="8" name="图片 7"/>
          <p:cNvPicPr>
            <a:picLocks noChangeAspect="1"/>
          </p:cNvPicPr>
          <p:nvPr/>
        </p:nvPicPr>
        <p:blipFill>
          <a:blip r:embed="rId3"/>
          <a:stretch>
            <a:fillRect/>
          </a:stretch>
        </p:blipFill>
        <p:spPr>
          <a:xfrm>
            <a:off x="5105400" y="4303912"/>
            <a:ext cx="1448400" cy="2030100"/>
          </a:xfrm>
          <a:prstGeom prst="rect">
            <a:avLst/>
          </a:prstGeom>
        </p:spPr>
      </p:pic>
      <p:pic>
        <p:nvPicPr>
          <p:cNvPr id="9" name="图片 8"/>
          <p:cNvPicPr>
            <a:picLocks noChangeAspect="1"/>
          </p:cNvPicPr>
          <p:nvPr/>
        </p:nvPicPr>
        <p:blipFill>
          <a:blip r:embed="rId4"/>
          <a:stretch>
            <a:fillRect/>
          </a:stretch>
        </p:blipFill>
        <p:spPr>
          <a:xfrm>
            <a:off x="8991600" y="4344741"/>
            <a:ext cx="1448400" cy="2030100"/>
          </a:xfrm>
          <a:prstGeom prst="rect">
            <a:avLst/>
          </a:prstGeom>
        </p:spPr>
      </p:pic>
    </p:spTree>
    <p:extLst>
      <p:ext uri="{BB962C8B-B14F-4D97-AF65-F5344CB8AC3E}">
        <p14:creationId xmlns:p14="http://schemas.microsoft.com/office/powerpoint/2010/main" val="1698031995"/>
      </p:ext>
    </p:extLst>
  </p:cSld>
  <p:clrMapOvr>
    <a:masterClrMapping/>
  </p:clrMapOvr>
  <p:timing>
    <p:tnLst>
      <p:par>
        <p:cTn id="1" dur="indefinite" restart="never" nodeType="tmRoot"/>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引言</a:t>
            </a:r>
          </a:p>
        </p:txBody>
      </p:sp>
      <p:sp>
        <p:nvSpPr>
          <p:cNvPr id="3" name="内容占位符 2"/>
          <p:cNvSpPr>
            <a:spLocks noGrp="1"/>
          </p:cNvSpPr>
          <p:nvPr>
            <p:ph idx="1"/>
          </p:nvPr>
        </p:nvSpPr>
        <p:spPr/>
        <p:txBody>
          <a:bodyPr/>
          <a:lstStyle/>
          <a:p>
            <a:r>
              <a:rPr lang="zh-CN" altLang="en-US" dirty="0" smtClean="0"/>
              <a:t>平面图的应用</a:t>
            </a:r>
            <a:endParaRPr lang="en-US" altLang="zh-CN" dirty="0" smtClean="0"/>
          </a:p>
          <a:p>
            <a:pPr lvl="1">
              <a:lnSpc>
                <a:spcPct val="110000"/>
              </a:lnSpc>
            </a:pPr>
            <a:r>
              <a:rPr lang="zh-CN" altLang="en-US" dirty="0" smtClean="0">
                <a:solidFill>
                  <a:prstClr val="black"/>
                </a:solidFill>
              </a:rPr>
              <a:t>用图为电路建立模型</a:t>
            </a:r>
            <a:r>
              <a:rPr lang="en-US" altLang="zh-CN" dirty="0" smtClean="0">
                <a:solidFill>
                  <a:prstClr val="black"/>
                </a:solidFill>
              </a:rPr>
              <a:t>, </a:t>
            </a:r>
            <a:r>
              <a:rPr lang="zh-CN" altLang="en-US" dirty="0" smtClean="0">
                <a:solidFill>
                  <a:prstClr val="black"/>
                </a:solidFill>
              </a:rPr>
              <a:t>顶点表示电路的器件</a:t>
            </a:r>
            <a:r>
              <a:rPr lang="en-US" altLang="zh-CN" dirty="0" smtClean="0">
                <a:solidFill>
                  <a:prstClr val="black"/>
                </a:solidFill>
              </a:rPr>
              <a:t>, </a:t>
            </a:r>
            <a:r>
              <a:rPr lang="zh-CN" altLang="en-US" dirty="0" smtClean="0">
                <a:solidFill>
                  <a:prstClr val="black"/>
                </a:solidFill>
              </a:rPr>
              <a:t>边表示器件之间的连接</a:t>
            </a:r>
            <a:r>
              <a:rPr lang="en-US" altLang="zh-CN" dirty="0" smtClean="0">
                <a:solidFill>
                  <a:prstClr val="black"/>
                </a:solidFill>
              </a:rPr>
              <a:t>. </a:t>
            </a:r>
            <a:r>
              <a:rPr lang="zh-CN" altLang="en-US" dirty="0" smtClean="0">
                <a:solidFill>
                  <a:prstClr val="black"/>
                </a:solidFill>
              </a:rPr>
              <a:t>如果表示电路的图是平面图</a:t>
            </a:r>
            <a:r>
              <a:rPr lang="en-US" altLang="zh-CN" dirty="0" smtClean="0">
                <a:solidFill>
                  <a:prstClr val="black"/>
                </a:solidFill>
              </a:rPr>
              <a:t>, </a:t>
            </a:r>
            <a:r>
              <a:rPr lang="zh-CN" altLang="en-US" dirty="0" smtClean="0">
                <a:solidFill>
                  <a:prstClr val="black"/>
                </a:solidFill>
              </a:rPr>
              <a:t>则可以把这个电路无交叉连接地印刷在单个电路板上</a:t>
            </a:r>
            <a:r>
              <a:rPr lang="en-US" altLang="zh-CN" dirty="0" smtClean="0">
                <a:solidFill>
                  <a:prstClr val="black"/>
                </a:solidFill>
              </a:rPr>
              <a:t>. </a:t>
            </a:r>
            <a:r>
              <a:rPr lang="zh-CN" altLang="en-US" dirty="0" smtClean="0">
                <a:solidFill>
                  <a:prstClr val="black"/>
                </a:solidFill>
              </a:rPr>
              <a:t>如果该图不是平面图</a:t>
            </a:r>
            <a:r>
              <a:rPr lang="en-US" altLang="zh-CN" dirty="0" smtClean="0">
                <a:solidFill>
                  <a:prstClr val="black"/>
                </a:solidFill>
              </a:rPr>
              <a:t>, </a:t>
            </a:r>
            <a:r>
              <a:rPr lang="zh-CN" altLang="en-US" dirty="0" smtClean="0">
                <a:solidFill>
                  <a:prstClr val="black"/>
                </a:solidFill>
              </a:rPr>
              <a:t>则需要更高的成本</a:t>
            </a:r>
            <a:r>
              <a:rPr lang="en-US" altLang="zh-CN" dirty="0" smtClean="0">
                <a:solidFill>
                  <a:prstClr val="black"/>
                </a:solidFill>
              </a:rPr>
              <a:t>, </a:t>
            </a:r>
            <a:r>
              <a:rPr lang="zh-CN" altLang="en-US" dirty="0" smtClean="0">
                <a:solidFill>
                  <a:prstClr val="black"/>
                </a:solidFill>
              </a:rPr>
              <a:t>例如交叉连接处用绝缘线来构造电路</a:t>
            </a:r>
            <a:r>
              <a:rPr lang="en-US" altLang="zh-CN" dirty="0" smtClean="0">
                <a:solidFill>
                  <a:prstClr val="black"/>
                </a:solidFill>
              </a:rPr>
              <a:t>. </a:t>
            </a:r>
            <a:r>
              <a:rPr lang="zh-CN" altLang="en-US" dirty="0" smtClean="0">
                <a:solidFill>
                  <a:prstClr val="black"/>
                </a:solidFill>
              </a:rPr>
              <a:t>所以尽可能少的交叉画出图有重要意义</a:t>
            </a:r>
            <a:r>
              <a:rPr lang="en-US" altLang="zh-CN" dirty="0" smtClean="0">
                <a:solidFill>
                  <a:prstClr val="black"/>
                </a:solidFill>
              </a:rPr>
              <a:t>.</a:t>
            </a:r>
          </a:p>
          <a:p>
            <a:pPr lvl="1">
              <a:lnSpc>
                <a:spcPct val="110000"/>
              </a:lnSpc>
            </a:pPr>
            <a:r>
              <a:rPr lang="zh-CN" altLang="en-US" dirty="0" smtClean="0">
                <a:solidFill>
                  <a:prstClr val="black"/>
                </a:solidFill>
              </a:rPr>
              <a:t>用图为公路网建立模型</a:t>
            </a:r>
            <a:r>
              <a:rPr lang="en-US" altLang="zh-CN" dirty="0" smtClean="0">
                <a:solidFill>
                  <a:prstClr val="black"/>
                </a:solidFill>
              </a:rPr>
              <a:t>, </a:t>
            </a:r>
            <a:r>
              <a:rPr lang="zh-CN" altLang="en-US" dirty="0" smtClean="0">
                <a:solidFill>
                  <a:prstClr val="black"/>
                </a:solidFill>
              </a:rPr>
              <a:t>顶点表示城市</a:t>
            </a:r>
            <a:r>
              <a:rPr lang="en-US" altLang="zh-CN" dirty="0" smtClean="0">
                <a:solidFill>
                  <a:prstClr val="black"/>
                </a:solidFill>
              </a:rPr>
              <a:t>, </a:t>
            </a:r>
            <a:r>
              <a:rPr lang="zh-CN" altLang="en-US" dirty="0" smtClean="0">
                <a:solidFill>
                  <a:prstClr val="black"/>
                </a:solidFill>
              </a:rPr>
              <a:t>边表示连接城市的公路</a:t>
            </a:r>
            <a:r>
              <a:rPr lang="en-US" altLang="zh-CN" dirty="0" smtClean="0">
                <a:solidFill>
                  <a:prstClr val="black"/>
                </a:solidFill>
              </a:rPr>
              <a:t>. </a:t>
            </a:r>
            <a:r>
              <a:rPr lang="zh-CN" altLang="en-US" dirty="0" smtClean="0">
                <a:solidFill>
                  <a:prstClr val="black"/>
                </a:solidFill>
              </a:rPr>
              <a:t>若这个图是平面图</a:t>
            </a:r>
            <a:r>
              <a:rPr lang="en-US" altLang="zh-CN" dirty="0" smtClean="0">
                <a:solidFill>
                  <a:prstClr val="black"/>
                </a:solidFill>
              </a:rPr>
              <a:t>, </a:t>
            </a:r>
            <a:r>
              <a:rPr lang="zh-CN" altLang="en-US" dirty="0" smtClean="0">
                <a:solidFill>
                  <a:prstClr val="black"/>
                </a:solidFill>
              </a:rPr>
              <a:t>则构造公路网时不需要使用地下通道或天桥</a:t>
            </a:r>
            <a:r>
              <a:rPr lang="en-US" altLang="zh-CN" dirty="0" smtClean="0">
                <a:solidFill>
                  <a:prstClr val="black"/>
                </a:solidFill>
              </a:rPr>
              <a:t>.</a:t>
            </a:r>
          </a:p>
          <a:p>
            <a:pPr lvl="1">
              <a:lnSpc>
                <a:spcPct val="110000"/>
              </a:lnSpc>
            </a:pPr>
            <a:r>
              <a:rPr lang="en-US" altLang="zh-CN" dirty="0" smtClean="0">
                <a:solidFill>
                  <a:prstClr val="black"/>
                </a:solidFill>
              </a:rPr>
              <a:t>……</a:t>
            </a:r>
          </a:p>
        </p:txBody>
      </p:sp>
      <p:sp>
        <p:nvSpPr>
          <p:cNvPr id="4" name="日期占位符 3"/>
          <p:cNvSpPr>
            <a:spLocks noGrp="1"/>
          </p:cNvSpPr>
          <p:nvPr>
            <p:ph type="dt" sz="half" idx="10"/>
          </p:nvPr>
        </p:nvSpPr>
        <p:spPr/>
        <p:txBody>
          <a:bodyPr/>
          <a:lstStyle/>
          <a:p>
            <a:fld id="{3B4FDA4F-A570-4E14-8BC0-7C40A4C5B44C}"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195</a:t>
            </a:fld>
            <a:endParaRPr lang="zh-CN" altLang="en-US" dirty="0"/>
          </a:p>
        </p:txBody>
      </p:sp>
    </p:spTree>
    <p:extLst>
      <p:ext uri="{BB962C8B-B14F-4D97-AF65-F5344CB8AC3E}">
        <p14:creationId xmlns:p14="http://schemas.microsoft.com/office/powerpoint/2010/main" val="2170054505"/>
      </p:ext>
    </p:extLst>
  </p:cSld>
  <p:clrMapOvr>
    <a:masterClrMapping/>
  </p:clrMapOvr>
  <p:timing>
    <p:tnLst>
      <p:par>
        <p:cTn id="1" dur="indefinite" restart="never" nodeType="tmRoot"/>
      </p:par>
    </p:tn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57201" y="4724400"/>
            <a:ext cx="11277599" cy="8382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欧拉公式</a:t>
            </a:r>
          </a:p>
        </p:txBody>
      </p:sp>
      <p:sp>
        <p:nvSpPr>
          <p:cNvPr id="3" name="内容占位符 2"/>
          <p:cNvSpPr>
            <a:spLocks noGrp="1"/>
          </p:cNvSpPr>
          <p:nvPr>
            <p:ph idx="1"/>
          </p:nvPr>
        </p:nvSpPr>
        <p:spPr/>
        <p:txBody>
          <a:bodyPr/>
          <a:lstStyle/>
          <a:p>
            <a:r>
              <a:rPr lang="zh-CN" altLang="en-US" dirty="0" smtClean="0"/>
              <a:t>一个图的平面表示把平面分割成一些面</a:t>
            </a:r>
            <a:r>
              <a:rPr lang="en-US" altLang="zh-CN" dirty="0" smtClean="0"/>
              <a:t>, </a:t>
            </a:r>
            <a:r>
              <a:rPr lang="zh-CN" altLang="en-US" dirty="0" smtClean="0"/>
              <a:t>包括一个无界的面</a:t>
            </a:r>
            <a:r>
              <a:rPr lang="en-US" altLang="zh-CN" dirty="0" smtClean="0"/>
              <a:t>, </a:t>
            </a:r>
            <a:r>
              <a:rPr lang="zh-CN" altLang="en-US" dirty="0" smtClean="0"/>
              <a:t>例如下图</a:t>
            </a:r>
            <a:r>
              <a:rPr lang="en-US" altLang="zh-CN" dirty="0" smtClean="0"/>
              <a:t>: </a:t>
            </a:r>
          </a:p>
          <a:p>
            <a:endParaRPr lang="en-US" altLang="zh-CN" dirty="0"/>
          </a:p>
          <a:p>
            <a:endParaRPr lang="en-US" altLang="zh-CN" dirty="0" smtClean="0"/>
          </a:p>
          <a:p>
            <a:r>
              <a:rPr lang="zh-CN" altLang="en-US" dirty="0" smtClean="0"/>
              <a:t>那平面图中面数</a:t>
            </a:r>
            <a:r>
              <a:rPr lang="en-US" altLang="zh-CN" dirty="0" smtClean="0"/>
              <a:t>, </a:t>
            </a:r>
            <a:r>
              <a:rPr lang="zh-CN" altLang="en-US" dirty="0" smtClean="0"/>
              <a:t>顶点数与边数之间有何关系呢？</a:t>
            </a:r>
            <a:r>
              <a:rPr lang="en-US" altLang="zh-CN" dirty="0" smtClean="0"/>
              <a:t>(6</a:t>
            </a:r>
            <a:r>
              <a:rPr lang="zh-CN" altLang="en-US" dirty="0" smtClean="0"/>
              <a:t>面</a:t>
            </a:r>
            <a:r>
              <a:rPr lang="en-US" altLang="zh-CN" dirty="0" smtClean="0"/>
              <a:t>,7</a:t>
            </a:r>
            <a:r>
              <a:rPr lang="zh-CN" altLang="en-US" dirty="0" smtClean="0"/>
              <a:t>个顶点</a:t>
            </a:r>
            <a:r>
              <a:rPr lang="en-US" altLang="zh-CN" dirty="0" smtClean="0"/>
              <a:t>, 11</a:t>
            </a:r>
            <a:r>
              <a:rPr lang="zh-CN" altLang="en-US" dirty="0" smtClean="0"/>
              <a:t>条边</a:t>
            </a:r>
            <a:r>
              <a:rPr lang="en-US" altLang="zh-CN" dirty="0" smtClean="0"/>
              <a:t>), (3</a:t>
            </a:r>
            <a:r>
              <a:rPr lang="zh-CN" altLang="en-US" dirty="0" smtClean="0"/>
              <a:t>面</a:t>
            </a:r>
            <a:r>
              <a:rPr lang="en-US" altLang="zh-CN" dirty="0" smtClean="0"/>
              <a:t>, 4</a:t>
            </a:r>
            <a:r>
              <a:rPr lang="zh-CN" altLang="en-US" dirty="0" smtClean="0"/>
              <a:t>个顶点</a:t>
            </a:r>
            <a:r>
              <a:rPr lang="en-US" altLang="zh-CN" dirty="0" smtClean="0"/>
              <a:t>, 5</a:t>
            </a:r>
            <a:r>
              <a:rPr lang="zh-CN" altLang="en-US" dirty="0" smtClean="0"/>
              <a:t>条边</a:t>
            </a:r>
            <a:r>
              <a:rPr lang="en-US" altLang="zh-CN" dirty="0" smtClean="0"/>
              <a:t>)</a:t>
            </a:r>
          </a:p>
          <a:p>
            <a:endParaRPr lang="en-US" altLang="zh-CN" dirty="0"/>
          </a:p>
          <a:p>
            <a:r>
              <a:rPr lang="zh-CN" altLang="en-US" dirty="0" smtClean="0"/>
              <a:t>定理</a:t>
            </a:r>
            <a:r>
              <a:rPr lang="en-US" altLang="zh-CN" dirty="0" smtClean="0"/>
              <a:t>(</a:t>
            </a:r>
            <a:r>
              <a:rPr lang="zh-CN" altLang="en-US" dirty="0" smtClean="0"/>
              <a:t>欧拉公式</a:t>
            </a:r>
            <a:r>
              <a:rPr lang="en-US" altLang="zh-CN" dirty="0" smtClean="0"/>
              <a:t>): </a:t>
            </a:r>
            <a:r>
              <a:rPr lang="zh-CN" altLang="en-US" dirty="0" smtClean="0"/>
              <a:t>设</a:t>
            </a:r>
            <a:r>
              <a:rPr lang="en-US" altLang="zh-CN" dirty="0" smtClean="0"/>
              <a:t>G=(V, E)</a:t>
            </a:r>
            <a:r>
              <a:rPr lang="zh-CN" altLang="en-US" dirty="0" smtClean="0"/>
              <a:t>是带</a:t>
            </a:r>
            <a:r>
              <a:rPr lang="en-US" altLang="zh-CN" dirty="0"/>
              <a:t>v</a:t>
            </a:r>
            <a:r>
              <a:rPr lang="zh-CN" altLang="en-US" dirty="0"/>
              <a:t>个</a:t>
            </a:r>
            <a:r>
              <a:rPr lang="zh-CN" altLang="en-US" dirty="0" smtClean="0"/>
              <a:t>顶点</a:t>
            </a:r>
            <a:r>
              <a:rPr lang="zh-CN" altLang="en-US" dirty="0"/>
              <a:t>和</a:t>
            </a:r>
            <a:r>
              <a:rPr lang="en-US" altLang="zh-CN" dirty="0" smtClean="0"/>
              <a:t>e</a:t>
            </a:r>
            <a:r>
              <a:rPr lang="zh-CN" altLang="en-US" dirty="0" smtClean="0"/>
              <a:t>条边的连通平面简单图</a:t>
            </a:r>
            <a:r>
              <a:rPr lang="en-US" altLang="zh-CN" dirty="0" smtClean="0"/>
              <a:t>. </a:t>
            </a:r>
            <a:r>
              <a:rPr lang="zh-CN" altLang="en-US" dirty="0" smtClean="0"/>
              <a:t>设</a:t>
            </a:r>
            <a:r>
              <a:rPr lang="en-US" altLang="zh-CN" dirty="0" smtClean="0"/>
              <a:t>r</a:t>
            </a:r>
            <a:r>
              <a:rPr lang="zh-CN" altLang="en-US" dirty="0" smtClean="0"/>
              <a:t>是</a:t>
            </a:r>
            <a:r>
              <a:rPr lang="en-US" altLang="zh-CN" dirty="0" smtClean="0"/>
              <a:t>G</a:t>
            </a:r>
            <a:r>
              <a:rPr lang="zh-CN" altLang="en-US" dirty="0" smtClean="0"/>
              <a:t>的平面图表示中的面数</a:t>
            </a:r>
            <a:r>
              <a:rPr lang="en-US" altLang="zh-CN" dirty="0" smtClean="0"/>
              <a:t>. </a:t>
            </a:r>
            <a:r>
              <a:rPr lang="zh-CN" altLang="en-US" dirty="0" smtClean="0"/>
              <a:t>则</a:t>
            </a:r>
            <a:r>
              <a:rPr lang="en-US" altLang="zh-CN" dirty="0" smtClean="0"/>
              <a:t>r=e-v+2.</a:t>
            </a:r>
            <a:endParaRPr lang="en-US" altLang="zh-CN" dirty="0"/>
          </a:p>
          <a:p>
            <a:endParaRPr lang="en-US" altLang="zh-CN" dirty="0" smtClean="0"/>
          </a:p>
          <a:p>
            <a:endParaRPr lang="en-US" altLang="zh-CN" dirty="0"/>
          </a:p>
          <a:p>
            <a:endParaRPr lang="en-US" altLang="zh-CN" dirty="0" smtClean="0"/>
          </a:p>
          <a:p>
            <a:endParaRPr lang="en-US" altLang="zh-CN" dirty="0"/>
          </a:p>
          <a:p>
            <a:endParaRPr lang="zh-CN" altLang="en-US" dirty="0"/>
          </a:p>
        </p:txBody>
      </p:sp>
      <p:sp>
        <p:nvSpPr>
          <p:cNvPr id="4" name="日期占位符 3"/>
          <p:cNvSpPr>
            <a:spLocks noGrp="1"/>
          </p:cNvSpPr>
          <p:nvPr>
            <p:ph type="dt" sz="half" idx="10"/>
          </p:nvPr>
        </p:nvSpPr>
        <p:spPr/>
        <p:txBody>
          <a:bodyPr/>
          <a:lstStyle/>
          <a:p>
            <a:fld id="{03859611-190F-458B-8F0E-CBC219B5A746}"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196</a:t>
            </a:fld>
            <a:endParaRPr lang="zh-CN" altLang="en-US" dirty="0"/>
          </a:p>
        </p:txBody>
      </p:sp>
      <p:pic>
        <p:nvPicPr>
          <p:cNvPr id="7" name="图片 6"/>
          <p:cNvPicPr>
            <a:picLocks noChangeAspect="1"/>
          </p:cNvPicPr>
          <p:nvPr/>
        </p:nvPicPr>
        <p:blipFill>
          <a:blip r:embed="rId2"/>
          <a:stretch>
            <a:fillRect/>
          </a:stretch>
        </p:blipFill>
        <p:spPr>
          <a:xfrm>
            <a:off x="2057400" y="1804901"/>
            <a:ext cx="2366400" cy="1191800"/>
          </a:xfrm>
          <a:prstGeom prst="rect">
            <a:avLst/>
          </a:prstGeom>
        </p:spPr>
      </p:pic>
      <p:pic>
        <p:nvPicPr>
          <p:cNvPr id="9" name="图片 8"/>
          <p:cNvPicPr>
            <a:picLocks noChangeAspect="1"/>
          </p:cNvPicPr>
          <p:nvPr/>
        </p:nvPicPr>
        <p:blipFill>
          <a:blip r:embed="rId3"/>
          <a:stretch>
            <a:fillRect/>
          </a:stretch>
        </p:blipFill>
        <p:spPr>
          <a:xfrm>
            <a:off x="7146996" y="1833476"/>
            <a:ext cx="1860408" cy="847941"/>
          </a:xfrm>
          <a:prstGeom prst="rect">
            <a:avLst/>
          </a:prstGeom>
        </p:spPr>
      </p:pic>
    </p:spTree>
    <p:extLst>
      <p:ext uri="{BB962C8B-B14F-4D97-AF65-F5344CB8AC3E}">
        <p14:creationId xmlns:p14="http://schemas.microsoft.com/office/powerpoint/2010/main" val="1099837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wipe(down)">
                                      <p:cBhvr>
                                        <p:cTn id="7" dur="500"/>
                                        <p:tgtEl>
                                          <p:spTgt spid="3">
                                            <p:txEl>
                                              <p:pRg st="5" end="5"/>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down)">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 </a:t>
            </a:r>
            <a:endParaRPr lang="zh-CN" altLang="en-US"/>
          </a:p>
        </p:txBody>
      </p:sp>
      <p:sp>
        <p:nvSpPr>
          <p:cNvPr id="3" name="内容占位符 2"/>
          <p:cNvSpPr>
            <a:spLocks noGrp="1"/>
          </p:cNvSpPr>
          <p:nvPr>
            <p:ph idx="1"/>
          </p:nvPr>
        </p:nvSpPr>
        <p:spPr/>
        <p:txBody>
          <a:bodyPr/>
          <a:lstStyle/>
          <a:p>
            <a:r>
              <a:rPr lang="zh-CN" altLang="en-US" dirty="0" smtClean="0"/>
              <a:t>例</a:t>
            </a:r>
            <a:r>
              <a:rPr lang="en-US" altLang="zh-CN" dirty="0" smtClean="0"/>
              <a:t>: </a:t>
            </a:r>
            <a:r>
              <a:rPr lang="zh-CN" altLang="en-US" dirty="0" smtClean="0"/>
              <a:t>假定连通平面图有</a:t>
            </a:r>
            <a:r>
              <a:rPr lang="en-US" altLang="zh-CN" dirty="0" smtClean="0"/>
              <a:t>20</a:t>
            </a:r>
            <a:r>
              <a:rPr lang="zh-CN" altLang="en-US" dirty="0" smtClean="0"/>
              <a:t>个顶点</a:t>
            </a:r>
            <a:r>
              <a:rPr lang="en-US" altLang="zh-CN" dirty="0" smtClean="0"/>
              <a:t>, </a:t>
            </a:r>
            <a:r>
              <a:rPr lang="zh-CN" altLang="en-US" dirty="0" smtClean="0"/>
              <a:t>每个顶点的度为</a:t>
            </a:r>
            <a:r>
              <a:rPr lang="en-US" altLang="zh-CN" dirty="0" smtClean="0"/>
              <a:t>3. </a:t>
            </a:r>
            <a:r>
              <a:rPr lang="zh-CN" altLang="en-US" dirty="0" smtClean="0"/>
              <a:t>这个平面图表示把平面分割为多少个面</a:t>
            </a:r>
            <a:r>
              <a:rPr lang="en-US" altLang="zh-CN" dirty="0" smtClean="0"/>
              <a:t>?</a:t>
            </a:r>
          </a:p>
          <a:p>
            <a:r>
              <a:rPr lang="zh-CN" altLang="en-US" dirty="0" smtClean="0"/>
              <a:t>解</a:t>
            </a:r>
            <a:r>
              <a:rPr lang="en-US" altLang="zh-CN" dirty="0" smtClean="0"/>
              <a:t>: </a:t>
            </a:r>
          </a:p>
          <a:p>
            <a:pPr lvl="1">
              <a:lnSpc>
                <a:spcPct val="110000"/>
              </a:lnSpc>
            </a:pPr>
            <a:r>
              <a:rPr lang="zh-CN" altLang="en-US" dirty="0">
                <a:solidFill>
                  <a:prstClr val="black"/>
                </a:solidFill>
              </a:rPr>
              <a:t>根据欧拉公式可得面数为</a:t>
            </a:r>
            <a:r>
              <a:rPr lang="en-US" altLang="zh-CN" dirty="0">
                <a:solidFill>
                  <a:prstClr val="black"/>
                </a:solidFill>
              </a:rPr>
              <a:t>e-v+2</a:t>
            </a:r>
          </a:p>
          <a:p>
            <a:pPr lvl="1">
              <a:lnSpc>
                <a:spcPct val="110000"/>
              </a:lnSpc>
            </a:pPr>
            <a:r>
              <a:rPr lang="zh-CN" altLang="en-US" dirty="0">
                <a:solidFill>
                  <a:prstClr val="black"/>
                </a:solidFill>
              </a:rPr>
              <a:t>这个图</a:t>
            </a:r>
            <a:r>
              <a:rPr lang="en-US" altLang="zh-CN" dirty="0">
                <a:solidFill>
                  <a:prstClr val="black"/>
                </a:solidFill>
              </a:rPr>
              <a:t>20</a:t>
            </a:r>
            <a:r>
              <a:rPr lang="zh-CN" altLang="en-US" dirty="0">
                <a:solidFill>
                  <a:prstClr val="black"/>
                </a:solidFill>
              </a:rPr>
              <a:t>个顶点</a:t>
            </a:r>
            <a:r>
              <a:rPr lang="en-US" altLang="zh-CN" dirty="0">
                <a:solidFill>
                  <a:prstClr val="black"/>
                </a:solidFill>
              </a:rPr>
              <a:t>, </a:t>
            </a:r>
            <a:r>
              <a:rPr lang="zh-CN" altLang="en-US" dirty="0">
                <a:solidFill>
                  <a:prstClr val="black"/>
                </a:solidFill>
              </a:rPr>
              <a:t>所以</a:t>
            </a:r>
            <a:r>
              <a:rPr lang="en-US" altLang="zh-CN" dirty="0">
                <a:solidFill>
                  <a:prstClr val="black"/>
                </a:solidFill>
              </a:rPr>
              <a:t>v=20.</a:t>
            </a:r>
          </a:p>
          <a:p>
            <a:pPr lvl="1">
              <a:lnSpc>
                <a:spcPct val="110000"/>
              </a:lnSpc>
            </a:pPr>
            <a:r>
              <a:rPr lang="zh-CN" altLang="en-US" dirty="0">
                <a:solidFill>
                  <a:prstClr val="black"/>
                </a:solidFill>
              </a:rPr>
              <a:t>这个图</a:t>
            </a:r>
            <a:r>
              <a:rPr lang="en-US" altLang="zh-CN" dirty="0">
                <a:solidFill>
                  <a:prstClr val="black"/>
                </a:solidFill>
              </a:rPr>
              <a:t>20</a:t>
            </a:r>
            <a:r>
              <a:rPr lang="zh-CN" altLang="en-US" dirty="0">
                <a:solidFill>
                  <a:prstClr val="black"/>
                </a:solidFill>
              </a:rPr>
              <a:t>个顶点</a:t>
            </a:r>
            <a:r>
              <a:rPr lang="en-US" altLang="zh-CN" dirty="0">
                <a:solidFill>
                  <a:prstClr val="black"/>
                </a:solidFill>
              </a:rPr>
              <a:t>, </a:t>
            </a:r>
            <a:r>
              <a:rPr lang="zh-CN" altLang="en-US" dirty="0">
                <a:solidFill>
                  <a:prstClr val="black"/>
                </a:solidFill>
              </a:rPr>
              <a:t>每个顶点的度为</a:t>
            </a:r>
            <a:r>
              <a:rPr lang="en-US" altLang="zh-CN" dirty="0">
                <a:solidFill>
                  <a:prstClr val="black"/>
                </a:solidFill>
              </a:rPr>
              <a:t>3. </a:t>
            </a:r>
            <a:r>
              <a:rPr lang="zh-CN" altLang="en-US" dirty="0">
                <a:solidFill>
                  <a:prstClr val="black"/>
                </a:solidFill>
              </a:rPr>
              <a:t>根据握手定理</a:t>
            </a:r>
            <a:r>
              <a:rPr lang="en-US" altLang="zh-CN" dirty="0">
                <a:solidFill>
                  <a:prstClr val="black"/>
                </a:solidFill>
              </a:rPr>
              <a:t>, </a:t>
            </a:r>
            <a:r>
              <a:rPr lang="zh-CN" altLang="en-US" dirty="0">
                <a:solidFill>
                  <a:prstClr val="black"/>
                </a:solidFill>
              </a:rPr>
              <a:t>顶点的度之和等于边数的两倍</a:t>
            </a:r>
            <a:r>
              <a:rPr lang="en-US" altLang="zh-CN" dirty="0">
                <a:solidFill>
                  <a:prstClr val="black"/>
                </a:solidFill>
              </a:rPr>
              <a:t>, </a:t>
            </a:r>
            <a:r>
              <a:rPr lang="zh-CN" altLang="en-US" dirty="0">
                <a:solidFill>
                  <a:prstClr val="black"/>
                </a:solidFill>
              </a:rPr>
              <a:t>即</a:t>
            </a:r>
            <a:r>
              <a:rPr lang="en-US" altLang="zh-CN" dirty="0">
                <a:solidFill>
                  <a:prstClr val="black"/>
                </a:solidFill>
              </a:rPr>
              <a:t>20</a:t>
            </a:r>
            <a:r>
              <a:rPr lang="zh-CN" altLang="en-US" dirty="0">
                <a:solidFill>
                  <a:prstClr val="black"/>
                </a:solidFill>
              </a:rPr>
              <a:t>*</a:t>
            </a:r>
            <a:r>
              <a:rPr lang="en-US" altLang="zh-CN" dirty="0">
                <a:solidFill>
                  <a:prstClr val="black"/>
                </a:solidFill>
              </a:rPr>
              <a:t>3=2e, </a:t>
            </a:r>
            <a:r>
              <a:rPr lang="zh-CN" altLang="en-US" dirty="0">
                <a:solidFill>
                  <a:prstClr val="black"/>
                </a:solidFill>
              </a:rPr>
              <a:t>所以</a:t>
            </a:r>
            <a:r>
              <a:rPr lang="en-US" altLang="zh-CN" dirty="0">
                <a:solidFill>
                  <a:prstClr val="black"/>
                </a:solidFill>
              </a:rPr>
              <a:t>e=30. </a:t>
            </a:r>
          </a:p>
          <a:p>
            <a:pPr lvl="1">
              <a:lnSpc>
                <a:spcPct val="110000"/>
              </a:lnSpc>
            </a:pPr>
            <a:r>
              <a:rPr lang="zh-CN" altLang="en-US" dirty="0">
                <a:solidFill>
                  <a:prstClr val="black"/>
                </a:solidFill>
              </a:rPr>
              <a:t>综上</a:t>
            </a:r>
            <a:r>
              <a:rPr lang="en-US" altLang="zh-CN" dirty="0">
                <a:solidFill>
                  <a:prstClr val="black"/>
                </a:solidFill>
              </a:rPr>
              <a:t>, </a:t>
            </a:r>
            <a:r>
              <a:rPr lang="zh-CN" altLang="en-US" dirty="0">
                <a:solidFill>
                  <a:prstClr val="black"/>
                </a:solidFill>
              </a:rPr>
              <a:t>面数为</a:t>
            </a:r>
            <a:r>
              <a:rPr lang="en-US" altLang="zh-CN" dirty="0">
                <a:solidFill>
                  <a:prstClr val="black"/>
                </a:solidFill>
              </a:rPr>
              <a:t>e-v+2=30-20+2=12.</a:t>
            </a:r>
            <a:endParaRPr lang="zh-CN" altLang="en-US" dirty="0">
              <a:solidFill>
                <a:prstClr val="black"/>
              </a:solidFill>
            </a:endParaRPr>
          </a:p>
        </p:txBody>
      </p:sp>
      <p:sp>
        <p:nvSpPr>
          <p:cNvPr id="4" name="日期占位符 3"/>
          <p:cNvSpPr>
            <a:spLocks noGrp="1"/>
          </p:cNvSpPr>
          <p:nvPr>
            <p:ph type="dt" sz="half" idx="10"/>
          </p:nvPr>
        </p:nvSpPr>
        <p:spPr/>
        <p:txBody>
          <a:bodyPr/>
          <a:lstStyle/>
          <a:p>
            <a:fld id="{0981FA50-DA4F-4D76-AE81-1B4B751E2289}"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smtClean="0"/>
              <a:t>华中科技大学人机物系统与安全实验室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197</a:t>
            </a:fld>
            <a:endParaRPr lang="zh-CN" altLang="en-US" dirty="0"/>
          </a:p>
        </p:txBody>
      </p:sp>
      <p:sp>
        <p:nvSpPr>
          <p:cNvPr id="8" name="标题 1"/>
          <p:cNvSpPr txBox="1">
            <a:spLocks/>
          </p:cNvSpPr>
          <p:nvPr/>
        </p:nvSpPr>
        <p:spPr>
          <a:xfrm>
            <a:off x="595086" y="278629"/>
            <a:ext cx="10987314" cy="63577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kern="1200">
                <a:solidFill>
                  <a:srgbClr val="01559D"/>
                </a:solidFill>
                <a:latin typeface="微软雅黑" panose="020B0503020204020204" pitchFamily="34" charset="-122"/>
                <a:ea typeface="微软雅黑" panose="020B0503020204020204" pitchFamily="34" charset="-122"/>
                <a:cs typeface="+mj-cs"/>
              </a:defRPr>
            </a:lvl1pPr>
          </a:lstStyle>
          <a:p>
            <a:r>
              <a:rPr lang="zh-CN" altLang="en-US" dirty="0" smtClean="0"/>
              <a:t>欧拉公式</a:t>
            </a:r>
            <a:endParaRPr lang="zh-CN" altLang="en-US" dirty="0"/>
          </a:p>
        </p:txBody>
      </p:sp>
    </p:spTree>
    <p:extLst>
      <p:ext uri="{BB962C8B-B14F-4D97-AF65-F5344CB8AC3E}">
        <p14:creationId xmlns:p14="http://schemas.microsoft.com/office/powerpoint/2010/main" val="2055992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wipe(down)">
                                      <p:cBhvr>
                                        <p:cTn id="10" dur="500"/>
                                        <p:tgtEl>
                                          <p:spTgt spid="3">
                                            <p:txEl>
                                              <p:pRg st="2" end="2"/>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wipe(down)">
                                      <p:cBhvr>
                                        <p:cTn id="13" dur="500"/>
                                        <p:tgtEl>
                                          <p:spTgt spid="3">
                                            <p:txEl>
                                              <p:pRg st="3" end="3"/>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wipe(down)">
                                      <p:cBhvr>
                                        <p:cTn id="16" dur="500"/>
                                        <p:tgtEl>
                                          <p:spTgt spid="3">
                                            <p:txEl>
                                              <p:pRg st="4" end="4"/>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wipe(down)">
                                      <p:cBhvr>
                                        <p:cTn id="19"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57200" y="1143000"/>
            <a:ext cx="11277599" cy="8382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欧拉</a:t>
            </a:r>
            <a:r>
              <a:rPr lang="zh-CN" altLang="en-US" dirty="0" smtClean="0"/>
              <a:t>公式</a:t>
            </a:r>
            <a:endParaRPr lang="zh-CN" altLang="en-US" dirty="0"/>
          </a:p>
        </p:txBody>
      </p:sp>
      <p:sp>
        <p:nvSpPr>
          <p:cNvPr id="3" name="内容占位符 2"/>
          <p:cNvSpPr>
            <a:spLocks noGrp="1"/>
          </p:cNvSpPr>
          <p:nvPr>
            <p:ph idx="1"/>
          </p:nvPr>
        </p:nvSpPr>
        <p:spPr/>
        <p:txBody>
          <a:bodyPr>
            <a:normAutofit/>
          </a:bodyPr>
          <a:lstStyle/>
          <a:p>
            <a:r>
              <a:rPr lang="zh-CN" altLang="en-US" dirty="0" smtClean="0"/>
              <a:t>定义</a:t>
            </a:r>
            <a:r>
              <a:rPr lang="en-US" altLang="zh-CN" dirty="0" smtClean="0"/>
              <a:t>: </a:t>
            </a:r>
            <a:r>
              <a:rPr lang="zh-CN" altLang="en-US" b="1" dirty="0" smtClean="0">
                <a:solidFill>
                  <a:srgbClr val="C00000"/>
                </a:solidFill>
              </a:rPr>
              <a:t>面的度</a:t>
            </a:r>
            <a:r>
              <a:rPr lang="zh-CN" altLang="en-US" dirty="0" smtClean="0"/>
              <a:t>定义为这个面的边界上的边数</a:t>
            </a:r>
            <a:r>
              <a:rPr lang="en-US" altLang="zh-CN" dirty="0" smtClean="0"/>
              <a:t>. </a:t>
            </a:r>
            <a:r>
              <a:rPr lang="zh-CN" altLang="en-US" dirty="0" smtClean="0"/>
              <a:t>割边的话面的度贡献</a:t>
            </a:r>
            <a:r>
              <a:rPr lang="en-US" altLang="zh-CN" dirty="0" smtClean="0"/>
              <a:t>2. </a:t>
            </a:r>
            <a:r>
              <a:rPr lang="zh-CN" altLang="en-US" dirty="0" smtClean="0"/>
              <a:t>我们使用</a:t>
            </a:r>
            <a:r>
              <a:rPr lang="en-US" altLang="zh-CN" dirty="0" err="1" smtClean="0"/>
              <a:t>deg</a:t>
            </a:r>
            <a:r>
              <a:rPr lang="en-US" altLang="zh-CN" dirty="0" smtClean="0"/>
              <a:t>(R)</a:t>
            </a:r>
            <a:r>
              <a:rPr lang="zh-CN" altLang="en-US" dirty="0" smtClean="0"/>
              <a:t>来标记面</a:t>
            </a:r>
            <a:r>
              <a:rPr lang="en-US" altLang="zh-CN" dirty="0" smtClean="0"/>
              <a:t>R</a:t>
            </a:r>
            <a:r>
              <a:rPr lang="zh-CN" altLang="en-US" dirty="0" smtClean="0"/>
              <a:t>的度</a:t>
            </a:r>
            <a:r>
              <a:rPr lang="en-US" altLang="zh-CN" dirty="0" smtClean="0"/>
              <a:t>.</a:t>
            </a:r>
          </a:p>
          <a:p>
            <a:r>
              <a:rPr lang="zh-CN" altLang="en-US" dirty="0" smtClean="0"/>
              <a:t>例</a:t>
            </a:r>
            <a:r>
              <a:rPr lang="en-US" altLang="zh-CN" dirty="0" smtClean="0"/>
              <a:t>:</a:t>
            </a:r>
            <a:r>
              <a:rPr lang="zh-CN" altLang="en-US" dirty="0" smtClean="0"/>
              <a:t>求下图中面</a:t>
            </a:r>
            <a:r>
              <a:rPr lang="en-US" altLang="zh-CN" dirty="0" smtClean="0"/>
              <a:t>R1</a:t>
            </a:r>
            <a:r>
              <a:rPr lang="zh-CN" altLang="en-US" dirty="0" smtClean="0"/>
              <a:t>，</a:t>
            </a:r>
            <a:r>
              <a:rPr lang="en-US" altLang="zh-CN" dirty="0" smtClean="0"/>
              <a:t>R2</a:t>
            </a:r>
            <a:r>
              <a:rPr lang="zh-CN" altLang="en-US" dirty="0" smtClean="0"/>
              <a:t>和</a:t>
            </a:r>
            <a:r>
              <a:rPr lang="en-US" altLang="zh-CN" dirty="0" smtClean="0"/>
              <a:t>R3</a:t>
            </a:r>
            <a:r>
              <a:rPr lang="zh-CN" altLang="en-US" dirty="0" smtClean="0"/>
              <a:t>的度</a:t>
            </a:r>
            <a:endParaRPr lang="en-US" altLang="zh-CN" dirty="0" smtClean="0"/>
          </a:p>
          <a:p>
            <a:endParaRPr lang="en-US" altLang="zh-CN" dirty="0"/>
          </a:p>
          <a:p>
            <a:endParaRPr lang="en-US" altLang="zh-CN" dirty="0" smtClean="0"/>
          </a:p>
          <a:p>
            <a:endParaRPr lang="en-US" altLang="zh-CN" dirty="0" smtClean="0"/>
          </a:p>
          <a:p>
            <a:endParaRPr lang="en-US" altLang="zh-CN" dirty="0" smtClean="0"/>
          </a:p>
          <a:p>
            <a:r>
              <a:rPr lang="zh-CN" altLang="en-US" dirty="0" smtClean="0"/>
              <a:t>解</a:t>
            </a:r>
            <a:r>
              <a:rPr lang="en-US" altLang="zh-CN" dirty="0" smtClean="0"/>
              <a:t>: </a:t>
            </a:r>
            <a:r>
              <a:rPr lang="en-US" altLang="zh-CN" dirty="0" err="1" smtClean="0"/>
              <a:t>deg</a:t>
            </a:r>
            <a:r>
              <a:rPr lang="en-US" altLang="zh-CN" dirty="0" smtClean="0"/>
              <a:t>(R1)=3, </a:t>
            </a:r>
            <a:r>
              <a:rPr lang="en-US" altLang="zh-CN" dirty="0" err="1" smtClean="0"/>
              <a:t>deg</a:t>
            </a:r>
            <a:r>
              <a:rPr lang="en-US" altLang="zh-CN" dirty="0" smtClean="0"/>
              <a:t>(R2)=6, </a:t>
            </a:r>
            <a:r>
              <a:rPr lang="en-US" altLang="zh-CN" dirty="0" err="1" smtClean="0"/>
              <a:t>deg</a:t>
            </a:r>
            <a:r>
              <a:rPr lang="en-US" altLang="zh-CN" dirty="0" smtClean="0"/>
              <a:t>(R3)=7</a:t>
            </a:r>
            <a:endParaRPr lang="zh-CN" altLang="en-US" dirty="0"/>
          </a:p>
          <a:p>
            <a:endParaRPr lang="zh-CN" altLang="en-US" dirty="0"/>
          </a:p>
        </p:txBody>
      </p:sp>
      <p:sp>
        <p:nvSpPr>
          <p:cNvPr id="4" name="日期占位符 3"/>
          <p:cNvSpPr>
            <a:spLocks noGrp="1"/>
          </p:cNvSpPr>
          <p:nvPr>
            <p:ph type="dt" sz="half" idx="10"/>
          </p:nvPr>
        </p:nvSpPr>
        <p:spPr/>
        <p:txBody>
          <a:bodyPr/>
          <a:lstStyle/>
          <a:p>
            <a:fld id="{61228700-6A51-45D3-9F76-74D92B494ABB}"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smtClean="0"/>
              <a:t>华中科技大学人机物系统与安全实验室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198</a:t>
            </a:fld>
            <a:endParaRPr lang="zh-CN" altLang="en-US" dirty="0"/>
          </a:p>
        </p:txBody>
      </p:sp>
      <p:pic>
        <p:nvPicPr>
          <p:cNvPr id="11" name="图片 10"/>
          <p:cNvPicPr>
            <a:picLocks noChangeAspect="1"/>
          </p:cNvPicPr>
          <p:nvPr/>
        </p:nvPicPr>
        <p:blipFill>
          <a:blip r:embed="rId2"/>
          <a:stretch>
            <a:fillRect/>
          </a:stretch>
        </p:blipFill>
        <p:spPr>
          <a:xfrm>
            <a:off x="4038600" y="2667000"/>
            <a:ext cx="2352675" cy="2265539"/>
          </a:xfrm>
          <a:prstGeom prst="rect">
            <a:avLst/>
          </a:prstGeom>
        </p:spPr>
      </p:pic>
    </p:spTree>
    <p:extLst>
      <p:ext uri="{BB962C8B-B14F-4D97-AF65-F5344CB8AC3E}">
        <p14:creationId xmlns:p14="http://schemas.microsoft.com/office/powerpoint/2010/main" val="2089807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wipe(down)">
                                      <p:cBhvr>
                                        <p:cTn id="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449944" y="2622241"/>
            <a:ext cx="11277599" cy="501959"/>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457200" y="1752599"/>
            <a:ext cx="11277599" cy="793441"/>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欧拉</a:t>
            </a:r>
            <a:r>
              <a:rPr lang="zh-CN" altLang="en-US" dirty="0" smtClean="0"/>
              <a:t>公式</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dirty="0" smtClean="0"/>
                  <a:t>用欧拉公式来建立平面图必须满足一些不等式</a:t>
                </a:r>
                <a:r>
                  <a:rPr lang="en-US" altLang="zh-CN" dirty="0" smtClean="0"/>
                  <a:t>.</a:t>
                </a:r>
              </a:p>
              <a:p>
                <a:r>
                  <a:rPr lang="zh-CN" altLang="en-US" dirty="0" smtClean="0"/>
                  <a:t>推论</a:t>
                </a:r>
                <a:r>
                  <a:rPr lang="en-US" altLang="zh-CN" dirty="0" smtClean="0"/>
                  <a:t>: </a:t>
                </a:r>
                <a:r>
                  <a:rPr lang="zh-CN" altLang="en-US" dirty="0" smtClean="0"/>
                  <a:t>若</a:t>
                </a:r>
                <a:r>
                  <a:rPr lang="en-US" altLang="zh-CN" dirty="0" smtClean="0"/>
                  <a:t>G=(</a:t>
                </a:r>
                <a:r>
                  <a:rPr lang="en-US" altLang="zh-CN" dirty="0"/>
                  <a:t>V, E)</a:t>
                </a:r>
                <a:r>
                  <a:rPr lang="zh-CN" altLang="en-US" dirty="0" smtClean="0"/>
                  <a:t>是</a:t>
                </a:r>
                <a:r>
                  <a:rPr lang="en-US" altLang="zh-CN" dirty="0"/>
                  <a:t>v</a:t>
                </a:r>
                <a:r>
                  <a:rPr lang="zh-CN" altLang="en-US" dirty="0"/>
                  <a:t>个</a:t>
                </a:r>
                <a:r>
                  <a:rPr lang="zh-CN" altLang="en-US" dirty="0" smtClean="0"/>
                  <a:t>顶点</a:t>
                </a:r>
                <a:r>
                  <a:rPr lang="zh-CN" altLang="en-US" dirty="0"/>
                  <a:t>和</a:t>
                </a:r>
                <a:r>
                  <a:rPr lang="en-US" altLang="zh-CN" dirty="0" smtClean="0"/>
                  <a:t>e</a:t>
                </a:r>
                <a:r>
                  <a:rPr lang="zh-CN" altLang="en-US" dirty="0" smtClean="0"/>
                  <a:t>条边的连通平面简单图</a:t>
                </a:r>
                <a:r>
                  <a:rPr lang="en-US" altLang="zh-CN" dirty="0" smtClean="0"/>
                  <a:t>, </a:t>
                </a:r>
                <a:r>
                  <a:rPr lang="zh-CN" altLang="en-US" dirty="0" smtClean="0"/>
                  <a:t>其中</a:t>
                </a:r>
                <a:r>
                  <a:rPr lang="en-US" altLang="zh-CN" dirty="0" smtClean="0"/>
                  <a:t>v</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3</m:t>
                    </m:r>
                  </m:oMath>
                </a14:m>
                <a:r>
                  <a:rPr lang="en-US" altLang="zh-CN" dirty="0" smtClean="0"/>
                  <a:t>, </a:t>
                </a:r>
                <a:r>
                  <a:rPr lang="zh-CN" altLang="en-US" dirty="0" smtClean="0"/>
                  <a:t>则</a:t>
                </a:r>
                <a14:m>
                  <m:oMath xmlns:m="http://schemas.openxmlformats.org/officeDocument/2006/math">
                    <m:r>
                      <m:rPr>
                        <m:sty m:val="p"/>
                      </m:rPr>
                      <a:rPr lang="en-US" altLang="zh-CN" i="1" dirty="0">
                        <a:latin typeface="Cambria Math" panose="02040503050406030204" pitchFamily="18" charset="0"/>
                        <a:ea typeface="Cambria Math" panose="02040503050406030204" pitchFamily="18" charset="0"/>
                      </a:rPr>
                      <m:t>e</m:t>
                    </m:r>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3</m:t>
                    </m:r>
                    <m:r>
                      <a:rPr lang="en-US" altLang="zh-CN" b="0" i="1" smtClean="0">
                        <a:latin typeface="Cambria Math" panose="02040503050406030204" pitchFamily="18" charset="0"/>
                        <a:ea typeface="Cambria Math" panose="02040503050406030204" pitchFamily="18" charset="0"/>
                      </a:rPr>
                      <m:t>𝑣</m:t>
                    </m:r>
                    <m:r>
                      <a:rPr lang="en-US" altLang="zh-CN" b="0" i="1" smtClean="0">
                        <a:latin typeface="Cambria Math" panose="02040503050406030204" pitchFamily="18" charset="0"/>
                        <a:ea typeface="Cambria Math" panose="02040503050406030204" pitchFamily="18" charset="0"/>
                      </a:rPr>
                      <m:t>−6</m:t>
                    </m:r>
                    <m:r>
                      <a:rPr lang="en-US" altLang="zh-CN" b="0" i="0" smtClean="0">
                        <a:latin typeface="Cambria Math" panose="02040503050406030204" pitchFamily="18" charset="0"/>
                        <a:ea typeface="Cambria Math" panose="02040503050406030204" pitchFamily="18" charset="0"/>
                      </a:rPr>
                      <m:t>.</m:t>
                    </m:r>
                  </m:oMath>
                </a14:m>
                <a:endParaRPr lang="en-US" altLang="zh-CN" dirty="0" smtClean="0"/>
              </a:p>
              <a:p>
                <a:r>
                  <a:rPr lang="zh-CN" altLang="en-US" dirty="0" smtClean="0"/>
                  <a:t>推论</a:t>
                </a:r>
                <a:r>
                  <a:rPr lang="en-US" altLang="zh-CN" dirty="0" smtClean="0"/>
                  <a:t>: </a:t>
                </a:r>
                <a:r>
                  <a:rPr lang="zh-CN" altLang="en-US" dirty="0" smtClean="0"/>
                  <a:t>若</a:t>
                </a:r>
                <a:r>
                  <a:rPr lang="en-US" altLang="zh-CN" dirty="0" smtClean="0"/>
                  <a:t>G</a:t>
                </a:r>
                <a:r>
                  <a:rPr lang="zh-CN" altLang="en-US" dirty="0" smtClean="0"/>
                  <a:t>是</a:t>
                </a:r>
                <a:r>
                  <a:rPr lang="zh-CN" altLang="en-US" dirty="0"/>
                  <a:t>连通平面简单</a:t>
                </a:r>
                <a:r>
                  <a:rPr lang="zh-CN" altLang="en-US" dirty="0" smtClean="0"/>
                  <a:t>图</a:t>
                </a:r>
                <a:r>
                  <a:rPr lang="en-US" altLang="zh-CN" dirty="0" smtClean="0"/>
                  <a:t>, </a:t>
                </a:r>
                <a:r>
                  <a:rPr lang="zh-CN" altLang="en-US" dirty="0" smtClean="0"/>
                  <a:t>则</a:t>
                </a:r>
                <a:r>
                  <a:rPr lang="en-US" altLang="zh-CN" dirty="0" smtClean="0"/>
                  <a:t>G</a:t>
                </a:r>
                <a:r>
                  <a:rPr lang="zh-CN" altLang="en-US" dirty="0" smtClean="0"/>
                  <a:t>中有度数不超过</a:t>
                </a:r>
                <a:r>
                  <a:rPr lang="en-US" altLang="zh-CN" dirty="0" smtClean="0"/>
                  <a:t>5</a:t>
                </a:r>
                <a:r>
                  <a:rPr lang="zh-CN" altLang="en-US" dirty="0" smtClean="0"/>
                  <a:t>的顶点</a:t>
                </a:r>
                <a:r>
                  <a:rPr lang="en-US" altLang="zh-CN" dirty="0" smtClean="0"/>
                  <a:t>. </a:t>
                </a:r>
              </a:p>
              <a:p>
                <a:endParaRPr lang="en-US" altLang="zh-CN" dirty="0" smtClean="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999" t="-1310"/>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09606ED2-4F37-4EBF-B26F-7DDB2ECA2522}"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199</a:t>
            </a:fld>
            <a:endParaRPr lang="zh-CN" altLang="en-US" dirty="0"/>
          </a:p>
        </p:txBody>
      </p:sp>
      <p:pic>
        <p:nvPicPr>
          <p:cNvPr id="10" name="图片 9"/>
          <p:cNvPicPr>
            <a:picLocks noChangeAspect="1"/>
          </p:cNvPicPr>
          <p:nvPr/>
        </p:nvPicPr>
        <p:blipFill>
          <a:blip r:embed="rId3"/>
          <a:stretch>
            <a:fillRect/>
          </a:stretch>
        </p:blipFill>
        <p:spPr>
          <a:xfrm>
            <a:off x="304800" y="3314694"/>
            <a:ext cx="10972800" cy="2019306"/>
          </a:xfrm>
          <a:prstGeom prst="rect">
            <a:avLst/>
          </a:prstGeom>
        </p:spPr>
      </p:pic>
    </p:spTree>
    <p:extLst>
      <p:ext uri="{BB962C8B-B14F-4D97-AF65-F5344CB8AC3E}">
        <p14:creationId xmlns:p14="http://schemas.microsoft.com/office/powerpoint/2010/main" val="215574297"/>
      </p:ext>
    </p:extLst>
  </p:cSld>
  <p:clrMapOvr>
    <a:masterClrMapping/>
  </p:clrMapOvr>
  <p:timing>
    <p:tnLst>
      <p:par>
        <p:cTn id="1" dur="indefinite" restart="never" nodeType="tmRoot"/>
      </p:par>
    </p:tn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欧拉公式</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smtClean="0"/>
                  <a:t>例</a:t>
                </a:r>
                <a:r>
                  <a:rPr lang="en-US" altLang="zh-CN" dirty="0" smtClean="0"/>
                  <a:t>: </a:t>
                </a:r>
                <a:r>
                  <a:rPr lang="zh-CN" altLang="en-US" dirty="0" smtClean="0"/>
                  <a:t>证明</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𝐾</m:t>
                        </m:r>
                      </m:e>
                      <m:sub>
                        <m:r>
                          <a:rPr lang="en-US" altLang="zh-CN" b="0" i="1" smtClean="0">
                            <a:latin typeface="Cambria Math" panose="02040503050406030204" pitchFamily="18" charset="0"/>
                          </a:rPr>
                          <m:t>5</m:t>
                        </m:r>
                      </m:sub>
                    </m:sSub>
                  </m:oMath>
                </a14:m>
                <a:r>
                  <a:rPr lang="zh-CN" altLang="en-US" dirty="0" smtClean="0"/>
                  <a:t>不是平面图</a:t>
                </a:r>
                <a:r>
                  <a:rPr lang="en-US" altLang="zh-CN" dirty="0" smtClean="0"/>
                  <a:t>.</a:t>
                </a:r>
              </a:p>
              <a:p>
                <a:r>
                  <a:rPr lang="zh-CN" altLang="en-US" dirty="0" smtClean="0"/>
                  <a:t>解</a:t>
                </a:r>
                <a:r>
                  <a:rPr lang="en-US" altLang="zh-CN"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𝐾</m:t>
                        </m:r>
                      </m:e>
                      <m:sub>
                        <m:r>
                          <a:rPr lang="en-US" altLang="zh-CN" i="1">
                            <a:latin typeface="Cambria Math" panose="02040503050406030204" pitchFamily="18" charset="0"/>
                          </a:rPr>
                          <m:t>5</m:t>
                        </m:r>
                      </m:sub>
                    </m:sSub>
                    <m:r>
                      <a:rPr lang="zh-CN" altLang="en-US" i="1" smtClean="0">
                        <a:latin typeface="Cambria Math" panose="02040503050406030204" pitchFamily="18" charset="0"/>
                      </a:rPr>
                      <m:t>有</m:t>
                    </m:r>
                  </m:oMath>
                </a14:m>
                <a:r>
                  <a:rPr lang="en-US" altLang="zh-CN" dirty="0" smtClean="0"/>
                  <a:t>5</a:t>
                </a:r>
                <a:r>
                  <a:rPr lang="zh-CN" altLang="en-US" dirty="0" smtClean="0"/>
                  <a:t>个顶点和</a:t>
                </a:r>
                <a:r>
                  <a:rPr lang="en-US" altLang="zh-CN" dirty="0" smtClean="0"/>
                  <a:t>10</a:t>
                </a:r>
                <a:r>
                  <a:rPr lang="zh-CN" altLang="en-US" dirty="0" smtClean="0"/>
                  <a:t>条边</a:t>
                </a:r>
                <a:r>
                  <a:rPr lang="en-US" altLang="zh-CN" dirty="0" smtClean="0"/>
                  <a:t>. </a:t>
                </a:r>
                <a:r>
                  <a:rPr lang="zh-CN" altLang="en-US" dirty="0" smtClean="0"/>
                  <a:t>但是他不满足不等式</a:t>
                </a:r>
                <a14:m>
                  <m:oMath xmlns:m="http://schemas.openxmlformats.org/officeDocument/2006/math">
                    <m:r>
                      <m:rPr>
                        <m:sty m:val="p"/>
                      </m:rPr>
                      <a:rPr lang="en-US" altLang="zh-CN" i="1" dirty="0">
                        <a:latin typeface="Cambria Math" panose="02040503050406030204" pitchFamily="18" charset="0"/>
                        <a:ea typeface="Cambria Math" panose="02040503050406030204" pitchFamily="18" charset="0"/>
                      </a:rPr>
                      <m:t>e</m:t>
                    </m:r>
                    <m:r>
                      <a:rPr lang="en-US" altLang="zh-CN" i="1">
                        <a:latin typeface="Cambria Math" panose="02040503050406030204" pitchFamily="18" charset="0"/>
                        <a:ea typeface="Cambria Math" panose="02040503050406030204" pitchFamily="18" charset="0"/>
                      </a:rPr>
                      <m:t>≤3</m:t>
                    </m:r>
                    <m:r>
                      <a:rPr lang="en-US" altLang="zh-CN" i="1">
                        <a:latin typeface="Cambria Math" panose="02040503050406030204" pitchFamily="18" charset="0"/>
                        <a:ea typeface="Cambria Math" panose="02040503050406030204" pitchFamily="18" charset="0"/>
                      </a:rPr>
                      <m:t>𝑣</m:t>
                    </m:r>
                    <m:r>
                      <a:rPr lang="en-US" altLang="zh-CN" i="1">
                        <a:latin typeface="Cambria Math" panose="02040503050406030204" pitchFamily="18" charset="0"/>
                        <a:ea typeface="Cambria Math" panose="02040503050406030204" pitchFamily="18" charset="0"/>
                      </a:rPr>
                      <m:t>−6</m:t>
                    </m:r>
                    <m:r>
                      <a:rPr lang="en-US" altLang="zh-CN" b="0" i="0" smtClean="0">
                        <a:latin typeface="Cambria Math" panose="02040503050406030204" pitchFamily="18" charset="0"/>
                        <a:ea typeface="Cambria Math" panose="02040503050406030204" pitchFamily="18" charset="0"/>
                      </a:rPr>
                      <m:t>.</m:t>
                    </m:r>
                  </m:oMath>
                </a14:m>
                <a:r>
                  <a:rPr lang="zh-CN" altLang="en-US" dirty="0" smtClean="0"/>
                  <a:t> 根据推论</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𝐾</m:t>
                        </m:r>
                      </m:e>
                      <m:sub>
                        <m:r>
                          <a:rPr lang="en-US" altLang="zh-CN" i="1">
                            <a:latin typeface="Cambria Math" panose="02040503050406030204" pitchFamily="18" charset="0"/>
                          </a:rPr>
                          <m:t>5</m:t>
                        </m:r>
                      </m:sub>
                    </m:sSub>
                  </m:oMath>
                </a14:m>
                <a:r>
                  <a:rPr lang="zh-CN" altLang="en-US" dirty="0"/>
                  <a:t>不是平面图</a:t>
                </a:r>
                <a:r>
                  <a:rPr lang="en-US" altLang="zh-CN" dirty="0"/>
                  <a:t>.</a:t>
                </a:r>
              </a:p>
              <a:p>
                <a:endParaRPr lang="en-US" altLang="zh-CN" dirty="0" smtClean="0"/>
              </a:p>
              <a:p>
                <a:r>
                  <a:rPr lang="zh-CN" altLang="en-US" dirty="0" smtClean="0"/>
                  <a:t>备注</a:t>
                </a:r>
                <a:r>
                  <a:rPr lang="en-US" altLang="zh-CN" dirty="0" smtClean="0"/>
                  <a:t>: </a:t>
                </a:r>
                <a:r>
                  <a:rPr lang="zh-CN" altLang="en-US" dirty="0" smtClean="0"/>
                  <a:t>前面已经证明了</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𝐾</m:t>
                        </m:r>
                      </m:e>
                      <m:sub>
                        <m:r>
                          <a:rPr lang="en-US" altLang="zh-CN" i="1">
                            <a:latin typeface="Cambria Math" panose="02040503050406030204" pitchFamily="18" charset="0"/>
                          </a:rPr>
                          <m:t>3</m:t>
                        </m:r>
                        <m:r>
                          <a:rPr lang="en-US" altLang="zh-CN" i="1" smtClean="0">
                            <a:latin typeface="Cambria Math" panose="02040503050406030204" pitchFamily="18" charset="0"/>
                          </a:rPr>
                          <m:t>, </m:t>
                        </m:r>
                        <m:r>
                          <a:rPr lang="en-US" altLang="zh-CN" i="1">
                            <a:latin typeface="Cambria Math" panose="02040503050406030204" pitchFamily="18" charset="0"/>
                          </a:rPr>
                          <m:t>3</m:t>
                        </m:r>
                      </m:sub>
                    </m:sSub>
                    <m:r>
                      <a:rPr lang="zh-CN" altLang="en-US" i="1">
                        <a:latin typeface="Cambria Math" panose="02040503050406030204" pitchFamily="18" charset="0"/>
                      </a:rPr>
                      <m:t>不是</m:t>
                    </m:r>
                  </m:oMath>
                </a14:m>
                <a:r>
                  <a:rPr lang="zh-CN" altLang="en-US" dirty="0" smtClean="0"/>
                  <a:t>平面图</a:t>
                </a:r>
                <a:r>
                  <a:rPr lang="en-US" altLang="zh-CN" dirty="0" smtClean="0"/>
                  <a:t>, </a:t>
                </a:r>
                <a:r>
                  <a:rPr lang="zh-CN" altLang="en-US" dirty="0" smtClean="0"/>
                  <a:t>它有</a:t>
                </a:r>
                <a:r>
                  <a:rPr lang="en-US" altLang="zh-CN" dirty="0" smtClean="0"/>
                  <a:t>6</a:t>
                </a:r>
                <a:r>
                  <a:rPr lang="zh-CN" altLang="en-US" dirty="0" smtClean="0"/>
                  <a:t>个顶点和</a:t>
                </a:r>
                <a:r>
                  <a:rPr lang="en-US" altLang="zh-CN" dirty="0" smtClean="0"/>
                  <a:t>9</a:t>
                </a:r>
                <a:r>
                  <a:rPr lang="zh-CN" altLang="en-US" dirty="0" smtClean="0"/>
                  <a:t>条边</a:t>
                </a:r>
                <a:r>
                  <a:rPr lang="en-US" altLang="zh-CN" dirty="0" smtClean="0"/>
                  <a:t>. </a:t>
                </a:r>
                <a:r>
                  <a:rPr lang="zh-CN" altLang="en-US" dirty="0" smtClean="0"/>
                  <a:t>但是它满足</a:t>
                </a:r>
                <a:r>
                  <a:rPr lang="zh-CN" altLang="en-US" dirty="0"/>
                  <a:t>不等式</a:t>
                </a:r>
                <a14:m>
                  <m:oMath xmlns:m="http://schemas.openxmlformats.org/officeDocument/2006/math">
                    <m:r>
                      <m:rPr>
                        <m:sty m:val="p"/>
                      </m:rPr>
                      <a:rPr lang="en-US" altLang="zh-CN" i="1" dirty="0">
                        <a:latin typeface="Cambria Math" panose="02040503050406030204" pitchFamily="18" charset="0"/>
                        <a:ea typeface="Cambria Math" panose="02040503050406030204" pitchFamily="18" charset="0"/>
                      </a:rPr>
                      <m:t>e</m:t>
                    </m:r>
                    <m:r>
                      <a:rPr lang="en-US" altLang="zh-CN" i="1">
                        <a:latin typeface="Cambria Math" panose="02040503050406030204" pitchFamily="18" charset="0"/>
                        <a:ea typeface="Cambria Math" panose="02040503050406030204" pitchFamily="18" charset="0"/>
                      </a:rPr>
                      <m:t>≤3</m:t>
                    </m:r>
                    <m:r>
                      <a:rPr lang="en-US" altLang="zh-CN" i="1">
                        <a:latin typeface="Cambria Math" panose="02040503050406030204" pitchFamily="18" charset="0"/>
                        <a:ea typeface="Cambria Math" panose="02040503050406030204" pitchFamily="18" charset="0"/>
                      </a:rPr>
                      <m:t>𝑣</m:t>
                    </m:r>
                    <m:r>
                      <a:rPr lang="en-US" altLang="zh-CN" i="1">
                        <a:latin typeface="Cambria Math" panose="02040503050406030204" pitchFamily="18" charset="0"/>
                        <a:ea typeface="Cambria Math" panose="02040503050406030204" pitchFamily="18" charset="0"/>
                      </a:rPr>
                      <m:t>−6</m:t>
                    </m:r>
                    <m:r>
                      <a:rPr lang="en-US" altLang="zh-CN" b="0" i="0"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 </m:t>
                    </m:r>
                  </m:oMath>
                </a14:m>
                <a:r>
                  <a:rPr lang="zh-CN" altLang="en-US" dirty="0" smtClean="0"/>
                  <a:t>说明如果一个图满足这个不等式并不意味着它一定是平面图</a:t>
                </a:r>
                <a:r>
                  <a:rPr lang="en-US" altLang="zh-CN" dirty="0" smtClean="0"/>
                  <a:t>.</a:t>
                </a: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999" t="-1310" r="-888"/>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BD263EE5-3B98-4145-870A-A12AE84C140B}"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200</a:t>
            </a:fld>
            <a:endParaRPr lang="zh-CN" altLang="en-US" dirty="0"/>
          </a:p>
        </p:txBody>
      </p:sp>
    </p:spTree>
    <p:extLst>
      <p:ext uri="{BB962C8B-B14F-4D97-AF65-F5344CB8AC3E}">
        <p14:creationId xmlns:p14="http://schemas.microsoft.com/office/powerpoint/2010/main" val="598614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wipe(down)">
                                      <p:cBhvr>
                                        <p:cTn id="1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449944" y="1143000"/>
            <a:ext cx="11277599" cy="8382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欧拉公式</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smtClean="0"/>
                  <a:t>推论</a:t>
                </a:r>
                <a:r>
                  <a:rPr lang="en-US" altLang="zh-CN" dirty="0" smtClean="0"/>
                  <a:t>:</a:t>
                </a:r>
                <a:r>
                  <a:rPr lang="zh-CN" altLang="en-US" dirty="0"/>
                  <a:t>若</a:t>
                </a:r>
                <a:r>
                  <a:rPr lang="en-US" altLang="zh-CN" dirty="0"/>
                  <a:t>G=(V, E)</a:t>
                </a:r>
                <a:r>
                  <a:rPr lang="zh-CN" altLang="en-US" dirty="0"/>
                  <a:t>是</a:t>
                </a:r>
                <a:r>
                  <a:rPr lang="en-US" altLang="zh-CN" dirty="0"/>
                  <a:t>v</a:t>
                </a:r>
                <a:r>
                  <a:rPr lang="zh-CN" altLang="en-US" dirty="0"/>
                  <a:t>个顶点和</a:t>
                </a:r>
                <a:r>
                  <a:rPr lang="en-US" altLang="zh-CN" dirty="0"/>
                  <a:t>e</a:t>
                </a:r>
                <a:r>
                  <a:rPr lang="zh-CN" altLang="en-US" dirty="0"/>
                  <a:t>条边的连通平面简单图</a:t>
                </a:r>
                <a:r>
                  <a:rPr lang="en-US" altLang="zh-CN" dirty="0" smtClean="0"/>
                  <a:t>, v</a:t>
                </a:r>
                <a14:m>
                  <m:oMath xmlns:m="http://schemas.openxmlformats.org/officeDocument/2006/math">
                    <m:r>
                      <a:rPr lang="en-US" altLang="zh-CN" i="1">
                        <a:latin typeface="Cambria Math" panose="02040503050406030204" pitchFamily="18" charset="0"/>
                        <a:ea typeface="Cambria Math" panose="02040503050406030204" pitchFamily="18" charset="0"/>
                      </a:rPr>
                      <m:t>≥3</m:t>
                    </m:r>
                  </m:oMath>
                </a14:m>
                <a:r>
                  <a:rPr lang="en-US" altLang="zh-CN" dirty="0" smtClean="0"/>
                  <a:t> </a:t>
                </a:r>
                <a:r>
                  <a:rPr lang="zh-CN" altLang="en-US" dirty="0" smtClean="0"/>
                  <a:t>并且没有长度为</a:t>
                </a:r>
                <a:r>
                  <a:rPr lang="en-US" altLang="zh-CN" dirty="0" smtClean="0"/>
                  <a:t>3</a:t>
                </a:r>
                <a:r>
                  <a:rPr lang="zh-CN" altLang="en-US" dirty="0" smtClean="0"/>
                  <a:t>的回路</a:t>
                </a:r>
                <a:r>
                  <a:rPr lang="en-US" altLang="zh-CN" dirty="0" smtClean="0"/>
                  <a:t>, </a:t>
                </a:r>
                <a:r>
                  <a:rPr lang="zh-CN" altLang="en-US" dirty="0" smtClean="0"/>
                  <a:t>则</a:t>
                </a:r>
                <a14:m>
                  <m:oMath xmlns:m="http://schemas.openxmlformats.org/officeDocument/2006/math">
                    <m:r>
                      <m:rPr>
                        <m:sty m:val="p"/>
                      </m:rPr>
                      <a:rPr lang="en-US" altLang="zh-CN" i="1" dirty="0">
                        <a:latin typeface="Cambria Math" panose="02040503050406030204" pitchFamily="18" charset="0"/>
                        <a:ea typeface="Cambria Math" panose="02040503050406030204" pitchFamily="18" charset="0"/>
                      </a:rPr>
                      <m:t>e</m:t>
                    </m:r>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2</m:t>
                    </m:r>
                    <m:r>
                      <a:rPr lang="en-US" altLang="zh-CN" i="1">
                        <a:latin typeface="Cambria Math" panose="02040503050406030204" pitchFamily="18" charset="0"/>
                        <a:ea typeface="Cambria Math" panose="02040503050406030204" pitchFamily="18" charset="0"/>
                      </a:rPr>
                      <m:t>𝑣</m:t>
                    </m:r>
                    <m:r>
                      <a:rPr lang="en-US" altLang="zh-CN" i="1">
                        <a:latin typeface="Cambria Math" panose="02040503050406030204" pitchFamily="18" charset="0"/>
                        <a:ea typeface="Cambria Math" panose="02040503050406030204" pitchFamily="18" charset="0"/>
                      </a:rPr>
                      <m:t>−4</m:t>
                    </m:r>
                    <m:r>
                      <a:rPr lang="en-US" altLang="zh-CN">
                        <a:latin typeface="Cambria Math" panose="02040503050406030204" pitchFamily="18" charset="0"/>
                        <a:ea typeface="Cambria Math" panose="02040503050406030204" pitchFamily="18" charset="0"/>
                      </a:rPr>
                      <m:t>.</m:t>
                    </m:r>
                  </m:oMath>
                </a14:m>
                <a:endParaRPr lang="en-US" altLang="zh-CN" dirty="0" smtClean="0"/>
              </a:p>
              <a:p>
                <a:endParaRPr lang="en-US" altLang="zh-CN" dirty="0" smtClean="0"/>
              </a:p>
              <a:p>
                <a:r>
                  <a:rPr lang="zh-CN" altLang="en-US" dirty="0" smtClean="0"/>
                  <a:t>例</a:t>
                </a:r>
                <a:r>
                  <a:rPr lang="en-US" altLang="zh-CN" dirty="0" smtClean="0"/>
                  <a:t>: </a:t>
                </a:r>
                <a:r>
                  <a:rPr lang="zh-CN" altLang="en-US" dirty="0" smtClean="0"/>
                  <a:t>用以上推论证明</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𝐾</m:t>
                        </m:r>
                      </m:e>
                      <m:sub>
                        <m:r>
                          <a:rPr lang="en-US" altLang="zh-CN" i="1">
                            <a:latin typeface="Cambria Math" panose="02040503050406030204" pitchFamily="18" charset="0"/>
                          </a:rPr>
                          <m:t>3</m:t>
                        </m:r>
                        <m:r>
                          <a:rPr lang="en-US" altLang="zh-CN" i="1" smtClean="0">
                            <a:latin typeface="Cambria Math" panose="02040503050406030204" pitchFamily="18" charset="0"/>
                          </a:rPr>
                          <m:t>, </m:t>
                        </m:r>
                        <m:r>
                          <a:rPr lang="en-US" altLang="zh-CN" i="1">
                            <a:latin typeface="Cambria Math" panose="02040503050406030204" pitchFamily="18" charset="0"/>
                          </a:rPr>
                          <m:t>3</m:t>
                        </m:r>
                      </m:sub>
                    </m:sSub>
                    <m:r>
                      <a:rPr lang="zh-CN" altLang="en-US" i="1">
                        <a:latin typeface="Cambria Math" panose="02040503050406030204" pitchFamily="18" charset="0"/>
                      </a:rPr>
                      <m:t>不是</m:t>
                    </m:r>
                  </m:oMath>
                </a14:m>
                <a:r>
                  <a:rPr lang="zh-CN" altLang="en-US" dirty="0" smtClean="0"/>
                  <a:t>平面图</a:t>
                </a:r>
                <a:r>
                  <a:rPr lang="en-US" altLang="zh-CN" dirty="0" smtClean="0"/>
                  <a:t>.</a:t>
                </a:r>
              </a:p>
              <a:p>
                <a:r>
                  <a:rPr lang="zh-CN" altLang="en-US" dirty="0" smtClean="0"/>
                  <a:t>解</a:t>
                </a:r>
                <a:r>
                  <a:rPr lang="en-US" altLang="zh-CN" dirty="0" smtClean="0"/>
                  <a:t>:</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𝐾</m:t>
                        </m:r>
                      </m:e>
                      <m:sub>
                        <m:r>
                          <a:rPr lang="en-US" altLang="zh-CN" i="1">
                            <a:latin typeface="Cambria Math" panose="02040503050406030204" pitchFamily="18" charset="0"/>
                          </a:rPr>
                          <m:t>3, 3</m:t>
                        </m:r>
                      </m:sub>
                    </m:sSub>
                  </m:oMath>
                </a14:m>
                <a:r>
                  <a:rPr lang="zh-CN" altLang="en-US" dirty="0" smtClean="0"/>
                  <a:t>中有</a:t>
                </a:r>
                <a:r>
                  <a:rPr lang="en-US" altLang="zh-CN" dirty="0" smtClean="0"/>
                  <a:t>6</a:t>
                </a:r>
                <a:r>
                  <a:rPr lang="zh-CN" altLang="en-US" dirty="0" smtClean="0"/>
                  <a:t>个顶点和</a:t>
                </a:r>
                <a:r>
                  <a:rPr lang="en-US" altLang="zh-CN" dirty="0" smtClean="0"/>
                  <a:t>9</a:t>
                </a:r>
                <a:r>
                  <a:rPr lang="zh-CN" altLang="en-US" dirty="0" smtClean="0"/>
                  <a:t>条边</a:t>
                </a:r>
                <a:r>
                  <a:rPr lang="en-US" altLang="zh-CN" dirty="0" smtClean="0"/>
                  <a:t>. </a:t>
                </a:r>
                <a:r>
                  <a:rPr lang="zh-CN" altLang="en-US" dirty="0" smtClean="0"/>
                  <a:t>因为</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𝐾</m:t>
                        </m:r>
                      </m:e>
                      <m:sub>
                        <m:r>
                          <a:rPr lang="en-US" altLang="zh-CN" i="1">
                            <a:latin typeface="Cambria Math" panose="02040503050406030204" pitchFamily="18" charset="0"/>
                          </a:rPr>
                          <m:t>3</m:t>
                        </m:r>
                        <m:r>
                          <a:rPr lang="en-US" altLang="zh-CN" i="1" smtClean="0">
                            <a:latin typeface="Cambria Math" panose="02040503050406030204" pitchFamily="18" charset="0"/>
                          </a:rPr>
                          <m:t>, </m:t>
                        </m:r>
                        <m:r>
                          <a:rPr lang="en-US" altLang="zh-CN" i="1">
                            <a:latin typeface="Cambria Math" panose="02040503050406030204" pitchFamily="18" charset="0"/>
                          </a:rPr>
                          <m:t>3</m:t>
                        </m:r>
                      </m:sub>
                    </m:sSub>
                  </m:oMath>
                </a14:m>
                <a:r>
                  <a:rPr lang="zh-CN" altLang="en-US" dirty="0" smtClean="0"/>
                  <a:t>没有长度为</a:t>
                </a:r>
                <a:r>
                  <a:rPr lang="en-US" altLang="zh-CN" dirty="0" smtClean="0"/>
                  <a:t>3</a:t>
                </a:r>
                <a:r>
                  <a:rPr lang="zh-CN" altLang="en-US" dirty="0" smtClean="0"/>
                  <a:t>的回路</a:t>
                </a:r>
                <a:r>
                  <a:rPr lang="en-US" altLang="zh-CN" dirty="0" smtClean="0"/>
                  <a:t>(</a:t>
                </a:r>
                <a:r>
                  <a:rPr lang="zh-CN" altLang="en-US" dirty="0" smtClean="0"/>
                  <a:t>因为他是二分图</a:t>
                </a:r>
                <a:r>
                  <a:rPr lang="en-US" altLang="zh-CN" dirty="0" smtClean="0"/>
                  <a:t>, </a:t>
                </a:r>
                <a:r>
                  <a:rPr lang="zh-CN" altLang="en-US" dirty="0" smtClean="0"/>
                  <a:t>所以很容易看出这一点</a:t>
                </a:r>
                <a:r>
                  <a:rPr lang="en-US" altLang="zh-CN" dirty="0" smtClean="0"/>
                  <a:t>), </a:t>
                </a:r>
                <a:r>
                  <a:rPr lang="zh-CN" altLang="en-US" dirty="0" smtClean="0"/>
                  <a:t>所以使用以上</a:t>
                </a:r>
                <a:r>
                  <a:rPr lang="zh-CN" altLang="en-US" dirty="0"/>
                  <a:t>推论不满足</a:t>
                </a:r>
                <a14:m>
                  <m:oMath xmlns:m="http://schemas.openxmlformats.org/officeDocument/2006/math">
                    <m:r>
                      <m:rPr>
                        <m:sty m:val="p"/>
                      </m:rPr>
                      <a:rPr lang="en-US" altLang="zh-CN" i="1" dirty="0">
                        <a:latin typeface="Cambria Math" panose="02040503050406030204" pitchFamily="18" charset="0"/>
                        <a:ea typeface="Cambria Math" panose="02040503050406030204" pitchFamily="18" charset="0"/>
                      </a:rPr>
                      <m:t>e</m:t>
                    </m:r>
                    <m:r>
                      <a:rPr lang="en-US" altLang="zh-CN" i="1">
                        <a:latin typeface="Cambria Math" panose="02040503050406030204" pitchFamily="18" charset="0"/>
                        <a:ea typeface="Cambria Math" panose="02040503050406030204" pitchFamily="18" charset="0"/>
                      </a:rPr>
                      <m:t>≤2</m:t>
                    </m:r>
                    <m:r>
                      <a:rPr lang="en-US" altLang="zh-CN" i="1">
                        <a:latin typeface="Cambria Math" panose="02040503050406030204" pitchFamily="18" charset="0"/>
                        <a:ea typeface="Cambria Math" panose="02040503050406030204" pitchFamily="18" charset="0"/>
                      </a:rPr>
                      <m:t>𝑣</m:t>
                    </m:r>
                    <m:r>
                      <a:rPr lang="en-US" altLang="zh-CN" i="1">
                        <a:latin typeface="Cambria Math" panose="02040503050406030204" pitchFamily="18" charset="0"/>
                        <a:ea typeface="Cambria Math" panose="02040503050406030204" pitchFamily="18" charset="0"/>
                      </a:rPr>
                      <m:t>−4 , </m:t>
                    </m:r>
                  </m:oMath>
                </a14:m>
                <a:r>
                  <a:rPr lang="zh-CN" altLang="en-US" dirty="0" smtClean="0"/>
                  <a:t>即</a:t>
                </a:r>
                <a:r>
                  <a:rPr lang="en-US" altLang="zh-CN" dirty="0" smtClean="0"/>
                  <a:t>9</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2</m:t>
                    </m:r>
                    <m:r>
                      <a:rPr lang="zh-CN" altLang="en-US"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6</m:t>
                    </m:r>
                    <m:r>
                      <a:rPr lang="en-US" altLang="zh-CN" i="1">
                        <a:latin typeface="Cambria Math" panose="02040503050406030204" pitchFamily="18" charset="0"/>
                        <a:ea typeface="Cambria Math" panose="02040503050406030204" pitchFamily="18" charset="0"/>
                      </a:rPr>
                      <m:t>−4</m:t>
                    </m:r>
                  </m:oMath>
                </a14:m>
                <a:r>
                  <a:rPr lang="zh-CN" altLang="en-US" dirty="0" smtClean="0"/>
                  <a:t>证明</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𝐾</m:t>
                        </m:r>
                      </m:e>
                      <m:sub>
                        <m:r>
                          <a:rPr lang="en-US" altLang="zh-CN" i="1">
                            <a:latin typeface="Cambria Math" panose="02040503050406030204" pitchFamily="18" charset="0"/>
                          </a:rPr>
                          <m:t>3</m:t>
                        </m:r>
                        <m:r>
                          <a:rPr lang="en-US" altLang="zh-CN" i="1" smtClean="0">
                            <a:latin typeface="Cambria Math" panose="02040503050406030204" pitchFamily="18" charset="0"/>
                          </a:rPr>
                          <m:t>, </m:t>
                        </m:r>
                        <m:r>
                          <a:rPr lang="en-US" altLang="zh-CN" i="1">
                            <a:latin typeface="Cambria Math" panose="02040503050406030204" pitchFamily="18" charset="0"/>
                          </a:rPr>
                          <m:t>3</m:t>
                        </m:r>
                      </m:sub>
                    </m:sSub>
                    <m:r>
                      <a:rPr lang="zh-CN" altLang="en-US" i="1">
                        <a:latin typeface="Cambria Math" panose="02040503050406030204" pitchFamily="18" charset="0"/>
                      </a:rPr>
                      <m:t>不是</m:t>
                    </m:r>
                  </m:oMath>
                </a14:m>
                <a:r>
                  <a:rPr lang="zh-CN" altLang="en-US" dirty="0"/>
                  <a:t>平面图</a:t>
                </a:r>
                <a:r>
                  <a:rPr lang="en-US" altLang="zh-CN" dirty="0" smtClean="0"/>
                  <a:t>.</a:t>
                </a: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999" t="-1310"/>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8BA7A7B9-74BE-46B6-A208-DC582BE43B78}"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201</a:t>
            </a:fld>
            <a:endParaRPr lang="zh-CN" altLang="en-US" dirty="0"/>
          </a:p>
        </p:txBody>
      </p:sp>
    </p:spTree>
    <p:extLst>
      <p:ext uri="{BB962C8B-B14F-4D97-AF65-F5344CB8AC3E}">
        <p14:creationId xmlns:p14="http://schemas.microsoft.com/office/powerpoint/2010/main" val="1920810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wipe(down)">
                                      <p:cBhvr>
                                        <p:cTn id="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449944" y="3612841"/>
            <a:ext cx="11277599" cy="1416359"/>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439670" y="5105401"/>
            <a:ext cx="11277599" cy="9144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smtClean="0"/>
              <a:t>库拉图斯基定理</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smtClean="0"/>
                  <a:t>我们已经知道</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𝐾</m:t>
                        </m:r>
                      </m:e>
                      <m:sub>
                        <m:r>
                          <a:rPr lang="en-US" altLang="zh-CN" i="1">
                            <a:latin typeface="Cambria Math" panose="02040503050406030204" pitchFamily="18" charset="0"/>
                          </a:rPr>
                          <m:t>3</m:t>
                        </m:r>
                        <m:r>
                          <a:rPr lang="en-US" altLang="zh-CN" i="1" smtClean="0">
                            <a:latin typeface="Cambria Math" panose="02040503050406030204" pitchFamily="18" charset="0"/>
                          </a:rPr>
                          <m:t>, </m:t>
                        </m:r>
                        <m:r>
                          <a:rPr lang="en-US" altLang="zh-CN" i="1">
                            <a:latin typeface="Cambria Math" panose="02040503050406030204" pitchFamily="18" charset="0"/>
                          </a:rPr>
                          <m:t>3</m:t>
                        </m:r>
                      </m:sub>
                    </m:sSub>
                  </m:oMath>
                </a14:m>
                <a:r>
                  <a:rPr lang="zh-CN" altLang="en-US" dirty="0" smtClean="0"/>
                  <a:t>和</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𝐾</m:t>
                        </m:r>
                      </m:e>
                      <m:sub>
                        <m:r>
                          <a:rPr lang="en-US" altLang="zh-CN" b="0" i="1" smtClean="0">
                            <a:latin typeface="Cambria Math" panose="02040503050406030204" pitchFamily="18" charset="0"/>
                          </a:rPr>
                          <m:t>5</m:t>
                        </m:r>
                      </m:sub>
                    </m:sSub>
                  </m:oMath>
                </a14:m>
                <a:r>
                  <a:rPr lang="zh-CN" altLang="en-US" dirty="0" smtClean="0"/>
                  <a:t>都不是平面图</a:t>
                </a:r>
                <a:r>
                  <a:rPr lang="en-US" altLang="zh-CN" dirty="0" smtClean="0"/>
                  <a:t>. </a:t>
                </a:r>
                <a:r>
                  <a:rPr lang="zh-CN" altLang="en-US" dirty="0" smtClean="0"/>
                  <a:t>若一个图中包含着两个图之一作为子图</a:t>
                </a:r>
                <a:r>
                  <a:rPr lang="en-US" altLang="zh-CN" dirty="0" smtClean="0"/>
                  <a:t>, </a:t>
                </a:r>
                <a:r>
                  <a:rPr lang="zh-CN" altLang="en-US" dirty="0" smtClean="0"/>
                  <a:t>则它也不会是平面图</a:t>
                </a:r>
                <a:r>
                  <a:rPr lang="en-US" altLang="zh-CN" dirty="0" smtClean="0"/>
                  <a:t>. </a:t>
                </a:r>
              </a:p>
              <a:p>
                <a:r>
                  <a:rPr lang="zh-CN" altLang="en-US" dirty="0" smtClean="0"/>
                  <a:t>另外</a:t>
                </a:r>
                <a:r>
                  <a:rPr lang="en-US" altLang="zh-CN" dirty="0" smtClean="0"/>
                  <a:t>, </a:t>
                </a:r>
                <a:r>
                  <a:rPr lang="zh-CN" altLang="en-US" dirty="0" smtClean="0"/>
                  <a:t>所有非平面图必然包含一个从</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𝐾</m:t>
                        </m:r>
                      </m:e>
                      <m:sub>
                        <m:r>
                          <a:rPr lang="en-US" altLang="zh-CN" i="1">
                            <a:latin typeface="Cambria Math" panose="02040503050406030204" pitchFamily="18" charset="0"/>
                          </a:rPr>
                          <m:t>3</m:t>
                        </m:r>
                        <m:r>
                          <a:rPr lang="en-US" altLang="zh-CN" i="1" smtClean="0">
                            <a:latin typeface="Cambria Math" panose="02040503050406030204" pitchFamily="18" charset="0"/>
                          </a:rPr>
                          <m:t>, </m:t>
                        </m:r>
                        <m:r>
                          <a:rPr lang="en-US" altLang="zh-CN" i="1">
                            <a:latin typeface="Cambria Math" panose="02040503050406030204" pitchFamily="18" charset="0"/>
                          </a:rPr>
                          <m:t>3</m:t>
                        </m:r>
                      </m:sub>
                    </m:sSub>
                  </m:oMath>
                </a14:m>
                <a:r>
                  <a:rPr lang="zh-CN" altLang="en-US" dirty="0" smtClean="0"/>
                  <a:t>或</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𝐾</m:t>
                        </m:r>
                      </m:e>
                      <m:sub>
                        <m:r>
                          <a:rPr lang="en-US" altLang="zh-CN" i="1">
                            <a:latin typeface="Cambria Math" panose="02040503050406030204" pitchFamily="18" charset="0"/>
                          </a:rPr>
                          <m:t>5</m:t>
                        </m:r>
                      </m:sub>
                    </m:sSub>
                  </m:oMath>
                </a14:m>
                <a:r>
                  <a:rPr lang="zh-CN" altLang="en-US" dirty="0" smtClean="0"/>
                  <a:t>利用某些允许的操作来获得的子图</a:t>
                </a:r>
                <a:r>
                  <a:rPr lang="en-US" altLang="zh-CN" dirty="0" smtClean="0"/>
                  <a:t>.</a:t>
                </a:r>
              </a:p>
              <a:p>
                <a:endParaRPr lang="en-US" altLang="zh-CN" dirty="0" smtClean="0"/>
              </a:p>
              <a:p>
                <a:r>
                  <a:rPr lang="zh-CN" altLang="en-US" dirty="0" smtClean="0"/>
                  <a:t>若一个图是平面图</a:t>
                </a:r>
                <a:r>
                  <a:rPr lang="en-US" altLang="zh-CN" dirty="0" smtClean="0"/>
                  <a:t>, </a:t>
                </a:r>
                <a:r>
                  <a:rPr lang="zh-CN" altLang="en-US" dirty="0" smtClean="0"/>
                  <a:t>则通过删除一条边</a:t>
                </a:r>
                <a:r>
                  <a:rPr lang="en-US" altLang="zh-CN" dirty="0" smtClean="0"/>
                  <a:t>{u, v}</a:t>
                </a:r>
                <a:r>
                  <a:rPr lang="zh-CN" altLang="en-US" dirty="0" smtClean="0"/>
                  <a:t>并且添加一个新顶点</a:t>
                </a:r>
                <a:r>
                  <a:rPr lang="en-US" altLang="zh-CN" dirty="0" smtClean="0"/>
                  <a:t>w</a:t>
                </a:r>
                <a:r>
                  <a:rPr lang="zh-CN" altLang="en-US" dirty="0" smtClean="0"/>
                  <a:t>和两条边</a:t>
                </a:r>
                <a:r>
                  <a:rPr lang="en-US" altLang="zh-CN" dirty="0" smtClean="0"/>
                  <a:t>{u, w}</a:t>
                </a:r>
                <a:r>
                  <a:rPr lang="zh-CN" altLang="en-US" dirty="0" smtClean="0"/>
                  <a:t>和</a:t>
                </a:r>
                <a:r>
                  <a:rPr lang="en-US" altLang="zh-CN" dirty="0" smtClean="0"/>
                  <a:t>{w, v}</a:t>
                </a:r>
                <a:r>
                  <a:rPr lang="zh-CN" altLang="en-US" dirty="0" smtClean="0"/>
                  <a:t>获得的任何图都是平面图</a:t>
                </a:r>
                <a:r>
                  <a:rPr lang="en-US" altLang="zh-CN" dirty="0" smtClean="0"/>
                  <a:t>. </a:t>
                </a:r>
                <a:r>
                  <a:rPr lang="zh-CN" altLang="en-US" dirty="0" smtClean="0"/>
                  <a:t>这样的操作称为</a:t>
                </a:r>
                <a:r>
                  <a:rPr lang="zh-CN" altLang="en-US" b="1" dirty="0" smtClean="0">
                    <a:solidFill>
                      <a:srgbClr val="C00000"/>
                    </a:solidFill>
                  </a:rPr>
                  <a:t>初等细分</a:t>
                </a:r>
                <a:r>
                  <a:rPr lang="en-US" altLang="zh-CN" dirty="0" smtClean="0"/>
                  <a:t>. </a:t>
                </a:r>
              </a:p>
              <a:p>
                <a:r>
                  <a:rPr lang="zh-CN" altLang="en-US" dirty="0" smtClean="0"/>
                  <a:t>若可以从相同的图通过一系列初等细分来获得图</a:t>
                </a:r>
                <a:r>
                  <a:rPr lang="en-US" altLang="zh-CN" dirty="0" smtClean="0"/>
                  <a:t>G1=(V1, E1)</a:t>
                </a:r>
                <a:r>
                  <a:rPr lang="zh-CN" altLang="en-US" dirty="0" smtClean="0"/>
                  <a:t>和</a:t>
                </a:r>
                <a:r>
                  <a:rPr lang="en-US" altLang="zh-CN" dirty="0" smtClean="0"/>
                  <a:t>G2=(V2, E2) , </a:t>
                </a:r>
                <a:r>
                  <a:rPr lang="zh-CN" altLang="en-US" dirty="0" smtClean="0"/>
                  <a:t>则称他们是</a:t>
                </a:r>
                <a:r>
                  <a:rPr lang="zh-CN" altLang="en-US" b="1" dirty="0" smtClean="0">
                    <a:solidFill>
                      <a:srgbClr val="C00000"/>
                    </a:solidFill>
                  </a:rPr>
                  <a:t>同胚</a:t>
                </a:r>
                <a:r>
                  <a:rPr lang="zh-CN" altLang="en-US" dirty="0" smtClean="0"/>
                  <a:t>的</a:t>
                </a:r>
                <a:r>
                  <a:rPr lang="en-US" altLang="zh-CN" dirty="0"/>
                  <a:t>.</a:t>
                </a: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999" t="-1310" r="-222"/>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A7313C26-5137-4ADC-8989-08982A641EE5}"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202</a:t>
            </a:fld>
            <a:endParaRPr lang="zh-CN" altLang="en-US" dirty="0"/>
          </a:p>
        </p:txBody>
      </p:sp>
    </p:spTree>
    <p:extLst>
      <p:ext uri="{BB962C8B-B14F-4D97-AF65-F5344CB8AC3E}">
        <p14:creationId xmlns:p14="http://schemas.microsoft.com/office/powerpoint/2010/main" val="1391508572"/>
      </p:ext>
    </p:extLst>
  </p:cSld>
  <p:clrMapOvr>
    <a:masterClrMapping/>
  </p:clrMapOvr>
  <p:timing>
    <p:tnLst>
      <p:par>
        <p:cTn id="1" dur="indefinite" restart="never" nodeType="tmRoot"/>
      </p:par>
    </p:tn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库拉图斯基定理</a:t>
            </a:r>
          </a:p>
        </p:txBody>
      </p:sp>
      <p:sp>
        <p:nvSpPr>
          <p:cNvPr id="3" name="内容占位符 2"/>
          <p:cNvSpPr>
            <a:spLocks noGrp="1"/>
          </p:cNvSpPr>
          <p:nvPr>
            <p:ph idx="1"/>
          </p:nvPr>
        </p:nvSpPr>
        <p:spPr/>
        <p:txBody>
          <a:bodyPr/>
          <a:lstStyle/>
          <a:p>
            <a:r>
              <a:rPr lang="zh-CN" altLang="en-US" dirty="0" smtClean="0"/>
              <a:t>例</a:t>
            </a:r>
            <a:r>
              <a:rPr lang="en-US" altLang="zh-CN" dirty="0" smtClean="0"/>
              <a:t>: </a:t>
            </a:r>
            <a:r>
              <a:rPr lang="zh-CN" altLang="en-US" dirty="0" smtClean="0"/>
              <a:t>证明下图的</a:t>
            </a:r>
            <a:r>
              <a:rPr lang="en-US" altLang="zh-CN" dirty="0" smtClean="0"/>
              <a:t>G1, G2</a:t>
            </a:r>
            <a:r>
              <a:rPr lang="zh-CN" altLang="en-US" dirty="0" smtClean="0"/>
              <a:t>和</a:t>
            </a:r>
            <a:r>
              <a:rPr lang="en-US" altLang="zh-CN" dirty="0" smtClean="0"/>
              <a:t>G3</a:t>
            </a:r>
            <a:r>
              <a:rPr lang="zh-CN" altLang="en-US" dirty="0" smtClean="0"/>
              <a:t>是同胚的</a:t>
            </a:r>
            <a:r>
              <a:rPr lang="en-US" altLang="zh-CN" dirty="0" smtClean="0"/>
              <a:t>.</a:t>
            </a:r>
          </a:p>
          <a:p>
            <a:endParaRPr lang="en-US" altLang="zh-CN" dirty="0"/>
          </a:p>
          <a:p>
            <a:endParaRPr lang="en-US" altLang="zh-CN" dirty="0" smtClean="0"/>
          </a:p>
          <a:p>
            <a:endParaRPr lang="en-US" altLang="zh-CN" dirty="0" smtClean="0"/>
          </a:p>
          <a:p>
            <a:r>
              <a:rPr lang="zh-CN" altLang="en-US" dirty="0" smtClean="0"/>
              <a:t>解</a:t>
            </a:r>
            <a:r>
              <a:rPr lang="en-US" altLang="zh-CN" dirty="0" smtClean="0"/>
              <a:t>: G2</a:t>
            </a:r>
            <a:r>
              <a:rPr lang="zh-CN" altLang="en-US" dirty="0" smtClean="0"/>
              <a:t>和</a:t>
            </a:r>
            <a:r>
              <a:rPr lang="en-US" altLang="zh-CN" dirty="0" smtClean="0"/>
              <a:t>G3</a:t>
            </a:r>
            <a:r>
              <a:rPr lang="zh-CN" altLang="en-US" dirty="0" smtClean="0"/>
              <a:t>都可以通过</a:t>
            </a:r>
            <a:r>
              <a:rPr lang="en-US" altLang="zh-CN" dirty="0" smtClean="0"/>
              <a:t>G1</a:t>
            </a:r>
            <a:r>
              <a:rPr lang="zh-CN" altLang="en-US" dirty="0" smtClean="0"/>
              <a:t>的初等细分得到</a:t>
            </a:r>
            <a:r>
              <a:rPr lang="en-US" altLang="zh-CN" dirty="0" smtClean="0"/>
              <a:t>, </a:t>
            </a:r>
            <a:r>
              <a:rPr lang="zh-CN" altLang="en-US" dirty="0" smtClean="0"/>
              <a:t>所以他们都是同胚的</a:t>
            </a:r>
            <a:r>
              <a:rPr lang="en-US" altLang="zh-CN" dirty="0" smtClean="0"/>
              <a:t>.</a:t>
            </a:r>
            <a:endParaRPr lang="en-US" altLang="zh-CN" dirty="0"/>
          </a:p>
          <a:p>
            <a:pPr lvl="1">
              <a:lnSpc>
                <a:spcPct val="110000"/>
              </a:lnSpc>
            </a:pPr>
            <a:r>
              <a:rPr lang="zh-CN" altLang="en-US" sz="2600" dirty="0">
                <a:solidFill>
                  <a:prstClr val="black"/>
                </a:solidFill>
              </a:rPr>
              <a:t>删掉边</a:t>
            </a:r>
            <a:r>
              <a:rPr lang="en-US" altLang="zh-CN" sz="2600" dirty="0">
                <a:solidFill>
                  <a:prstClr val="black"/>
                </a:solidFill>
              </a:rPr>
              <a:t>{</a:t>
            </a:r>
            <a:r>
              <a:rPr lang="en-US" altLang="zh-CN" sz="2600" dirty="0" smtClean="0">
                <a:solidFill>
                  <a:prstClr val="black"/>
                </a:solidFill>
              </a:rPr>
              <a:t>a, c}, </a:t>
            </a:r>
            <a:r>
              <a:rPr lang="zh-CN" altLang="en-US" sz="2600" dirty="0" smtClean="0">
                <a:solidFill>
                  <a:prstClr val="black"/>
                </a:solidFill>
              </a:rPr>
              <a:t>增加</a:t>
            </a:r>
            <a:r>
              <a:rPr lang="zh-CN" altLang="en-US" sz="2600" dirty="0">
                <a:solidFill>
                  <a:prstClr val="black"/>
                </a:solidFill>
              </a:rPr>
              <a:t>点</a:t>
            </a:r>
            <a:r>
              <a:rPr lang="en-US" altLang="zh-CN" sz="2600" dirty="0" smtClean="0">
                <a:solidFill>
                  <a:prstClr val="black"/>
                </a:solidFill>
              </a:rPr>
              <a:t>f, </a:t>
            </a:r>
            <a:r>
              <a:rPr lang="zh-CN" altLang="en-US" sz="2600" dirty="0" smtClean="0">
                <a:solidFill>
                  <a:prstClr val="black"/>
                </a:solidFill>
              </a:rPr>
              <a:t>然后</a:t>
            </a:r>
            <a:r>
              <a:rPr lang="zh-CN" altLang="en-US" sz="2600" dirty="0">
                <a:solidFill>
                  <a:prstClr val="black"/>
                </a:solidFill>
              </a:rPr>
              <a:t>添加边</a:t>
            </a:r>
            <a:r>
              <a:rPr lang="en-US" altLang="zh-CN" sz="2600" dirty="0">
                <a:solidFill>
                  <a:prstClr val="black"/>
                </a:solidFill>
              </a:rPr>
              <a:t>{</a:t>
            </a:r>
            <a:r>
              <a:rPr lang="en-US" altLang="zh-CN" sz="2600" dirty="0" smtClean="0">
                <a:solidFill>
                  <a:prstClr val="black"/>
                </a:solidFill>
              </a:rPr>
              <a:t>a, f}, {f, c</a:t>
            </a:r>
            <a:r>
              <a:rPr lang="en-US" altLang="zh-CN" sz="2600" dirty="0">
                <a:solidFill>
                  <a:prstClr val="black"/>
                </a:solidFill>
              </a:rPr>
              <a:t>};</a:t>
            </a:r>
          </a:p>
          <a:p>
            <a:pPr lvl="1">
              <a:lnSpc>
                <a:spcPct val="110000"/>
              </a:lnSpc>
            </a:pPr>
            <a:r>
              <a:rPr lang="zh-CN" altLang="en-US" sz="2600" dirty="0">
                <a:solidFill>
                  <a:prstClr val="black"/>
                </a:solidFill>
              </a:rPr>
              <a:t>删掉边</a:t>
            </a:r>
            <a:r>
              <a:rPr lang="en-US" altLang="zh-CN" sz="2600" dirty="0">
                <a:solidFill>
                  <a:prstClr val="black"/>
                </a:solidFill>
              </a:rPr>
              <a:t>{</a:t>
            </a:r>
            <a:r>
              <a:rPr lang="en-US" altLang="zh-CN" sz="2600" dirty="0" smtClean="0">
                <a:solidFill>
                  <a:prstClr val="black"/>
                </a:solidFill>
              </a:rPr>
              <a:t>b, c}, </a:t>
            </a:r>
            <a:r>
              <a:rPr lang="zh-CN" altLang="en-US" sz="2600" dirty="0" smtClean="0">
                <a:solidFill>
                  <a:prstClr val="black"/>
                </a:solidFill>
              </a:rPr>
              <a:t>增加</a:t>
            </a:r>
            <a:r>
              <a:rPr lang="zh-CN" altLang="en-US" sz="2600" dirty="0">
                <a:solidFill>
                  <a:prstClr val="black"/>
                </a:solidFill>
              </a:rPr>
              <a:t>点</a:t>
            </a:r>
            <a:r>
              <a:rPr lang="en-US" altLang="zh-CN" sz="2600" dirty="0" smtClean="0">
                <a:solidFill>
                  <a:prstClr val="black"/>
                </a:solidFill>
              </a:rPr>
              <a:t>g, </a:t>
            </a:r>
            <a:r>
              <a:rPr lang="zh-CN" altLang="en-US" sz="2600" dirty="0" smtClean="0">
                <a:solidFill>
                  <a:prstClr val="black"/>
                </a:solidFill>
              </a:rPr>
              <a:t>然后</a:t>
            </a:r>
            <a:r>
              <a:rPr lang="zh-CN" altLang="en-US" sz="2600" dirty="0">
                <a:solidFill>
                  <a:prstClr val="black"/>
                </a:solidFill>
              </a:rPr>
              <a:t>添加边</a:t>
            </a:r>
            <a:r>
              <a:rPr lang="en-US" altLang="zh-CN" sz="2600" dirty="0">
                <a:solidFill>
                  <a:prstClr val="black"/>
                </a:solidFill>
              </a:rPr>
              <a:t>{</a:t>
            </a:r>
            <a:r>
              <a:rPr lang="en-US" altLang="zh-CN" sz="2600" dirty="0" smtClean="0">
                <a:solidFill>
                  <a:prstClr val="black"/>
                </a:solidFill>
              </a:rPr>
              <a:t>b, g}, {g, c</a:t>
            </a:r>
            <a:r>
              <a:rPr lang="en-US" altLang="zh-CN" sz="2600" dirty="0">
                <a:solidFill>
                  <a:prstClr val="black"/>
                </a:solidFill>
              </a:rPr>
              <a:t>}</a:t>
            </a:r>
            <a:r>
              <a:rPr lang="zh-CN" altLang="en-US" sz="2600" dirty="0">
                <a:solidFill>
                  <a:prstClr val="black"/>
                </a:solidFill>
              </a:rPr>
              <a:t>；</a:t>
            </a:r>
            <a:endParaRPr lang="en-US" altLang="zh-CN" sz="2600" dirty="0">
              <a:solidFill>
                <a:prstClr val="black"/>
              </a:solidFill>
            </a:endParaRPr>
          </a:p>
          <a:p>
            <a:pPr lvl="1">
              <a:lnSpc>
                <a:spcPct val="110000"/>
              </a:lnSpc>
            </a:pPr>
            <a:r>
              <a:rPr lang="zh-CN" altLang="en-US" sz="2600" dirty="0">
                <a:solidFill>
                  <a:prstClr val="black"/>
                </a:solidFill>
              </a:rPr>
              <a:t>删掉边</a:t>
            </a:r>
            <a:r>
              <a:rPr lang="en-US" altLang="zh-CN" sz="2600" dirty="0">
                <a:solidFill>
                  <a:prstClr val="black"/>
                </a:solidFill>
              </a:rPr>
              <a:t>{</a:t>
            </a:r>
            <a:r>
              <a:rPr lang="en-US" altLang="zh-CN" sz="2600" dirty="0" smtClean="0">
                <a:solidFill>
                  <a:prstClr val="black"/>
                </a:solidFill>
              </a:rPr>
              <a:t>b, g}, </a:t>
            </a:r>
            <a:r>
              <a:rPr lang="zh-CN" altLang="en-US" sz="2600" dirty="0" smtClean="0">
                <a:solidFill>
                  <a:prstClr val="black"/>
                </a:solidFill>
              </a:rPr>
              <a:t>增加</a:t>
            </a:r>
            <a:r>
              <a:rPr lang="zh-CN" altLang="en-US" sz="2600" dirty="0">
                <a:solidFill>
                  <a:prstClr val="black"/>
                </a:solidFill>
              </a:rPr>
              <a:t>点</a:t>
            </a:r>
            <a:r>
              <a:rPr lang="en-US" altLang="zh-CN" sz="2600" dirty="0" smtClean="0">
                <a:solidFill>
                  <a:prstClr val="black"/>
                </a:solidFill>
              </a:rPr>
              <a:t>h, </a:t>
            </a:r>
            <a:r>
              <a:rPr lang="zh-CN" altLang="en-US" sz="2600" dirty="0" smtClean="0">
                <a:solidFill>
                  <a:prstClr val="black"/>
                </a:solidFill>
              </a:rPr>
              <a:t>然后</a:t>
            </a:r>
            <a:r>
              <a:rPr lang="zh-CN" altLang="en-US" sz="2600" dirty="0">
                <a:solidFill>
                  <a:prstClr val="black"/>
                </a:solidFill>
              </a:rPr>
              <a:t>添加边</a:t>
            </a:r>
            <a:r>
              <a:rPr lang="en-US" altLang="zh-CN" sz="2600" dirty="0">
                <a:solidFill>
                  <a:prstClr val="black"/>
                </a:solidFill>
              </a:rPr>
              <a:t>{</a:t>
            </a:r>
            <a:r>
              <a:rPr lang="en-US" altLang="zh-CN" sz="2600" dirty="0" smtClean="0">
                <a:solidFill>
                  <a:prstClr val="black"/>
                </a:solidFill>
              </a:rPr>
              <a:t>g, h}, {h, b</a:t>
            </a:r>
            <a:r>
              <a:rPr lang="en-US" altLang="zh-CN" sz="2600" dirty="0">
                <a:solidFill>
                  <a:prstClr val="black"/>
                </a:solidFill>
              </a:rPr>
              <a:t>}</a:t>
            </a:r>
            <a:r>
              <a:rPr lang="zh-CN" altLang="en-US" sz="2600" dirty="0" smtClean="0">
                <a:solidFill>
                  <a:prstClr val="black"/>
                </a:solidFill>
              </a:rPr>
              <a:t>；</a:t>
            </a:r>
            <a:endParaRPr lang="en-US" altLang="zh-CN" sz="2600" dirty="0" smtClean="0">
              <a:solidFill>
                <a:prstClr val="black"/>
              </a:solidFill>
            </a:endParaRPr>
          </a:p>
          <a:p>
            <a:pPr marL="393192" lvl="1" indent="0">
              <a:lnSpc>
                <a:spcPct val="110000"/>
              </a:lnSpc>
              <a:buNone/>
            </a:pPr>
            <a:r>
              <a:rPr lang="en-US" altLang="zh-CN" sz="2600" dirty="0" smtClean="0">
                <a:solidFill>
                  <a:prstClr val="black"/>
                </a:solidFill>
              </a:rPr>
              <a:t> </a:t>
            </a:r>
            <a:r>
              <a:rPr lang="zh-CN" altLang="en-US" dirty="0" smtClean="0"/>
              <a:t>以上过程从</a:t>
            </a:r>
            <a:r>
              <a:rPr lang="en-US" altLang="zh-CN" dirty="0" smtClean="0"/>
              <a:t>G1</a:t>
            </a:r>
            <a:r>
              <a:rPr lang="zh-CN" altLang="en-US" dirty="0" smtClean="0"/>
              <a:t>得到了</a:t>
            </a:r>
            <a:r>
              <a:rPr lang="en-US" altLang="zh-CN" dirty="0" smtClean="0"/>
              <a:t>G2. </a:t>
            </a:r>
            <a:r>
              <a:rPr lang="zh-CN" altLang="en-US" dirty="0" smtClean="0"/>
              <a:t>类似地</a:t>
            </a:r>
            <a:r>
              <a:rPr lang="en-US" altLang="zh-CN" dirty="0" smtClean="0"/>
              <a:t>, </a:t>
            </a:r>
            <a:r>
              <a:rPr lang="zh-CN" altLang="en-US" dirty="0" smtClean="0"/>
              <a:t>可以从</a:t>
            </a:r>
            <a:r>
              <a:rPr lang="en-US" altLang="zh-CN" dirty="0" smtClean="0"/>
              <a:t>G1</a:t>
            </a:r>
            <a:r>
              <a:rPr lang="zh-CN" altLang="en-US" dirty="0" smtClean="0"/>
              <a:t>得到</a:t>
            </a:r>
            <a:r>
              <a:rPr lang="en-US" altLang="zh-CN" dirty="0" smtClean="0"/>
              <a:t>G3(</a:t>
            </a:r>
            <a:r>
              <a:rPr lang="zh-CN" altLang="en-US" dirty="0" smtClean="0"/>
              <a:t>同学自行思考</a:t>
            </a:r>
            <a:r>
              <a:rPr lang="en-US" altLang="zh-CN" dirty="0" smtClean="0"/>
              <a:t>).</a:t>
            </a:r>
            <a:endParaRPr lang="en-US" altLang="zh-CN" dirty="0"/>
          </a:p>
          <a:p>
            <a:endParaRPr lang="en-US" altLang="zh-CN" dirty="0" smtClean="0"/>
          </a:p>
        </p:txBody>
      </p:sp>
      <p:sp>
        <p:nvSpPr>
          <p:cNvPr id="4" name="日期占位符 3"/>
          <p:cNvSpPr>
            <a:spLocks noGrp="1"/>
          </p:cNvSpPr>
          <p:nvPr>
            <p:ph type="dt" sz="half" idx="10"/>
          </p:nvPr>
        </p:nvSpPr>
        <p:spPr/>
        <p:txBody>
          <a:bodyPr/>
          <a:lstStyle/>
          <a:p>
            <a:fld id="{85840056-9E26-4E4F-A8B4-EB794571BCEC}"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203</a:t>
            </a:fld>
            <a:endParaRPr lang="zh-CN" altLang="en-US" dirty="0"/>
          </a:p>
        </p:txBody>
      </p:sp>
      <p:pic>
        <p:nvPicPr>
          <p:cNvPr id="8" name="图片 7"/>
          <p:cNvPicPr>
            <a:picLocks noChangeAspect="1"/>
          </p:cNvPicPr>
          <p:nvPr/>
        </p:nvPicPr>
        <p:blipFill>
          <a:blip r:embed="rId2"/>
          <a:stretch>
            <a:fillRect/>
          </a:stretch>
        </p:blipFill>
        <p:spPr>
          <a:xfrm>
            <a:off x="4653593" y="1604682"/>
            <a:ext cx="3143250" cy="1485900"/>
          </a:xfrm>
          <a:prstGeom prst="rect">
            <a:avLst/>
          </a:prstGeom>
        </p:spPr>
      </p:pic>
      <p:pic>
        <p:nvPicPr>
          <p:cNvPr id="9" name="图片 8"/>
          <p:cNvPicPr>
            <a:picLocks noChangeAspect="1"/>
          </p:cNvPicPr>
          <p:nvPr/>
        </p:nvPicPr>
        <p:blipFill>
          <a:blip r:embed="rId3"/>
          <a:stretch>
            <a:fillRect/>
          </a:stretch>
        </p:blipFill>
        <p:spPr>
          <a:xfrm>
            <a:off x="8439152" y="1482823"/>
            <a:ext cx="3257550" cy="1485900"/>
          </a:xfrm>
          <a:prstGeom prst="rect">
            <a:avLst/>
          </a:prstGeom>
        </p:spPr>
      </p:pic>
      <p:pic>
        <p:nvPicPr>
          <p:cNvPr id="10" name="图片 9"/>
          <p:cNvPicPr>
            <a:picLocks noChangeAspect="1"/>
          </p:cNvPicPr>
          <p:nvPr/>
        </p:nvPicPr>
        <p:blipFill>
          <a:blip r:embed="rId4"/>
          <a:stretch>
            <a:fillRect/>
          </a:stretch>
        </p:blipFill>
        <p:spPr>
          <a:xfrm>
            <a:off x="990600" y="1627542"/>
            <a:ext cx="3139440" cy="1463040"/>
          </a:xfrm>
          <a:prstGeom prst="rect">
            <a:avLst/>
          </a:prstGeom>
        </p:spPr>
      </p:pic>
    </p:spTree>
    <p:extLst>
      <p:ext uri="{BB962C8B-B14F-4D97-AF65-F5344CB8AC3E}">
        <p14:creationId xmlns:p14="http://schemas.microsoft.com/office/powerpoint/2010/main" val="1634775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wipe(down)">
                                      <p:cBhvr>
                                        <p:cTn id="7" dur="500"/>
                                        <p:tgtEl>
                                          <p:spTgt spid="3">
                                            <p:txEl>
                                              <p:pRg st="4" end="4"/>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wipe(down)">
                                      <p:cBhvr>
                                        <p:cTn id="10" dur="500"/>
                                        <p:tgtEl>
                                          <p:spTgt spid="3">
                                            <p:txEl>
                                              <p:pRg st="5" end="5"/>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wipe(down)">
                                      <p:cBhvr>
                                        <p:cTn id="13" dur="500"/>
                                        <p:tgtEl>
                                          <p:spTgt spid="3">
                                            <p:txEl>
                                              <p:pRg st="6" end="6"/>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7" end="7"/>
                                            </p:txEl>
                                          </p:spTgt>
                                        </p:tgtEl>
                                        <p:attrNameLst>
                                          <p:attrName>style.visibility</p:attrName>
                                        </p:attrNameLst>
                                      </p:cBhvr>
                                      <p:to>
                                        <p:strVal val="visible"/>
                                      </p:to>
                                    </p:set>
                                    <p:animEffect transition="in" filter="wipe(down)">
                                      <p:cBhvr>
                                        <p:cTn id="16" dur="500"/>
                                        <p:tgtEl>
                                          <p:spTgt spid="3">
                                            <p:txEl>
                                              <p:pRg st="7" end="7"/>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animEffect transition="in" filter="wipe(down)">
                                      <p:cBhvr>
                                        <p:cTn id="19"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449944" y="1098241"/>
            <a:ext cx="11277599" cy="959159"/>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库拉图斯基定理</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smtClean="0"/>
                  <a:t>定理</a:t>
                </a:r>
                <a:r>
                  <a:rPr lang="en-US" altLang="zh-CN" dirty="0" smtClean="0"/>
                  <a:t>(</a:t>
                </a:r>
                <a:r>
                  <a:rPr lang="zh-CN" altLang="en-US" dirty="0"/>
                  <a:t>库拉图斯基</a:t>
                </a:r>
                <a:r>
                  <a:rPr lang="zh-CN" altLang="en-US" dirty="0" smtClean="0"/>
                  <a:t>定理</a:t>
                </a:r>
                <a:r>
                  <a:rPr lang="en-US" altLang="zh-CN" dirty="0" smtClean="0"/>
                  <a:t>): </a:t>
                </a:r>
                <a:r>
                  <a:rPr lang="zh-CN" altLang="en-US" dirty="0" smtClean="0"/>
                  <a:t>一个图是非平面图当且仅当它包含一个同胚于</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𝐾</m:t>
                        </m:r>
                      </m:e>
                      <m:sub>
                        <m:r>
                          <a:rPr lang="en-US" altLang="zh-CN" i="1">
                            <a:latin typeface="Cambria Math" panose="02040503050406030204" pitchFamily="18" charset="0"/>
                          </a:rPr>
                          <m:t>3</m:t>
                        </m:r>
                        <m:r>
                          <a:rPr lang="en-US" altLang="zh-CN" i="1" smtClean="0">
                            <a:latin typeface="Cambria Math" panose="02040503050406030204" pitchFamily="18" charset="0"/>
                          </a:rPr>
                          <m:t>, </m:t>
                        </m:r>
                        <m:r>
                          <a:rPr lang="en-US" altLang="zh-CN" i="1">
                            <a:latin typeface="Cambria Math" panose="02040503050406030204" pitchFamily="18" charset="0"/>
                          </a:rPr>
                          <m:t>3</m:t>
                        </m:r>
                      </m:sub>
                    </m:sSub>
                  </m:oMath>
                </a14:m>
                <a:r>
                  <a:rPr lang="zh-CN" altLang="en-US" dirty="0"/>
                  <a:t>或</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𝐾</m:t>
                        </m:r>
                      </m:e>
                      <m:sub>
                        <m:r>
                          <a:rPr lang="en-US" altLang="zh-CN" i="1">
                            <a:latin typeface="Cambria Math" panose="02040503050406030204" pitchFamily="18" charset="0"/>
                          </a:rPr>
                          <m:t>5</m:t>
                        </m:r>
                      </m:sub>
                    </m:sSub>
                  </m:oMath>
                </a14:m>
                <a:r>
                  <a:rPr lang="zh-CN" altLang="en-US" dirty="0" smtClean="0"/>
                  <a:t>的子图</a:t>
                </a:r>
                <a:r>
                  <a:rPr lang="en-US" altLang="zh-CN" dirty="0" smtClean="0"/>
                  <a:t>.</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999" t="-1310"/>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E8BF3FC4-4ADA-41A1-82B9-6BACFDC9E42A}"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204</a:t>
            </a:fld>
            <a:endParaRPr lang="zh-CN" altLang="en-US" dirty="0"/>
          </a:p>
        </p:txBody>
      </p:sp>
    </p:spTree>
    <p:extLst>
      <p:ext uri="{BB962C8B-B14F-4D97-AF65-F5344CB8AC3E}">
        <p14:creationId xmlns:p14="http://schemas.microsoft.com/office/powerpoint/2010/main" val="1570699560"/>
      </p:ext>
    </p:extLst>
  </p:cSld>
  <p:clrMapOvr>
    <a:masterClrMapping/>
  </p:clrMapOvr>
  <p:timing>
    <p:tnLst>
      <p:par>
        <p:cTn id="1" dur="indefinite" restart="never" nodeType="tmRoot"/>
      </p:par>
    </p:tn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库拉图斯基定理</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lnSpcReduction="10000"/>
              </a:bodyPr>
              <a:lstStyle/>
              <a:p>
                <a:r>
                  <a:rPr lang="zh-CN" altLang="en-US" dirty="0" smtClean="0"/>
                  <a:t>例</a:t>
                </a:r>
                <a:r>
                  <a:rPr lang="en-US" altLang="zh-CN" dirty="0" smtClean="0"/>
                  <a:t>: </a:t>
                </a:r>
                <a:r>
                  <a:rPr lang="zh-CN" altLang="en-US" dirty="0" smtClean="0"/>
                  <a:t>如图所示的图</a:t>
                </a:r>
                <a:r>
                  <a:rPr lang="en-US" altLang="zh-CN" dirty="0" smtClean="0"/>
                  <a:t>G</a:t>
                </a:r>
                <a:r>
                  <a:rPr lang="zh-CN" altLang="en-US" dirty="0" smtClean="0"/>
                  <a:t>是否是平面图</a:t>
                </a:r>
                <a:r>
                  <a:rPr lang="en-US" altLang="zh-CN" dirty="0" smtClean="0"/>
                  <a:t>.</a:t>
                </a:r>
              </a:p>
              <a:p>
                <a:endParaRPr lang="en-US" altLang="zh-CN" dirty="0"/>
              </a:p>
              <a:p>
                <a:endParaRPr lang="en-US" altLang="zh-CN" dirty="0" smtClean="0"/>
              </a:p>
              <a:p>
                <a:endParaRPr lang="en-US" altLang="zh-CN" dirty="0"/>
              </a:p>
              <a:p>
                <a:endParaRPr lang="en-US" altLang="zh-CN" dirty="0" smtClean="0"/>
              </a:p>
              <a:p>
                <a:endParaRPr lang="en-US" altLang="zh-CN" dirty="0" smtClean="0"/>
              </a:p>
              <a:p>
                <a:r>
                  <a:rPr lang="zh-CN" altLang="en-US" dirty="0" smtClean="0"/>
                  <a:t>解</a:t>
                </a:r>
                <a:r>
                  <a:rPr lang="en-US" altLang="zh-CN" dirty="0" smtClean="0"/>
                  <a:t>: </a:t>
                </a:r>
              </a:p>
              <a:p>
                <a:pPr lvl="1">
                  <a:lnSpc>
                    <a:spcPct val="120000"/>
                  </a:lnSpc>
                </a:pPr>
                <a:r>
                  <a:rPr lang="zh-CN" altLang="en-US" sz="2600" dirty="0">
                    <a:solidFill>
                      <a:prstClr val="black"/>
                    </a:solidFill>
                  </a:rPr>
                  <a:t>图</a:t>
                </a:r>
                <a:r>
                  <a:rPr lang="en-US" altLang="zh-CN" sz="2600" dirty="0">
                    <a:solidFill>
                      <a:prstClr val="black"/>
                    </a:solidFill>
                  </a:rPr>
                  <a:t>G</a:t>
                </a:r>
                <a:r>
                  <a:rPr lang="zh-CN" altLang="en-US" sz="2600" dirty="0">
                    <a:solidFill>
                      <a:prstClr val="black"/>
                    </a:solidFill>
                  </a:rPr>
                  <a:t>包含子图</a:t>
                </a:r>
                <a:r>
                  <a:rPr lang="en-US" altLang="zh-CN" sz="2600" dirty="0">
                    <a:solidFill>
                      <a:prstClr val="black"/>
                    </a:solidFill>
                  </a:rPr>
                  <a:t>H. </a:t>
                </a:r>
                <a:r>
                  <a:rPr lang="zh-CN" altLang="en-US" sz="2600" dirty="0">
                    <a:solidFill>
                      <a:prstClr val="black"/>
                    </a:solidFill>
                  </a:rPr>
                  <a:t>子图</a:t>
                </a:r>
                <a:r>
                  <a:rPr lang="en-US" altLang="zh-CN" sz="2600" dirty="0">
                    <a:solidFill>
                      <a:prstClr val="black"/>
                    </a:solidFill>
                  </a:rPr>
                  <a:t>H</a:t>
                </a:r>
                <a:r>
                  <a:rPr lang="zh-CN" altLang="en-US" sz="2600" dirty="0" smtClean="0">
                    <a:solidFill>
                      <a:prstClr val="black"/>
                    </a:solidFill>
                  </a:rPr>
                  <a:t>通过在图</a:t>
                </a:r>
                <a:r>
                  <a:rPr lang="en-US" altLang="zh-CN" sz="2600" dirty="0" smtClean="0">
                    <a:solidFill>
                      <a:prstClr val="black"/>
                    </a:solidFill>
                  </a:rPr>
                  <a:t>G</a:t>
                </a:r>
                <a:r>
                  <a:rPr lang="zh-CN" altLang="en-US" sz="2600" dirty="0" smtClean="0">
                    <a:solidFill>
                      <a:prstClr val="black"/>
                    </a:solidFill>
                  </a:rPr>
                  <a:t>中删除</a:t>
                </a:r>
                <a:r>
                  <a:rPr lang="zh-CN" altLang="en-US" sz="2600" dirty="0">
                    <a:solidFill>
                      <a:prstClr val="black"/>
                    </a:solidFill>
                  </a:rPr>
                  <a:t>顶点</a:t>
                </a:r>
                <a:r>
                  <a:rPr lang="en-US" altLang="zh-CN" sz="2600" dirty="0" err="1">
                    <a:solidFill>
                      <a:prstClr val="black"/>
                    </a:solidFill>
                  </a:rPr>
                  <a:t>k,h,j</a:t>
                </a:r>
                <a:r>
                  <a:rPr lang="zh-CN" altLang="en-US" sz="2600" dirty="0">
                    <a:solidFill>
                      <a:prstClr val="black"/>
                    </a:solidFill>
                  </a:rPr>
                  <a:t>得到</a:t>
                </a:r>
                <a:r>
                  <a:rPr lang="en-US" altLang="zh-CN" sz="2600" dirty="0">
                    <a:solidFill>
                      <a:prstClr val="black"/>
                    </a:solidFill>
                  </a:rPr>
                  <a:t>. </a:t>
                </a:r>
              </a:p>
              <a:p>
                <a:pPr lvl="1">
                  <a:lnSpc>
                    <a:spcPct val="120000"/>
                  </a:lnSpc>
                </a:pPr>
                <a:r>
                  <a:rPr lang="zh-CN" altLang="en-US" sz="2600" dirty="0">
                    <a:solidFill>
                      <a:prstClr val="black"/>
                    </a:solidFill>
                  </a:rPr>
                  <a:t>子图</a:t>
                </a:r>
                <a:r>
                  <a:rPr lang="en-US" altLang="zh-CN" sz="2600" dirty="0">
                    <a:solidFill>
                      <a:prstClr val="black"/>
                    </a:solidFill>
                  </a:rPr>
                  <a:t>H</a:t>
                </a:r>
                <a:r>
                  <a:rPr lang="zh-CN" altLang="en-US" sz="2600" dirty="0">
                    <a:solidFill>
                      <a:prstClr val="black"/>
                    </a:solidFill>
                  </a:rPr>
                  <a:t>和</a:t>
                </a:r>
                <a14:m>
                  <m:oMath xmlns:m="http://schemas.openxmlformats.org/officeDocument/2006/math">
                    <m:sSub>
                      <m:sSubPr>
                        <m:ctrlPr>
                          <a:rPr lang="en-US" altLang="zh-CN" sz="2600" i="1">
                            <a:solidFill>
                              <a:prstClr val="black"/>
                            </a:solidFill>
                            <a:latin typeface="Cambria Math" panose="02040503050406030204" pitchFamily="18" charset="0"/>
                          </a:rPr>
                        </m:ctrlPr>
                      </m:sSubPr>
                      <m:e>
                        <m:r>
                          <a:rPr lang="en-US" altLang="zh-CN" sz="2600">
                            <a:solidFill>
                              <a:prstClr val="black"/>
                            </a:solidFill>
                            <a:latin typeface="Cambria Math" panose="02040503050406030204" pitchFamily="18" charset="0"/>
                          </a:rPr>
                          <m:t>𝐾</m:t>
                        </m:r>
                      </m:e>
                      <m:sub>
                        <m:r>
                          <a:rPr lang="en-US" altLang="zh-CN" sz="2600">
                            <a:solidFill>
                              <a:prstClr val="black"/>
                            </a:solidFill>
                            <a:latin typeface="Cambria Math" panose="02040503050406030204" pitchFamily="18" charset="0"/>
                          </a:rPr>
                          <m:t>5</m:t>
                        </m:r>
                      </m:sub>
                    </m:sSub>
                  </m:oMath>
                </a14:m>
                <a:r>
                  <a:rPr lang="zh-CN" altLang="en-US" sz="2600" dirty="0">
                    <a:solidFill>
                      <a:prstClr val="black"/>
                    </a:solidFill>
                  </a:rPr>
                  <a:t>是同胚的</a:t>
                </a:r>
                <a:r>
                  <a:rPr lang="en-US" altLang="zh-CN" sz="2600" dirty="0">
                    <a:solidFill>
                      <a:prstClr val="black"/>
                    </a:solidFill>
                  </a:rPr>
                  <a:t>. </a:t>
                </a:r>
                <a:r>
                  <a:rPr lang="zh-CN" altLang="en-US" sz="2600" dirty="0">
                    <a:solidFill>
                      <a:prstClr val="black"/>
                    </a:solidFill>
                  </a:rPr>
                  <a:t>因为从</a:t>
                </a:r>
                <a14:m>
                  <m:oMath xmlns:m="http://schemas.openxmlformats.org/officeDocument/2006/math">
                    <m:sSub>
                      <m:sSubPr>
                        <m:ctrlPr>
                          <a:rPr lang="en-US" altLang="zh-CN" sz="2600" i="1">
                            <a:solidFill>
                              <a:prstClr val="black"/>
                            </a:solidFill>
                            <a:latin typeface="Cambria Math" panose="02040503050406030204" pitchFamily="18" charset="0"/>
                          </a:rPr>
                        </m:ctrlPr>
                      </m:sSubPr>
                      <m:e>
                        <m:r>
                          <a:rPr lang="en-US" altLang="zh-CN" sz="2600">
                            <a:solidFill>
                              <a:prstClr val="black"/>
                            </a:solidFill>
                            <a:latin typeface="Cambria Math" panose="02040503050406030204" pitchFamily="18" charset="0"/>
                          </a:rPr>
                          <m:t>𝐾</m:t>
                        </m:r>
                      </m:e>
                      <m:sub>
                        <m:r>
                          <a:rPr lang="en-US" altLang="zh-CN" sz="2600">
                            <a:solidFill>
                              <a:prstClr val="black"/>
                            </a:solidFill>
                            <a:latin typeface="Cambria Math" panose="02040503050406030204" pitchFamily="18" charset="0"/>
                          </a:rPr>
                          <m:t>5</m:t>
                        </m:r>
                      </m:sub>
                    </m:sSub>
                  </m:oMath>
                </a14:m>
                <a:r>
                  <a:rPr lang="zh-CN" altLang="en-US" sz="2600" dirty="0">
                    <a:solidFill>
                      <a:prstClr val="black"/>
                    </a:solidFill>
                  </a:rPr>
                  <a:t>中通过一系列初等细分可以获得</a:t>
                </a:r>
                <a:r>
                  <a:rPr lang="en-US" altLang="zh-CN" sz="2600" dirty="0">
                    <a:solidFill>
                      <a:prstClr val="black"/>
                    </a:solidFill>
                  </a:rPr>
                  <a:t>H.</a:t>
                </a:r>
              </a:p>
              <a:p>
                <a:pPr lvl="1">
                  <a:lnSpc>
                    <a:spcPct val="120000"/>
                  </a:lnSpc>
                </a:pPr>
                <a:r>
                  <a:rPr lang="zh-CN" altLang="en-US" sz="2600" dirty="0">
                    <a:solidFill>
                      <a:prstClr val="black"/>
                    </a:solidFill>
                  </a:rPr>
                  <a:t>所以图</a:t>
                </a:r>
                <a:r>
                  <a:rPr lang="en-US" altLang="zh-CN" sz="2600" dirty="0">
                    <a:solidFill>
                      <a:prstClr val="black"/>
                    </a:solidFill>
                  </a:rPr>
                  <a:t>G</a:t>
                </a:r>
                <a:r>
                  <a:rPr lang="zh-CN" altLang="en-US" sz="2600" dirty="0">
                    <a:solidFill>
                      <a:prstClr val="black"/>
                    </a:solidFill>
                  </a:rPr>
                  <a:t>不是平面图</a:t>
                </a:r>
                <a:r>
                  <a:rPr lang="en-US" altLang="zh-CN" sz="2600" dirty="0">
                    <a:solidFill>
                      <a:prstClr val="black"/>
                    </a:solidFill>
                  </a:rPr>
                  <a:t>.</a:t>
                </a:r>
                <a:endParaRPr lang="zh-CN" altLang="en-US" sz="2600" dirty="0">
                  <a:solidFill>
                    <a:prstClr val="black"/>
                  </a:solidFill>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999" t="-2143" b="-833"/>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7D86C676-8E9D-4CC4-9C80-40D13F1EB488}"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205</a:t>
            </a:fld>
            <a:endParaRPr lang="zh-CN" altLang="en-US" dirty="0"/>
          </a:p>
        </p:txBody>
      </p:sp>
      <p:pic>
        <p:nvPicPr>
          <p:cNvPr id="7" name="图片 6"/>
          <p:cNvPicPr>
            <a:picLocks noChangeAspect="1"/>
          </p:cNvPicPr>
          <p:nvPr/>
        </p:nvPicPr>
        <p:blipFill>
          <a:blip r:embed="rId3"/>
          <a:stretch>
            <a:fillRect/>
          </a:stretch>
        </p:blipFill>
        <p:spPr>
          <a:xfrm>
            <a:off x="1219200" y="1733552"/>
            <a:ext cx="2362200" cy="2559494"/>
          </a:xfrm>
          <a:prstGeom prst="rect">
            <a:avLst/>
          </a:prstGeom>
        </p:spPr>
      </p:pic>
      <p:pic>
        <p:nvPicPr>
          <p:cNvPr id="8" name="图片 7"/>
          <p:cNvPicPr>
            <a:picLocks noChangeAspect="1"/>
          </p:cNvPicPr>
          <p:nvPr/>
        </p:nvPicPr>
        <p:blipFill>
          <a:blip r:embed="rId4"/>
          <a:stretch>
            <a:fillRect/>
          </a:stretch>
        </p:blipFill>
        <p:spPr>
          <a:xfrm>
            <a:off x="4876800" y="1733552"/>
            <a:ext cx="2362200" cy="2559494"/>
          </a:xfrm>
          <a:prstGeom prst="rect">
            <a:avLst/>
          </a:prstGeom>
        </p:spPr>
      </p:pic>
      <p:pic>
        <p:nvPicPr>
          <p:cNvPr id="9" name="图片 8"/>
          <p:cNvPicPr>
            <a:picLocks noChangeAspect="1"/>
          </p:cNvPicPr>
          <p:nvPr/>
        </p:nvPicPr>
        <p:blipFill>
          <a:blip r:embed="rId5"/>
          <a:stretch>
            <a:fillRect/>
          </a:stretch>
        </p:blipFill>
        <p:spPr>
          <a:xfrm>
            <a:off x="8322128" y="1733552"/>
            <a:ext cx="2345872" cy="2541803"/>
          </a:xfrm>
          <a:prstGeom prst="rect">
            <a:avLst/>
          </a:prstGeom>
        </p:spPr>
      </p:pic>
    </p:spTree>
    <p:extLst>
      <p:ext uri="{BB962C8B-B14F-4D97-AF65-F5344CB8AC3E}">
        <p14:creationId xmlns:p14="http://schemas.microsoft.com/office/powerpoint/2010/main" val="1609870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wipe(down)">
                                      <p:cBhvr>
                                        <p:cTn id="7" dur="500"/>
                                        <p:tgtEl>
                                          <p:spTgt spid="3">
                                            <p:txEl>
                                              <p:pRg st="6" end="6"/>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7" end="7"/>
                                            </p:txEl>
                                          </p:spTgt>
                                        </p:tgtEl>
                                        <p:attrNameLst>
                                          <p:attrName>style.visibility</p:attrName>
                                        </p:attrNameLst>
                                      </p:cBhvr>
                                      <p:to>
                                        <p:strVal val="visible"/>
                                      </p:to>
                                    </p:set>
                                    <p:animEffect transition="in" filter="wipe(down)">
                                      <p:cBhvr>
                                        <p:cTn id="10" dur="500"/>
                                        <p:tgtEl>
                                          <p:spTgt spid="3">
                                            <p:txEl>
                                              <p:pRg st="7" end="7"/>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down)">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3">
                                            <p:txEl>
                                              <p:pRg st="8" end="8"/>
                                            </p:txEl>
                                          </p:spTgt>
                                        </p:tgtEl>
                                        <p:attrNameLst>
                                          <p:attrName>style.visibility</p:attrName>
                                        </p:attrNameLst>
                                      </p:cBhvr>
                                      <p:to>
                                        <p:strVal val="visible"/>
                                      </p:to>
                                    </p:set>
                                    <p:animEffect transition="in" filter="wipe(down)">
                                      <p:cBhvr>
                                        <p:cTn id="18" dur="500"/>
                                        <p:tgtEl>
                                          <p:spTgt spid="3">
                                            <p:txEl>
                                              <p:pRg st="8" end="8"/>
                                            </p:txEl>
                                          </p:spTgt>
                                        </p:tgtEl>
                                      </p:cBhvr>
                                    </p:animEffect>
                                  </p:childTnLst>
                                </p:cTn>
                              </p:par>
                              <p:par>
                                <p:cTn id="19" presetID="22" presetClass="entr" presetSubtype="4"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down)">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3">
                                            <p:txEl>
                                              <p:pRg st="9" end="9"/>
                                            </p:txEl>
                                          </p:spTgt>
                                        </p:tgtEl>
                                        <p:attrNameLst>
                                          <p:attrName>style.visibility</p:attrName>
                                        </p:attrNameLst>
                                      </p:cBhvr>
                                      <p:to>
                                        <p:strVal val="visible"/>
                                      </p:to>
                                    </p:set>
                                    <p:animEffect transition="in" filter="wipe(down)">
                                      <p:cBhvr>
                                        <p:cTn id="26"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库拉图斯基定理</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fontScale="92500" lnSpcReduction="10000"/>
              </a:bodyPr>
              <a:lstStyle/>
              <a:p>
                <a:r>
                  <a:rPr lang="zh-CN" altLang="en-US" dirty="0" smtClean="0"/>
                  <a:t>例</a:t>
                </a:r>
                <a:r>
                  <a:rPr lang="en-US" altLang="zh-CN" dirty="0" smtClean="0"/>
                  <a:t>: </a:t>
                </a:r>
                <a:r>
                  <a:rPr lang="zh-CN" altLang="en-US" dirty="0" smtClean="0"/>
                  <a:t>如图所示的彼得森图</a:t>
                </a:r>
                <a:r>
                  <a:rPr lang="en-US" altLang="zh-CN" dirty="0" smtClean="0"/>
                  <a:t>G</a:t>
                </a:r>
                <a:r>
                  <a:rPr lang="zh-CN" altLang="en-US" dirty="0" smtClean="0"/>
                  <a:t>是否是平面图</a:t>
                </a:r>
                <a:r>
                  <a:rPr lang="en-US" altLang="zh-CN" dirty="0" smtClean="0"/>
                  <a:t>.</a:t>
                </a:r>
              </a:p>
              <a:p>
                <a:endParaRPr lang="en-US" altLang="zh-CN" dirty="0"/>
              </a:p>
              <a:p>
                <a:endParaRPr lang="en-US" altLang="zh-CN" dirty="0" smtClean="0"/>
              </a:p>
              <a:p>
                <a:endParaRPr lang="en-US" altLang="zh-CN" dirty="0"/>
              </a:p>
              <a:p>
                <a:endParaRPr lang="en-US" altLang="zh-CN" dirty="0" smtClean="0"/>
              </a:p>
              <a:p>
                <a:endParaRPr lang="en-US" altLang="zh-CN" dirty="0" smtClean="0"/>
              </a:p>
              <a:p>
                <a:r>
                  <a:rPr lang="zh-CN" altLang="en-US" dirty="0" smtClean="0"/>
                  <a:t>解</a:t>
                </a:r>
                <a:r>
                  <a:rPr lang="en-US" altLang="zh-CN" dirty="0" smtClean="0"/>
                  <a:t>: </a:t>
                </a:r>
              </a:p>
              <a:p>
                <a:pPr lvl="1">
                  <a:lnSpc>
                    <a:spcPct val="130000"/>
                  </a:lnSpc>
                </a:pPr>
                <a:r>
                  <a:rPr lang="zh-CN" altLang="en-US" sz="2600" dirty="0">
                    <a:solidFill>
                      <a:prstClr val="black"/>
                    </a:solidFill>
                  </a:rPr>
                  <a:t>图</a:t>
                </a:r>
                <a:r>
                  <a:rPr lang="en-US" altLang="zh-CN" sz="2600" dirty="0">
                    <a:solidFill>
                      <a:prstClr val="black"/>
                    </a:solidFill>
                  </a:rPr>
                  <a:t>G</a:t>
                </a:r>
                <a:r>
                  <a:rPr lang="zh-CN" altLang="en-US" sz="2600" dirty="0">
                    <a:solidFill>
                      <a:prstClr val="black"/>
                    </a:solidFill>
                  </a:rPr>
                  <a:t>包含子图</a:t>
                </a:r>
                <a:r>
                  <a:rPr lang="en-US" altLang="zh-CN" sz="2600" dirty="0">
                    <a:solidFill>
                      <a:prstClr val="black"/>
                    </a:solidFill>
                  </a:rPr>
                  <a:t>H. </a:t>
                </a:r>
                <a:r>
                  <a:rPr lang="zh-CN" altLang="en-US" sz="2600" dirty="0">
                    <a:solidFill>
                      <a:prstClr val="black"/>
                    </a:solidFill>
                  </a:rPr>
                  <a:t>删除图</a:t>
                </a:r>
                <a:r>
                  <a:rPr lang="en-US" altLang="zh-CN" sz="2600" dirty="0">
                    <a:solidFill>
                      <a:prstClr val="black"/>
                    </a:solidFill>
                  </a:rPr>
                  <a:t>G</a:t>
                </a:r>
                <a:r>
                  <a:rPr lang="zh-CN" altLang="en-US" sz="2600" dirty="0">
                    <a:solidFill>
                      <a:prstClr val="black"/>
                    </a:solidFill>
                  </a:rPr>
                  <a:t>中</a:t>
                </a:r>
                <a:r>
                  <a:rPr lang="en-US" altLang="zh-CN" sz="2600" dirty="0">
                    <a:solidFill>
                      <a:prstClr val="black"/>
                    </a:solidFill>
                  </a:rPr>
                  <a:t>b</a:t>
                </a:r>
                <a:r>
                  <a:rPr lang="zh-CN" altLang="en-US" sz="2600" dirty="0">
                    <a:solidFill>
                      <a:prstClr val="black"/>
                    </a:solidFill>
                  </a:rPr>
                  <a:t>顶点得到子图</a:t>
                </a:r>
                <a:r>
                  <a:rPr lang="en-US" altLang="zh-CN" sz="2600" dirty="0">
                    <a:solidFill>
                      <a:prstClr val="black"/>
                    </a:solidFill>
                  </a:rPr>
                  <a:t>H.</a:t>
                </a:r>
              </a:p>
              <a:p>
                <a:pPr lvl="1">
                  <a:lnSpc>
                    <a:spcPct val="130000"/>
                  </a:lnSpc>
                </a:pPr>
                <a:r>
                  <a:rPr lang="zh-CN" altLang="en-US" sz="2600" dirty="0">
                    <a:solidFill>
                      <a:prstClr val="black"/>
                    </a:solidFill>
                  </a:rPr>
                  <a:t>子图</a:t>
                </a:r>
                <a:r>
                  <a:rPr lang="en-US" altLang="zh-CN" sz="2600" dirty="0">
                    <a:solidFill>
                      <a:prstClr val="black"/>
                    </a:solidFill>
                  </a:rPr>
                  <a:t>H</a:t>
                </a:r>
                <a:r>
                  <a:rPr lang="zh-CN" altLang="en-US" sz="2600" dirty="0">
                    <a:solidFill>
                      <a:prstClr val="black"/>
                    </a:solidFill>
                  </a:rPr>
                  <a:t>同胚于</a:t>
                </a:r>
                <a14:m>
                  <m:oMath xmlns:m="http://schemas.openxmlformats.org/officeDocument/2006/math">
                    <m:sSub>
                      <m:sSubPr>
                        <m:ctrlPr>
                          <a:rPr lang="en-US" altLang="zh-CN" sz="2600" i="1">
                            <a:solidFill>
                              <a:prstClr val="black"/>
                            </a:solidFill>
                            <a:latin typeface="Cambria Math" panose="02040503050406030204" pitchFamily="18" charset="0"/>
                          </a:rPr>
                        </m:ctrlPr>
                      </m:sSubPr>
                      <m:e>
                        <m:r>
                          <a:rPr lang="en-US" altLang="zh-CN" sz="2600">
                            <a:solidFill>
                              <a:prstClr val="black"/>
                            </a:solidFill>
                            <a:latin typeface="Cambria Math" panose="02040503050406030204" pitchFamily="18" charset="0"/>
                          </a:rPr>
                          <m:t>𝐾</m:t>
                        </m:r>
                      </m:e>
                      <m:sub>
                        <m:r>
                          <a:rPr lang="en-US" altLang="zh-CN" sz="2600">
                            <a:solidFill>
                              <a:prstClr val="black"/>
                            </a:solidFill>
                            <a:latin typeface="Cambria Math" panose="02040503050406030204" pitchFamily="18" charset="0"/>
                          </a:rPr>
                          <m:t>3, 3</m:t>
                        </m:r>
                      </m:sub>
                    </m:sSub>
                  </m:oMath>
                </a14:m>
                <a:r>
                  <a:rPr lang="en-US" altLang="zh-CN" sz="2600" dirty="0">
                    <a:solidFill>
                      <a:prstClr val="black"/>
                    </a:solidFill>
                  </a:rPr>
                  <a:t>. </a:t>
                </a:r>
              </a:p>
              <a:p>
                <a:pPr lvl="1">
                  <a:lnSpc>
                    <a:spcPct val="130000"/>
                  </a:lnSpc>
                </a:pPr>
                <a:r>
                  <a:rPr lang="zh-CN" altLang="en-US" sz="2600" dirty="0">
                    <a:solidFill>
                      <a:prstClr val="black"/>
                    </a:solidFill>
                  </a:rPr>
                  <a:t>所以该图不是平面图</a:t>
                </a:r>
                <a:r>
                  <a:rPr lang="en-US" altLang="zh-CN" sz="2600" dirty="0">
                    <a:solidFill>
                      <a:prstClr val="black"/>
                    </a:solidFill>
                  </a:rPr>
                  <a:t>. </a:t>
                </a:r>
                <a:endParaRPr lang="zh-CN" altLang="en-US" sz="2600" dirty="0">
                  <a:solidFill>
                    <a:prstClr val="black"/>
                  </a:solidFill>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888" t="-1905"/>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2803610B-7ED8-4D94-A59B-2248EC01A25E}"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206</a:t>
            </a:fld>
            <a:endParaRPr lang="zh-CN" altLang="en-US" dirty="0"/>
          </a:p>
        </p:txBody>
      </p:sp>
      <p:pic>
        <p:nvPicPr>
          <p:cNvPr id="10" name="图片 9"/>
          <p:cNvPicPr>
            <a:picLocks noChangeAspect="1"/>
          </p:cNvPicPr>
          <p:nvPr/>
        </p:nvPicPr>
        <p:blipFill>
          <a:blip r:embed="rId3"/>
          <a:stretch>
            <a:fillRect/>
          </a:stretch>
        </p:blipFill>
        <p:spPr>
          <a:xfrm>
            <a:off x="914400" y="1600200"/>
            <a:ext cx="2590800" cy="2590800"/>
          </a:xfrm>
          <a:prstGeom prst="rect">
            <a:avLst/>
          </a:prstGeom>
        </p:spPr>
      </p:pic>
      <p:pic>
        <p:nvPicPr>
          <p:cNvPr id="7" name="图片 6"/>
          <p:cNvPicPr>
            <a:picLocks noChangeAspect="1"/>
          </p:cNvPicPr>
          <p:nvPr/>
        </p:nvPicPr>
        <p:blipFill>
          <a:blip r:embed="rId4"/>
          <a:stretch>
            <a:fillRect/>
          </a:stretch>
        </p:blipFill>
        <p:spPr>
          <a:xfrm>
            <a:off x="4267200" y="1600200"/>
            <a:ext cx="6332220" cy="2819400"/>
          </a:xfrm>
          <a:prstGeom prst="rect">
            <a:avLst/>
          </a:prstGeom>
        </p:spPr>
      </p:pic>
    </p:spTree>
    <p:extLst>
      <p:ext uri="{BB962C8B-B14F-4D97-AF65-F5344CB8AC3E}">
        <p14:creationId xmlns:p14="http://schemas.microsoft.com/office/powerpoint/2010/main" val="751688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wipe(down)">
                                      <p:cBhvr>
                                        <p:cTn id="7" dur="500"/>
                                        <p:tgtEl>
                                          <p:spTgt spid="3">
                                            <p:txEl>
                                              <p:pRg st="6" end="6"/>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7" end="7"/>
                                            </p:txEl>
                                          </p:spTgt>
                                        </p:tgtEl>
                                        <p:attrNameLst>
                                          <p:attrName>style.visibility</p:attrName>
                                        </p:attrNameLst>
                                      </p:cBhvr>
                                      <p:to>
                                        <p:strVal val="visible"/>
                                      </p:to>
                                    </p:set>
                                    <p:animEffect transition="in" filter="wipe(down)">
                                      <p:cBhvr>
                                        <p:cTn id="10" dur="500"/>
                                        <p:tgtEl>
                                          <p:spTgt spid="3">
                                            <p:txEl>
                                              <p:pRg st="7" end="7"/>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animEffect transition="in" filter="wipe(down)">
                                      <p:cBhvr>
                                        <p:cTn id="13" dur="500"/>
                                        <p:tgtEl>
                                          <p:spTgt spid="3">
                                            <p:txEl>
                                              <p:pRg st="8" end="8"/>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9" end="9"/>
                                            </p:txEl>
                                          </p:spTgt>
                                        </p:tgtEl>
                                        <p:attrNameLst>
                                          <p:attrName>style.visibility</p:attrName>
                                        </p:attrNameLst>
                                      </p:cBhvr>
                                      <p:to>
                                        <p:strVal val="visible"/>
                                      </p:to>
                                    </p:set>
                                    <p:animEffect transition="in" filter="wipe(down)">
                                      <p:cBhvr>
                                        <p:cTn id="16"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第</a:t>
            </a:r>
            <a:r>
              <a:rPr lang="en-US" altLang="zh-CN" dirty="0"/>
              <a:t>4</a:t>
            </a:r>
            <a:r>
              <a:rPr lang="en-US" altLang="zh-CN" dirty="0" smtClean="0"/>
              <a:t>.8</a:t>
            </a:r>
            <a:r>
              <a:rPr lang="zh-CN" altLang="en-US" dirty="0" smtClean="0"/>
              <a:t>节 图</a:t>
            </a:r>
            <a:r>
              <a:rPr lang="zh-CN" altLang="en-US" dirty="0"/>
              <a:t>着色</a:t>
            </a:r>
            <a:endParaRPr lang="en-US" dirty="0"/>
          </a:p>
        </p:txBody>
      </p:sp>
      <p:sp>
        <p:nvSpPr>
          <p:cNvPr id="3" name="Content Placeholder 2"/>
          <p:cNvSpPr>
            <a:spLocks noGrp="1"/>
          </p:cNvSpPr>
          <p:nvPr>
            <p:ph idx="1"/>
          </p:nvPr>
        </p:nvSpPr>
        <p:spPr/>
        <p:txBody>
          <a:bodyPr/>
          <a:lstStyle/>
          <a:p>
            <a:r>
              <a:rPr lang="zh-CN" altLang="en-US" dirty="0" smtClean="0"/>
              <a:t>图着色</a:t>
            </a:r>
            <a:endParaRPr lang="en-US" altLang="zh-CN" dirty="0" smtClean="0"/>
          </a:p>
          <a:p>
            <a:r>
              <a:rPr lang="zh-CN" altLang="en-US" dirty="0"/>
              <a:t>图着色的应用</a:t>
            </a:r>
            <a:endParaRPr lang="en-US" altLang="zh-CN" dirty="0"/>
          </a:p>
          <a:p>
            <a:endParaRPr lang="en-US" dirty="0" smtClean="0"/>
          </a:p>
        </p:txBody>
      </p:sp>
      <p:sp>
        <p:nvSpPr>
          <p:cNvPr id="4" name="日期占位符 3"/>
          <p:cNvSpPr>
            <a:spLocks noGrp="1"/>
          </p:cNvSpPr>
          <p:nvPr>
            <p:ph type="dt" sz="half" idx="10"/>
          </p:nvPr>
        </p:nvSpPr>
        <p:spPr/>
        <p:txBody>
          <a:bodyPr/>
          <a:lstStyle/>
          <a:p>
            <a:fld id="{DB785A4C-2DA4-417C-A28A-15074782951D}"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207</a:t>
            </a:fld>
            <a:endParaRPr lang="zh-CN" altLang="en-US" dirty="0"/>
          </a:p>
        </p:txBody>
      </p:sp>
    </p:spTree>
    <p:extLst>
      <p:ext uri="{BB962C8B-B14F-4D97-AF65-F5344CB8AC3E}">
        <p14:creationId xmlns:p14="http://schemas.microsoft.com/office/powerpoint/2010/main" val="3623437400"/>
      </p:ext>
    </p:extLst>
  </p:cSld>
  <p:clrMapOvr>
    <a:masterClrMapping/>
  </p:clrMapOvr>
  <p:timing>
    <p:tnLst>
      <p:par>
        <p:cTn id="1" dur="indefinite" restart="never" nodeType="tmRoot"/>
      </p:par>
    </p:tn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引言</a:t>
            </a:r>
          </a:p>
        </p:txBody>
      </p:sp>
      <p:sp>
        <p:nvSpPr>
          <p:cNvPr id="3" name="内容占位符 2"/>
          <p:cNvSpPr>
            <a:spLocks noGrp="1"/>
          </p:cNvSpPr>
          <p:nvPr>
            <p:ph idx="1"/>
          </p:nvPr>
        </p:nvSpPr>
        <p:spPr/>
        <p:txBody>
          <a:bodyPr/>
          <a:lstStyle/>
          <a:p>
            <a:r>
              <a:rPr lang="zh-CN" altLang="en-US" dirty="0" smtClean="0"/>
              <a:t>在图论中有许多于地图区域</a:t>
            </a:r>
            <a:r>
              <a:rPr lang="en-US" altLang="zh-CN" dirty="0" smtClean="0"/>
              <a:t>(</a:t>
            </a:r>
            <a:r>
              <a:rPr lang="zh-CN" altLang="en-US" dirty="0" smtClean="0"/>
              <a:t>比如世界地图</a:t>
            </a:r>
            <a:r>
              <a:rPr lang="en-US" altLang="zh-CN" dirty="0" smtClean="0"/>
              <a:t>)</a:t>
            </a:r>
            <a:r>
              <a:rPr lang="zh-CN" altLang="en-US" dirty="0" smtClean="0"/>
              <a:t>着色有关的理论成果</a:t>
            </a:r>
            <a:r>
              <a:rPr lang="en-US" altLang="zh-CN" dirty="0" smtClean="0"/>
              <a:t>. </a:t>
            </a:r>
            <a:r>
              <a:rPr lang="zh-CN" altLang="en-US" dirty="0" smtClean="0"/>
              <a:t>当为一幅地图</a:t>
            </a:r>
            <a:r>
              <a:rPr lang="en-US" altLang="zh-CN" dirty="0" smtClean="0"/>
              <a:t>(</a:t>
            </a:r>
            <a:r>
              <a:rPr lang="zh-CN" altLang="en-US" dirty="0" smtClean="0"/>
              <a:t>这儿只考虑所有区域都是连通的情况</a:t>
            </a:r>
            <a:r>
              <a:rPr lang="en-US" altLang="zh-CN" dirty="0" smtClean="0"/>
              <a:t>)</a:t>
            </a:r>
            <a:r>
              <a:rPr lang="zh-CN" altLang="en-US" dirty="0" smtClean="0"/>
              <a:t>着色时</a:t>
            </a:r>
            <a:r>
              <a:rPr lang="en-US" altLang="zh-CN" dirty="0" smtClean="0"/>
              <a:t>, </a:t>
            </a:r>
            <a:r>
              <a:rPr lang="zh-CN" altLang="en-US" dirty="0" smtClean="0"/>
              <a:t>具有公共边界的两个区域通常指定不同的颜色</a:t>
            </a:r>
            <a:r>
              <a:rPr lang="en-US" altLang="zh-CN" dirty="0" smtClean="0"/>
              <a:t>.</a:t>
            </a:r>
          </a:p>
          <a:p>
            <a:endParaRPr lang="en-US" altLang="zh-CN" dirty="0"/>
          </a:p>
          <a:p>
            <a:r>
              <a:rPr lang="zh-CN" altLang="en-US" dirty="0"/>
              <a:t>一</a:t>
            </a:r>
            <a:r>
              <a:rPr lang="zh-CN" altLang="en-US" dirty="0" smtClean="0"/>
              <a:t>种最简单的方法来确保两个相邻的区域永远没有相同的颜色的方法是对每个区域都使用不同的颜色</a:t>
            </a:r>
            <a:r>
              <a:rPr lang="en-US" altLang="zh-CN" dirty="0" smtClean="0"/>
              <a:t>. </a:t>
            </a:r>
            <a:r>
              <a:rPr lang="zh-CN" altLang="en-US" dirty="0" smtClean="0"/>
              <a:t>但这个方法效率低</a:t>
            </a:r>
            <a:r>
              <a:rPr lang="en-US" altLang="zh-CN" dirty="0" smtClean="0"/>
              <a:t>, </a:t>
            </a:r>
            <a:r>
              <a:rPr lang="zh-CN" altLang="en-US" dirty="0" smtClean="0"/>
              <a:t>并且太多区域的地图上有时很难区分出相似的颜色</a:t>
            </a:r>
            <a:r>
              <a:rPr lang="en-US" altLang="zh-CN" dirty="0" smtClean="0"/>
              <a:t>.</a:t>
            </a:r>
          </a:p>
          <a:p>
            <a:endParaRPr lang="en-US" altLang="zh-CN" dirty="0"/>
          </a:p>
          <a:p>
            <a:r>
              <a:rPr lang="zh-CN" altLang="en-US" dirty="0" smtClean="0"/>
              <a:t>另一种方法是使用尽可能少的颜色</a:t>
            </a:r>
            <a:r>
              <a:rPr lang="en-US" altLang="zh-CN" dirty="0" smtClean="0"/>
              <a:t>.</a:t>
            </a:r>
            <a:endParaRPr lang="zh-CN" altLang="en-US" dirty="0"/>
          </a:p>
        </p:txBody>
      </p:sp>
      <p:sp>
        <p:nvSpPr>
          <p:cNvPr id="4" name="日期占位符 3"/>
          <p:cNvSpPr>
            <a:spLocks noGrp="1"/>
          </p:cNvSpPr>
          <p:nvPr>
            <p:ph type="dt" sz="half" idx="10"/>
          </p:nvPr>
        </p:nvSpPr>
        <p:spPr/>
        <p:txBody>
          <a:bodyPr/>
          <a:lstStyle/>
          <a:p>
            <a:fld id="{663B9B52-27FB-4BDC-B781-80F790048F4A}"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208</a:t>
            </a:fld>
            <a:endParaRPr lang="zh-CN" altLang="en-US" dirty="0"/>
          </a:p>
        </p:txBody>
      </p:sp>
    </p:spTree>
    <p:extLst>
      <p:ext uri="{BB962C8B-B14F-4D97-AF65-F5344CB8AC3E}">
        <p14:creationId xmlns:p14="http://schemas.microsoft.com/office/powerpoint/2010/main" val="1576091625"/>
      </p:ext>
    </p:extLst>
  </p:cSld>
  <p:clrMapOvr>
    <a:masterClrMapping/>
  </p:clrMapOvr>
  <p:timing>
    <p:tnLst>
      <p:par>
        <p:cTn id="1" dur="indefinite" restart="never" nodeType="tmRoot"/>
      </p:par>
    </p:tn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图着色</a:t>
            </a:r>
            <a:endParaRPr lang="en-US" altLang="zh-CN" dirty="0"/>
          </a:p>
        </p:txBody>
      </p:sp>
      <p:sp>
        <p:nvSpPr>
          <p:cNvPr id="3" name="内容占位符 2"/>
          <p:cNvSpPr>
            <a:spLocks noGrp="1"/>
          </p:cNvSpPr>
          <p:nvPr>
            <p:ph idx="1"/>
          </p:nvPr>
        </p:nvSpPr>
        <p:spPr/>
        <p:txBody>
          <a:bodyPr/>
          <a:lstStyle/>
          <a:p>
            <a:r>
              <a:rPr lang="zh-CN" altLang="en-US" dirty="0" smtClean="0"/>
              <a:t>下图中左图</a:t>
            </a:r>
            <a:r>
              <a:rPr lang="en-US" altLang="zh-CN" dirty="0" smtClean="0"/>
              <a:t>4</a:t>
            </a:r>
            <a:r>
              <a:rPr lang="zh-CN" altLang="en-US" dirty="0" smtClean="0"/>
              <a:t>种颜色足够</a:t>
            </a:r>
            <a:r>
              <a:rPr lang="en-US" altLang="zh-CN" dirty="0" smtClean="0"/>
              <a:t>, 3</a:t>
            </a:r>
            <a:r>
              <a:rPr lang="zh-CN" altLang="en-US" dirty="0" smtClean="0"/>
              <a:t>种颜色不够</a:t>
            </a:r>
            <a:r>
              <a:rPr lang="en-US" altLang="zh-CN" dirty="0" smtClean="0"/>
              <a:t>; </a:t>
            </a:r>
            <a:r>
              <a:rPr lang="zh-CN" altLang="en-US" dirty="0" smtClean="0"/>
              <a:t>右图</a:t>
            </a:r>
            <a:r>
              <a:rPr lang="en-US" altLang="zh-CN" dirty="0" smtClean="0"/>
              <a:t>3</a:t>
            </a:r>
            <a:r>
              <a:rPr lang="zh-CN" altLang="en-US" dirty="0" smtClean="0"/>
              <a:t>中颜色足够</a:t>
            </a:r>
            <a:r>
              <a:rPr lang="en-US" altLang="zh-CN" dirty="0" smtClean="0"/>
              <a:t>, 2</a:t>
            </a:r>
            <a:r>
              <a:rPr lang="zh-CN" altLang="en-US" dirty="0" smtClean="0"/>
              <a:t>种颜色不够</a:t>
            </a:r>
            <a:r>
              <a:rPr lang="en-US" altLang="zh-CN" dirty="0" smtClean="0"/>
              <a:t>.</a:t>
            </a:r>
          </a:p>
          <a:p>
            <a:endParaRPr lang="zh-CN" altLang="en-US" dirty="0"/>
          </a:p>
        </p:txBody>
      </p:sp>
      <p:sp>
        <p:nvSpPr>
          <p:cNvPr id="4" name="日期占位符 3"/>
          <p:cNvSpPr>
            <a:spLocks noGrp="1"/>
          </p:cNvSpPr>
          <p:nvPr>
            <p:ph type="dt" sz="half" idx="10"/>
          </p:nvPr>
        </p:nvSpPr>
        <p:spPr/>
        <p:txBody>
          <a:bodyPr/>
          <a:lstStyle/>
          <a:p>
            <a:fld id="{D856E4F1-11CD-4BF1-A316-E8476DA891D8}"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209</a:t>
            </a:fld>
            <a:endParaRPr lang="zh-CN" altLang="en-US" dirty="0"/>
          </a:p>
        </p:txBody>
      </p:sp>
      <p:pic>
        <p:nvPicPr>
          <p:cNvPr id="7" name="图片 6"/>
          <p:cNvPicPr>
            <a:picLocks noChangeAspect="1"/>
          </p:cNvPicPr>
          <p:nvPr/>
        </p:nvPicPr>
        <p:blipFill>
          <a:blip r:embed="rId2"/>
          <a:stretch>
            <a:fillRect/>
          </a:stretch>
        </p:blipFill>
        <p:spPr>
          <a:xfrm>
            <a:off x="1242060" y="2041100"/>
            <a:ext cx="4221480" cy="3223260"/>
          </a:xfrm>
          <a:prstGeom prst="rect">
            <a:avLst/>
          </a:prstGeom>
        </p:spPr>
      </p:pic>
      <p:pic>
        <p:nvPicPr>
          <p:cNvPr id="10" name="图片 9"/>
          <p:cNvPicPr>
            <a:picLocks noChangeAspect="1"/>
          </p:cNvPicPr>
          <p:nvPr/>
        </p:nvPicPr>
        <p:blipFill>
          <a:blip r:embed="rId3"/>
          <a:stretch>
            <a:fillRect/>
          </a:stretch>
        </p:blipFill>
        <p:spPr>
          <a:xfrm>
            <a:off x="1241976" y="2041100"/>
            <a:ext cx="4221480" cy="3223260"/>
          </a:xfrm>
          <a:prstGeom prst="rect">
            <a:avLst/>
          </a:prstGeom>
        </p:spPr>
      </p:pic>
      <p:pic>
        <p:nvPicPr>
          <p:cNvPr id="11" name="图片 10"/>
          <p:cNvPicPr>
            <a:picLocks noChangeAspect="1"/>
          </p:cNvPicPr>
          <p:nvPr/>
        </p:nvPicPr>
        <p:blipFill>
          <a:blip r:embed="rId4"/>
          <a:stretch>
            <a:fillRect/>
          </a:stretch>
        </p:blipFill>
        <p:spPr>
          <a:xfrm>
            <a:off x="6553200" y="2060150"/>
            <a:ext cx="4206240" cy="3185160"/>
          </a:xfrm>
          <a:prstGeom prst="rect">
            <a:avLst/>
          </a:prstGeom>
        </p:spPr>
      </p:pic>
      <p:pic>
        <p:nvPicPr>
          <p:cNvPr id="12" name="图片 11"/>
          <p:cNvPicPr>
            <a:picLocks noChangeAspect="1"/>
          </p:cNvPicPr>
          <p:nvPr/>
        </p:nvPicPr>
        <p:blipFill>
          <a:blip r:embed="rId5"/>
          <a:stretch>
            <a:fillRect/>
          </a:stretch>
        </p:blipFill>
        <p:spPr>
          <a:xfrm>
            <a:off x="6553200" y="2060150"/>
            <a:ext cx="4206240" cy="3185160"/>
          </a:xfrm>
          <a:prstGeom prst="rect">
            <a:avLst/>
          </a:prstGeom>
        </p:spPr>
      </p:pic>
    </p:spTree>
    <p:extLst>
      <p:ext uri="{BB962C8B-B14F-4D97-AF65-F5344CB8AC3E}">
        <p14:creationId xmlns:p14="http://schemas.microsoft.com/office/powerpoint/2010/main" val="1415529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par>
                                <p:cTn id="8" presetID="22" presetClass="entr" presetSubtype="4"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down)">
                                      <p:cBhvr>
                                        <p:cTn id="1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449944" y="1098241"/>
            <a:ext cx="11277599" cy="1797359"/>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图着色</a:t>
            </a:r>
            <a:endParaRPr lang="en-US" altLang="zh-CN" dirty="0"/>
          </a:p>
        </p:txBody>
      </p:sp>
      <p:sp>
        <p:nvSpPr>
          <p:cNvPr id="3" name="内容占位符 2"/>
          <p:cNvSpPr>
            <a:spLocks noGrp="1"/>
          </p:cNvSpPr>
          <p:nvPr>
            <p:ph idx="1"/>
          </p:nvPr>
        </p:nvSpPr>
        <p:spPr/>
        <p:txBody>
          <a:bodyPr/>
          <a:lstStyle/>
          <a:p>
            <a:r>
              <a:rPr lang="zh-CN" altLang="en-US" dirty="0" smtClean="0"/>
              <a:t>平面图的每幅地图都可以表示成一个图</a:t>
            </a:r>
            <a:r>
              <a:rPr lang="en-US" altLang="zh-CN" dirty="0" smtClean="0"/>
              <a:t>. </a:t>
            </a:r>
            <a:r>
              <a:rPr lang="zh-CN" altLang="en-US" dirty="0" smtClean="0"/>
              <a:t>为了建立这样的对应关系</a:t>
            </a:r>
            <a:r>
              <a:rPr lang="en-US" altLang="zh-CN" dirty="0" smtClean="0"/>
              <a:t>, </a:t>
            </a:r>
            <a:r>
              <a:rPr lang="zh-CN" altLang="en-US" dirty="0" smtClean="0"/>
              <a:t>地图的每个区域都表示成一个顶点</a:t>
            </a:r>
            <a:r>
              <a:rPr lang="en-US" altLang="zh-CN" dirty="0" smtClean="0"/>
              <a:t>. </a:t>
            </a:r>
            <a:r>
              <a:rPr lang="zh-CN" altLang="en-US" dirty="0" smtClean="0"/>
              <a:t>若两个顶点所表示的区域具有公共边界</a:t>
            </a:r>
            <a:r>
              <a:rPr lang="en-US" altLang="zh-CN" dirty="0" smtClean="0"/>
              <a:t>, </a:t>
            </a:r>
            <a:r>
              <a:rPr lang="zh-CN" altLang="en-US" dirty="0" smtClean="0"/>
              <a:t>则用边连接两个顶点</a:t>
            </a:r>
            <a:r>
              <a:rPr lang="en-US" altLang="zh-CN" dirty="0" smtClean="0"/>
              <a:t>. </a:t>
            </a:r>
            <a:r>
              <a:rPr lang="zh-CN" altLang="en-US" dirty="0" smtClean="0"/>
              <a:t>只相交于一个点的两个区域不认为是相邻的</a:t>
            </a:r>
            <a:r>
              <a:rPr lang="en-US" altLang="zh-CN" dirty="0" smtClean="0"/>
              <a:t>. </a:t>
            </a:r>
            <a:r>
              <a:rPr lang="zh-CN" altLang="en-US" dirty="0" smtClean="0"/>
              <a:t>这样得到的图称为这个地图的</a:t>
            </a:r>
            <a:r>
              <a:rPr lang="zh-CN" altLang="en-US" b="1" dirty="0" smtClean="0">
                <a:solidFill>
                  <a:srgbClr val="C00000"/>
                </a:solidFill>
              </a:rPr>
              <a:t>对偶图</a:t>
            </a:r>
            <a:r>
              <a:rPr lang="en-US" altLang="zh-CN" dirty="0" smtClean="0"/>
              <a:t>.</a:t>
            </a:r>
          </a:p>
          <a:p>
            <a:r>
              <a:rPr lang="zh-CN" altLang="en-US" dirty="0" smtClean="0"/>
              <a:t>根据地图的对偶图的构造方式</a:t>
            </a:r>
            <a:r>
              <a:rPr lang="en-US" altLang="zh-CN" dirty="0" smtClean="0"/>
              <a:t>, </a:t>
            </a:r>
            <a:r>
              <a:rPr lang="zh-CN" altLang="en-US" dirty="0" smtClean="0"/>
              <a:t>显然在平面的任何地图都具有可平面的对偶图</a:t>
            </a:r>
            <a:r>
              <a:rPr lang="en-US" altLang="zh-CN" dirty="0"/>
              <a:t>.</a:t>
            </a:r>
            <a:endParaRPr lang="zh-CN" altLang="en-US" dirty="0"/>
          </a:p>
        </p:txBody>
      </p:sp>
      <p:sp>
        <p:nvSpPr>
          <p:cNvPr id="4" name="日期占位符 3"/>
          <p:cNvSpPr>
            <a:spLocks noGrp="1"/>
          </p:cNvSpPr>
          <p:nvPr>
            <p:ph type="dt" sz="half" idx="10"/>
          </p:nvPr>
        </p:nvSpPr>
        <p:spPr/>
        <p:txBody>
          <a:bodyPr/>
          <a:lstStyle/>
          <a:p>
            <a:fld id="{96548AA6-433D-46AB-9AA0-BA0E50D8271B}"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210</a:t>
            </a:fld>
            <a:endParaRPr lang="zh-CN" altLang="en-US" dirty="0"/>
          </a:p>
        </p:txBody>
      </p:sp>
    </p:spTree>
    <p:extLst>
      <p:ext uri="{BB962C8B-B14F-4D97-AF65-F5344CB8AC3E}">
        <p14:creationId xmlns:p14="http://schemas.microsoft.com/office/powerpoint/2010/main" val="1742739658"/>
      </p:ext>
    </p:extLst>
  </p:cSld>
  <p:clrMapOvr>
    <a:masterClrMapping/>
  </p:clrMapOvr>
  <p:timing>
    <p:tnLst>
      <p:par>
        <p:cTn id="1" dur="indefinite" restart="never" nodeType="tmRoot"/>
      </p:par>
    </p:tn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图着色</a:t>
            </a:r>
            <a:endParaRPr lang="en-US" altLang="zh-CN" dirty="0"/>
          </a:p>
        </p:txBody>
      </p:sp>
      <p:sp>
        <p:nvSpPr>
          <p:cNvPr id="3" name="内容占位符 2"/>
          <p:cNvSpPr>
            <a:spLocks noGrp="1"/>
          </p:cNvSpPr>
          <p:nvPr>
            <p:ph idx="1"/>
          </p:nvPr>
        </p:nvSpPr>
        <p:spPr/>
        <p:txBody>
          <a:bodyPr/>
          <a:lstStyle/>
          <a:p>
            <a:r>
              <a:rPr lang="zh-CN" altLang="en-US" dirty="0" smtClean="0"/>
              <a:t>例</a:t>
            </a:r>
            <a:r>
              <a:rPr lang="en-US" altLang="zh-CN" dirty="0" smtClean="0"/>
              <a:t>: </a:t>
            </a:r>
            <a:r>
              <a:rPr lang="zh-CN" altLang="en-US" dirty="0" smtClean="0"/>
              <a:t>画出以下两个图的对偶图</a:t>
            </a:r>
            <a:r>
              <a:rPr lang="en-US" altLang="zh-CN" dirty="0" smtClean="0"/>
              <a:t>.</a:t>
            </a:r>
          </a:p>
          <a:p>
            <a:endParaRPr lang="en-US" altLang="zh-CN" dirty="0"/>
          </a:p>
          <a:p>
            <a:endParaRPr lang="en-US" altLang="zh-CN" dirty="0" smtClean="0"/>
          </a:p>
          <a:p>
            <a:endParaRPr lang="en-US" altLang="zh-CN" dirty="0"/>
          </a:p>
          <a:p>
            <a:endParaRPr lang="en-US" altLang="zh-CN" dirty="0" smtClean="0"/>
          </a:p>
          <a:p>
            <a:r>
              <a:rPr lang="zh-CN" altLang="en-US" dirty="0" smtClean="0"/>
              <a:t>解</a:t>
            </a:r>
            <a:r>
              <a:rPr lang="en-US" altLang="zh-CN" dirty="0" smtClean="0"/>
              <a:t>: </a:t>
            </a:r>
            <a:r>
              <a:rPr lang="zh-CN" altLang="en-US" dirty="0" smtClean="0"/>
              <a:t>对偶图分别如下所示</a:t>
            </a:r>
            <a:r>
              <a:rPr lang="en-US" altLang="zh-CN" dirty="0" smtClean="0"/>
              <a:t>: </a:t>
            </a:r>
          </a:p>
          <a:p>
            <a:endParaRPr lang="zh-CN" altLang="en-US" dirty="0"/>
          </a:p>
        </p:txBody>
      </p:sp>
      <p:sp>
        <p:nvSpPr>
          <p:cNvPr id="4" name="日期占位符 3"/>
          <p:cNvSpPr>
            <a:spLocks noGrp="1"/>
          </p:cNvSpPr>
          <p:nvPr>
            <p:ph type="dt" sz="half" idx="10"/>
          </p:nvPr>
        </p:nvSpPr>
        <p:spPr/>
        <p:txBody>
          <a:bodyPr/>
          <a:lstStyle/>
          <a:p>
            <a:fld id="{AB359FD0-5394-4C08-8CF1-84D57166ACCC}"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211</a:t>
            </a:fld>
            <a:endParaRPr lang="zh-CN" altLang="en-US" dirty="0"/>
          </a:p>
        </p:txBody>
      </p:sp>
      <p:pic>
        <p:nvPicPr>
          <p:cNvPr id="7" name="图片 6"/>
          <p:cNvPicPr>
            <a:picLocks noChangeAspect="1"/>
          </p:cNvPicPr>
          <p:nvPr/>
        </p:nvPicPr>
        <p:blipFill>
          <a:blip r:embed="rId2"/>
          <a:stretch>
            <a:fillRect/>
          </a:stretch>
        </p:blipFill>
        <p:spPr>
          <a:xfrm>
            <a:off x="6763761" y="1498226"/>
            <a:ext cx="2322077" cy="1930774"/>
          </a:xfrm>
          <a:prstGeom prst="rect">
            <a:avLst/>
          </a:prstGeom>
        </p:spPr>
      </p:pic>
      <p:pic>
        <p:nvPicPr>
          <p:cNvPr id="8" name="图片 7"/>
          <p:cNvPicPr>
            <a:picLocks noChangeAspect="1"/>
          </p:cNvPicPr>
          <p:nvPr/>
        </p:nvPicPr>
        <p:blipFill>
          <a:blip r:embed="rId3"/>
          <a:stretch>
            <a:fillRect/>
          </a:stretch>
        </p:blipFill>
        <p:spPr>
          <a:xfrm>
            <a:off x="1822850" y="1696278"/>
            <a:ext cx="3059899" cy="1752600"/>
          </a:xfrm>
          <a:prstGeom prst="rect">
            <a:avLst/>
          </a:prstGeom>
        </p:spPr>
      </p:pic>
      <p:pic>
        <p:nvPicPr>
          <p:cNvPr id="9" name="图片 8"/>
          <p:cNvPicPr>
            <a:picLocks noChangeAspect="1"/>
          </p:cNvPicPr>
          <p:nvPr/>
        </p:nvPicPr>
        <p:blipFill>
          <a:blip r:embed="rId4"/>
          <a:stretch>
            <a:fillRect/>
          </a:stretch>
        </p:blipFill>
        <p:spPr>
          <a:xfrm>
            <a:off x="1842571" y="4699002"/>
            <a:ext cx="1993900" cy="1606550"/>
          </a:xfrm>
          <a:prstGeom prst="rect">
            <a:avLst/>
          </a:prstGeom>
        </p:spPr>
      </p:pic>
      <p:pic>
        <p:nvPicPr>
          <p:cNvPr id="10" name="图片 9"/>
          <p:cNvPicPr>
            <a:picLocks noChangeAspect="1"/>
          </p:cNvPicPr>
          <p:nvPr/>
        </p:nvPicPr>
        <p:blipFill>
          <a:blip r:embed="rId5"/>
          <a:stretch>
            <a:fillRect/>
          </a:stretch>
        </p:blipFill>
        <p:spPr>
          <a:xfrm>
            <a:off x="6940550" y="4826159"/>
            <a:ext cx="1968500" cy="1739900"/>
          </a:xfrm>
          <a:prstGeom prst="rect">
            <a:avLst/>
          </a:prstGeom>
        </p:spPr>
      </p:pic>
    </p:spTree>
    <p:extLst>
      <p:ext uri="{BB962C8B-B14F-4D97-AF65-F5344CB8AC3E}">
        <p14:creationId xmlns:p14="http://schemas.microsoft.com/office/powerpoint/2010/main" val="3270843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wipe(down)">
                                      <p:cBhvr>
                                        <p:cTn id="7" dur="500"/>
                                        <p:tgtEl>
                                          <p:spTgt spid="3">
                                            <p:txEl>
                                              <p:pRg st="5" end="5"/>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down)">
                                      <p:cBhvr>
                                        <p:cTn id="10" dur="500"/>
                                        <p:tgtEl>
                                          <p:spTgt spid="9"/>
                                        </p:tgtEl>
                                      </p:cBhvr>
                                    </p:animEffect>
                                  </p:childTnLst>
                                </p:cTn>
                              </p:par>
                              <p:par>
                                <p:cTn id="11" presetID="22" presetClass="entr" presetSubtype="4"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down)">
                                      <p:cBhvr>
                                        <p:cTn id="1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304802" y="4092776"/>
            <a:ext cx="11277599" cy="959159"/>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304802" y="2590800"/>
            <a:ext cx="11277599" cy="959159"/>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图着色</a:t>
            </a:r>
            <a:endParaRPr lang="en-US" altLang="zh-CN"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smtClean="0"/>
                  <a:t>给地图的区域着色问题等价于</a:t>
                </a:r>
                <a:r>
                  <a:rPr lang="en-US" altLang="zh-CN" dirty="0" smtClean="0"/>
                  <a:t>: </a:t>
                </a:r>
                <a:r>
                  <a:rPr lang="zh-CN" altLang="en-US" dirty="0" smtClean="0"/>
                  <a:t>给对偶图的顶点着色</a:t>
                </a:r>
                <a:r>
                  <a:rPr lang="en-US" altLang="zh-CN" dirty="0" smtClean="0"/>
                  <a:t>, </a:t>
                </a:r>
                <a:r>
                  <a:rPr lang="zh-CN" altLang="en-US" dirty="0" smtClean="0"/>
                  <a:t>使得在对偶图中没有两个相邻的顶点具有相同的颜色</a:t>
                </a:r>
                <a:r>
                  <a:rPr lang="en-US" altLang="zh-CN" dirty="0" smtClean="0"/>
                  <a:t>.</a:t>
                </a:r>
              </a:p>
              <a:p>
                <a:endParaRPr lang="en-US" altLang="zh-CN" dirty="0"/>
              </a:p>
              <a:p>
                <a:r>
                  <a:rPr lang="zh-CN" altLang="en-US" dirty="0" smtClean="0"/>
                  <a:t>定义</a:t>
                </a:r>
                <a:r>
                  <a:rPr lang="en-US" altLang="zh-CN" dirty="0" smtClean="0"/>
                  <a:t>: </a:t>
                </a:r>
                <a:r>
                  <a:rPr lang="zh-CN" altLang="en-US" dirty="0" smtClean="0"/>
                  <a:t>简单图的</a:t>
                </a:r>
                <a:r>
                  <a:rPr lang="zh-CN" altLang="en-US" b="1" dirty="0" smtClean="0">
                    <a:solidFill>
                      <a:srgbClr val="C00000"/>
                    </a:solidFill>
                  </a:rPr>
                  <a:t>着色</a:t>
                </a:r>
                <a:r>
                  <a:rPr lang="zh-CN" altLang="en-US" dirty="0" smtClean="0"/>
                  <a:t>是对该图的每个顶点都指定一个颜色</a:t>
                </a:r>
                <a:r>
                  <a:rPr lang="en-US" altLang="zh-CN" dirty="0" smtClean="0"/>
                  <a:t>, </a:t>
                </a:r>
                <a:r>
                  <a:rPr lang="zh-CN" altLang="en-US" dirty="0" smtClean="0"/>
                  <a:t>使得没有两个相邻的顶点的颜色相同</a:t>
                </a:r>
                <a:r>
                  <a:rPr lang="en-US" altLang="zh-CN" dirty="0" smtClean="0"/>
                  <a:t>.</a:t>
                </a:r>
              </a:p>
              <a:p>
                <a:endParaRPr lang="en-US" altLang="zh-CN" dirty="0"/>
              </a:p>
              <a:p>
                <a:r>
                  <a:rPr lang="zh-CN" altLang="en-US" dirty="0" smtClean="0"/>
                  <a:t>定义</a:t>
                </a:r>
                <a:r>
                  <a:rPr lang="en-US" altLang="zh-CN" dirty="0" smtClean="0"/>
                  <a:t>: </a:t>
                </a:r>
                <a:r>
                  <a:rPr lang="zh-CN" altLang="en-US" b="1" dirty="0" smtClean="0">
                    <a:solidFill>
                      <a:srgbClr val="C00000"/>
                    </a:solidFill>
                  </a:rPr>
                  <a:t>图的着色数</a:t>
                </a:r>
                <a:r>
                  <a:rPr lang="zh-CN" altLang="en-US" dirty="0" smtClean="0"/>
                  <a:t>是着色这个图所需要的最少颜色数</a:t>
                </a:r>
                <a:r>
                  <a:rPr lang="en-US" altLang="zh-CN" dirty="0" smtClean="0"/>
                  <a:t>. </a:t>
                </a:r>
                <a:r>
                  <a:rPr lang="zh-CN" altLang="en-US" dirty="0" smtClean="0"/>
                  <a:t>图</a:t>
                </a:r>
                <a:r>
                  <a:rPr lang="en-US" altLang="zh-CN" dirty="0" smtClean="0"/>
                  <a:t>G</a:t>
                </a:r>
                <a:r>
                  <a:rPr lang="zh-CN" altLang="en-US" dirty="0" smtClean="0"/>
                  <a:t>的着色数记为</a:t>
                </a:r>
                <a14:m>
                  <m:oMath xmlns:m="http://schemas.openxmlformats.org/officeDocument/2006/math">
                    <m:r>
                      <a:rPr lang="zh-CN" altLang="en-US" i="1" smtClean="0">
                        <a:latin typeface="Cambria Math" panose="02040503050406030204" pitchFamily="18" charset="0"/>
                      </a:rPr>
                      <m:t>𝜒</m:t>
                    </m:r>
                    <m:r>
                      <a:rPr lang="en-US" altLang="zh-CN" b="0" i="1" smtClean="0">
                        <a:latin typeface="Cambria Math" panose="02040503050406030204" pitchFamily="18" charset="0"/>
                      </a:rPr>
                      <m:t>(</m:t>
                    </m:r>
                    <m:r>
                      <a:rPr lang="en-US" altLang="zh-CN" b="0" i="1" smtClean="0">
                        <a:latin typeface="Cambria Math" panose="02040503050406030204" pitchFamily="18" charset="0"/>
                      </a:rPr>
                      <m:t>𝐺</m:t>
                    </m:r>
                    <m:r>
                      <a:rPr lang="en-US" altLang="zh-CN" b="0" i="1" smtClean="0">
                        <a:latin typeface="Cambria Math" panose="02040503050406030204" pitchFamily="18" charset="0"/>
                      </a:rPr>
                      <m:t>) (</m:t>
                    </m:r>
                    <m:r>
                      <a:rPr lang="zh-CN" altLang="en-US" i="1">
                        <a:latin typeface="Cambria Math" panose="02040503050406030204" pitchFamily="18" charset="0"/>
                      </a:rPr>
                      <m:t>𝜒</m:t>
                    </m:r>
                  </m:oMath>
                </a14:m>
                <a:r>
                  <a:rPr lang="zh-CN" altLang="en-US" dirty="0" smtClean="0"/>
                  <a:t>是希腊字母</a:t>
                </a:r>
                <a:r>
                  <a:rPr lang="en-US" altLang="zh-CN" dirty="0" smtClean="0"/>
                  <a:t>chi).</a:t>
                </a:r>
              </a:p>
              <a:p>
                <a:r>
                  <a:rPr lang="zh-CN" altLang="en-US" dirty="0" smtClean="0"/>
                  <a:t>求平面图的着色数等于求平面地图着色所需要的最少颜色数</a:t>
                </a:r>
                <a:r>
                  <a:rPr lang="en-US" altLang="zh-CN" dirty="0" smtClean="0"/>
                  <a:t>, </a:t>
                </a:r>
                <a:r>
                  <a:rPr lang="zh-CN" altLang="en-US" dirty="0" smtClean="0"/>
                  <a:t>使得没有两个相邻的区域为相同的颜色</a:t>
                </a:r>
                <a:r>
                  <a:rPr lang="en-US" altLang="zh-CN" dirty="0" smtClean="0"/>
                  <a:t>. </a:t>
                </a:r>
                <a:r>
                  <a:rPr lang="zh-CN" altLang="en-US" dirty="0" smtClean="0"/>
                  <a:t>以下定理给出了答案</a:t>
                </a:r>
                <a:r>
                  <a:rPr lang="en-US" altLang="zh-CN" dirty="0" smtClean="0"/>
                  <a:t>.</a:t>
                </a: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999" t="-1310" b="-833"/>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5C603741-E42B-48A5-904D-3ECB3EB896B3}"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212</a:t>
            </a:fld>
            <a:endParaRPr lang="zh-CN" altLang="en-US" dirty="0"/>
          </a:p>
        </p:txBody>
      </p:sp>
    </p:spTree>
    <p:extLst>
      <p:ext uri="{BB962C8B-B14F-4D97-AF65-F5344CB8AC3E}">
        <p14:creationId xmlns:p14="http://schemas.microsoft.com/office/powerpoint/2010/main" val="1113159200"/>
      </p:ext>
    </p:extLst>
  </p:cSld>
  <p:clrMapOvr>
    <a:masterClrMapping/>
  </p:clrMapOvr>
  <p:timing>
    <p:tnLst>
      <p:par>
        <p:cTn id="1" dur="indefinite" restart="never" nodeType="tmRoot"/>
      </p:par>
    </p:tn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457201" y="1069133"/>
            <a:ext cx="11277599" cy="531068"/>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图着色</a:t>
            </a:r>
            <a:endParaRPr lang="en-US" altLang="zh-CN" dirty="0"/>
          </a:p>
        </p:txBody>
      </p:sp>
      <p:sp>
        <p:nvSpPr>
          <p:cNvPr id="3" name="内容占位符 2"/>
          <p:cNvSpPr>
            <a:spLocks noGrp="1"/>
          </p:cNvSpPr>
          <p:nvPr>
            <p:ph idx="1"/>
          </p:nvPr>
        </p:nvSpPr>
        <p:spPr/>
        <p:txBody>
          <a:bodyPr/>
          <a:lstStyle/>
          <a:p>
            <a:r>
              <a:rPr lang="zh-CN" altLang="en-US" dirty="0" smtClean="0"/>
              <a:t>定理</a:t>
            </a:r>
            <a:r>
              <a:rPr lang="en-US" altLang="zh-CN" dirty="0" smtClean="0"/>
              <a:t>(</a:t>
            </a:r>
            <a:r>
              <a:rPr lang="zh-CN" altLang="en-US" dirty="0" smtClean="0"/>
              <a:t>四色定理</a:t>
            </a:r>
            <a:r>
              <a:rPr lang="en-US" altLang="zh-CN" dirty="0" smtClean="0"/>
              <a:t>): </a:t>
            </a:r>
            <a:r>
              <a:rPr lang="zh-CN" altLang="en-US" dirty="0" smtClean="0"/>
              <a:t>平面图的着色数不超过</a:t>
            </a:r>
            <a:r>
              <a:rPr lang="en-US" altLang="zh-CN" dirty="0" smtClean="0"/>
              <a:t>4.</a:t>
            </a:r>
          </a:p>
          <a:p>
            <a:r>
              <a:rPr lang="zh-CN" altLang="en-US" dirty="0" smtClean="0"/>
              <a:t>证明很容易出错</a:t>
            </a:r>
            <a:r>
              <a:rPr lang="en-US" altLang="zh-CN" dirty="0" smtClean="0"/>
              <a:t>. </a:t>
            </a:r>
            <a:r>
              <a:rPr lang="zh-CN" altLang="en-US" dirty="0" smtClean="0"/>
              <a:t>目前没有找到不依赖于计算机的证明</a:t>
            </a:r>
            <a:r>
              <a:rPr lang="en-US" altLang="zh-CN" dirty="0" smtClean="0"/>
              <a:t>.</a:t>
            </a:r>
          </a:p>
        </p:txBody>
      </p:sp>
      <p:sp>
        <p:nvSpPr>
          <p:cNvPr id="4" name="日期占位符 3"/>
          <p:cNvSpPr>
            <a:spLocks noGrp="1"/>
          </p:cNvSpPr>
          <p:nvPr>
            <p:ph type="dt" sz="half" idx="10"/>
          </p:nvPr>
        </p:nvSpPr>
        <p:spPr/>
        <p:txBody>
          <a:bodyPr/>
          <a:lstStyle/>
          <a:p>
            <a:fld id="{2D7199F4-D7D3-4A66-82F9-0A2DC244D97D}"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213</a:t>
            </a:fld>
            <a:endParaRPr lang="zh-CN" altLang="en-US" dirty="0"/>
          </a:p>
        </p:txBody>
      </p:sp>
      <p:pic>
        <p:nvPicPr>
          <p:cNvPr id="10" name="图片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29401" y="2126551"/>
            <a:ext cx="5029200" cy="4128845"/>
          </a:xfrm>
          <a:prstGeom prst="rect">
            <a:avLst/>
          </a:prstGeom>
        </p:spPr>
      </p:pic>
      <p:sp>
        <p:nvSpPr>
          <p:cNvPr id="11" name="内容占位符 2"/>
          <p:cNvSpPr txBox="1">
            <a:spLocks/>
          </p:cNvSpPr>
          <p:nvPr/>
        </p:nvSpPr>
        <p:spPr>
          <a:xfrm>
            <a:off x="595086" y="3276600"/>
            <a:ext cx="5526314" cy="2743200"/>
          </a:xfrm>
          <a:prstGeom prst="rect">
            <a:avLst/>
          </a:prstGeom>
        </p:spPr>
        <p:txBody>
          <a:bodyPr vert="horz" lIns="91440" tIns="45720" rIns="91440" bIns="45720" rtlCol="0">
            <a:normAutofit lnSpcReduction="10000"/>
          </a:bodyPr>
          <a:lstStyle>
            <a:lvl1pPr marL="274320" indent="-274320" algn="l" defTabSz="914400" rtl="0" eaLnBrk="1" latinLnBrk="0" hangingPunct="1">
              <a:lnSpc>
                <a:spcPct val="100000"/>
              </a:lnSpc>
              <a:spcBef>
                <a:spcPts val="1000"/>
              </a:spcBef>
              <a:buClr>
                <a:srgbClr val="CEA524"/>
              </a:buClr>
              <a:buSzPct val="100000"/>
              <a:buFont typeface="Wingdings" panose="05000000000000000000" pitchFamily="2" charset="2"/>
              <a:buChar char="q"/>
              <a:defRPr sz="2800" kern="1200">
                <a:solidFill>
                  <a:schemeClr val="tx1"/>
                </a:solidFill>
                <a:latin typeface="微软雅黑" panose="020B0503020204020204" pitchFamily="34" charset="-122"/>
                <a:ea typeface="微软雅黑" panose="020B0503020204020204" pitchFamily="34" charset="-122"/>
                <a:cs typeface="+mn-cs"/>
              </a:defRPr>
            </a:lvl1pPr>
            <a:lvl2pPr marL="640080" indent="-246888" algn="l" defTabSz="914400" rtl="0" eaLnBrk="1" latinLnBrk="0" hangingPunct="1">
              <a:lnSpc>
                <a:spcPct val="90000"/>
              </a:lnSpc>
              <a:spcBef>
                <a:spcPts val="500"/>
              </a:spcBef>
              <a:buClr>
                <a:srgbClr val="01559D"/>
              </a:buClr>
              <a:buSzPct val="97000"/>
              <a:buFont typeface="Wingdings" panose="05000000000000000000" pitchFamily="2" charset="2"/>
              <a:buChar char="Ø"/>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zh-CN" altLang="en-US" dirty="0" smtClean="0"/>
              <a:t>四色定理只适用于平面图</a:t>
            </a:r>
            <a:r>
              <a:rPr lang="en-US" altLang="zh-CN" dirty="0" smtClean="0"/>
              <a:t>. </a:t>
            </a:r>
            <a:r>
              <a:rPr lang="zh-CN" altLang="en-US" dirty="0" smtClean="0"/>
              <a:t>而非平面图可以有任意大的着色数</a:t>
            </a:r>
            <a:r>
              <a:rPr lang="en-US" altLang="zh-CN" dirty="0" smtClean="0"/>
              <a:t>.</a:t>
            </a:r>
          </a:p>
          <a:p>
            <a:pPr algn="just"/>
            <a:r>
              <a:rPr lang="zh-CN" altLang="en-US" dirty="0" smtClean="0"/>
              <a:t>要证明一个图的着色数是</a:t>
            </a:r>
            <a:r>
              <a:rPr lang="en-US" altLang="zh-CN" dirty="0" smtClean="0"/>
              <a:t>n. </a:t>
            </a:r>
            <a:r>
              <a:rPr lang="zh-CN" altLang="en-US" dirty="0" smtClean="0"/>
              <a:t>首先必须证明用</a:t>
            </a:r>
            <a:r>
              <a:rPr lang="en-US" altLang="zh-CN" dirty="0" smtClean="0"/>
              <a:t>n</a:t>
            </a:r>
            <a:r>
              <a:rPr lang="zh-CN" altLang="en-US" dirty="0" smtClean="0"/>
              <a:t>种颜色可以着色这个图</a:t>
            </a:r>
            <a:r>
              <a:rPr lang="en-US" altLang="zh-CN" dirty="0" smtClean="0"/>
              <a:t>. </a:t>
            </a:r>
            <a:r>
              <a:rPr lang="zh-CN" altLang="en-US" dirty="0" smtClean="0"/>
              <a:t>其次证明用少于</a:t>
            </a:r>
            <a:r>
              <a:rPr lang="en-US" altLang="zh-CN" dirty="0" smtClean="0"/>
              <a:t>n</a:t>
            </a:r>
            <a:r>
              <a:rPr lang="zh-CN" altLang="en-US" dirty="0" smtClean="0"/>
              <a:t>种颜色不能着色这个图</a:t>
            </a:r>
            <a:r>
              <a:rPr lang="en-US" altLang="zh-CN" dirty="0" smtClean="0"/>
              <a:t>.</a:t>
            </a:r>
            <a:endParaRPr lang="zh-CN" altLang="en-US" dirty="0"/>
          </a:p>
        </p:txBody>
      </p:sp>
    </p:spTree>
    <p:extLst>
      <p:ext uri="{BB962C8B-B14F-4D97-AF65-F5344CB8AC3E}">
        <p14:creationId xmlns:p14="http://schemas.microsoft.com/office/powerpoint/2010/main" val="417919885"/>
      </p:ext>
    </p:extLst>
  </p:cSld>
  <p:clrMapOvr>
    <a:masterClrMapping/>
  </p:clrMapOvr>
  <p:timing>
    <p:tnLst>
      <p:par>
        <p:cTn id="1" dur="indefinite" restart="never" nodeType="tmRoot"/>
      </p:par>
    </p:tn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图着色</a:t>
            </a:r>
            <a:r>
              <a:rPr lang="en-US" altLang="zh-CN" dirty="0"/>
              <a:t/>
            </a:r>
            <a:br>
              <a:rPr lang="en-US" altLang="zh-CN" dirty="0"/>
            </a:br>
            <a:endParaRPr lang="zh-CN" altLang="en-US" dirty="0"/>
          </a:p>
        </p:txBody>
      </p:sp>
      <p:sp>
        <p:nvSpPr>
          <p:cNvPr id="3" name="内容占位符 2"/>
          <p:cNvSpPr>
            <a:spLocks noGrp="1"/>
          </p:cNvSpPr>
          <p:nvPr>
            <p:ph idx="1"/>
          </p:nvPr>
        </p:nvSpPr>
        <p:spPr/>
        <p:txBody>
          <a:bodyPr/>
          <a:lstStyle/>
          <a:p>
            <a:r>
              <a:rPr lang="zh-CN" altLang="en-US" dirty="0" smtClean="0"/>
              <a:t>例</a:t>
            </a:r>
            <a:r>
              <a:rPr lang="en-US" altLang="zh-CN" dirty="0" smtClean="0"/>
              <a:t>: </a:t>
            </a:r>
            <a:r>
              <a:rPr lang="zh-CN" altLang="en-US" dirty="0" smtClean="0"/>
              <a:t>下图的图</a:t>
            </a:r>
            <a:r>
              <a:rPr lang="en-US" altLang="zh-CN" dirty="0" smtClean="0"/>
              <a:t>G</a:t>
            </a:r>
            <a:r>
              <a:rPr lang="zh-CN" altLang="en-US" dirty="0" smtClean="0"/>
              <a:t>和</a:t>
            </a:r>
            <a:r>
              <a:rPr lang="en-US" altLang="zh-CN" dirty="0" smtClean="0"/>
              <a:t>H</a:t>
            </a:r>
            <a:r>
              <a:rPr lang="zh-CN" altLang="en-US" dirty="0" smtClean="0"/>
              <a:t>的着色数是多少</a:t>
            </a:r>
            <a:r>
              <a:rPr lang="en-US" altLang="zh-CN" dirty="0" smtClean="0"/>
              <a:t>?</a:t>
            </a:r>
          </a:p>
          <a:p>
            <a:endParaRPr lang="en-US" altLang="zh-CN" dirty="0"/>
          </a:p>
          <a:p>
            <a:endParaRPr lang="en-US" altLang="zh-CN" dirty="0"/>
          </a:p>
          <a:p>
            <a:r>
              <a:rPr lang="zh-CN" altLang="en-US" dirty="0" smtClean="0"/>
              <a:t>解</a:t>
            </a:r>
            <a:r>
              <a:rPr lang="en-US" altLang="zh-CN" dirty="0" smtClean="0"/>
              <a:t>: </a:t>
            </a:r>
          </a:p>
          <a:p>
            <a:pPr lvl="1">
              <a:lnSpc>
                <a:spcPct val="110000"/>
              </a:lnSpc>
            </a:pPr>
            <a:r>
              <a:rPr lang="zh-CN" altLang="en-US" sz="2600" dirty="0">
                <a:solidFill>
                  <a:prstClr val="black"/>
                </a:solidFill>
              </a:rPr>
              <a:t>图</a:t>
            </a:r>
            <a:r>
              <a:rPr lang="en-US" altLang="zh-CN" sz="2600" dirty="0">
                <a:solidFill>
                  <a:prstClr val="black"/>
                </a:solidFill>
              </a:rPr>
              <a:t>G</a:t>
            </a:r>
            <a:r>
              <a:rPr lang="zh-CN" altLang="en-US" sz="2600" dirty="0">
                <a:solidFill>
                  <a:prstClr val="black"/>
                </a:solidFill>
              </a:rPr>
              <a:t>的着色数为</a:t>
            </a:r>
            <a:r>
              <a:rPr lang="en-US" altLang="zh-CN" sz="2600" dirty="0">
                <a:solidFill>
                  <a:prstClr val="black"/>
                </a:solidFill>
              </a:rPr>
              <a:t>3</a:t>
            </a:r>
            <a:r>
              <a:rPr lang="en-US" altLang="zh-CN" sz="2600" dirty="0" smtClean="0">
                <a:solidFill>
                  <a:prstClr val="black"/>
                </a:solidFill>
              </a:rPr>
              <a:t>. </a:t>
            </a:r>
            <a:r>
              <a:rPr lang="zh-CN" altLang="en-US" sz="2600" dirty="0" smtClean="0">
                <a:solidFill>
                  <a:prstClr val="black"/>
                </a:solidFill>
              </a:rPr>
              <a:t>因为</a:t>
            </a:r>
            <a:r>
              <a:rPr lang="en-US" altLang="zh-CN" sz="2600" dirty="0" smtClean="0">
                <a:solidFill>
                  <a:prstClr val="black"/>
                </a:solidFill>
              </a:rPr>
              <a:t>a, b, c</a:t>
            </a:r>
            <a:r>
              <a:rPr lang="zh-CN" altLang="en-US" sz="2600" dirty="0">
                <a:solidFill>
                  <a:prstClr val="black"/>
                </a:solidFill>
              </a:rPr>
              <a:t>必须为不同的颜色</a:t>
            </a:r>
            <a:r>
              <a:rPr lang="en-US" altLang="zh-CN" sz="2600" dirty="0">
                <a:solidFill>
                  <a:prstClr val="black"/>
                </a:solidFill>
              </a:rPr>
              <a:t>. </a:t>
            </a:r>
            <a:r>
              <a:rPr lang="zh-CN" altLang="en-US" sz="2600" dirty="0">
                <a:solidFill>
                  <a:prstClr val="black"/>
                </a:solidFill>
              </a:rPr>
              <a:t>为了检查</a:t>
            </a:r>
            <a:r>
              <a:rPr lang="en-US" altLang="zh-CN" sz="2600" dirty="0">
                <a:solidFill>
                  <a:prstClr val="black"/>
                </a:solidFill>
              </a:rPr>
              <a:t>3</a:t>
            </a:r>
            <a:r>
              <a:rPr lang="zh-CN" altLang="en-US" sz="2600" dirty="0">
                <a:solidFill>
                  <a:prstClr val="black"/>
                </a:solidFill>
              </a:rPr>
              <a:t>种颜色是否用来着色</a:t>
            </a:r>
            <a:r>
              <a:rPr lang="en-US" altLang="zh-CN" sz="2600" dirty="0" smtClean="0">
                <a:solidFill>
                  <a:prstClr val="black"/>
                </a:solidFill>
              </a:rPr>
              <a:t>G, </a:t>
            </a:r>
            <a:r>
              <a:rPr lang="zh-CN" altLang="en-US" sz="2600" dirty="0" smtClean="0">
                <a:solidFill>
                  <a:prstClr val="black"/>
                </a:solidFill>
              </a:rPr>
              <a:t>假定</a:t>
            </a:r>
            <a:r>
              <a:rPr lang="en-US" altLang="zh-CN" sz="2600" dirty="0">
                <a:solidFill>
                  <a:prstClr val="black"/>
                </a:solidFill>
              </a:rPr>
              <a:t>a</a:t>
            </a:r>
            <a:r>
              <a:rPr lang="zh-CN" altLang="en-US" sz="2600" dirty="0">
                <a:solidFill>
                  <a:prstClr val="black"/>
                </a:solidFill>
              </a:rPr>
              <a:t>为</a:t>
            </a:r>
            <a:r>
              <a:rPr lang="zh-CN" altLang="en-US" sz="2600" dirty="0" smtClean="0">
                <a:solidFill>
                  <a:prstClr val="black"/>
                </a:solidFill>
              </a:rPr>
              <a:t>红</a:t>
            </a:r>
            <a:r>
              <a:rPr lang="en-US" altLang="zh-CN" sz="2600" dirty="0" smtClean="0">
                <a:solidFill>
                  <a:prstClr val="black"/>
                </a:solidFill>
              </a:rPr>
              <a:t>, b</a:t>
            </a:r>
            <a:r>
              <a:rPr lang="zh-CN" altLang="en-US" sz="2600" dirty="0">
                <a:solidFill>
                  <a:prstClr val="black"/>
                </a:solidFill>
              </a:rPr>
              <a:t>为</a:t>
            </a:r>
            <a:r>
              <a:rPr lang="zh-CN" altLang="en-US" sz="2600" dirty="0" smtClean="0">
                <a:solidFill>
                  <a:prstClr val="black"/>
                </a:solidFill>
              </a:rPr>
              <a:t>蓝</a:t>
            </a:r>
            <a:r>
              <a:rPr lang="en-US" altLang="zh-CN" sz="2600" dirty="0" smtClean="0">
                <a:solidFill>
                  <a:prstClr val="black"/>
                </a:solidFill>
              </a:rPr>
              <a:t>, c</a:t>
            </a:r>
            <a:r>
              <a:rPr lang="zh-CN" altLang="en-US" sz="2600" dirty="0">
                <a:solidFill>
                  <a:prstClr val="black"/>
                </a:solidFill>
              </a:rPr>
              <a:t>为绿</a:t>
            </a:r>
            <a:r>
              <a:rPr lang="en-US" altLang="zh-CN" sz="2600" dirty="0">
                <a:solidFill>
                  <a:prstClr val="black"/>
                </a:solidFill>
              </a:rPr>
              <a:t>. </a:t>
            </a:r>
            <a:r>
              <a:rPr lang="zh-CN" altLang="en-US" sz="2600" dirty="0">
                <a:solidFill>
                  <a:prstClr val="black"/>
                </a:solidFill>
              </a:rPr>
              <a:t>那么</a:t>
            </a:r>
            <a:r>
              <a:rPr lang="en-US" altLang="zh-CN" sz="2600" dirty="0">
                <a:solidFill>
                  <a:prstClr val="black"/>
                </a:solidFill>
              </a:rPr>
              <a:t>d</a:t>
            </a:r>
            <a:r>
              <a:rPr lang="zh-CN" altLang="en-US" sz="2600" dirty="0">
                <a:solidFill>
                  <a:prstClr val="black"/>
                </a:solidFill>
              </a:rPr>
              <a:t>因为连接了</a:t>
            </a:r>
            <a:r>
              <a:rPr lang="en-US" altLang="zh-CN" sz="2600" dirty="0">
                <a:solidFill>
                  <a:prstClr val="black"/>
                </a:solidFill>
              </a:rPr>
              <a:t>b</a:t>
            </a:r>
            <a:r>
              <a:rPr lang="zh-CN" altLang="en-US" sz="2600" dirty="0">
                <a:solidFill>
                  <a:prstClr val="black"/>
                </a:solidFill>
              </a:rPr>
              <a:t>和</a:t>
            </a:r>
            <a:r>
              <a:rPr lang="en-US" altLang="zh-CN" sz="2600" dirty="0" smtClean="0">
                <a:solidFill>
                  <a:prstClr val="black"/>
                </a:solidFill>
              </a:rPr>
              <a:t>c, </a:t>
            </a:r>
            <a:r>
              <a:rPr lang="zh-CN" altLang="en-US" sz="2600" dirty="0" smtClean="0">
                <a:solidFill>
                  <a:prstClr val="black"/>
                </a:solidFill>
              </a:rPr>
              <a:t>所以</a:t>
            </a:r>
            <a:r>
              <a:rPr lang="zh-CN" altLang="en-US" sz="2600" dirty="0">
                <a:solidFill>
                  <a:prstClr val="black"/>
                </a:solidFill>
              </a:rPr>
              <a:t>只能为红</a:t>
            </a:r>
            <a:r>
              <a:rPr lang="en-US" altLang="zh-CN" sz="2600" dirty="0">
                <a:solidFill>
                  <a:prstClr val="black"/>
                </a:solidFill>
              </a:rPr>
              <a:t>. e</a:t>
            </a:r>
            <a:r>
              <a:rPr lang="zh-CN" altLang="en-US" sz="2600" dirty="0">
                <a:solidFill>
                  <a:prstClr val="black"/>
                </a:solidFill>
              </a:rPr>
              <a:t>因为连接了</a:t>
            </a:r>
            <a:r>
              <a:rPr lang="en-US" altLang="zh-CN" sz="2600" dirty="0">
                <a:solidFill>
                  <a:prstClr val="black"/>
                </a:solidFill>
              </a:rPr>
              <a:t>b</a:t>
            </a:r>
            <a:r>
              <a:rPr lang="zh-CN" altLang="en-US" sz="2600" dirty="0">
                <a:solidFill>
                  <a:prstClr val="black"/>
                </a:solidFill>
              </a:rPr>
              <a:t>和</a:t>
            </a:r>
            <a:r>
              <a:rPr lang="en-US" altLang="zh-CN" sz="2600" dirty="0" smtClean="0">
                <a:solidFill>
                  <a:prstClr val="black"/>
                </a:solidFill>
              </a:rPr>
              <a:t>d, </a:t>
            </a:r>
            <a:r>
              <a:rPr lang="zh-CN" altLang="en-US" sz="2600" dirty="0" smtClean="0">
                <a:solidFill>
                  <a:prstClr val="black"/>
                </a:solidFill>
              </a:rPr>
              <a:t>所以</a:t>
            </a:r>
            <a:r>
              <a:rPr lang="zh-CN" altLang="en-US" sz="2600" dirty="0">
                <a:solidFill>
                  <a:prstClr val="black"/>
                </a:solidFill>
              </a:rPr>
              <a:t>只能为绿</a:t>
            </a:r>
            <a:r>
              <a:rPr lang="en-US" altLang="zh-CN" sz="2600" dirty="0">
                <a:solidFill>
                  <a:prstClr val="black"/>
                </a:solidFill>
              </a:rPr>
              <a:t>. F</a:t>
            </a:r>
            <a:r>
              <a:rPr lang="zh-CN" altLang="en-US" sz="2600" dirty="0">
                <a:solidFill>
                  <a:prstClr val="black"/>
                </a:solidFill>
              </a:rPr>
              <a:t>因为连接了</a:t>
            </a:r>
            <a:r>
              <a:rPr lang="en-US" altLang="zh-CN" sz="2600" dirty="0">
                <a:solidFill>
                  <a:prstClr val="black"/>
                </a:solidFill>
              </a:rPr>
              <a:t>d</a:t>
            </a:r>
            <a:r>
              <a:rPr lang="zh-CN" altLang="en-US" sz="2600" dirty="0">
                <a:solidFill>
                  <a:prstClr val="black"/>
                </a:solidFill>
              </a:rPr>
              <a:t>红和</a:t>
            </a:r>
            <a:r>
              <a:rPr lang="en-US" altLang="zh-CN" sz="2600" dirty="0">
                <a:solidFill>
                  <a:prstClr val="black"/>
                </a:solidFill>
              </a:rPr>
              <a:t>c</a:t>
            </a:r>
            <a:r>
              <a:rPr lang="zh-CN" altLang="en-US" sz="2600" dirty="0" smtClean="0">
                <a:solidFill>
                  <a:prstClr val="black"/>
                </a:solidFill>
              </a:rPr>
              <a:t>绿</a:t>
            </a:r>
            <a:r>
              <a:rPr lang="en-US" altLang="zh-CN" sz="2600" dirty="0" smtClean="0">
                <a:solidFill>
                  <a:prstClr val="black"/>
                </a:solidFill>
              </a:rPr>
              <a:t>, </a:t>
            </a:r>
            <a:r>
              <a:rPr lang="zh-CN" altLang="en-US" sz="2600" dirty="0" smtClean="0">
                <a:solidFill>
                  <a:prstClr val="black"/>
                </a:solidFill>
              </a:rPr>
              <a:t>只能</a:t>
            </a:r>
            <a:r>
              <a:rPr lang="zh-CN" altLang="en-US" sz="2600" dirty="0">
                <a:solidFill>
                  <a:prstClr val="black"/>
                </a:solidFill>
              </a:rPr>
              <a:t>蓝</a:t>
            </a:r>
            <a:r>
              <a:rPr lang="en-US" altLang="zh-CN" sz="2600" dirty="0">
                <a:solidFill>
                  <a:prstClr val="black"/>
                </a:solidFill>
              </a:rPr>
              <a:t>. g</a:t>
            </a:r>
            <a:r>
              <a:rPr lang="zh-CN" altLang="en-US" sz="2600" dirty="0">
                <a:solidFill>
                  <a:prstClr val="black"/>
                </a:solidFill>
              </a:rPr>
              <a:t>因为连接了</a:t>
            </a:r>
            <a:r>
              <a:rPr lang="en-US" altLang="zh-CN" sz="2600" dirty="0">
                <a:solidFill>
                  <a:prstClr val="black"/>
                </a:solidFill>
              </a:rPr>
              <a:t>e</a:t>
            </a:r>
            <a:r>
              <a:rPr lang="zh-CN" altLang="en-US" sz="2600" dirty="0">
                <a:solidFill>
                  <a:prstClr val="black"/>
                </a:solidFill>
              </a:rPr>
              <a:t>绿和</a:t>
            </a:r>
            <a:r>
              <a:rPr lang="en-US" altLang="zh-CN" sz="2600" dirty="0">
                <a:solidFill>
                  <a:prstClr val="black"/>
                </a:solidFill>
              </a:rPr>
              <a:t>f</a:t>
            </a:r>
            <a:r>
              <a:rPr lang="zh-CN" altLang="en-US" sz="2600" dirty="0" smtClean="0">
                <a:solidFill>
                  <a:prstClr val="black"/>
                </a:solidFill>
              </a:rPr>
              <a:t>蓝</a:t>
            </a:r>
            <a:r>
              <a:rPr lang="en-US" altLang="zh-CN" sz="2600" dirty="0" smtClean="0">
                <a:solidFill>
                  <a:prstClr val="black"/>
                </a:solidFill>
              </a:rPr>
              <a:t>, </a:t>
            </a:r>
            <a:r>
              <a:rPr lang="zh-CN" altLang="en-US" sz="2600" dirty="0" smtClean="0">
                <a:solidFill>
                  <a:prstClr val="black"/>
                </a:solidFill>
              </a:rPr>
              <a:t>只能</a:t>
            </a:r>
            <a:r>
              <a:rPr lang="zh-CN" altLang="en-US" sz="2600" dirty="0">
                <a:solidFill>
                  <a:prstClr val="black"/>
                </a:solidFill>
              </a:rPr>
              <a:t>红</a:t>
            </a:r>
            <a:r>
              <a:rPr lang="en-US" altLang="zh-CN" sz="2600" dirty="0">
                <a:solidFill>
                  <a:prstClr val="black"/>
                </a:solidFill>
              </a:rPr>
              <a:t>.</a:t>
            </a:r>
            <a:endParaRPr lang="zh-CN" altLang="en-US" sz="2600" dirty="0">
              <a:solidFill>
                <a:prstClr val="black"/>
              </a:solidFill>
            </a:endParaRPr>
          </a:p>
        </p:txBody>
      </p:sp>
      <p:sp>
        <p:nvSpPr>
          <p:cNvPr id="4" name="日期占位符 3"/>
          <p:cNvSpPr>
            <a:spLocks noGrp="1"/>
          </p:cNvSpPr>
          <p:nvPr>
            <p:ph type="dt" sz="half" idx="10"/>
          </p:nvPr>
        </p:nvSpPr>
        <p:spPr/>
        <p:txBody>
          <a:bodyPr/>
          <a:lstStyle/>
          <a:p>
            <a:fld id="{EEED2A00-DFBB-47A7-97C4-68326E86E0D5}"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214</a:t>
            </a:fld>
            <a:endParaRPr lang="zh-CN" altLang="en-US" dirty="0"/>
          </a:p>
        </p:txBody>
      </p:sp>
      <p:pic>
        <p:nvPicPr>
          <p:cNvPr id="7" name="图片 6"/>
          <p:cNvPicPr>
            <a:picLocks noChangeAspect="1"/>
          </p:cNvPicPr>
          <p:nvPr/>
        </p:nvPicPr>
        <p:blipFill>
          <a:blip r:embed="rId2"/>
          <a:stretch>
            <a:fillRect/>
          </a:stretch>
        </p:blipFill>
        <p:spPr>
          <a:xfrm>
            <a:off x="2858746" y="1472310"/>
            <a:ext cx="2167275" cy="1956690"/>
          </a:xfrm>
          <a:prstGeom prst="rect">
            <a:avLst/>
          </a:prstGeom>
        </p:spPr>
      </p:pic>
      <p:pic>
        <p:nvPicPr>
          <p:cNvPr id="8" name="图片 7"/>
          <p:cNvPicPr>
            <a:picLocks noChangeAspect="1"/>
          </p:cNvPicPr>
          <p:nvPr/>
        </p:nvPicPr>
        <p:blipFill>
          <a:blip r:embed="rId3"/>
          <a:stretch>
            <a:fillRect/>
          </a:stretch>
        </p:blipFill>
        <p:spPr>
          <a:xfrm>
            <a:off x="7543800" y="1465121"/>
            <a:ext cx="1908176" cy="2048870"/>
          </a:xfrm>
          <a:prstGeom prst="rect">
            <a:avLst/>
          </a:prstGeom>
        </p:spPr>
      </p:pic>
      <p:pic>
        <p:nvPicPr>
          <p:cNvPr id="9" name="图片 8"/>
          <p:cNvPicPr>
            <a:picLocks noChangeAspect="1"/>
          </p:cNvPicPr>
          <p:nvPr/>
        </p:nvPicPr>
        <p:blipFill>
          <a:blip r:embed="rId4"/>
          <a:stretch>
            <a:fillRect/>
          </a:stretch>
        </p:blipFill>
        <p:spPr>
          <a:xfrm>
            <a:off x="6944146" y="4398104"/>
            <a:ext cx="2520530" cy="2188153"/>
          </a:xfrm>
          <a:prstGeom prst="rect">
            <a:avLst/>
          </a:prstGeom>
        </p:spPr>
      </p:pic>
    </p:spTree>
    <p:extLst>
      <p:ext uri="{BB962C8B-B14F-4D97-AF65-F5344CB8AC3E}">
        <p14:creationId xmlns:p14="http://schemas.microsoft.com/office/powerpoint/2010/main" val="1527002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wipe(down)">
                                      <p:cBhvr>
                                        <p:cTn id="7" dur="500"/>
                                        <p:tgtEl>
                                          <p:spTgt spid="3">
                                            <p:txEl>
                                              <p:pRg st="3" end="3"/>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wipe(down)">
                                      <p:cBhvr>
                                        <p:cTn id="10" dur="500"/>
                                        <p:tgtEl>
                                          <p:spTgt spid="3">
                                            <p:txEl>
                                              <p:pRg st="4" end="4"/>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down)">
                                      <p:cBhvr>
                                        <p:cTn id="1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图着色</a:t>
            </a:r>
            <a:r>
              <a:rPr lang="en-US" altLang="zh-CN" dirty="0"/>
              <a:t/>
            </a:r>
            <a:br>
              <a:rPr lang="en-US" altLang="zh-CN" dirty="0"/>
            </a:br>
            <a:endParaRPr lang="zh-CN" altLang="en-US" dirty="0"/>
          </a:p>
        </p:txBody>
      </p:sp>
      <p:sp>
        <p:nvSpPr>
          <p:cNvPr id="3" name="内容占位符 2"/>
          <p:cNvSpPr>
            <a:spLocks noGrp="1"/>
          </p:cNvSpPr>
          <p:nvPr>
            <p:ph idx="1"/>
          </p:nvPr>
        </p:nvSpPr>
        <p:spPr/>
        <p:txBody>
          <a:bodyPr/>
          <a:lstStyle/>
          <a:p>
            <a:pPr lvl="0"/>
            <a:r>
              <a:rPr lang="zh-CN" altLang="en-US" dirty="0" smtClean="0">
                <a:solidFill>
                  <a:prstClr val="black"/>
                </a:solidFill>
              </a:rPr>
              <a:t>解</a:t>
            </a:r>
            <a:r>
              <a:rPr lang="en-US" altLang="zh-CN" dirty="0" smtClean="0">
                <a:solidFill>
                  <a:prstClr val="black"/>
                </a:solidFill>
              </a:rPr>
              <a:t>(</a:t>
            </a:r>
            <a:r>
              <a:rPr lang="zh-CN" altLang="en-US" dirty="0" smtClean="0">
                <a:solidFill>
                  <a:prstClr val="black"/>
                </a:solidFill>
              </a:rPr>
              <a:t>续</a:t>
            </a:r>
            <a:r>
              <a:rPr lang="en-US" altLang="zh-CN" dirty="0" smtClean="0">
                <a:solidFill>
                  <a:prstClr val="black"/>
                </a:solidFill>
              </a:rPr>
              <a:t>): </a:t>
            </a:r>
            <a:endParaRPr lang="en-US" altLang="zh-CN" sz="2600" dirty="0" smtClean="0">
              <a:solidFill>
                <a:prstClr val="black"/>
              </a:solidFill>
            </a:endParaRPr>
          </a:p>
          <a:p>
            <a:pPr lvl="1">
              <a:lnSpc>
                <a:spcPct val="110000"/>
              </a:lnSpc>
            </a:pPr>
            <a:r>
              <a:rPr lang="zh-CN" altLang="en-US" sz="2600" dirty="0" smtClean="0">
                <a:solidFill>
                  <a:prstClr val="black"/>
                </a:solidFill>
              </a:rPr>
              <a:t>图</a:t>
            </a:r>
            <a:r>
              <a:rPr lang="en-US" altLang="zh-CN" sz="2600" dirty="0" smtClean="0">
                <a:solidFill>
                  <a:prstClr val="black"/>
                </a:solidFill>
              </a:rPr>
              <a:t>H</a:t>
            </a:r>
            <a:r>
              <a:rPr lang="zh-CN" altLang="en-US" sz="2600" dirty="0" smtClean="0">
                <a:solidFill>
                  <a:prstClr val="black"/>
                </a:solidFill>
              </a:rPr>
              <a:t>的</a:t>
            </a:r>
            <a:r>
              <a:rPr lang="zh-CN" altLang="en-US" sz="2600" dirty="0">
                <a:solidFill>
                  <a:prstClr val="black"/>
                </a:solidFill>
              </a:rPr>
              <a:t>着色数</a:t>
            </a:r>
            <a:r>
              <a:rPr lang="zh-CN" altLang="en-US" sz="2600" dirty="0" smtClean="0">
                <a:solidFill>
                  <a:prstClr val="black"/>
                </a:solidFill>
              </a:rPr>
              <a:t>为</a:t>
            </a:r>
            <a:r>
              <a:rPr lang="en-US" altLang="zh-CN" sz="2600" dirty="0" smtClean="0">
                <a:solidFill>
                  <a:prstClr val="black"/>
                </a:solidFill>
              </a:rPr>
              <a:t>4. </a:t>
            </a:r>
            <a:r>
              <a:rPr lang="zh-CN" altLang="en-US" sz="2600" dirty="0" smtClean="0">
                <a:solidFill>
                  <a:prstClr val="black"/>
                </a:solidFill>
              </a:rPr>
              <a:t>该图类似图</a:t>
            </a:r>
            <a:r>
              <a:rPr lang="en-US" altLang="zh-CN" sz="2600" dirty="0" smtClean="0">
                <a:solidFill>
                  <a:prstClr val="black"/>
                </a:solidFill>
              </a:rPr>
              <a:t>G, </a:t>
            </a:r>
            <a:r>
              <a:rPr lang="zh-CN" altLang="en-US" sz="2600" dirty="0" smtClean="0">
                <a:solidFill>
                  <a:prstClr val="black"/>
                </a:solidFill>
              </a:rPr>
              <a:t>但是</a:t>
            </a:r>
            <a:r>
              <a:rPr lang="en-US" altLang="zh-CN" sz="2600" dirty="0" smtClean="0">
                <a:solidFill>
                  <a:prstClr val="black"/>
                </a:solidFill>
              </a:rPr>
              <a:t>a</a:t>
            </a:r>
            <a:r>
              <a:rPr lang="zh-CN" altLang="en-US" sz="2600" dirty="0" smtClean="0">
                <a:solidFill>
                  <a:prstClr val="black"/>
                </a:solidFill>
              </a:rPr>
              <a:t>和</a:t>
            </a:r>
            <a:r>
              <a:rPr lang="en-US" altLang="zh-CN" sz="2600" dirty="0" smtClean="0">
                <a:solidFill>
                  <a:prstClr val="black"/>
                </a:solidFill>
              </a:rPr>
              <a:t>g</a:t>
            </a:r>
            <a:r>
              <a:rPr lang="zh-CN" altLang="en-US" sz="2600" dirty="0" smtClean="0">
                <a:solidFill>
                  <a:prstClr val="black"/>
                </a:solidFill>
              </a:rPr>
              <a:t>有一条边</a:t>
            </a:r>
            <a:r>
              <a:rPr lang="en-US" altLang="zh-CN" sz="2600" dirty="0" smtClean="0">
                <a:solidFill>
                  <a:prstClr val="black"/>
                </a:solidFill>
              </a:rPr>
              <a:t>. </a:t>
            </a:r>
            <a:r>
              <a:rPr lang="zh-CN" altLang="en-US" sz="2600" dirty="0" smtClean="0">
                <a:solidFill>
                  <a:prstClr val="black"/>
                </a:solidFill>
              </a:rPr>
              <a:t>所以类似图</a:t>
            </a:r>
            <a:r>
              <a:rPr lang="en-US" altLang="zh-CN" sz="2600" dirty="0" smtClean="0">
                <a:solidFill>
                  <a:prstClr val="black"/>
                </a:solidFill>
              </a:rPr>
              <a:t>G</a:t>
            </a:r>
            <a:r>
              <a:rPr lang="zh-CN" altLang="en-US" sz="2600" dirty="0" smtClean="0">
                <a:solidFill>
                  <a:prstClr val="black"/>
                </a:solidFill>
              </a:rPr>
              <a:t>的过程</a:t>
            </a:r>
            <a:r>
              <a:rPr lang="en-US" altLang="zh-CN" sz="2600" dirty="0" smtClean="0">
                <a:solidFill>
                  <a:prstClr val="black"/>
                </a:solidFill>
              </a:rPr>
              <a:t>, </a:t>
            </a:r>
            <a:r>
              <a:rPr lang="zh-CN" altLang="en-US" sz="2600" dirty="0" smtClean="0">
                <a:solidFill>
                  <a:prstClr val="black"/>
                </a:solidFill>
              </a:rPr>
              <a:t>只是在为</a:t>
            </a:r>
            <a:r>
              <a:rPr lang="en-US" altLang="zh-CN" sz="2600" dirty="0" smtClean="0">
                <a:solidFill>
                  <a:prstClr val="black"/>
                </a:solidFill>
              </a:rPr>
              <a:t>g</a:t>
            </a:r>
            <a:r>
              <a:rPr lang="zh-CN" altLang="en-US" sz="2600" dirty="0" smtClean="0">
                <a:solidFill>
                  <a:prstClr val="black"/>
                </a:solidFill>
              </a:rPr>
              <a:t>着色时</a:t>
            </a:r>
            <a:r>
              <a:rPr lang="en-US" altLang="zh-CN" sz="2600" dirty="0" smtClean="0">
                <a:solidFill>
                  <a:prstClr val="black"/>
                </a:solidFill>
              </a:rPr>
              <a:t>, </a:t>
            </a:r>
            <a:r>
              <a:rPr lang="zh-CN" altLang="en-US" sz="2600" dirty="0" smtClean="0">
                <a:solidFill>
                  <a:prstClr val="black"/>
                </a:solidFill>
              </a:rPr>
              <a:t>因为</a:t>
            </a:r>
            <a:r>
              <a:rPr lang="en-US" altLang="zh-CN" sz="2600" dirty="0" smtClean="0">
                <a:solidFill>
                  <a:prstClr val="black"/>
                </a:solidFill>
              </a:rPr>
              <a:t>g</a:t>
            </a:r>
            <a:r>
              <a:rPr lang="zh-CN" altLang="en-US" sz="2600" dirty="0" smtClean="0">
                <a:solidFill>
                  <a:prstClr val="black"/>
                </a:solidFill>
              </a:rPr>
              <a:t>连接着绿色</a:t>
            </a:r>
            <a:r>
              <a:rPr lang="en-US" altLang="zh-CN" sz="2600" dirty="0" smtClean="0">
                <a:solidFill>
                  <a:prstClr val="black"/>
                </a:solidFill>
              </a:rPr>
              <a:t>e, </a:t>
            </a:r>
            <a:r>
              <a:rPr lang="zh-CN" altLang="en-US" sz="2600" dirty="0" smtClean="0">
                <a:solidFill>
                  <a:prstClr val="black"/>
                </a:solidFill>
              </a:rPr>
              <a:t>红色</a:t>
            </a:r>
            <a:r>
              <a:rPr lang="en-US" altLang="zh-CN" sz="2600" dirty="0" smtClean="0">
                <a:solidFill>
                  <a:prstClr val="black"/>
                </a:solidFill>
              </a:rPr>
              <a:t>a, </a:t>
            </a:r>
            <a:r>
              <a:rPr lang="zh-CN" altLang="en-US" sz="2600" dirty="0" smtClean="0">
                <a:solidFill>
                  <a:prstClr val="black"/>
                </a:solidFill>
              </a:rPr>
              <a:t>蓝色</a:t>
            </a:r>
            <a:r>
              <a:rPr lang="en-US" altLang="zh-CN" sz="2600" dirty="0" smtClean="0">
                <a:solidFill>
                  <a:prstClr val="black"/>
                </a:solidFill>
              </a:rPr>
              <a:t>f, </a:t>
            </a:r>
            <a:r>
              <a:rPr lang="zh-CN" altLang="en-US" sz="2600" dirty="0" smtClean="0">
                <a:solidFill>
                  <a:prstClr val="black"/>
                </a:solidFill>
              </a:rPr>
              <a:t>所以</a:t>
            </a:r>
            <a:r>
              <a:rPr lang="en-US" altLang="zh-CN" sz="2600" dirty="0" smtClean="0">
                <a:solidFill>
                  <a:prstClr val="black"/>
                </a:solidFill>
              </a:rPr>
              <a:t>g</a:t>
            </a:r>
            <a:r>
              <a:rPr lang="zh-CN" altLang="en-US" sz="2600" dirty="0" smtClean="0">
                <a:solidFill>
                  <a:prstClr val="black"/>
                </a:solidFill>
              </a:rPr>
              <a:t>只能使用第四种颜色</a:t>
            </a:r>
            <a:r>
              <a:rPr lang="en-US" altLang="zh-CN" sz="2600" dirty="0" smtClean="0">
                <a:solidFill>
                  <a:prstClr val="black"/>
                </a:solidFill>
              </a:rPr>
              <a:t>, </a:t>
            </a:r>
            <a:r>
              <a:rPr lang="zh-CN" altLang="en-US" sz="2600" dirty="0" smtClean="0">
                <a:solidFill>
                  <a:prstClr val="black"/>
                </a:solidFill>
              </a:rPr>
              <a:t>比如棕色</a:t>
            </a:r>
            <a:r>
              <a:rPr lang="en-US" altLang="zh-CN" sz="2600" dirty="0" smtClean="0">
                <a:solidFill>
                  <a:prstClr val="black"/>
                </a:solidFill>
              </a:rPr>
              <a:t>. </a:t>
            </a:r>
          </a:p>
          <a:p>
            <a:pPr lvl="1">
              <a:lnSpc>
                <a:spcPct val="110000"/>
              </a:lnSpc>
            </a:pPr>
            <a:endParaRPr lang="en-US" altLang="zh-CN" sz="2600" dirty="0">
              <a:solidFill>
                <a:prstClr val="black"/>
              </a:solidFill>
            </a:endParaRPr>
          </a:p>
        </p:txBody>
      </p:sp>
      <p:sp>
        <p:nvSpPr>
          <p:cNvPr id="4" name="日期占位符 3"/>
          <p:cNvSpPr>
            <a:spLocks noGrp="1"/>
          </p:cNvSpPr>
          <p:nvPr>
            <p:ph type="dt" sz="half" idx="10"/>
          </p:nvPr>
        </p:nvSpPr>
        <p:spPr/>
        <p:txBody>
          <a:bodyPr/>
          <a:lstStyle/>
          <a:p>
            <a:fld id="{F1929D50-A66E-466C-9DEF-1EC5E2E001E5}"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215</a:t>
            </a:fld>
            <a:endParaRPr lang="zh-CN" altLang="en-US" dirty="0"/>
          </a:p>
        </p:txBody>
      </p:sp>
      <p:pic>
        <p:nvPicPr>
          <p:cNvPr id="10" name="图片 9"/>
          <p:cNvPicPr>
            <a:picLocks noChangeAspect="1"/>
          </p:cNvPicPr>
          <p:nvPr/>
        </p:nvPicPr>
        <p:blipFill>
          <a:blip r:embed="rId2"/>
          <a:stretch>
            <a:fillRect/>
          </a:stretch>
        </p:blipFill>
        <p:spPr>
          <a:xfrm>
            <a:off x="3429000" y="3276600"/>
            <a:ext cx="2819400" cy="2204430"/>
          </a:xfrm>
          <a:prstGeom prst="rect">
            <a:avLst/>
          </a:prstGeom>
        </p:spPr>
      </p:pic>
    </p:spTree>
    <p:extLst>
      <p:ext uri="{BB962C8B-B14F-4D97-AF65-F5344CB8AC3E}">
        <p14:creationId xmlns:p14="http://schemas.microsoft.com/office/powerpoint/2010/main" val="810083773"/>
      </p:ext>
    </p:extLst>
  </p:cSld>
  <p:clrMapOvr>
    <a:masterClrMapping/>
  </p:clrMapOvr>
  <p:timing>
    <p:tnLst>
      <p:par>
        <p:cTn id="1" dur="indefinite" restart="never" nodeType="tmRoot"/>
      </p:par>
    </p:tn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图</a:t>
            </a:r>
            <a:r>
              <a:rPr lang="zh-CN" altLang="en-US" dirty="0" smtClean="0"/>
              <a:t>着色</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dirty="0" smtClean="0"/>
                  <a:t>例</a:t>
                </a:r>
                <a:r>
                  <a:rPr lang="en-US" altLang="zh-CN" dirty="0" smtClean="0"/>
                  <a:t>: </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𝐾</m:t>
                        </m:r>
                      </m:e>
                      <m:sub>
                        <m:r>
                          <a:rPr lang="en-US" altLang="zh-CN" b="0" i="1" smtClean="0">
                            <a:latin typeface="Cambria Math" panose="02040503050406030204" pitchFamily="18" charset="0"/>
                          </a:rPr>
                          <m:t>𝑛</m:t>
                        </m:r>
                      </m:sub>
                    </m:sSub>
                  </m:oMath>
                </a14:m>
                <a:r>
                  <a:rPr lang="zh-CN" altLang="en-US" dirty="0" smtClean="0"/>
                  <a:t>的着色数是多少</a:t>
                </a:r>
                <a:r>
                  <a:rPr lang="en-US" altLang="zh-CN" dirty="0" smtClean="0"/>
                  <a:t>?</a:t>
                </a:r>
              </a:p>
              <a:p>
                <a:r>
                  <a:rPr lang="zh-CN" altLang="en-US" dirty="0" smtClean="0"/>
                  <a:t>解</a:t>
                </a:r>
                <a:r>
                  <a:rPr lang="en-US" altLang="zh-CN" dirty="0" smtClean="0"/>
                  <a:t>: </a:t>
                </a:r>
                <a:r>
                  <a:rPr lang="zh-CN" altLang="en-US" dirty="0" smtClean="0"/>
                  <a:t>通过给每个顶点指定一种不同的颜色</a:t>
                </a:r>
                <a:r>
                  <a:rPr lang="en-US" altLang="zh-CN" dirty="0" smtClean="0"/>
                  <a:t>, </a:t>
                </a:r>
                <a:r>
                  <a:rPr lang="zh-CN" altLang="en-US" dirty="0" smtClean="0"/>
                  <a:t>用</a:t>
                </a:r>
                <a:r>
                  <a:rPr lang="en-US" altLang="zh-CN" dirty="0" smtClean="0"/>
                  <a:t>n</a:t>
                </a:r>
                <a:r>
                  <a:rPr lang="zh-CN" altLang="en-US" dirty="0" smtClean="0"/>
                  <a:t>中颜色可以构造</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𝐾</m:t>
                        </m:r>
                      </m:e>
                      <m:sub>
                        <m:r>
                          <a:rPr lang="en-US" altLang="zh-CN" i="1">
                            <a:latin typeface="Cambria Math" panose="02040503050406030204" pitchFamily="18" charset="0"/>
                          </a:rPr>
                          <m:t>𝑛</m:t>
                        </m:r>
                      </m:sub>
                    </m:sSub>
                  </m:oMath>
                </a14:m>
                <a:r>
                  <a:rPr lang="en-US" altLang="zh-CN" dirty="0" smtClean="0"/>
                  <a:t>. </a:t>
                </a:r>
                <a:r>
                  <a:rPr lang="zh-CN" altLang="en-US" dirty="0" smtClean="0"/>
                  <a:t>不能再使用更少的颜色来着色了</a:t>
                </a:r>
                <a:r>
                  <a:rPr lang="en-US" altLang="zh-CN" dirty="0" smtClean="0"/>
                  <a:t>. </a:t>
                </a:r>
                <a:r>
                  <a:rPr lang="zh-CN" altLang="en-US" dirty="0" smtClean="0"/>
                  <a:t>每个两个顶点可以指定相同的颜色</a:t>
                </a:r>
                <a:r>
                  <a:rPr lang="en-US" altLang="zh-CN" dirty="0" smtClean="0"/>
                  <a:t>, </a:t>
                </a:r>
                <a:r>
                  <a:rPr lang="zh-CN" altLang="en-US" dirty="0" smtClean="0"/>
                  <a:t>因为这个图中任何两个顶点都相邻</a:t>
                </a:r>
                <a:r>
                  <a:rPr lang="en-US" altLang="zh-CN" dirty="0" smtClean="0"/>
                  <a:t>. </a:t>
                </a:r>
                <a14:m>
                  <m:oMath xmlns:m="http://schemas.openxmlformats.org/officeDocument/2006/math">
                    <m:r>
                      <a:rPr lang="zh-CN" altLang="en-US" i="1">
                        <a:latin typeface="Cambria Math" panose="02040503050406030204" pitchFamily="18" charset="0"/>
                      </a:rPr>
                      <m:t>𝜒</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𝐾</m:t>
                            </m:r>
                          </m:e>
                          <m:sub>
                            <m:r>
                              <a:rPr lang="en-US" altLang="zh-CN" i="1">
                                <a:latin typeface="Cambria Math" panose="02040503050406030204" pitchFamily="18" charset="0"/>
                              </a:rPr>
                              <m:t>𝑛</m:t>
                            </m:r>
                          </m:sub>
                        </m:sSub>
                      </m:e>
                    </m:d>
                    <m:r>
                      <a:rPr lang="en-US" altLang="zh-CN" i="1" smtClean="0">
                        <a:latin typeface="Cambria Math" panose="02040503050406030204" pitchFamily="18" charset="0"/>
                      </a:rPr>
                      <m:t>=</m:t>
                    </m:r>
                    <m:r>
                      <a:rPr lang="en-US" altLang="zh-CN" b="0" i="1" smtClean="0">
                        <a:latin typeface="Cambria Math" panose="02040503050406030204" pitchFamily="18" charset="0"/>
                      </a:rPr>
                      <m:t>𝑛</m:t>
                    </m:r>
                    <m:r>
                      <a:rPr lang="en-US" altLang="zh-CN" b="0" i="0" smtClean="0">
                        <a:latin typeface="Cambria Math" panose="02040503050406030204" pitchFamily="18" charset="0"/>
                      </a:rPr>
                      <m:t>.</m:t>
                    </m:r>
                  </m:oMath>
                </a14:m>
                <a:endParaRPr lang="en-US" altLang="zh-CN" b="0" dirty="0" smtClean="0"/>
              </a:p>
              <a:p>
                <a:endParaRPr lang="en-US" altLang="zh-CN" b="0" dirty="0" smtClean="0"/>
              </a:p>
              <a:p>
                <a:r>
                  <a:rPr lang="zh-CN" altLang="en-US" dirty="0" smtClean="0"/>
                  <a:t>备注</a:t>
                </a:r>
                <a:r>
                  <a:rPr lang="en-US" altLang="zh-CN" dirty="0" smtClean="0"/>
                  <a:t>: </a:t>
                </a:r>
                <a:r>
                  <a:rPr lang="zh-CN" altLang="en-US" dirty="0" smtClean="0"/>
                  <a:t>当</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𝐾</m:t>
                        </m:r>
                      </m:e>
                      <m:sub>
                        <m:r>
                          <a:rPr lang="en-US" altLang="zh-CN" i="1">
                            <a:latin typeface="Cambria Math" panose="02040503050406030204" pitchFamily="18" charset="0"/>
                          </a:rPr>
                          <m:t>𝑛</m:t>
                        </m:r>
                      </m:sub>
                    </m:sSub>
                  </m:oMath>
                </a14:m>
                <a:r>
                  <a:rPr lang="zh-CN" altLang="en-US" dirty="0" smtClean="0"/>
                  <a:t>中</a:t>
                </a:r>
                <a:r>
                  <a:rPr lang="en-US" altLang="zh-CN" dirty="0" smtClean="0"/>
                  <a:t>n</a:t>
                </a:r>
                <a:r>
                  <a:rPr lang="zh-CN" altLang="en-US" dirty="0" smtClean="0"/>
                  <a:t>大于</a:t>
                </a:r>
                <a:r>
                  <a:rPr lang="en-US" altLang="zh-CN" dirty="0" smtClean="0"/>
                  <a:t>5</a:t>
                </a:r>
                <a:r>
                  <a:rPr lang="zh-CN" altLang="en-US" dirty="0" smtClean="0"/>
                  <a:t>时</a:t>
                </a:r>
                <a:r>
                  <a:rPr lang="en-US" altLang="zh-CN" dirty="0" smtClean="0"/>
                  <a:t>, </a:t>
                </a:r>
                <a:r>
                  <a:rPr lang="zh-CN" altLang="en-US" dirty="0" smtClean="0"/>
                  <a:t>它不是平面图</a:t>
                </a:r>
                <a:r>
                  <a:rPr lang="en-US" altLang="zh-CN" dirty="0" smtClean="0"/>
                  <a:t>, </a:t>
                </a:r>
                <a:r>
                  <a:rPr lang="zh-CN" altLang="en-US" dirty="0" smtClean="0"/>
                  <a:t>所以它和四色定理并不矛盾</a:t>
                </a:r>
                <a:r>
                  <a:rPr lang="en-US" altLang="zh-CN" dirty="0" smtClean="0"/>
                  <a:t>. </a:t>
                </a:r>
                <a:r>
                  <a:rPr lang="zh-CN" altLang="en-US" dirty="0" smtClean="0"/>
                  <a:t>下图显示了</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𝐾</m:t>
                        </m:r>
                      </m:e>
                      <m:sub>
                        <m:r>
                          <a:rPr lang="en-US" altLang="zh-CN" b="0" i="1" smtClean="0">
                            <a:latin typeface="Cambria Math" panose="02040503050406030204" pitchFamily="18" charset="0"/>
                          </a:rPr>
                          <m:t>5</m:t>
                        </m:r>
                      </m:sub>
                    </m:sSub>
                  </m:oMath>
                </a14:m>
                <a:r>
                  <a:rPr lang="zh-CN" altLang="en-US" dirty="0" smtClean="0"/>
                  <a:t>的着色</a:t>
                </a:r>
                <a:r>
                  <a:rPr lang="en-US" altLang="zh-CN" dirty="0" smtClean="0"/>
                  <a:t>.</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999" t="-1310" r="-1110"/>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52F3CC47-9753-42A9-ADB5-247CD6FB27C6}"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216</a:t>
            </a:fld>
            <a:endParaRPr lang="zh-CN" altLang="en-US" dirty="0"/>
          </a:p>
        </p:txBody>
      </p:sp>
      <p:pic>
        <p:nvPicPr>
          <p:cNvPr id="10" name="图片 9"/>
          <p:cNvPicPr>
            <a:picLocks noChangeAspect="1"/>
          </p:cNvPicPr>
          <p:nvPr/>
        </p:nvPicPr>
        <p:blipFill>
          <a:blip r:embed="rId3"/>
          <a:stretch>
            <a:fillRect/>
          </a:stretch>
        </p:blipFill>
        <p:spPr>
          <a:xfrm>
            <a:off x="5202738" y="4308901"/>
            <a:ext cx="2702782" cy="2082814"/>
          </a:xfrm>
          <a:prstGeom prst="rect">
            <a:avLst/>
          </a:prstGeom>
        </p:spPr>
      </p:pic>
    </p:spTree>
    <p:extLst>
      <p:ext uri="{BB962C8B-B14F-4D97-AF65-F5344CB8AC3E}">
        <p14:creationId xmlns:p14="http://schemas.microsoft.com/office/powerpoint/2010/main" val="3165378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wipe(down)">
                                      <p:cBhvr>
                                        <p:cTn id="12" dur="500"/>
                                        <p:tgtEl>
                                          <p:spTgt spid="3">
                                            <p:txEl>
                                              <p:pRg st="3" end="3"/>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down)">
                                      <p:cBhvr>
                                        <p:cTn id="1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图着色</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smtClean="0"/>
                  <a:t>例</a:t>
                </a:r>
                <a:r>
                  <a:rPr lang="en-US" altLang="zh-CN" dirty="0" smtClean="0"/>
                  <a:t>: </a:t>
                </a:r>
                <a:r>
                  <a:rPr lang="zh-CN" altLang="en-US" dirty="0" smtClean="0"/>
                  <a:t>完全</a:t>
                </a:r>
                <a14:m>
                  <m:oMath xmlns:m="http://schemas.openxmlformats.org/officeDocument/2006/math">
                    <m:r>
                      <a:rPr lang="zh-CN" altLang="en-US" i="1">
                        <a:latin typeface="Cambria Math" panose="02040503050406030204" pitchFamily="18" charset="0"/>
                      </a:rPr>
                      <m:t>二分图</m:t>
                    </m:r>
                    <m:sSub>
                      <m:sSubPr>
                        <m:ctrlPr>
                          <a:rPr lang="en-US" altLang="zh-CN" i="1">
                            <a:latin typeface="Cambria Math" panose="02040503050406030204" pitchFamily="18" charset="0"/>
                          </a:rPr>
                        </m:ctrlPr>
                      </m:sSubPr>
                      <m:e>
                        <m:r>
                          <a:rPr lang="en-US" altLang="zh-CN" i="1">
                            <a:latin typeface="Cambria Math" panose="02040503050406030204" pitchFamily="18" charset="0"/>
                          </a:rPr>
                          <m:t>𝐾</m:t>
                        </m:r>
                      </m:e>
                      <m:sub>
                        <m:r>
                          <a:rPr lang="en-US" altLang="zh-CN" b="0" i="1" smtClean="0">
                            <a:latin typeface="Cambria Math" panose="02040503050406030204" pitchFamily="18" charset="0"/>
                          </a:rPr>
                          <m:t>𝑚</m:t>
                        </m:r>
                        <m:r>
                          <a:rPr lang="en-US" altLang="zh-CN" b="0" i="1" smtClean="0">
                            <a:latin typeface="Cambria Math" panose="02040503050406030204" pitchFamily="18" charset="0"/>
                          </a:rPr>
                          <m:t>, </m:t>
                        </m:r>
                        <m:r>
                          <a:rPr lang="en-US" altLang="zh-CN" i="1">
                            <a:latin typeface="Cambria Math" panose="02040503050406030204" pitchFamily="18" charset="0"/>
                          </a:rPr>
                          <m:t>𝑛</m:t>
                        </m:r>
                      </m:sub>
                    </m:sSub>
                  </m:oMath>
                </a14:m>
                <a:r>
                  <a:rPr lang="zh-CN" altLang="en-US" dirty="0"/>
                  <a:t>的着色数是多少</a:t>
                </a:r>
                <a:r>
                  <a:rPr lang="en-US" altLang="zh-CN" dirty="0"/>
                  <a:t>?</a:t>
                </a:r>
              </a:p>
              <a:p>
                <a:r>
                  <a:rPr lang="zh-CN" altLang="en-US" dirty="0" smtClean="0"/>
                  <a:t>解</a:t>
                </a:r>
                <a:r>
                  <a:rPr lang="en-US" altLang="zh-CN" dirty="0" smtClean="0"/>
                  <a:t>: </a:t>
                </a:r>
                <a14:m>
                  <m:oMath xmlns:m="http://schemas.openxmlformats.org/officeDocument/2006/math">
                    <m:r>
                      <a:rPr lang="zh-CN" altLang="en-US" i="1">
                        <a:latin typeface="Cambria Math" panose="02040503050406030204" pitchFamily="18" charset="0"/>
                      </a:rPr>
                      <m:t>𝜒</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𝐾</m:t>
                            </m:r>
                          </m:e>
                          <m:sub>
                            <m:r>
                              <a:rPr lang="en-US" altLang="zh-CN" i="1">
                                <a:latin typeface="Cambria Math" panose="02040503050406030204" pitchFamily="18" charset="0"/>
                              </a:rPr>
                              <m:t>𝑚</m:t>
                            </m:r>
                            <m:r>
                              <a:rPr lang="en-US" altLang="zh-CN" i="1" smtClean="0">
                                <a:latin typeface="Cambria Math" panose="02040503050406030204" pitchFamily="18" charset="0"/>
                              </a:rPr>
                              <m:t>, </m:t>
                            </m:r>
                            <m:r>
                              <a:rPr lang="en-US" altLang="zh-CN" i="1">
                                <a:latin typeface="Cambria Math" panose="02040503050406030204" pitchFamily="18" charset="0"/>
                              </a:rPr>
                              <m:t>𝑛</m:t>
                            </m:r>
                          </m:sub>
                        </m:sSub>
                      </m:e>
                    </m:d>
                    <m:r>
                      <a:rPr lang="en-US" altLang="zh-CN" i="1">
                        <a:latin typeface="Cambria Math" panose="02040503050406030204" pitchFamily="18" charset="0"/>
                      </a:rPr>
                      <m:t>=</m:t>
                    </m:r>
                    <m:r>
                      <a:rPr lang="en-US" altLang="zh-CN" b="0" i="1" smtClean="0">
                        <a:latin typeface="Cambria Math" panose="02040503050406030204" pitchFamily="18" charset="0"/>
                      </a:rPr>
                      <m:t>2</m:t>
                    </m:r>
                    <m:r>
                      <a:rPr lang="en-US" altLang="zh-CN">
                        <a:latin typeface="Cambria Math" panose="02040503050406030204" pitchFamily="18" charset="0"/>
                      </a:rPr>
                      <m:t>.</m:t>
                    </m:r>
                  </m:oMath>
                </a14:m>
                <a:r>
                  <a:rPr lang="zh-CN" altLang="en-US" dirty="0" smtClean="0"/>
                  <a:t> 因为完全二分图将顶点分为上下两部分</a:t>
                </a:r>
                <a:r>
                  <a:rPr lang="en-US" altLang="zh-CN" dirty="0" smtClean="0"/>
                  <a:t>, </a:t>
                </a:r>
                <a:r>
                  <a:rPr lang="zh-CN" altLang="en-US" dirty="0" smtClean="0"/>
                  <a:t>上面的顶点都用一种颜色</a:t>
                </a:r>
                <a:r>
                  <a:rPr lang="en-US" altLang="zh-CN" dirty="0" smtClean="0"/>
                  <a:t>, </a:t>
                </a:r>
                <a:r>
                  <a:rPr lang="zh-CN" altLang="en-US" dirty="0" smtClean="0"/>
                  <a:t>而下面的顶点用另外一种颜色</a:t>
                </a:r>
                <a:r>
                  <a:rPr lang="en-US" altLang="zh-CN" dirty="0" smtClean="0"/>
                  <a:t>. </a:t>
                </a:r>
                <a:r>
                  <a:rPr lang="zh-CN" altLang="en-US" dirty="0" smtClean="0"/>
                  <a:t>因为边只能连接</a:t>
                </a:r>
                <a:r>
                  <a:rPr lang="en-US" altLang="zh-CN" dirty="0" smtClean="0"/>
                  <a:t>m</a:t>
                </a:r>
                <a:r>
                  <a:rPr lang="zh-CN" altLang="en-US" dirty="0" smtClean="0"/>
                  <a:t>个顶点中的一个顶点和</a:t>
                </a:r>
                <a:r>
                  <a:rPr lang="en-US" altLang="zh-CN" dirty="0" smtClean="0"/>
                  <a:t>n</a:t>
                </a:r>
                <a:r>
                  <a:rPr lang="zh-CN" altLang="en-US" dirty="0" smtClean="0"/>
                  <a:t>个顶点中的一个顶点</a:t>
                </a:r>
                <a:r>
                  <a:rPr lang="en-US" altLang="zh-CN" dirty="0" smtClean="0"/>
                  <a:t>, </a:t>
                </a:r>
                <a:r>
                  <a:rPr lang="zh-CN" altLang="en-US" dirty="0" smtClean="0"/>
                  <a:t>所以没有相邻的顶点具有相同的颜色</a:t>
                </a:r>
                <a:r>
                  <a:rPr lang="en-US" altLang="zh-CN" dirty="0" smtClean="0"/>
                  <a:t>. </a:t>
                </a:r>
                <a:r>
                  <a:rPr lang="zh-CN" altLang="en-US" dirty="0" smtClean="0"/>
                  <a:t>例如</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𝐾</m:t>
                        </m:r>
                      </m:e>
                      <m:sub>
                        <m:r>
                          <a:rPr lang="en-US" altLang="zh-CN" b="0" i="1" smtClean="0">
                            <a:latin typeface="Cambria Math" panose="02040503050406030204" pitchFamily="18" charset="0"/>
                          </a:rPr>
                          <m:t>3</m:t>
                        </m:r>
                        <m:r>
                          <a:rPr lang="en-US" altLang="zh-CN" i="1" smtClean="0">
                            <a:latin typeface="Cambria Math" panose="02040503050406030204" pitchFamily="18" charset="0"/>
                          </a:rPr>
                          <m:t>, </m:t>
                        </m:r>
                        <m:r>
                          <a:rPr lang="en-US" altLang="zh-CN" b="0" i="1" smtClean="0">
                            <a:latin typeface="Cambria Math" panose="02040503050406030204" pitchFamily="18" charset="0"/>
                          </a:rPr>
                          <m:t>4</m:t>
                        </m:r>
                      </m:sub>
                    </m:sSub>
                    <m:r>
                      <a:rPr lang="zh-CN" altLang="en-US" i="1">
                        <a:latin typeface="Cambria Math" panose="02040503050406030204" pitchFamily="18" charset="0"/>
                      </a:rPr>
                      <m:t>的</m:t>
                    </m:r>
                  </m:oMath>
                </a14:m>
                <a:r>
                  <a:rPr lang="zh-CN" altLang="en-US" dirty="0" smtClean="0"/>
                  <a:t>着色可以如下</a:t>
                </a:r>
                <a:r>
                  <a:rPr lang="en-US" altLang="zh-CN" dirty="0" smtClean="0"/>
                  <a:t>: </a:t>
                </a:r>
                <a:endParaRPr lang="en-US" altLang="zh-CN"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999" t="-1190"/>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35EFCBC9-6F19-4C2D-98BD-1D57C0858922}"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217</a:t>
            </a:fld>
            <a:endParaRPr lang="zh-CN" altLang="en-US" dirty="0"/>
          </a:p>
        </p:txBody>
      </p:sp>
      <p:pic>
        <p:nvPicPr>
          <p:cNvPr id="7" name="图片 6"/>
          <p:cNvPicPr>
            <a:picLocks noChangeAspect="1"/>
          </p:cNvPicPr>
          <p:nvPr/>
        </p:nvPicPr>
        <p:blipFill>
          <a:blip r:embed="rId3"/>
          <a:stretch>
            <a:fillRect/>
          </a:stretch>
        </p:blipFill>
        <p:spPr>
          <a:xfrm>
            <a:off x="4495800" y="3523775"/>
            <a:ext cx="3763281" cy="2778881"/>
          </a:xfrm>
          <a:prstGeom prst="rect">
            <a:avLst/>
          </a:prstGeom>
        </p:spPr>
      </p:pic>
    </p:spTree>
    <p:extLst>
      <p:ext uri="{BB962C8B-B14F-4D97-AF65-F5344CB8AC3E}">
        <p14:creationId xmlns:p14="http://schemas.microsoft.com/office/powerpoint/2010/main" val="331025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down)">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图着色</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dirty="0" smtClean="0"/>
                  <a:t>例</a:t>
                </a:r>
                <a:r>
                  <a:rPr lang="en-US" altLang="zh-CN" dirty="0" smtClean="0"/>
                  <a:t>: </a:t>
                </a:r>
                <a14:m>
                  <m:oMath xmlns:m="http://schemas.openxmlformats.org/officeDocument/2006/math">
                    <m:r>
                      <a:rPr lang="zh-CN" altLang="en-US" i="1">
                        <a:latin typeface="Cambria Math" panose="02040503050406030204" pitchFamily="18" charset="0"/>
                      </a:rPr>
                      <m:t>图</m:t>
                    </m: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𝐶</m:t>
                        </m:r>
                      </m:e>
                      <m:sub>
                        <m:r>
                          <a:rPr lang="en-US" altLang="zh-CN" i="1">
                            <a:latin typeface="Cambria Math" panose="02040503050406030204" pitchFamily="18" charset="0"/>
                          </a:rPr>
                          <m:t>𝑛</m:t>
                        </m:r>
                      </m:sub>
                    </m:sSub>
                  </m:oMath>
                </a14:m>
                <a:r>
                  <a:rPr lang="zh-CN" altLang="en-US" dirty="0"/>
                  <a:t>的着色数是多少</a:t>
                </a:r>
                <a:r>
                  <a:rPr lang="en-US" altLang="zh-CN" dirty="0" smtClean="0"/>
                  <a:t>?</a:t>
                </a:r>
              </a:p>
              <a:p>
                <a:r>
                  <a:rPr lang="zh-CN" altLang="en-US" dirty="0"/>
                  <a:t>解</a:t>
                </a:r>
                <a:endParaRPr lang="en-US" altLang="zh-CN" dirty="0"/>
              </a:p>
              <a:p>
                <a:pPr lvl="1">
                  <a:lnSpc>
                    <a:spcPct val="110000"/>
                  </a:lnSpc>
                </a:pPr>
                <a:r>
                  <a:rPr lang="zh-CN" altLang="en-US" sz="2600" dirty="0" smtClean="0">
                    <a:solidFill>
                      <a:prstClr val="black"/>
                    </a:solidFill>
                  </a:rPr>
                  <a:t>首先</a:t>
                </a:r>
                <a:r>
                  <a:rPr lang="zh-CN" altLang="en-US" sz="2600" dirty="0">
                    <a:solidFill>
                      <a:prstClr val="black"/>
                    </a:solidFill>
                  </a:rPr>
                  <a:t>我们来看</a:t>
                </a:r>
                <a:r>
                  <a:rPr lang="en-US" altLang="zh-CN" sz="2600" dirty="0">
                    <a:solidFill>
                      <a:prstClr val="black"/>
                    </a:solidFill>
                  </a:rPr>
                  <a:t>n</a:t>
                </a:r>
                <a:r>
                  <a:rPr lang="zh-CN" altLang="en-US" sz="2600" dirty="0">
                    <a:solidFill>
                      <a:prstClr val="black"/>
                    </a:solidFill>
                  </a:rPr>
                  <a:t>为偶数的</a:t>
                </a:r>
                <a:r>
                  <a:rPr lang="zh-CN" altLang="en-US" sz="2600" dirty="0" smtClean="0">
                    <a:solidFill>
                      <a:prstClr val="black"/>
                    </a:solidFill>
                  </a:rPr>
                  <a:t>时候</a:t>
                </a:r>
                <a:r>
                  <a:rPr lang="en-US" altLang="zh-CN" sz="2600" dirty="0" smtClean="0">
                    <a:solidFill>
                      <a:prstClr val="black"/>
                    </a:solidFill>
                  </a:rPr>
                  <a:t>, </a:t>
                </a:r>
                <a:r>
                  <a:rPr lang="zh-CN" altLang="en-US" sz="2600" dirty="0" smtClean="0">
                    <a:solidFill>
                      <a:prstClr val="black"/>
                    </a:solidFill>
                  </a:rPr>
                  <a:t>比如</a:t>
                </a:r>
                <a14:m>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𝐶</m:t>
                        </m:r>
                      </m:e>
                      <m:sub>
                        <m:r>
                          <a:rPr lang="en-US" altLang="zh-CN" sz="2800" b="0" i="1" smtClean="0">
                            <a:latin typeface="Cambria Math" panose="02040503050406030204" pitchFamily="18" charset="0"/>
                          </a:rPr>
                          <m:t>6</m:t>
                        </m:r>
                      </m:sub>
                    </m:sSub>
                  </m:oMath>
                </a14:m>
                <a:r>
                  <a:rPr lang="en-US" altLang="zh-CN" sz="2600" dirty="0">
                    <a:solidFill>
                      <a:prstClr val="black"/>
                    </a:solidFill>
                  </a:rPr>
                  <a:t>. </a:t>
                </a:r>
                <a:r>
                  <a:rPr lang="zh-CN" altLang="en-US" sz="2600" dirty="0">
                    <a:solidFill>
                      <a:prstClr val="black"/>
                    </a:solidFill>
                  </a:rPr>
                  <a:t>我们选择一个顶点</a:t>
                </a:r>
                <a:r>
                  <a:rPr lang="zh-CN" altLang="en-US" sz="2600" dirty="0" smtClean="0">
                    <a:solidFill>
                      <a:prstClr val="black"/>
                    </a:solidFill>
                  </a:rPr>
                  <a:t>着色</a:t>
                </a:r>
                <a:r>
                  <a:rPr lang="en-US" altLang="zh-CN" sz="2600" dirty="0" smtClean="0">
                    <a:solidFill>
                      <a:prstClr val="black"/>
                    </a:solidFill>
                  </a:rPr>
                  <a:t>, </a:t>
                </a:r>
                <a:r>
                  <a:rPr lang="zh-CN" altLang="en-US" sz="2600" dirty="0" smtClean="0">
                    <a:solidFill>
                      <a:prstClr val="black"/>
                    </a:solidFill>
                  </a:rPr>
                  <a:t>比如</a:t>
                </a:r>
                <a:r>
                  <a:rPr lang="en-US" altLang="zh-CN" sz="2600" dirty="0">
                    <a:solidFill>
                      <a:prstClr val="black"/>
                    </a:solidFill>
                  </a:rPr>
                  <a:t>a</a:t>
                </a:r>
                <a:r>
                  <a:rPr lang="zh-CN" altLang="en-US" sz="2600" dirty="0">
                    <a:solidFill>
                      <a:prstClr val="black"/>
                    </a:solidFill>
                  </a:rPr>
                  <a:t>着色</a:t>
                </a:r>
                <a:r>
                  <a:rPr lang="zh-CN" altLang="en-US" sz="2600" dirty="0" smtClean="0">
                    <a:solidFill>
                      <a:prstClr val="black"/>
                    </a:solidFill>
                  </a:rPr>
                  <a:t>红色</a:t>
                </a:r>
                <a:r>
                  <a:rPr lang="en-US" altLang="zh-CN" sz="2600" dirty="0" smtClean="0">
                    <a:solidFill>
                      <a:prstClr val="black"/>
                    </a:solidFill>
                  </a:rPr>
                  <a:t>, </a:t>
                </a:r>
                <a:r>
                  <a:rPr lang="zh-CN" altLang="en-US" sz="2600" dirty="0" smtClean="0">
                    <a:solidFill>
                      <a:prstClr val="black"/>
                    </a:solidFill>
                  </a:rPr>
                  <a:t>下</a:t>
                </a:r>
                <a:r>
                  <a:rPr lang="zh-CN" altLang="en-US" sz="2600" dirty="0">
                    <a:solidFill>
                      <a:prstClr val="black"/>
                    </a:solidFill>
                  </a:rPr>
                  <a:t>一个位置为另外一个颜色例如</a:t>
                </a:r>
                <a:r>
                  <a:rPr lang="en-US" altLang="zh-CN" sz="2600" dirty="0">
                    <a:solidFill>
                      <a:prstClr val="black"/>
                    </a:solidFill>
                  </a:rPr>
                  <a:t>b</a:t>
                </a:r>
                <a:r>
                  <a:rPr lang="zh-CN" altLang="en-US" sz="2600" dirty="0">
                    <a:solidFill>
                      <a:prstClr val="black"/>
                    </a:solidFill>
                  </a:rPr>
                  <a:t>为蓝</a:t>
                </a:r>
                <a:r>
                  <a:rPr lang="en-US" altLang="zh-CN" sz="2600" dirty="0" smtClean="0">
                    <a:solidFill>
                      <a:prstClr val="black"/>
                    </a:solidFill>
                  </a:rPr>
                  <a:t>. </a:t>
                </a:r>
                <a:r>
                  <a:rPr lang="zh-CN" altLang="en-US" sz="2600" dirty="0" smtClean="0">
                    <a:solidFill>
                      <a:prstClr val="black"/>
                    </a:solidFill>
                  </a:rPr>
                  <a:t>那么</a:t>
                </a:r>
                <a:r>
                  <a:rPr lang="zh-CN" altLang="en-US" sz="2600" dirty="0">
                    <a:solidFill>
                      <a:prstClr val="black"/>
                    </a:solidFill>
                  </a:rPr>
                  <a:t>顺时针依次第</a:t>
                </a:r>
                <a:r>
                  <a:rPr lang="en-US" altLang="zh-CN" sz="2600" dirty="0">
                    <a:solidFill>
                      <a:prstClr val="black"/>
                    </a:solidFill>
                  </a:rPr>
                  <a:t>3</a:t>
                </a:r>
                <a:r>
                  <a:rPr lang="zh-CN" altLang="en-US" sz="2600" dirty="0">
                    <a:solidFill>
                      <a:prstClr val="black"/>
                    </a:solidFill>
                  </a:rPr>
                  <a:t>个顶点为</a:t>
                </a:r>
                <a:r>
                  <a:rPr lang="zh-CN" altLang="en-US" sz="2600" dirty="0" smtClean="0">
                    <a:solidFill>
                      <a:prstClr val="black"/>
                    </a:solidFill>
                  </a:rPr>
                  <a:t>红</a:t>
                </a:r>
                <a:r>
                  <a:rPr lang="en-US" altLang="zh-CN" sz="2600" dirty="0" smtClean="0">
                    <a:solidFill>
                      <a:prstClr val="black"/>
                    </a:solidFill>
                  </a:rPr>
                  <a:t>, </a:t>
                </a:r>
                <a:r>
                  <a:rPr lang="zh-CN" altLang="en-US" sz="2600" dirty="0" smtClean="0">
                    <a:solidFill>
                      <a:prstClr val="black"/>
                    </a:solidFill>
                  </a:rPr>
                  <a:t>第</a:t>
                </a:r>
                <a:r>
                  <a:rPr lang="en-US" altLang="zh-CN" sz="2600" dirty="0">
                    <a:solidFill>
                      <a:prstClr val="black"/>
                    </a:solidFill>
                  </a:rPr>
                  <a:t>4</a:t>
                </a:r>
                <a:r>
                  <a:rPr lang="zh-CN" altLang="en-US" sz="2600" dirty="0">
                    <a:solidFill>
                      <a:prstClr val="black"/>
                    </a:solidFill>
                  </a:rPr>
                  <a:t>个顶点为</a:t>
                </a:r>
                <a:r>
                  <a:rPr lang="zh-CN" altLang="en-US" sz="2600" dirty="0" smtClean="0">
                    <a:solidFill>
                      <a:prstClr val="black"/>
                    </a:solidFill>
                  </a:rPr>
                  <a:t>蓝</a:t>
                </a:r>
                <a:r>
                  <a:rPr lang="en-US" altLang="zh-CN" sz="2600" dirty="0" smtClean="0">
                    <a:solidFill>
                      <a:prstClr val="black"/>
                    </a:solidFill>
                  </a:rPr>
                  <a:t>, </a:t>
                </a:r>
                <a:r>
                  <a:rPr lang="zh-CN" altLang="en-US" sz="2600" dirty="0" smtClean="0">
                    <a:solidFill>
                      <a:prstClr val="black"/>
                    </a:solidFill>
                  </a:rPr>
                  <a:t>第</a:t>
                </a:r>
                <a:r>
                  <a:rPr lang="en-US" altLang="zh-CN" sz="2600" dirty="0">
                    <a:solidFill>
                      <a:prstClr val="black"/>
                    </a:solidFill>
                  </a:rPr>
                  <a:t>5</a:t>
                </a:r>
                <a:r>
                  <a:rPr lang="zh-CN" altLang="en-US" sz="2600" dirty="0">
                    <a:solidFill>
                      <a:prstClr val="black"/>
                    </a:solidFill>
                  </a:rPr>
                  <a:t>个顶点为红</a:t>
                </a:r>
                <a:r>
                  <a:rPr lang="en-US" altLang="zh-CN" sz="2600" dirty="0">
                    <a:solidFill>
                      <a:prstClr val="black"/>
                    </a:solidFill>
                  </a:rPr>
                  <a:t>. </a:t>
                </a:r>
                <a:r>
                  <a:rPr lang="zh-CN" altLang="en-US" sz="2600" dirty="0">
                    <a:solidFill>
                      <a:prstClr val="black"/>
                    </a:solidFill>
                  </a:rPr>
                  <a:t>最后一个顶点与第一个顶点</a:t>
                </a:r>
                <a:r>
                  <a:rPr lang="zh-CN" altLang="en-US" sz="2600" dirty="0" smtClean="0">
                    <a:solidFill>
                      <a:prstClr val="black"/>
                    </a:solidFill>
                  </a:rPr>
                  <a:t>相连</a:t>
                </a:r>
                <a:r>
                  <a:rPr lang="en-US" altLang="zh-CN" sz="2600" dirty="0" smtClean="0">
                    <a:solidFill>
                      <a:prstClr val="black"/>
                    </a:solidFill>
                  </a:rPr>
                  <a:t>, </a:t>
                </a:r>
                <a:r>
                  <a:rPr lang="zh-CN" altLang="en-US" sz="2600" dirty="0" smtClean="0">
                    <a:solidFill>
                      <a:prstClr val="black"/>
                    </a:solidFill>
                  </a:rPr>
                  <a:t>令</a:t>
                </a:r>
                <a:r>
                  <a:rPr lang="zh-CN" altLang="en-US" sz="2600" dirty="0">
                    <a:solidFill>
                      <a:prstClr val="black"/>
                    </a:solidFill>
                  </a:rPr>
                  <a:t>它为蓝</a:t>
                </a:r>
                <a:r>
                  <a:rPr lang="en-US" altLang="zh-CN" sz="2600" dirty="0" smtClean="0">
                    <a:solidFill>
                      <a:prstClr val="black"/>
                    </a:solidFill>
                  </a:rPr>
                  <a:t>.</a:t>
                </a:r>
              </a:p>
              <a:p>
                <a:endParaRPr lang="en-US" altLang="zh-CN"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999" t="-1310"/>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1D9289AE-A439-4C2F-A8F7-9131CBB7FF0C}"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218</a:t>
            </a:fld>
            <a:endParaRPr lang="zh-CN" altLang="en-US" dirty="0"/>
          </a:p>
        </p:txBody>
      </p:sp>
      <p:pic>
        <p:nvPicPr>
          <p:cNvPr id="8" name="图片 7"/>
          <p:cNvPicPr>
            <a:picLocks noChangeAspect="1"/>
          </p:cNvPicPr>
          <p:nvPr/>
        </p:nvPicPr>
        <p:blipFill>
          <a:blip r:embed="rId3"/>
          <a:stretch>
            <a:fillRect/>
          </a:stretch>
        </p:blipFill>
        <p:spPr>
          <a:xfrm>
            <a:off x="3886200" y="3740155"/>
            <a:ext cx="2584450" cy="2470150"/>
          </a:xfrm>
          <a:prstGeom prst="rect">
            <a:avLst/>
          </a:prstGeom>
        </p:spPr>
      </p:pic>
    </p:spTree>
    <p:extLst>
      <p:ext uri="{BB962C8B-B14F-4D97-AF65-F5344CB8AC3E}">
        <p14:creationId xmlns:p14="http://schemas.microsoft.com/office/powerpoint/2010/main" val="1799786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图着色</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pPr lvl="1">
                  <a:lnSpc>
                    <a:spcPct val="110000"/>
                  </a:lnSpc>
                </a:pPr>
                <a:r>
                  <a:rPr lang="zh-CN" altLang="en-US" sz="2600" dirty="0" smtClean="0">
                    <a:solidFill>
                      <a:prstClr val="black"/>
                    </a:solidFill>
                  </a:rPr>
                  <a:t>类似地</a:t>
                </a:r>
                <a:r>
                  <a:rPr lang="en-US" altLang="zh-CN" sz="2600" dirty="0" smtClean="0">
                    <a:solidFill>
                      <a:prstClr val="black"/>
                    </a:solidFill>
                  </a:rPr>
                  <a:t>, </a:t>
                </a:r>
                <a:r>
                  <a:rPr lang="zh-CN" altLang="en-US" sz="2600" dirty="0" smtClean="0">
                    <a:solidFill>
                      <a:prstClr val="black"/>
                    </a:solidFill>
                  </a:rPr>
                  <a:t>我们</a:t>
                </a:r>
                <a:r>
                  <a:rPr lang="zh-CN" altLang="en-US" sz="2600" dirty="0">
                    <a:solidFill>
                      <a:prstClr val="black"/>
                    </a:solidFill>
                  </a:rPr>
                  <a:t>来观察一下</a:t>
                </a:r>
                <a:r>
                  <a:rPr lang="en-US" altLang="zh-CN" sz="2600" dirty="0">
                    <a:solidFill>
                      <a:prstClr val="black"/>
                    </a:solidFill>
                  </a:rPr>
                  <a:t>n</a:t>
                </a:r>
                <a:r>
                  <a:rPr lang="zh-CN" altLang="en-US" sz="2600" dirty="0">
                    <a:solidFill>
                      <a:prstClr val="black"/>
                    </a:solidFill>
                  </a:rPr>
                  <a:t>为奇数的</a:t>
                </a:r>
                <a:r>
                  <a:rPr lang="zh-CN" altLang="en-US" sz="2600" dirty="0" smtClean="0">
                    <a:solidFill>
                      <a:prstClr val="black"/>
                    </a:solidFill>
                  </a:rPr>
                  <a:t>情况</a:t>
                </a:r>
                <a:r>
                  <a:rPr lang="en-US" altLang="zh-CN" sz="2600" dirty="0" smtClean="0">
                    <a:solidFill>
                      <a:prstClr val="black"/>
                    </a:solidFill>
                  </a:rPr>
                  <a:t>, </a:t>
                </a:r>
                <a:r>
                  <a:rPr lang="zh-CN" altLang="en-US" sz="2600" dirty="0" smtClean="0">
                    <a:solidFill>
                      <a:prstClr val="black"/>
                    </a:solidFill>
                  </a:rPr>
                  <a:t>比如</a:t>
                </a:r>
                <a14:m>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𝐶</m:t>
                        </m:r>
                      </m:e>
                      <m:sub>
                        <m:r>
                          <a:rPr lang="en-US" altLang="zh-CN" sz="2800" b="0" i="1" smtClean="0">
                            <a:latin typeface="Cambria Math" panose="02040503050406030204" pitchFamily="18" charset="0"/>
                          </a:rPr>
                          <m:t>5</m:t>
                        </m:r>
                      </m:sub>
                    </m:sSub>
                  </m:oMath>
                </a14:m>
                <a:r>
                  <a:rPr lang="en-US" altLang="zh-CN" sz="2600" dirty="0" smtClean="0">
                    <a:solidFill>
                      <a:prstClr val="black"/>
                    </a:solidFill>
                  </a:rPr>
                  <a:t>. </a:t>
                </a:r>
                <a:r>
                  <a:rPr lang="zh-CN" altLang="en-US" sz="2600" dirty="0" smtClean="0">
                    <a:solidFill>
                      <a:prstClr val="black"/>
                    </a:solidFill>
                  </a:rPr>
                  <a:t>类似</a:t>
                </a:r>
                <a:r>
                  <a:rPr lang="zh-CN" altLang="en-US" sz="2600" dirty="0">
                    <a:solidFill>
                      <a:prstClr val="black"/>
                    </a:solidFill>
                  </a:rPr>
                  <a:t>上面的</a:t>
                </a:r>
                <a:r>
                  <a:rPr lang="zh-CN" altLang="en-US" sz="2600" dirty="0" smtClean="0">
                    <a:solidFill>
                      <a:prstClr val="black"/>
                    </a:solidFill>
                  </a:rPr>
                  <a:t>情况</a:t>
                </a:r>
                <a:r>
                  <a:rPr lang="en-US" altLang="zh-CN" sz="2600" dirty="0" smtClean="0">
                    <a:solidFill>
                      <a:prstClr val="black"/>
                    </a:solidFill>
                  </a:rPr>
                  <a:t>, </a:t>
                </a:r>
                <a:r>
                  <a:rPr lang="zh-CN" altLang="en-US" sz="2600" dirty="0" smtClean="0">
                    <a:solidFill>
                      <a:prstClr val="black"/>
                    </a:solidFill>
                  </a:rPr>
                  <a:t>只是</a:t>
                </a:r>
                <a:r>
                  <a:rPr lang="zh-CN" altLang="en-US" sz="2600" dirty="0">
                    <a:solidFill>
                      <a:prstClr val="black"/>
                    </a:solidFill>
                  </a:rPr>
                  <a:t>在最后一个顶点时因为和它相邻的点</a:t>
                </a:r>
                <a:r>
                  <a:rPr lang="en-US" altLang="zh-CN" sz="2600" dirty="0">
                    <a:solidFill>
                      <a:prstClr val="black"/>
                    </a:solidFill>
                  </a:rPr>
                  <a:t>a</a:t>
                </a:r>
                <a:r>
                  <a:rPr lang="zh-CN" altLang="en-US" sz="2600" dirty="0">
                    <a:solidFill>
                      <a:prstClr val="black"/>
                    </a:solidFill>
                  </a:rPr>
                  <a:t>为</a:t>
                </a:r>
                <a:r>
                  <a:rPr lang="zh-CN" altLang="en-US" sz="2600" dirty="0" smtClean="0">
                    <a:solidFill>
                      <a:prstClr val="black"/>
                    </a:solidFill>
                  </a:rPr>
                  <a:t>红色</a:t>
                </a:r>
                <a:r>
                  <a:rPr lang="en-US" altLang="zh-CN" sz="2600" dirty="0" smtClean="0">
                    <a:solidFill>
                      <a:prstClr val="black"/>
                    </a:solidFill>
                  </a:rPr>
                  <a:t>, </a:t>
                </a:r>
                <a:r>
                  <a:rPr lang="zh-CN" altLang="en-US" sz="2600" dirty="0" smtClean="0">
                    <a:solidFill>
                      <a:prstClr val="black"/>
                    </a:solidFill>
                  </a:rPr>
                  <a:t>上</a:t>
                </a:r>
                <a:r>
                  <a:rPr lang="zh-CN" altLang="en-US" sz="2600" dirty="0">
                    <a:solidFill>
                      <a:prstClr val="black"/>
                    </a:solidFill>
                  </a:rPr>
                  <a:t>一个相邻的点为</a:t>
                </a:r>
                <a:r>
                  <a:rPr lang="zh-CN" altLang="en-US" sz="2600" dirty="0" smtClean="0">
                    <a:solidFill>
                      <a:prstClr val="black"/>
                    </a:solidFill>
                  </a:rPr>
                  <a:t>蓝色</a:t>
                </a:r>
                <a:r>
                  <a:rPr lang="en-US" altLang="zh-CN" sz="2600" dirty="0" smtClean="0">
                    <a:solidFill>
                      <a:prstClr val="black"/>
                    </a:solidFill>
                  </a:rPr>
                  <a:t>, </a:t>
                </a:r>
                <a:r>
                  <a:rPr lang="zh-CN" altLang="en-US" sz="2600" dirty="0" smtClean="0">
                    <a:solidFill>
                      <a:prstClr val="black"/>
                    </a:solidFill>
                  </a:rPr>
                  <a:t>所以</a:t>
                </a:r>
                <a:r>
                  <a:rPr lang="zh-CN" altLang="en-US" sz="2600" dirty="0">
                    <a:solidFill>
                      <a:prstClr val="black"/>
                    </a:solidFill>
                  </a:rPr>
                  <a:t>它只能使用第三种</a:t>
                </a:r>
                <a:r>
                  <a:rPr lang="zh-CN" altLang="en-US" sz="2600" dirty="0" smtClean="0">
                    <a:solidFill>
                      <a:prstClr val="black"/>
                    </a:solidFill>
                  </a:rPr>
                  <a:t>颜色</a:t>
                </a:r>
                <a:r>
                  <a:rPr lang="en-US" altLang="zh-CN" sz="2600" dirty="0" smtClean="0">
                    <a:solidFill>
                      <a:prstClr val="black"/>
                    </a:solidFill>
                  </a:rPr>
                  <a:t>, </a:t>
                </a:r>
                <a:r>
                  <a:rPr lang="zh-CN" altLang="en-US" sz="2600" dirty="0" smtClean="0">
                    <a:solidFill>
                      <a:prstClr val="black"/>
                    </a:solidFill>
                  </a:rPr>
                  <a:t>比如</a:t>
                </a:r>
                <a:r>
                  <a:rPr lang="zh-CN" altLang="en-US" sz="2600" dirty="0">
                    <a:solidFill>
                      <a:prstClr val="black"/>
                    </a:solidFill>
                  </a:rPr>
                  <a:t>绿色</a:t>
                </a:r>
                <a:r>
                  <a:rPr lang="en-US" altLang="zh-CN" sz="2600" dirty="0" smtClean="0">
                    <a:solidFill>
                      <a:prstClr val="black"/>
                    </a:solidFill>
                  </a:rPr>
                  <a:t>.</a:t>
                </a:r>
              </a:p>
              <a:p>
                <a:pPr lvl="1">
                  <a:lnSpc>
                    <a:spcPct val="110000"/>
                  </a:lnSpc>
                </a:pPr>
                <a:endParaRPr lang="en-US" altLang="zh-CN" sz="2600" dirty="0">
                  <a:solidFill>
                    <a:prstClr val="black"/>
                  </a:solidFill>
                </a:endParaRPr>
              </a:p>
              <a:p>
                <a:pPr lvl="1">
                  <a:lnSpc>
                    <a:spcPct val="110000"/>
                  </a:lnSpc>
                </a:pPr>
                <a:endParaRPr lang="en-US" altLang="zh-CN" sz="2600" dirty="0" smtClean="0">
                  <a:solidFill>
                    <a:prstClr val="black"/>
                  </a:solidFill>
                </a:endParaRPr>
              </a:p>
              <a:p>
                <a:pPr lvl="1">
                  <a:lnSpc>
                    <a:spcPct val="110000"/>
                  </a:lnSpc>
                </a:pPr>
                <a:endParaRPr lang="en-US" altLang="zh-CN" sz="2600" dirty="0">
                  <a:solidFill>
                    <a:prstClr val="black"/>
                  </a:solidFill>
                </a:endParaRPr>
              </a:p>
              <a:p>
                <a:pPr marL="393192" lvl="1" indent="0">
                  <a:lnSpc>
                    <a:spcPct val="110000"/>
                  </a:lnSpc>
                  <a:buNone/>
                </a:pPr>
                <a:endParaRPr lang="en-US" altLang="zh-CN" sz="2600" dirty="0">
                  <a:solidFill>
                    <a:prstClr val="black"/>
                  </a:solidFill>
                </a:endParaRPr>
              </a:p>
              <a:p>
                <a:pPr marL="393192" lvl="1" indent="0">
                  <a:lnSpc>
                    <a:spcPct val="110000"/>
                  </a:lnSpc>
                  <a:buNone/>
                </a:pPr>
                <a:r>
                  <a:rPr lang="zh-CN" altLang="en-US" sz="2800" dirty="0" smtClean="0"/>
                  <a:t> </a:t>
                </a:r>
                <a:endParaRPr lang="en-US" altLang="zh-CN" sz="2800" dirty="0" smtClean="0"/>
              </a:p>
              <a:p>
                <a:pPr marL="393192" lvl="1" indent="0">
                  <a:lnSpc>
                    <a:spcPct val="110000"/>
                  </a:lnSpc>
                  <a:buNone/>
                </a:pPr>
                <a:r>
                  <a:rPr lang="zh-CN" altLang="en-US" sz="2800" dirty="0" smtClean="0"/>
                  <a:t>一般</a:t>
                </a:r>
                <a:r>
                  <a:rPr lang="zh-CN" altLang="en-US" sz="2800" dirty="0"/>
                  <a:t>情况</a:t>
                </a:r>
                <a:r>
                  <a:rPr lang="zh-CN" altLang="en-US" sz="2800" dirty="0" smtClean="0"/>
                  <a:t>下</a:t>
                </a:r>
                <a:r>
                  <a:rPr lang="en-US" altLang="zh-CN" sz="2800" dirty="0" smtClean="0"/>
                  <a:t>, </a:t>
                </a:r>
                <a:r>
                  <a:rPr lang="zh-CN" altLang="en-US" sz="2800" dirty="0" smtClean="0"/>
                  <a:t>也</a:t>
                </a:r>
                <a:r>
                  <a:rPr lang="zh-CN" altLang="en-US" sz="2800" dirty="0"/>
                  <a:t>满足以上规则</a:t>
                </a:r>
                <a:r>
                  <a:rPr lang="en-US" altLang="zh-CN" sz="2800" dirty="0"/>
                  <a:t>.</a:t>
                </a:r>
                <a14:m>
                  <m:oMath xmlns:m="http://schemas.openxmlformats.org/officeDocument/2006/math">
                    <m:r>
                      <a:rPr lang="en-US" altLang="zh-CN" sz="2800" b="0" i="0" smtClean="0">
                        <a:latin typeface="Cambria Math" panose="02040503050406030204" pitchFamily="18" charset="0"/>
                      </a:rPr>
                      <m:t> </m:t>
                    </m:r>
                    <m:r>
                      <a:rPr lang="en-US" altLang="zh-CN" sz="2800" b="0" i="1" smtClean="0">
                        <a:latin typeface="Cambria Math" panose="02040503050406030204" pitchFamily="18" charset="0"/>
                      </a:rPr>
                      <m:t> </m:t>
                    </m:r>
                    <m:r>
                      <a:rPr lang="zh-CN" altLang="en-US" sz="2800" i="1">
                        <a:latin typeface="Cambria Math" panose="02040503050406030204" pitchFamily="18" charset="0"/>
                      </a:rPr>
                      <m:t>𝜒</m:t>
                    </m:r>
                    <m:d>
                      <m:dPr>
                        <m:ctrlPr>
                          <a:rPr lang="en-US" altLang="zh-CN" sz="2800" i="1">
                            <a:latin typeface="Cambria Math" panose="02040503050406030204" pitchFamily="18" charset="0"/>
                          </a:rPr>
                        </m:ctrlPr>
                      </m:dPr>
                      <m:e>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𝐶</m:t>
                            </m:r>
                          </m:e>
                          <m:sub>
                            <m:r>
                              <a:rPr lang="en-US" altLang="zh-CN" sz="2800" i="1">
                                <a:latin typeface="Cambria Math" panose="02040503050406030204" pitchFamily="18" charset="0"/>
                              </a:rPr>
                              <m:t>𝑛</m:t>
                            </m:r>
                          </m:sub>
                        </m:sSub>
                      </m:e>
                    </m:d>
                    <m:r>
                      <a:rPr lang="en-US" altLang="zh-CN" sz="2800" i="1">
                        <a:latin typeface="Cambria Math" panose="02040503050406030204" pitchFamily="18" charset="0"/>
                      </a:rPr>
                      <m:t>=2</m:t>
                    </m:r>
                    <m:r>
                      <a:rPr lang="en-US" altLang="zh-CN" sz="2800" i="1" smtClean="0">
                        <a:latin typeface="Cambria Math" panose="02040503050406030204" pitchFamily="18" charset="0"/>
                      </a:rPr>
                      <m:t>, </m:t>
                    </m:r>
                  </m:oMath>
                </a14:m>
                <a:r>
                  <a:rPr lang="zh-CN" altLang="en-US" sz="2800" dirty="0"/>
                  <a:t>当</a:t>
                </a:r>
                <a:r>
                  <a:rPr lang="en-US" altLang="zh-CN" sz="2800" dirty="0"/>
                  <a:t>n</a:t>
                </a:r>
                <a:r>
                  <a:rPr lang="zh-CN" altLang="en-US" sz="2800" dirty="0"/>
                  <a:t>为大于等于</a:t>
                </a:r>
                <a:r>
                  <a:rPr lang="en-US" altLang="zh-CN" sz="2800" dirty="0"/>
                  <a:t>4</a:t>
                </a:r>
                <a:r>
                  <a:rPr lang="zh-CN" altLang="en-US" sz="2800" dirty="0"/>
                  <a:t>的正偶数时</a:t>
                </a:r>
                <a:r>
                  <a:rPr lang="en-US" altLang="zh-CN" sz="2800" dirty="0"/>
                  <a:t>;</a:t>
                </a:r>
                <a14:m>
                  <m:oMath xmlns:m="http://schemas.openxmlformats.org/officeDocument/2006/math">
                    <m:r>
                      <a:rPr lang="en-US" altLang="zh-CN" sz="2800" b="0" i="0" smtClean="0">
                        <a:latin typeface="Cambria Math" panose="02040503050406030204" pitchFamily="18" charset="0"/>
                      </a:rPr>
                      <m:t> </m:t>
                    </m:r>
                    <m:r>
                      <a:rPr lang="zh-CN" altLang="en-US" sz="2800" i="1">
                        <a:latin typeface="Cambria Math" panose="02040503050406030204" pitchFamily="18" charset="0"/>
                      </a:rPr>
                      <m:t>𝜒</m:t>
                    </m:r>
                    <m:d>
                      <m:dPr>
                        <m:ctrlPr>
                          <a:rPr lang="en-US" altLang="zh-CN" sz="2800" i="1">
                            <a:latin typeface="Cambria Math" panose="02040503050406030204" pitchFamily="18" charset="0"/>
                          </a:rPr>
                        </m:ctrlPr>
                      </m:dPr>
                      <m:e>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𝐶</m:t>
                            </m:r>
                          </m:e>
                          <m:sub>
                            <m:r>
                              <a:rPr lang="en-US" altLang="zh-CN" sz="2800" i="1">
                                <a:latin typeface="Cambria Math" panose="02040503050406030204" pitchFamily="18" charset="0"/>
                              </a:rPr>
                              <m:t>𝑛</m:t>
                            </m:r>
                          </m:sub>
                        </m:sSub>
                      </m:e>
                    </m:d>
                    <m:r>
                      <a:rPr lang="en-US" altLang="zh-CN" sz="2800" i="1">
                        <a:latin typeface="Cambria Math" panose="02040503050406030204" pitchFamily="18" charset="0"/>
                      </a:rPr>
                      <m:t>=3</m:t>
                    </m:r>
                    <m:r>
                      <a:rPr lang="en-US" altLang="zh-CN" sz="2800" i="1" smtClean="0">
                        <a:latin typeface="Cambria Math" panose="02040503050406030204" pitchFamily="18" charset="0"/>
                      </a:rPr>
                      <m:t>, </m:t>
                    </m:r>
                  </m:oMath>
                </a14:m>
                <a:r>
                  <a:rPr lang="zh-CN" altLang="en-US" sz="2800" dirty="0"/>
                  <a:t>当</a:t>
                </a:r>
                <a:r>
                  <a:rPr lang="en-US" altLang="zh-CN" sz="2800" dirty="0"/>
                  <a:t>n</a:t>
                </a:r>
                <a:r>
                  <a:rPr lang="zh-CN" altLang="en-US" sz="2800" dirty="0"/>
                  <a:t>为大于等于</a:t>
                </a:r>
                <a:r>
                  <a:rPr lang="en-US" altLang="zh-CN" sz="2800" dirty="0"/>
                  <a:t>3</a:t>
                </a:r>
                <a:r>
                  <a:rPr lang="zh-CN" altLang="en-US" sz="2800" dirty="0"/>
                  <a:t>的正奇数时</a:t>
                </a:r>
                <a:r>
                  <a:rPr lang="en-US" altLang="zh-CN" sz="2800" dirty="0"/>
                  <a:t>; </a:t>
                </a:r>
              </a:p>
              <a:p>
                <a:pPr marL="393192" lvl="1" indent="0">
                  <a:lnSpc>
                    <a:spcPct val="110000"/>
                  </a:lnSpc>
                  <a:buNone/>
                </a:pPr>
                <a:endParaRPr lang="en-US" altLang="zh-CN" sz="2600" dirty="0">
                  <a:solidFill>
                    <a:prstClr val="black"/>
                  </a:solidFill>
                </a:endParaRPr>
              </a:p>
              <a:p>
                <a:endParaRPr lang="en-US" altLang="zh-CN"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t="-714"/>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165496A7-93E5-41A3-A139-69CB47928AF0}"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219</a:t>
            </a:fld>
            <a:endParaRPr lang="zh-CN" altLang="en-US" dirty="0"/>
          </a:p>
        </p:txBody>
      </p:sp>
      <p:pic>
        <p:nvPicPr>
          <p:cNvPr id="9" name="图片 8"/>
          <p:cNvPicPr>
            <a:picLocks noChangeAspect="1"/>
          </p:cNvPicPr>
          <p:nvPr/>
        </p:nvPicPr>
        <p:blipFill>
          <a:blip r:embed="rId3"/>
          <a:stretch>
            <a:fillRect/>
          </a:stretch>
        </p:blipFill>
        <p:spPr>
          <a:xfrm>
            <a:off x="4276381" y="2509739"/>
            <a:ext cx="2508250" cy="2279650"/>
          </a:xfrm>
          <a:prstGeom prst="rect">
            <a:avLst/>
          </a:prstGeom>
        </p:spPr>
      </p:pic>
    </p:spTree>
    <p:extLst>
      <p:ext uri="{BB962C8B-B14F-4D97-AF65-F5344CB8AC3E}">
        <p14:creationId xmlns:p14="http://schemas.microsoft.com/office/powerpoint/2010/main" val="614997101"/>
      </p:ext>
    </p:extLst>
  </p:cSld>
  <p:clrMapOvr>
    <a:masterClrMapping/>
  </p:clrMapOvr>
  <p:timing>
    <p:tnLst>
      <p:par>
        <p:cTn id="1" dur="indefinite" restart="never" nodeType="tmRoot"/>
      </p:par>
    </p:tn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图</a:t>
            </a:r>
            <a:r>
              <a:rPr lang="zh-CN" altLang="en-US" dirty="0" smtClean="0"/>
              <a:t>着色的应用</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smtClean="0"/>
              <a:t>图着色在与调度和分配有关问题中具有多种应用</a:t>
            </a:r>
            <a:r>
              <a:rPr lang="en-US" altLang="zh-CN" dirty="0" smtClean="0"/>
              <a:t>(</a:t>
            </a:r>
            <a:r>
              <a:rPr lang="zh-CN" altLang="en-US" dirty="0" smtClean="0"/>
              <a:t>由于不知道图着色的有效算法</a:t>
            </a:r>
            <a:r>
              <a:rPr lang="en-US" altLang="zh-CN" dirty="0" smtClean="0"/>
              <a:t>, </a:t>
            </a:r>
            <a:r>
              <a:rPr lang="zh-CN" altLang="en-US" dirty="0" smtClean="0"/>
              <a:t>所以并不能得出调度和分配的有效算法</a:t>
            </a:r>
            <a:r>
              <a:rPr lang="en-US" altLang="zh-CN" dirty="0" smtClean="0"/>
              <a:t>).</a:t>
            </a:r>
          </a:p>
          <a:p>
            <a:endParaRPr lang="en-US" altLang="zh-CN" dirty="0"/>
          </a:p>
          <a:p>
            <a:r>
              <a:rPr lang="zh-CN" altLang="en-US" dirty="0" smtClean="0"/>
              <a:t>例</a:t>
            </a:r>
            <a:r>
              <a:rPr lang="en-US" altLang="zh-CN" dirty="0" smtClean="0"/>
              <a:t>: </a:t>
            </a:r>
            <a:r>
              <a:rPr lang="zh-CN" altLang="en-US" dirty="0" smtClean="0"/>
              <a:t>安排期末考试</a:t>
            </a:r>
            <a:r>
              <a:rPr lang="en-US" altLang="zh-CN" dirty="0" smtClean="0"/>
              <a:t>. </a:t>
            </a:r>
            <a:r>
              <a:rPr lang="zh-CN" altLang="en-US" dirty="0" smtClean="0"/>
              <a:t>如果在一所大学里安排期末考试</a:t>
            </a:r>
            <a:r>
              <a:rPr lang="en-US" altLang="zh-CN" dirty="0" smtClean="0"/>
              <a:t>, </a:t>
            </a:r>
            <a:r>
              <a:rPr lang="zh-CN" altLang="en-US" dirty="0" smtClean="0"/>
              <a:t>使得</a:t>
            </a:r>
            <a:r>
              <a:rPr lang="zh-CN" altLang="en-US" dirty="0"/>
              <a:t>没有</a:t>
            </a:r>
            <a:r>
              <a:rPr lang="zh-CN" altLang="en-US" dirty="0" smtClean="0"/>
              <a:t>学生要同时考两门</a:t>
            </a:r>
            <a:r>
              <a:rPr lang="en-US" altLang="zh-CN" dirty="0" smtClean="0"/>
              <a:t>.</a:t>
            </a:r>
          </a:p>
          <a:p>
            <a:r>
              <a:rPr lang="zh-CN" altLang="en-US" dirty="0" smtClean="0"/>
              <a:t>解</a:t>
            </a:r>
            <a:r>
              <a:rPr lang="en-US" altLang="zh-CN" dirty="0" smtClean="0"/>
              <a:t>: </a:t>
            </a:r>
            <a:r>
              <a:rPr lang="zh-CN" altLang="en-US" dirty="0" smtClean="0"/>
              <a:t>这样的安排可以用图模型来解决</a:t>
            </a:r>
            <a:r>
              <a:rPr lang="en-US" altLang="zh-CN" dirty="0" smtClean="0"/>
              <a:t>. </a:t>
            </a:r>
            <a:r>
              <a:rPr lang="zh-CN" altLang="en-US" dirty="0" smtClean="0"/>
              <a:t>用顶点表示科目</a:t>
            </a:r>
            <a:r>
              <a:rPr lang="en-US" altLang="zh-CN" dirty="0" smtClean="0"/>
              <a:t>, </a:t>
            </a:r>
            <a:r>
              <a:rPr lang="zh-CN" altLang="en-US" dirty="0" smtClean="0"/>
              <a:t>若有学生要考两门</a:t>
            </a:r>
            <a:r>
              <a:rPr lang="en-US" altLang="zh-CN" dirty="0" smtClean="0"/>
              <a:t>, </a:t>
            </a:r>
            <a:r>
              <a:rPr lang="zh-CN" altLang="en-US" dirty="0" smtClean="0"/>
              <a:t>则在对应的两个顶点之间有边</a:t>
            </a:r>
            <a:r>
              <a:rPr lang="en-US" altLang="zh-CN" dirty="0" smtClean="0"/>
              <a:t>. </a:t>
            </a:r>
            <a:r>
              <a:rPr lang="zh-CN" altLang="en-US" dirty="0" smtClean="0"/>
              <a:t>用不同的颜色来表示期末考试的每个时间段</a:t>
            </a:r>
            <a:r>
              <a:rPr lang="en-US" altLang="zh-CN" dirty="0" smtClean="0"/>
              <a:t>. </a:t>
            </a:r>
            <a:r>
              <a:rPr lang="zh-CN" altLang="en-US" dirty="0" smtClean="0"/>
              <a:t>考试的安排就对应于对应的图的着色</a:t>
            </a:r>
            <a:r>
              <a:rPr lang="en-US" altLang="zh-CN" dirty="0" smtClean="0"/>
              <a:t>.</a:t>
            </a:r>
            <a:endParaRPr lang="en-US" altLang="zh-CN" dirty="0"/>
          </a:p>
          <a:p>
            <a:r>
              <a:rPr lang="zh-CN" altLang="en-US" dirty="0" smtClean="0"/>
              <a:t>假定要安排</a:t>
            </a:r>
            <a:r>
              <a:rPr lang="en-US" altLang="zh-CN" dirty="0" smtClean="0"/>
              <a:t>7</a:t>
            </a:r>
            <a:r>
              <a:rPr lang="zh-CN" altLang="en-US" dirty="0" smtClean="0"/>
              <a:t>门期末考试</a:t>
            </a:r>
            <a:r>
              <a:rPr lang="en-US" altLang="zh-CN" dirty="0" smtClean="0"/>
              <a:t>, </a:t>
            </a:r>
            <a:r>
              <a:rPr lang="zh-CN" altLang="en-US" dirty="0" smtClean="0"/>
              <a:t>从科目</a:t>
            </a:r>
            <a:r>
              <a:rPr lang="en-US" altLang="zh-CN" dirty="0" smtClean="0"/>
              <a:t>1</a:t>
            </a:r>
            <a:r>
              <a:rPr lang="zh-CN" altLang="en-US" dirty="0" smtClean="0"/>
              <a:t>到</a:t>
            </a:r>
            <a:r>
              <a:rPr lang="en-US" altLang="zh-CN" dirty="0" smtClean="0"/>
              <a:t>7</a:t>
            </a:r>
            <a:r>
              <a:rPr lang="zh-CN" altLang="en-US" dirty="0" smtClean="0"/>
              <a:t>编号</a:t>
            </a:r>
            <a:r>
              <a:rPr lang="en-US" altLang="zh-CN" dirty="0" smtClean="0"/>
              <a:t>. </a:t>
            </a:r>
            <a:r>
              <a:rPr lang="zh-CN" altLang="en-US" dirty="0" smtClean="0"/>
              <a:t>假定以下各对科目的考试都有学生参加</a:t>
            </a:r>
            <a:r>
              <a:rPr lang="en-US" altLang="zh-CN" dirty="0" smtClean="0"/>
              <a:t>: 1-2, 1-3, 1-4, 1-7, 2-3, 2-4, 2-5, 2-7, 3-4, 3-6, 3-7, 4-5, </a:t>
            </a:r>
          </a:p>
        </p:txBody>
      </p:sp>
      <p:sp>
        <p:nvSpPr>
          <p:cNvPr id="4" name="日期占位符 3"/>
          <p:cNvSpPr>
            <a:spLocks noGrp="1"/>
          </p:cNvSpPr>
          <p:nvPr>
            <p:ph type="dt" sz="half" idx="10"/>
          </p:nvPr>
        </p:nvSpPr>
        <p:spPr/>
        <p:txBody>
          <a:bodyPr/>
          <a:lstStyle/>
          <a:p>
            <a:fld id="{314AF27D-F565-4862-B0F4-F57A92AA6C4F}"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220</a:t>
            </a:fld>
            <a:endParaRPr lang="zh-CN" altLang="en-US" dirty="0"/>
          </a:p>
        </p:txBody>
      </p:sp>
    </p:spTree>
    <p:extLst>
      <p:ext uri="{BB962C8B-B14F-4D97-AF65-F5344CB8AC3E}">
        <p14:creationId xmlns:p14="http://schemas.microsoft.com/office/powerpoint/2010/main" val="2040972896"/>
      </p:ext>
    </p:extLst>
  </p:cSld>
  <p:clrMapOvr>
    <a:masterClrMapping/>
  </p:clrMapOvr>
  <p:timing>
    <p:tnLst>
      <p:par>
        <p:cTn id="1" dur="indefinite" restart="never" nodeType="tmRoot"/>
      </p:par>
    </p:tnLst>
  </p:timing>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图着色的应用</a:t>
            </a:r>
          </a:p>
        </p:txBody>
      </p:sp>
      <p:sp>
        <p:nvSpPr>
          <p:cNvPr id="3" name="内容占位符 2"/>
          <p:cNvSpPr>
            <a:spLocks noGrp="1"/>
          </p:cNvSpPr>
          <p:nvPr>
            <p:ph idx="1"/>
          </p:nvPr>
        </p:nvSpPr>
        <p:spPr/>
        <p:txBody>
          <a:bodyPr>
            <a:normAutofit lnSpcReduction="10000"/>
          </a:bodyPr>
          <a:lstStyle/>
          <a:p>
            <a:r>
              <a:rPr lang="en-US" altLang="zh-CN" dirty="0" smtClean="0"/>
              <a:t>(</a:t>
            </a:r>
            <a:r>
              <a:rPr lang="zh-CN" altLang="en-US" dirty="0" smtClean="0"/>
              <a:t>续</a:t>
            </a:r>
            <a:r>
              <a:rPr lang="en-US" altLang="zh-CN" dirty="0" smtClean="0"/>
              <a:t>)4-6, 5-6, 5-7, 6-7.</a:t>
            </a:r>
            <a:r>
              <a:rPr lang="zh-CN" altLang="en-US" dirty="0" smtClean="0"/>
              <a:t>下图显示了对应的图</a:t>
            </a:r>
            <a:r>
              <a:rPr lang="en-US" altLang="zh-CN" dirty="0" smtClean="0"/>
              <a:t>. </a:t>
            </a:r>
            <a:r>
              <a:rPr lang="zh-CN" altLang="en-US" dirty="0" smtClean="0"/>
              <a:t>一种安排就是一种图着色</a:t>
            </a:r>
            <a:r>
              <a:rPr lang="en-US" altLang="zh-CN" dirty="0" smtClean="0"/>
              <a:t>.</a:t>
            </a:r>
          </a:p>
          <a:p>
            <a:endParaRPr lang="en-US" altLang="zh-CN" dirty="0"/>
          </a:p>
          <a:p>
            <a:endParaRPr lang="en-US" altLang="zh-CN" dirty="0" smtClean="0"/>
          </a:p>
          <a:p>
            <a:endParaRPr lang="en-US" altLang="zh-CN" dirty="0" smtClean="0"/>
          </a:p>
          <a:p>
            <a:endParaRPr lang="en-US" altLang="zh-CN" dirty="0"/>
          </a:p>
          <a:p>
            <a:r>
              <a:rPr lang="zh-CN" altLang="en-US" dirty="0" smtClean="0"/>
              <a:t>这个图的着色为</a:t>
            </a:r>
            <a:r>
              <a:rPr lang="en-US" altLang="zh-CN" dirty="0" smtClean="0"/>
              <a:t>4(</a:t>
            </a:r>
            <a:r>
              <a:rPr lang="zh-CN" altLang="en-US" dirty="0" smtClean="0"/>
              <a:t>自行验证</a:t>
            </a:r>
            <a:r>
              <a:rPr lang="en-US" altLang="zh-CN" dirty="0" smtClean="0"/>
              <a:t>), </a:t>
            </a:r>
            <a:r>
              <a:rPr lang="zh-CN" altLang="en-US" dirty="0" smtClean="0"/>
              <a:t>所以需要</a:t>
            </a:r>
            <a:r>
              <a:rPr lang="en-US" altLang="zh-CN" dirty="0" smtClean="0"/>
              <a:t>4</a:t>
            </a:r>
            <a:r>
              <a:rPr lang="zh-CN" altLang="en-US" dirty="0" smtClean="0"/>
              <a:t>个时间段</a:t>
            </a:r>
            <a:r>
              <a:rPr lang="en-US" altLang="zh-CN" dirty="0" smtClean="0"/>
              <a:t>. </a:t>
            </a:r>
            <a:r>
              <a:rPr lang="zh-CN" altLang="en-US" dirty="0" smtClean="0"/>
              <a:t>例如如图的着色所关联的调度为</a:t>
            </a:r>
            <a:endParaRPr lang="en-US" altLang="zh-CN" dirty="0" smtClean="0"/>
          </a:p>
          <a:p>
            <a:pPr marL="0" indent="0">
              <a:buNone/>
            </a:pPr>
            <a:r>
              <a:rPr lang="en-US" altLang="zh-CN" dirty="0" smtClean="0"/>
              <a:t>	</a:t>
            </a:r>
            <a:r>
              <a:rPr lang="zh-CN" altLang="en-US" dirty="0" smtClean="0"/>
              <a:t>时间段</a:t>
            </a:r>
            <a:r>
              <a:rPr lang="en-US" altLang="zh-CN" dirty="0" smtClean="0"/>
              <a:t>1-</a:t>
            </a:r>
            <a:r>
              <a:rPr lang="zh-CN" altLang="en-US" dirty="0" smtClean="0"/>
              <a:t>考试科目</a:t>
            </a:r>
            <a:r>
              <a:rPr lang="en-US" altLang="zh-CN" dirty="0" smtClean="0"/>
              <a:t>1, 6		</a:t>
            </a:r>
            <a:r>
              <a:rPr lang="zh-CN" altLang="en-US" dirty="0" smtClean="0"/>
              <a:t>时间段</a:t>
            </a:r>
            <a:r>
              <a:rPr lang="en-US" altLang="zh-CN" dirty="0" smtClean="0"/>
              <a:t>2-</a:t>
            </a:r>
            <a:r>
              <a:rPr lang="zh-CN" altLang="en-US" dirty="0"/>
              <a:t>考试</a:t>
            </a:r>
            <a:r>
              <a:rPr lang="zh-CN" altLang="en-US" dirty="0" smtClean="0"/>
              <a:t>科目</a:t>
            </a:r>
            <a:r>
              <a:rPr lang="en-US" altLang="zh-CN" dirty="0" smtClean="0"/>
              <a:t>2	</a:t>
            </a:r>
          </a:p>
          <a:p>
            <a:pPr marL="0" indent="0">
              <a:buNone/>
            </a:pPr>
            <a:r>
              <a:rPr lang="en-US" altLang="zh-CN" dirty="0" smtClean="0"/>
              <a:t>	</a:t>
            </a:r>
            <a:r>
              <a:rPr lang="zh-CN" altLang="en-US" dirty="0" smtClean="0"/>
              <a:t>时间段</a:t>
            </a:r>
            <a:r>
              <a:rPr lang="en-US" altLang="zh-CN" dirty="0" smtClean="0"/>
              <a:t>3-</a:t>
            </a:r>
            <a:r>
              <a:rPr lang="zh-CN" altLang="en-US" dirty="0"/>
              <a:t>考试</a:t>
            </a:r>
            <a:r>
              <a:rPr lang="zh-CN" altLang="en-US" dirty="0" smtClean="0"/>
              <a:t>科目</a:t>
            </a:r>
            <a:r>
              <a:rPr lang="en-US" altLang="zh-CN" dirty="0" smtClean="0"/>
              <a:t>3, 5</a:t>
            </a:r>
            <a:r>
              <a:rPr lang="en-US" altLang="zh-CN" dirty="0"/>
              <a:t>		</a:t>
            </a:r>
            <a:r>
              <a:rPr lang="zh-CN" altLang="en-US" dirty="0"/>
              <a:t>时间</a:t>
            </a:r>
            <a:r>
              <a:rPr lang="zh-CN" altLang="en-US" dirty="0" smtClean="0"/>
              <a:t>段</a:t>
            </a:r>
            <a:r>
              <a:rPr lang="en-US" altLang="zh-CN" dirty="0" smtClean="0"/>
              <a:t>4-</a:t>
            </a:r>
            <a:r>
              <a:rPr lang="zh-CN" altLang="en-US" dirty="0"/>
              <a:t>考试</a:t>
            </a:r>
            <a:r>
              <a:rPr lang="zh-CN" altLang="en-US" dirty="0" smtClean="0"/>
              <a:t>科目</a:t>
            </a:r>
            <a:r>
              <a:rPr lang="en-US" altLang="zh-CN" dirty="0" smtClean="0"/>
              <a:t>4, 7</a:t>
            </a:r>
          </a:p>
          <a:p>
            <a:endParaRPr lang="en-US" altLang="zh-CN" dirty="0" smtClean="0"/>
          </a:p>
        </p:txBody>
      </p:sp>
      <p:sp>
        <p:nvSpPr>
          <p:cNvPr id="4" name="日期占位符 3"/>
          <p:cNvSpPr>
            <a:spLocks noGrp="1"/>
          </p:cNvSpPr>
          <p:nvPr>
            <p:ph type="dt" sz="half" idx="10"/>
          </p:nvPr>
        </p:nvSpPr>
        <p:spPr/>
        <p:txBody>
          <a:bodyPr/>
          <a:lstStyle/>
          <a:p>
            <a:fld id="{6B516BA4-759E-492B-AF69-731CD0AEB7F0}" type="datetime1">
              <a:rPr lang="zh-CN" altLang="en-US" smtClean="0"/>
              <a:t>2025/4/15</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221</a:t>
            </a:fld>
            <a:endParaRPr lang="zh-CN" altLang="en-US" dirty="0"/>
          </a:p>
        </p:txBody>
      </p:sp>
      <p:pic>
        <p:nvPicPr>
          <p:cNvPr id="7" name="图片 6"/>
          <p:cNvPicPr>
            <a:picLocks noChangeAspect="1"/>
          </p:cNvPicPr>
          <p:nvPr/>
        </p:nvPicPr>
        <p:blipFill>
          <a:blip r:embed="rId2"/>
          <a:stretch>
            <a:fillRect/>
          </a:stretch>
        </p:blipFill>
        <p:spPr>
          <a:xfrm>
            <a:off x="7039340" y="1981200"/>
            <a:ext cx="2622550" cy="2095500"/>
          </a:xfrm>
          <a:prstGeom prst="rect">
            <a:avLst/>
          </a:prstGeom>
        </p:spPr>
      </p:pic>
      <p:pic>
        <p:nvPicPr>
          <p:cNvPr id="8" name="图片 7"/>
          <p:cNvPicPr>
            <a:picLocks noChangeAspect="1"/>
          </p:cNvPicPr>
          <p:nvPr/>
        </p:nvPicPr>
        <p:blipFill>
          <a:blip r:embed="rId3"/>
          <a:stretch>
            <a:fillRect/>
          </a:stretch>
        </p:blipFill>
        <p:spPr>
          <a:xfrm>
            <a:off x="2375628" y="1447800"/>
            <a:ext cx="2743200" cy="2310470"/>
          </a:xfrm>
          <a:prstGeom prst="rect">
            <a:avLst/>
          </a:prstGeom>
        </p:spPr>
      </p:pic>
    </p:spTree>
    <p:extLst>
      <p:ext uri="{BB962C8B-B14F-4D97-AF65-F5344CB8AC3E}">
        <p14:creationId xmlns:p14="http://schemas.microsoft.com/office/powerpoint/2010/main" val="2803136821"/>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 &#10;2m = \sum_{v \in V} \mbox{deg}(v) = \sum_{v \in V_1} \mbox{deg}(v) + \sum_{v \in V_2} \mbox{deg}(v).&#10;$$&#10;&#10;&#10;\end{document}"/>
  <p:tag name="IGUANATEXSIZE" val="20"/>
</p:tagLst>
</file>

<file path=ppt/tags/tag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E| = \sum_{v \in V} deg^{-}(v) = \sum_{v \in V}deg^{+}(v).$$&#10;&#10;\end{document}"/>
  <p:tag name="IGUANATEXSIZE" val="30"/>
</p:tagLst>
</file>

<file path=ppt/tags/tag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left[&#10;\begin{array}{llll}&#10;0 &amp; 1 &amp; 1 &amp;1\\&#10;1 &amp; 0 &amp; 1 &amp; 0\\&#10;1 &amp; 1 &amp; 0 &amp; 0\\&#10;1 &amp; 0 &amp; 0&amp; 0\\ &#10;&#10;\end{array}&#10;\right]&#10;$$&#10;&#10;&#10;\end{document}"/>
  <p:tag name="IGUANATEXSIZE" val="15"/>
</p:tagLst>
</file>

<file path=ppt/tags/tag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left[&#10;\begin{array}{llll}&#10;0 &amp; 1 &amp; 1 &amp;0\\&#10;1 &amp; 0 &amp; 0 &amp; 1\\&#10;1 &amp; 0 &amp; 0 &amp; 1\\&#10;0 &amp; 1 &amp; 1&amp; 0\\ &#10;&#10;\end{array}&#10;\right]&#10;$$&#10;&#10;&#10;\end{document}"/>
  <p:tag name="IGUANATEXSIZE" val="15"/>
</p:tagLst>
</file>

<file path=ppt/tags/tag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left[&#10;\begin{array}{llll}&#10;0 &amp; 3 &amp; 0 &amp;2\\&#10;3 &amp; 0 &amp; 1 &amp; 1\\&#10;0 &amp; 1 &amp; 1 &amp; 2\\&#10;2 &amp; 1 &amp; 2&amp; 0\\ &#10;&#10;\end{array}&#10;\right]&#10;$$&#10;&#10;&#10;\end{document}"/>
  <p:tag name="IGUANATEXSIZE" val="15"/>
</p:tagLst>
</file>

<file path=ppt/tags/tag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left[&#10;\begin{array}{llllll}&#10;1 &amp; 1 &amp; 0 &amp;0 &amp; 0 &amp;0\\&#10;0 &amp; 0 &amp; 1 &amp; 1 &amp; 0 &amp; 1\\&#10;0 &amp; 0 &amp; 0 &amp; 0&amp; 1 &amp; 1\\&#10;1 &amp; 0 &amp; 1 &amp; 0&amp; 0 &amp; 0 \\&#10;0 &amp; 1 &amp; 0&amp; 1&amp; 1&amp; 0\\ &#10;&#10;\end{array}&#10;\right]&#10;$$&#10;&#10;&#10;\end{document}"/>
  <p:tag name="IGUANATEXSIZE" val="15"/>
</p:tagLst>
</file>

<file path=ppt/tags/tag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left[&#10;\begin{array}{llllllll}&#10;1 &amp; 1 &amp; 1 &amp;0 &amp; 0 &amp;0&amp; 0 &amp; 0\\&#10;0 &amp; 1 &amp; 1 &amp; 1 &amp; 0 &amp; 1&amp; 1 &amp; 0\\&#10;0 &amp; 0 &amp; 0 &amp; 1&amp; 1 &amp; 0 &amp; 0 &amp; 0\\&#10;0 &amp; 0 &amp; 0 &amp; 0&amp; 0 &amp; 0 &amp; 1 &amp; 1\\&#10;0 &amp; 0 &amp; 0&amp; 0&amp; 1&amp; 1&amp; 0 &amp;0\\ &#10;&#10;\end{array}&#10;\right]&#10;$$&#10;&#10;&#10;\end{document}"/>
  <p:tag name="IGUANATEXSIZE" val="15"/>
</p:tagLst>
</file>

<file path=ppt/tags/tag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left[&#10;\begin{array}{llll}&#10;0 &amp; 1 &amp; 1 &amp;0\\&#10;1 &amp; 0 &amp; 0 &amp; 1\\&#10;1 &amp; 0 &amp; 0 &amp; 1\\&#10;0 &amp; 1 &amp; 1&amp; 0\\ &#10;&#10;\end{array}&#10;\right]&#10;$$&#10;&#10;&#10;\end{document}"/>
  <p:tag name="IGUANATEXSIZE" val="15"/>
</p:tagLst>
</file>

<file path=ppt/tags/tag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left[&#10;\begin{array}{llll}&#10;8 &amp; 0 &amp;0 &amp;8\\&#10;0 &amp; 8 &amp; 8 &amp; 0\\&#10;0 &amp; 8 &amp; 8 &amp; 0\\&#10;8 &amp; 0 &amp; 0&amp; 8\\ &#10;&#10;\end{array}&#10;\right]&#10;$$&#10;&#10;&#10;\end{document}"/>
  <p:tag name="IGUANATEXSIZE" val="15"/>
</p:tagLst>
</file>

<file path=ppt/theme/theme1.xml><?xml version="1.0" encoding="utf-8"?>
<a:theme xmlns:a="http://schemas.openxmlformats.org/drawingml/2006/main" name="Office 主题​​">
  <a:themeElements>
    <a:clrScheme name="Office">
      <a:dk1>
        <a:sysClr val="windowText" lastClr="000000"/>
      </a:dk1>
      <a:lt1>
        <a:sysClr val="window" lastClr="CCE8C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CCE8C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35335</TotalTime>
  <Words>18279</Words>
  <Application>Microsoft Office PowerPoint</Application>
  <PresentationFormat>宽屏</PresentationFormat>
  <Paragraphs>2178</Paragraphs>
  <Slides>221</Slides>
  <Notes>5</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2</vt:i4>
      </vt:variant>
      <vt:variant>
        <vt:lpstr>幻灯片标题</vt:lpstr>
      </vt:variant>
      <vt:variant>
        <vt:i4>221</vt:i4>
      </vt:variant>
    </vt:vector>
  </HeadingPairs>
  <TitlesOfParts>
    <vt:vector size="235" baseType="lpstr">
      <vt:lpstr>Microsoft YaHei Light</vt:lpstr>
      <vt:lpstr>MS PGothic</vt:lpstr>
      <vt:lpstr>等线</vt:lpstr>
      <vt:lpstr>宋体</vt:lpstr>
      <vt:lpstr>微软雅黑</vt:lpstr>
      <vt:lpstr>Arial</vt:lpstr>
      <vt:lpstr>Calibri</vt:lpstr>
      <vt:lpstr>Cambria Math</vt:lpstr>
      <vt:lpstr>Symbol</vt:lpstr>
      <vt:lpstr>Times New Roman</vt:lpstr>
      <vt:lpstr>Wingdings</vt:lpstr>
      <vt:lpstr>Office 主题​​</vt:lpstr>
      <vt:lpstr>Equation</vt:lpstr>
      <vt:lpstr>公式</vt:lpstr>
      <vt:lpstr>PowerPoint 演示文稿</vt:lpstr>
      <vt:lpstr>第4.1节 图和图模型</vt:lpstr>
      <vt:lpstr>图</vt:lpstr>
      <vt:lpstr>图</vt:lpstr>
      <vt:lpstr>图</vt:lpstr>
      <vt:lpstr>图</vt:lpstr>
      <vt:lpstr>图</vt:lpstr>
      <vt:lpstr>图</vt:lpstr>
      <vt:lpstr>图</vt:lpstr>
      <vt:lpstr>图</vt:lpstr>
      <vt:lpstr>图模型-计算机网络</vt:lpstr>
      <vt:lpstr>图模型-计算机网络</vt:lpstr>
      <vt:lpstr>图模型-社交网络</vt:lpstr>
      <vt:lpstr>图模型-社交网络</vt:lpstr>
      <vt:lpstr>图模型-社交网络</vt:lpstr>
      <vt:lpstr>图模型-信息网络</vt:lpstr>
      <vt:lpstr>图模型-交通图</vt:lpstr>
      <vt:lpstr>图模型-软件设计应用</vt:lpstr>
      <vt:lpstr>图模型-软件设计应用</vt:lpstr>
      <vt:lpstr>图模型-生态网</vt:lpstr>
      <vt:lpstr>图模型-生态网</vt:lpstr>
      <vt:lpstr>第4.2节 图的术语和几种特殊的图</vt:lpstr>
      <vt:lpstr>基本术语</vt:lpstr>
      <vt:lpstr>基本术语</vt:lpstr>
      <vt:lpstr>基本术语</vt:lpstr>
      <vt:lpstr>基本术语</vt:lpstr>
      <vt:lpstr>基本术语</vt:lpstr>
      <vt:lpstr>基本术语</vt:lpstr>
      <vt:lpstr>基本术语</vt:lpstr>
      <vt:lpstr>基本术语</vt:lpstr>
      <vt:lpstr>基本术语</vt:lpstr>
      <vt:lpstr>一些特殊的简单图-完全图</vt:lpstr>
      <vt:lpstr>一些特殊的简单图-圈图</vt:lpstr>
      <vt:lpstr>一些特殊的简单图-轮图</vt:lpstr>
      <vt:lpstr>一些特殊的简单图-n立方体图</vt:lpstr>
      <vt:lpstr>计算机网络中常用到的一些特殊的简单图</vt:lpstr>
      <vt:lpstr>计算机网络中常用到的一些特殊的简单图</vt:lpstr>
      <vt:lpstr>二分图</vt:lpstr>
      <vt:lpstr>二分图</vt:lpstr>
      <vt:lpstr>二分图</vt:lpstr>
      <vt:lpstr>二分图</vt:lpstr>
      <vt:lpstr>二分图</vt:lpstr>
      <vt:lpstr>二分图</vt:lpstr>
      <vt:lpstr>二分图</vt:lpstr>
      <vt:lpstr>二分图</vt:lpstr>
      <vt:lpstr>二分图</vt:lpstr>
      <vt:lpstr>二分图和匹配</vt:lpstr>
      <vt:lpstr>二分图和匹配</vt:lpstr>
      <vt:lpstr>二分图和匹配</vt:lpstr>
      <vt:lpstr>二分图和匹配</vt:lpstr>
      <vt:lpstr>二分图和匹配</vt:lpstr>
      <vt:lpstr>二分图和匹配</vt:lpstr>
      <vt:lpstr>二分图和匹配</vt:lpstr>
      <vt:lpstr>二分图和匹配</vt:lpstr>
      <vt:lpstr>二分图和匹配</vt:lpstr>
      <vt:lpstr>从旧图构造新图</vt:lpstr>
      <vt:lpstr>从旧图构造新图</vt:lpstr>
      <vt:lpstr>从旧图构造新图</vt:lpstr>
      <vt:lpstr>从旧图构造新图</vt:lpstr>
      <vt:lpstr>从旧图构造新图</vt:lpstr>
      <vt:lpstr>从旧图构造新图</vt:lpstr>
      <vt:lpstr>从旧图构造新图</vt:lpstr>
      <vt:lpstr>从旧图构造新图</vt:lpstr>
      <vt:lpstr>从旧图构造新图</vt:lpstr>
      <vt:lpstr>从旧图构造新图</vt:lpstr>
      <vt:lpstr>从旧图构造新图</vt:lpstr>
      <vt:lpstr>从旧图构造新图</vt:lpstr>
      <vt:lpstr>从旧图构造新图</vt:lpstr>
      <vt:lpstr>从旧图构造新图（对称差或环合，  表示）</vt:lpstr>
      <vt:lpstr>从旧图构造新图</vt:lpstr>
      <vt:lpstr>从旧图构造新图</vt:lpstr>
      <vt:lpstr>从旧图构造新图</vt:lpstr>
      <vt:lpstr>可图序列</vt:lpstr>
      <vt:lpstr>可图序列</vt:lpstr>
      <vt:lpstr>可图序列</vt:lpstr>
      <vt:lpstr>支配集与支配数</vt:lpstr>
      <vt:lpstr>支配集与支配数</vt:lpstr>
      <vt:lpstr>点独立集与点独立数</vt:lpstr>
      <vt:lpstr>极大点独立集与极小支配集</vt:lpstr>
      <vt:lpstr>点覆盖集与点覆盖数</vt:lpstr>
      <vt:lpstr>边覆盖集与边覆盖数</vt:lpstr>
      <vt:lpstr>匹配（边独立集）与匹配数（边独立数）</vt:lpstr>
      <vt:lpstr>第5.3节 图的表示和图的同构</vt:lpstr>
      <vt:lpstr>图的表示: 邻接表</vt:lpstr>
      <vt:lpstr>图的表示: 邻接矩阵</vt:lpstr>
      <vt:lpstr>图的表示: 邻接矩阵</vt:lpstr>
      <vt:lpstr>图的表示: 邻接矩阵</vt:lpstr>
      <vt:lpstr>图的表示: 邻接矩阵</vt:lpstr>
      <vt:lpstr>图的表示: 邻接矩阵</vt:lpstr>
      <vt:lpstr>图的表示: 邻接矩阵</vt:lpstr>
      <vt:lpstr>图的表示: 邻接矩阵</vt:lpstr>
      <vt:lpstr>图的表示: 关联矩阵</vt:lpstr>
      <vt:lpstr>图的表示: 关联矩阵</vt:lpstr>
      <vt:lpstr>图的表示: 关联矩阵</vt:lpstr>
      <vt:lpstr>图的同构</vt:lpstr>
      <vt:lpstr>图的同构</vt:lpstr>
      <vt:lpstr>图的同构</vt:lpstr>
      <vt:lpstr>图的同构</vt:lpstr>
      <vt:lpstr>图的同构</vt:lpstr>
      <vt:lpstr>图的同构</vt:lpstr>
      <vt:lpstr>图的同构</vt:lpstr>
      <vt:lpstr>图的同构</vt:lpstr>
      <vt:lpstr>图的同构</vt:lpstr>
      <vt:lpstr>从旧图构造新图</vt:lpstr>
      <vt:lpstr>从旧图构造新图</vt:lpstr>
      <vt:lpstr>图同构算法</vt:lpstr>
      <vt:lpstr>图同构的应用</vt:lpstr>
      <vt:lpstr>第4.4节 连通性</vt:lpstr>
      <vt:lpstr>通路</vt:lpstr>
      <vt:lpstr>通路</vt:lpstr>
      <vt:lpstr>通路</vt:lpstr>
      <vt:lpstr>通路</vt:lpstr>
      <vt:lpstr>无向图的连通性</vt:lpstr>
      <vt:lpstr>无向图的连通性</vt:lpstr>
      <vt:lpstr>无向图的连通性</vt:lpstr>
      <vt:lpstr>图是如何连通的</vt:lpstr>
      <vt:lpstr>图是如何连通的</vt:lpstr>
      <vt:lpstr>图是如何连通的</vt:lpstr>
      <vt:lpstr>图是如何连通的</vt:lpstr>
      <vt:lpstr>图是如何连通的</vt:lpstr>
      <vt:lpstr>图是如何连通的</vt:lpstr>
      <vt:lpstr>图是如何连通的</vt:lpstr>
      <vt:lpstr>图是如何连通的</vt:lpstr>
      <vt:lpstr>图是如何连通的</vt:lpstr>
      <vt:lpstr>图是如何连通的</vt:lpstr>
      <vt:lpstr>图是如何连通的</vt:lpstr>
      <vt:lpstr>图是如何连通的</vt:lpstr>
      <vt:lpstr>图是如何连通的</vt:lpstr>
      <vt:lpstr>图是如何连通的</vt:lpstr>
      <vt:lpstr>图是如何连通的</vt:lpstr>
      <vt:lpstr>图是如何连通的</vt:lpstr>
      <vt:lpstr>图是如何连通的</vt:lpstr>
      <vt:lpstr>图是如何连通的</vt:lpstr>
      <vt:lpstr>有向图的连通性</vt:lpstr>
      <vt:lpstr>有向图的连通性</vt:lpstr>
      <vt:lpstr>有向图的连通性</vt:lpstr>
      <vt:lpstr>有向图的连通性</vt:lpstr>
      <vt:lpstr>有向图的连通性</vt:lpstr>
      <vt:lpstr>有向图的连通性</vt:lpstr>
      <vt:lpstr>有向图的连通性</vt:lpstr>
      <vt:lpstr>通路和同构</vt:lpstr>
      <vt:lpstr>通路和同构</vt:lpstr>
      <vt:lpstr>通路和同构</vt:lpstr>
      <vt:lpstr>通路和同构</vt:lpstr>
      <vt:lpstr>计算顶点之间的通路数</vt:lpstr>
      <vt:lpstr>计算顶点之间的通路数</vt:lpstr>
      <vt:lpstr>计算顶点之间的通路数</vt:lpstr>
      <vt:lpstr>计算顶点之间的通路数</vt:lpstr>
      <vt:lpstr>第3.5节 欧拉通路和哈密顿通路</vt:lpstr>
      <vt:lpstr>引言</vt:lpstr>
      <vt:lpstr>欧拉通路和欧拉回路</vt:lpstr>
      <vt:lpstr>欧拉通路和欧拉回路</vt:lpstr>
      <vt:lpstr>欧拉通路和欧拉回路</vt:lpstr>
      <vt:lpstr>欧拉通路和欧拉回路</vt:lpstr>
      <vt:lpstr>欧拉通路和欧拉回路</vt:lpstr>
      <vt:lpstr>欧拉通路和欧拉回路</vt:lpstr>
      <vt:lpstr>欧拉通路和欧拉回路</vt:lpstr>
      <vt:lpstr>欧拉通路和欧拉回路</vt:lpstr>
      <vt:lpstr>欧拉通路和欧拉回路</vt:lpstr>
      <vt:lpstr>欧拉通路和欧拉回路</vt:lpstr>
      <vt:lpstr>欧拉通路和欧拉回路</vt:lpstr>
      <vt:lpstr>欧拉通路和欧拉回路</vt:lpstr>
      <vt:lpstr>欧拉通路和欧拉回路</vt:lpstr>
      <vt:lpstr>欧拉通路和欧拉回路</vt:lpstr>
      <vt:lpstr>哈密顿通路与哈密顿回路</vt:lpstr>
      <vt:lpstr>哈密顿通路与哈密顿回路</vt:lpstr>
      <vt:lpstr>哈密顿通路与哈密顿回路</vt:lpstr>
      <vt:lpstr>哈密顿通路与哈密顿回路</vt:lpstr>
      <vt:lpstr>哈密顿通路与哈密顿回路</vt:lpstr>
      <vt:lpstr>哈密顿通路与哈密顿回路</vt:lpstr>
      <vt:lpstr>哈密顿通路与哈密顿回路</vt:lpstr>
      <vt:lpstr>哈密顿回路的应用</vt:lpstr>
      <vt:lpstr>哈密顿回路的应用</vt:lpstr>
      <vt:lpstr>第4.6节 最短通路问题</vt:lpstr>
      <vt:lpstr>引言</vt:lpstr>
      <vt:lpstr>最短通路算法</vt:lpstr>
      <vt:lpstr>最短通路算法</vt:lpstr>
      <vt:lpstr>最短通路算法</vt:lpstr>
      <vt:lpstr>最短通路算法</vt:lpstr>
      <vt:lpstr>最短通路算法</vt:lpstr>
      <vt:lpstr>最短通路算法</vt:lpstr>
      <vt:lpstr>最短通路算法</vt:lpstr>
      <vt:lpstr>最短通路算法</vt:lpstr>
      <vt:lpstr>旅行商问题</vt:lpstr>
      <vt:lpstr>旅行商问题</vt:lpstr>
      <vt:lpstr>旅行商问题</vt:lpstr>
      <vt:lpstr>旅行商问题</vt:lpstr>
      <vt:lpstr>第3.7节 平面图</vt:lpstr>
      <vt:lpstr>引言</vt:lpstr>
      <vt:lpstr>引言</vt:lpstr>
      <vt:lpstr>引言</vt:lpstr>
      <vt:lpstr>引言</vt:lpstr>
      <vt:lpstr>引言</vt:lpstr>
      <vt:lpstr>引言</vt:lpstr>
      <vt:lpstr>引言</vt:lpstr>
      <vt:lpstr>欧拉公式</vt:lpstr>
      <vt:lpstr> </vt:lpstr>
      <vt:lpstr>欧拉公式</vt:lpstr>
      <vt:lpstr>欧拉公式</vt:lpstr>
      <vt:lpstr>欧拉公式</vt:lpstr>
      <vt:lpstr>欧拉公式</vt:lpstr>
      <vt:lpstr>库拉图斯基定理</vt:lpstr>
      <vt:lpstr>库拉图斯基定理</vt:lpstr>
      <vt:lpstr>库拉图斯基定理</vt:lpstr>
      <vt:lpstr>库拉图斯基定理</vt:lpstr>
      <vt:lpstr>库拉图斯基定理</vt:lpstr>
      <vt:lpstr>第4.8节 图着色</vt:lpstr>
      <vt:lpstr>引言</vt:lpstr>
      <vt:lpstr>图着色</vt:lpstr>
      <vt:lpstr>图着色</vt:lpstr>
      <vt:lpstr>图着色</vt:lpstr>
      <vt:lpstr>图着色</vt:lpstr>
      <vt:lpstr>图着色</vt:lpstr>
      <vt:lpstr>图着色 </vt:lpstr>
      <vt:lpstr>图着色 </vt:lpstr>
      <vt:lpstr>图着色</vt:lpstr>
      <vt:lpstr>图着色</vt:lpstr>
      <vt:lpstr>图着色</vt:lpstr>
      <vt:lpstr>图着色</vt:lpstr>
      <vt:lpstr>图着色的应用</vt:lpstr>
      <vt:lpstr>图着色的应用</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Induction and recursion</dc:title>
  <dc:creator>Richard Scherl</dc:creator>
  <cp:lastModifiedBy>Microsoft 帐户</cp:lastModifiedBy>
  <cp:revision>1273</cp:revision>
  <dcterms:created xsi:type="dcterms:W3CDTF">2011-03-27T19:58:04Z</dcterms:created>
  <dcterms:modified xsi:type="dcterms:W3CDTF">2025-04-15T08:15:00Z</dcterms:modified>
</cp:coreProperties>
</file>