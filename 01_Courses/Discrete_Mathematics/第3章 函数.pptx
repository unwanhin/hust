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2" r:id="rId1"/>
  </p:sldMasterIdLst>
  <p:notesMasterIdLst>
    <p:notesMasterId r:id="rId38"/>
  </p:notesMasterIdLst>
  <p:handoutMasterIdLst>
    <p:handoutMasterId r:id="rId39"/>
  </p:handoutMasterIdLst>
  <p:sldIdLst>
    <p:sldId id="593" r:id="rId2"/>
    <p:sldId id="395" r:id="rId3"/>
    <p:sldId id="396" r:id="rId4"/>
    <p:sldId id="364" r:id="rId5"/>
    <p:sldId id="366" r:id="rId6"/>
    <p:sldId id="397" r:id="rId7"/>
    <p:sldId id="368" r:id="rId8"/>
    <p:sldId id="375" r:id="rId9"/>
    <p:sldId id="377" r:id="rId10"/>
    <p:sldId id="564" r:id="rId11"/>
    <p:sldId id="565" r:id="rId12"/>
    <p:sldId id="379" r:id="rId13"/>
    <p:sldId id="503" r:id="rId14"/>
    <p:sldId id="381" r:id="rId15"/>
    <p:sldId id="493" r:id="rId16"/>
    <p:sldId id="383" r:id="rId17"/>
    <p:sldId id="384" r:id="rId18"/>
    <p:sldId id="385" r:id="rId19"/>
    <p:sldId id="386" r:id="rId20"/>
    <p:sldId id="387" r:id="rId21"/>
    <p:sldId id="388" r:id="rId22"/>
    <p:sldId id="389" r:id="rId23"/>
    <p:sldId id="390" r:id="rId24"/>
    <p:sldId id="391" r:id="rId25"/>
    <p:sldId id="392" r:id="rId26"/>
    <p:sldId id="398" r:id="rId27"/>
    <p:sldId id="393" r:id="rId28"/>
    <p:sldId id="394" r:id="rId29"/>
    <p:sldId id="399" r:id="rId30"/>
    <p:sldId id="566" r:id="rId31"/>
    <p:sldId id="569" r:id="rId32"/>
    <p:sldId id="568" r:id="rId33"/>
    <p:sldId id="563" r:id="rId34"/>
    <p:sldId id="400" r:id="rId35"/>
    <p:sldId id="401" r:id="rId36"/>
    <p:sldId id="402" r:id="rId37"/>
  </p:sldIdLst>
  <p:sldSz cx="12192000" cy="6858000"/>
  <p:notesSz cx="7010400" cy="9296400"/>
  <p:embeddedFontLst>
    <p:embeddedFont>
      <p:font typeface="Cambria Math" panose="02040503050406030204" pitchFamily="18" charset="0"/>
      <p:regular r:id="rId40"/>
    </p:embeddedFont>
    <p:embeddedFont>
      <p:font typeface="等线" panose="02010600030101010101" pitchFamily="2" charset="-122"/>
      <p:regular r:id="rId41"/>
      <p:bold r:id="rId42"/>
    </p:embeddedFont>
    <p:embeddedFont>
      <p:font typeface="Microsoft YaHei Light" panose="020B0502040204020203" pitchFamily="34" charset="-122"/>
      <p:regular r:id="rId43"/>
    </p:embeddedFont>
    <p:embeddedFont>
      <p:font typeface="MS PGothic" panose="020B0600070205080204" pitchFamily="34" charset="-128"/>
      <p:regular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微软雅黑" panose="020B0503020204020204" pitchFamily="34" charset="-122"/>
      <p:regular r:id="rId49"/>
      <p:bold r:id="rId5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67B751A-C543-4FC1-9860-21CF96C98440}">
          <p14:sldIdLst>
            <p14:sldId id="593"/>
          </p14:sldIdLst>
        </p14:section>
        <p14:section name="1.3函数" id="{42838078-A672-40F7-9BE8-860D2DA1C12D}">
          <p14:sldIdLst>
            <p14:sldId id="395"/>
            <p14:sldId id="396"/>
            <p14:sldId id="364"/>
            <p14:sldId id="366"/>
            <p14:sldId id="397"/>
            <p14:sldId id="368"/>
            <p14:sldId id="375"/>
            <p14:sldId id="377"/>
            <p14:sldId id="564"/>
            <p14:sldId id="565"/>
            <p14:sldId id="379"/>
            <p14:sldId id="503"/>
            <p14:sldId id="381"/>
            <p14:sldId id="493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8"/>
            <p14:sldId id="393"/>
            <p14:sldId id="394"/>
            <p14:sldId id="399"/>
            <p14:sldId id="566"/>
            <p14:sldId id="569"/>
            <p14:sldId id="568"/>
            <p14:sldId id="563"/>
            <p14:sldId id="400"/>
            <p14:sldId id="401"/>
            <p14:sldId id="4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5" autoAdjust="0"/>
    <p:restoredTop sz="93963" autoAdjust="0"/>
  </p:normalViewPr>
  <p:slideViewPr>
    <p:cSldViewPr>
      <p:cViewPr varScale="1">
        <p:scale>
          <a:sx n="128" d="100"/>
          <a:sy n="128" d="100"/>
        </p:scale>
        <p:origin x="461" y="72"/>
      </p:cViewPr>
      <p:guideLst>
        <p:guide orient="horz" pos="220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C0FEF7AE-0C30-4EA7-B74D-470A9C33048D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E3901582-F5A8-41ED-8946-57B4D8BFA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72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10106763-8029-41BC-9E70-E644A94F0E80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A56D6F1B-26ED-417A-B5D8-8AED7AD37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6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9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853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D6F1B-26ED-417A-B5D8-8AED7AD3792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23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前提：一对一，以及映上。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D6F1B-26ED-417A-B5D8-8AED7AD3792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48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合成的定义域：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的定义域</a:t>
            </a:r>
            <a:endParaRPr lang="en-US" altLang="zh-CN" dirty="0" smtClean="0"/>
          </a:p>
          <a:p>
            <a:r>
              <a:rPr lang="zh-CN" altLang="en-US" dirty="0" smtClean="0"/>
              <a:t>合成的值域</a:t>
            </a:r>
            <a:r>
              <a:rPr lang="en-US" altLang="zh-CN" dirty="0" smtClean="0"/>
              <a:t>:g</a:t>
            </a:r>
            <a:r>
              <a:rPr lang="zh-CN" altLang="en-US" dirty="0" smtClean="0"/>
              <a:t>的值域在</a:t>
            </a:r>
            <a:r>
              <a:rPr lang="en-US" altLang="zh-CN" dirty="0" smtClean="0"/>
              <a:t>f</a:t>
            </a:r>
            <a:r>
              <a:rPr lang="zh-CN" altLang="en-US" dirty="0" smtClean="0"/>
              <a:t>中的像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D6F1B-26ED-417A-B5D8-8AED7AD3792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17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D6F1B-26ED-417A-B5D8-8AED7AD3792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49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xmlns="" id="{AD80F0C0-3B46-41BB-A648-38F3DB9C0483}"/>
              </a:ext>
            </a:extLst>
          </p:cNvPr>
          <p:cNvSpPr txBox="1"/>
          <p:nvPr userDrawn="1"/>
        </p:nvSpPr>
        <p:spPr>
          <a:xfrm>
            <a:off x="3523347" y="3438257"/>
            <a:ext cx="7179935" cy="1487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867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数据与大数据</a:t>
            </a:r>
            <a:endParaRPr lang="en-US" altLang="zh-CN" sz="5867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dirty="0" smtClean="0">
                <a:solidFill>
                  <a:schemeClr val="bg1"/>
                </a:solidFill>
              </a:rPr>
              <a:t>data and big data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1" name="矩形 10"/>
            <p:cNvSpPr/>
            <p:nvPr/>
          </p:nvSpPr>
          <p:spPr>
            <a:xfrm>
              <a:off x="0" y="0"/>
              <a:ext cx="12192000" cy="3440784"/>
            </a:xfrm>
            <a:prstGeom prst="rect">
              <a:avLst/>
            </a:prstGeom>
            <a:solidFill>
              <a:srgbClr val="0155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-1" y="3440783"/>
              <a:ext cx="12192001" cy="3417217"/>
            </a:xfrm>
            <a:prstGeom prst="rect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  <a:effectLst>
              <a:outerShdw blurRad="190500" sx="102000" sy="102000" algn="ctr" rotWithShape="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09369" y="164054"/>
              <a:ext cx="11973262" cy="6529891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>
              <a:outerShdw blurRad="190500" sx="102000" sy="102000" algn="ctr" rotWithShape="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35393" y="399255"/>
              <a:ext cx="360000" cy="360000"/>
              <a:chOff x="2117558" y="3758627"/>
              <a:chExt cx="360000" cy="360000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117558" y="3765884"/>
                <a:ext cx="360000" cy="0"/>
              </a:xfrm>
              <a:prstGeom prst="line">
                <a:avLst/>
              </a:prstGeom>
              <a:ln w="19050">
                <a:solidFill>
                  <a:srgbClr val="0155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flipH="1">
                <a:off x="2125904" y="3758627"/>
                <a:ext cx="0" cy="360000"/>
              </a:xfrm>
              <a:prstGeom prst="line">
                <a:avLst/>
              </a:prstGeom>
              <a:ln w="19050">
                <a:solidFill>
                  <a:srgbClr val="0155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/>
            <p:cNvGrpSpPr/>
            <p:nvPr/>
          </p:nvGrpSpPr>
          <p:grpSpPr>
            <a:xfrm>
              <a:off x="11492431" y="399255"/>
              <a:ext cx="360000" cy="360000"/>
              <a:chOff x="2269958" y="3918284"/>
              <a:chExt cx="360000" cy="36000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2269958" y="3918284"/>
                <a:ext cx="360000" cy="0"/>
              </a:xfrm>
              <a:prstGeom prst="line">
                <a:avLst/>
              </a:prstGeom>
              <a:ln w="19050">
                <a:solidFill>
                  <a:srgbClr val="0155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flipH="1">
                <a:off x="2618852" y="3918284"/>
                <a:ext cx="0" cy="360000"/>
              </a:xfrm>
              <a:prstGeom prst="line">
                <a:avLst/>
              </a:prstGeom>
              <a:ln w="19050">
                <a:solidFill>
                  <a:srgbClr val="0155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>
              <a:off x="324634" y="6129564"/>
              <a:ext cx="368148" cy="360000"/>
              <a:chOff x="2430704" y="4063427"/>
              <a:chExt cx="368148" cy="360000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2438852" y="4413178"/>
                <a:ext cx="360000" cy="0"/>
              </a:xfrm>
              <a:prstGeom prst="line">
                <a:avLst/>
              </a:prstGeom>
              <a:ln w="19050">
                <a:solidFill>
                  <a:srgbClr val="0155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H="1">
                <a:off x="2430704" y="4063427"/>
                <a:ext cx="0" cy="360000"/>
              </a:xfrm>
              <a:prstGeom prst="line">
                <a:avLst/>
              </a:prstGeom>
              <a:ln w="19050">
                <a:solidFill>
                  <a:srgbClr val="0155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>
              <a:off x="11503314" y="6122307"/>
              <a:ext cx="360000" cy="360000"/>
              <a:chOff x="2574758" y="3873751"/>
              <a:chExt cx="360000" cy="360000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2574758" y="4223084"/>
                <a:ext cx="360000" cy="0"/>
              </a:xfrm>
              <a:prstGeom prst="line">
                <a:avLst/>
              </a:prstGeom>
              <a:ln w="19050">
                <a:solidFill>
                  <a:srgbClr val="0155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H="1">
                <a:off x="2924643" y="3873751"/>
                <a:ext cx="0" cy="360000"/>
              </a:xfrm>
              <a:prstGeom prst="line">
                <a:avLst/>
              </a:prstGeom>
              <a:ln w="19050">
                <a:solidFill>
                  <a:srgbClr val="01559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40" y="417184"/>
            <a:ext cx="1115730" cy="878638"/>
          </a:xfrm>
          <a:prstGeom prst="rect">
            <a:avLst/>
          </a:prstGeom>
        </p:spPr>
      </p:pic>
      <p:sp>
        <p:nvSpPr>
          <p:cNvPr id="27" name="Freeform 7"/>
          <p:cNvSpPr>
            <a:spLocks noChangeArrowheads="1"/>
          </p:cNvSpPr>
          <p:nvPr userDrawn="1"/>
        </p:nvSpPr>
        <p:spPr bwMode="auto">
          <a:xfrm>
            <a:off x="1600678" y="2118577"/>
            <a:ext cx="82296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1618966" y="2547953"/>
            <a:ext cx="8229600" cy="914400"/>
            <a:chOff x="1618966" y="2547953"/>
            <a:chExt cx="8229600" cy="914400"/>
          </a:xfrm>
        </p:grpSpPr>
        <p:sp>
          <p:nvSpPr>
            <p:cNvPr id="29" name="Line 10"/>
            <p:cNvSpPr>
              <a:spLocks noChangeShapeType="1"/>
            </p:cNvSpPr>
            <p:nvPr/>
          </p:nvSpPr>
          <p:spPr bwMode="auto">
            <a:xfrm>
              <a:off x="9848566" y="2547953"/>
              <a:ext cx="0" cy="914400"/>
            </a:xfrm>
            <a:prstGeom prst="line">
              <a:avLst/>
            </a:prstGeom>
            <a:noFill/>
            <a:ln w="25400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>
              <a:off x="1618966" y="3462353"/>
              <a:ext cx="8229600" cy="0"/>
            </a:xfrm>
            <a:prstGeom prst="line">
              <a:avLst/>
            </a:prstGeom>
            <a:noFill/>
            <a:ln w="25400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286" y="5444795"/>
            <a:ext cx="1562460" cy="156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27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595087" y="268889"/>
            <a:ext cx="10987314" cy="63577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5" name="内容占位符 2"/>
          <p:cNvSpPr>
            <a:spLocks noGrp="1"/>
          </p:cNvSpPr>
          <p:nvPr>
            <p:ph idx="1"/>
          </p:nvPr>
        </p:nvSpPr>
        <p:spPr>
          <a:xfrm>
            <a:off x="595086" y="1088824"/>
            <a:ext cx="10987316" cy="5121481"/>
          </a:xfrm>
          <a:prstGeom prst="rect">
            <a:avLst/>
          </a:prstGeom>
        </p:spPr>
        <p:txBody>
          <a:bodyPr/>
          <a:lstStyle>
            <a:lvl1pPr marL="274320" indent="-274320">
              <a:lnSpc>
                <a:spcPct val="100000"/>
              </a:lnSpc>
              <a:buClr>
                <a:srgbClr val="CEA524"/>
              </a:buClr>
              <a:buSzPct val="100000"/>
              <a:buFont typeface="Wingdings" panose="05000000000000000000" pitchFamily="2" charset="2"/>
              <a:buChar char="q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40080" indent="-246888">
              <a:buClr>
                <a:srgbClr val="01559D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20" name="Line 1032">
            <a:extLst>
              <a:ext uri="{FF2B5EF4-FFF2-40B4-BE49-F238E27FC236}">
                <a16:creationId xmlns:a16="http://schemas.microsoft.com/office/drawing/2014/main" xmlns="" id="{84905974-26AA-1845-8C01-E86327ED24C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914400"/>
            <a:ext cx="11277600" cy="6815"/>
          </a:xfrm>
          <a:prstGeom prst="line">
            <a:avLst/>
          </a:prstGeom>
          <a:noFill/>
          <a:ln w="1905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" name="日期占位符 9"/>
          <p:cNvSpPr>
            <a:spLocks noGrp="1"/>
          </p:cNvSpPr>
          <p:nvPr>
            <p:ph type="dt" sz="half" idx="10"/>
          </p:nvPr>
        </p:nvSpPr>
        <p:spPr>
          <a:xfrm>
            <a:off x="457200" y="6400799"/>
            <a:ext cx="2895600" cy="370917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F9DDDA3-6A14-4636-8634-A690DF7A52E2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22" name="页脚占位符 10"/>
          <p:cNvSpPr>
            <a:spLocks noGrp="1"/>
          </p:cNvSpPr>
          <p:nvPr>
            <p:ph type="ftr" sz="quarter" idx="11"/>
          </p:nvPr>
        </p:nvSpPr>
        <p:spPr>
          <a:xfrm>
            <a:off x="7086600" y="6400799"/>
            <a:ext cx="4724400" cy="38096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zh-CN" altLang="en-US" dirty="0" smtClean="0"/>
              <a:t>        华中科技大学人机物系统与安全实验室</a:t>
            </a:r>
            <a:endParaRPr lang="zh-CN" altLang="en-US" dirty="0"/>
          </a:p>
        </p:txBody>
      </p:sp>
      <p:sp>
        <p:nvSpPr>
          <p:cNvPr id="23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4267200" y="6406591"/>
            <a:ext cx="3657600" cy="365125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7913A8A-9EFB-4B5F-9CCB-3D21173FAA8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4" name="Line 1032">
            <a:extLst>
              <a:ext uri="{FF2B5EF4-FFF2-40B4-BE49-F238E27FC236}">
                <a16:creationId xmlns:a16="http://schemas.microsoft.com/office/drawing/2014/main" xmlns="" id="{84905974-26AA-1845-8C01-E86327ED24C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6324600"/>
            <a:ext cx="11277600" cy="6815"/>
          </a:xfrm>
          <a:prstGeom prst="line">
            <a:avLst/>
          </a:prstGeom>
          <a:noFill/>
          <a:ln w="1905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49846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1706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7178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79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3600" kern="1200" dirty="0">
          <a:solidFill>
            <a:srgbClr val="01559D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gmeng@hust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4.xml"/><Relationship Id="rId7" Type="http://schemas.openxmlformats.org/officeDocument/2006/relationships/image" Target="../media/image9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4" Type="http://schemas.openxmlformats.org/officeDocument/2006/relationships/tags" Target="../tags/tag5.xml"/><Relationship Id="rId9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13" Type="http://schemas.openxmlformats.org/officeDocument/2006/relationships/image" Target="../media/image23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1.png"/><Relationship Id="rId5" Type="http://schemas.openxmlformats.org/officeDocument/2006/relationships/tags" Target="../tags/tag10.xml"/><Relationship Id="rId10" Type="http://schemas.openxmlformats.org/officeDocument/2006/relationships/image" Target="../media/image20.png"/><Relationship Id="rId4" Type="http://schemas.openxmlformats.org/officeDocument/2006/relationships/tags" Target="../tags/tag9.xml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 txBox="1">
            <a:spLocks/>
          </p:cNvSpPr>
          <p:nvPr/>
        </p:nvSpPr>
        <p:spPr>
          <a:xfrm>
            <a:off x="1618966" y="685800"/>
            <a:ext cx="821131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函数</a:t>
            </a:r>
            <a:endParaRPr lang="zh-CN" altLang="en-US" b="1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1447800" y="2362200"/>
            <a:ext cx="8991600" cy="35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-122"/>
                <a:sym typeface="Calibri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 typeface="Arial" charset="0"/>
              <a:buNone/>
            </a:pPr>
            <a:r>
              <a:rPr lang="zh-CN" altLang="en-US" sz="3600" b="1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张猛</a:t>
            </a:r>
            <a:endParaRPr lang="en-US" altLang="zh-CN" sz="3600" b="1" dirty="0" smtClean="0">
              <a:solidFill>
                <a:srgbClr val="0155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 typeface="Arial" charset="0"/>
              <a:buNone/>
            </a:pPr>
            <a:r>
              <a:rPr lang="zh-CN" altLang="en-US" dirty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华中科技大学计算机科学与技术学院</a:t>
            </a:r>
            <a:endParaRPr lang="en-US" altLang="zh-CN" dirty="0">
              <a:solidFill>
                <a:srgbClr val="0155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 typeface="Arial" charset="0"/>
              <a:buNone/>
            </a:pPr>
            <a:r>
              <a:rPr lang="zh-CN" altLang="en-US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新型非易失存储系统实验室（</a:t>
            </a:r>
            <a:r>
              <a:rPr lang="en-US" altLang="zh-CN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NNSS</a:t>
            </a:r>
            <a:r>
              <a:rPr lang="zh-CN" altLang="en-US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）</a:t>
            </a:r>
            <a:endParaRPr lang="en-US" altLang="zh-CN" dirty="0" smtClean="0">
              <a:solidFill>
                <a:srgbClr val="0155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 typeface="Arial" charset="0"/>
              <a:buNone/>
            </a:pPr>
            <a:r>
              <a:rPr lang="en-US" altLang="zh-CN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  <a:hlinkClick r:id="rId3"/>
              </a:rPr>
              <a:t>zgmeng</a:t>
            </a:r>
            <a:r>
              <a:rPr lang="en-US" altLang="zh-Hans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  <a:hlinkClick r:id="rId3"/>
              </a:rPr>
              <a:t>@hust.edu.cn</a:t>
            </a:r>
            <a:endParaRPr lang="en-US" altLang="zh-Hans" dirty="0" smtClean="0">
              <a:solidFill>
                <a:srgbClr val="0155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 typeface="Arial" charset="0"/>
              <a:buNone/>
            </a:pPr>
            <a:r>
              <a:rPr lang="en-US" altLang="zh-CN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2025</a:t>
            </a:r>
            <a:r>
              <a:rPr lang="zh-CN" altLang="en-US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年</a:t>
            </a:r>
            <a:r>
              <a:rPr lang="en-US" altLang="zh-CN" dirty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3</a:t>
            </a:r>
            <a:r>
              <a:rPr lang="zh-CN" altLang="en-US" dirty="0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月</a:t>
            </a:r>
            <a:r>
              <a:rPr lang="en-US" altLang="zh-CN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14</a:t>
            </a:r>
            <a:r>
              <a:rPr lang="zh-CN" altLang="en-US" smtClean="0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日</a:t>
            </a:r>
            <a:endParaRPr lang="en-US" altLang="zh-CN" dirty="0">
              <a:solidFill>
                <a:srgbClr val="0155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024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en-US" dirty="0" smtClean="0"/>
          </a:p>
          <a:p>
            <a:pPr lvl="1"/>
            <a:r>
              <a:rPr lang="zh-CN" altLang="en-US" dirty="0" smtClean="0"/>
              <a:t>定义域，陪域，值域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像，原像</a:t>
            </a:r>
            <a:endParaRPr lang="en-US" dirty="0" smtClean="0"/>
          </a:p>
          <a:p>
            <a:r>
              <a:rPr lang="zh-CN" altLang="en-US" dirty="0" smtClean="0"/>
              <a:t>单射，满射，双射</a:t>
            </a:r>
            <a:endParaRPr lang="en-US" altLang="zh-CN" dirty="0" smtClean="0"/>
          </a:p>
          <a:p>
            <a:r>
              <a:rPr lang="zh-CN" altLang="en-US" dirty="0" smtClean="0"/>
              <a:t>反函数</a:t>
            </a:r>
            <a:endParaRPr lang="en-US" altLang="zh-CN" dirty="0" smtClean="0"/>
          </a:p>
          <a:p>
            <a:r>
              <a:rPr lang="zh-CN" altLang="en-US" dirty="0" smtClean="0"/>
              <a:t>函数合成</a:t>
            </a:r>
            <a:endParaRPr lang="en-US" altLang="zh-CN" dirty="0" smtClean="0"/>
          </a:p>
          <a:p>
            <a:r>
              <a:rPr lang="zh-CN" altLang="en-US" dirty="0" smtClean="0"/>
              <a:t>函数的图</a:t>
            </a:r>
            <a:endParaRPr lang="en-US" altLang="zh-CN" dirty="0" smtClean="0"/>
          </a:p>
          <a:p>
            <a:r>
              <a:rPr lang="zh-CN" altLang="en-US" dirty="0" smtClean="0"/>
              <a:t>下取整函数，上取整函数，阶乘函数</a:t>
            </a:r>
            <a:endParaRPr lang="en-US" altLang="zh-CN" dirty="0" smtClean="0"/>
          </a:p>
          <a:p>
            <a:r>
              <a:rPr lang="zh-CN" altLang="en-US" dirty="0" smtClean="0"/>
              <a:t>部分函数</a:t>
            </a:r>
            <a:endParaRPr lang="en-US" dirty="0" smtClean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4A53-76B7-488B-A58F-85C6296DA31C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457200" y="1066800"/>
            <a:ext cx="11277599" cy="999337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b="1" dirty="0" smtClean="0">
                    <a:solidFill>
                      <a:srgbClr val="C00000"/>
                    </a:solidFill>
                  </a:rPr>
                  <a:t>函数</a:t>
                </a:r>
                <a:r>
                  <a:rPr lang="en-US" dirty="0" smtClean="0"/>
                  <a:t>: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为非空集合</a:t>
                </a:r>
                <a:r>
                  <a:rPr lang="en-US" dirty="0" smtClean="0"/>
                  <a:t>. </a:t>
                </a:r>
                <a:r>
                  <a:rPr lang="zh-CN" altLang="en-US" dirty="0" smtClean="0"/>
                  <a:t>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的函数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记作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i="1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i="1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是对元素的一种指派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的每个元素恰好指派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的一个元素</a:t>
                </a:r>
                <a:r>
                  <a:rPr lang="en-US" altLang="zh-CN" dirty="0" smtClean="0">
                    <a:sym typeface="Wingdings" pitchFamily="2" charset="2"/>
                  </a:rPr>
                  <a:t>.</a:t>
                </a:r>
              </a:p>
              <a:p>
                <a:r>
                  <a:rPr lang="zh-CN" altLang="en-US" dirty="0" smtClean="0">
                    <a:sym typeface="Wingdings" pitchFamily="2" charset="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中的元素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𝑏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是唯一由函数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𝑓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指派给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中的元素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altLang="zh-CN" dirty="0" smtClean="0">
                    <a:sym typeface="Wingdings" pitchFamily="2" charset="2"/>
                  </a:rPr>
                  <a:t>, </a:t>
                </a:r>
                <a:r>
                  <a:rPr lang="zh-CN" altLang="en-US" dirty="0" smtClean="0">
                    <a:sym typeface="Wingdings" pitchFamily="2" charset="2"/>
                  </a:rPr>
                  <a:t>则我们写为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𝑓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. </a:t>
                </a:r>
              </a:p>
              <a:p>
                <a:r>
                  <a:rPr lang="zh-CN" altLang="en-US" dirty="0" smtClean="0">
                    <a:sym typeface="Wingdings" pitchFamily="2" charset="2"/>
                  </a:rPr>
                  <a:t>函数有时也称为映射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或者变换</a:t>
                </a:r>
                <a:r>
                  <a:rPr lang="en-US" altLang="zh-CN" dirty="0" smtClean="0">
                    <a:sym typeface="Wingdings" pitchFamily="2" charset="2"/>
                  </a:rPr>
                  <a:t>.</a:t>
                </a:r>
                <a:endParaRPr lang="en-US" dirty="0" smtClean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dirty="0" smtClean="0">
                    <a:sym typeface="Wingdings" pitchFamily="2" charset="2"/>
                  </a:rPr>
                  <a:t> </a:t>
                </a:r>
              </a:p>
              <a:p>
                <a:endParaRPr lang="en-US" dirty="0" smtClean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3"/>
                <a:stretch>
                  <a:fillRect l="-999" t="-1310" r="-1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日期占位符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4F25-1542-4D06-ACA4-83ADE2AB9B97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Flowchart: Connector 4"/>
          <p:cNvSpPr/>
          <p:nvPr/>
        </p:nvSpPr>
        <p:spPr>
          <a:xfrm>
            <a:off x="9296400" y="44196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/>
          <p:cNvSpPr/>
          <p:nvPr/>
        </p:nvSpPr>
        <p:spPr>
          <a:xfrm>
            <a:off x="9296400" y="50292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/>
          <p:cNvSpPr/>
          <p:nvPr/>
        </p:nvSpPr>
        <p:spPr>
          <a:xfrm>
            <a:off x="9296400" y="37338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/>
          <p:cNvSpPr/>
          <p:nvPr/>
        </p:nvSpPr>
        <p:spPr>
          <a:xfrm>
            <a:off x="9372600" y="55626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/>
          <p:cNvSpPr/>
          <p:nvPr/>
        </p:nvSpPr>
        <p:spPr>
          <a:xfrm>
            <a:off x="10744200" y="35052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/>
          <p:cNvSpPr/>
          <p:nvPr/>
        </p:nvSpPr>
        <p:spPr>
          <a:xfrm>
            <a:off x="10744200" y="44958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125200" y="3429000"/>
            <a:ext cx="20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5200" y="3962400"/>
            <a:ext cx="20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4495800"/>
            <a:ext cx="7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0480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学生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0439400" y="3048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课程成绩</a:t>
            </a:r>
            <a:endParaRPr lang="en-US" b="1" dirty="0"/>
          </a:p>
        </p:txBody>
      </p:sp>
      <p:sp>
        <p:nvSpPr>
          <p:cNvPr id="26" name="Flowchart: Connector 25"/>
          <p:cNvSpPr/>
          <p:nvPr/>
        </p:nvSpPr>
        <p:spPr>
          <a:xfrm>
            <a:off x="10744200" y="40386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/>
          <p:cNvSpPr/>
          <p:nvPr/>
        </p:nvSpPr>
        <p:spPr>
          <a:xfrm>
            <a:off x="10744200" y="49530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/>
          <p:cNvSpPr/>
          <p:nvPr/>
        </p:nvSpPr>
        <p:spPr>
          <a:xfrm>
            <a:off x="10744200" y="5410200"/>
            <a:ext cx="304800" cy="298580"/>
          </a:xfrm>
          <a:prstGeom prst="flowChartConnector">
            <a:avLst/>
          </a:prstGeom>
          <a:solidFill>
            <a:srgbClr val="4F81BD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1125200" y="4953000"/>
            <a:ext cx="20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5410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5626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Kathy  Scott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0" y="44196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Sandeep</a:t>
            </a:r>
            <a:r>
              <a:rPr lang="en-US" dirty="0"/>
              <a:t> Patel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2800" y="37338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Carlota Rodriguez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9530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Jalen</a:t>
            </a:r>
            <a:r>
              <a:rPr lang="en-US" dirty="0"/>
              <a:t> Williams</a:t>
            </a:r>
          </a:p>
        </p:txBody>
      </p:sp>
      <p:cxnSp>
        <p:nvCxnSpPr>
          <p:cNvPr id="38" name="Straight Arrow Connector 37"/>
          <p:cNvCxnSpPr>
            <a:stCxn id="7" idx="6"/>
          </p:cNvCxnSpPr>
          <p:nvPr/>
        </p:nvCxnSpPr>
        <p:spPr>
          <a:xfrm flipV="1">
            <a:off x="9601200" y="3733800"/>
            <a:ext cx="1143000" cy="1492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9677400" y="4267200"/>
            <a:ext cx="990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5400000" flipH="1" flipV="1">
            <a:off x="9943001" y="3696800"/>
            <a:ext cx="351636" cy="11876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 flipH="1" flipV="1">
            <a:off x="9220200" y="4267200"/>
            <a:ext cx="18288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en-US" altLang="zh-CN" dirty="0" smtClean="0">
                    <a:sym typeface="Wingdings" pitchFamily="2" charset="2"/>
                  </a:rPr>
                  <a:t>, </a:t>
                </a:r>
                <a:r>
                  <a:rPr lang="zh-CN" altLang="en-US" dirty="0" smtClean="0"/>
                  <a:t>也可以由从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的关系来定义</a:t>
                </a:r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对于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的关系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如果对每一个元素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err="1" smtClean="0"/>
                  <a:t>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都有且仅有一个序偶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则它就定义了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的一个函数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这个函数通过指派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)=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 smtClean="0"/>
                  <a:t>来定义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其中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是关系中唯一以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 smtClean="0"/>
                  <a:t>为第一个元素的序偶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9" t="-1310" r="-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30D5-641F-4D39-9135-8C7A2A69A168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给定函数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那么我们说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是把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映射到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en-US" dirty="0" smtClean="0"/>
                  <a:t>. </a:t>
                </a:r>
                <a:r>
                  <a:rPr lang="zh-CN" altLang="en-US" dirty="0" smtClean="0"/>
                  <a:t>其中</a:t>
                </a:r>
                <a:r>
                  <a:rPr lang="en-US" altLang="zh-CN" dirty="0" smtClean="0"/>
                  <a:t>,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定义域</a:t>
                </a:r>
                <a:r>
                  <a:rPr lang="en-US" altLang="zh-CN" dirty="0" smtClean="0"/>
                  <a:t>,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陪域</a:t>
                </a:r>
                <a:r>
                  <a:rPr lang="en-US" altLang="zh-CN" dirty="0" smtClean="0"/>
                  <a:t>.</a:t>
                </a:r>
                <a:endParaRPr lang="en-US" dirty="0" smtClean="0"/>
              </a:p>
              <a:p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 smtClean="0"/>
                  <a:t>,   </a:t>
                </a:r>
                <a:r>
                  <a:rPr lang="zh-CN" altLang="en-US" dirty="0" smtClean="0"/>
                  <a:t>那么</a:t>
                </a:r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 smtClean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像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 smtClean="0"/>
                  <a:t>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原像</a:t>
                </a:r>
                <a:endParaRPr lang="en-US" altLang="zh-CN" b="1" dirty="0" smtClean="0">
                  <a:solidFill>
                    <a:srgbClr val="C0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值域</a:t>
                </a:r>
                <a:r>
                  <a:rPr lang="zh-CN" altLang="en-US" dirty="0" smtClean="0"/>
                  <a:t>或像是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中的元素的所有像的集合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zh-CN" altLang="en-US" dirty="0" smtClean="0"/>
                  <a:t>当两个函数具有相同的定义域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陪域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映射定义域中的每个元素到陪域中的相同元素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这两个函数相等</a:t>
                </a:r>
                <a:r>
                  <a:rPr lang="en-US" altLang="zh-CN" dirty="0" smtClean="0"/>
                  <a:t>.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9" t="-1310" r="-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C8DE-1346-4C10-9B5A-50E33D57F6B5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6" name="Picture 5" descr="02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8999" y="1600200"/>
            <a:ext cx="4572001" cy="161395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函数的表示形式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函数可以用许多形式来描述</a:t>
                </a:r>
                <a:r>
                  <a:rPr lang="en-US" dirty="0" smtClean="0"/>
                  <a:t>:</a:t>
                </a:r>
              </a:p>
              <a:p>
                <a:pPr lvl="1"/>
                <a:r>
                  <a:rPr lang="zh-CN" altLang="en-US" dirty="0" smtClean="0"/>
                  <a:t>明确的陈述指派关系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例如前面的那个学生到课程成绩的例子</a:t>
                </a:r>
                <a:r>
                  <a:rPr lang="en-US" dirty="0" smtClean="0"/>
                  <a:t>.</a:t>
                </a:r>
              </a:p>
              <a:p>
                <a:pPr lvl="1"/>
                <a:r>
                  <a:rPr lang="zh-CN" altLang="en-US" dirty="0" smtClean="0"/>
                  <a:t>公式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例如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+ 1</a:t>
                </a:r>
              </a:p>
              <a:p>
                <a:pPr lvl="1"/>
                <a:r>
                  <a:rPr lang="zh-CN" altLang="en-US" dirty="0" smtClean="0"/>
                  <a:t>计算机程序</a:t>
                </a:r>
                <a:r>
                  <a:rPr lang="en-US" dirty="0" smtClean="0"/>
                  <a:t>. </a:t>
                </a:r>
                <a:r>
                  <a:rPr lang="zh-CN" altLang="en-US" dirty="0" smtClean="0"/>
                  <a:t>例如一个</a:t>
                </a:r>
                <a:r>
                  <a:rPr lang="en-US" dirty="0" smtClean="0"/>
                  <a:t>Java</a:t>
                </a:r>
                <a:r>
                  <a:rPr lang="zh-CN" altLang="en-US" dirty="0" smtClean="0"/>
                  <a:t>程序能够给定一个整数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输出这个整数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的斐波那契数</a:t>
                </a:r>
                <a:r>
                  <a:rPr lang="zh-CN" altLang="en-US" dirty="0" smtClean="0"/>
                  <a:t>字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 rotWithShape="0">
                <a:blip r:embed="rId2"/>
                <a:stretch>
                  <a:fillRect l="-999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EA2DE-C3B6-4128-924D-1A8B96816B70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内容占位符 50"/>
              <p:cNvSpPr>
                <a:spLocks noGrp="1"/>
              </p:cNvSpPr>
              <p:nvPr>
                <p:ph idx="1"/>
              </p:nvPr>
            </p:nvSpPr>
            <p:spPr>
              <a:xfrm>
                <a:off x="595086" y="1088824"/>
                <a:ext cx="10987316" cy="486551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altLang="zh-CN" dirty="0" smtClean="0"/>
                  <a:t>: </a:t>
                </a:r>
                <a:r>
                  <a:rPr lang="zh-CN" altLang="en-US" dirty="0" smtClean="0"/>
                  <a:t>如图所示的一个函数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求以下信息</a:t>
                </a:r>
                <a:r>
                  <a:rPr lang="en-US" altLang="zh-CN" dirty="0" smtClean="0"/>
                  <a:t>: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1" name="内容占位符 5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086" y="1088824"/>
                <a:ext cx="10987316" cy="486551"/>
              </a:xfrm>
              <a:blipFill>
                <a:blip r:embed="rId2"/>
                <a:stretch>
                  <a:fillRect l="-999" t="-13924" b="-43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日期占位符 2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D771F-A26D-464B-A790-8E3266D3A5FC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4400" y="1850777"/>
                <a:ext cx="31639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01559D"/>
                  </a:buClr>
                  <a:buSzPct val="97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</m:oMath>
                </a14:m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?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850777"/>
                <a:ext cx="3163936" cy="461665"/>
              </a:xfrm>
              <a:prstGeom prst="rect">
                <a:avLst/>
              </a:prstGeom>
              <a:blipFill>
                <a:blip r:embed="rId3"/>
                <a:stretch>
                  <a:fillRect l="-2312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758952" y="1759539"/>
            <a:ext cx="2667000" cy="3200400"/>
            <a:chOff x="3048000" y="1219200"/>
            <a:chExt cx="3276600" cy="3733800"/>
          </a:xfrm>
        </p:grpSpPr>
        <p:sp>
          <p:nvSpPr>
            <p:cNvPr id="9" name="Flowchart: Connector 8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Connector 3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Connector 4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1" y="2133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00401" y="30480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0401" y="38100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00401" y="44958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791200" y="33528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91200" y="4419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6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724400" y="2462796"/>
                <a:ext cx="3886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01559D"/>
                  </a:buClr>
                  <a:buSzPct val="97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的像是多少</a:t>
                </a:r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?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462796"/>
                <a:ext cx="3886200" cy="461665"/>
              </a:xfrm>
              <a:prstGeom prst="rect">
                <a:avLst/>
              </a:prstGeom>
              <a:blipFill>
                <a:blip r:embed="rId4"/>
                <a:stretch>
                  <a:fillRect l="-1881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077200" y="2411721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𝑧</m:t>
                      </m:r>
                    </m:oMath>
                  </m:oMathPara>
                </a14:m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2411721"/>
                <a:ext cx="6858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724400" y="3074815"/>
                <a:ext cx="3886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01559D"/>
                  </a:buClr>
                  <a:buSzPct val="97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的定义域是多少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074815"/>
                <a:ext cx="3886200" cy="461665"/>
              </a:xfrm>
              <a:prstGeom prst="rect">
                <a:avLst/>
              </a:prstGeom>
              <a:blipFill>
                <a:blip r:embed="rId6"/>
                <a:stretch>
                  <a:fillRect l="-1881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077200" y="3039441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𝐴</m:t>
                      </m:r>
                    </m:oMath>
                  </m:oMathPara>
                </a14:m>
                <a:endParaRPr 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3039441"/>
                <a:ext cx="6096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724400" y="3686834"/>
                <a:ext cx="4038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01559D"/>
                  </a:buClr>
                  <a:buSzPct val="97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的陪域是多少？</a:t>
                </a:r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686834"/>
                <a:ext cx="4038600" cy="461665"/>
              </a:xfrm>
              <a:prstGeom prst="rect">
                <a:avLst/>
              </a:prstGeom>
              <a:blipFill>
                <a:blip r:embed="rId8"/>
                <a:stretch>
                  <a:fillRect l="-1810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8077200" y="3667161"/>
                <a:ext cx="381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𝐵</m:t>
                      </m:r>
                    </m:oMath>
                  </m:oMathPara>
                </a14:m>
                <a:endParaRPr lang="en-US" sz="24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3667161"/>
                <a:ext cx="381000" cy="461665"/>
              </a:xfrm>
              <a:prstGeom prst="rect">
                <a:avLst/>
              </a:prstGeom>
              <a:blipFill>
                <a:blip r:embed="rId9"/>
                <a:stretch>
                  <a:fillRect l="-3175" r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724400" y="4298853"/>
                <a:ext cx="4114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01559D"/>
                  </a:buClr>
                  <a:buSzPct val="97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的原像是多少？</a:t>
                </a:r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298853"/>
                <a:ext cx="4114800" cy="461665"/>
              </a:xfrm>
              <a:prstGeom prst="rect">
                <a:avLst/>
              </a:prstGeom>
              <a:blipFill>
                <a:blip r:embed="rId10"/>
                <a:stretch>
                  <a:fillRect l="-1778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8077200" y="4294881"/>
                <a:ext cx="3779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𝑏</m:t>
                      </m:r>
                    </m:oMath>
                  </m:oMathPara>
                </a14:m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4294881"/>
                <a:ext cx="377952" cy="461665"/>
              </a:xfrm>
              <a:prstGeom prst="rect">
                <a:avLst/>
              </a:prstGeom>
              <a:blipFill>
                <a:blip r:embed="rId11"/>
                <a:stretch>
                  <a:fillRect l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8077200" y="4876800"/>
                <a:ext cx="2667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</m:t>
                    </m:r>
                  </m:oMath>
                </a14:m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}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4876800"/>
                <a:ext cx="2667000" cy="461665"/>
              </a:xfrm>
              <a:prstGeom prst="rect">
                <a:avLst/>
              </a:prstGeom>
              <a:blipFill>
                <a:blip r:embed="rId12"/>
                <a:stretch>
                  <a:fillRect l="-3425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724400" y="4953000"/>
                <a:ext cx="3352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01559D"/>
                  </a:buClr>
                  <a:buSzPct val="97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的原像是多少？</a:t>
                </a:r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953000"/>
                <a:ext cx="3352800" cy="461665"/>
              </a:xfrm>
              <a:prstGeom prst="rect">
                <a:avLst/>
              </a:prstGeom>
              <a:blipFill>
                <a:blip r:embed="rId13"/>
                <a:stretch>
                  <a:fillRect l="-2182" t="-10667" b="-2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34"/>
              <p:cNvSpPr txBox="1"/>
              <p:nvPr/>
            </p:nvSpPr>
            <p:spPr>
              <a:xfrm>
                <a:off x="8077200" y="1780778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𝑧</m:t>
                      </m:r>
                    </m:oMath>
                  </m:oMathPara>
                </a14:m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8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1780778"/>
                <a:ext cx="685800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36" grpId="0"/>
      <p:bldP spid="39" grpId="0"/>
      <p:bldP spid="40" grpId="0"/>
      <p:bldP spid="41" grpId="0"/>
      <p:bldP spid="42" grpId="0"/>
      <p:bldP spid="44" grpId="0"/>
      <p:bldP spid="45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Wingdings" pitchFamily="2" charset="2"/>
                      </a:rPr>
                      <m:t>𝐵</m:t>
                    </m:r>
                  </m:oMath>
                </a14:m>
                <a:r>
                  <a:rPr lang="en-US" altLang="zh-CN" dirty="0" smtClean="0"/>
                  <a:t>, 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 smtClean="0"/>
                  <a:t>是集合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的一个子集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那么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3"/>
                <a:stretch>
                  <a:fillRect l="-999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日期占位符 3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5623C-3838-4A7D-B8BF-51791F3528DF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40" name="灯片编号占位符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339691" y="2481780"/>
            <a:ext cx="2667000" cy="3200400"/>
            <a:chOff x="3048000" y="1219200"/>
            <a:chExt cx="3276600" cy="3733800"/>
          </a:xfrm>
        </p:grpSpPr>
        <p:sp>
          <p:nvSpPr>
            <p:cNvPr id="7" name="Flowchart: Connector 6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1" y="2133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1" y="30480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1" y="38100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1" y="44958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33528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791200" y="4419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0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943600" y="3911025"/>
                <a:ext cx="2514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01559D"/>
                  </a:buClr>
                  <a:buSzPct val="97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</m:t>
                    </m:r>
                  </m:oMath>
                </a14:m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}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是多少？</a:t>
                </a:r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911025"/>
                <a:ext cx="2514600" cy="461665"/>
              </a:xfrm>
              <a:prstGeom prst="rect">
                <a:avLst/>
              </a:prstGeom>
              <a:blipFill>
                <a:blip r:embed="rId4"/>
                <a:stretch>
                  <a:fillRect l="-2906" t="-10667" r="-15496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436943" y="3041630"/>
                <a:ext cx="1066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}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943" y="3041630"/>
                <a:ext cx="1066800" cy="461665"/>
              </a:xfrm>
              <a:prstGeom prst="rect">
                <a:avLst/>
              </a:prstGeom>
              <a:blipFill>
                <a:blip r:embed="rId5"/>
                <a:stretch>
                  <a:fillRect l="-8571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943599" y="2996625"/>
                <a:ext cx="3307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01559D"/>
                  </a:buClr>
                  <a:buSzPct val="97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</m:oMath>
                </a14:m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}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是多少</a:t>
                </a:r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?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99" y="2996625"/>
                <a:ext cx="3307273" cy="461665"/>
              </a:xfrm>
              <a:prstGeom prst="rect">
                <a:avLst/>
              </a:prstGeom>
              <a:blipFill>
                <a:blip r:embed="rId6"/>
                <a:stretch>
                  <a:fillRect l="-2210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9448800" y="3851148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}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00" y="3851148"/>
                <a:ext cx="609600" cy="461665"/>
              </a:xfrm>
              <a:prstGeom prst="rect">
                <a:avLst/>
              </a:prstGeom>
              <a:blipFill>
                <a:blip r:embed="rId7"/>
                <a:stretch>
                  <a:fillRect l="-15000" t="-10667" r="-4000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305826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" name="Equation" r:id="rId8" imgW="914400" imgH="198720" progId="Equation.DSMT4">
                  <p:embed/>
                </p:oleObj>
              </mc:Choice>
              <mc:Fallback>
                <p:oleObj name="Equation" r:id="rId8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页脚占位符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457200" y="1066800"/>
            <a:ext cx="11277599" cy="1403914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单射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6"/>
                <a:ext cx="10910887" cy="1357782"/>
              </a:xfrm>
            </p:spPr>
            <p:txBody>
              <a:bodyPr/>
              <a:lstStyle/>
              <a:p>
                <a:r>
                  <a:rPr lang="zh-CN" altLang="en-US" dirty="0" smtClean="0"/>
                  <a:t>定义</a:t>
                </a:r>
                <a:r>
                  <a:rPr lang="en-US" altLang="zh-CN" dirty="0" smtClean="0"/>
                  <a:t>: </a:t>
                </a:r>
                <a:r>
                  <a:rPr lang="zh-CN" altLang="en-US" dirty="0" smtClean="0"/>
                  <a:t>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称为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单射</a:t>
                </a:r>
                <a:r>
                  <a:rPr lang="zh-CN" altLang="en-US" dirty="0" smtClean="0"/>
                  <a:t>函数或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一对一</a:t>
                </a:r>
                <a:r>
                  <a:rPr lang="zh-CN" altLang="en-US" dirty="0" smtClean="0"/>
                  <a:t>函数或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内射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当且仅当对于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的定义域中的所有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 smtClean="0"/>
                  <a:t>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)=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蕴含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一个函数如果是一对一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就称为单射</a:t>
                </a:r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6"/>
                <a:ext cx="10910887" cy="1357782"/>
              </a:xfrm>
              <a:blipFill>
                <a:blip r:embed="rId2"/>
                <a:stretch>
                  <a:fillRect l="-1006" t="-4955" r="-1006" b="-13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日期占位符 3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9F42-4FBA-4B24-9C3C-9EEABFA879FC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39" name="灯片编号占位符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752600" y="2739676"/>
            <a:ext cx="2438400" cy="3368254"/>
            <a:chOff x="3048000" y="1219200"/>
            <a:chExt cx="3429000" cy="4621558"/>
          </a:xfrm>
        </p:grpSpPr>
        <p:sp>
          <p:nvSpPr>
            <p:cNvPr id="8" name="Flowchart: Connector 7"/>
            <p:cNvSpPr/>
            <p:nvPr/>
          </p:nvSpPr>
          <p:spPr>
            <a:xfrm>
              <a:off x="5791200" y="19812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67400" y="2743200"/>
              <a:ext cx="304800" cy="50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5791200" y="5257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67400" y="5334000"/>
              <a:ext cx="304800" cy="50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grpSp>
          <p:nvGrpSpPr>
            <p:cNvPr id="12" name="Group 34"/>
            <p:cNvGrpSpPr/>
            <p:nvPr/>
          </p:nvGrpSpPr>
          <p:grpSpPr>
            <a:xfrm>
              <a:off x="3048000" y="1219200"/>
              <a:ext cx="3429000" cy="4114800"/>
              <a:chOff x="3048000" y="1219200"/>
              <a:chExt cx="3429000" cy="4114800"/>
            </a:xfrm>
          </p:grpSpPr>
          <p:sp>
            <p:nvSpPr>
              <p:cNvPr id="13" name="Flowchart: Connector 12"/>
              <p:cNvSpPr/>
              <p:nvPr/>
            </p:nvSpPr>
            <p:spPr>
              <a:xfrm>
                <a:off x="3124200" y="29718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lowchart: Connector 13"/>
              <p:cNvSpPr/>
              <p:nvPr/>
            </p:nvSpPr>
            <p:spPr>
              <a:xfrm>
                <a:off x="3124200" y="37338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lowchart: Connector 14"/>
              <p:cNvSpPr/>
              <p:nvPr/>
            </p:nvSpPr>
            <p:spPr>
              <a:xfrm>
                <a:off x="3124200" y="20574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lowchart: Connector 6"/>
              <p:cNvSpPr/>
              <p:nvPr/>
            </p:nvSpPr>
            <p:spPr>
              <a:xfrm>
                <a:off x="3124200" y="44958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lowchart: Connector 16"/>
              <p:cNvSpPr/>
              <p:nvPr/>
            </p:nvSpPr>
            <p:spPr>
              <a:xfrm>
                <a:off x="5715000" y="32766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Connector 17"/>
              <p:cNvSpPr/>
              <p:nvPr/>
            </p:nvSpPr>
            <p:spPr>
              <a:xfrm>
                <a:off x="5791200" y="41910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048000" y="1219200"/>
                <a:ext cx="685800" cy="971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/>
                  <a:t>A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791200" y="1219200"/>
                <a:ext cx="685800" cy="971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/>
                  <a:t>B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200400" y="2133600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200400" y="3048000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200400" y="3810000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200400" y="4495799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867400" y="2057401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791200" y="3352801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867400" y="4267200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cxnSp>
            <p:nvCxnSpPr>
              <p:cNvPr id="28" name="Straight Arrow Connector 27"/>
              <p:cNvCxnSpPr/>
              <p:nvPr/>
            </p:nvCxnSpPr>
            <p:spPr>
              <a:xfrm>
                <a:off x="3657600" y="3200400"/>
                <a:ext cx="1981200" cy="3048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stCxn id="15" idx="6"/>
              </p:cNvCxnSpPr>
              <p:nvPr/>
            </p:nvCxnSpPr>
            <p:spPr>
              <a:xfrm>
                <a:off x="3581400" y="2286000"/>
                <a:ext cx="2209800" cy="1981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lowchart: Connector 29"/>
              <p:cNvSpPr/>
              <p:nvPr/>
            </p:nvSpPr>
            <p:spPr>
              <a:xfrm>
                <a:off x="5791200" y="2667000"/>
                <a:ext cx="457200" cy="457201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 flipV="1">
                <a:off x="3657600" y="2286000"/>
                <a:ext cx="2057400" cy="15240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3657600" y="4724400"/>
                <a:ext cx="2057400" cy="609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altLang="zh-CN" dirty="0" smtClean="0"/>
                  <a:t>: </a:t>
                </a:r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为从</a:t>
                </a:r>
                <a:r>
                  <a:rPr lang="en-US" altLang="zh-CN" dirty="0"/>
                  <a:t> {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dirty="0"/>
                  <a:t>} 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 {1,  2,  </a:t>
                </a:r>
                <a:r>
                  <a:rPr lang="en-US" altLang="zh-CN" dirty="0" smtClean="0"/>
                  <a:t>3, 4, 5}</a:t>
                </a:r>
                <a:r>
                  <a:rPr lang="zh-CN" altLang="en-US" dirty="0"/>
                  <a:t>的函数</a:t>
                </a:r>
                <a:r>
                  <a:rPr lang="en-US" altLang="zh-CN" dirty="0"/>
                  <a:t>,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) = </a:t>
                </a:r>
                <a:r>
                  <a:rPr lang="en-US" altLang="zh-CN" dirty="0" smtClean="0"/>
                  <a:t>4,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) = </a:t>
                </a:r>
                <a:r>
                  <a:rPr lang="en-US" altLang="zh-CN" dirty="0" smtClean="0"/>
                  <a:t>5,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dirty="0"/>
                  <a:t>) = 1,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dirty="0"/>
                  <a:t>) = 3.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是一对一的</a:t>
                </a:r>
                <a:r>
                  <a:rPr lang="zh-CN" altLang="en-US" dirty="0"/>
                  <a:t>么</a:t>
                </a:r>
                <a:r>
                  <a:rPr lang="en-US" altLang="zh-CN" dirty="0"/>
                  <a:t>?</a:t>
                </a:r>
              </a:p>
              <a:p>
                <a:r>
                  <a:rPr lang="zh-CN" altLang="en-US" dirty="0"/>
                  <a:t>解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是的</a:t>
                </a:r>
                <a:r>
                  <a:rPr lang="en-US" altLang="zh-CN" dirty="0"/>
                  <a:t>.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是一对一的</a:t>
                </a:r>
                <a:r>
                  <a:rPr lang="en-US" altLang="zh-CN" dirty="0"/>
                  <a:t>,  </a:t>
                </a:r>
                <a:r>
                  <a:rPr lang="zh-CN" altLang="en-US" dirty="0" smtClean="0"/>
                  <a:t>因为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在它的定义域</a:t>
                </a:r>
                <a:r>
                  <a:rPr lang="zh-CN" altLang="en-US" dirty="0"/>
                  <a:t>中</a:t>
                </a:r>
                <a:r>
                  <a:rPr lang="zh-CN" altLang="en-US" dirty="0" smtClean="0"/>
                  <a:t>的四个元素上取不同的值</a:t>
                </a:r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如图所示</a:t>
                </a:r>
                <a:r>
                  <a:rPr lang="en-US" altLang="zh-CN" dirty="0" smtClean="0"/>
                  <a:t>: 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9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7D990-E04D-4CD2-89F9-6A0AB0F02067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828800" y="3219819"/>
            <a:ext cx="2323452" cy="2677936"/>
            <a:chOff x="3124200" y="2007844"/>
            <a:chExt cx="3267354" cy="3674378"/>
          </a:xfrm>
        </p:grpSpPr>
        <p:sp>
          <p:nvSpPr>
            <p:cNvPr id="8" name="Flowchart: Connector 7"/>
            <p:cNvSpPr/>
            <p:nvPr/>
          </p:nvSpPr>
          <p:spPr>
            <a:xfrm>
              <a:off x="5867400" y="2007844"/>
              <a:ext cx="457200" cy="430556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67400" y="2743200"/>
              <a:ext cx="304800" cy="50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5934354" y="5134520"/>
              <a:ext cx="457200" cy="457201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43600" y="5175464"/>
              <a:ext cx="304800" cy="50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grpSp>
          <p:nvGrpSpPr>
            <p:cNvPr id="12" name="Group 34"/>
            <p:cNvGrpSpPr/>
            <p:nvPr/>
          </p:nvGrpSpPr>
          <p:grpSpPr>
            <a:xfrm>
              <a:off x="3124200" y="2020227"/>
              <a:ext cx="3267354" cy="3408616"/>
              <a:chOff x="3124200" y="2020227"/>
              <a:chExt cx="3267354" cy="3408616"/>
            </a:xfrm>
          </p:grpSpPr>
          <p:sp>
            <p:nvSpPr>
              <p:cNvPr id="13" name="Flowchart: Connector 12"/>
              <p:cNvSpPr/>
              <p:nvPr/>
            </p:nvSpPr>
            <p:spPr>
              <a:xfrm>
                <a:off x="3124200" y="29718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lowchart: Connector 13"/>
              <p:cNvSpPr/>
              <p:nvPr/>
            </p:nvSpPr>
            <p:spPr>
              <a:xfrm>
                <a:off x="3124200" y="37338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lowchart: Connector 14"/>
              <p:cNvSpPr/>
              <p:nvPr/>
            </p:nvSpPr>
            <p:spPr>
              <a:xfrm>
                <a:off x="3124200" y="20574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lowchart: Connector 6"/>
              <p:cNvSpPr/>
              <p:nvPr/>
            </p:nvSpPr>
            <p:spPr>
              <a:xfrm>
                <a:off x="3124200" y="4495800"/>
                <a:ext cx="457200" cy="457200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lowchart: Connector 16"/>
              <p:cNvSpPr/>
              <p:nvPr/>
            </p:nvSpPr>
            <p:spPr>
              <a:xfrm>
                <a:off x="5934354" y="3474973"/>
                <a:ext cx="457200" cy="457201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Connector 17"/>
              <p:cNvSpPr/>
              <p:nvPr/>
            </p:nvSpPr>
            <p:spPr>
              <a:xfrm>
                <a:off x="5925112" y="4255670"/>
                <a:ext cx="457200" cy="457201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200400" y="2133600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200400" y="3048000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171152" y="3719452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200400" y="4495799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22477" y="2020227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934354" y="3474973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3</a:t>
                </a:r>
                <a:endParaRPr lang="en-US" dirty="0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925112" y="4267199"/>
                <a:ext cx="304800" cy="50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4</a:t>
                </a:r>
                <a:endParaRPr lang="en-US" dirty="0"/>
              </a:p>
            </p:txBody>
          </p:sp>
          <p:cxnSp>
            <p:nvCxnSpPr>
              <p:cNvPr id="28" name="Straight Arrow Connector 27"/>
              <p:cNvCxnSpPr>
                <a:stCxn id="13" idx="6"/>
                <a:endCxn id="11" idx="1"/>
              </p:cNvCxnSpPr>
              <p:nvPr/>
            </p:nvCxnSpPr>
            <p:spPr>
              <a:xfrm>
                <a:off x="3581400" y="3200400"/>
                <a:ext cx="2362200" cy="222844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stCxn id="15" idx="6"/>
                <a:endCxn id="27" idx="1"/>
              </p:cNvCxnSpPr>
              <p:nvPr/>
            </p:nvCxnSpPr>
            <p:spPr>
              <a:xfrm>
                <a:off x="3581400" y="2286000"/>
                <a:ext cx="2343712" cy="223457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lowchart: Connector 29"/>
              <p:cNvSpPr/>
              <p:nvPr/>
            </p:nvSpPr>
            <p:spPr>
              <a:xfrm>
                <a:off x="5867400" y="2756160"/>
                <a:ext cx="457200" cy="457199"/>
              </a:xfrm>
              <a:prstGeom prst="flowChartConnector">
                <a:avLst/>
              </a:prstGeom>
              <a:solidFill>
                <a:srgbClr val="4F81BD">
                  <a:alpha val="27059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1" name="Straight Arrow Connector 30"/>
              <p:cNvCxnSpPr>
                <a:stCxn id="14" idx="6"/>
              </p:cNvCxnSpPr>
              <p:nvPr/>
            </p:nvCxnSpPr>
            <p:spPr>
              <a:xfrm flipV="1">
                <a:off x="3581400" y="2223123"/>
                <a:ext cx="2243755" cy="173927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>
                <a:stCxn id="16" idx="6"/>
                <a:endCxn id="17" idx="3"/>
              </p:cNvCxnSpPr>
              <p:nvPr/>
            </p:nvCxnSpPr>
            <p:spPr>
              <a:xfrm flipV="1">
                <a:off x="3581400" y="3865218"/>
                <a:ext cx="2419910" cy="85918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131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altLang="zh-CN" dirty="0" smtClean="0"/>
                  <a:t>: </a:t>
                </a:r>
                <a:r>
                  <a:rPr lang="zh-CN" altLang="en-US" dirty="0" smtClean="0"/>
                  <a:t>判定实数集合到它自身的函数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/>
                  <a:t>)=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/>
                  <a:t>+1</a:t>
                </a:r>
                <a:r>
                  <a:rPr lang="zh-CN" altLang="en-US" dirty="0" smtClean="0"/>
                  <a:t>是</a:t>
                </a:r>
                <a:r>
                  <a:rPr lang="zh-CN" altLang="en-US" dirty="0"/>
                  <a:t>否</a:t>
                </a:r>
                <a:r>
                  <a:rPr lang="zh-CN" altLang="en-US" dirty="0" smtClean="0"/>
                  <a:t>一对一的</a:t>
                </a:r>
                <a:r>
                  <a:rPr lang="en-US" altLang="zh-CN" dirty="0" smtClean="0"/>
                  <a:t>?</a:t>
                </a:r>
                <a:endParaRPr lang="en-US" altLang="zh-CN" dirty="0"/>
              </a:p>
              <a:p>
                <a:r>
                  <a:rPr lang="zh-CN" altLang="en-US" dirty="0"/>
                  <a:t>解</a:t>
                </a:r>
                <a:r>
                  <a:rPr lang="en-US" altLang="zh-CN" dirty="0"/>
                  <a:t>: </a:t>
                </a:r>
                <a:r>
                  <a:rPr lang="zh-CN" altLang="en-US" dirty="0" smtClean="0"/>
                  <a:t>假设实数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 smtClean="0"/>
                  <a:t>使得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/>
                  <a:t>)=</a:t>
                </a:r>
                <a:r>
                  <a:rPr lang="en-US" altLang="zh-CN" dirty="0"/>
                  <a:t>ƒ(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 smtClean="0"/>
                  <a:t>). </a:t>
                </a:r>
                <a:r>
                  <a:rPr lang="zh-CN" altLang="en-US" dirty="0" smtClean="0"/>
                  <a:t>于是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+</a:t>
                </a:r>
                <a:r>
                  <a:rPr lang="en-US" altLang="zh-CN" dirty="0" smtClean="0"/>
                  <a:t>1=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 smtClean="0"/>
                  <a:t>+1. </a:t>
                </a:r>
                <a:r>
                  <a:rPr lang="zh-CN" altLang="en-US" dirty="0" smtClean="0"/>
                  <a:t>这意味着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所以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)=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+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是实数集合到实数集合的一对一函数</a:t>
                </a:r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9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5AA08-D165-4846-86FA-96D9A60BAACF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602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457200" y="990600"/>
            <a:ext cx="11277599" cy="1310168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映上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定义</a:t>
                </a:r>
                <a:r>
                  <a:rPr lang="en-US" altLang="zh-CN" dirty="0" smtClean="0"/>
                  <a:t>:</a:t>
                </a:r>
                <a:r>
                  <a:rPr lang="en-US" dirty="0" smtClean="0"/>
                  <a:t> </a:t>
                </a:r>
                <a:r>
                  <a:rPr lang="zh-CN" altLang="en-US" dirty="0" smtClean="0"/>
                  <a:t>一个从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的函数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称为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映上</a:t>
                </a:r>
                <a:r>
                  <a:rPr lang="zh-CN" altLang="en-US" dirty="0" smtClean="0"/>
                  <a:t>或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满射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当且仅当对于每个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有元素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使得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9" t="-1310" r="-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日期占位符 3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560B2-18BB-4BB0-9E19-215C01A56F45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691640" y="2667000"/>
            <a:ext cx="2575560" cy="2655332"/>
            <a:chOff x="3048000" y="985838"/>
            <a:chExt cx="3408829" cy="4065977"/>
          </a:xfrm>
        </p:grpSpPr>
        <p:sp>
          <p:nvSpPr>
            <p:cNvPr id="8" name="Flowchart: Connector 7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91200" y="19812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Connector 13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48000" y="985838"/>
              <a:ext cx="685800" cy="1083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71029" y="985838"/>
              <a:ext cx="685800" cy="1083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148853" y="2035969"/>
              <a:ext cx="304800" cy="565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48853" y="2969419"/>
              <a:ext cx="304800" cy="565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48853" y="3669506"/>
              <a:ext cx="304800" cy="565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8853" y="4486275"/>
              <a:ext cx="304800" cy="565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71882" y="1919288"/>
              <a:ext cx="304800" cy="565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771029" y="3202782"/>
              <a:ext cx="304800" cy="565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71029" y="4252913"/>
              <a:ext cx="304800" cy="565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0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3657600" y="2286000"/>
              <a:ext cx="2057400" cy="1524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3657600" y="4572000"/>
              <a:ext cx="19812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页脚占位符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映上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dirty="0" smtClean="0"/>
                  <a:t>: 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为从</a:t>
                </a:r>
                <a:r>
                  <a:rPr lang="en-US" dirty="0" smtClean="0"/>
                  <a:t> 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 smtClean="0"/>
                  <a:t>} </a:t>
                </a:r>
                <a:r>
                  <a:rPr lang="zh-CN" altLang="en-US" dirty="0" smtClean="0"/>
                  <a:t>到</a:t>
                </a:r>
                <a:r>
                  <a:rPr lang="en-US" dirty="0" smtClean="0"/>
                  <a:t> {1,  2,  3}</a:t>
                </a:r>
                <a:r>
                  <a:rPr lang="zh-CN" altLang="en-US" dirty="0" smtClean="0"/>
                  <a:t>的函数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) = 3,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 smtClean="0"/>
                  <a:t>) = 2,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 smtClean="0"/>
                  <a:t>) = 1,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 smtClean="0"/>
                  <a:t>) = 3.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是映上的么</a:t>
                </a:r>
                <a:r>
                  <a:rPr lang="en-US" dirty="0" smtClean="0"/>
                  <a:t>?</a:t>
                </a:r>
              </a:p>
              <a:p>
                <a:r>
                  <a:rPr lang="zh-CN" altLang="en-US" dirty="0" smtClean="0"/>
                  <a:t>解</a:t>
                </a:r>
                <a:r>
                  <a:rPr lang="en-US" altLang="zh-CN" dirty="0" smtClean="0"/>
                  <a:t>: </a:t>
                </a:r>
                <a:r>
                  <a:rPr lang="zh-CN" altLang="en-US" dirty="0" smtClean="0"/>
                  <a:t>是的</a:t>
                </a:r>
                <a:r>
                  <a:rPr lang="en-US" dirty="0" smtClean="0"/>
                  <a:t>.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是映上的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因为它的陪域中的三个元素都是定义域中元素的像</a:t>
                </a:r>
                <a:r>
                  <a:rPr lang="en-US" dirty="0" smtClean="0"/>
                  <a:t>. </a:t>
                </a:r>
                <a:r>
                  <a:rPr lang="zh-CN" altLang="en-US" dirty="0" smtClean="0"/>
                  <a:t>假设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的陪域变为</a:t>
                </a:r>
                <a:r>
                  <a:rPr lang="en-US" dirty="0" smtClean="0"/>
                  <a:t>{1,  2,  3,  4},   </a:t>
                </a:r>
                <a:r>
                  <a:rPr lang="zh-CN" altLang="en-US" dirty="0" smtClean="0"/>
                  <a:t>那么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就不是映上的</a:t>
                </a:r>
                <a:r>
                  <a:rPr lang="en-US" dirty="0" smtClean="0"/>
                  <a:t>. </a:t>
                </a:r>
              </a:p>
              <a:p>
                <a:endParaRPr lang="en-US" dirty="0" smtClean="0"/>
              </a:p>
              <a:p>
                <a:r>
                  <a:rPr lang="zh-CN" altLang="en-US" dirty="0" smtClean="0"/>
                  <a:t>例</a:t>
                </a:r>
                <a:r>
                  <a:rPr lang="en-US" dirty="0" smtClean="0"/>
                  <a:t>: </a:t>
                </a:r>
                <a:r>
                  <a:rPr lang="zh-CN" altLang="en-US" dirty="0" smtClean="0"/>
                  <a:t>从整数集到整数集的函数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/>
                  <a:t>是映上的么</a:t>
                </a:r>
                <a:r>
                  <a:rPr lang="en-US" dirty="0" smtClean="0"/>
                  <a:t>?  </a:t>
                </a:r>
              </a:p>
              <a:p>
                <a:r>
                  <a:rPr lang="zh-CN" altLang="en-US" dirty="0" smtClean="0"/>
                  <a:t>解</a:t>
                </a:r>
                <a:r>
                  <a:rPr lang="en-US" altLang="zh-CN" dirty="0" smtClean="0"/>
                  <a:t>: </a:t>
                </a:r>
                <a:r>
                  <a:rPr lang="zh-CN" altLang="en-US" dirty="0" smtClean="0"/>
                  <a:t>不是</a:t>
                </a:r>
                <a:r>
                  <a:rPr lang="en-US" altLang="zh-CN" dirty="0" smtClean="0"/>
                  <a:t>.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不是映上的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因为没有整数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/>
                  <a:t>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=−1. 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2"/>
                <a:stretch>
                  <a:fillRect l="-999" t="-1310" r="-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BB85-38AA-440C-AAC4-95E96C58F0FA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457200" y="1034486"/>
            <a:ext cx="11277599" cy="1076464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双射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313" y="1089026"/>
            <a:ext cx="10987087" cy="1796244"/>
          </a:xfrm>
        </p:spPr>
        <p:txBody>
          <a:bodyPr/>
          <a:lstStyle/>
          <a:p>
            <a:r>
              <a:rPr lang="zh-CN" altLang="en-US" dirty="0" smtClean="0"/>
              <a:t>定义</a:t>
            </a:r>
            <a:r>
              <a:rPr lang="en-US" dirty="0" smtClean="0"/>
              <a:t>: </a:t>
            </a:r>
            <a:r>
              <a:rPr lang="zh-CN" altLang="en-US" dirty="0" smtClean="0"/>
              <a:t>函数</a:t>
            </a:r>
            <a:r>
              <a:rPr lang="en-US" altLang="zh-CN" dirty="0"/>
              <a:t>ƒ</a:t>
            </a:r>
            <a:r>
              <a:rPr lang="zh-CN" altLang="en-US" dirty="0" smtClean="0"/>
              <a:t>是</a:t>
            </a:r>
            <a:r>
              <a:rPr lang="zh-CN" altLang="en-US" b="1" dirty="0" smtClean="0">
                <a:solidFill>
                  <a:srgbClr val="C00000"/>
                </a:solidFill>
              </a:rPr>
              <a:t>一一对应</a:t>
            </a:r>
            <a:r>
              <a:rPr lang="zh-CN" altLang="en-US" dirty="0" smtClean="0"/>
              <a:t>或</a:t>
            </a:r>
            <a:r>
              <a:rPr lang="zh-CN" altLang="en-US" b="1" dirty="0" smtClean="0">
                <a:solidFill>
                  <a:srgbClr val="C00000"/>
                </a:solidFill>
              </a:rPr>
              <a:t>双射</a:t>
            </a:r>
            <a:r>
              <a:rPr lang="zh-CN" altLang="en-US" dirty="0" smtClean="0"/>
              <a:t>函数</a:t>
            </a:r>
            <a:r>
              <a:rPr lang="en-US" altLang="zh-CN" dirty="0" smtClean="0"/>
              <a:t>,  </a:t>
            </a:r>
            <a:r>
              <a:rPr lang="zh-CN" altLang="en-US" dirty="0" smtClean="0"/>
              <a:t>如果它既是一对一的</a:t>
            </a:r>
            <a:r>
              <a:rPr lang="en-US" altLang="zh-CN" dirty="0" smtClean="0"/>
              <a:t>,  </a:t>
            </a:r>
            <a:r>
              <a:rPr lang="zh-CN" altLang="en-US" dirty="0" smtClean="0"/>
              <a:t>又是映上的</a:t>
            </a:r>
            <a:r>
              <a:rPr lang="en-US" altLang="zh-CN" dirty="0" smtClean="0"/>
              <a:t>. </a:t>
            </a:r>
            <a:r>
              <a:rPr lang="zh-CN" altLang="en-US" dirty="0" smtClean="0"/>
              <a:t>这样的函数称为双射的</a:t>
            </a:r>
            <a:r>
              <a:rPr lang="en-US" altLang="zh-CN" dirty="0" smtClean="0"/>
              <a:t>.</a:t>
            </a:r>
            <a:endParaRPr lang="en-US" dirty="0"/>
          </a:p>
        </p:txBody>
      </p:sp>
      <p:sp>
        <p:nvSpPr>
          <p:cNvPr id="34" name="日期占位符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42B5-E8A8-41F8-AB6E-51F19B2BC435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981200" y="2863923"/>
            <a:ext cx="2956560" cy="3112532"/>
            <a:chOff x="3048000" y="1219200"/>
            <a:chExt cx="3411415" cy="4590985"/>
          </a:xfrm>
        </p:grpSpPr>
        <p:sp>
          <p:nvSpPr>
            <p:cNvPr id="5" name="Flowchart: Connector 4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5773615" y="211836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48000" y="1219200"/>
              <a:ext cx="685800" cy="1044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73615" y="1219200"/>
              <a:ext cx="685800" cy="1044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B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35923" y="2005965"/>
              <a:ext cx="304800" cy="54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23846" y="3017520"/>
              <a:ext cx="304800" cy="54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23846" y="3691890"/>
              <a:ext cx="304800" cy="54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4495800"/>
              <a:ext cx="304800" cy="54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61538" y="2005965"/>
              <a:ext cx="304800" cy="54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73615" y="3242310"/>
              <a:ext cx="304800" cy="54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73615" y="4366260"/>
              <a:ext cx="304800" cy="54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lowchart: Connector 22"/>
            <p:cNvSpPr/>
            <p:nvPr/>
          </p:nvSpPr>
          <p:spPr>
            <a:xfrm>
              <a:off x="5791200" y="5257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61538" y="5265420"/>
              <a:ext cx="304800" cy="54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3657600" y="2286000"/>
              <a:ext cx="2057400" cy="1524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3657600" y="4724400"/>
              <a:ext cx="2057400" cy="609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页脚占位符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证明函数是一对一或映上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75D-7A7D-463A-8FC6-169989EEC383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595313" y="1089026"/>
                <a:ext cx="10987087" cy="5083174"/>
              </a:xfrm>
              <a:prstGeom prst="rect">
                <a:avLst/>
              </a:prstGeom>
            </p:spPr>
            <p:txBody>
              <a:bodyPr/>
              <a:lstStyle>
                <a:lvl1pPr marL="274320" indent="-27432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EA524"/>
                  </a:buClr>
                  <a:buSzPct val="10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640080" indent="-246888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1559D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/>
                  <a:t>为了建立一个函数是否是一对一的和映上的需要证明</a:t>
                </a:r>
                <a:r>
                  <a:rPr lang="en-US" altLang="zh-CN" dirty="0" smtClean="0"/>
                  <a:t>:</a:t>
                </a:r>
              </a:p>
              <a:p>
                <a:r>
                  <a:rPr lang="zh-CN" altLang="en-US" dirty="0" smtClean="0"/>
                  <a:t>假设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A </a:t>
                </a:r>
                <a:r>
                  <a:rPr lang="en-US" altLang="zh-CN" dirty="0">
                    <a:sym typeface="Wingdings" pitchFamily="2" charset="2"/>
                  </a:rPr>
                  <a:t>→ </a:t>
                </a:r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  <a:p>
                <a:pPr lvl="1"/>
                <a:r>
                  <a:rPr lang="zh-CN" altLang="en-US" dirty="0"/>
                  <a:t>要证明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是单射的</a:t>
                </a:r>
                <a:r>
                  <a:rPr lang="zh-CN" altLang="en-US" dirty="0" smtClean="0"/>
                  <a:t>：证明对于任意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，如果</a:t>
                </a:r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ƒ(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)=ƒ(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:r>
                  <a:rPr lang="zh-CN" alt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要证明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不是单射的</a:t>
                </a:r>
                <a:r>
                  <a:rPr lang="zh-CN" altLang="en-US" dirty="0" smtClean="0"/>
                  <a:t>：找到特定的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，使得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 smtClean="0"/>
                  <a:t>且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ƒ(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)=ƒ(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). 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要证明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是满射的</a:t>
                </a:r>
                <a:r>
                  <a:rPr lang="zh-CN" altLang="en-US" dirty="0" smtClean="0"/>
                  <a:t>：考虑任意元素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∈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CN" dirty="0" smtClean="0"/>
                  <a:t>, </a:t>
                </a:r>
                <a:r>
                  <a:rPr lang="zh-CN" altLang="en-US" dirty="0" smtClean="0"/>
                  <a:t>并找到一个元素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使得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ƒ(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)=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要证明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不是满射的：找到特定</a:t>
                </a:r>
                <a:r>
                  <a:rPr lang="zh-CN" altLang="en-US" dirty="0" smtClean="0"/>
                  <a:t>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zh-CN" altLang="en-US" dirty="0" smtClean="0"/>
                  <a:t>使得对于任意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有</a:t>
                </a:r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ƒ(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3" y="1089026"/>
                <a:ext cx="10987087" cy="5083174"/>
              </a:xfrm>
              <a:prstGeom prst="rect">
                <a:avLst/>
              </a:prstGeom>
              <a:blipFill>
                <a:blip r:embed="rId2"/>
                <a:stretch>
                  <a:fillRect l="-999" t="-2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143000"/>
            <a:ext cx="11277599" cy="1371600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反函数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定义</a:t>
                </a:r>
                <a:r>
                  <a:rPr lang="en-US" dirty="0" smtClean="0"/>
                  <a:t>: 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为从集合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到集合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的一一对应</a:t>
                </a:r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反函数</a:t>
                </a:r>
                <a:r>
                  <a:rPr lang="zh-CN" altLang="en-US" dirty="0" smtClean="0"/>
                  <a:t>或者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逆函数</a:t>
                </a:r>
                <a:r>
                  <a:rPr lang="zh-CN" altLang="en-US" dirty="0" smtClean="0"/>
                  <a:t>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它指派给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 smtClean="0"/>
                  <a:t>中元素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 smtClean="0"/>
                  <a:t>的是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 smtClean="0"/>
                  <a:t>中使得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)=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 smtClean="0"/>
                  <a:t>唯一元素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于是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)=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 smtClean="0"/>
                  <a:t>时</a:t>
                </a:r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 smtClean="0"/>
                  <a:t>)=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.</a:t>
                </a:r>
                <a:endParaRPr lang="en-US" dirty="0" smtClean="0"/>
              </a:p>
              <a:p>
                <a:r>
                  <a:rPr lang="zh-CN" altLang="en-US" dirty="0" smtClean="0"/>
                  <a:t>如果函数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不是一一对应的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那么不存在反函数</a:t>
                </a:r>
                <a:r>
                  <a:rPr lang="en-US" altLang="zh-CN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3"/>
                <a:stretch>
                  <a:fillRect l="-999" t="-1310" r="-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51129-8C9C-4962-AEA0-F1C4175CA326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pic>
        <p:nvPicPr>
          <p:cNvPr id="6" name="Picture 5" descr="021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81400" y="3436883"/>
            <a:ext cx="4495800" cy="2197729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反函数</a:t>
            </a:r>
            <a:endParaRPr lang="en-US" dirty="0"/>
          </a:p>
        </p:txBody>
      </p:sp>
      <p:sp>
        <p:nvSpPr>
          <p:cNvPr id="41" name="内容占位符 40"/>
          <p:cNvSpPr>
            <a:spLocks noGrp="1"/>
          </p:cNvSpPr>
          <p:nvPr>
            <p:ph idx="1"/>
          </p:nvPr>
        </p:nvSpPr>
        <p:spPr>
          <a:xfrm>
            <a:off x="595086" y="1088825"/>
            <a:ext cx="10987316" cy="490878"/>
          </a:xfrm>
        </p:spPr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 smtClean="0"/>
              <a:t>:</a:t>
            </a:r>
            <a:r>
              <a:rPr lang="zh-CN" altLang="en-US" dirty="0" smtClean="0"/>
              <a:t>如左图所示的函数</a:t>
            </a:r>
            <a:r>
              <a:rPr lang="en-US" altLang="zh-CN" dirty="0"/>
              <a:t>ƒ,  </a:t>
            </a:r>
            <a:r>
              <a:rPr lang="zh-CN" altLang="en-US" dirty="0" smtClean="0"/>
              <a:t>其反函数如右图所示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A833-F4A4-4905-93C0-8CB99C1A23E5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grpSp>
        <p:nvGrpSpPr>
          <p:cNvPr id="3" name="Group 44"/>
          <p:cNvGrpSpPr/>
          <p:nvPr/>
        </p:nvGrpSpPr>
        <p:grpSpPr>
          <a:xfrm>
            <a:off x="1504950" y="1711604"/>
            <a:ext cx="3429000" cy="4495800"/>
            <a:chOff x="3048000" y="1219200"/>
            <a:chExt cx="3429000" cy="4495800"/>
          </a:xfrm>
        </p:grpSpPr>
        <p:sp>
          <p:nvSpPr>
            <p:cNvPr id="4" name="Flowchart: Connector 3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Connector 4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5791200" y="19812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48000" y="1219200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91200" y="1219200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67400" y="20574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lowchart: Connector 26"/>
            <p:cNvSpPr/>
            <p:nvPr/>
          </p:nvSpPr>
          <p:spPr>
            <a:xfrm>
              <a:off x="5791200" y="5257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67400" y="5334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rot="16200000" flipH="1">
              <a:off x="3352800" y="2819400"/>
              <a:ext cx="2743200" cy="2133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 flipH="1" flipV="1">
              <a:off x="3619500" y="2476500"/>
              <a:ext cx="2286000" cy="2209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3657600" y="3962400"/>
              <a:ext cx="1981200" cy="457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3657600" y="1524000"/>
              <a:ext cx="1981200" cy="1588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4419600" y="1600200"/>
              <a:ext cx="533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ƒ </a:t>
              </a:r>
              <a:endParaRPr lang="en-US" sz="2400" i="1" dirty="0"/>
            </a:p>
          </p:txBody>
        </p:sp>
      </p:grpSp>
      <p:grpSp>
        <p:nvGrpSpPr>
          <p:cNvPr id="10" name="Group 45"/>
          <p:cNvGrpSpPr/>
          <p:nvPr/>
        </p:nvGrpSpPr>
        <p:grpSpPr>
          <a:xfrm>
            <a:off x="6686550" y="1777006"/>
            <a:ext cx="3429000" cy="4495800"/>
            <a:chOff x="3048000" y="1219200"/>
            <a:chExt cx="3429000" cy="4495800"/>
          </a:xfrm>
        </p:grpSpPr>
        <p:sp>
          <p:nvSpPr>
            <p:cNvPr id="47" name="Flowchart: Connector 4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lowchart: Connector 4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lowchart: Connector 4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lowchart: Connector 4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Connector 50"/>
            <p:cNvSpPr/>
            <p:nvPr/>
          </p:nvSpPr>
          <p:spPr>
            <a:xfrm>
              <a:off x="5791200" y="19812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lowchart: Connector 51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lowchart: Connector 52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048000" y="1219200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A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791200" y="1219200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B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867400" y="20574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Flowchart: Connector 63"/>
            <p:cNvSpPr/>
            <p:nvPr/>
          </p:nvSpPr>
          <p:spPr>
            <a:xfrm>
              <a:off x="5791200" y="5257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867400" y="5334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66" name="Straight Arrow Connector 65"/>
            <p:cNvCxnSpPr/>
            <p:nvPr/>
          </p:nvCxnSpPr>
          <p:spPr>
            <a:xfrm rot="16200000" flipH="1">
              <a:off x="3352800" y="2819400"/>
              <a:ext cx="2743200" cy="213360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rot="5400000" flipH="1" flipV="1">
              <a:off x="3619500" y="2476500"/>
              <a:ext cx="2286000" cy="220980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3657600" y="3962400"/>
              <a:ext cx="1981200" cy="45720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3657600" y="1524000"/>
              <a:ext cx="1981200" cy="1588"/>
            </a:xfrm>
            <a:prstGeom prst="straightConnector1">
              <a:avLst/>
            </a:prstGeom>
            <a:ln w="28575">
              <a:prstDash val="sysDot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419600" y="1600200"/>
              <a:ext cx="533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i="1" dirty="0"/>
            </a:p>
          </p:txBody>
        </p:sp>
      </p:grpSp>
      <p:pic>
        <p:nvPicPr>
          <p:cNvPr id="71" name="Picture 70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8020050" y="1747271"/>
            <a:ext cx="571500" cy="388620"/>
          </a:xfrm>
          <a:prstGeom prst="rect">
            <a:avLst/>
          </a:prstGeom>
        </p:spPr>
      </p:pic>
      <p:sp>
        <p:nvSpPr>
          <p:cNvPr id="13" name="页脚占位符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dirty="0" smtClean="0"/>
                  <a:t>: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为</a:t>
                </a:r>
                <a:r>
                  <a:rPr lang="zh-CN" altLang="en-US" dirty="0"/>
                  <a:t>从</a:t>
                </a:r>
                <a:r>
                  <a:rPr lang="en-US" altLang="zh-CN" dirty="0"/>
                  <a:t> {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dirty="0" smtClean="0"/>
                  <a:t>} 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 {</a:t>
                </a:r>
                <a:r>
                  <a:rPr lang="en-US" altLang="zh-CN" dirty="0" smtClean="0"/>
                  <a:t>1,  2,  3</a:t>
                </a:r>
                <a:r>
                  <a:rPr lang="en-US" altLang="zh-CN" dirty="0"/>
                  <a:t>}</a:t>
                </a:r>
                <a:r>
                  <a:rPr lang="zh-CN" altLang="en-US" dirty="0"/>
                  <a:t>的</a:t>
                </a:r>
                <a:r>
                  <a:rPr lang="zh-CN" altLang="en-US" dirty="0" smtClean="0"/>
                  <a:t>函数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) = </a:t>
                </a:r>
                <a:r>
                  <a:rPr lang="en-US" altLang="zh-CN" dirty="0" smtClean="0"/>
                  <a:t>2,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) = </a:t>
                </a:r>
                <a:r>
                  <a:rPr lang="en-US" altLang="zh-CN" dirty="0" smtClean="0"/>
                  <a:t>3,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dirty="0"/>
                  <a:t>) = </a:t>
                </a:r>
                <a:r>
                  <a:rPr lang="en-US" altLang="zh-CN" dirty="0" smtClean="0"/>
                  <a:t>1.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可逆么？如果可逆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其反函数是什么</a:t>
                </a:r>
                <a:r>
                  <a:rPr lang="en-US" altLang="zh-CN" dirty="0" smtClean="0"/>
                  <a:t>?</a:t>
                </a:r>
                <a:endParaRPr lang="en-US" altLang="zh-CN" dirty="0"/>
              </a:p>
              <a:p>
                <a:r>
                  <a:rPr lang="zh-CN" altLang="en-US" dirty="0" smtClean="0"/>
                  <a:t>解</a:t>
                </a:r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是可逆的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因为它是一个一一对应关系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反函数颠倒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给出的对应关系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ea typeface="Cambria Math" pitchFamily="18" charset="0"/>
                  </a:rPr>
                  <a:t>(</a:t>
                </a:r>
                <a:r>
                  <a:rPr lang="en-US" altLang="zh-CN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altLang="zh-CN" dirty="0">
                    <a:ea typeface="Cambria Math" pitchFamily="18" charset="0"/>
                  </a:rPr>
                  <a:t>) </a:t>
                </a:r>
                <a:r>
                  <a:rPr lang="en-US" altLang="zh-CN" i="1" dirty="0">
                    <a:ea typeface="Cambria Math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itchFamily="18" charset="0"/>
                      </a:rPr>
                      <m:t>𝑐</m:t>
                    </m:r>
                  </m:oMath>
                </a14:m>
                <a:r>
                  <a:rPr lang="en-US" altLang="zh-CN" dirty="0" smtClean="0">
                    <a:latin typeface="Cambria Math" pitchFamily="18" charset="0"/>
                    <a:ea typeface="Cambria Math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(</a:t>
                </a:r>
                <a:r>
                  <a:rPr lang="en-US" altLang="zh-CN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altLang="zh-CN" dirty="0"/>
                  <a:t>) </a:t>
                </a:r>
                <a:r>
                  <a:rPr lang="en-US" altLang="zh-CN" i="1" dirty="0"/>
                  <a:t>=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i="1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(</a:t>
                </a:r>
                <a:r>
                  <a:rPr lang="en-US" altLang="zh-CN" dirty="0">
                    <a:latin typeface="Cambria Math" pitchFamily="18" charset="0"/>
                    <a:ea typeface="Cambria Math" pitchFamily="18" charset="0"/>
                  </a:rPr>
                  <a:t>3</a:t>
                </a:r>
                <a:r>
                  <a:rPr lang="en-US" altLang="zh-CN" dirty="0"/>
                  <a:t>) </a:t>
                </a:r>
                <a:r>
                  <a:rPr lang="en-US" altLang="zh-CN" i="1" dirty="0"/>
                  <a:t>=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2"/>
                <a:stretch>
                  <a:fillRect l="-999" t="-1310" r="-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47EB-3D2F-4650-AC26-C40526A8534B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dirty="0" smtClean="0"/>
                  <a:t>: 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: Z </a:t>
                </a:r>
                <a:r>
                  <a:rPr lang="en-US" dirty="0" smtClean="0">
                    <a:sym typeface="Wingdings" pitchFamily="2" charset="2"/>
                  </a:rPr>
                  <a:t> Z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 + 1.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可逆么？如果可逆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其反函数是什么？</a:t>
                </a:r>
                <a:endParaRPr lang="en-US" altLang="zh-CN" dirty="0" smtClean="0">
                  <a:sym typeface="Wingdings" pitchFamily="2" charset="2"/>
                </a:endParaRPr>
              </a:p>
              <a:p>
                <a:r>
                  <a:rPr lang="zh-CN" altLang="en-US" dirty="0" smtClean="0">
                    <a:sym typeface="Wingdings" pitchFamily="2" charset="2"/>
                  </a:rPr>
                  <a:t>解</a:t>
                </a:r>
                <a:r>
                  <a:rPr lang="en-US" altLang="zh-CN" dirty="0" smtClean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是可逆的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/>
                  <a:t>因为</a:t>
                </a:r>
                <a:r>
                  <a:rPr lang="zh-CN" altLang="en-US" dirty="0"/>
                  <a:t>它是一个一一对应</a:t>
                </a:r>
                <a:r>
                  <a:rPr lang="zh-CN" altLang="en-US" dirty="0" smtClean="0"/>
                  <a:t>关系</a:t>
                </a:r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反函数颠倒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给</a:t>
                </a:r>
                <a:r>
                  <a:rPr lang="zh-CN" altLang="en-US" dirty="0"/>
                  <a:t>出的对应</a:t>
                </a:r>
                <a:r>
                  <a:rPr lang="zh-CN" altLang="en-US" dirty="0" smtClean="0"/>
                  <a:t>关系</a:t>
                </a:r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为了颠倒对应关系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zh-CN" altLang="en-US" dirty="0" smtClean="0"/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zh-CN" altLang="en-US" dirty="0" smtClean="0"/>
                  <a:t>的像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en-US" altLang="zh-CN" dirty="0" smtClean="0"/>
                  <a:t>=</a:t>
                </a:r>
                <a:r>
                  <a:rPr lang="en-US" altLang="zh-CN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altLang="zh-CN" dirty="0" smtClean="0"/>
                  <a:t>+1,  </a:t>
                </a:r>
                <a:r>
                  <a:rPr lang="zh-CN" altLang="en-US" dirty="0" smtClean="0"/>
                  <a:t>从而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en-US" altLang="zh-CN" dirty="0" smtClean="0"/>
                  <a:t>-1.</a:t>
                </a:r>
                <a:r>
                  <a:rPr lang="zh-CN" altLang="en-US" dirty="0" smtClean="0"/>
                  <a:t>这意味着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en-US" altLang="zh-CN" dirty="0" smtClean="0"/>
                  <a:t>-1</a:t>
                </a:r>
                <a:r>
                  <a:rPr lang="zh-CN" altLang="en-US" dirty="0" smtClean="0"/>
                  <a:t>是在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的反函数下赋予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Z</a:t>
                </a:r>
                <a:r>
                  <a:rPr lang="zh-CN" altLang="en-US" dirty="0" smtClean="0"/>
                  <a:t>的唯一元素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dirty="0"/>
                          <m:t>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i="1" baseline="30000" dirty="0" smtClean="0">
                    <a:ea typeface="Cambria Math" pitchFamily="18" charset="0"/>
                  </a:rPr>
                  <a:t> </a:t>
                </a:r>
                <a:r>
                  <a:rPr lang="en-US" altLang="zh-CN" dirty="0">
                    <a:ea typeface="Cambria Math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en-US" altLang="zh-CN" dirty="0">
                    <a:ea typeface="Cambria Math" pitchFamily="18" charset="0"/>
                  </a:rPr>
                  <a:t>) </a:t>
                </a:r>
                <a:r>
                  <a:rPr lang="en-US" altLang="zh-CN" i="1" dirty="0">
                    <a:ea typeface="Cambria Math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en-US" altLang="zh-CN" i="1" dirty="0">
                    <a:ea typeface="Cambria Math" pitchFamily="18" charset="0"/>
                  </a:rPr>
                  <a:t> – </a:t>
                </a:r>
                <a:r>
                  <a:rPr lang="en-US" altLang="zh-CN" dirty="0">
                    <a:latin typeface="Cambria Math" pitchFamily="18" charset="0"/>
                    <a:ea typeface="Cambria Math" pitchFamily="18" charset="0"/>
                  </a:rPr>
                  <a:t>1.   </a:t>
                </a:r>
                <a:r>
                  <a:rPr lang="en-US" altLang="zh-CN" dirty="0" smtClean="0">
                    <a:latin typeface="Cambria Math" pitchFamily="18" charset="0"/>
                    <a:ea typeface="Cambria Math" pitchFamily="18" charset="0"/>
                  </a:rPr>
                  <a:t>  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2"/>
                <a:stretch>
                  <a:fillRect l="-999" t="-1429" r="-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80B23-D28B-43BB-9C01-4A4D8FE63F92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dirty="0" smtClean="0"/>
                  <a:t>: </a:t>
                </a:r>
                <a:r>
                  <a:rPr lang="zh-CN" altLang="en-US" dirty="0" smtClean="0"/>
                  <a:t>令</a:t>
                </a:r>
                <a:r>
                  <a:rPr lang="en-US" altLang="zh-CN" dirty="0" smtClean="0"/>
                  <a:t>ƒ</a:t>
                </a:r>
                <a:r>
                  <a:rPr lang="en-US" dirty="0" smtClean="0"/>
                  <a:t>: R </a:t>
                </a:r>
                <a:r>
                  <a:rPr lang="en-US" dirty="0" smtClean="0">
                    <a:sym typeface="Wingdings" pitchFamily="2" charset="2"/>
                  </a:rPr>
                  <a:t>→ R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使得</a:t>
                </a:r>
                <a:r>
                  <a:rPr lang="en-US" altLang="zh-CN" dirty="0" smtClean="0"/>
                  <a:t>ƒ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 </a:t>
                </a:r>
                <a:r>
                  <a:rPr lang="en-US" altLang="zh-CN" dirty="0" smtClean="0">
                    <a:sym typeface="Wingdings" pitchFamily="2" charset="2"/>
                  </a:rPr>
                  <a:t>. </a:t>
                </a:r>
                <a:r>
                  <a:rPr lang="en-US" altLang="zh-CN" dirty="0"/>
                  <a:t>ƒ</a:t>
                </a:r>
                <a:r>
                  <a:rPr lang="zh-CN" altLang="en-US" dirty="0" smtClean="0">
                    <a:sym typeface="Wingdings" pitchFamily="2" charset="2"/>
                  </a:rPr>
                  <a:t>是可逆的么？如果可能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其反函数是什么？</a:t>
                </a:r>
                <a:endParaRPr lang="en-US" altLang="zh-CN" dirty="0" smtClean="0">
                  <a:sym typeface="Wingdings" pitchFamily="2" charset="2"/>
                </a:endParaRPr>
              </a:p>
              <a:p>
                <a:r>
                  <a:rPr lang="zh-CN" altLang="en-US" dirty="0" smtClean="0">
                    <a:sym typeface="Wingdings" pitchFamily="2" charset="2"/>
                  </a:rPr>
                  <a:t>解</a:t>
                </a:r>
                <a:r>
                  <a:rPr lang="en-US" altLang="zh-CN" dirty="0" smtClean="0">
                    <a:sym typeface="Wingdings" pitchFamily="2" charset="2"/>
                  </a:rPr>
                  <a:t>:</a:t>
                </a:r>
                <a:r>
                  <a:rPr lang="en-US" altLang="zh-CN" dirty="0"/>
                  <a:t> ƒ</a:t>
                </a:r>
                <a:r>
                  <a:rPr lang="zh-CN" altLang="en-US" dirty="0" smtClean="0">
                    <a:sym typeface="Wingdings" pitchFamily="2" charset="2"/>
                  </a:rPr>
                  <a:t>不是可逆的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因为</a:t>
                </a:r>
                <a:r>
                  <a:rPr lang="en-US" altLang="zh-CN" dirty="0"/>
                  <a:t>ƒ</a:t>
                </a:r>
                <a:r>
                  <a:rPr lang="zh-CN" altLang="en-US" dirty="0" smtClean="0">
                    <a:sym typeface="Wingdings" pitchFamily="2" charset="2"/>
                  </a:rPr>
                  <a:t>不是一对一的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比如</a:t>
                </a:r>
                <a:r>
                  <a:rPr lang="en-US" altLang="zh-CN" dirty="0"/>
                  <a:t>ƒ</a:t>
                </a:r>
                <a:r>
                  <a:rPr lang="en-US" altLang="zh-CN" dirty="0" smtClean="0">
                    <a:sym typeface="Wingdings" pitchFamily="2" charset="2"/>
                  </a:rPr>
                  <a:t>(-2)=</a:t>
                </a:r>
                <a:r>
                  <a:rPr lang="en-US" altLang="zh-CN" dirty="0"/>
                  <a:t> ƒ</a:t>
                </a:r>
                <a:r>
                  <a:rPr lang="en-US" altLang="zh-CN" dirty="0" smtClean="0">
                    <a:sym typeface="Wingdings" pitchFamily="2" charset="2"/>
                  </a:rPr>
                  <a:t>(2)=4.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2"/>
                <a:stretch>
                  <a:fillRect l="-999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BEC0-B91C-4349-A82F-916B56277500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110685"/>
            <a:ext cx="11277599" cy="1565857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合成函数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定义</a:t>
                </a:r>
                <a:r>
                  <a:rPr lang="en-US" altLang="zh-CN" dirty="0" smtClean="0"/>
                  <a:t>: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为从集合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到集合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的函数</a:t>
                </a:r>
                <a:r>
                  <a:rPr lang="en-US" altLang="zh-CN" dirty="0" smtClean="0"/>
                  <a:t>, 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为从集合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到集合</a:t>
                </a:r>
                <a:r>
                  <a:rPr lang="en-US" altLang="zh-CN" dirty="0" smtClean="0"/>
                  <a:t>C</a:t>
                </a:r>
                <a:r>
                  <a:rPr lang="zh-CN" altLang="en-US" dirty="0" smtClean="0"/>
                  <a:t>的函数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函数</a:t>
                </a:r>
                <a:r>
                  <a:rPr lang="en-US" altLang="zh-CN" dirty="0"/>
                  <a:t>g</a:t>
                </a:r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合成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记作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定义为对任意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∈</a:t>
                </a:r>
                <a:r>
                  <a:rPr lang="en-US" altLang="zh-CN" dirty="0" smtClean="0"/>
                  <a:t>A, 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 smtClean="0"/>
                  <a:t>=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 rotWithShape="0">
                <a:blip r:embed="rId3"/>
                <a:stretch>
                  <a:fillRect l="-999" t="-1310" r="-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24EF-BBCC-4486-B690-686481CFFDF0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05889" y="5787333"/>
                <a:ext cx="35902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前提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的值域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ƒ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的定义域的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子集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89" y="5787333"/>
                <a:ext cx="3590214" cy="369332"/>
              </a:xfrm>
              <a:prstGeom prst="rect">
                <a:avLst/>
              </a:prstGeom>
              <a:blipFill>
                <a:blip r:embed="rId5"/>
                <a:stretch>
                  <a:fillRect l="-1528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286" y="2885253"/>
            <a:ext cx="5638800" cy="23417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合成函数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内容占位符 49"/>
              <p:cNvSpPr>
                <a:spLocks noGrp="1"/>
              </p:cNvSpPr>
              <p:nvPr>
                <p:ph idx="1"/>
              </p:nvPr>
            </p:nvSpPr>
            <p:spPr>
              <a:xfrm>
                <a:off x="595086" y="1088825"/>
                <a:ext cx="10987316" cy="445638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altLang="zh-CN" dirty="0" smtClean="0"/>
                  <a:t>1:</a:t>
                </a:r>
                <a:r>
                  <a:rPr lang="zh-CN" altLang="en-US" dirty="0" smtClean="0"/>
                  <a:t>如</a:t>
                </a:r>
                <a:r>
                  <a:rPr lang="zh-CN" altLang="en-US" dirty="0"/>
                  <a:t>左图所</a:t>
                </a:r>
                <a:r>
                  <a:rPr lang="zh-CN" altLang="en-US" dirty="0" smtClean="0"/>
                  <a:t>示函数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和</a:t>
                </a:r>
                <a:r>
                  <a:rPr lang="en-US" altLang="zh-CN" dirty="0"/>
                  <a:t>ƒ,  </a:t>
                </a:r>
                <a:r>
                  <a:rPr lang="zh-CN" altLang="en-US" dirty="0" smtClean="0"/>
                  <a:t>合成函数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如右图所示</a:t>
                </a:r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0" name="内容占位符 4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086" y="1088825"/>
                <a:ext cx="10987316" cy="445638"/>
              </a:xfrm>
              <a:blipFill rotWithShape="0">
                <a:blip r:embed="rId2"/>
                <a:stretch>
                  <a:fillRect l="-999" t="-15068" b="-54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日期占位符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9D219-9569-4D77-B00B-FF2BFB5CE206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7380276" y="2326720"/>
            <a:ext cx="3154680" cy="2792234"/>
            <a:chOff x="6629400" y="2526268"/>
            <a:chExt cx="3154680" cy="2792234"/>
          </a:xfrm>
        </p:grpSpPr>
        <p:sp>
          <p:nvSpPr>
            <p:cNvPr id="57" name="Flowchart: Connector 56"/>
            <p:cNvSpPr/>
            <p:nvPr/>
          </p:nvSpPr>
          <p:spPr>
            <a:xfrm>
              <a:off x="6700520" y="3786797"/>
              <a:ext cx="426720" cy="348712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lowchart: Connector 57"/>
            <p:cNvSpPr/>
            <p:nvPr/>
          </p:nvSpPr>
          <p:spPr>
            <a:xfrm>
              <a:off x="6700520" y="4367983"/>
              <a:ext cx="426720" cy="348712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lowchart: Connector 58"/>
            <p:cNvSpPr/>
            <p:nvPr/>
          </p:nvSpPr>
          <p:spPr>
            <a:xfrm>
              <a:off x="6700520" y="3089373"/>
              <a:ext cx="426720" cy="348712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lowchart: Connector 59"/>
            <p:cNvSpPr/>
            <p:nvPr/>
          </p:nvSpPr>
          <p:spPr>
            <a:xfrm>
              <a:off x="6700520" y="4949170"/>
              <a:ext cx="426720" cy="348712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owchart: Connector 61"/>
            <p:cNvSpPr/>
            <p:nvPr/>
          </p:nvSpPr>
          <p:spPr>
            <a:xfrm>
              <a:off x="9144000" y="3440668"/>
              <a:ext cx="426720" cy="348712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lowchart: Connector 62"/>
            <p:cNvSpPr/>
            <p:nvPr/>
          </p:nvSpPr>
          <p:spPr>
            <a:xfrm>
              <a:off x="9220200" y="4126468"/>
              <a:ext cx="426720" cy="348712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629400" y="2526268"/>
              <a:ext cx="64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A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144000" y="2526268"/>
              <a:ext cx="64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C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781800" y="3135868"/>
              <a:ext cx="28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771640" y="3844915"/>
              <a:ext cx="28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771640" y="4426102"/>
              <a:ext cx="28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771640" y="4949170"/>
              <a:ext cx="28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296400" y="4126468"/>
              <a:ext cx="28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189720" y="4891051"/>
              <a:ext cx="28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sp>
          <p:nvSpPr>
            <p:cNvPr id="74" name="Flowchart: Connector 73"/>
            <p:cNvSpPr/>
            <p:nvPr/>
          </p:nvSpPr>
          <p:spPr>
            <a:xfrm>
              <a:off x="9067800" y="4964668"/>
              <a:ext cx="426720" cy="348712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220200" y="3440668"/>
              <a:ext cx="28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>
              <a:off x="7162800" y="2907269"/>
              <a:ext cx="1849120" cy="1211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7909560" y="2740662"/>
              <a:ext cx="497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i="1" dirty="0"/>
            </a:p>
          </p:txBody>
        </p:sp>
        <p:cxnSp>
          <p:nvCxnSpPr>
            <p:cNvPr id="83" name="Straight Arrow Connector 82"/>
            <p:cNvCxnSpPr/>
            <p:nvPr/>
          </p:nvCxnSpPr>
          <p:spPr>
            <a:xfrm>
              <a:off x="7239000" y="3364468"/>
              <a:ext cx="1828800" cy="1600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V="1">
              <a:off x="7239000" y="3821668"/>
              <a:ext cx="1905000" cy="1219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V="1">
              <a:off x="7239000" y="3745468"/>
              <a:ext cx="18288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endCxn id="63" idx="2"/>
            </p:cNvCxnSpPr>
            <p:nvPr/>
          </p:nvCxnSpPr>
          <p:spPr>
            <a:xfrm flipV="1">
              <a:off x="7239000" y="4300824"/>
              <a:ext cx="1981200" cy="20664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1095966" y="2326720"/>
            <a:ext cx="4495800" cy="3036332"/>
            <a:chOff x="304800" y="990600"/>
            <a:chExt cx="4495800" cy="3036332"/>
          </a:xfrm>
        </p:grpSpPr>
        <p:sp>
          <p:nvSpPr>
            <p:cNvPr id="12" name="TextBox 11"/>
            <p:cNvSpPr txBox="1"/>
            <p:nvPr/>
          </p:nvSpPr>
          <p:spPr>
            <a:xfrm>
              <a:off x="304800" y="990600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33600" y="990600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14800" y="1066800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C</a:t>
              </a:r>
            </a:p>
          </p:txBody>
        </p:sp>
        <p:sp>
          <p:nvSpPr>
            <p:cNvPr id="4" name="Flowchart: Connector 3"/>
            <p:cNvSpPr/>
            <p:nvPr/>
          </p:nvSpPr>
          <p:spPr>
            <a:xfrm>
              <a:off x="457200" y="231648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Connector 4"/>
            <p:cNvSpPr/>
            <p:nvPr/>
          </p:nvSpPr>
          <p:spPr>
            <a:xfrm>
              <a:off x="457200" y="277368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457200" y="176784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457200" y="323088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2235200" y="172212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2184400" y="249936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2184400" y="313944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57200" y="17526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7200" y="22860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57200" y="27432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57200" y="32004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09800" y="1676400"/>
              <a:ext cx="228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33600" y="25146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35200" y="3124200"/>
              <a:ext cx="127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812800" y="2453640"/>
              <a:ext cx="1320800" cy="1828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lowchart: Connector 26"/>
            <p:cNvSpPr/>
            <p:nvPr/>
          </p:nvSpPr>
          <p:spPr>
            <a:xfrm>
              <a:off x="2235200" y="368808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86000" y="36576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rot="16200000" flipH="1">
              <a:off x="701040" y="2153920"/>
              <a:ext cx="1645920" cy="142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812800" y="2910840"/>
              <a:ext cx="1320800" cy="2743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812800" y="1447800"/>
              <a:ext cx="1320800" cy="953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371600" y="990600"/>
              <a:ext cx="355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g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2743200" y="1447800"/>
              <a:ext cx="1320800" cy="953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lowchart: Connector 33"/>
            <p:cNvSpPr/>
            <p:nvPr/>
          </p:nvSpPr>
          <p:spPr>
            <a:xfrm>
              <a:off x="4165600" y="185928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4216400" y="236220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lowchart: Connector 36"/>
            <p:cNvSpPr/>
            <p:nvPr/>
          </p:nvSpPr>
          <p:spPr>
            <a:xfrm>
              <a:off x="4267200" y="3139440"/>
              <a:ext cx="304800" cy="27432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91000" y="18288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267200" y="3048000"/>
              <a:ext cx="228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267200" y="22860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2590800" y="1767840"/>
              <a:ext cx="1574800" cy="6400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flipV="1">
              <a:off x="2540000" y="2545080"/>
              <a:ext cx="162560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27" idx="6"/>
            </p:cNvCxnSpPr>
            <p:nvPr/>
          </p:nvCxnSpPr>
          <p:spPr>
            <a:xfrm flipV="1">
              <a:off x="2540000" y="3322320"/>
              <a:ext cx="1676400" cy="5029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V="1">
              <a:off x="2540000" y="2042160"/>
              <a:ext cx="1574800" cy="5486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3124200" y="990600"/>
              <a:ext cx="355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f</a:t>
              </a:r>
            </a:p>
          </p:txBody>
        </p:sp>
        <p:cxnSp>
          <p:nvCxnSpPr>
            <p:cNvPr id="91" name="Straight Arrow Connector 90"/>
            <p:cNvCxnSpPr>
              <a:endCxn id="9" idx="3"/>
            </p:cNvCxnSpPr>
            <p:nvPr/>
          </p:nvCxnSpPr>
          <p:spPr>
            <a:xfrm flipV="1">
              <a:off x="838200" y="2733507"/>
              <a:ext cx="1390837" cy="6192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8472848" y="2262237"/>
                <a:ext cx="7307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848" y="2262237"/>
                <a:ext cx="73077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合成函数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altLang="zh-CN" dirty="0" smtClean="0"/>
                  <a:t>2</a:t>
                </a:r>
                <a:r>
                  <a:rPr lang="en-US" dirty="0" smtClean="0"/>
                  <a:t>: </a:t>
                </a:r>
                <a:r>
                  <a:rPr lang="zh-CN" altLang="en-US" dirty="0" smtClean="0"/>
                  <a:t>令                 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                     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他们都是整数集到整数集的函数，求函数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/>
                      <m:t>ƒ</m:t>
                    </m:r>
                  </m:oMath>
                </a14:m>
                <a:r>
                  <a:rPr lang="zh-CN" altLang="en-US" dirty="0" smtClean="0"/>
                  <a:t>的合成函数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以及函数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/>
                      <m:t>ƒ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的合成函数</a:t>
                </a:r>
                <a:r>
                  <a:rPr lang="en-US" altLang="zh-CN" dirty="0" smtClean="0"/>
                  <a:t>.</a:t>
                </a:r>
              </a:p>
              <a:p>
                <a:r>
                  <a:rPr lang="en-US" dirty="0" smtClean="0"/>
                  <a:t> </a:t>
                </a:r>
                <a:r>
                  <a:rPr lang="zh-CN" altLang="en-US" dirty="0" smtClean="0"/>
                  <a:t>解</a:t>
                </a:r>
                <a:r>
                  <a:rPr lang="en-US" altLang="zh-CN" dirty="0" smtClean="0"/>
                  <a:t>: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 rotWithShape="0">
                <a:blip r:embed="rId6"/>
                <a:stretch>
                  <a:fillRect l="-999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日期占位符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DF443-C575-47EF-93C5-8021BBD022BB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pic>
        <p:nvPicPr>
          <p:cNvPr id="4" name="Picture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209800" y="1089025"/>
            <a:ext cx="1577340" cy="408623"/>
          </a:xfrm>
          <a:prstGeom prst="rect">
            <a:avLst/>
          </a:prstGeom>
        </p:spPr>
      </p:pic>
      <p:pic>
        <p:nvPicPr>
          <p:cNvPr id="5" name="Picture 4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114801" y="1121851"/>
            <a:ext cx="2240280" cy="382905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1749742" y="2527935"/>
            <a:ext cx="3206115" cy="408623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1749742" y="3237485"/>
            <a:ext cx="2931795" cy="408623"/>
          </a:xfrm>
          <a:prstGeom prst="rect">
            <a:avLst/>
          </a:prstGeo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合成函数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altLang="zh-CN" dirty="0" smtClean="0"/>
                  <a:t>3</a:t>
                </a:r>
                <a:r>
                  <a:rPr lang="en-US" dirty="0" smtClean="0"/>
                  <a:t>: 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为从</a:t>
                </a:r>
                <a:r>
                  <a:rPr lang="en-US" dirty="0" smtClean="0"/>
                  <a:t>{a,  b,  c}</a:t>
                </a:r>
                <a:r>
                  <a:rPr lang="zh-CN" altLang="en-US" dirty="0" smtClean="0"/>
                  <a:t>到</a:t>
                </a:r>
                <a:r>
                  <a:rPr lang="en-US" altLang="zh-CN" dirty="0" smtClean="0"/>
                  <a:t>{a,  b,  c}</a:t>
                </a:r>
                <a:r>
                  <a:rPr lang="zh-CN" altLang="en-US" dirty="0" smtClean="0"/>
                  <a:t>的函数</a:t>
                </a:r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(a) = b,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(b) = c,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(c) = a. </a:t>
                </a:r>
                <a:r>
                  <a:rPr lang="zh-CN" altLang="en-US" dirty="0" smtClean="0"/>
                  <a:t>令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为从</a:t>
                </a:r>
                <a:r>
                  <a:rPr lang="en-US" dirty="0" smtClean="0"/>
                  <a:t>{a,  b,  c}</a:t>
                </a:r>
                <a:r>
                  <a:rPr lang="zh-CN" altLang="en-US" dirty="0" smtClean="0"/>
                  <a:t>到</a:t>
                </a:r>
                <a:r>
                  <a:rPr lang="en-US" dirty="0" smtClean="0"/>
                  <a:t>{1,  2,  3}</a:t>
                </a:r>
                <a:r>
                  <a:rPr lang="zh-CN" altLang="en-US" dirty="0" smtClean="0"/>
                  <a:t>的函数</a:t>
                </a:r>
                <a:r>
                  <a:rPr lang="en-US" altLang="zh-CN" dirty="0" smtClean="0"/>
                  <a:t>,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(a) = 3,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(b) = 2,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(c) = 1. </a:t>
                </a:r>
                <a:r>
                  <a:rPr lang="zh-CN" altLang="en-US" dirty="0" smtClean="0"/>
                  <a:t>求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的合成函数</a:t>
                </a:r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和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的合成函数</a:t>
                </a:r>
                <a:r>
                  <a:rPr lang="en-US" altLang="zh-CN" dirty="0" smtClean="0"/>
                  <a:t>.</a:t>
                </a:r>
                <a:endParaRPr lang="en-US" dirty="0" smtClean="0"/>
              </a:p>
              <a:p>
                <a:r>
                  <a:rPr lang="zh-CN" altLang="en-US" dirty="0"/>
                  <a:t>解</a:t>
                </a:r>
                <a:r>
                  <a:rPr lang="en-US" dirty="0" smtClean="0"/>
                  <a:t>: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:r>
                  <a:rPr lang="en-US" altLang="zh-CN" dirty="0" smtClean="0"/>
                  <a:t>ƒ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是没有定义的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因为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的值域不是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的定义域的子集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∘ </m:t>
                    </m:r>
                  </m:oMath>
                </a14:m>
                <a:r>
                  <a:rPr lang="en-US" altLang="zh-CN" dirty="0" smtClean="0"/>
                  <a:t>ƒ</a:t>
                </a:r>
                <a:r>
                  <a:rPr lang="zh-CN" altLang="en-US" dirty="0" smtClean="0"/>
                  <a:t>定义为</a:t>
                </a:r>
                <a:r>
                  <a:rPr lang="en-US" dirty="0" smtClean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∘ </m:t>
                    </m:r>
                  </m:oMath>
                </a14:m>
                <a:r>
                  <a:rPr lang="en-US" altLang="zh-CN" dirty="0"/>
                  <a:t>ƒ</a:t>
                </a:r>
                <a:r>
                  <a:rPr lang="en-US" dirty="0" smtClean="0"/>
                  <a:t>(a)=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(a)) =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(b) = 2.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∘ </m:t>
                    </m:r>
                  </m:oMath>
                </a14:m>
                <a:r>
                  <a:rPr lang="en-US" altLang="zh-CN" dirty="0"/>
                  <a:t>ƒ</a:t>
                </a:r>
                <a:r>
                  <a:rPr lang="en-US" dirty="0" smtClean="0"/>
                  <a:t>(b)=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(b)) =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(c) = 1.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∘ </m:t>
                    </m:r>
                  </m:oMath>
                </a14:m>
                <a:r>
                  <a:rPr lang="en-US" altLang="zh-CN" dirty="0"/>
                  <a:t>ƒ</a:t>
                </a:r>
                <a:r>
                  <a:rPr lang="en-US" dirty="0" smtClean="0"/>
                  <a:t>(c)=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(c)) =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(a) = 3. </a:t>
                </a:r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 rotWithShape="0">
                <a:blip r:embed="rId2"/>
                <a:stretch>
                  <a:fillRect l="-999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81DD-4FD2-4BC4-B61B-9895B72EB0EC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合成函数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altLang="zh-CN" dirty="0" smtClean="0"/>
                  <a:t>4</a:t>
                </a:r>
                <a:r>
                  <a:rPr lang="en-US" dirty="0" smtClean="0"/>
                  <a:t> : </a:t>
                </a:r>
                <a:r>
                  <a:rPr lang="zh-CN" altLang="en-US" dirty="0" smtClean="0"/>
                  <a:t>令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为从整数集到整数集的函数</a:t>
                </a:r>
                <a:r>
                  <a:rPr lang="en-US" altLang="zh-CN" dirty="0" smtClean="0"/>
                  <a:t>,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) = 2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 + 3 </a:t>
                </a:r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) = 3</a:t>
                </a:r>
                <a:r>
                  <a:rPr lang="en-US" altLang="zh-CN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 + 2.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/>
                      <m:t>ƒ</m:t>
                    </m:r>
                  </m:oMath>
                </a14:m>
                <a:r>
                  <a:rPr lang="zh-CN" altLang="en-US" dirty="0" smtClean="0"/>
                  <a:t>的合成是什么？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:r>
                  <a:rPr lang="en-US" altLang="zh-CN" dirty="0"/>
                  <a:t>ƒ </a:t>
                </a:r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 smtClean="0"/>
                  <a:t>的合成是什么？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解</a:t>
                </a:r>
                <a:r>
                  <a:rPr lang="en-US" dirty="0" smtClean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altLang="zh-CN" dirty="0"/>
                  <a:t> ƒ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)=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)) = 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(3</a:t>
                </a:r>
                <a:r>
                  <a:rPr lang="en-US" altLang="zh-CN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 + 2) = 2(3</a:t>
                </a:r>
                <a:r>
                  <a:rPr lang="en-US" altLang="zh-CN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 + 2) + 3 = 6</a:t>
                </a:r>
                <a:r>
                  <a:rPr lang="en-US" altLang="zh-CN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 + 7</a:t>
                </a:r>
              </a:p>
              <a:p>
                <a:pPr lvl="1"/>
                <a:r>
                  <a:rPr lang="en-US" altLang="zh-CN" dirty="0" smtClean="0"/>
                  <a:t>ƒ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)=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</a:t>
                </a:r>
                <a:r>
                  <a:rPr lang="en-US" altLang="zh-CN" dirty="0"/>
                  <a:t>ƒ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))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(2</a:t>
                </a:r>
                <a:r>
                  <a:rPr lang="en-US" altLang="zh-CN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 + 3) = 3(2</a:t>
                </a:r>
                <a:r>
                  <a:rPr lang="en-US" altLang="zh-CN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 + 3) + 2 = 6</a:t>
                </a:r>
                <a:r>
                  <a:rPr lang="en-US" altLang="zh-CN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en-US" dirty="0" smtClean="0"/>
                  <a:t> + 11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 rotWithShape="0">
                <a:blip r:embed="rId2"/>
                <a:stretch>
                  <a:fillRect l="-999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4AAA-FD36-4B3D-B648-D4E8F7E50A41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函数的图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313" y="1089025"/>
            <a:ext cx="10987087" cy="5121275"/>
          </a:xfrm>
        </p:spPr>
        <p:txBody>
          <a:bodyPr/>
          <a:lstStyle/>
          <a:p>
            <a:r>
              <a:rPr lang="zh-CN" altLang="en-US" dirty="0" smtClean="0"/>
              <a:t>令</a:t>
            </a:r>
            <a:r>
              <a:rPr lang="en-US" altLang="zh-CN" dirty="0"/>
              <a:t>ƒ</a:t>
            </a:r>
            <a:r>
              <a:rPr lang="zh-CN" altLang="en-US" dirty="0" smtClean="0"/>
              <a:t>为从集合</a:t>
            </a:r>
            <a:r>
              <a:rPr lang="en-US" altLang="zh-CN" dirty="0" smtClean="0"/>
              <a:t>A</a:t>
            </a:r>
            <a:r>
              <a:rPr lang="zh-CN" altLang="en-US" dirty="0" smtClean="0"/>
              <a:t>到集合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的函数</a:t>
            </a:r>
            <a:r>
              <a:rPr lang="en-US" altLang="zh-CN" dirty="0" smtClean="0"/>
              <a:t>,  </a:t>
            </a:r>
            <a:r>
              <a:rPr lang="zh-CN" altLang="en-US" dirty="0" smtClean="0"/>
              <a:t>函数</a:t>
            </a:r>
            <a:r>
              <a:rPr lang="en-US" altLang="zh-CN" dirty="0"/>
              <a:t>ƒ</a:t>
            </a:r>
            <a:r>
              <a:rPr lang="zh-CN" altLang="en-US" dirty="0" smtClean="0"/>
              <a:t>的图像是序偶集合</a:t>
            </a:r>
            <a:r>
              <a:rPr lang="en-US" altLang="zh-CN" dirty="0"/>
              <a:t> </a:t>
            </a:r>
            <a:r>
              <a:rPr lang="en-US" dirty="0" smtClean="0"/>
              <a:t>{(a,  b) | a ∈A </a:t>
            </a:r>
            <a:r>
              <a:rPr lang="zh-CN" altLang="en-US" dirty="0" smtClean="0"/>
              <a:t>且</a:t>
            </a:r>
            <a:r>
              <a:rPr lang="en-US" altLang="zh-CN" dirty="0" smtClean="0"/>
              <a:t>ƒ</a:t>
            </a:r>
            <a:r>
              <a:rPr lang="en-US" dirty="0" smtClean="0"/>
              <a:t>(a) = b}.</a:t>
            </a:r>
            <a:endParaRPr lang="en-US" dirty="0"/>
          </a:p>
        </p:txBody>
      </p:sp>
      <p:sp>
        <p:nvSpPr>
          <p:cNvPr id="15" name="日期占位符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330B-BD54-4149-8707-D5E7D99250B0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pic>
        <p:nvPicPr>
          <p:cNvPr id="4" name="Picture 3" descr="021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3600" y="2407463"/>
            <a:ext cx="1879854" cy="1879854"/>
          </a:xfrm>
          <a:prstGeom prst="rect">
            <a:avLst/>
          </a:prstGeom>
        </p:spPr>
      </p:pic>
      <p:pic>
        <p:nvPicPr>
          <p:cNvPr id="5" name="Picture 4" descr="022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85051" y="2442363"/>
            <a:ext cx="2079498" cy="1879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97024" y="4502160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整数集到整数集的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ƒ</a:t>
            </a:r>
            <a:r>
              <a:rPr 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sz="24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= 2</a:t>
            </a:r>
            <a:r>
              <a:rPr lang="en-US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的图</a:t>
            </a:r>
            <a:r>
              <a:rPr 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678549" y="4434880"/>
                <a:ext cx="284645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从整数集到整数集的函数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ƒ </a:t>
                </a:r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的图</a:t>
                </a:r>
                <a:endPara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549" y="4434880"/>
                <a:ext cx="2846451" cy="1200329"/>
              </a:xfrm>
              <a:prstGeom prst="rect">
                <a:avLst/>
              </a:prstGeom>
              <a:blipFill>
                <a:blip r:embed="rId4"/>
                <a:stretch>
                  <a:fillRect l="-3426" t="-4082" b="-1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457200" y="1110686"/>
            <a:ext cx="11277599" cy="1022914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9600" y="2253686"/>
            <a:ext cx="11277599" cy="1175314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一些重要的函数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定义</a:t>
                </a:r>
                <a:r>
                  <a:rPr lang="en-US" altLang="zh-CN" dirty="0" smtClean="0"/>
                  <a:t>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下取整函数</a:t>
                </a:r>
                <a:r>
                  <a:rPr lang="en-US" dirty="0" smtClean="0"/>
                  <a:t>,   </a:t>
                </a:r>
                <a:r>
                  <a:rPr lang="zh-CN" altLang="en-US" dirty="0" smtClean="0"/>
                  <a:t>指派给实数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zh-CN" altLang="en-US" dirty="0" smtClean="0"/>
                  <a:t>的是小于或等于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zh-CN" altLang="en-US" dirty="0" smtClean="0"/>
                  <a:t>的最大整数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记作</a:t>
                </a:r>
                <a:r>
                  <a:rPr lang="en-US" altLang="zh-CN" dirty="0" smtClean="0"/>
                  <a:t>: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zh-CN" altLang="en-US" dirty="0" smtClean="0"/>
                  <a:t>定义</a:t>
                </a:r>
                <a:r>
                  <a:rPr lang="en-US" altLang="zh-CN" dirty="0" smtClean="0"/>
                  <a:t>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上取整函数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指派给实数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zh-CN" altLang="en-US" dirty="0" smtClean="0"/>
                  <a:t>的是大于或等于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lang="zh-CN" altLang="en-US" dirty="0" smtClean="0"/>
                  <a:t>的最小整数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记作</a:t>
                </a:r>
                <a:r>
                  <a:rPr lang="en-US" altLang="zh-CN" dirty="0" smtClean="0"/>
                  <a:t>:</a:t>
                </a:r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zh-CN" altLang="en-US" dirty="0" smtClean="0"/>
                  <a:t>例</a:t>
                </a:r>
                <a:r>
                  <a:rPr lang="en-US" altLang="zh-CN" dirty="0" smtClean="0"/>
                  <a:t>:</a:t>
                </a:r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8"/>
                <a:stretch>
                  <a:fillRect l="-999" t="-1310" r="-1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日期占位符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656F-185C-4BE0-95AD-589B30EE01AF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pic>
        <p:nvPicPr>
          <p:cNvPr id="4" name="Picture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508810" y="1637671"/>
            <a:ext cx="1714500" cy="382905"/>
          </a:xfrm>
          <a:prstGeom prst="rect">
            <a:avLst/>
          </a:prstGeom>
        </p:spPr>
      </p:pic>
      <p:pic>
        <p:nvPicPr>
          <p:cNvPr id="5" name="Picture 4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4468295" y="3046095"/>
            <a:ext cx="1714500" cy="382905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4720276" y="5179694"/>
            <a:ext cx="1443038" cy="382905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4745472" y="4493895"/>
            <a:ext cx="1437323" cy="382905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1905000" y="5179695"/>
            <a:ext cx="2014538" cy="382905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1905000" y="4475332"/>
            <a:ext cx="2025968" cy="382905"/>
          </a:xfrm>
          <a:prstGeom prst="rect">
            <a:avLst/>
          </a:prstGeom>
        </p:spPr>
      </p:pic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一些重要的函数</a:t>
            </a:r>
            <a:endParaRPr lang="en-US" dirty="0"/>
          </a:p>
        </p:txBody>
      </p:sp>
      <p:sp>
        <p:nvSpPr>
          <p:cNvPr id="19" name="内容占位符 18"/>
          <p:cNvSpPr>
            <a:spLocks noGrp="1"/>
          </p:cNvSpPr>
          <p:nvPr>
            <p:ph idx="1"/>
          </p:nvPr>
        </p:nvSpPr>
        <p:spPr>
          <a:xfrm>
            <a:off x="595086" y="1088825"/>
            <a:ext cx="10987316" cy="834284"/>
          </a:xfrm>
        </p:spPr>
        <p:txBody>
          <a:bodyPr/>
          <a:lstStyle/>
          <a:p>
            <a:r>
              <a:rPr lang="zh-CN" altLang="en-US" dirty="0" smtClean="0"/>
              <a:t>下取整函数和上取整函数对应的图</a:t>
            </a:r>
            <a:r>
              <a:rPr lang="en-US" altLang="zh-CN" dirty="0" smtClean="0"/>
              <a:t>: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938E-7547-4ADF-A21B-AA3A6D3519C5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pic>
        <p:nvPicPr>
          <p:cNvPr id="5" name="Picture 4" descr="022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24200" y="2133600"/>
            <a:ext cx="5596182" cy="2590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71800" y="4920686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下取整函数图像；     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上取整函数图像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一些重要的函数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2D6-1067-4FD5-B7EA-7A6717B43971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18"/>
              <p:cNvSpPr txBox="1">
                <a:spLocks/>
              </p:cNvSpPr>
              <p:nvPr/>
            </p:nvSpPr>
            <p:spPr>
              <a:xfrm>
                <a:off x="595086" y="1088824"/>
                <a:ext cx="10987316" cy="5083375"/>
              </a:xfrm>
              <a:prstGeom prst="rect">
                <a:avLst/>
              </a:prstGeom>
            </p:spPr>
            <p:txBody>
              <a:bodyPr/>
              <a:lstStyle>
                <a:lvl1pPr marL="274320" indent="-27432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EA524"/>
                  </a:buClr>
                  <a:buSzPct val="10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640080" indent="-246888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1559D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/>
                  <a:t>下取整函数和上取整函数的有用性质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为整数，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为实数</a:t>
                </a:r>
                <a:r>
                  <a:rPr lang="en-US" altLang="zh-CN" dirty="0" smtClean="0"/>
                  <a:t>):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 smtClean="0"/>
                  <a:t>1a)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 当且仅当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 smtClean="0"/>
                  <a:t>1b)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当且仅当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 smtClean="0"/>
                  <a:t>1c)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当且仅当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−1&lt;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 smtClean="0"/>
                  <a:t>1d)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当且仅当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/>
                  <a:t>2</a:t>
                </a:r>
                <a:r>
                  <a:rPr lang="zh-CN" altLang="en-US" dirty="0" smtClean="0"/>
                  <a:t>）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−1&lt;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 smtClean="0"/>
                  <a:t>3a</a:t>
                </a:r>
                <a:r>
                  <a:rPr lang="zh-CN" altLang="en-US" dirty="0" smtClean="0"/>
                  <a:t>）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 smtClean="0"/>
                  <a:t>3b</a:t>
                </a:r>
                <a:r>
                  <a:rPr lang="zh-CN" altLang="en-US" dirty="0" smtClean="0"/>
                  <a:t>）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 smtClean="0"/>
                  <a:t>=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 smtClean="0"/>
                  <a:t>4a</a:t>
                </a:r>
                <a:r>
                  <a:rPr lang="zh-CN" altLang="en-US" dirty="0" smtClean="0"/>
                  <a:t>）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  （</a:t>
                </a:r>
                <a:r>
                  <a:rPr lang="en-US" altLang="zh-CN" dirty="0" smtClean="0"/>
                  <a:t>4b</a:t>
                </a:r>
                <a:r>
                  <a:rPr lang="zh-CN" altLang="en-US" dirty="0" smtClean="0"/>
                  <a:t>）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86" y="1088824"/>
                <a:ext cx="10987316" cy="5083375"/>
              </a:xfrm>
              <a:prstGeom prst="rect">
                <a:avLst/>
              </a:prstGeom>
              <a:blipFill>
                <a:blip r:embed="rId3"/>
                <a:stretch>
                  <a:fillRect l="-999" t="-2161" b="-3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/>
          <p:nvPr/>
        </p:nvCxnSpPr>
        <p:spPr>
          <a:xfrm>
            <a:off x="1066800" y="3581400"/>
            <a:ext cx="9220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066800" y="4114800"/>
            <a:ext cx="9220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43000" y="5105400"/>
            <a:ext cx="9220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一些重要的函数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AFC7-FD78-4F37-B7D8-A0BBBDAE4732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18"/>
              <p:cNvSpPr txBox="1">
                <a:spLocks/>
              </p:cNvSpPr>
              <p:nvPr/>
            </p:nvSpPr>
            <p:spPr>
              <a:xfrm>
                <a:off x="595086" y="1088824"/>
                <a:ext cx="10987316" cy="5083375"/>
              </a:xfrm>
              <a:prstGeom prst="rect">
                <a:avLst/>
              </a:prstGeom>
            </p:spPr>
            <p:txBody>
              <a:bodyPr/>
              <a:lstStyle>
                <a:lvl1pPr marL="274320" indent="-27432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EA524"/>
                  </a:buClr>
                  <a:buSzPct val="10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640080" indent="-246888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1559D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/>
                  <a:t>（</a:t>
                </a:r>
                <a:r>
                  <a:rPr lang="en-US" altLang="zh-CN" dirty="0" smtClean="0"/>
                  <a:t>1a)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 当且仅当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dirty="0" smtClean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dirty="0" smtClean="0"/>
                  <a:t>证明：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当且仅当 </a:t>
                </a:r>
                <a:r>
                  <a:rPr lang="zh-CN" altLang="en-US" dirty="0" smtClean="0"/>
                  <a:t>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小于等于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，而且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 smtClean="0"/>
                  <a:t>+1</a:t>
                </a:r>
                <a:r>
                  <a:rPr lang="zh-CN" altLang="en-US" dirty="0" smtClean="0"/>
                  <a:t>大于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这正是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为不超过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/>
                  <a:t>的最大整数的含义</a:t>
                </a:r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因此根据下取整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zh-CN" altLang="en-US" dirty="0" smtClean="0"/>
                  <a:t>的定义，可以直接获得该性质</a:t>
                </a:r>
                <a:r>
                  <a:rPr lang="en-US" altLang="zh-CN" dirty="0" smtClean="0"/>
                  <a:t>.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 smtClean="0"/>
                  <a:t>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86" y="1088824"/>
                <a:ext cx="10987316" cy="5083375"/>
              </a:xfrm>
              <a:prstGeom prst="rect">
                <a:avLst/>
              </a:prstGeom>
              <a:blipFill>
                <a:blip r:embed="rId2"/>
                <a:stretch>
                  <a:fillRect l="-999" t="-2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817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一些重要的函数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399C-7593-4359-AB74-5D0E76838975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18"/>
              <p:cNvSpPr txBox="1">
                <a:spLocks/>
              </p:cNvSpPr>
              <p:nvPr/>
            </p:nvSpPr>
            <p:spPr>
              <a:xfrm>
                <a:off x="595086" y="1088824"/>
                <a:ext cx="10987316" cy="5083375"/>
              </a:xfrm>
              <a:prstGeom prst="rect">
                <a:avLst/>
              </a:prstGeom>
            </p:spPr>
            <p:txBody>
              <a:bodyPr/>
              <a:lstStyle>
                <a:lvl1pPr marL="274320" indent="-27432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EA524"/>
                  </a:buClr>
                  <a:buSzPct val="10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640080" indent="-246888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1559D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/>
                  <a:t>（</a:t>
                </a:r>
                <a:r>
                  <a:rPr lang="en-US" altLang="zh-CN" dirty="0"/>
                  <a:t>4a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 smtClean="0"/>
                  <a:t>证明</a:t>
                </a:r>
                <a:r>
                  <a:rPr lang="en-US" altLang="zh-CN" dirty="0" smtClean="0"/>
                  <a:t>:</a:t>
                </a:r>
                <a:r>
                  <a:rPr lang="zh-CN" altLang="en-US" dirty="0" smtClean="0"/>
                  <a:t>假定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 smtClean="0"/>
                  <a:t>为整数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 smtClean="0"/>
                  <a:t>	</a:t>
                </a:r>
                <a:r>
                  <a:rPr lang="zh-CN" altLang="en-US" dirty="0" smtClean="0"/>
                  <a:t>根据性质</a:t>
                </a:r>
                <a:r>
                  <a:rPr lang="en-US" altLang="zh-CN" dirty="0" smtClean="0"/>
                  <a:t>(1a)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 当且仅当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</m:t>
                    </m:r>
                  </m:oMath>
                </a14:m>
                <a:r>
                  <a:rPr lang="en-US" altLang="zh-CN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 smtClean="0"/>
                  <a:t>	</a:t>
                </a:r>
                <a:r>
                  <a:rPr lang="zh-CN" altLang="en-US" dirty="0" smtClean="0"/>
                  <a:t>在该不等式中加上数值</a:t>
                </a:r>
                <a:r>
                  <a:rPr lang="en-US" altLang="zh-CN" dirty="0" smtClean="0"/>
                  <a:t>n</a:t>
                </a:r>
                <a:r>
                  <a:rPr lang="zh-CN" altLang="en-US" dirty="0" smtClean="0"/>
                  <a:t>，可得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 smtClean="0"/>
                  <a:t>	</a:t>
                </a:r>
                <a:r>
                  <a:rPr lang="zh-CN" altLang="en-US" dirty="0" smtClean="0"/>
                  <a:t>再次利用</a:t>
                </a:r>
                <a:r>
                  <a:rPr lang="en-US" altLang="zh-CN" dirty="0"/>
                  <a:t>(1a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可得，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 smtClean="0"/>
                  <a:t>	</a:t>
                </a:r>
                <a:r>
                  <a:rPr lang="zh-CN" altLang="en-US" dirty="0" smtClean="0"/>
                  <a:t>从而得证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86" y="1088824"/>
                <a:ext cx="10987316" cy="5083375"/>
              </a:xfrm>
              <a:prstGeom prst="rect">
                <a:avLst/>
              </a:prstGeom>
              <a:blipFill>
                <a:blip r:embed="rId2"/>
                <a:stretch>
                  <a:fillRect l="-999" t="-2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224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一些重要的函数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1E4E-2C71-47BD-96BC-319CEA3075D0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18"/>
              <p:cNvSpPr txBox="1">
                <a:spLocks/>
              </p:cNvSpPr>
              <p:nvPr/>
            </p:nvSpPr>
            <p:spPr>
              <a:xfrm>
                <a:off x="595086" y="1088824"/>
                <a:ext cx="10987316" cy="5083375"/>
              </a:xfrm>
              <a:prstGeom prst="rect">
                <a:avLst/>
              </a:prstGeom>
            </p:spPr>
            <p:txBody>
              <a:bodyPr/>
              <a:lstStyle>
                <a:lvl1pPr marL="274320" indent="-27432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EA524"/>
                  </a:buClr>
                  <a:buSzPct val="10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640080" indent="-246888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1559D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/>
                  <a:t>关于下取整函数和上取整函数的一些经验：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涉及下取整函数时，一种有用的方法是令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+ 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,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是一个整数，</a:t>
                </a:r>
                <a:r>
                  <a:rPr lang="el-GR" altLang="zh-CN" dirty="0"/>
                  <a:t> ε</a:t>
                </a:r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的分数部分</a:t>
                </a:r>
                <a:r>
                  <a:rPr lang="en-US" altLang="zh-CN" dirty="0" smtClean="0"/>
                  <a:t>, </a:t>
                </a:r>
                <a:r>
                  <a:rPr lang="zh-CN" altLang="en-US" dirty="0" smtClean="0"/>
                  <a:t>满足</a:t>
                </a:r>
                <a:r>
                  <a:rPr lang="en-US" altLang="zh-CN" dirty="0" smtClean="0"/>
                  <a:t> </a:t>
                </a:r>
                <a:r>
                  <a:rPr lang="en-US" altLang="zh-CN" dirty="0"/>
                  <a:t>0 ≤ 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&lt; 1.  </a:t>
                </a:r>
              </a:p>
              <a:p>
                <a:pPr lvl="1"/>
                <a:r>
                  <a:rPr lang="zh-CN" altLang="en-US" dirty="0"/>
                  <a:t>类似地，考虑上取整函数时，令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- 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,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是一个整数，</a:t>
                </a:r>
                <a:r>
                  <a:rPr lang="el-GR" altLang="zh-CN" dirty="0"/>
                  <a:t> ε</a:t>
                </a:r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的分数部分</a:t>
                </a:r>
                <a:r>
                  <a:rPr lang="en-US" altLang="zh-CN" dirty="0" smtClean="0"/>
                  <a:t>, </a:t>
                </a:r>
                <a:r>
                  <a:rPr lang="zh-CN" altLang="en-US" dirty="0" smtClean="0"/>
                  <a:t>满足</a:t>
                </a:r>
                <a:r>
                  <a:rPr lang="en-US" altLang="zh-CN" dirty="0" smtClean="0"/>
                  <a:t> </a:t>
                </a:r>
                <a:r>
                  <a:rPr lang="en-US" altLang="zh-CN" dirty="0"/>
                  <a:t>0 ≤ 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&lt; 1.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86" y="1088824"/>
                <a:ext cx="10987316" cy="5083375"/>
              </a:xfrm>
              <a:prstGeom prst="rect">
                <a:avLst/>
              </a:prstGeom>
              <a:blipFill>
                <a:blip r:embed="rId2"/>
                <a:stretch>
                  <a:fillRect l="-999" t="-2161" r="-3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BNNSS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023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一些重要的函数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dirty="0" smtClean="0"/>
                  <a:t>:</a:t>
                </a:r>
                <a:r>
                  <a:rPr lang="zh-CN" altLang="en-US" dirty="0" smtClean="0"/>
                  <a:t>证明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/>
                  <a:t>为实数时</a:t>
                </a:r>
                <a:r>
                  <a:rPr lang="en-US" altLang="zh-CN" dirty="0" smtClean="0"/>
                  <a:t>,  </a:t>
                </a:r>
                <a:r>
                  <a:rPr lang="en-US" dirty="0" smtClean="0"/>
                  <a:t>⌊2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⌋= ⌊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 + ⌊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⌋.</a:t>
                </a:r>
              </a:p>
              <a:p>
                <a:r>
                  <a:rPr lang="zh-CN" altLang="en-US" dirty="0" smtClean="0"/>
                  <a:t>解</a:t>
                </a:r>
                <a:r>
                  <a:rPr lang="en-US" altLang="zh-CN" dirty="0" smtClean="0"/>
                  <a:t>:</a:t>
                </a: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+ </a:t>
                </a:r>
                <a:r>
                  <a:rPr lang="el-GR" altLang="zh-CN" dirty="0" smtClean="0"/>
                  <a:t>ε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为整数</a:t>
                </a:r>
                <a:r>
                  <a:rPr lang="en-US" altLang="zh-CN" dirty="0" smtClean="0"/>
                  <a:t>,  0 </a:t>
                </a:r>
                <a:r>
                  <a:rPr lang="en-US" altLang="zh-CN" dirty="0"/>
                  <a:t>≤ 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&lt; </a:t>
                </a:r>
                <a:r>
                  <a:rPr lang="en-US" altLang="zh-CN" dirty="0" smtClean="0"/>
                  <a:t>1,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接下来分两种情况证明</a:t>
                </a:r>
                <a:r>
                  <a:rPr lang="en-US" altLang="zh-CN" dirty="0" smtClean="0"/>
                  <a:t>,  </a:t>
                </a:r>
                <a:endParaRPr lang="en-US" dirty="0" smtClean="0"/>
              </a:p>
              <a:p>
                <a:pPr lvl="1"/>
                <a:r>
                  <a:rPr lang="zh-CN" altLang="en-US" dirty="0" smtClean="0"/>
                  <a:t>情况</a:t>
                </a:r>
                <a:r>
                  <a:rPr lang="en-US" altLang="zh-CN" dirty="0" smtClean="0"/>
                  <a:t>1(</a:t>
                </a:r>
                <a:r>
                  <a:rPr lang="el-GR" altLang="zh-CN" dirty="0" smtClean="0"/>
                  <a:t>ε </a:t>
                </a:r>
                <a:r>
                  <a:rPr lang="en-US" altLang="zh-CN" dirty="0"/>
                  <a:t>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): </a:t>
                </a:r>
              </a:p>
              <a:p>
                <a:pPr marL="808038" lvl="1" indent="-265113">
                  <a:buFont typeface="Arial" panose="020B0604020202020204" pitchFamily="34" charset="0"/>
                  <a:buChar char="•"/>
                </a:pPr>
                <a:r>
                  <a:rPr lang="zh-CN" altLang="en-US" dirty="0" smtClean="0"/>
                  <a:t>由于</a:t>
                </a:r>
                <a:r>
                  <a:rPr lang="en-US" altLang="zh-CN" dirty="0"/>
                  <a:t>2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= 2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+ 2</a:t>
                </a:r>
                <a:r>
                  <a:rPr lang="el-GR" altLang="zh-CN" dirty="0"/>
                  <a:t> ε 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0 </a:t>
                </a:r>
                <a:r>
                  <a:rPr lang="en-US" altLang="zh-CN" dirty="0"/>
                  <a:t>≤ 2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&lt; </a:t>
                </a:r>
                <a:r>
                  <a:rPr lang="en-US" altLang="zh-CN" dirty="0" smtClean="0"/>
                  <a:t>1,</a:t>
                </a:r>
                <a:r>
                  <a:rPr lang="zh-CN" altLang="en-US" dirty="0" smtClean="0"/>
                  <a:t>可得</a:t>
                </a:r>
                <a:r>
                  <a:rPr lang="en-US" dirty="0" smtClean="0"/>
                  <a:t> ⌊2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 = 2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 </a:t>
                </a:r>
              </a:p>
              <a:p>
                <a:pPr marL="808038" lvl="1" indent="-265113">
                  <a:buFont typeface="Arial" panose="020B0604020202020204" pitchFamily="34" charset="0"/>
                  <a:buChar char="•"/>
                </a:pPr>
                <a:r>
                  <a:rPr lang="zh-CN" altLang="en-US" dirty="0" smtClean="0"/>
                  <a:t>类似地</a:t>
                </a:r>
                <a:r>
                  <a:rPr lang="en-US" altLang="zh-CN" dirty="0" smtClean="0"/>
                  <a:t>, </a:t>
                </a:r>
                <a:r>
                  <a:rPr lang="zh-CN" altLang="en-US" dirty="0" smtClean="0"/>
                  <a:t>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+</a:t>
                </a:r>
                <a:r>
                  <a:rPr lang="el-GR" altLang="zh-CN" dirty="0"/>
                  <a:t> ε</a:t>
                </a:r>
                <a:r>
                  <a:rPr lang="en-US" altLang="zh-CN" dirty="0"/>
                  <a:t> 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0 </a:t>
                </a:r>
                <a:r>
                  <a:rPr lang="en-US" altLang="zh-CN" dirty="0"/>
                  <a:t>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+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 &lt; </a:t>
                </a:r>
                <a:r>
                  <a:rPr lang="en-US" altLang="zh-CN" dirty="0" smtClean="0"/>
                  <a:t>1,  </a:t>
                </a:r>
                <a:r>
                  <a:rPr lang="zh-CN" altLang="en-US" dirty="0" smtClean="0"/>
                  <a:t>可得</a:t>
                </a:r>
                <a:r>
                  <a:rPr lang="en-US" dirty="0" smtClean="0"/>
                  <a:t>⌊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⌋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 </a:t>
                </a:r>
              </a:p>
              <a:p>
                <a:pPr marL="808038" lvl="1" indent="-265113">
                  <a:buFont typeface="Arial" panose="020B0604020202020204" pitchFamily="34" charset="0"/>
                  <a:buChar char="•"/>
                </a:pPr>
                <a:r>
                  <a:rPr lang="zh-CN" altLang="en-US" dirty="0" smtClean="0"/>
                  <a:t>综上所述</a:t>
                </a:r>
                <a:r>
                  <a:rPr lang="en-US" altLang="zh-CN" dirty="0" smtClean="0"/>
                  <a:t>,  </a:t>
                </a:r>
                <a:r>
                  <a:rPr lang="en-US" dirty="0" smtClean="0"/>
                  <a:t>⌊2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 = 2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，并且</a:t>
                </a:r>
                <a:r>
                  <a:rPr lang="en-US" dirty="0" smtClean="0"/>
                  <a:t> ⌊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 + ⌊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⌋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  = 2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 </a:t>
                </a:r>
                <a:r>
                  <a:rPr lang="zh-CN" altLang="en-US" dirty="0" smtClean="0"/>
                  <a:t>因此得证</a:t>
                </a:r>
                <a:r>
                  <a:rPr lang="en-US" altLang="zh-CN" dirty="0" smtClean="0"/>
                  <a:t>.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2"/>
                <a:stretch>
                  <a:fillRect l="-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397E-2503-45ED-969E-4F6A8BAC0999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307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一些重要的函数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例</a:t>
                </a:r>
                <a:r>
                  <a:rPr lang="en-US" dirty="0" smtClean="0"/>
                  <a:t>:</a:t>
                </a:r>
                <a:r>
                  <a:rPr lang="zh-CN" altLang="en-US" dirty="0" smtClean="0"/>
                  <a:t>证明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/>
                  <a:t>为实数时</a:t>
                </a:r>
                <a:r>
                  <a:rPr lang="en-US" altLang="zh-CN" dirty="0" smtClean="0"/>
                  <a:t>,  </a:t>
                </a:r>
                <a:r>
                  <a:rPr lang="en-US" dirty="0" smtClean="0"/>
                  <a:t>⌊2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⌋= ⌊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 + ⌊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⌋.</a:t>
                </a:r>
              </a:p>
              <a:p>
                <a:r>
                  <a:rPr lang="zh-CN" altLang="en-US" dirty="0" smtClean="0"/>
                  <a:t>解</a:t>
                </a:r>
                <a:r>
                  <a:rPr lang="en-US" altLang="zh-CN" dirty="0" smtClean="0"/>
                  <a:t>:</a:t>
                </a:r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+ 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,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为整数</a:t>
                </a:r>
                <a:r>
                  <a:rPr lang="en-US" altLang="zh-CN" dirty="0"/>
                  <a:t>,  0 ≤ 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&lt; 1,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. </a:t>
                </a:r>
                <a:r>
                  <a:rPr lang="zh-CN" altLang="en-US" dirty="0"/>
                  <a:t>接下来分两种情况证明</a:t>
                </a:r>
                <a:r>
                  <a:rPr lang="en-US" altLang="zh-CN" dirty="0"/>
                  <a:t>, </a:t>
                </a:r>
                <a:endParaRPr lang="en-US" dirty="0" smtClean="0"/>
              </a:p>
              <a:p>
                <a:pPr lvl="1"/>
                <a:r>
                  <a:rPr lang="zh-CN" altLang="en-US" dirty="0" smtClean="0"/>
                  <a:t>情况</a:t>
                </a:r>
                <a:r>
                  <a:rPr lang="en-US" altLang="zh-CN" dirty="0" smtClean="0"/>
                  <a:t>2(</a:t>
                </a:r>
                <a:r>
                  <a:rPr lang="el-GR" altLang="zh-CN" dirty="0" smtClean="0"/>
                  <a:t> 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 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 smtClean="0"/>
                  <a:t>):</a:t>
                </a:r>
              </a:p>
              <a:p>
                <a:pPr marL="808038" lvl="1" indent="-265113">
                  <a:buFont typeface="Arial" panose="020B0604020202020204" pitchFamily="34" charset="0"/>
                  <a:buChar char="•"/>
                </a:pPr>
                <a:r>
                  <a:rPr lang="en-US" altLang="zh-CN" dirty="0" smtClean="0"/>
                  <a:t>0≤ 2</a:t>
                </a:r>
                <a:r>
                  <a:rPr lang="el-GR" altLang="zh-CN" dirty="0" smtClean="0"/>
                  <a:t>ε</a:t>
                </a:r>
                <a:r>
                  <a:rPr lang="en-US" altLang="zh-CN" dirty="0" smtClean="0"/>
                  <a:t>-1&lt;1</a:t>
                </a:r>
                <a:r>
                  <a:rPr lang="en-US" altLang="zh-CN" dirty="0"/>
                  <a:t>,  </a:t>
                </a:r>
                <a:r>
                  <a:rPr lang="zh-CN" altLang="en-US" dirty="0"/>
                  <a:t>因此</a:t>
                </a:r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=2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+2</a:t>
                </a:r>
                <a:r>
                  <a:rPr lang="el-GR" dirty="0" smtClean="0"/>
                  <a:t>ε</a:t>
                </a:r>
                <a:r>
                  <a:rPr lang="en-US" dirty="0" smtClean="0"/>
                  <a:t>=(</a:t>
                </a:r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+1)+(</a:t>
                </a:r>
                <a:r>
                  <a:rPr lang="en-US" dirty="0"/>
                  <a:t>2</a:t>
                </a:r>
                <a:r>
                  <a:rPr lang="el-GR" dirty="0" smtClean="0"/>
                  <a:t>ε</a:t>
                </a:r>
                <a:r>
                  <a:rPr lang="en-US" dirty="0" smtClean="0"/>
                  <a:t>−1). </a:t>
                </a:r>
                <a:r>
                  <a:rPr lang="zh-CN" altLang="en-US" dirty="0" smtClean="0"/>
                  <a:t>可得</a:t>
                </a:r>
                <a:r>
                  <a:rPr lang="en-US" dirty="0" smtClean="0"/>
                  <a:t>⌊</a:t>
                </a:r>
                <a:r>
                  <a:rPr lang="en-US" dirty="0"/>
                  <a:t>2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⌋ =2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+ 1. </a:t>
                </a:r>
              </a:p>
              <a:p>
                <a:pPr marL="808038" lvl="1" indent="-265113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类似地</a:t>
                </a:r>
                <a:r>
                  <a:rPr lang="en-US" altLang="zh-CN" dirty="0"/>
                  <a:t>, </a:t>
                </a:r>
                <a:r>
                  <a:rPr lang="en-US" altLang="zh-CN" dirty="0" smtClean="0"/>
                  <a:t>0 ≤</a:t>
                </a:r>
                <a:r>
                  <a:rPr lang="el-GR" altLang="zh-CN" dirty="0" smtClean="0"/>
                  <a:t>ε</a:t>
                </a:r>
                <a:r>
                  <a:rPr lang="en-US" altLang="zh-CN" dirty="0" smtClean="0"/>
                  <a:t>–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 smtClean="0"/>
                  <a:t>&lt;1</a:t>
                </a:r>
                <a:r>
                  <a:rPr lang="en-US" altLang="zh-CN" dirty="0"/>
                  <a:t>,  </a:t>
                </a:r>
                <a:r>
                  <a:rPr lang="zh-CN" altLang="en-US" dirty="0" smtClean="0"/>
                  <a:t>所以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=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 smtClean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 smtClean="0"/>
                  <a:t>+</a:t>
                </a:r>
                <a:r>
                  <a:rPr lang="el-GR" altLang="zh-CN" dirty="0" smtClean="0"/>
                  <a:t>ε</a:t>
                </a:r>
                <a:r>
                  <a:rPr lang="en-US" altLang="zh-CN" dirty="0" smtClean="0"/>
                  <a:t>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 smtClean="0"/>
                  <a:t>+1+(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 smtClean="0"/>
                  <a:t>). </a:t>
                </a:r>
                <a:r>
                  <a:rPr lang="zh-CN" altLang="en-US" dirty="0" smtClean="0"/>
                  <a:t>可得</a:t>
                </a:r>
                <a:r>
                  <a:rPr lang="en-US" dirty="0" smtClean="0"/>
                  <a:t>⌊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⌋ </a:t>
                </a:r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+1</a:t>
                </a:r>
                <a:r>
                  <a:rPr lang="en-US" dirty="0"/>
                  <a:t>. </a:t>
                </a:r>
              </a:p>
              <a:p>
                <a:pPr marL="808038" lvl="1" indent="-265113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综上所述</a:t>
                </a:r>
                <a:r>
                  <a:rPr lang="en-US" altLang="zh-CN" dirty="0"/>
                  <a:t>, </a:t>
                </a:r>
                <a:r>
                  <a:rPr lang="en-US" dirty="0" smtClean="0"/>
                  <a:t>⌊</a:t>
                </a:r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⌋= </a:t>
                </a:r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+1, </a:t>
                </a:r>
                <a:r>
                  <a:rPr lang="zh-CN" altLang="en-US" dirty="0"/>
                  <a:t>且 </a:t>
                </a:r>
                <a:r>
                  <a:rPr lang="en-US" dirty="0"/>
                  <a:t>⌊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⌋+⌊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⌋ 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+(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+1</a:t>
                </a:r>
                <a:r>
                  <a:rPr lang="en-US" dirty="0"/>
                  <a:t>) </a:t>
                </a:r>
                <a:r>
                  <a:rPr lang="en-US" dirty="0" smtClean="0"/>
                  <a:t>= </a:t>
                </a:r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+1. </a:t>
                </a:r>
                <a:r>
                  <a:rPr lang="zh-CN" altLang="en-US" dirty="0" smtClean="0"/>
                  <a:t>因此</a:t>
                </a:r>
                <a:r>
                  <a:rPr lang="zh-CN" altLang="en-US" dirty="0"/>
                  <a:t>得证</a:t>
                </a:r>
                <a:r>
                  <a:rPr lang="en-US" altLang="zh-CN" dirty="0" smtClean="0"/>
                  <a:t>.</a:t>
                </a:r>
                <a:r>
                  <a:rPr lang="en-US" dirty="0" smtClean="0"/>
                  <a:t>   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2"/>
                <a:stretch>
                  <a:fillRect l="-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E8D9F-ABC3-4EFB-8B3C-064E998CB425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110686"/>
            <a:ext cx="11277599" cy="1022914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一些重要的函数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定义</a:t>
                </a:r>
                <a:r>
                  <a:rPr lang="en-US" dirty="0" smtClean="0"/>
                  <a:t>: 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阶乘函数</a:t>
                </a:r>
                <a:r>
                  <a:rPr lang="zh-CN" altLang="en-US" b="1" dirty="0" smtClean="0"/>
                  <a:t> </a:t>
                </a:r>
                <a:r>
                  <a:rPr lang="en-US" altLang="zh-CN" dirty="0"/>
                  <a:t>ƒ </a:t>
                </a:r>
                <a:r>
                  <a:rPr lang="en-US" dirty="0" smtClean="0"/>
                  <a:t>: N </a:t>
                </a:r>
                <a:r>
                  <a:rPr lang="en-US" dirty="0" smtClean="0">
                    <a:sym typeface="Wingdings" pitchFamily="2" charset="2"/>
                  </a:rPr>
                  <a:t>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𝑍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 smtClean="0">
                    <a:sym typeface="Wingdings" pitchFamily="2" charset="2"/>
                  </a:rPr>
                  <a:t>,   </a:t>
                </a:r>
                <a:r>
                  <a:rPr lang="zh-CN" altLang="en-US" dirty="0" smtClean="0">
                    <a:sym typeface="Wingdings" pitchFamily="2" charset="2"/>
                  </a:rPr>
                  <a:t>记作</a:t>
                </a:r>
                <a:r>
                  <a:rPr lang="en-US" altLang="zh-CN" dirty="0"/>
                  <a:t>ƒ</a:t>
                </a:r>
                <a:r>
                  <a:rPr lang="en-US" dirty="0" smtClean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!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它的值是前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个正整数的乘积</a:t>
                </a:r>
                <a:r>
                  <a:rPr lang="en-US" dirty="0" smtClean="0">
                    <a:sym typeface="Wingdings" pitchFamily="2" charset="2"/>
                  </a:rPr>
                  <a:t>.</a:t>
                </a:r>
                <a:r>
                  <a:rPr lang="en-US" dirty="0">
                    <a:sym typeface="Wingdings" pitchFamily="2" charset="2"/>
                  </a:rPr>
                  <a:t> </a:t>
                </a:r>
                <a:r>
                  <a:rPr lang="zh-CN" altLang="en-US" dirty="0" smtClean="0">
                    <a:sym typeface="Wingdings" pitchFamily="2" charset="2"/>
                  </a:rPr>
                  <a:t>因此</a:t>
                </a:r>
                <a:r>
                  <a:rPr lang="en-US" altLang="zh-CN" dirty="0"/>
                  <a:t>ƒ</a:t>
                </a:r>
                <a:r>
                  <a:rPr lang="en-US" altLang="zh-CN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sym typeface="Wingdings" pitchFamily="2" charset="2"/>
                  </a:rPr>
                  <a:t>) </a:t>
                </a:r>
                <a:r>
                  <a:rPr lang="en-US" dirty="0" smtClean="0">
                    <a:sym typeface="Wingdings" pitchFamily="2" charset="2"/>
                  </a:rPr>
                  <a:t>= 1 ∙ 2 ∙∙∙ 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 – 1) 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其中</a:t>
                </a:r>
                <a:r>
                  <a:rPr lang="en-US" altLang="zh-CN" dirty="0"/>
                  <a:t>ƒ</a:t>
                </a:r>
                <a:r>
                  <a:rPr lang="en-US" dirty="0" smtClean="0">
                    <a:sym typeface="Wingdings" pitchFamily="2" charset="2"/>
                  </a:rPr>
                  <a:t>(0)  = 0! = 1</a:t>
                </a:r>
              </a:p>
              <a:p>
                <a:endParaRPr lang="en-US" dirty="0" smtClean="0">
                  <a:sym typeface="Wingdings" pitchFamily="2" charset="2"/>
                </a:endParaRPr>
              </a:p>
              <a:p>
                <a:r>
                  <a:rPr lang="zh-CN" altLang="en-US" dirty="0" smtClean="0">
                    <a:sym typeface="Wingdings" pitchFamily="2" charset="2"/>
                  </a:rPr>
                  <a:t>例</a:t>
                </a:r>
                <a:r>
                  <a:rPr lang="en-US" dirty="0" smtClean="0">
                    <a:sym typeface="Wingdings" pitchFamily="2" charset="2"/>
                  </a:rPr>
                  <a:t>: </a:t>
                </a:r>
                <a:r>
                  <a:rPr lang="en-US" altLang="zh-CN" dirty="0" smtClean="0"/>
                  <a:t>ƒ</a:t>
                </a:r>
                <a:r>
                  <a:rPr lang="en-US" dirty="0" smtClean="0">
                    <a:sym typeface="Wingdings" pitchFamily="2" charset="2"/>
                  </a:rPr>
                  <a:t>(1) = 1!  = 1</a:t>
                </a:r>
                <a:endParaRPr lang="en-US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zh-CN" dirty="0" smtClean="0"/>
                  <a:t>        ƒ</a:t>
                </a:r>
                <a:r>
                  <a:rPr lang="en-US" dirty="0" smtClean="0">
                    <a:sym typeface="Wingdings" pitchFamily="2" charset="2"/>
                  </a:rPr>
                  <a:t>(2) = 2! =  1 ∙ 2 = 2</a:t>
                </a:r>
              </a:p>
              <a:p>
                <a:pPr marL="0" indent="0">
                  <a:buNone/>
                </a:pPr>
                <a:r>
                  <a:rPr lang="en-US" dirty="0" smtClean="0">
                    <a:sym typeface="Wingdings" pitchFamily="2" charset="2"/>
                  </a:rPr>
                  <a:t>        </a:t>
                </a:r>
                <a:r>
                  <a:rPr lang="en-US" altLang="zh-CN" dirty="0" smtClean="0"/>
                  <a:t>ƒ</a:t>
                </a:r>
                <a:r>
                  <a:rPr lang="en-US" dirty="0" smtClean="0">
                    <a:sym typeface="Wingdings" pitchFamily="2" charset="2"/>
                  </a:rPr>
                  <a:t>(6) = 6! =  1 ∙ 2 ∙ 3∙ 4 ∙ 5 ∙ 6 = 720</a:t>
                </a:r>
              </a:p>
              <a:p>
                <a:pPr marL="0" indent="0">
                  <a:buNone/>
                </a:pPr>
                <a:r>
                  <a:rPr lang="en-US" dirty="0" smtClean="0">
                    <a:sym typeface="Wingdings" pitchFamily="2" charset="2"/>
                  </a:rPr>
                  <a:t>        </a:t>
                </a:r>
                <a:r>
                  <a:rPr lang="en-US" altLang="zh-CN" dirty="0" smtClean="0"/>
                  <a:t>ƒ</a:t>
                </a:r>
                <a:r>
                  <a:rPr lang="en-US" dirty="0" smtClean="0">
                    <a:sym typeface="Wingdings" pitchFamily="2" charset="2"/>
                  </a:rPr>
                  <a:t>(20) = 2,  432,  902,  008,  176,  640,  000.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2"/>
                <a:stretch>
                  <a:fillRect l="-999" t="-1310" r="-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6263-3F97-4B7C-AACA-4FCDD675C7B1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110686"/>
            <a:ext cx="11277599" cy="1784914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部分函数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</p:spPr>
            <p:txBody>
              <a:bodyPr/>
              <a:lstStyle/>
              <a:p>
                <a:r>
                  <a:rPr lang="zh-CN" altLang="en-US" dirty="0" smtClean="0"/>
                  <a:t>定义</a:t>
                </a:r>
                <a:r>
                  <a:rPr lang="en-US" altLang="zh-CN" dirty="0" smtClean="0"/>
                  <a:t>:</a:t>
                </a:r>
                <a:r>
                  <a:rPr lang="zh-CN" altLang="en-US" dirty="0" smtClean="0"/>
                  <a:t>一个从集合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到集合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的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部分函数 </a:t>
                </a:r>
                <a:r>
                  <a:rPr lang="en-US" altLang="zh-CN" dirty="0" smtClean="0"/>
                  <a:t>ƒ:A→B, </a:t>
                </a:r>
                <a:r>
                  <a:rPr lang="zh-CN" altLang="en-US" dirty="0" smtClean="0"/>
                  <a:t>是给集合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的一个子集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成为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的定义域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中的每个元素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指派唯一的一个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中的元素</a:t>
                </a:r>
                <a:r>
                  <a:rPr lang="en-US" altLang="zh-CN" dirty="0" smtClean="0"/>
                  <a:t>b. </a:t>
                </a:r>
                <a:r>
                  <a:rPr lang="zh-CN" altLang="en-US" dirty="0" smtClean="0"/>
                  <a:t>集合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和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分别成为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的定义域和陪域</a:t>
                </a:r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我们说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对于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中但不在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的定义域中的元素无定义</a:t>
                </a:r>
                <a:r>
                  <a:rPr lang="en-US" altLang="zh-CN" dirty="0" smtClean="0"/>
                  <a:t>. </a:t>
                </a:r>
                <a:r>
                  <a:rPr lang="zh-CN" altLang="en-US" dirty="0" smtClean="0"/>
                  <a:t>当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的定义域等于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时</a:t>
                </a:r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就说</a:t>
                </a:r>
                <a:r>
                  <a:rPr lang="en-US" altLang="zh-CN" dirty="0"/>
                  <a:t>ƒ</a:t>
                </a:r>
                <a:r>
                  <a:rPr lang="zh-CN" altLang="en-US" dirty="0" smtClean="0"/>
                  <a:t>是全函数</a:t>
                </a:r>
                <a:r>
                  <a:rPr lang="en-US" altLang="zh-CN" dirty="0" smtClean="0"/>
                  <a:t>.</a:t>
                </a:r>
              </a:p>
              <a:p>
                <a:endParaRPr lang="en-US" dirty="0" smtClean="0"/>
              </a:p>
              <a:p>
                <a:r>
                  <a:rPr lang="zh-CN" altLang="en-US" dirty="0" smtClean="0"/>
                  <a:t>例</a:t>
                </a:r>
                <a:r>
                  <a:rPr lang="en-US" dirty="0" smtClean="0"/>
                  <a:t>: </a:t>
                </a:r>
                <a:r>
                  <a:rPr lang="en-US" altLang="zh-CN" dirty="0" smtClean="0"/>
                  <a:t>ƒ</a:t>
                </a:r>
                <a:r>
                  <a:rPr lang="en-US" dirty="0" smtClean="0"/>
                  <a:t>: </a:t>
                </a:r>
                <a:r>
                  <a:rPr lang="en-US" altLang="zh-CN" dirty="0" smtClean="0"/>
                  <a:t>Z</a:t>
                </a:r>
                <a:r>
                  <a:rPr lang="en-US" dirty="0" smtClean="0"/>
                  <a:t> →</a:t>
                </a:r>
                <a:r>
                  <a:rPr lang="en-US" dirty="0" smtClean="0">
                    <a:sym typeface="Wingdings" pitchFamily="2" charset="2"/>
                  </a:rPr>
                  <a:t> R</a:t>
                </a:r>
                <a:r>
                  <a:rPr lang="en-US" altLang="zh-CN" dirty="0" smtClean="0">
                    <a:sym typeface="Wingdings" pitchFamily="2" charset="2"/>
                  </a:rPr>
                  <a:t>,  </a:t>
                </a:r>
                <a:r>
                  <a:rPr lang="zh-CN" altLang="en-US" dirty="0" smtClean="0">
                    <a:sym typeface="Wingdings" pitchFamily="2" charset="2"/>
                  </a:rPr>
                  <a:t>其中</a:t>
                </a:r>
                <a:r>
                  <a:rPr lang="en-US" altLang="zh-CN" dirty="0"/>
                  <a:t>ƒ </a:t>
                </a:r>
                <a:r>
                  <a:rPr lang="en-US" dirty="0" smtClean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ym typeface="Wingdings" pitchFamily="2" charset="2"/>
                  </a:rPr>
                  <a:t>)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dirty="0" smtClean="0">
                    <a:sym typeface="Wingdings" pitchFamily="2" charset="2"/>
                  </a:rPr>
                  <a:t>是一个从</a:t>
                </a:r>
                <a:r>
                  <a:rPr lang="en-US" altLang="zh-CN" dirty="0" smtClean="0">
                    <a:sym typeface="Wingdings" pitchFamily="2" charset="2"/>
                  </a:rPr>
                  <a:t>Z</a:t>
                </a:r>
                <a:r>
                  <a:rPr lang="zh-CN" altLang="en-US" dirty="0" smtClean="0">
                    <a:sym typeface="Wingdings" pitchFamily="2" charset="2"/>
                  </a:rPr>
                  <a:t>到</a:t>
                </a:r>
                <a:r>
                  <a:rPr lang="en-US" altLang="zh-CN" dirty="0" smtClean="0">
                    <a:sym typeface="Wingdings" pitchFamily="2" charset="2"/>
                  </a:rPr>
                  <a:t>R</a:t>
                </a:r>
                <a:r>
                  <a:rPr lang="zh-CN" altLang="en-US" dirty="0" smtClean="0">
                    <a:sym typeface="Wingdings" pitchFamily="2" charset="2"/>
                  </a:rPr>
                  <a:t>的部分函数</a:t>
                </a:r>
                <a:r>
                  <a:rPr lang="en-US" altLang="zh-CN" dirty="0" smtClean="0">
                    <a:sym typeface="Wingdings" pitchFamily="2" charset="2"/>
                  </a:rPr>
                  <a:t>. </a:t>
                </a:r>
                <a:r>
                  <a:rPr lang="zh-CN" altLang="en-US" dirty="0" smtClean="0">
                    <a:sym typeface="Wingdings" pitchFamily="2" charset="2"/>
                  </a:rPr>
                  <a:t>这里定义域是非负整数的集</a:t>
                </a:r>
                <a:r>
                  <a:rPr lang="en-US" altLang="zh-CN" dirty="0" smtClean="0">
                    <a:sym typeface="Wingdings" pitchFamily="2" charset="2"/>
                  </a:rPr>
                  <a:t>. </a:t>
                </a:r>
                <a:r>
                  <a:rPr lang="zh-CN" altLang="en-US" dirty="0" smtClean="0">
                    <a:sym typeface="Wingdings" pitchFamily="2" charset="2"/>
                  </a:rPr>
                  <a:t>注意</a:t>
                </a:r>
                <a:r>
                  <a:rPr lang="en-US" altLang="zh-CN" dirty="0"/>
                  <a:t>ƒ</a:t>
                </a:r>
                <a:r>
                  <a:rPr lang="zh-CN" altLang="en-US" dirty="0" smtClean="0">
                    <a:sym typeface="Wingdings" pitchFamily="2" charset="2"/>
                  </a:rPr>
                  <a:t>对于负整数无定义</a:t>
                </a:r>
                <a:r>
                  <a:rPr lang="en-US" altLang="zh-CN" dirty="0" smtClean="0">
                    <a:sym typeface="Wingdings" pitchFamily="2" charset="2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13" y="1089025"/>
                <a:ext cx="10987087" cy="5121275"/>
              </a:xfrm>
              <a:blipFill>
                <a:blip r:embed="rId2"/>
                <a:stretch>
                  <a:fillRect l="-999" t="-1310" r="-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8482-B1DA-4383-BEE6-7282C16A72A3}" type="datetime1">
              <a:rPr lang="zh-CN" altLang="en-US" smtClean="0"/>
              <a:t>2025/3/14</a:t>
            </a:fld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3A8A-9EFB-4B5F-9CCB-3D21173FAA85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        华中科技大学</a:t>
            </a:r>
            <a:r>
              <a:rPr lang="en-US" altLang="zh-CN" dirty="0" smtClean="0"/>
              <a:t>NNSS</a:t>
            </a:r>
            <a:r>
              <a:rPr lang="zh-CN" altLang="en-US" dirty="0" smtClean="0"/>
              <a:t>实验室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^{-1}$&#10;&#10;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x^{2}$&#10;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g(x) = 2x + 1$&#10;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g(x)) = (2x + 1)^{2}$&#10;&#10;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g(f(x)) = 2x^{2} + 1$&#10;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ceil x\rceil$&#10;&#10;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ceil 3.5\rceil = 4$&#10;&#10;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ceil -1.5\rceil = -1$&#10;&#10;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41767</TotalTime>
  <Words>2569</Words>
  <Application>Microsoft Office PowerPoint</Application>
  <PresentationFormat>宽屏</PresentationFormat>
  <Paragraphs>413</Paragraphs>
  <Slides>36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Arial</vt:lpstr>
      <vt:lpstr>Cambria Math</vt:lpstr>
      <vt:lpstr>等线</vt:lpstr>
      <vt:lpstr>Microsoft YaHei Light</vt:lpstr>
      <vt:lpstr>MS PGothic</vt:lpstr>
      <vt:lpstr>宋体</vt:lpstr>
      <vt:lpstr>Calibri</vt:lpstr>
      <vt:lpstr>微软雅黑</vt:lpstr>
      <vt:lpstr>Wingdings</vt:lpstr>
      <vt:lpstr>Office 主题​​</vt:lpstr>
      <vt:lpstr>Equation</vt:lpstr>
      <vt:lpstr>PowerPoint 演示文稿</vt:lpstr>
      <vt:lpstr>函数</vt:lpstr>
      <vt:lpstr>函数</vt:lpstr>
      <vt:lpstr>函数</vt:lpstr>
      <vt:lpstr>函数</vt:lpstr>
      <vt:lpstr>函数的表示形式</vt:lpstr>
      <vt:lpstr>函数</vt:lpstr>
      <vt:lpstr>函数</vt:lpstr>
      <vt:lpstr>单射</vt:lpstr>
      <vt:lpstr>单射</vt:lpstr>
      <vt:lpstr>单射</vt:lpstr>
      <vt:lpstr>映上</vt:lpstr>
      <vt:lpstr>映上</vt:lpstr>
      <vt:lpstr>双射</vt:lpstr>
      <vt:lpstr>证明函数是一对一或映上</vt:lpstr>
      <vt:lpstr>反函数</vt:lpstr>
      <vt:lpstr>反函数</vt:lpstr>
      <vt:lpstr>反函数</vt:lpstr>
      <vt:lpstr>反函数</vt:lpstr>
      <vt:lpstr>反函数</vt:lpstr>
      <vt:lpstr>合成函数</vt:lpstr>
      <vt:lpstr>合成函数</vt:lpstr>
      <vt:lpstr>合成函数</vt:lpstr>
      <vt:lpstr>合成函数</vt:lpstr>
      <vt:lpstr>合成函数</vt:lpstr>
      <vt:lpstr>函数的图</vt:lpstr>
      <vt:lpstr>一些重要的函数</vt:lpstr>
      <vt:lpstr>一些重要的函数</vt:lpstr>
      <vt:lpstr>一些重要的函数</vt:lpstr>
      <vt:lpstr>一些重要的函数</vt:lpstr>
      <vt:lpstr>一些重要的函数</vt:lpstr>
      <vt:lpstr>一些重要的函数</vt:lpstr>
      <vt:lpstr>一些重要的函数</vt:lpstr>
      <vt:lpstr>一些重要的函数</vt:lpstr>
      <vt:lpstr>一些重要的函数</vt:lpstr>
      <vt:lpstr>部分函数</vt:lpstr>
    </vt:vector>
  </TitlesOfParts>
  <Company>Monmouth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Foundations: Logic and Proofs</dc:title>
  <dc:creator>Richard Scherl</dc:creator>
  <cp:lastModifiedBy>Microsoft 帐户</cp:lastModifiedBy>
  <cp:revision>2373</cp:revision>
  <dcterms:created xsi:type="dcterms:W3CDTF">2011-03-27T19:09:13Z</dcterms:created>
  <dcterms:modified xsi:type="dcterms:W3CDTF">2025-03-14T07:00:19Z</dcterms:modified>
</cp:coreProperties>
</file>